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519" r:id="rId5"/>
    <p:sldId id="555" r:id="rId6"/>
    <p:sldId id="520" r:id="rId7"/>
    <p:sldId id="429" r:id="rId8"/>
    <p:sldId id="523" r:id="rId9"/>
    <p:sldId id="264" r:id="rId10"/>
    <p:sldId id="522" r:id="rId11"/>
    <p:sldId id="556" r:id="rId12"/>
    <p:sldId id="266" r:id="rId13"/>
    <p:sldId id="432" r:id="rId14"/>
    <p:sldId id="433" r:id="rId15"/>
    <p:sldId id="434" r:id="rId16"/>
    <p:sldId id="435" r:id="rId17"/>
    <p:sldId id="540" r:id="rId18"/>
    <p:sldId id="545" r:id="rId19"/>
    <p:sldId id="624" r:id="rId20"/>
    <p:sldId id="436" r:id="rId21"/>
    <p:sldId id="437" r:id="rId22"/>
    <p:sldId id="438" r:id="rId23"/>
    <p:sldId id="530" r:id="rId24"/>
    <p:sldId id="439" r:id="rId25"/>
    <p:sldId id="440" r:id="rId26"/>
    <p:sldId id="441" r:id="rId27"/>
    <p:sldId id="590" r:id="rId28"/>
    <p:sldId id="593" r:id="rId29"/>
    <p:sldId id="537" r:id="rId30"/>
    <p:sldId id="570" r:id="rId31"/>
    <p:sldId id="446" r:id="rId32"/>
    <p:sldId id="534" r:id="rId33"/>
    <p:sldId id="571" r:id="rId34"/>
    <p:sldId id="532" r:id="rId35"/>
    <p:sldId id="662" r:id="rId36"/>
    <p:sldId id="557" r:id="rId37"/>
    <p:sldId id="568" r:id="rId38"/>
    <p:sldId id="569" r:id="rId39"/>
    <p:sldId id="565" r:id="rId40"/>
    <p:sldId id="559" r:id="rId41"/>
    <p:sldId id="608" r:id="rId42"/>
    <p:sldId id="609" r:id="rId43"/>
    <p:sldId id="610" r:id="rId44"/>
    <p:sldId id="611" r:id="rId45"/>
    <p:sldId id="612" r:id="rId46"/>
    <p:sldId id="613" r:id="rId47"/>
    <p:sldId id="614" r:id="rId48"/>
    <p:sldId id="615" r:id="rId49"/>
    <p:sldId id="616" r:id="rId50"/>
    <p:sldId id="617" r:id="rId51"/>
    <p:sldId id="618" r:id="rId52"/>
    <p:sldId id="619" r:id="rId53"/>
    <p:sldId id="620" r:id="rId54"/>
    <p:sldId id="621" r:id="rId55"/>
    <p:sldId id="622" r:id="rId56"/>
    <p:sldId id="623" r:id="rId57"/>
    <p:sldId id="663" r:id="rId58"/>
    <p:sldId id="664" r:id="rId59"/>
    <p:sldId id="665" r:id="rId60"/>
    <p:sldId id="666" r:id="rId61"/>
    <p:sldId id="667" r:id="rId62"/>
    <p:sldId id="668" r:id="rId63"/>
    <p:sldId id="669" r:id="rId64"/>
    <p:sldId id="670" r:id="rId65"/>
    <p:sldId id="671" r:id="rId66"/>
    <p:sldId id="672" r:id="rId67"/>
    <p:sldId id="673" r:id="rId68"/>
    <p:sldId id="674" r:id="rId69"/>
    <p:sldId id="675" r:id="rId70"/>
    <p:sldId id="676" r:id="rId71"/>
    <p:sldId id="677" r:id="rId72"/>
    <p:sldId id="678" r:id="rId73"/>
    <p:sldId id="679" r:id="rId74"/>
    <p:sldId id="680" r:id="rId75"/>
    <p:sldId id="681" r:id="rId76"/>
    <p:sldId id="682" r:id="rId77"/>
    <p:sldId id="683" r:id="rId78"/>
    <p:sldId id="684" r:id="rId79"/>
    <p:sldId id="685" r:id="rId80"/>
  </p:sldIdLst>
  <p:sldSz cx="12192000" cy="6858000"/>
  <p:notesSz cx="6858000" cy="9144000"/>
  <p:custDataLst>
    <p:tags r:id="rId8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86"/>
      </p:cViewPr>
      <p:guideLst>
        <p:guide orient="horz" pos="2159"/>
        <p:guide pos="3814"/>
      </p:guideLst>
    </p:cSldViewPr>
  </p:slideViewPr>
  <p:outlineViewPr>
    <p:cViewPr>
      <p:scale>
        <a:sx n="33" d="100"/>
        <a:sy n="33" d="100"/>
      </p:scale>
      <p:origin x="0" y="165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4" Type="http://schemas.openxmlformats.org/officeDocument/2006/relationships/tags" Target="tags/tag35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E4C8C-F4ED-4688-B913-CFBB08AEB57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5%AF%B9%E6%95%B0%E5%87%BD%E6%95%B0&amp;tn=SE_PcZhidaonwhc_ngpagmjz&amp;rsv_dl=gh_pc_zhidao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符号，含义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Char char="•"/>
            </a:pPr>
            <a:r>
              <a:rPr lang="zh-CN" altLang="en-US" dirty="0"/>
              <a:t>程序的一个侧面是描述对数据的操作，</a:t>
            </a:r>
            <a:endParaRPr lang="zh-CN" altLang="en-US" dirty="0"/>
          </a:p>
          <a:p>
            <a:pPr lvl="0" eaLnBrk="1" hangingPunct="1">
              <a:buChar char="•"/>
            </a:pPr>
            <a:r>
              <a:rPr lang="zh-CN" altLang="en-US" dirty="0"/>
              <a:t>在程序设计语言中，表示对数据操作的是语句。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逻辑与、逻辑或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按位与、按位或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>
                <a:hlinkClick r:id="rId3"/>
              </a:rPr>
              <a:t>对数函数</a:t>
            </a:r>
            <a:r>
              <a:rPr lang="en-US" altLang="zh-CN" dirty="0"/>
              <a:t>log,</a:t>
            </a:r>
            <a:r>
              <a:rPr lang="zh-CN" altLang="en-US" dirty="0"/>
              <a:t>以</a:t>
            </a:r>
            <a:r>
              <a:rPr lang="en-US" altLang="zh-CN" dirty="0"/>
              <a:t>e(2.71828)</a:t>
            </a:r>
            <a:r>
              <a:rPr lang="zh-CN" altLang="en-US" dirty="0"/>
              <a:t>为底</a:t>
            </a:r>
            <a:endParaRPr lang="en-US" altLang="zh-CN" dirty="0"/>
          </a:p>
          <a:p>
            <a:pPr lvl="0" eaLnBrk="1" hangingPunct="1"/>
            <a:r>
              <a:rPr lang="zh-CN" altLang="en-US" dirty="0">
                <a:hlinkClick r:id="rId3"/>
              </a:rPr>
              <a:t>对数函数</a:t>
            </a:r>
            <a:r>
              <a:rPr lang="en-US" altLang="zh-CN" dirty="0"/>
              <a:t>log10,</a:t>
            </a:r>
            <a:r>
              <a:rPr lang="zh-CN" altLang="en-US" dirty="0"/>
              <a:t>以</a:t>
            </a:r>
            <a:r>
              <a:rPr lang="en-US" altLang="zh-CN" dirty="0"/>
              <a:t>10</a:t>
            </a:r>
            <a:r>
              <a:rPr lang="zh-CN" altLang="en-US" dirty="0"/>
              <a:t>为底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83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34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if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易混淆：</a:t>
            </a:r>
            <a:endParaRPr lang="en-US" altLang="zh-CN" dirty="0"/>
          </a:p>
          <a:p>
            <a:pPr lvl="0"/>
            <a:r>
              <a:rPr lang="en-US" altLang="zh-CN" dirty="0"/>
              <a:t>32 </a:t>
            </a:r>
            <a:r>
              <a:rPr lang="zh-CN" altLang="en-US" dirty="0"/>
              <a:t>空格</a:t>
            </a:r>
            <a:endParaRPr lang="en-US" altLang="zh-CN" dirty="0"/>
          </a:p>
          <a:p>
            <a:pPr lvl="0"/>
            <a:r>
              <a:rPr lang="en-US" altLang="zh-CN" dirty="0"/>
              <a:t>96 </a:t>
            </a:r>
            <a:r>
              <a:rPr lang="zh-CN" altLang="en-US" dirty="0"/>
              <a:t>反单引号，</a:t>
            </a:r>
            <a:r>
              <a:rPr lang="en-US" altLang="zh-CN" dirty="0"/>
              <a:t>alt+</a:t>
            </a:r>
            <a:r>
              <a:rPr lang="zh-CN" altLang="en-US" dirty="0"/>
              <a:t>小键盘</a:t>
            </a:r>
            <a:r>
              <a:rPr lang="en-US" altLang="zh-CN" dirty="0"/>
              <a:t>96 </a:t>
            </a:r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88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48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68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30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0x12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(12)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16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1*16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+2*16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18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011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(11)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8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1*8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+1*8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9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0x12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(12)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16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1*16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+2*16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18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/>
              <a:ea typeface="宋体" panose="02010600030101010101" pitchFamily="2" charset="-122"/>
              <a:cs typeface="+mn-cs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011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(11)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8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1*8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+1*8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0=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/>
                <a:ea typeface="宋体" panose="02010600030101010101" pitchFamily="2" charset="-122"/>
                <a:cs typeface="+mn-cs"/>
              </a:rPr>
              <a:t>9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83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45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78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98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1277600" cy="5943600"/>
            <a:chOff x="0" y="0"/>
            <a:chExt cx="5328" cy="3744"/>
          </a:xfrm>
        </p:grpSpPr>
        <p:sp>
          <p:nvSpPr>
            <p:cNvPr id="13" name="Freeform 3"/>
            <p:cNvSpPr/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Freeform 4"/>
            <p:cNvSpPr/>
            <p:nvPr/>
          </p:nvSpPr>
          <p:spPr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6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BC08E3-FAAE-4296-AF7D-660CCDFA362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CCCB2-42BD-4583-9E76-1F7FF748BB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FD5774-45A0-430E-9777-E793DC2A565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A966FA-966E-41DE-9539-2BE931915F5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63897B-92A2-4296-8E35-C1767542224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B5A682-9199-4DE5-BEC6-1EB7492574D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1DBB0B-02F1-4144-9B0D-59100F78085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8FF627-9307-4A86-AC7F-F35B33517A0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EBEAEC-CDCE-437D-88BD-030F12B01B0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3B169C-4EF9-48DB-A092-997510C6D76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6B1614-5F87-46AC-953A-3A9F0C1F98E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EDB127-C5DA-4E1C-9788-D286AC15672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474078-85A2-4AA1-8D9B-01EBEE3A65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75F91B-C081-47A0-9E82-8783B3ED278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C65AD2-0921-4F8A-AC55-3991C50A4B9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78091-17BD-46B8-8414-B3C92F63D28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DEBD10-C56B-421E-AE4A-224C72C212C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656763" cy="1981200"/>
            <a:chOff x="0" y="0"/>
            <a:chExt cx="4562" cy="1248"/>
          </a:xfrm>
        </p:grpSpPr>
        <p:sp>
          <p:nvSpPr>
            <p:cNvPr id="10243" name="Freeform 3"/>
            <p:cNvSpPr/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Freeform 4"/>
            <p:cNvSpPr/>
            <p:nvPr/>
          </p:nvSpPr>
          <p:spPr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</a:cxnLst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DA4434-E243-4697-8450-88A7E5BBD4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29.xml"/><Relationship Id="rId3" Type="http://schemas.openxmlformats.org/officeDocument/2006/relationships/slide" Target="slide18.xml"/><Relationship Id="rId2" Type="http://schemas.openxmlformats.org/officeDocument/2006/relationships/slide" Target="slide8.xml"/><Relationship Id="rId1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2" Type="http://schemas.openxmlformats.org/officeDocument/2006/relationships/notesSlide" Target="../notesSlides/notesSlide5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4.xml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50.xml"/><Relationship Id="rId3" Type="http://schemas.openxmlformats.org/officeDocument/2006/relationships/slide" Target="slide48.xml"/><Relationship Id="rId2" Type="http://schemas.openxmlformats.org/officeDocument/2006/relationships/slide" Target="slide38.xml"/><Relationship Id="rId1" Type="http://schemas.openxmlformats.org/officeDocument/2006/relationships/slide" Target="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9.xml"/><Relationship Id="rId1" Type="http://schemas.openxmlformats.org/officeDocument/2006/relationships/slide" Target="slide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hyperlink" Target="&#20363;&#39064;&#31243;&#24207;201409\ch02\ch02_define\Debug\defineTest.exe" TargetMode="External"/><Relationship Id="rId1" Type="http://schemas.openxmlformats.org/officeDocument/2006/relationships/hyperlink" Target="file:///C:\Documents%20and%20Settings\Administrator\&#26700;&#38754;\&#36719;&#20214;&#23398;&#38498;2008&#32423;&#19978;&#35838;\&#20363;&#39064;&#31243;&#24207;\ch02\ch02_01\Debug\ch02_01.exe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第</a:t>
            </a: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2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章 顺序程序设计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41275" y="1143000"/>
            <a:ext cx="5591175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2.1 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计算平均成绩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——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顺序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程序设计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1" action="ppaction://hlinksldjump"/>
              </a:rPr>
              <a:t>2.5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1" action="ppaction://hlinksldjump"/>
              </a:rPr>
              <a:t>语句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2.4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表达式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hlinkClick r:id="rId3" action="ppaction://hlinksldjump"/>
              </a:rPr>
              <a:t>表达式计算规则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 action="ppaction://hlinksldjump"/>
              </a:rPr>
              <a:t>2.2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 action="ppaction://hlinksldjump"/>
              </a:rPr>
              <a:t>基本符号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 action="ppaction://hlinksldjump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 action="ppaction://hlinksldjump"/>
              </a:rPr>
              <a:t>词法单元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 action="ppaction://hlinksldjump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 action="ppaction://hlinksldjump"/>
              </a:rPr>
              <a:t>2.3 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 action="ppaction://hlinksldjump"/>
              </a:rPr>
              <a:t>数据</a:t>
            </a:r>
            <a:endParaRPr kumimoji="0" lang="en-US" altLang="zh-CN" sz="2400" b="1" i="0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  <a:hlinkClick r:id="rId5" action="ppaction://hlinksldjump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hlinkClick r:id="rId5" action="ppaction://hlinksldjump"/>
              </a:rPr>
              <a:t>常量和变量</a:t>
            </a:r>
            <a:r>
              <a:rPr kumimoji="0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rId5" action="ppaction://hlinksldjump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数据类型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endParaRPr kumimoji="0" lang="en-US" altLang="zh-CN" sz="2400" b="1" i="0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【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程序设计实例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2.4】</a:t>
            </a:r>
            <a:endParaRPr kumimoji="0" lang="zh-CN" altLang="en-US" sz="2400" b="1" i="0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类型转换</a:t>
            </a:r>
            <a:endParaRPr kumimoji="0" lang="en-US" altLang="zh-CN" sz="2400" b="1" i="0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【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程序设计实例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hlinkClick r:id="" action="ppaction://noaction"/>
              </a:rPr>
              <a:t>2.5】</a:t>
            </a:r>
            <a:endParaRPr kumimoji="0" lang="en-US" altLang="zh-CN" sz="2400" b="1" i="0" u="sng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B17510-1250-4C60-891B-8D1CFA0AB4B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324600" y="1143000"/>
            <a:ext cx="3651250" cy="1871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2.6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输入输出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常用的数学函数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小结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009063" y="3341688"/>
            <a:ext cx="3162300" cy="35052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算法的组成：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p4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基本操作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读（输入）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表达式及给变量赋值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写（输出）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顺序控制结构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分支控制结构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循环控制结构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函数调用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函数返回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§2.1  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计算平均成绩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—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顺序程序设计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P45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7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533B02-EFB7-4A91-A17E-8F4719E6DDF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矩形 2"/>
          <p:cNvSpPr/>
          <p:nvPr/>
        </p:nvSpPr>
        <p:spPr>
          <a:xfrm>
            <a:off x="152400" y="762000"/>
            <a:ext cx="11887200" cy="3233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2.1】</a:t>
            </a:r>
            <a:r>
              <a:rPr lang="zh-CN" altLang="zh-CN" sz="2800" b="1" dirty="0"/>
              <a:t>已知李萍本学期学习</a:t>
            </a:r>
            <a:r>
              <a:rPr lang="zh-CN" altLang="zh-CN" sz="2800" b="1" dirty="0">
                <a:solidFill>
                  <a:srgbClr val="37FF37"/>
                </a:solidFill>
              </a:rPr>
              <a:t>四门</a:t>
            </a:r>
            <a:r>
              <a:rPr lang="zh-CN" altLang="zh-CN" sz="2800" b="1" dirty="0"/>
              <a:t>课程：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/>
              <a:t>程序设计</a:t>
            </a:r>
            <a:r>
              <a:rPr lang="en-US" altLang="zh-CN" sz="2800" b="1" dirty="0"/>
              <a:t>4</a:t>
            </a:r>
            <a:r>
              <a:rPr lang="zh-CN" altLang="zh-CN" sz="2800" b="1" dirty="0"/>
              <a:t>学分、英语</a:t>
            </a:r>
            <a:r>
              <a:rPr lang="en-US" altLang="zh-CN" sz="2800" b="1" dirty="0"/>
              <a:t>2</a:t>
            </a:r>
            <a:r>
              <a:rPr lang="zh-CN" altLang="zh-CN" sz="2800" b="1" dirty="0"/>
              <a:t>学分、哲学</a:t>
            </a:r>
            <a:r>
              <a:rPr lang="en-US" altLang="zh-CN" sz="2800" b="1" dirty="0"/>
              <a:t>1</a:t>
            </a:r>
            <a:r>
              <a:rPr lang="zh-CN" altLang="zh-CN" sz="2800" b="1" dirty="0"/>
              <a:t>学分、高等数学</a:t>
            </a:r>
            <a:r>
              <a:rPr lang="en-US" altLang="zh-CN" sz="2800" b="1" dirty="0"/>
              <a:t>3</a:t>
            </a:r>
            <a:r>
              <a:rPr lang="zh-CN" altLang="zh-CN" sz="2800" b="1" dirty="0">
                <a:solidFill>
                  <a:srgbClr val="37FF37"/>
                </a:solidFill>
              </a:rPr>
              <a:t>学分</a:t>
            </a:r>
            <a:r>
              <a:rPr lang="zh-CN" altLang="zh-CN" sz="2800" b="1" dirty="0"/>
              <a:t>。四门课的</a:t>
            </a:r>
            <a:r>
              <a:rPr lang="zh-CN" altLang="zh-CN" sz="2800" b="1" dirty="0">
                <a:solidFill>
                  <a:srgbClr val="37FF37"/>
                </a:solidFill>
              </a:rPr>
              <a:t>考试成绩</a:t>
            </a:r>
            <a:r>
              <a:rPr lang="en-US" altLang="zh-CN" sz="2800" b="1" dirty="0"/>
              <a:t>依次为</a:t>
            </a:r>
            <a:r>
              <a:rPr lang="zh-CN" altLang="zh-CN" sz="2800" b="1" dirty="0"/>
              <a:t>：</a:t>
            </a:r>
            <a:r>
              <a:rPr lang="en-US" altLang="zh-CN" sz="2800" b="1" dirty="0"/>
              <a:t>90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60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85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70</a:t>
            </a:r>
            <a:r>
              <a:rPr lang="zh-CN" altLang="zh-CN" sz="2800" b="1" dirty="0"/>
              <a:t>。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/>
              <a:t>编程序，</a:t>
            </a:r>
            <a:r>
              <a:rPr lang="zh-CN" altLang="zh-CN" sz="2800" b="1" dirty="0">
                <a:solidFill>
                  <a:srgbClr val="FF0000"/>
                </a:solidFill>
              </a:rPr>
              <a:t>计算并输出</a:t>
            </a:r>
            <a:r>
              <a:rPr lang="zh-CN" altLang="zh-CN" sz="2800" b="1" dirty="0"/>
              <a:t>李萍本学期四门课程的</a:t>
            </a:r>
            <a:r>
              <a:rPr lang="zh-CN" altLang="zh-CN" sz="2800" b="1" dirty="0">
                <a:solidFill>
                  <a:srgbClr val="FF0000"/>
                </a:solidFill>
              </a:rPr>
              <a:t>算术平均成绩</a:t>
            </a:r>
            <a:r>
              <a:rPr lang="zh-CN" altLang="zh-CN" sz="2800" b="1" dirty="0"/>
              <a:t>和按学分的</a:t>
            </a:r>
            <a:r>
              <a:rPr lang="zh-CN" altLang="zh-CN" sz="2800" b="1" dirty="0">
                <a:solidFill>
                  <a:srgbClr val="FF0000"/>
                </a:solidFill>
              </a:rPr>
              <a:t>加权平均成绩</a:t>
            </a:r>
            <a:r>
              <a:rPr lang="zh-CN" altLang="en-US" sz="2800" b="1" dirty="0">
                <a:solidFill>
                  <a:srgbClr val="FF0000"/>
                </a:solidFill>
              </a:rPr>
              <a:t>（要求小数点后保留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位）</a:t>
            </a:r>
            <a:r>
              <a:rPr lang="zh-CN" altLang="zh-CN" sz="2800" b="1" dirty="0"/>
              <a:t>。</a:t>
            </a:r>
            <a:endParaRPr lang="zh-CN" altLang="en-US" sz="2800" b="1" dirty="0"/>
          </a:p>
        </p:txBody>
      </p:sp>
      <p:sp>
        <p:nvSpPr>
          <p:cNvPr id="20485" name="TextBox 3"/>
          <p:cNvSpPr txBox="1">
            <a:spLocks noChangeArrowheads="1"/>
          </p:cNvSpPr>
          <p:nvPr/>
        </p:nvSpPr>
        <p:spPr bwMode="auto">
          <a:xfrm>
            <a:off x="76200" y="4266883"/>
            <a:ext cx="23622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运行界面截图：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486" name="Picture 17"/>
          <p:cNvPicPr>
            <a:picLocks noChangeAspect="1"/>
          </p:cNvPicPr>
          <p:nvPr/>
        </p:nvPicPr>
        <p:blipFill>
          <a:blip r:embed="rId1"/>
          <a:srcRect l="28571" t="26730" r="58929" b="44022"/>
          <a:stretch>
            <a:fillRect/>
          </a:stretch>
        </p:blipFill>
        <p:spPr>
          <a:xfrm>
            <a:off x="381000" y="4876800"/>
            <a:ext cx="1066800" cy="6096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3988" y="-33337"/>
            <a:ext cx="9144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§2.1  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计算平均成绩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—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顺序程序设计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P45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532938" y="6315075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E5CDAF-29C6-4C46-A2A8-B9746BA2D7D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矩形 2"/>
          <p:cNvSpPr>
            <a:spLocks noChangeArrowheads="1"/>
          </p:cNvSpPr>
          <p:nvPr/>
        </p:nvSpPr>
        <p:spPr bwMode="auto">
          <a:xfrm>
            <a:off x="228600" y="533400"/>
            <a:ext cx="11582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2.1】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已知李萍本学期学习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门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课程：程序设计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学分、英语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学分、哲学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学分、高等数学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学分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门课的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考试成绩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依次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90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60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85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70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。编程序，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计算并输出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李萍本学期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门课程的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算术平均成绩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和按学分的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加权平均成绩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2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73615" y="3607387"/>
            <a:ext cx="5945620" cy="504827"/>
          </a:xfrm>
          <a:prstGeom prst="rect">
            <a:avLst/>
          </a:prstGeom>
          <a:blipFill rotWithShape="1">
            <a:blip r:embed="rId1"/>
            <a:stretch>
              <a:fillRect t="-16279" b="-17442"/>
            </a:stretch>
          </a:blip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3" name="Rectangle 7"/>
          <p:cNvSpPr/>
          <p:nvPr/>
        </p:nvSpPr>
        <p:spPr>
          <a:xfrm>
            <a:off x="2365375" y="5289550"/>
            <a:ext cx="3219450" cy="36036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ts val="600"/>
              </a:spcBef>
              <a:buClr>
                <a:schemeClr val="accent1"/>
              </a:buClr>
              <a:buSzPct val="76000"/>
              <a:buNone/>
            </a:pPr>
            <a:r>
              <a:rPr lang="zh-CN" altLang="zh-CN" sz="2600" b="1" dirty="0">
                <a:ea typeface="黑体" panose="02010609060101010101" pitchFamily="49" charset="-122"/>
              </a:rPr>
              <a:t>计算加权平均成绩</a:t>
            </a:r>
            <a:endParaRPr lang="zh-CN" altLang="zh-CN" sz="2600" b="1" dirty="0">
              <a:ea typeface="黑体" panose="02010609060101010101" pitchFamily="49" charset="-122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2360613" y="5754688"/>
            <a:ext cx="3214688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5" name="Rectangle 9"/>
          <p:cNvSpPr/>
          <p:nvPr/>
        </p:nvSpPr>
        <p:spPr>
          <a:xfrm>
            <a:off x="2360613" y="4306888"/>
            <a:ext cx="3219450" cy="3524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ts val="600"/>
              </a:spcBef>
              <a:buClr>
                <a:schemeClr val="accent1"/>
              </a:buClr>
              <a:buSzPct val="76000"/>
              <a:buNone/>
            </a:pPr>
            <a:r>
              <a:rPr lang="zh-CN" altLang="zh-CN" sz="2600" b="1" dirty="0">
                <a:solidFill>
                  <a:srgbClr val="FFC000"/>
                </a:solidFill>
                <a:ea typeface="黑体" panose="02010609060101010101" pitchFamily="49" charset="-122"/>
              </a:rPr>
              <a:t>输出</a:t>
            </a:r>
            <a:endParaRPr lang="zh-CN" altLang="zh-CN" sz="2600" b="1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23561" name="Line 10"/>
          <p:cNvSpPr/>
          <p:nvPr/>
        </p:nvSpPr>
        <p:spPr>
          <a:xfrm flipH="1">
            <a:off x="2360613" y="3743325"/>
            <a:ext cx="0" cy="25717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sm" len="lg"/>
            <a:tailEnd type="none" w="sm" len="lg"/>
          </a:ln>
        </p:spPr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771650" y="3370263"/>
            <a:ext cx="1204913" cy="293688"/>
          </a:xfrm>
          <a:prstGeom prst="rect">
            <a:avLst/>
          </a:prstGeom>
          <a:noFill/>
          <a:ln w="5715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开始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Oval 17"/>
          <p:cNvSpPr>
            <a:spLocks noChangeArrowheads="1"/>
          </p:cNvSpPr>
          <p:nvPr/>
        </p:nvSpPr>
        <p:spPr bwMode="auto">
          <a:xfrm>
            <a:off x="1554163" y="3321050"/>
            <a:ext cx="1639888" cy="4270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1787525" y="6361113"/>
            <a:ext cx="1189038" cy="361950"/>
          </a:xfrm>
          <a:prstGeom prst="rect">
            <a:avLst/>
          </a:prstGeom>
          <a:noFill/>
          <a:ln w="5715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540" tIns="2540" rIns="2540" bIns="2540"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Oval 19"/>
          <p:cNvSpPr>
            <a:spLocks noChangeArrowheads="1"/>
          </p:cNvSpPr>
          <p:nvPr/>
        </p:nvSpPr>
        <p:spPr bwMode="auto">
          <a:xfrm>
            <a:off x="1592263" y="6326188"/>
            <a:ext cx="1639888" cy="431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66" name="TextBox 3"/>
          <p:cNvSpPr txBox="1"/>
          <p:nvPr/>
        </p:nvSpPr>
        <p:spPr>
          <a:xfrm>
            <a:off x="296863" y="2478088"/>
            <a:ext cx="25908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C000"/>
                </a:solidFill>
              </a:rPr>
              <a:t>算法分析：</a:t>
            </a:r>
            <a:endParaRPr lang="zh-CN" altLang="en-US" sz="3600" b="1" dirty="0">
              <a:solidFill>
                <a:srgbClr val="FFC000"/>
              </a:solidFill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2360613" y="3743325"/>
            <a:ext cx="3225800" cy="363538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ts val="600"/>
              </a:spcBef>
              <a:buClr>
                <a:schemeClr val="accent1"/>
              </a:buClr>
              <a:buSzPct val="76000"/>
              <a:buNone/>
            </a:pPr>
            <a:r>
              <a:rPr lang="zh-CN" altLang="zh-CN" sz="2600" b="1" dirty="0">
                <a:ea typeface="黑体" panose="02010609060101010101" pitchFamily="49" charset="-122"/>
              </a:rPr>
              <a:t>计算算术平均成绩</a:t>
            </a:r>
            <a:endParaRPr lang="zh-CN" altLang="zh-CN" sz="2600" b="1" dirty="0">
              <a:ea typeface="黑体" panose="02010609060101010101" pitchFamily="49" charset="-122"/>
            </a:endParaRPr>
          </a:p>
        </p:txBody>
      </p:sp>
      <p:sp>
        <p:nvSpPr>
          <p:cNvPr id="18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81558" y="4751851"/>
            <a:ext cx="4400229" cy="406400"/>
          </a:xfrm>
          <a:prstGeom prst="rect">
            <a:avLst/>
          </a:prstGeom>
          <a:blipFill rotWithShape="1">
            <a:blip r:embed="rId2"/>
            <a:stretch>
              <a:fillRect t="-21739" b="-44928"/>
            </a:stretch>
          </a:blip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63695" y="5297512"/>
            <a:ext cx="6399236" cy="392453"/>
          </a:xfrm>
          <a:prstGeom prst="rect">
            <a:avLst/>
          </a:prstGeom>
          <a:blipFill rotWithShape="1">
            <a:blip r:embed="rId3"/>
            <a:stretch>
              <a:fillRect l="-1806" t="-20896" r="-1901" b="-50746"/>
            </a:stretch>
          </a:blip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nimBg="1"/>
      <p:bldP spid="21513" grpId="1" animBg="1"/>
      <p:bldP spid="22" grpId="0" animBg="1"/>
      <p:bldP spid="21515" grpId="0" animBg="1"/>
      <p:bldP spid="16" grpId="0" animBg="1"/>
      <p:bldP spid="1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6CCFD8-13F7-4DA1-A953-3A485F7B00B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26987" y="538163"/>
            <a:ext cx="12344400" cy="6000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 		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顶层声明：头文件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90 		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顶层声明：常量（各科成绩）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English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philosophy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85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mathematics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main(){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//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顶层声明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主函数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	float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sum ;	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变量：平均分，总学分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 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20000"/>
                    <a:lumOff val="8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(float)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program+English+philosophy+mathematics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)/4;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“%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	sum=4+2+1+3;//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计算总学分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计算加权平均成绩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	average=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(program*4+English*2+philosophy*1+mathematics*3)/sum; 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“%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	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580" name="TextBox 4"/>
          <p:cNvSpPr txBox="1"/>
          <p:nvPr/>
        </p:nvSpPr>
        <p:spPr>
          <a:xfrm>
            <a:off x="-20637" y="69850"/>
            <a:ext cx="35814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用</a:t>
            </a:r>
            <a:r>
              <a:rPr lang="en-US" altLang="zh-CN" sz="2800" b="1" dirty="0">
                <a:solidFill>
                  <a:srgbClr val="FFC000"/>
                </a:solidFill>
              </a:rPr>
              <a:t>C</a:t>
            </a:r>
            <a:r>
              <a:rPr lang="zh-CN" altLang="en-US" sz="2800" b="1" dirty="0">
                <a:solidFill>
                  <a:srgbClr val="FFC000"/>
                </a:solidFill>
              </a:rPr>
              <a:t>语言编写程序：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pic>
        <p:nvPicPr>
          <p:cNvPr id="5" name="Picture 17"/>
          <p:cNvPicPr>
            <a:picLocks noChangeAspect="1"/>
          </p:cNvPicPr>
          <p:nvPr/>
        </p:nvPicPr>
        <p:blipFill>
          <a:blip r:embed="rId1"/>
          <a:srcRect l="27676" t="26018" r="61607" b="60991"/>
          <a:stretch>
            <a:fillRect/>
          </a:stretch>
        </p:blipFill>
        <p:spPr>
          <a:xfrm>
            <a:off x="2057400" y="3962400"/>
            <a:ext cx="1143000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标注 1"/>
          <p:cNvSpPr/>
          <p:nvPr/>
        </p:nvSpPr>
        <p:spPr>
          <a:xfrm>
            <a:off x="4272915" y="2221865"/>
            <a:ext cx="7919085" cy="523240"/>
          </a:xfrm>
          <a:prstGeom prst="wedgeRectCallout">
            <a:avLst>
              <a:gd name="adj1" fmla="val 1583"/>
              <a:gd name="adj2" fmla="val 13361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00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cs typeface="Arial" panose="020B0604020202020204" pitchFamily="34" charset="0"/>
                <a:sym typeface="+mn-ea"/>
              </a:rPr>
              <a:t>average=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2000" noProof="0" dirty="0" err="1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+mn-ea"/>
              </a:rPr>
              <a:t>program+English+philosophy+mathematics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  <a:sym typeface="+mn-ea"/>
              </a:rPr>
              <a:t>)/4.0;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0" y="1154113"/>
            <a:ext cx="4343400" cy="68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x+y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271000" y="63119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2D2ED0-8EEA-4045-9C5D-ACA0E7E8946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3555" name="Rectangle 35"/>
          <p:cNvSpPr>
            <a:spLocks noChangeArrowheads="1"/>
          </p:cNvSpPr>
          <p:nvPr/>
        </p:nvSpPr>
        <p:spPr bwMode="auto">
          <a:xfrm>
            <a:off x="93663" y="5541963"/>
            <a:ext cx="1011713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score=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sqrt(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		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求平方根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5" name="Text Box 39"/>
          <p:cNvSpPr txBox="1"/>
          <p:nvPr/>
        </p:nvSpPr>
        <p:spPr>
          <a:xfrm>
            <a:off x="-9525" y="-12700"/>
            <a:ext cx="4419600" cy="58578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#include&lt;stdio.h&gt;</a:t>
            </a:r>
            <a:endParaRPr lang="en-US" altLang="zh-CN" b="1" dirty="0">
              <a:solidFill>
                <a:schemeClr val="hlink"/>
              </a:solidFill>
            </a:endParaRPr>
          </a:p>
        </p:txBody>
      </p:sp>
      <p:sp>
        <p:nvSpPr>
          <p:cNvPr id="363565" name="Text Box 45"/>
          <p:cNvSpPr txBox="1"/>
          <p:nvPr/>
        </p:nvSpPr>
        <p:spPr>
          <a:xfrm>
            <a:off x="122238" y="4962525"/>
            <a:ext cx="4419600" cy="58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#include&lt;math.h&gt;</a:t>
            </a:r>
            <a:endParaRPr lang="en-US" altLang="zh-CN" b="1" dirty="0">
              <a:solidFill>
                <a:schemeClr val="hlink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0800" y="4152900"/>
            <a:ext cx="87122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		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76200" y="6121400"/>
            <a:ext cx="8839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fabs(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			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求绝对值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2700" y="2449513"/>
            <a:ext cx="9055100" cy="1122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	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0800" y="3522663"/>
            <a:ext cx="109728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x=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,y=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2700" y="1816100"/>
            <a:ext cx="99822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 %f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score,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ave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:3 4.19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2" name="TextBox 1"/>
          <p:cNvSpPr txBox="1"/>
          <p:nvPr/>
        </p:nvSpPr>
        <p:spPr>
          <a:xfrm>
            <a:off x="9564688" y="88900"/>
            <a:ext cx="22574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使用头文件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0" y="544513"/>
            <a:ext cx="943133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Good morning.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原样输出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14" name="TextBox 7">
            <a:hlinkClick r:id="" action="ppaction://noaction"/>
          </p:cNvPr>
          <p:cNvSpPr txBox="1"/>
          <p:nvPr/>
        </p:nvSpPr>
        <p:spPr>
          <a:xfrm>
            <a:off x="9288463" y="673100"/>
            <a:ext cx="2667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常用头文件见教材</a:t>
            </a:r>
            <a:r>
              <a:rPr lang="en-US" altLang="zh-CN" sz="1800" b="1" dirty="0">
                <a:solidFill>
                  <a:srgbClr val="FF0000"/>
                </a:solidFill>
              </a:rPr>
              <a:t>P403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6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uiExpand="1" build="p"/>
      <p:bldP spid="363555" grpId="0"/>
      <p:bldP spid="363565" grpId="0" animBg="1"/>
      <p:bldP spid="10" grpId="0"/>
      <p:bldP spid="11" grpId="0"/>
      <p:bldP spid="13" grpId="0"/>
      <p:bldP spid="14" grpId="0"/>
      <p:bldP spid="12" grpId="0"/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76200" y="119063"/>
            <a:ext cx="11811000" cy="6002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90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English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philosophy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85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mathematics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main(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float average, sum ;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 =(float) 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program+English+philosophy+mathematics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)/4;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printf(“%6.2f \n”, average);//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输出算术平均成绩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sum=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4+2+1+3;//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计算总学分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average=(program*4+English*2+philosophy*1+mathematics*3)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/sum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“%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average);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title"/>
          </p:nvPr>
        </p:nvSpPr>
        <p:spPr>
          <a:xfrm>
            <a:off x="6615113" y="-33337"/>
            <a:ext cx="5562600" cy="11430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§2.5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P58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3DC635-5BDF-4E84-88A1-F6587A8BA63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4495800" y="1150938"/>
            <a:ext cx="7616825" cy="1143000"/>
          </a:xfrm>
          <a:prstGeom prst="rect">
            <a:avLst/>
          </a:prstGeom>
          <a:noFill/>
          <a:ln w="9525">
            <a:solidFill>
              <a:srgbClr val="FFFF00"/>
            </a:solidFill>
            <a:prstDash val="dash"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在程序设计语言中，描述对数据进行操作的各个成分称为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语句。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1000" y="3124200"/>
            <a:ext cx="10287000" cy="304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1000" y="3543300"/>
            <a:ext cx="4419600" cy="304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4338" y="4964113"/>
            <a:ext cx="4310062" cy="36988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6238" y="4613275"/>
            <a:ext cx="11206162" cy="342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6238" y="4270375"/>
            <a:ext cx="2595562" cy="2635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/>
      <p:bldP spid="2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BA3729-3D9F-481F-B3DC-CF453CFD750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699" name="Group 27"/>
          <p:cNvGrpSpPr/>
          <p:nvPr/>
        </p:nvGrpSpPr>
        <p:grpSpPr>
          <a:xfrm>
            <a:off x="0" y="609600"/>
            <a:ext cx="10325100" cy="5761038"/>
            <a:chOff x="204" y="482"/>
            <a:chExt cx="5352" cy="3629"/>
          </a:xfrm>
        </p:grpSpPr>
        <p:sp>
          <p:nvSpPr>
            <p:cNvPr id="25606" name="Text Box 28"/>
            <p:cNvSpPr txBox="1">
              <a:spLocks noChangeArrowheads="1"/>
            </p:cNvSpPr>
            <p:nvPr/>
          </p:nvSpPr>
          <p:spPr bwMode="auto">
            <a:xfrm>
              <a:off x="2209" y="482"/>
              <a:ext cx="3347" cy="3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√空语句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√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表达式语句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√返回语句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break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continue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复合语句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		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分支语句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		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switch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            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do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重复性语句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while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            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for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语句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02" name="Group 29"/>
            <p:cNvGrpSpPr/>
            <p:nvPr/>
          </p:nvGrpSpPr>
          <p:grpSpPr>
            <a:xfrm>
              <a:off x="3016" y="2432"/>
              <a:ext cx="351" cy="616"/>
              <a:chOff x="5349" y="8221"/>
              <a:chExt cx="202" cy="316"/>
            </a:xfrm>
          </p:grpSpPr>
          <p:sp>
            <p:nvSpPr>
              <p:cNvPr id="29718" name="Freeform 30"/>
              <p:cNvSpPr/>
              <p:nvPr/>
            </p:nvSpPr>
            <p:spPr>
              <a:xfrm>
                <a:off x="5467" y="8221"/>
                <a:ext cx="84" cy="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8257" y="0"/>
                    </a:moveTo>
                    <a:lnTo>
                      <a:pt x="0" y="0"/>
                    </a:lnTo>
                    <a:lnTo>
                      <a:pt x="0" y="19930"/>
                    </a:lnTo>
                    <a:lnTo>
                      <a:pt x="19917" y="19930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9" name="Line 31"/>
              <p:cNvSpPr/>
              <p:nvPr/>
            </p:nvSpPr>
            <p:spPr>
              <a:xfrm flipH="1">
                <a:off x="5349" y="8381"/>
                <a:ext cx="98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29703" name="Group 32"/>
            <p:cNvGrpSpPr/>
            <p:nvPr/>
          </p:nvGrpSpPr>
          <p:grpSpPr>
            <a:xfrm>
              <a:off x="3243" y="3385"/>
              <a:ext cx="251" cy="474"/>
              <a:chOff x="5427" y="9061"/>
              <a:chExt cx="251" cy="400"/>
            </a:xfrm>
          </p:grpSpPr>
          <p:sp>
            <p:nvSpPr>
              <p:cNvPr id="29716" name="Freeform 33"/>
              <p:cNvSpPr/>
              <p:nvPr/>
            </p:nvSpPr>
            <p:spPr>
              <a:xfrm>
                <a:off x="5567" y="9061"/>
                <a:ext cx="111" cy="4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8295" y="0"/>
                    </a:moveTo>
                    <a:lnTo>
                      <a:pt x="0" y="0"/>
                    </a:lnTo>
                    <a:lnTo>
                      <a:pt x="0" y="19964"/>
                    </a:lnTo>
                    <a:lnTo>
                      <a:pt x="19886" y="19964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7" name="Line 34"/>
              <p:cNvSpPr/>
              <p:nvPr/>
            </p:nvSpPr>
            <p:spPr>
              <a:xfrm flipH="1">
                <a:off x="5427" y="9260"/>
                <a:ext cx="130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29704" name="Group 35"/>
            <p:cNvGrpSpPr/>
            <p:nvPr/>
          </p:nvGrpSpPr>
          <p:grpSpPr>
            <a:xfrm>
              <a:off x="612" y="1207"/>
              <a:ext cx="322" cy="1787"/>
              <a:chOff x="3087" y="7367"/>
              <a:chExt cx="301" cy="1234"/>
            </a:xfrm>
          </p:grpSpPr>
          <p:sp>
            <p:nvSpPr>
              <p:cNvPr id="29714" name="Freeform 36"/>
              <p:cNvSpPr/>
              <p:nvPr/>
            </p:nvSpPr>
            <p:spPr>
              <a:xfrm>
                <a:off x="3247" y="7367"/>
                <a:ext cx="141" cy="12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8257" y="0"/>
                    </a:moveTo>
                    <a:lnTo>
                      <a:pt x="0" y="0"/>
                    </a:lnTo>
                    <a:lnTo>
                      <a:pt x="0" y="19988"/>
                    </a:lnTo>
                    <a:lnTo>
                      <a:pt x="19917" y="19988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5" name="Line 37"/>
              <p:cNvSpPr/>
              <p:nvPr/>
            </p:nvSpPr>
            <p:spPr>
              <a:xfrm flipH="1">
                <a:off x="3087" y="8000"/>
                <a:ext cx="162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29705" name="Group 38"/>
            <p:cNvGrpSpPr/>
            <p:nvPr/>
          </p:nvGrpSpPr>
          <p:grpSpPr>
            <a:xfrm>
              <a:off x="1791" y="2251"/>
              <a:ext cx="365" cy="1361"/>
              <a:chOff x="4187" y="7747"/>
              <a:chExt cx="341" cy="1180"/>
            </a:xfrm>
          </p:grpSpPr>
          <p:sp>
            <p:nvSpPr>
              <p:cNvPr id="29712" name="Freeform 39"/>
              <p:cNvSpPr/>
              <p:nvPr/>
            </p:nvSpPr>
            <p:spPr>
              <a:xfrm>
                <a:off x="4370" y="7747"/>
                <a:ext cx="158" cy="11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8257" y="0"/>
                    </a:moveTo>
                    <a:lnTo>
                      <a:pt x="0" y="0"/>
                    </a:lnTo>
                    <a:lnTo>
                      <a:pt x="0" y="19977"/>
                    </a:lnTo>
                    <a:lnTo>
                      <a:pt x="19917" y="19977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3" name="Line 40"/>
              <p:cNvSpPr/>
              <p:nvPr/>
            </p:nvSpPr>
            <p:spPr>
              <a:xfrm flipH="1">
                <a:off x="4187" y="8379"/>
                <a:ext cx="184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9706" name="Rectangle 41"/>
            <p:cNvSpPr/>
            <p:nvPr/>
          </p:nvSpPr>
          <p:spPr>
            <a:xfrm>
              <a:off x="975" y="1071"/>
              <a:ext cx="903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简单语句</a:t>
              </a:r>
              <a:endParaRPr lang="zh-CN" altLang="en-US" sz="2400" b="1" dirty="0"/>
            </a:p>
          </p:txBody>
        </p:sp>
        <p:grpSp>
          <p:nvGrpSpPr>
            <p:cNvPr id="29707" name="Group 42"/>
            <p:cNvGrpSpPr/>
            <p:nvPr/>
          </p:nvGrpSpPr>
          <p:grpSpPr>
            <a:xfrm>
              <a:off x="1791" y="573"/>
              <a:ext cx="365" cy="1232"/>
              <a:chOff x="4187" y="6561"/>
              <a:chExt cx="341" cy="1026"/>
            </a:xfrm>
          </p:grpSpPr>
          <p:sp>
            <p:nvSpPr>
              <p:cNvPr id="29710" name="Freeform 43"/>
              <p:cNvSpPr/>
              <p:nvPr/>
            </p:nvSpPr>
            <p:spPr>
              <a:xfrm>
                <a:off x="4387" y="6561"/>
                <a:ext cx="141" cy="10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000" h="20000">
                    <a:moveTo>
                      <a:pt x="18257" y="0"/>
                    </a:moveTo>
                    <a:lnTo>
                      <a:pt x="0" y="0"/>
                    </a:lnTo>
                    <a:lnTo>
                      <a:pt x="0" y="19987"/>
                    </a:lnTo>
                    <a:lnTo>
                      <a:pt x="19917" y="19987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1" name="Line 44"/>
              <p:cNvSpPr/>
              <p:nvPr/>
            </p:nvSpPr>
            <p:spPr>
              <a:xfrm flipH="1">
                <a:off x="4187" y="7101"/>
                <a:ext cx="184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9708" name="Rectangle 45"/>
            <p:cNvSpPr/>
            <p:nvPr/>
          </p:nvSpPr>
          <p:spPr>
            <a:xfrm>
              <a:off x="975" y="2840"/>
              <a:ext cx="903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结构语句</a:t>
              </a:r>
              <a:endParaRPr lang="zh-CN" altLang="en-US" sz="2400" b="1" dirty="0"/>
            </a:p>
          </p:txBody>
        </p:sp>
        <p:sp>
          <p:nvSpPr>
            <p:cNvPr id="29709" name="Rectangle 46"/>
            <p:cNvSpPr/>
            <p:nvPr/>
          </p:nvSpPr>
          <p:spPr>
            <a:xfrm>
              <a:off x="204" y="1996"/>
              <a:ext cx="535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语句</a:t>
              </a:r>
              <a:endParaRPr lang="zh-CN" altLang="en-US" sz="2400" b="1" dirty="0"/>
            </a:p>
          </p:txBody>
        </p:sp>
      </p:grpSp>
      <p:sp>
        <p:nvSpPr>
          <p:cNvPr id="67633" name="Rectangle 49"/>
          <p:cNvSpPr>
            <a:spLocks noChangeArrowheads="1"/>
          </p:cNvSpPr>
          <p:nvPr/>
        </p:nvSpPr>
        <p:spPr bwMode="auto">
          <a:xfrm>
            <a:off x="127000" y="85725"/>
            <a:ext cx="1979613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语句分类：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76200" y="93663"/>
            <a:ext cx="12192000" cy="6002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program  90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English  60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philosophy  85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#define  mathematics 70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main(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float average, sum ;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 =(float) 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program+English+philosophy+mathematics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)/4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printf(“%6.2f \n”, average)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sum=4+2+1+3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average=(program*4+English*2+philosophy*1+mathematics*3)/sum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printf(“%6.2f\n”, average)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title"/>
          </p:nvPr>
        </p:nvSpPr>
        <p:spPr>
          <a:xfrm>
            <a:off x="5735638" y="9525"/>
            <a:ext cx="6456363" cy="636588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§2.4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表达式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P54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774CBF-3D0B-4F91-95AF-3AF9752C60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5" name="Rectangle 19"/>
          <p:cNvSpPr/>
          <p:nvPr/>
        </p:nvSpPr>
        <p:spPr>
          <a:xfrm>
            <a:off x="4478338" y="646113"/>
            <a:ext cx="7696200" cy="728662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  <a:latin typeface="华文行楷" pitchFamily="2" charset="-122"/>
                <a:ea typeface="华文行楷" pitchFamily="2" charset="-122"/>
              </a:rPr>
              <a:t>表达式语句： 表达式   ＋  一个分号 </a:t>
            </a:r>
            <a:endParaRPr lang="zh-CN" altLang="en-US" sz="3600" b="1" dirty="0">
              <a:solidFill>
                <a:srgbClr val="FFFF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99022" name="Rectangle 14"/>
          <p:cNvSpPr/>
          <p:nvPr/>
        </p:nvSpPr>
        <p:spPr>
          <a:xfrm>
            <a:off x="4478338" y="1460500"/>
            <a:ext cx="7637462" cy="1393825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  <a:latin typeface="华文行楷" pitchFamily="2" charset="-122"/>
                <a:ea typeface="华文行楷" pitchFamily="2" charset="-122"/>
              </a:rPr>
              <a:t>表达式的组成：</a:t>
            </a:r>
            <a:endParaRPr lang="en-US" altLang="zh-CN" sz="3600" b="1" dirty="0">
              <a:solidFill>
                <a:srgbClr val="FFFF00"/>
              </a:solidFill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华文行楷" pitchFamily="2" charset="-122"/>
                <a:ea typeface="华文行楷" pitchFamily="2" charset="-122"/>
              </a:rPr>
              <a:t>由</a:t>
            </a:r>
            <a:r>
              <a:rPr lang="zh-CN" altLang="en-US" sz="3600" b="1" dirty="0">
                <a:solidFill>
                  <a:srgbClr val="FFFF00"/>
                </a:solidFill>
                <a:latin typeface="华文行楷" pitchFamily="2" charset="-122"/>
                <a:ea typeface="华文行楷" pitchFamily="2" charset="-122"/>
              </a:rPr>
              <a:t>运算符</a:t>
            </a:r>
            <a:r>
              <a:rPr lang="zh-CN" altLang="en-US" sz="3600" b="1" dirty="0">
                <a:latin typeface="华文行楷" pitchFamily="2" charset="-122"/>
                <a:ea typeface="华文行楷" pitchFamily="2" charset="-122"/>
              </a:rPr>
              <a:t>将</a:t>
            </a:r>
            <a:r>
              <a:rPr lang="zh-CN" altLang="en-US" sz="3600" b="1" dirty="0">
                <a:solidFill>
                  <a:srgbClr val="FFFF00"/>
                </a:solidFill>
                <a:latin typeface="华文行楷" pitchFamily="2" charset="-122"/>
                <a:ea typeface="华文行楷" pitchFamily="2" charset="-122"/>
              </a:rPr>
              <a:t>运算分量</a:t>
            </a:r>
            <a:r>
              <a:rPr lang="zh-CN" altLang="en-US" sz="3600" b="1" dirty="0">
                <a:latin typeface="华文行楷" pitchFamily="2" charset="-122"/>
                <a:ea typeface="华文行楷" pitchFamily="2" charset="-122"/>
              </a:rPr>
              <a:t>连接起来</a:t>
            </a:r>
            <a:endParaRPr lang="zh-CN" altLang="en-US" sz="3600" b="1" dirty="0">
              <a:solidFill>
                <a:srgbClr val="FFFF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99021" name="Rectangle 13"/>
          <p:cNvSpPr>
            <a:spLocks noChangeArrowheads="1"/>
          </p:cNvSpPr>
          <p:nvPr/>
        </p:nvSpPr>
        <p:spPr bwMode="auto">
          <a:xfrm>
            <a:off x="1676400" y="5646738"/>
            <a:ext cx="9144000" cy="1200150"/>
          </a:xfrm>
          <a:prstGeom prst="rect">
            <a:avLst/>
          </a:prstGeom>
          <a:solidFill>
            <a:schemeClr val="accent2"/>
          </a:solidFill>
          <a:ln w="66675" algn="ctr">
            <a:solidFill>
              <a:srgbClr val="0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运算分量：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变量、常量、函数调用、带括号的表达式等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859088" y="2971800"/>
            <a:ext cx="8723312" cy="2286000"/>
            <a:chOff x="2859088" y="2971800"/>
            <a:chExt cx="8723312" cy="2286000"/>
          </a:xfrm>
        </p:grpSpPr>
        <p:grpSp>
          <p:nvGrpSpPr>
            <p:cNvPr id="30729" name="组合 2"/>
            <p:cNvGrpSpPr/>
            <p:nvPr/>
          </p:nvGrpSpPr>
          <p:grpSpPr>
            <a:xfrm>
              <a:off x="2859088" y="2971800"/>
              <a:ext cx="7847012" cy="2286000"/>
              <a:chOff x="2899263" y="3097395"/>
              <a:chExt cx="7846131" cy="2286187"/>
            </a:xfrm>
          </p:grpSpPr>
          <p:sp>
            <p:nvSpPr>
              <p:cNvPr id="299015" name="Rectangle 7"/>
              <p:cNvSpPr>
                <a:spLocks noChangeArrowheads="1"/>
              </p:cNvSpPr>
              <p:nvPr/>
            </p:nvSpPr>
            <p:spPr bwMode="auto">
              <a:xfrm>
                <a:off x="10554915" y="3097395"/>
                <a:ext cx="190479" cy="60965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9018" name="Rectangle 10"/>
              <p:cNvSpPr>
                <a:spLocks noChangeArrowheads="1"/>
              </p:cNvSpPr>
              <p:nvPr/>
            </p:nvSpPr>
            <p:spPr bwMode="auto">
              <a:xfrm>
                <a:off x="4650078" y="5078757"/>
                <a:ext cx="190479" cy="304825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2899263" y="4164282"/>
                <a:ext cx="188891" cy="60965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4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4662488" y="3505200"/>
              <a:ext cx="190500" cy="290513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11391900" y="4343400"/>
              <a:ext cx="190500" cy="60960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9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9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2" grpId="0" animBg="1"/>
      <p:bldP spid="299022" grpId="0" animBg="1"/>
      <p:bldP spid="2990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2075"/>
            <a:ext cx="5481638" cy="533400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表达式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(expression)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719673-837D-4798-B6A8-33A2A5D88C9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2" name="Rectangle 39"/>
          <p:cNvSpPr/>
          <p:nvPr/>
        </p:nvSpPr>
        <p:spPr>
          <a:xfrm>
            <a:off x="39688" y="1117600"/>
            <a:ext cx="12076112" cy="609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average</a:t>
            </a:r>
            <a:r>
              <a:rPr lang="en-US" altLang="zh-CN" sz="2200" b="1" dirty="0">
                <a:solidFill>
                  <a:srgbClr val="FF0000"/>
                </a:solidFill>
              </a:rPr>
              <a:t>=(</a:t>
            </a:r>
            <a:r>
              <a:rPr lang="en-US" altLang="zh-CN" sz="2200" b="1" dirty="0">
                <a:cs typeface="Arial" panose="020B0604020202020204" pitchFamily="34" charset="0"/>
              </a:rPr>
              <a:t>program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0000"/>
                </a:solidFill>
              </a:rPr>
              <a:t>*</a:t>
            </a:r>
            <a:r>
              <a:rPr lang="en-US" altLang="zh-CN" sz="2200" b="1" dirty="0"/>
              <a:t> 4 </a:t>
            </a:r>
            <a:r>
              <a:rPr lang="en-US" altLang="zh-CN" sz="2200" b="1" dirty="0">
                <a:solidFill>
                  <a:srgbClr val="FF0000"/>
                </a:solidFill>
              </a:rPr>
              <a:t>+  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cs typeface="Arial" panose="020B0604020202020204" pitchFamily="34" charset="0"/>
              </a:rPr>
              <a:t>English 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0000"/>
                </a:solidFill>
              </a:rPr>
              <a:t>*</a:t>
            </a:r>
            <a:r>
              <a:rPr lang="en-US" altLang="zh-CN" sz="2200" b="1" dirty="0"/>
              <a:t> 2</a:t>
            </a:r>
            <a:r>
              <a:rPr lang="en-US" altLang="zh-CN" sz="2200" b="1" dirty="0">
                <a:solidFill>
                  <a:srgbClr val="FF0000"/>
                </a:solidFill>
              </a:rPr>
              <a:t>+ </a:t>
            </a:r>
            <a:r>
              <a:rPr lang="en-US" altLang="zh-CN" sz="2200" b="1" dirty="0">
                <a:cs typeface="Arial" panose="020B0604020202020204" pitchFamily="34" charset="0"/>
              </a:rPr>
              <a:t>philosophy </a:t>
            </a:r>
            <a:r>
              <a:rPr lang="en-US" altLang="zh-CN" sz="2200" b="1" dirty="0">
                <a:solidFill>
                  <a:srgbClr val="FF0000"/>
                </a:solidFill>
              </a:rPr>
              <a:t>* </a:t>
            </a:r>
            <a:r>
              <a:rPr lang="en-US" altLang="zh-CN" sz="2200" b="1" dirty="0"/>
              <a:t>1 </a:t>
            </a:r>
            <a:r>
              <a:rPr lang="en-US" altLang="zh-CN" sz="2200" b="1" dirty="0">
                <a:solidFill>
                  <a:srgbClr val="FF0000"/>
                </a:solidFill>
              </a:rPr>
              <a:t>+  </a:t>
            </a:r>
            <a:r>
              <a:rPr lang="en-US" altLang="zh-CN" sz="2200" b="1" dirty="0">
                <a:cs typeface="Arial" panose="020B0604020202020204" pitchFamily="34" charset="0"/>
              </a:rPr>
              <a:t>mathematics </a:t>
            </a:r>
            <a:r>
              <a:rPr lang="en-US" altLang="zh-CN" sz="2200" b="1" dirty="0">
                <a:solidFill>
                  <a:srgbClr val="FF0000"/>
                </a:solidFill>
              </a:rPr>
              <a:t>* </a:t>
            </a:r>
            <a:r>
              <a:rPr lang="en-US" altLang="zh-CN" sz="2200" b="1" dirty="0"/>
              <a:t>3   </a:t>
            </a:r>
            <a:r>
              <a:rPr lang="en-US" altLang="zh-CN" sz="2200" b="1" dirty="0">
                <a:solidFill>
                  <a:srgbClr val="FF0000"/>
                </a:solidFill>
              </a:rPr>
              <a:t>)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0000"/>
                </a:solidFill>
              </a:rPr>
              <a:t>/</a:t>
            </a:r>
            <a:r>
              <a:rPr lang="en-US" altLang="zh-CN" sz="2200" b="1" dirty="0"/>
              <a:t> sum</a:t>
            </a:r>
            <a:endParaRPr lang="en-US" altLang="zh-CN" sz="2200" b="1" dirty="0">
              <a:ea typeface="Arial" panose="020B0604020202020204" pitchFamily="34" charset="0"/>
            </a:endParaRPr>
          </a:p>
        </p:txBody>
      </p:sp>
      <p:sp>
        <p:nvSpPr>
          <p:cNvPr id="70731" name="AutoShape 75"/>
          <p:cNvSpPr/>
          <p:nvPr/>
        </p:nvSpPr>
        <p:spPr>
          <a:xfrm>
            <a:off x="7045325" y="3643313"/>
            <a:ext cx="3719513" cy="1220787"/>
          </a:xfrm>
          <a:prstGeom prst="wedgeEllipseCallout">
            <a:avLst>
              <a:gd name="adj1" fmla="val -20060"/>
              <a:gd name="adj2" fmla="val 7956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这是一个</a:t>
            </a:r>
            <a:endParaRPr lang="zh-CN" altLang="en-US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表达式语句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70733" name="AutoShape 77"/>
          <p:cNvSpPr/>
          <p:nvPr/>
        </p:nvSpPr>
        <p:spPr>
          <a:xfrm>
            <a:off x="7110413" y="14288"/>
            <a:ext cx="3254375" cy="1098550"/>
          </a:xfrm>
          <a:prstGeom prst="wedgeEllipseCallout">
            <a:avLst>
              <a:gd name="adj1" fmla="val -53514"/>
              <a:gd name="adj2" fmla="val 4744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b="1" dirty="0"/>
              <a:t>这是一个</a:t>
            </a:r>
            <a:endParaRPr lang="zh-CN" altLang="en-US" sz="3000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b="1" dirty="0">
                <a:solidFill>
                  <a:schemeClr val="hlink"/>
                </a:solidFill>
              </a:rPr>
              <a:t>表达式</a:t>
            </a:r>
            <a:endParaRPr lang="zh-CN" altLang="en-US" sz="3000" b="1" dirty="0">
              <a:solidFill>
                <a:schemeClr val="hlink"/>
              </a:solidFill>
            </a:endParaRPr>
          </a:p>
        </p:txBody>
      </p:sp>
      <p:sp>
        <p:nvSpPr>
          <p:cNvPr id="88" name="Rectangle 13"/>
          <p:cNvSpPr>
            <a:spLocks noChangeArrowheads="1"/>
          </p:cNvSpPr>
          <p:nvPr/>
        </p:nvSpPr>
        <p:spPr bwMode="auto">
          <a:xfrm>
            <a:off x="1524000" y="5600700"/>
            <a:ext cx="9144000" cy="1200150"/>
          </a:xfrm>
          <a:prstGeom prst="rect">
            <a:avLst/>
          </a:prstGeom>
          <a:solidFill>
            <a:schemeClr val="accent2"/>
          </a:solidFill>
          <a:ln w="66675" algn="ctr">
            <a:solidFill>
              <a:srgbClr val="0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运算分量：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变量、常量、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函数调用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、带括号的表达式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09725" y="1825625"/>
            <a:ext cx="9599613" cy="436563"/>
            <a:chOff x="1633178" y="1824905"/>
            <a:chExt cx="9576226" cy="436940"/>
          </a:xfrm>
        </p:grpSpPr>
        <p:grpSp>
          <p:nvGrpSpPr>
            <p:cNvPr id="32793" name="组合 9"/>
            <p:cNvGrpSpPr/>
            <p:nvPr/>
          </p:nvGrpSpPr>
          <p:grpSpPr>
            <a:xfrm>
              <a:off x="1633178" y="1875848"/>
              <a:ext cx="1109242" cy="378978"/>
              <a:chOff x="1711847" y="1295400"/>
              <a:chExt cx="762000" cy="440248"/>
            </a:xfrm>
          </p:grpSpPr>
          <p:sp>
            <p:nvSpPr>
              <p:cNvPr id="32815" name="Line 47"/>
              <p:cNvSpPr/>
              <p:nvPr/>
            </p:nvSpPr>
            <p:spPr>
              <a:xfrm>
                <a:off x="1711847" y="1295400"/>
                <a:ext cx="76200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16" name="TextBox 33"/>
              <p:cNvSpPr txBox="1"/>
              <p:nvPr/>
            </p:nvSpPr>
            <p:spPr>
              <a:xfrm>
                <a:off x="1711847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 分量</a:t>
                </a:r>
                <a:endParaRPr lang="zh-CN" altLang="en-US" sz="1800" b="1" dirty="0"/>
              </a:p>
            </p:txBody>
          </p:sp>
        </p:grpSp>
        <p:grpSp>
          <p:nvGrpSpPr>
            <p:cNvPr id="32794" name="组合 10"/>
            <p:cNvGrpSpPr/>
            <p:nvPr/>
          </p:nvGrpSpPr>
          <p:grpSpPr>
            <a:xfrm>
              <a:off x="2875672" y="1882867"/>
              <a:ext cx="998318" cy="378978"/>
              <a:chOff x="2590800" y="1295400"/>
              <a:chExt cx="685800" cy="440248"/>
            </a:xfrm>
          </p:grpSpPr>
          <p:sp>
            <p:nvSpPr>
              <p:cNvPr id="32813" name="Line 48"/>
              <p:cNvSpPr/>
              <p:nvPr/>
            </p:nvSpPr>
            <p:spPr>
              <a:xfrm>
                <a:off x="2743200" y="1295400"/>
                <a:ext cx="26935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14" name="TextBox 34"/>
              <p:cNvSpPr txBox="1"/>
              <p:nvPr/>
            </p:nvSpPr>
            <p:spPr>
              <a:xfrm>
                <a:off x="2590800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分量</a:t>
                </a:r>
                <a:endParaRPr lang="zh-CN" altLang="en-US" sz="1800" b="1" dirty="0"/>
              </a:p>
            </p:txBody>
          </p:sp>
        </p:grpSp>
        <p:grpSp>
          <p:nvGrpSpPr>
            <p:cNvPr id="32795" name="组合 47"/>
            <p:cNvGrpSpPr/>
            <p:nvPr/>
          </p:nvGrpSpPr>
          <p:grpSpPr>
            <a:xfrm>
              <a:off x="3867673" y="1865924"/>
              <a:ext cx="1109242" cy="378978"/>
              <a:chOff x="1711847" y="1295400"/>
              <a:chExt cx="762000" cy="440248"/>
            </a:xfrm>
          </p:grpSpPr>
          <p:sp>
            <p:nvSpPr>
              <p:cNvPr id="32811" name="Line 47"/>
              <p:cNvSpPr/>
              <p:nvPr/>
            </p:nvSpPr>
            <p:spPr>
              <a:xfrm>
                <a:off x="1711847" y="1295400"/>
                <a:ext cx="76200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12" name="TextBox 33"/>
              <p:cNvSpPr txBox="1"/>
              <p:nvPr/>
            </p:nvSpPr>
            <p:spPr>
              <a:xfrm>
                <a:off x="1711847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分量</a:t>
                </a:r>
                <a:endParaRPr lang="zh-CN" altLang="en-US" sz="1800" b="1" dirty="0"/>
              </a:p>
            </p:txBody>
          </p:sp>
        </p:grpSp>
        <p:grpSp>
          <p:nvGrpSpPr>
            <p:cNvPr id="32796" name="组合 51"/>
            <p:cNvGrpSpPr/>
            <p:nvPr/>
          </p:nvGrpSpPr>
          <p:grpSpPr>
            <a:xfrm>
              <a:off x="5034182" y="1865043"/>
              <a:ext cx="998318" cy="378978"/>
              <a:chOff x="2590800" y="1295400"/>
              <a:chExt cx="685800" cy="440248"/>
            </a:xfrm>
          </p:grpSpPr>
          <p:sp>
            <p:nvSpPr>
              <p:cNvPr id="32809" name="Line 48"/>
              <p:cNvSpPr/>
              <p:nvPr/>
            </p:nvSpPr>
            <p:spPr>
              <a:xfrm>
                <a:off x="2743200" y="1295400"/>
                <a:ext cx="26935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10" name="TextBox 34"/>
              <p:cNvSpPr txBox="1"/>
              <p:nvPr/>
            </p:nvSpPr>
            <p:spPr>
              <a:xfrm>
                <a:off x="2590800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分量</a:t>
                </a:r>
                <a:endParaRPr lang="zh-CN" altLang="en-US" sz="1800" b="1" dirty="0"/>
              </a:p>
            </p:txBody>
          </p:sp>
        </p:grpSp>
        <p:grpSp>
          <p:nvGrpSpPr>
            <p:cNvPr id="32797" name="组合 54"/>
            <p:cNvGrpSpPr/>
            <p:nvPr/>
          </p:nvGrpSpPr>
          <p:grpSpPr>
            <a:xfrm>
              <a:off x="5923517" y="1851116"/>
              <a:ext cx="1109242" cy="378978"/>
              <a:chOff x="1711847" y="1295400"/>
              <a:chExt cx="762000" cy="440248"/>
            </a:xfrm>
          </p:grpSpPr>
          <p:sp>
            <p:nvSpPr>
              <p:cNvPr id="32807" name="Line 47"/>
              <p:cNvSpPr/>
              <p:nvPr/>
            </p:nvSpPr>
            <p:spPr>
              <a:xfrm>
                <a:off x="1711847" y="1295400"/>
                <a:ext cx="76200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8" name="TextBox 33"/>
              <p:cNvSpPr txBox="1"/>
              <p:nvPr/>
            </p:nvSpPr>
            <p:spPr>
              <a:xfrm>
                <a:off x="1711847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 分量</a:t>
                </a:r>
                <a:endParaRPr lang="zh-CN" altLang="en-US" sz="1800" b="1" dirty="0"/>
              </a:p>
            </p:txBody>
          </p:sp>
        </p:grpSp>
        <p:grpSp>
          <p:nvGrpSpPr>
            <p:cNvPr id="32798" name="组合 57"/>
            <p:cNvGrpSpPr/>
            <p:nvPr/>
          </p:nvGrpSpPr>
          <p:grpSpPr>
            <a:xfrm>
              <a:off x="7410815" y="1840923"/>
              <a:ext cx="998318" cy="378978"/>
              <a:chOff x="2590800" y="1295400"/>
              <a:chExt cx="685800" cy="440248"/>
            </a:xfrm>
          </p:grpSpPr>
          <p:sp>
            <p:nvSpPr>
              <p:cNvPr id="32805" name="Line 48"/>
              <p:cNvSpPr/>
              <p:nvPr/>
            </p:nvSpPr>
            <p:spPr>
              <a:xfrm>
                <a:off x="2743200" y="1295400"/>
                <a:ext cx="26935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6" name="TextBox 34"/>
              <p:cNvSpPr txBox="1"/>
              <p:nvPr/>
            </p:nvSpPr>
            <p:spPr>
              <a:xfrm>
                <a:off x="2590800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分量</a:t>
                </a:r>
                <a:endParaRPr lang="zh-CN" altLang="en-US" sz="1800" b="1" dirty="0"/>
              </a:p>
            </p:txBody>
          </p:sp>
        </p:grpSp>
        <p:grpSp>
          <p:nvGrpSpPr>
            <p:cNvPr id="32799" name="组合 61"/>
            <p:cNvGrpSpPr/>
            <p:nvPr/>
          </p:nvGrpSpPr>
          <p:grpSpPr>
            <a:xfrm>
              <a:off x="8625368" y="1845074"/>
              <a:ext cx="1109242" cy="378978"/>
              <a:chOff x="1711847" y="1295400"/>
              <a:chExt cx="762000" cy="440248"/>
            </a:xfrm>
          </p:grpSpPr>
          <p:sp>
            <p:nvSpPr>
              <p:cNvPr id="32803" name="Line 47"/>
              <p:cNvSpPr/>
              <p:nvPr/>
            </p:nvSpPr>
            <p:spPr>
              <a:xfrm>
                <a:off x="1711847" y="1295400"/>
                <a:ext cx="76200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4" name="TextBox 33"/>
              <p:cNvSpPr txBox="1"/>
              <p:nvPr/>
            </p:nvSpPr>
            <p:spPr>
              <a:xfrm>
                <a:off x="1711847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 分量</a:t>
                </a:r>
                <a:endParaRPr lang="zh-CN" altLang="en-US" sz="1800" b="1" dirty="0"/>
              </a:p>
            </p:txBody>
          </p:sp>
        </p:grpSp>
        <p:grpSp>
          <p:nvGrpSpPr>
            <p:cNvPr id="32800" name="组合 64"/>
            <p:cNvGrpSpPr/>
            <p:nvPr/>
          </p:nvGrpSpPr>
          <p:grpSpPr>
            <a:xfrm>
              <a:off x="10211086" y="1824905"/>
              <a:ext cx="998318" cy="378978"/>
              <a:chOff x="2590800" y="1295400"/>
              <a:chExt cx="685800" cy="440248"/>
            </a:xfrm>
          </p:grpSpPr>
          <p:sp>
            <p:nvSpPr>
              <p:cNvPr id="32801" name="Line 48"/>
              <p:cNvSpPr/>
              <p:nvPr/>
            </p:nvSpPr>
            <p:spPr>
              <a:xfrm>
                <a:off x="2743200" y="1295400"/>
                <a:ext cx="26935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2" name="TextBox 34"/>
              <p:cNvSpPr txBox="1"/>
              <p:nvPr/>
            </p:nvSpPr>
            <p:spPr>
              <a:xfrm>
                <a:off x="2590800" y="1306605"/>
                <a:ext cx="685800" cy="4290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/>
                  <a:t>  分量</a:t>
                </a:r>
                <a:endParaRPr lang="zh-CN" altLang="en-US" sz="1800" b="1" dirty="0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609725" y="2378075"/>
            <a:ext cx="9118600" cy="369888"/>
            <a:chOff x="1764659" y="1717702"/>
            <a:chExt cx="6019800" cy="369331"/>
          </a:xfrm>
        </p:grpSpPr>
        <p:sp>
          <p:nvSpPr>
            <p:cNvPr id="80" name="Rectangle 66"/>
            <p:cNvSpPr>
              <a:spLocks noChangeArrowheads="1"/>
            </p:cNvSpPr>
            <p:nvPr/>
          </p:nvSpPr>
          <p:spPr bwMode="auto">
            <a:xfrm>
              <a:off x="4421378" y="1717702"/>
              <a:ext cx="1142337" cy="369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表达式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92" name="直接连接符 37"/>
            <p:cNvCxnSpPr/>
            <p:nvPr/>
          </p:nvCxnSpPr>
          <p:spPr>
            <a:xfrm>
              <a:off x="1764659" y="1717702"/>
              <a:ext cx="6019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1535113" y="2868613"/>
            <a:ext cx="9590087" cy="369887"/>
            <a:chOff x="1600200" y="2282836"/>
            <a:chExt cx="6477000" cy="368776"/>
          </a:xfrm>
        </p:grpSpPr>
        <p:sp>
          <p:nvSpPr>
            <p:cNvPr id="82" name="Rectangle 66"/>
            <p:cNvSpPr>
              <a:spLocks noChangeArrowheads="1"/>
            </p:cNvSpPr>
            <p:nvPr/>
          </p:nvSpPr>
          <p:spPr bwMode="auto">
            <a:xfrm>
              <a:off x="3360709" y="2282836"/>
              <a:ext cx="3801927" cy="3687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分量（带括号的表达式）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90" name="直接连接符 37"/>
            <p:cNvCxnSpPr/>
            <p:nvPr/>
          </p:nvCxnSpPr>
          <p:spPr>
            <a:xfrm>
              <a:off x="1600200" y="2286000"/>
              <a:ext cx="64770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86" name="组合 85"/>
          <p:cNvGrpSpPr/>
          <p:nvPr/>
        </p:nvGrpSpPr>
        <p:grpSpPr>
          <a:xfrm>
            <a:off x="11430000" y="2868613"/>
            <a:ext cx="685800" cy="381000"/>
            <a:chOff x="2590800" y="1295400"/>
            <a:chExt cx="685800" cy="380539"/>
          </a:xfrm>
        </p:grpSpPr>
        <p:sp>
          <p:nvSpPr>
            <p:cNvPr id="32787" name="Line 48"/>
            <p:cNvSpPr/>
            <p:nvPr/>
          </p:nvSpPr>
          <p:spPr>
            <a:xfrm>
              <a:off x="2743200" y="1295400"/>
              <a:ext cx="2693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TextBox 34"/>
            <p:cNvSpPr txBox="1"/>
            <p:nvPr/>
          </p:nvSpPr>
          <p:spPr>
            <a:xfrm>
              <a:off x="2590800" y="1306607"/>
              <a:ext cx="6858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分量</a:t>
              </a:r>
              <a:endParaRPr lang="zh-CN" altLang="en-US" sz="18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52400" y="2822575"/>
            <a:ext cx="1143000" cy="369888"/>
            <a:chOff x="76200" y="2849884"/>
            <a:chExt cx="1143000" cy="369236"/>
          </a:xfrm>
        </p:grpSpPr>
        <p:sp>
          <p:nvSpPr>
            <p:cNvPr id="32785" name="Line 47"/>
            <p:cNvSpPr/>
            <p:nvPr/>
          </p:nvSpPr>
          <p:spPr>
            <a:xfrm>
              <a:off x="76200" y="2895600"/>
              <a:ext cx="1066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TextBox 33"/>
            <p:cNvSpPr txBox="1"/>
            <p:nvPr/>
          </p:nvSpPr>
          <p:spPr>
            <a:xfrm>
              <a:off x="259080" y="2849884"/>
              <a:ext cx="960120" cy="3692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分量</a:t>
              </a:r>
              <a:endParaRPr lang="zh-CN" altLang="en-US" sz="1800" b="1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2400" y="3632200"/>
            <a:ext cx="11887200" cy="379413"/>
            <a:chOff x="76200" y="3505200"/>
            <a:chExt cx="9067800" cy="377398"/>
          </a:xfrm>
        </p:grpSpPr>
        <p:sp>
          <p:nvSpPr>
            <p:cNvPr id="97" name="Rectangle 66"/>
            <p:cNvSpPr>
              <a:spLocks noChangeArrowheads="1"/>
            </p:cNvSpPr>
            <p:nvPr/>
          </p:nvSpPr>
          <p:spPr bwMode="auto">
            <a:xfrm>
              <a:off x="3988869" y="3514674"/>
              <a:ext cx="1140741" cy="3679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表达式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2784" name="直接连接符 37"/>
            <p:cNvCxnSpPr/>
            <p:nvPr/>
          </p:nvCxnSpPr>
          <p:spPr>
            <a:xfrm>
              <a:off x="76200" y="3505200"/>
              <a:ext cx="9067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01" name="Rectangle 39"/>
          <p:cNvSpPr/>
          <p:nvPr/>
        </p:nvSpPr>
        <p:spPr>
          <a:xfrm>
            <a:off x="334963" y="5029200"/>
            <a:ext cx="11542712" cy="4556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average=(</a:t>
            </a:r>
            <a:r>
              <a:rPr lang="en-US" altLang="zh-CN" sz="2400" b="1" dirty="0">
                <a:cs typeface="Arial" panose="020B0604020202020204" pitchFamily="34" charset="0"/>
              </a:rPr>
              <a:t>program</a:t>
            </a:r>
            <a:r>
              <a:rPr lang="en-US" altLang="zh-CN" sz="2400" b="1" dirty="0"/>
              <a:t>*4+</a:t>
            </a:r>
            <a:r>
              <a:rPr lang="en-US" altLang="zh-CN" sz="2400" b="1" dirty="0">
                <a:cs typeface="Arial" panose="020B0604020202020204" pitchFamily="34" charset="0"/>
              </a:rPr>
              <a:t>English</a:t>
            </a:r>
            <a:r>
              <a:rPr lang="en-US" altLang="zh-CN" sz="2400" b="1" dirty="0"/>
              <a:t>*2+</a:t>
            </a:r>
            <a:r>
              <a:rPr lang="en-US" altLang="zh-CN" sz="2400" b="1" dirty="0">
                <a:cs typeface="Arial" panose="020B0604020202020204" pitchFamily="34" charset="0"/>
              </a:rPr>
              <a:t>philosophy</a:t>
            </a:r>
            <a:r>
              <a:rPr lang="en-US" altLang="zh-CN" sz="2400" b="1" dirty="0"/>
              <a:t>*1+</a:t>
            </a:r>
            <a:r>
              <a:rPr lang="en-US" altLang="zh-CN" sz="2400" b="1" dirty="0">
                <a:cs typeface="Arial" panose="020B0604020202020204" pitchFamily="34" charset="0"/>
              </a:rPr>
              <a:t>mathematics</a:t>
            </a:r>
            <a:r>
              <a:rPr lang="en-US" altLang="zh-CN" sz="2400" b="1" dirty="0"/>
              <a:t>*3)/sum </a:t>
            </a:r>
            <a:r>
              <a:rPr lang="en-US" altLang="zh-CN" sz="2400" b="1" dirty="0">
                <a:solidFill>
                  <a:srgbClr val="FF0000"/>
                </a:solidFill>
              </a:rPr>
              <a:t>;</a:t>
            </a:r>
            <a:endParaRPr lang="en-US" altLang="zh-CN" sz="24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31" grpId="0" animBg="1"/>
      <p:bldP spid="70733" grpId="0" animBg="1"/>
      <p:bldP spid="10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8" y="65088"/>
            <a:ext cx="5486400" cy="533400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表达式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(expression)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2F0F0D-E53A-4F27-9BD0-E7493DC734D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95" name="Rectangle 39"/>
          <p:cNvSpPr>
            <a:spLocks noChangeArrowheads="1"/>
          </p:cNvSpPr>
          <p:nvPr/>
        </p:nvSpPr>
        <p:spPr bwMode="auto">
          <a:xfrm>
            <a:off x="838200" y="1236980"/>
            <a:ext cx="4488180" cy="8883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(“hello”)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31" name="AutoShape 75"/>
          <p:cNvSpPr/>
          <p:nvPr/>
        </p:nvSpPr>
        <p:spPr>
          <a:xfrm>
            <a:off x="5410200" y="2734310"/>
            <a:ext cx="3276600" cy="1389063"/>
          </a:xfrm>
          <a:prstGeom prst="wedgeEllipseCallout">
            <a:avLst>
              <a:gd name="adj1" fmla="val -56957"/>
              <a:gd name="adj2" fmla="val 5276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这是一个</a:t>
            </a:r>
            <a:endParaRPr lang="zh-CN" altLang="en-US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表达式语句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70733" name="AutoShape 77"/>
          <p:cNvSpPr/>
          <p:nvPr/>
        </p:nvSpPr>
        <p:spPr>
          <a:xfrm>
            <a:off x="5638800" y="380683"/>
            <a:ext cx="2987675" cy="1219200"/>
          </a:xfrm>
          <a:prstGeom prst="wedgeEllipseCallout">
            <a:avLst>
              <a:gd name="adj1" fmla="val -78629"/>
              <a:gd name="adj2" fmla="val 4273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这是一个</a:t>
            </a:r>
            <a:endParaRPr lang="zh-CN" altLang="en-US" b="1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表达式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88" name="Rectangle 13"/>
          <p:cNvSpPr>
            <a:spLocks noChangeArrowheads="1"/>
          </p:cNvSpPr>
          <p:nvPr/>
        </p:nvSpPr>
        <p:spPr bwMode="auto">
          <a:xfrm>
            <a:off x="960438" y="5640388"/>
            <a:ext cx="10728325" cy="1200150"/>
          </a:xfrm>
          <a:prstGeom prst="rect">
            <a:avLst/>
          </a:prstGeom>
          <a:solidFill>
            <a:schemeClr val="accent2"/>
          </a:solidFill>
          <a:ln w="66675" algn="ctr">
            <a:solidFill>
              <a:srgbClr val="0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运算分量：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变量、常量、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函数调用、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带括号的表达式等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sp>
        <p:nvSpPr>
          <p:cNvPr id="2" name="Rectangle 39"/>
          <p:cNvSpPr>
            <a:spLocks noChangeArrowheads="1"/>
          </p:cNvSpPr>
          <p:nvPr/>
        </p:nvSpPr>
        <p:spPr bwMode="auto">
          <a:xfrm>
            <a:off x="838200" y="3581400"/>
            <a:ext cx="4488180" cy="8883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(“hello”) ;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31" grpId="0" bldLvl="0" animBg="1"/>
      <p:bldP spid="7073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7463" y="236538"/>
            <a:ext cx="11985625" cy="167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语言表达式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通常数学表达式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的书写区别：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所有字符必须写在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一条水平线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上。不允许出现上、下角标、分数线等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graphicFrame>
        <p:nvGraphicFramePr>
          <p:cNvPr id="368643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0075" y="2970213"/>
          <a:ext cx="180022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31800" imgH="254000" progId="Equation.DSMT4">
                  <p:embed/>
                </p:oleObj>
              </mc:Choice>
              <mc:Fallback>
                <p:oleObj name="" r:id="rId1" imgW="4318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00075" y="2970213"/>
                        <a:ext cx="1800225" cy="1058862"/>
                      </a:xfrm>
                      <a:prstGeom prst="rect">
                        <a:avLst/>
                      </a:prstGeom>
                      <a:solidFill>
                        <a:schemeClr val="tx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7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FBB209-2848-4CF5-B694-AFAAF345151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8644" name="Object 4"/>
          <p:cNvGraphicFramePr>
            <a:graphicFrameLocks noChangeAspect="1"/>
          </p:cNvGraphicFramePr>
          <p:nvPr/>
        </p:nvGraphicFramePr>
        <p:xfrm>
          <a:off x="3800475" y="2971800"/>
          <a:ext cx="8175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77800" imgH="203200" progId="Equation.DSMT4">
                  <p:embed/>
                </p:oleObj>
              </mc:Choice>
              <mc:Fallback>
                <p:oleObj name="" r:id="rId3" imgW="1778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0475" y="2971800"/>
                        <a:ext cx="817563" cy="9350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5" name="Object 5"/>
          <p:cNvGraphicFramePr>
            <a:graphicFrameLocks noChangeAspect="1"/>
          </p:cNvGraphicFramePr>
          <p:nvPr/>
        </p:nvGraphicFramePr>
        <p:xfrm>
          <a:off x="6545263" y="2947988"/>
          <a:ext cx="12954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482600" imgH="393700" progId="Equation.DSMT4">
                  <p:embed/>
                </p:oleObj>
              </mc:Choice>
              <mc:Fallback>
                <p:oleObj name="" r:id="rId5" imgW="482600" imgH="3937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45263" y="2947988"/>
                        <a:ext cx="1295400" cy="10572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6" name="Object 6"/>
          <p:cNvGraphicFramePr>
            <a:graphicFrameLocks noChangeAspect="1"/>
          </p:cNvGraphicFramePr>
          <p:nvPr/>
        </p:nvGraphicFramePr>
        <p:xfrm>
          <a:off x="8991600" y="2971800"/>
          <a:ext cx="15113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381000" imgH="254000" progId="Equation.DSMT4">
                  <p:embed/>
                </p:oleObj>
              </mc:Choice>
              <mc:Fallback>
                <p:oleObj name="" r:id="rId7" imgW="381000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91600" y="2971800"/>
                        <a:ext cx="1511300" cy="10080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7" name="Text Box 7"/>
          <p:cNvSpPr txBox="1">
            <a:spLocks noChangeArrowheads="1"/>
          </p:cNvSpPr>
          <p:nvPr/>
        </p:nvSpPr>
        <p:spPr bwMode="auto">
          <a:xfrm>
            <a:off x="2133600" y="5867400"/>
            <a:ext cx="1676400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endParaRPr kumimoji="0" lang="zh-CN" altLang="zh-CN" sz="28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8" name="Text Box 8"/>
          <p:cNvSpPr txBox="1">
            <a:spLocks noChangeArrowheads="1"/>
          </p:cNvSpPr>
          <p:nvPr/>
        </p:nvSpPr>
        <p:spPr bwMode="auto">
          <a:xfrm>
            <a:off x="447675" y="4265613"/>
            <a:ext cx="2438400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sqrt(x*y)</a:t>
            </a:r>
            <a:endParaRPr kumimoji="0" lang="en-US" altLang="zh-CN" sz="2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49" name="Text Box 9"/>
          <p:cNvSpPr txBox="1">
            <a:spLocks noChangeArrowheads="1"/>
          </p:cNvSpPr>
          <p:nvPr/>
        </p:nvSpPr>
        <p:spPr bwMode="auto">
          <a:xfrm>
            <a:off x="3429000" y="4876800"/>
            <a:ext cx="2438400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x*x*x*x*x</a:t>
            </a:r>
            <a:endParaRPr kumimoji="0" lang="en-US" altLang="zh-CN" sz="2800" kern="1200" cap="none" spc="0" normalizeH="0" baseline="0" noProof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50" name="Text Box 10"/>
          <p:cNvSpPr txBox="1">
            <a:spLocks noChangeArrowheads="1"/>
          </p:cNvSpPr>
          <p:nvPr/>
        </p:nvSpPr>
        <p:spPr bwMode="auto">
          <a:xfrm>
            <a:off x="6469063" y="4243388"/>
            <a:ext cx="1752600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(x+y)/4</a:t>
            </a:r>
            <a:endParaRPr kumimoji="0" lang="en-US" altLang="zh-CN" sz="2800" kern="1200" cap="none" spc="0" normalizeH="0" baseline="0" noProof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51" name="Text Box 11"/>
          <p:cNvSpPr txBox="1">
            <a:spLocks noChangeArrowheads="1"/>
          </p:cNvSpPr>
          <p:nvPr/>
        </p:nvSpPr>
        <p:spPr bwMode="auto">
          <a:xfrm>
            <a:off x="8382000" y="4343400"/>
            <a:ext cx="2819400" cy="4460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fabs(x*y)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53" name="Text Box 13"/>
          <p:cNvSpPr txBox="1">
            <a:spLocks noChangeArrowheads="1"/>
          </p:cNvSpPr>
          <p:nvPr/>
        </p:nvSpPr>
        <p:spPr bwMode="auto">
          <a:xfrm>
            <a:off x="3048000" y="4288155"/>
            <a:ext cx="2971800" cy="4794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pow(x,5)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54" name="Text Box 14"/>
          <p:cNvSpPr txBox="1">
            <a:spLocks noChangeArrowheads="1"/>
          </p:cNvSpPr>
          <p:nvPr/>
        </p:nvSpPr>
        <p:spPr bwMode="auto">
          <a:xfrm>
            <a:off x="8458200" y="5105400"/>
            <a:ext cx="2209800" cy="7905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整数：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abs(x*y)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txEl>
                                              <p:charRg st="1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42">
                                            <p:txEl>
                                              <p:charRg st="18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8" grpId="0"/>
      <p:bldP spid="368649" grpId="0" bldLvl="0" animBg="1"/>
      <p:bldP spid="368650" grpId="0"/>
      <p:bldP spid="368651" grpId="0"/>
      <p:bldP spid="368653" grpId="0" bldLvl="0" animBg="1"/>
      <p:bldP spid="3686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069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620713"/>
            <a:ext cx="11125200" cy="5475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AutoNum type="arabicPeriod" startAt="2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a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乘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b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 ab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a·b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×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b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a*b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AutoNum type="arabicPeriod" startAt="3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除了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下标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使用方括号以外，所有括号必须用圆括号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{a*[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b+c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*(a+6)]}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(a*(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b+c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*(a+6)))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A84DBD-C548-409B-910E-0DEA7697B86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419600" y="1676400"/>
            <a:ext cx="244475" cy="492125"/>
            <a:chOff x="2789" y="482"/>
            <a:chExt cx="2767" cy="2540"/>
          </a:xfrm>
        </p:grpSpPr>
        <p:sp>
          <p:nvSpPr>
            <p:cNvPr id="36872" name="Line 4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3" name="Line 5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6"/>
          <p:cNvGrpSpPr/>
          <p:nvPr/>
        </p:nvGrpSpPr>
        <p:grpSpPr>
          <a:xfrm>
            <a:off x="4191000" y="4190683"/>
            <a:ext cx="357188" cy="633412"/>
            <a:chOff x="2789" y="482"/>
            <a:chExt cx="2767" cy="2540"/>
          </a:xfrm>
        </p:grpSpPr>
        <p:sp>
          <p:nvSpPr>
            <p:cNvPr id="36870" name="Line 7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1" name="Line 8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2738" name="Rectangle 2"/>
          <p:cNvSpPr>
            <a:spLocks noGrp="1" noChangeArrowheads="1"/>
          </p:cNvSpPr>
          <p:nvPr>
            <p:ph idx="1"/>
          </p:nvPr>
        </p:nvSpPr>
        <p:spPr>
          <a:xfrm>
            <a:off x="0" y="189230"/>
            <a:ext cx="10586720" cy="62122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AutoNum type="arabicPeriod" startAt="4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数学中连续的关系运算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a &lt; y &lt; b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语言中应写成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 a &lt; y ) &amp;&amp; ( y &lt; b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AutoNum type="arabicPeriod" startAt="5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由两个或两个以上字符构成的运算符其各字符中间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457200" marR="0" lvl="1" indent="4572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不许夹有空格等间隔符。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&amp; &amp;     | |    &gt; =     &lt; =     + +     =  =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     </a:t>
            </a:r>
            <a:r>
              <a:rPr lang="en-US" altLang="zh-CN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	</a:t>
            </a:r>
            <a:r>
              <a:rPr lang="en-US" altLang="zh-CN" b="1" noProof="0" dirty="0">
                <a:ln>
                  <a:noFill/>
                </a:ln>
                <a:solidFill>
                  <a:schemeClr val="folHlink"/>
                </a:solidFill>
                <a:uLnTx/>
                <a:uFillTx/>
                <a:latin typeface="Arial" panose="020B0604020202020204" pitchFamily="34" charset="0"/>
                <a:cs typeface="+mn-cs"/>
                <a:sym typeface="+mn-ea"/>
              </a:rPr>
              <a:t>&amp;&amp;    ||   &gt;=    &lt;=  ++  ==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44C1A-576E-46E1-87A9-45D806F71AA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922395" y="1181100"/>
            <a:ext cx="300355" cy="495300"/>
            <a:chOff x="3949" y="3393"/>
            <a:chExt cx="590" cy="472"/>
          </a:xfrm>
        </p:grpSpPr>
        <p:sp>
          <p:nvSpPr>
            <p:cNvPr id="38920" name="Line 4"/>
            <p:cNvSpPr/>
            <p:nvPr/>
          </p:nvSpPr>
          <p:spPr>
            <a:xfrm>
              <a:off x="3949" y="3411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1" name="Line 5"/>
            <p:cNvSpPr/>
            <p:nvPr/>
          </p:nvSpPr>
          <p:spPr>
            <a:xfrm flipH="1">
              <a:off x="3949" y="3393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6"/>
          <p:cNvGrpSpPr/>
          <p:nvPr/>
        </p:nvGrpSpPr>
        <p:grpSpPr>
          <a:xfrm>
            <a:off x="6705600" y="5105400"/>
            <a:ext cx="336550" cy="685800"/>
            <a:chOff x="4014" y="3475"/>
            <a:chExt cx="590" cy="454"/>
          </a:xfrm>
        </p:grpSpPr>
        <p:sp>
          <p:nvSpPr>
            <p:cNvPr id="38918" name="Line 7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9" name="Line 8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4786" name="Rectangle 2"/>
          <p:cNvSpPr>
            <a:spLocks noGrp="1" noChangeArrowheads="1"/>
          </p:cNvSpPr>
          <p:nvPr>
            <p:ph idx="1"/>
          </p:nvPr>
        </p:nvSpPr>
        <p:spPr>
          <a:xfrm>
            <a:off x="0" y="1125538"/>
            <a:ext cx="10148888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AutoNum type="arabicPeriod" startAt="6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适当加括号是好习惯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x&gt;y||y==2&amp;&amp;y&lt;z||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x+y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(x&gt;y)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||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(y==2)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(y&lt;z)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||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x+y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&gt;2)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(x&gt;y)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||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(y==2)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(y&lt;z)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||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x+y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&gt;2)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E922FC-D56A-4373-AC38-A5D1B84CAC0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204325" y="6251575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5745F6-A730-40AA-84F4-9BE6A51CA3A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188" y="34925"/>
            <a:ext cx="8915400" cy="6969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练习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用赋值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表达式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表示下列计算。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3012" name="Picture 5" descr="C:\Documents and Settings\Administrator\Application Data\Tencent\Users\1910636267\QQ\WinTemp\RichOle\[QC2D8$W78)KK@F_Q$)@7V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050925"/>
            <a:ext cx="5721350" cy="1125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矩形 7"/>
          <p:cNvSpPr>
            <a:spLocks noChangeArrowheads="1"/>
          </p:cNvSpPr>
          <p:nvPr/>
        </p:nvSpPr>
        <p:spPr bwMode="auto">
          <a:xfrm>
            <a:off x="409575" y="2459038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y=pow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4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x,a+pow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4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b,c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7414" name="Picture 1" descr="C:\Documents and Settings\Administrator\Application Data\Tencent\Users\1910636267\QQ\WinTemp\RichOle\{J%)W}$O7U[KW4B%_U_PEO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3844925"/>
            <a:ext cx="6981825" cy="946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3270250" y="2636838"/>
            <a:ext cx="701675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6" name="矩形 5"/>
          <p:cNvSpPr/>
          <p:nvPr/>
        </p:nvSpPr>
        <p:spPr>
          <a:xfrm>
            <a:off x="5438775" y="2636838"/>
            <a:ext cx="8382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grpSp>
        <p:nvGrpSpPr>
          <p:cNvPr id="8" name="组合 7"/>
          <p:cNvGrpSpPr/>
          <p:nvPr/>
        </p:nvGrpSpPr>
        <p:grpSpPr>
          <a:xfrm>
            <a:off x="3981450" y="2636838"/>
            <a:ext cx="2524125" cy="533400"/>
            <a:chOff x="3724275" y="2895600"/>
            <a:chExt cx="2524125" cy="533400"/>
          </a:xfrm>
        </p:grpSpPr>
        <p:sp>
          <p:nvSpPr>
            <p:cNvPr id="43023" name="矩形 3"/>
            <p:cNvSpPr/>
            <p:nvPr/>
          </p:nvSpPr>
          <p:spPr>
            <a:xfrm>
              <a:off x="3724275" y="2895600"/>
              <a:ext cx="1466850" cy="533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43024" name="矩形 6"/>
            <p:cNvSpPr/>
            <p:nvPr/>
          </p:nvSpPr>
          <p:spPr>
            <a:xfrm>
              <a:off x="6019800" y="2895600"/>
              <a:ext cx="228600" cy="533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/>
            </a:p>
          </p:txBody>
        </p:sp>
      </p:grpSp>
      <p:sp>
        <p:nvSpPr>
          <p:cNvPr id="9" name="椭圆 8"/>
          <p:cNvSpPr/>
          <p:nvPr/>
        </p:nvSpPr>
        <p:spPr>
          <a:xfrm>
            <a:off x="4295775" y="1201738"/>
            <a:ext cx="1562100" cy="609600"/>
          </a:xfrm>
          <a:prstGeom prst="ellipse">
            <a:avLst/>
          </a:prstGeom>
          <a:noFill/>
          <a:ln w="412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15" name="TextBox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05806" y="914407"/>
            <a:ext cx="2320924" cy="1119409"/>
          </a:xfrm>
          <a:prstGeom prst="rect">
            <a:avLst/>
          </a:prstGeom>
          <a:blipFill rotWithShape="1">
            <a:blip r:embed="rId3"/>
            <a:stretch>
              <a:fillRect l="-6842" r="-789" b="-1304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 dirty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0513" y="681038"/>
            <a:ext cx="73628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注意：如使用数学函数，编程时需括入头文件 </a:t>
            </a:r>
            <a:r>
              <a:rPr lang="en-US" altLang="zh-CN" sz="1800" b="1" dirty="0">
                <a:solidFill>
                  <a:srgbClr val="FF0000"/>
                </a:solidFill>
              </a:rPr>
              <a:t>#include&lt;math.h&gt;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17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890006" y="3173188"/>
            <a:ext cx="1736725" cy="1938993"/>
          </a:xfrm>
          <a:prstGeom prst="rect">
            <a:avLst/>
          </a:prstGeom>
          <a:blipFill rotWithShape="1">
            <a:blip r:embed="rId4"/>
            <a:stretch>
              <a:fillRect l="-8772" t="-2516" r="-6667" b="-9434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noFill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 dirty="0">
              <a:noFill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194800" y="6351588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A3A811-A599-4457-AEB1-9C0C6AB81C3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5059" name="Picture 1" descr="C:\Documents and Settings\Administrator\Application Data\Tencent\Users\1910636267\QQ\WinTemp\RichOle\{X0UT1F2]DLCGB8`7A8[80J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20750"/>
            <a:ext cx="5732463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矩形 2"/>
          <p:cNvSpPr/>
          <p:nvPr/>
        </p:nvSpPr>
        <p:spPr>
          <a:xfrm>
            <a:off x="304800" y="3428683"/>
            <a:ext cx="1133475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b="1" dirty="0"/>
              <a:t>y=</a:t>
            </a:r>
            <a:r>
              <a:rPr lang="en-US" altLang="zh-CN" sz="4000" b="1" dirty="0">
                <a:solidFill>
                  <a:srgbClr val="FF0000"/>
                </a:solidFill>
              </a:rPr>
              <a:t>sin(</a:t>
            </a:r>
            <a:r>
              <a:rPr lang="en-US" altLang="zh-CN" sz="4000" b="1" dirty="0"/>
              <a:t>X</a:t>
            </a:r>
            <a:r>
              <a:rPr lang="en-US" altLang="zh-CN" sz="4000" b="1" dirty="0">
                <a:solidFill>
                  <a:srgbClr val="FF0000"/>
                </a:solidFill>
              </a:rPr>
              <a:t>)</a:t>
            </a:r>
            <a:r>
              <a:rPr lang="en-US" altLang="zh-CN" sz="4000" b="1" dirty="0"/>
              <a:t>/(a*X)+ </a:t>
            </a:r>
            <a:r>
              <a:rPr lang="en-US" altLang="zh-CN" sz="4000" b="1" dirty="0">
                <a:solidFill>
                  <a:srgbClr val="FFC000"/>
                </a:solidFill>
              </a:rPr>
              <a:t>fabs</a:t>
            </a:r>
            <a:r>
              <a:rPr lang="en-US" altLang="zh-CN" sz="4000" b="1" dirty="0">
                <a:solidFill>
                  <a:srgbClr val="FFFF00"/>
                </a:solidFill>
              </a:rPr>
              <a:t>(</a:t>
            </a:r>
            <a:r>
              <a:rPr lang="en-US" altLang="zh-CN" sz="4000" b="1" dirty="0">
                <a:solidFill>
                  <a:srgbClr val="00FFFF"/>
                </a:solidFill>
              </a:rPr>
              <a:t>cos(</a:t>
            </a:r>
            <a:r>
              <a:rPr lang="en-US" altLang="zh-CN" sz="4000" b="1" dirty="0">
                <a:solidFill>
                  <a:srgbClr val="FF0000"/>
                </a:solidFill>
              </a:rPr>
              <a:t>3.1416</a:t>
            </a:r>
            <a:r>
              <a:rPr lang="en-US" altLang="zh-CN" sz="4000" b="1" dirty="0"/>
              <a:t>*X/2</a:t>
            </a:r>
            <a:r>
              <a:rPr lang="en-US" altLang="zh-CN" sz="4000" b="1" dirty="0">
                <a:solidFill>
                  <a:srgbClr val="00FFFF"/>
                </a:solidFill>
              </a:rPr>
              <a:t>)</a:t>
            </a:r>
            <a:r>
              <a:rPr lang="en-US" altLang="zh-CN" sz="4000" b="1" dirty="0">
                <a:solidFill>
                  <a:srgbClr val="FFFF00"/>
                </a:solidFill>
              </a:rPr>
              <a:t>)</a:t>
            </a:r>
            <a:endParaRPr lang="zh-CN" altLang="en-US" sz="4000" b="1" dirty="0">
              <a:solidFill>
                <a:srgbClr val="FFFF00"/>
              </a:solidFill>
            </a:endParaRPr>
          </a:p>
        </p:txBody>
      </p:sp>
      <p:sp>
        <p:nvSpPr>
          <p:cNvPr id="45063" name="TextBox 7">
            <a:hlinkClick r:id="" action="ppaction://noaction"/>
          </p:cNvPr>
          <p:cNvSpPr txBox="1"/>
          <p:nvPr/>
        </p:nvSpPr>
        <p:spPr>
          <a:xfrm>
            <a:off x="9042400" y="76200"/>
            <a:ext cx="3149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常用数学函数见教材</a:t>
            </a:r>
            <a:r>
              <a:rPr lang="en-US" altLang="zh-CN" sz="1800" b="1" dirty="0">
                <a:solidFill>
                  <a:srgbClr val="FF0000"/>
                </a:solidFill>
              </a:rPr>
              <a:t>P404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64250" y="784225"/>
            <a:ext cx="1714500" cy="1570038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sin(x);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cos(x);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fabs(x);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48400" y="4266883"/>
            <a:ext cx="4122738" cy="1077912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#define </a:t>
            </a:r>
            <a:r>
              <a:rPr lang="en-US" altLang="zh-CN" b="1" dirty="0">
                <a:solidFill>
                  <a:srgbClr val="FF0000"/>
                </a:solidFill>
              </a:rPr>
              <a:t>PI</a:t>
            </a:r>
            <a:r>
              <a:rPr lang="en-US" altLang="zh-CN" b="1" dirty="0"/>
              <a:t> 3.1416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cos(</a:t>
            </a:r>
            <a:r>
              <a:rPr lang="en-US" altLang="zh-CN" b="1" dirty="0">
                <a:solidFill>
                  <a:srgbClr val="FF0000"/>
                </a:solidFill>
              </a:rPr>
              <a:t>PI</a:t>
            </a:r>
            <a:r>
              <a:rPr lang="en-US" altLang="zh-CN" b="1" dirty="0"/>
              <a:t>*X/2)</a:t>
            </a:r>
            <a:endParaRPr lang="en-US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95250" y="-9525"/>
            <a:ext cx="8915400" cy="7556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练习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用赋值表达式表示下列计算。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2736850"/>
            <a:ext cx="8966200" cy="618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1.</a:t>
            </a:r>
            <a:r>
              <a:rPr lang="zh-CN" altLang="en-US" sz="3600"/>
              <a:t>用</a:t>
            </a:r>
            <a:r>
              <a:rPr lang="en-US" altLang="zh-CN" sz="3600"/>
              <a:t>C</a:t>
            </a:r>
            <a:r>
              <a:rPr lang="zh-CN" altLang="en-US" sz="3600"/>
              <a:t>语言写出</a:t>
            </a:r>
            <a:r>
              <a:rPr lang="zh-CN" altLang="en-US" sz="3600"/>
              <a:t>上述表达式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205105" y="5715000"/>
            <a:ext cx="8837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>
                <a:sym typeface="+mn-ea"/>
              </a:rPr>
              <a:t>2.</a:t>
            </a:r>
            <a:r>
              <a:rPr lang="zh-CN" altLang="en-US" sz="3600">
                <a:sym typeface="+mn-ea"/>
              </a:rPr>
              <a:t>编写</a:t>
            </a:r>
            <a:r>
              <a:rPr lang="en-US" altLang="zh-CN" sz="3600">
                <a:sym typeface="+mn-ea"/>
              </a:rPr>
              <a:t>C</a:t>
            </a:r>
            <a:r>
              <a:rPr lang="zh-CN" altLang="en-US" sz="3600">
                <a:sym typeface="+mn-ea"/>
              </a:rPr>
              <a:t>程序，计算并输出上述表达式的值</a:t>
            </a:r>
            <a:endParaRPr lang="zh-CN" altLang="en-US" sz="360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9" grpId="0" animBg="1"/>
      <p:bldP spid="10" grpId="0" bldLvl="0" animBg="1"/>
      <p:bldP spid="2" grpId="0"/>
      <p:bldP spid="2" grpId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9765"/>
            <a:ext cx="12192000" cy="6096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76200"/>
            <a:ext cx="3774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C000"/>
                </a:solidFill>
              </a:rPr>
              <a:t>作业</a:t>
            </a:r>
            <a:r>
              <a:rPr lang="en-US" altLang="zh-CN" sz="3200">
                <a:solidFill>
                  <a:srgbClr val="FFC000"/>
                </a:solidFill>
              </a:rPr>
              <a:t>/</a:t>
            </a:r>
            <a:r>
              <a:rPr lang="zh-CN" altLang="en-US" sz="3200">
                <a:solidFill>
                  <a:srgbClr val="FFC000"/>
                </a:solidFill>
              </a:rPr>
              <a:t>考试</a:t>
            </a:r>
            <a:r>
              <a:rPr lang="en-US" altLang="zh-CN" sz="3200">
                <a:solidFill>
                  <a:srgbClr val="FFC000"/>
                </a:solidFill>
              </a:rPr>
              <a:t> </a:t>
            </a:r>
            <a:r>
              <a:rPr lang="zh-CN" altLang="en-US" sz="3200">
                <a:solidFill>
                  <a:srgbClr val="FFC000"/>
                </a:solidFill>
              </a:rPr>
              <a:t>题型：</a:t>
            </a:r>
            <a:endParaRPr lang="zh-CN" altLang="en-US" sz="32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114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表达式计算规则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305800" cy="220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括号内的表达式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先计算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运算符分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16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个优先级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不同级运算符相邻，先计算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优先级高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的运算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同级运算符相邻，    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结合律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规定进行计算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84583A-C481-4DAA-BB16-0B563115D8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4638"/>
            <a:ext cx="8534400" cy="898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运算符优先级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P55-56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6AC02C-9F43-4585-B4DB-17C9443F181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204" name="Group 3"/>
          <p:cNvGrpSpPr/>
          <p:nvPr/>
        </p:nvGrpSpPr>
        <p:grpSpPr>
          <a:xfrm>
            <a:off x="152400" y="1341438"/>
            <a:ext cx="11811000" cy="5183187"/>
            <a:chOff x="0" y="845"/>
            <a:chExt cx="5760" cy="3129"/>
          </a:xfrm>
        </p:grpSpPr>
        <p:sp>
          <p:nvSpPr>
            <p:cNvPr id="378884" name="Rectangle 4"/>
            <p:cNvSpPr>
              <a:spLocks noChangeArrowheads="1"/>
            </p:cNvSpPr>
            <p:nvPr/>
          </p:nvSpPr>
          <p:spPr bwMode="auto">
            <a:xfrm>
              <a:off x="2092" y="3542"/>
              <a:ext cx="108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复合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字面值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85" name="Rectangle 5"/>
            <p:cNvSpPr>
              <a:spLocks noChangeArrowheads="1"/>
            </p:cNvSpPr>
            <p:nvPr/>
          </p:nvSpPr>
          <p:spPr bwMode="auto">
            <a:xfrm>
              <a:off x="0" y="3542"/>
              <a:ext cx="209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类型名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){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初始化列表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86" name="Rectangle 6"/>
            <p:cNvSpPr>
              <a:spLocks noChangeArrowheads="1"/>
            </p:cNvSpPr>
            <p:nvPr/>
          </p:nvSpPr>
          <p:spPr bwMode="auto">
            <a:xfrm>
              <a:off x="2092" y="3158"/>
              <a:ext cx="1082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自增 自减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87" name="Rectangle 7"/>
            <p:cNvSpPr>
              <a:spLocks noChangeArrowheads="1"/>
            </p:cNvSpPr>
            <p:nvPr/>
          </p:nvSpPr>
          <p:spPr bwMode="auto">
            <a:xfrm>
              <a:off x="0" y="3158"/>
              <a:ext cx="2092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++  - -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88" name="Rectangle 8"/>
            <p:cNvSpPr>
              <a:spLocks noChangeArrowheads="1"/>
            </p:cNvSpPr>
            <p:nvPr/>
          </p:nvSpPr>
          <p:spPr bwMode="auto">
            <a:xfrm>
              <a:off x="2092" y="2854"/>
              <a:ext cx="1082" cy="3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间接选择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89" name="Rectangle 9"/>
            <p:cNvSpPr>
              <a:spLocks noChangeArrowheads="1"/>
            </p:cNvSpPr>
            <p:nvPr/>
          </p:nvSpPr>
          <p:spPr bwMode="auto">
            <a:xfrm>
              <a:off x="0" y="2854"/>
              <a:ext cx="2092" cy="3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-&gt;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0" name="Rectangle 10"/>
            <p:cNvSpPr>
              <a:spLocks noChangeArrowheads="1"/>
            </p:cNvSpPr>
            <p:nvPr/>
          </p:nvSpPr>
          <p:spPr bwMode="auto">
            <a:xfrm>
              <a:off x="2092" y="2551"/>
              <a:ext cx="1082" cy="30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直接选择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1" name="Rectangle 11"/>
            <p:cNvSpPr>
              <a:spLocks noChangeArrowheads="1"/>
            </p:cNvSpPr>
            <p:nvPr/>
          </p:nvSpPr>
          <p:spPr bwMode="auto">
            <a:xfrm>
              <a:off x="0" y="2551"/>
              <a:ext cx="2092" cy="30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2" name="Rectangle 12"/>
            <p:cNvSpPr>
              <a:spLocks noChangeArrowheads="1"/>
            </p:cNvSpPr>
            <p:nvPr/>
          </p:nvSpPr>
          <p:spPr bwMode="auto">
            <a:xfrm>
              <a:off x="2092" y="2243"/>
              <a:ext cx="1082" cy="3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函数调用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3" name="Rectangle 13"/>
            <p:cNvSpPr>
              <a:spLocks noChangeArrowheads="1"/>
            </p:cNvSpPr>
            <p:nvPr/>
          </p:nvSpPr>
          <p:spPr bwMode="auto">
            <a:xfrm>
              <a:off x="0" y="2243"/>
              <a:ext cx="2092" cy="3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f(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4" name="Rectangle 14"/>
            <p:cNvSpPr>
              <a:spLocks noChangeArrowheads="1"/>
            </p:cNvSpPr>
            <p:nvPr/>
          </p:nvSpPr>
          <p:spPr bwMode="auto">
            <a:xfrm>
              <a:off x="4230" y="1939"/>
              <a:ext cx="689" cy="20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从左到右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5" name="Rectangle 15"/>
            <p:cNvSpPr>
              <a:spLocks noChangeArrowheads="1"/>
            </p:cNvSpPr>
            <p:nvPr/>
          </p:nvSpPr>
          <p:spPr bwMode="auto">
            <a:xfrm>
              <a:off x="3174" y="1939"/>
              <a:ext cx="1056" cy="20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后缀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6" name="Rectangle 16"/>
            <p:cNvSpPr>
              <a:spLocks noChangeArrowheads="1"/>
            </p:cNvSpPr>
            <p:nvPr/>
          </p:nvSpPr>
          <p:spPr bwMode="auto">
            <a:xfrm>
              <a:off x="2092" y="1939"/>
              <a:ext cx="1082" cy="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下标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7" name="Rectangle 17"/>
            <p:cNvSpPr>
              <a:spLocks noChangeArrowheads="1"/>
            </p:cNvSpPr>
            <p:nvPr/>
          </p:nvSpPr>
          <p:spPr bwMode="auto">
            <a:xfrm>
              <a:off x="0" y="1939"/>
              <a:ext cx="2092" cy="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a[k]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8" name="Rectangle 18"/>
            <p:cNvSpPr>
              <a:spLocks noChangeArrowheads="1"/>
            </p:cNvSpPr>
            <p:nvPr/>
          </p:nvSpPr>
          <p:spPr bwMode="auto">
            <a:xfrm>
              <a:off x="4919" y="1392"/>
              <a:ext cx="841" cy="25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16(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899" name="Rectangle 19"/>
            <p:cNvSpPr>
              <a:spLocks noChangeArrowheads="1"/>
            </p:cNvSpPr>
            <p:nvPr/>
          </p:nvSpPr>
          <p:spPr bwMode="auto">
            <a:xfrm>
              <a:off x="4230" y="1392"/>
              <a:ext cx="689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无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00" name="Rectangle 20"/>
            <p:cNvSpPr>
              <a:spLocks noChangeArrowheads="1"/>
            </p:cNvSpPr>
            <p:nvPr/>
          </p:nvSpPr>
          <p:spPr bwMode="auto">
            <a:xfrm>
              <a:off x="3174" y="1392"/>
              <a:ext cx="1056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基本表达式</a:t>
              </a:r>
              <a:endPara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01" name="Rectangle 21"/>
            <p:cNvSpPr>
              <a:spLocks noChangeArrowheads="1"/>
            </p:cNvSpPr>
            <p:nvPr/>
          </p:nvSpPr>
          <p:spPr bwMode="auto">
            <a:xfrm>
              <a:off x="2092" y="1392"/>
              <a:ext cx="1082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简单记号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02" name="Rectangle 22"/>
            <p:cNvSpPr>
              <a:spLocks noChangeArrowheads="1"/>
            </p:cNvSpPr>
            <p:nvPr/>
          </p:nvSpPr>
          <p:spPr bwMode="auto">
            <a:xfrm>
              <a:off x="0" y="1392"/>
              <a:ext cx="2092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标识符、字面常量、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03" name="Rectangle 23"/>
            <p:cNvSpPr>
              <a:spLocks noChangeArrowheads="1"/>
            </p:cNvSpPr>
            <p:nvPr/>
          </p:nvSpPr>
          <p:spPr bwMode="auto">
            <a:xfrm>
              <a:off x="4919" y="845"/>
              <a:ext cx="841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优先级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8904" name="Rectangle 24"/>
            <p:cNvSpPr>
              <a:spLocks noChangeArrowheads="1"/>
            </p:cNvSpPr>
            <p:nvPr/>
          </p:nvSpPr>
          <p:spPr bwMode="auto">
            <a:xfrm>
              <a:off x="4230" y="845"/>
              <a:ext cx="689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结合关系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8905" name="Rectangle 25"/>
            <p:cNvSpPr>
              <a:spLocks noChangeArrowheads="1"/>
            </p:cNvSpPr>
            <p:nvPr/>
          </p:nvSpPr>
          <p:spPr bwMode="auto">
            <a:xfrm>
              <a:off x="3174" y="845"/>
              <a:ext cx="1056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类别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8906" name="Rectangle 26"/>
            <p:cNvSpPr>
              <a:spLocks noChangeArrowheads="1"/>
            </p:cNvSpPr>
            <p:nvPr/>
          </p:nvSpPr>
          <p:spPr bwMode="auto">
            <a:xfrm>
              <a:off x="2092" y="845"/>
              <a:ext cx="1082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运算符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8907" name="Rectangle 27"/>
            <p:cNvSpPr>
              <a:spLocks noChangeArrowheads="1"/>
            </p:cNvSpPr>
            <p:nvPr/>
          </p:nvSpPr>
          <p:spPr bwMode="auto">
            <a:xfrm>
              <a:off x="0" y="845"/>
              <a:ext cx="2092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记号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234" name="Line 28"/>
            <p:cNvSpPr/>
            <p:nvPr/>
          </p:nvSpPr>
          <p:spPr>
            <a:xfrm>
              <a:off x="0" y="845"/>
              <a:ext cx="576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5" name="Line 29"/>
            <p:cNvSpPr/>
            <p:nvPr/>
          </p:nvSpPr>
          <p:spPr>
            <a:xfrm>
              <a:off x="0" y="3974"/>
              <a:ext cx="4919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6" name="Line 30"/>
            <p:cNvSpPr/>
            <p:nvPr/>
          </p:nvSpPr>
          <p:spPr>
            <a:xfrm>
              <a:off x="0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7" name="Line 31"/>
            <p:cNvSpPr/>
            <p:nvPr/>
          </p:nvSpPr>
          <p:spPr>
            <a:xfrm>
              <a:off x="5760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8" name="Line 32"/>
            <p:cNvSpPr/>
            <p:nvPr/>
          </p:nvSpPr>
          <p:spPr>
            <a:xfrm>
              <a:off x="0" y="1392"/>
              <a:ext cx="576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9" name="Line 33"/>
            <p:cNvSpPr/>
            <p:nvPr/>
          </p:nvSpPr>
          <p:spPr>
            <a:xfrm>
              <a:off x="2092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0" name="Line 34"/>
            <p:cNvSpPr/>
            <p:nvPr/>
          </p:nvSpPr>
          <p:spPr>
            <a:xfrm>
              <a:off x="3174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1" name="Line 35"/>
            <p:cNvSpPr/>
            <p:nvPr/>
          </p:nvSpPr>
          <p:spPr>
            <a:xfrm>
              <a:off x="4230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2" name="Line 36"/>
            <p:cNvSpPr/>
            <p:nvPr/>
          </p:nvSpPr>
          <p:spPr>
            <a:xfrm>
              <a:off x="4919" y="845"/>
              <a:ext cx="0" cy="312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3" name="Line 37"/>
            <p:cNvSpPr/>
            <p:nvPr/>
          </p:nvSpPr>
          <p:spPr>
            <a:xfrm>
              <a:off x="0" y="1939"/>
              <a:ext cx="4919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4" name="Line 38"/>
            <p:cNvSpPr/>
            <p:nvPr/>
          </p:nvSpPr>
          <p:spPr>
            <a:xfrm>
              <a:off x="0" y="2243"/>
              <a:ext cx="3174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5" name="Line 39"/>
            <p:cNvSpPr/>
            <p:nvPr/>
          </p:nvSpPr>
          <p:spPr>
            <a:xfrm>
              <a:off x="0" y="2551"/>
              <a:ext cx="3174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6" name="Line 40"/>
            <p:cNvSpPr/>
            <p:nvPr/>
          </p:nvSpPr>
          <p:spPr>
            <a:xfrm>
              <a:off x="0" y="2854"/>
              <a:ext cx="3174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7" name="Line 41"/>
            <p:cNvSpPr/>
            <p:nvPr/>
          </p:nvSpPr>
          <p:spPr>
            <a:xfrm>
              <a:off x="0" y="3158"/>
              <a:ext cx="3174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8" name="Line 42"/>
            <p:cNvSpPr/>
            <p:nvPr/>
          </p:nvSpPr>
          <p:spPr>
            <a:xfrm>
              <a:off x="0" y="3542"/>
              <a:ext cx="3174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9" name="Line 43"/>
            <p:cNvSpPr/>
            <p:nvPr/>
          </p:nvSpPr>
          <p:spPr>
            <a:xfrm>
              <a:off x="4919" y="3974"/>
              <a:ext cx="8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05" name="Line 44"/>
          <p:cNvSpPr/>
          <p:nvPr/>
        </p:nvSpPr>
        <p:spPr>
          <a:xfrm>
            <a:off x="4927600" y="4749800"/>
            <a:ext cx="0" cy="0"/>
          </a:xfrm>
          <a:prstGeom prst="line">
            <a:avLst/>
          </a:prstGeom>
          <a:ln w="12700" cap="rnd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7" name="Text Box 47"/>
          <p:cNvSpPr txBox="1"/>
          <p:nvPr/>
        </p:nvSpPr>
        <p:spPr>
          <a:xfrm>
            <a:off x="2952750" y="5262563"/>
            <a:ext cx="781050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i++</a:t>
            </a:r>
            <a:endParaRPr lang="en-US" altLang="zh-CN" sz="2400" b="1" dirty="0"/>
          </a:p>
        </p:txBody>
      </p:sp>
      <p:sp>
        <p:nvSpPr>
          <p:cNvPr id="378928" name="Text Box 48"/>
          <p:cNvSpPr txBox="1"/>
          <p:nvPr/>
        </p:nvSpPr>
        <p:spPr>
          <a:xfrm>
            <a:off x="3756025" y="5256213"/>
            <a:ext cx="669925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i--</a:t>
            </a:r>
            <a:endParaRPr lang="en-US" altLang="zh-CN" sz="2400" b="1" dirty="0"/>
          </a:p>
        </p:txBody>
      </p:sp>
      <p:sp>
        <p:nvSpPr>
          <p:cNvPr id="48" name="Text Box 47"/>
          <p:cNvSpPr txBox="1"/>
          <p:nvPr/>
        </p:nvSpPr>
        <p:spPr>
          <a:xfrm>
            <a:off x="1163638" y="3740150"/>
            <a:ext cx="130810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sqrt(</a:t>
            </a:r>
            <a:r>
              <a:rPr lang="en-US" altLang="zh-CN" sz="1800" b="1" dirty="0"/>
              <a:t>8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endParaRPr lang="en-US" altLang="zh-CN" sz="1800" b="1" dirty="0"/>
          </a:p>
        </p:txBody>
      </p:sp>
      <p:sp>
        <p:nvSpPr>
          <p:cNvPr id="50" name="Text Box 47"/>
          <p:cNvSpPr txBox="1"/>
          <p:nvPr/>
        </p:nvSpPr>
        <p:spPr>
          <a:xfrm>
            <a:off x="2535238" y="3746500"/>
            <a:ext cx="1890712" cy="3381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</a:rPr>
              <a:t>printf(</a:t>
            </a:r>
            <a:r>
              <a:rPr lang="en-US" altLang="zh-CN" sz="1600" b="1" dirty="0"/>
              <a:t>“%d”,x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  <a:endParaRPr lang="en-US" altLang="zh-CN" sz="1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7" grpId="0" animBg="1"/>
      <p:bldP spid="378928" grpId="0" animBg="1"/>
      <p:bldP spid="48" grpId="0" animBg="1"/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4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B0FE33-E16B-4B6B-BDD9-F81608DF70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251" name="Group 2"/>
          <p:cNvGrpSpPr/>
          <p:nvPr/>
        </p:nvGrpSpPr>
        <p:grpSpPr>
          <a:xfrm>
            <a:off x="219075" y="152400"/>
            <a:ext cx="11820525" cy="4724400"/>
            <a:chOff x="249" y="935"/>
            <a:chExt cx="5353" cy="2815"/>
          </a:xfrm>
        </p:grpSpPr>
        <p:sp>
          <p:nvSpPr>
            <p:cNvPr id="380931" name="Rectangle 3"/>
            <p:cNvSpPr>
              <a:spLocks noChangeArrowheads="1"/>
            </p:cNvSpPr>
            <p:nvPr/>
          </p:nvSpPr>
          <p:spPr bwMode="auto">
            <a:xfrm>
              <a:off x="4876" y="935"/>
              <a:ext cx="726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优先级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0932" name="Rectangle 4"/>
            <p:cNvSpPr>
              <a:spLocks noChangeArrowheads="1"/>
            </p:cNvSpPr>
            <p:nvPr/>
          </p:nvSpPr>
          <p:spPr bwMode="auto">
            <a:xfrm>
              <a:off x="3833" y="935"/>
              <a:ext cx="1046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结合关系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0933" name="Rectangle 5"/>
            <p:cNvSpPr>
              <a:spLocks noChangeArrowheads="1"/>
            </p:cNvSpPr>
            <p:nvPr/>
          </p:nvSpPr>
          <p:spPr bwMode="auto">
            <a:xfrm>
              <a:off x="3074" y="935"/>
              <a:ext cx="756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类别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0934" name="Rectangle 6"/>
            <p:cNvSpPr>
              <a:spLocks noChangeArrowheads="1"/>
            </p:cNvSpPr>
            <p:nvPr/>
          </p:nvSpPr>
          <p:spPr bwMode="auto">
            <a:xfrm>
              <a:off x="1981" y="935"/>
              <a:ext cx="1093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运算符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0935" name="Rectangle 7"/>
            <p:cNvSpPr>
              <a:spLocks noChangeArrowheads="1"/>
            </p:cNvSpPr>
            <p:nvPr/>
          </p:nvSpPr>
          <p:spPr bwMode="auto">
            <a:xfrm>
              <a:off x="249" y="935"/>
              <a:ext cx="1732" cy="5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记号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5" name="Line 8"/>
            <p:cNvSpPr/>
            <p:nvPr/>
          </p:nvSpPr>
          <p:spPr>
            <a:xfrm>
              <a:off x="249" y="935"/>
              <a:ext cx="5353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6" name="Line 9"/>
            <p:cNvSpPr/>
            <p:nvPr/>
          </p:nvSpPr>
          <p:spPr>
            <a:xfrm>
              <a:off x="249" y="1454"/>
              <a:ext cx="5353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7" name="Line 10"/>
            <p:cNvSpPr/>
            <p:nvPr/>
          </p:nvSpPr>
          <p:spPr>
            <a:xfrm>
              <a:off x="249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8" name="Line 11"/>
            <p:cNvSpPr/>
            <p:nvPr/>
          </p:nvSpPr>
          <p:spPr>
            <a:xfrm>
              <a:off x="5602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9" name="Line 12"/>
            <p:cNvSpPr/>
            <p:nvPr/>
          </p:nvSpPr>
          <p:spPr>
            <a:xfrm>
              <a:off x="1981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0" name="Line 13"/>
            <p:cNvSpPr/>
            <p:nvPr/>
          </p:nvSpPr>
          <p:spPr>
            <a:xfrm>
              <a:off x="3074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1" name="Line 14"/>
            <p:cNvSpPr/>
            <p:nvPr/>
          </p:nvSpPr>
          <p:spPr>
            <a:xfrm>
              <a:off x="3833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2" name="Line 15"/>
            <p:cNvSpPr/>
            <p:nvPr/>
          </p:nvSpPr>
          <p:spPr>
            <a:xfrm>
              <a:off x="4876" y="935"/>
              <a:ext cx="0" cy="519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3" name="Line 16"/>
            <p:cNvSpPr/>
            <p:nvPr/>
          </p:nvSpPr>
          <p:spPr>
            <a:xfrm>
              <a:off x="2144" y="3292"/>
              <a:ext cx="0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3274" name="Group 17"/>
            <p:cNvGrpSpPr/>
            <p:nvPr/>
          </p:nvGrpSpPr>
          <p:grpSpPr>
            <a:xfrm>
              <a:off x="249" y="1454"/>
              <a:ext cx="5353" cy="2296"/>
              <a:chOff x="249" y="1454"/>
              <a:chExt cx="5353" cy="2296"/>
            </a:xfrm>
          </p:grpSpPr>
          <p:sp>
            <p:nvSpPr>
              <p:cNvPr id="380946" name="Rectangle 18"/>
              <p:cNvSpPr>
                <a:spLocks noChangeArrowheads="1"/>
              </p:cNvSpPr>
              <p:nvPr/>
            </p:nvSpPr>
            <p:spPr bwMode="auto">
              <a:xfrm>
                <a:off x="4876" y="3463"/>
                <a:ext cx="726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14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47" name="Rectangle 19"/>
              <p:cNvSpPr>
                <a:spLocks noChangeArrowheads="1"/>
              </p:cNvSpPr>
              <p:nvPr/>
            </p:nvSpPr>
            <p:spPr bwMode="auto">
              <a:xfrm>
                <a:off x="1973" y="3463"/>
                <a:ext cx="1088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类型转换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48" name="Rectangle 20"/>
              <p:cNvSpPr>
                <a:spLocks noChangeArrowheads="1"/>
              </p:cNvSpPr>
              <p:nvPr/>
            </p:nvSpPr>
            <p:spPr bwMode="auto">
              <a:xfrm>
                <a:off x="249" y="3463"/>
                <a:ext cx="1724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类型名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49" name="Rectangle 21"/>
              <p:cNvSpPr>
                <a:spLocks noChangeArrowheads="1"/>
              </p:cNvSpPr>
              <p:nvPr/>
            </p:nvSpPr>
            <p:spPr bwMode="auto">
              <a:xfrm>
                <a:off x="1973" y="3176"/>
                <a:ext cx="10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间接访问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0" name="Rectangle 22"/>
              <p:cNvSpPr>
                <a:spLocks noChangeArrowheads="1"/>
              </p:cNvSpPr>
              <p:nvPr/>
            </p:nvSpPr>
            <p:spPr bwMode="auto">
              <a:xfrm>
                <a:off x="249" y="3176"/>
                <a:ext cx="172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*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1" name="Rectangle 23"/>
              <p:cNvSpPr>
                <a:spLocks noChangeArrowheads="1"/>
              </p:cNvSpPr>
              <p:nvPr/>
            </p:nvSpPr>
            <p:spPr bwMode="auto">
              <a:xfrm>
                <a:off x="1973" y="2889"/>
                <a:ext cx="1088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地址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2" name="Rectangle 24"/>
              <p:cNvSpPr>
                <a:spLocks noChangeArrowheads="1"/>
              </p:cNvSpPr>
              <p:nvPr/>
            </p:nvSpPr>
            <p:spPr bwMode="auto">
              <a:xfrm>
                <a:off x="249" y="2889"/>
                <a:ext cx="1724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&amp;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3" name="Rectangle 25"/>
              <p:cNvSpPr>
                <a:spLocks noChangeArrowheads="1"/>
              </p:cNvSpPr>
              <p:nvPr/>
            </p:nvSpPr>
            <p:spPr bwMode="auto">
              <a:xfrm>
                <a:off x="1973" y="2605"/>
                <a:ext cx="1088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算术负、正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4" name="Rectangle 26"/>
              <p:cNvSpPr>
                <a:spLocks noChangeArrowheads="1"/>
              </p:cNvSpPr>
              <p:nvPr/>
            </p:nvSpPr>
            <p:spPr bwMode="auto">
              <a:xfrm>
                <a:off x="249" y="2605"/>
                <a:ext cx="1724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  +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5" name="Rectangle 27"/>
              <p:cNvSpPr>
                <a:spLocks noChangeArrowheads="1"/>
              </p:cNvSpPr>
              <p:nvPr/>
            </p:nvSpPr>
            <p:spPr bwMode="auto">
              <a:xfrm>
                <a:off x="1973" y="2315"/>
                <a:ext cx="10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逻辑非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6" name="Rectangle 28"/>
              <p:cNvSpPr>
                <a:spLocks noChangeArrowheads="1"/>
              </p:cNvSpPr>
              <p:nvPr/>
            </p:nvSpPr>
            <p:spPr bwMode="auto">
              <a:xfrm>
                <a:off x="249" y="2315"/>
                <a:ext cx="172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!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7" name="Rectangle 29"/>
              <p:cNvSpPr>
                <a:spLocks noChangeArrowheads="1"/>
              </p:cNvSpPr>
              <p:nvPr/>
            </p:nvSpPr>
            <p:spPr bwMode="auto">
              <a:xfrm>
                <a:off x="1973" y="2028"/>
                <a:ext cx="1088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按位取反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58" name="Rectangle 30"/>
              <p:cNvSpPr>
                <a:spLocks noChangeArrowheads="1"/>
              </p:cNvSpPr>
              <p:nvPr/>
            </p:nvSpPr>
            <p:spPr bwMode="auto">
              <a:xfrm>
                <a:off x="249" y="2028"/>
                <a:ext cx="1724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~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0959" name="Rectangle 31"/>
              <p:cNvSpPr>
                <a:spLocks noChangeArrowheads="1"/>
              </p:cNvSpPr>
              <p:nvPr/>
            </p:nvSpPr>
            <p:spPr bwMode="auto">
              <a:xfrm>
                <a:off x="3061" y="1741"/>
                <a:ext cx="769" cy="20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一元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单目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0" name="Rectangle 32"/>
              <p:cNvSpPr>
                <a:spLocks noChangeArrowheads="1"/>
              </p:cNvSpPr>
              <p:nvPr/>
            </p:nvSpPr>
            <p:spPr bwMode="auto">
              <a:xfrm>
                <a:off x="1973" y="1741"/>
                <a:ext cx="10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长度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1" name="Rectangle 33"/>
              <p:cNvSpPr>
                <a:spLocks noChangeArrowheads="1"/>
              </p:cNvSpPr>
              <p:nvPr/>
            </p:nvSpPr>
            <p:spPr bwMode="auto">
              <a:xfrm>
                <a:off x="249" y="1741"/>
                <a:ext cx="172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sizeof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2" name="Rectangle 34"/>
              <p:cNvSpPr>
                <a:spLocks noChangeArrowheads="1"/>
              </p:cNvSpPr>
              <p:nvPr/>
            </p:nvSpPr>
            <p:spPr bwMode="auto">
              <a:xfrm>
                <a:off x="4876" y="1454"/>
                <a:ext cx="726" cy="20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15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3" name="Rectangle 35"/>
              <p:cNvSpPr>
                <a:spLocks noChangeArrowheads="1"/>
              </p:cNvSpPr>
              <p:nvPr/>
            </p:nvSpPr>
            <p:spPr bwMode="auto">
              <a:xfrm>
                <a:off x="3833" y="1454"/>
                <a:ext cx="1046" cy="2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从右到左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4" name="Rectangle 36"/>
              <p:cNvSpPr>
                <a:spLocks noChangeArrowheads="1"/>
              </p:cNvSpPr>
              <p:nvPr/>
            </p:nvSpPr>
            <p:spPr bwMode="auto">
              <a:xfrm>
                <a:off x="3061" y="1454"/>
                <a:ext cx="769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前缀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5" name="Rectangle 37"/>
              <p:cNvSpPr>
                <a:spLocks noChangeArrowheads="1"/>
              </p:cNvSpPr>
              <p:nvPr/>
            </p:nvSpPr>
            <p:spPr bwMode="auto">
              <a:xfrm>
                <a:off x="1973" y="1454"/>
                <a:ext cx="1088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自增、自减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0966" name="Rectangle 38"/>
              <p:cNvSpPr>
                <a:spLocks noChangeArrowheads="1"/>
              </p:cNvSpPr>
              <p:nvPr/>
            </p:nvSpPr>
            <p:spPr bwMode="auto">
              <a:xfrm>
                <a:off x="249" y="1454"/>
                <a:ext cx="1724" cy="2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>
                    <a:tab pos="799465" algn="l"/>
                  </a:tabLst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++  --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97" name="Line 39"/>
              <p:cNvSpPr/>
              <p:nvPr/>
            </p:nvSpPr>
            <p:spPr>
              <a:xfrm>
                <a:off x="249" y="1454"/>
                <a:ext cx="5353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98" name="Line 40"/>
              <p:cNvSpPr/>
              <p:nvPr/>
            </p:nvSpPr>
            <p:spPr>
              <a:xfrm>
                <a:off x="249" y="3750"/>
                <a:ext cx="4627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99" name="Line 41"/>
              <p:cNvSpPr/>
              <p:nvPr/>
            </p:nvSpPr>
            <p:spPr>
              <a:xfrm>
                <a:off x="249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0" name="Line 42"/>
              <p:cNvSpPr/>
              <p:nvPr/>
            </p:nvSpPr>
            <p:spPr>
              <a:xfrm>
                <a:off x="5602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1" name="Line 43"/>
              <p:cNvSpPr/>
              <p:nvPr/>
            </p:nvSpPr>
            <p:spPr>
              <a:xfrm>
                <a:off x="249" y="1741"/>
                <a:ext cx="3584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2" name="Line 44"/>
              <p:cNvSpPr/>
              <p:nvPr/>
            </p:nvSpPr>
            <p:spPr>
              <a:xfrm>
                <a:off x="1973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3" name="Line 45"/>
              <p:cNvSpPr/>
              <p:nvPr/>
            </p:nvSpPr>
            <p:spPr>
              <a:xfrm>
                <a:off x="3061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4" name="Line 46"/>
              <p:cNvSpPr/>
              <p:nvPr/>
            </p:nvSpPr>
            <p:spPr>
              <a:xfrm>
                <a:off x="3833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5" name="Line 47"/>
              <p:cNvSpPr/>
              <p:nvPr/>
            </p:nvSpPr>
            <p:spPr>
              <a:xfrm>
                <a:off x="4876" y="3750"/>
                <a:ext cx="72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6" name="Line 48"/>
              <p:cNvSpPr/>
              <p:nvPr/>
            </p:nvSpPr>
            <p:spPr>
              <a:xfrm>
                <a:off x="4876" y="1454"/>
                <a:ext cx="0" cy="2296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7" name="Line 49"/>
              <p:cNvSpPr/>
              <p:nvPr/>
            </p:nvSpPr>
            <p:spPr>
              <a:xfrm>
                <a:off x="4876" y="3463"/>
                <a:ext cx="726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8" name="Line 50"/>
              <p:cNvSpPr/>
              <p:nvPr/>
            </p:nvSpPr>
            <p:spPr>
              <a:xfrm>
                <a:off x="249" y="2028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09" name="Line 51"/>
              <p:cNvSpPr/>
              <p:nvPr/>
            </p:nvSpPr>
            <p:spPr>
              <a:xfrm>
                <a:off x="249" y="2315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10" name="Line 52"/>
              <p:cNvSpPr/>
              <p:nvPr/>
            </p:nvSpPr>
            <p:spPr>
              <a:xfrm>
                <a:off x="249" y="2602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11" name="Line 53"/>
              <p:cNvSpPr/>
              <p:nvPr/>
            </p:nvSpPr>
            <p:spPr>
              <a:xfrm>
                <a:off x="249" y="2889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12" name="Line 54"/>
              <p:cNvSpPr/>
              <p:nvPr/>
            </p:nvSpPr>
            <p:spPr>
              <a:xfrm>
                <a:off x="249" y="3176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13" name="Line 55"/>
              <p:cNvSpPr/>
              <p:nvPr/>
            </p:nvSpPr>
            <p:spPr>
              <a:xfrm>
                <a:off x="249" y="3463"/>
                <a:ext cx="281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275" name="Line 56"/>
            <p:cNvSpPr/>
            <p:nvPr/>
          </p:nvSpPr>
          <p:spPr>
            <a:xfrm>
              <a:off x="2144" y="3292"/>
              <a:ext cx="0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0985" name="Text Box 57"/>
          <p:cNvSpPr txBox="1"/>
          <p:nvPr/>
        </p:nvSpPr>
        <p:spPr>
          <a:xfrm>
            <a:off x="1622425" y="1536700"/>
            <a:ext cx="2397125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m=sizeof(int)</a:t>
            </a:r>
            <a:endParaRPr lang="en-US" altLang="zh-CN" sz="2400" b="1" dirty="0"/>
          </a:p>
        </p:txBody>
      </p:sp>
      <p:sp>
        <p:nvSpPr>
          <p:cNvPr id="380986" name="Text Box 58"/>
          <p:cNvSpPr txBox="1"/>
          <p:nvPr/>
        </p:nvSpPr>
        <p:spPr>
          <a:xfrm>
            <a:off x="954088" y="3435350"/>
            <a:ext cx="3070225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scanf(“%d”,</a:t>
            </a:r>
            <a:r>
              <a:rPr lang="en-US" altLang="zh-CN" sz="2400" b="1" dirty="0">
                <a:solidFill>
                  <a:srgbClr val="FF0000"/>
                </a:solidFill>
              </a:rPr>
              <a:t>&amp;</a:t>
            </a:r>
            <a:r>
              <a:rPr lang="en-US" altLang="zh-CN" sz="2400" b="1" dirty="0"/>
              <a:t>x);</a:t>
            </a:r>
            <a:endParaRPr lang="en-US" altLang="zh-CN" sz="2400" b="1" dirty="0"/>
          </a:p>
        </p:txBody>
      </p:sp>
      <p:sp>
        <p:nvSpPr>
          <p:cNvPr id="380987" name="Text Box 59"/>
          <p:cNvSpPr txBox="1"/>
          <p:nvPr/>
        </p:nvSpPr>
        <p:spPr>
          <a:xfrm>
            <a:off x="2522538" y="1019175"/>
            <a:ext cx="817562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++i</a:t>
            </a:r>
            <a:endParaRPr lang="en-US" altLang="zh-CN" sz="2400" b="1" dirty="0"/>
          </a:p>
        </p:txBody>
      </p:sp>
      <p:sp>
        <p:nvSpPr>
          <p:cNvPr id="380988" name="Text Box 60"/>
          <p:cNvSpPr txBox="1"/>
          <p:nvPr/>
        </p:nvSpPr>
        <p:spPr>
          <a:xfrm>
            <a:off x="3340100" y="1019175"/>
            <a:ext cx="685800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--i</a:t>
            </a:r>
            <a:endParaRPr lang="en-US" altLang="zh-CN" sz="2400" b="1" dirty="0"/>
          </a:p>
        </p:txBody>
      </p:sp>
      <p:sp>
        <p:nvSpPr>
          <p:cNvPr id="380989" name="Text Box 61"/>
          <p:cNvSpPr txBox="1"/>
          <p:nvPr/>
        </p:nvSpPr>
        <p:spPr>
          <a:xfrm>
            <a:off x="1577975" y="4389438"/>
            <a:ext cx="2689225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score=(int)</a:t>
            </a:r>
            <a:r>
              <a:rPr lang="en-US" altLang="zh-CN" sz="2400" b="1" dirty="0"/>
              <a:t>95.5;</a:t>
            </a:r>
            <a:endParaRPr lang="en-US" altLang="zh-CN" sz="2400" b="1" dirty="0"/>
          </a:p>
        </p:txBody>
      </p:sp>
      <p:sp>
        <p:nvSpPr>
          <p:cNvPr id="63" name="Text Box 92"/>
          <p:cNvSpPr txBox="1"/>
          <p:nvPr/>
        </p:nvSpPr>
        <p:spPr>
          <a:xfrm>
            <a:off x="666750" y="2478088"/>
            <a:ext cx="1881188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if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a&gt;b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 …</a:t>
            </a:r>
            <a:endParaRPr lang="en-US" altLang="zh-CN" sz="2400" b="1" dirty="0"/>
          </a:p>
        </p:txBody>
      </p:sp>
      <p:sp>
        <p:nvSpPr>
          <p:cNvPr id="65" name="Text Box 92"/>
          <p:cNvSpPr txBox="1"/>
          <p:nvPr/>
        </p:nvSpPr>
        <p:spPr>
          <a:xfrm>
            <a:off x="2522538" y="2473325"/>
            <a:ext cx="2100262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if</a:t>
            </a:r>
            <a:r>
              <a:rPr lang="en-US" altLang="zh-CN" sz="2400" b="1" dirty="0">
                <a:solidFill>
                  <a:srgbClr val="FF0000"/>
                </a:solidFill>
              </a:rPr>
              <a:t>(!</a:t>
            </a:r>
            <a:r>
              <a:rPr lang="en-US" altLang="zh-CN" sz="2400" b="1" dirty="0"/>
              <a:t>(a&gt;b)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b="1" dirty="0"/>
              <a:t> …</a:t>
            </a:r>
            <a:endParaRPr lang="en-US" altLang="zh-CN" sz="2400" b="1" dirty="0"/>
          </a:p>
        </p:txBody>
      </p:sp>
      <p:sp>
        <p:nvSpPr>
          <p:cNvPr id="66" name="Text Box 61"/>
          <p:cNvSpPr txBox="1"/>
          <p:nvPr/>
        </p:nvSpPr>
        <p:spPr>
          <a:xfrm>
            <a:off x="1543050" y="4902200"/>
            <a:ext cx="10515600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average = </a:t>
            </a:r>
            <a:r>
              <a:rPr lang="en-US" altLang="zh-CN" sz="2400" b="1" dirty="0">
                <a:solidFill>
                  <a:srgbClr val="FF0000"/>
                </a:solidFill>
              </a:rPr>
              <a:t>(float) </a:t>
            </a:r>
            <a:r>
              <a:rPr lang="en-US" altLang="zh-CN" sz="2400" b="1" dirty="0"/>
              <a:t>(program+English+philosophy+mathematics)/4;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85" grpId="0" animBg="1"/>
      <p:bldP spid="380986" grpId="0" animBg="1"/>
      <p:bldP spid="380987" grpId="0" animBg="1"/>
      <p:bldP spid="380988" grpId="0" animBg="1"/>
      <p:bldP spid="380989" grpId="0" animBg="1"/>
      <p:bldP spid="63" grpId="0" animBg="1"/>
      <p:bldP spid="65" grpId="0" animBg="1"/>
      <p:bldP spid="6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5298" name="TextBox 1"/>
          <p:cNvSpPr txBox="1"/>
          <p:nvPr/>
        </p:nvSpPr>
        <p:spPr>
          <a:xfrm>
            <a:off x="17463" y="79375"/>
            <a:ext cx="4408487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E705"/>
                </a:solidFill>
              </a:rPr>
              <a:t>自增与自减：</a:t>
            </a:r>
            <a:endParaRPr lang="zh-CN" altLang="en-US" sz="4400" b="1" dirty="0">
              <a:solidFill>
                <a:srgbClr val="FFE705"/>
              </a:solidFill>
            </a:endParaRPr>
          </a:p>
        </p:txBody>
      </p:sp>
      <p:sp>
        <p:nvSpPr>
          <p:cNvPr id="20483" name="矩形 2"/>
          <p:cNvSpPr/>
          <p:nvPr/>
        </p:nvSpPr>
        <p:spPr>
          <a:xfrm>
            <a:off x="76200" y="838200"/>
            <a:ext cx="8666163" cy="612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【</a:t>
            </a:r>
            <a:r>
              <a:rPr lang="zh-CN" altLang="en-US" sz="2800" b="1" dirty="0"/>
              <a:t>练习</a:t>
            </a:r>
            <a:r>
              <a:rPr lang="en-US" altLang="zh-CN" sz="2800" b="1" dirty="0"/>
              <a:t>】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#include&lt;stdio.h&gt;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int main()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{	int a,b,a0,b0;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olidFill>
                  <a:srgbClr val="C00000"/>
                </a:solidFill>
              </a:rPr>
              <a:t>a=b=3;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solidFill>
                <a:srgbClr val="C0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a0=</a:t>
            </a:r>
            <a:r>
              <a:rPr lang="en-US" altLang="zh-CN" sz="2800" b="1" dirty="0">
                <a:solidFill>
                  <a:srgbClr val="FFE705"/>
                </a:solidFill>
              </a:rPr>
              <a:t>a++;</a:t>
            </a:r>
            <a:endParaRPr lang="en-US" altLang="zh-CN" sz="2800" b="1" dirty="0">
              <a:solidFill>
                <a:srgbClr val="FFE705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printf("a=%d a0=%d\n",</a:t>
            </a:r>
            <a:r>
              <a:rPr lang="en-US" altLang="zh-CN" sz="2800" b="1" dirty="0">
                <a:solidFill>
                  <a:srgbClr val="FFE705"/>
                </a:solidFill>
              </a:rPr>
              <a:t>a,a0</a:t>
            </a:r>
            <a:r>
              <a:rPr lang="en-US" altLang="zh-CN" sz="2800" b="1" dirty="0"/>
              <a:t>);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b0=</a:t>
            </a:r>
            <a:r>
              <a:rPr lang="en-US" altLang="zh-CN" sz="2800" b="1" dirty="0">
                <a:solidFill>
                  <a:srgbClr val="FFE705"/>
                </a:solidFill>
              </a:rPr>
              <a:t>++b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printf("b=%d b0=%d\n",</a:t>
            </a:r>
            <a:r>
              <a:rPr lang="en-US" altLang="zh-CN" sz="2800" b="1" dirty="0">
                <a:solidFill>
                  <a:srgbClr val="FFE705"/>
                </a:solidFill>
              </a:rPr>
              <a:t>b,b0</a:t>
            </a:r>
            <a:r>
              <a:rPr lang="en-US" altLang="zh-CN" sz="2800" b="1" dirty="0"/>
              <a:t>);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return 0;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}</a:t>
            </a:r>
            <a:endParaRPr lang="zh-CN" altLang="en-US" sz="28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91200" y="76200"/>
          <a:ext cx="6400800" cy="120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201"/>
                <a:gridCol w="2569599"/>
              </a:tblGrid>
              <a:tr h="380948">
                <a:tc gridSpan="2">
                  <a:txBody>
                    <a:bodyPr/>
                    <a:lstStyle/>
                    <a:p>
                      <a:r>
                        <a:rPr lang="en-US" altLang="zh-CN" sz="1900" dirty="0"/>
                        <a:t> </a:t>
                      </a:r>
                      <a:r>
                        <a:rPr lang="en-US" altLang="zh-CN" sz="1900" dirty="0" err="1"/>
                        <a:t>i</a:t>
                      </a:r>
                      <a:r>
                        <a:rPr lang="en-US" altLang="zh-CN" sz="1900" dirty="0"/>
                        <a:t>=3;  </a:t>
                      </a:r>
                      <a:r>
                        <a:rPr lang="en-US" altLang="zh-CN" sz="19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sz="1900" dirty="0" err="1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CN" sz="1900" dirty="0">
                          <a:solidFill>
                            <a:srgbClr val="C00000"/>
                          </a:solidFill>
                        </a:rPr>
                        <a:t>++</a:t>
                      </a:r>
                      <a:r>
                        <a:rPr lang="zh-CN" altLang="en-US" sz="1900" dirty="0"/>
                        <a:t>运算</a:t>
                      </a:r>
                      <a:endParaRPr lang="zh-CN" altLang="en-US" sz="1900" dirty="0"/>
                    </a:p>
                  </a:txBody>
                  <a:tcPr marT="45694" marB="45694"/>
                </a:tc>
                <a:tc hMerge="1">
                  <a:tcPr/>
                </a:tc>
              </a:tr>
              <a:tr h="438255">
                <a:tc>
                  <a:txBody>
                    <a:bodyPr/>
                    <a:lstStyle/>
                    <a:p>
                      <a:r>
                        <a:rPr lang="zh-CN" altLang="en-US" sz="1900" dirty="0"/>
                        <a:t>第</a:t>
                      </a:r>
                      <a:r>
                        <a:rPr lang="en-US" altLang="zh-CN" sz="1900" dirty="0"/>
                        <a:t>1</a:t>
                      </a:r>
                      <a:r>
                        <a:rPr lang="zh-CN" altLang="en-US" sz="1900" dirty="0"/>
                        <a:t>步：</a:t>
                      </a:r>
                      <a:endParaRPr lang="zh-CN" altLang="en-US" sz="1900" dirty="0"/>
                    </a:p>
                  </a:txBody>
                  <a:tcPr marT="45694" marB="45694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T="45694" marB="45694"/>
                </a:tc>
              </a:tr>
              <a:tr h="380948">
                <a:tc>
                  <a:txBody>
                    <a:bodyPr/>
                    <a:lstStyle/>
                    <a:p>
                      <a:r>
                        <a:rPr lang="zh-CN" altLang="en-US" sz="1900" dirty="0"/>
                        <a:t>第</a:t>
                      </a:r>
                      <a:r>
                        <a:rPr lang="en-US" altLang="zh-CN" sz="1900" dirty="0"/>
                        <a:t>2</a:t>
                      </a:r>
                      <a:r>
                        <a:rPr lang="zh-CN" altLang="en-US" sz="1900" dirty="0"/>
                        <a:t>步：</a:t>
                      </a:r>
                      <a:endParaRPr lang="zh-CN" altLang="en-US" sz="1900" dirty="0"/>
                    </a:p>
                  </a:txBody>
                  <a:tcPr marT="45694" marB="45694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T="45694" marB="45694"/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9753600" y="881063"/>
            <a:ext cx="22479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变量</a:t>
            </a:r>
            <a:r>
              <a:rPr lang="en-US" altLang="zh-CN" sz="1800" b="1" dirty="0">
                <a:solidFill>
                  <a:srgbClr val="C00000"/>
                </a:solidFill>
              </a:rPr>
              <a:t>i</a:t>
            </a:r>
            <a:r>
              <a:rPr lang="zh-CN" altLang="en-US" sz="1800" b="1" dirty="0">
                <a:solidFill>
                  <a:srgbClr val="C00000"/>
                </a:solidFill>
              </a:rPr>
              <a:t>的值为：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705600" y="457200"/>
            <a:ext cx="3124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2"/>
                </a:solidFill>
              </a:rPr>
              <a:t>先取</a:t>
            </a:r>
            <a:r>
              <a:rPr lang="en-US" altLang="zh-CN" sz="1800" b="1" dirty="0">
                <a:solidFill>
                  <a:schemeClr val="bg2"/>
                </a:solidFill>
              </a:rPr>
              <a:t>i</a:t>
            </a:r>
            <a:r>
              <a:rPr lang="zh-CN" altLang="en-US" sz="1800" b="1" dirty="0">
                <a:solidFill>
                  <a:schemeClr val="bg2"/>
                </a:solidFill>
              </a:rPr>
              <a:t>当前值作为表达式的值</a:t>
            </a:r>
            <a:endParaRPr lang="zh-CN" altLang="en-US" sz="1800" b="1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53600" y="468313"/>
            <a:ext cx="24257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表达式</a:t>
            </a:r>
            <a:r>
              <a:rPr lang="en-US" altLang="zh-CN" sz="1800" b="1" dirty="0">
                <a:solidFill>
                  <a:srgbClr val="C00000"/>
                </a:solidFill>
              </a:rPr>
              <a:t>i++</a:t>
            </a:r>
            <a:r>
              <a:rPr lang="zh-CN" altLang="en-US" sz="1800" b="1" dirty="0">
                <a:solidFill>
                  <a:srgbClr val="C00000"/>
                </a:solidFill>
              </a:rPr>
              <a:t>的值为：</a:t>
            </a:r>
            <a:r>
              <a:rPr lang="en-US" altLang="zh-CN" sz="1800" b="1" dirty="0">
                <a:solidFill>
                  <a:srgbClr val="C00000"/>
                </a:solidFill>
              </a:rPr>
              <a:t>3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791200" y="1295400"/>
          <a:ext cx="6400800" cy="120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563"/>
                <a:gridCol w="2447237"/>
              </a:tblGrid>
              <a:tr h="380948">
                <a:tc gridSpan="2">
                  <a:txBody>
                    <a:bodyPr/>
                    <a:lstStyle/>
                    <a:p>
                      <a:r>
                        <a:rPr lang="en-US" altLang="zh-CN" sz="1900" dirty="0"/>
                        <a:t> </a:t>
                      </a:r>
                      <a:r>
                        <a:rPr lang="en-US" altLang="zh-CN" sz="1900" dirty="0" err="1"/>
                        <a:t>i</a:t>
                      </a:r>
                      <a:r>
                        <a:rPr lang="en-US" altLang="zh-CN" sz="1900" dirty="0"/>
                        <a:t>=3;  </a:t>
                      </a:r>
                      <a:r>
                        <a:rPr lang="en-US" altLang="zh-CN" sz="1900" dirty="0">
                          <a:solidFill>
                            <a:srgbClr val="C00000"/>
                          </a:solidFill>
                        </a:rPr>
                        <a:t> ++</a:t>
                      </a:r>
                      <a:r>
                        <a:rPr lang="en-US" altLang="zh-CN" sz="1900" dirty="0" err="1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zh-CN" altLang="en-US" sz="1900" dirty="0"/>
                        <a:t>运算</a:t>
                      </a:r>
                      <a:endParaRPr lang="zh-CN" altLang="en-US" sz="1900" dirty="0"/>
                    </a:p>
                  </a:txBody>
                  <a:tcPr marT="45694" marB="45694"/>
                </a:tc>
                <a:tc hMerge="1">
                  <a:tcPr/>
                </a:tc>
              </a:tr>
              <a:tr h="438255">
                <a:tc>
                  <a:txBody>
                    <a:bodyPr/>
                    <a:lstStyle/>
                    <a:p>
                      <a:r>
                        <a:rPr lang="zh-CN" altLang="en-US" sz="1900" dirty="0"/>
                        <a:t>第</a:t>
                      </a:r>
                      <a:r>
                        <a:rPr lang="en-US" altLang="zh-CN" sz="1900" dirty="0"/>
                        <a:t>1</a:t>
                      </a:r>
                      <a:r>
                        <a:rPr lang="zh-CN" altLang="en-US" sz="1900" dirty="0"/>
                        <a:t>步：</a:t>
                      </a:r>
                      <a:endParaRPr lang="zh-CN" altLang="en-US" sz="1900" dirty="0"/>
                    </a:p>
                  </a:txBody>
                  <a:tcPr marT="45694" marB="45694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T="45694" marB="45694"/>
                </a:tc>
              </a:tr>
              <a:tr h="380948">
                <a:tc>
                  <a:txBody>
                    <a:bodyPr/>
                    <a:lstStyle/>
                    <a:p>
                      <a:r>
                        <a:rPr lang="zh-CN" altLang="en-US" sz="1900" dirty="0"/>
                        <a:t>第</a:t>
                      </a:r>
                      <a:r>
                        <a:rPr lang="en-US" altLang="zh-CN" sz="1900" dirty="0"/>
                        <a:t>2</a:t>
                      </a:r>
                      <a:r>
                        <a:rPr lang="zh-CN" altLang="en-US" sz="1900" dirty="0"/>
                        <a:t>步：</a:t>
                      </a:r>
                      <a:endParaRPr lang="zh-CN" altLang="en-US" sz="1900" dirty="0"/>
                    </a:p>
                  </a:txBody>
                  <a:tcPr marT="45694" marB="45694"/>
                </a:tc>
                <a:tc>
                  <a:txBody>
                    <a:bodyPr/>
                    <a:lstStyle/>
                    <a:p>
                      <a:endParaRPr lang="zh-CN" altLang="en-US" sz="1900" dirty="0"/>
                    </a:p>
                  </a:txBody>
                  <a:tcPr marT="45694" marB="45694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934200" y="2068513"/>
            <a:ext cx="28956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2"/>
                </a:solidFill>
              </a:rPr>
              <a:t>取</a:t>
            </a:r>
            <a:r>
              <a:rPr lang="en-US" altLang="zh-CN" sz="1800" b="1" dirty="0">
                <a:solidFill>
                  <a:schemeClr val="bg2"/>
                </a:solidFill>
              </a:rPr>
              <a:t>i</a:t>
            </a:r>
            <a:r>
              <a:rPr lang="zh-CN" altLang="en-US" sz="1800" b="1" dirty="0">
                <a:solidFill>
                  <a:schemeClr val="bg2"/>
                </a:solidFill>
              </a:rPr>
              <a:t>当前值作为表达式的值</a:t>
            </a:r>
            <a:endParaRPr lang="zh-CN" altLang="en-US" sz="1800" b="1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08813" y="1701800"/>
            <a:ext cx="2743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2"/>
                </a:solidFill>
              </a:rPr>
              <a:t>i</a:t>
            </a:r>
            <a:r>
              <a:rPr lang="zh-CN" altLang="en-US" sz="1800" b="1" dirty="0">
                <a:solidFill>
                  <a:schemeClr val="bg2"/>
                </a:solidFill>
              </a:rPr>
              <a:t>先自加</a:t>
            </a:r>
            <a:endParaRPr lang="zh-CN" altLang="en-US" sz="1800" b="1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53600" y="1687513"/>
            <a:ext cx="22479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变量</a:t>
            </a:r>
            <a:r>
              <a:rPr lang="en-US" altLang="zh-CN" sz="1800" b="1" dirty="0">
                <a:solidFill>
                  <a:srgbClr val="C00000"/>
                </a:solidFill>
              </a:rPr>
              <a:t>i</a:t>
            </a:r>
            <a:r>
              <a:rPr lang="zh-CN" altLang="en-US" sz="1800" b="1" dirty="0">
                <a:solidFill>
                  <a:srgbClr val="C00000"/>
                </a:solidFill>
              </a:rPr>
              <a:t>的值为：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53600" y="2068513"/>
            <a:ext cx="24257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表达式</a:t>
            </a:r>
            <a:r>
              <a:rPr lang="en-US" altLang="zh-CN" sz="1800" b="1" dirty="0">
                <a:solidFill>
                  <a:srgbClr val="C00000"/>
                </a:solidFill>
              </a:rPr>
              <a:t>i++</a:t>
            </a:r>
            <a:r>
              <a:rPr lang="zh-CN" altLang="en-US" sz="1800" b="1" dirty="0">
                <a:solidFill>
                  <a:srgbClr val="C00000"/>
                </a:solidFill>
              </a:rPr>
              <a:t>的值为：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endParaRPr lang="zh-CN" altLang="en-US" sz="1800" b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81800" y="849313"/>
            <a:ext cx="2743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bg2"/>
                </a:solidFill>
              </a:rPr>
              <a:t>i</a:t>
            </a:r>
            <a:r>
              <a:rPr lang="zh-CN" altLang="en-US" sz="1800" b="1" dirty="0">
                <a:solidFill>
                  <a:schemeClr val="bg2"/>
                </a:solidFill>
              </a:rPr>
              <a:t>自加</a:t>
            </a:r>
            <a:endParaRPr lang="zh-CN" altLang="en-US" sz="1800" b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45500" y="2514600"/>
            <a:ext cx="3733800" cy="95408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i</a:t>
            </a:r>
            <a:r>
              <a:rPr lang="en-US" altLang="zh-CN" sz="2800" b="1" dirty="0"/>
              <a:t>++ </a:t>
            </a:r>
            <a:r>
              <a:rPr lang="zh-CN" altLang="en-US" sz="2800" b="1" dirty="0"/>
              <a:t>先取值，后自加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++</a:t>
            </a:r>
            <a:r>
              <a:rPr lang="en-US" altLang="zh-CN" sz="2800" b="1" dirty="0"/>
              <a:t>i </a:t>
            </a:r>
            <a:r>
              <a:rPr lang="zh-CN" altLang="en-US" sz="2800" b="1" dirty="0"/>
              <a:t>先自加，后取值</a:t>
            </a:r>
            <a:endParaRPr lang="zh-CN" altLang="en-US" sz="2800" b="1" dirty="0"/>
          </a:p>
        </p:txBody>
      </p:sp>
      <p:sp>
        <p:nvSpPr>
          <p:cNvPr id="17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C798FE-06DD-4FE9-B1C5-74C98904A57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68" grpId="0"/>
      <p:bldP spid="68" grpId="1"/>
      <p:bldP spid="70" grpId="0"/>
      <p:bldP spid="70" grpId="1"/>
      <p:bldP spid="11" grpId="0"/>
      <p:bldP spid="11" grpId="1"/>
      <p:bldP spid="15" grpId="0"/>
      <p:bldP spid="15" grpId="1"/>
      <p:bldP spid="16" grpId="0"/>
      <p:bldP spid="16" grpId="1"/>
      <p:bldP spid="16" grpId="2"/>
      <p:bldP spid="18" grpId="0"/>
      <p:bldP spid="18" grpId="1"/>
      <p:bldP spid="20" grpId="0"/>
      <p:bldP spid="20" grpId="1"/>
      <p:bldP spid="21" grpId="0"/>
      <p:bldP spid="21" grpId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613F36-E5DD-44AE-A12C-5C3EDC85A68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7347" name="Group 2"/>
          <p:cNvGrpSpPr/>
          <p:nvPr/>
        </p:nvGrpSpPr>
        <p:grpSpPr>
          <a:xfrm>
            <a:off x="0" y="228600"/>
            <a:ext cx="11430000" cy="6119813"/>
            <a:chOff x="68" y="0"/>
            <a:chExt cx="5488" cy="4252"/>
          </a:xfrm>
        </p:grpSpPr>
        <p:sp>
          <p:nvSpPr>
            <p:cNvPr id="382979" name="Rectangle 3"/>
            <p:cNvSpPr>
              <a:spLocks noChangeArrowheads="1"/>
            </p:cNvSpPr>
            <p:nvPr/>
          </p:nvSpPr>
          <p:spPr bwMode="auto">
            <a:xfrm>
              <a:off x="5046" y="2613"/>
              <a:ext cx="510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0" name="Rectangle 4"/>
            <p:cNvSpPr>
              <a:spLocks noChangeArrowheads="1"/>
            </p:cNvSpPr>
            <p:nvPr/>
          </p:nvSpPr>
          <p:spPr bwMode="auto">
            <a:xfrm>
              <a:off x="1565" y="2613"/>
              <a:ext cx="1950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逻辑或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1" name="Rectangle 5"/>
            <p:cNvSpPr>
              <a:spLocks noChangeArrowheads="1"/>
            </p:cNvSpPr>
            <p:nvPr/>
          </p:nvSpPr>
          <p:spPr bwMode="auto">
            <a:xfrm>
              <a:off x="68" y="2613"/>
              <a:ext cx="1497" cy="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||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2" name="Rectangle 6"/>
            <p:cNvSpPr>
              <a:spLocks noChangeArrowheads="1"/>
            </p:cNvSpPr>
            <p:nvPr/>
          </p:nvSpPr>
          <p:spPr bwMode="auto">
            <a:xfrm>
              <a:off x="5046" y="2326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3" name="Rectangle 7"/>
            <p:cNvSpPr>
              <a:spLocks noChangeArrowheads="1"/>
            </p:cNvSpPr>
            <p:nvPr/>
          </p:nvSpPr>
          <p:spPr bwMode="auto">
            <a:xfrm>
              <a:off x="1565" y="2326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逻辑与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4" name="Rectangle 8"/>
            <p:cNvSpPr>
              <a:spLocks noChangeArrowheads="1"/>
            </p:cNvSpPr>
            <p:nvPr/>
          </p:nvSpPr>
          <p:spPr bwMode="auto">
            <a:xfrm>
              <a:off x="68" y="2326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&amp;&amp;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5" name="Rectangle 9"/>
            <p:cNvSpPr>
              <a:spLocks noChangeArrowheads="1"/>
            </p:cNvSpPr>
            <p:nvPr/>
          </p:nvSpPr>
          <p:spPr bwMode="auto">
            <a:xfrm>
              <a:off x="5046" y="2039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6" name="Rectangle 10"/>
            <p:cNvSpPr>
              <a:spLocks noChangeArrowheads="1"/>
            </p:cNvSpPr>
            <p:nvPr/>
          </p:nvSpPr>
          <p:spPr bwMode="auto">
            <a:xfrm>
              <a:off x="1565" y="2039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按位或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7" name="Rectangle 11"/>
            <p:cNvSpPr>
              <a:spLocks noChangeArrowheads="1"/>
            </p:cNvSpPr>
            <p:nvPr/>
          </p:nvSpPr>
          <p:spPr bwMode="auto">
            <a:xfrm>
              <a:off x="68" y="2039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88" name="Rectangle 12"/>
            <p:cNvSpPr>
              <a:spLocks noChangeArrowheads="1"/>
            </p:cNvSpPr>
            <p:nvPr/>
          </p:nvSpPr>
          <p:spPr bwMode="auto">
            <a:xfrm>
              <a:off x="5046" y="1752"/>
              <a:ext cx="510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89" name="Rectangle 13"/>
            <p:cNvSpPr>
              <a:spLocks noChangeArrowheads="1"/>
            </p:cNvSpPr>
            <p:nvPr/>
          </p:nvSpPr>
          <p:spPr bwMode="auto">
            <a:xfrm>
              <a:off x="1565" y="1752"/>
              <a:ext cx="1950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按位异或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0" name="Rectangle 14"/>
            <p:cNvSpPr>
              <a:spLocks noChangeArrowheads="1"/>
            </p:cNvSpPr>
            <p:nvPr/>
          </p:nvSpPr>
          <p:spPr bwMode="auto">
            <a:xfrm>
              <a:off x="68" y="1752"/>
              <a:ext cx="1497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91" name="Rectangle 15"/>
            <p:cNvSpPr>
              <a:spLocks noChangeArrowheads="1"/>
            </p:cNvSpPr>
            <p:nvPr/>
          </p:nvSpPr>
          <p:spPr bwMode="auto">
            <a:xfrm>
              <a:off x="5046" y="1465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2" name="Rectangle 16"/>
            <p:cNvSpPr>
              <a:spLocks noChangeArrowheads="1"/>
            </p:cNvSpPr>
            <p:nvPr/>
          </p:nvSpPr>
          <p:spPr bwMode="auto">
            <a:xfrm>
              <a:off x="1565" y="1465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按位与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3" name="Rectangle 17"/>
            <p:cNvSpPr>
              <a:spLocks noChangeArrowheads="1"/>
            </p:cNvSpPr>
            <p:nvPr/>
          </p:nvSpPr>
          <p:spPr bwMode="auto">
            <a:xfrm>
              <a:off x="68" y="1465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94" name="Rectangle 18"/>
            <p:cNvSpPr>
              <a:spLocks noChangeArrowheads="1"/>
            </p:cNvSpPr>
            <p:nvPr/>
          </p:nvSpPr>
          <p:spPr bwMode="auto">
            <a:xfrm>
              <a:off x="5046" y="1178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5" name="Rectangle 19"/>
            <p:cNvSpPr>
              <a:spLocks noChangeArrowheads="1"/>
            </p:cNvSpPr>
            <p:nvPr/>
          </p:nvSpPr>
          <p:spPr bwMode="auto">
            <a:xfrm>
              <a:off x="1565" y="1178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判等运算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6" name="Rectangle 20"/>
            <p:cNvSpPr>
              <a:spLocks noChangeArrowheads="1"/>
            </p:cNvSpPr>
            <p:nvPr/>
          </p:nvSpPr>
          <p:spPr bwMode="auto">
            <a:xfrm>
              <a:off x="68" y="1178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==  !=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7" name="Rectangle 21"/>
            <p:cNvSpPr>
              <a:spLocks noChangeArrowheads="1"/>
            </p:cNvSpPr>
            <p:nvPr/>
          </p:nvSpPr>
          <p:spPr bwMode="auto">
            <a:xfrm>
              <a:off x="5046" y="891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8" name="Rectangle 22"/>
            <p:cNvSpPr>
              <a:spLocks noChangeArrowheads="1"/>
            </p:cNvSpPr>
            <p:nvPr/>
          </p:nvSpPr>
          <p:spPr bwMode="auto">
            <a:xfrm>
              <a:off x="1565" y="891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关系运算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2999" name="Rectangle 23"/>
            <p:cNvSpPr>
              <a:spLocks noChangeArrowheads="1"/>
            </p:cNvSpPr>
            <p:nvPr/>
          </p:nvSpPr>
          <p:spPr bwMode="auto">
            <a:xfrm>
              <a:off x="68" y="891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&lt;  &gt;  &lt;=  &gt;=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0" name="Rectangle 24"/>
            <p:cNvSpPr>
              <a:spLocks noChangeArrowheads="1"/>
            </p:cNvSpPr>
            <p:nvPr/>
          </p:nvSpPr>
          <p:spPr bwMode="auto">
            <a:xfrm>
              <a:off x="5046" y="604"/>
              <a:ext cx="51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1" name="Rectangle 25"/>
            <p:cNvSpPr>
              <a:spLocks noChangeArrowheads="1"/>
            </p:cNvSpPr>
            <p:nvPr/>
          </p:nvSpPr>
          <p:spPr bwMode="auto">
            <a:xfrm>
              <a:off x="1565" y="604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左移、右移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2" name="Rectangle 26"/>
            <p:cNvSpPr>
              <a:spLocks noChangeArrowheads="1"/>
            </p:cNvSpPr>
            <p:nvPr/>
          </p:nvSpPr>
          <p:spPr bwMode="auto">
            <a:xfrm>
              <a:off x="68" y="604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&lt;&lt;  &gt;&gt;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03" name="Rectangle 27"/>
            <p:cNvSpPr>
              <a:spLocks noChangeArrowheads="1"/>
            </p:cNvSpPr>
            <p:nvPr/>
          </p:nvSpPr>
          <p:spPr bwMode="auto">
            <a:xfrm>
              <a:off x="5046" y="317"/>
              <a:ext cx="510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4" name="Rectangle 28"/>
            <p:cNvSpPr>
              <a:spLocks noChangeArrowheads="1"/>
            </p:cNvSpPr>
            <p:nvPr/>
          </p:nvSpPr>
          <p:spPr bwMode="auto">
            <a:xfrm>
              <a:off x="1565" y="317"/>
              <a:ext cx="1950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算术加、减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5" name="Rectangle 29"/>
            <p:cNvSpPr>
              <a:spLocks noChangeArrowheads="1"/>
            </p:cNvSpPr>
            <p:nvPr/>
          </p:nvSpPr>
          <p:spPr bwMode="auto">
            <a:xfrm>
              <a:off x="68" y="317"/>
              <a:ext cx="1497" cy="2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 -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6" name="Rectangle 30"/>
            <p:cNvSpPr>
              <a:spLocks noChangeArrowheads="1"/>
            </p:cNvSpPr>
            <p:nvPr/>
          </p:nvSpPr>
          <p:spPr bwMode="auto">
            <a:xfrm>
              <a:off x="5046" y="0"/>
              <a:ext cx="510" cy="3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7" name="Rectangle 31"/>
            <p:cNvSpPr>
              <a:spLocks noChangeArrowheads="1"/>
            </p:cNvSpPr>
            <p:nvPr/>
          </p:nvSpPr>
          <p:spPr bwMode="auto">
            <a:xfrm>
              <a:off x="4160" y="0"/>
              <a:ext cx="886" cy="29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从左到右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8" name="Rectangle 32"/>
            <p:cNvSpPr>
              <a:spLocks noChangeArrowheads="1"/>
            </p:cNvSpPr>
            <p:nvPr/>
          </p:nvSpPr>
          <p:spPr bwMode="auto">
            <a:xfrm>
              <a:off x="3515" y="0"/>
              <a:ext cx="646" cy="29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二元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09" name="Rectangle 33"/>
            <p:cNvSpPr>
              <a:spLocks noChangeArrowheads="1"/>
            </p:cNvSpPr>
            <p:nvPr/>
          </p:nvSpPr>
          <p:spPr bwMode="auto">
            <a:xfrm>
              <a:off x="1565" y="0"/>
              <a:ext cx="1950" cy="3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算术乘、除、求余数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10" name="Rectangle 34"/>
            <p:cNvSpPr>
              <a:spLocks noChangeArrowheads="1"/>
            </p:cNvSpPr>
            <p:nvPr/>
          </p:nvSpPr>
          <p:spPr bwMode="auto">
            <a:xfrm>
              <a:off x="68" y="0"/>
              <a:ext cx="1497" cy="3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*  /  %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0" name="Line 35"/>
            <p:cNvSpPr/>
            <p:nvPr/>
          </p:nvSpPr>
          <p:spPr>
            <a:xfrm>
              <a:off x="68" y="0"/>
              <a:ext cx="548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1" name="Line 36"/>
            <p:cNvSpPr/>
            <p:nvPr/>
          </p:nvSpPr>
          <p:spPr>
            <a:xfrm>
              <a:off x="68" y="2931"/>
              <a:ext cx="548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2" name="Line 37"/>
            <p:cNvSpPr/>
            <p:nvPr/>
          </p:nvSpPr>
          <p:spPr>
            <a:xfrm>
              <a:off x="68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3" name="Line 38"/>
            <p:cNvSpPr/>
            <p:nvPr/>
          </p:nvSpPr>
          <p:spPr>
            <a:xfrm>
              <a:off x="5556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4" name="Line 39"/>
            <p:cNvSpPr/>
            <p:nvPr/>
          </p:nvSpPr>
          <p:spPr>
            <a:xfrm>
              <a:off x="68" y="317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5" name="Line 40"/>
            <p:cNvSpPr/>
            <p:nvPr/>
          </p:nvSpPr>
          <p:spPr>
            <a:xfrm>
              <a:off x="1565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6" name="Line 41"/>
            <p:cNvSpPr/>
            <p:nvPr/>
          </p:nvSpPr>
          <p:spPr>
            <a:xfrm>
              <a:off x="3515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7" name="Line 42"/>
            <p:cNvSpPr/>
            <p:nvPr/>
          </p:nvSpPr>
          <p:spPr>
            <a:xfrm>
              <a:off x="4160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8" name="Line 43"/>
            <p:cNvSpPr/>
            <p:nvPr/>
          </p:nvSpPr>
          <p:spPr>
            <a:xfrm>
              <a:off x="5046" y="0"/>
              <a:ext cx="0" cy="293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99" name="Line 44"/>
            <p:cNvSpPr/>
            <p:nvPr/>
          </p:nvSpPr>
          <p:spPr>
            <a:xfrm>
              <a:off x="5046" y="317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0" name="Line 45"/>
            <p:cNvSpPr/>
            <p:nvPr/>
          </p:nvSpPr>
          <p:spPr>
            <a:xfrm>
              <a:off x="68" y="604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1" name="Line 46"/>
            <p:cNvSpPr/>
            <p:nvPr/>
          </p:nvSpPr>
          <p:spPr>
            <a:xfrm>
              <a:off x="5046" y="604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2" name="Line 47"/>
            <p:cNvSpPr/>
            <p:nvPr/>
          </p:nvSpPr>
          <p:spPr>
            <a:xfrm>
              <a:off x="68" y="891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3" name="Line 48"/>
            <p:cNvSpPr/>
            <p:nvPr/>
          </p:nvSpPr>
          <p:spPr>
            <a:xfrm>
              <a:off x="5046" y="891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4" name="Line 49"/>
            <p:cNvSpPr/>
            <p:nvPr/>
          </p:nvSpPr>
          <p:spPr>
            <a:xfrm>
              <a:off x="68" y="1178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5" name="Line 50"/>
            <p:cNvSpPr/>
            <p:nvPr/>
          </p:nvSpPr>
          <p:spPr>
            <a:xfrm>
              <a:off x="5046" y="1178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6" name="Line 51"/>
            <p:cNvSpPr/>
            <p:nvPr/>
          </p:nvSpPr>
          <p:spPr>
            <a:xfrm>
              <a:off x="68" y="1465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7" name="Line 52"/>
            <p:cNvSpPr/>
            <p:nvPr/>
          </p:nvSpPr>
          <p:spPr>
            <a:xfrm>
              <a:off x="5046" y="1465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8" name="Line 53"/>
            <p:cNvSpPr/>
            <p:nvPr/>
          </p:nvSpPr>
          <p:spPr>
            <a:xfrm>
              <a:off x="68" y="1752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09" name="Line 54"/>
            <p:cNvSpPr/>
            <p:nvPr/>
          </p:nvSpPr>
          <p:spPr>
            <a:xfrm>
              <a:off x="5046" y="1752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0" name="Line 55"/>
            <p:cNvSpPr/>
            <p:nvPr/>
          </p:nvSpPr>
          <p:spPr>
            <a:xfrm>
              <a:off x="68" y="2039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1" name="Line 56"/>
            <p:cNvSpPr/>
            <p:nvPr/>
          </p:nvSpPr>
          <p:spPr>
            <a:xfrm>
              <a:off x="5046" y="2039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2" name="Line 57"/>
            <p:cNvSpPr/>
            <p:nvPr/>
          </p:nvSpPr>
          <p:spPr>
            <a:xfrm>
              <a:off x="68" y="2326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3" name="Line 58"/>
            <p:cNvSpPr/>
            <p:nvPr/>
          </p:nvSpPr>
          <p:spPr>
            <a:xfrm>
              <a:off x="5046" y="2326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4" name="Line 59"/>
            <p:cNvSpPr/>
            <p:nvPr/>
          </p:nvSpPr>
          <p:spPr>
            <a:xfrm>
              <a:off x="68" y="2613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15" name="Line 60"/>
            <p:cNvSpPr/>
            <p:nvPr/>
          </p:nvSpPr>
          <p:spPr>
            <a:xfrm>
              <a:off x="5046" y="2613"/>
              <a:ext cx="510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3037" name="Rectangle 61"/>
            <p:cNvSpPr>
              <a:spLocks noChangeArrowheads="1"/>
            </p:cNvSpPr>
            <p:nvPr/>
          </p:nvSpPr>
          <p:spPr bwMode="auto">
            <a:xfrm>
              <a:off x="5057" y="3965"/>
              <a:ext cx="499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低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38" name="Rectangle 62"/>
            <p:cNvSpPr>
              <a:spLocks noChangeArrowheads="1"/>
            </p:cNvSpPr>
            <p:nvPr/>
          </p:nvSpPr>
          <p:spPr bwMode="auto">
            <a:xfrm>
              <a:off x="4150" y="3965"/>
              <a:ext cx="90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从左到右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39" name="Rectangle 63"/>
            <p:cNvSpPr>
              <a:spLocks noChangeArrowheads="1"/>
            </p:cNvSpPr>
            <p:nvPr/>
          </p:nvSpPr>
          <p:spPr bwMode="auto">
            <a:xfrm>
              <a:off x="1565" y="3965"/>
              <a:ext cx="1950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顺序表达式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0" name="Rectangle 64"/>
            <p:cNvSpPr>
              <a:spLocks noChangeArrowheads="1"/>
            </p:cNvSpPr>
            <p:nvPr/>
          </p:nvSpPr>
          <p:spPr bwMode="auto">
            <a:xfrm>
              <a:off x="68" y="3965"/>
              <a:ext cx="1497" cy="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1" name="Rectangle 65"/>
            <p:cNvSpPr>
              <a:spLocks noChangeArrowheads="1"/>
            </p:cNvSpPr>
            <p:nvPr/>
          </p:nvSpPr>
          <p:spPr bwMode="auto">
            <a:xfrm>
              <a:off x="5057" y="3219"/>
              <a:ext cx="499" cy="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2" name="Rectangle 66"/>
            <p:cNvSpPr>
              <a:spLocks noChangeArrowheads="1"/>
            </p:cNvSpPr>
            <p:nvPr/>
          </p:nvSpPr>
          <p:spPr bwMode="auto">
            <a:xfrm>
              <a:off x="3515" y="3219"/>
              <a:ext cx="635" cy="10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二元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3" name="Rectangle 67"/>
            <p:cNvSpPr>
              <a:spLocks noChangeArrowheads="1"/>
            </p:cNvSpPr>
            <p:nvPr/>
          </p:nvSpPr>
          <p:spPr bwMode="auto">
            <a:xfrm>
              <a:off x="1565" y="3219"/>
              <a:ext cx="1950" cy="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赋值</a:t>
              </a:r>
              <a:endParaRPr kumimoji="0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4" name="Rectangle 68"/>
            <p:cNvSpPr>
              <a:spLocks noChangeArrowheads="1"/>
            </p:cNvSpPr>
            <p:nvPr/>
          </p:nvSpPr>
          <p:spPr bwMode="auto">
            <a:xfrm>
              <a:off x="68" y="3219"/>
              <a:ext cx="1497" cy="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+=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-= *=  /= %=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&lt;&lt;=  &gt;&gt;= 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&amp;= ^= |=</a:t>
              </a:r>
              <a:endPara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45" name="Rectangle 69"/>
            <p:cNvSpPr>
              <a:spLocks noChangeArrowheads="1"/>
            </p:cNvSpPr>
            <p:nvPr/>
          </p:nvSpPr>
          <p:spPr bwMode="auto">
            <a:xfrm>
              <a:off x="5057" y="2931"/>
              <a:ext cx="499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6" name="Rectangle 70"/>
            <p:cNvSpPr>
              <a:spLocks noChangeArrowheads="1"/>
            </p:cNvSpPr>
            <p:nvPr/>
          </p:nvSpPr>
          <p:spPr bwMode="auto">
            <a:xfrm>
              <a:off x="4150" y="2931"/>
              <a:ext cx="907" cy="1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从右到左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7" name="Rectangle 71"/>
            <p:cNvSpPr>
              <a:spLocks noChangeArrowheads="1"/>
            </p:cNvSpPr>
            <p:nvPr/>
          </p:nvSpPr>
          <p:spPr bwMode="auto">
            <a:xfrm>
              <a:off x="3515" y="2931"/>
              <a:ext cx="635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三元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8" name="Rectangle 72"/>
            <p:cNvSpPr>
              <a:spLocks noChangeArrowheads="1"/>
            </p:cNvSpPr>
            <p:nvPr/>
          </p:nvSpPr>
          <p:spPr bwMode="auto">
            <a:xfrm>
              <a:off x="1565" y="2931"/>
              <a:ext cx="195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条件表达式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3049" name="Rectangle 73"/>
            <p:cNvSpPr>
              <a:spLocks noChangeArrowheads="1"/>
            </p:cNvSpPr>
            <p:nvPr/>
          </p:nvSpPr>
          <p:spPr bwMode="auto">
            <a:xfrm>
              <a:off x="68" y="2931"/>
              <a:ext cx="1497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marL="342900" marR="0" lvl="0" indent="-34290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80000"/>
                <a:buFontTx/>
                <a:buNone/>
                <a:tabLst>
                  <a:tab pos="799465" algn="l"/>
                </a:tabLst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?      :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429" name="Line 74"/>
            <p:cNvSpPr/>
            <p:nvPr/>
          </p:nvSpPr>
          <p:spPr>
            <a:xfrm>
              <a:off x="68" y="2931"/>
              <a:ext cx="548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0" name="Line 75"/>
            <p:cNvSpPr/>
            <p:nvPr/>
          </p:nvSpPr>
          <p:spPr>
            <a:xfrm>
              <a:off x="68" y="4252"/>
              <a:ext cx="5488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1" name="Line 76"/>
            <p:cNvSpPr/>
            <p:nvPr/>
          </p:nvSpPr>
          <p:spPr>
            <a:xfrm>
              <a:off x="68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2" name="Line 77"/>
            <p:cNvSpPr/>
            <p:nvPr/>
          </p:nvSpPr>
          <p:spPr>
            <a:xfrm>
              <a:off x="5556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3" name="Line 78"/>
            <p:cNvSpPr/>
            <p:nvPr/>
          </p:nvSpPr>
          <p:spPr>
            <a:xfrm>
              <a:off x="68" y="3218"/>
              <a:ext cx="4082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4" name="Line 79"/>
            <p:cNvSpPr/>
            <p:nvPr/>
          </p:nvSpPr>
          <p:spPr>
            <a:xfrm>
              <a:off x="1565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5" name="Line 80"/>
            <p:cNvSpPr/>
            <p:nvPr/>
          </p:nvSpPr>
          <p:spPr>
            <a:xfrm>
              <a:off x="3515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6" name="Line 81"/>
            <p:cNvSpPr/>
            <p:nvPr/>
          </p:nvSpPr>
          <p:spPr>
            <a:xfrm>
              <a:off x="4150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7" name="Line 82"/>
            <p:cNvSpPr/>
            <p:nvPr/>
          </p:nvSpPr>
          <p:spPr>
            <a:xfrm>
              <a:off x="4150" y="3965"/>
              <a:ext cx="1406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8" name="Line 83"/>
            <p:cNvSpPr/>
            <p:nvPr/>
          </p:nvSpPr>
          <p:spPr>
            <a:xfrm>
              <a:off x="5057" y="2931"/>
              <a:ext cx="0" cy="132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39" name="Line 84"/>
            <p:cNvSpPr/>
            <p:nvPr/>
          </p:nvSpPr>
          <p:spPr>
            <a:xfrm>
              <a:off x="5057" y="3218"/>
              <a:ext cx="499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440" name="Line 85"/>
            <p:cNvSpPr/>
            <p:nvPr/>
          </p:nvSpPr>
          <p:spPr>
            <a:xfrm>
              <a:off x="68" y="3965"/>
              <a:ext cx="344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90"/>
          <p:cNvGrpSpPr/>
          <p:nvPr/>
        </p:nvGrpSpPr>
        <p:grpSpPr>
          <a:xfrm>
            <a:off x="3282950" y="5173663"/>
            <a:ext cx="3830638" cy="488950"/>
            <a:chOff x="-1044" y="3923"/>
            <a:chExt cx="2413" cy="308"/>
          </a:xfrm>
        </p:grpSpPr>
        <p:sp>
          <p:nvSpPr>
            <p:cNvPr id="57355" name="Text Box 86"/>
            <p:cNvSpPr txBox="1"/>
            <p:nvPr/>
          </p:nvSpPr>
          <p:spPr>
            <a:xfrm>
              <a:off x="-1044" y="3923"/>
              <a:ext cx="1104" cy="291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</a:t>
              </a:r>
              <a:r>
                <a:rPr lang="en-US" altLang="zh-CN" sz="2400" b="1" dirty="0">
                  <a:solidFill>
                    <a:srgbClr val="FFFF00"/>
                  </a:solidFill>
                </a:rPr>
                <a:t>+=</a:t>
              </a:r>
              <a:r>
                <a:rPr lang="en-US" altLang="zh-CN" sz="2400" b="1" dirty="0"/>
                <a:t>2 </a:t>
              </a:r>
              <a:endParaRPr lang="en-US" altLang="zh-CN" sz="2400" b="1" dirty="0"/>
            </a:p>
          </p:txBody>
        </p:sp>
        <p:sp>
          <p:nvSpPr>
            <p:cNvPr id="57356" name="Text Box 87"/>
            <p:cNvSpPr txBox="1"/>
            <p:nvPr/>
          </p:nvSpPr>
          <p:spPr>
            <a:xfrm>
              <a:off x="397" y="3940"/>
              <a:ext cx="972" cy="291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m=m+2 </a:t>
              </a:r>
              <a:endParaRPr lang="en-US" altLang="zh-CN" sz="2400" b="1" dirty="0"/>
            </a:p>
          </p:txBody>
        </p:sp>
        <p:sp>
          <p:nvSpPr>
            <p:cNvPr id="57357" name="AutoShape 88"/>
            <p:cNvSpPr/>
            <p:nvPr/>
          </p:nvSpPr>
          <p:spPr>
            <a:xfrm>
              <a:off x="61" y="3936"/>
              <a:ext cx="336" cy="241"/>
            </a:xfrm>
            <a:prstGeom prst="rightArrow">
              <a:avLst>
                <a:gd name="adj1" fmla="val 50000"/>
                <a:gd name="adj2" fmla="val 43749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/>
            </a:p>
          </p:txBody>
        </p:sp>
      </p:grpSp>
      <p:sp>
        <p:nvSpPr>
          <p:cNvPr id="383065" name="Text Box 89"/>
          <p:cNvSpPr txBox="1"/>
          <p:nvPr/>
        </p:nvSpPr>
        <p:spPr>
          <a:xfrm>
            <a:off x="4384675" y="6397625"/>
            <a:ext cx="3916045" cy="4603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a=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i=11</a:t>
            </a:r>
            <a:r>
              <a:rPr lang="en-US" altLang="zh-CN" sz="2400" b="1" dirty="0">
                <a:solidFill>
                  <a:srgbClr val="FF0000"/>
                </a:solidFill>
              </a:rPr>
              <a:t>,</a:t>
            </a:r>
            <a:r>
              <a:rPr lang="en-US" altLang="zh-CN" sz="2400" b="1" dirty="0"/>
              <a:t>i++</a:t>
            </a:r>
            <a:r>
              <a:rPr lang="en-US" altLang="zh-CN" sz="2400" b="1" dirty="0">
                <a:solidFill>
                  <a:srgbClr val="FF0000"/>
                </a:solidFill>
              </a:rPr>
              <a:t>,</a:t>
            </a:r>
            <a:r>
              <a:rPr lang="en-US" altLang="zh-CN" sz="2400" b="1" dirty="0"/>
              <a:t>i%=3</a:t>
            </a:r>
            <a:r>
              <a:rPr lang="en-US" altLang="zh-CN" sz="2400" b="1" dirty="0">
                <a:solidFill>
                  <a:srgbClr val="FF0000"/>
                </a:solidFill>
              </a:rPr>
              <a:t>)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3067" name="Text Box 91"/>
          <p:cNvSpPr txBox="1"/>
          <p:nvPr/>
        </p:nvSpPr>
        <p:spPr>
          <a:xfrm>
            <a:off x="3286125" y="4419600"/>
            <a:ext cx="3268663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max=(b&gt;a</a:t>
            </a:r>
            <a:r>
              <a:rPr lang="en-US" altLang="zh-CN" sz="2400" b="1" dirty="0">
                <a:solidFill>
                  <a:srgbClr val="FFFF00"/>
                </a:solidFill>
              </a:rPr>
              <a:t>?</a:t>
            </a:r>
            <a:r>
              <a:rPr lang="en-US" altLang="zh-CN" sz="2400" b="1" dirty="0"/>
              <a:t> b </a:t>
            </a:r>
            <a:r>
              <a:rPr lang="en-US" altLang="zh-CN" sz="2400" b="1" dirty="0">
                <a:solidFill>
                  <a:srgbClr val="FFFF00"/>
                </a:solidFill>
              </a:rPr>
              <a:t>:</a:t>
            </a:r>
            <a:r>
              <a:rPr lang="en-US" altLang="zh-CN" sz="2400" b="1" dirty="0"/>
              <a:t> a )</a:t>
            </a:r>
            <a:endParaRPr lang="en-US" altLang="zh-CN" sz="2400" b="1" dirty="0"/>
          </a:p>
        </p:txBody>
      </p:sp>
      <p:sp>
        <p:nvSpPr>
          <p:cNvPr id="383068" name="Text Box 92"/>
          <p:cNvSpPr txBox="1"/>
          <p:nvPr/>
        </p:nvSpPr>
        <p:spPr>
          <a:xfrm>
            <a:off x="3271838" y="3560763"/>
            <a:ext cx="3044825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if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/>
              <a:t>a&gt;0</a:t>
            </a:r>
            <a:r>
              <a:rPr lang="en-US" altLang="zh-CN" sz="2400" b="1" dirty="0">
                <a:solidFill>
                  <a:srgbClr val="FF0000"/>
                </a:solidFill>
              </a:rPr>
              <a:t>&amp;&amp;</a:t>
            </a:r>
            <a:r>
              <a:rPr lang="en-US" altLang="zh-CN" sz="2400" b="1" dirty="0"/>
              <a:t>a&lt;=10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054408" y="2484438"/>
            <a:ext cx="3233102" cy="2185987"/>
            <a:chOff x="5943600" y="2235283"/>
            <a:chExt cx="2032160" cy="2184317"/>
          </a:xfrm>
        </p:grpSpPr>
        <p:sp>
          <p:nvSpPr>
            <p:cNvPr id="57353" name="Text Box 91"/>
            <p:cNvSpPr txBox="1"/>
            <p:nvPr/>
          </p:nvSpPr>
          <p:spPr>
            <a:xfrm>
              <a:off x="6312839" y="2235283"/>
              <a:ext cx="1662921" cy="156928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if(b&gt;a)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	max=b;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else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	max=a;</a:t>
              </a:r>
              <a:endParaRPr lang="en-US" altLang="zh-CN" sz="2400" b="1" dirty="0"/>
            </a:p>
          </p:txBody>
        </p:sp>
        <p:cxnSp>
          <p:nvCxnSpPr>
            <p:cNvPr id="57354" name="直接箭头连接符 4"/>
            <p:cNvCxnSpPr/>
            <p:nvPr/>
          </p:nvCxnSpPr>
          <p:spPr>
            <a:xfrm flipV="1">
              <a:off x="5943600" y="3782898"/>
              <a:ext cx="337068" cy="636702"/>
            </a:xfrm>
            <a:prstGeom prst="straightConnector1">
              <a:avLst/>
            </a:prstGeom>
            <a:ln w="349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cxnSp>
      </p:grpSp>
      <p:sp>
        <p:nvSpPr>
          <p:cNvPr id="2" name="Text Box 91"/>
          <p:cNvSpPr txBox="1"/>
          <p:nvPr/>
        </p:nvSpPr>
        <p:spPr>
          <a:xfrm>
            <a:off x="2895600" y="228600"/>
            <a:ext cx="3814445" cy="4603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curTime=</a:t>
            </a:r>
            <a:r>
              <a:rPr lang="en-US" altLang="zh-CN" sz="2400" b="1" dirty="0"/>
              <a:t>curTime%24;</a:t>
            </a:r>
            <a:endParaRPr lang="en-US" altLang="zh-CN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8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065" grpId="0" bldLvl="0" animBg="1"/>
      <p:bldP spid="383067" grpId="0" animBg="1"/>
      <p:bldP spid="383068" grpId="0" animBg="1"/>
      <p:bldP spid="2" grpId="0" bldLvl="0" animBg="1"/>
      <p:bldP spid="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F51B27-95F3-4087-B6DA-FA1FC0E97B7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Rectangle 2"/>
          <p:cNvSpPr/>
          <p:nvPr/>
        </p:nvSpPr>
        <p:spPr>
          <a:xfrm>
            <a:off x="2135188" y="0"/>
            <a:ext cx="6262687" cy="1477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25000"/>
              </a:spcBef>
              <a:spcAft>
                <a:spcPct val="2500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int x=3, y=4, r=1, s=9 ;</a:t>
            </a:r>
            <a:endParaRPr lang="en-US" altLang="zh-CN" sz="3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25000"/>
              </a:spcBef>
              <a:spcAft>
                <a:spcPct val="2500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r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=</a:t>
            </a:r>
            <a:r>
              <a:rPr lang="en-US" altLang="zh-CN" sz="3600" b="1" dirty="0">
                <a:latin typeface="Arial" panose="020B0604020202020204" pitchFamily="34" charset="0"/>
              </a:rPr>
              <a:t> ( x + y ) * 5 &lt;= ( r – s ) / 8 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27" name="AutoShape 3"/>
          <p:cNvSpPr/>
          <p:nvPr/>
        </p:nvSpPr>
        <p:spPr>
          <a:xfrm rot="-5400000">
            <a:off x="3573463" y="835025"/>
            <a:ext cx="288925" cy="1439863"/>
          </a:xfrm>
          <a:prstGeom prst="leftBrace">
            <a:avLst>
              <a:gd name="adj1" fmla="val 4150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59397" name="Text Box 4"/>
          <p:cNvSpPr txBox="1"/>
          <p:nvPr/>
        </p:nvSpPr>
        <p:spPr>
          <a:xfrm>
            <a:off x="3575050" y="2349500"/>
            <a:ext cx="108108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29" name="Text Box 5"/>
          <p:cNvSpPr txBox="1"/>
          <p:nvPr/>
        </p:nvSpPr>
        <p:spPr>
          <a:xfrm>
            <a:off x="3503613" y="1773238"/>
            <a:ext cx="4318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7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30" name="AutoShape 6"/>
          <p:cNvSpPr/>
          <p:nvPr/>
        </p:nvSpPr>
        <p:spPr>
          <a:xfrm rot="-5400000">
            <a:off x="4221163" y="1843088"/>
            <a:ext cx="360362" cy="1368425"/>
          </a:xfrm>
          <a:prstGeom prst="leftBrace">
            <a:avLst>
              <a:gd name="adj1" fmla="val 31627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85031" name="Text Box 7"/>
          <p:cNvSpPr txBox="1"/>
          <p:nvPr/>
        </p:nvSpPr>
        <p:spPr>
          <a:xfrm>
            <a:off x="3863975" y="2709863"/>
            <a:ext cx="10795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35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32" name="AutoShape 8"/>
          <p:cNvSpPr/>
          <p:nvPr/>
        </p:nvSpPr>
        <p:spPr>
          <a:xfrm rot="-5400000">
            <a:off x="6599238" y="981075"/>
            <a:ext cx="285750" cy="1295400"/>
          </a:xfrm>
          <a:prstGeom prst="leftBrace">
            <a:avLst>
              <a:gd name="adj1" fmla="val 3775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85033" name="Text Box 9"/>
          <p:cNvSpPr txBox="1"/>
          <p:nvPr/>
        </p:nvSpPr>
        <p:spPr>
          <a:xfrm>
            <a:off x="6383338" y="1701800"/>
            <a:ext cx="7921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-8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34" name="AutoShape 10"/>
          <p:cNvSpPr/>
          <p:nvPr/>
        </p:nvSpPr>
        <p:spPr>
          <a:xfrm rot="-5400000">
            <a:off x="7173913" y="1843088"/>
            <a:ext cx="358775" cy="1223962"/>
          </a:xfrm>
          <a:prstGeom prst="leftBrace">
            <a:avLst>
              <a:gd name="adj1" fmla="val 28413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85035" name="AutoShape 11"/>
          <p:cNvSpPr/>
          <p:nvPr/>
        </p:nvSpPr>
        <p:spPr>
          <a:xfrm rot="-5400000">
            <a:off x="5735638" y="1846263"/>
            <a:ext cx="215900" cy="3095625"/>
          </a:xfrm>
          <a:prstGeom prst="leftBrace">
            <a:avLst>
              <a:gd name="adj1" fmla="val 119418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85036" name="Text Box 12"/>
          <p:cNvSpPr txBox="1"/>
          <p:nvPr/>
        </p:nvSpPr>
        <p:spPr>
          <a:xfrm>
            <a:off x="5448300" y="3646488"/>
            <a:ext cx="7921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folHlink"/>
                </a:solidFill>
                <a:latin typeface="Arial" panose="020B0604020202020204" pitchFamily="34" charset="0"/>
              </a:rPr>
              <a:t>0</a:t>
            </a:r>
            <a:endParaRPr lang="en-US" altLang="zh-CN" sz="36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385037" name="AutoShape 13"/>
          <p:cNvSpPr/>
          <p:nvPr/>
        </p:nvSpPr>
        <p:spPr>
          <a:xfrm rot="-5400000">
            <a:off x="3862388" y="2635250"/>
            <a:ext cx="361950" cy="3530600"/>
          </a:xfrm>
          <a:prstGeom prst="leftBrace">
            <a:avLst>
              <a:gd name="adj1" fmla="val 81241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85038" name="Rectangle 14"/>
          <p:cNvSpPr/>
          <p:nvPr/>
        </p:nvSpPr>
        <p:spPr>
          <a:xfrm>
            <a:off x="3863975" y="4654550"/>
            <a:ext cx="44132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0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39" name="Line 15"/>
          <p:cNvSpPr/>
          <p:nvPr/>
        </p:nvSpPr>
        <p:spPr>
          <a:xfrm>
            <a:off x="5087938" y="1528763"/>
            <a:ext cx="0" cy="863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5040" name="Line 16"/>
          <p:cNvSpPr/>
          <p:nvPr/>
        </p:nvSpPr>
        <p:spPr>
          <a:xfrm>
            <a:off x="7967663" y="1452563"/>
            <a:ext cx="0" cy="863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5041" name="Text Box 17"/>
          <p:cNvSpPr txBox="1"/>
          <p:nvPr/>
        </p:nvSpPr>
        <p:spPr>
          <a:xfrm>
            <a:off x="6959600" y="2638425"/>
            <a:ext cx="7921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-1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sp>
        <p:nvSpPr>
          <p:cNvPr id="385042" name="Line 18"/>
          <p:cNvSpPr/>
          <p:nvPr/>
        </p:nvSpPr>
        <p:spPr>
          <a:xfrm>
            <a:off x="2279650" y="1554163"/>
            <a:ext cx="0" cy="26638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TextBox 1"/>
          <p:cNvSpPr txBox="1"/>
          <p:nvPr/>
        </p:nvSpPr>
        <p:spPr>
          <a:xfrm>
            <a:off x="1676400" y="5295900"/>
            <a:ext cx="68199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</a:rPr>
              <a:t>在表达式中适当加括号是好习惯</a:t>
            </a:r>
            <a:endParaRPr lang="zh-CN" altLang="en-US" sz="3600" b="1" dirty="0">
              <a:solidFill>
                <a:srgbClr val="FFFF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62113" y="5984875"/>
            <a:ext cx="8701087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25000"/>
              </a:spcBef>
              <a:spcAft>
                <a:spcPct val="2500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r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=(</a:t>
            </a:r>
            <a:r>
              <a:rPr lang="en-US" altLang="zh-CN" sz="3600" b="1" dirty="0">
                <a:latin typeface="Arial" panose="020B0604020202020204" pitchFamily="34" charset="0"/>
              </a:rPr>
              <a:t>(x+y)*5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600" b="1" dirty="0">
                <a:latin typeface="Arial" panose="020B0604020202020204" pitchFamily="34" charset="0"/>
              </a:rPr>
              <a:t>&lt;=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 b="1" dirty="0">
                <a:latin typeface="Arial" panose="020B0604020202020204" pitchFamily="34" charset="0"/>
              </a:rPr>
              <a:t>( r – s)/8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600" b="1" dirty="0">
                <a:latin typeface="Arial" panose="020B0604020202020204" pitchFamily="34" charset="0"/>
              </a:rPr>
              <a:t>  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8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5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8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8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8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8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7" grpId="0" animBg="1"/>
      <p:bldP spid="385029" grpId="0"/>
      <p:bldP spid="385030" grpId="0" animBg="1"/>
      <p:bldP spid="385031" grpId="0"/>
      <p:bldP spid="385032" grpId="0" animBg="1"/>
      <p:bldP spid="385033" grpId="0"/>
      <p:bldP spid="385034" grpId="0" animBg="1"/>
      <p:bldP spid="385035" grpId="0" animBg="1"/>
      <p:bldP spid="385036" grpId="0"/>
      <p:bldP spid="385037" grpId="0" animBg="1"/>
      <p:bldP spid="385038" grpId="0"/>
      <p:bldP spid="385041" grpId="0"/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42" name="矩形 8"/>
          <p:cNvSpPr/>
          <p:nvPr/>
        </p:nvSpPr>
        <p:spPr>
          <a:xfrm>
            <a:off x="76200" y="95250"/>
            <a:ext cx="12115800" cy="6370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program  90 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English  60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philosophy  85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mathematics 70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 ){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	float average, sum ;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	average </a:t>
            </a:r>
            <a:r>
              <a:rPr lang="en-US" altLang="zh-CN" sz="2400" b="1" dirty="0">
                <a:solidFill>
                  <a:srgbClr val="FF0000"/>
                </a:solidFill>
              </a:rPr>
              <a:t>=</a:t>
            </a:r>
            <a:r>
              <a:rPr lang="en-US" altLang="zh-CN" sz="2400" b="1" dirty="0"/>
              <a:t>(float) (program+English+philosophy+mathematics)/4;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	printf(“%6.2f \n”, average);//</a:t>
            </a:r>
            <a:r>
              <a:rPr lang="zh-CN" altLang="en-US" sz="2400" b="1" dirty="0"/>
              <a:t>输出算术平均成绩</a:t>
            </a:r>
            <a:r>
              <a:rPr lang="en-US" altLang="zh-CN" sz="2400" b="1" dirty="0"/>
              <a:t>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   	sum</a:t>
            </a:r>
            <a:r>
              <a:rPr lang="en-US" altLang="zh-CN" sz="2400" b="1" dirty="0">
                <a:solidFill>
                  <a:srgbClr val="FF0000"/>
                </a:solidFill>
              </a:rPr>
              <a:t>=</a:t>
            </a:r>
            <a:r>
              <a:rPr lang="en-US" altLang="zh-CN" sz="2400" b="1" dirty="0"/>
              <a:t>4+2+1+3;//</a:t>
            </a:r>
            <a:r>
              <a:rPr lang="zh-CN" altLang="en-US" sz="2400" b="1" dirty="0"/>
              <a:t>计算总学分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/>
              <a:t>	//</a:t>
            </a:r>
            <a:r>
              <a:rPr lang="zh-CN" altLang="en-US" sz="2400" b="1" dirty="0"/>
              <a:t>计算加权平均成绩</a:t>
            </a:r>
            <a:r>
              <a:rPr lang="en-US" altLang="zh-CN" sz="2400" b="1" dirty="0"/>
              <a:t>	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	average</a:t>
            </a:r>
            <a:r>
              <a:rPr lang="en-US" altLang="zh-CN" sz="2400" b="1" dirty="0">
                <a:solidFill>
                  <a:srgbClr val="FF0000"/>
                </a:solidFill>
              </a:rPr>
              <a:t>=</a:t>
            </a:r>
            <a:r>
              <a:rPr lang="en-US" altLang="zh-CN" sz="2400" b="1" dirty="0"/>
              <a:t>(program*4+English*2+philosophy*1+mathematics*3)/sum;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printf(“%6.2f\n”, average); //</a:t>
            </a:r>
            <a:r>
              <a:rPr lang="zh-CN" altLang="en-US" sz="2400" b="1" dirty="0"/>
              <a:t>输出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	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343400" y="95250"/>
            <a:ext cx="2879725" cy="11430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赋值运算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7DACB3-9FF3-45E4-887A-F0BFD56F9F9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4343400" y="1295400"/>
            <a:ext cx="6172200" cy="1570038"/>
          </a:xfrm>
          <a:prstGeom prst="rect">
            <a:avLst/>
          </a:prstGeom>
          <a:noFill/>
          <a:ln w="22225" algn="ctr">
            <a:solidFill>
              <a:srgbClr val="FFFF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一般形式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 = 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是一个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左值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是赋值运算符，由一个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赋值号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组成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是一个表达式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能计算出一个值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0146" name="Rectangle 2"/>
          <p:cNvSpPr>
            <a:spLocks noGrp="1" noChangeArrowheads="1"/>
          </p:cNvSpPr>
          <p:nvPr>
            <p:ph idx="1"/>
          </p:nvPr>
        </p:nvSpPr>
        <p:spPr>
          <a:xfrm>
            <a:off x="17463" y="152400"/>
            <a:ext cx="10955338" cy="655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下述程序片段是正确的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PI 3.1416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float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r,c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r=4.5;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c=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2*PI*r;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//……do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sth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甚至数学上显然不成立的，也是正确的。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n=n+1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其执行结果是将变量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的值加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，得到一个新值，再送入变量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思考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使整数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增加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，并存回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中，你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能写出几种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表达式？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450DA3-19EC-4AE9-B34D-600744D4AC1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>
                                            <p:txEl>
                                              <p:charRg st="8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46">
                                            <p:txEl>
                                              <p:charRg st="88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0146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>
                                            <p:txEl>
                                              <p:charRg st="116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0146">
                                            <p:txEl>
                                              <p:charRg st="116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>
                                            <p:txEl>
                                              <p:charRg st="149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0146">
                                            <p:txEl>
                                              <p:charRg st="149" end="1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2194" name="Rectangle 2"/>
          <p:cNvSpPr>
            <a:spLocks noGrp="1" noChangeArrowheads="1"/>
          </p:cNvSpPr>
          <p:nvPr>
            <p:ph idx="1"/>
          </p:nvPr>
        </p:nvSpPr>
        <p:spPr>
          <a:xfrm>
            <a:off x="0" y="76200"/>
            <a:ext cx="10155555" cy="34975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赋值号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的左端必须是变量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左值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1=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firstnumber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length*width=area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区分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==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	a=1;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  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把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赋值给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a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  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   if(a</a:t>
            </a:r>
            <a:r>
              <a:rPr lang="en-US" altLang="zh-CN" sz="32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==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1) //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判断当前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a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的值是否是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1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04CD80-8CEF-4A63-B2A9-133E4125F3B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724400" y="846138"/>
            <a:ext cx="263525" cy="830262"/>
            <a:chOff x="4967" y="3067"/>
            <a:chExt cx="635" cy="590"/>
          </a:xfrm>
        </p:grpSpPr>
        <p:sp>
          <p:nvSpPr>
            <p:cNvPr id="64518" name="Line 4"/>
            <p:cNvSpPr/>
            <p:nvPr/>
          </p:nvSpPr>
          <p:spPr>
            <a:xfrm>
              <a:off x="4967" y="3067"/>
              <a:ext cx="635" cy="59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19" name="Line 5"/>
            <p:cNvSpPr/>
            <p:nvPr/>
          </p:nvSpPr>
          <p:spPr>
            <a:xfrm flipV="1">
              <a:off x="4967" y="3067"/>
              <a:ext cx="589" cy="59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6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194">
                                            <p:txEl>
                                              <p:charRg st="6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69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2194">
                                            <p:txEl>
                                              <p:charRg st="69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9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2194">
                                            <p:txEl>
                                              <p:charRg st="94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09855"/>
            <a:ext cx="12115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2.2】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赋值表达式的应用：交换两个变量值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P59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 , v2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是同一类型的变量，且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 , v2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都有值，则下述语句序列能否将使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的值互相交换？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8A1FC4-28F0-4792-94D1-2DAA5593CF5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Text Box 4"/>
          <p:cNvSpPr txBox="1"/>
          <p:nvPr/>
        </p:nvSpPr>
        <p:spPr>
          <a:xfrm>
            <a:off x="6672263" y="3505200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1</a:t>
            </a:r>
            <a:r>
              <a:rPr lang="el-GR" altLang="zh-CN" sz="2800" b="1" dirty="0"/>
              <a:t> </a:t>
            </a:r>
            <a:endParaRPr lang="en-US" altLang="zh-CN" sz="2800" b="1" dirty="0"/>
          </a:p>
        </p:txBody>
      </p:sp>
      <p:sp>
        <p:nvSpPr>
          <p:cNvPr id="62470" name="Text Box 5"/>
          <p:cNvSpPr txBox="1"/>
          <p:nvPr/>
        </p:nvSpPr>
        <p:spPr>
          <a:xfrm>
            <a:off x="5880100" y="3611563"/>
            <a:ext cx="8461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v1:</a:t>
            </a:r>
            <a:endParaRPr lang="en-US" altLang="zh-CN" sz="2800" b="1" dirty="0"/>
          </a:p>
        </p:txBody>
      </p:sp>
      <p:sp>
        <p:nvSpPr>
          <p:cNvPr id="68615" name="Text Box 6"/>
          <p:cNvSpPr txBox="1">
            <a:spLocks noChangeArrowheads="1"/>
          </p:cNvSpPr>
          <p:nvPr/>
        </p:nvSpPr>
        <p:spPr bwMode="auto">
          <a:xfrm>
            <a:off x="6726238" y="5919788"/>
            <a:ext cx="1317625" cy="523875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l-GR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2472" name="Text Box 7"/>
          <p:cNvSpPr txBox="1"/>
          <p:nvPr/>
        </p:nvSpPr>
        <p:spPr>
          <a:xfrm>
            <a:off x="5951538" y="5916613"/>
            <a:ext cx="8461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v2:</a:t>
            </a:r>
            <a:endParaRPr lang="en-US" altLang="zh-CN" sz="2800" b="1" dirty="0"/>
          </a:p>
        </p:txBody>
      </p:sp>
      <p:sp>
        <p:nvSpPr>
          <p:cNvPr id="394251" name="Freeform 11"/>
          <p:cNvSpPr/>
          <p:nvPr/>
        </p:nvSpPr>
        <p:spPr>
          <a:xfrm>
            <a:off x="7362825" y="4116388"/>
            <a:ext cx="19050" cy="17827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12" h="1123">
                <a:moveTo>
                  <a:pt x="12" y="1123"/>
                </a:moveTo>
                <a:cubicBezTo>
                  <a:pt x="10" y="1074"/>
                  <a:pt x="4" y="945"/>
                  <a:pt x="3" y="831"/>
                </a:cubicBezTo>
                <a:cubicBezTo>
                  <a:pt x="2" y="717"/>
                  <a:pt x="3" y="577"/>
                  <a:pt x="3" y="439"/>
                </a:cubicBezTo>
                <a:cubicBezTo>
                  <a:pt x="3" y="301"/>
                  <a:pt x="1" y="91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p>
            <a:endParaRPr lang="zh-CN" altLang="en-US"/>
          </a:p>
        </p:txBody>
      </p:sp>
      <p:sp>
        <p:nvSpPr>
          <p:cNvPr id="394252" name="Text Box 12"/>
          <p:cNvSpPr txBox="1"/>
          <p:nvPr/>
        </p:nvSpPr>
        <p:spPr>
          <a:xfrm>
            <a:off x="6683375" y="3517900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2</a:t>
            </a:r>
            <a:r>
              <a:rPr lang="el-GR" altLang="zh-CN" sz="2800" b="1" dirty="0"/>
              <a:t> </a:t>
            </a:r>
            <a:endParaRPr lang="en-US" altLang="zh-CN" sz="2800" b="1" dirty="0"/>
          </a:p>
        </p:txBody>
      </p:sp>
      <p:sp>
        <p:nvSpPr>
          <p:cNvPr id="62475" name="Rectangle 15"/>
          <p:cNvSpPr/>
          <p:nvPr/>
        </p:nvSpPr>
        <p:spPr>
          <a:xfrm>
            <a:off x="5375275" y="3324225"/>
            <a:ext cx="4606925" cy="33051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94257" name="Line 17"/>
          <p:cNvSpPr/>
          <p:nvPr/>
        </p:nvSpPr>
        <p:spPr>
          <a:xfrm>
            <a:off x="2576513" y="4044950"/>
            <a:ext cx="10810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4259" name="Line 19"/>
          <p:cNvSpPr/>
          <p:nvPr/>
        </p:nvSpPr>
        <p:spPr>
          <a:xfrm>
            <a:off x="2576513" y="4683125"/>
            <a:ext cx="10810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4260" name="Rectangle 20"/>
          <p:cNvSpPr>
            <a:spLocks noChangeArrowheads="1"/>
          </p:cNvSpPr>
          <p:nvPr/>
        </p:nvSpPr>
        <p:spPr bwMode="auto">
          <a:xfrm>
            <a:off x="2438400" y="3454400"/>
            <a:ext cx="148272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v1=v2;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62" name="Rectangle 22"/>
          <p:cNvSpPr>
            <a:spLocks noChangeArrowheads="1"/>
          </p:cNvSpPr>
          <p:nvPr/>
        </p:nvSpPr>
        <p:spPr bwMode="auto">
          <a:xfrm>
            <a:off x="2479675" y="4159250"/>
            <a:ext cx="148272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v2=v1;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3"/>
          <p:cNvGrpSpPr/>
          <p:nvPr/>
        </p:nvGrpSpPr>
        <p:grpSpPr>
          <a:xfrm>
            <a:off x="2022475" y="3751263"/>
            <a:ext cx="2397125" cy="931862"/>
            <a:chOff x="4014" y="3475"/>
            <a:chExt cx="590" cy="454"/>
          </a:xfrm>
        </p:grpSpPr>
        <p:sp>
          <p:nvSpPr>
            <p:cNvPr id="62481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2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114300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tmp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v1,v2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同一类型的变量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，下述语句序列将使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的值互相交换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C3BE47-2CDC-4394-B62B-EAF64F885A7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Text Box 4"/>
          <p:cNvSpPr txBox="1"/>
          <p:nvPr/>
        </p:nvSpPr>
        <p:spPr>
          <a:xfrm>
            <a:off x="6672263" y="3505200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1</a:t>
            </a:r>
            <a:r>
              <a:rPr lang="el-GR" altLang="zh-CN" sz="2800" b="1" dirty="0"/>
              <a:t> </a:t>
            </a:r>
            <a:endParaRPr lang="en-US" altLang="zh-CN" sz="2800" b="1" dirty="0"/>
          </a:p>
        </p:txBody>
      </p:sp>
      <p:sp>
        <p:nvSpPr>
          <p:cNvPr id="64517" name="Text Box 5"/>
          <p:cNvSpPr txBox="1"/>
          <p:nvPr/>
        </p:nvSpPr>
        <p:spPr>
          <a:xfrm>
            <a:off x="5880100" y="3611563"/>
            <a:ext cx="8461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v1:</a:t>
            </a:r>
            <a:endParaRPr lang="en-US" altLang="zh-CN" sz="2800" b="1" dirty="0"/>
          </a:p>
        </p:txBody>
      </p:sp>
      <p:sp>
        <p:nvSpPr>
          <p:cNvPr id="64518" name="Text Box 6"/>
          <p:cNvSpPr txBox="1"/>
          <p:nvPr/>
        </p:nvSpPr>
        <p:spPr>
          <a:xfrm>
            <a:off x="6765925" y="5897563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2</a:t>
            </a:r>
            <a:endParaRPr lang="el-GR" altLang="zh-CN" sz="2800" b="1" dirty="0">
              <a:ea typeface="Arial" panose="020B0604020202020204" pitchFamily="34" charset="0"/>
            </a:endParaRPr>
          </a:p>
        </p:txBody>
      </p:sp>
      <p:sp>
        <p:nvSpPr>
          <p:cNvPr id="64519" name="Text Box 7"/>
          <p:cNvSpPr txBox="1"/>
          <p:nvPr/>
        </p:nvSpPr>
        <p:spPr>
          <a:xfrm>
            <a:off x="5951538" y="5916613"/>
            <a:ext cx="8461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v2:</a:t>
            </a:r>
            <a:endParaRPr lang="en-US" altLang="zh-CN" sz="2800" b="1" dirty="0"/>
          </a:p>
        </p:txBody>
      </p:sp>
      <p:sp>
        <p:nvSpPr>
          <p:cNvPr id="394248" name="Text Box 8"/>
          <p:cNvSpPr txBox="1"/>
          <p:nvPr/>
        </p:nvSpPr>
        <p:spPr>
          <a:xfrm>
            <a:off x="8451850" y="4695825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64521" name="Text Box 9"/>
          <p:cNvSpPr txBox="1"/>
          <p:nvPr/>
        </p:nvSpPr>
        <p:spPr>
          <a:xfrm>
            <a:off x="7553960" y="4692650"/>
            <a:ext cx="10439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tmp:</a:t>
            </a:r>
            <a:endParaRPr lang="en-US" altLang="zh-CN" sz="2800" b="1" dirty="0"/>
          </a:p>
        </p:txBody>
      </p:sp>
      <p:sp>
        <p:nvSpPr>
          <p:cNvPr id="394250" name="Freeform 10"/>
          <p:cNvSpPr/>
          <p:nvPr/>
        </p:nvSpPr>
        <p:spPr>
          <a:xfrm>
            <a:off x="8031163" y="3792538"/>
            <a:ext cx="1106487" cy="90011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697" h="567">
                <a:moveTo>
                  <a:pt x="0" y="17"/>
                </a:moveTo>
                <a:cubicBezTo>
                  <a:pt x="82" y="16"/>
                  <a:pt x="381" y="4"/>
                  <a:pt x="492" y="17"/>
                </a:cubicBezTo>
                <a:cubicBezTo>
                  <a:pt x="603" y="30"/>
                  <a:pt x="639" y="0"/>
                  <a:pt x="668" y="92"/>
                </a:cubicBezTo>
                <a:cubicBezTo>
                  <a:pt x="697" y="184"/>
                  <a:pt x="668" y="468"/>
                  <a:pt x="668" y="567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p>
            <a:endParaRPr lang="zh-CN" altLang="en-US"/>
          </a:p>
        </p:txBody>
      </p:sp>
      <p:sp>
        <p:nvSpPr>
          <p:cNvPr id="394251" name="Freeform 11"/>
          <p:cNvSpPr/>
          <p:nvPr/>
        </p:nvSpPr>
        <p:spPr>
          <a:xfrm>
            <a:off x="7362825" y="4116388"/>
            <a:ext cx="19050" cy="17827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12" h="1123">
                <a:moveTo>
                  <a:pt x="12" y="1123"/>
                </a:moveTo>
                <a:cubicBezTo>
                  <a:pt x="10" y="1074"/>
                  <a:pt x="4" y="945"/>
                  <a:pt x="3" y="831"/>
                </a:cubicBezTo>
                <a:cubicBezTo>
                  <a:pt x="2" y="717"/>
                  <a:pt x="3" y="577"/>
                  <a:pt x="3" y="439"/>
                </a:cubicBezTo>
                <a:cubicBezTo>
                  <a:pt x="3" y="301"/>
                  <a:pt x="1" y="91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lg" len="lg"/>
          </a:ln>
        </p:spPr>
        <p:txBody>
          <a:bodyPr/>
          <a:p>
            <a:endParaRPr lang="zh-CN" altLang="en-US"/>
          </a:p>
        </p:txBody>
      </p:sp>
      <p:sp>
        <p:nvSpPr>
          <p:cNvPr id="394252" name="Text Box 12"/>
          <p:cNvSpPr txBox="1"/>
          <p:nvPr/>
        </p:nvSpPr>
        <p:spPr>
          <a:xfrm>
            <a:off x="6683375" y="3517900"/>
            <a:ext cx="1317625" cy="523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2</a:t>
            </a:r>
            <a:r>
              <a:rPr lang="el-GR" altLang="zh-CN" sz="2800" b="1" dirty="0"/>
              <a:t> </a:t>
            </a:r>
            <a:endParaRPr lang="en-US" altLang="zh-CN" sz="2800" b="1" dirty="0"/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6959600" y="5988050"/>
            <a:ext cx="936625" cy="3603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l-GR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54" name="Freeform 14"/>
          <p:cNvSpPr/>
          <p:nvPr/>
        </p:nvSpPr>
        <p:spPr>
          <a:xfrm>
            <a:off x="8083550" y="5246688"/>
            <a:ext cx="1101725" cy="9779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694" h="616">
                <a:moveTo>
                  <a:pt x="0" y="611"/>
                </a:moveTo>
                <a:cubicBezTo>
                  <a:pt x="88" y="608"/>
                  <a:pt x="413" y="616"/>
                  <a:pt x="526" y="595"/>
                </a:cubicBezTo>
                <a:cubicBezTo>
                  <a:pt x="639" y="574"/>
                  <a:pt x="658" y="585"/>
                  <a:pt x="676" y="486"/>
                </a:cubicBezTo>
                <a:cubicBezTo>
                  <a:pt x="694" y="387"/>
                  <a:pt x="641" y="101"/>
                  <a:pt x="632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arrow" w="lg" len="lg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7" name="Rectangle 15"/>
          <p:cNvSpPr/>
          <p:nvPr/>
        </p:nvSpPr>
        <p:spPr>
          <a:xfrm>
            <a:off x="5375275" y="3324225"/>
            <a:ext cx="4606925" cy="33051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394256" name="Text Box 16"/>
          <p:cNvSpPr txBox="1"/>
          <p:nvPr/>
        </p:nvSpPr>
        <p:spPr>
          <a:xfrm>
            <a:off x="6951663" y="5907088"/>
            <a:ext cx="817562" cy="412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1</a:t>
            </a:r>
            <a:endParaRPr lang="el-GR" altLang="zh-CN" sz="2800" b="1" dirty="0">
              <a:solidFill>
                <a:srgbClr val="FFC000"/>
              </a:solidFill>
            </a:endParaRPr>
          </a:p>
        </p:txBody>
      </p:sp>
      <p:sp>
        <p:nvSpPr>
          <p:cNvPr id="394257" name="Line 17"/>
          <p:cNvSpPr/>
          <p:nvPr/>
        </p:nvSpPr>
        <p:spPr>
          <a:xfrm>
            <a:off x="2576513" y="4044950"/>
            <a:ext cx="10810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4258" name="Line 18"/>
          <p:cNvSpPr/>
          <p:nvPr/>
        </p:nvSpPr>
        <p:spPr>
          <a:xfrm>
            <a:off x="2576513" y="4619625"/>
            <a:ext cx="10810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4259" name="Line 19"/>
          <p:cNvSpPr/>
          <p:nvPr/>
        </p:nvSpPr>
        <p:spPr>
          <a:xfrm>
            <a:off x="2576513" y="5195888"/>
            <a:ext cx="1081087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4260" name="Rectangle 20"/>
          <p:cNvSpPr>
            <a:spLocks noChangeArrowheads="1"/>
          </p:cNvSpPr>
          <p:nvPr/>
        </p:nvSpPr>
        <p:spPr bwMode="auto">
          <a:xfrm>
            <a:off x="2438400" y="3454400"/>
            <a:ext cx="174561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tmp=v1;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61" name="Rectangle 21"/>
          <p:cNvSpPr>
            <a:spLocks noChangeArrowheads="1"/>
          </p:cNvSpPr>
          <p:nvPr/>
        </p:nvSpPr>
        <p:spPr bwMode="auto">
          <a:xfrm>
            <a:off x="2438400" y="4064000"/>
            <a:ext cx="148272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v1=v2;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62" name="Rectangle 22"/>
          <p:cNvSpPr>
            <a:spLocks noChangeArrowheads="1"/>
          </p:cNvSpPr>
          <p:nvPr/>
        </p:nvSpPr>
        <p:spPr bwMode="auto">
          <a:xfrm>
            <a:off x="2414588" y="4673600"/>
            <a:ext cx="174561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v2=tmp;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424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394253" grpId="0" animBg="1"/>
      <p:bldP spid="39425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" y="0"/>
            <a:ext cx="9144000" cy="64579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§2.2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基本符号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P45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C5C2-E9D9-4FA0-8E80-C8A20F64988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1" name="AutoShape 5">
            <a:hlinkClick r:id="rId1" action="ppaction://hlinksldjump"/>
          </p:cNvPr>
          <p:cNvSpPr/>
          <p:nvPr/>
        </p:nvSpPr>
        <p:spPr>
          <a:xfrm>
            <a:off x="11626850" y="6359525"/>
            <a:ext cx="533400" cy="457200"/>
          </a:xfrm>
          <a:prstGeom prst="actionButtonBeginning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66564" name="矩形 5"/>
          <p:cNvSpPr/>
          <p:nvPr/>
        </p:nvSpPr>
        <p:spPr>
          <a:xfrm>
            <a:off x="152400" y="645478"/>
            <a:ext cx="10658475" cy="6370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program  90 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English  60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philosophy  85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mathematics 70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int main( ){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float average, sum ;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average =(float) 			(program+English+philosophy+mathematics)/4;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   printf(“%6.2f \n”, average);//</a:t>
            </a:r>
            <a:r>
              <a:rPr lang="zh-CN" altLang="en-US" sz="2000" b="1" dirty="0"/>
              <a:t>输出算术平均成绩</a:t>
            </a:r>
            <a:r>
              <a:rPr lang="en-US" altLang="zh-CN" sz="2400" b="1" dirty="0"/>
              <a:t>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sum=4+2+1+3;//</a:t>
            </a:r>
            <a:r>
              <a:rPr lang="zh-CN" altLang="en-US" sz="2400" b="1" dirty="0"/>
              <a:t>计算总学分</a:t>
            </a:r>
            <a:r>
              <a:rPr lang="en-US" altLang="zh-CN" sz="2400" b="1" dirty="0"/>
              <a:t>	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   average=(program*4+English*2+philosophy*1+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		mathematics*3) / sum;    //</a:t>
            </a:r>
            <a:r>
              <a:rPr lang="zh-CN" altLang="en-US" sz="2000" b="1" dirty="0"/>
              <a:t>计算加权平均成绩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   printf(“%6.2f\n”, average); //</a:t>
            </a:r>
            <a:r>
              <a:rPr lang="zh-CN" altLang="en-US" sz="2000" b="1" dirty="0"/>
              <a:t>输出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   return 0;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}</a:t>
            </a:r>
            <a:endParaRPr lang="zh-CN" altLang="en-US" sz="2000" b="1" dirty="0"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0" y="609283"/>
            <a:ext cx="91440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最常用的字符集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——ASCII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P400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-76200" y="1752600"/>
            <a:ext cx="10210800" cy="4937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ASCII(The American Standard Code for Information Interchange)(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附录一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可视字符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字母字符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a~z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A~Z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数字字符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:0~9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特殊字符：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# +   -  *   /   { }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不可视字符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文本控制符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介质控制符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等等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AEC739-A18C-48B8-A149-F4251A6D25E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标题 1"/>
          <p:cNvSpPr>
            <a:spLocks noGrp="1"/>
          </p:cNvSpPr>
          <p:nvPr/>
        </p:nvSpPr>
        <p:spPr>
          <a:xfrm>
            <a:off x="0" y="0"/>
            <a:ext cx="5507355" cy="606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normAutofit fontScale="7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§2.2.1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基本符号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字符集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charRg st="7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8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7">
                                            <p:txEl>
                                              <p:charRg st="8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7">
                                            <p:txEl>
                                              <p:charRg st="8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9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charRg st="9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charRg st="9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1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27">
                                            <p:txEl>
                                              <p:charRg st="131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charRg st="131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7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4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627">
                                            <p:txEl>
                                              <p:charRg st="14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627">
                                            <p:txEl>
                                              <p:charRg st="14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8959850" y="0"/>
            <a:ext cx="3217863" cy="725488"/>
          </a:xfrm>
          <a:ln>
            <a:solidFill>
              <a:srgbClr val="FFFF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最常用的字符集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——ASCII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P400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20650" y="0"/>
            <a:ext cx="4411663" cy="1447800"/>
          </a:xfrm>
          <a:solidFill>
            <a:srgbClr val="00FFFF"/>
          </a:solidFill>
          <a:ln w="19050">
            <a:solidFill>
              <a:schemeClr val="bg2">
                <a:lumMod val="75000"/>
              </a:schemeClr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每个字符有两种形态：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可视形态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存储形态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01000001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		     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二进制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2970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6E81CE-56B5-4FAF-B9B5-A6202EAE23D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2400" y="990600"/>
          <a:ext cx="11887202" cy="56959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1172"/>
                <a:gridCol w="1116603"/>
                <a:gridCol w="1116603"/>
                <a:gridCol w="1116603"/>
                <a:gridCol w="1116603"/>
                <a:gridCol w="1116603"/>
                <a:gridCol w="1116603"/>
                <a:gridCol w="1116603"/>
                <a:gridCol w="1116603"/>
                <a:gridCol w="1116603"/>
                <a:gridCol w="1116603"/>
              </a:tblGrid>
              <a:tr h="447104">
                <a:tc gridSpan="1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effectLst/>
                          <a:latin typeface="+mn-lt"/>
                          <a:ea typeface="+mn-ea"/>
                        </a:rPr>
                        <a:t>      ACSII</a:t>
                      </a:r>
                      <a:r>
                        <a:rPr lang="zh-CN" sz="1900" b="1" kern="100" dirty="0">
                          <a:effectLst/>
                          <a:latin typeface="+mn-lt"/>
                          <a:ea typeface="+mn-ea"/>
                        </a:rPr>
                        <a:t>字符集（按十进制编码）</a:t>
                      </a:r>
                      <a:endParaRPr lang="zh-CN" sz="1900" b="1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 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0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zh-CN" sz="1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0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nul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soh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stx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etx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eot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enq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ack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bell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bs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ht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</a:rPr>
                        <a:t>lf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vt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ff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cr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so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si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dle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dc1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dc2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dc3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dc4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nak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syn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etb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can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em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sub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esc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fs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gs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rs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us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!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"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#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$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%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&amp;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'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(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*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+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,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.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/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  <a:latin typeface="+mn-lt"/>
                          <a:ea typeface="+mn-ea"/>
                        </a:rPr>
                        <a:t>：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  <a:latin typeface="+mn-lt"/>
                          <a:ea typeface="+mn-ea"/>
                        </a:rPr>
                        <a:t>；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&lt; 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=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&gt; 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?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@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B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C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D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E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F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G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H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I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J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K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L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M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N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O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P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Q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R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S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T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U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V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W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X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Y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zh-CN" sz="1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[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\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]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^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_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` 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b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c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10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d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e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f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g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h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  <a:latin typeface="+mn-lt"/>
                          <a:ea typeface="+mn-ea"/>
                        </a:rPr>
                        <a:t>i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j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k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l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m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292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11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n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o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p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q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r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s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t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u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v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w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  <a:endParaRPr lang="zh-CN" sz="1900" b="1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x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y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zh-CN" sz="2800" kern="1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9" marR="685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{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|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}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~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del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  <a:latin typeface="+mn-lt"/>
                          <a:ea typeface="+mn-ea"/>
                        </a:rPr>
                        <a:t> </a:t>
                      </a:r>
                      <a:endParaRPr lang="zh-CN" sz="19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  <a:latin typeface="+mn-lt"/>
                          <a:ea typeface="+mn-ea"/>
                        </a:rPr>
                        <a:t> </a:t>
                      </a:r>
                      <a:endParaRPr lang="zh-CN" sz="19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68589" marR="68589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语言使用的字符集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19200"/>
            <a:ext cx="10668000" cy="548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ASCII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的一个子集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字母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A  B  C  D  E  F  G  H   I   J  K  L  M  N  O  P  Q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R  S  T  U  V  W  X  Y  Z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a   b  c   d   e  f   g   h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j   k  l   m  n   o   p  q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r    s  t    u   v  w  x   y  z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数字字符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0  1  2  3  4  5  6  7  8  9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特殊字符（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个）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   #   %  ^   &amp;   *    (    _    )     -   +    =    ~     [     ]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ʹ    |    \    ;    :    ʺ    {     }    ,     .    &lt;    &gt;    /     ?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2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D536F2-415F-4530-87D7-A99BB954548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1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1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charRg st="7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charRg st="7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3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charRg st="113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charRg st="113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18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18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9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229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229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6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276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276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53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charRg st="353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charRg st="353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C5C2-E9D9-4FA0-8E80-C8A20F64988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0" name="Rectangle 3"/>
          <p:cNvSpPr/>
          <p:nvPr/>
        </p:nvSpPr>
        <p:spPr>
          <a:xfrm>
            <a:off x="381000" y="762000"/>
            <a:ext cx="7456170" cy="3505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endParaRPr lang="en-US" altLang="zh-CN" b="1" dirty="0">
              <a:latin typeface="Arial" panose="020B0604020202020204" pitchFamily="34" charset="0"/>
            </a:endParaRPr>
          </a:p>
          <a:p>
            <a:pPr marL="342900" lvl="0" indent="-342900" eaLnBrk="1" hangingPunct="1"/>
            <a:r>
              <a:rPr lang="zh-CN" altLang="en-US" b="1" dirty="0">
                <a:latin typeface="Arial" panose="020B0604020202020204" pitchFamily="34" charset="0"/>
              </a:rPr>
              <a:t>词法单元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742950" lvl="1" indent="-285750" eaLnBrk="1" hangingPunct="1"/>
            <a:r>
              <a:rPr lang="en-US" altLang="zh-CN" b="1" dirty="0">
                <a:latin typeface="Arial" panose="020B0604020202020204" pitchFamily="34" charset="0"/>
                <a:hlinkClick r:id="rId1" action="ppaction://hlinksldjump"/>
              </a:rPr>
              <a:t>C</a:t>
            </a:r>
            <a:r>
              <a:rPr lang="zh-CN" altLang="en-US" b="1" dirty="0">
                <a:latin typeface="Arial" panose="020B0604020202020204" pitchFamily="34" charset="0"/>
                <a:hlinkClick r:id="rId1" action="ppaction://hlinksldjump"/>
              </a:rPr>
              <a:t>特定符</a:t>
            </a:r>
            <a:r>
              <a:rPr lang="zh-CN" altLang="en-US" b="1" dirty="0">
                <a:latin typeface="Arial" panose="020B0604020202020204" pitchFamily="34" charset="0"/>
              </a:rPr>
              <a:t>：关键字、分隔符、运算符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Arial" panose="020B0604020202020204" pitchFamily="34" charset="0"/>
                <a:hlinkClick r:id="rId2" action="ppaction://hlinksldjump"/>
              </a:rPr>
              <a:t>标识符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Arial" panose="020B0604020202020204" pitchFamily="34" charset="0"/>
                <a:hlinkClick r:id="rId3" action="ppaction://hlinksldjump"/>
              </a:rPr>
              <a:t>间隔符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342900" lvl="0" indent="-342900" eaLnBrk="1" hangingPunct="1"/>
            <a:r>
              <a:rPr lang="zh-CN" altLang="en-US" b="1" dirty="0">
                <a:latin typeface="Arial" panose="020B0604020202020204" pitchFamily="34" charset="0"/>
                <a:hlinkClick r:id="rId4" action="ppaction://hlinksldjump"/>
              </a:rPr>
              <a:t>注释</a:t>
            </a:r>
            <a:r>
              <a:rPr lang="zh-CN" altLang="en-US" b="1" dirty="0">
                <a:latin typeface="Arial" panose="020B0604020202020204" pitchFamily="34" charset="0"/>
                <a:sym typeface="Wingdings" panose="05000000000000000000" pitchFamily="2" charset="2"/>
              </a:rPr>
              <a:t>     </a:t>
            </a:r>
            <a:endParaRPr lang="zh-CN" altLang="en-US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5541" name="AutoShape 5">
            <a:hlinkClick r:id="rId5" action="ppaction://hlinksldjump"/>
          </p:cNvPr>
          <p:cNvSpPr/>
          <p:nvPr/>
        </p:nvSpPr>
        <p:spPr>
          <a:xfrm>
            <a:off x="11626850" y="6359525"/>
            <a:ext cx="533400" cy="457200"/>
          </a:xfrm>
          <a:prstGeom prst="actionButtonBeginning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0" y="117475"/>
            <a:ext cx="12192000" cy="63706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  program  90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  English  60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  philosophy  85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define  mathematics 70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main( 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	float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sum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average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(float) 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program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English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philosophy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mathematics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(“%6.2f \n”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average)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输出算术平均成绩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	 sum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计算总学分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计算加权平均成绩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	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(program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English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philosophy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mathematics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(“%6.2f\n”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average)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	return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-33337"/>
            <a:ext cx="8458200" cy="11430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§2.2.2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特定符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P46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3A9486-ADD5-479C-8E9B-50DA4488669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4964430" y="1109980"/>
            <a:ext cx="7228205" cy="1076325"/>
          </a:xfrm>
          <a:prstGeom prst="rect">
            <a:avLst/>
          </a:prstGeom>
          <a:noFill/>
          <a:ln w="25400" algn="ctr">
            <a:solidFill>
              <a:srgbClr val="FFFF00"/>
            </a:solidFill>
            <a:prstDash val="dash"/>
            <a:miter lim="800000"/>
          </a:ln>
          <a:effectLst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这些符号在程序中有特定的含义，统称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特定符</a:t>
            </a:r>
            <a:r>
              <a:rPr kumimoji="0" lang="zh-CN" altLang="en-US" sz="3200" b="1" i="0" u="none" strike="noStrike" kern="1200" cap="none" spc="0" normalizeH="0" baseline="0" dirty="0">
                <a:latin typeface="Arial" panose="020B0604020202020204" pitchFamily="34" charset="0"/>
                <a:cs typeface="+mn-cs"/>
              </a:rPr>
              <a:t>（</a:t>
            </a:r>
            <a:r>
              <a:rPr lang="zh-CN" altLang="en-US" sz="3200" dirty="0">
                <a:latin typeface="Arial" panose="020B0604020202020204" pitchFamily="34" charset="0"/>
                <a:sym typeface="+mn-ea"/>
              </a:rPr>
              <a:t>关键字、分隔符、运算符）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612775"/>
            <a:ext cx="1097280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关键字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524000"/>
            <a:ext cx="12115800" cy="415766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auto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default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enum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extern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goto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long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register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short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signed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sizeof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static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typedef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union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unsigned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volatile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C99: bool,  _complex, _imaginary,  _restrict, inline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红色：数据类型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绿色：控制结构相关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B2247-18E9-41BF-A3F2-6AAEA71EEE8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4" name="矩形 1"/>
          <p:cNvSpPr/>
          <p:nvPr/>
        </p:nvSpPr>
        <p:spPr>
          <a:xfrm>
            <a:off x="7080250" y="769938"/>
            <a:ext cx="4921250" cy="314325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1" indent="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/>
              <a:t>拼写是固定，并具有特殊的独立的含义及作用</a:t>
            </a:r>
            <a:endParaRPr lang="en-US" altLang="zh-CN" sz="1800" b="1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3" y="228600"/>
            <a:ext cx="10972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分隔符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1554163" y="1401763"/>
            <a:ext cx="8275638" cy="91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   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[  ]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}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: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158163" y="6202363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DD83C8-70FF-4E84-899A-0DB254D9B4D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0388" name="Rectangle 4"/>
          <p:cNvSpPr>
            <a:spLocks noChangeArrowheads="1"/>
          </p:cNvSpPr>
          <p:nvPr/>
        </p:nvSpPr>
        <p:spPr bwMode="auto">
          <a:xfrm>
            <a:off x="1477963" y="2849563"/>
            <a:ext cx="8207375" cy="3505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运算符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!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^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	~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		.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	&gt;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? :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+=	 -=	*=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/=	%=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&lt;&lt;=	&gt;&gt;=	&amp;=	^=	|=	-&gt;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++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	&lt;&lt;	&gt;&gt;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&lt;=	&gt;=	==	!=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&amp;&amp;	||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3" name="矩形 1"/>
          <p:cNvSpPr/>
          <p:nvPr/>
        </p:nvSpPr>
        <p:spPr>
          <a:xfrm>
            <a:off x="6659880" y="685800"/>
            <a:ext cx="2723515" cy="31242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1" indent="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/>
              <a:t>一个字符组成的特殊符号 </a:t>
            </a:r>
            <a:endParaRPr lang="en-US" altLang="zh-CN" sz="1800" b="1" dirty="0"/>
          </a:p>
        </p:txBody>
      </p:sp>
      <p:sp>
        <p:nvSpPr>
          <p:cNvPr id="75784" name="矩形 2"/>
          <p:cNvSpPr/>
          <p:nvPr/>
        </p:nvSpPr>
        <p:spPr>
          <a:xfrm>
            <a:off x="6572250" y="3068638"/>
            <a:ext cx="3438525" cy="314325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1" indent="0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zh-CN" altLang="en-US" sz="1800" b="1" dirty="0"/>
              <a:t>一个或多个字符组成的特殊符号</a:t>
            </a:r>
            <a:endParaRPr lang="zh-CN" altLang="en-US" sz="1800" b="1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441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84E881-43C7-44F9-80DF-EA899F31508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7828" name="图片 3"/>
          <p:cNvPicPr>
            <a:picLocks noChangeAspect="1"/>
          </p:cNvPicPr>
          <p:nvPr/>
        </p:nvPicPr>
        <p:blipFill>
          <a:blip r:embed="rId1"/>
          <a:srcRect l="-682" t="-1515" r="682" b="48486"/>
          <a:stretch>
            <a:fillRect/>
          </a:stretch>
        </p:blipFill>
        <p:spPr>
          <a:xfrm>
            <a:off x="1447800" y="730250"/>
            <a:ext cx="9213850" cy="2730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56061"/>
          <a:stretch>
            <a:fillRect/>
          </a:stretch>
        </p:blipFill>
        <p:spPr>
          <a:xfrm>
            <a:off x="1524000" y="3460750"/>
            <a:ext cx="9144000" cy="33972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1203A1-2CE9-4FA3-AD2C-C85F34F8255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987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088" y="766763"/>
            <a:ext cx="9128125" cy="5954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-76200"/>
            <a:ext cx="4419600" cy="842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矩形 7"/>
          <p:cNvSpPr/>
          <p:nvPr/>
        </p:nvSpPr>
        <p:spPr>
          <a:xfrm>
            <a:off x="0" y="457200"/>
            <a:ext cx="12192000" cy="6062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#include &lt;stdio.h&gt;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 </a:t>
            </a:r>
            <a:r>
              <a:rPr lang="en-US" altLang="zh-CN" sz="2000" b="1" dirty="0">
                <a:solidFill>
                  <a:srgbClr val="FF0000"/>
                </a:solidFill>
              </a:rPr>
              <a:t>program </a:t>
            </a:r>
            <a:r>
              <a:rPr lang="en-US" altLang="zh-CN" sz="2000" b="1" dirty="0"/>
              <a:t> 90 </a:t>
            </a:r>
            <a:endParaRPr lang="zh-CN" altLang="en-US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 </a:t>
            </a:r>
            <a:r>
              <a:rPr lang="en-US" altLang="zh-CN" sz="2000" b="1" dirty="0">
                <a:solidFill>
                  <a:srgbClr val="FF0000"/>
                </a:solidFill>
              </a:rPr>
              <a:t>English</a:t>
            </a:r>
            <a:r>
              <a:rPr lang="en-US" altLang="zh-CN" sz="2000" b="1" dirty="0"/>
              <a:t>  60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 </a:t>
            </a:r>
            <a:r>
              <a:rPr lang="en-US" altLang="zh-CN" sz="2000" b="1" dirty="0">
                <a:solidFill>
                  <a:srgbClr val="FF0000"/>
                </a:solidFill>
              </a:rPr>
              <a:t>philosophy</a:t>
            </a:r>
            <a:r>
              <a:rPr lang="en-US" altLang="zh-CN" sz="2000" b="1" dirty="0"/>
              <a:t>  85	</a:t>
            </a:r>
            <a:endParaRPr lang="zh-CN" altLang="en-US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 </a:t>
            </a:r>
            <a:r>
              <a:rPr lang="en-US" altLang="zh-CN" sz="2000" b="1" dirty="0">
                <a:solidFill>
                  <a:srgbClr val="FF0000"/>
                </a:solidFill>
              </a:rPr>
              <a:t>mathematics</a:t>
            </a:r>
            <a:r>
              <a:rPr lang="en-US" altLang="zh-CN" sz="2000" b="1" dirty="0"/>
              <a:t> 70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 ){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float </a:t>
            </a:r>
            <a:r>
              <a:rPr lang="en-US" altLang="zh-CN" sz="2400" b="1" dirty="0">
                <a:solidFill>
                  <a:srgbClr val="FF0000"/>
                </a:solidFill>
              </a:rPr>
              <a:t>average, sum </a:t>
            </a:r>
            <a:r>
              <a:rPr lang="en-US" altLang="zh-CN" sz="2400" b="1" dirty="0"/>
              <a:t>;	</a:t>
            </a:r>
            <a:endParaRPr lang="zh-CN" altLang="en-US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average =(float) (program+English+philosophy+mathematics)/4; 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printf(“%6.2f \n”, average);//</a:t>
            </a:r>
            <a:r>
              <a:rPr lang="zh-CN" altLang="en-US" sz="2400" b="1" dirty="0"/>
              <a:t>输出算术平均成绩</a:t>
            </a:r>
            <a:r>
              <a:rPr lang="en-US" altLang="zh-CN" sz="2400" b="1" dirty="0"/>
              <a:t>	</a:t>
            </a:r>
            <a:endParaRPr lang="zh-CN" altLang="en-US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sum=4+2+1+3;//</a:t>
            </a:r>
            <a:r>
              <a:rPr lang="zh-CN" altLang="en-US" sz="2400" b="1" dirty="0"/>
              <a:t>计算总学分</a:t>
            </a:r>
            <a:r>
              <a:rPr lang="en-US" altLang="zh-CN" sz="2400" b="1" dirty="0"/>
              <a:t>	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average=(program*4+English*2+philosophy*1+mathematics*3) / sum; 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	printf(“%6.2f\n”, average); //</a:t>
            </a:r>
            <a:r>
              <a:rPr lang="zh-CN" altLang="en-US" sz="2400" b="1" dirty="0"/>
              <a:t>输出</a:t>
            </a:r>
            <a:endParaRPr lang="en-US" altLang="zh-CN" sz="2400" b="1" dirty="0"/>
          </a:p>
          <a:p>
            <a:pPr marL="742950" lvl="1" indent="-285750" eaLnBrk="1" hangingPunct="1">
              <a:spcBef>
                <a:spcPct val="0"/>
              </a:spcBef>
              <a:buClrTx/>
              <a:buNone/>
            </a:pPr>
            <a:r>
              <a:rPr lang="en-US" altLang="zh-CN" sz="2400" b="1" dirty="0"/>
              <a:t>   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347200" y="59436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10C854-4EE3-4CE4-BF0C-8EB68170F26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4572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§2.2.3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标识符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(identifier)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P47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j-ea"/>
                <a:cs typeface="+mj-cs"/>
              </a:rPr>
              <a:t>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名字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733800" y="661988"/>
            <a:ext cx="6400800" cy="1200150"/>
          </a:xfrm>
          <a:prstGeom prst="rect">
            <a:avLst/>
          </a:prstGeom>
          <a:noFill/>
          <a:ln w="9525">
            <a:solidFill>
              <a:srgbClr val="FFFF00"/>
            </a:solidFill>
            <a:prstDash val="dash"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用来表示程序中出现的对象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如：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E70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变量、常量、函数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6FB492-F3A3-4D04-B1D2-D511587C93E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06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457200"/>
            <a:ext cx="8820150" cy="4924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标识符的构成规则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Abc_34	     _age	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the_total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WG4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2forthemoney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Case on hand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Over&amp;&amp;under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624263" y="3633788"/>
            <a:ext cx="361950" cy="331787"/>
            <a:chOff x="4014" y="3475"/>
            <a:chExt cx="590" cy="454"/>
          </a:xfrm>
        </p:grpSpPr>
        <p:sp>
          <p:nvSpPr>
            <p:cNvPr id="23565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6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6"/>
          <p:cNvGrpSpPr/>
          <p:nvPr/>
        </p:nvGrpSpPr>
        <p:grpSpPr>
          <a:xfrm>
            <a:off x="3606800" y="4068763"/>
            <a:ext cx="379413" cy="331787"/>
            <a:chOff x="4014" y="3475"/>
            <a:chExt cx="590" cy="454"/>
          </a:xfrm>
        </p:grpSpPr>
        <p:sp>
          <p:nvSpPr>
            <p:cNvPr id="23563" name="Line 7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4" name="Line 8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9"/>
          <p:cNvGrpSpPr/>
          <p:nvPr/>
        </p:nvGrpSpPr>
        <p:grpSpPr>
          <a:xfrm>
            <a:off x="3616325" y="4652963"/>
            <a:ext cx="361950" cy="331787"/>
            <a:chOff x="4014" y="3475"/>
            <a:chExt cx="590" cy="454"/>
          </a:xfrm>
        </p:grpSpPr>
        <p:sp>
          <p:nvSpPr>
            <p:cNvPr id="23561" name="Line 1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2" name="Line 1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5517" name="Text Box 13"/>
          <p:cNvSpPr txBox="1">
            <a:spLocks noChangeArrowheads="1"/>
          </p:cNvSpPr>
          <p:nvPr/>
        </p:nvSpPr>
        <p:spPr bwMode="auto">
          <a:xfrm>
            <a:off x="133350" y="1038225"/>
            <a:ext cx="7555230" cy="58356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以字母或</a:t>
            </a:r>
            <a:r>
              <a:rPr kumimoji="0" lang="en-US" altLang="zh-CN" sz="3200" kern="1200" cap="none" spc="0" normalizeH="0" baseline="0" noProof="0" dirty="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en-US" altLang="zh-CN" sz="32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_</a:t>
            </a:r>
            <a:r>
              <a:rPr kumimoji="0" lang="en-US" altLang="zh-CN" sz="3200" kern="1200" cap="none" spc="0" normalizeH="0" baseline="0" noProof="0" dirty="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开头的 </a:t>
            </a:r>
            <a:r>
              <a:rPr kumimoji="0" lang="zh-CN" altLang="en-US" sz="32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字母、</a:t>
            </a:r>
            <a:r>
              <a:rPr kumimoji="0" lang="en-US" altLang="zh-CN" sz="3200" kern="1200" cap="none" spc="0" normalizeH="0" baseline="0" noProof="0" dirty="0">
                <a:solidFill>
                  <a:srgbClr val="FFFF00"/>
                </a:solidFill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en-US" altLang="zh-CN" sz="32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_</a:t>
            </a:r>
            <a:r>
              <a:rPr kumimoji="0" lang="en-US" altLang="zh-CN" sz="3200" kern="1200" cap="none" spc="0" normalizeH="0" baseline="0" noProof="0" dirty="0">
                <a:solidFill>
                  <a:srgbClr val="FFFF00"/>
                </a:solidFill>
                <a:latin typeface="Arial" panose="020B0604020202020204"/>
                <a:ea typeface="宋体" panose="02010600030101010101" pitchFamily="2" charset="-122"/>
                <a:cs typeface="+mn-cs"/>
              </a:rPr>
              <a:t>’ </a:t>
            </a:r>
            <a:r>
              <a:rPr kumimoji="0" lang="zh-CN" altLang="en-US" sz="3200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、数字</a:t>
            </a:r>
            <a:r>
              <a:rPr kumimoji="0" lang="zh-CN" altLang="en-US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序列</a:t>
            </a:r>
            <a:endParaRPr kumimoji="0" lang="zh-CN" altLang="en-US" sz="3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charRg st="13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charRg st="1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charRg st="5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charRg st="6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charRg st="77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A2A0AF-0903-4A10-A966-D0F7F34BDFC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7554" name="Rectangle 2"/>
          <p:cNvSpPr>
            <a:spLocks noGrp="1" noChangeArrowheads="1"/>
          </p:cNvSpPr>
          <p:nvPr>
            <p:ph idx="1"/>
          </p:nvPr>
        </p:nvSpPr>
        <p:spPr>
          <a:xfrm>
            <a:off x="-76200" y="152400"/>
            <a:ext cx="11352530" cy="269621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在使用标识符时需要注意以下几点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不能与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关键字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重名，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例如：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case,for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,if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R="0" lvl="1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不能与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标准标识符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重名，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例如：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sqrt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sin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exp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R="0" lvl="1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尽量与它所代表对象的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含义相符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407563" name="Text Box 11"/>
          <p:cNvSpPr txBox="1"/>
          <p:nvPr/>
        </p:nvSpPr>
        <p:spPr>
          <a:xfrm>
            <a:off x="914400" y="2666683"/>
            <a:ext cx="3552825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</a:t>
            </a:r>
            <a:r>
              <a:rPr lang="en-US" altLang="zh-CN" sz="2400" b="1" dirty="0">
                <a:solidFill>
                  <a:schemeClr val="hlink"/>
                </a:solidFill>
              </a:rPr>
              <a:t> PI</a:t>
            </a:r>
            <a:r>
              <a:rPr lang="en-US" altLang="zh-CN" sz="2400" b="1" dirty="0"/>
              <a:t> 3.14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main()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{  float len, r=1.3;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len=2*</a:t>
            </a:r>
            <a:r>
              <a:rPr lang="en-US" altLang="zh-CN" sz="2400" b="1" dirty="0">
                <a:solidFill>
                  <a:schemeClr val="hlink"/>
                </a:solidFill>
              </a:rPr>
              <a:t>PI</a:t>
            </a:r>
            <a:r>
              <a:rPr lang="en-US" altLang="zh-CN" sz="2400" b="1" dirty="0"/>
              <a:t>*r;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printf(</a:t>
            </a:r>
            <a:r>
              <a:rPr lang="en-US" altLang="zh-CN" sz="2400" b="1" dirty="0">
                <a:latin typeface="Arial" panose="020B0604020202020204" pitchFamily="34" charset="0"/>
              </a:rPr>
              <a:t>“</a:t>
            </a:r>
            <a:r>
              <a:rPr lang="en-US" altLang="zh-CN" sz="2400" b="1" dirty="0"/>
              <a:t>%f</a:t>
            </a:r>
            <a:r>
              <a:rPr lang="en-US" altLang="zh-CN" sz="2400" b="1" dirty="0">
                <a:latin typeface="Arial" panose="020B0604020202020204" pitchFamily="34" charset="0"/>
              </a:rPr>
              <a:t>”</a:t>
            </a:r>
            <a:r>
              <a:rPr lang="en-US" altLang="zh-CN" sz="2400" b="1" dirty="0"/>
              <a:t>,len);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 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en-US" altLang="zh-CN" sz="2400" b="1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194563-4174-49D9-ADB5-FB8CB5F2FA4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61912"/>
            <a:ext cx="441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652" name="图片 2"/>
          <p:cNvPicPr>
            <a:picLocks noChangeAspect="1"/>
          </p:cNvPicPr>
          <p:nvPr/>
        </p:nvPicPr>
        <p:blipFill>
          <a:blip r:embed="rId1"/>
          <a:srcRect b="47437"/>
          <a:stretch>
            <a:fillRect/>
          </a:stretch>
        </p:blipFill>
        <p:spPr>
          <a:xfrm>
            <a:off x="0" y="928688"/>
            <a:ext cx="9082088" cy="3124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52563"/>
          <a:stretch>
            <a:fillRect/>
          </a:stretch>
        </p:blipFill>
        <p:spPr>
          <a:xfrm>
            <a:off x="14288" y="4052888"/>
            <a:ext cx="9082087" cy="2819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3886200" y="1371600"/>
            <a:ext cx="1457325" cy="1167765"/>
          </a:xfrm>
          <a:prstGeom prst="wedgeRoundRectCallout">
            <a:avLst>
              <a:gd name="adj1" fmla="val -114662"/>
              <a:gd name="adj2" fmla="val 35807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先声明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后使用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DF6F09-F4A6-4B8C-8450-0E11789FE53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6837"/>
            <a:ext cx="441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9700" name="图片 3"/>
          <p:cNvPicPr>
            <a:picLocks noChangeAspect="1"/>
          </p:cNvPicPr>
          <p:nvPr/>
        </p:nvPicPr>
        <p:blipFill>
          <a:blip r:embed="rId1"/>
          <a:srcRect b="50957"/>
          <a:stretch>
            <a:fillRect/>
          </a:stretch>
        </p:blipFill>
        <p:spPr>
          <a:xfrm>
            <a:off x="0" y="855663"/>
            <a:ext cx="9175750" cy="293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57961"/>
          <a:stretch>
            <a:fillRect/>
          </a:stretch>
        </p:blipFill>
        <p:spPr>
          <a:xfrm>
            <a:off x="0" y="3789363"/>
            <a:ext cx="9175750" cy="304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标注 2"/>
          <p:cNvSpPr/>
          <p:nvPr/>
        </p:nvSpPr>
        <p:spPr>
          <a:xfrm>
            <a:off x="3886200" y="1371600"/>
            <a:ext cx="4205605" cy="693420"/>
          </a:xfrm>
          <a:prstGeom prst="wedgeRoundRectCallout">
            <a:avLst>
              <a:gd name="adj1" fmla="val -69039"/>
              <a:gd name="adj2" fmla="val 87454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ea"/>
              </a:rPr>
              <a:t>字母严格区分大小写</a:t>
            </a:r>
            <a:endParaRPr lang="zh-CN" altLang="en-US" sz="3200" kern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BA0B9F-F4C4-467C-BD14-F4247FAAE62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" y="-76200"/>
            <a:ext cx="441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74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914400"/>
            <a:ext cx="9061450" cy="2767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" y="3681413"/>
            <a:ext cx="9136062" cy="3176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3810000" y="1219200"/>
            <a:ext cx="6032500" cy="1587500"/>
          </a:xfrm>
          <a:prstGeom prst="wedgeRoundRectCallout">
            <a:avLst>
              <a:gd name="adj1" fmla="val -61448"/>
              <a:gd name="adj2" fmla="val 23520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不允许重复声明：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在同一作用域内，拼写完全一致的两个标识符是相同的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144CA-F877-4CB2-87BE-5DA84BE50D5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562"/>
            <a:ext cx="4191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作用域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79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6438"/>
            <a:ext cx="8382000" cy="56515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478A43-467C-44A1-9493-90BE37E8954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4925"/>
            <a:ext cx="4191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作用域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58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4229100"/>
            <a:ext cx="9144000" cy="267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671513"/>
            <a:ext cx="9137650" cy="35718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347200" y="5853113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8AAD9-2EC3-4313-A682-5C72C62D7A3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02" name="Rectangle 2"/>
          <p:cNvSpPr>
            <a:spLocks noGrp="1" noChangeArrowheads="1"/>
          </p:cNvSpPr>
          <p:nvPr>
            <p:ph idx="1"/>
          </p:nvPr>
        </p:nvSpPr>
        <p:spPr>
          <a:xfrm>
            <a:off x="211138" y="933450"/>
            <a:ext cx="8610600" cy="5562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data 	        j5  	for	    VAX      program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AANDB      DJS_130    X           ZZZZZZ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Do   sin      FLOAT    if      6day       A.B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M.D.Jean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 IBM-PC	     case         do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IBM-PC/XT 	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A AND B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log     void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INT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f(x)	1th 	   "while" 	      m-n       a[5]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03" name="Rectangle 3"/>
          <p:cNvSpPr>
            <a:spLocks noChangeArrowheads="1"/>
          </p:cNvSpPr>
          <p:nvPr/>
        </p:nvSpPr>
        <p:spPr bwMode="auto">
          <a:xfrm>
            <a:off x="-17462" y="166688"/>
            <a:ext cx="9159875" cy="485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练习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下列符号哪些不可作为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用户标识符？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894" name="Group 69"/>
          <p:cNvGrpSpPr/>
          <p:nvPr/>
        </p:nvGrpSpPr>
        <p:grpSpPr>
          <a:xfrm>
            <a:off x="4478338" y="1081088"/>
            <a:ext cx="304800" cy="457200"/>
            <a:chOff x="4014" y="3475"/>
            <a:chExt cx="590" cy="454"/>
          </a:xfrm>
        </p:grpSpPr>
        <p:sp>
          <p:nvSpPr>
            <p:cNvPr id="37955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6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895" name="Group 69"/>
          <p:cNvGrpSpPr/>
          <p:nvPr/>
        </p:nvGrpSpPr>
        <p:grpSpPr>
          <a:xfrm>
            <a:off x="2192338" y="2643188"/>
            <a:ext cx="304800" cy="457200"/>
            <a:chOff x="4014" y="3475"/>
            <a:chExt cx="590" cy="454"/>
          </a:xfrm>
        </p:grpSpPr>
        <p:sp>
          <p:nvSpPr>
            <p:cNvPr id="37953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4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896" name="Group 69"/>
          <p:cNvGrpSpPr/>
          <p:nvPr/>
        </p:nvGrpSpPr>
        <p:grpSpPr>
          <a:xfrm>
            <a:off x="4695825" y="2528888"/>
            <a:ext cx="304800" cy="457200"/>
            <a:chOff x="4014" y="3475"/>
            <a:chExt cx="590" cy="454"/>
          </a:xfrm>
        </p:grpSpPr>
        <p:sp>
          <p:nvSpPr>
            <p:cNvPr id="37951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2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897" name="Group 69"/>
          <p:cNvGrpSpPr/>
          <p:nvPr/>
        </p:nvGrpSpPr>
        <p:grpSpPr>
          <a:xfrm>
            <a:off x="6143625" y="2555875"/>
            <a:ext cx="304800" cy="457200"/>
            <a:chOff x="4014" y="3475"/>
            <a:chExt cx="590" cy="454"/>
          </a:xfrm>
        </p:grpSpPr>
        <p:sp>
          <p:nvSpPr>
            <p:cNvPr id="37949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0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898" name="Group 69"/>
          <p:cNvGrpSpPr/>
          <p:nvPr/>
        </p:nvGrpSpPr>
        <p:grpSpPr>
          <a:xfrm>
            <a:off x="7678738" y="2528888"/>
            <a:ext cx="304800" cy="457200"/>
            <a:chOff x="4014" y="3475"/>
            <a:chExt cx="590" cy="454"/>
          </a:xfrm>
        </p:grpSpPr>
        <p:sp>
          <p:nvSpPr>
            <p:cNvPr id="37947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8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899" name="Group 69"/>
          <p:cNvGrpSpPr/>
          <p:nvPr/>
        </p:nvGrpSpPr>
        <p:grpSpPr>
          <a:xfrm>
            <a:off x="2551113" y="3171825"/>
            <a:ext cx="304800" cy="457200"/>
            <a:chOff x="4014" y="3475"/>
            <a:chExt cx="590" cy="454"/>
          </a:xfrm>
        </p:grpSpPr>
        <p:sp>
          <p:nvSpPr>
            <p:cNvPr id="37945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6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0" name="Group 69"/>
          <p:cNvGrpSpPr/>
          <p:nvPr/>
        </p:nvGrpSpPr>
        <p:grpSpPr>
          <a:xfrm>
            <a:off x="4554538" y="3181350"/>
            <a:ext cx="304800" cy="457200"/>
            <a:chOff x="4014" y="3475"/>
            <a:chExt cx="590" cy="454"/>
          </a:xfrm>
        </p:grpSpPr>
        <p:sp>
          <p:nvSpPr>
            <p:cNvPr id="37943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4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1" name="Group 69"/>
          <p:cNvGrpSpPr/>
          <p:nvPr/>
        </p:nvGrpSpPr>
        <p:grpSpPr>
          <a:xfrm>
            <a:off x="6253163" y="3171825"/>
            <a:ext cx="304800" cy="457200"/>
            <a:chOff x="4014" y="3475"/>
            <a:chExt cx="590" cy="454"/>
          </a:xfrm>
        </p:grpSpPr>
        <p:sp>
          <p:nvSpPr>
            <p:cNvPr id="37941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2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2" name="Group 69"/>
          <p:cNvGrpSpPr/>
          <p:nvPr/>
        </p:nvGrpSpPr>
        <p:grpSpPr>
          <a:xfrm>
            <a:off x="7559675" y="3225800"/>
            <a:ext cx="304800" cy="457200"/>
            <a:chOff x="4014" y="3475"/>
            <a:chExt cx="590" cy="454"/>
          </a:xfrm>
        </p:grpSpPr>
        <p:sp>
          <p:nvSpPr>
            <p:cNvPr id="37939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0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3" name="Group 69"/>
          <p:cNvGrpSpPr/>
          <p:nvPr/>
        </p:nvGrpSpPr>
        <p:grpSpPr>
          <a:xfrm>
            <a:off x="3008313" y="3943350"/>
            <a:ext cx="304800" cy="457200"/>
            <a:chOff x="4014" y="3475"/>
            <a:chExt cx="590" cy="454"/>
          </a:xfrm>
        </p:grpSpPr>
        <p:sp>
          <p:nvSpPr>
            <p:cNvPr id="37937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8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4" name="Group 69"/>
          <p:cNvGrpSpPr/>
          <p:nvPr/>
        </p:nvGrpSpPr>
        <p:grpSpPr>
          <a:xfrm>
            <a:off x="4402138" y="3943350"/>
            <a:ext cx="304800" cy="457200"/>
            <a:chOff x="4014" y="3475"/>
            <a:chExt cx="590" cy="454"/>
          </a:xfrm>
        </p:grpSpPr>
        <p:sp>
          <p:nvSpPr>
            <p:cNvPr id="37935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6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5" name="Group 69"/>
          <p:cNvGrpSpPr/>
          <p:nvPr/>
        </p:nvGrpSpPr>
        <p:grpSpPr>
          <a:xfrm>
            <a:off x="6688138" y="3943350"/>
            <a:ext cx="304800" cy="457200"/>
            <a:chOff x="4014" y="3475"/>
            <a:chExt cx="590" cy="454"/>
          </a:xfrm>
        </p:grpSpPr>
        <p:sp>
          <p:nvSpPr>
            <p:cNvPr id="37933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4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6" name="Group 69"/>
          <p:cNvGrpSpPr/>
          <p:nvPr/>
        </p:nvGrpSpPr>
        <p:grpSpPr>
          <a:xfrm>
            <a:off x="1582738" y="4673600"/>
            <a:ext cx="304800" cy="457200"/>
            <a:chOff x="4014" y="3475"/>
            <a:chExt cx="590" cy="454"/>
          </a:xfrm>
        </p:grpSpPr>
        <p:sp>
          <p:nvSpPr>
            <p:cNvPr id="37931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2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7" name="Group 69"/>
          <p:cNvGrpSpPr/>
          <p:nvPr/>
        </p:nvGrpSpPr>
        <p:grpSpPr>
          <a:xfrm>
            <a:off x="2855913" y="4673600"/>
            <a:ext cx="304800" cy="457200"/>
            <a:chOff x="4014" y="3475"/>
            <a:chExt cx="590" cy="454"/>
          </a:xfrm>
        </p:grpSpPr>
        <p:sp>
          <p:nvSpPr>
            <p:cNvPr id="37929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0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8" name="Group 69"/>
          <p:cNvGrpSpPr/>
          <p:nvPr/>
        </p:nvGrpSpPr>
        <p:grpSpPr>
          <a:xfrm>
            <a:off x="4097338" y="4586288"/>
            <a:ext cx="304800" cy="457200"/>
            <a:chOff x="4014" y="3475"/>
            <a:chExt cx="590" cy="454"/>
          </a:xfrm>
        </p:grpSpPr>
        <p:sp>
          <p:nvSpPr>
            <p:cNvPr id="37927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8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09" name="Group 69"/>
          <p:cNvGrpSpPr/>
          <p:nvPr/>
        </p:nvGrpSpPr>
        <p:grpSpPr>
          <a:xfrm>
            <a:off x="5621338" y="4673600"/>
            <a:ext cx="304800" cy="457200"/>
            <a:chOff x="4014" y="3475"/>
            <a:chExt cx="590" cy="454"/>
          </a:xfrm>
        </p:grpSpPr>
        <p:sp>
          <p:nvSpPr>
            <p:cNvPr id="37925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6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10" name="Group 69"/>
          <p:cNvGrpSpPr/>
          <p:nvPr/>
        </p:nvGrpSpPr>
        <p:grpSpPr>
          <a:xfrm>
            <a:off x="1582738" y="5348288"/>
            <a:ext cx="304800" cy="457200"/>
            <a:chOff x="4014" y="3475"/>
            <a:chExt cx="590" cy="454"/>
          </a:xfrm>
        </p:grpSpPr>
        <p:sp>
          <p:nvSpPr>
            <p:cNvPr id="37923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4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11" name="Group 69"/>
          <p:cNvGrpSpPr/>
          <p:nvPr/>
        </p:nvGrpSpPr>
        <p:grpSpPr>
          <a:xfrm>
            <a:off x="2682875" y="5348288"/>
            <a:ext cx="304800" cy="457200"/>
            <a:chOff x="4014" y="3475"/>
            <a:chExt cx="590" cy="454"/>
          </a:xfrm>
        </p:grpSpPr>
        <p:sp>
          <p:nvSpPr>
            <p:cNvPr id="37921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12" name="Group 69"/>
          <p:cNvGrpSpPr/>
          <p:nvPr/>
        </p:nvGrpSpPr>
        <p:grpSpPr>
          <a:xfrm>
            <a:off x="4706938" y="5348288"/>
            <a:ext cx="304800" cy="457200"/>
            <a:chOff x="4014" y="3475"/>
            <a:chExt cx="590" cy="454"/>
          </a:xfrm>
        </p:grpSpPr>
        <p:sp>
          <p:nvSpPr>
            <p:cNvPr id="37919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0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13" name="Group 69"/>
          <p:cNvGrpSpPr/>
          <p:nvPr/>
        </p:nvGrpSpPr>
        <p:grpSpPr>
          <a:xfrm>
            <a:off x="6143625" y="5348288"/>
            <a:ext cx="304800" cy="457200"/>
            <a:chOff x="4014" y="3475"/>
            <a:chExt cx="590" cy="454"/>
          </a:xfrm>
        </p:grpSpPr>
        <p:sp>
          <p:nvSpPr>
            <p:cNvPr id="37917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8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14" name="Group 69"/>
          <p:cNvGrpSpPr/>
          <p:nvPr/>
        </p:nvGrpSpPr>
        <p:grpSpPr>
          <a:xfrm>
            <a:off x="7831138" y="5348288"/>
            <a:ext cx="304800" cy="457200"/>
            <a:chOff x="4014" y="3475"/>
            <a:chExt cx="590" cy="454"/>
          </a:xfrm>
        </p:grpSpPr>
        <p:sp>
          <p:nvSpPr>
            <p:cNvPr id="37915" name="Line 70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6" name="Line 71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6DA77F-2E0A-4150-B0BD-BDFBCE1AD4C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4191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8916" name="图片 5"/>
          <p:cNvPicPr>
            <a:picLocks noChangeAspect="1"/>
          </p:cNvPicPr>
          <p:nvPr/>
        </p:nvPicPr>
        <p:blipFill>
          <a:blip r:embed="rId1"/>
          <a:srcRect b="50853"/>
          <a:stretch>
            <a:fillRect/>
          </a:stretch>
        </p:blipFill>
        <p:spPr>
          <a:xfrm>
            <a:off x="0" y="855663"/>
            <a:ext cx="9137650" cy="3019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rcRect t="57053"/>
          <a:stretch>
            <a:fillRect/>
          </a:stretch>
        </p:blipFill>
        <p:spPr>
          <a:xfrm>
            <a:off x="6350" y="3875088"/>
            <a:ext cx="9137650" cy="29718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矩形 10"/>
          <p:cNvSpPr/>
          <p:nvPr/>
        </p:nvSpPr>
        <p:spPr>
          <a:xfrm>
            <a:off x="0" y="127000"/>
            <a:ext cx="11963400" cy="6370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program  90 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English  60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philosophy  85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mathematics 70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 ){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float average, sum ;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average =(float) (program+English+philosophy+mathematics)/4;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printf(“%6.2f \n”, average);//</a:t>
            </a:r>
            <a:r>
              <a:rPr lang="zh-CN" altLang="en-US" sz="2400" b="1" dirty="0"/>
              <a:t>输出算术平均成绩</a:t>
            </a:r>
            <a:r>
              <a:rPr lang="en-US" altLang="zh-CN" sz="2400" b="1" dirty="0"/>
              <a:t>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sum=4+2+1+3;//</a:t>
            </a:r>
            <a:r>
              <a:rPr lang="zh-CN" altLang="en-US" sz="2400" b="1" dirty="0"/>
              <a:t>计算总学分</a:t>
            </a:r>
            <a:r>
              <a:rPr lang="en-US" altLang="zh-CN" sz="2400" b="1" dirty="0"/>
              <a:t>	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average=(program*4+English*2+philosophy*1+mathematics*3) / sum; 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printf(“%6.2f\n”, average); //</a:t>
            </a:r>
            <a:r>
              <a:rPr lang="zh-CN" altLang="en-US" sz="2400" b="1" dirty="0"/>
              <a:t>输出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40963" name="Rectangle 5"/>
          <p:cNvSpPr/>
          <p:nvPr/>
        </p:nvSpPr>
        <p:spPr>
          <a:xfrm>
            <a:off x="3886200" y="1169988"/>
            <a:ext cx="5334000" cy="5334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为什么不写成  </a:t>
            </a:r>
            <a:r>
              <a:rPr lang="en-US" altLang="zh-CN" sz="2400" b="1" dirty="0">
                <a:solidFill>
                  <a:schemeClr val="accent2"/>
                </a:solidFill>
              </a:rPr>
              <a:t>#definephilosophy85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211974" name="Rectangle 6"/>
          <p:cNvSpPr>
            <a:spLocks noChangeArrowheads="1"/>
          </p:cNvSpPr>
          <p:nvPr/>
        </p:nvSpPr>
        <p:spPr bwMode="auto">
          <a:xfrm>
            <a:off x="3505200" y="2727325"/>
            <a:ext cx="5334000" cy="366713"/>
          </a:xfrm>
          <a:prstGeom prst="rect">
            <a:avLst/>
          </a:prstGeom>
          <a:solidFill>
            <a:schemeClr val="tx1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为什么不写成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floataverage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sum;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5" name="Rectangle 8"/>
          <p:cNvSpPr/>
          <p:nvPr/>
        </p:nvSpPr>
        <p:spPr>
          <a:xfrm>
            <a:off x="2209800" y="3657600"/>
            <a:ext cx="7620000" cy="8239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都在关键的地方加上空格</a:t>
            </a:r>
            <a:endParaRPr lang="zh-CN" altLang="en-US" sz="4800" b="1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0966" name="Rectangle 9"/>
          <p:cNvSpPr/>
          <p:nvPr/>
        </p:nvSpPr>
        <p:spPr>
          <a:xfrm>
            <a:off x="2209800" y="4622800"/>
            <a:ext cx="7620000" cy="8239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不加空格就会引起混淆</a:t>
            </a:r>
            <a:r>
              <a:rPr lang="zh-CN" altLang="en-US" sz="4800" b="1" dirty="0">
                <a:solidFill>
                  <a:schemeClr val="accent2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endParaRPr lang="zh-CN" altLang="en-US" sz="4800" b="1" dirty="0">
              <a:solidFill>
                <a:schemeClr val="accent2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0967" name="Rectangle 10"/>
          <p:cNvSpPr/>
          <p:nvPr/>
        </p:nvSpPr>
        <p:spPr>
          <a:xfrm>
            <a:off x="2209800" y="5592763"/>
            <a:ext cx="7620000" cy="82391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空格是间隔符</a:t>
            </a:r>
            <a:r>
              <a:rPr lang="zh-CN" altLang="en-US" sz="4800" b="1" dirty="0">
                <a:solidFill>
                  <a:schemeClr val="accent2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endParaRPr lang="zh-CN" altLang="en-US" sz="4800" b="1" dirty="0">
              <a:solidFill>
                <a:schemeClr val="accent2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0" y="-14287"/>
            <a:ext cx="7239000" cy="10668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§2.2.4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间隔符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P48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60FA8-54E9-41BA-8F6C-0F4368115F3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1650" name="Rectangle 2"/>
          <p:cNvSpPr>
            <a:spLocks noGrp="1" noChangeArrowheads="1"/>
          </p:cNvSpPr>
          <p:nvPr>
            <p:ph idx="1"/>
          </p:nvPr>
        </p:nvSpPr>
        <p:spPr>
          <a:xfrm>
            <a:off x="-635" y="609600"/>
            <a:ext cx="12002135" cy="49834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间隔符包括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空格 、行结束符、水平制表符、垂直制表符、换页符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任何两个相邻词法单位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之间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至少应有一个间隔符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例如：int a,b;</a:t>
            </a:r>
            <a:endParaRPr kumimoji="0" lang="en-US" altLang="zh-CN" sz="2400" b="1" i="0" u="none" strike="noStrike" kern="0" cap="none" spc="0" normalizeH="0" baseline="0" noProof="0" dirty="0" err="1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多个间隔符一起连用，相当于一个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a,     b     ;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等效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任何词法单位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之内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不允许有间隔符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>
                <a:schemeClr val="hlink"/>
              </a:buClr>
              <a:buSzPct val="80000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folHlink"/>
                </a:solidFill>
                <a:uLnTx/>
                <a:uFillTx/>
                <a:sym typeface="+mn-ea"/>
              </a:rPr>
              <a:t>例如：&lt;=     </a:t>
            </a:r>
            <a:r>
              <a:rPr lang="zh-CN" altLang="en-US" sz="2400" b="1" noProof="0" dirty="0">
                <a:ln>
                  <a:noFill/>
                </a:ln>
                <a:solidFill>
                  <a:schemeClr val="folHlink"/>
                </a:solidFill>
                <a:uLnTx/>
                <a:uFillTx/>
                <a:sym typeface="+mn-ea"/>
              </a:rPr>
              <a:t>不能写成   &lt;  =</a:t>
            </a:r>
            <a:endParaRPr lang="zh-CN" altLang="en-US" sz="2400" b="1" kern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charset="0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矩形 9"/>
          <p:cNvSpPr/>
          <p:nvPr/>
        </p:nvSpPr>
        <p:spPr>
          <a:xfrm>
            <a:off x="1524000" y="152400"/>
            <a:ext cx="9144000" cy="674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#include &lt;stdio.h&gt;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program  90 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English  60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philosophy  85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#define  mathematics 70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main( ){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float average, sum ;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average =(float) 			(program+English+philosophy+mathematics)/4;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printf(“%6.2f \n”, average);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输出算术平均成绩</a:t>
            </a:r>
            <a:r>
              <a:rPr lang="en-US" altLang="zh-CN" sz="2400" b="1" dirty="0"/>
              <a:t>	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sum=4+2+1+3;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计算总学分</a:t>
            </a:r>
            <a:r>
              <a:rPr lang="en-US" altLang="zh-CN" sz="2400" b="1" dirty="0"/>
              <a:t>	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average=(program*4+English*2+philosophy*1+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		mathematics*3) / sum;   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计算加权平均成绩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printf(“%6.2f\n”, average);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输出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return 0;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>
              <a:ea typeface="Arial" panose="020B0604020202020204" pitchFamily="34" charset="0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61C5AF-1C90-4C91-9F64-9465C725590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696200" cy="1066800"/>
          </a:xfrm>
          <a:solidFill>
            <a:srgbClr val="3366FF"/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§2.2.5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注释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P28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3111" name="Rectangle 7"/>
          <p:cNvSpPr>
            <a:spLocks noChangeArrowheads="1"/>
          </p:cNvSpPr>
          <p:nvPr/>
        </p:nvSpPr>
        <p:spPr bwMode="auto">
          <a:xfrm>
            <a:off x="2286000" y="1949450"/>
            <a:ext cx="8153400" cy="6413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从双斜线开始及其后边的部分是什么？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sp>
        <p:nvSpPr>
          <p:cNvPr id="303114" name="Rectangle 10"/>
          <p:cNvSpPr>
            <a:spLocks noChangeArrowheads="1"/>
          </p:cNvSpPr>
          <p:nvPr/>
        </p:nvSpPr>
        <p:spPr bwMode="auto">
          <a:xfrm>
            <a:off x="2286000" y="2535238"/>
            <a:ext cx="6400800" cy="588963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只是给程序加的一些说明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  <p:sp>
        <p:nvSpPr>
          <p:cNvPr id="303115" name="Rectangle 11"/>
          <p:cNvSpPr>
            <a:spLocks noChangeArrowheads="1"/>
          </p:cNvSpPr>
          <p:nvPr/>
        </p:nvSpPr>
        <p:spPr bwMode="auto">
          <a:xfrm>
            <a:off x="8001000" y="3100388"/>
            <a:ext cx="2667000" cy="588963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00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称为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华文新魏" pitchFamily="2" charset="-122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华文新魏" pitchFamily="2" charset="-122"/>
                <a:cs typeface="+mn-cs"/>
              </a:rPr>
              <a:t>注释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华文新魏" pitchFamily="2" charset="-122"/>
                <a:cs typeface="+mn-cs"/>
              </a:rPr>
              <a:t>”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218D86-857C-43E6-B91A-8B826F57B21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4722" name="Rectangle 2"/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120396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由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，括起来的任意一串字符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由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开始，直到该对斜线所在文本行结束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注释是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给程序加注解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用的，对程序的实际意义没有任何影响，只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增加程序的可读性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意义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适当利用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间隔符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注释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组织程序的书写格式，使得一个程序在行文上看清晰，易读。是良好的程序设计习惯。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C09D94-6EB5-47DA-A3EA-41F91F83622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770" name="Rectangle 2"/>
          <p:cNvSpPr>
            <a:spLocks noGrp="1" noChangeArrowheads="1"/>
          </p:cNvSpPr>
          <p:nvPr>
            <p:ph idx="1"/>
          </p:nvPr>
        </p:nvSpPr>
        <p:spPr>
          <a:xfrm>
            <a:off x="0" y="304800"/>
            <a:ext cx="8153400" cy="6335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MAX(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DE00"/>
                </a:solidFill>
                <a:uLnTx/>
                <a:uFillTx/>
                <a:sym typeface="+mn-ea"/>
              </a:rPr>
              <a:t>   功能：求参数</a:t>
            </a:r>
            <a:r>
              <a:rPr lang="en-US" altLang="zh-CN" sz="2800" b="1" noProof="0" dirty="0">
                <a:ln>
                  <a:noFill/>
                </a:ln>
                <a:solidFill>
                  <a:srgbClr val="00DE00"/>
                </a:solidFill>
                <a:uLnTx/>
                <a:uFillTx/>
                <a:sym typeface="+mn-ea"/>
              </a:rPr>
              <a:t>x, y</a:t>
            </a:r>
            <a:r>
              <a:rPr lang="zh-CN" altLang="en-US" sz="2800" b="1" noProof="0" dirty="0">
                <a:ln>
                  <a:noFill/>
                </a:ln>
                <a:solidFill>
                  <a:srgbClr val="00DE00"/>
                </a:solidFill>
                <a:uLnTx/>
                <a:uFillTx/>
                <a:sym typeface="+mn-ea"/>
              </a:rPr>
              <a:t>中的最大值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形参：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 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分别是整数类型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返回值：整数类型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MAX(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(x&gt;y)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x;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较大，返回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y;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否则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较大，返回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D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DE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F65F36-0F74-461F-B448-77719C2CBAD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8818" name="Rectangle 2"/>
          <p:cNvSpPr>
            <a:spLocks noGrp="1" noChangeArrowheads="1"/>
          </p:cNvSpPr>
          <p:nvPr>
            <p:ph idx="1"/>
          </p:nvPr>
        </p:nvSpPr>
        <p:spPr>
          <a:xfrm>
            <a:off x="0" y="-19050"/>
            <a:ext cx="9448800" cy="4286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#include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int main () {                                         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主函数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i;                                           //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声明局部变量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= 25+38;                                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求和运算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   printf (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25+38=%d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, i );      /*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输出 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/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   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完全可以写成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#include                 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58775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int main ( ) { int i;  i = 25+38;  printf (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25+38=%d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,i );  return 0;}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418819" name="Rectangle 3"/>
          <p:cNvSpPr/>
          <p:nvPr/>
        </p:nvSpPr>
        <p:spPr>
          <a:xfrm>
            <a:off x="152400" y="4600575"/>
            <a:ext cx="7479030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华文隶书" pitchFamily="2" charset="-122"/>
              </a:rPr>
              <a:t>良好的行文风格：结构清晰，适当注释。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endParaRPr lang="zh-CN" altLang="en-US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E9895-79D6-431C-91C9-802DB60AC10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§2.3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教材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P49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在程序的执行期间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新魏" pitchFamily="2" charset="-122"/>
                <a:cs typeface="+mn-ea"/>
              </a:rPr>
              <a:t>值不变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分类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字面常量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可直接书写在程序中的常量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符号常量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常量标识符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变量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在程序的执行期间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新魏" pitchFamily="2" charset="-122"/>
                <a:cs typeface="+mn-ea"/>
              </a:rPr>
              <a:t>值变化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新魏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9A6326-C4C9-475B-96BB-DA095B370D2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0" y="228600"/>
            <a:ext cx="2109788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  量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89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3726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整数类型常量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age 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18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浮点类型常量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float weight;  weight=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98.50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char s=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char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str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[30]=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Lily is a student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28575" y="1017588"/>
            <a:ext cx="28956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0" lang="zh-CN" altLang="en-US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字面常量</a:t>
            </a:r>
            <a:r>
              <a:rPr kumimoji="0" lang="en-US" altLang="zh-CN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5B17AD-7850-4530-ABA5-BD431B989E5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0018" name="Rectangle 2"/>
          <p:cNvSpPr>
            <a:spLocks noGrp="1" noChangeArrowheads="1"/>
          </p:cNvSpPr>
          <p:nvPr>
            <p:ph idx="1"/>
          </p:nvPr>
        </p:nvSpPr>
        <p:spPr>
          <a:xfrm>
            <a:off x="0" y="228600"/>
            <a:ext cx="10415588" cy="6629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整数类型常量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一个数字序列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可用十进制、八进制、十六进制表示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如果整数类型常量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开头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则是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八进制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如果整数类型常量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开头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则是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十六进制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否则是十进制表示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例子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十进制数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123     -456     17409     0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八进制数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0123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(123)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83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十六进制数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0x123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0X123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(123)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16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Wingdings" panose="05000000000000000000" pitchFamily="2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1*16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+2*16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+3*16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256+32+3=291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470019" name="Rectangle 3"/>
          <p:cNvSpPr>
            <a:spLocks noChangeArrowheads="1"/>
          </p:cNvSpPr>
          <p:nvPr/>
        </p:nvSpPr>
        <p:spPr bwMode="auto">
          <a:xfrm>
            <a:off x="6934200" y="4038600"/>
            <a:ext cx="1219200" cy="533400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17,409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8153400" y="3886200"/>
            <a:ext cx="323850" cy="889000"/>
            <a:chOff x="4014" y="3475"/>
            <a:chExt cx="590" cy="454"/>
          </a:xfrm>
        </p:grpSpPr>
        <p:sp>
          <p:nvSpPr>
            <p:cNvPr id="53255" name="Line 5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6" name="Line 6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254" name="TextBox 4"/>
          <p:cNvSpPr txBox="1"/>
          <p:nvPr/>
        </p:nvSpPr>
        <p:spPr>
          <a:xfrm>
            <a:off x="6477000" y="7938"/>
            <a:ext cx="5715000" cy="206121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int a,b,c; 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a=123;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b=</a:t>
            </a:r>
            <a:r>
              <a:rPr lang="pt-BR" altLang="zh-CN" b="1" dirty="0">
                <a:solidFill>
                  <a:srgbClr val="FF0000"/>
                </a:solidFill>
              </a:rPr>
              <a:t>0x</a:t>
            </a:r>
            <a:r>
              <a:rPr lang="pt-BR" altLang="zh-CN" b="1" dirty="0"/>
              <a:t>123;</a:t>
            </a:r>
            <a:r>
              <a:rPr lang="en-US" altLang="pt-BR" b="1" dirty="0"/>
              <a:t> </a:t>
            </a:r>
            <a:r>
              <a:rPr lang="zh-CN" altLang="en-US" b="1" dirty="0"/>
              <a:t>或</a:t>
            </a:r>
            <a:r>
              <a:rPr lang="en-US" altLang="zh-CN" b="1" dirty="0"/>
              <a:t> </a:t>
            </a:r>
            <a:r>
              <a:rPr lang="pt-BR" altLang="zh-CN" b="1" dirty="0">
                <a:sym typeface="+mn-ea"/>
              </a:rPr>
              <a:t>b=</a:t>
            </a:r>
            <a:r>
              <a:rPr lang="pt-BR" altLang="zh-CN" b="1" dirty="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pt-BR" b="1" dirty="0">
                <a:solidFill>
                  <a:srgbClr val="FF0000"/>
                </a:solidFill>
                <a:sym typeface="+mn-ea"/>
              </a:rPr>
              <a:t>X</a:t>
            </a:r>
            <a:r>
              <a:rPr lang="pt-BR" altLang="zh-CN" b="1" dirty="0">
                <a:sym typeface="+mn-ea"/>
              </a:rPr>
              <a:t>123;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c=</a:t>
            </a:r>
            <a:r>
              <a:rPr lang="pt-BR" altLang="zh-CN" b="1" dirty="0">
                <a:solidFill>
                  <a:srgbClr val="FF0000"/>
                </a:solidFill>
              </a:rPr>
              <a:t>0</a:t>
            </a:r>
            <a:r>
              <a:rPr lang="pt-BR" altLang="zh-CN" b="1" dirty="0"/>
              <a:t>123;</a:t>
            </a:r>
            <a:endParaRPr lang="pt-BR" altLang="zh-CN" b="1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19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2713" name="Picture 9"/>
          <p:cNvPicPr>
            <a:picLocks noChangeAspect="1"/>
          </p:cNvPicPr>
          <p:nvPr/>
        </p:nvPicPr>
        <p:blipFill>
          <a:blip r:embed="rId1"/>
          <a:srcRect t="50000"/>
          <a:stretch>
            <a:fillRect/>
          </a:stretch>
        </p:blipFill>
        <p:spPr>
          <a:xfrm>
            <a:off x="5651500" y="5681663"/>
            <a:ext cx="4014788" cy="538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9"/>
          <p:cNvPicPr>
            <a:picLocks noChangeAspect="1"/>
          </p:cNvPicPr>
          <p:nvPr/>
        </p:nvPicPr>
        <p:blipFill>
          <a:blip r:embed="rId1"/>
          <a:srcRect b="50000"/>
          <a:stretch>
            <a:fillRect/>
          </a:stretch>
        </p:blipFill>
        <p:spPr>
          <a:xfrm>
            <a:off x="5651500" y="5141913"/>
            <a:ext cx="40147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062D2A-AF43-4A4F-AA1C-0DF18E2D160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1" name="TextBox 4"/>
          <p:cNvSpPr txBox="1"/>
          <p:nvPr/>
        </p:nvSpPr>
        <p:spPr>
          <a:xfrm>
            <a:off x="0" y="0"/>
            <a:ext cx="10591800" cy="5015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思考</a:t>
            </a:r>
            <a:r>
              <a:rPr lang="en-US" altLang="zh-CN" b="1" dirty="0"/>
              <a:t>】</a:t>
            </a:r>
            <a:r>
              <a:rPr lang="zh-CN" altLang="en-US" b="1" dirty="0"/>
              <a:t>程序的运行结果</a:t>
            </a:r>
            <a:endParaRPr lang="en-US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#include&lt;stdio.h&gt;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int main()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{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	int a,b,c; 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	</a:t>
            </a:r>
            <a:r>
              <a:rPr lang="pt-BR" altLang="zh-CN" b="1" dirty="0">
                <a:solidFill>
                  <a:srgbClr val="FFFF00"/>
                </a:solidFill>
              </a:rPr>
              <a:t>a=78;b=0xAF;c=071;</a:t>
            </a:r>
            <a:endParaRPr lang="pt-BR" altLang="zh-CN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pt-BR" altLang="zh-CN" b="1" dirty="0"/>
              <a:t>	printf(“</a:t>
            </a:r>
            <a:r>
              <a:rPr lang="pt-BR" altLang="zh-CN" b="1" dirty="0">
                <a:solidFill>
                  <a:srgbClr val="FFFF00"/>
                </a:solidFill>
              </a:rPr>
              <a:t>%5d</a:t>
            </a:r>
            <a:r>
              <a:rPr lang="pt-BR" altLang="zh-CN" b="1" dirty="0">
                <a:solidFill>
                  <a:srgbClr val="9C1489"/>
                </a:solidFill>
              </a:rPr>
              <a:t>%5x</a:t>
            </a:r>
            <a:r>
              <a:rPr lang="pt-BR" altLang="zh-CN" b="1" dirty="0">
                <a:solidFill>
                  <a:srgbClr val="FF0000"/>
                </a:solidFill>
              </a:rPr>
              <a:t>%5o </a:t>
            </a:r>
            <a:r>
              <a:rPr lang="pt-BR" altLang="zh-CN" b="1" dirty="0"/>
              <a:t>\n",a,b,c);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pt-BR" altLang="zh-CN" b="1" dirty="0"/>
              <a:t>	printf("</a:t>
            </a:r>
            <a:r>
              <a:rPr lang="pt-BR" altLang="zh-CN" b="1" dirty="0">
                <a:solidFill>
                  <a:srgbClr val="FFFF00"/>
                </a:solidFill>
              </a:rPr>
              <a:t>%-5d</a:t>
            </a:r>
            <a:r>
              <a:rPr lang="pt-BR" altLang="zh-CN" b="1" dirty="0">
                <a:solidFill>
                  <a:srgbClr val="9C1489"/>
                </a:solidFill>
              </a:rPr>
              <a:t>%-1d</a:t>
            </a:r>
            <a:r>
              <a:rPr lang="pt-BR" altLang="zh-CN" b="1" dirty="0">
                <a:solidFill>
                  <a:srgbClr val="FF0000"/>
                </a:solidFill>
              </a:rPr>
              <a:t>%4d</a:t>
            </a:r>
            <a:r>
              <a:rPr lang="pt-BR" altLang="zh-CN" b="1" dirty="0"/>
              <a:t>\n",a,b,c);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	return 0;</a:t>
            </a:r>
            <a:endParaRPr lang="pt-BR" altLang="zh-CN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}</a:t>
            </a:r>
            <a:endParaRPr lang="zh-CN" altLang="en-US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8305800" y="5257800"/>
            <a:ext cx="801688" cy="307975"/>
            <a:chOff x="4151835" y="5257752"/>
            <a:chExt cx="801155" cy="307956"/>
          </a:xfrm>
        </p:grpSpPr>
        <p:sp>
          <p:nvSpPr>
            <p:cNvPr id="55319" name="矩形 1"/>
            <p:cNvSpPr/>
            <p:nvPr/>
          </p:nvSpPr>
          <p:spPr>
            <a:xfrm>
              <a:off x="4151835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20" name="矩形 11"/>
            <p:cNvSpPr/>
            <p:nvPr/>
          </p:nvSpPr>
          <p:spPr>
            <a:xfrm>
              <a:off x="4419604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21" name="矩形 12"/>
            <p:cNvSpPr/>
            <p:nvPr/>
          </p:nvSpPr>
          <p:spPr>
            <a:xfrm>
              <a:off x="4724396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010400" y="5253038"/>
            <a:ext cx="801688" cy="307975"/>
            <a:chOff x="4151835" y="5257752"/>
            <a:chExt cx="801155" cy="307956"/>
          </a:xfrm>
        </p:grpSpPr>
        <p:sp>
          <p:nvSpPr>
            <p:cNvPr id="55316" name="矩形 19"/>
            <p:cNvSpPr/>
            <p:nvPr/>
          </p:nvSpPr>
          <p:spPr>
            <a:xfrm>
              <a:off x="4151835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7" name="矩形 20"/>
            <p:cNvSpPr/>
            <p:nvPr/>
          </p:nvSpPr>
          <p:spPr>
            <a:xfrm>
              <a:off x="4419604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8" name="矩形 21"/>
            <p:cNvSpPr/>
            <p:nvPr/>
          </p:nvSpPr>
          <p:spPr>
            <a:xfrm>
              <a:off x="4724396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772400" y="5795963"/>
            <a:ext cx="496888" cy="307975"/>
            <a:chOff x="6248356" y="5795733"/>
            <a:chExt cx="496363" cy="307956"/>
          </a:xfrm>
        </p:grpSpPr>
        <p:sp>
          <p:nvSpPr>
            <p:cNvPr id="55314" name="矩形 23"/>
            <p:cNvSpPr/>
            <p:nvPr/>
          </p:nvSpPr>
          <p:spPr>
            <a:xfrm>
              <a:off x="6248356" y="5795733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5" name="矩形 24"/>
            <p:cNvSpPr/>
            <p:nvPr/>
          </p:nvSpPr>
          <p:spPr>
            <a:xfrm>
              <a:off x="6516125" y="5795733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208713" y="5794375"/>
            <a:ext cx="801687" cy="307975"/>
            <a:chOff x="4151835" y="5257752"/>
            <a:chExt cx="801155" cy="307956"/>
          </a:xfrm>
        </p:grpSpPr>
        <p:sp>
          <p:nvSpPr>
            <p:cNvPr id="55311" name="矩形 27"/>
            <p:cNvSpPr/>
            <p:nvPr/>
          </p:nvSpPr>
          <p:spPr>
            <a:xfrm>
              <a:off x="4151835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2" name="矩形 28"/>
            <p:cNvSpPr/>
            <p:nvPr/>
          </p:nvSpPr>
          <p:spPr>
            <a:xfrm>
              <a:off x="4419604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3" name="矩形 29"/>
            <p:cNvSpPr/>
            <p:nvPr/>
          </p:nvSpPr>
          <p:spPr>
            <a:xfrm>
              <a:off x="4724396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675313" y="5257800"/>
            <a:ext cx="801687" cy="307975"/>
            <a:chOff x="4151835" y="5257752"/>
            <a:chExt cx="801155" cy="307956"/>
          </a:xfrm>
        </p:grpSpPr>
        <p:sp>
          <p:nvSpPr>
            <p:cNvPr id="55308" name="矩形 31"/>
            <p:cNvSpPr/>
            <p:nvPr/>
          </p:nvSpPr>
          <p:spPr>
            <a:xfrm>
              <a:off x="4151835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09" name="矩形 32"/>
            <p:cNvSpPr/>
            <p:nvPr/>
          </p:nvSpPr>
          <p:spPr>
            <a:xfrm>
              <a:off x="4419604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55310" name="矩形 33"/>
            <p:cNvSpPr/>
            <p:nvPr/>
          </p:nvSpPr>
          <p:spPr>
            <a:xfrm>
              <a:off x="4724396" y="5257752"/>
              <a:ext cx="228594" cy="30795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</p:grpSp>
      <p:pic>
        <p:nvPicPr>
          <p:cNvPr id="38" name="Picture 9"/>
          <p:cNvPicPr>
            <a:picLocks noChangeAspect="1"/>
          </p:cNvPicPr>
          <p:nvPr/>
        </p:nvPicPr>
        <p:blipFill>
          <a:blip r:embed="rId1"/>
          <a:srcRect t="50000" r="98862"/>
          <a:stretch>
            <a:fillRect/>
          </a:stretch>
        </p:blipFill>
        <p:spPr>
          <a:xfrm>
            <a:off x="5668963" y="5638800"/>
            <a:ext cx="46037" cy="53816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9B26EB-AE1D-4B87-854D-527A120C694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4114" name="Rectangle 2"/>
          <p:cNvSpPr>
            <a:spLocks noGrp="1" noChangeArrowheads="1"/>
          </p:cNvSpPr>
          <p:nvPr>
            <p:ph idx="1"/>
          </p:nvPr>
        </p:nvSpPr>
        <p:spPr>
          <a:xfrm>
            <a:off x="0" y="476250"/>
            <a:ext cx="10560050" cy="5618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浮点类型常量的两种形式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定点表示法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数字序列，后跟一个小数点，再跟一个数字序列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123.4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数字序列，后跟一个小数点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123.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数字序列，前加一个小数点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.123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浮点表示法（指数表示法，科学表示法 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尾数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&gt;E&lt;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指数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12E2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尾数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&gt;e&lt;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指数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12e2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对应的值：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尾数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&gt;×10 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</a:t>
            </a:r>
            <a:r>
              <a:rPr kumimoji="0" lang="zh-CN" altLang="en-US" sz="28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指数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</a:t>
            </a:r>
            <a:endParaRPr kumimoji="0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A85596-8096-4471-8ADE-2C0EDA844EA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6162" name="Rectangle 2"/>
          <p:cNvSpPr>
            <a:spLocks noGrp="1" noChangeArrowheads="1"/>
          </p:cNvSpPr>
          <p:nvPr>
            <p:ph idx="1"/>
          </p:nvPr>
        </p:nvSpPr>
        <p:spPr>
          <a:xfrm>
            <a:off x="0" y="1266825"/>
            <a:ext cx="10417175" cy="3152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合法的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定点表示法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的浮点数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12.34          0.25          71.0   7777.       .8888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非法的定点表示法的浮点数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5,204.65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grpSp>
        <p:nvGrpSpPr>
          <p:cNvPr id="59396" name="Group 3"/>
          <p:cNvGrpSpPr/>
          <p:nvPr/>
        </p:nvGrpSpPr>
        <p:grpSpPr>
          <a:xfrm>
            <a:off x="2438400" y="3581400"/>
            <a:ext cx="381000" cy="503238"/>
            <a:chOff x="4014" y="3475"/>
            <a:chExt cx="590" cy="454"/>
          </a:xfrm>
        </p:grpSpPr>
        <p:sp>
          <p:nvSpPr>
            <p:cNvPr id="59397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398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BFBDBE-7F6C-43C2-A201-64DDC50A646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8210" name="Rectangle 2"/>
          <p:cNvSpPr>
            <a:spLocks noGrp="1" noChangeArrowheads="1"/>
          </p:cNvSpPr>
          <p:nvPr>
            <p:ph idx="1"/>
          </p:nvPr>
        </p:nvSpPr>
        <p:spPr>
          <a:xfrm>
            <a:off x="-28575" y="296863"/>
            <a:ext cx="10569575" cy="6264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合法的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浮点表示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的浮点类型常量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34.789E4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34.789×10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.29e-5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	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0.29 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-5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534E+5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534 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5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4.7E-3	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4.7 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-3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0.0E0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 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755.E4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	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755.0 ×10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非法的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浮点表示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的浮点数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E5         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234E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grpSp>
        <p:nvGrpSpPr>
          <p:cNvPr id="61444" name="Group 3"/>
          <p:cNvGrpSpPr/>
          <p:nvPr/>
        </p:nvGrpSpPr>
        <p:grpSpPr>
          <a:xfrm>
            <a:off x="1143000" y="5257800"/>
            <a:ext cx="304800" cy="457200"/>
            <a:chOff x="4014" y="3475"/>
            <a:chExt cx="590" cy="454"/>
          </a:xfrm>
        </p:grpSpPr>
        <p:sp>
          <p:nvSpPr>
            <p:cNvPr id="61448" name="Line 4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49" name="Line 5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445" name="Group 6"/>
          <p:cNvGrpSpPr/>
          <p:nvPr/>
        </p:nvGrpSpPr>
        <p:grpSpPr>
          <a:xfrm>
            <a:off x="1651000" y="5948363"/>
            <a:ext cx="304800" cy="457200"/>
            <a:chOff x="4014" y="3475"/>
            <a:chExt cx="590" cy="454"/>
          </a:xfrm>
        </p:grpSpPr>
        <p:sp>
          <p:nvSpPr>
            <p:cNvPr id="61446" name="Line 7"/>
            <p:cNvSpPr/>
            <p:nvPr/>
          </p:nvSpPr>
          <p:spPr>
            <a:xfrm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47" name="Line 8"/>
            <p:cNvSpPr/>
            <p:nvPr/>
          </p:nvSpPr>
          <p:spPr>
            <a:xfrm flipH="1">
              <a:off x="4014" y="3475"/>
              <a:ext cx="590" cy="454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AB7055-8B4F-4B7E-9C65-A94F7586241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0258" name="Rectangle 2"/>
          <p:cNvSpPr>
            <a:spLocks noGrp="1" noChangeArrowheads="1"/>
          </p:cNvSpPr>
          <p:nvPr>
            <p:ph idx="1"/>
          </p:nvPr>
        </p:nvSpPr>
        <p:spPr>
          <a:xfrm>
            <a:off x="0" y="333375"/>
            <a:ext cx="9144000" cy="6372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由单引号括起来的一个字符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如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‘F'   ‘f'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字符串型常量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由双引号括起来的一串字符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如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“This is a string“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““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“Total expenditures:“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'T'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“T“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是不同的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'1'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 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是不同的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0" y="5791200"/>
            <a:ext cx="26670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char c1=‘1’;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int a=1;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543800" y="4830763"/>
            <a:ext cx="299085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char c1=‘T’;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char str[2]=“T”;</a:t>
            </a:r>
            <a:endParaRPr lang="zh-CN" alt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4E09E0-1E99-4311-AEAA-E203F151CA7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2306" name="Rectangle 2"/>
          <p:cNvSpPr>
            <a:spLocks noGrp="1" noChangeArrowheads="1"/>
          </p:cNvSpPr>
          <p:nvPr>
            <p:ph idx="1"/>
          </p:nvPr>
        </p:nvSpPr>
        <p:spPr>
          <a:xfrm>
            <a:off x="11113" y="0"/>
            <a:ext cx="12180888" cy="594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字符转义符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源程序中无法或很难直接输入的字符，如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换行符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使用场合：在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字符型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字符串型常量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中使用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使用形式：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反斜杠后跟一个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特殊字符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，代表特殊意义，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如：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’\n’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(ii)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反斜杠后跟一个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八进制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或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十六进制整数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如：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’\101’,’\X41’ 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表示的字符是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ASCII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码值为相应整数的字符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charRg st="5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2306">
                                            <p:txEl>
                                              <p:charRg st="55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charRg st="8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2306">
                                            <p:txEl>
                                              <p:charRg st="85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charRg st="12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2306">
                                            <p:txEl>
                                              <p:charRg st="124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7C5237-F2D1-4F28-BFA2-C769CE55759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4354" name="Group 2"/>
          <p:cNvGraphicFramePr>
            <a:graphicFrameLocks noGrp="1"/>
          </p:cNvGraphicFramePr>
          <p:nvPr>
            <p:ph idx="1"/>
          </p:nvPr>
        </p:nvGraphicFramePr>
        <p:xfrm>
          <a:off x="1524000" y="647700"/>
          <a:ext cx="9144000" cy="6218244"/>
        </p:xfrm>
        <a:graphic>
          <a:graphicData uri="http://schemas.openxmlformats.org/drawingml/2006/table">
            <a:tbl>
              <a:tblPr/>
              <a:tblGrid>
                <a:gridCol w="1757363"/>
                <a:gridCol w="3717925"/>
                <a:gridCol w="3668712"/>
              </a:tblGrid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转义符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ASCII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码（十进制）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警报，如铃声，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退格符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\t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水平制表符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换行符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\v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垂直制表符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换页符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\r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回车符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\”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双引号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\’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单引号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\?              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问号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\\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反斜杠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4408" name="Rectangle 56"/>
          <p:cNvSpPr>
            <a:spLocks noGrp="1" noChangeArrowheads="1"/>
          </p:cNvSpPr>
          <p:nvPr>
            <p:ph idx="1"/>
          </p:nvPr>
        </p:nvSpPr>
        <p:spPr>
          <a:xfrm>
            <a:off x="1847850" y="117475"/>
            <a:ext cx="8496300" cy="647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反斜杠后跟一个特殊字符，代表的符号含义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4409" name="Text Box 57"/>
          <p:cNvSpPr txBox="1"/>
          <p:nvPr/>
        </p:nvSpPr>
        <p:spPr>
          <a:xfrm>
            <a:off x="4267200" y="5257800"/>
            <a:ext cx="106680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'</a:t>
            </a:r>
            <a:r>
              <a:rPr lang="en-US" altLang="zh-CN" b="1" dirty="0"/>
              <a:t>'</a:t>
            </a:r>
            <a:r>
              <a:rPr lang="en-US" altLang="zh-CN" b="1" dirty="0">
                <a:solidFill>
                  <a:srgbClr val="FFC000"/>
                </a:solidFill>
              </a:rPr>
              <a:t>'</a:t>
            </a:r>
            <a:endParaRPr lang="en-US" altLang="zh-CN" b="1" dirty="0">
              <a:solidFill>
                <a:srgbClr val="FFC000"/>
              </a:solidFill>
            </a:endParaRPr>
          </a:p>
        </p:txBody>
      </p:sp>
      <p:sp>
        <p:nvSpPr>
          <p:cNvPr id="484410" name="Text Box 58"/>
          <p:cNvSpPr txBox="1"/>
          <p:nvPr/>
        </p:nvSpPr>
        <p:spPr>
          <a:xfrm>
            <a:off x="6172200" y="5257800"/>
            <a:ext cx="106680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'</a:t>
            </a:r>
            <a:r>
              <a:rPr lang="en-US" altLang="zh-CN" b="1" dirty="0">
                <a:solidFill>
                  <a:schemeClr val="tx1"/>
                </a:solidFill>
              </a:rPr>
              <a:t>\'</a:t>
            </a:r>
            <a:r>
              <a:rPr lang="en-US" altLang="zh-CN" b="1" dirty="0">
                <a:solidFill>
                  <a:schemeClr val="hlink"/>
                </a:solidFill>
              </a:rPr>
              <a:t>'</a:t>
            </a:r>
            <a:endParaRPr lang="en-US" altLang="zh-CN" b="1" dirty="0">
              <a:solidFill>
                <a:schemeClr val="hlink"/>
              </a:solidFill>
            </a:endParaRPr>
          </a:p>
        </p:txBody>
      </p:sp>
      <p:sp>
        <p:nvSpPr>
          <p:cNvPr id="484411" name="AutoShape 59"/>
          <p:cNvSpPr/>
          <p:nvPr/>
        </p:nvSpPr>
        <p:spPr>
          <a:xfrm>
            <a:off x="5334000" y="54102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484412" name="Text Box 60"/>
          <p:cNvSpPr txBox="1"/>
          <p:nvPr/>
        </p:nvSpPr>
        <p:spPr>
          <a:xfrm>
            <a:off x="4267200" y="4724400"/>
            <a:ext cx="106680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"</a:t>
            </a:r>
            <a:r>
              <a:rPr lang="en-US" altLang="zh-CN" b="1" dirty="0"/>
              <a:t>"</a:t>
            </a:r>
            <a:r>
              <a:rPr lang="en-US" altLang="zh-CN" b="1" dirty="0">
                <a:solidFill>
                  <a:srgbClr val="FFC000"/>
                </a:solidFill>
              </a:rPr>
              <a:t>"</a:t>
            </a:r>
            <a:endParaRPr lang="en-US" altLang="zh-CN" b="1" dirty="0">
              <a:solidFill>
                <a:srgbClr val="FFC000"/>
              </a:solidFill>
            </a:endParaRPr>
          </a:p>
        </p:txBody>
      </p:sp>
      <p:sp>
        <p:nvSpPr>
          <p:cNvPr id="11" name="Text Box 58"/>
          <p:cNvSpPr txBox="1"/>
          <p:nvPr/>
        </p:nvSpPr>
        <p:spPr>
          <a:xfrm>
            <a:off x="4267200" y="6278563"/>
            <a:ext cx="1219200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'</a:t>
            </a:r>
            <a:r>
              <a:rPr lang="en-US" altLang="zh-CN" b="1" dirty="0">
                <a:solidFill>
                  <a:schemeClr val="tx1"/>
                </a:solidFill>
              </a:rPr>
              <a:t>\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\</a:t>
            </a:r>
            <a:r>
              <a:rPr lang="en-US" altLang="zh-CN" b="1" dirty="0">
                <a:solidFill>
                  <a:schemeClr val="hlink"/>
                </a:solidFill>
              </a:rPr>
              <a:t>'</a:t>
            </a:r>
            <a:endParaRPr lang="en-US" altLang="zh-CN" b="1" dirty="0">
              <a:solidFill>
                <a:schemeClr val="hlink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34000" y="4678363"/>
            <a:ext cx="1905000" cy="579437"/>
            <a:chOff x="3810000" y="4678363"/>
            <a:chExt cx="1905000" cy="579437"/>
          </a:xfrm>
        </p:grpSpPr>
        <p:sp>
          <p:nvSpPr>
            <p:cNvPr id="67648" name="AutoShape 61"/>
            <p:cNvSpPr/>
            <p:nvPr/>
          </p:nvSpPr>
          <p:spPr>
            <a:xfrm>
              <a:off x="3810000" y="4953000"/>
              <a:ext cx="838200" cy="304800"/>
            </a:xfrm>
            <a:prstGeom prst="rightArrow">
              <a:avLst>
                <a:gd name="adj1" fmla="val 50000"/>
                <a:gd name="adj2" fmla="val 6875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/>
            </a:p>
          </p:txBody>
        </p:sp>
        <p:sp>
          <p:nvSpPr>
            <p:cNvPr id="67649" name="Text Box 60"/>
            <p:cNvSpPr txBox="1"/>
            <p:nvPr/>
          </p:nvSpPr>
          <p:spPr>
            <a:xfrm>
              <a:off x="4648200" y="4678363"/>
              <a:ext cx="1066800" cy="579437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C000"/>
                  </a:solidFill>
                </a:rPr>
                <a:t>“</a:t>
              </a:r>
              <a:r>
                <a:rPr lang="en-US" altLang="zh-CN" b="1" dirty="0">
                  <a:solidFill>
                    <a:schemeClr val="tx1"/>
                  </a:solidFill>
                </a:rPr>
                <a:t>\</a:t>
              </a:r>
              <a:r>
                <a:rPr lang="en-US" altLang="zh-CN" b="1" dirty="0"/>
                <a:t>"</a:t>
              </a:r>
              <a:r>
                <a:rPr lang="en-US" altLang="zh-CN" b="1" dirty="0">
                  <a:solidFill>
                    <a:srgbClr val="FFC000"/>
                  </a:solidFill>
                </a:rPr>
                <a:t>"</a:t>
              </a:r>
              <a:endParaRPr lang="en-US" altLang="zh-CN" b="1" dirty="0">
                <a:solidFill>
                  <a:srgbClr val="FFC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409" grpId="0" bldLvl="0" animBg="1"/>
      <p:bldP spid="484410" grpId="0" bldLvl="0" animBg="1"/>
      <p:bldP spid="484411" grpId="0" bldLvl="0" animBg="1"/>
      <p:bldP spid="484412" grpId="0" bldLvl="0" animBg="1"/>
      <p:bldP spid="11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6B4685-9B36-47C5-9B03-89F7C5B1955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9636" name="Picture 3"/>
          <p:cNvPicPr>
            <a:picLocks noChangeAspect="1"/>
          </p:cNvPicPr>
          <p:nvPr/>
        </p:nvPicPr>
        <p:blipFill>
          <a:blip r:embed="rId1"/>
          <a:srcRect t="38966" r="2420"/>
          <a:stretch>
            <a:fillRect/>
          </a:stretch>
        </p:blipFill>
        <p:spPr>
          <a:xfrm>
            <a:off x="23813" y="708025"/>
            <a:ext cx="2397125" cy="1336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7" name="TextBox 3"/>
          <p:cNvSpPr txBox="1"/>
          <p:nvPr/>
        </p:nvSpPr>
        <p:spPr>
          <a:xfrm>
            <a:off x="-152400" y="0"/>
            <a:ext cx="1164336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思考</a:t>
            </a:r>
            <a:r>
              <a:rPr lang="en-US" altLang="zh-CN" sz="3600" b="1" dirty="0"/>
              <a:t>】</a:t>
            </a:r>
            <a:r>
              <a:rPr lang="zh-CN" altLang="en-US" sz="3600" b="1" dirty="0"/>
              <a:t>如何用一个</a:t>
            </a:r>
            <a:r>
              <a:rPr lang="en-US" altLang="zh-CN" sz="3600" b="1" dirty="0"/>
              <a:t>printf</a:t>
            </a:r>
            <a:r>
              <a:rPr lang="zh-CN" altLang="en-US" sz="3600" b="1" dirty="0"/>
              <a:t>语句输出如下字符串？</a:t>
            </a:r>
            <a:endParaRPr lang="zh-CN" altLang="en-US" sz="36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33600"/>
            <a:ext cx="9654540" cy="4578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9C0E38-7756-40A6-B53D-7B259DD9DA6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6402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2192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(ii)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反斜杠后跟一个八进制或十六进制整数，表示的字符是：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ASCII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码值为相应整数的字符。例如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‘\52’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*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‘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\101’ 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‘\141’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‘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\x41’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‘\x61’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  ‘\0’ 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看作字符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6403" name="Text Box 3"/>
          <p:cNvSpPr txBox="1">
            <a:spLocks noChangeArrowheads="1"/>
          </p:cNvSpPr>
          <p:nvPr/>
        </p:nvSpPr>
        <p:spPr bwMode="auto">
          <a:xfrm>
            <a:off x="7138988" y="1358900"/>
            <a:ext cx="5029200" cy="5478463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如何将字符常量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’A’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存入变量</a:t>
            </a:r>
            <a:r>
              <a:rPr kumimoji="0" lang="en-US" altLang="zh-CN" sz="2800" kern="1200" cap="none" spc="0" normalizeH="0" baseline="0" noProof="0" dirty="0" err="1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zh-CN" altLang="en-US" sz="2800" kern="1200" cap="none" spc="0" normalizeH="0" baseline="0" noProof="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？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‘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 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‘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\101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‘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\x41</a:t>
            </a:r>
            <a:r>
              <a:rPr kumimoji="0" lang="en-US" altLang="zh-CN" sz="2800" kern="1200" cap="none" spc="0" normalizeH="0" baseline="0" noProof="0" dirty="0">
                <a:latin typeface="Arial" panose="020B0604020202020204"/>
                <a:ea typeface="宋体" panose="02010600030101010101" pitchFamily="2" charset="-122"/>
                <a:cs typeface="+mn-cs"/>
              </a:rPr>
              <a:t>’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65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(“%c”,&amp;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//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getchar</a:t>
            </a:r>
            <a:r>
              <a:rPr kumimoji="0" lang="en-US" altLang="zh-CN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(); //</a:t>
            </a:r>
            <a:r>
              <a:rPr kumimoji="0" lang="zh-CN" altLang="en-US" sz="28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en-US" altLang="zh-CN" sz="28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64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64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6403">
                                            <p:txEl>
                                              <p:charRg st="23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6403">
                                            <p:txEl>
                                              <p:charRg st="32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6403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6403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6403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6403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6403">
                                            <p:txEl>
                                              <p:charRg st="110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uiExpand="1" build="allAtOnce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E883A7-88B7-48F8-8F86-D7FDA645466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229600" cy="609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(2)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符号常量</a:t>
            </a: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: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用一个标识符代表常量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>
          <a:xfrm>
            <a:off x="0" y="685800"/>
            <a:ext cx="10668000" cy="6172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一个常量多次用到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方便修改常量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数据保护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如何声明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标识符  常量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PASS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60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3.14159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#define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EPS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1E-5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习惯上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符号常量用大写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变量名用小写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以示区别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8451">
                                            <p:txEl>
                                              <p:charRg st="103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97F84A-6495-409D-AD21-C4EE249FC0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9474" name="Rectangle 2"/>
          <p:cNvSpPr>
            <a:spLocks noGrp="1" noChangeArrowheads="1"/>
          </p:cNvSpPr>
          <p:nvPr>
            <p:ph idx="1"/>
          </p:nvPr>
        </p:nvSpPr>
        <p:spPr>
          <a:xfrm>
            <a:off x="887413" y="973138"/>
            <a:ext cx="3532188" cy="4711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#define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3.14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#define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10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float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x=2*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y=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9475" name="Rectangle 3"/>
          <p:cNvSpPr>
            <a:spLocks noChangeArrowheads="1"/>
          </p:cNvSpPr>
          <p:nvPr/>
        </p:nvSpPr>
        <p:spPr bwMode="auto">
          <a:xfrm>
            <a:off x="7467600" y="1117600"/>
            <a:ext cx="3816350" cy="3490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float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x=2*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3.14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y=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3.14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return 0;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9476" name="AutoShape 4"/>
          <p:cNvSpPr/>
          <p:nvPr/>
        </p:nvSpPr>
        <p:spPr>
          <a:xfrm>
            <a:off x="4979988" y="2781300"/>
            <a:ext cx="1081087" cy="647700"/>
          </a:xfrm>
          <a:prstGeom prst="rightArrow">
            <a:avLst>
              <a:gd name="adj1" fmla="val 50000"/>
              <a:gd name="adj2" fmla="val 4172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76806" name="Text Box 5"/>
          <p:cNvSpPr txBox="1"/>
          <p:nvPr/>
        </p:nvSpPr>
        <p:spPr>
          <a:xfrm>
            <a:off x="2971800" y="5715000"/>
            <a:ext cx="525780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宏替换：简单的字符替换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76807" name="AutoShape 7"/>
          <p:cNvSpPr/>
          <p:nvPr/>
        </p:nvSpPr>
        <p:spPr>
          <a:xfrm>
            <a:off x="1052513" y="228600"/>
            <a:ext cx="1524000" cy="609600"/>
          </a:xfrm>
          <a:prstGeom prst="wedgeEllipseCallout">
            <a:avLst>
              <a:gd name="adj1" fmla="val 51250"/>
              <a:gd name="adj2" fmla="val 825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宏名</a:t>
            </a:r>
            <a:endParaRPr lang="zh-CN" altLang="en-US" b="1" dirty="0"/>
          </a:p>
        </p:txBody>
      </p:sp>
      <p:sp>
        <p:nvSpPr>
          <p:cNvPr id="76808" name="AutoShape 8"/>
          <p:cNvSpPr/>
          <p:nvPr/>
        </p:nvSpPr>
        <p:spPr>
          <a:xfrm>
            <a:off x="3455988" y="258763"/>
            <a:ext cx="1524000" cy="609600"/>
          </a:xfrm>
          <a:prstGeom prst="wedgeEllipseCallout">
            <a:avLst>
              <a:gd name="adj1" fmla="val -38125"/>
              <a:gd name="adj2" fmla="val 8489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宏体</a:t>
            </a:r>
            <a:endParaRPr lang="zh-CN" alt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bldLvl="0" animBg="1"/>
      <p:bldP spid="489476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01CE0C-1A41-47E1-8907-6CC7919A6EA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0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241300"/>
            <a:ext cx="4191000" cy="5194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思考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运行结果？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#define M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3+4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int main(){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y=M*M;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printf(“%d\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n”,y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return 0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}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3571" name="AutoShape 3"/>
          <p:cNvSpPr/>
          <p:nvPr/>
        </p:nvSpPr>
        <p:spPr>
          <a:xfrm>
            <a:off x="5167313" y="2514600"/>
            <a:ext cx="1081087" cy="647700"/>
          </a:xfrm>
          <a:prstGeom prst="rightArrow">
            <a:avLst>
              <a:gd name="adj1" fmla="val 50000"/>
              <a:gd name="adj2" fmla="val 4172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493572" name="Rectangle 4"/>
          <p:cNvSpPr>
            <a:spLocks noChangeArrowheads="1"/>
          </p:cNvSpPr>
          <p:nvPr/>
        </p:nvSpPr>
        <p:spPr bwMode="auto">
          <a:xfrm>
            <a:off x="7620000" y="0"/>
            <a:ext cx="3886200" cy="464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y;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y=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3+4*3+4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printf(“%d\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n”,y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return 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4" name="AutoShape 5">
            <a:hlinkClick r:id="rId1" action="ppaction://program"/>
          </p:cNvPr>
          <p:cNvSpPr/>
          <p:nvPr/>
        </p:nvSpPr>
        <p:spPr>
          <a:xfrm>
            <a:off x="263525" y="5989638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2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493574" name="Text Box 6"/>
          <p:cNvSpPr txBox="1">
            <a:spLocks noChangeArrowheads="1"/>
          </p:cNvSpPr>
          <p:nvPr/>
        </p:nvSpPr>
        <p:spPr bwMode="auto">
          <a:xfrm>
            <a:off x="3602038" y="5337175"/>
            <a:ext cx="8596313" cy="1169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符号常量在其作用域内不能改变，也不能再被赋值</a:t>
            </a:r>
            <a:endParaRPr kumimoji="0" lang="en-US" altLang="zh-CN" sz="2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M=40;</a:t>
            </a:r>
            <a:endParaRPr kumimoji="0" lang="en-US" altLang="zh-CN" sz="2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032375" y="6096000"/>
            <a:ext cx="271463" cy="381000"/>
            <a:chOff x="2789" y="482"/>
            <a:chExt cx="2767" cy="2540"/>
          </a:xfrm>
        </p:grpSpPr>
        <p:sp>
          <p:nvSpPr>
            <p:cNvPr id="78858" name="Line 8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59" name="Line 9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80907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3" y="5618163"/>
            <a:ext cx="2514600" cy="1235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1" grpId="0" bldLvl="0" animBg="1"/>
      <p:bldP spid="493572" grpId="0" bldLvl="0" animBg="1"/>
      <p:bldP spid="493574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F8FCD1-0D23-4FD4-873C-FE0D0B772CD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31" name="Text Box 11"/>
          <p:cNvSpPr txBox="1"/>
          <p:nvPr/>
        </p:nvSpPr>
        <p:spPr>
          <a:xfrm>
            <a:off x="457200" y="152400"/>
            <a:ext cx="10532745" cy="353822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1" dirty="0"/>
              <a:t>宏定义是预处理命令</a:t>
            </a:r>
            <a:r>
              <a:rPr lang="en-US" altLang="zh-CN" b="1" dirty="0"/>
              <a:t>,</a:t>
            </a:r>
            <a:r>
              <a:rPr lang="zh-CN" altLang="en-US" b="1" dirty="0"/>
              <a:t>不是</a:t>
            </a:r>
            <a:r>
              <a:rPr lang="en-US" altLang="zh-CN" b="1" dirty="0"/>
              <a:t>C</a:t>
            </a:r>
            <a:r>
              <a:rPr lang="zh-CN" altLang="en-US" b="1" dirty="0"/>
              <a:t>语句，不能有分号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/>
              <a:t>#define PI 3.14;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b="1" dirty="0"/>
              <a:t>一个宏定义占一行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#define PI 3.14 #define R 10</a:t>
            </a:r>
            <a:endParaRPr lang="zh-CN" altLang="en-US" b="1" dirty="0"/>
          </a:p>
        </p:txBody>
      </p:sp>
      <p:grpSp>
        <p:nvGrpSpPr>
          <p:cNvPr id="3" name="Group 13"/>
          <p:cNvGrpSpPr/>
          <p:nvPr/>
        </p:nvGrpSpPr>
        <p:grpSpPr>
          <a:xfrm>
            <a:off x="6705600" y="3124200"/>
            <a:ext cx="304800" cy="541338"/>
            <a:chOff x="2789" y="482"/>
            <a:chExt cx="2767" cy="2540"/>
          </a:xfrm>
        </p:grpSpPr>
        <p:sp>
          <p:nvSpPr>
            <p:cNvPr id="80906" name="Line 14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07" name="Line 15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0904" name="AutoShape 10">
            <a:hlinkClick r:id="rId1" action="ppaction://hlinksldjump"/>
          </p:cNvPr>
          <p:cNvSpPr/>
          <p:nvPr/>
        </p:nvSpPr>
        <p:spPr>
          <a:xfrm>
            <a:off x="11506200" y="5700713"/>
            <a:ext cx="685800" cy="457200"/>
          </a:xfrm>
          <a:prstGeom prst="curvedUpArrow">
            <a:avLst>
              <a:gd name="adj1" fmla="val 30000"/>
              <a:gd name="adj2" fmla="val 60000"/>
              <a:gd name="adj3" fmla="val 33328"/>
            </a:avLst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384810" y="4191000"/>
            <a:ext cx="11807190" cy="2553335"/>
          </a:xfrm>
          <a:prstGeom prst="rect">
            <a:avLst/>
          </a:prstGeom>
          <a:noFill/>
          <a:ln>
            <a:solidFill>
              <a:srgbClr val="92D05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预处理：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预处理过程先于编译器对源代码进行处理，该过程扫描源代码，对其进行初步的转换，产生新的源代码提供给编译器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文件包含 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宏定义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条件编译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4343400" y="990600"/>
            <a:ext cx="304800" cy="541338"/>
            <a:chOff x="2789" y="482"/>
            <a:chExt cx="2767" cy="2540"/>
          </a:xfrm>
        </p:grpSpPr>
        <p:sp>
          <p:nvSpPr>
            <p:cNvPr id="4" name="Line 14"/>
            <p:cNvSpPr/>
            <p:nvPr/>
          </p:nvSpPr>
          <p:spPr>
            <a:xfrm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Line 15"/>
            <p:cNvSpPr/>
            <p:nvPr/>
          </p:nvSpPr>
          <p:spPr>
            <a:xfrm flipH="1">
              <a:off x="2789" y="482"/>
              <a:ext cx="2767" cy="2540"/>
            </a:xfrm>
            <a:prstGeom prst="line">
              <a:avLst/>
            </a:prstGeom>
            <a:ln w="57150" cap="flat" cmpd="sng">
              <a:solidFill>
                <a:srgbClr val="FF1515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2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6" name="图片 3"/>
          <p:cNvPicPr>
            <a:picLocks noChangeAspect="1"/>
          </p:cNvPicPr>
          <p:nvPr/>
        </p:nvPicPr>
        <p:blipFill>
          <a:blip r:embed="rId1"/>
          <a:srcRect t="61867"/>
          <a:stretch>
            <a:fillRect/>
          </a:stretch>
        </p:blipFill>
        <p:spPr>
          <a:xfrm>
            <a:off x="1524000" y="4038600"/>
            <a:ext cx="9147175" cy="2236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676400" y="152400"/>
            <a:ext cx="82296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常见编译错误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2948" name="图片 3"/>
          <p:cNvPicPr>
            <a:picLocks noChangeAspect="1"/>
          </p:cNvPicPr>
          <p:nvPr/>
        </p:nvPicPr>
        <p:blipFill>
          <a:blip r:embed="rId1"/>
          <a:srcRect b="46754"/>
          <a:stretch>
            <a:fillRect/>
          </a:stretch>
        </p:blipFill>
        <p:spPr>
          <a:xfrm>
            <a:off x="1520825" y="914400"/>
            <a:ext cx="9150350" cy="312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85F73C-25AD-4B03-8CB2-E5D0383203D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  量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4575175"/>
            <a:ext cx="10304463" cy="1444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这些在程序执行期间值可变的数据对象称为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(Variable)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程序设计语言中变量的概念与数学中变量的概念类似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auto">
          <a:xfrm>
            <a:off x="180975" y="454025"/>
            <a:ext cx="10133013" cy="365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1.1】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鸡兔同笼问题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 ,y;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=(4*35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94)/2;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=35-x;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printf("%d %d",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return 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601200" y="6324283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B20912-B299-440D-B090-6F66035E96B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6642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52400"/>
            <a:ext cx="9753600" cy="541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是程序执行期间值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可变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的数据对象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变量值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：程序运行某一刻，变量具有的值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变量属性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名字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数据类型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存储空间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存储地址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cs typeface="+mn-ea"/>
                <a:sym typeface="+mn-ea"/>
              </a:rPr>
              <a:t>作用域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72005" y="5377180"/>
            <a:ext cx="8747760" cy="1069340"/>
            <a:chOff x="3263" y="8468"/>
            <a:chExt cx="13776" cy="1684"/>
          </a:xfrm>
        </p:grpSpPr>
        <p:grpSp>
          <p:nvGrpSpPr>
            <p:cNvPr id="2" name="Group 3"/>
            <p:cNvGrpSpPr/>
            <p:nvPr/>
          </p:nvGrpSpPr>
          <p:grpSpPr>
            <a:xfrm>
              <a:off x="5647" y="8640"/>
              <a:ext cx="5273" cy="1513"/>
              <a:chOff x="1375" y="3421"/>
              <a:chExt cx="1967" cy="605"/>
            </a:xfrm>
          </p:grpSpPr>
          <p:sp>
            <p:nvSpPr>
              <p:cNvPr id="86026" name="Text Box 4"/>
              <p:cNvSpPr txBox="1"/>
              <p:nvPr/>
            </p:nvSpPr>
            <p:spPr>
              <a:xfrm>
                <a:off x="2201" y="3737"/>
                <a:ext cx="1141" cy="2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5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86027" name="Text Box 5"/>
              <p:cNvSpPr txBox="1"/>
              <p:nvPr/>
            </p:nvSpPr>
            <p:spPr>
              <a:xfrm>
                <a:off x="2201" y="3421"/>
                <a:ext cx="33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V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86028" name="Text Box 6"/>
              <p:cNvSpPr txBox="1"/>
              <p:nvPr/>
            </p:nvSpPr>
            <p:spPr>
              <a:xfrm>
                <a:off x="1375" y="3697"/>
                <a:ext cx="76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/>
                  <a:t>0F000:</a:t>
                </a:r>
                <a:endParaRPr lang="en-US" altLang="zh-CN" sz="2400" b="1" dirty="0"/>
              </a:p>
            </p:txBody>
          </p:sp>
        </p:grpSp>
        <p:sp>
          <p:nvSpPr>
            <p:cNvPr id="497671" name="AutoShape 7"/>
            <p:cNvSpPr/>
            <p:nvPr/>
          </p:nvSpPr>
          <p:spPr>
            <a:xfrm>
              <a:off x="3263" y="8468"/>
              <a:ext cx="3577" cy="792"/>
            </a:xfrm>
            <a:prstGeom prst="wedgeEllipseCallout">
              <a:avLst>
                <a:gd name="adj1" fmla="val 62815"/>
                <a:gd name="adj2" fmla="val 70190"/>
              </a:avLst>
            </a:prstGeom>
            <a:noFill/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变量地址</a:t>
              </a:r>
              <a:endParaRPr lang="zh-CN" altLang="en-US" sz="2400" b="1" dirty="0"/>
            </a:p>
          </p:txBody>
        </p:sp>
        <p:sp>
          <p:nvSpPr>
            <p:cNvPr id="497674" name="AutoShape 10"/>
            <p:cNvSpPr/>
            <p:nvPr/>
          </p:nvSpPr>
          <p:spPr>
            <a:xfrm>
              <a:off x="11995" y="9120"/>
              <a:ext cx="5045" cy="950"/>
            </a:xfrm>
            <a:prstGeom prst="wedgeEllipseCallout">
              <a:avLst>
                <a:gd name="adj1" fmla="val -73968"/>
                <a:gd name="adj2" fmla="val 17630"/>
              </a:avLst>
            </a:prstGeom>
            <a:noFill/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变量的存储区</a:t>
              </a:r>
              <a:endParaRPr lang="zh-CN" altLang="en-US" sz="2400" b="1" dirty="0"/>
            </a:p>
          </p:txBody>
        </p:sp>
      </p:grpSp>
      <p:sp>
        <p:nvSpPr>
          <p:cNvPr id="497675" name="Rectangle 11"/>
          <p:cNvSpPr>
            <a:spLocks noChangeArrowheads="1"/>
          </p:cNvSpPr>
          <p:nvPr/>
        </p:nvSpPr>
        <p:spPr bwMode="auto">
          <a:xfrm>
            <a:off x="4519930" y="3645535"/>
            <a:ext cx="2638425" cy="645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v=5;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91E9A-B132-4966-99A8-B8B70E0109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10398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变量定义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>
          <a:xfrm>
            <a:off x="3175" y="1202055"/>
            <a:ext cx="7018020" cy="50780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引进新变量，并规定所引变量的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属性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一般形式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id , id , ... , id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float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ab,bd,ad,bc,cd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;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int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i , j , k=5 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	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char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c 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lang="en-US" altLang="zh-CN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lang="en-US" altLang="zh-CN" b="1" kern="12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bool</a:t>
            </a:r>
            <a:r>
              <a:rPr lang="en-US" altLang="zh-CN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flag 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914981-04C3-4C50-B242-BD90DA32ACE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239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变量地址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01763" name="Rectangle 3"/>
          <p:cNvSpPr>
            <a:spLocks noGrp="1" noChangeArrowheads="1"/>
          </p:cNvSpPr>
          <p:nvPr>
            <p:ph idx="1"/>
          </p:nvPr>
        </p:nvSpPr>
        <p:spPr>
          <a:xfrm>
            <a:off x="0" y="1125538"/>
            <a:ext cx="10668000" cy="4973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变量地址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变量在内存中的所在位置，即内存地址。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求地址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将单目运算符“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&amp;”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，缀在变量前，求相应变量地址。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被分配在内存地址为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0F000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开始的存储区域的变量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V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&amp;V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的值就是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0F000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，也称为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的指针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102AEA-A880-424F-A19D-BFC90AFE9A0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0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457200"/>
            <a:ext cx="12115800" cy="3733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课后实践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printf("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的值是：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printf("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系统为变量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分配的存储空间为：首地址为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的连续的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个字节。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sizeof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(v)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3812" name="Rectangle 4"/>
          <p:cNvSpPr>
            <a:spLocks noChangeArrowheads="1"/>
          </p:cNvSpPr>
          <p:nvPr/>
        </p:nvSpPr>
        <p:spPr bwMode="auto">
          <a:xfrm>
            <a:off x="7029450" y="17463"/>
            <a:ext cx="5133975" cy="1447800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变量的属性：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名字、数据类型、作用域、值、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存储空间、地址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DDB1B6-CF3F-4E37-B06B-7F28832FF62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981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变量初始化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12115800" cy="5732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 =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初值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u,v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=5;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=0 , j=1 , k=100*2, m=k*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*j;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		char   c=‘A’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enum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tLight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red,yellow,green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} light1 = red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变量在定义时被赋以初值，则在程序开始运行时，它便取得了相应值。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6948488" y="1196975"/>
            <a:ext cx="5105400" cy="21240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ege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整数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acter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字符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ing point numbers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浮点数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enumerate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IMING" val="|45.2|34.5|22.4|13.5"/>
</p:tagLst>
</file>

<file path=ppt/tags/tag2.xml><?xml version="1.0" encoding="utf-8"?>
<p:tagLst xmlns:p="http://schemas.openxmlformats.org/presentationml/2006/main">
  <p:tag name="TIMING" val="|45.2|34.5|22.4|13.5"/>
</p:tagLst>
</file>

<file path=ppt/tags/tag3.xml><?xml version="1.0" encoding="utf-8"?>
<p:tagLst xmlns:p="http://schemas.openxmlformats.org/presentationml/2006/main">
  <p:tag name="TIMING" val="|0.9|0.8|0.6|0.8|0.9|0.7|0.7|0.7|1.3|5.5|1.3|0.7|0.8"/>
</p:tagLst>
</file>

<file path=ppt/tags/tag4.xml><?xml version="1.0" encoding="utf-8"?>
<p:tagLst xmlns:p="http://schemas.openxmlformats.org/presentationml/2006/main">
  <p:tag name="TIMING" val="|135.0|9.8|2.0"/>
</p:tagLst>
</file>

<file path=ppt/tags/tag5.xml><?xml version="1.0" encoding="utf-8"?>
<p:tagLst xmlns:p="http://schemas.openxmlformats.org/presentationml/2006/main">
  <p:tag name="TIMING" val="|0.6|2.0|1.8|1.1|0.7|0.7|0.6|16.4"/>
</p:tagLst>
</file>

<file path=ppt/tags/tag6.xml><?xml version="1.0" encoding="utf-8"?>
<p:tagLst xmlns:p="http://schemas.openxmlformats.org/presentationml/2006/main">
  <p:tag name="TIMING" val="|1.1|0.7"/>
</p:tagLst>
</file>

<file path=ppt/tags/tag7.xml><?xml version="1.0" encoding="utf-8"?>
<p:tagLst xmlns:p="http://schemas.openxmlformats.org/presentationml/2006/main">
  <p:tag name="TIMING" val="|2.4|1.0"/>
</p:tagLst>
</file>

<file path=ppt/tags/tag8.xml><?xml version="1.0" encoding="utf-8"?>
<p:tagLst xmlns:p="http://schemas.openxmlformats.org/presentationml/2006/main">
  <p:tag name="TIMING" val="|0.4|0.7|1.0"/>
</p:tagLst>
</file>

<file path=ppt/tags/tag9.xml><?xml version="1.0" encoding="utf-8"?>
<p:tagLst xmlns:p="http://schemas.openxmlformats.org/presentationml/2006/main">
  <p:tag name="TIMING" val="|2.3|0.8|0.7|0.6|0.7|0.6"/>
</p:tagLst>
</file>

<file path=ppt/tags/tag10.xml><?xml version="1.0" encoding="utf-8"?>
<p:tagLst xmlns:p="http://schemas.openxmlformats.org/presentationml/2006/main">
  <p:tag name="TIMING" val="|0.6|0.7"/>
</p:tagLst>
</file>

<file path=ppt/tags/tag11.xml><?xml version="1.0" encoding="utf-8"?>
<p:tagLst xmlns:p="http://schemas.openxmlformats.org/presentationml/2006/main">
  <p:tag name="TIMING" val="|0.4|0.8|0.8"/>
</p:tagLst>
</file>

<file path=ppt/tags/tag12.xml><?xml version="1.0" encoding="utf-8"?>
<p:tagLst xmlns:p="http://schemas.openxmlformats.org/presentationml/2006/main">
  <p:tag name="TIMING" val="|0.4"/>
</p:tagLst>
</file>

<file path=ppt/tags/tag13.xml><?xml version="1.0" encoding="utf-8"?>
<p:tagLst xmlns:p="http://schemas.openxmlformats.org/presentationml/2006/main">
  <p:tag name="TIMING" val="|1.0|13.1|0.8|4.3|3.5|1.5|3.9|0.8|0.9|0.8"/>
</p:tagLst>
</file>

<file path=ppt/tags/tag14.xml><?xml version="1.0" encoding="utf-8"?>
<p:tagLst xmlns:p="http://schemas.openxmlformats.org/presentationml/2006/main">
  <p:tag name="TIMING" val="|1.0|13.1|0.8|4.3|3.5|1.5|3.9|0.8|0.9|0.8"/>
</p:tagLst>
</file>

<file path=ppt/tags/tag15.xml><?xml version="1.0" encoding="utf-8"?>
<p:tagLst xmlns:p="http://schemas.openxmlformats.org/presentationml/2006/main">
  <p:tag name="TIMING" val="|1.4"/>
</p:tagLst>
</file>

<file path=ppt/tags/tag16.xml><?xml version="1.0" encoding="utf-8"?>
<p:tagLst xmlns:p="http://schemas.openxmlformats.org/presentationml/2006/main">
  <p:tag name="TIMING" val="|1.4"/>
</p:tagLst>
</file>

<file path=ppt/tags/tag17.xml><?xml version="1.0" encoding="utf-8"?>
<p:tagLst xmlns:p="http://schemas.openxmlformats.org/presentationml/2006/main">
  <p:tag name="TIMING" val="|1.4"/>
</p:tagLst>
</file>

<file path=ppt/tags/tag18.xml><?xml version="1.0" encoding="utf-8"?>
<p:tagLst xmlns:p="http://schemas.openxmlformats.org/presentationml/2006/main">
  <p:tag name="TIMING" val="|13.6|0.9"/>
</p:tagLst>
</file>

<file path=ppt/tags/tag19.xml><?xml version="1.0" encoding="utf-8"?>
<p:tagLst xmlns:p="http://schemas.openxmlformats.org/presentationml/2006/main">
  <p:tag name="TIMING" val="|26.2|3.0|1.0"/>
</p:tagLst>
</file>

<file path=ppt/tags/tag20.xml><?xml version="1.0" encoding="utf-8"?>
<p:tagLst xmlns:p="http://schemas.openxmlformats.org/presentationml/2006/main">
  <p:tag name="TIMING" val="|0.7|6.5|1.2|1.4|1.0|1.2|8.2|6.2"/>
</p:tagLst>
</file>

<file path=ppt/tags/tag21.xml><?xml version="1.0" encoding="utf-8"?>
<p:tagLst xmlns:p="http://schemas.openxmlformats.org/presentationml/2006/main">
  <p:tag name="TIMING" val="|1.4"/>
</p:tagLst>
</file>

<file path=ppt/tags/tag22.xml><?xml version="1.0" encoding="utf-8"?>
<p:tagLst xmlns:p="http://schemas.openxmlformats.org/presentationml/2006/main">
  <p:tag name="TIMING" val="|1.4"/>
</p:tagLst>
</file>

<file path=ppt/tags/tag23.xml><?xml version="1.0" encoding="utf-8"?>
<p:tagLst xmlns:p="http://schemas.openxmlformats.org/presentationml/2006/main">
  <p:tag name="TIMING" val="|1.4"/>
</p:tagLst>
</file>

<file path=ppt/tags/tag24.xml><?xml version="1.0" encoding="utf-8"?>
<p:tagLst xmlns:p="http://schemas.openxmlformats.org/presentationml/2006/main">
  <p:tag name="TIMING" val="|1.4"/>
</p:tagLst>
</file>

<file path=ppt/tags/tag25.xml><?xml version="1.0" encoding="utf-8"?>
<p:tagLst xmlns:p="http://schemas.openxmlformats.org/presentationml/2006/main">
  <p:tag name="TIMING" val="|1.4"/>
</p:tagLst>
</file>

<file path=ppt/tags/tag26.xml><?xml version="1.0" encoding="utf-8"?>
<p:tagLst xmlns:p="http://schemas.openxmlformats.org/presentationml/2006/main">
  <p:tag name="TIMING" val="|9.6|2.1|1.5|3.9"/>
</p:tagLst>
</file>

<file path=ppt/tags/tag27.xml><?xml version="1.0" encoding="utf-8"?>
<p:tagLst xmlns:p="http://schemas.openxmlformats.org/presentationml/2006/main">
  <p:tag name="TIMING" val="|1.4"/>
</p:tagLst>
</file>

<file path=ppt/tags/tag28.xml><?xml version="1.0" encoding="utf-8"?>
<p:tagLst xmlns:p="http://schemas.openxmlformats.org/presentationml/2006/main">
  <p:tag name="TIMING" val="|0.3"/>
</p:tagLst>
</file>

<file path=ppt/tags/tag29.xml><?xml version="1.0" encoding="utf-8"?>
<p:tagLst xmlns:p="http://schemas.openxmlformats.org/presentationml/2006/main">
  <p:tag name="TIMING" val="|0.3"/>
</p:tagLst>
</file>

<file path=ppt/tags/tag30.xml><?xml version="1.0" encoding="utf-8"?>
<p:tagLst xmlns:p="http://schemas.openxmlformats.org/presentationml/2006/main">
  <p:tag name="TIMING" val="|0.7|12.0|0.9|1.1|6.9|0.9|53.0|3.8|1.1"/>
</p:tagLst>
</file>

<file path=ppt/tags/tag31.xml><?xml version="1.0" encoding="utf-8"?>
<p:tagLst xmlns:p="http://schemas.openxmlformats.org/presentationml/2006/main">
  <p:tag name="TIMING" val="|0.7|12.0|0.9|1.1|6.9|0.9|53.0|3.8|1.1"/>
</p:tagLst>
</file>

<file path=ppt/tags/tag32.xml><?xml version="1.0" encoding="utf-8"?>
<p:tagLst xmlns:p="http://schemas.openxmlformats.org/presentationml/2006/main">
  <p:tag name="TIMING" val="|0.3|0.7|1.0"/>
</p:tagLst>
</file>

<file path=ppt/tags/tag33.xml><?xml version="1.0" encoding="utf-8"?>
<p:tagLst xmlns:p="http://schemas.openxmlformats.org/presentationml/2006/main">
  <p:tag name="TIMING" val="|0.4|0.8|0.8"/>
</p:tagLst>
</file>

<file path=ppt/tags/tag34.xml><?xml version="1.0" encoding="utf-8"?>
<p:tagLst xmlns:p="http://schemas.openxmlformats.org/presentationml/2006/main">
  <p:tag name="TIMING" val="|0.5|0.8|1.3"/>
</p:tagLst>
</file>

<file path=ppt/tags/tag35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14645</Words>
  <Application>WPS 演示</Application>
  <PresentationFormat>宽屏</PresentationFormat>
  <Paragraphs>1855</Paragraphs>
  <Slides>77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77</vt:i4>
      </vt:variant>
    </vt:vector>
  </HeadingPairs>
  <TitlesOfParts>
    <vt:vector size="102" baseType="lpstr">
      <vt:lpstr>Arial</vt:lpstr>
      <vt:lpstr>宋体</vt:lpstr>
      <vt:lpstr>Wingdings</vt:lpstr>
      <vt:lpstr>Tahoma</vt:lpstr>
      <vt:lpstr>Arial</vt:lpstr>
      <vt:lpstr>华文隶书</vt:lpstr>
      <vt:lpstr>微软雅黑</vt:lpstr>
      <vt:lpstr>黑体</vt:lpstr>
      <vt:lpstr>Wingdings 3</vt:lpstr>
      <vt:lpstr>Symbol</vt:lpstr>
      <vt:lpstr>华文行楷</vt:lpstr>
      <vt:lpstr>华文新魏</vt:lpstr>
      <vt:lpstr>Arial Unicode MS</vt:lpstr>
      <vt:lpstr>Times New Roman</vt:lpstr>
      <vt:lpstr>Wingdings 2</vt:lpstr>
      <vt:lpstr>Wingdings</vt:lpstr>
      <vt:lpstr>Tahoma</vt:lpstr>
      <vt:lpstr>Monotype Corsiva</vt:lpstr>
      <vt:lpstr>Segoe Print</vt:lpstr>
      <vt:lpstr>华文彩云</vt:lpstr>
      <vt:lpstr>1_Slit</vt:lpstr>
      <vt:lpstr>Equation.DSMT4</vt:lpstr>
      <vt:lpstr>Equation.DSMT4</vt:lpstr>
      <vt:lpstr>Equation.DSMT4</vt:lpstr>
      <vt:lpstr>Equation.DSMT4</vt:lpstr>
      <vt:lpstr>第2章 顺序程序设计</vt:lpstr>
      <vt:lpstr>§2.1  计算平均成绩—顺序程序设计教材P45</vt:lpstr>
      <vt:lpstr>§2.1  计算平均成绩—顺序程序设计教材P45</vt:lpstr>
      <vt:lpstr>PowerPoint 演示文稿</vt:lpstr>
      <vt:lpstr>PowerPoint 演示文稿</vt:lpstr>
      <vt:lpstr>§2.5  语句  教材P58</vt:lpstr>
      <vt:lpstr>PowerPoint 演示文稿</vt:lpstr>
      <vt:lpstr>§2.4  表达式 教材P54</vt:lpstr>
      <vt:lpstr>表达式(expression)例1</vt:lpstr>
      <vt:lpstr>表达式(expression)例2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表达式计算规则</vt:lpstr>
      <vt:lpstr>运算符优先级 教材P55-56</vt:lpstr>
      <vt:lpstr>PowerPoint 演示文稿</vt:lpstr>
      <vt:lpstr>PowerPoint 演示文稿</vt:lpstr>
      <vt:lpstr>PowerPoint 演示文稿</vt:lpstr>
      <vt:lpstr>PowerPoint 演示文稿</vt:lpstr>
      <vt:lpstr>赋值运算</vt:lpstr>
      <vt:lpstr>PowerPoint 演示文稿</vt:lpstr>
      <vt:lpstr>PowerPoint 演示文稿</vt:lpstr>
      <vt:lpstr>【例2.2】赋值表达式的应用：交换两个变量值  教材P59</vt:lpstr>
      <vt:lpstr>PowerPoint 演示文稿</vt:lpstr>
      <vt:lpstr>§2.2  基本符号教材P45</vt:lpstr>
      <vt:lpstr>最常用的字符集——ASCII 教材P400</vt:lpstr>
      <vt:lpstr>最常用的字符集——ASCII 教材P400</vt:lpstr>
      <vt:lpstr>C语言使用的字符集</vt:lpstr>
      <vt:lpstr>PowerPoint 演示文稿</vt:lpstr>
      <vt:lpstr>§2.2.2 C特定符 教材P46</vt:lpstr>
      <vt:lpstr>关键字</vt:lpstr>
      <vt:lpstr>分隔符</vt:lpstr>
      <vt:lpstr>【常见编译错误】</vt:lpstr>
      <vt:lpstr>PowerPoint 演示文稿</vt:lpstr>
      <vt:lpstr>§2.2.3标识符 (identifier) 教材P47—名字</vt:lpstr>
      <vt:lpstr>PowerPoint 演示文稿</vt:lpstr>
      <vt:lpstr>PowerPoint 演示文稿</vt:lpstr>
      <vt:lpstr>【常见编译错误】</vt:lpstr>
      <vt:lpstr>【常见编译错误】</vt:lpstr>
      <vt:lpstr>【常见编译错误】</vt:lpstr>
      <vt:lpstr>【作用域】</vt:lpstr>
      <vt:lpstr>【作用域】</vt:lpstr>
      <vt:lpstr>PowerPoint 演示文稿</vt:lpstr>
      <vt:lpstr>【常见编译错误】</vt:lpstr>
      <vt:lpstr>§2.2.4  间隔符  教材P48</vt:lpstr>
      <vt:lpstr>PowerPoint 演示文稿</vt:lpstr>
      <vt:lpstr>§2.2.5 注释 教材P28</vt:lpstr>
      <vt:lpstr>PowerPoint 演示文稿</vt:lpstr>
      <vt:lpstr>PowerPoint 演示文稿</vt:lpstr>
      <vt:lpstr>PowerPoint 演示文稿</vt:lpstr>
      <vt:lpstr>§2.3  数据 教材P49</vt:lpstr>
      <vt:lpstr>常  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(2)符号常量:用一个标识符代表常量</vt:lpstr>
      <vt:lpstr>PowerPoint 演示文稿</vt:lpstr>
      <vt:lpstr>PowerPoint 演示文稿</vt:lpstr>
      <vt:lpstr>PowerPoint 演示文稿</vt:lpstr>
      <vt:lpstr>PowerPoint 演示文稿</vt:lpstr>
      <vt:lpstr>变  量</vt:lpstr>
      <vt:lpstr>PowerPoint 演示文稿</vt:lpstr>
      <vt:lpstr>变量定义</vt:lpstr>
      <vt:lpstr>变量地址</vt:lpstr>
      <vt:lpstr>PowerPoint 演示文稿</vt:lpstr>
      <vt:lpstr>变量初始化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744</cp:revision>
  <dcterms:created xsi:type="dcterms:W3CDTF">2019-09-21T08:05:00Z</dcterms:created>
  <dcterms:modified xsi:type="dcterms:W3CDTF">2025-09-18T04:38:29Z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B8AF1DD1395348D2A6717F0701E49AFF_12</vt:lpwstr>
  </property>
</Properties>
</file>