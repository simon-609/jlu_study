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7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016EE-DA24-4DB2-B781-079F9C2CC0AE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3EB31-055F-46D3-B496-A64A0ED75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412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211EB11-A2BE-4E42-8CDA-0DBC34E2D858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539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69AFBE3-D9A9-41B3-A83C-73F8998671DD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842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775CB83-9491-4B32-8B84-7D6E9038CD12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677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3C9F796-B0BA-4009-8A89-EDD6A90B764F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4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958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CAC677E-12CC-4666-9C55-BC9DAA41F23F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5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246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A2B0CD2-E1D8-48A5-9FA9-E101DDF696FC}" type="slidenum">
              <a:rPr lang="en-US" altLang="zh-CN" sz="120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7</a:t>
            </a:fld>
            <a:endParaRPr lang="en-US" altLang="zh-CN" sz="12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679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06 w 1722"/>
                <a:gd name="T1" fmla="*/ 58 h 66"/>
                <a:gd name="T2" fmla="*/ 1706 w 1722"/>
                <a:gd name="T3" fmla="*/ 52 h 66"/>
                <a:gd name="T4" fmla="*/ 0 w 1722"/>
                <a:gd name="T5" fmla="*/ 0 h 66"/>
                <a:gd name="T6" fmla="*/ 0 w 1722"/>
                <a:gd name="T7" fmla="*/ 40 h 66"/>
                <a:gd name="T8" fmla="*/ 1706 w 1722"/>
                <a:gd name="T9" fmla="*/ 58 h 66"/>
                <a:gd name="T10" fmla="*/ 1706 w 1722"/>
                <a:gd name="T11" fmla="*/ 58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7 w 975"/>
                <a:gd name="T1" fmla="*/ 48 h 101"/>
                <a:gd name="T2" fmla="*/ 967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7 w 975"/>
                <a:gd name="T9" fmla="*/ 48 h 101"/>
                <a:gd name="T10" fmla="*/ 967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2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25 w 2141"/>
                <a:gd name="T7" fmla="*/ 0 h 198"/>
                <a:gd name="T8" fmla="*/ 212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58 w 2517"/>
                <a:gd name="T1" fmla="*/ 276 h 276"/>
                <a:gd name="T2" fmla="*/ 2493 w 2517"/>
                <a:gd name="T3" fmla="*/ 204 h 276"/>
                <a:gd name="T4" fmla="*/ 2236 w 2517"/>
                <a:gd name="T5" fmla="*/ 0 h 276"/>
                <a:gd name="T6" fmla="*/ 0 w 2517"/>
                <a:gd name="T7" fmla="*/ 276 h 276"/>
                <a:gd name="T8" fmla="*/ 2158 w 2517"/>
                <a:gd name="T9" fmla="*/ 276 h 276"/>
                <a:gd name="T10" fmla="*/ 2158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1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1 w 729"/>
                <a:gd name="T7" fmla="*/ 240 h 240"/>
                <a:gd name="T8" fmla="*/ 721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1 w 729"/>
                <a:gd name="T1" fmla="*/ 318 h 318"/>
                <a:gd name="T2" fmla="*/ 721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1 w 729"/>
                <a:gd name="T9" fmla="*/ 318 h 318"/>
                <a:gd name="T10" fmla="*/ 721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4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25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5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D36B4EF-381E-4053-93B9-B5237DE64F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9420381"/>
      </p:ext>
    </p:extLst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E537E0B-51BD-4F58-96E1-C79344B769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632507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6CB5AD3-222D-4DE0-AA85-00BF7E524B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3514729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747520E-8C86-4F3C-9984-5B8DD9B5F2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8867414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9DEE46E-FDE4-4596-BF74-2AA435FCAB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0010362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3A92576-2E9C-4F1A-B2D2-CF33C3FC5D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8933211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A18EE31-2716-4B96-95A3-2478E95043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2248141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54ABEC9-02BB-4700-B4A8-2F2E97A3F1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684266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48DE5CD-9407-4D11-990A-B78040B7B0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417113"/>
      </p:ext>
    </p:extLst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C143D5B-F7DD-4A48-A2FD-2DFAB7BF3D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7184668"/>
      </p:ext>
    </p:extLst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4988" y="277813"/>
            <a:ext cx="225901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363" y="277813"/>
            <a:ext cx="6626225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3E33ECD-24D5-48C1-AB43-97CD7BE248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8242504"/>
      </p:ext>
    </p:extLst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750" y="277813"/>
            <a:ext cx="89852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6363" y="1600200"/>
            <a:ext cx="438785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389437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8A032A4-B559-4852-BA6B-531ABE6CEF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408371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819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9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9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79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06 w 1722"/>
                <a:gd name="T1" fmla="*/ 58 h 66"/>
                <a:gd name="T2" fmla="*/ 1706 w 1722"/>
                <a:gd name="T3" fmla="*/ 52 h 66"/>
                <a:gd name="T4" fmla="*/ 0 w 1722"/>
                <a:gd name="T5" fmla="*/ 0 h 66"/>
                <a:gd name="T6" fmla="*/ 0 w 1722"/>
                <a:gd name="T7" fmla="*/ 40 h 66"/>
                <a:gd name="T8" fmla="*/ 1706 w 1722"/>
                <a:gd name="T9" fmla="*/ 58 h 66"/>
                <a:gd name="T10" fmla="*/ 1706 w 1722"/>
                <a:gd name="T11" fmla="*/ 58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81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7 w 975"/>
                <a:gd name="T1" fmla="*/ 48 h 101"/>
                <a:gd name="T2" fmla="*/ 967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7 w 975"/>
                <a:gd name="T9" fmla="*/ 48 h 101"/>
                <a:gd name="T10" fmla="*/ 967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2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25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25 w 2141"/>
                <a:gd name="T7" fmla="*/ 0 h 198"/>
                <a:gd name="T8" fmla="*/ 2125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84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58 w 2517"/>
                <a:gd name="T1" fmla="*/ 276 h 276"/>
                <a:gd name="T2" fmla="*/ 2493 w 2517"/>
                <a:gd name="T3" fmla="*/ 204 h 276"/>
                <a:gd name="T4" fmla="*/ 2236 w 2517"/>
                <a:gd name="T5" fmla="*/ 0 h 276"/>
                <a:gd name="T6" fmla="*/ 0 w 2517"/>
                <a:gd name="T7" fmla="*/ 276 h 276"/>
                <a:gd name="T8" fmla="*/ 2158 w 2517"/>
                <a:gd name="T9" fmla="*/ 276 h 276"/>
                <a:gd name="T10" fmla="*/ 2158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86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1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1 w 729"/>
                <a:gd name="T7" fmla="*/ 240 h 240"/>
                <a:gd name="T8" fmla="*/ 721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88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1 w 729"/>
                <a:gd name="T1" fmla="*/ 318 h 318"/>
                <a:gd name="T2" fmla="*/ 721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1 w 729"/>
                <a:gd name="T9" fmla="*/ 318 h 318"/>
                <a:gd name="T10" fmla="*/ 721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92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1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94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1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98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1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01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4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2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03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2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3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7212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823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3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823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158750" y="277813"/>
            <a:ext cx="898525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23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363" y="1600200"/>
            <a:ext cx="8929687" cy="4530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23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23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23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39F87DC-8E26-484F-87A4-708CD46CD666}" type="slidenum">
              <a:rPr lang="en-US" altLang="zh-CN"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849959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>
    <p:blinds dir="vert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400" b="1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54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32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0"/>
        </a:spcAft>
        <a:buFont typeface="Times New Roman" panose="02020603050405020304" pitchFamily="18" charset="0"/>
        <a:buChar char="♫"/>
        <a:defRPr sz="28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har char="–"/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8860833-445C-4B53-857A-5C0CDDFC8503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750" y="1212850"/>
            <a:ext cx="8985250" cy="5257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（判断题）设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A,B 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是可数集合，则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A×B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不一定是可数集合。（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答： </a:t>
            </a:r>
            <a:r>
              <a:rPr lang="zh-CN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A,B 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是可数集合，有三种情况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第一种，</a:t>
            </a:r>
            <a:r>
              <a:rPr lang="zh-CN" altLang="zh-CN" sz="3000" dirty="0" smtClean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A,B</a:t>
            </a:r>
            <a:r>
              <a:rPr lang="zh-CN" altLang="en-US" sz="3000" dirty="0" smtClean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都是有穷集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，元素个数都是有限的，设</a:t>
            </a:r>
            <a:r>
              <a:rPr lang="zh-CN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的元素数为</a:t>
            </a:r>
            <a:r>
              <a:rPr lang="zh-CN" altLang="zh-CN" sz="3000" i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，B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的元素数为</a:t>
            </a:r>
            <a:r>
              <a:rPr lang="zh-CN" altLang="zh-CN" sz="3000" i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那么，</a:t>
            </a:r>
            <a:r>
              <a:rPr lang="zh-CN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A×B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的元素数为</a:t>
            </a:r>
            <a:r>
              <a:rPr lang="zh-CN" altLang="zh-CN" sz="3000" i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nm</a:t>
            </a:r>
            <a:r>
              <a:rPr lang="zh-CN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所以</a:t>
            </a:r>
            <a:r>
              <a:rPr lang="zh-CN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A×B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是可数集合。</a:t>
            </a:r>
            <a:endParaRPr lang="en-US" altLang="zh-CN" sz="3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第二种，这两个集合其中一个集合是有穷集，另一个集合是无穷集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，不妨设</a:t>
            </a:r>
            <a:r>
              <a:rPr lang="zh-CN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为可数有穷集合，元素数为</a:t>
            </a:r>
            <a:r>
              <a:rPr lang="zh-CN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n，B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为可数无穷集合，其基数为</a:t>
            </a:r>
            <a:r>
              <a:rPr lang="zh-CN" altLang="en-US" sz="3000" dirty="0" smtClean="0">
                <a:sym typeface="Symbol" panose="05050102010706020507" pitchFamily="18" charset="2"/>
              </a:rPr>
              <a:t></a:t>
            </a:r>
            <a:r>
              <a:rPr lang="zh-CN" altLang="en-US" sz="3000" baseline="-30000" dirty="0" smtClean="0"/>
              <a:t>0 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A×B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可以写成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 smtClean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0" y="152400"/>
            <a:ext cx="8985250" cy="9001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第</a:t>
            </a:r>
            <a:r>
              <a:rPr lang="en-US" altLang="zh-CN" sz="3600" dirty="0" smtClean="0"/>
              <a:t>3</a:t>
            </a:r>
            <a:r>
              <a:rPr lang="zh-CN" altLang="en-US" sz="3600" dirty="0" smtClean="0"/>
              <a:t>次作业</a:t>
            </a:r>
            <a:endParaRPr lang="zh-CN" altLang="en-US" sz="3600" dirty="0"/>
          </a:p>
        </p:txBody>
      </p:sp>
      <p:sp>
        <p:nvSpPr>
          <p:cNvPr id="2" name="矩形 1"/>
          <p:cNvSpPr/>
          <p:nvPr/>
        </p:nvSpPr>
        <p:spPr bwMode="auto">
          <a:xfrm>
            <a:off x="171450" y="363538"/>
            <a:ext cx="8712200" cy="633730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/>
          <a:lstStyle/>
          <a:p>
            <a:pPr fontAlgn="base">
              <a:spcAft>
                <a:spcPct val="0"/>
              </a:spcAft>
              <a:buClr>
                <a:srgbClr val="FFCC00"/>
              </a:buClr>
              <a:buSzPct val="85000"/>
              <a:defRPr/>
            </a:pPr>
            <a:r>
              <a:rPr kumimoji="1" lang="zh-CN" altLang="en-US" sz="3000" b="1" kern="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定理：设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,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B</a:t>
            </a:r>
            <a:r>
              <a:rPr kumimoji="1" lang="zh-CN" altLang="en-US" sz="3000" b="1" kern="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是可数无穷集合，则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  <a:sym typeface="Symbol" panose="05050102010706020507" pitchFamily="18" charset="2"/>
              </a:rPr>
              <a:t>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B</a:t>
            </a:r>
            <a:r>
              <a:rPr kumimoji="1" lang="zh-CN" altLang="en-US" sz="3000" b="1" kern="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是可数集合。</a:t>
            </a:r>
          </a:p>
          <a:p>
            <a:pPr fontAlgn="base">
              <a:spcAft>
                <a:spcPct val="0"/>
              </a:spcAft>
              <a:buClr>
                <a:srgbClr val="FFCC00"/>
              </a:buClr>
              <a:buSzPct val="85000"/>
              <a:defRPr/>
            </a:pPr>
            <a:r>
              <a:rPr kumimoji="1" lang="zh-CN" altLang="en-US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证明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:</a:t>
            </a:r>
            <a:r>
              <a:rPr kumimoji="1" lang="zh-CN" altLang="en-US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设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A={ a</a:t>
            </a:r>
            <a:r>
              <a:rPr kumimoji="1" lang="en-US" altLang="zh-CN" sz="3000" b="1" kern="0" baseline="-30000" dirty="0">
                <a:solidFill>
                  <a:srgbClr val="000044"/>
                </a:solidFill>
                <a:latin typeface="Times New Roman"/>
                <a:ea typeface="宋体"/>
              </a:rPr>
              <a:t>1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, a</a:t>
            </a:r>
            <a:r>
              <a:rPr kumimoji="1" lang="en-US" altLang="zh-CN" sz="3000" b="1" kern="0" baseline="-30000" dirty="0">
                <a:solidFill>
                  <a:srgbClr val="000044"/>
                </a:solidFill>
                <a:latin typeface="Times New Roman"/>
                <a:ea typeface="宋体"/>
              </a:rPr>
              <a:t>2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, …, a</a:t>
            </a:r>
            <a:r>
              <a:rPr kumimoji="1" lang="en-US" altLang="zh-CN" sz="3000" b="1" kern="0" baseline="-30000" dirty="0">
                <a:solidFill>
                  <a:srgbClr val="000044"/>
                </a:solidFill>
                <a:latin typeface="Times New Roman"/>
                <a:ea typeface="宋体"/>
              </a:rPr>
              <a:t>n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, …},B={ b</a:t>
            </a:r>
            <a:r>
              <a:rPr kumimoji="1" lang="en-US" altLang="zh-CN" sz="3000" b="1" kern="0" baseline="-30000" dirty="0">
                <a:solidFill>
                  <a:srgbClr val="000044"/>
                </a:solidFill>
                <a:latin typeface="Times New Roman"/>
                <a:ea typeface="宋体"/>
              </a:rPr>
              <a:t>1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, b</a:t>
            </a:r>
            <a:r>
              <a:rPr kumimoji="1" lang="en-US" altLang="zh-CN" sz="3000" b="1" kern="0" baseline="-30000" dirty="0">
                <a:solidFill>
                  <a:srgbClr val="000044"/>
                </a:solidFill>
                <a:latin typeface="Times New Roman"/>
                <a:ea typeface="宋体"/>
              </a:rPr>
              <a:t>2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, …, </a:t>
            </a:r>
            <a:r>
              <a:rPr kumimoji="1" lang="en-US" altLang="zh-CN" sz="3000" b="1" kern="0" dirty="0" err="1">
                <a:solidFill>
                  <a:srgbClr val="000044"/>
                </a:solidFill>
                <a:latin typeface="Times New Roman"/>
                <a:ea typeface="宋体"/>
              </a:rPr>
              <a:t>b</a:t>
            </a:r>
            <a:r>
              <a:rPr kumimoji="1" lang="en-US" altLang="zh-CN" sz="3000" b="1" kern="0" baseline="-30000" dirty="0" err="1">
                <a:solidFill>
                  <a:srgbClr val="000044"/>
                </a:solidFill>
                <a:latin typeface="Times New Roman"/>
                <a:ea typeface="宋体"/>
              </a:rPr>
              <a:t>n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, …}</a:t>
            </a:r>
          </a:p>
          <a:p>
            <a:pPr fontAlgn="base">
              <a:spcAft>
                <a:spcPct val="0"/>
              </a:spcAft>
              <a:buClr>
                <a:srgbClr val="FFCC00"/>
              </a:buClr>
              <a:buSzPct val="85000"/>
              <a:defRPr/>
            </a:pPr>
            <a:r>
              <a:rPr kumimoji="1" lang="zh-CN" altLang="en-US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于是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  <a:sym typeface="Symbol" panose="05050102010706020507" pitchFamily="18" charset="2"/>
              </a:rPr>
              <a:t>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B={(</a:t>
            </a:r>
            <a:r>
              <a:rPr kumimoji="1" lang="en-US" altLang="zh-CN" sz="3000" b="1" kern="0" dirty="0" err="1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kumimoji="1" lang="en-US" altLang="zh-CN" sz="3000" b="1" kern="0" baseline="-30000" dirty="0" err="1">
                <a:solidFill>
                  <a:srgbClr val="000044"/>
                </a:solidFill>
                <a:latin typeface="Times New Roman"/>
                <a:ea typeface="宋体"/>
              </a:rPr>
              <a:t>i</a:t>
            </a:r>
            <a:r>
              <a:rPr kumimoji="1" lang="en-US" altLang="zh-CN" sz="3000" b="1" kern="0" dirty="0" err="1">
                <a:solidFill>
                  <a:srgbClr val="000044"/>
                </a:solidFill>
                <a:latin typeface="Times New Roman"/>
                <a:ea typeface="宋体"/>
              </a:rPr>
              <a:t>，b</a:t>
            </a:r>
            <a:r>
              <a:rPr kumimoji="1" lang="en-US" altLang="zh-CN" sz="3000" b="1" kern="0" baseline="-30000" dirty="0" err="1">
                <a:solidFill>
                  <a:srgbClr val="000044"/>
                </a:solidFill>
                <a:latin typeface="Times New Roman"/>
                <a:ea typeface="宋体"/>
              </a:rPr>
              <a:t>j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)| </a:t>
            </a:r>
            <a:r>
              <a:rPr kumimoji="1" lang="en-US" altLang="zh-CN" sz="3000" b="1" kern="0" dirty="0" err="1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kumimoji="1" lang="en-US" altLang="zh-CN" sz="3000" b="1" kern="0" baseline="-30000" dirty="0" err="1">
                <a:solidFill>
                  <a:srgbClr val="000044"/>
                </a:solidFill>
                <a:latin typeface="Times New Roman"/>
                <a:ea typeface="宋体"/>
              </a:rPr>
              <a:t>i</a:t>
            </a:r>
            <a:r>
              <a:rPr kumimoji="1" lang="en-US" altLang="zh-CN" sz="3000" b="1" kern="0" dirty="0" err="1">
                <a:solidFill>
                  <a:srgbClr val="000044"/>
                </a:solidFill>
                <a:latin typeface="Times New Roman"/>
                <a:ea typeface="宋体"/>
                <a:sym typeface="Symbol" panose="05050102010706020507" pitchFamily="18" charset="2"/>
              </a:rPr>
              <a:t></a:t>
            </a:r>
            <a:r>
              <a:rPr kumimoji="1" lang="en-US" altLang="zh-CN" sz="3000" b="1" kern="0" dirty="0" err="1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， </a:t>
            </a:r>
            <a:r>
              <a:rPr kumimoji="1" lang="en-US" altLang="zh-CN" sz="3000" b="1" kern="0" dirty="0" err="1">
                <a:solidFill>
                  <a:srgbClr val="000044"/>
                </a:solidFill>
                <a:latin typeface="Times New Roman"/>
                <a:ea typeface="宋体"/>
              </a:rPr>
              <a:t>b</a:t>
            </a:r>
            <a:r>
              <a:rPr kumimoji="1" lang="en-US" altLang="zh-CN" sz="3000" b="1" kern="0" baseline="-30000" dirty="0" err="1">
                <a:solidFill>
                  <a:srgbClr val="000044"/>
                </a:solidFill>
                <a:latin typeface="Times New Roman"/>
                <a:ea typeface="宋体"/>
              </a:rPr>
              <a:t>j</a:t>
            </a:r>
            <a:r>
              <a:rPr kumimoji="1" lang="en-US" altLang="zh-CN" sz="3000" b="1" kern="0" dirty="0" err="1">
                <a:solidFill>
                  <a:srgbClr val="000044"/>
                </a:solidFill>
                <a:latin typeface="Times New Roman"/>
                <a:ea typeface="宋体"/>
                <a:sym typeface="Symbol" panose="05050102010706020507" pitchFamily="18" charset="2"/>
              </a:rPr>
              <a:t></a:t>
            </a:r>
            <a:r>
              <a:rPr kumimoji="1" lang="en-US" altLang="zh-CN" sz="3000" b="1" kern="0" dirty="0" err="1">
                <a:solidFill>
                  <a:srgbClr val="000044"/>
                </a:solidFill>
                <a:latin typeface="Times New Roman"/>
                <a:ea typeface="宋体"/>
              </a:rPr>
              <a:t>B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}，</a:t>
            </a:r>
          </a:p>
          <a:p>
            <a:pPr fontAlgn="base">
              <a:spcAft>
                <a:spcPct val="0"/>
              </a:spcAft>
              <a:buClr>
                <a:srgbClr val="FFCC00"/>
              </a:buClr>
              <a:buSzPct val="85000"/>
              <a:defRPr/>
            </a:pPr>
            <a:r>
              <a:rPr kumimoji="1" lang="zh-CN" altLang="en-US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我们将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  <a:sym typeface="Symbol" panose="05050102010706020507" pitchFamily="18" charset="2"/>
              </a:rPr>
              <a:t></a:t>
            </a:r>
            <a:r>
              <a:rPr kumimoji="1" lang="en-US" altLang="zh-CN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B</a:t>
            </a:r>
            <a:r>
              <a:rPr kumimoji="1" lang="zh-CN" altLang="en-US" sz="3000" b="1" kern="0" dirty="0">
                <a:solidFill>
                  <a:srgbClr val="000044"/>
                </a:solidFill>
                <a:latin typeface="Times New Roman"/>
                <a:ea typeface="宋体"/>
              </a:rPr>
              <a:t>的元素作如下排列：</a:t>
            </a:r>
            <a:endParaRPr kumimoji="1" lang="en-US" altLang="zh-CN" sz="3000" b="1" kern="0" dirty="0">
              <a:solidFill>
                <a:srgbClr val="000044"/>
              </a:solidFill>
              <a:latin typeface="Times New Roman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/>
            </a:pP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…,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dirty="0" err="1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en-US" altLang="zh-CN" sz="3200" b="1" baseline="-30000" dirty="0" err="1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…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/>
            </a:pP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,…,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dirty="0" err="1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en-US" altLang="zh-CN" sz="3200" b="1" baseline="-30000" dirty="0" err="1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…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/>
            </a:pP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…,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dirty="0" err="1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en-US" altLang="zh-CN" sz="3200" b="1" baseline="-30000" dirty="0" err="1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…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/>
            </a:pP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………………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/>
            </a:pP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…, (a</a:t>
            </a:r>
            <a:r>
              <a:rPr kumimoji="1" lang="en-US" altLang="zh-CN" sz="3200" b="1" baseline="-30000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dirty="0" err="1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en-US" altLang="zh-CN" sz="3200" b="1" baseline="-30000" dirty="0" err="1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…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defRPr/>
            </a:pP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……… ………  } </a:t>
            </a:r>
            <a:r>
              <a:rPr kumimoji="1" lang="zh-CN" altLang="en-US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fontAlgn="base">
              <a:spcAft>
                <a:spcPct val="0"/>
              </a:spcAft>
              <a:buClr>
                <a:srgbClr val="FFCC00"/>
              </a:buClr>
              <a:buSzPct val="85000"/>
              <a:defRPr/>
            </a:pPr>
            <a:r>
              <a:rPr kumimoji="1" lang="zh-CN" altLang="en-US" sz="3200" b="1" dirty="0">
                <a:solidFill>
                  <a:srgbClr val="ADB8FF">
                    <a:lumMod val="1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对上述元素按足标之和由小到大排列，下标和</a:t>
            </a:r>
            <a:endParaRPr kumimoji="1" lang="en-US" altLang="zh-CN" sz="3200" b="1" dirty="0">
              <a:solidFill>
                <a:srgbClr val="ADB8FF">
                  <a:lumMod val="1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Aft>
                <a:spcPct val="0"/>
              </a:spcAft>
              <a:buClr>
                <a:srgbClr val="FFCC00"/>
              </a:buClr>
              <a:buSzPct val="85000"/>
              <a:defRPr/>
            </a:pPr>
            <a:r>
              <a:rPr kumimoji="1" lang="zh-CN" altLang="en-US" sz="3200" b="1" dirty="0">
                <a:solidFill>
                  <a:srgbClr val="ADB8FF">
                    <a:lumMod val="1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相同时，先排</a:t>
            </a:r>
            <a:r>
              <a:rPr kumimoji="1" lang="en-US" altLang="zh-CN" sz="3200" b="1" dirty="0" err="1">
                <a:solidFill>
                  <a:srgbClr val="ADB8FF">
                    <a:lumMod val="1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zh-CN" altLang="en-US" sz="3200" b="1" dirty="0">
                <a:solidFill>
                  <a:srgbClr val="ADB8FF">
                    <a:lumMod val="1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小的，得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kumimoji="1" lang="en-US" altLang="zh-CN" sz="3200" b="1" dirty="0">
                <a:solidFill>
                  <a:srgbClr val="ADB8FF">
                    <a:lumMod val="1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zh-CN" altLang="en-US" sz="3200" b="1" dirty="0">
                <a:solidFill>
                  <a:srgbClr val="ADB8FF">
                    <a:lumMod val="1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是可数集合</a:t>
            </a:r>
            <a:r>
              <a:rPr kumimoji="1" lang="zh-CN" altLang="en-US" sz="3200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zh-CN" altLang="en-US" sz="3200" dirty="0">
              <a:solidFill>
                <a:srgbClr val="0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Aft>
                <a:spcPct val="0"/>
              </a:spcAft>
              <a:buClr>
                <a:srgbClr val="FFCC00"/>
              </a:buClr>
              <a:buSzPct val="85000"/>
              <a:defRPr/>
            </a:pPr>
            <a:endParaRPr kumimoji="1" lang="en-US" altLang="zh-CN" sz="3000" b="1" kern="0" dirty="0">
              <a:solidFill>
                <a:srgbClr val="000044"/>
              </a:solidFill>
              <a:latin typeface="Times New Roman"/>
              <a:ea typeface="宋体"/>
            </a:endParaRPr>
          </a:p>
          <a:p>
            <a:pPr fontAlgn="base">
              <a:spcAft>
                <a:spcPct val="0"/>
              </a:spcAft>
              <a:buClr>
                <a:srgbClr val="FFCC00"/>
              </a:buClr>
              <a:buSzPct val="85000"/>
              <a:defRPr/>
            </a:pPr>
            <a:endParaRPr kumimoji="1" lang="zh-CN" altLang="en-US" sz="3000" b="1" kern="0" dirty="0">
              <a:solidFill>
                <a:srgbClr val="000044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10792100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536F726-26D9-423C-8E88-79BFF5AF29E9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2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363" y="1371600"/>
            <a:ext cx="8985250" cy="5257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Symbol" pitchFamily="2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Symbol" pitchFamily="2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Symbol" pitchFamily="2" charset="2"/>
            </a:endParaRPr>
          </a:p>
        </p:txBody>
      </p:sp>
      <p:pic>
        <p:nvPicPr>
          <p:cNvPr id="196612" name="文本框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" y="981075"/>
            <a:ext cx="8805863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6613" name="矩形 4"/>
          <p:cNvSpPr>
            <a:spLocks noChangeArrowheads="1"/>
          </p:cNvSpPr>
          <p:nvPr/>
        </p:nvSpPr>
        <p:spPr bwMode="auto">
          <a:xfrm>
            <a:off x="158750" y="3836988"/>
            <a:ext cx="8805863" cy="240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0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对元素按角标排序，</a:t>
            </a:r>
            <a:r>
              <a:rPr lang="zh-CN" altLang="en-US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任意</a:t>
            </a:r>
            <a:r>
              <a:rPr lang="en-US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000" i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i="1" baseline="-25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3000" i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3000" i="1" baseline="-25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</a:t>
            </a:r>
            <a:r>
              <a:rPr lang="en-US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i-1)+(j-1)n </a:t>
            </a:r>
            <a:r>
              <a:rPr lang="zh-CN" altLang="en-US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的大小排序，排序后的元素可以与自然数集合建立一一映射</a:t>
            </a:r>
            <a:r>
              <a:rPr lang="en-US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 </a:t>
            </a:r>
            <a:r>
              <a:rPr lang="zh-CN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A×B </a:t>
            </a:r>
            <a:r>
              <a:rPr lang="zh-CN" altLang="en-US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是可数集合。这里 </a:t>
            </a:r>
            <a:r>
              <a:rPr lang="zh-CN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A×B </a:t>
            </a:r>
            <a:r>
              <a:rPr lang="zh-CN" altLang="en-US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到自然数的一一映射：</a:t>
            </a:r>
            <a:r>
              <a:rPr lang="el-GR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σ </a:t>
            </a:r>
            <a:r>
              <a:rPr lang="en-US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l-GR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𝑎</a:t>
            </a:r>
            <a:r>
              <a:rPr lang="el-GR" altLang="zh-CN" sz="3000" baseline="-25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𝑖</a:t>
            </a:r>
            <a:r>
              <a:rPr lang="el-GR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, 𝑏</a:t>
            </a:r>
            <a:r>
              <a:rPr lang="el-GR" altLang="zh-CN" sz="3000" baseline="-25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𝑗</a:t>
            </a:r>
            <a:r>
              <a:rPr lang="el-GR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l-GR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𝑖 − 1) + (𝑗 −</a:t>
            </a:r>
            <a:r>
              <a:rPr lang="en-US" altLang="zh-CN" sz="3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l-GR" altLang="zh-CN" sz="3000" b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𝑛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3000" b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0" y="152400"/>
            <a:ext cx="8985250" cy="9001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第</a:t>
            </a:r>
            <a:r>
              <a:rPr lang="en-US" altLang="zh-CN" sz="3600" dirty="0" smtClean="0"/>
              <a:t>3</a:t>
            </a:r>
            <a:r>
              <a:rPr lang="zh-CN" altLang="en-US" sz="3600" dirty="0" smtClean="0"/>
              <a:t>次作业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7898872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913EE99-96D0-42ED-9A10-1144ED0ED61D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3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pic>
        <p:nvPicPr>
          <p:cNvPr id="198659" name="Rectangle 3"/>
          <p:cNvPicPr>
            <a:picLocks noGrp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52513"/>
            <a:ext cx="8893175" cy="5805487"/>
          </a:xfrm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0" y="152400"/>
            <a:ext cx="8985250" cy="9001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第</a:t>
            </a:r>
            <a:r>
              <a:rPr lang="en-US" altLang="zh-CN" sz="3600" dirty="0" smtClean="0"/>
              <a:t>3</a:t>
            </a:r>
            <a:r>
              <a:rPr lang="zh-CN" altLang="en-US" sz="3600" dirty="0" smtClean="0"/>
              <a:t>次作业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5575520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8FCC382-468E-46A0-834A-CE0B51C00084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4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19175"/>
            <a:ext cx="8569325" cy="52578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A＝{a,b,c}，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求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中满足下列条件的关系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的个数：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① 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既是自反的又是反自反的。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个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zh-CN" dirty="0" smtClean="0">
              <a:effectLst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 smtClean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0" y="152400"/>
            <a:ext cx="8985250" cy="9001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第</a:t>
            </a:r>
            <a:r>
              <a:rPr lang="en-US" altLang="zh-CN" sz="3600" dirty="0" smtClean="0"/>
              <a:t>3</a:t>
            </a:r>
            <a:r>
              <a:rPr lang="zh-CN" altLang="en-US" sz="3600" dirty="0" smtClean="0"/>
              <a:t>次作业</a:t>
            </a:r>
            <a:endParaRPr lang="zh-CN" altLang="en-US" sz="3600" dirty="0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08025" y="3032124"/>
            <a:ext cx="6911975" cy="3211513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000" dirty="0">
                <a:solidFill>
                  <a:srgbClr val="00062B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错误答案：</a:t>
            </a:r>
            <a:endParaRPr lang="en-US" altLang="zh-CN" sz="3000" dirty="0">
              <a:solidFill>
                <a:srgbClr val="00062B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000" dirty="0">
                <a:solidFill>
                  <a:srgbClr val="00062B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① </a:t>
            </a:r>
            <a:r>
              <a:rPr lang="en-US" altLang="zh-CN" sz="3000" dirty="0">
                <a:solidFill>
                  <a:srgbClr val="00062B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3000" dirty="0">
                <a:solidFill>
                  <a:srgbClr val="00062B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个，是空关系</a:t>
            </a:r>
            <a:endParaRPr lang="en-US" altLang="zh-CN" sz="3000" dirty="0">
              <a:solidFill>
                <a:srgbClr val="00062B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000" dirty="0">
                <a:solidFill>
                  <a:srgbClr val="00062B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注：只有空集合上的空关系，是即具</a:t>
            </a:r>
            <a:endParaRPr lang="en-US" altLang="zh-CN" sz="3000" dirty="0">
              <a:solidFill>
                <a:srgbClr val="00062B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000" dirty="0">
                <a:solidFill>
                  <a:srgbClr val="00062B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有自反性又具有反自反性的关系</a:t>
            </a:r>
            <a:r>
              <a:rPr lang="zh-CN" altLang="en-US" sz="3000" dirty="0" smtClean="0">
                <a:solidFill>
                  <a:srgbClr val="00062B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。非空</a:t>
            </a:r>
            <a:endParaRPr lang="en-US" altLang="zh-CN" sz="3000" dirty="0" smtClean="0">
              <a:solidFill>
                <a:srgbClr val="00062B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000" dirty="0" smtClean="0">
                <a:solidFill>
                  <a:srgbClr val="00062B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集合上不存在即具有自反性又具有反自</a:t>
            </a:r>
            <a:endParaRPr lang="en-US" altLang="zh-CN" sz="3000" dirty="0" smtClean="0">
              <a:solidFill>
                <a:srgbClr val="00062B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000" dirty="0" smtClean="0">
                <a:solidFill>
                  <a:srgbClr val="00062B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反性的关系。</a:t>
            </a:r>
            <a:endParaRPr lang="zh-CN" altLang="en-US" sz="3000" b="0" dirty="0">
              <a:solidFill>
                <a:srgbClr val="FFFF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37939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10FD2C9-51EF-4765-9593-DAD55BA15F4B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5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750" y="620713"/>
            <a:ext cx="8820150" cy="6080125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、设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A＝{a,b,c}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，求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中满足下列条件的关系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的个数：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② 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既是对称的又是反对称的。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个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解：从关系矩阵角度看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具有对称性，则关于主对角线对称的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个元素或者同时为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，或者同时为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1.</a:t>
            </a: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具有反对称性，则关于主对角线对称的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个元素或者同时为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，或者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个为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个为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0.</a:t>
            </a: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既对称又反对称，则关于主对角线对称的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个元素同时为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，而主对角线上元素任意。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因此为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的子集。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zh-CN" altLang="en-US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zh-CN" dirty="0" smtClean="0">
              <a:effectLst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 smtClean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0" y="7938"/>
            <a:ext cx="8985250" cy="612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第</a:t>
            </a:r>
            <a:r>
              <a:rPr lang="en-US" altLang="zh-CN" sz="3600" dirty="0" smtClean="0"/>
              <a:t>3</a:t>
            </a:r>
            <a:r>
              <a:rPr lang="zh-CN" altLang="en-US" sz="3600" dirty="0" smtClean="0"/>
              <a:t>次作业</a:t>
            </a:r>
            <a:endParaRPr lang="zh-CN" altLang="en-US" sz="3600" dirty="0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46050" y="284163"/>
            <a:ext cx="8821738" cy="6511925"/>
          </a:xfrm>
          <a:prstGeom prst="rect">
            <a:avLst/>
          </a:prstGeom>
          <a:solidFill>
            <a:srgbClr val="FFFFCC"/>
          </a:solidFill>
          <a:ln w="9525" cap="rnd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关系矩阵     --便于存储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有限集上的二元关系可以使用0-1矩阵表示。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给定两个有限集合A={a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,…,a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}，B={b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,…,b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R为A与B上的一个二元关系,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则可以用下列关系矩阵M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=[r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n</a:t>
            </a: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来表示</a:t>
            </a:r>
            <a:endParaRPr lang="en-US" altLang="zh-CN" sz="3000">
              <a:solidFill>
                <a:srgbClr val="000044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fontAlgn="base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en-US" altLang="zh-CN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        </a:t>
            </a:r>
            <a:r>
              <a:rPr lang="zh-CN" altLang="en-US" sz="24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sz="28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11</a:t>
            </a: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r</a:t>
            </a:r>
            <a:r>
              <a:rPr lang="zh-CN" altLang="en-US" sz="28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12</a:t>
            </a: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… r</a:t>
            </a:r>
            <a:r>
              <a:rPr lang="zh-CN" altLang="en-US" sz="28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1n</a:t>
            </a: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M</a:t>
            </a:r>
            <a:r>
              <a:rPr lang="zh-CN" altLang="en-US" sz="28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     r</a:t>
            </a:r>
            <a:r>
              <a:rPr lang="zh-CN" altLang="en-US" sz="28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21</a:t>
            </a: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r</a:t>
            </a:r>
            <a:r>
              <a:rPr lang="zh-CN" altLang="en-US" sz="28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22</a:t>
            </a: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  r</a:t>
            </a:r>
            <a:r>
              <a:rPr lang="zh-CN" altLang="en-US" sz="28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2n</a:t>
            </a:r>
            <a:endParaRPr lang="zh-CN" altLang="en-US" sz="2800">
              <a:solidFill>
                <a:srgbClr val="000044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            ：  ：       ：</a:t>
            </a: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           r</a:t>
            </a:r>
            <a:r>
              <a:rPr lang="zh-CN" altLang="en-US" sz="28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m1</a:t>
            </a: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r</a:t>
            </a:r>
            <a:r>
              <a:rPr lang="zh-CN" altLang="en-US" sz="28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m2</a:t>
            </a:r>
            <a:r>
              <a:rPr lang="zh-CN" altLang="en-US" sz="28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 r</a:t>
            </a:r>
            <a:r>
              <a:rPr lang="zh-CN" altLang="en-US" sz="28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mn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其中若(a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,b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)R，则r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ij</a:t>
            </a: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=1;否则r</a:t>
            </a:r>
            <a:r>
              <a:rPr lang="zh-CN" altLang="en-US" sz="3000" baseline="-25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ij</a:t>
            </a:r>
            <a:r>
              <a:rPr lang="zh-CN" altLang="en-US" sz="30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=0。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29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Note：关系的矩阵表示与矩阵的行列对应的集合</a:t>
            </a:r>
            <a:endParaRPr lang="en-US" altLang="zh-CN" sz="2900">
              <a:solidFill>
                <a:srgbClr val="000044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29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A和B上的元素顺序相关,不同排序会得到不同的</a:t>
            </a:r>
            <a:endParaRPr lang="en-US" altLang="zh-CN" sz="2900">
              <a:solidFill>
                <a:srgbClr val="000044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CC00"/>
              </a:buClr>
              <a:buSzTx/>
              <a:buFontTx/>
              <a:buNone/>
            </a:pPr>
            <a:r>
              <a:rPr lang="zh-CN" altLang="en-US" sz="2900">
                <a:solidFill>
                  <a:srgbClr val="000044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关系矩阵.</a:t>
            </a:r>
          </a:p>
        </p:txBody>
      </p:sp>
      <p:sp>
        <p:nvSpPr>
          <p:cNvPr id="9" name="AutoShape 6"/>
          <p:cNvSpPr>
            <a:spLocks/>
          </p:cNvSpPr>
          <p:nvPr/>
        </p:nvSpPr>
        <p:spPr bwMode="auto">
          <a:xfrm flipH="1">
            <a:off x="2700338" y="2552700"/>
            <a:ext cx="71437" cy="1655763"/>
          </a:xfrm>
          <a:prstGeom prst="rightBrace">
            <a:avLst>
              <a:gd name="adj1" fmla="val 43976"/>
              <a:gd name="adj2" fmla="val 50000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 kern="0" smtClean="0">
              <a:solidFill>
                <a:srgbClr val="0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AutoShape 6"/>
          <p:cNvSpPr>
            <a:spLocks/>
          </p:cNvSpPr>
          <p:nvPr/>
        </p:nvSpPr>
        <p:spPr bwMode="auto">
          <a:xfrm>
            <a:off x="4932363" y="2552700"/>
            <a:ext cx="71437" cy="1655763"/>
          </a:xfrm>
          <a:prstGeom prst="rightBrace">
            <a:avLst>
              <a:gd name="adj1" fmla="val 43976"/>
              <a:gd name="adj2" fmla="val 50000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6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 kern="0" smtClean="0">
              <a:solidFill>
                <a:srgbClr val="00008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934177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363" y="1052513"/>
            <a:ext cx="8929687" cy="5078412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zh-CN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A＝{a,b,c}，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求</a:t>
            </a:r>
            <a:r>
              <a:rPr lang="zh-CN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中满足下列条件的关系</a:t>
            </a:r>
            <a:r>
              <a:rPr lang="zh-CN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的个数：</a:t>
            </a:r>
          </a:p>
          <a:p>
            <a:pPr marL="0" indent="0" eaLnBrk="1" hangingPunct="1">
              <a:lnSpc>
                <a:spcPct val="11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③ </a:t>
            </a:r>
            <a:r>
              <a:rPr lang="zh-CN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中的等价关系</a:t>
            </a:r>
            <a:r>
              <a:rPr lang="zh-CN" altLang="en-US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个</a:t>
            </a:r>
            <a:endParaRPr lang="en-US" altLang="zh-CN" dirty="0" smtClean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答：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上有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种划分对应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种等价关系。</a:t>
            </a:r>
            <a:endParaRPr lang="en-US" altLang="zh-CN" dirty="0" smtClean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C1={{</a:t>
            </a:r>
            <a:r>
              <a:rPr lang="en-US" altLang="zh-CN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a,b,c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}}            R1=E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 marL="0" indent="0" eaLnBrk="1" hangingPunct="1">
              <a:lnSpc>
                <a:spcPct val="11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C2={{a},{</a:t>
            </a:r>
            <a:r>
              <a:rPr lang="en-US" altLang="zh-CN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b,c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}}         R2=I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{(</a:t>
            </a:r>
            <a:r>
              <a:rPr lang="en-US" altLang="zh-CN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b,c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,(</a:t>
            </a:r>
            <a:r>
              <a:rPr lang="en-US" altLang="zh-CN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c,b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)}</a:t>
            </a:r>
            <a:endParaRPr lang="en-US" altLang="zh-CN" baseline="-25000" dirty="0" smtClean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C3={{b},{</a:t>
            </a:r>
            <a:r>
              <a:rPr lang="en-US" altLang="zh-CN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a,c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}}         R3=I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{(</a:t>
            </a:r>
            <a:r>
              <a:rPr lang="en-US" altLang="zh-CN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a,c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,(</a:t>
            </a:r>
            <a:r>
              <a:rPr lang="en-US" altLang="zh-CN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c,a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)}</a:t>
            </a:r>
            <a:endParaRPr lang="en-US" altLang="zh-CN" baseline="-250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C4={{c},{</a:t>
            </a:r>
            <a:r>
              <a:rPr lang="en-US" altLang="zh-CN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}}         R4=I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{(</a:t>
            </a:r>
            <a:r>
              <a:rPr lang="en-US" altLang="zh-CN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,(</a:t>
            </a:r>
            <a:r>
              <a:rPr lang="en-US" altLang="zh-CN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b,a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)}</a:t>
            </a:r>
            <a:endParaRPr lang="en-US" altLang="zh-CN" baseline="-250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C5={{a},{b},{c}}      R5=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aseline="-250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en-US" altLang="zh-CN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Clr>
                <a:srgbClr val="FFFFFF"/>
              </a:buClr>
              <a:buFont typeface="Wingdings" panose="05000000000000000000" pitchFamily="2" charset="2"/>
              <a:buNone/>
              <a:defRPr/>
            </a:pPr>
            <a:endParaRPr lang="zh-CN" altLang="en-US" sz="28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DA047C-937C-4F2F-9351-4940BDE8BA78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0" y="152400"/>
            <a:ext cx="8985250" cy="9001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第</a:t>
            </a:r>
            <a:r>
              <a:rPr lang="en-US" altLang="zh-CN" sz="3600" dirty="0" smtClean="0"/>
              <a:t>3</a:t>
            </a:r>
            <a:r>
              <a:rPr lang="zh-CN" altLang="en-US" sz="3600" dirty="0" smtClean="0"/>
              <a:t>次作业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4744865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0421446-1A6F-44E5-A1E9-8E3DEB97249F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7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11238"/>
            <a:ext cx="8624888" cy="52578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、设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A={x</a:t>
            </a:r>
            <a:r>
              <a:rPr lang="zh-CN" altLang="zh-CN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,x</a:t>
            </a:r>
            <a:r>
              <a:rPr lang="zh-CN" altLang="zh-CN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,x</a:t>
            </a:r>
            <a:r>
              <a:rPr lang="zh-CN" altLang="zh-CN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,x</a:t>
            </a:r>
            <a:r>
              <a:rPr lang="zh-CN" altLang="zh-CN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,x</a:t>
            </a:r>
            <a:r>
              <a:rPr lang="zh-CN" altLang="zh-CN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}，B={y</a:t>
            </a:r>
            <a:r>
              <a:rPr lang="zh-CN" altLang="zh-CN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,y</a:t>
            </a:r>
            <a:r>
              <a:rPr lang="zh-CN" altLang="zh-CN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,y</a:t>
            </a:r>
            <a:r>
              <a:rPr lang="zh-CN" altLang="zh-CN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}，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那么共有多少个从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的映射？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答：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=243</a:t>
            </a:r>
            <a:endParaRPr lang="zh-CN" altLang="en-US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0" y="152400"/>
            <a:ext cx="8985250" cy="9001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第</a:t>
            </a:r>
            <a:r>
              <a:rPr lang="en-US" altLang="zh-CN" sz="3600" dirty="0" smtClean="0"/>
              <a:t>3</a:t>
            </a:r>
            <a:r>
              <a:rPr lang="zh-CN" altLang="en-US" sz="3600" dirty="0" smtClean="0"/>
              <a:t>次作业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6275847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LiSanfinalll">
  <a:themeElements>
    <a:clrScheme name="LiSanfinalll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LiSanfinalll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iSanfinalll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Sanfinalll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</TotalTime>
  <Words>848</Words>
  <Application>Microsoft Office PowerPoint</Application>
  <PresentationFormat>全屏显示(4:3)</PresentationFormat>
  <Paragraphs>85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楷体_GB2312</vt:lpstr>
      <vt:lpstr>宋体</vt:lpstr>
      <vt:lpstr>宋体</vt:lpstr>
      <vt:lpstr>Arial</vt:lpstr>
      <vt:lpstr>Calibri</vt:lpstr>
      <vt:lpstr>Symbol</vt:lpstr>
      <vt:lpstr>Times New Roman</vt:lpstr>
      <vt:lpstr>Wingdings</vt:lpstr>
      <vt:lpstr>1_LiSanfinalll</vt:lpstr>
      <vt:lpstr>第3次作业</vt:lpstr>
      <vt:lpstr>第3次作业</vt:lpstr>
      <vt:lpstr>第3次作业</vt:lpstr>
      <vt:lpstr>第3次作业</vt:lpstr>
      <vt:lpstr>第3次作业</vt:lpstr>
      <vt:lpstr>第3次作业</vt:lpstr>
      <vt:lpstr>第3次作业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第3次作业</dc:title>
  <dc:creator>Windows 用户</dc:creator>
  <cp:lastModifiedBy>Windows 用户</cp:lastModifiedBy>
  <cp:revision>6</cp:revision>
  <dcterms:created xsi:type="dcterms:W3CDTF">2022-04-05T03:32:46Z</dcterms:created>
  <dcterms:modified xsi:type="dcterms:W3CDTF">2023-04-18T11:19:43Z</dcterms:modified>
</cp:coreProperties>
</file>