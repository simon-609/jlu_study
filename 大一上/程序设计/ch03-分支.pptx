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1" r:id="rId3"/>
    <p:sldId id="317" r:id="rId4"/>
    <p:sldId id="318" r:id="rId5"/>
    <p:sldId id="323" r:id="rId6"/>
    <p:sldId id="404" r:id="rId8"/>
    <p:sldId id="324" r:id="rId9"/>
    <p:sldId id="325" r:id="rId10"/>
    <p:sldId id="352" r:id="rId11"/>
    <p:sldId id="364" r:id="rId12"/>
    <p:sldId id="328" r:id="rId13"/>
    <p:sldId id="329" r:id="rId14"/>
    <p:sldId id="330" r:id="rId15"/>
    <p:sldId id="355" r:id="rId16"/>
    <p:sldId id="331" r:id="rId17"/>
    <p:sldId id="334" r:id="rId18"/>
    <p:sldId id="290" r:id="rId19"/>
    <p:sldId id="340" r:id="rId20"/>
    <p:sldId id="342" r:id="rId21"/>
    <p:sldId id="284" r:id="rId22"/>
    <p:sldId id="343" r:id="rId23"/>
    <p:sldId id="294" r:id="rId24"/>
    <p:sldId id="354" r:id="rId25"/>
    <p:sldId id="362" r:id="rId26"/>
    <p:sldId id="356" r:id="rId27"/>
    <p:sldId id="363" r:id="rId28"/>
    <p:sldId id="307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6083"/>
    <p:restoredTop sz="86343"/>
  </p:normalViewPr>
  <p:slideViewPr>
    <p:cSldViewPr showGuides="1">
      <p:cViewPr varScale="1">
        <p:scale>
          <a:sx n="73" d="100"/>
          <a:sy n="73" d="100"/>
        </p:scale>
        <p:origin x="134" y="-115"/>
      </p:cViewPr>
      <p:guideLst>
        <p:guide orient="horz" pos="2160"/>
        <p:guide pos="3786"/>
      </p:guideLst>
    </p:cSldViewPr>
  </p:slideViewPr>
  <p:outlineViewPr>
    <p:cViewPr>
      <p:scale>
        <a:sx n="33" d="100"/>
        <a:sy n="33" d="100"/>
      </p:scale>
      <p:origin x="0" y="-9883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7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3DA40A-2D60-407E-983C-0D317504EE7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C</a:t>
            </a:r>
            <a:r>
              <a:rPr lang="zh-CN" altLang="en-US" dirty="0"/>
              <a:t>语言中的逻辑运算符都是短路运算符</a:t>
            </a:r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1277600" cy="5943600"/>
            <a:chOff x="0" y="0"/>
            <a:chExt cx="5328" cy="3744"/>
          </a:xfrm>
        </p:grpSpPr>
        <p:sp>
          <p:nvSpPr>
            <p:cNvPr id="13" name="Freeform 3"/>
            <p:cNvSpPr/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Freeform 4"/>
            <p:cNvSpPr/>
            <p:nvPr/>
          </p:nvSpPr>
          <p:spPr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6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C9291-9953-45AD-A8BB-4BF847B522C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D72CEF-A7B6-4482-B11F-6DCDF376B94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EF4BA3-AED3-4B0B-AD81-9E0EC562981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A9A9AB-2A8B-42AE-A2AC-30948EF6F4E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FC7748-8E2F-41A6-9D5F-4E8ECF16A1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F10095-CCC2-4D7E-AEA5-57D6F01CB7B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50A34-E7B9-4ED4-94E5-1027B5EF6FE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4C1EA1-50E2-4443-B4CB-E24F3A3080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DE3885-C8EB-4B1B-A50B-72EE5576C76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7F1BD6-A5AA-4666-B218-9249B6D5E32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881256-14D0-450C-91EE-8E2479517B0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61E9A2-1203-4C98-9435-CD93946058A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7691A2-B2F8-4E8D-BB40-5092602E676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F5150C-5D86-4AAB-B943-D06EE168B85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D5B99E-E715-4C8C-ADF3-1BB1E32C708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E6F964-7810-463B-8D7D-3449061BE6A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01B349-4138-4D13-8A39-F8F15E2562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656763" cy="1981200"/>
            <a:chOff x="0" y="0"/>
            <a:chExt cx="4562" cy="1248"/>
          </a:xfrm>
        </p:grpSpPr>
        <p:sp>
          <p:nvSpPr>
            <p:cNvPr id="10243" name="Freeform 3"/>
            <p:cNvSpPr/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Freeform 4"/>
            <p:cNvSpPr/>
            <p:nvPr/>
          </p:nvSpPr>
          <p:spPr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</a:cxnLst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51BDE6-628B-4FEC-AD13-004F3238381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slide" Target="slide19.xml"/><Relationship Id="rId3" Type="http://schemas.openxmlformats.org/officeDocument/2006/relationships/slide" Target="slide16.xml"/><Relationship Id="rId2" Type="http://schemas.openxmlformats.org/officeDocument/2006/relationships/slide" Target="slide6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5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CC5D6E-7D46-4C3B-96D4-D52EF8DA22B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>
          <a:xfrm>
            <a:off x="1944688" y="0"/>
            <a:ext cx="82296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章 分支程序设计 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26" name="Rectangle 10"/>
          <p:cNvSpPr>
            <a:spLocks noGrp="1" noChangeArrowheads="1"/>
          </p:cNvSpPr>
          <p:nvPr>
            <p:ph idx="1"/>
          </p:nvPr>
        </p:nvSpPr>
        <p:spPr>
          <a:xfrm>
            <a:off x="20638" y="1295400"/>
            <a:ext cx="81153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3.1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判断成绩是否及格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双分支程序设计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3.2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成绩加上获奖信息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 action="ppaction://hlinksldjump"/>
              </a:rPr>
              <a:t>单分支程序设计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3.3 if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语句相关问题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  <a:hlinkClick r:id="rId3" action="ppaction://hlinksldjump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3.4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3" action="ppaction://hlinksldjump"/>
              </a:rPr>
              <a:t>逻辑判断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关系运算：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&gt;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&lt;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==  ……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逻辑运算：！、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&amp;&amp;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||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4" action="ppaction://hlinksldjump"/>
              </a:rPr>
              <a:t>3.5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4" action="ppaction://hlinksldjump"/>
              </a:rPr>
              <a:t>获奖分等级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4" action="ppaction://hlinksldjump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4" action="ppaction://hlinksldjump"/>
              </a:rPr>
              <a:t>多分支程序设计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5" action="ppaction://hlinksldjump"/>
              </a:rPr>
              <a:t>本章小节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009063" y="3341688"/>
            <a:ext cx="3162300" cy="3505200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算法的组成：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p4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基本操作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读（输入）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表达式及给变量赋值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写（输出）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隶书" pitchFamily="2" charset="-122"/>
                <a:cs typeface="+mn-cs"/>
              </a:rPr>
              <a:t>基本控制结构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隶书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顺序控制结构√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Tahom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分支控制结构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循环控制结构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函数调用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函数返回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C6FF48-4B6C-4D63-81DD-63C62AE4FD37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19275" y="0"/>
            <a:ext cx="8315325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§3.1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判断成绩是否及格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双分支程序设计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550" y="533400"/>
            <a:ext cx="11944350" cy="693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3.1】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输入某学生本学期“程设”课程成绩，判断并输出他是否及格。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14475" y="2736850"/>
            <a:ext cx="8991600" cy="4070350"/>
            <a:chOff x="0" y="1584"/>
            <a:chExt cx="5664" cy="2564"/>
          </a:xfrm>
        </p:grpSpPr>
        <p:sp>
          <p:nvSpPr>
            <p:cNvPr id="21515" name="Rectangle 5"/>
            <p:cNvSpPr/>
            <p:nvPr/>
          </p:nvSpPr>
          <p:spPr>
            <a:xfrm>
              <a:off x="3295" y="3049"/>
              <a:ext cx="2369" cy="36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输出：</a:t>
              </a:r>
              <a:r>
                <a:rPr lang="en-US" altLang="zh-CN" sz="2000" b="1" dirty="0"/>
                <a:t>You failed!</a:t>
              </a:r>
              <a:endParaRPr lang="en-US" altLang="zh-CN" sz="2000" b="1" dirty="0"/>
            </a:p>
          </p:txBody>
        </p:sp>
        <p:grpSp>
          <p:nvGrpSpPr>
            <p:cNvPr id="21516" name="Group 6"/>
            <p:cNvGrpSpPr/>
            <p:nvPr/>
          </p:nvGrpSpPr>
          <p:grpSpPr>
            <a:xfrm>
              <a:off x="0" y="1584"/>
              <a:ext cx="4525" cy="2281"/>
              <a:chOff x="96" y="1200"/>
              <a:chExt cx="4525" cy="2281"/>
            </a:xfrm>
          </p:grpSpPr>
          <p:grpSp>
            <p:nvGrpSpPr>
              <p:cNvPr id="21518" name="Group 7"/>
              <p:cNvGrpSpPr/>
              <p:nvPr/>
            </p:nvGrpSpPr>
            <p:grpSpPr>
              <a:xfrm>
                <a:off x="1632" y="2064"/>
                <a:ext cx="2592" cy="624"/>
                <a:chOff x="0" y="0"/>
                <a:chExt cx="20006" cy="20004"/>
              </a:xfrm>
            </p:grpSpPr>
            <p:sp>
              <p:nvSpPr>
                <p:cNvPr id="21531" name="Line 8"/>
                <p:cNvSpPr/>
                <p:nvPr/>
              </p:nvSpPr>
              <p:spPr>
                <a:xfrm flipH="1">
                  <a:off x="0" y="0"/>
                  <a:ext cx="9850" cy="1000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21532" name="Line 9"/>
                <p:cNvSpPr/>
                <p:nvPr/>
              </p:nvSpPr>
              <p:spPr>
                <a:xfrm>
                  <a:off x="10156" y="0"/>
                  <a:ext cx="9850" cy="1000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21533" name="Group 10"/>
                <p:cNvGrpSpPr/>
                <p:nvPr/>
              </p:nvGrpSpPr>
              <p:grpSpPr>
                <a:xfrm>
                  <a:off x="0" y="10002"/>
                  <a:ext cx="20006" cy="10002"/>
                  <a:chOff x="0" y="0"/>
                  <a:chExt cx="20000" cy="20000"/>
                </a:xfrm>
              </p:grpSpPr>
              <p:sp>
                <p:nvSpPr>
                  <p:cNvPr id="21534" name="Line 11"/>
                  <p:cNvSpPr/>
                  <p:nvPr/>
                </p:nvSpPr>
                <p:spPr>
                  <a:xfrm flipH="1" flipV="1">
                    <a:off x="0" y="0"/>
                    <a:ext cx="9847" cy="2000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21535" name="Line 12"/>
                  <p:cNvSpPr/>
                  <p:nvPr/>
                </p:nvSpPr>
                <p:spPr>
                  <a:xfrm flipV="1">
                    <a:off x="10153" y="0"/>
                    <a:ext cx="9847" cy="2000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</p:grpSp>
          <p:sp>
            <p:nvSpPr>
              <p:cNvPr id="145421" name="Rectangle 13"/>
              <p:cNvSpPr>
                <a:spLocks noChangeArrowheads="1"/>
              </p:cNvSpPr>
              <p:nvPr/>
            </p:nvSpPr>
            <p:spPr bwMode="auto">
              <a:xfrm>
                <a:off x="1841" y="2208"/>
                <a:ext cx="2094" cy="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2540" tIns="2540" rIns="2540" bIns="254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  mark &gt;=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PASS_MARK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520" name="Line 14"/>
              <p:cNvSpPr/>
              <p:nvPr/>
            </p:nvSpPr>
            <p:spPr>
              <a:xfrm>
                <a:off x="2936" y="1852"/>
                <a:ext cx="2" cy="2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  <p:sp>
            <p:nvSpPr>
              <p:cNvPr id="21521" name="Rectangle 15"/>
              <p:cNvSpPr/>
              <p:nvPr/>
            </p:nvSpPr>
            <p:spPr>
              <a:xfrm>
                <a:off x="4008" y="2112"/>
                <a:ext cx="613" cy="27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F</a:t>
                </a:r>
                <a:endPara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1522" name="Rectangle 16"/>
              <p:cNvSpPr/>
              <p:nvPr/>
            </p:nvSpPr>
            <p:spPr>
              <a:xfrm>
                <a:off x="96" y="2721"/>
                <a:ext cx="2369" cy="369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输出：</a:t>
                </a:r>
                <a:r>
                  <a:rPr lang="en-US" altLang="zh-CN" sz="2000" b="1" dirty="0"/>
                  <a:t>You are successful!</a:t>
                </a:r>
                <a:endParaRPr lang="en-US" altLang="zh-CN" sz="2000" b="1" dirty="0"/>
              </a:p>
            </p:txBody>
          </p:sp>
          <p:sp>
            <p:nvSpPr>
              <p:cNvPr id="21523" name="Freeform 17"/>
              <p:cNvSpPr/>
              <p:nvPr/>
            </p:nvSpPr>
            <p:spPr>
              <a:xfrm>
                <a:off x="1248" y="2370"/>
                <a:ext cx="398" cy="318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0000" h="20000">
                    <a:moveTo>
                      <a:pt x="19910" y="0"/>
                    </a:moveTo>
                    <a:lnTo>
                      <a:pt x="0" y="0"/>
                    </a:lnTo>
                    <a:lnTo>
                      <a:pt x="0" y="1994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524" name="Freeform 18"/>
              <p:cNvSpPr/>
              <p:nvPr/>
            </p:nvSpPr>
            <p:spPr>
              <a:xfrm>
                <a:off x="4211" y="2379"/>
                <a:ext cx="397" cy="309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0000" h="20000">
                    <a:moveTo>
                      <a:pt x="0" y="0"/>
                    </a:moveTo>
                    <a:lnTo>
                      <a:pt x="19910" y="0"/>
                    </a:lnTo>
                    <a:lnTo>
                      <a:pt x="19910" y="1994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525" name="Rectangle 19"/>
              <p:cNvSpPr/>
              <p:nvPr/>
            </p:nvSpPr>
            <p:spPr>
              <a:xfrm>
                <a:off x="1498" y="2156"/>
                <a:ext cx="397" cy="20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T</a:t>
                </a:r>
                <a:endParaRPr lang="en-US" altLang="zh-CN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21526" name="Group 20"/>
              <p:cNvGrpSpPr/>
              <p:nvPr/>
            </p:nvGrpSpPr>
            <p:grpSpPr>
              <a:xfrm>
                <a:off x="1276" y="3103"/>
                <a:ext cx="3299" cy="378"/>
                <a:chOff x="2744" y="4346"/>
                <a:chExt cx="1561" cy="348"/>
              </a:xfrm>
            </p:grpSpPr>
            <p:sp>
              <p:nvSpPr>
                <p:cNvPr id="21529" name="Line 21"/>
                <p:cNvSpPr/>
                <p:nvPr/>
              </p:nvSpPr>
              <p:spPr>
                <a:xfrm>
                  <a:off x="3526" y="4476"/>
                  <a:ext cx="1" cy="21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triangle" w="sm" len="sm"/>
                </a:ln>
              </p:spPr>
            </p:sp>
            <p:sp>
              <p:nvSpPr>
                <p:cNvPr id="21530" name="Freeform 22"/>
                <p:cNvSpPr/>
                <p:nvPr/>
              </p:nvSpPr>
              <p:spPr>
                <a:xfrm>
                  <a:off x="2744" y="4346"/>
                  <a:ext cx="1561" cy="116"/>
                </a:xfrm>
                <a:custGeom>
                  <a:avLst/>
                  <a:gdLst>
                    <a:gd name="txL" fmla="*/ 0 w 20000"/>
                    <a:gd name="txT" fmla="*/ 0 h 20000"/>
                    <a:gd name="txR" fmla="*/ 20000 w 20000"/>
                    <a:gd name="txB" fmla="*/ 20000 h 200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0000" h="20000">
                      <a:moveTo>
                        <a:pt x="0" y="0"/>
                      </a:moveTo>
                      <a:lnTo>
                        <a:pt x="0" y="19862"/>
                      </a:lnTo>
                      <a:lnTo>
                        <a:pt x="19987" y="19862"/>
                      </a:lnTo>
                      <a:lnTo>
                        <a:pt x="19987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1527" name="Rectangle 23"/>
              <p:cNvSpPr/>
              <p:nvPr/>
            </p:nvSpPr>
            <p:spPr>
              <a:xfrm>
                <a:off x="2026" y="1461"/>
                <a:ext cx="1839" cy="369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输入成绩</a:t>
                </a:r>
                <a:r>
                  <a:rPr lang="en-US" altLang="zh-CN" sz="2400" b="1" dirty="0"/>
                  <a:t>mark</a:t>
                </a:r>
                <a:endParaRPr lang="en-US" altLang="zh-CN" sz="2400" b="1" dirty="0"/>
              </a:p>
            </p:txBody>
          </p:sp>
          <p:sp>
            <p:nvSpPr>
              <p:cNvPr id="21528" name="Line 24"/>
              <p:cNvSpPr/>
              <p:nvPr/>
            </p:nvSpPr>
            <p:spPr>
              <a:xfrm>
                <a:off x="2934" y="1200"/>
                <a:ext cx="2" cy="23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</p:grpSp>
        <p:sp>
          <p:nvSpPr>
            <p:cNvPr id="21517" name="Text Box 25"/>
            <p:cNvSpPr txBox="1"/>
            <p:nvPr/>
          </p:nvSpPr>
          <p:spPr>
            <a:xfrm>
              <a:off x="2354" y="3917"/>
              <a:ext cx="14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图</a:t>
              </a:r>
              <a:r>
                <a:rPr lang="en-US" altLang="zh-CN" sz="1800" b="1" dirty="0"/>
                <a:t>3-1 </a:t>
              </a:r>
              <a:r>
                <a:rPr lang="zh-CN" altLang="en-US" sz="1800" b="1" dirty="0"/>
                <a:t>流程图</a:t>
              </a:r>
              <a:endParaRPr lang="zh-CN" altLang="en-US" sz="1800" b="1" dirty="0"/>
            </a:p>
          </p:txBody>
        </p:sp>
      </p:grpSp>
      <p:pic>
        <p:nvPicPr>
          <p:cNvPr id="5153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8" y="1062038"/>
            <a:ext cx="3452812" cy="817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5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1879600"/>
            <a:ext cx="3452812" cy="32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56" name="Picture 36"/>
          <p:cNvPicPr>
            <a:picLocks noChangeAspect="1"/>
          </p:cNvPicPr>
          <p:nvPr/>
        </p:nvPicPr>
        <p:blipFill>
          <a:blip r:embed="rId3"/>
          <a:srcRect r="-986" b="-44724"/>
          <a:stretch>
            <a:fillRect/>
          </a:stretch>
        </p:blipFill>
        <p:spPr>
          <a:xfrm>
            <a:off x="244475" y="2327275"/>
            <a:ext cx="3708400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57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2960688"/>
            <a:ext cx="3671888" cy="296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Rectangle 4"/>
          <p:cNvSpPr/>
          <p:nvPr/>
        </p:nvSpPr>
        <p:spPr>
          <a:xfrm>
            <a:off x="6394450" y="1293813"/>
            <a:ext cx="5715000" cy="12001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sz="3600" dirty="0">
                <a:solidFill>
                  <a:srgbClr val="FFFF00"/>
                </a:solidFill>
                <a:ea typeface="华文新魏" pitchFamily="2" charset="-122"/>
              </a:rPr>
              <a:t>这就是分支控制结构</a:t>
            </a:r>
            <a:endParaRPr lang="en-US" altLang="zh-CN" sz="3600" dirty="0">
              <a:solidFill>
                <a:srgbClr val="FFFF00"/>
              </a:solidFill>
              <a:ea typeface="华文新魏" pitchFamily="2" charset="-122"/>
            </a:endParaRPr>
          </a:p>
          <a:p>
            <a:pPr marL="0" lvl="0" indent="0" algn="ctr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sz="3600" dirty="0">
                <a:solidFill>
                  <a:srgbClr val="FFFF00"/>
                </a:solidFill>
                <a:ea typeface="华文新魏" pitchFamily="2" charset="-122"/>
              </a:rPr>
              <a:t>单分支、双分支、多分支</a:t>
            </a:r>
            <a:endParaRPr lang="zh-CN" altLang="en-US" sz="3600" dirty="0">
              <a:solidFill>
                <a:srgbClr val="FFFF00"/>
              </a:solidFill>
              <a:ea typeface="华文新魏" pitchFamily="2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955020" y="6248400"/>
            <a:ext cx="62738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0051F3-50E5-4921-9832-F472D7694575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434" name="Rectangle 2"/>
          <p:cNvSpPr>
            <a:spLocks noGrp="1" noChangeArrowheads="1"/>
          </p:cNvSpPr>
          <p:nvPr>
            <p:ph idx="1"/>
          </p:nvPr>
        </p:nvSpPr>
        <p:spPr>
          <a:xfrm>
            <a:off x="0" y="-81280"/>
            <a:ext cx="8107045" cy="52044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PASS_MARK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60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800" b="1" noProof="0" dirty="0">
                <a:ln>
                  <a:noFill/>
                </a:ln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Please input your mark:");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PASS_MARK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8084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800" b="1" noProof="0" dirty="0">
                <a:ln>
                  <a:noFill/>
                </a:ln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You are successful!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else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8084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800" b="1" noProof="0" dirty="0">
                <a:ln>
                  <a:noFill/>
                </a:ln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You failed!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114800" y="4190048"/>
            <a:ext cx="7772400" cy="2595562"/>
            <a:chOff x="2944" y="1960"/>
            <a:chExt cx="5222" cy="1374"/>
          </a:xfrm>
        </p:grpSpPr>
        <p:sp>
          <p:nvSpPr>
            <p:cNvPr id="3" name="Line 4"/>
            <p:cNvSpPr/>
            <p:nvPr/>
          </p:nvSpPr>
          <p:spPr>
            <a:xfrm>
              <a:off x="2944" y="1960"/>
              <a:ext cx="21" cy="137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" name="Group 5"/>
            <p:cNvGrpSpPr/>
            <p:nvPr/>
          </p:nvGrpSpPr>
          <p:grpSpPr>
            <a:xfrm>
              <a:off x="5764" y="2454"/>
              <a:ext cx="2402" cy="762"/>
              <a:chOff x="4742" y="2494"/>
              <a:chExt cx="2402" cy="762"/>
            </a:xfrm>
          </p:grpSpPr>
          <p:sp>
            <p:nvSpPr>
              <p:cNvPr id="5" name="Rectangle 6"/>
              <p:cNvSpPr/>
              <p:nvPr/>
            </p:nvSpPr>
            <p:spPr>
              <a:xfrm>
                <a:off x="4744" y="2494"/>
                <a:ext cx="2380" cy="283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/>
                  <a:t>输出：</a:t>
                </a:r>
                <a:r>
                  <a:rPr lang="en-US" altLang="zh-CN" sz="2000" b="1" dirty="0"/>
                  <a:t>You are successful!</a:t>
                </a:r>
                <a:endParaRPr lang="en-US" altLang="zh-CN" sz="2000" b="1" dirty="0"/>
              </a:p>
            </p:txBody>
          </p:sp>
          <p:sp>
            <p:nvSpPr>
              <p:cNvPr id="6" name="Rectangle 7"/>
              <p:cNvSpPr/>
              <p:nvPr/>
            </p:nvSpPr>
            <p:spPr>
              <a:xfrm>
                <a:off x="4742" y="2994"/>
                <a:ext cx="2402" cy="26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输出：</a:t>
                </a:r>
                <a:r>
                  <a:rPr lang="en-US" altLang="zh-CN" sz="2400" b="1" dirty="0"/>
                  <a:t>You failed!</a:t>
                </a:r>
                <a:endParaRPr lang="en-US" altLang="zh-CN" sz="2400" b="1" dirty="0"/>
              </a:p>
            </p:txBody>
          </p:sp>
        </p:grpSp>
        <p:sp>
          <p:nvSpPr>
            <p:cNvPr id="7" name="Rectangle 8"/>
            <p:cNvSpPr/>
            <p:nvPr/>
          </p:nvSpPr>
          <p:spPr>
            <a:xfrm>
              <a:off x="2944" y="2177"/>
              <a:ext cx="1560" cy="30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输入成绩</a:t>
              </a:r>
              <a:r>
                <a:rPr lang="en-US" altLang="zh-CN" sz="2400" b="1" dirty="0"/>
                <a:t>mark</a:t>
              </a:r>
              <a:endParaRPr lang="en-US" altLang="zh-CN" sz="24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grpSp>
          <p:nvGrpSpPr>
            <p:cNvPr id="8" name="Group 9"/>
            <p:cNvGrpSpPr/>
            <p:nvPr/>
          </p:nvGrpSpPr>
          <p:grpSpPr>
            <a:xfrm>
              <a:off x="2984" y="2594"/>
              <a:ext cx="2750" cy="500"/>
              <a:chOff x="2984" y="2594"/>
              <a:chExt cx="2750" cy="500"/>
            </a:xfrm>
          </p:grpSpPr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3123" y="2652"/>
                <a:ext cx="1981" cy="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2540" tIns="2540" rIns="2540" bIns="254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mark &gt;=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PASS_MARK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Line 11"/>
              <p:cNvSpPr/>
              <p:nvPr/>
            </p:nvSpPr>
            <p:spPr>
              <a:xfrm flipV="1">
                <a:off x="2984" y="2597"/>
                <a:ext cx="275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" name="Line 12"/>
              <p:cNvSpPr/>
              <p:nvPr/>
            </p:nvSpPr>
            <p:spPr>
              <a:xfrm flipH="1">
                <a:off x="5264" y="2594"/>
                <a:ext cx="30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2984" y="3094"/>
                <a:ext cx="275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" name="Line 14"/>
              <p:cNvSpPr/>
              <p:nvPr/>
            </p:nvSpPr>
            <p:spPr>
              <a:xfrm flipH="1" flipV="1">
                <a:off x="5264" y="2854"/>
                <a:ext cx="30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9232900" y="0"/>
            <a:ext cx="2959100" cy="2825750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双分支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else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S2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53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66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10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124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147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184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charRg st="191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2B79D-62C7-4220-9B2F-FC9BEEE0B9F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8" y="26988"/>
            <a:ext cx="8229600" cy="8016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sign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符号函数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>
            <p:ph idx="1"/>
          </p:nvPr>
        </p:nvGraphicFramePr>
        <p:xfrm>
          <a:off x="420688" y="1122363"/>
          <a:ext cx="48006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82800" imgH="711200" progId="Equation.DSMT4">
                  <p:embed/>
                </p:oleObj>
              </mc:Choice>
              <mc:Fallback>
                <p:oleObj name="" r:id="rId1" imgW="20828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20688" y="1122363"/>
                        <a:ext cx="4800600" cy="1638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"/>
          <p:cNvGrpSpPr/>
          <p:nvPr/>
        </p:nvGrpSpPr>
        <p:grpSpPr>
          <a:xfrm>
            <a:off x="3765550" y="5676900"/>
            <a:ext cx="2732088" cy="682625"/>
            <a:chOff x="4059238" y="5510213"/>
            <a:chExt cx="2732088" cy="682625"/>
          </a:xfrm>
        </p:grpSpPr>
        <p:sp>
          <p:nvSpPr>
            <p:cNvPr id="25623" name="Line 14"/>
            <p:cNvSpPr/>
            <p:nvPr/>
          </p:nvSpPr>
          <p:spPr>
            <a:xfrm>
              <a:off x="4059238" y="5510213"/>
              <a:ext cx="1588" cy="6826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624" name="Rectangle 15"/>
            <p:cNvSpPr/>
            <p:nvPr/>
          </p:nvSpPr>
          <p:spPr>
            <a:xfrm>
              <a:off x="4191000" y="5700713"/>
              <a:ext cx="1122363" cy="32861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x==0</a:t>
              </a:r>
              <a:endParaRPr lang="en-US" altLang="zh-CN" sz="2400" b="1" dirty="0"/>
            </a:p>
          </p:txBody>
        </p:sp>
        <p:grpSp>
          <p:nvGrpSpPr>
            <p:cNvPr id="25625" name="组合 2"/>
            <p:cNvGrpSpPr/>
            <p:nvPr/>
          </p:nvGrpSpPr>
          <p:grpSpPr>
            <a:xfrm>
              <a:off x="4097338" y="5510219"/>
              <a:ext cx="2693988" cy="682619"/>
              <a:chOff x="4097338" y="5510219"/>
              <a:chExt cx="2693988" cy="682619"/>
            </a:xfrm>
          </p:grpSpPr>
          <p:sp>
            <p:nvSpPr>
              <p:cNvPr id="25626" name="Freeform 12"/>
              <p:cNvSpPr/>
              <p:nvPr/>
            </p:nvSpPr>
            <p:spPr>
              <a:xfrm>
                <a:off x="4097338" y="5838826"/>
                <a:ext cx="2011363" cy="354012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0"/>
                  </a:cxn>
                </a:cxnLst>
                <a:rect l="txL" t="txT" r="txR" b="txB"/>
                <a:pathLst>
                  <a:path w="20000" h="20000">
                    <a:moveTo>
                      <a:pt x="0" y="19923"/>
                    </a:moveTo>
                    <a:lnTo>
                      <a:pt x="19981" y="19923"/>
                    </a:lnTo>
                    <a:lnTo>
                      <a:pt x="12064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27" name="Freeform 13"/>
              <p:cNvSpPr/>
              <p:nvPr/>
            </p:nvSpPr>
            <p:spPr>
              <a:xfrm>
                <a:off x="4097338" y="5511801"/>
                <a:ext cx="2011363" cy="354012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0"/>
                  </a:cxn>
                  <a:cxn ang="0">
                    <a:pos x="2147483646" y="0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0000" h="20000">
                    <a:moveTo>
                      <a:pt x="0" y="0"/>
                    </a:moveTo>
                    <a:lnTo>
                      <a:pt x="19981" y="0"/>
                    </a:lnTo>
                    <a:lnTo>
                      <a:pt x="12064" y="1992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28" name="Line 17"/>
              <p:cNvSpPr/>
              <p:nvPr/>
            </p:nvSpPr>
            <p:spPr>
              <a:xfrm>
                <a:off x="5954713" y="5510219"/>
                <a:ext cx="836613" cy="158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29" name="Line 18"/>
              <p:cNvSpPr/>
              <p:nvPr/>
            </p:nvSpPr>
            <p:spPr>
              <a:xfrm>
                <a:off x="5954713" y="6191257"/>
                <a:ext cx="836613" cy="158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sp>
        <p:nvSpPr>
          <p:cNvPr id="11291" name="Rectangle 19"/>
          <p:cNvSpPr/>
          <p:nvPr/>
        </p:nvSpPr>
        <p:spPr>
          <a:xfrm>
            <a:off x="6467475" y="5513388"/>
            <a:ext cx="1935163" cy="38258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sign = 0</a:t>
            </a:r>
            <a:endParaRPr lang="en-US" altLang="zh-CN" sz="2400" b="1" dirty="0"/>
          </a:p>
        </p:txBody>
      </p:sp>
      <p:sp>
        <p:nvSpPr>
          <p:cNvPr id="11292" name="Rectangle 20"/>
          <p:cNvSpPr/>
          <p:nvPr/>
        </p:nvSpPr>
        <p:spPr>
          <a:xfrm>
            <a:off x="6467475" y="6167438"/>
            <a:ext cx="1897063" cy="38258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2540" tIns="2540" rIns="2540" bIns="25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sign = -1</a:t>
            </a:r>
            <a:endParaRPr lang="en-US" altLang="zh-CN" sz="24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354013" y="4505325"/>
            <a:ext cx="4854575" cy="2209800"/>
            <a:chOff x="685800" y="4419600"/>
            <a:chExt cx="4854576" cy="2209801"/>
          </a:xfrm>
        </p:grpSpPr>
        <p:sp>
          <p:nvSpPr>
            <p:cNvPr id="25611" name="Rectangle 21"/>
            <p:cNvSpPr/>
            <p:nvPr/>
          </p:nvSpPr>
          <p:spPr>
            <a:xfrm>
              <a:off x="838200" y="4502150"/>
              <a:ext cx="911225" cy="35560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开始</a:t>
              </a:r>
              <a:endParaRPr lang="zh-CN" altLang="en-US" sz="2400" b="1" dirty="0"/>
            </a:p>
          </p:txBody>
        </p:sp>
        <p:grpSp>
          <p:nvGrpSpPr>
            <p:cNvPr id="25612" name="组合 1"/>
            <p:cNvGrpSpPr/>
            <p:nvPr/>
          </p:nvGrpSpPr>
          <p:grpSpPr>
            <a:xfrm>
              <a:off x="685800" y="4419600"/>
              <a:ext cx="4854576" cy="2209801"/>
              <a:chOff x="685800" y="4419600"/>
              <a:chExt cx="4854576" cy="2209801"/>
            </a:xfrm>
          </p:grpSpPr>
          <p:sp>
            <p:nvSpPr>
              <p:cNvPr id="25614" name="Line 6"/>
              <p:cNvSpPr/>
              <p:nvPr/>
            </p:nvSpPr>
            <p:spPr>
              <a:xfrm>
                <a:off x="1254125" y="4856163"/>
                <a:ext cx="1588" cy="13096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15" name="Freeform 7"/>
              <p:cNvSpPr/>
              <p:nvPr/>
            </p:nvSpPr>
            <p:spPr>
              <a:xfrm>
                <a:off x="1254125" y="5456238"/>
                <a:ext cx="2011363" cy="355600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0"/>
                  </a:cxn>
                </a:cxnLst>
                <a:rect l="txL" t="txT" r="txR" b="txB"/>
                <a:pathLst>
                  <a:path w="20000" h="20000">
                    <a:moveTo>
                      <a:pt x="0" y="19923"/>
                    </a:moveTo>
                    <a:lnTo>
                      <a:pt x="19981" y="19923"/>
                    </a:lnTo>
                    <a:lnTo>
                      <a:pt x="12064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6" name="Freeform 8"/>
              <p:cNvSpPr/>
              <p:nvPr/>
            </p:nvSpPr>
            <p:spPr>
              <a:xfrm>
                <a:off x="1254125" y="5129213"/>
                <a:ext cx="2011363" cy="355600"/>
              </a:xfrm>
              <a:custGeom>
                <a:avLst/>
                <a:gdLst>
                  <a:gd name="txL" fmla="*/ 0 w 20000"/>
                  <a:gd name="txT" fmla="*/ 0 h 20000"/>
                  <a:gd name="txR" fmla="*/ 20000 w 20000"/>
                  <a:gd name="txB" fmla="*/ 20000 h 20000"/>
                </a:gdLst>
                <a:ahLst/>
                <a:cxnLst>
                  <a:cxn ang="0">
                    <a:pos x="0" y="0"/>
                  </a:cxn>
                  <a:cxn ang="0">
                    <a:pos x="2147483646" y="0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0000" h="20000">
                    <a:moveTo>
                      <a:pt x="0" y="0"/>
                    </a:moveTo>
                    <a:lnTo>
                      <a:pt x="19981" y="0"/>
                    </a:lnTo>
                    <a:lnTo>
                      <a:pt x="12064" y="1992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617" name="Line 9"/>
              <p:cNvSpPr/>
              <p:nvPr/>
            </p:nvSpPr>
            <p:spPr>
              <a:xfrm>
                <a:off x="3149600" y="5129213"/>
                <a:ext cx="98742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18" name="Rectangle 10"/>
              <p:cNvSpPr/>
              <p:nvPr/>
            </p:nvSpPr>
            <p:spPr>
              <a:xfrm>
                <a:off x="4097338" y="4937126"/>
                <a:ext cx="1443038" cy="38417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/>
                  <a:t>sign = 1</a:t>
                </a:r>
                <a:endParaRPr lang="en-US" altLang="zh-CN" sz="2400" b="1" dirty="0"/>
              </a:p>
            </p:txBody>
          </p:sp>
          <p:sp>
            <p:nvSpPr>
              <p:cNvPr id="25619" name="Rectangle 11"/>
              <p:cNvSpPr/>
              <p:nvPr/>
            </p:nvSpPr>
            <p:spPr>
              <a:xfrm>
                <a:off x="1519238" y="5319713"/>
                <a:ext cx="874713" cy="30003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/>
                  <a:t>x&gt;0</a:t>
                </a:r>
                <a:endParaRPr lang="en-US" altLang="zh-CN" sz="2400" b="1" dirty="0"/>
              </a:p>
            </p:txBody>
          </p:sp>
          <p:sp>
            <p:nvSpPr>
              <p:cNvPr id="25620" name="Line 16"/>
              <p:cNvSpPr/>
              <p:nvPr/>
            </p:nvSpPr>
            <p:spPr>
              <a:xfrm>
                <a:off x="3263900" y="5810251"/>
                <a:ext cx="835025" cy="15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5621" name="Oval 22"/>
              <p:cNvSpPr/>
              <p:nvPr/>
            </p:nvSpPr>
            <p:spPr>
              <a:xfrm>
                <a:off x="685800" y="4419600"/>
                <a:ext cx="1025525" cy="46513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 dirty="0"/>
              </a:p>
            </p:txBody>
          </p:sp>
          <p:sp>
            <p:nvSpPr>
              <p:cNvPr id="25622" name="Oval 23"/>
              <p:cNvSpPr/>
              <p:nvPr/>
            </p:nvSpPr>
            <p:spPr>
              <a:xfrm>
                <a:off x="723900" y="6164263"/>
                <a:ext cx="1025525" cy="46513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 dirty="0"/>
              </a:p>
            </p:txBody>
          </p:sp>
        </p:grpSp>
        <p:sp>
          <p:nvSpPr>
            <p:cNvPr id="25613" name="Rectangle 24"/>
            <p:cNvSpPr/>
            <p:nvPr/>
          </p:nvSpPr>
          <p:spPr>
            <a:xfrm>
              <a:off x="912813" y="6219825"/>
              <a:ext cx="874713" cy="300038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结束</a:t>
              </a:r>
              <a:endParaRPr lang="zh-CN" altLang="en-US" sz="2400" b="1" dirty="0"/>
            </a:p>
          </p:txBody>
        </p:sp>
      </p:grpSp>
      <p:sp>
        <p:nvSpPr>
          <p:cNvPr id="151577" name="Rectangle 25"/>
          <p:cNvSpPr>
            <a:spLocks noChangeArrowheads="1"/>
          </p:cNvSpPr>
          <p:nvPr/>
        </p:nvSpPr>
        <p:spPr bwMode="auto">
          <a:xfrm>
            <a:off x="304800" y="3429000"/>
            <a:ext cx="16764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PAD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78" name="Rectangle 26"/>
          <p:cNvSpPr>
            <a:spLocks noChangeArrowheads="1"/>
          </p:cNvSpPr>
          <p:nvPr/>
        </p:nvSpPr>
        <p:spPr bwMode="auto">
          <a:xfrm>
            <a:off x="8374063" y="152400"/>
            <a:ext cx="3705225" cy="4410075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程序片段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x&gt;0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if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x==0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		sign=0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	sign=-1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1" grpId="0" animBg="1"/>
      <p:bldP spid="11292" grpId="0" animBg="1"/>
      <p:bldP spid="15157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2B79D-62C7-4220-9B2F-FC9BEEE0B9F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8" y="26988"/>
            <a:ext cx="8229600" cy="8016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sign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符号函数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>
            <p:ph idx="1"/>
          </p:nvPr>
        </p:nvGraphicFramePr>
        <p:xfrm>
          <a:off x="420688" y="1122363"/>
          <a:ext cx="48006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82800" imgH="711200" progId="Equation.DSMT4">
                  <p:embed/>
                </p:oleObj>
              </mc:Choice>
              <mc:Fallback>
                <p:oleObj name="" r:id="rId1" imgW="20828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20688" y="1122363"/>
                        <a:ext cx="4800600" cy="1638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9347200" y="1898650"/>
            <a:ext cx="2844800" cy="495935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ffectLst/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多分支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语句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 ……)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if (……)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……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if (……)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……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if (……)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……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6"/>
          <p:cNvSpPr>
            <a:spLocks noChangeArrowheads="1"/>
          </p:cNvSpPr>
          <p:nvPr/>
        </p:nvSpPr>
        <p:spPr bwMode="auto">
          <a:xfrm>
            <a:off x="2133600" y="3048000"/>
            <a:ext cx="3962400" cy="362839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x&gt;0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if 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x==0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sign=0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sign=-1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483725" y="6308725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FE8660-3B70-4563-9561-CB5F2E3A0BD0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534400" cy="457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838200" marR="0" lvl="0" indent="-838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§3.2 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成绩加上获奖信息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单分支程序设计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-17462" y="635000"/>
            <a:ext cx="11950700" cy="727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3.2】</a:t>
            </a:r>
            <a:r>
              <a:rPr kumimoji="0" lang="zh-CN" altLang="en-US" sz="2400" b="1" i="0" u="none" strike="noStrike" kern="1200" cap="none" spc="0" normalizeH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+mn-ea"/>
                <a:cs typeface="+mn-cs"/>
              </a:rPr>
              <a:t>教材P71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学校曾组织了一次程序设计大赛，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的成绩可根据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是否在大赛上获奖而加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满分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).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编程序，计算某同学的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成绩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331" name="Picture 43"/>
          <p:cNvPicPr>
            <a:picLocks noChangeAspect="1"/>
          </p:cNvPicPr>
          <p:nvPr/>
        </p:nvPicPr>
        <p:blipFill>
          <a:blip r:embed="rId1"/>
          <a:srcRect t="3644" r="550" b="9814"/>
          <a:stretch>
            <a:fillRect/>
          </a:stretch>
        </p:blipFill>
        <p:spPr>
          <a:xfrm>
            <a:off x="6335395" y="4095115"/>
            <a:ext cx="5597525" cy="11258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32" name="Picture 44"/>
          <p:cNvPicPr>
            <a:picLocks noChangeAspect="1"/>
          </p:cNvPicPr>
          <p:nvPr/>
        </p:nvPicPr>
        <p:blipFill>
          <a:blip r:embed="rId2"/>
          <a:srcRect r="1197" b="-9477"/>
          <a:stretch>
            <a:fillRect/>
          </a:stretch>
        </p:blipFill>
        <p:spPr>
          <a:xfrm>
            <a:off x="6335395" y="1524000"/>
            <a:ext cx="5854700" cy="13284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37" name="Picture 49"/>
          <p:cNvPicPr>
            <a:picLocks noChangeAspect="1"/>
          </p:cNvPicPr>
          <p:nvPr/>
        </p:nvPicPr>
        <p:blipFill>
          <a:blip r:embed="rId3"/>
          <a:srcRect l="1310" t="5233" b="13299"/>
          <a:stretch>
            <a:fillRect/>
          </a:stretch>
        </p:blipFill>
        <p:spPr>
          <a:xfrm>
            <a:off x="6325235" y="2878455"/>
            <a:ext cx="5887720" cy="109474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710" name="Group 2"/>
          <p:cNvGrpSpPr/>
          <p:nvPr/>
        </p:nvGrpSpPr>
        <p:grpSpPr>
          <a:xfrm>
            <a:off x="73025" y="1362075"/>
            <a:ext cx="6027738" cy="5334000"/>
            <a:chOff x="816" y="240"/>
            <a:chExt cx="3797" cy="3648"/>
          </a:xfrm>
        </p:grpSpPr>
        <p:sp>
          <p:nvSpPr>
            <p:cNvPr id="29711" name="Line 3"/>
            <p:cNvSpPr/>
            <p:nvPr/>
          </p:nvSpPr>
          <p:spPr>
            <a:xfrm flipH="1">
              <a:off x="912" y="240"/>
              <a:ext cx="5" cy="36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712" name="Rectangle 4"/>
            <p:cNvSpPr/>
            <p:nvPr/>
          </p:nvSpPr>
          <p:spPr>
            <a:xfrm>
              <a:off x="919" y="3360"/>
              <a:ext cx="2372" cy="36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C000"/>
                  </a:solidFill>
                </a:rPr>
                <a:t>    输出</a:t>
              </a:r>
              <a:r>
                <a:rPr lang="en-US" altLang="zh-CN" sz="2400" b="1" dirty="0"/>
                <a:t>mark</a:t>
              </a:r>
              <a:endParaRPr lang="en-US" altLang="zh-CN" sz="2400" b="1" dirty="0"/>
            </a:p>
          </p:txBody>
        </p:sp>
        <p:sp>
          <p:nvSpPr>
            <p:cNvPr id="29713" name="Rectangle 5"/>
            <p:cNvSpPr/>
            <p:nvPr/>
          </p:nvSpPr>
          <p:spPr>
            <a:xfrm>
              <a:off x="926" y="1082"/>
              <a:ext cx="2914" cy="4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C000"/>
                  </a:solidFill>
                </a:rPr>
                <a:t>输入</a:t>
              </a:r>
              <a:r>
                <a:rPr lang="zh-CN" altLang="en-US" sz="2400" b="1" dirty="0"/>
                <a:t>是否在大奖赛上获奖信息</a:t>
              </a:r>
              <a:endParaRPr lang="zh-CN" altLang="en-US" sz="2400" b="1" dirty="0"/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sp>
          <p:nvSpPr>
            <p:cNvPr id="29714" name="Rectangle 6"/>
            <p:cNvSpPr/>
            <p:nvPr/>
          </p:nvSpPr>
          <p:spPr>
            <a:xfrm>
              <a:off x="2549" y="1584"/>
              <a:ext cx="2064" cy="39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mark+=5</a:t>
              </a:r>
              <a:endParaRPr lang="en-US" altLang="zh-CN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sp>
          <p:nvSpPr>
            <p:cNvPr id="29715" name="Rectangle 7"/>
            <p:cNvSpPr/>
            <p:nvPr/>
          </p:nvSpPr>
          <p:spPr>
            <a:xfrm>
              <a:off x="1036" y="1840"/>
              <a:ext cx="1417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获奖？</a:t>
              </a:r>
              <a:endPara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9716" name="Line 8"/>
            <p:cNvSpPr/>
            <p:nvPr/>
          </p:nvSpPr>
          <p:spPr>
            <a:xfrm>
              <a:off x="912" y="1671"/>
              <a:ext cx="1621" cy="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7" name="Line 9"/>
            <p:cNvSpPr/>
            <p:nvPr/>
          </p:nvSpPr>
          <p:spPr>
            <a:xfrm flipH="1">
              <a:off x="2218" y="1689"/>
              <a:ext cx="296" cy="3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8" name="Line 10"/>
            <p:cNvSpPr/>
            <p:nvPr/>
          </p:nvSpPr>
          <p:spPr>
            <a:xfrm flipV="1">
              <a:off x="929" y="2365"/>
              <a:ext cx="1593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9" name="Line 11"/>
            <p:cNvSpPr/>
            <p:nvPr/>
          </p:nvSpPr>
          <p:spPr>
            <a:xfrm flipH="1" flipV="1">
              <a:off x="2229" y="2019"/>
              <a:ext cx="296" cy="3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0" name="Rectangle 12"/>
            <p:cNvSpPr/>
            <p:nvPr/>
          </p:nvSpPr>
          <p:spPr>
            <a:xfrm>
              <a:off x="917" y="437"/>
              <a:ext cx="1540" cy="42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C000"/>
                  </a:solidFill>
                </a:rPr>
                <a:t>   输入</a:t>
              </a:r>
              <a:r>
                <a:rPr lang="zh-CN" altLang="en-US" sz="2400" b="1" dirty="0"/>
                <a:t>成绩</a:t>
              </a:r>
              <a:r>
                <a:rPr lang="en-US" altLang="zh-CN" sz="2400" b="1" dirty="0"/>
                <a:t>mark</a:t>
              </a:r>
              <a:endParaRPr lang="en-US" altLang="zh-CN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sp>
          <p:nvSpPr>
            <p:cNvPr id="29721" name="Rectangle 13"/>
            <p:cNvSpPr/>
            <p:nvPr/>
          </p:nvSpPr>
          <p:spPr>
            <a:xfrm>
              <a:off x="2544" y="2431"/>
              <a:ext cx="2064" cy="39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mark=100</a:t>
              </a:r>
              <a:endParaRPr lang="en-US" altLang="zh-CN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sp>
          <p:nvSpPr>
            <p:cNvPr id="29722" name="Rectangle 14"/>
            <p:cNvSpPr/>
            <p:nvPr/>
          </p:nvSpPr>
          <p:spPr>
            <a:xfrm>
              <a:off x="816" y="2727"/>
              <a:ext cx="1417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   </a:t>
              </a:r>
              <a:r>
                <a:rPr lang="zh-CN" altLang="en-US" sz="24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mark&gt;100?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9723" name="Line 15"/>
            <p:cNvSpPr/>
            <p:nvPr/>
          </p:nvSpPr>
          <p:spPr>
            <a:xfrm>
              <a:off x="907" y="2518"/>
              <a:ext cx="1621" cy="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4" name="Line 16"/>
            <p:cNvSpPr/>
            <p:nvPr/>
          </p:nvSpPr>
          <p:spPr>
            <a:xfrm flipH="1">
              <a:off x="2213" y="2536"/>
              <a:ext cx="296" cy="3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5" name="Line 17"/>
            <p:cNvSpPr/>
            <p:nvPr/>
          </p:nvSpPr>
          <p:spPr>
            <a:xfrm flipV="1">
              <a:off x="924" y="3212"/>
              <a:ext cx="1593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6" name="Line 18"/>
            <p:cNvSpPr/>
            <p:nvPr/>
          </p:nvSpPr>
          <p:spPr>
            <a:xfrm flipH="1" flipV="1">
              <a:off x="2224" y="2866"/>
              <a:ext cx="296" cy="3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09EDF7-967E-4F97-ABED-840DA9B1A8A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2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00"/>
            <a:ext cx="11734800" cy="6464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main(){char  win;    int  mark;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输入你的考试成绩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d",&amp;mark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你是否在程序设计大奖赛获奖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(Y/N)?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4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%c</a:t>
            </a:r>
            <a:r>
              <a:rPr lang="en-US" altLang="zh-CN" sz="24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,&amp;win);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或先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getchar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再输入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400" b="1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%c</a:t>
            </a:r>
            <a:r>
              <a:rPr lang="en-US" altLang="zh-CN" sz="2400" b="1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"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,&amp;win);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((win==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'Y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'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)||(win==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'y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sym typeface="+mn-ea"/>
              </a:rPr>
              <a:t>'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mark+=5;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 ( </a:t>
            </a: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mark&gt;100</a:t>
            </a: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mark = 100 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25FF25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printf("</a:t>
            </a:r>
            <a:r>
              <a:rPr kumimoji="0" lang="zh-CN" altLang="de-DE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你的最后成绩是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%d\n",mark);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return 0;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 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04" name="Rectangle 4"/>
          <p:cNvSpPr/>
          <p:nvPr/>
        </p:nvSpPr>
        <p:spPr>
          <a:xfrm>
            <a:off x="9372600" y="34925"/>
            <a:ext cx="2743200" cy="522288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533400" algn="l"/>
              </a:tabLst>
            </a:pPr>
            <a:r>
              <a:rPr lang="zh-CN" altLang="en-US" sz="2800" dirty="0">
                <a:solidFill>
                  <a:srgbClr val="FFFF00"/>
                </a:solidFill>
              </a:rPr>
              <a:t>单分支</a:t>
            </a:r>
            <a:r>
              <a:rPr lang="en-US" altLang="zh-CN" sz="2800" dirty="0">
                <a:solidFill>
                  <a:srgbClr val="FFFF00"/>
                </a:solidFill>
              </a:rPr>
              <a:t>if</a:t>
            </a:r>
            <a:r>
              <a:rPr lang="zh-CN" altLang="en-US" sz="2800" dirty="0">
                <a:solidFill>
                  <a:srgbClr val="FFFF00"/>
                </a:solidFill>
              </a:rPr>
              <a:t>语句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5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7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99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133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195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226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238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256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27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763000" y="64008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D26833-44C2-4EB5-B69F-61BDA40B3A7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idx="1"/>
          </p:nvPr>
        </p:nvSpPr>
        <p:spPr>
          <a:xfrm>
            <a:off x="10236200" y="28575"/>
            <a:ext cx="1987550" cy="1219200"/>
          </a:xfrm>
          <a:ln w="12700">
            <a:solidFill>
              <a:srgbClr val="FFFF00">
                <a:alpha val="100000"/>
              </a:srgbClr>
            </a:solidFill>
            <a:miter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hlink"/>
                </a:solidFill>
                <a:effectLst/>
              </a:rPr>
              <a:t>语句形式</a:t>
            </a:r>
            <a:endParaRPr lang="zh-CN" altLang="en-US" sz="2800" b="1" dirty="0">
              <a:solidFill>
                <a:schemeClr val="hlink"/>
              </a:solidFill>
              <a:effectLst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hlink"/>
                </a:solidFill>
                <a:effectLst/>
              </a:rPr>
              <a:t>		</a:t>
            </a:r>
            <a:r>
              <a:rPr lang="en-US" altLang="zh-CN" sz="2800" b="1" dirty="0">
                <a:solidFill>
                  <a:srgbClr val="FFFF00"/>
                </a:solidFill>
                <a:effectLst/>
              </a:rPr>
              <a:t>if(B) </a:t>
            </a:r>
            <a:endParaRPr lang="en-US" altLang="zh-CN" sz="2800" b="1" dirty="0">
              <a:solidFill>
                <a:srgbClr val="FFFF00"/>
              </a:solidFill>
              <a:effectLst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b="1" dirty="0">
                <a:effectLst/>
              </a:rPr>
              <a:t>		   S</a:t>
            </a:r>
            <a:endParaRPr lang="en-US" altLang="zh-CN" b="1" dirty="0">
              <a:effectLst/>
            </a:endParaRPr>
          </a:p>
        </p:txBody>
      </p:sp>
      <p:sp>
        <p:nvSpPr>
          <p:cNvPr id="192541" name="Rectangle 2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8600" y="762000"/>
            <a:ext cx="4267200" cy="2209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a=3,b=13,max=0;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if(a&gt;b)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max=a;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max+=100;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797" name="Rectangle 30"/>
          <p:cNvSpPr/>
          <p:nvPr/>
        </p:nvSpPr>
        <p:spPr>
          <a:xfrm>
            <a:off x="-34925" y="-7937"/>
            <a:ext cx="49974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【</a:t>
            </a:r>
            <a:r>
              <a:rPr lang="zh-CN" altLang="en-US" b="1" dirty="0">
                <a:solidFill>
                  <a:schemeClr val="hlink"/>
                </a:solidFill>
              </a:rPr>
              <a:t>课堂练习</a:t>
            </a:r>
            <a:r>
              <a:rPr lang="en-US" altLang="zh-CN" b="1" dirty="0">
                <a:solidFill>
                  <a:schemeClr val="hlink"/>
                </a:solidFill>
              </a:rPr>
              <a:t>】</a:t>
            </a:r>
            <a:r>
              <a:rPr lang="zh-CN" altLang="en-US" b="1" dirty="0">
                <a:solidFill>
                  <a:schemeClr val="hlink"/>
                </a:solidFill>
              </a:rPr>
              <a:t>注意</a:t>
            </a:r>
            <a:r>
              <a:rPr lang="en-US" altLang="zh-CN" b="1" dirty="0">
                <a:solidFill>
                  <a:schemeClr val="hlink"/>
                </a:solidFill>
              </a:rPr>
              <a:t>if</a:t>
            </a:r>
            <a:r>
              <a:rPr lang="zh-CN" altLang="en-US" b="1" dirty="0">
                <a:solidFill>
                  <a:schemeClr val="hlink"/>
                </a:solidFill>
              </a:rPr>
              <a:t>的匹配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sp>
        <p:nvSpPr>
          <p:cNvPr id="192544" name="Rectangle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029200" y="336550"/>
            <a:ext cx="4495800" cy="254508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 a=3,b=13,max=0;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if(a&gt;b)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max=a;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max+=100;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2545" name="AutoShape 33"/>
          <p:cNvSpPr/>
          <p:nvPr>
            <p:custDataLst>
              <p:tags r:id="rId3"/>
            </p:custDataLst>
          </p:nvPr>
        </p:nvSpPr>
        <p:spPr>
          <a:xfrm>
            <a:off x="4495800" y="1371600"/>
            <a:ext cx="533400" cy="457200"/>
          </a:xfrm>
          <a:prstGeom prst="rightArrow">
            <a:avLst>
              <a:gd name="adj1" fmla="val 50000"/>
              <a:gd name="adj2" fmla="val 3332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</a:rPr>
              <a:t>？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192546" name="Rectangle 3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00" y="3124200"/>
            <a:ext cx="4343400" cy="2590800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a=3,b=13,max=0;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if(a&gt;b)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max=a;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max+=100;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475" y="5803900"/>
            <a:ext cx="10237788" cy="8661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lvl="1" algn="l" eaLnBrk="1" hangingPunct="1">
              <a:lnSpc>
                <a:spcPct val="80000"/>
              </a:lnSpc>
              <a:spcBef>
                <a:spcPct val="20000"/>
              </a:spcBef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</a:rPr>
              <a:t>注意：</a:t>
            </a:r>
            <a:endParaRPr lang="en-US" altLang="zh-CN" sz="2800" b="1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uLnTx/>
              <a:uFillTx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if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else</a:t>
            </a:r>
            <a:r>
              <a:rPr lang="zh-CN" altLang="en-US" sz="2800" b="1" dirty="0"/>
              <a:t>后紧跟的操作如有多个，需用</a:t>
            </a:r>
            <a:r>
              <a:rPr lang="en-US" altLang="zh-CN" sz="28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</a:rPr>
              <a:t>{ }</a:t>
            </a:r>
            <a:r>
              <a:rPr lang="zh-CN" altLang="en-US" sz="2800" b="1" dirty="0"/>
              <a:t>构成一个复合语句。</a:t>
            </a:r>
            <a:endParaRPr lang="zh-CN" altLang="en-US" sz="2800" b="1" dirty="0"/>
          </a:p>
        </p:txBody>
      </p:sp>
      <p:sp>
        <p:nvSpPr>
          <p:cNvPr id="3" name="下箭头 2"/>
          <p:cNvSpPr/>
          <p:nvPr>
            <p:custDataLst>
              <p:tags r:id="rId5"/>
            </p:custDataLst>
          </p:nvPr>
        </p:nvSpPr>
        <p:spPr>
          <a:xfrm>
            <a:off x="2590800" y="2746375"/>
            <a:ext cx="4572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？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grpSp>
        <p:nvGrpSpPr>
          <p:cNvPr id="5" name="Group 38"/>
          <p:cNvGrpSpPr/>
          <p:nvPr>
            <p:custDataLst>
              <p:tags r:id="rId6"/>
            </p:custDataLst>
          </p:nvPr>
        </p:nvGrpSpPr>
        <p:grpSpPr>
          <a:xfrm>
            <a:off x="3014663" y="2746375"/>
            <a:ext cx="338137" cy="454025"/>
            <a:chOff x="3360" y="2832"/>
            <a:chExt cx="1632" cy="1008"/>
          </a:xfrm>
        </p:grpSpPr>
        <p:sp>
          <p:nvSpPr>
            <p:cNvPr id="33807" name="Line 36"/>
            <p:cNvSpPr/>
            <p:nvPr>
              <p:custDataLst>
                <p:tags r:id="rId7"/>
              </p:custDataLst>
            </p:nvPr>
          </p:nvSpPr>
          <p:spPr>
            <a:xfrm flipV="1">
              <a:off x="3360" y="2880"/>
              <a:ext cx="1584" cy="960"/>
            </a:xfrm>
            <a:prstGeom prst="line">
              <a:avLst/>
            </a:prstGeom>
            <a:ln w="38100" cap="flat" cmpd="sng">
              <a:solidFill>
                <a:srgbClr val="F8084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8" name="Line 37"/>
            <p:cNvSpPr/>
            <p:nvPr>
              <p:custDataLst>
                <p:tags r:id="rId8"/>
              </p:custDataLst>
            </p:nvPr>
          </p:nvSpPr>
          <p:spPr>
            <a:xfrm>
              <a:off x="3408" y="2832"/>
              <a:ext cx="1584" cy="960"/>
            </a:xfrm>
            <a:prstGeom prst="line">
              <a:avLst/>
            </a:prstGeom>
            <a:ln w="38100" cap="flat" cmpd="sng">
              <a:solidFill>
                <a:srgbClr val="F80841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254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254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2546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2546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2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2546">
                                            <p:txEl>
                                              <p:charRg st="2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46">
                                            <p:txEl>
                                              <p:charRg st="29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254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254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2546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2546">
                                            <p:txEl>
                                              <p:charRg st="4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6">
                                            <p:txEl>
                                              <p:charRg st="5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2546">
                                            <p:txEl>
                                              <p:charRg st="5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2546">
                                            <p:txEl>
                                              <p:charRg st="5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46" grpId="0" animBg="1" build="allAtOnce"/>
      <p:bldP spid="2" grpId="0"/>
      <p:bldP spid="3" grpId="0" animBg="1"/>
      <p:bldP spid="192544" grpId="0" animBg="1"/>
      <p:bldP spid="19254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314FC4-6F9A-4E90-9F1C-C22B3F020F5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-193675"/>
            <a:ext cx="10896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思考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以下程序片段是否都正确？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1578" name="Rectangle 26"/>
          <p:cNvSpPr>
            <a:spLocks noChangeArrowheads="1"/>
          </p:cNvSpPr>
          <p:nvPr/>
        </p:nvSpPr>
        <p:spPr bwMode="auto">
          <a:xfrm>
            <a:off x="311150" y="2552700"/>
            <a:ext cx="3962400" cy="419100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程序片段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x&gt;0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 if 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x==0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sign=0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sign=-1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26"/>
          <p:cNvSpPr>
            <a:spLocks noChangeArrowheads="1"/>
          </p:cNvSpPr>
          <p:nvPr/>
        </p:nvSpPr>
        <p:spPr bwMode="auto">
          <a:xfrm>
            <a:off x="4953000" y="2533650"/>
            <a:ext cx="3962400" cy="4200525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程序片段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x&gt;0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 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x==0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sign=0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sign=-1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5846" name="Object 3"/>
          <p:cNvGraphicFramePr>
            <a:graphicFrameLocks noChangeAspect="1"/>
          </p:cNvGraphicFramePr>
          <p:nvPr>
            <p:ph idx="1"/>
          </p:nvPr>
        </p:nvGraphicFramePr>
        <p:xfrm>
          <a:off x="990600" y="914400"/>
          <a:ext cx="48006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82800" imgH="711200" progId="Equation.DSMT4">
                  <p:embed/>
                </p:oleObj>
              </mc:Choice>
              <mc:Fallback>
                <p:oleObj name="" r:id="rId1" imgW="20828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990600" y="914400"/>
                        <a:ext cx="4800600" cy="1638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852223-05A0-4DB4-B61E-59BC5078EBFE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050" y="266700"/>
            <a:ext cx="91440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3.4】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判断某个年份是否闰年 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9906000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闰年的条件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能被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整除，但不能被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整除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year%4==0 &amp;&amp; year%100!=0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||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能被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整除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year%400==0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174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763" y="3914775"/>
            <a:ext cx="3579812" cy="1154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6"/>
          <p:cNvPicPr>
            <a:picLocks noChangeAspect="1"/>
          </p:cNvPicPr>
          <p:nvPr/>
        </p:nvPicPr>
        <p:blipFill>
          <a:blip r:embed="rId2"/>
          <a:srcRect l="2" r="14964"/>
          <a:stretch>
            <a:fillRect/>
          </a:stretch>
        </p:blipFill>
        <p:spPr>
          <a:xfrm>
            <a:off x="6216650" y="5105400"/>
            <a:ext cx="3579813" cy="122396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7699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6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7699">
                                            <p:txEl>
                                              <p:charRg st="69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56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7699">
                                            <p:txEl>
                                              <p:charRg st="56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6274AA-9D38-4A5E-A4A3-FBE3D31932D4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8915" name="Group 27"/>
          <p:cNvGrpSpPr/>
          <p:nvPr/>
        </p:nvGrpSpPr>
        <p:grpSpPr>
          <a:xfrm>
            <a:off x="1752600" y="0"/>
            <a:ext cx="4876800" cy="4038600"/>
            <a:chOff x="144" y="0"/>
            <a:chExt cx="3072" cy="2518"/>
          </a:xfrm>
        </p:grpSpPr>
        <p:sp>
          <p:nvSpPr>
            <p:cNvPr id="38932" name="Line 3"/>
            <p:cNvSpPr/>
            <p:nvPr/>
          </p:nvSpPr>
          <p:spPr>
            <a:xfrm>
              <a:off x="144" y="0"/>
              <a:ext cx="20" cy="25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933" name="Rectangle 4"/>
            <p:cNvSpPr/>
            <p:nvPr/>
          </p:nvSpPr>
          <p:spPr>
            <a:xfrm>
              <a:off x="1584" y="1056"/>
              <a:ext cx="1601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mark =</a:t>
              </a:r>
              <a:r>
                <a:rPr lang="en-US" altLang="zh-CN" sz="2400" b="1" dirty="0"/>
                <a:t> 'N'</a:t>
              </a:r>
              <a:endParaRPr lang="en-US" altLang="zh-CN" sz="2400" b="1" dirty="0"/>
            </a:p>
          </p:txBody>
        </p:sp>
        <p:sp>
          <p:nvSpPr>
            <p:cNvPr id="38934" name="Rectangle 5"/>
            <p:cNvSpPr/>
            <p:nvPr/>
          </p:nvSpPr>
          <p:spPr>
            <a:xfrm>
              <a:off x="166" y="1488"/>
              <a:ext cx="1466" cy="38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输出</a:t>
              </a:r>
              <a:r>
                <a:rPr lang="en-US" altLang="zh-CN" sz="2400" b="1" dirty="0"/>
                <a:t>mark</a:t>
              </a:r>
              <a:endParaRPr lang="en-US" altLang="zh-CN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  <p:sp>
          <p:nvSpPr>
            <p:cNvPr id="38935" name="Rectangle 6"/>
            <p:cNvSpPr/>
            <p:nvPr/>
          </p:nvSpPr>
          <p:spPr>
            <a:xfrm>
              <a:off x="1584" y="576"/>
              <a:ext cx="16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/>
                <a:t>mark=</a:t>
              </a:r>
              <a:r>
                <a:rPr lang="en-US" altLang="zh-CN" sz="2400" b="1" dirty="0"/>
                <a:t> 'Y'</a:t>
              </a:r>
              <a:endParaRPr lang="en-US" altLang="zh-CN" sz="2400" b="1" dirty="0"/>
            </a:p>
          </p:txBody>
        </p:sp>
        <p:sp>
          <p:nvSpPr>
            <p:cNvPr id="38936" name="Rectangle 7"/>
            <p:cNvSpPr/>
            <p:nvPr/>
          </p:nvSpPr>
          <p:spPr>
            <a:xfrm>
              <a:off x="144" y="720"/>
              <a:ext cx="1803" cy="344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闰年？</a:t>
              </a:r>
              <a:endParaRPr lang="zh-CN" altLang="en-US" sz="2400" b="1" dirty="0"/>
            </a:p>
          </p:txBody>
        </p:sp>
        <p:sp>
          <p:nvSpPr>
            <p:cNvPr id="38937" name="Line 8"/>
            <p:cNvSpPr/>
            <p:nvPr/>
          </p:nvSpPr>
          <p:spPr>
            <a:xfrm flipV="1">
              <a:off x="144" y="624"/>
              <a:ext cx="14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8" name="Line 9"/>
            <p:cNvSpPr/>
            <p:nvPr/>
          </p:nvSpPr>
          <p:spPr>
            <a:xfrm flipH="1">
              <a:off x="1296" y="624"/>
              <a:ext cx="272" cy="2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9" name="Line 10"/>
            <p:cNvSpPr/>
            <p:nvPr/>
          </p:nvSpPr>
          <p:spPr>
            <a:xfrm>
              <a:off x="144" y="1200"/>
              <a:ext cx="13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0" name="Line 11"/>
            <p:cNvSpPr/>
            <p:nvPr/>
          </p:nvSpPr>
          <p:spPr>
            <a:xfrm flipH="1" flipV="1">
              <a:off x="1248" y="912"/>
              <a:ext cx="331" cy="29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1" name="Rectangle 12"/>
            <p:cNvSpPr/>
            <p:nvPr/>
          </p:nvSpPr>
          <p:spPr>
            <a:xfrm>
              <a:off x="144" y="144"/>
              <a:ext cx="1632" cy="34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/>
                <a:t>输入年份</a:t>
              </a:r>
              <a:endParaRPr lang="zh-CN" altLang="en-US" sz="2400" b="1" dirty="0"/>
            </a:p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/>
            </a:p>
          </p:txBody>
        </p:sp>
      </p:grpSp>
      <p:grpSp>
        <p:nvGrpSpPr>
          <p:cNvPr id="3" name="Group 29"/>
          <p:cNvGrpSpPr/>
          <p:nvPr/>
        </p:nvGrpSpPr>
        <p:grpSpPr>
          <a:xfrm>
            <a:off x="5562600" y="2514600"/>
            <a:ext cx="5257800" cy="4343400"/>
            <a:chOff x="2544" y="1584"/>
            <a:chExt cx="3312" cy="2736"/>
          </a:xfrm>
        </p:grpSpPr>
        <p:grpSp>
          <p:nvGrpSpPr>
            <p:cNvPr id="38920" name="Group 15"/>
            <p:cNvGrpSpPr/>
            <p:nvPr/>
          </p:nvGrpSpPr>
          <p:grpSpPr>
            <a:xfrm>
              <a:off x="2544" y="1776"/>
              <a:ext cx="3312" cy="2544"/>
              <a:chOff x="912" y="1104"/>
              <a:chExt cx="2880" cy="2075"/>
            </a:xfrm>
          </p:grpSpPr>
          <p:sp>
            <p:nvSpPr>
              <p:cNvPr id="38922" name="Line 16"/>
              <p:cNvSpPr/>
              <p:nvPr/>
            </p:nvSpPr>
            <p:spPr>
              <a:xfrm>
                <a:off x="912" y="1125"/>
                <a:ext cx="17" cy="205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8923" name="Rectangle 17"/>
              <p:cNvSpPr/>
              <p:nvPr/>
            </p:nvSpPr>
            <p:spPr>
              <a:xfrm>
                <a:off x="2400" y="1968"/>
                <a:ext cx="1392" cy="379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mark =</a:t>
                </a:r>
                <a:r>
                  <a:rPr lang="en-US" altLang="zh-CN" sz="2400" b="1" dirty="0">
                    <a:solidFill>
                      <a:schemeClr val="hlink"/>
                    </a:solidFill>
                  </a:rPr>
                  <a:t>'Y'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38924" name="Rectangle 18"/>
              <p:cNvSpPr/>
              <p:nvPr/>
            </p:nvSpPr>
            <p:spPr>
              <a:xfrm>
                <a:off x="931" y="2858"/>
                <a:ext cx="1901" cy="31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输出</a:t>
                </a:r>
                <a:r>
                  <a:rPr lang="en-US" altLang="zh-CN" sz="2400" b="1" dirty="0"/>
                  <a:t>mark</a:t>
                </a:r>
                <a:endParaRPr lang="en-US" altLang="zh-CN" sz="2400" b="1" dirty="0"/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400" b="1" dirty="0"/>
              </a:p>
            </p:txBody>
          </p:sp>
          <p:sp>
            <p:nvSpPr>
              <p:cNvPr id="38925" name="Rectangle 19"/>
              <p:cNvSpPr/>
              <p:nvPr/>
            </p:nvSpPr>
            <p:spPr>
              <a:xfrm>
                <a:off x="912" y="1584"/>
                <a:ext cx="1872" cy="30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</a:rPr>
                  <a:t>mark=</a:t>
                </a:r>
                <a:r>
                  <a:rPr lang="en-US" altLang="zh-CN" sz="2400" b="1" dirty="0">
                    <a:solidFill>
                      <a:schemeClr val="hlink"/>
                    </a:solidFill>
                  </a:rPr>
                  <a:t>'N'</a:t>
                </a:r>
                <a:endParaRPr lang="en-US" altLang="zh-CN" sz="2400" b="1" dirty="0">
                  <a:solidFill>
                    <a:schemeClr val="hlink"/>
                  </a:solidFill>
                </a:endParaRPr>
              </a:p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400" b="1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38926" name="Rectangle 20"/>
              <p:cNvSpPr/>
              <p:nvPr/>
            </p:nvSpPr>
            <p:spPr>
              <a:xfrm>
                <a:off x="1017" y="2266"/>
                <a:ext cx="1568" cy="28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闰年？</a:t>
                </a:r>
                <a:endParaRPr lang="zh-CN" altLang="en-US" sz="2400" b="1" dirty="0"/>
              </a:p>
            </p:txBody>
          </p:sp>
          <p:sp>
            <p:nvSpPr>
              <p:cNvPr id="38927" name="Line 21"/>
              <p:cNvSpPr/>
              <p:nvPr/>
            </p:nvSpPr>
            <p:spPr>
              <a:xfrm flipV="1">
                <a:off x="912" y="2160"/>
                <a:ext cx="14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28" name="Line 22"/>
              <p:cNvSpPr/>
              <p:nvPr/>
            </p:nvSpPr>
            <p:spPr>
              <a:xfrm flipH="1">
                <a:off x="2163" y="2149"/>
                <a:ext cx="237" cy="24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29" name="Line 23"/>
              <p:cNvSpPr/>
              <p:nvPr/>
            </p:nvSpPr>
            <p:spPr>
              <a:xfrm>
                <a:off x="912" y="2640"/>
                <a:ext cx="15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30" name="Line 24"/>
              <p:cNvSpPr/>
              <p:nvPr/>
            </p:nvSpPr>
            <p:spPr>
              <a:xfrm flipH="1" flipV="1">
                <a:off x="2160" y="2400"/>
                <a:ext cx="288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31" name="Rectangle 25"/>
              <p:cNvSpPr/>
              <p:nvPr/>
            </p:nvSpPr>
            <p:spPr>
              <a:xfrm>
                <a:off x="912" y="1104"/>
                <a:ext cx="1884" cy="2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/>
                  <a:t>输入年份</a:t>
                </a:r>
                <a:endParaRPr lang="zh-CN" altLang="en-US" sz="2400" b="1" dirty="0"/>
              </a:p>
            </p:txBody>
          </p:sp>
        </p:grpSp>
        <p:sp>
          <p:nvSpPr>
            <p:cNvPr id="38921" name="Line 26"/>
            <p:cNvSpPr/>
            <p:nvPr/>
          </p:nvSpPr>
          <p:spPr>
            <a:xfrm>
              <a:off x="2544" y="1584"/>
              <a:ext cx="0" cy="2736"/>
            </a:xfrm>
            <a:prstGeom prst="line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8750" name="AutoShape 30"/>
          <p:cNvSpPr/>
          <p:nvPr/>
        </p:nvSpPr>
        <p:spPr>
          <a:xfrm flipV="1">
            <a:off x="3505200" y="3962400"/>
            <a:ext cx="914400" cy="9906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18" name="Rectangle 31"/>
          <p:cNvSpPr/>
          <p:nvPr/>
        </p:nvSpPr>
        <p:spPr>
          <a:xfrm>
            <a:off x="1524000" y="850900"/>
            <a:ext cx="5290820" cy="1358900"/>
          </a:xfrm>
          <a:prstGeom prst="rect">
            <a:avLst/>
          </a:prstGeom>
          <a:noFill/>
          <a:ln w="38100" cap="flat" cmpd="sng">
            <a:solidFill>
              <a:schemeClr val="accent2">
                <a:lumMod val="60000"/>
                <a:lumOff val="40000"/>
              </a:schemeClr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8752" name="Rectangle 32"/>
          <p:cNvSpPr/>
          <p:nvPr/>
        </p:nvSpPr>
        <p:spPr>
          <a:xfrm>
            <a:off x="5486400" y="3633788"/>
            <a:ext cx="5486400" cy="2438400"/>
          </a:xfrm>
          <a:prstGeom prst="rect">
            <a:avLst/>
          </a:prstGeom>
          <a:noFill/>
          <a:ln w="38100" cap="flat" cmpd="sng">
            <a:solidFill>
              <a:schemeClr val="accent2">
                <a:lumMod val="60000"/>
                <a:lumOff val="40000"/>
              </a:schemeClr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8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5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0D8EAA-94E4-4434-A727-AAA4A3D429D4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746" name="Rectangle 2"/>
          <p:cNvSpPr>
            <a:spLocks noGrp="1" noChangeArrowheads="1"/>
          </p:cNvSpPr>
          <p:nvPr>
            <p:ph idx="1"/>
          </p:nvPr>
        </p:nvSpPr>
        <p:spPr>
          <a:xfrm>
            <a:off x="34925" y="152400"/>
            <a:ext cx="12080875" cy="670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char  mark ;   int  year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请输入年份：</a:t>
            </a:r>
            <a:r>
              <a:rPr lang="en-US" altLang="zh-CN" sz="2800" b="1" noProof="0" dirty="0">
                <a:ln>
                  <a:noFill/>
                </a:ln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d",&amp;year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mark = 'N'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if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year%4==0&amp;&amp;year%100!=0)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+mn-lt"/>
                <a:ea typeface="+mn-ea"/>
                <a:cs typeface="+mn-ea"/>
              </a:rPr>
              <a:t>||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year%400==0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mark = 'Y';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("%c\n", mark);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4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143000"/>
            <a:ext cx="3579813" cy="1154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6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8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01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9746">
                                            <p:txEl>
                                              <p:charRg st="101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60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75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658175-8ED3-4278-819B-C23FAF0CBFF8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746" name="Rectangle 2"/>
          <p:cNvSpPr>
            <a:spLocks noGrp="1" noChangeArrowheads="1"/>
          </p:cNvSpPr>
          <p:nvPr>
            <p:ph idx="1"/>
          </p:nvPr>
        </p:nvSpPr>
        <p:spPr>
          <a:xfrm>
            <a:off x="0" y="152400"/>
            <a:ext cx="12039600" cy="594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课后实践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P82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编写程序，输入一个字符，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其为小写字母，将其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转换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成相应的大写字母，然后输出。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程序片段：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c1;                             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("%c",&amp;c1);   //c1=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getchar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if(c1&gt;=97&amp;&amp;c1&lt;=122)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//if(c1&gt;=’a’&amp;&amp;c1&lt;=</a:t>
            </a:r>
            <a:r>
              <a:rPr lang="en-US" altLang="zh-CN" sz="28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z’)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      c1-=32;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//c1=c1-(</a:t>
            </a:r>
            <a:r>
              <a:rPr lang="en-US" altLang="zh-CN" sz="2800" b="1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a’-’A’)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05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4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charRg st="186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B4ABF8-D37E-4A80-A577-74D9298128A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6837"/>
            <a:ext cx="102870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3.3】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求一元二次方程根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自学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中国大学慕课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讲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视频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3.2.2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371600"/>
            <a:ext cx="4953000" cy="60960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800" b="1" dirty="0">
                <a:effectLst/>
              </a:rPr>
              <a:t>ax</a:t>
            </a:r>
            <a:r>
              <a:rPr lang="en-US" altLang="zh-CN" sz="2800" b="1" baseline="30000" dirty="0">
                <a:effectLst/>
              </a:rPr>
              <a:t>2</a:t>
            </a:r>
            <a:r>
              <a:rPr lang="en-US" altLang="zh-CN" sz="2800" b="1" dirty="0">
                <a:effectLst/>
              </a:rPr>
              <a:t> + bx + c = 0</a:t>
            </a:r>
            <a:endParaRPr lang="en-US" altLang="zh-CN" sz="2800" b="1" dirty="0">
              <a:effectLst/>
            </a:endParaRPr>
          </a:p>
        </p:txBody>
      </p:sp>
      <p:graphicFrame>
        <p:nvGraphicFramePr>
          <p:cNvPr id="44037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19100" y="3276600"/>
          <a:ext cx="33528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84300" imgH="457200" progId="Equation.DSMT4">
                  <p:embed/>
                </p:oleObj>
              </mc:Choice>
              <mc:Fallback>
                <p:oleObj name="" r:id="rId1" imgW="1384300" imgH="457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19100" y="3276600"/>
                        <a:ext cx="3352800" cy="11064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5"/>
          <p:cNvSpPr/>
          <p:nvPr/>
        </p:nvSpPr>
        <p:spPr>
          <a:xfrm>
            <a:off x="5084763" y="1223963"/>
            <a:ext cx="4953000" cy="52578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533400" lvl="0" indent="-533400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a≠0</a:t>
            </a:r>
            <a:r>
              <a:rPr lang="zh-CN" altLang="en-US" sz="2800" b="1" dirty="0">
                <a:latin typeface="Arial" panose="020B0604020202020204" pitchFamily="34" charset="0"/>
              </a:rPr>
              <a:t>：一元二次方程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zh-CN" altLang="en-US" b="1" dirty="0">
                <a:latin typeface="Arial" panose="020B0604020202020204" pitchFamily="34" charset="0"/>
              </a:rPr>
              <a:t>有实根</a:t>
            </a:r>
            <a:r>
              <a:rPr lang="en-US" altLang="zh-CN" b="1" dirty="0">
                <a:latin typeface="Arial" panose="020B0604020202020204" pitchFamily="34" charset="0"/>
              </a:rPr>
              <a:t>(△≥0)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1295400" lvl="2" indent="-381000" eaLnBrk="1" hangingPunct="1">
              <a:lnSpc>
                <a:spcPct val="120000"/>
              </a:lnSpc>
            </a:pPr>
            <a:r>
              <a:rPr lang="zh-CN" altLang="en-US" sz="2800" b="1" dirty="0">
                <a:latin typeface="Arial" panose="020B0604020202020204" pitchFamily="34" charset="0"/>
              </a:rPr>
              <a:t>两个不同的实根</a:t>
            </a:r>
            <a:r>
              <a:rPr lang="en-US" altLang="zh-CN" sz="2800" b="1" dirty="0">
                <a:latin typeface="Arial" panose="020B0604020202020204" pitchFamily="34" charset="0"/>
              </a:rPr>
              <a:t>(△&gt;0)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1295400" lvl="2" indent="-381000" eaLnBrk="1" hangingPunct="1">
              <a:lnSpc>
                <a:spcPct val="120000"/>
              </a:lnSpc>
            </a:pPr>
            <a:r>
              <a:rPr lang="zh-CN" altLang="en-US" b="1" dirty="0">
                <a:latin typeface="Arial" panose="020B0604020202020204" pitchFamily="34" charset="0"/>
              </a:rPr>
              <a:t>两个相同的实根</a:t>
            </a:r>
            <a:r>
              <a:rPr lang="en-US" altLang="zh-CN" b="1" dirty="0">
                <a:latin typeface="Arial" panose="020B0604020202020204" pitchFamily="34" charset="0"/>
              </a:rPr>
              <a:t>(△==0)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zh-CN" altLang="en-US" b="1" dirty="0">
                <a:latin typeface="Arial" panose="020B0604020202020204" pitchFamily="34" charset="0"/>
              </a:rPr>
              <a:t>有虚根</a:t>
            </a:r>
            <a:r>
              <a:rPr lang="en-US" altLang="zh-CN" b="1" dirty="0">
                <a:latin typeface="Arial" panose="020B0604020202020204" pitchFamily="34" charset="0"/>
              </a:rPr>
              <a:t>(△</a:t>
            </a:r>
            <a:r>
              <a:rPr lang="en-US" altLang="en-US" b="1" dirty="0">
                <a:latin typeface="Arial" panose="020B0604020202020204" pitchFamily="34" charset="0"/>
              </a:rPr>
              <a:t>＜</a:t>
            </a:r>
            <a:r>
              <a:rPr lang="en-US" altLang="zh-CN" b="1" dirty="0">
                <a:latin typeface="Arial" panose="020B0604020202020204" pitchFamily="34" charset="0"/>
              </a:rPr>
              <a:t>0)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533400" lvl="0" indent="-533400" eaLnBrk="1" hangingPunct="1">
              <a:lnSpc>
                <a:spcPct val="120000"/>
              </a:lnSpc>
              <a:buFontTx/>
              <a:buAutoNum type="circleNumDbPlain"/>
            </a:pPr>
            <a:r>
              <a:rPr lang="en-US" altLang="zh-CN" sz="2800" b="1" dirty="0">
                <a:latin typeface="Arial" panose="020B0604020202020204" pitchFamily="34" charset="0"/>
              </a:rPr>
              <a:t>a=0,b≠0</a:t>
            </a:r>
            <a:r>
              <a:rPr lang="zh-CN" altLang="en-US" sz="2800" b="1" dirty="0">
                <a:latin typeface="Arial" panose="020B0604020202020204" pitchFamily="34" charset="0"/>
              </a:rPr>
              <a:t>：一元一次方程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533400" lvl="0" indent="-533400" eaLnBrk="1" hangingPunct="1">
              <a:lnSpc>
                <a:spcPct val="120000"/>
              </a:lnSpc>
              <a:buFontTx/>
              <a:buAutoNum type="circleNumDbPlain"/>
            </a:pPr>
            <a:r>
              <a:rPr lang="en-US" altLang="zh-CN" sz="2800" b="1" dirty="0">
                <a:latin typeface="Arial" panose="020B0604020202020204" pitchFamily="34" charset="0"/>
              </a:rPr>
              <a:t>a=0, b=0</a:t>
            </a:r>
            <a:r>
              <a:rPr lang="zh-CN" altLang="en-US" sz="2800" b="1" dirty="0">
                <a:latin typeface="Arial" panose="020B0604020202020204" pitchFamily="34" charset="0"/>
              </a:rPr>
              <a:t>：恒等式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c=0</a:t>
            </a:r>
            <a:r>
              <a:rPr lang="zh-CN" altLang="en-US" b="1" dirty="0">
                <a:latin typeface="Arial" panose="020B0604020202020204" pitchFamily="34" charset="0"/>
              </a:rPr>
              <a:t>：恒等式成立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c≠0</a:t>
            </a:r>
            <a:r>
              <a:rPr lang="zh-CN" altLang="en-US" b="1" dirty="0">
                <a:latin typeface="Arial" panose="020B0604020202020204" pitchFamily="34" charset="0"/>
              </a:rPr>
              <a:t>：恒等式不成立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44039" name="TextBox 1"/>
          <p:cNvSpPr txBox="1"/>
          <p:nvPr/>
        </p:nvSpPr>
        <p:spPr>
          <a:xfrm>
            <a:off x="8956675" y="533400"/>
            <a:ext cx="16764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教材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P73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4B0631-7936-4663-BB1D-250B05154A91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381000" y="1154430"/>
            <a:ext cx="2999740" cy="549910"/>
          </a:xfrm>
        </p:spPr>
        <p:txBody>
          <a:bodyPr vert="horz" wrap="square" lIns="91440" tIns="45720" rIns="91440" bIns="45720" anchor="t" anchorCtr="0"/>
          <a:lstStyle/>
          <a:p>
            <a:pPr marL="609600" indent="-609600" eaLnBrk="1" hangingPunct="1"/>
            <a:r>
              <a:rPr lang="en-US" altLang="zh-CN" sz="2800" b="1" dirty="0">
                <a:effectLst/>
                <a:latin typeface="Arial" panose="020B0604020202020204" pitchFamily="34" charset="0"/>
              </a:rPr>
              <a:t>else</a:t>
            </a:r>
            <a:r>
              <a:rPr lang="zh-CN" altLang="en-US" sz="2800" b="1" dirty="0">
                <a:effectLst/>
                <a:latin typeface="Arial" panose="020B0604020202020204" pitchFamily="34" charset="0"/>
              </a:rPr>
              <a:t>归属问题	</a:t>
            </a:r>
            <a:endParaRPr lang="zh-CN" altLang="en-US" sz="28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45060" name="Rectangle 27"/>
          <p:cNvSpPr/>
          <p:nvPr/>
        </p:nvSpPr>
        <p:spPr>
          <a:xfrm>
            <a:off x="152400" y="1965960"/>
            <a:ext cx="4236085" cy="34436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4000" b="1" dirty="0">
                <a:latin typeface="Arial" panose="020B0604020202020204" pitchFamily="34" charset="0"/>
              </a:rPr>
              <a:t>	if  (a&gt;b) </a:t>
            </a:r>
            <a:endParaRPr lang="en-US" altLang="zh-CN" sz="4000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4000" b="1" dirty="0">
                <a:latin typeface="Arial" panose="020B0604020202020204" pitchFamily="34" charset="0"/>
              </a:rPr>
              <a:t>         if  (b&gt;c)  </a:t>
            </a:r>
            <a:endParaRPr lang="en-US" altLang="zh-CN" sz="4000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4000" b="1" dirty="0">
                <a:latin typeface="Arial" panose="020B0604020202020204" pitchFamily="34" charset="0"/>
              </a:rPr>
              <a:t>            x=0;  </a:t>
            </a:r>
            <a:endParaRPr lang="en-US" altLang="zh-CN" sz="4000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Arial" panose="020B0604020202020204" pitchFamily="34" charset="0"/>
              </a:rPr>
              <a:t>    else  </a:t>
            </a:r>
            <a:endParaRPr lang="en-US" altLang="zh-CN" sz="40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  x=1</a:t>
            </a:r>
            <a:r>
              <a:rPr lang="en-US" altLang="zh-CN" sz="4000" b="1" dirty="0">
                <a:latin typeface="Arial" panose="020B0604020202020204" pitchFamily="34" charset="0"/>
              </a:rPr>
              <a:t>;</a:t>
            </a:r>
            <a:endParaRPr lang="en-US" altLang="zh-CN" sz="4000" b="1" dirty="0">
              <a:latin typeface="Arial" panose="020B0604020202020204" pitchFamily="34" charset="0"/>
            </a:endParaRPr>
          </a:p>
        </p:txBody>
      </p:sp>
      <p:sp>
        <p:nvSpPr>
          <p:cNvPr id="165919" name="Rectangle 31"/>
          <p:cNvSpPr/>
          <p:nvPr/>
        </p:nvSpPr>
        <p:spPr>
          <a:xfrm>
            <a:off x="762000" y="6248400"/>
            <a:ext cx="10134600" cy="523875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C</a:t>
            </a:r>
            <a:r>
              <a:rPr lang="zh-CN" altLang="en-US" sz="2800" b="1" dirty="0"/>
              <a:t>标准规定：</a:t>
            </a:r>
            <a:r>
              <a:rPr lang="en-US" altLang="zh-CN" sz="2800" b="1" dirty="0"/>
              <a:t>else</a:t>
            </a:r>
            <a:r>
              <a:rPr lang="zh-CN" altLang="en-US" sz="2800" b="1" dirty="0"/>
              <a:t>部分与前面</a:t>
            </a:r>
            <a:r>
              <a:rPr lang="zh-CN" altLang="en-US" sz="2800" b="1" dirty="0">
                <a:solidFill>
                  <a:schemeClr val="hlink"/>
                </a:solidFill>
              </a:rPr>
              <a:t>最邻近</a:t>
            </a:r>
            <a:r>
              <a:rPr lang="zh-CN" altLang="en-US" sz="2800" b="1" dirty="0"/>
              <a:t>的一个</a:t>
            </a:r>
            <a:r>
              <a:rPr lang="zh-CN" altLang="en-US" sz="2800" b="1" dirty="0">
                <a:solidFill>
                  <a:schemeClr val="hlink"/>
                </a:solidFill>
              </a:rPr>
              <a:t>没有配对的 </a:t>
            </a:r>
            <a:r>
              <a:rPr lang="en-US" altLang="zh-CN" sz="2800" b="1" dirty="0">
                <a:solidFill>
                  <a:schemeClr val="hlink"/>
                </a:solidFill>
              </a:rPr>
              <a:t>if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配对</a:t>
            </a:r>
            <a:endParaRPr lang="zh-CN" altLang="en-US" sz="2800" b="1" dirty="0"/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7000"/>
            <a:ext cx="8229600" cy="7159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  if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语句相关问题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63" name="矩形 1"/>
          <p:cNvSpPr/>
          <p:nvPr/>
        </p:nvSpPr>
        <p:spPr>
          <a:xfrm>
            <a:off x="837883" y="5256848"/>
            <a:ext cx="12668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二义性</a:t>
            </a:r>
            <a:endParaRPr lang="zh-CN" altLang="en-US" sz="1800" b="1" dirty="0"/>
          </a:p>
        </p:txBody>
      </p:sp>
      <p:sp>
        <p:nvSpPr>
          <p:cNvPr id="47108" name="Rectangle 16"/>
          <p:cNvSpPr/>
          <p:nvPr/>
        </p:nvSpPr>
        <p:spPr>
          <a:xfrm>
            <a:off x="6096000" y="76200"/>
            <a:ext cx="3124200" cy="28956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if  (a&gt;b)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{    if  (b&gt;c) 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        x=0; 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     else  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           x=1</a:t>
            </a:r>
            <a:r>
              <a:rPr lang="en-US" altLang="zh-CN" b="1" dirty="0">
                <a:latin typeface="Arial" panose="020B0604020202020204" pitchFamily="34" charset="0"/>
              </a:rPr>
              <a:t>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}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20" name="Rectangle 30"/>
          <p:cNvSpPr/>
          <p:nvPr/>
        </p:nvSpPr>
        <p:spPr>
          <a:xfrm>
            <a:off x="6096000" y="3048000"/>
            <a:ext cx="3124200" cy="289560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if  (a&gt;b)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{ </a:t>
            </a:r>
            <a:r>
              <a:rPr lang="en-US" altLang="zh-CN" b="1" dirty="0">
                <a:latin typeface="Arial" panose="020B0604020202020204" pitchFamily="34" charset="0"/>
              </a:rPr>
              <a:t>   if  (b&gt;c) 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            x=0;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</a:t>
            </a:r>
            <a:endParaRPr lang="en-US" altLang="zh-CN" b="1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else  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609600" lvl="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      x=1</a:t>
            </a:r>
            <a:r>
              <a:rPr lang="en-US" altLang="zh-CN" b="1" dirty="0">
                <a:latin typeface="Arial" panose="020B0604020202020204" pitchFamily="34" charset="0"/>
              </a:rPr>
              <a:t>;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865685-30DD-44A0-9B5F-EF284D9531C9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90513"/>
            <a:ext cx="8229600" cy="9429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逻辑判断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布尔类型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11353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双分支，单分支逻辑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条件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B”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逻辑表达式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，也称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布尔表达式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该表达式类型为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布尔类型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false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（假）、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true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（真）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把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bool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类型看成整数类型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分别用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非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表示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false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和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true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if(mark&gt;=60)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76BC42-60DD-4332-B517-C630BEB9739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1" name="Text Box 2"/>
          <p:cNvSpPr txBox="1"/>
          <p:nvPr/>
        </p:nvSpPr>
        <p:spPr>
          <a:xfrm>
            <a:off x="152400" y="3471863"/>
            <a:ext cx="4572000" cy="312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#include&lt;stdio.h&gt;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int main()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{	int i=0,r;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if(i=6)   r=1;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else	   r=2;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printf("r=%d\n",r);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3252" name="Text Box 3"/>
          <p:cNvSpPr txBox="1"/>
          <p:nvPr/>
        </p:nvSpPr>
        <p:spPr>
          <a:xfrm>
            <a:off x="76200" y="52388"/>
            <a:ext cx="5715000" cy="3397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思考</a:t>
            </a:r>
            <a:r>
              <a:rPr lang="en-US" altLang="zh-CN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】</a:t>
            </a: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程序运行结果</a:t>
            </a:r>
            <a:endParaRPr lang="en-US" altLang="zh-CN" sz="24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FFC000"/>
                </a:solidFill>
                <a:latin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#include&lt;stdio.h&gt;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int main(){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int i=2,r;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if(i==1)    r=1;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	else	   r=2;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printf("r=%d\n",r);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3253" name="Text Box 4"/>
          <p:cNvSpPr txBox="1"/>
          <p:nvPr/>
        </p:nvSpPr>
        <p:spPr>
          <a:xfrm>
            <a:off x="6096000" y="381000"/>
            <a:ext cx="5410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FFC000"/>
                </a:solidFill>
                <a:latin typeface="宋体" panose="02010600030101010101" pitchFamily="2" charset="-122"/>
              </a:rPr>
              <a:t>：</a:t>
            </a:r>
            <a:endParaRPr lang="zh-CN" altLang="en-US" sz="2800" b="1" dirty="0">
              <a:solidFill>
                <a:srgbClr val="FFC000"/>
              </a:solidFill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#include&lt;stdio.h&gt;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int main()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{	int i=6,r;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if(i=0)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   r=1;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else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   r=2;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	printf("r=%d\n",r);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}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53254" name="Text Box 5"/>
          <p:cNvSpPr txBox="1"/>
          <p:nvPr/>
        </p:nvSpPr>
        <p:spPr>
          <a:xfrm>
            <a:off x="1295400" y="3062288"/>
            <a:ext cx="26670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folHlink"/>
                </a:solidFill>
              </a:rPr>
              <a:t>运行结果：</a:t>
            </a:r>
            <a:r>
              <a:rPr lang="en-US" altLang="zh-CN" sz="1800" b="1" dirty="0">
                <a:solidFill>
                  <a:schemeClr val="folHlink"/>
                </a:solidFill>
              </a:rPr>
              <a:t>r=2</a:t>
            </a:r>
            <a:endParaRPr lang="en-US" altLang="zh-CN" sz="1800" b="1" dirty="0">
              <a:solidFill>
                <a:schemeClr val="folHlink"/>
              </a:solidFill>
            </a:endParaRPr>
          </a:p>
        </p:txBody>
      </p:sp>
      <p:sp>
        <p:nvSpPr>
          <p:cNvPr id="53255" name="Text Box 6"/>
          <p:cNvSpPr txBox="1"/>
          <p:nvPr/>
        </p:nvSpPr>
        <p:spPr>
          <a:xfrm>
            <a:off x="1676400" y="6324600"/>
            <a:ext cx="2133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folHlink"/>
                </a:solidFill>
              </a:rPr>
              <a:t>运行结果：</a:t>
            </a:r>
            <a:r>
              <a:rPr lang="en-US" altLang="zh-CN" sz="1800" b="1" dirty="0">
                <a:solidFill>
                  <a:schemeClr val="folHlink"/>
                </a:solidFill>
              </a:rPr>
              <a:t>r=1</a:t>
            </a:r>
            <a:endParaRPr lang="en-US" altLang="zh-CN" sz="1800" b="1" dirty="0">
              <a:solidFill>
                <a:schemeClr val="folHlink"/>
              </a:solidFill>
            </a:endParaRPr>
          </a:p>
        </p:txBody>
      </p:sp>
      <p:sp>
        <p:nvSpPr>
          <p:cNvPr id="53256" name="Text Box 7"/>
          <p:cNvSpPr txBox="1"/>
          <p:nvPr/>
        </p:nvSpPr>
        <p:spPr>
          <a:xfrm>
            <a:off x="6019800" y="4800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运行结果：</a:t>
            </a:r>
            <a:r>
              <a:rPr lang="en-US" altLang="zh-CN" sz="2400" b="1" dirty="0">
                <a:solidFill>
                  <a:schemeClr val="folHlink"/>
                </a:solidFill>
              </a:rPr>
              <a:t>r=2</a:t>
            </a:r>
            <a:endParaRPr lang="en-US" altLang="zh-CN" sz="2400" b="1" dirty="0">
              <a:solidFill>
                <a:schemeClr val="folHlink"/>
              </a:solidFill>
            </a:endParaRPr>
          </a:p>
        </p:txBody>
      </p:sp>
      <p:sp>
        <p:nvSpPr>
          <p:cNvPr id="53257" name="Rectangle 10"/>
          <p:cNvSpPr/>
          <p:nvPr/>
        </p:nvSpPr>
        <p:spPr>
          <a:xfrm>
            <a:off x="6019800" y="5797550"/>
            <a:ext cx="3048000" cy="908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100" b="1" dirty="0"/>
              <a:t>区分 ＝＝ 和 ＝</a:t>
            </a:r>
            <a:endParaRPr lang="zh-CN" altLang="en-US" sz="31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7" grpId="0" animBg="1"/>
      <p:bldP spid="5325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Line 9"/>
          <p:cNvSpPr/>
          <p:nvPr/>
        </p:nvSpPr>
        <p:spPr>
          <a:xfrm>
            <a:off x="457200" y="2757488"/>
            <a:ext cx="7696200" cy="619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2940" b="23172"/>
          <a:stretch>
            <a:fillRect/>
          </a:stretch>
        </p:blipFill>
        <p:spPr>
          <a:xfrm>
            <a:off x="8153400" y="152400"/>
            <a:ext cx="3910013" cy="6410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50759-D273-468B-9A09-AAA52AA7F10F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Text Box 2"/>
          <p:cNvSpPr txBox="1"/>
          <p:nvPr/>
        </p:nvSpPr>
        <p:spPr>
          <a:xfrm>
            <a:off x="457200" y="917575"/>
            <a:ext cx="2971800" cy="178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if(3==3)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26" name="Text Box 3"/>
          <p:cNvSpPr txBox="1"/>
          <p:nvPr/>
        </p:nvSpPr>
        <p:spPr>
          <a:xfrm>
            <a:off x="4343400" y="977900"/>
            <a:ext cx="3505200" cy="1845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 !</a:t>
            </a:r>
            <a:r>
              <a:rPr lang="en-US" altLang="zh-CN" sz="2000" b="1" dirty="0"/>
              <a:t>(3==3) 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27" name="Text Box 4"/>
          <p:cNvSpPr txBox="1"/>
          <p:nvPr/>
        </p:nvSpPr>
        <p:spPr>
          <a:xfrm>
            <a:off x="463550" y="2940050"/>
            <a:ext cx="3276600" cy="1845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if( 3==3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&amp;&amp;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3&gt;=2 )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28" name="Text Box 5"/>
          <p:cNvSpPr txBox="1"/>
          <p:nvPr/>
        </p:nvSpPr>
        <p:spPr>
          <a:xfrm>
            <a:off x="495300" y="5011738"/>
            <a:ext cx="3276600" cy="1845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if( 3&lt;=2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||</a:t>
            </a:r>
            <a:r>
              <a:rPr lang="en-US" altLang="zh-CN" sz="2000" b="1" dirty="0"/>
              <a:t>3&gt;=2 )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29" name="Text Box 6"/>
          <p:cNvSpPr txBox="1"/>
          <p:nvPr/>
        </p:nvSpPr>
        <p:spPr>
          <a:xfrm>
            <a:off x="4392613" y="4953000"/>
            <a:ext cx="3276600" cy="1845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if( 3&gt;=2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||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3&lt;=2 )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30" name="Text Box 7"/>
          <p:cNvSpPr txBox="1"/>
          <p:nvPr/>
        </p:nvSpPr>
        <p:spPr>
          <a:xfrm>
            <a:off x="76200" y="80963"/>
            <a:ext cx="746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C000"/>
                </a:solidFill>
              </a:rPr>
              <a:t>【</a:t>
            </a:r>
            <a:r>
              <a:rPr lang="zh-CN" altLang="en-US" sz="2400" b="1" dirty="0">
                <a:solidFill>
                  <a:srgbClr val="FFC000"/>
                </a:solidFill>
              </a:rPr>
              <a:t>思考</a:t>
            </a:r>
            <a:r>
              <a:rPr lang="en-US" altLang="zh-CN" sz="2400" b="1" dirty="0">
                <a:solidFill>
                  <a:srgbClr val="FFC000"/>
                </a:solidFill>
              </a:rPr>
              <a:t>】</a:t>
            </a:r>
            <a:r>
              <a:rPr lang="zh-CN" altLang="en-US" sz="2400" b="1" dirty="0"/>
              <a:t>有如下程序片段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思考程序的输出结果</a:t>
            </a:r>
            <a:r>
              <a:rPr lang="en-US" altLang="zh-CN" sz="2400" b="1" dirty="0"/>
              <a:t>:</a:t>
            </a:r>
            <a:endParaRPr lang="en-US" altLang="zh-CN" sz="2400" b="1" dirty="0"/>
          </a:p>
        </p:txBody>
      </p:sp>
      <p:sp>
        <p:nvSpPr>
          <p:cNvPr id="56331" name="Text Box 8"/>
          <p:cNvSpPr txBox="1"/>
          <p:nvPr/>
        </p:nvSpPr>
        <p:spPr>
          <a:xfrm>
            <a:off x="4378325" y="2944813"/>
            <a:ext cx="3276600" cy="1845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if( 3==3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&amp;&amp;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3&lt;=2 )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yes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else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	printf(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/>
              <a:t>no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);</a:t>
            </a:r>
            <a:endParaRPr lang="en-US" altLang="zh-CN" sz="2000" b="1" dirty="0"/>
          </a:p>
        </p:txBody>
      </p:sp>
      <p:sp>
        <p:nvSpPr>
          <p:cNvPr id="56332" name="Text Box 11"/>
          <p:cNvSpPr txBox="1"/>
          <p:nvPr/>
        </p:nvSpPr>
        <p:spPr>
          <a:xfrm>
            <a:off x="3397250" y="2266950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yes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56333" name="Text Box 12"/>
          <p:cNvSpPr txBox="1"/>
          <p:nvPr/>
        </p:nvSpPr>
        <p:spPr>
          <a:xfrm>
            <a:off x="3429000" y="4267200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yes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56334" name="Text Box 13"/>
          <p:cNvSpPr txBox="1"/>
          <p:nvPr/>
        </p:nvSpPr>
        <p:spPr>
          <a:xfrm>
            <a:off x="3392488" y="6337300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yes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56335" name="Text Box 14"/>
          <p:cNvSpPr txBox="1"/>
          <p:nvPr/>
        </p:nvSpPr>
        <p:spPr>
          <a:xfrm>
            <a:off x="7346950" y="6334125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yes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56336" name="Text Box 15"/>
          <p:cNvSpPr txBox="1"/>
          <p:nvPr/>
        </p:nvSpPr>
        <p:spPr>
          <a:xfrm>
            <a:off x="7312025" y="2339975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no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56337" name="Text Box 16"/>
          <p:cNvSpPr txBox="1"/>
          <p:nvPr/>
        </p:nvSpPr>
        <p:spPr>
          <a:xfrm>
            <a:off x="7346950" y="4295775"/>
            <a:ext cx="6858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folHlink"/>
                </a:solidFill>
              </a:rPr>
              <a:t>no</a:t>
            </a:r>
            <a:endParaRPr lang="en-US" altLang="zh-CN" sz="2000" b="1" dirty="0">
              <a:solidFill>
                <a:schemeClr val="folHlin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70725" y="4933950"/>
            <a:ext cx="1562100" cy="4000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短路运算符</a:t>
            </a:r>
            <a:endParaRPr lang="zh-CN" altLang="en-US" sz="2000" b="1" dirty="0"/>
          </a:p>
        </p:txBody>
      </p:sp>
      <p:sp>
        <p:nvSpPr>
          <p:cNvPr id="56339" name="Line 10"/>
          <p:cNvSpPr/>
          <p:nvPr/>
        </p:nvSpPr>
        <p:spPr>
          <a:xfrm>
            <a:off x="609600" y="4724400"/>
            <a:ext cx="7543800" cy="25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C26D7-143E-4D84-8E4F-09A2A7EA8A5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§3.5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获奖分等级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多分支程序设计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1420813"/>
            <a:ext cx="11663363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3.5】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学校曾经组织了一次程序设计大奖赛，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程设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课程的成绩可以根据大奖赛的成绩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适度加分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。加分规则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参赛者加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5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三等奖加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15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二等奖加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一等奖加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30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总分不超过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100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编程序，计算某同学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程设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课成绩。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8FBFF2-6AD2-4F24-A4D2-C0ACEA4A1D5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Text Box 2"/>
          <p:cNvSpPr txBox="1"/>
          <p:nvPr/>
        </p:nvSpPr>
        <p:spPr>
          <a:xfrm>
            <a:off x="8686800" y="1752600"/>
            <a:ext cx="1154113" cy="42703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未参赛</a:t>
            </a:r>
            <a:endParaRPr lang="zh-CN" altLang="en-US" sz="2200" b="1" dirty="0"/>
          </a:p>
        </p:txBody>
      </p:sp>
      <p:grpSp>
        <p:nvGrpSpPr>
          <p:cNvPr id="59396" name="Group 3"/>
          <p:cNvGrpSpPr/>
          <p:nvPr/>
        </p:nvGrpSpPr>
        <p:grpSpPr>
          <a:xfrm>
            <a:off x="1676400" y="0"/>
            <a:ext cx="8534400" cy="6858000"/>
            <a:chOff x="96" y="0"/>
            <a:chExt cx="5041" cy="3811"/>
          </a:xfrm>
        </p:grpSpPr>
        <p:sp>
          <p:nvSpPr>
            <p:cNvPr id="59397" name="Rectangle 4"/>
            <p:cNvSpPr/>
            <p:nvPr/>
          </p:nvSpPr>
          <p:spPr>
            <a:xfrm>
              <a:off x="1416" y="194"/>
              <a:ext cx="1929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输入考试成绩</a:t>
              </a:r>
              <a:r>
                <a:rPr lang="en-US" altLang="zh-CN" sz="2200" b="1" dirty="0"/>
                <a:t>mark</a:t>
              </a:r>
              <a:endParaRPr lang="en-US" altLang="zh-CN" sz="2200" b="1" dirty="0"/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200" b="1" dirty="0"/>
            </a:p>
          </p:txBody>
        </p:sp>
        <p:sp>
          <p:nvSpPr>
            <p:cNvPr id="59398" name="Rectangle 5"/>
            <p:cNvSpPr/>
            <p:nvPr/>
          </p:nvSpPr>
          <p:spPr>
            <a:xfrm>
              <a:off x="1519" y="657"/>
              <a:ext cx="1750" cy="25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输入参加大奖赛信息</a:t>
              </a:r>
              <a:endParaRPr lang="zh-CN" altLang="en-US" sz="2200" b="1" dirty="0"/>
            </a:p>
          </p:txBody>
        </p:sp>
        <p:sp>
          <p:nvSpPr>
            <p:cNvPr id="59399" name="Line 6"/>
            <p:cNvSpPr/>
            <p:nvPr/>
          </p:nvSpPr>
          <p:spPr>
            <a:xfrm>
              <a:off x="2393" y="478"/>
              <a:ext cx="1" cy="1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59400" name="Line 7"/>
            <p:cNvSpPr/>
            <p:nvPr/>
          </p:nvSpPr>
          <p:spPr>
            <a:xfrm>
              <a:off x="2394" y="0"/>
              <a:ext cx="2" cy="1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grpSp>
          <p:nvGrpSpPr>
            <p:cNvPr id="59401" name="Group 8"/>
            <p:cNvGrpSpPr/>
            <p:nvPr/>
          </p:nvGrpSpPr>
          <p:grpSpPr>
            <a:xfrm>
              <a:off x="1427" y="1090"/>
              <a:ext cx="1961" cy="347"/>
              <a:chOff x="0" y="0"/>
              <a:chExt cx="20006" cy="20004"/>
            </a:xfrm>
          </p:grpSpPr>
          <p:sp>
            <p:nvSpPr>
              <p:cNvPr id="59439" name="Line 9"/>
              <p:cNvSpPr/>
              <p:nvPr/>
            </p:nvSpPr>
            <p:spPr>
              <a:xfrm flipH="1">
                <a:off x="0" y="0"/>
                <a:ext cx="9850" cy="1000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59440" name="Line 10"/>
              <p:cNvSpPr/>
              <p:nvPr/>
            </p:nvSpPr>
            <p:spPr>
              <a:xfrm>
                <a:off x="10156" y="0"/>
                <a:ext cx="9850" cy="1000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59441" name="Group 11"/>
              <p:cNvGrpSpPr/>
              <p:nvPr/>
            </p:nvGrpSpPr>
            <p:grpSpPr>
              <a:xfrm>
                <a:off x="0" y="10002"/>
                <a:ext cx="20006" cy="10002"/>
                <a:chOff x="0" y="0"/>
                <a:chExt cx="20000" cy="20000"/>
              </a:xfrm>
            </p:grpSpPr>
            <p:sp>
              <p:nvSpPr>
                <p:cNvPr id="59442" name="Line 12"/>
                <p:cNvSpPr/>
                <p:nvPr/>
              </p:nvSpPr>
              <p:spPr>
                <a:xfrm flipH="1" flipV="1">
                  <a:off x="0" y="0"/>
                  <a:ext cx="9847" cy="200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59443" name="Line 13"/>
                <p:cNvSpPr/>
                <p:nvPr/>
              </p:nvSpPr>
              <p:spPr>
                <a:xfrm flipV="1">
                  <a:off x="10153" y="0"/>
                  <a:ext cx="9847" cy="2000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sp>
          <p:nvSpPr>
            <p:cNvPr id="59402" name="Rectangle 14"/>
            <p:cNvSpPr/>
            <p:nvPr/>
          </p:nvSpPr>
          <p:spPr>
            <a:xfrm>
              <a:off x="1519" y="1134"/>
              <a:ext cx="1706" cy="20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大奖赛成绩？</a:t>
              </a:r>
              <a:endParaRPr lang="zh-CN" altLang="en-US" sz="2200" b="1" dirty="0"/>
            </a:p>
          </p:txBody>
        </p:sp>
        <p:sp>
          <p:nvSpPr>
            <p:cNvPr id="59403" name="Line 15"/>
            <p:cNvSpPr/>
            <p:nvPr/>
          </p:nvSpPr>
          <p:spPr>
            <a:xfrm>
              <a:off x="2394" y="925"/>
              <a:ext cx="2" cy="1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59404" name="Rectangle 16"/>
            <p:cNvSpPr/>
            <p:nvPr/>
          </p:nvSpPr>
          <p:spPr>
            <a:xfrm>
              <a:off x="1297" y="1642"/>
              <a:ext cx="1082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 b="1" dirty="0"/>
                <a:t>mark</a:t>
              </a:r>
              <a:r>
                <a:rPr lang="en-US" altLang="zh-CN" sz="2200" b="1" dirty="0">
                  <a:solidFill>
                    <a:schemeClr val="folHlink"/>
                  </a:solidFill>
                </a:rPr>
                <a:t>+=</a:t>
              </a:r>
              <a:r>
                <a:rPr lang="en-US" altLang="zh-CN" sz="2200" b="1" dirty="0"/>
                <a:t>15</a:t>
              </a:r>
              <a:endParaRPr lang="en-US" altLang="zh-CN" sz="2200" b="1" dirty="0"/>
            </a:p>
          </p:txBody>
        </p:sp>
        <p:sp>
          <p:nvSpPr>
            <p:cNvPr id="59405" name="Line 17"/>
            <p:cNvSpPr/>
            <p:nvPr/>
          </p:nvSpPr>
          <p:spPr>
            <a:xfrm>
              <a:off x="1801" y="1896"/>
              <a:ext cx="0" cy="1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59406" name="Rectangle 18"/>
            <p:cNvSpPr/>
            <p:nvPr/>
          </p:nvSpPr>
          <p:spPr>
            <a:xfrm>
              <a:off x="1831" y="3343"/>
              <a:ext cx="1171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输出</a:t>
              </a:r>
              <a:r>
                <a:rPr lang="en-US" altLang="zh-CN" sz="2200" b="1" dirty="0"/>
                <a:t>mark</a:t>
              </a:r>
              <a:endParaRPr lang="en-US" altLang="zh-CN" sz="2200" b="1" dirty="0"/>
            </a:p>
          </p:txBody>
        </p:sp>
        <p:grpSp>
          <p:nvGrpSpPr>
            <p:cNvPr id="59407" name="Group 19"/>
            <p:cNvGrpSpPr/>
            <p:nvPr/>
          </p:nvGrpSpPr>
          <p:grpSpPr>
            <a:xfrm>
              <a:off x="1416" y="2120"/>
              <a:ext cx="2301" cy="1206"/>
              <a:chOff x="3280" y="4521"/>
              <a:chExt cx="3104" cy="1616"/>
            </a:xfrm>
          </p:grpSpPr>
          <p:grpSp>
            <p:nvGrpSpPr>
              <p:cNvPr id="59424" name="Group 20"/>
              <p:cNvGrpSpPr/>
              <p:nvPr/>
            </p:nvGrpSpPr>
            <p:grpSpPr>
              <a:xfrm>
                <a:off x="3280" y="4741"/>
                <a:ext cx="2644" cy="466"/>
                <a:chOff x="4980" y="3094"/>
                <a:chExt cx="2644" cy="466"/>
              </a:xfrm>
            </p:grpSpPr>
            <p:grpSp>
              <p:nvGrpSpPr>
                <p:cNvPr id="59432" name="Group 21"/>
                <p:cNvGrpSpPr/>
                <p:nvPr/>
              </p:nvGrpSpPr>
              <p:grpSpPr>
                <a:xfrm>
                  <a:off x="4980" y="3094"/>
                  <a:ext cx="2644" cy="466"/>
                  <a:chOff x="0" y="0"/>
                  <a:chExt cx="20006" cy="20004"/>
                </a:xfrm>
              </p:grpSpPr>
              <p:sp>
                <p:nvSpPr>
                  <p:cNvPr id="59434" name="Line 22"/>
                  <p:cNvSpPr/>
                  <p:nvPr/>
                </p:nvSpPr>
                <p:spPr>
                  <a:xfrm flipH="1">
                    <a:off x="0" y="0"/>
                    <a:ext cx="9850" cy="1000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59435" name="Line 23"/>
                  <p:cNvSpPr/>
                  <p:nvPr/>
                </p:nvSpPr>
                <p:spPr>
                  <a:xfrm>
                    <a:off x="10156" y="0"/>
                    <a:ext cx="9850" cy="1000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grpSp>
                <p:nvGrpSpPr>
                  <p:cNvPr id="59436" name="Group 24"/>
                  <p:cNvGrpSpPr/>
                  <p:nvPr/>
                </p:nvGrpSpPr>
                <p:grpSpPr>
                  <a:xfrm>
                    <a:off x="0" y="10002"/>
                    <a:ext cx="20006" cy="10002"/>
                    <a:chOff x="0" y="0"/>
                    <a:chExt cx="20000" cy="20000"/>
                  </a:xfrm>
                </p:grpSpPr>
                <p:sp>
                  <p:nvSpPr>
                    <p:cNvPr id="59437" name="Line 25"/>
                    <p:cNvSpPr/>
                    <p:nvPr/>
                  </p:nvSpPr>
                  <p:spPr>
                    <a:xfrm flipH="1" flipV="1">
                      <a:off x="0" y="0"/>
                      <a:ext cx="9847" cy="2000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>
                  </p:spPr>
                </p:sp>
                <p:sp>
                  <p:nvSpPr>
                    <p:cNvPr id="59438" name="Line 26"/>
                    <p:cNvSpPr/>
                    <p:nvPr/>
                  </p:nvSpPr>
                  <p:spPr>
                    <a:xfrm flipV="1">
                      <a:off x="10153" y="0"/>
                      <a:ext cx="9847" cy="2000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>
                  </p:spPr>
                </p:sp>
              </p:grpSp>
            </p:grpSp>
            <p:sp>
              <p:nvSpPr>
                <p:cNvPr id="59433" name="Rectangle 27"/>
                <p:cNvSpPr/>
                <p:nvPr/>
              </p:nvSpPr>
              <p:spPr>
                <a:xfrm>
                  <a:off x="5104" y="3154"/>
                  <a:ext cx="2300" cy="27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2540" tIns="2540" rIns="2540" bIns="254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200" b="1" dirty="0"/>
                    <a:t>mark&gt;100</a:t>
                  </a:r>
                  <a:endParaRPr lang="en-US" altLang="zh-CN" sz="2200" b="1" dirty="0"/>
                </a:p>
              </p:txBody>
            </p:sp>
          </p:grpSp>
          <p:sp>
            <p:nvSpPr>
              <p:cNvPr id="59425" name="Line 28"/>
              <p:cNvSpPr/>
              <p:nvPr/>
            </p:nvSpPr>
            <p:spPr>
              <a:xfrm>
                <a:off x="4584" y="4521"/>
                <a:ext cx="2" cy="21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  <p:sp>
            <p:nvSpPr>
              <p:cNvPr id="59426" name="Rectangle 29"/>
              <p:cNvSpPr/>
              <p:nvPr/>
            </p:nvSpPr>
            <p:spPr>
              <a:xfrm>
                <a:off x="5704" y="4732"/>
                <a:ext cx="674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200" b="1" dirty="0"/>
                  <a:t>F</a:t>
                </a:r>
                <a:endParaRPr lang="en-US" altLang="zh-CN" sz="2200" b="1" dirty="0"/>
              </a:p>
            </p:txBody>
          </p:sp>
          <p:sp>
            <p:nvSpPr>
              <p:cNvPr id="59427" name="Rectangle 30"/>
              <p:cNvSpPr/>
              <p:nvPr/>
            </p:nvSpPr>
            <p:spPr>
              <a:xfrm>
                <a:off x="3324" y="5461"/>
                <a:ext cx="2602" cy="3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200" b="1" dirty="0"/>
                  <a:t>mark=100</a:t>
                </a:r>
                <a:endParaRPr lang="en-US" altLang="zh-CN" sz="2200" b="1" dirty="0"/>
              </a:p>
            </p:txBody>
          </p:sp>
          <p:sp>
            <p:nvSpPr>
              <p:cNvPr id="59428" name="Rectangle 31"/>
              <p:cNvSpPr/>
              <p:nvPr/>
            </p:nvSpPr>
            <p:spPr>
              <a:xfrm>
                <a:off x="4728" y="5201"/>
                <a:ext cx="436" cy="18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2540" tIns="2540" rIns="2540" bIns="254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200" b="1" dirty="0"/>
                  <a:t>T</a:t>
                </a:r>
                <a:endParaRPr lang="en-US" altLang="zh-CN" sz="2200" b="1" dirty="0"/>
              </a:p>
            </p:txBody>
          </p:sp>
          <p:sp>
            <p:nvSpPr>
              <p:cNvPr id="59429" name="Line 32"/>
              <p:cNvSpPr/>
              <p:nvPr/>
            </p:nvSpPr>
            <p:spPr>
              <a:xfrm>
                <a:off x="4604" y="5221"/>
                <a:ext cx="2" cy="21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  <p:sp>
            <p:nvSpPr>
              <p:cNvPr id="59430" name="Line 33"/>
              <p:cNvSpPr/>
              <p:nvPr/>
            </p:nvSpPr>
            <p:spPr>
              <a:xfrm>
                <a:off x="4624" y="5803"/>
                <a:ext cx="0" cy="33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triangle" w="sm" len="sm"/>
              </a:ln>
            </p:spPr>
          </p:sp>
          <p:sp>
            <p:nvSpPr>
              <p:cNvPr id="59431" name="Freeform 34"/>
              <p:cNvSpPr/>
              <p:nvPr/>
            </p:nvSpPr>
            <p:spPr>
              <a:xfrm>
                <a:off x="4824" y="4981"/>
                <a:ext cx="1560" cy="1000"/>
              </a:xfrm>
              <a:custGeom>
                <a:avLst/>
                <a:gdLst>
                  <a:gd name="txL" fmla="*/ 0 w 1640"/>
                  <a:gd name="txT" fmla="*/ 0 h 1060"/>
                  <a:gd name="txR" fmla="*/ 1640 w 1640"/>
                  <a:gd name="txB" fmla="*/ 1060 h 1060"/>
                </a:gdLst>
                <a:ahLst/>
                <a:cxnLst>
                  <a:cxn ang="0">
                    <a:pos x="379" y="0"/>
                  </a:cxn>
                  <a:cxn ang="0">
                    <a:pos x="574" y="0"/>
                  </a:cxn>
                  <a:cxn ang="0">
                    <a:pos x="574" y="311"/>
                  </a:cxn>
                  <a:cxn ang="0">
                    <a:pos x="0" y="311"/>
                  </a:cxn>
                </a:cxnLst>
                <a:rect l="txL" t="txT" r="txR" b="txB"/>
                <a:pathLst>
                  <a:path w="1640" h="1060">
                    <a:moveTo>
                      <a:pt x="1080" y="0"/>
                    </a:moveTo>
                    <a:lnTo>
                      <a:pt x="1640" y="0"/>
                    </a:lnTo>
                    <a:lnTo>
                      <a:pt x="1640" y="1060"/>
                    </a:lnTo>
                    <a:lnTo>
                      <a:pt x="0" y="106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9408" name="Rectangle 35"/>
            <p:cNvSpPr/>
            <p:nvPr/>
          </p:nvSpPr>
          <p:spPr>
            <a:xfrm>
              <a:off x="2468" y="1642"/>
              <a:ext cx="1083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 b="1" dirty="0"/>
                <a:t>mark</a:t>
              </a:r>
              <a:r>
                <a:rPr lang="en-US" altLang="zh-CN" sz="2200" b="1" dirty="0">
                  <a:solidFill>
                    <a:schemeClr val="folHlink"/>
                  </a:solidFill>
                </a:rPr>
                <a:t>+=</a:t>
              </a:r>
              <a:r>
                <a:rPr lang="en-US" altLang="zh-CN" sz="2200" b="1" dirty="0"/>
                <a:t>20</a:t>
              </a:r>
              <a:endParaRPr lang="en-US" altLang="zh-CN" sz="2200" b="1" dirty="0"/>
            </a:p>
          </p:txBody>
        </p:sp>
        <p:sp>
          <p:nvSpPr>
            <p:cNvPr id="59409" name="Rectangle 36"/>
            <p:cNvSpPr/>
            <p:nvPr/>
          </p:nvSpPr>
          <p:spPr>
            <a:xfrm>
              <a:off x="126" y="1627"/>
              <a:ext cx="1082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 b="1" dirty="0"/>
                <a:t>mark</a:t>
              </a:r>
              <a:r>
                <a:rPr lang="en-US" altLang="zh-CN" sz="2200" b="1" dirty="0">
                  <a:solidFill>
                    <a:schemeClr val="folHlink"/>
                  </a:solidFill>
                </a:rPr>
                <a:t>+=</a:t>
              </a:r>
              <a:r>
                <a:rPr lang="en-US" altLang="zh-CN" sz="2200" b="1" dirty="0"/>
                <a:t>5</a:t>
              </a:r>
              <a:endParaRPr lang="en-US" altLang="zh-CN" sz="2200" b="1" dirty="0"/>
            </a:p>
          </p:txBody>
        </p:sp>
        <p:sp>
          <p:nvSpPr>
            <p:cNvPr id="59410" name="Rectangle 37"/>
            <p:cNvSpPr/>
            <p:nvPr/>
          </p:nvSpPr>
          <p:spPr>
            <a:xfrm>
              <a:off x="3714" y="1657"/>
              <a:ext cx="1082" cy="2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200" b="1" dirty="0"/>
                <a:t>mark</a:t>
              </a:r>
              <a:r>
                <a:rPr lang="en-US" altLang="zh-CN" sz="2200" b="1" dirty="0">
                  <a:solidFill>
                    <a:schemeClr val="folHlink"/>
                  </a:solidFill>
                </a:rPr>
                <a:t>+=</a:t>
              </a:r>
              <a:r>
                <a:rPr lang="en-US" altLang="zh-CN" sz="2200" b="1" dirty="0"/>
                <a:t>30</a:t>
              </a:r>
              <a:endParaRPr lang="en-US" altLang="zh-CN" sz="2200" b="1" dirty="0"/>
            </a:p>
          </p:txBody>
        </p:sp>
        <p:sp>
          <p:nvSpPr>
            <p:cNvPr id="59411" name="Freeform 38"/>
            <p:cNvSpPr/>
            <p:nvPr/>
          </p:nvSpPr>
          <p:spPr>
            <a:xfrm>
              <a:off x="659" y="1254"/>
              <a:ext cx="771" cy="328"/>
            </a:xfrm>
            <a:custGeom>
              <a:avLst/>
              <a:gdLst>
                <a:gd name="txL" fmla="*/ 0 w 1040"/>
                <a:gd name="txT" fmla="*/ 0 h 440"/>
                <a:gd name="txR" fmla="*/ 1040 w 1040"/>
                <a:gd name="txB" fmla="*/ 440 h 440"/>
              </a:gdLst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</a:cxnLst>
              <a:rect l="txL" t="txT" r="txR" b="txB"/>
              <a:pathLst>
                <a:path w="1040" h="440">
                  <a:moveTo>
                    <a:pt x="1040" y="0"/>
                  </a:moveTo>
                  <a:lnTo>
                    <a:pt x="0" y="0"/>
                  </a:lnTo>
                  <a:lnTo>
                    <a:pt x="0" y="44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2" name="Freeform 39"/>
            <p:cNvSpPr/>
            <p:nvPr/>
          </p:nvSpPr>
          <p:spPr>
            <a:xfrm flipH="1">
              <a:off x="3417" y="1269"/>
              <a:ext cx="1720" cy="655"/>
            </a:xfrm>
            <a:custGeom>
              <a:avLst/>
              <a:gdLst>
                <a:gd name="txL" fmla="*/ 0 w 1040"/>
                <a:gd name="txT" fmla="*/ 0 h 440"/>
                <a:gd name="txR" fmla="*/ 1040 w 1040"/>
                <a:gd name="txB" fmla="*/ 440 h 440"/>
              </a:gdLst>
              <a:ahLst/>
              <a:cxnLst>
                <a:cxn ang="0">
                  <a:pos x="40314650" y="0"/>
                </a:cxn>
                <a:cxn ang="0">
                  <a:pos x="0" y="0"/>
                </a:cxn>
                <a:cxn ang="0">
                  <a:pos x="0" y="1870037"/>
                </a:cxn>
              </a:cxnLst>
              <a:rect l="txL" t="txT" r="txR" b="txB"/>
              <a:pathLst>
                <a:path w="1040" h="440">
                  <a:moveTo>
                    <a:pt x="1040" y="0"/>
                  </a:moveTo>
                  <a:lnTo>
                    <a:pt x="0" y="0"/>
                  </a:lnTo>
                  <a:lnTo>
                    <a:pt x="0" y="44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3" name="Freeform 40"/>
            <p:cNvSpPr/>
            <p:nvPr/>
          </p:nvSpPr>
          <p:spPr>
            <a:xfrm>
              <a:off x="1812" y="1358"/>
              <a:ext cx="226" cy="269"/>
            </a:xfrm>
            <a:custGeom>
              <a:avLst/>
              <a:gdLst>
                <a:gd name="txL" fmla="*/ 0 w 320"/>
                <a:gd name="txT" fmla="*/ 0 h 360"/>
                <a:gd name="txR" fmla="*/ 320 w 320"/>
                <a:gd name="txB" fmla="*/ 360 h 360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txL" t="txT" r="txR" b="txB"/>
              <a:pathLst>
                <a:path w="320" h="360">
                  <a:moveTo>
                    <a:pt x="320" y="0"/>
                  </a:moveTo>
                  <a:lnTo>
                    <a:pt x="0" y="120"/>
                  </a:lnTo>
                  <a:lnTo>
                    <a:pt x="0" y="36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4" name="Freeform 41"/>
            <p:cNvSpPr/>
            <p:nvPr/>
          </p:nvSpPr>
          <p:spPr>
            <a:xfrm flipH="1">
              <a:off x="2795" y="1358"/>
              <a:ext cx="226" cy="269"/>
            </a:xfrm>
            <a:custGeom>
              <a:avLst/>
              <a:gdLst>
                <a:gd name="txL" fmla="*/ 0 w 320"/>
                <a:gd name="txT" fmla="*/ 0 h 360"/>
                <a:gd name="txR" fmla="*/ 320 w 320"/>
                <a:gd name="txB" fmla="*/ 360 h 360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txL" t="txT" r="txR" b="txB"/>
              <a:pathLst>
                <a:path w="320" h="360">
                  <a:moveTo>
                    <a:pt x="320" y="0"/>
                  </a:moveTo>
                  <a:lnTo>
                    <a:pt x="0" y="120"/>
                  </a:lnTo>
                  <a:lnTo>
                    <a:pt x="0" y="36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5" name="Freeform 42"/>
            <p:cNvSpPr/>
            <p:nvPr/>
          </p:nvSpPr>
          <p:spPr>
            <a:xfrm>
              <a:off x="670" y="1881"/>
              <a:ext cx="4467" cy="192"/>
            </a:xfrm>
            <a:custGeom>
              <a:avLst/>
              <a:gdLst>
                <a:gd name="txL" fmla="*/ 0 w 4720"/>
                <a:gd name="txT" fmla="*/ 0 h 460"/>
                <a:gd name="txR" fmla="*/ 4720 w 4720"/>
                <a:gd name="txB" fmla="*/ 460 h 46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483" y="0"/>
                </a:cxn>
                <a:cxn ang="0">
                  <a:pos x="1483" y="0"/>
                </a:cxn>
              </a:cxnLst>
              <a:rect l="txL" t="txT" r="txR" b="txB"/>
              <a:pathLst>
                <a:path w="4720" h="460">
                  <a:moveTo>
                    <a:pt x="0" y="0"/>
                  </a:moveTo>
                  <a:lnTo>
                    <a:pt x="0" y="460"/>
                  </a:lnTo>
                  <a:lnTo>
                    <a:pt x="4720" y="460"/>
                  </a:lnTo>
                  <a:lnTo>
                    <a:pt x="4720" y="4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6" name="Line 43"/>
            <p:cNvSpPr/>
            <p:nvPr/>
          </p:nvSpPr>
          <p:spPr>
            <a:xfrm>
              <a:off x="3032" y="1896"/>
              <a:ext cx="0" cy="1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59417" name="Text Box 44"/>
            <p:cNvSpPr txBox="1"/>
            <p:nvPr/>
          </p:nvSpPr>
          <p:spPr>
            <a:xfrm>
              <a:off x="1193" y="1358"/>
              <a:ext cx="727" cy="23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三等奖</a:t>
              </a:r>
              <a:endParaRPr lang="zh-CN" altLang="en-US" sz="2200" b="1" dirty="0"/>
            </a:p>
          </p:txBody>
        </p:sp>
        <p:sp>
          <p:nvSpPr>
            <p:cNvPr id="59418" name="Text Box 45"/>
            <p:cNvSpPr txBox="1"/>
            <p:nvPr/>
          </p:nvSpPr>
          <p:spPr>
            <a:xfrm>
              <a:off x="96" y="1239"/>
              <a:ext cx="727" cy="23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参赛</a:t>
              </a:r>
              <a:endParaRPr lang="zh-CN" altLang="en-US" sz="2200" b="1" dirty="0"/>
            </a:p>
          </p:txBody>
        </p:sp>
        <p:sp>
          <p:nvSpPr>
            <p:cNvPr id="59419" name="Text Box 46"/>
            <p:cNvSpPr txBox="1"/>
            <p:nvPr/>
          </p:nvSpPr>
          <p:spPr>
            <a:xfrm>
              <a:off x="2928" y="1360"/>
              <a:ext cx="727" cy="23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二等奖</a:t>
              </a:r>
              <a:endParaRPr lang="zh-CN" altLang="en-US" sz="2200" b="1" dirty="0"/>
            </a:p>
          </p:txBody>
        </p:sp>
        <p:sp>
          <p:nvSpPr>
            <p:cNvPr id="59420" name="Text Box 47"/>
            <p:cNvSpPr txBox="1"/>
            <p:nvPr/>
          </p:nvSpPr>
          <p:spPr>
            <a:xfrm>
              <a:off x="4173" y="1386"/>
              <a:ext cx="727" cy="23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200" b="1" dirty="0"/>
                <a:t>一等奖</a:t>
              </a:r>
              <a:endParaRPr lang="zh-CN" altLang="en-US" sz="2200" b="1" dirty="0"/>
            </a:p>
          </p:txBody>
        </p:sp>
        <p:sp>
          <p:nvSpPr>
            <p:cNvPr id="59421" name="Freeform 48"/>
            <p:cNvSpPr/>
            <p:nvPr/>
          </p:nvSpPr>
          <p:spPr>
            <a:xfrm>
              <a:off x="3136" y="1312"/>
              <a:ext cx="1126" cy="313"/>
            </a:xfrm>
            <a:custGeom>
              <a:avLst/>
              <a:gdLst>
                <a:gd name="txL" fmla="*/ 0 w 1520"/>
                <a:gd name="txT" fmla="*/ 0 h 420"/>
                <a:gd name="txR" fmla="*/ 1520 w 1520"/>
                <a:gd name="txB" fmla="*/ 420 h 420"/>
              </a:gdLst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txL" t="txT" r="txR" b="txB"/>
              <a:pathLst>
                <a:path w="1520" h="420">
                  <a:moveTo>
                    <a:pt x="0" y="0"/>
                  </a:moveTo>
                  <a:lnTo>
                    <a:pt x="1520" y="180"/>
                  </a:lnTo>
                  <a:lnTo>
                    <a:pt x="1520" y="42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22" name="Line 49"/>
            <p:cNvSpPr/>
            <p:nvPr/>
          </p:nvSpPr>
          <p:spPr>
            <a:xfrm>
              <a:off x="4248" y="1924"/>
              <a:ext cx="0" cy="1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59423" name="Line 50"/>
            <p:cNvSpPr/>
            <p:nvPr/>
          </p:nvSpPr>
          <p:spPr>
            <a:xfrm>
              <a:off x="2400" y="3648"/>
              <a:ext cx="2" cy="1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triangle" w="sm" len="sm"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07C620-90A9-405F-9BD9-1223F15A5A02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0287000" cy="7315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 &lt;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 win, mark;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输入你的考试成绩：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d",&amp;mark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请选择你参加程序设计大奖赛情况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("(0: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未参加，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参赛，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三等奖，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二等奖，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一等奖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):\n");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&amp;win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 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0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mark+=5;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mark+=15;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mark+=20;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4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mark+=30;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 ( mark&gt;100 )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mark = 100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你的最后成绩是：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%d\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n",mark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0420" name="Picture 5"/>
          <p:cNvPicPr>
            <a:picLocks noChangeAspect="1"/>
          </p:cNvPicPr>
          <p:nvPr/>
        </p:nvPicPr>
        <p:blipFill>
          <a:blip r:embed="rId1"/>
          <a:srcRect r="5063"/>
          <a:stretch>
            <a:fillRect/>
          </a:stretch>
        </p:blipFill>
        <p:spPr>
          <a:xfrm>
            <a:off x="5745163" y="-23812"/>
            <a:ext cx="6446837" cy="152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5867400" y="2460625"/>
            <a:ext cx="3048000" cy="341503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win==1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mark+=5;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if(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win==2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mark+=15;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if(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win==3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mark+=20;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else if(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win==4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mark+=30;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3886200" y="4919345"/>
            <a:ext cx="1755775" cy="956310"/>
          </a:xfrm>
          <a:prstGeom prst="wedgeRoundRectCallout">
            <a:avLst>
              <a:gd name="adj1" fmla="val -8010"/>
              <a:gd name="adj2" fmla="val -6746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break</a:t>
            </a:r>
            <a:r>
              <a:rPr lang="zh-CN" altLang="en-US" sz="2400" dirty="0">
                <a:latin typeface="Arial" panose="020B0604020202020204" pitchFamily="34" charset="0"/>
              </a:rPr>
              <a:t>所起作用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4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7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9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121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16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41" end="3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59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74" end="4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404" end="4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419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18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38" end="3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205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224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252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281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charRg st="310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 animBg="1"/>
      <p:bldP spid="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8B3A49-0C08-4A8F-B653-82790FFA789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65100"/>
            <a:ext cx="10134600" cy="66929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 &lt;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 win, mark;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输入你的考试成绩：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d",&amp;mark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请选择你参加程序设计大奖赛情况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("(0: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未参加，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参赛，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三等奖，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二等奖，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一等奖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):\n");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&amp;win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 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0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mark+=5;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mark+=15;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mark+=20;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4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mark+=30;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25FF2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  ( mark&gt;100 )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mark = 100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你的最后成绩是：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%d\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n",mark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return 0;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468" name="对话气泡: 圆角矩形 3"/>
          <p:cNvSpPr/>
          <p:nvPr/>
        </p:nvSpPr>
        <p:spPr>
          <a:xfrm>
            <a:off x="5867400" y="2597150"/>
            <a:ext cx="5410200" cy="1828800"/>
          </a:xfrm>
          <a:prstGeom prst="wedgeRoundRectCallout">
            <a:avLst>
              <a:gd name="adj1" fmla="val -56657"/>
              <a:gd name="adj2" fmla="val 45620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【</a:t>
            </a:r>
            <a:r>
              <a:rPr lang="zh-CN" altLang="en-US" sz="3200" dirty="0">
                <a:latin typeface="Arial" panose="020B0604020202020204" pitchFamily="34" charset="0"/>
              </a:rPr>
              <a:t>思考</a:t>
            </a:r>
            <a:r>
              <a:rPr lang="en-US" altLang="zh-CN" sz="3200" dirty="0">
                <a:latin typeface="Arial" panose="020B0604020202020204" pitchFamily="34" charset="0"/>
              </a:rPr>
              <a:t>】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为</a:t>
            </a:r>
            <a:r>
              <a:rPr lang="en-US" altLang="zh-CN" sz="3200" dirty="0">
                <a:latin typeface="Arial" panose="020B0604020202020204" pitchFamily="34" charset="0"/>
              </a:rPr>
              <a:t>win</a:t>
            </a:r>
            <a:r>
              <a:rPr lang="zh-CN" altLang="en-US" sz="3200" dirty="0">
                <a:latin typeface="Arial" panose="020B0604020202020204" pitchFamily="34" charset="0"/>
              </a:rPr>
              <a:t>分别输入</a:t>
            </a:r>
            <a:r>
              <a:rPr lang="en-US" altLang="zh-CN" sz="3200" dirty="0">
                <a:latin typeface="Arial" panose="020B0604020202020204" pitchFamily="34" charset="0"/>
              </a:rPr>
              <a:t>0,1,2,3,4</a:t>
            </a:r>
            <a:r>
              <a:rPr lang="zh-CN" altLang="en-US" sz="3200" dirty="0">
                <a:latin typeface="Arial" panose="020B0604020202020204" pitchFamily="34" charset="0"/>
              </a:rPr>
              <a:t>时，输出结果是？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41F709-6FB7-4046-8A7B-22B0B7C1759D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5993130" cy="630301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程序片段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win;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 win 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case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case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mark=mark+5; 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case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mark=mark+15; 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case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mark=mark+20; break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case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mark=mark+30;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72835" y="533400"/>
            <a:ext cx="6019800" cy="6247130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程序片段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w;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switch(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case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'+'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a=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a+b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	break;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case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'-'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a=a-b;	break;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case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'*'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a=a*b;	break;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case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'/'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a=a/b;	break;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default: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Error!”);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-1;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lvl="0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9753600" y="1219200"/>
            <a:ext cx="1094740" cy="750570"/>
          </a:xfrm>
          <a:prstGeom prst="wedgeRoundRectCallout">
            <a:avLst>
              <a:gd name="adj1" fmla="val -200638"/>
              <a:gd name="adj2" fmla="val 122005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char</a:t>
            </a:r>
            <a:endParaRPr lang="zh-CN" sz="2400" dirty="0">
              <a:latin typeface="Arial" panose="020B0604020202020204" pitchFamily="34" charset="0"/>
            </a:endParaRPr>
          </a:p>
          <a:p>
            <a:pPr algn="ctr" eaLnBrk="1" hangingPunct="1">
              <a:buNone/>
            </a:pPr>
            <a:r>
              <a:rPr lang="zh-CN" sz="2400" dirty="0">
                <a:latin typeface="Arial" panose="020B0604020202020204" pitchFamily="34" charset="0"/>
              </a:rPr>
              <a:t>常量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3048000" y="468630"/>
            <a:ext cx="1094740" cy="750570"/>
          </a:xfrm>
          <a:prstGeom prst="wedgeRoundRectCallout">
            <a:avLst>
              <a:gd name="adj1" fmla="val -200638"/>
              <a:gd name="adj2" fmla="val 122005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int</a:t>
            </a:r>
            <a:endParaRPr lang="zh-CN" sz="2400" dirty="0">
              <a:latin typeface="Arial" panose="020B0604020202020204" pitchFamily="34" charset="0"/>
            </a:endParaRPr>
          </a:p>
          <a:p>
            <a:pPr algn="ctr" eaLnBrk="1" hangingPunct="1">
              <a:buNone/>
            </a:pPr>
            <a:r>
              <a:rPr lang="zh-CN" sz="2400" dirty="0">
                <a:latin typeface="Arial" panose="020B0604020202020204" pitchFamily="34" charset="0"/>
              </a:rPr>
              <a:t>常量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auto">
          <a:xfrm>
            <a:off x="3200400" y="4020820"/>
            <a:ext cx="2962910" cy="283718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if(a&gt;0)  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	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……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else if(a&lt;0)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	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……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else 	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	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……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不能写成 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case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a&gt;0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: ……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lvl="0" algn="l" eaLnBrk="1" hangingPunct="1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case </a:t>
            </a:r>
            <a:r>
              <a:rPr lang="en-US" altLang="zh-CN" sz="2400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a&lt;0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: ……</a:t>
            </a:r>
            <a:endParaRPr lang="en-US" altLang="zh-CN" sz="2400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4" grpId="1" animBg="1"/>
      <p:bldP spid="5" grpId="0" bldLvl="0" animBg="1"/>
      <p:bldP spid="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A6A1D8-FF7F-4694-A108-9833C1AD2864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Text Box 4"/>
          <p:cNvSpPr txBox="1"/>
          <p:nvPr/>
        </p:nvSpPr>
        <p:spPr>
          <a:xfrm>
            <a:off x="47625" y="674688"/>
            <a:ext cx="90328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1"/>
              </a:buClr>
              <a:buSzTx/>
              <a:buFontTx/>
              <a:buNone/>
            </a:pPr>
            <a:r>
              <a:rPr lang="zh-CN" altLang="en-US" sz="3600" b="1" dirty="0">
                <a:solidFill>
                  <a:schemeClr val="hlink"/>
                </a:solidFill>
                <a:latin typeface="Arial" panose="020B0604020202020204" pitchFamily="34" charset="0"/>
              </a:rPr>
              <a:t>枚举类型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（自学）</a:t>
            </a:r>
            <a:endParaRPr lang="zh-CN" altLang="en-US" sz="3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8612" name="矩形 1"/>
          <p:cNvSpPr/>
          <p:nvPr/>
        </p:nvSpPr>
        <p:spPr>
          <a:xfrm>
            <a:off x="-15875" y="1325880"/>
            <a:ext cx="778510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1.</a:t>
            </a:r>
            <a:r>
              <a:rPr lang="zh-CN" altLang="en-US" b="1" dirty="0"/>
              <a:t>教材</a:t>
            </a:r>
            <a:r>
              <a:rPr lang="en-US" altLang="zh-CN" b="1" dirty="0"/>
              <a:t>P376  </a:t>
            </a:r>
            <a:r>
              <a:rPr lang="zh-CN" altLang="en-US" b="1" dirty="0"/>
              <a:t>或</a:t>
            </a:r>
            <a:endParaRPr lang="zh-CN" altLang="en-US" b="1" dirty="0"/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2.</a:t>
            </a:r>
            <a:r>
              <a:rPr lang="zh-CN" altLang="zh-CN" b="1" dirty="0">
                <a:latin typeface="Arial" panose="020B0604020202020204" pitchFamily="34" charset="0"/>
              </a:rPr>
              <a:t>中国大学</a:t>
            </a:r>
            <a:r>
              <a:rPr lang="zh-CN" altLang="en-US" b="1" dirty="0">
                <a:latin typeface="Arial" panose="020B0604020202020204" pitchFamily="34" charset="0"/>
              </a:rPr>
              <a:t>慕课</a:t>
            </a:r>
            <a:r>
              <a:rPr lang="en-US" altLang="zh-CN" b="1" dirty="0"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sym typeface="Wingdings" panose="05000000000000000000" pitchFamily="2" charset="2"/>
              </a:rPr>
              <a:t>第</a:t>
            </a:r>
            <a:r>
              <a:rPr lang="en-US" altLang="zh-CN" b="1" dirty="0">
                <a:latin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zh-CN" altLang="en-US" b="1" dirty="0">
                <a:latin typeface="Arial" panose="020B0604020202020204" pitchFamily="34" charset="0"/>
                <a:sym typeface="Wingdings" panose="05000000000000000000" pitchFamily="2" charset="2"/>
              </a:rPr>
              <a:t>讲</a:t>
            </a:r>
            <a:r>
              <a:rPr lang="en-US" altLang="zh-CN" b="1" dirty="0"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sym typeface="Wingdings" panose="05000000000000000000" pitchFamily="2" charset="2"/>
              </a:rPr>
              <a:t>视频</a:t>
            </a:r>
            <a:r>
              <a:rPr lang="en-US" altLang="zh-CN" b="1" dirty="0"/>
              <a:t>3.5 </a:t>
            </a:r>
            <a:r>
              <a:rPr lang="zh-CN" altLang="en-US" b="1" dirty="0"/>
              <a:t>枚举类型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68613" name="对象 1"/>
          <p:cNvGraphicFramePr/>
          <p:nvPr/>
        </p:nvGraphicFramePr>
        <p:xfrm>
          <a:off x="152400" y="2590800"/>
          <a:ext cx="70008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362325" imgH="1285875" progId="Paint.Picture">
                  <p:embed/>
                </p:oleObj>
              </mc:Choice>
              <mc:Fallback>
                <p:oleObj name="" r:id="rId1" imgW="3362325" imgH="12858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" y="2590800"/>
                        <a:ext cx="7000875" cy="2667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448800" y="6316663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E7FDFE-D82C-428B-9BC9-2ACC3CDCA5A2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文本框 3"/>
          <p:cNvSpPr txBox="1"/>
          <p:nvPr/>
        </p:nvSpPr>
        <p:spPr>
          <a:xfrm>
            <a:off x="0" y="80963"/>
            <a:ext cx="12268200" cy="677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800" b="1" dirty="0">
                <a:solidFill>
                  <a:srgbClr val="FFFF00"/>
                </a:solidFill>
              </a:rPr>
              <a:t>【</a:t>
            </a:r>
            <a:r>
              <a:rPr lang="zh-CN" altLang="en-US" sz="3800" b="1" dirty="0">
                <a:solidFill>
                  <a:srgbClr val="FFFF00"/>
                </a:solidFill>
              </a:rPr>
              <a:t>思考</a:t>
            </a:r>
            <a:r>
              <a:rPr lang="en-US" altLang="zh-CN" sz="3800" b="1" dirty="0">
                <a:solidFill>
                  <a:srgbClr val="FFFF00"/>
                </a:solidFill>
              </a:rPr>
              <a:t>】</a:t>
            </a:r>
            <a:r>
              <a:rPr lang="zh-CN" altLang="en-US" sz="3800" b="1" dirty="0">
                <a:solidFill>
                  <a:srgbClr val="FFFF00"/>
                </a:solidFill>
              </a:rPr>
              <a:t>下面哪些是枚举类型名，哪些是枚举变量名？</a:t>
            </a:r>
            <a:endParaRPr lang="zh-CN" altLang="en-US" sz="3800" b="1" dirty="0">
              <a:solidFill>
                <a:srgbClr val="FFFF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7488" y="758825"/>
            <a:ext cx="8882063" cy="29229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习题1:</a:t>
            </a:r>
            <a:endParaRPr kumimoji="0" lang="en-US" altLang="zh-CN" sz="2400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enum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Tsig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{</a:t>
            </a: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Red,Green,Yellow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} sig1;</a:t>
            </a:r>
            <a:endParaRPr kumimoji="0" lang="en-US" altLang="zh-CN" sz="4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sig1=Red;</a:t>
            </a:r>
            <a:endParaRPr kumimoji="0" lang="en-US" altLang="zh-CN" sz="4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if(sig1==Green) </a:t>
            </a:r>
            <a:endParaRPr kumimoji="0" lang="en-US" altLang="zh-CN" sz="4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	</a:t>
            </a: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printf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(</a:t>
            </a:r>
            <a:r>
              <a:rPr lang="en-US" altLang="zh-CN" sz="4000" noProof="0" dirty="0">
                <a:ln>
                  <a:noFill/>
                </a:ln>
                <a:effectLst/>
                <a:uLnTx/>
                <a:uFillTx/>
                <a:sym typeface="+mn-ea"/>
              </a:rPr>
              <a:t>”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Cross quickly!</a:t>
            </a:r>
            <a:r>
              <a:rPr lang="en-US" altLang="zh-CN" sz="4000" noProof="0" dirty="0">
                <a:ln>
                  <a:noFill/>
                </a:ln>
                <a:effectLst/>
                <a:uLnTx/>
                <a:uFillTx/>
                <a:sym typeface="+mn-ea"/>
              </a:rPr>
              <a:t>”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);</a:t>
            </a:r>
            <a:endParaRPr kumimoji="0" lang="zh-CN" altLang="en-US" sz="4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9550" y="4246563"/>
            <a:ext cx="7791450" cy="230695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习题2：</a:t>
            </a:r>
            <a:endParaRPr kumimoji="0" lang="en-US" altLang="zh-CN" sz="2400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enum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 bool{</a:t>
            </a: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false,true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};</a:t>
            </a:r>
            <a:endParaRPr kumimoji="0" lang="en-US" altLang="zh-CN" sz="4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 err="1">
                <a:latin typeface="+mn-ea"/>
                <a:ea typeface="+mn-ea"/>
                <a:cs typeface="+mn-cs"/>
              </a:rPr>
              <a:t>enum</a:t>
            </a: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 bool a;</a:t>
            </a:r>
            <a:endParaRPr kumimoji="0" lang="en-US" altLang="zh-CN" sz="4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kern="1200" cap="none" spc="0" normalizeH="0" baseline="0" noProof="0" dirty="0">
                <a:latin typeface="+mn-ea"/>
                <a:ea typeface="+mn-ea"/>
                <a:cs typeface="+mn-cs"/>
              </a:rPr>
              <a:t>a=false;</a:t>
            </a:r>
            <a:endParaRPr kumimoji="0" lang="zh-CN" altLang="en-US" sz="4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79DB53-AFFB-41D5-A4AA-4A734370F2F2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325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本章小结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4148" name="Rectangle 4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10134600" cy="4191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分支控制结构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单分支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双分支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多分支结构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逻辑判断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逻辑运算：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&amp;&amp;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||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、！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关系运算：关系比较运算、判等比较运算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19.6|86.7"/>
</p:tagLst>
</file>

<file path=ppt/tags/tag2.xml><?xml version="1.0" encoding="utf-8"?>
<p:tagLst xmlns:p="http://schemas.openxmlformats.org/presentationml/2006/main">
  <p:tag name="TIMING" val="|113.1|23.1|30.3"/>
</p:tagLst>
</file>

<file path=ppt/tags/tag3.xml><?xml version="1.0" encoding="utf-8"?>
<p:tagLst xmlns:p="http://schemas.openxmlformats.org/presentationml/2006/main">
  <p:tag name="TIMING" val="|75.9"/>
</p:tagLst>
</file>

<file path=ppt/tags/tag4.xml><?xml version="1.0" encoding="utf-8"?>
<p:tagLst xmlns:p="http://schemas.openxmlformats.org/presentationml/2006/main">
  <p:tag name="TIMING" val="|177.9"/>
</p:tagLst>
</file>

<file path=ppt/tags/tag5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6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7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8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9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10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11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12.xml><?xml version="1.0" encoding="utf-8"?>
<p:tagLst xmlns:p="http://schemas.openxmlformats.org/presentationml/2006/main">
  <p:tag name="KSO_WM_DIAGRAM_VIRTUALLY_FRAME" val="{&quot;height&quot;:397.12496062992125,&quot;left&quot;:18,&quot;top&quot;:58.87503937007874,&quot;width&quot;:732}"/>
</p:tagLst>
</file>

<file path=ppt/tags/tag13.xml><?xml version="1.0" encoding="utf-8"?>
<p:tagLst xmlns:p="http://schemas.openxmlformats.org/presentationml/2006/main">
  <p:tag name="TIMING" val="|0.6|3.0|8.9|0.9|1.1"/>
</p:tagLst>
</file>

<file path=ppt/tags/tag14.xml><?xml version="1.0" encoding="utf-8"?>
<p:tagLst xmlns:p="http://schemas.openxmlformats.org/presentationml/2006/main">
  <p:tag name="TIMING" val="|18.7|55.4|1.1"/>
</p:tagLst>
</file>

<file path=ppt/tags/tag15.xml><?xml version="1.0" encoding="utf-8"?>
<p:tagLst xmlns:p="http://schemas.openxmlformats.org/presentationml/2006/main">
  <p:tag name="TIMING" val="|31.4|1.6"/>
</p:tagLst>
</file>

<file path=ppt/tags/tag16.xml><?xml version="1.0" encoding="utf-8"?>
<p:tagLst xmlns:p="http://schemas.openxmlformats.org/presentationml/2006/main">
  <p:tag name="TIMING" val="|2.1|16.8|3.5|23.2"/>
</p:tagLst>
</file>

<file path=ppt/tags/tag17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5467</Words>
  <Application>WPS 演示</Application>
  <PresentationFormat>宽屏</PresentationFormat>
  <Paragraphs>642</Paragraphs>
  <Slides>26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Tahoma</vt:lpstr>
      <vt:lpstr>华文隶书</vt:lpstr>
      <vt:lpstr>微软雅黑</vt:lpstr>
      <vt:lpstr>华文新魏</vt:lpstr>
      <vt:lpstr>Arial Unicode MS</vt:lpstr>
      <vt:lpstr>1_Slit</vt:lpstr>
      <vt:lpstr>Equation.DSMT4</vt:lpstr>
      <vt:lpstr>Equation.DSMT4</vt:lpstr>
      <vt:lpstr>Equation.DSMT4</vt:lpstr>
      <vt:lpstr>Equation.DSMT4</vt:lpstr>
      <vt:lpstr>Paint.Picture</vt:lpstr>
      <vt:lpstr>第3章 分支程序设计 </vt:lpstr>
      <vt:lpstr>§3.1 判断成绩是否及格—双分支程序设计</vt:lpstr>
      <vt:lpstr>PowerPoint 演示文稿</vt:lpstr>
      <vt:lpstr>【课堂练习】  sign符号函数</vt:lpstr>
      <vt:lpstr>【课堂练习】  sign符号函数</vt:lpstr>
      <vt:lpstr>§3.2  成绩加上获奖信息—单分支程序设计</vt:lpstr>
      <vt:lpstr>PowerPoint 演示文稿</vt:lpstr>
      <vt:lpstr>PowerPoint 演示文稿</vt:lpstr>
      <vt:lpstr>【思考】以下程序片段是否都正确？</vt:lpstr>
      <vt:lpstr>【例3.4】 判断某个年份是否闰年 </vt:lpstr>
      <vt:lpstr>PowerPoint 演示文稿</vt:lpstr>
      <vt:lpstr>PowerPoint 演示文稿</vt:lpstr>
      <vt:lpstr>PowerPoint 演示文稿</vt:lpstr>
      <vt:lpstr>【例3.3】 求一元二次方程根 【自学】中国大学慕课-第3讲-视频3.2.2</vt:lpstr>
      <vt:lpstr>§3.3  if语句相关问题</vt:lpstr>
      <vt:lpstr>§3.4  逻辑判断—布尔类型</vt:lpstr>
      <vt:lpstr>PowerPoint 演示文稿</vt:lpstr>
      <vt:lpstr>PowerPoint 演示文稿</vt:lpstr>
      <vt:lpstr>§3.5  获奖分等级—多分支程序设计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748</cp:revision>
  <dcterms:created xsi:type="dcterms:W3CDTF">2019-09-21T08:05:00Z</dcterms:created>
  <dcterms:modified xsi:type="dcterms:W3CDTF">2025-09-25T02:01:41Z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C280EB72FCB945D5ADB36E518E5981FE_12</vt:lpwstr>
  </property>
</Properties>
</file>