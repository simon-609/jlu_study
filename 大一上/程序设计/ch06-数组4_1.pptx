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461" r:id="rId5"/>
    <p:sldId id="519" r:id="rId6"/>
    <p:sldId id="717" r:id="rId7"/>
    <p:sldId id="520" r:id="rId8"/>
    <p:sldId id="569" r:id="rId9"/>
    <p:sldId id="572" r:id="rId10"/>
    <p:sldId id="571" r:id="rId11"/>
    <p:sldId id="573" r:id="rId12"/>
    <p:sldId id="745" r:id="rId13"/>
    <p:sldId id="578" r:id="rId14"/>
    <p:sldId id="756" r:id="rId15"/>
    <p:sldId id="579" r:id="rId16"/>
    <p:sldId id="762" r:id="rId17"/>
    <p:sldId id="788" r:id="rId18"/>
    <p:sldId id="764" r:id="rId19"/>
    <p:sldId id="767" r:id="rId20"/>
    <p:sldId id="768" r:id="rId21"/>
    <p:sldId id="769" r:id="rId22"/>
    <p:sldId id="786" r:id="rId23"/>
    <p:sldId id="770" r:id="rId24"/>
    <p:sldId id="771" r:id="rId25"/>
    <p:sldId id="772" r:id="rId26"/>
    <p:sldId id="773" r:id="rId27"/>
    <p:sldId id="774" r:id="rId28"/>
    <p:sldId id="775" r:id="rId29"/>
    <p:sldId id="776" r:id="rId30"/>
    <p:sldId id="777" r:id="rId31"/>
    <p:sldId id="778" r:id="rId32"/>
    <p:sldId id="779" r:id="rId33"/>
    <p:sldId id="781" r:id="rId34"/>
    <p:sldId id="782" r:id="rId35"/>
    <p:sldId id="783" r:id="rId36"/>
    <p:sldId id="784" r:id="rId37"/>
    <p:sldId id="785" r:id="rId38"/>
  </p:sldIdLst>
  <p:sldSz cx="12192000" cy="6858000"/>
  <p:notesSz cx="6858000" cy="9144000"/>
  <p:custDataLst>
    <p:tags r:id="rId4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9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608E8"/>
    <a:srgbClr val="FD5C0C"/>
    <a:srgbClr val="064372"/>
    <a:srgbClr val="042955"/>
    <a:srgbClr val="042F59"/>
    <a:srgbClr val="06335C"/>
    <a:srgbClr val="053868"/>
    <a:srgbClr val="064070"/>
    <a:srgbClr val="052A57"/>
    <a:srgbClr val="043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6343"/>
  </p:normalViewPr>
  <p:slideViewPr>
    <p:cSldViewPr showGuides="1">
      <p:cViewPr varScale="1">
        <p:scale>
          <a:sx n="75" d="100"/>
          <a:sy n="75" d="100"/>
        </p:scale>
        <p:origin x="946" y="67"/>
      </p:cViewPr>
      <p:guideLst>
        <p:guide orient="horz" pos="2239"/>
        <p:guide pos="3791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B68EBE-727C-4EFD-A860-1BC83A21490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>
                <a:solidFill>
                  <a:srgbClr val="FF0000"/>
                </a:solidFill>
              </a:rPr>
              <a:t>数组的应用：排序算法、两种基本的数据结构及其操作</a:t>
            </a:r>
            <a:endParaRPr lang="zh-CN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zh-CN" b="1" dirty="0"/>
              <a:t>程序设计语言为了处理类似的批量数据，提供一种组织数据的机制――</a:t>
            </a:r>
            <a:r>
              <a:rPr lang="zh-CN" altLang="zh-CN" b="1" dirty="0">
                <a:solidFill>
                  <a:schemeClr val="hlink"/>
                </a:solidFill>
              </a:rPr>
              <a:t>数组</a:t>
            </a:r>
            <a:r>
              <a:rPr lang="zh-CN" altLang="zh-CN" b="1" dirty="0"/>
              <a:t>。</a:t>
            </a:r>
            <a:endParaRPr lang="zh-CN" altLang="en-US" b="1" dirty="0"/>
          </a:p>
          <a:p>
            <a:pPr lvl="0" eaLnBrk="1" hangingPunct="1"/>
            <a:r>
              <a:rPr lang="zh-CN" altLang="zh-CN" b="1" dirty="0"/>
              <a:t>用数组把这些数据全部保存起来，使用</a:t>
            </a:r>
            <a:r>
              <a:rPr lang="zh-CN" altLang="zh-CN" b="1" dirty="0">
                <a:solidFill>
                  <a:schemeClr val="hlink"/>
                </a:solidFill>
              </a:rPr>
              <a:t>数组</a:t>
            </a:r>
            <a:r>
              <a:rPr lang="zh-CN" altLang="zh-CN" b="1" dirty="0"/>
              <a:t>参与运算。使用数组保存</a:t>
            </a:r>
            <a:r>
              <a:rPr lang="en-US" altLang="zh-CN" b="1" dirty="0"/>
              <a:t>50</a:t>
            </a:r>
            <a:r>
              <a:rPr lang="zh-CN" altLang="en-US" b="1" dirty="0"/>
              <a:t>个分数、</a:t>
            </a:r>
            <a:r>
              <a:rPr lang="en-US" altLang="zh-CN" b="1" dirty="0"/>
              <a:t>11</a:t>
            </a:r>
            <a:r>
              <a:rPr lang="zh-CN" altLang="en-US" b="1" dirty="0"/>
              <a:t>个计数器，该问题可以编出程序如下。</a:t>
            </a:r>
            <a:endParaRPr lang="zh-CN" altLang="en-US" b="1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670DCA-10F5-48E9-A32E-6D3C9D9613C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D08331-ED90-4FAE-AA25-264D30D4A15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6BE91B4-B078-4D31-B45D-531AA77C465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99D2BD2-151D-4C62-BA7B-38EF57CE54E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0E6B81-3E54-4991-8104-3BBA632696A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5974A6-3ED4-4D7A-9E18-13254D2E35C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3E78C8-AB0A-42CB-B179-6F9C73D1CC2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DDB27D-08FA-4729-9AF7-3E1565FBECA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54D3D9-D13A-4B31-A97E-FC565C0E771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DB32C6-1E57-44F6-8166-6EB8D4F1754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3E1125-7807-472E-BDD4-08831A72785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CD399C-6027-4AA8-9F31-03A2B88E2DA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2DFF61-93F3-4C1C-999E-5FDBB3117D2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5FFADE-6C43-429C-9727-8FAC1E9FF57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32B5-5093-4940-935C-3A2F6A0EA0B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B8ECDE-1CFF-4627-A36E-DAF6B98F99F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06158B-6142-4C04-B09E-DFF6F383446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CDAC76-DD36-4EA5-86B9-EA616FBAD2C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hyperlink" Target="&#20363;&#39064;&#31243;&#24207;201409/ch06/ch06_03/Debug/ch06_03.exe" TargetMode="External"/><Relationship Id="rId1" Type="http://schemas.openxmlformats.org/officeDocument/2006/relationships/hyperlink" Target="&#20363;&#39064;&#31243;&#24207;201409/ch06/ch06_01/Debug/ch06_01.exe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CD7525-BDEC-4CEA-8B8D-85AA933D384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3" name="Rectangle 4"/>
          <p:cNvSpPr>
            <a:spLocks noGrp="1"/>
          </p:cNvSpPr>
          <p:nvPr>
            <p:ph type="title"/>
          </p:nvPr>
        </p:nvSpPr>
        <p:spPr>
          <a:xfrm>
            <a:off x="1992313" y="0"/>
            <a:ext cx="8229600" cy="5492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1" dirty="0">
                <a:effectLst/>
                <a:latin typeface="Arial" panose="020B0604020202020204" pitchFamily="34" charset="0"/>
              </a:rPr>
              <a:t>第</a:t>
            </a:r>
            <a:r>
              <a:rPr lang="en-US" altLang="zh-CN" sz="4000" b="1" dirty="0">
                <a:effectLst/>
                <a:latin typeface="Arial" panose="020B0604020202020204" pitchFamily="34" charset="0"/>
              </a:rPr>
              <a:t>6</a:t>
            </a:r>
            <a:r>
              <a:rPr lang="zh-CN" altLang="en-US" sz="4000" b="1" dirty="0">
                <a:effectLst/>
                <a:latin typeface="Arial" panose="020B0604020202020204" pitchFamily="34" charset="0"/>
              </a:rPr>
              <a:t>章 批量数据组织</a:t>
            </a:r>
            <a:r>
              <a:rPr lang="en-US" altLang="zh-CN" sz="4000" b="1" dirty="0">
                <a:effectLst/>
                <a:latin typeface="Arial" panose="020B0604020202020204" pitchFamily="34" charset="0"/>
              </a:rPr>
              <a:t>—</a:t>
            </a:r>
            <a:r>
              <a:rPr lang="zh-CN" altLang="en-US" sz="4000" b="1" dirty="0">
                <a:effectLst/>
                <a:latin typeface="Arial" panose="020B0604020202020204" pitchFamily="34" charset="0"/>
              </a:rPr>
              <a:t>数组</a:t>
            </a:r>
            <a:endParaRPr lang="zh-CN" altLang="en-US" sz="40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762000"/>
            <a:ext cx="5334000" cy="5365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§6.1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成绩统计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1" action="ppaction://hlinksldjump"/>
              </a:rPr>
              <a:t>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数组类型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§6.2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多维数组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hlinkClick r:id="" action="ppaction://noaction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§6.3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程序设计实例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§6.4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线性表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分类和检索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§6.5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带学号的成绩排序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数组初值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" action="ppaction://noaction"/>
              </a:rPr>
              <a:t>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§6.6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表示姓名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字符串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§6.7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类型定义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§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*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6.8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特殊的线性表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栈和队列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" action="ppaction://noaction"/>
              </a:rPr>
              <a:t>本章小节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608965" y="4877753"/>
            <a:ext cx="4679950" cy="1630045"/>
          </a:xfrm>
          <a:prstGeom prst="rect">
            <a:avLst/>
          </a:prstGeom>
          <a:noFill/>
          <a:ln>
            <a:solidFill>
              <a:srgbClr val="FFFF00"/>
            </a:solidFill>
          </a:ln>
          <a:effectLst/>
        </p:spPr>
        <p:txBody>
          <a:bodyPr anchor="ctr">
            <a:spAutoFit/>
          </a:bodyPr>
          <a:lstStyle>
            <a:lvl1pPr eaLnBrk="0" hangingPunct="0">
              <a:tabLst>
                <a:tab pos="1600200" algn="l"/>
              </a:tabLs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tabLst>
                <a:tab pos="1600200" algn="l"/>
              </a:tabLs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tabLst>
                <a:tab pos="1600200" algn="l"/>
              </a:tabLs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tabLst>
                <a:tab pos="1600200" algn="l"/>
              </a:tabLs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tabLst>
                <a:tab pos="1600200" algn="l"/>
              </a:tabLs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00200" algn="l"/>
              </a:tabLs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00200" algn="l"/>
              </a:tabLs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课后实践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】P184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1600200" algn="l"/>
              </a:tabLst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一维数组：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04,05,06,18,19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1600200" algn="l"/>
              </a:tabLst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二维数组：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01,02,03,07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1600200" algn="l"/>
              </a:tabLst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字符数组：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12,13,14,15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1600200" algn="l"/>
              </a:tabLst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排序：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21,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名字排序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838200"/>
            <a:ext cx="6511925" cy="572897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39C284-90FE-46EB-BD73-CF4BD7C9A05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0"/>
            <a:ext cx="8229600" cy="7778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§6.1  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成绩统计</a:t>
            </a: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—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数组类型</a:t>
            </a:r>
            <a:r>
              <a: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000" b="0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76200" y="838200"/>
            <a:ext cx="11719560" cy="113855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800" b="1" dirty="0">
                <a:effectLst/>
              </a:rPr>
              <a:t>  【</a:t>
            </a:r>
            <a:r>
              <a:rPr lang="zh-CN" altLang="en-US" sz="2800" b="1" dirty="0">
                <a:effectLst/>
              </a:rPr>
              <a:t>例</a:t>
            </a:r>
            <a:r>
              <a:rPr lang="en-US" altLang="zh-CN" sz="2800" b="1" dirty="0">
                <a:effectLst/>
              </a:rPr>
              <a:t>6.1】</a:t>
            </a:r>
            <a:r>
              <a:rPr lang="zh-CN" altLang="en-US" sz="2800" b="1" dirty="0">
                <a:effectLst/>
              </a:rPr>
              <a:t>编程序，输入一个班</a:t>
            </a:r>
            <a:r>
              <a:rPr lang="en-US" altLang="zh-CN" sz="2800" b="1" dirty="0">
                <a:solidFill>
                  <a:schemeClr val="hlink"/>
                </a:solidFill>
                <a:effectLst/>
              </a:rPr>
              <a:t>50</a:t>
            </a:r>
            <a:r>
              <a:rPr lang="zh-CN" altLang="en-US" sz="2800" b="1" dirty="0">
                <a:solidFill>
                  <a:schemeClr val="hlink"/>
                </a:solidFill>
                <a:effectLst/>
              </a:rPr>
              <a:t>名</a:t>
            </a:r>
            <a:r>
              <a:rPr lang="zh-CN" altLang="en-US" sz="2800" b="1" dirty="0">
                <a:effectLst/>
              </a:rPr>
              <a:t>学生</a:t>
            </a:r>
            <a:r>
              <a:rPr lang="en-US" altLang="zh-CN" sz="2800" b="1" dirty="0">
                <a:effectLst/>
                <a:sym typeface="+mn-ea"/>
              </a:rPr>
              <a:t>”</a:t>
            </a:r>
            <a:r>
              <a:rPr lang="zh-CN" altLang="en-US" sz="2800" b="1" dirty="0">
                <a:effectLst/>
              </a:rPr>
              <a:t>程设</a:t>
            </a:r>
            <a:r>
              <a:rPr lang="en-US" altLang="zh-CN" sz="2800" b="1" dirty="0">
                <a:effectLst/>
              </a:rPr>
              <a:t>”</a:t>
            </a:r>
            <a:r>
              <a:rPr lang="zh-CN" altLang="en-US" sz="2800" b="1" dirty="0">
                <a:effectLst/>
              </a:rPr>
              <a:t>课程</a:t>
            </a:r>
            <a:r>
              <a:rPr lang="zh-CN" altLang="en-US" sz="2800" b="1" dirty="0">
                <a:effectLst/>
              </a:rPr>
              <a:t>成绩，</a:t>
            </a:r>
            <a:endParaRPr lang="zh-CN" altLang="en-US" sz="2800" b="1" dirty="0">
              <a:effectLst/>
            </a:endParaRPr>
          </a:p>
          <a:p>
            <a:pPr marL="1257300" lvl="2" indent="457200" eaLnBrk="1" hangingPunct="1">
              <a:buNone/>
            </a:pPr>
            <a:r>
              <a:rPr lang="zh-CN" altLang="en-US" sz="2800" b="1" dirty="0">
                <a:effectLst/>
              </a:rPr>
              <a:t>然后按</a:t>
            </a:r>
            <a:r>
              <a:rPr lang="en-US" altLang="zh-CN" sz="2800" b="1" dirty="0">
                <a:solidFill>
                  <a:schemeClr val="hlink"/>
                </a:solidFill>
                <a:effectLst/>
              </a:rPr>
              <a:t>10</a:t>
            </a:r>
            <a:r>
              <a:rPr lang="zh-CN" altLang="en-US" sz="2800" b="1" dirty="0">
                <a:solidFill>
                  <a:schemeClr val="hlink"/>
                </a:solidFill>
                <a:effectLst/>
              </a:rPr>
              <a:t>分为一段</a:t>
            </a:r>
            <a:r>
              <a:rPr lang="zh-CN" altLang="en-US" sz="2800" b="1" dirty="0">
                <a:effectLst/>
              </a:rPr>
              <a:t>，统计并输出各段成绩的学生人数。</a:t>
            </a:r>
            <a:endParaRPr lang="zh-CN" altLang="en-US" sz="2800" b="1" dirty="0">
              <a:effectLst/>
            </a:endParaRPr>
          </a:p>
        </p:txBody>
      </p:sp>
      <p:sp>
        <p:nvSpPr>
          <p:cNvPr id="793663" name="Rectangle 63"/>
          <p:cNvSpPr/>
          <p:nvPr/>
        </p:nvSpPr>
        <p:spPr>
          <a:xfrm>
            <a:off x="304800" y="2667000"/>
            <a:ext cx="6804025" cy="292671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latin typeface="Arial" panose="020B0604020202020204" pitchFamily="34" charset="0"/>
              </a:rPr>
              <a:t>关键算法：</a:t>
            </a:r>
            <a:endParaRPr lang="en-US" altLang="zh-CN" sz="4000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顺序输入</a:t>
            </a:r>
            <a:r>
              <a:rPr lang="en-US" altLang="zh-CN" b="1" dirty="0">
                <a:latin typeface="Arial" panose="020B0604020202020204" pitchFamily="34" charset="0"/>
              </a:rPr>
              <a:t>a</a:t>
            </a:r>
            <a:r>
              <a:rPr lang="en-US" altLang="zh-CN" b="1" baseline="-25000" dirty="0">
                <a:latin typeface="Arial" panose="020B0604020202020204" pitchFamily="34" charset="0"/>
              </a:rPr>
              <a:t>0</a:t>
            </a:r>
            <a:r>
              <a:rPr lang="zh-CN" altLang="en-US" b="1" dirty="0">
                <a:latin typeface="Arial" panose="020B0604020202020204" pitchFamily="34" charset="0"/>
              </a:rPr>
              <a:t>、</a:t>
            </a:r>
            <a:r>
              <a:rPr lang="en-US" altLang="zh-CN" b="1" dirty="0">
                <a:latin typeface="Arial" panose="020B0604020202020204" pitchFamily="34" charset="0"/>
              </a:rPr>
              <a:t>a</a:t>
            </a:r>
            <a:r>
              <a:rPr lang="en-US" altLang="zh-CN" b="1" baseline="-25000" dirty="0">
                <a:latin typeface="Arial" panose="020B0604020202020204" pitchFamily="34" charset="0"/>
              </a:rPr>
              <a:t>1</a:t>
            </a:r>
            <a:r>
              <a:rPr lang="zh-CN" altLang="en-US" b="1" dirty="0">
                <a:latin typeface="Arial" panose="020B0604020202020204" pitchFamily="34" charset="0"/>
              </a:rPr>
              <a:t>、</a:t>
            </a:r>
            <a:r>
              <a:rPr lang="en-US" altLang="zh-CN" b="1" dirty="0">
                <a:latin typeface="Arial" panose="020B0604020202020204" pitchFamily="34" charset="0"/>
              </a:rPr>
              <a:t>a</a:t>
            </a:r>
            <a:r>
              <a:rPr lang="en-US" altLang="zh-CN" b="1" baseline="-25000" dirty="0">
                <a:latin typeface="Arial" panose="020B0604020202020204" pitchFamily="34" charset="0"/>
              </a:rPr>
              <a:t>2</a:t>
            </a:r>
            <a:r>
              <a:rPr lang="zh-CN" altLang="en-US" b="1" dirty="0">
                <a:latin typeface="Arial" panose="020B0604020202020204" pitchFamily="34" charset="0"/>
              </a:rPr>
              <a:t>、</a:t>
            </a:r>
            <a:r>
              <a:rPr lang="en-US" altLang="zh-CN" b="1" dirty="0">
                <a:latin typeface="Arial" panose="020B0604020202020204" pitchFamily="34" charset="0"/>
              </a:rPr>
              <a:t>… </a:t>
            </a:r>
            <a:r>
              <a:rPr lang="zh-CN" altLang="en-US" b="1" dirty="0">
                <a:latin typeface="Arial" panose="020B0604020202020204" pitchFamily="34" charset="0"/>
              </a:rPr>
              <a:t>、</a:t>
            </a:r>
            <a:r>
              <a:rPr lang="en-US" altLang="zh-CN" b="1" dirty="0">
                <a:latin typeface="Arial" panose="020B0604020202020204" pitchFamily="34" charset="0"/>
              </a:rPr>
              <a:t>a</a:t>
            </a:r>
            <a:r>
              <a:rPr lang="en-US" altLang="zh-CN" b="1" baseline="-25000" dirty="0">
                <a:latin typeface="Arial" panose="020B0604020202020204" pitchFamily="34" charset="0"/>
              </a:rPr>
              <a:t>49</a:t>
            </a:r>
            <a:endParaRPr lang="zh-CN" altLang="en-US" b="1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11</a:t>
            </a: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个计数器</a:t>
            </a:r>
            <a:r>
              <a:rPr lang="en-US" altLang="zh-CN" b="1" dirty="0">
                <a:latin typeface="Arial" panose="020B0604020202020204" pitchFamily="34" charset="0"/>
              </a:rPr>
              <a:t>j</a:t>
            </a:r>
            <a:r>
              <a:rPr lang="en-US" altLang="zh-CN" b="1" baseline="-25000" dirty="0">
                <a:latin typeface="Arial" panose="020B0604020202020204" pitchFamily="34" charset="0"/>
              </a:rPr>
              <a:t>0</a:t>
            </a:r>
            <a:r>
              <a:rPr lang="zh-CN" altLang="en-US" b="1" dirty="0">
                <a:latin typeface="Arial" panose="020B0604020202020204" pitchFamily="34" charset="0"/>
              </a:rPr>
              <a:t>、</a:t>
            </a:r>
            <a:r>
              <a:rPr lang="en-US" altLang="zh-CN" b="1" dirty="0">
                <a:latin typeface="Arial" panose="020B0604020202020204" pitchFamily="34" charset="0"/>
              </a:rPr>
              <a:t>j</a:t>
            </a:r>
            <a:r>
              <a:rPr lang="en-US" altLang="zh-CN" b="1" baseline="-25000" dirty="0">
                <a:latin typeface="Arial" panose="020B0604020202020204" pitchFamily="34" charset="0"/>
              </a:rPr>
              <a:t>1</a:t>
            </a:r>
            <a:r>
              <a:rPr lang="zh-CN" altLang="en-US" b="1" dirty="0">
                <a:latin typeface="Arial" panose="020B0604020202020204" pitchFamily="34" charset="0"/>
              </a:rPr>
              <a:t>、</a:t>
            </a:r>
            <a:r>
              <a:rPr lang="en-US" altLang="zh-CN" b="1" dirty="0">
                <a:latin typeface="Arial" panose="020B0604020202020204" pitchFamily="34" charset="0"/>
              </a:rPr>
              <a:t>j</a:t>
            </a:r>
            <a:r>
              <a:rPr lang="en-US" altLang="zh-CN" b="1" baseline="-25000" dirty="0">
                <a:latin typeface="Arial" panose="020B0604020202020204" pitchFamily="34" charset="0"/>
              </a:rPr>
              <a:t>2</a:t>
            </a:r>
            <a:r>
              <a:rPr lang="zh-CN" altLang="en-US" b="1" dirty="0">
                <a:latin typeface="Arial" panose="020B0604020202020204" pitchFamily="34" charset="0"/>
              </a:rPr>
              <a:t>、</a:t>
            </a:r>
            <a:r>
              <a:rPr lang="en-US" altLang="zh-CN" b="1" dirty="0">
                <a:latin typeface="Arial" panose="020B0604020202020204" pitchFamily="34" charset="0"/>
              </a:rPr>
              <a:t>… </a:t>
            </a:r>
            <a:r>
              <a:rPr lang="zh-CN" altLang="en-US" b="1" dirty="0">
                <a:latin typeface="Arial" panose="020B0604020202020204" pitchFamily="34" charset="0"/>
              </a:rPr>
              <a:t>、</a:t>
            </a:r>
            <a:r>
              <a:rPr lang="en-US" altLang="zh-CN" b="1" dirty="0">
                <a:latin typeface="Arial" panose="020B0604020202020204" pitchFamily="34" charset="0"/>
              </a:rPr>
              <a:t>j</a:t>
            </a:r>
            <a:r>
              <a:rPr lang="en-US" altLang="zh-CN" b="1" baseline="-25000" dirty="0">
                <a:latin typeface="Arial" panose="020B0604020202020204" pitchFamily="34" charset="0"/>
              </a:rPr>
              <a:t>10</a:t>
            </a:r>
            <a:endParaRPr lang="en-US" altLang="zh-CN" b="1" baseline="-25000" dirty="0"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计算、输出</a:t>
            </a:r>
            <a:r>
              <a:rPr lang="en-US" altLang="zh-CN" b="1" dirty="0">
                <a:latin typeface="Arial" panose="020B0604020202020204" pitchFamily="34" charset="0"/>
              </a:rPr>
              <a:t>11</a:t>
            </a:r>
            <a:r>
              <a:rPr lang="zh-CN" altLang="en-US" b="1" dirty="0">
                <a:latin typeface="Arial" panose="020B0604020202020204" pitchFamily="34" charset="0"/>
              </a:rPr>
              <a:t>个</a:t>
            </a: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计数器的值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153400" y="2020888"/>
            <a:ext cx="2844800" cy="45243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运行结果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为简化输入，以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名同学的数据为例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Please input 5 marks: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85 87 39 60 90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Statistical info: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0 --   9:     0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10 --  19:     0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20 --  29:     0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30 --  39:     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40 --  49:     0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50 --  59:     0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60 --  69:     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70 --  79:     0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80 --  89:     2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90 --  99:     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100 -- 109:     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3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5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6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78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9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14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32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50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68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86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04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22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40" end="2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58" end="2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63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63">
                                            <p:txEl>
                                              <p:charRg st="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63">
                                            <p:txEl>
                                              <p:charRg st="26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63">
                                            <p:txEl>
                                              <p:charRg st="48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AA4938-51F1-4A83-819E-85ECF01E3F8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4579" name="Group 42"/>
          <p:cNvGrpSpPr/>
          <p:nvPr/>
        </p:nvGrpSpPr>
        <p:grpSpPr>
          <a:xfrm>
            <a:off x="381000" y="331788"/>
            <a:ext cx="7378700" cy="4392612"/>
            <a:chOff x="1519" y="618"/>
            <a:chExt cx="3570" cy="2709"/>
          </a:xfrm>
        </p:grpSpPr>
        <p:sp>
          <p:nvSpPr>
            <p:cNvPr id="24581" name="Line 4"/>
            <p:cNvSpPr/>
            <p:nvPr/>
          </p:nvSpPr>
          <p:spPr>
            <a:xfrm>
              <a:off x="1989" y="913"/>
              <a:ext cx="0" cy="215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4582" name="Group 5"/>
            <p:cNvGrpSpPr/>
            <p:nvPr/>
          </p:nvGrpSpPr>
          <p:grpSpPr>
            <a:xfrm>
              <a:off x="1519" y="618"/>
              <a:ext cx="943" cy="291"/>
              <a:chOff x="1227" y="9641"/>
              <a:chExt cx="512" cy="470"/>
            </a:xfrm>
          </p:grpSpPr>
          <p:sp>
            <p:nvSpPr>
              <p:cNvPr id="24616" name="Rectangle 6"/>
              <p:cNvSpPr/>
              <p:nvPr/>
            </p:nvSpPr>
            <p:spPr>
              <a:xfrm>
                <a:off x="1247" y="9661"/>
                <a:ext cx="466" cy="44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开始</a:t>
                </a:r>
                <a:endParaRPr lang="zh-CN" altLang="en-US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17" name="Oval 7"/>
              <p:cNvSpPr/>
              <p:nvPr/>
            </p:nvSpPr>
            <p:spPr>
              <a:xfrm>
                <a:off x="1227" y="9641"/>
                <a:ext cx="512" cy="470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4583" name="Group 8"/>
            <p:cNvGrpSpPr/>
            <p:nvPr/>
          </p:nvGrpSpPr>
          <p:grpSpPr>
            <a:xfrm>
              <a:off x="1537" y="3062"/>
              <a:ext cx="903" cy="265"/>
              <a:chOff x="-1" y="0"/>
              <a:chExt cx="20001" cy="20000"/>
            </a:xfrm>
          </p:grpSpPr>
          <p:sp>
            <p:nvSpPr>
              <p:cNvPr id="24614" name="Rectangle 9"/>
              <p:cNvSpPr/>
              <p:nvPr/>
            </p:nvSpPr>
            <p:spPr>
              <a:xfrm>
                <a:off x="3883" y="2160"/>
                <a:ext cx="15007" cy="1784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结束</a:t>
                </a:r>
                <a:endParaRPr lang="zh-CN" altLang="en-US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15" name="Oval 10"/>
              <p:cNvSpPr/>
              <p:nvPr/>
            </p:nvSpPr>
            <p:spPr>
              <a:xfrm>
                <a:off x="-1" y="0"/>
                <a:ext cx="20001" cy="18890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4584" name="Group 11"/>
            <p:cNvGrpSpPr/>
            <p:nvPr/>
          </p:nvGrpSpPr>
          <p:grpSpPr>
            <a:xfrm>
              <a:off x="1992" y="2035"/>
              <a:ext cx="2061" cy="267"/>
              <a:chOff x="1801" y="7124"/>
              <a:chExt cx="1918" cy="260"/>
            </a:xfrm>
          </p:grpSpPr>
          <p:grpSp>
            <p:nvGrpSpPr>
              <p:cNvPr id="24610" name="Group 12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24612" name="Rectangle 13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4613" name="Rectangle 14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for (i=0;i&lt;50;i++)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4611" name="Line 15"/>
              <p:cNvSpPr/>
              <p:nvPr/>
            </p:nvSpPr>
            <p:spPr>
              <a:xfrm>
                <a:off x="3484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24585" name="Group 17"/>
            <p:cNvGrpSpPr/>
            <p:nvPr/>
          </p:nvGrpSpPr>
          <p:grpSpPr>
            <a:xfrm>
              <a:off x="1992" y="2564"/>
              <a:ext cx="3029" cy="267"/>
              <a:chOff x="3408" y="8458"/>
              <a:chExt cx="2817" cy="260"/>
            </a:xfrm>
          </p:grpSpPr>
          <p:sp>
            <p:nvSpPr>
              <p:cNvPr id="24604" name="Rectangle 18"/>
              <p:cNvSpPr/>
              <p:nvPr/>
            </p:nvSpPr>
            <p:spPr>
              <a:xfrm>
                <a:off x="5314" y="8458"/>
                <a:ext cx="911" cy="26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输出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j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i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4605" name="Group 19"/>
              <p:cNvGrpSpPr/>
              <p:nvPr/>
            </p:nvGrpSpPr>
            <p:grpSpPr>
              <a:xfrm>
                <a:off x="3408" y="8458"/>
                <a:ext cx="1909" cy="260"/>
                <a:chOff x="1801" y="7124"/>
                <a:chExt cx="1909" cy="260"/>
              </a:xfrm>
            </p:grpSpPr>
            <p:grpSp>
              <p:nvGrpSpPr>
                <p:cNvPr id="24606" name="Group 20"/>
                <p:cNvGrpSpPr/>
                <p:nvPr/>
              </p:nvGrpSpPr>
              <p:grpSpPr>
                <a:xfrm>
                  <a:off x="1801" y="7124"/>
                  <a:ext cx="1687" cy="260"/>
                  <a:chOff x="0" y="0"/>
                  <a:chExt cx="19991" cy="20000"/>
                </a:xfrm>
              </p:grpSpPr>
              <p:sp>
                <p:nvSpPr>
                  <p:cNvPr id="24608" name="Rectangle 21"/>
                  <p:cNvSpPr/>
                  <p:nvPr/>
                </p:nvSpPr>
                <p:spPr>
                  <a:xfrm>
                    <a:off x="0" y="52"/>
                    <a:ext cx="2348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000" b="1" dirty="0"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4609" name="Rectangle 22"/>
                  <p:cNvSpPr/>
                  <p:nvPr/>
                </p:nvSpPr>
                <p:spPr>
                  <a:xfrm>
                    <a:off x="2336" y="0"/>
                    <a:ext cx="17655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12700" tIns="12700" rIns="12700" bIns="1270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for (i=0;i&lt;11;i++)</a:t>
                    </a:r>
                    <a:endParaRPr lang="en-US" altLang="zh-CN" sz="2400" b="1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4607" name="Line 23"/>
                <p:cNvSpPr/>
                <p:nvPr/>
              </p:nvSpPr>
              <p:spPr>
                <a:xfrm>
                  <a:off x="3475" y="7252"/>
                  <a:ext cx="23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grpSp>
          <p:nvGrpSpPr>
            <p:cNvPr id="24586" name="Group 24"/>
            <p:cNvGrpSpPr/>
            <p:nvPr/>
          </p:nvGrpSpPr>
          <p:grpSpPr>
            <a:xfrm>
              <a:off x="1992" y="1042"/>
              <a:ext cx="2959" cy="308"/>
              <a:chOff x="3401" y="6631"/>
              <a:chExt cx="2753" cy="300"/>
            </a:xfrm>
          </p:grpSpPr>
          <p:grpSp>
            <p:nvGrpSpPr>
              <p:cNvPr id="24598" name="Group 25"/>
              <p:cNvGrpSpPr/>
              <p:nvPr/>
            </p:nvGrpSpPr>
            <p:grpSpPr>
              <a:xfrm>
                <a:off x="3401" y="6671"/>
                <a:ext cx="1910" cy="260"/>
                <a:chOff x="1801" y="7124"/>
                <a:chExt cx="1910" cy="260"/>
              </a:xfrm>
            </p:grpSpPr>
            <p:grpSp>
              <p:nvGrpSpPr>
                <p:cNvPr id="24600" name="Group 26"/>
                <p:cNvGrpSpPr/>
                <p:nvPr/>
              </p:nvGrpSpPr>
              <p:grpSpPr>
                <a:xfrm>
                  <a:off x="1801" y="7124"/>
                  <a:ext cx="1687" cy="260"/>
                  <a:chOff x="0" y="0"/>
                  <a:chExt cx="19991" cy="20000"/>
                </a:xfrm>
              </p:grpSpPr>
              <p:sp>
                <p:nvSpPr>
                  <p:cNvPr id="24602" name="Rectangle 27"/>
                  <p:cNvSpPr/>
                  <p:nvPr/>
                </p:nvSpPr>
                <p:spPr>
                  <a:xfrm>
                    <a:off x="0" y="52"/>
                    <a:ext cx="2348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000" b="1" dirty="0"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4603" name="Rectangle 28"/>
                  <p:cNvSpPr/>
                  <p:nvPr/>
                </p:nvSpPr>
                <p:spPr>
                  <a:xfrm>
                    <a:off x="2336" y="0"/>
                    <a:ext cx="17655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12700" tIns="12700" rIns="12700" bIns="1270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for (i=0;i&lt;50;i++)</a:t>
                    </a:r>
                    <a:endParaRPr lang="en-US" altLang="zh-CN" sz="2400" b="1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4601" name="Line 29"/>
                <p:cNvSpPr/>
                <p:nvPr/>
              </p:nvSpPr>
              <p:spPr>
                <a:xfrm>
                  <a:off x="3476" y="7252"/>
                  <a:ext cx="23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24599" name="Text Box 30"/>
              <p:cNvSpPr txBox="1"/>
              <p:nvPr/>
            </p:nvSpPr>
            <p:spPr>
              <a:xfrm>
                <a:off x="5310" y="6631"/>
                <a:ext cx="844" cy="28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t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chemeClr val="hlink"/>
                    </a:solidFill>
                    <a:latin typeface="宋体" panose="02010600030101010101" pitchFamily="2" charset="-122"/>
                  </a:rPr>
                  <a:t>输入</a:t>
                </a:r>
                <a:r>
                  <a:rPr lang="en-US" altLang="zh-CN" sz="2400" b="1" dirty="0">
                    <a:solidFill>
                      <a:schemeClr val="hlink"/>
                    </a:solidFill>
                    <a:latin typeface="宋体" panose="02010600030101010101" pitchFamily="2" charset="-122"/>
                  </a:rPr>
                  <a:t>a</a:t>
                </a:r>
                <a:r>
                  <a:rPr lang="en-US" altLang="zh-CN" sz="2400" b="1" baseline="-25000" dirty="0">
                    <a:solidFill>
                      <a:schemeClr val="hlink"/>
                    </a:solidFill>
                    <a:latin typeface="宋体" panose="02010600030101010101" pitchFamily="2" charset="-122"/>
                  </a:rPr>
                  <a:t>i</a:t>
                </a:r>
                <a:endPara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4587" name="Group 31"/>
            <p:cNvGrpSpPr/>
            <p:nvPr/>
          </p:nvGrpSpPr>
          <p:grpSpPr>
            <a:xfrm>
              <a:off x="1992" y="1419"/>
              <a:ext cx="2715" cy="308"/>
              <a:chOff x="3401" y="6631"/>
              <a:chExt cx="2526" cy="300"/>
            </a:xfrm>
          </p:grpSpPr>
          <p:grpSp>
            <p:nvGrpSpPr>
              <p:cNvPr id="24592" name="Group 32"/>
              <p:cNvGrpSpPr/>
              <p:nvPr/>
            </p:nvGrpSpPr>
            <p:grpSpPr>
              <a:xfrm>
                <a:off x="3401" y="6671"/>
                <a:ext cx="1910" cy="260"/>
                <a:chOff x="1801" y="7124"/>
                <a:chExt cx="1910" cy="260"/>
              </a:xfrm>
            </p:grpSpPr>
            <p:grpSp>
              <p:nvGrpSpPr>
                <p:cNvPr id="24594" name="Group 33"/>
                <p:cNvGrpSpPr/>
                <p:nvPr/>
              </p:nvGrpSpPr>
              <p:grpSpPr>
                <a:xfrm>
                  <a:off x="1801" y="7124"/>
                  <a:ext cx="1687" cy="260"/>
                  <a:chOff x="0" y="0"/>
                  <a:chExt cx="19991" cy="20000"/>
                </a:xfrm>
              </p:grpSpPr>
              <p:sp>
                <p:nvSpPr>
                  <p:cNvPr id="24596" name="Rectangle 34"/>
                  <p:cNvSpPr/>
                  <p:nvPr/>
                </p:nvSpPr>
                <p:spPr>
                  <a:xfrm>
                    <a:off x="0" y="52"/>
                    <a:ext cx="2348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000" b="1" dirty="0"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4597" name="Rectangle 35"/>
                  <p:cNvSpPr/>
                  <p:nvPr/>
                </p:nvSpPr>
                <p:spPr>
                  <a:xfrm>
                    <a:off x="2336" y="0"/>
                    <a:ext cx="17655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12700" tIns="12700" rIns="12700" bIns="1270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for (i=0;i&lt;11;i++)</a:t>
                    </a:r>
                    <a:endParaRPr lang="en-US" altLang="zh-CN" sz="2400" b="1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4595" name="Line 36"/>
                <p:cNvSpPr/>
                <p:nvPr/>
              </p:nvSpPr>
              <p:spPr>
                <a:xfrm>
                  <a:off x="3476" y="7252"/>
                  <a:ext cx="23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24593" name="Text Box 37"/>
              <p:cNvSpPr txBox="1"/>
              <p:nvPr/>
            </p:nvSpPr>
            <p:spPr>
              <a:xfrm>
                <a:off x="5308" y="6631"/>
                <a:ext cx="619" cy="28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t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宋体" panose="02010600030101010101" pitchFamily="2" charset="-122"/>
                  </a:rPr>
                  <a:t>j</a:t>
                </a:r>
                <a:r>
                  <a:rPr lang="en-US" altLang="zh-CN" sz="2400" b="1" baseline="-25000" dirty="0">
                    <a:solidFill>
                      <a:schemeClr val="hlink"/>
                    </a:solidFill>
                    <a:latin typeface="宋体" panose="02010600030101010101" pitchFamily="2" charset="-122"/>
                  </a:rPr>
                  <a:t>i</a:t>
                </a:r>
                <a:r>
                  <a:rPr lang="en-US" altLang="zh-CN" sz="2400" b="1" dirty="0">
                    <a:solidFill>
                      <a:schemeClr val="hlink"/>
                    </a:solidFill>
                    <a:latin typeface="宋体" panose="02010600030101010101" pitchFamily="2" charset="-122"/>
                  </a:rPr>
                  <a:t>=0</a:t>
                </a:r>
                <a:endPara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4588" name="Group 38"/>
            <p:cNvGrpSpPr/>
            <p:nvPr/>
          </p:nvGrpSpPr>
          <p:grpSpPr>
            <a:xfrm>
              <a:off x="4040" y="1809"/>
              <a:ext cx="1049" cy="630"/>
              <a:chOff x="5314" y="7418"/>
              <a:chExt cx="977" cy="613"/>
            </a:xfrm>
          </p:grpSpPr>
          <p:sp>
            <p:nvSpPr>
              <p:cNvPr id="24589" name="Rectangle 39"/>
              <p:cNvSpPr/>
              <p:nvPr/>
            </p:nvSpPr>
            <p:spPr>
              <a:xfrm>
                <a:off x="5314" y="7798"/>
                <a:ext cx="810" cy="233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0" rIns="1270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宋体" panose="02010600030101010101" pitchFamily="2" charset="-122"/>
                  </a:rPr>
                  <a:t>j</a:t>
                </a:r>
                <a:r>
                  <a:rPr lang="en-US" altLang="zh-CN" sz="2400" b="1" baseline="-25000" dirty="0">
                    <a:solidFill>
                      <a:schemeClr val="hlink"/>
                    </a:solidFill>
                    <a:latin typeface="宋体" panose="02010600030101010101" pitchFamily="2" charset="-122"/>
                  </a:rPr>
                  <a:t>k</a:t>
                </a:r>
                <a:r>
                  <a:rPr lang="en-US" altLang="zh-CN" sz="2400" b="1" dirty="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 ++</a:t>
                </a:r>
                <a:endPara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590" name="Rectangle 40"/>
              <p:cNvSpPr/>
              <p:nvPr/>
            </p:nvSpPr>
            <p:spPr>
              <a:xfrm>
                <a:off x="5314" y="7418"/>
                <a:ext cx="977" cy="305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宋体" panose="02010600030101010101" pitchFamily="2" charset="-122"/>
                  </a:rPr>
                  <a:t>k=a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i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/10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591" name="Line 41"/>
              <p:cNvSpPr/>
              <p:nvPr/>
            </p:nvSpPr>
            <p:spPr>
              <a:xfrm>
                <a:off x="5317" y="7538"/>
                <a:ext cx="0" cy="45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</p:grpSp>
      <p:sp>
        <p:nvSpPr>
          <p:cNvPr id="939051" name="Rectangle 43"/>
          <p:cNvSpPr/>
          <p:nvPr/>
        </p:nvSpPr>
        <p:spPr>
          <a:xfrm>
            <a:off x="3276600" y="4960938"/>
            <a:ext cx="8064500" cy="1857375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问题</a:t>
            </a:r>
            <a:r>
              <a:rPr lang="en-US" altLang="zh-CN" sz="2800" b="1" dirty="0">
                <a:latin typeface="Arial" panose="020B0604020202020204" pitchFamily="34" charset="0"/>
              </a:rPr>
              <a:t>: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50</a:t>
            </a: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个成绩如何存储？     </a:t>
            </a:r>
            <a:r>
              <a:rPr lang="en-US" altLang="zh-CN" sz="2800" b="1" dirty="0">
                <a:latin typeface="Arial" panose="020B0604020202020204" pitchFamily="34" charset="0"/>
              </a:rPr>
              <a:t>int a1,a2,……a50;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11</a:t>
            </a: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个计数器如何存储？  </a:t>
            </a:r>
            <a:r>
              <a:rPr lang="en-US" altLang="zh-CN" sz="2800" b="1" dirty="0">
                <a:latin typeface="Arial" panose="020B0604020202020204" pitchFamily="34" charset="0"/>
              </a:rPr>
              <a:t>int j1,j2,……j11;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特点：</a:t>
            </a: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个数固定、类型相同、顺序存储</a:t>
            </a: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数组</a:t>
            </a:r>
            <a:endParaRPr lang="zh-CN" altLang="en-US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            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int a[50];           int j[11];</a:t>
            </a:r>
            <a:endParaRPr lang="en-US" altLang="zh-CN" sz="2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51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39051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51">
                                            <p:txEl>
                                              <p:charRg st="35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39051">
                                            <p:txEl>
                                              <p:charRg st="35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51">
                                            <p:txEl>
                                              <p:charRg st="73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39051">
                                            <p:txEl>
                                              <p:charRg st="73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51">
                                            <p:txEl>
                                              <p:charRg st="94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39051">
                                            <p:txEl>
                                              <p:charRg st="94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9051" grpId="0" animBg="1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" name="灯片编号占位符 4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BA023E-69DC-4769-AF32-C2A76D2D4D9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89275" name="Group 59"/>
          <p:cNvGraphicFramePr>
            <a:graphicFrameLocks noGrp="1"/>
          </p:cNvGraphicFramePr>
          <p:nvPr>
            <p:ph idx="1"/>
          </p:nvPr>
        </p:nvGraphicFramePr>
        <p:xfrm>
          <a:off x="195263" y="1635125"/>
          <a:ext cx="8805863" cy="46863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1687"/>
                <a:gridCol w="800100"/>
                <a:gridCol w="801688"/>
                <a:gridCol w="800100"/>
                <a:gridCol w="801687"/>
                <a:gridCol w="800100"/>
                <a:gridCol w="800100"/>
                <a:gridCol w="800100"/>
              </a:tblGrid>
              <a:tr h="4686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89346" name="Group 130"/>
          <p:cNvGraphicFramePr>
            <a:graphicFrameLocks noGrp="1"/>
          </p:cNvGraphicFramePr>
          <p:nvPr/>
        </p:nvGraphicFramePr>
        <p:xfrm>
          <a:off x="195263" y="2139950"/>
          <a:ext cx="8805863" cy="43180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1687"/>
                <a:gridCol w="800100"/>
                <a:gridCol w="801688"/>
                <a:gridCol w="800100"/>
                <a:gridCol w="801687"/>
                <a:gridCol w="800100"/>
                <a:gridCol w="800100"/>
                <a:gridCol w="800100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a[0]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a[1]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a[2]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a[i]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a[46]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a[47]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a[48]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a[49]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65" name="Text Box 131"/>
          <p:cNvSpPr txBox="1"/>
          <p:nvPr/>
        </p:nvSpPr>
        <p:spPr>
          <a:xfrm>
            <a:off x="195263" y="698500"/>
            <a:ext cx="17287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数组</a:t>
            </a:r>
            <a:r>
              <a:rPr lang="en-US" altLang="zh-CN" sz="2400" b="1" dirty="0">
                <a:latin typeface="Arial" panose="020B0604020202020204" pitchFamily="34" charset="0"/>
              </a:rPr>
              <a:t>a[50]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1289348" name="Group 132"/>
          <p:cNvGraphicFramePr>
            <a:graphicFrameLocks noGrp="1"/>
          </p:cNvGraphicFramePr>
          <p:nvPr/>
        </p:nvGraphicFramePr>
        <p:xfrm>
          <a:off x="1703388" y="4365625"/>
          <a:ext cx="8805863" cy="46863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1687"/>
                <a:gridCol w="800100"/>
                <a:gridCol w="801688"/>
                <a:gridCol w="800100"/>
                <a:gridCol w="801687"/>
                <a:gridCol w="800100"/>
                <a:gridCol w="800100"/>
                <a:gridCol w="800100"/>
              </a:tblGrid>
              <a:tr h="4686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89374" name="Group 158"/>
          <p:cNvGraphicFramePr>
            <a:graphicFrameLocks noGrp="1"/>
          </p:cNvGraphicFramePr>
          <p:nvPr/>
        </p:nvGraphicFramePr>
        <p:xfrm>
          <a:off x="1703388" y="4870450"/>
          <a:ext cx="8805863" cy="43180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1687"/>
                <a:gridCol w="800100"/>
                <a:gridCol w="801688"/>
                <a:gridCol w="800100"/>
                <a:gridCol w="801687"/>
                <a:gridCol w="800100"/>
                <a:gridCol w="800100"/>
                <a:gridCol w="800100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j[0]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j[1]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j[2]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j[3]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j[4]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j[5]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j[6]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j[7]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j[8]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j[9]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j[10]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704" name="Text Box 194"/>
          <p:cNvSpPr txBox="1"/>
          <p:nvPr/>
        </p:nvSpPr>
        <p:spPr>
          <a:xfrm>
            <a:off x="1423988" y="3511550"/>
            <a:ext cx="17287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数组</a:t>
            </a:r>
            <a:r>
              <a:rPr lang="en-US" altLang="zh-CN" sz="2400" b="1" dirty="0">
                <a:latin typeface="Arial" panose="020B0604020202020204" pitchFamily="34" charset="0"/>
              </a:rPr>
              <a:t>j[11]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1289691" name="Group 475"/>
          <p:cNvGraphicFramePr>
            <a:graphicFrameLocks noGrp="1"/>
          </p:cNvGraphicFramePr>
          <p:nvPr/>
        </p:nvGraphicFramePr>
        <p:xfrm>
          <a:off x="1703388" y="5302250"/>
          <a:ext cx="8805863" cy="76200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1687"/>
                <a:gridCol w="800100"/>
                <a:gridCol w="801688"/>
                <a:gridCol w="800100"/>
                <a:gridCol w="801687"/>
                <a:gridCol w="800100"/>
                <a:gridCol w="800100"/>
                <a:gridCol w="800100"/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0-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80808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80808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10-19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20-29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30-39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40-49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50-59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60-69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70-79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80-89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90-99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80808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4" marB="45724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89692" name="AutoShape 476"/>
          <p:cNvSpPr/>
          <p:nvPr/>
        </p:nvSpPr>
        <p:spPr>
          <a:xfrm>
            <a:off x="698500" y="195263"/>
            <a:ext cx="1296988" cy="431800"/>
          </a:xfrm>
          <a:prstGeom prst="wedgeRoundRectCallout">
            <a:avLst>
              <a:gd name="adj1" fmla="val 72148"/>
              <a:gd name="adj2" fmla="val 111671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数组名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1289693" name="AutoShape 477"/>
          <p:cNvSpPr/>
          <p:nvPr/>
        </p:nvSpPr>
        <p:spPr>
          <a:xfrm>
            <a:off x="6172200" y="1106488"/>
            <a:ext cx="2017713" cy="431800"/>
          </a:xfrm>
          <a:prstGeom prst="wedgeRoundRectCallout">
            <a:avLst>
              <a:gd name="adj1" fmla="val -52356"/>
              <a:gd name="adj2" fmla="val 97694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数组元素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26721" name="Text Box 480"/>
          <p:cNvSpPr txBox="1"/>
          <p:nvPr/>
        </p:nvSpPr>
        <p:spPr>
          <a:xfrm>
            <a:off x="1779588" y="771525"/>
            <a:ext cx="115093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int a[50];</a:t>
            </a:r>
            <a:endParaRPr lang="en-US" altLang="zh-CN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26722" name="Text Box 481"/>
          <p:cNvSpPr txBox="1"/>
          <p:nvPr/>
        </p:nvSpPr>
        <p:spPr>
          <a:xfrm>
            <a:off x="3071813" y="3698875"/>
            <a:ext cx="115093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int j[11];</a:t>
            </a:r>
            <a:endParaRPr lang="en-US" altLang="zh-CN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AutoShape 477"/>
          <p:cNvSpPr/>
          <p:nvPr/>
        </p:nvSpPr>
        <p:spPr>
          <a:xfrm>
            <a:off x="5018088" y="2751138"/>
            <a:ext cx="2017712" cy="431800"/>
          </a:xfrm>
          <a:prstGeom prst="wedgeRoundRectCallout">
            <a:avLst>
              <a:gd name="adj1" fmla="val -72037"/>
              <a:gd name="adj2" fmla="val -111282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下标表达式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18" name="AutoShape 476"/>
          <p:cNvSpPr/>
          <p:nvPr/>
        </p:nvSpPr>
        <p:spPr>
          <a:xfrm>
            <a:off x="2189163" y="150813"/>
            <a:ext cx="1296987" cy="431800"/>
          </a:xfrm>
          <a:prstGeom prst="wedgeRoundRectCallout">
            <a:avLst>
              <a:gd name="adj1" fmla="val -25255"/>
              <a:gd name="adj2" fmla="val 106097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数组尺寸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20" name="AutoShape 476"/>
          <p:cNvSpPr/>
          <p:nvPr/>
        </p:nvSpPr>
        <p:spPr>
          <a:xfrm>
            <a:off x="511175" y="1144588"/>
            <a:ext cx="1296988" cy="431800"/>
          </a:xfrm>
          <a:prstGeom prst="wedgeRoundRectCallout">
            <a:avLst>
              <a:gd name="adj1" fmla="val 66583"/>
              <a:gd name="adj2" fmla="val -83375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数组类型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9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8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89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8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8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8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89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9692" grpId="0" animBg="1"/>
      <p:bldP spid="1289693" grpId="0" animBg="1"/>
      <p:bldP spid="16" grpId="0" animBg="1"/>
      <p:bldP spid="18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692FF1-34D6-4FB8-8988-53B283233E9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10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267335"/>
            <a:ext cx="11277600" cy="659066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 () {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i,k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a[50],j[11]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数组下标从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开始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Please input 50 marks:\n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输入提示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i=0 ; i&lt;50 ; i++ )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,&amp;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); 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输入，同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(a[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for ( i=0 ; i&lt;11 ; i++ ) 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计数器清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	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j[i]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for (i=0 ; i&lt;50 ; i++ 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统计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a[i]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/10;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j[k]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Statistical info:\n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		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i=0 ; i&lt;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i++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%3d -- %3d: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%6d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, i*10, (i+1)*10-1,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j[i]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0;}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89275" name="Group 59"/>
          <p:cNvGraphicFramePr>
            <a:graphicFrameLocks noGrp="1"/>
          </p:cNvGraphicFramePr>
          <p:nvPr/>
        </p:nvGraphicFramePr>
        <p:xfrm>
          <a:off x="3386138" y="0"/>
          <a:ext cx="8805863" cy="46863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1370"/>
                <a:gridCol w="800417"/>
                <a:gridCol w="801688"/>
                <a:gridCol w="800100"/>
                <a:gridCol w="801687"/>
                <a:gridCol w="800100"/>
                <a:gridCol w="800100"/>
                <a:gridCol w="800100"/>
              </a:tblGrid>
              <a:tr h="46863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89346" name="Group 13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52800" y="393065"/>
          <a:ext cx="8805545" cy="39624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1370"/>
                <a:gridCol w="800100"/>
                <a:gridCol w="802005"/>
                <a:gridCol w="800100"/>
                <a:gridCol w="801370"/>
                <a:gridCol w="800100"/>
                <a:gridCol w="800100"/>
                <a:gridCol w="800100"/>
              </a:tblGrid>
              <a:tr h="39624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a[0]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a[1]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a[2]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a[i]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a[46]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a[47]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a[48]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a[49]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557270" y="76200"/>
            <a:ext cx="557530" cy="351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79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4267200" y="76200"/>
            <a:ext cx="557530" cy="351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86</a:t>
            </a:r>
            <a:endParaRPr lang="en-US" altLang="zh-CN"/>
          </a:p>
        </p:txBody>
      </p:sp>
      <p:graphicFrame>
        <p:nvGraphicFramePr>
          <p:cNvPr id="1289348" name="Group 132"/>
          <p:cNvGraphicFramePr>
            <a:graphicFrameLocks noGrp="1"/>
          </p:cNvGraphicFramePr>
          <p:nvPr/>
        </p:nvGraphicFramePr>
        <p:xfrm>
          <a:off x="3352800" y="4401820"/>
          <a:ext cx="8655685" cy="525145"/>
        </p:xfrm>
        <a:graphic>
          <a:graphicData uri="http://schemas.openxmlformats.org/drawingml/2006/table">
            <a:tbl>
              <a:tblPr/>
              <a:tblGrid>
                <a:gridCol w="786765"/>
                <a:gridCol w="786130"/>
                <a:gridCol w="786765"/>
                <a:gridCol w="787400"/>
                <a:gridCol w="786765"/>
                <a:gridCol w="788035"/>
                <a:gridCol w="786765"/>
                <a:gridCol w="787400"/>
                <a:gridCol w="786765"/>
                <a:gridCol w="786130"/>
                <a:gridCol w="786765"/>
              </a:tblGrid>
              <a:tr h="525145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89374" name="Group 158"/>
          <p:cNvGraphicFramePr>
            <a:graphicFrameLocks noGrp="1"/>
          </p:cNvGraphicFramePr>
          <p:nvPr/>
        </p:nvGraphicFramePr>
        <p:xfrm>
          <a:off x="3352800" y="4906645"/>
          <a:ext cx="8655685" cy="483870"/>
        </p:xfrm>
        <a:graphic>
          <a:graphicData uri="http://schemas.openxmlformats.org/drawingml/2006/table">
            <a:tbl>
              <a:tblPr/>
              <a:tblGrid>
                <a:gridCol w="786765"/>
                <a:gridCol w="786130"/>
                <a:gridCol w="786765"/>
                <a:gridCol w="787400"/>
                <a:gridCol w="786765"/>
                <a:gridCol w="788035"/>
                <a:gridCol w="786765"/>
                <a:gridCol w="787400"/>
                <a:gridCol w="786765"/>
                <a:gridCol w="786130"/>
                <a:gridCol w="786765"/>
              </a:tblGrid>
              <a:tr h="483870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j[0]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j[1]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j[2]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j[3]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j[4]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j[5]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j[6]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j[7]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j[8]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j[9]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j[10]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915400" y="4419600"/>
            <a:ext cx="557530" cy="35179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" name="矩形标注 5"/>
          <p:cNvSpPr/>
          <p:nvPr/>
        </p:nvSpPr>
        <p:spPr>
          <a:xfrm>
            <a:off x="4896485" y="3505200"/>
            <a:ext cx="3067685" cy="609600"/>
          </a:xfrm>
          <a:prstGeom prst="wedgeRectCallout">
            <a:avLst>
              <a:gd name="adj1" fmla="val -97660"/>
              <a:gd name="adj2" fmla="val 68854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kern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 j[</a:t>
            </a:r>
            <a:r>
              <a:rPr lang="en-US" altLang="zh-CN" sz="3200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a[i]/</a:t>
            </a:r>
            <a:r>
              <a:rPr lang="en-US" altLang="zh-CN" sz="32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10</a:t>
            </a:r>
            <a:r>
              <a:rPr lang="en-US" altLang="zh-CN" sz="3200" kern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]</a:t>
            </a:r>
            <a:r>
              <a:rPr lang="en-US" altLang="zh-CN" sz="32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++;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>
                                            <p:txEl>
                                              <p:charRg st="73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1058">
                                            <p:txEl>
                                              <p:charRg st="73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>
                                            <p:txEl>
                                              <p:charRg st="117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41058">
                                            <p:txEl>
                                              <p:charRg st="117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>
                                            <p:txEl>
                                              <p:charRg st="147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41058">
                                            <p:txEl>
                                              <p:charRg st="147" end="1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>
                                            <p:txEl>
                                              <p:charRg st="188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41058">
                                            <p:txEl>
                                              <p:charRg st="188" end="2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>
                                            <p:txEl>
                                              <p:charRg st="227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41058">
                                            <p:txEl>
                                              <p:charRg st="227" end="2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8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89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>
                                            <p:txEl>
                                              <p:charRg st="244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41058">
                                            <p:txEl>
                                              <p:charRg st="244" end="2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>
                                            <p:txEl>
                                              <p:charRg st="279" end="3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41058">
                                            <p:txEl>
                                              <p:charRg st="279" end="3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>
                                            <p:txEl>
                                              <p:charRg st="304" end="3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41058">
                                            <p:txEl>
                                              <p:charRg st="304" end="3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>
                                            <p:txEl>
                                              <p:charRg st="326" end="3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41058">
                                            <p:txEl>
                                              <p:charRg st="326" end="3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>
                                            <p:txEl>
                                              <p:charRg st="329" end="3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41058">
                                            <p:txEl>
                                              <p:charRg st="329" end="3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>
                                            <p:txEl>
                                              <p:charRg st="369" end="3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941058">
                                            <p:txEl>
                                              <p:charRg st="369" end="3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8">
                                            <p:txEl>
                                              <p:charRg st="398" end="4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41058">
                                            <p:txEl>
                                              <p:charRg st="398" end="4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 bldLvl="0" animBg="1"/>
      <p:bldP spid="4" grpId="1"/>
      <p:bldP spid="6" grpId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2FFDEE-C84C-45C2-A1B9-5C8EF6D9CB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083" y="381000"/>
            <a:ext cx="8229600" cy="6334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数组类型（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array-type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）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03424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524000"/>
            <a:ext cx="11963400" cy="4117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数组是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个数固定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、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类型相同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的若干个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变量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的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有序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集合。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int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 a[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50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],j[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11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] ; 	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	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char word[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1000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];	</a:t>
            </a:r>
            <a:r>
              <a:rPr lang="en-US" altLang="zh-CN" b="1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LnTx/>
                <a:uFillTx/>
                <a:latin typeface="+mn-ea"/>
                <a:cs typeface="+mn-ea"/>
                <a:sym typeface="+mn-ea"/>
              </a:rPr>
              <a:t>//</a:t>
            </a:r>
            <a:r>
              <a:rPr lang="zh-CN" altLang="en-US" b="1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LnTx/>
                <a:uFillTx/>
                <a:latin typeface="+mn-ea"/>
                <a:cs typeface="+mn-ea"/>
                <a:sym typeface="+mn-ea"/>
              </a:rPr>
              <a:t>一个单词</a:t>
            </a:r>
            <a:r>
              <a:rPr lang="en-US" altLang="zh-CN" b="1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LnTx/>
                <a:uFillTx/>
                <a:latin typeface="+mn-ea"/>
                <a:cs typeface="+mn-ea"/>
                <a:sym typeface="+mn-ea"/>
              </a:rPr>
              <a:t> </a:t>
            </a:r>
            <a:r>
              <a:rPr lang="zh-CN" altLang="en-US" b="1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LnTx/>
                <a:uFillTx/>
                <a:latin typeface="+mn-ea"/>
                <a:cs typeface="+mn-ea"/>
                <a:sym typeface="+mn-ea"/>
              </a:rPr>
              <a:t>由 若干个 字符 组成</a:t>
            </a:r>
            <a:endParaRPr lang="zh-CN" altLang="en-US" b="1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uLnTx/>
              <a:uFillTx/>
              <a:latin typeface="+mn-ea"/>
              <a:cs typeface="+mn-ea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float data[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100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];	</a:t>
            </a:r>
            <a:r>
              <a:rPr lang="en-US" altLang="zh-CN" b="1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LnTx/>
                <a:uFillTx/>
                <a:latin typeface="+mn-ea"/>
                <a:cs typeface="+mn-ea"/>
                <a:sym typeface="+mn-ea"/>
              </a:rPr>
              <a:t>//一个向量 由 若干个 实数 组成</a:t>
            </a:r>
            <a:endParaRPr lang="en-US" altLang="zh-CN" b="1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uLnTx/>
              <a:uFillTx/>
              <a:latin typeface="+mn-ea"/>
              <a:cs typeface="+mn-ea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float vector[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6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][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100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];</a:t>
            </a:r>
            <a:r>
              <a:rPr lang="en-US" altLang="zh-CN" b="1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LnTx/>
                <a:uFillTx/>
                <a:latin typeface="+mn-ea"/>
                <a:cs typeface="+mn-ea"/>
                <a:sym typeface="+mn-ea"/>
              </a:rPr>
              <a:t>//一个矩阵 由 若干个 向量 组成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5B185C-F4EC-451F-B3F4-D003185DA02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188913"/>
            <a:ext cx="8540750" cy="9080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§6.1.1  </a:t>
            </a: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数组定义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35844" name="Rectangle 4"/>
          <p:cNvSpPr/>
          <p:nvPr/>
        </p:nvSpPr>
        <p:spPr>
          <a:xfrm>
            <a:off x="1577975" y="1497013"/>
            <a:ext cx="7575550" cy="3000375"/>
          </a:xfrm>
          <a:prstGeom prst="rect">
            <a:avLst/>
          </a:prstGeom>
          <a:noFill/>
          <a:ln w="9525">
            <a:noFill/>
          </a:ln>
        </p:spPr>
        <p:txBody>
          <a:bodyPr bIns="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4000" b="1" dirty="0">
                <a:solidFill>
                  <a:schemeClr val="hlink"/>
                </a:solidFill>
                <a:latin typeface="Arial" panose="020B0604020202020204" pitchFamily="34" charset="0"/>
              </a:rPr>
              <a:t>数组要先定义，后使用</a:t>
            </a:r>
            <a:endParaRPr lang="en-US" altLang="zh-CN" sz="40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br>
              <a:rPr lang="zh-CN" altLang="en-US" sz="4000" b="1" dirty="0">
                <a:solidFill>
                  <a:schemeClr val="hlink"/>
                </a:solidFill>
                <a:latin typeface="Arial" panose="020B0604020202020204" pitchFamily="34" charset="0"/>
              </a:rPr>
            </a:br>
            <a:r>
              <a:rPr lang="zh-CN" altLang="en-US" sz="4000" b="1" dirty="0">
                <a:solidFill>
                  <a:schemeClr val="hlink"/>
                </a:solidFill>
                <a:latin typeface="Arial" panose="020B0604020202020204" pitchFamily="34" charset="0"/>
              </a:rPr>
              <a:t>        </a:t>
            </a:r>
            <a:r>
              <a:rPr lang="en-US" altLang="zh-CN" sz="4000" b="1" dirty="0">
                <a:solidFill>
                  <a:srgbClr val="FFFF00"/>
                </a:solidFill>
                <a:latin typeface="Arial" panose="020B0604020202020204" pitchFamily="34" charset="0"/>
              </a:rPr>
              <a:t>int a[5];</a:t>
            </a:r>
            <a:endParaRPr lang="en-US" altLang="zh-CN" sz="40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lang="en-US" altLang="zh-CN" sz="40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7" name="椭圆形标注 6"/>
          <p:cNvSpPr/>
          <p:nvPr/>
        </p:nvSpPr>
        <p:spPr>
          <a:xfrm>
            <a:off x="4198938" y="3954463"/>
            <a:ext cx="2232025" cy="561975"/>
          </a:xfrm>
          <a:prstGeom prst="wedgeEllipseCallout">
            <a:avLst>
              <a:gd name="adj1" fmla="val -50819"/>
              <a:gd name="adj2" fmla="val -124458"/>
            </a:avLst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数组尺寸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10" name="椭圆形标注 9"/>
          <p:cNvSpPr/>
          <p:nvPr/>
        </p:nvSpPr>
        <p:spPr>
          <a:xfrm>
            <a:off x="1919288" y="3854450"/>
            <a:ext cx="2232025" cy="561975"/>
          </a:xfrm>
          <a:prstGeom prst="wedgeEllipseCallout">
            <a:avLst>
              <a:gd name="adj1" fmla="val 29032"/>
              <a:gd name="adj2" fmla="val -97713"/>
            </a:avLst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数组名字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grpSp>
        <p:nvGrpSpPr>
          <p:cNvPr id="2" name="组合 8"/>
          <p:cNvGrpSpPr/>
          <p:nvPr/>
        </p:nvGrpSpPr>
        <p:grpSpPr>
          <a:xfrm>
            <a:off x="3516313" y="2361882"/>
            <a:ext cx="4706302" cy="1447801"/>
            <a:chOff x="1979712" y="2696203"/>
            <a:chExt cx="4706771" cy="861106"/>
          </a:xfrm>
        </p:grpSpPr>
        <p:sp>
          <p:nvSpPr>
            <p:cNvPr id="35849" name="矩形 7"/>
            <p:cNvSpPr/>
            <p:nvPr/>
          </p:nvSpPr>
          <p:spPr>
            <a:xfrm>
              <a:off x="1979712" y="3156675"/>
              <a:ext cx="979627" cy="400634"/>
            </a:xfrm>
            <a:prstGeom prst="rect">
              <a:avLst/>
            </a:prstGeom>
            <a:noFill/>
            <a:ln w="41275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333375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35850" name="椭圆形标注 11"/>
            <p:cNvSpPr/>
            <p:nvPr/>
          </p:nvSpPr>
          <p:spPr>
            <a:xfrm>
              <a:off x="3950179" y="2696203"/>
              <a:ext cx="2736304" cy="562630"/>
            </a:xfrm>
            <a:prstGeom prst="wedgeEllipseCallout">
              <a:avLst>
                <a:gd name="adj1" fmla="val -87255"/>
                <a:gd name="adj2" fmla="val 38685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333375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数组声明符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11" name="椭圆形标注 10"/>
          <p:cNvSpPr/>
          <p:nvPr/>
        </p:nvSpPr>
        <p:spPr>
          <a:xfrm>
            <a:off x="1530350" y="2339975"/>
            <a:ext cx="2232025" cy="563563"/>
          </a:xfrm>
          <a:prstGeom prst="wedgeEllipseCallout">
            <a:avLst>
              <a:gd name="adj1" fmla="val 20944"/>
              <a:gd name="adj2" fmla="val 101394"/>
            </a:avLst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数组类型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BA5F61-D423-4DDB-ADA4-D2438DED90D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1" name="Rectangle 2"/>
          <p:cNvSpPr/>
          <p:nvPr/>
        </p:nvSpPr>
        <p:spPr>
          <a:xfrm>
            <a:off x="1217613" y="1271270"/>
            <a:ext cx="129540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int a=13;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1038339" name="Rectangle 3"/>
          <p:cNvSpPr/>
          <p:nvPr/>
        </p:nvSpPr>
        <p:spPr>
          <a:xfrm>
            <a:off x="1000125" y="2536825"/>
            <a:ext cx="3267075" cy="468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int a[5]={5,6,7,8,9};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37893" name="Rectangle 5"/>
          <p:cNvSpPr/>
          <p:nvPr/>
        </p:nvSpPr>
        <p:spPr>
          <a:xfrm>
            <a:off x="5808663" y="1295083"/>
            <a:ext cx="1295400" cy="431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13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37894" name="Text Box 6"/>
          <p:cNvSpPr txBox="1"/>
          <p:nvPr/>
        </p:nvSpPr>
        <p:spPr>
          <a:xfrm>
            <a:off x="5664200" y="834708"/>
            <a:ext cx="935038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内存：</a:t>
            </a:r>
            <a:endParaRPr lang="zh-CN" altLang="en-US" sz="18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5087938" y="2205038"/>
            <a:ext cx="2016125" cy="2184400"/>
            <a:chOff x="1020" y="981"/>
            <a:chExt cx="1270" cy="1376"/>
          </a:xfrm>
        </p:grpSpPr>
        <p:sp>
          <p:nvSpPr>
            <p:cNvPr id="37910" name="Rectangle 8"/>
            <p:cNvSpPr/>
            <p:nvPr/>
          </p:nvSpPr>
          <p:spPr>
            <a:xfrm>
              <a:off x="1474" y="981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37911" name="Rectangle 9"/>
            <p:cNvSpPr/>
            <p:nvPr/>
          </p:nvSpPr>
          <p:spPr>
            <a:xfrm>
              <a:off x="1474" y="1253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37912" name="Rectangle 10"/>
            <p:cNvSpPr/>
            <p:nvPr/>
          </p:nvSpPr>
          <p:spPr>
            <a:xfrm>
              <a:off x="1474" y="1525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37913" name="Rectangle 11"/>
            <p:cNvSpPr/>
            <p:nvPr/>
          </p:nvSpPr>
          <p:spPr>
            <a:xfrm>
              <a:off x="1474" y="1797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37914" name="Rectangle 12"/>
            <p:cNvSpPr/>
            <p:nvPr/>
          </p:nvSpPr>
          <p:spPr>
            <a:xfrm>
              <a:off x="1474" y="2069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37915" name="Text Box 13"/>
            <p:cNvSpPr txBox="1"/>
            <p:nvPr/>
          </p:nvSpPr>
          <p:spPr>
            <a:xfrm>
              <a:off x="1020" y="2069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a[4]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7916" name="Text Box 14"/>
            <p:cNvSpPr txBox="1"/>
            <p:nvPr/>
          </p:nvSpPr>
          <p:spPr>
            <a:xfrm>
              <a:off x="1020" y="1797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a[3]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7917" name="Text Box 15"/>
            <p:cNvSpPr txBox="1"/>
            <p:nvPr/>
          </p:nvSpPr>
          <p:spPr>
            <a:xfrm>
              <a:off x="1020" y="1525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a[2]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7918" name="Text Box 16"/>
            <p:cNvSpPr txBox="1"/>
            <p:nvPr/>
          </p:nvSpPr>
          <p:spPr>
            <a:xfrm>
              <a:off x="1020" y="1253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7919" name="Text Box 17"/>
            <p:cNvSpPr txBox="1"/>
            <p:nvPr/>
          </p:nvSpPr>
          <p:spPr>
            <a:xfrm>
              <a:off x="1020" y="981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7896" name="Line 19"/>
          <p:cNvSpPr/>
          <p:nvPr/>
        </p:nvSpPr>
        <p:spPr>
          <a:xfrm>
            <a:off x="0" y="1989138"/>
            <a:ext cx="12192000" cy="50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8357" name="Text Box 21"/>
          <p:cNvSpPr txBox="1"/>
          <p:nvPr/>
        </p:nvSpPr>
        <p:spPr>
          <a:xfrm>
            <a:off x="6240463" y="3932238"/>
            <a:ext cx="358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9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38358" name="Text Box 22"/>
          <p:cNvSpPr txBox="1"/>
          <p:nvPr/>
        </p:nvSpPr>
        <p:spPr>
          <a:xfrm>
            <a:off x="6242050" y="3475038"/>
            <a:ext cx="358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8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38359" name="Text Box 23"/>
          <p:cNvSpPr txBox="1"/>
          <p:nvPr/>
        </p:nvSpPr>
        <p:spPr>
          <a:xfrm>
            <a:off x="6240463" y="3068638"/>
            <a:ext cx="358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7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38360" name="Text Box 24"/>
          <p:cNvSpPr txBox="1"/>
          <p:nvPr/>
        </p:nvSpPr>
        <p:spPr>
          <a:xfrm>
            <a:off x="6240463" y="2636838"/>
            <a:ext cx="358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6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38361" name="Text Box 25"/>
          <p:cNvSpPr txBox="1"/>
          <p:nvPr/>
        </p:nvSpPr>
        <p:spPr>
          <a:xfrm>
            <a:off x="6242050" y="2205038"/>
            <a:ext cx="358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38362" name="Text Box 26"/>
          <p:cNvSpPr txBox="1"/>
          <p:nvPr/>
        </p:nvSpPr>
        <p:spPr>
          <a:xfrm>
            <a:off x="0" y="5165725"/>
            <a:ext cx="7823200" cy="1385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rPr>
              <a:t>思考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】</a:t>
            </a:r>
            <a:endParaRPr lang="en-US" altLang="zh-CN" sz="28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若已有</a:t>
            </a:r>
            <a:r>
              <a:rPr lang="en-US" altLang="zh-CN" sz="2800" b="1" dirty="0">
                <a:latin typeface="Arial" panose="020B0604020202020204" pitchFamily="34" charset="0"/>
              </a:rPr>
              <a:t>T</a:t>
            </a:r>
            <a:r>
              <a:rPr lang="zh-CN" altLang="en-US" sz="2800" b="1" dirty="0">
                <a:latin typeface="Arial" panose="020B0604020202020204" pitchFamily="34" charset="0"/>
              </a:rPr>
              <a:t>类型数组定义：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T a[N];</a:t>
            </a:r>
            <a:endParaRPr lang="en-US" altLang="zh-CN" sz="28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则数组</a:t>
            </a:r>
            <a:r>
              <a:rPr lang="en-US" altLang="zh-CN" sz="2800" b="1" dirty="0">
                <a:latin typeface="Arial" panose="020B0604020202020204" pitchFamily="34" charset="0"/>
              </a:rPr>
              <a:t>a</a:t>
            </a:r>
            <a:r>
              <a:rPr lang="zh-CN" altLang="en-US" sz="2800" b="1" dirty="0">
                <a:latin typeface="Arial" panose="020B0604020202020204" pitchFamily="34" charset="0"/>
              </a:rPr>
              <a:t>占用的存储空间是多少字节？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37903" name="Text Box 28"/>
          <p:cNvSpPr txBox="1"/>
          <p:nvPr/>
        </p:nvSpPr>
        <p:spPr>
          <a:xfrm>
            <a:off x="8609965" y="873443"/>
            <a:ext cx="26638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所占存储空间：</a:t>
            </a:r>
            <a:endParaRPr lang="zh-CN" altLang="en-US" sz="18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37904" name="Text Box 29"/>
          <p:cNvSpPr txBox="1"/>
          <p:nvPr/>
        </p:nvSpPr>
        <p:spPr>
          <a:xfrm>
            <a:off x="8610600" y="1331595"/>
            <a:ext cx="122396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4</a:t>
            </a:r>
            <a:r>
              <a:rPr lang="zh-CN" altLang="en-US" sz="1800" b="1" dirty="0">
                <a:latin typeface="Arial" panose="020B0604020202020204" pitchFamily="34" charset="0"/>
              </a:rPr>
              <a:t>字节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1038366" name="Text Box 30"/>
          <p:cNvSpPr txBox="1"/>
          <p:nvPr/>
        </p:nvSpPr>
        <p:spPr>
          <a:xfrm>
            <a:off x="8610600" y="2362200"/>
            <a:ext cx="122396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4*5 </a:t>
            </a:r>
            <a:r>
              <a:rPr lang="zh-CN" altLang="en-US" sz="1800" b="1" dirty="0">
                <a:latin typeface="Arial" panose="020B0604020202020204" pitchFamily="34" charset="0"/>
              </a:rPr>
              <a:t>字节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37906" name="Text Box 32"/>
          <p:cNvSpPr txBox="1"/>
          <p:nvPr/>
        </p:nvSpPr>
        <p:spPr>
          <a:xfrm>
            <a:off x="914400" y="2062163"/>
            <a:ext cx="17589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int</a:t>
            </a:r>
            <a:r>
              <a:rPr lang="zh-CN" altLang="en-US" sz="1800" b="1" dirty="0">
                <a:solidFill>
                  <a:srgbClr val="FFFF00"/>
                </a:solidFill>
                <a:latin typeface="Arial" panose="020B0604020202020204" pitchFamily="34" charset="0"/>
              </a:rPr>
              <a:t>数组的定义：</a:t>
            </a:r>
            <a:endParaRPr lang="zh-CN" altLang="en-US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37907" name="Text Box 32"/>
          <p:cNvSpPr txBox="1"/>
          <p:nvPr/>
        </p:nvSpPr>
        <p:spPr>
          <a:xfrm>
            <a:off x="914400" y="852170"/>
            <a:ext cx="22098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int</a:t>
            </a:r>
            <a:r>
              <a:rPr lang="zh-CN" altLang="en-US" sz="1800" b="1" dirty="0">
                <a:solidFill>
                  <a:srgbClr val="FFFF00"/>
                </a:solidFill>
                <a:latin typeface="Arial" panose="020B0604020202020204" pitchFamily="34" charset="0"/>
              </a:rPr>
              <a:t>变量的定义：</a:t>
            </a:r>
            <a:endParaRPr lang="zh-CN" altLang="en-US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24600" y="6047105"/>
            <a:ext cx="20637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sizeof(T) * N;</a:t>
            </a:r>
            <a:endParaRPr lang="en-US" altLang="zh-CN" sz="2400" b="1" dirty="0">
              <a:solidFill>
                <a:srgbClr val="FFFF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5" name="Line 19"/>
          <p:cNvSpPr/>
          <p:nvPr/>
        </p:nvSpPr>
        <p:spPr>
          <a:xfrm>
            <a:off x="0" y="4708525"/>
            <a:ext cx="12115800" cy="158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" name="文本框 3"/>
          <p:cNvSpPr txBox="1"/>
          <p:nvPr/>
        </p:nvSpPr>
        <p:spPr>
          <a:xfrm>
            <a:off x="0" y="10795"/>
            <a:ext cx="1866265" cy="566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solidFill>
                  <a:srgbClr val="FFFF00"/>
                </a:solidFill>
              </a:rPr>
              <a:t>内存分配</a:t>
            </a:r>
            <a:endParaRPr lang="zh-CN" altLang="en-US" sz="320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3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3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3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3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3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3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6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3836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62">
                                            <p:txEl>
                                              <p:charRg st="5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38362">
                                            <p:txEl>
                                              <p:charRg st="5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62">
                                            <p:txEl>
                                              <p:charRg st="24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38362">
                                            <p:txEl>
                                              <p:charRg st="24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8339" grpId="0" animBg="1"/>
      <p:bldP spid="1038357" grpId="0"/>
      <p:bldP spid="1038358" grpId="0"/>
      <p:bldP spid="1038359" grpId="0"/>
      <p:bldP spid="1038360" grpId="0"/>
      <p:bldP spid="1038361" grpId="0"/>
      <p:bldP spid="1038362" grpId="0" build="allAtOnce"/>
      <p:bldP spid="1038366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3BF13C-AFA1-4FA5-BBD3-98AAA3E406A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1411" name="Rectangle 3"/>
          <p:cNvSpPr>
            <a:spLocks noChangeArrowheads="1"/>
          </p:cNvSpPr>
          <p:nvPr/>
        </p:nvSpPr>
        <p:spPr bwMode="auto">
          <a:xfrm>
            <a:off x="76200" y="1371600"/>
            <a:ext cx="5700395" cy="241173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#define N 10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v[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];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lang="en-US" altLang="zh-CN" sz="3200" kern="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+mn-ea"/>
              </a:rPr>
              <a:t>double</a:t>
            </a:r>
            <a:r>
              <a:rPr lang="en-US" altLang="zh-CN" sz="32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+mn-ea"/>
              </a:rPr>
              <a:t>  v[</a:t>
            </a:r>
            <a:r>
              <a:rPr lang="en-US" altLang="zh-CN" sz="3200" kern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+mn-ea"/>
              </a:rPr>
              <a:t>10</a:t>
            </a:r>
            <a:r>
              <a:rPr lang="en-US" altLang="zh-CN" sz="32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+mn-ea"/>
              </a:rPr>
              <a:t>],w[</a:t>
            </a:r>
            <a:r>
              <a:rPr lang="en-US" altLang="zh-CN" sz="3200" kern="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+mn-ea"/>
              </a:rPr>
              <a:t>20</a:t>
            </a:r>
            <a:r>
              <a:rPr lang="en-US" altLang="zh-CN" sz="32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+mn-ea"/>
              </a:rPr>
              <a:t>];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1412" name="Rectangle 4"/>
          <p:cNvSpPr>
            <a:spLocks noChangeArrowheads="1"/>
          </p:cNvSpPr>
          <p:nvPr/>
        </p:nvSpPr>
        <p:spPr bwMode="auto">
          <a:xfrm>
            <a:off x="6255385" y="1532255"/>
            <a:ext cx="5782310" cy="41497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main()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n;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(“%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d”,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&amp;n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/需要先输入尺寸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v[n];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数组长度在程序运行时确定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…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有些编译环境不支持</a:t>
            </a:r>
            <a:endParaRPr kumimoji="0" lang="en-US" altLang="zh-CN" sz="3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8" name="Rectangle 8"/>
          <p:cNvSpPr/>
          <p:nvPr/>
        </p:nvSpPr>
        <p:spPr>
          <a:xfrm>
            <a:off x="0" y="136525"/>
            <a:ext cx="6477000" cy="10826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C89:</a:t>
            </a:r>
            <a:r>
              <a:rPr lang="zh-CN" altLang="en-US" sz="2800" b="1" dirty="0">
                <a:latin typeface="Arial" panose="020B0604020202020204" pitchFamily="34" charset="0"/>
                <a:ea typeface="华文隶书" panose="02010800040101010101" pitchFamily="2" charset="-122"/>
              </a:rPr>
              <a:t>定义数组时，数组尺寸必须是</a:t>
            </a:r>
            <a:endParaRPr lang="en-US" altLang="zh-CN" sz="2800" b="1" dirty="0">
              <a:latin typeface="Arial" panose="020B0604020202020204" pitchFamily="34" charset="0"/>
              <a:ea typeface="华文隶书" panose="0201080004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     常量表达式</a:t>
            </a:r>
            <a:r>
              <a:rPr lang="en-US" altLang="zh-CN" sz="2800" b="1" dirty="0">
                <a:latin typeface="Arial" panose="020B0604020202020204" pitchFamily="34" charset="0"/>
                <a:ea typeface="华文隶书" panose="02010800040101010101" pitchFamily="2" charset="-122"/>
              </a:rPr>
              <a:t>,</a:t>
            </a:r>
            <a:r>
              <a:rPr lang="zh-CN" altLang="en-US" sz="2800" b="1" dirty="0">
                <a:latin typeface="Arial" panose="020B0604020202020204" pitchFamily="34" charset="0"/>
                <a:ea typeface="华文隶书" panose="02010800040101010101" pitchFamily="2" charset="-122"/>
              </a:rPr>
              <a:t>不支持可变长数组。</a:t>
            </a:r>
            <a:endParaRPr lang="en-US" altLang="zh-CN" sz="2800" b="1" dirty="0">
              <a:latin typeface="Arial" panose="020B0604020202020204" pitchFamily="34" charset="0"/>
              <a:ea typeface="华文隶书" panose="02010800040101010101" pitchFamily="2" charset="-122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1600200" y="4572000"/>
            <a:ext cx="464185" cy="601980"/>
            <a:chOff x="3424" y="3294"/>
            <a:chExt cx="1134" cy="454"/>
          </a:xfrm>
        </p:grpSpPr>
        <p:sp>
          <p:nvSpPr>
            <p:cNvPr id="38923" name="Line 10"/>
            <p:cNvSpPr/>
            <p:nvPr/>
          </p:nvSpPr>
          <p:spPr>
            <a:xfrm>
              <a:off x="3424" y="3294"/>
              <a:ext cx="1134" cy="454"/>
            </a:xfrm>
            <a:prstGeom prst="line">
              <a:avLst/>
            </a:prstGeom>
            <a:ln w="57150" cap="flat" cmpd="sng">
              <a:solidFill>
                <a:srgbClr val="F608E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4" name="Line 11"/>
            <p:cNvSpPr/>
            <p:nvPr/>
          </p:nvSpPr>
          <p:spPr>
            <a:xfrm flipH="1">
              <a:off x="3424" y="3294"/>
              <a:ext cx="1134" cy="454"/>
            </a:xfrm>
            <a:prstGeom prst="line">
              <a:avLst/>
            </a:prstGeom>
            <a:ln w="57150" cap="flat" cmpd="sng">
              <a:solidFill>
                <a:srgbClr val="F608E8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" name="矩形 3"/>
          <p:cNvSpPr/>
          <p:nvPr/>
        </p:nvSpPr>
        <p:spPr>
          <a:xfrm>
            <a:off x="152400" y="4495483"/>
            <a:ext cx="1549400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a[ ];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21" name="矩形 1"/>
          <p:cNvSpPr/>
          <p:nvPr/>
        </p:nvSpPr>
        <p:spPr>
          <a:xfrm>
            <a:off x="6477000" y="228600"/>
            <a:ext cx="49022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C99,C11:</a:t>
            </a:r>
            <a:r>
              <a:rPr lang="zh-CN" altLang="en-US" b="1" dirty="0">
                <a:latin typeface="Arial" panose="020B0604020202020204" pitchFamily="34" charset="0"/>
                <a:ea typeface="华文隶书" panose="02010800040101010101" pitchFamily="2" charset="-122"/>
              </a:rPr>
              <a:t>支持可变长数组 </a:t>
            </a:r>
            <a:endParaRPr lang="zh-CN" altLang="en-US" b="1" dirty="0">
              <a:latin typeface="Arial" panose="020B0604020202020204" pitchFamily="34" charset="0"/>
              <a:ea typeface="华文隶书" panose="02010800040101010101" pitchFamily="2" charset="-122"/>
            </a:endParaRPr>
          </a:p>
        </p:txBody>
      </p:sp>
      <p:cxnSp>
        <p:nvCxnSpPr>
          <p:cNvPr id="38922" name="直接连接符 5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141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F48A95-8707-4FA5-83C3-24189BDD94C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0419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143635"/>
            <a:ext cx="10925175" cy="538416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以一维数组为例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起始</a:t>
            </a:r>
            <a:r>
              <a:rPr lang="zh-CN" altLang="en-US" b="1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+mn-ea"/>
                <a:cs typeface="+mn-ea"/>
                <a:sym typeface="+mn-ea"/>
              </a:rPr>
              <a:t>下标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：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0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0" marR="0" lvl="0" indent="4572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例：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int  a[10]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;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	 a[0]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 a[1] a[2] a[3] a[4] a[5] a[6] a[7] a[8]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a[9]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下标类型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：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整型的常量、变量或表达式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  例：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	 m=a[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8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]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1257300" marR="0" lvl="2" indent="4572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  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j[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]++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1714500" marR="0" lvl="3" indent="4572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b="1" noProof="0" dirty="0">
                <a:ln>
                  <a:noFill/>
                </a:ln>
                <a:uLnTx/>
                <a:uFillTx/>
                <a:latin typeface="+mn-ea"/>
                <a:cs typeface="+mn-ea"/>
                <a:sym typeface="+mn-ea"/>
              </a:rPr>
              <a:t>   </a:t>
            </a:r>
            <a:r>
              <a:rPr lang="zh-CN" altLang="en-US" sz="3200" b="1" noProof="0" dirty="0">
                <a:ln>
                  <a:noFill/>
                </a:ln>
                <a:uLnTx/>
                <a:uFillTx/>
                <a:latin typeface="+mn-ea"/>
                <a:cs typeface="+mn-ea"/>
                <a:sym typeface="+mn-ea"/>
              </a:rPr>
              <a:t>j[</a:t>
            </a:r>
            <a:r>
              <a:rPr lang="zh-CN" altLang="en-US" sz="3200" b="1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+mn-ea"/>
                <a:cs typeface="+mn-ea"/>
                <a:sym typeface="+mn-ea"/>
              </a:rPr>
              <a:t>a[i]/10</a:t>
            </a:r>
            <a:r>
              <a:rPr lang="zh-CN" altLang="en-US" sz="3200" b="1" noProof="0" dirty="0">
                <a:ln>
                  <a:noFill/>
                </a:ln>
                <a:uLnTx/>
                <a:uFillTx/>
                <a:latin typeface="+mn-ea"/>
                <a:cs typeface="+mn-ea"/>
                <a:sym typeface="+mn-ea"/>
              </a:rPr>
              <a:t>]++;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//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例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6.1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			     str1[</a:t>
            </a:r>
            <a:r>
              <a:rPr kumimoji="0" lang="en-US" altLang="zh-CN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i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++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cs typeface="+mn-ea"/>
              </a:rPr>
              <a:t>]=str2[j]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cs typeface="+mn-ea"/>
            </a:endParaRPr>
          </a:p>
        </p:txBody>
      </p:sp>
      <p:sp>
        <p:nvSpPr>
          <p:cNvPr id="1340420" name="Rectangle 4"/>
          <p:cNvSpPr>
            <a:spLocks noChangeArrowheads="1"/>
          </p:cNvSpPr>
          <p:nvPr/>
        </p:nvSpPr>
        <p:spPr bwMode="auto">
          <a:xfrm>
            <a:off x="-635" y="-26670"/>
            <a:ext cx="9878695" cy="100838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§6.1.2  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数组使用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——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下标表达式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60AB6F-A86C-49F0-94CD-FB0E1DC8F50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0"/>
            <a:ext cx="8229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§6.1.3  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数组操作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需要注意的问题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050627" name="Rectangle 3"/>
          <p:cNvSpPr>
            <a:spLocks noGrp="1" noChangeArrowheads="1"/>
          </p:cNvSpPr>
          <p:nvPr>
            <p:ph idx="1"/>
          </p:nvPr>
        </p:nvSpPr>
        <p:spPr>
          <a:xfrm>
            <a:off x="-14287" y="1447800"/>
            <a:ext cx="121920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</a:rPr>
              <a:t>C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</a:rPr>
              <a:t>没有定义施于数组类型上的运算，数组类型的运算都是通过其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</a:rPr>
              <a:t>成分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</a:rPr>
              <a:t>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</a:rPr>
              <a:t>元素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</a:rPr>
              <a:t>实现，包括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</a:rPr>
              <a:t>赋值、运算、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</a:rPr>
              <a:t>I/O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</a:rPr>
              <a:t>等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华文隶书" panose="02010800040101010101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赋值：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把数组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b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送入数组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中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不能写成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          a = b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应写成：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for ( i=0 ; i&lt;=9 ; i++)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         	a[i] = b[i];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277235" y="3505200"/>
            <a:ext cx="457200" cy="381000"/>
            <a:chOff x="3424" y="3294"/>
            <a:chExt cx="1134" cy="454"/>
          </a:xfrm>
        </p:grpSpPr>
        <p:sp>
          <p:nvSpPr>
            <p:cNvPr id="46086" name="Line 5"/>
            <p:cNvSpPr/>
            <p:nvPr/>
          </p:nvSpPr>
          <p:spPr>
            <a:xfrm>
              <a:off x="3424" y="3294"/>
              <a:ext cx="1134" cy="454"/>
            </a:xfrm>
            <a:prstGeom prst="line">
              <a:avLst/>
            </a:prstGeom>
            <a:ln w="57150" cap="flat" cmpd="sng">
              <a:solidFill>
                <a:srgbClr val="F608E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87" name="Line 6"/>
            <p:cNvSpPr/>
            <p:nvPr/>
          </p:nvSpPr>
          <p:spPr>
            <a:xfrm flipH="1">
              <a:off x="3424" y="3294"/>
              <a:ext cx="1134" cy="454"/>
            </a:xfrm>
            <a:prstGeom prst="line">
              <a:avLst/>
            </a:prstGeom>
            <a:ln w="57150" cap="flat" cmpd="sng">
              <a:solidFill>
                <a:srgbClr val="F608E8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697F0C-08F6-4C3C-81A0-1E3E384FADD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089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15950"/>
            <a:ext cx="11734800" cy="52673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运算 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int t0[10],t1[10],w[10];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求整型数组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t0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t1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的差，送入整型数组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w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中，不能写成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				w = t0 - t1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应如下：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for (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=0 ;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&lt;=9 ;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++)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            w[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] = t0[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] - t1[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]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181600" y="2514600"/>
            <a:ext cx="381000" cy="409575"/>
            <a:chOff x="3424" y="3294"/>
            <a:chExt cx="1134" cy="454"/>
          </a:xfrm>
        </p:grpSpPr>
        <p:sp>
          <p:nvSpPr>
            <p:cNvPr id="48133" name="Line 5"/>
            <p:cNvSpPr/>
            <p:nvPr/>
          </p:nvSpPr>
          <p:spPr>
            <a:xfrm>
              <a:off x="3424" y="3294"/>
              <a:ext cx="1134" cy="454"/>
            </a:xfrm>
            <a:prstGeom prst="line">
              <a:avLst/>
            </a:prstGeom>
            <a:ln w="57150" cap="flat" cmpd="sng">
              <a:solidFill>
                <a:srgbClr val="F608E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34" name="Line 6"/>
            <p:cNvSpPr/>
            <p:nvPr/>
          </p:nvSpPr>
          <p:spPr>
            <a:xfrm flipH="1">
              <a:off x="3424" y="3294"/>
              <a:ext cx="1134" cy="454"/>
            </a:xfrm>
            <a:prstGeom prst="line">
              <a:avLst/>
            </a:prstGeom>
            <a:ln w="57150" cap="flat" cmpd="sng">
              <a:solidFill>
                <a:srgbClr val="F608E8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2761F2-A1F3-4F37-BD44-FE2650C19E2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2674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83185"/>
            <a:ext cx="5578475" cy="662241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Ｉ／Ｏ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</a:rPr>
              <a:t>不能整个读入或输出一个数组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华文隶书" panose="02010800040101010101" pitchFamily="2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: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float w[10];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读入一批数据不能写成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(“%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f”,&amp;w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(“%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f”,w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可用如下方法实现：	 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for ( m=0 ; m&lt;=9 ; m++ 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	 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scanf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(“%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f”,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&amp;w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[m]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);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for ( m=0 ; m&lt;=9 ; m++ )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		 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(“%f”,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w[m]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);	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50180" name="Group 3"/>
          <p:cNvGrpSpPr/>
          <p:nvPr/>
        </p:nvGrpSpPr>
        <p:grpSpPr>
          <a:xfrm>
            <a:off x="4876800" y="2133600"/>
            <a:ext cx="431800" cy="1008063"/>
            <a:chOff x="3424" y="3294"/>
            <a:chExt cx="1134" cy="454"/>
          </a:xfrm>
        </p:grpSpPr>
        <p:sp>
          <p:nvSpPr>
            <p:cNvPr id="50181" name="Line 4"/>
            <p:cNvSpPr/>
            <p:nvPr/>
          </p:nvSpPr>
          <p:spPr>
            <a:xfrm>
              <a:off x="3424" y="3294"/>
              <a:ext cx="1134" cy="454"/>
            </a:xfrm>
            <a:prstGeom prst="line">
              <a:avLst/>
            </a:prstGeom>
            <a:ln w="57150" cap="flat" cmpd="sng">
              <a:solidFill>
                <a:srgbClr val="F608E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82" name="Line 5"/>
            <p:cNvSpPr/>
            <p:nvPr/>
          </p:nvSpPr>
          <p:spPr>
            <a:xfrm flipH="1">
              <a:off x="3424" y="3294"/>
              <a:ext cx="1134" cy="454"/>
            </a:xfrm>
            <a:prstGeom prst="line">
              <a:avLst/>
            </a:prstGeom>
            <a:ln w="57150" cap="flat" cmpd="sng">
              <a:solidFill>
                <a:srgbClr val="F608E8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" name="文本框 5"/>
          <p:cNvSpPr txBox="1"/>
          <p:nvPr/>
        </p:nvSpPr>
        <p:spPr>
          <a:xfrm>
            <a:off x="6324600" y="1981200"/>
            <a:ext cx="5734685" cy="26517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+mn-ea"/>
              </a:rPr>
              <a:t>下标越界</a:t>
            </a:r>
            <a:endParaRPr lang="zh-CN" altLang="en-US" sz="3200" kern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eaLnBrk="1" hangingPunct="1">
              <a:buNone/>
            </a:pPr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 eaLnBrk="1" hangingPunct="1">
              <a:buNone/>
            </a:pP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int a[10];</a:t>
            </a:r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 eaLnBrk="1" hangingPunct="1">
              <a:buNone/>
            </a:pPr>
            <a:r>
              <a:rPr lang="en-US" altLang="zh-CN" sz="3200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+mn-ea"/>
              </a:rPr>
              <a:t>for ( i=0 ; i&lt;10 ; i++ )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3200" kern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+mn-ea"/>
              </a:rPr>
              <a:t>  printf</a:t>
            </a:r>
            <a:r>
              <a:rPr lang="en-US" altLang="zh-CN" sz="3200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+mn-ea"/>
              </a:rPr>
              <a:t>(“%d”, a[</a:t>
            </a:r>
            <a:r>
              <a:rPr lang="en-US" altLang="zh-CN" sz="3200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+mn-ea"/>
              </a:rPr>
              <a:t>++i</a:t>
            </a:r>
            <a:r>
              <a:rPr lang="en-US" altLang="zh-CN" sz="3200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+mn-ea"/>
              </a:rPr>
              <a:t>] );</a:t>
            </a:r>
            <a:endParaRPr lang="en-US" altLang="zh-CN" sz="3200" kern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sym typeface="+mn-ea"/>
            </a:endParaRPr>
          </a:p>
        </p:txBody>
      </p:sp>
      <p:sp>
        <p:nvSpPr>
          <p:cNvPr id="8" name="矩形 1"/>
          <p:cNvSpPr/>
          <p:nvPr/>
        </p:nvSpPr>
        <p:spPr>
          <a:xfrm>
            <a:off x="6248400" y="5295265"/>
            <a:ext cx="562610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Verdana" panose="020B0604030504040204" pitchFamily="34" charset="0"/>
              </a:rPr>
              <a:t>注意：Ｃ语言不对下标是否越界进行检查</a:t>
            </a:r>
            <a:endParaRPr lang="zh-CN" altLang="en-US" sz="28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171565" y="318770"/>
            <a:ext cx="635" cy="60813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  <p:bldP spid="6" grpId="0"/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" name="灯片编号占位符 7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435340" y="6777355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27540B-64AF-4CBF-9953-2A7A40ECD58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66883" y="762000"/>
            <a:ext cx="5548313" cy="56181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Gungsuh" pitchFamily="18" charset="-127"/>
                <a:cs typeface="+mn-cs"/>
              </a:rPr>
              <a:t>#define  N  10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ungsuh" pitchFamily="18" charset="-127"/>
                <a:ea typeface="Gungsuh" pitchFamily="18" charset="-127"/>
                <a:cs typeface="+mn-cs"/>
              </a:rPr>
              <a:t>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ungsuh" pitchFamily="18" charset="-127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ungsuh" pitchFamily="18" charset="-127"/>
                <a:ea typeface="Gungsuh" pitchFamily="18" charset="-127"/>
                <a:cs typeface="+mn-cs"/>
              </a:rPr>
              <a:t>#include&lt;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ungsuh" pitchFamily="18" charset="-127"/>
                <a:ea typeface="Gungsuh" pitchFamily="18" charset="-127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ungsuh" pitchFamily="18" charset="-127"/>
                <a:ea typeface="Gungsuh" pitchFamily="18" charset="-127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ungsuh" pitchFamily="18" charset="-127"/>
              <a:ea typeface="Gungsuh" pitchFamily="18" charset="-127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 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 	int d[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,max ,k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for(k=0;k&lt;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N;k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d",&amp;d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[k]);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max=d[0];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	for(k=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	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if(d[k]&gt;max)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max=d[k];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("max=%d\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n",max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return 0;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64644" name="Group 4"/>
          <p:cNvGraphicFramePr>
            <a:graphicFrameLocks noGrp="1"/>
          </p:cNvGraphicFramePr>
          <p:nvPr>
            <p:ph sz="quarter" idx="1"/>
          </p:nvPr>
        </p:nvGraphicFramePr>
        <p:xfrm>
          <a:off x="135890" y="868680"/>
          <a:ext cx="1728788" cy="5791200"/>
        </p:xfrm>
        <a:graphic>
          <a:graphicData uri="http://schemas.openxmlformats.org/drawingml/2006/table">
            <a:tbl>
              <a:tblPr/>
              <a:tblGrid>
                <a:gridCol w="1728788"/>
              </a:tblGrid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d[0]: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d[1]: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d[2]: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d[3]: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d[4]: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d[5]: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d[6]: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d[7]: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d[8]: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d[9]: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64710" name="Group 70"/>
          <p:cNvGraphicFramePr>
            <a:graphicFrameLocks noGrp="1"/>
          </p:cNvGraphicFramePr>
          <p:nvPr>
            <p:ph sz="quarter" idx="1"/>
          </p:nvPr>
        </p:nvGraphicFramePr>
        <p:xfrm>
          <a:off x="135890" y="868680"/>
          <a:ext cx="1728788" cy="5791200"/>
        </p:xfrm>
        <a:graphic>
          <a:graphicData uri="http://schemas.openxmlformats.org/drawingml/2006/table">
            <a:tbl>
              <a:tblPr/>
              <a:tblGrid>
                <a:gridCol w="1728788"/>
              </a:tblGrid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d[0]:61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d[1]:82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d[2]:73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d[3]:94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d[4]:65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d[5]:86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d[6]:57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d[7]:68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d[8]:79</a:t>
                      </a:r>
                      <a:endParaRPr kumimoji="0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d[9]:91</a:t>
                      </a:r>
                      <a:endParaRPr kumimoji="0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64694" name="Line 54"/>
          <p:cNvSpPr/>
          <p:nvPr/>
        </p:nvSpPr>
        <p:spPr>
          <a:xfrm flipH="1">
            <a:off x="1936115" y="1835468"/>
            <a:ext cx="576263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64695" name="Text Box 55"/>
          <p:cNvSpPr txBox="1"/>
          <p:nvPr/>
        </p:nvSpPr>
        <p:spPr>
          <a:xfrm>
            <a:off x="2296478" y="1403668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FF00"/>
                </a:solidFill>
                <a:latin typeface="Arial" panose="020B0604020202020204" pitchFamily="34" charset="0"/>
              </a:rPr>
              <a:t>k</a:t>
            </a:r>
            <a:endParaRPr lang="en-US" altLang="zh-CN" sz="20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58"/>
          <p:cNvGrpSpPr/>
          <p:nvPr/>
        </p:nvGrpSpPr>
        <p:grpSpPr>
          <a:xfrm>
            <a:off x="2215515" y="670243"/>
            <a:ext cx="1871663" cy="477837"/>
            <a:chOff x="1157" y="115"/>
            <a:chExt cx="1088" cy="231"/>
          </a:xfrm>
        </p:grpSpPr>
        <p:sp>
          <p:nvSpPr>
            <p:cNvPr id="20549" name="Text Box 56"/>
            <p:cNvSpPr txBox="1"/>
            <p:nvPr/>
          </p:nvSpPr>
          <p:spPr>
            <a:xfrm>
              <a:off x="1157" y="115"/>
              <a:ext cx="680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max:</a:t>
              </a:r>
              <a:endPara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50" name="Rectangle 57"/>
            <p:cNvSpPr/>
            <p:nvPr/>
          </p:nvSpPr>
          <p:spPr>
            <a:xfrm>
              <a:off x="1701" y="119"/>
              <a:ext cx="544" cy="22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61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1264699" name="Text Box 59"/>
          <p:cNvSpPr txBox="1"/>
          <p:nvPr/>
        </p:nvSpPr>
        <p:spPr>
          <a:xfrm>
            <a:off x="3360103" y="748030"/>
            <a:ext cx="576262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82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1264700" name="Line 60"/>
          <p:cNvSpPr/>
          <p:nvPr/>
        </p:nvSpPr>
        <p:spPr>
          <a:xfrm flipH="1">
            <a:off x="1936115" y="2411730"/>
            <a:ext cx="576263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64701" name="Line 61"/>
          <p:cNvSpPr/>
          <p:nvPr/>
        </p:nvSpPr>
        <p:spPr>
          <a:xfrm flipH="1">
            <a:off x="1936115" y="2987993"/>
            <a:ext cx="576263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64702" name="Text Box 62"/>
          <p:cNvSpPr txBox="1"/>
          <p:nvPr/>
        </p:nvSpPr>
        <p:spPr>
          <a:xfrm>
            <a:off x="3339465" y="711518"/>
            <a:ext cx="576263" cy="36671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94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1264703" name="Line 63"/>
          <p:cNvSpPr/>
          <p:nvPr/>
        </p:nvSpPr>
        <p:spPr>
          <a:xfrm flipH="1">
            <a:off x="1936115" y="3491230"/>
            <a:ext cx="576263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64704" name="Line 64"/>
          <p:cNvSpPr/>
          <p:nvPr/>
        </p:nvSpPr>
        <p:spPr>
          <a:xfrm flipH="1">
            <a:off x="1936115" y="4067493"/>
            <a:ext cx="576263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64705" name="Line 65"/>
          <p:cNvSpPr/>
          <p:nvPr/>
        </p:nvSpPr>
        <p:spPr>
          <a:xfrm flipH="1">
            <a:off x="1936115" y="4716780"/>
            <a:ext cx="576263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64706" name="Line 66"/>
          <p:cNvSpPr/>
          <p:nvPr/>
        </p:nvSpPr>
        <p:spPr>
          <a:xfrm flipH="1">
            <a:off x="1936115" y="5291455"/>
            <a:ext cx="576263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64707" name="Line 67"/>
          <p:cNvSpPr/>
          <p:nvPr/>
        </p:nvSpPr>
        <p:spPr>
          <a:xfrm flipH="1">
            <a:off x="1936115" y="5796280"/>
            <a:ext cx="576263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64708" name="Line 68"/>
          <p:cNvSpPr/>
          <p:nvPr/>
        </p:nvSpPr>
        <p:spPr>
          <a:xfrm flipH="1">
            <a:off x="1864678" y="6443980"/>
            <a:ext cx="576262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64709" name="Line 69"/>
          <p:cNvSpPr/>
          <p:nvPr/>
        </p:nvSpPr>
        <p:spPr>
          <a:xfrm flipH="1">
            <a:off x="1864678" y="7020243"/>
            <a:ext cx="576262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" name="矩形 2"/>
          <p:cNvSpPr/>
          <p:nvPr/>
        </p:nvSpPr>
        <p:spPr>
          <a:xfrm>
            <a:off x="5257800" y="4343400"/>
            <a:ext cx="3671888" cy="83185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dirty="0">
                <a:solidFill>
                  <a:srgbClr val="FF0000"/>
                </a:solidFill>
                <a:ea typeface="黑体" panose="02010609060101010101" pitchFamily="49" charset="-122"/>
              </a:rPr>
              <a:t>打擂台</a:t>
            </a:r>
            <a:endParaRPr lang="zh-CN" altLang="en-US" sz="48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43800" y="5935345"/>
            <a:ext cx="4591050" cy="88455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课后实践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】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修改程序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使同时找出最大数和最小数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5" name="标题 4"/>
          <p:cNvSpPr/>
          <p:nvPr>
            <p:ph type="title"/>
          </p:nvPr>
        </p:nvSpPr>
        <p:spPr>
          <a:xfrm>
            <a:off x="-76200" y="-76200"/>
            <a:ext cx="7158355" cy="759460"/>
          </a:xfrm>
        </p:spPr>
        <p:txBody>
          <a:bodyPr/>
          <a:p>
            <a:pPr algn="l"/>
            <a:r>
              <a:rPr lang="zh-CN" altLang="en-US" sz="3200" b="1">
                <a:solidFill>
                  <a:srgbClr val="FFFF00"/>
                </a:solidFill>
              </a:rPr>
              <a:t>【课堂练习】求一组数中的最大数</a:t>
            </a:r>
            <a:endParaRPr lang="zh-CN" altLang="en-US" sz="3200" b="1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43">
                                            <p:txEl>
                                              <p:charRg st="7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43">
                                            <p:txEl>
                                              <p:charRg st="92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43">
                                            <p:txEl>
                                              <p:charRg st="121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43">
                                            <p:txEl>
                                              <p:charRg st="135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6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6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6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1264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26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" dur="500"/>
                                        <p:tgtEl>
                                          <p:spTgt spid="1264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6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26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12647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26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9" dur="500"/>
                                        <p:tgtEl>
                                          <p:spTgt spid="1264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26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12647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26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5" dur="500"/>
                                        <p:tgtEl>
                                          <p:spTgt spid="12647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26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12647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26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1" dur="500"/>
                                        <p:tgtEl>
                                          <p:spTgt spid="12647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26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9" dur="500"/>
                                        <p:tgtEl>
                                          <p:spTgt spid="12647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26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43">
                                            <p:txEl>
                                              <p:charRg st="155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643">
                                            <p:txEl>
                                              <p:charRg st="179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264643">
                                            <p:txEl>
                                              <p:charRg st="179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264643">
                                            <p:txEl>
                                              <p:charRg st="179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4643" grpId="0" uiExpand="1" build="p"/>
      <p:bldP spid="1264695" grpId="0" uiExpand="1"/>
      <p:bldP spid="1264699" grpId="0" bldLvl="0" animBg="1" uiExpand="1"/>
      <p:bldP spid="1264702" grpId="0" bldLvl="0" animBg="1" uiExpand="1"/>
      <p:bldP spid="3" grpId="0" bldLvl="0" animBg="1" uiExpand="1"/>
      <p:bldP spid="3" grpId="1" bldLvl="0" animBg="1" uiExpand="1"/>
      <p:bldP spid="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0" y="6300788"/>
            <a:ext cx="1048067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课后实践</a:t>
            </a: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】</a:t>
            </a:r>
            <a:r>
              <a:rPr lang="zh-CN" altLang="en-US" sz="2800" b="1" dirty="0">
                <a:ea typeface="黑体" panose="02010609060101010101" pitchFamily="49" charset="-122"/>
              </a:rPr>
              <a:t>找到一组数据中的最小数，并将其和 </a:t>
            </a:r>
            <a:r>
              <a:rPr lang="en-US" altLang="zh-CN" sz="2800" b="1" dirty="0">
                <a:ea typeface="黑体" panose="02010609060101010101" pitchFamily="49" charset="-122"/>
              </a:rPr>
              <a:t>d[0] </a:t>
            </a:r>
            <a:r>
              <a:rPr lang="zh-CN" altLang="en-US" sz="2800" b="1" dirty="0">
                <a:ea typeface="黑体" panose="02010609060101010101" pitchFamily="49" charset="-122"/>
              </a:rPr>
              <a:t>进行交换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53" name="灯片编号占位符 7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821F1E-463A-43AB-880F-AB1C0DC231C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66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4138" y="115888"/>
            <a:ext cx="7340600" cy="6121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#include &lt;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&gt;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#define  N  10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int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main( )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{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int d[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],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j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,k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;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//j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为最大元素下标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for(k=0;k&lt;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N;k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++)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  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("%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d",&amp;d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[k]);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j=0;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for(k=1;k&lt;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N;k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if(d[k]&gt;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d[j]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)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			j=k;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("max=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%d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\n",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d[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cs typeface="+mn-cs"/>
              </a:rPr>
              <a:t>j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Gungsuh" pitchFamily="18" charset="-127"/>
                <a:cs typeface="+mn-cs"/>
              </a:rPr>
              <a:t>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	return 0;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1266692" name="Group 4"/>
          <p:cNvGraphicFramePr>
            <a:graphicFrameLocks noGrp="1"/>
          </p:cNvGraphicFramePr>
          <p:nvPr>
            <p:ph sz="half" idx="1"/>
          </p:nvPr>
        </p:nvGraphicFramePr>
        <p:xfrm>
          <a:off x="7824788" y="333375"/>
          <a:ext cx="1511300" cy="4114804"/>
        </p:xfrm>
        <a:graphic>
          <a:graphicData uri="http://schemas.openxmlformats.org/drawingml/2006/table">
            <a:tbl>
              <a:tblPr/>
              <a:tblGrid>
                <a:gridCol w="1511300"/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d[0]: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d[1]: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d[2]: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d[3]: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d[4]: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d[5]: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d[6]: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d[7]: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d[8]: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d[9]: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66716" name="Group 28"/>
          <p:cNvGraphicFramePr>
            <a:graphicFrameLocks noGrp="1"/>
          </p:cNvGraphicFramePr>
          <p:nvPr>
            <p:ph sz="quarter" idx="1"/>
          </p:nvPr>
        </p:nvGraphicFramePr>
        <p:xfrm>
          <a:off x="7813675" y="333375"/>
          <a:ext cx="1511300" cy="4103690"/>
        </p:xfrm>
        <a:graphic>
          <a:graphicData uri="http://schemas.openxmlformats.org/drawingml/2006/table">
            <a:tbl>
              <a:tblPr/>
              <a:tblGrid>
                <a:gridCol w="1511300"/>
              </a:tblGrid>
              <a:tr h="410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d[0]:   61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4" marR="91424"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d[1]:   82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4" marR="91424"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d[2]:   73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4" marR="91424"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d[3]:   94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4" marR="91424"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d[4]:   65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4" marR="91424"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d[5]:   86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4" marR="91424"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d[6]:   57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4" marR="91424"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d[7]:   68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4" marR="91424"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d[8]:   79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4" marR="91424"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d[9]:   91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4" marR="91424"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66741" name="Rectangle 53"/>
          <p:cNvSpPr>
            <a:spLocks noGrp="1" noChangeArrowheads="1"/>
          </p:cNvSpPr>
          <p:nvPr>
            <p:ph type="title"/>
          </p:nvPr>
        </p:nvSpPr>
        <p:spPr>
          <a:xfrm>
            <a:off x="11363325" y="-12700"/>
            <a:ext cx="828675" cy="5949950"/>
          </a:xfrm>
          <a:solidFill>
            <a:schemeClr val="accent1"/>
          </a:soli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[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]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求一组数中的最大数</a:t>
            </a:r>
            <a:b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|</a:t>
            </a:r>
            <a:b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记录位置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Line 52"/>
          <p:cNvSpPr/>
          <p:nvPr/>
        </p:nvSpPr>
        <p:spPr>
          <a:xfrm>
            <a:off x="7104063" y="620713"/>
            <a:ext cx="647700" cy="0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8" name="Text Box 53"/>
          <p:cNvSpPr txBox="1"/>
          <p:nvPr/>
        </p:nvSpPr>
        <p:spPr>
          <a:xfrm>
            <a:off x="7104063" y="115888"/>
            <a:ext cx="43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j</a:t>
            </a:r>
            <a:endParaRPr lang="en-US" altLang="zh-CN" sz="24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9" name="Line 54"/>
          <p:cNvSpPr/>
          <p:nvPr/>
        </p:nvSpPr>
        <p:spPr>
          <a:xfrm>
            <a:off x="7104063" y="981075"/>
            <a:ext cx="6477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0" name="Line 55"/>
          <p:cNvSpPr/>
          <p:nvPr/>
        </p:nvSpPr>
        <p:spPr>
          <a:xfrm>
            <a:off x="7104063" y="1773238"/>
            <a:ext cx="6477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1" name="Text Box 53"/>
          <p:cNvSpPr txBox="1"/>
          <p:nvPr/>
        </p:nvSpPr>
        <p:spPr>
          <a:xfrm>
            <a:off x="7104063" y="549275"/>
            <a:ext cx="43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k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2" name="Line 52"/>
          <p:cNvSpPr/>
          <p:nvPr/>
        </p:nvSpPr>
        <p:spPr>
          <a:xfrm>
            <a:off x="7104063" y="1052513"/>
            <a:ext cx="647700" cy="0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3" name="Line 52"/>
          <p:cNvSpPr/>
          <p:nvPr/>
        </p:nvSpPr>
        <p:spPr>
          <a:xfrm>
            <a:off x="7104063" y="1844675"/>
            <a:ext cx="647700" cy="0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4" name="Line 55"/>
          <p:cNvSpPr/>
          <p:nvPr/>
        </p:nvSpPr>
        <p:spPr>
          <a:xfrm>
            <a:off x="7104063" y="1412875"/>
            <a:ext cx="6477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5" name="Line 55"/>
          <p:cNvSpPr/>
          <p:nvPr/>
        </p:nvSpPr>
        <p:spPr>
          <a:xfrm>
            <a:off x="7104063" y="2205038"/>
            <a:ext cx="6477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6" name="Line 55"/>
          <p:cNvSpPr/>
          <p:nvPr/>
        </p:nvSpPr>
        <p:spPr>
          <a:xfrm>
            <a:off x="7104063" y="2636838"/>
            <a:ext cx="6477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7" name="Line 55"/>
          <p:cNvSpPr/>
          <p:nvPr/>
        </p:nvSpPr>
        <p:spPr>
          <a:xfrm>
            <a:off x="7104063" y="2997200"/>
            <a:ext cx="6477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8" name="Line 55"/>
          <p:cNvSpPr/>
          <p:nvPr/>
        </p:nvSpPr>
        <p:spPr>
          <a:xfrm>
            <a:off x="7104063" y="3429000"/>
            <a:ext cx="6477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9" name="Line 55"/>
          <p:cNvSpPr/>
          <p:nvPr/>
        </p:nvSpPr>
        <p:spPr>
          <a:xfrm>
            <a:off x="7104063" y="3789363"/>
            <a:ext cx="6477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0" name="Line 55"/>
          <p:cNvSpPr/>
          <p:nvPr/>
        </p:nvSpPr>
        <p:spPr>
          <a:xfrm>
            <a:off x="7104063" y="4221163"/>
            <a:ext cx="6477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1" name="Line 55"/>
          <p:cNvSpPr/>
          <p:nvPr/>
        </p:nvSpPr>
        <p:spPr>
          <a:xfrm>
            <a:off x="7104063" y="4652963"/>
            <a:ext cx="6477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1573" name="矩形 1"/>
          <p:cNvSpPr/>
          <p:nvPr/>
        </p:nvSpPr>
        <p:spPr>
          <a:xfrm>
            <a:off x="6959600" y="6181725"/>
            <a:ext cx="1728788" cy="4000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9324975" y="5873750"/>
            <a:ext cx="197802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  <a:hlinkClick r:id="rId1" action="ppaction://hlinksldjump"/>
              </a:rPr>
              <a:t>数组排序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00380" y="3751580"/>
            <a:ext cx="4192270" cy="9017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ctr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8000" b="1" dirty="0">
                <a:solidFill>
                  <a:srgbClr val="FF0000"/>
                </a:solidFill>
                <a:ea typeface="黑体" panose="02010609060101010101" pitchFamily="49" charset="-122"/>
              </a:rPr>
              <a:t>？？？</a:t>
            </a:r>
            <a:endParaRPr lang="zh-CN" altLang="en-US" sz="80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1">
                                            <p:txEl>
                                              <p:charRg st="8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6691">
                                            <p:txEl>
                                              <p:charRg st="80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1">
                                            <p:txEl>
                                              <p:charRg st="101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66691">
                                            <p:txEl>
                                              <p:charRg st="101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66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1">
                                            <p:txEl>
                                              <p:charRg st="128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1">
                                            <p:txEl>
                                              <p:charRg st="136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66691">
                                            <p:txEl>
                                              <p:charRg st="136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66691">
                                            <p:txEl>
                                              <p:charRg st="136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1">
                                            <p:txEl>
                                              <p:charRg st="156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266691">
                                            <p:txEl>
                                              <p:charRg st="156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266691">
                                            <p:txEl>
                                              <p:charRg st="156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1">
                                            <p:txEl>
                                              <p:charRg st="180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266691">
                                            <p:txEl>
                                              <p:charRg st="180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266691">
                                            <p:txEl>
                                              <p:charRg st="180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266691" grpId="0" uiExpand="1" build="p"/>
      <p:bldP spid="8" grpId="0" uiExpand="1"/>
      <p:bldP spid="11" grpId="0" uiExpand="1"/>
      <p:bldP spid="2" grpId="0"/>
      <p:bldP spid="24" grpId="0" bldLvl="0" animBg="1" uiExpand="1"/>
      <p:bldP spid="24" grpId="1" bldLvl="0" animBg="1" uiExpan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2BB05C-8D99-4D81-A0F9-60764635C89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8738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76200"/>
            <a:ext cx="7715250" cy="8953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一维数组的</a:t>
            </a: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+mj-ea"/>
                <a:cs typeface="+mj-cs"/>
              </a:rPr>
              <a:t>初始化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隶书" panose="02010509060101010101" pitchFamily="49" charset="-122"/>
              <a:ea typeface="+mj-ea"/>
              <a:cs typeface="+mj-cs"/>
            </a:endParaRPr>
          </a:p>
        </p:txBody>
      </p:sp>
      <p:sp>
        <p:nvSpPr>
          <p:cNvPr id="1268739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143000"/>
            <a:ext cx="10691495" cy="5416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被赋以初值的数组在程序开始执行时，便取得了相应初值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data[4];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未赋值时，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data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的元素值？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全局：均为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； 局部：不确定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data[4]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={9,8,1,3}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data[4]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={0,3}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  //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相当于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data[4]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={0,3,0,0}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data[ ]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={1,2,3,4,5}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  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长度为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5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int data[5]={1,2,3,4,5</a:t>
            </a:r>
            <a:r>
              <a:rPr lang="en-US" altLang="zh-CN" sz="2800" b="1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sym typeface="+mn-ea"/>
              </a:rPr>
              <a:t>,6,7,8,9</a:t>
            </a:r>
            <a:r>
              <a:rPr lang="en-US" altLang="zh-CN" sz="28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} ; //</a:t>
            </a:r>
            <a:r>
              <a:rPr lang="zh-CN" altLang="en-US" sz="2800" b="1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不建议，有些环境下认为是错误</a:t>
            </a:r>
            <a:endParaRPr lang="en-US" altLang="zh-CN" sz="2800" b="1" noProof="0" dirty="0">
              <a:ln>
                <a:noFill/>
              </a:ln>
              <a:solidFill>
                <a:schemeClr val="hlink"/>
              </a:solidFill>
              <a:uLnTx/>
              <a:uFillTx/>
              <a:latin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data[4]=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{0}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初始化为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memset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a,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,sizeof(a)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*按字节快速初始化整类型数组为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0(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int,char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，需括入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string.h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2533" name="矩形 1"/>
          <p:cNvSpPr/>
          <p:nvPr/>
        </p:nvSpPr>
        <p:spPr>
          <a:xfrm>
            <a:off x="7824788" y="2544763"/>
            <a:ext cx="2232025" cy="4000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39">
                                            <p:txEl>
                                              <p:charRg st="74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39">
                                            <p:txEl>
                                              <p:charRg st="99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39">
                                            <p:txEl>
                                              <p:charRg st="153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610600" y="6324600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F976E8-8416-4263-BE2B-E60AC2D5E7B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9763" name="Rectangle 3"/>
          <p:cNvSpPr>
            <a:spLocks noGrp="1" noChangeArrowheads="1"/>
          </p:cNvSpPr>
          <p:nvPr>
            <p:ph type="title"/>
          </p:nvPr>
        </p:nvSpPr>
        <p:spPr>
          <a:xfrm>
            <a:off x="4835525" y="1524000"/>
            <a:ext cx="3098800" cy="1520825"/>
          </a:xfrm>
          <a:ln>
            <a:solidFill>
              <a:schemeClr val="tx2"/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g[0]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g[1]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的值通过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数组初始化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得到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26976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2225" y="746125"/>
            <a:ext cx="5568950" cy="5959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main(){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i;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g[20]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={1,1}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for(i=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;i&lt;20;i++)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g[i]=g[i-2]+g[i-1];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for(i=0;i&lt;20;i++)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{  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if(i%5==0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&amp;&amp;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!=0)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("\n");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-5d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",g[i]);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return 0;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69846" name="Group 86"/>
          <p:cNvGraphicFramePr>
            <a:graphicFrameLocks noGrp="1"/>
          </p:cNvGraphicFramePr>
          <p:nvPr>
            <p:ph sz="half" idx="1"/>
          </p:nvPr>
        </p:nvGraphicFramePr>
        <p:xfrm>
          <a:off x="4008438" y="534988"/>
          <a:ext cx="6408738" cy="517525"/>
        </p:xfrm>
        <a:graphic>
          <a:graphicData uri="http://schemas.openxmlformats.org/drawingml/2006/table">
            <a:tbl>
              <a:tblPr/>
              <a:tblGrid>
                <a:gridCol w="492125"/>
                <a:gridCol w="492125"/>
                <a:gridCol w="493712"/>
                <a:gridCol w="496888"/>
                <a:gridCol w="488950"/>
                <a:gridCol w="495300"/>
                <a:gridCol w="490537"/>
                <a:gridCol w="495300"/>
                <a:gridCol w="488950"/>
                <a:gridCol w="496888"/>
                <a:gridCol w="493712"/>
                <a:gridCol w="492125"/>
                <a:gridCol w="492125"/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269831" name="Line 71"/>
          <p:cNvSpPr/>
          <p:nvPr/>
        </p:nvSpPr>
        <p:spPr>
          <a:xfrm flipV="1">
            <a:off x="5232400" y="1052513"/>
            <a:ext cx="0" cy="360362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269832" name="Text Box 72"/>
          <p:cNvSpPr txBox="1"/>
          <p:nvPr/>
        </p:nvSpPr>
        <p:spPr>
          <a:xfrm>
            <a:off x="5016500" y="549275"/>
            <a:ext cx="360363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2</a:t>
            </a:r>
            <a:endParaRPr lang="en-US" altLang="zh-CN" sz="24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269835" name="Line 75"/>
          <p:cNvSpPr/>
          <p:nvPr/>
        </p:nvSpPr>
        <p:spPr>
          <a:xfrm flipV="1">
            <a:off x="5735638" y="1052513"/>
            <a:ext cx="0" cy="360362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269836" name="Text Box 76"/>
          <p:cNvSpPr txBox="1"/>
          <p:nvPr/>
        </p:nvSpPr>
        <p:spPr>
          <a:xfrm>
            <a:off x="5519738" y="549275"/>
            <a:ext cx="360362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3</a:t>
            </a:r>
            <a:endParaRPr lang="en-US" altLang="zh-CN" sz="24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269839" name="Line 79"/>
          <p:cNvSpPr/>
          <p:nvPr/>
        </p:nvSpPr>
        <p:spPr>
          <a:xfrm flipV="1">
            <a:off x="6275705" y="1052513"/>
            <a:ext cx="0" cy="360362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7690" name="Text Box 83"/>
          <p:cNvSpPr txBox="1"/>
          <p:nvPr/>
        </p:nvSpPr>
        <p:spPr>
          <a:xfrm>
            <a:off x="6959600" y="1125538"/>
            <a:ext cx="863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1269848" name="Line 88"/>
          <p:cNvSpPr/>
          <p:nvPr/>
        </p:nvSpPr>
        <p:spPr>
          <a:xfrm flipV="1">
            <a:off x="10128250" y="1056640"/>
            <a:ext cx="0" cy="360363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" name="圆角矩形 1"/>
          <p:cNvSpPr/>
          <p:nvPr/>
        </p:nvSpPr>
        <p:spPr>
          <a:xfrm>
            <a:off x="1987550" y="2509838"/>
            <a:ext cx="2593975" cy="4413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27693" name="矩形 2"/>
          <p:cNvSpPr/>
          <p:nvPr/>
        </p:nvSpPr>
        <p:spPr>
          <a:xfrm>
            <a:off x="-228600" y="-61912"/>
            <a:ext cx="90360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solidFill>
                  <a:srgbClr val="FFC000"/>
                </a:solidFill>
                <a:ea typeface="隶书" panose="020105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ea typeface="隶书" panose="02010509060101010101" pitchFamily="49" charset="-122"/>
              </a:rPr>
              <a:t>课堂练习</a:t>
            </a:r>
            <a:r>
              <a:rPr lang="en-US" altLang="zh-CN" sz="2800" b="1" dirty="0">
                <a:solidFill>
                  <a:srgbClr val="FFC000"/>
                </a:solidFill>
                <a:ea typeface="隶书" panose="02010509060101010101" pitchFamily="49" charset="-122"/>
              </a:rPr>
              <a:t>】</a:t>
            </a:r>
            <a:r>
              <a:rPr lang="zh-CN" altLang="en-US" sz="2800" b="1" dirty="0">
                <a:solidFill>
                  <a:srgbClr val="FFC000"/>
                </a:solidFill>
                <a:ea typeface="隶书" panose="02010509060101010101" pitchFamily="49" charset="-122"/>
              </a:rPr>
              <a:t>用数组求斐波那契数列的前</a:t>
            </a:r>
            <a:r>
              <a:rPr lang="en-US" altLang="zh-CN" sz="2800" b="1" dirty="0">
                <a:solidFill>
                  <a:srgbClr val="FFC000"/>
                </a:solidFill>
                <a:ea typeface="隶书" panose="02010509060101010101" pitchFamily="49" charset="-122"/>
              </a:rPr>
              <a:t>20</a:t>
            </a:r>
            <a:r>
              <a:rPr lang="zh-CN" altLang="en-US" sz="2800" b="1" dirty="0">
                <a:solidFill>
                  <a:srgbClr val="FFC000"/>
                </a:solidFill>
                <a:ea typeface="隶书" panose="02010509060101010101" pitchFamily="49" charset="-122"/>
              </a:rPr>
              <a:t>项并输出。</a:t>
            </a:r>
            <a:endParaRPr lang="zh-CN" altLang="en-US" sz="2800" b="1" dirty="0">
              <a:solidFill>
                <a:srgbClr val="FFC000"/>
              </a:solidFill>
              <a:ea typeface="隶书" panose="02010509060101010101" pitchFamily="49" charset="-122"/>
            </a:endParaRPr>
          </a:p>
        </p:txBody>
      </p:sp>
      <p:sp>
        <p:nvSpPr>
          <p:cNvPr id="18" name="Line 88"/>
          <p:cNvSpPr/>
          <p:nvPr/>
        </p:nvSpPr>
        <p:spPr>
          <a:xfrm flipV="1">
            <a:off x="10561638" y="1056640"/>
            <a:ext cx="0" cy="360363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sp>
      <p:pic>
        <p:nvPicPr>
          <p:cNvPr id="27695" name="图片 3"/>
          <p:cNvPicPr>
            <a:picLocks noChangeAspect="1"/>
          </p:cNvPicPr>
          <p:nvPr/>
        </p:nvPicPr>
        <p:blipFill>
          <a:blip r:embed="rId1"/>
          <a:srcRect t="23016" b="3024"/>
          <a:stretch>
            <a:fillRect/>
          </a:stretch>
        </p:blipFill>
        <p:spPr>
          <a:xfrm>
            <a:off x="6273800" y="3890963"/>
            <a:ext cx="4394200" cy="12620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2">
                                            <p:txEl>
                                              <p:charRg st="3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6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6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12698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69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69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12698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69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12698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6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2">
                                            <p:txEl>
                                              <p:charRg st="6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2">
                                            <p:txEl>
                                              <p:charRg st="81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2">
                                            <p:txEl>
                                              <p:charRg st="103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269762">
                                            <p:txEl>
                                              <p:charRg st="103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2">
                                            <p:txEl>
                                              <p:charRg st="182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269762">
                                            <p:txEl>
                                              <p:charRg st="182" end="2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2">
                                            <p:txEl>
                                              <p:charRg st="205" end="2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269762">
                                            <p:txEl>
                                              <p:charRg st="205" end="2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2">
                                            <p:txEl>
                                              <p:charRg st="125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269762">
                                            <p:txEl>
                                              <p:charRg st="125" end="1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2">
                                            <p:txEl>
                                              <p:charRg st="134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269762">
                                            <p:txEl>
                                              <p:charRg st="134" end="1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2">
                                            <p:txEl>
                                              <p:charRg st="154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269762">
                                            <p:txEl>
                                              <p:charRg st="154" end="1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63" grpId="0" bldLvl="0" animBg="1"/>
      <p:bldP spid="1269832" grpId="0" bldLvl="0" animBg="1"/>
      <p:bldP spid="1269836" grpId="0" bldLvl="0" animBg="1"/>
      <p:bldP spid="2" grpId="0" bldLvl="0" animBg="1"/>
      <p:bldP spid="2" grpId="1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8E6B85-3F08-496F-8391-D176D005DBE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70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677988"/>
            <a:ext cx="10644188" cy="51847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#include &lt;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&gt;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#define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7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int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main( )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{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		int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i,t,g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] = {2,4,6,8,5,3,1}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		for(i=0;i&lt;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N/2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;i++)//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颠倒顺序  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   		{ t=g[i];  g[i]=g[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-1-i];  g[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-1-i]=t; 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		for(i=0;i&lt;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;i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++) //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输出颠倒顺序后的数组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("%d ",g[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]);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	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return 0;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707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225"/>
            <a:ext cx="8902700" cy="6000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课堂练习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将数组中的数颠倒顺序存放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70788" name="Group 4"/>
          <p:cNvGraphicFramePr>
            <a:graphicFrameLocks noGrp="1"/>
          </p:cNvGraphicFramePr>
          <p:nvPr>
            <p:ph sz="half" idx="1"/>
          </p:nvPr>
        </p:nvGraphicFramePr>
        <p:xfrm>
          <a:off x="6096000" y="758825"/>
          <a:ext cx="4038600" cy="604838"/>
        </p:xfrm>
        <a:graphic>
          <a:graphicData uri="http://schemas.openxmlformats.org/drawingml/2006/table">
            <a:tbl>
              <a:tblPr/>
              <a:tblGrid>
                <a:gridCol w="577850"/>
                <a:gridCol w="576263"/>
                <a:gridCol w="576262"/>
                <a:gridCol w="577850"/>
                <a:gridCol w="576263"/>
                <a:gridCol w="576262"/>
                <a:gridCol w="577850"/>
              </a:tblGrid>
              <a:tr h="604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695" name="Text Box 23"/>
          <p:cNvSpPr txBox="1"/>
          <p:nvPr/>
        </p:nvSpPr>
        <p:spPr>
          <a:xfrm>
            <a:off x="5011738" y="822325"/>
            <a:ext cx="10064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FF00"/>
                </a:solidFill>
                <a:latin typeface="Arial" panose="020B0604020202020204" pitchFamily="34" charset="0"/>
              </a:rPr>
              <a:t>int g[N]</a:t>
            </a:r>
            <a:endParaRPr lang="en-US" altLang="zh-CN" sz="20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270808" name="Line 24"/>
          <p:cNvSpPr/>
          <p:nvPr/>
        </p:nvSpPr>
        <p:spPr>
          <a:xfrm flipV="1">
            <a:off x="6307138" y="1363663"/>
            <a:ext cx="0" cy="50323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8697" name="Text Box 25"/>
          <p:cNvSpPr txBox="1"/>
          <p:nvPr/>
        </p:nvSpPr>
        <p:spPr>
          <a:xfrm>
            <a:off x="5732463" y="1435100"/>
            <a:ext cx="2159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i</a:t>
            </a:r>
            <a:endParaRPr lang="en-US" altLang="zh-CN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270810" name="Line 26"/>
          <p:cNvSpPr/>
          <p:nvPr/>
        </p:nvSpPr>
        <p:spPr>
          <a:xfrm flipV="1">
            <a:off x="6883400" y="1363663"/>
            <a:ext cx="0" cy="50323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270811" name="Line 27"/>
          <p:cNvSpPr/>
          <p:nvPr/>
        </p:nvSpPr>
        <p:spPr>
          <a:xfrm flipV="1">
            <a:off x="7459663" y="1363663"/>
            <a:ext cx="0" cy="50323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270813" name="Line 29"/>
          <p:cNvSpPr/>
          <p:nvPr/>
        </p:nvSpPr>
        <p:spPr>
          <a:xfrm flipV="1">
            <a:off x="8035925" y="1363663"/>
            <a:ext cx="0" cy="50323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270814" name="Text Box 30"/>
          <p:cNvSpPr txBox="1"/>
          <p:nvPr/>
        </p:nvSpPr>
        <p:spPr>
          <a:xfrm>
            <a:off x="6164263" y="858838"/>
            <a:ext cx="358775" cy="366712"/>
          </a:xfrm>
          <a:prstGeom prst="rect">
            <a:avLst/>
          </a:prstGeom>
          <a:solidFill>
            <a:srgbClr val="074473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endParaRPr lang="en-US" altLang="zh-CN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270834" name="Text Box 50"/>
          <p:cNvSpPr txBox="1"/>
          <p:nvPr/>
        </p:nvSpPr>
        <p:spPr>
          <a:xfrm>
            <a:off x="9620250" y="858838"/>
            <a:ext cx="358775" cy="366712"/>
          </a:xfrm>
          <a:prstGeom prst="rect">
            <a:avLst/>
          </a:prstGeom>
          <a:solidFill>
            <a:srgbClr val="052A57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2</a:t>
            </a:r>
            <a:endParaRPr lang="en-US" altLang="zh-CN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270835" name="Text Box 51"/>
          <p:cNvSpPr txBox="1"/>
          <p:nvPr/>
        </p:nvSpPr>
        <p:spPr>
          <a:xfrm>
            <a:off x="6740525" y="858838"/>
            <a:ext cx="358775" cy="366712"/>
          </a:xfrm>
          <a:prstGeom prst="rect">
            <a:avLst/>
          </a:prstGeom>
          <a:solidFill>
            <a:srgbClr val="073F6E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3</a:t>
            </a:r>
            <a:endParaRPr lang="en-US" altLang="zh-CN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270836" name="Text Box 52"/>
          <p:cNvSpPr txBox="1"/>
          <p:nvPr/>
        </p:nvSpPr>
        <p:spPr>
          <a:xfrm>
            <a:off x="9043988" y="858838"/>
            <a:ext cx="358775" cy="366712"/>
          </a:xfrm>
          <a:prstGeom prst="rect">
            <a:avLst/>
          </a:prstGeom>
          <a:solidFill>
            <a:srgbClr val="042F59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4</a:t>
            </a:r>
            <a:endParaRPr lang="en-US" altLang="zh-CN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270837" name="Text Box 53"/>
          <p:cNvSpPr txBox="1"/>
          <p:nvPr/>
        </p:nvSpPr>
        <p:spPr>
          <a:xfrm>
            <a:off x="7315200" y="858838"/>
            <a:ext cx="358775" cy="366712"/>
          </a:xfrm>
          <a:prstGeom prst="rect">
            <a:avLst/>
          </a:prstGeom>
          <a:solidFill>
            <a:srgbClr val="063A6A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5</a:t>
            </a:r>
            <a:endParaRPr lang="en-US" altLang="zh-CN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270838" name="Text Box 54"/>
          <p:cNvSpPr txBox="1"/>
          <p:nvPr/>
        </p:nvSpPr>
        <p:spPr>
          <a:xfrm>
            <a:off x="8467725" y="858838"/>
            <a:ext cx="358775" cy="366712"/>
          </a:xfrm>
          <a:prstGeom prst="rect">
            <a:avLst/>
          </a:prstGeom>
          <a:solidFill>
            <a:srgbClr val="04345C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</a:rPr>
              <a:t>6</a:t>
            </a:r>
            <a:endParaRPr lang="en-US" altLang="zh-CN" sz="18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5" name="线形标注 1 4"/>
          <p:cNvSpPr/>
          <p:nvPr/>
        </p:nvSpPr>
        <p:spPr>
          <a:xfrm>
            <a:off x="4648200" y="2005013"/>
            <a:ext cx="7289800" cy="1385887"/>
          </a:xfrm>
          <a:prstGeom prst="borderCallout1">
            <a:avLst>
              <a:gd name="adj1" fmla="val 102097"/>
              <a:gd name="adj2" fmla="val 40583"/>
              <a:gd name="adj3" fmla="val 153310"/>
              <a:gd name="adj4" fmla="val 47551"/>
            </a:avLst>
          </a:prstGeom>
          <a:solidFill>
            <a:schemeClr val="accent1"/>
          </a:solidFill>
          <a:ln w="349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思考</a:t>
            </a: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】</a:t>
            </a:r>
            <a:endParaRPr lang="en-US" altLang="zh-CN" sz="2800" b="1" dirty="0">
              <a:solidFill>
                <a:srgbClr val="FFC000"/>
              </a:solidFill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ea typeface="黑体" panose="02010609060101010101" pitchFamily="49" charset="-122"/>
              </a:rPr>
              <a:t>如果改成</a:t>
            </a:r>
            <a:r>
              <a:rPr lang="en-US" altLang="zh-CN" sz="2800" b="1" dirty="0">
                <a:ea typeface="黑体" panose="02010609060101010101" pitchFamily="49" charset="-122"/>
              </a:rPr>
              <a:t>for(i=0;i&lt;N;i++),</a:t>
            </a:r>
            <a:r>
              <a:rPr lang="zh-CN" altLang="en-US" sz="2800" b="1" dirty="0">
                <a:ea typeface="黑体" panose="02010609060101010101" pitchFamily="49" charset="-122"/>
              </a:rPr>
              <a:t>输出结果？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ea typeface="黑体" panose="02010609060101010101" pitchFamily="49" charset="-122"/>
              </a:rPr>
              <a:t>如果</a:t>
            </a:r>
            <a:r>
              <a:rPr lang="en-US" altLang="zh-CN" sz="2800" b="1" dirty="0">
                <a:ea typeface="黑体" panose="02010609060101010101" pitchFamily="49" charset="-122"/>
              </a:rPr>
              <a:t>N</a:t>
            </a:r>
            <a:r>
              <a:rPr lang="zh-CN" altLang="en-US" sz="2800" b="1" dirty="0">
                <a:ea typeface="黑体" panose="02010609060101010101" pitchFamily="49" charset="-122"/>
              </a:rPr>
              <a:t>是偶数，此算法是否依然有效？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28708" name="矩形 1"/>
          <p:cNvSpPr/>
          <p:nvPr/>
        </p:nvSpPr>
        <p:spPr>
          <a:xfrm>
            <a:off x="925513" y="3849688"/>
            <a:ext cx="8904287" cy="1049337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7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2708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70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7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7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12708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70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27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7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" dur="500"/>
                                        <p:tgtEl>
                                          <p:spTgt spid="1270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270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charRg st="84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charRg st="119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5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3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814" grpId="0" bldLvl="0" animBg="1"/>
      <p:bldP spid="1270834" grpId="0" bldLvl="0" animBg="1"/>
      <p:bldP spid="1270835" grpId="0" bldLvl="0" animBg="1"/>
      <p:bldP spid="1270836" grpId="0" bldLvl="0" animBg="1"/>
      <p:bldP spid="1270837" grpId="0" bldLvl="0" animBg="1"/>
      <p:bldP spid="1270838" grpId="0" bldLvl="0" animBg="1"/>
      <p:bldP spid="5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06CD97-E502-4D29-9555-E6AA1CBE871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939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73355" y="1184275"/>
            <a:ext cx="7757160" cy="450723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#include &lt;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&gt;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#define N 7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main(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{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		int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i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j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,t ,g[N]={2,4,6,8,5,3,1};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	for(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i=0,j=N-1;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i&lt;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j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;i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++,j--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    		{t=g[i];g[i]=g[j];g[j]=t;}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		for(i=0;i&lt;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N;i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++)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    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("%d ",g[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]);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		return 0;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9395" name="Rectangle 3"/>
          <p:cNvSpPr>
            <a:spLocks noGrp="1" noChangeArrowheads="1"/>
          </p:cNvSpPr>
          <p:nvPr>
            <p:ph type="title"/>
          </p:nvPr>
        </p:nvSpPr>
        <p:spPr>
          <a:xfrm>
            <a:off x="-152400" y="76835"/>
            <a:ext cx="8794750" cy="62992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【思考】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课后实践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如下程序实现什么功能？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37C5F6-22D1-4B8A-A732-77C78D09322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标题 5"/>
          <p:cNvSpPr/>
          <p:nvPr>
            <p:ph type="title"/>
          </p:nvPr>
        </p:nvSpPr>
        <p:spPr>
          <a:xfrm>
            <a:off x="6858000" y="53340"/>
            <a:ext cx="5290185" cy="2165350"/>
          </a:xfrm>
        </p:spPr>
        <p:txBody>
          <a:bodyPr/>
          <a:p>
            <a:pPr algn="l"/>
            <a:r>
              <a:rPr lang="zh-CN" altLang="en-US" sz="3200" b="1">
                <a:solidFill>
                  <a:srgbClr val="FFC000"/>
                </a:solidFill>
              </a:rPr>
              <a:t>【思考】【课后实践】</a:t>
            </a:r>
            <a:br>
              <a:rPr lang="zh-CN" altLang="en-US" sz="3200" b="1">
                <a:solidFill>
                  <a:srgbClr val="FFC000"/>
                </a:solidFill>
              </a:rPr>
            </a:br>
            <a:r>
              <a:rPr lang="en-US" altLang="zh-CN" sz="3200" b="1">
                <a:solidFill>
                  <a:srgbClr val="FFC000"/>
                </a:solidFill>
              </a:rPr>
              <a:t>1.</a:t>
            </a:r>
            <a:r>
              <a:rPr lang="zh-CN" altLang="en-US" sz="3200" b="1">
                <a:solidFill>
                  <a:srgbClr val="FFC000"/>
                </a:solidFill>
              </a:rPr>
              <a:t>程序运行结果？</a:t>
            </a:r>
            <a:br>
              <a:rPr lang="zh-CN" altLang="en-US" sz="3200" b="1">
                <a:solidFill>
                  <a:srgbClr val="FFC000"/>
                </a:solidFill>
              </a:rPr>
            </a:br>
            <a:r>
              <a:rPr lang="en-US" altLang="zh-CN" sz="3200" b="1">
                <a:solidFill>
                  <a:srgbClr val="FFC000"/>
                </a:solidFill>
              </a:rPr>
              <a:t>2.j++</a:t>
            </a:r>
            <a:r>
              <a:rPr lang="zh-CN" altLang="en-US" sz="3200" b="1">
                <a:solidFill>
                  <a:srgbClr val="FFC000"/>
                </a:solidFill>
              </a:rPr>
              <a:t>和</a:t>
            </a:r>
            <a:r>
              <a:rPr lang="en-US" altLang="zh-CN" sz="3200" b="1">
                <a:solidFill>
                  <a:srgbClr val="FFC000"/>
                </a:solidFill>
              </a:rPr>
              <a:t>k++</a:t>
            </a:r>
            <a:r>
              <a:rPr lang="zh-CN" altLang="en-US" sz="3200" b="1">
                <a:solidFill>
                  <a:srgbClr val="FFC000"/>
                </a:solidFill>
              </a:rPr>
              <a:t>在此程序中起到</a:t>
            </a:r>
            <a:r>
              <a:rPr lang="zh-CN" altLang="en-US" sz="3200" b="1">
                <a:solidFill>
                  <a:srgbClr val="FFC000"/>
                </a:solidFill>
              </a:rPr>
              <a:t>什么作用？</a:t>
            </a:r>
            <a:endParaRPr lang="zh-CN" altLang="en-US" sz="3200" b="1">
              <a:solidFill>
                <a:srgbClr val="FFC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5800" y="76200"/>
            <a:ext cx="5935345" cy="6369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>
                <a:solidFill>
                  <a:schemeClr val="tx1"/>
                </a:solidFill>
              </a:rPr>
              <a:t>#include&lt;stdio.h&gt;</a:t>
            </a:r>
            <a:endParaRPr lang="zh-CN" altLang="en-US" sz="1800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chemeClr val="tx1"/>
                </a:solidFill>
              </a:rPr>
              <a:t>int main()</a:t>
            </a:r>
            <a:endParaRPr lang="zh-CN" altLang="en-US" sz="1800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chemeClr val="tx1"/>
                </a:solidFill>
              </a:rPr>
              <a:t>{</a:t>
            </a:r>
            <a:endParaRPr lang="zh-CN" altLang="en-US" sz="18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int n,i,</a:t>
            </a:r>
            <a:r>
              <a:rPr lang="zh-CN" altLang="en-US" sz="2400">
                <a:solidFill>
                  <a:srgbClr val="FFFF00"/>
                </a:solidFill>
              </a:rPr>
              <a:t>j=0,k=0</a:t>
            </a:r>
            <a:r>
              <a:rPr lang="zh-CN" altLang="en-US" sz="2400">
                <a:solidFill>
                  <a:schemeClr val="tx1"/>
                </a:solidFill>
              </a:rPr>
              <a:t>,x;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scanf("%d",&amp;n);//输入数组尺寸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int a[n],b[n];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for(i=0;i&lt;n;i++)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{    scanf("%d",&amp;x);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   </a:t>
            </a:r>
            <a:r>
              <a:rPr lang="en-US" altLang="zh-CN" sz="2400">
                <a:solidFill>
                  <a:schemeClr val="tx1"/>
                </a:solidFill>
              </a:rPr>
              <a:t>	</a:t>
            </a:r>
            <a:r>
              <a:rPr lang="zh-CN" altLang="en-US" sz="2400">
                <a:solidFill>
                  <a:schemeClr val="tx1"/>
                </a:solidFill>
              </a:rPr>
              <a:t>if(x%2==0)    </a:t>
            </a:r>
            <a:r>
              <a:rPr lang="zh-CN" altLang="en-US" sz="2400">
                <a:solidFill>
                  <a:srgbClr val="FFFF00"/>
                </a:solidFill>
              </a:rPr>
              <a:t>a[j++]</a:t>
            </a:r>
            <a:r>
              <a:rPr lang="zh-CN" altLang="en-US" sz="2400">
                <a:solidFill>
                  <a:schemeClr val="tx1"/>
                </a:solidFill>
              </a:rPr>
              <a:t>=x;</a:t>
            </a:r>
            <a:r>
              <a:rPr lang="en-US" altLang="zh-CN" sz="2400">
                <a:solidFill>
                  <a:schemeClr val="tx1"/>
                </a:solidFill>
              </a:rPr>
              <a:t>  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   </a:t>
            </a:r>
            <a:r>
              <a:rPr lang="en-US" altLang="zh-CN" sz="2400">
                <a:solidFill>
                  <a:schemeClr val="tx1"/>
                </a:solidFill>
              </a:rPr>
              <a:t>	</a:t>
            </a:r>
            <a:r>
              <a:rPr lang="zh-CN" altLang="en-US" sz="2400">
                <a:solidFill>
                  <a:schemeClr val="tx1"/>
                </a:solidFill>
              </a:rPr>
              <a:t>else    </a:t>
            </a:r>
            <a:r>
              <a:rPr lang="zh-CN" altLang="en-US" sz="2400">
                <a:solidFill>
                  <a:srgbClr val="FFFF00"/>
                </a:solidFill>
              </a:rPr>
              <a:t>b[k++]</a:t>
            </a:r>
            <a:r>
              <a:rPr lang="zh-CN" altLang="en-US" sz="2400">
                <a:solidFill>
                  <a:schemeClr val="tx1"/>
                </a:solidFill>
              </a:rPr>
              <a:t>=x;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}   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for(i=0;i&lt;j;i++)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    printf("%d ",a[i]);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printf("\n");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for(i=0;i&lt;k;i++)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     printf("%d ",b[i]);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  </a:t>
            </a:r>
            <a:r>
              <a:rPr lang="zh-CN" altLang="en-US" sz="1800">
                <a:solidFill>
                  <a:schemeClr val="tx1"/>
                </a:solidFill>
              </a:rPr>
              <a:t> return 0;</a:t>
            </a:r>
            <a:endParaRPr lang="zh-CN" altLang="en-US" sz="1800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chemeClr val="tx1"/>
                </a:solidFill>
              </a:rPr>
              <a:t>}</a:t>
            </a:r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FD035-A3E0-4418-A477-7CA27541CD9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42146" name="Rectangle 2"/>
          <p:cNvSpPr>
            <a:spLocks noGrp="1" noChangeArrowheads="1"/>
          </p:cNvSpPr>
          <p:nvPr>
            <p:ph idx="1"/>
          </p:nvPr>
        </p:nvSpPr>
        <p:spPr>
          <a:xfrm>
            <a:off x="2279650" y="2420938"/>
            <a:ext cx="5867400" cy="2016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lang="en-US" altLang="zh-CN" sz="3200" b="1" noProof="0" dirty="0">
                <a:ln>
                  <a:noFill/>
                </a:ln>
                <a:uLnTx/>
                <a:uFillTx/>
                <a:sym typeface="+mn-ea"/>
                <a:hlinkClick r:id="" action="ppaction://noaction"/>
              </a:rPr>
              <a:t>【</a:t>
            </a:r>
            <a:r>
              <a:rPr lang="zh-CN" altLang="en-US" sz="3200" b="1" noProof="0" dirty="0">
                <a:ln>
                  <a:noFill/>
                </a:ln>
                <a:uLnTx/>
                <a:uFillTx/>
                <a:sym typeface="+mn-ea"/>
                <a:hlinkClick r:id="" action="ppaction://noaction"/>
              </a:rPr>
              <a:t>例</a:t>
            </a:r>
            <a:r>
              <a:rPr lang="en-US" altLang="zh-CN" sz="3200" b="1" noProof="0" dirty="0">
                <a:ln>
                  <a:noFill/>
                </a:ln>
                <a:uLnTx/>
                <a:uFillTx/>
                <a:sym typeface="+mn-ea"/>
                <a:hlinkClick r:id="" action="ppaction://noaction"/>
              </a:rPr>
              <a:t>6.3】</a:t>
            </a:r>
            <a:r>
              <a:rPr lang="zh-CN" altLang="en-US" sz="3200" b="1" noProof="0" dirty="0">
                <a:ln>
                  <a:noFill/>
                </a:ln>
                <a:uLnTx/>
                <a:uFillTx/>
                <a:sym typeface="+mn-ea"/>
                <a:hlinkClick r:id="" action="ppaction://noaction"/>
              </a:rPr>
              <a:t>统计成绩</a:t>
            </a:r>
            <a:r>
              <a:rPr lang="zh-CN" altLang="en-US" sz="3200" noProof="0" dirty="0">
                <a:ln>
                  <a:noFill/>
                </a:ln>
                <a:uLnTx/>
                <a:uFillTx/>
                <a:sym typeface="+mn-ea"/>
                <a:hlinkClick r:id="" action="ppaction://noaction"/>
              </a:rPr>
              <a:t> </a:t>
            </a:r>
            <a:r>
              <a:rPr lang="en-US" altLang="zh-CN" sz="3200" b="1" noProof="0" dirty="0">
                <a:ln>
                  <a:noFill/>
                </a:ln>
                <a:uLnTx/>
                <a:uFillTx/>
                <a:sym typeface="+mn-ea"/>
              </a:rPr>
              <a:t>P129</a:t>
            </a:r>
            <a:endParaRPr lang="en-US" altLang="zh-CN" sz="3200" b="1" noProof="0" dirty="0">
              <a:ln>
                <a:noFill/>
              </a:ln>
              <a:uLnTx/>
              <a:uFillTx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hlinkClick r:id="" action="ppaction://noaction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hlinkClick r:id="" action="ppaction://noaction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hlinkClick r:id="" action="ppaction://noaction"/>
              </a:rPr>
              <a:t>6.4】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hlinkClick r:id="" action="ppaction://noaction"/>
              </a:rPr>
              <a:t>矩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hlinkClick r:id="rId1" action="ppaction://hlinksldjump"/>
              </a:rPr>
              <a:t>阵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hlinkClick r:id="" action="ppaction://noaction"/>
              </a:rPr>
              <a:t>乘法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P133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hlinkClick r:id="" action="ppaction://noaction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u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1542147" name="Rectangle 3"/>
          <p:cNvSpPr>
            <a:spLocks noChangeArrowheads="1"/>
          </p:cNvSpPr>
          <p:nvPr/>
        </p:nvSpPr>
        <p:spPr bwMode="auto">
          <a:xfrm>
            <a:off x="1536700" y="1268413"/>
            <a:ext cx="8229600" cy="6921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§6.2  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多维数组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91B7BA-5205-4C89-85E4-F6D4E6A3B76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8258" name="Rectangle 2"/>
          <p:cNvSpPr>
            <a:spLocks noGrp="1" noChangeArrowheads="1"/>
          </p:cNvSpPr>
          <p:nvPr>
            <p:ph idx="1"/>
          </p:nvPr>
        </p:nvSpPr>
        <p:spPr>
          <a:xfrm>
            <a:off x="0" y="333375"/>
            <a:ext cx="11963400" cy="43148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教材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P152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6.2】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为了分析本学期学生的学习情况，需要对本学期所开设的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所有课程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的成绩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分别进行统计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编程序，输入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某班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50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名学生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门课程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成绩，然后按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分为一段，分别统计各科中每个分数段成绩的学生人数，并输出。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036" name="Rectangle 3"/>
          <p:cNvSpPr/>
          <p:nvPr/>
        </p:nvSpPr>
        <p:spPr>
          <a:xfrm>
            <a:off x="1524000" y="3762375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44037" name="Rectangle 4"/>
          <p:cNvSpPr/>
          <p:nvPr/>
        </p:nvSpPr>
        <p:spPr>
          <a:xfrm>
            <a:off x="1524000" y="1990725"/>
            <a:ext cx="184150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430000" y="6400800"/>
            <a:ext cx="3810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0F2627-7FD2-4A18-865F-75AE6D7C618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AutoShape 6"/>
          <p:cNvSpPr/>
          <p:nvPr/>
        </p:nvSpPr>
        <p:spPr>
          <a:xfrm>
            <a:off x="0" y="0"/>
            <a:ext cx="2590800" cy="4572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anose="03010101010201010101" pitchFamily="66" charset="0"/>
                <a:ea typeface="华文彩云" panose="02010800040101010101" pitchFamily="2" charset="-122"/>
                <a:hlinkClick r:id="rId1" action="ppaction://hlinkfile"/>
              </a:rPr>
              <a:t>运行结果演示</a:t>
            </a:r>
            <a:r>
              <a:rPr lang="en-US" altLang="zh-CN" sz="2400" b="1" dirty="0">
                <a:solidFill>
                  <a:schemeClr val="hlink"/>
                </a:solidFill>
                <a:latin typeface="Monotype Corsiva" panose="03010101010201010101" pitchFamily="66" charset="0"/>
                <a:ea typeface="华文彩云" panose="02010800040101010101" pitchFamily="2" charset="-122"/>
              </a:rPr>
              <a:t>6.1</a:t>
            </a:r>
            <a:endParaRPr lang="en-US" altLang="zh-CN" sz="2400" b="1" dirty="0">
              <a:solidFill>
                <a:schemeClr val="hlink"/>
              </a:solidFill>
              <a:latin typeface="Monotype Corsiva" panose="03010101010201010101" pitchFamily="66" charset="0"/>
              <a:ea typeface="华文彩云" panose="020108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733425"/>
            <a:ext cx="5539105" cy="60623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请依次输入</a:t>
            </a:r>
            <a:r>
              <a:rPr lang="en-US" altLang="zh-CN" sz="2400" b="1" dirty="0">
                <a:sym typeface="+mn-ea"/>
              </a:rPr>
              <a:t>3</a:t>
            </a:r>
            <a:r>
              <a:rPr lang="zh-CN" altLang="en-US" sz="2400" b="1" dirty="0">
                <a:sym typeface="+mn-ea"/>
              </a:rPr>
              <a:t>位同学某门课程</a:t>
            </a:r>
            <a:r>
              <a:rPr lang="zh-CN" altLang="en-US" sz="2400" b="1" dirty="0"/>
              <a:t>的成绩</a:t>
            </a:r>
            <a:r>
              <a:rPr lang="en-US" altLang="zh-CN" sz="2400" b="1" dirty="0"/>
              <a:t>: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35 60 90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统计结果如下</a:t>
            </a:r>
            <a:r>
              <a:rPr lang="en-US" altLang="zh-CN" sz="2800" b="1" dirty="0"/>
              <a:t>: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 0 --   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10 --  19: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20 --  29: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</a:t>
            </a:r>
            <a:r>
              <a:rPr lang="en-US" altLang="zh-CN" sz="2800" b="1" dirty="0">
                <a:solidFill>
                  <a:srgbClr val="FFFF00"/>
                </a:solidFill>
              </a:rPr>
              <a:t>30 --  39:     1</a:t>
            </a:r>
            <a:endParaRPr lang="en-US" altLang="zh-CN" sz="28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40 --  49: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50 --  59: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</a:t>
            </a:r>
            <a:r>
              <a:rPr lang="en-US" altLang="zh-CN" sz="2800" b="1" dirty="0">
                <a:solidFill>
                  <a:srgbClr val="FFFF00"/>
                </a:solidFill>
              </a:rPr>
              <a:t>60 --  69:     1</a:t>
            </a:r>
            <a:endParaRPr lang="en-US" altLang="zh-CN" sz="28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70 --  79: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80 --  89: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FF00"/>
                </a:solidFill>
              </a:rPr>
              <a:t>90 --  99:     1</a:t>
            </a:r>
            <a:endParaRPr lang="en-US" altLang="zh-CN" sz="28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100 -- 109:     0</a:t>
            </a:r>
            <a:endParaRPr lang="zh-CN" alt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571500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注：为简化输入，运行时以</a:t>
            </a: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位同学、</a:t>
            </a: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门课程为例</a:t>
            </a:r>
            <a:endParaRPr kumimoji="0" lang="zh-CN" altLang="en-US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46086" name="AutoShape 5"/>
          <p:cNvSpPr/>
          <p:nvPr/>
        </p:nvSpPr>
        <p:spPr>
          <a:xfrm>
            <a:off x="5791200" y="0"/>
            <a:ext cx="2133600" cy="538163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anose="03010101010201010101" pitchFamily="66" charset="0"/>
                <a:ea typeface="华文彩云" panose="02010800040101010101" pitchFamily="2" charset="-122"/>
                <a:hlinkClick r:id="rId2" action="ppaction://hlinkfile"/>
              </a:rPr>
              <a:t>运行结果演示</a:t>
            </a:r>
            <a:r>
              <a:rPr lang="en-US" altLang="zh-CN" sz="2400" b="1" dirty="0">
                <a:solidFill>
                  <a:schemeClr val="hlink"/>
                </a:solidFill>
                <a:latin typeface="Monotype Corsiva" panose="03010101010201010101" pitchFamily="66" charset="0"/>
                <a:ea typeface="华文彩云" panose="02010800040101010101" pitchFamily="2" charset="-122"/>
              </a:rPr>
              <a:t>6.3</a:t>
            </a:r>
            <a:endParaRPr lang="en-US" altLang="zh-CN" sz="2400" b="1" dirty="0">
              <a:solidFill>
                <a:schemeClr val="hlink"/>
              </a:solidFill>
              <a:latin typeface="Monotype Corsiva" panose="03010101010201010101" pitchFamily="66" charset="0"/>
              <a:ea typeface="华文彩云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03875" y="457200"/>
            <a:ext cx="65881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注：为简化输入，运行时以</a:t>
            </a: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位同学、</a:t>
            </a: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门课程为例</a:t>
            </a:r>
            <a:endParaRPr kumimoji="0" lang="zh-CN" altLang="en-US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15000" y="838200"/>
            <a:ext cx="5614988" cy="5913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b="1" dirty="0"/>
              <a:t>请依次输入</a:t>
            </a:r>
            <a:r>
              <a:rPr lang="en-US" altLang="zh-CN" sz="2200" b="1" dirty="0"/>
              <a:t>【</a:t>
            </a:r>
            <a:r>
              <a:rPr lang="zh-CN" altLang="en-US" sz="2200" b="1" dirty="0"/>
              <a:t>课程</a:t>
            </a:r>
            <a:r>
              <a:rPr lang="en-US" altLang="zh-CN" sz="2200" b="1" dirty="0"/>
              <a:t>1】</a:t>
            </a:r>
            <a:r>
              <a:rPr lang="zh-CN" altLang="en-US" sz="2200" b="1" dirty="0"/>
              <a:t>的</a:t>
            </a:r>
            <a:r>
              <a:rPr lang="en-US" altLang="zh-CN" sz="2200" b="1" dirty="0"/>
              <a:t>3</a:t>
            </a:r>
            <a:r>
              <a:rPr lang="zh-CN" altLang="en-US" sz="2200" b="1" dirty="0"/>
              <a:t>位同学的成绩</a:t>
            </a:r>
            <a:r>
              <a:rPr lang="en-US" altLang="zh-CN" sz="2200" b="1" dirty="0"/>
              <a:t>: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89 83 93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b="1" dirty="0"/>
              <a:t>请依次输入</a:t>
            </a:r>
            <a:r>
              <a:rPr lang="en-US" altLang="zh-CN" sz="2200" b="1" dirty="0"/>
              <a:t>【</a:t>
            </a:r>
            <a:r>
              <a:rPr lang="zh-CN" altLang="en-US" sz="2200" b="1" dirty="0"/>
              <a:t>课程</a:t>
            </a:r>
            <a:r>
              <a:rPr lang="en-US" altLang="zh-CN" sz="2200" b="1" dirty="0"/>
              <a:t>2】</a:t>
            </a:r>
            <a:r>
              <a:rPr lang="zh-CN" altLang="en-US" sz="2200" b="1" dirty="0"/>
              <a:t>的</a:t>
            </a:r>
            <a:r>
              <a:rPr lang="en-US" altLang="zh-CN" sz="2200" b="1" dirty="0"/>
              <a:t>3</a:t>
            </a:r>
            <a:r>
              <a:rPr lang="zh-CN" altLang="en-US" sz="2200" b="1" dirty="0"/>
              <a:t>位同学的成绩</a:t>
            </a:r>
            <a:r>
              <a:rPr lang="en-US" altLang="zh-CN" sz="2200" b="1" dirty="0"/>
              <a:t>: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98 76 35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b="1" dirty="0"/>
              <a:t>统计结果如下</a:t>
            </a:r>
            <a:r>
              <a:rPr lang="en-US" altLang="zh-CN" sz="2200" b="1" dirty="0"/>
              <a:t>: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课程</a:t>
            </a:r>
            <a:r>
              <a:rPr lang="en-US" altLang="zh-CN" sz="2200" b="1" dirty="0"/>
              <a:t>1】: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 0 --   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10 --  19: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20 --  29: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30 --  39: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40 --  49: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50 --  59: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60 --  69: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70 --  79: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</a:t>
            </a:r>
            <a:r>
              <a:rPr lang="en-US" altLang="zh-CN" sz="2200" b="1" dirty="0">
                <a:solidFill>
                  <a:srgbClr val="FFFF00"/>
                </a:solidFill>
              </a:rPr>
              <a:t>80 --  89:     2</a:t>
            </a:r>
            <a:endParaRPr lang="en-US" altLang="zh-CN" sz="2200" b="1" dirty="0">
              <a:solidFill>
                <a:srgbClr val="FF0000"/>
              </a:solidFill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</a:t>
            </a:r>
            <a:r>
              <a:rPr lang="en-US" altLang="zh-CN" sz="2200" b="1" dirty="0">
                <a:solidFill>
                  <a:srgbClr val="FFFF00"/>
                </a:solidFill>
              </a:rPr>
              <a:t>90 --  99:     1</a:t>
            </a:r>
            <a:endParaRPr lang="en-US" altLang="zh-CN" sz="22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100 -- 109:     0</a:t>
            </a:r>
            <a:endParaRPr lang="en-US" altLang="zh-CN" sz="2200" b="1" dirty="0"/>
          </a:p>
        </p:txBody>
      </p:sp>
      <p:sp>
        <p:nvSpPr>
          <p:cNvPr id="11" name="矩形 10"/>
          <p:cNvSpPr/>
          <p:nvPr/>
        </p:nvSpPr>
        <p:spPr>
          <a:xfrm>
            <a:off x="8839200" y="2438400"/>
            <a:ext cx="2438400" cy="42887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课程</a:t>
            </a:r>
            <a:r>
              <a:rPr lang="en-US" altLang="zh-CN" sz="2200" b="1" dirty="0"/>
              <a:t>2】: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 0 --   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10 --  19: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20 --  29: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</a:t>
            </a:r>
            <a:r>
              <a:rPr lang="en-US" altLang="zh-CN" sz="2200" b="1" dirty="0">
                <a:solidFill>
                  <a:srgbClr val="FFFF00"/>
                </a:solidFill>
              </a:rPr>
              <a:t>30 --  39:     1</a:t>
            </a:r>
            <a:endParaRPr lang="en-US" altLang="zh-CN" sz="22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40 --  49: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50 --  59: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60 --  69:     0</a:t>
            </a:r>
            <a:endParaRPr lang="en-US" altLang="zh-CN" sz="2200" b="1" dirty="0"/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200" b="1" dirty="0"/>
              <a:t> </a:t>
            </a:r>
            <a:r>
              <a:rPr lang="en-US" altLang="zh-CN" sz="2200" b="1" dirty="0">
                <a:solidFill>
                  <a:srgbClr val="FFFF00"/>
                </a:solidFill>
              </a:rPr>
              <a:t>70 --  79:     1</a:t>
            </a:r>
            <a:endParaRPr lang="en-US" altLang="zh-CN" sz="22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80 --  89:     0</a:t>
            </a:r>
            <a:endParaRPr lang="en-US" altLang="zh-CN" sz="2200" b="1" dirty="0"/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200" b="1" dirty="0"/>
              <a:t> </a:t>
            </a:r>
            <a:r>
              <a:rPr lang="en-US" altLang="zh-CN" sz="2200" b="1" dirty="0">
                <a:solidFill>
                  <a:srgbClr val="FFFF00"/>
                </a:solidFill>
              </a:rPr>
              <a:t>90 --  99:     1</a:t>
            </a:r>
            <a:endParaRPr lang="en-US" altLang="zh-CN" sz="22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100 -- 109:     0</a:t>
            </a:r>
            <a:endParaRPr lang="en-US" altLang="zh-CN" sz="2200" b="1" dirty="0"/>
          </a:p>
        </p:txBody>
      </p:sp>
      <p:cxnSp>
        <p:nvCxnSpPr>
          <p:cNvPr id="12" name="连接符: 曲线 13"/>
          <p:cNvCxnSpPr/>
          <p:nvPr/>
        </p:nvCxnSpPr>
        <p:spPr>
          <a:xfrm rot="5400000">
            <a:off x="6553200" y="4038600"/>
            <a:ext cx="3886200" cy="990600"/>
          </a:xfrm>
          <a:prstGeom prst="curvedConnector3">
            <a:avLst>
              <a:gd name="adj1" fmla="val 50000"/>
            </a:avLst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2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29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49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58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6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73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91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09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27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45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63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81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99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217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235" end="2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253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D85333-F4A5-45E1-8F31-5BC5ABEE851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Rectangle 2"/>
          <p:cNvSpPr/>
          <p:nvPr/>
        </p:nvSpPr>
        <p:spPr>
          <a:xfrm>
            <a:off x="1524000" y="3762375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48132" name="Rectangle 3"/>
          <p:cNvSpPr/>
          <p:nvPr/>
        </p:nvSpPr>
        <p:spPr>
          <a:xfrm>
            <a:off x="1524000" y="1990725"/>
            <a:ext cx="184150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grpSp>
        <p:nvGrpSpPr>
          <p:cNvPr id="48133" name="Group 4"/>
          <p:cNvGrpSpPr/>
          <p:nvPr/>
        </p:nvGrpSpPr>
        <p:grpSpPr>
          <a:xfrm>
            <a:off x="1847850" y="44450"/>
            <a:ext cx="8280400" cy="4956175"/>
            <a:chOff x="204" y="436"/>
            <a:chExt cx="5216" cy="3122"/>
          </a:xfrm>
        </p:grpSpPr>
        <p:sp>
          <p:nvSpPr>
            <p:cNvPr id="48136" name="Rectangle 5"/>
            <p:cNvSpPr/>
            <p:nvPr/>
          </p:nvSpPr>
          <p:spPr>
            <a:xfrm>
              <a:off x="3072" y="744"/>
              <a:ext cx="1720" cy="363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rgbClr val="FFFF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处理第</a:t>
              </a:r>
              <a:r>
                <a:rPr lang="en-US" altLang="zh-CN" sz="2000" b="1" dirty="0">
                  <a:solidFill>
                    <a:srgbClr val="FFFF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000" b="1" dirty="0">
                  <a:solidFill>
                    <a:srgbClr val="FFFF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科成绩部分</a:t>
              </a:r>
              <a:endParaRPr lang="zh-CN" altLang="en-US" sz="2000" b="1" dirty="0">
                <a:solidFill>
                  <a:srgbClr val="FFFF66"/>
                </a:solidFill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48137" name="Group 6"/>
            <p:cNvGrpSpPr/>
            <p:nvPr/>
          </p:nvGrpSpPr>
          <p:grpSpPr>
            <a:xfrm>
              <a:off x="204" y="740"/>
              <a:ext cx="820" cy="2818"/>
              <a:chOff x="2961" y="8560"/>
              <a:chExt cx="877" cy="2636"/>
            </a:xfrm>
          </p:grpSpPr>
          <p:sp>
            <p:nvSpPr>
              <p:cNvPr id="48189" name="Line 7"/>
              <p:cNvSpPr/>
              <p:nvPr/>
            </p:nvSpPr>
            <p:spPr>
              <a:xfrm>
                <a:off x="3398" y="8847"/>
                <a:ext cx="0" cy="210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48190" name="Group 8"/>
              <p:cNvGrpSpPr/>
              <p:nvPr/>
            </p:nvGrpSpPr>
            <p:grpSpPr>
              <a:xfrm>
                <a:off x="2961" y="8560"/>
                <a:ext cx="877" cy="283"/>
                <a:chOff x="1227" y="9641"/>
                <a:chExt cx="512" cy="470"/>
              </a:xfrm>
            </p:grpSpPr>
            <p:sp>
              <p:nvSpPr>
                <p:cNvPr id="48194" name="Rectangle 9"/>
                <p:cNvSpPr/>
                <p:nvPr/>
              </p:nvSpPr>
              <p:spPr>
                <a:xfrm>
                  <a:off x="1247" y="9661"/>
                  <a:ext cx="466" cy="444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开始</a:t>
                  </a:r>
                  <a:endParaRPr lang="zh-CN" altLang="en-US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8195" name="Oval 10"/>
                <p:cNvSpPr/>
                <p:nvPr/>
              </p:nvSpPr>
              <p:spPr>
                <a:xfrm>
                  <a:off x="1227" y="9641"/>
                  <a:ext cx="512" cy="470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48191" name="Group 11"/>
              <p:cNvGrpSpPr/>
              <p:nvPr/>
            </p:nvGrpSpPr>
            <p:grpSpPr>
              <a:xfrm>
                <a:off x="2974" y="10938"/>
                <a:ext cx="840" cy="258"/>
                <a:chOff x="-1" y="0"/>
                <a:chExt cx="20001" cy="20000"/>
              </a:xfrm>
            </p:grpSpPr>
            <p:sp>
              <p:nvSpPr>
                <p:cNvPr id="48192" name="Rectangle 12"/>
                <p:cNvSpPr/>
                <p:nvPr/>
              </p:nvSpPr>
              <p:spPr>
                <a:xfrm>
                  <a:off x="3883" y="2160"/>
                  <a:ext cx="15007" cy="1784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结束</a:t>
                  </a:r>
                  <a:endParaRPr lang="zh-CN" altLang="en-US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8193" name="Oval 13"/>
                <p:cNvSpPr/>
                <p:nvPr/>
              </p:nvSpPr>
              <p:spPr>
                <a:xfrm>
                  <a:off x="-1" y="0"/>
                  <a:ext cx="20001" cy="18890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48138" name="Group 14"/>
            <p:cNvGrpSpPr/>
            <p:nvPr/>
          </p:nvGrpSpPr>
          <p:grpSpPr>
            <a:xfrm>
              <a:off x="2391" y="2125"/>
              <a:ext cx="1770" cy="278"/>
              <a:chOff x="1801" y="7124"/>
              <a:chExt cx="1893" cy="260"/>
            </a:xfrm>
          </p:grpSpPr>
          <p:grpSp>
            <p:nvGrpSpPr>
              <p:cNvPr id="48185" name="Group 15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48187" name="Rectangle 16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8188" name="Rectangle 17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(i=0;i&lt;50;i++)</a:t>
                  </a:r>
                  <a:endParaRPr lang="en-US" altLang="zh-CN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86" name="Line 18"/>
              <p:cNvSpPr/>
              <p:nvPr/>
            </p:nvSpPr>
            <p:spPr>
              <a:xfrm>
                <a:off x="3459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8139" name="Group 19"/>
            <p:cNvGrpSpPr/>
            <p:nvPr/>
          </p:nvGrpSpPr>
          <p:grpSpPr>
            <a:xfrm>
              <a:off x="2379" y="2662"/>
              <a:ext cx="2891" cy="297"/>
              <a:chOff x="3408" y="8458"/>
              <a:chExt cx="3093" cy="278"/>
            </a:xfrm>
          </p:grpSpPr>
          <p:sp>
            <p:nvSpPr>
              <p:cNvPr id="48179" name="Rectangle 20"/>
              <p:cNvSpPr/>
              <p:nvPr/>
            </p:nvSpPr>
            <p:spPr>
              <a:xfrm>
                <a:off x="5301" y="8458"/>
                <a:ext cx="1200" cy="27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输出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endParaRPr lang="en-US" altLang="zh-CN" sz="20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48180" name="Group 21"/>
              <p:cNvGrpSpPr/>
              <p:nvPr/>
            </p:nvGrpSpPr>
            <p:grpSpPr>
              <a:xfrm>
                <a:off x="3408" y="8458"/>
                <a:ext cx="1893" cy="260"/>
                <a:chOff x="1801" y="7124"/>
                <a:chExt cx="1893" cy="260"/>
              </a:xfrm>
            </p:grpSpPr>
            <p:grpSp>
              <p:nvGrpSpPr>
                <p:cNvPr id="48181" name="Group 22"/>
                <p:cNvGrpSpPr/>
                <p:nvPr/>
              </p:nvGrpSpPr>
              <p:grpSpPr>
                <a:xfrm>
                  <a:off x="1801" y="7124"/>
                  <a:ext cx="1687" cy="260"/>
                  <a:chOff x="0" y="0"/>
                  <a:chExt cx="19991" cy="20000"/>
                </a:xfrm>
              </p:grpSpPr>
              <p:sp>
                <p:nvSpPr>
                  <p:cNvPr id="48183" name="Rectangle 23"/>
                  <p:cNvSpPr/>
                  <p:nvPr/>
                </p:nvSpPr>
                <p:spPr>
                  <a:xfrm>
                    <a:off x="0" y="52"/>
                    <a:ext cx="2348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000" b="1" dirty="0"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8184" name="Rectangle 24"/>
                  <p:cNvSpPr/>
                  <p:nvPr/>
                </p:nvSpPr>
                <p:spPr>
                  <a:xfrm>
                    <a:off x="2336" y="0"/>
                    <a:ext cx="17655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12700" tIns="12700" rIns="12700" bIns="1270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for (i=0;i&lt;11;i++)</a:t>
                    </a:r>
                    <a:endParaRPr lang="en-US" altLang="zh-CN" sz="2000" b="1" dirty="0">
                      <a:latin typeface="Arial" panose="020B0604020202020204" pitchFamily="34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8182" name="Line 25"/>
                <p:cNvSpPr/>
                <p:nvPr/>
              </p:nvSpPr>
              <p:spPr>
                <a:xfrm>
                  <a:off x="3459" y="7252"/>
                  <a:ext cx="23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grpSp>
          <p:nvGrpSpPr>
            <p:cNvPr id="48140" name="Group 26"/>
            <p:cNvGrpSpPr/>
            <p:nvPr/>
          </p:nvGrpSpPr>
          <p:grpSpPr>
            <a:xfrm>
              <a:off x="2379" y="1094"/>
              <a:ext cx="2547" cy="320"/>
              <a:chOff x="3401" y="6631"/>
              <a:chExt cx="2724" cy="300"/>
            </a:xfrm>
          </p:grpSpPr>
          <p:grpSp>
            <p:nvGrpSpPr>
              <p:cNvPr id="48173" name="Group 27"/>
              <p:cNvGrpSpPr/>
              <p:nvPr/>
            </p:nvGrpSpPr>
            <p:grpSpPr>
              <a:xfrm>
                <a:off x="3401" y="6671"/>
                <a:ext cx="1893" cy="260"/>
                <a:chOff x="1801" y="7124"/>
                <a:chExt cx="1893" cy="260"/>
              </a:xfrm>
            </p:grpSpPr>
            <p:grpSp>
              <p:nvGrpSpPr>
                <p:cNvPr id="48175" name="Group 28"/>
                <p:cNvGrpSpPr/>
                <p:nvPr/>
              </p:nvGrpSpPr>
              <p:grpSpPr>
                <a:xfrm>
                  <a:off x="1801" y="7124"/>
                  <a:ext cx="1687" cy="260"/>
                  <a:chOff x="0" y="0"/>
                  <a:chExt cx="19991" cy="20000"/>
                </a:xfrm>
              </p:grpSpPr>
              <p:sp>
                <p:nvSpPr>
                  <p:cNvPr id="48177" name="Rectangle 29"/>
                  <p:cNvSpPr/>
                  <p:nvPr/>
                </p:nvSpPr>
                <p:spPr>
                  <a:xfrm>
                    <a:off x="0" y="52"/>
                    <a:ext cx="2348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000" b="1" dirty="0"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8178" name="Rectangle 30"/>
                  <p:cNvSpPr/>
                  <p:nvPr/>
                </p:nvSpPr>
                <p:spPr>
                  <a:xfrm>
                    <a:off x="2336" y="0"/>
                    <a:ext cx="17655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12700" tIns="12700" rIns="12700" bIns="1270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for (i=0;i&lt;50;i++)</a:t>
                    </a:r>
                    <a:endParaRPr lang="en-US" altLang="zh-CN" sz="2000" b="1" dirty="0">
                      <a:latin typeface="Arial" panose="020B0604020202020204" pitchFamily="34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8176" name="Line 31"/>
                <p:cNvSpPr/>
                <p:nvPr/>
              </p:nvSpPr>
              <p:spPr>
                <a:xfrm>
                  <a:off x="3459" y="7252"/>
                  <a:ext cx="23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48174" name="Text Box 32"/>
              <p:cNvSpPr txBox="1"/>
              <p:nvPr/>
            </p:nvSpPr>
            <p:spPr>
              <a:xfrm>
                <a:off x="5281" y="6631"/>
                <a:ext cx="889" cy="28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t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输入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endParaRPr lang="en-US" altLang="zh-CN" sz="20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48141" name="Group 33"/>
            <p:cNvGrpSpPr/>
            <p:nvPr/>
          </p:nvGrpSpPr>
          <p:grpSpPr>
            <a:xfrm>
              <a:off x="2379" y="1486"/>
              <a:ext cx="2400" cy="321"/>
              <a:chOff x="3401" y="6631"/>
              <a:chExt cx="2724" cy="300"/>
            </a:xfrm>
          </p:grpSpPr>
          <p:grpSp>
            <p:nvGrpSpPr>
              <p:cNvPr id="48167" name="Group 34"/>
              <p:cNvGrpSpPr/>
              <p:nvPr/>
            </p:nvGrpSpPr>
            <p:grpSpPr>
              <a:xfrm>
                <a:off x="3401" y="6671"/>
                <a:ext cx="1893" cy="260"/>
                <a:chOff x="1801" y="7124"/>
                <a:chExt cx="1893" cy="260"/>
              </a:xfrm>
            </p:grpSpPr>
            <p:grpSp>
              <p:nvGrpSpPr>
                <p:cNvPr id="48169" name="Group 35"/>
                <p:cNvGrpSpPr/>
                <p:nvPr/>
              </p:nvGrpSpPr>
              <p:grpSpPr>
                <a:xfrm>
                  <a:off x="1801" y="7124"/>
                  <a:ext cx="1687" cy="260"/>
                  <a:chOff x="0" y="0"/>
                  <a:chExt cx="19991" cy="20000"/>
                </a:xfrm>
              </p:grpSpPr>
              <p:sp>
                <p:nvSpPr>
                  <p:cNvPr id="48171" name="Rectangle 36"/>
                  <p:cNvSpPr/>
                  <p:nvPr/>
                </p:nvSpPr>
                <p:spPr>
                  <a:xfrm>
                    <a:off x="0" y="52"/>
                    <a:ext cx="2348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000" b="1" dirty="0"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8172" name="Rectangle 37"/>
                  <p:cNvSpPr/>
                  <p:nvPr/>
                </p:nvSpPr>
                <p:spPr>
                  <a:xfrm>
                    <a:off x="2336" y="0"/>
                    <a:ext cx="17655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12700" tIns="12700" rIns="12700" bIns="1270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for (i=0;i&lt;=10;i++)</a:t>
                    </a:r>
                    <a:endParaRPr lang="en-US" altLang="zh-CN" sz="2000" b="1" dirty="0">
                      <a:latin typeface="Arial" panose="020B0604020202020204" pitchFamily="34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8170" name="Line 38"/>
                <p:cNvSpPr/>
                <p:nvPr/>
              </p:nvSpPr>
              <p:spPr>
                <a:xfrm>
                  <a:off x="3459" y="7252"/>
                  <a:ext cx="23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48168" name="Text Box 39"/>
              <p:cNvSpPr txBox="1"/>
              <p:nvPr/>
            </p:nvSpPr>
            <p:spPr>
              <a:xfrm>
                <a:off x="5281" y="6631"/>
                <a:ext cx="687" cy="28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t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</a:t>
                </a:r>
                <a:endParaRPr lang="en-US" altLang="zh-CN" sz="20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48142" name="Group 40"/>
            <p:cNvGrpSpPr/>
            <p:nvPr/>
          </p:nvGrpSpPr>
          <p:grpSpPr>
            <a:xfrm>
              <a:off x="4137" y="1892"/>
              <a:ext cx="990" cy="656"/>
              <a:chOff x="5281" y="7418"/>
              <a:chExt cx="1060" cy="613"/>
            </a:xfrm>
          </p:grpSpPr>
          <p:sp>
            <p:nvSpPr>
              <p:cNvPr id="48164" name="Rectangle 41"/>
              <p:cNvSpPr/>
              <p:nvPr/>
            </p:nvSpPr>
            <p:spPr>
              <a:xfrm>
                <a:off x="5281" y="7798"/>
                <a:ext cx="1026" cy="233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0" rIns="1270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rk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j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rk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+1</a:t>
                </a:r>
                <a:endParaRPr lang="en-US" altLang="zh-CN" sz="20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8165" name="Rectangle 42"/>
              <p:cNvSpPr/>
              <p:nvPr/>
            </p:nvSpPr>
            <p:spPr>
              <a:xfrm>
                <a:off x="5281" y="7418"/>
                <a:ext cx="1060" cy="305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k=a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/10</a:t>
                </a:r>
                <a:endParaRPr lang="en-US" altLang="zh-CN" sz="20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8166" name="Line 43"/>
              <p:cNvSpPr/>
              <p:nvPr/>
            </p:nvSpPr>
            <p:spPr>
              <a:xfrm>
                <a:off x="5281" y="7538"/>
                <a:ext cx="0" cy="45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8143" name="Group 44"/>
            <p:cNvGrpSpPr/>
            <p:nvPr/>
          </p:nvGrpSpPr>
          <p:grpSpPr>
            <a:xfrm>
              <a:off x="603" y="2104"/>
              <a:ext cx="1770" cy="278"/>
              <a:chOff x="1801" y="7124"/>
              <a:chExt cx="1893" cy="260"/>
            </a:xfrm>
          </p:grpSpPr>
          <p:grpSp>
            <p:nvGrpSpPr>
              <p:cNvPr id="48160" name="Group 45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48162" name="Rectangle 46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8163" name="Rectangle 47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(r=0;r&lt;5;r++)</a:t>
                  </a:r>
                  <a:endParaRPr lang="en-US" altLang="zh-CN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61" name="Line 48"/>
              <p:cNvSpPr/>
              <p:nvPr/>
            </p:nvSpPr>
            <p:spPr>
              <a:xfrm>
                <a:off x="3459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8144" name="Group 49"/>
            <p:cNvGrpSpPr/>
            <p:nvPr/>
          </p:nvGrpSpPr>
          <p:grpSpPr>
            <a:xfrm>
              <a:off x="603" y="1142"/>
              <a:ext cx="1770" cy="278"/>
              <a:chOff x="1801" y="7124"/>
              <a:chExt cx="1893" cy="260"/>
            </a:xfrm>
          </p:grpSpPr>
          <p:grpSp>
            <p:nvGrpSpPr>
              <p:cNvPr id="48156" name="Group 50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48158" name="Rectangle 51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8159" name="Rectangle 52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(r=0;r&lt;5;r++)</a:t>
                  </a:r>
                  <a:endParaRPr lang="en-US" altLang="zh-CN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57" name="Line 53"/>
              <p:cNvSpPr/>
              <p:nvPr/>
            </p:nvSpPr>
            <p:spPr>
              <a:xfrm>
                <a:off x="3459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8145" name="Group 54"/>
            <p:cNvGrpSpPr/>
            <p:nvPr/>
          </p:nvGrpSpPr>
          <p:grpSpPr>
            <a:xfrm>
              <a:off x="603" y="2660"/>
              <a:ext cx="1770" cy="278"/>
              <a:chOff x="1801" y="7124"/>
              <a:chExt cx="1893" cy="260"/>
            </a:xfrm>
          </p:grpSpPr>
          <p:grpSp>
            <p:nvGrpSpPr>
              <p:cNvPr id="48152" name="Group 55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48154" name="Rectangle 56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8155" name="Rectangle 57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(r=0;r&lt;5;r++)</a:t>
                  </a:r>
                  <a:endParaRPr lang="en-US" altLang="zh-CN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53" name="Line 58"/>
              <p:cNvSpPr/>
              <p:nvPr/>
            </p:nvSpPr>
            <p:spPr>
              <a:xfrm>
                <a:off x="3459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8146" name="Group 59"/>
            <p:cNvGrpSpPr/>
            <p:nvPr/>
          </p:nvGrpSpPr>
          <p:grpSpPr>
            <a:xfrm>
              <a:off x="597" y="1505"/>
              <a:ext cx="1769" cy="278"/>
              <a:chOff x="1801" y="7124"/>
              <a:chExt cx="1893" cy="260"/>
            </a:xfrm>
          </p:grpSpPr>
          <p:grpSp>
            <p:nvGrpSpPr>
              <p:cNvPr id="48148" name="Group 60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48150" name="Rectangle 61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8151" name="Rectangle 62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(r=0;r&lt;5;r++)</a:t>
                  </a:r>
                  <a:endParaRPr lang="en-US" altLang="zh-CN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49" name="Line 63"/>
              <p:cNvSpPr/>
              <p:nvPr/>
            </p:nvSpPr>
            <p:spPr>
              <a:xfrm>
                <a:off x="3459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48147" name="Oval 64"/>
            <p:cNvSpPr/>
            <p:nvPr/>
          </p:nvSpPr>
          <p:spPr>
            <a:xfrm>
              <a:off x="2298" y="436"/>
              <a:ext cx="3122" cy="307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48134" name="Text Box 5"/>
          <p:cNvSpPr txBox="1"/>
          <p:nvPr/>
        </p:nvSpPr>
        <p:spPr>
          <a:xfrm>
            <a:off x="1522413" y="5040313"/>
            <a:ext cx="8280400" cy="1223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742950" lvl="0" indent="-285750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如何存储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5</a:t>
            </a: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门课程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50</a:t>
            </a: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名学生的成绩？</a:t>
            </a:r>
            <a:endParaRPr lang="en-US" altLang="zh-CN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742950" lvl="0" indent="-285750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如何存储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5</a:t>
            </a: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门课程计数器？</a:t>
            </a:r>
            <a:endParaRPr lang="zh-CN" altLang="en-US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68" name="Rectangle 6"/>
          <p:cNvSpPr>
            <a:spLocks noChangeArrowheads="1"/>
          </p:cNvSpPr>
          <p:nvPr/>
        </p:nvSpPr>
        <p:spPr bwMode="auto">
          <a:xfrm>
            <a:off x="1633538" y="6297613"/>
            <a:ext cx="40290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742950" marR="0" lvl="0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a[5][50],j[5][11]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A13262-C199-4F37-A82A-2BDF833542F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2354" name="Rectangle 2"/>
          <p:cNvSpPr>
            <a:spLocks noGrp="1" noChangeArrowheads="1"/>
          </p:cNvSpPr>
          <p:nvPr>
            <p:ph idx="1"/>
          </p:nvPr>
        </p:nvSpPr>
        <p:spPr>
          <a:xfrm>
            <a:off x="1524000" y="0"/>
            <a:ext cx="9144000" cy="6858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 () 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r,i,k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a[5][50],j[5][11]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r=0 ; r&lt;5 ; r++ )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(“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请依次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课程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%d】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位同学的成绩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:\n",r+1,50); 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	for ( i=0 ; i&lt;50 ; i++ )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("%d",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&amp;a[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r=0 ; r&lt;5 ; r++ )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计数器清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	for ( i=0 ; i&lt;11 ; i++ )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	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j[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][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=0 ;  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100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2354">
                                            <p:txEl>
                                              <p:charRg st="100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146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52354">
                                            <p:txEl>
                                              <p:charRg st="146" end="1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177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52354">
                                            <p:txEl>
                                              <p:charRg st="177" end="2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204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52354">
                                            <p:txEl>
                                              <p:charRg st="204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68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52354">
                                            <p:txEl>
                                              <p:charRg st="68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245" end="2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52354">
                                            <p:txEl>
                                              <p:charRg st="245" end="2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276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52354">
                                            <p:txEl>
                                              <p:charRg st="276" end="3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208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52354">
                                            <p:txEl>
                                              <p:charRg st="208" end="2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31F341-D775-47AD-AB37-F16409C49BE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46242" name="Rectangle 2"/>
          <p:cNvSpPr>
            <a:spLocks noGrp="1" noChangeArrowheads="1"/>
          </p:cNvSpPr>
          <p:nvPr>
            <p:ph idx="1"/>
          </p:nvPr>
        </p:nvSpPr>
        <p:spPr>
          <a:xfrm>
            <a:off x="527050" y="68263"/>
            <a:ext cx="10293350" cy="6721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r=0 ; r&lt;5 ; r++ )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统计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 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 ;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&lt;50 ;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 )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{  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a[r][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/10;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	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j[r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][k]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++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("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统计结果如下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:\n");//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r=0 ; r&lt;5 ; r++ )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(“\n【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课程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】:\n",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r+1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		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i=0 ; i&lt;11 ; i++ 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"%3d -- %3d: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%6d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\n",</a:t>
            </a:r>
            <a:r>
              <a:rPr kumimoji="0" lang="en-US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*10,(i+1)*10-1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j[r][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0;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6242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124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46242">
                                            <p:txEl>
                                              <p:charRg st="124" end="1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156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46242">
                                            <p:txEl>
                                              <p:charRg st="156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186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46242">
                                            <p:txEl>
                                              <p:charRg st="186" end="1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309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46242">
                                            <p:txEl>
                                              <p:charRg st="309" end="3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313" end="3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46242">
                                            <p:txEl>
                                              <p:charRg st="313" end="3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191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46242">
                                            <p:txEl>
                                              <p:charRg st="191" end="2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249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46242">
                                            <p:txEl>
                                              <p:charRg st="249" end="3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900892-9B66-46D8-99C1-0FBA6ED2E0B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1890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146050"/>
            <a:ext cx="9601200" cy="5797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(1)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二维数组定义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二维数组声明符形式：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4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＜标识符＞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＜表达式＞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] [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＜表达式＞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]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	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 a[3][4];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kumimoji="0" lang="en-US" altLang="zh-CN" sz="4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表示二维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型数组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包含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个元素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分别是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a[0][0]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a[0][1]   a[0][2]   a[0][3]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a[1][0]   a[1][1]   a[1][2]   a[1][3]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a[2][0]   a[2][1]   a[2][2]   a[2][3]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F7C989-647B-48C1-AD2D-C5E6BCC4A7C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xfrm>
            <a:off x="0" y="111125"/>
            <a:ext cx="8229600" cy="765175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b="1" dirty="0">
                <a:solidFill>
                  <a:srgbClr val="FF00FF"/>
                </a:solidFill>
                <a:effectLst/>
              </a:rPr>
              <a:t>(2) </a:t>
            </a:r>
            <a:r>
              <a:rPr lang="zh-CN" altLang="en-US" b="1" dirty="0">
                <a:solidFill>
                  <a:srgbClr val="FF00FF"/>
                </a:solidFill>
                <a:effectLst/>
              </a:rPr>
              <a:t>二维数组的存储分配方式</a:t>
            </a:r>
            <a:endParaRPr lang="zh-CN" altLang="en-US" b="1" dirty="0">
              <a:solidFill>
                <a:srgbClr val="FF00FF"/>
              </a:solidFill>
              <a:effectLst/>
            </a:endParaRPr>
          </a:p>
        </p:txBody>
      </p:sp>
      <p:sp>
        <p:nvSpPr>
          <p:cNvPr id="130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331913"/>
            <a:ext cx="11734800" cy="5373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中，按“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行优先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”原则分配数组元素的存储空间。也就是说，对数组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来说，它的各个成分被分配的内存空间的顺序是：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首先分配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元素；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然后分配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元素；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…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最后再分配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n-1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元素，如此等等。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每行元素按下标值从小到大进行。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B8444F-3516-44C9-BCE7-8FFA8C2F0D1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09775" name="Group 79"/>
          <p:cNvGraphicFramePr>
            <a:graphicFrameLocks noGrp="1"/>
          </p:cNvGraphicFramePr>
          <p:nvPr>
            <p:ph sz="half" idx="1"/>
          </p:nvPr>
        </p:nvGraphicFramePr>
        <p:xfrm>
          <a:off x="6240463" y="549275"/>
          <a:ext cx="4038600" cy="5973763"/>
        </p:xfrm>
        <a:graphic>
          <a:graphicData uri="http://schemas.openxmlformats.org/drawingml/2006/table">
            <a:tbl>
              <a:tblPr/>
              <a:tblGrid>
                <a:gridCol w="1520825"/>
                <a:gridCol w="1038225"/>
                <a:gridCol w="1479550"/>
              </a:tblGrid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成分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内存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a[0][0]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A000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a[0][1]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A004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a[0][2]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A008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a[0][3]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A00C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a[1][0]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A010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a[1][1]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A014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a[1][2]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A018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a[1][3]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A01C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a[2][0]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A020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a[2][1]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A024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a[2][2]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A028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a[2][3]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A02C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09761" name="Rectangle 6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304800"/>
            <a:ext cx="5029200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a[3][4];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假设从首地址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A000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开始分配内存空间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每个元素占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4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个字节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数组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a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的存储分配图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8A2D75-C120-4BF1-B245-CCA01102163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73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8" y="-11112"/>
            <a:ext cx="9144000" cy="12684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定义数组，是为了使用数组中的元素。</a:t>
            </a:r>
            <a:b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</a:b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）二维数组的访问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273859" name="Rectangle 3"/>
          <p:cNvSpPr>
            <a:spLocks noGrp="1" noChangeArrowheads="1"/>
          </p:cNvSpPr>
          <p:nvPr>
            <p:ph idx="1"/>
          </p:nvPr>
        </p:nvSpPr>
        <p:spPr>
          <a:xfrm>
            <a:off x="166688" y="1289050"/>
            <a:ext cx="5540375" cy="50847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下标表达式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数组名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行下标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][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列下标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下标都从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0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开始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下标可以是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整型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常量、变量或表达式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	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: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a[k][2]       a[0][i+2]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double  b[3][4];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表示二维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float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型数组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包含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个元素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分别是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b[0][0]   b[0][1]   b[0][2]   b[0][3]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b[1][0]   b[1][1]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b[1][2]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b[1][3]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b[2][0]   b[2][1]   b[2][2]   b[2][3]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73860" name="Rectangle 4"/>
          <p:cNvSpPr>
            <a:spLocks noChangeArrowheads="1"/>
          </p:cNvSpPr>
          <p:nvPr/>
        </p:nvSpPr>
        <p:spPr bwMode="auto">
          <a:xfrm>
            <a:off x="6469063" y="476250"/>
            <a:ext cx="5334000" cy="65246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赋值：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b[1][2]=89.5;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for(i=0;i&lt;3;i++)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for(j=0;j&lt;4;j++)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  	b[i][j]=0.0;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输入：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for(i=0;i&lt;3;i++)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for(j=0;j&lt;4;j++)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	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%lf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”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608E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&amp;b[i][j]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输出：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for(i=0;i&lt;3;i++)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for(j=0;j&lt;4;j++) 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 	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%lf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”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608E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b[i][j]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);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2" name="Line 5"/>
          <p:cNvSpPr/>
          <p:nvPr/>
        </p:nvSpPr>
        <p:spPr>
          <a:xfrm flipH="1">
            <a:off x="5867400" y="652463"/>
            <a:ext cx="7938" cy="61722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文本框 1"/>
          <p:cNvSpPr txBox="1"/>
          <p:nvPr/>
        </p:nvSpPr>
        <p:spPr>
          <a:xfrm>
            <a:off x="3048000" y="31369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 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37C5F6-22D1-4B8A-A732-77C78D09322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5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80988" y="139700"/>
            <a:ext cx="2890838" cy="8683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内存分配：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65987" name="Text Box 3"/>
          <p:cNvSpPr txBox="1"/>
          <p:nvPr/>
        </p:nvSpPr>
        <p:spPr>
          <a:xfrm>
            <a:off x="280988" y="1004888"/>
            <a:ext cx="3240087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一维数组：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int a[3]</a:t>
            </a:r>
            <a:r>
              <a:rPr lang="en-US" altLang="zh-CN" sz="2400" b="1" dirty="0">
                <a:latin typeface="Arial" panose="020B0604020202020204" pitchFamily="34" charset="0"/>
              </a:rPr>
              <a:t>={10,11,-2};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61445" name="Line 4"/>
          <p:cNvSpPr/>
          <p:nvPr/>
        </p:nvSpPr>
        <p:spPr>
          <a:xfrm>
            <a:off x="4440238" y="0"/>
            <a:ext cx="0" cy="6858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5"/>
          <p:cNvGrpSpPr/>
          <p:nvPr/>
        </p:nvGrpSpPr>
        <p:grpSpPr>
          <a:xfrm>
            <a:off x="280988" y="2157413"/>
            <a:ext cx="2016125" cy="1320800"/>
            <a:chOff x="1020" y="1661"/>
            <a:chExt cx="1270" cy="832"/>
          </a:xfrm>
        </p:grpSpPr>
        <p:sp>
          <p:nvSpPr>
            <p:cNvPr id="61497" name="Rectangle 6"/>
            <p:cNvSpPr/>
            <p:nvPr/>
          </p:nvSpPr>
          <p:spPr>
            <a:xfrm>
              <a:off x="1474" y="1661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98" name="Rectangle 7"/>
            <p:cNvSpPr/>
            <p:nvPr/>
          </p:nvSpPr>
          <p:spPr>
            <a:xfrm>
              <a:off x="1474" y="1933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99" name="Rectangle 8"/>
            <p:cNvSpPr/>
            <p:nvPr/>
          </p:nvSpPr>
          <p:spPr>
            <a:xfrm>
              <a:off x="1474" y="2205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500" name="Text Box 9"/>
            <p:cNvSpPr txBox="1"/>
            <p:nvPr/>
          </p:nvSpPr>
          <p:spPr>
            <a:xfrm>
              <a:off x="1020" y="2205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a[2]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501" name="Text Box 10"/>
            <p:cNvSpPr txBox="1"/>
            <p:nvPr/>
          </p:nvSpPr>
          <p:spPr>
            <a:xfrm>
              <a:off x="1020" y="1933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502" name="Text Box 11"/>
            <p:cNvSpPr txBox="1"/>
            <p:nvPr/>
          </p:nvSpPr>
          <p:spPr>
            <a:xfrm>
              <a:off x="1020" y="1661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503" name="Text Box 12"/>
            <p:cNvSpPr txBox="1"/>
            <p:nvPr/>
          </p:nvSpPr>
          <p:spPr>
            <a:xfrm>
              <a:off x="1655" y="1933"/>
              <a:ext cx="31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11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504" name="Text Box 13"/>
            <p:cNvSpPr txBox="1"/>
            <p:nvPr/>
          </p:nvSpPr>
          <p:spPr>
            <a:xfrm>
              <a:off x="1655" y="2205"/>
              <a:ext cx="31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-2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505" name="Text Box 14"/>
            <p:cNvSpPr txBox="1"/>
            <p:nvPr/>
          </p:nvSpPr>
          <p:spPr>
            <a:xfrm>
              <a:off x="1700" y="1661"/>
              <a:ext cx="31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10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1065999" name="Text Box 15"/>
          <p:cNvSpPr txBox="1"/>
          <p:nvPr/>
        </p:nvSpPr>
        <p:spPr>
          <a:xfrm>
            <a:off x="4656138" y="188913"/>
            <a:ext cx="4464050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二维数组：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int b[2][3]</a:t>
            </a:r>
            <a:r>
              <a:rPr lang="en-US" altLang="zh-CN" sz="2400" b="1" dirty="0">
                <a:latin typeface="Arial" panose="020B0604020202020204" pitchFamily="34" charset="0"/>
              </a:rPr>
              <a:t>={1,2,100,10,11,-2};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3" name="Group 16"/>
          <p:cNvGrpSpPr/>
          <p:nvPr/>
        </p:nvGrpSpPr>
        <p:grpSpPr>
          <a:xfrm>
            <a:off x="4583113" y="1268413"/>
            <a:ext cx="2592387" cy="2689225"/>
            <a:chOff x="1927" y="799"/>
            <a:chExt cx="1633" cy="1694"/>
          </a:xfrm>
        </p:grpSpPr>
        <p:sp>
          <p:nvSpPr>
            <p:cNvPr id="61478" name="Rectangle 17"/>
            <p:cNvSpPr/>
            <p:nvPr/>
          </p:nvSpPr>
          <p:spPr>
            <a:xfrm>
              <a:off x="2744" y="1117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79" name="Rectangle 18"/>
            <p:cNvSpPr/>
            <p:nvPr/>
          </p:nvSpPr>
          <p:spPr>
            <a:xfrm>
              <a:off x="2744" y="1389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80" name="Rectangle 19"/>
            <p:cNvSpPr/>
            <p:nvPr/>
          </p:nvSpPr>
          <p:spPr>
            <a:xfrm>
              <a:off x="2744" y="1661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81" name="Rectangle 20"/>
            <p:cNvSpPr/>
            <p:nvPr/>
          </p:nvSpPr>
          <p:spPr>
            <a:xfrm>
              <a:off x="2744" y="1933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82" name="Text Box 21"/>
            <p:cNvSpPr txBox="1"/>
            <p:nvPr/>
          </p:nvSpPr>
          <p:spPr>
            <a:xfrm>
              <a:off x="1927" y="2205"/>
              <a:ext cx="8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b[1][2]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483" name="Text Box 22"/>
            <p:cNvSpPr txBox="1"/>
            <p:nvPr/>
          </p:nvSpPr>
          <p:spPr>
            <a:xfrm>
              <a:off x="1927" y="1933"/>
              <a:ext cx="7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b[1][1]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484" name="Text Box 23"/>
            <p:cNvSpPr txBox="1"/>
            <p:nvPr/>
          </p:nvSpPr>
          <p:spPr>
            <a:xfrm>
              <a:off x="1927" y="1661"/>
              <a:ext cx="6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b[1][0]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485" name="Text Box 24"/>
            <p:cNvSpPr txBox="1"/>
            <p:nvPr/>
          </p:nvSpPr>
          <p:spPr>
            <a:xfrm>
              <a:off x="1927" y="1344"/>
              <a:ext cx="7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b[0][2]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486" name="Text Box 25"/>
            <p:cNvSpPr txBox="1"/>
            <p:nvPr/>
          </p:nvSpPr>
          <p:spPr>
            <a:xfrm>
              <a:off x="1927" y="1071"/>
              <a:ext cx="6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b[0][1]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487" name="Rectangle 26"/>
            <p:cNvSpPr/>
            <p:nvPr/>
          </p:nvSpPr>
          <p:spPr>
            <a:xfrm>
              <a:off x="2744" y="845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88" name="Text Box 27"/>
            <p:cNvSpPr txBox="1"/>
            <p:nvPr/>
          </p:nvSpPr>
          <p:spPr>
            <a:xfrm>
              <a:off x="1927" y="799"/>
              <a:ext cx="6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b[0][0]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489" name="Text Box 28"/>
            <p:cNvSpPr txBox="1"/>
            <p:nvPr/>
          </p:nvSpPr>
          <p:spPr>
            <a:xfrm>
              <a:off x="2970" y="1933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11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grpSp>
          <p:nvGrpSpPr>
            <p:cNvPr id="61490" name="Group 29"/>
            <p:cNvGrpSpPr/>
            <p:nvPr/>
          </p:nvGrpSpPr>
          <p:grpSpPr>
            <a:xfrm>
              <a:off x="2744" y="2205"/>
              <a:ext cx="816" cy="277"/>
              <a:chOff x="2744" y="2205"/>
              <a:chExt cx="816" cy="277"/>
            </a:xfrm>
          </p:grpSpPr>
          <p:sp>
            <p:nvSpPr>
              <p:cNvPr id="61495" name="Rectangle 30"/>
              <p:cNvSpPr/>
              <p:nvPr/>
            </p:nvSpPr>
            <p:spPr>
              <a:xfrm>
                <a:off x="2744" y="2205"/>
                <a:ext cx="816" cy="27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ClrTx/>
                  <a:buSzTx/>
                  <a:buNone/>
                </a:pPr>
                <a:endParaRPr lang="zh-CN" altLang="zh-CN" sz="18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1496" name="Text Box 31"/>
              <p:cNvSpPr txBox="1"/>
              <p:nvPr/>
            </p:nvSpPr>
            <p:spPr>
              <a:xfrm>
                <a:off x="2971" y="2251"/>
                <a:ext cx="273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latin typeface="Arial" panose="020B0604020202020204" pitchFamily="34" charset="0"/>
                  </a:rPr>
                  <a:t>-2</a:t>
                </a:r>
                <a:endParaRPr lang="en-US" altLang="zh-CN" sz="1800" b="1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1491" name="Text Box 32"/>
            <p:cNvSpPr txBox="1"/>
            <p:nvPr/>
          </p:nvSpPr>
          <p:spPr>
            <a:xfrm>
              <a:off x="2834" y="1667"/>
              <a:ext cx="54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10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92" name="Text Box 33"/>
            <p:cNvSpPr txBox="1"/>
            <p:nvPr/>
          </p:nvSpPr>
          <p:spPr>
            <a:xfrm>
              <a:off x="2971" y="1389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100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93" name="Text Box 34"/>
            <p:cNvSpPr txBox="1"/>
            <p:nvPr/>
          </p:nvSpPr>
          <p:spPr>
            <a:xfrm>
              <a:off x="2971" y="1117"/>
              <a:ext cx="4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2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94" name="Text Box 35"/>
            <p:cNvSpPr txBox="1"/>
            <p:nvPr/>
          </p:nvSpPr>
          <p:spPr>
            <a:xfrm>
              <a:off x="2971" y="845"/>
              <a:ext cx="27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1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1066020" name="Text Box 36"/>
          <p:cNvSpPr txBox="1"/>
          <p:nvPr/>
        </p:nvSpPr>
        <p:spPr>
          <a:xfrm>
            <a:off x="7175500" y="3500438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b[0][5]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066021" name="Text Box 37"/>
          <p:cNvSpPr txBox="1"/>
          <p:nvPr/>
        </p:nvSpPr>
        <p:spPr>
          <a:xfrm>
            <a:off x="7175500" y="3068638"/>
            <a:ext cx="1152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b[0][4]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066022" name="Text Box 38"/>
          <p:cNvSpPr txBox="1"/>
          <p:nvPr/>
        </p:nvSpPr>
        <p:spPr>
          <a:xfrm>
            <a:off x="7175500" y="2636838"/>
            <a:ext cx="1081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b[0][3]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066023" name="Text Box 39"/>
          <p:cNvSpPr txBox="1"/>
          <p:nvPr/>
        </p:nvSpPr>
        <p:spPr>
          <a:xfrm>
            <a:off x="7175500" y="2133600"/>
            <a:ext cx="1152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b[0][2]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24" name="Text Box 40"/>
          <p:cNvSpPr txBox="1"/>
          <p:nvPr/>
        </p:nvSpPr>
        <p:spPr>
          <a:xfrm>
            <a:off x="7175500" y="1700213"/>
            <a:ext cx="1081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b[0][1]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25" name="Text Box 41"/>
          <p:cNvSpPr txBox="1"/>
          <p:nvPr/>
        </p:nvSpPr>
        <p:spPr>
          <a:xfrm>
            <a:off x="7175500" y="1268413"/>
            <a:ext cx="1081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b[0][0]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26" name="Rectangle 42"/>
          <p:cNvSpPr/>
          <p:nvPr/>
        </p:nvSpPr>
        <p:spPr>
          <a:xfrm>
            <a:off x="4583113" y="5157788"/>
            <a:ext cx="1152525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400" b="1" dirty="0">
                <a:latin typeface="Arial" panose="020B0604020202020204" pitchFamily="34" charset="0"/>
              </a:rPr>
              <a:t>][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j</a:t>
            </a:r>
            <a:r>
              <a:rPr lang="en-US" altLang="zh-CN" sz="2400" b="1" dirty="0">
                <a:latin typeface="Arial" panose="020B0604020202020204" pitchFamily="34" charset="0"/>
              </a:rPr>
              <a:t>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27" name="AutoShape 43"/>
          <p:cNvSpPr/>
          <p:nvPr/>
        </p:nvSpPr>
        <p:spPr>
          <a:xfrm>
            <a:off x="5951538" y="5302250"/>
            <a:ext cx="936625" cy="144463"/>
          </a:xfrm>
          <a:prstGeom prst="rightArrow">
            <a:avLst>
              <a:gd name="adj1" fmla="val 50000"/>
              <a:gd name="adj2" fmla="val 16208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1066028" name="Rectangle 44"/>
          <p:cNvSpPr/>
          <p:nvPr/>
        </p:nvSpPr>
        <p:spPr>
          <a:xfrm>
            <a:off x="7248525" y="5157788"/>
            <a:ext cx="193040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</a:rPr>
              <a:t>] [</a:t>
            </a:r>
            <a:r>
              <a:rPr lang="en-US" altLang="zh-CN" sz="2400" b="1" dirty="0">
                <a:solidFill>
                  <a:srgbClr val="F608E8"/>
                </a:solidFill>
                <a:latin typeface="Arial" panose="020B0604020202020204" pitchFamily="34" charset="0"/>
              </a:rPr>
              <a:t>?</a:t>
            </a:r>
            <a:r>
              <a:rPr lang="en-US" altLang="zh-CN" sz="2400" b="1" dirty="0">
                <a:latin typeface="Arial" panose="020B0604020202020204" pitchFamily="34" charset="0"/>
              </a:rPr>
              <a:t>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29" name="Text Box 45"/>
          <p:cNvSpPr txBox="1"/>
          <p:nvPr/>
        </p:nvSpPr>
        <p:spPr>
          <a:xfrm>
            <a:off x="4583113" y="4076700"/>
            <a:ext cx="7227887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任意的二维数组</a:t>
            </a:r>
            <a:r>
              <a:rPr lang="en-US" altLang="zh-CN" sz="2400" b="1" dirty="0">
                <a:latin typeface="Arial" panose="020B0604020202020204" pitchFamily="34" charset="0"/>
              </a:rPr>
              <a:t>b[M][N]</a:t>
            </a:r>
            <a:r>
              <a:rPr lang="zh-CN" altLang="en-US" sz="2400" b="1" dirty="0">
                <a:latin typeface="Arial" panose="020B0604020202020204" pitchFamily="34" charset="0"/>
              </a:rPr>
              <a:t>的</a:t>
            </a:r>
            <a:r>
              <a:rPr lang="zh-CN" altLang="en-US" sz="2400" b="1" dirty="0">
                <a:solidFill>
                  <a:srgbClr val="FFFF00"/>
                </a:solidFill>
                <a:latin typeface="Arial" panose="020B0604020202020204" pitchFamily="34" charset="0"/>
              </a:rPr>
              <a:t>下标表达式</a:t>
            </a:r>
            <a:r>
              <a:rPr lang="zh-CN" altLang="en-US" sz="2400" b="1" dirty="0">
                <a:latin typeface="Arial" panose="020B0604020202020204" pitchFamily="34" charset="0"/>
              </a:rPr>
              <a:t>，可以转换为如下形式：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66031" name="Rectangle 47"/>
          <p:cNvSpPr/>
          <p:nvPr/>
        </p:nvSpPr>
        <p:spPr>
          <a:xfrm>
            <a:off x="4583113" y="6165850"/>
            <a:ext cx="1152525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</a:rPr>
              <a:t>][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</a:rPr>
              <a:t>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32" name="AutoShape 48"/>
          <p:cNvSpPr/>
          <p:nvPr/>
        </p:nvSpPr>
        <p:spPr>
          <a:xfrm>
            <a:off x="5951538" y="6310313"/>
            <a:ext cx="936625" cy="144462"/>
          </a:xfrm>
          <a:prstGeom prst="rightArrow">
            <a:avLst>
              <a:gd name="adj1" fmla="val 50000"/>
              <a:gd name="adj2" fmla="val 162088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1066033" name="Rectangle 49"/>
          <p:cNvSpPr/>
          <p:nvPr/>
        </p:nvSpPr>
        <p:spPr>
          <a:xfrm>
            <a:off x="7248525" y="6165850"/>
            <a:ext cx="193040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</a:rPr>
              <a:t>][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</a:rPr>
              <a:t>*3+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</a:rPr>
              <a:t>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34" name="Text Box 50"/>
          <p:cNvSpPr txBox="1"/>
          <p:nvPr/>
        </p:nvSpPr>
        <p:spPr>
          <a:xfrm>
            <a:off x="4583113" y="5805488"/>
            <a:ext cx="792162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例：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53" name="Rectangle 44"/>
          <p:cNvSpPr/>
          <p:nvPr/>
        </p:nvSpPr>
        <p:spPr>
          <a:xfrm>
            <a:off x="7162800" y="5157788"/>
            <a:ext cx="1223963" cy="431800"/>
          </a:xfrm>
          <a:prstGeom prst="rect">
            <a:avLst/>
          </a:prstGeom>
          <a:solidFill>
            <a:srgbClr val="021A4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400" b="1" dirty="0">
                <a:latin typeface="Arial" panose="020B0604020202020204" pitchFamily="34" charset="0"/>
              </a:rPr>
              <a:t>*N+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j</a:t>
            </a:r>
            <a:r>
              <a:rPr lang="en-US" altLang="zh-CN" sz="2400" b="1" dirty="0">
                <a:latin typeface="Arial" panose="020B0604020202020204" pitchFamily="34" charset="0"/>
              </a:rPr>
              <a:t>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067800" y="463550"/>
          <a:ext cx="2743200" cy="1082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</a:tblGrid>
              <a:tr h="541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</a:t>
                      </a:r>
                      <a:endParaRPr lang="zh-CN" altLang="en-US" sz="2800" dirty="0"/>
                    </a:p>
                  </a:txBody>
                  <a:tcPr marL="91442" marR="91442"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2</a:t>
                      </a:r>
                      <a:endParaRPr lang="zh-CN" altLang="en-US" sz="2800" dirty="0"/>
                    </a:p>
                  </a:txBody>
                  <a:tcPr marL="91442" marR="91442"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100</a:t>
                      </a:r>
                      <a:endParaRPr lang="zh-CN" altLang="en-US" sz="2800" dirty="0"/>
                    </a:p>
                  </a:txBody>
                  <a:tcPr marL="91442" marR="91442" marT="45701" marB="45701"/>
                </a:tc>
              </a:tr>
              <a:tr h="541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10</a:t>
                      </a:r>
                      <a:endParaRPr lang="zh-CN" altLang="en-US" sz="2800" dirty="0"/>
                    </a:p>
                  </a:txBody>
                  <a:tcPr marL="91442" marR="91442"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42" marR="91442"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-2</a:t>
                      </a:r>
                      <a:endParaRPr lang="zh-CN" altLang="en-US" sz="2800" dirty="0"/>
                    </a:p>
                  </a:txBody>
                  <a:tcPr marL="91442" marR="91442" marT="45701" marB="45701"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6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6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6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6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6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6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66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66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6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6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6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06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06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06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999" grpId="0"/>
      <p:bldP spid="1066020" grpId="0"/>
      <p:bldP spid="1066021" grpId="0"/>
      <p:bldP spid="1066022" grpId="0"/>
      <p:bldP spid="1066023" grpId="0"/>
      <p:bldP spid="1066024" grpId="0"/>
      <p:bldP spid="1066025" grpId="0"/>
      <p:bldP spid="1066026" grpId="0" animBg="1"/>
      <p:bldP spid="1066027" grpId="0" bldLvl="0" animBg="1"/>
      <p:bldP spid="1066028" grpId="0" animBg="1"/>
      <p:bldP spid="1066029" grpId="0"/>
      <p:bldP spid="1066031" grpId="0"/>
      <p:bldP spid="1066032" grpId="0" bldLvl="0" animBg="1"/>
      <p:bldP spid="1066033" grpId="0" animBg="1"/>
      <p:bldP spid="1066034" grpId="0"/>
      <p:bldP spid="53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6CCA03-54E2-467A-BB6F-2317FD4754F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299" name="Rectangle 2"/>
          <p:cNvSpPr/>
          <p:nvPr/>
        </p:nvSpPr>
        <p:spPr>
          <a:xfrm>
            <a:off x="6350" y="0"/>
            <a:ext cx="9238615" cy="65855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rPr>
              <a:t>课后实践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】</a:t>
            </a:r>
            <a:r>
              <a: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rPr>
              <a:t>程序的运行结果是什么？思考原因。</a:t>
            </a:r>
            <a:endParaRPr lang="zh-CN" altLang="en-US" sz="28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#include&lt;stdio.h&gt;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#define M 2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#define N 3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int main()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{	int i,j;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	int b[M][N]={1,2,100,10,11,-2};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	printf(“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输出方式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\n");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for(i=0;i&lt;M;i++)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		for(j=0;j&lt;N;j++)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			printf("%4d",b[i][j]);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printf("\n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输出方式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</a:rPr>
              <a:t>\n");</a:t>
            </a:r>
            <a:endParaRPr lang="en-US" altLang="zh-CN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for(i=0;i&lt;M;i++)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		for(j=0;j&lt;N;j++)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			printf("%4d",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b[0][i*N+j]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);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143000" lvl="2" indent="-2286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printf("\n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输出方式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3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\n");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143000" lvl="2" indent="-2286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	for(i=0;i&lt;M*N;i++)</a:t>
            </a:r>
            <a:endParaRPr lang="en-US" altLang="zh-CN" sz="28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1143000" lvl="2" indent="-2286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		printf("%4d",b[0][i]);</a:t>
            </a:r>
            <a:endParaRPr lang="en-US" altLang="zh-CN" sz="12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6EB396-6F0C-44EC-B0DF-DF15DDC4F3E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34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二维数组初始化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345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3733800"/>
            <a:ext cx="11703685" cy="294449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分行进行：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 a[3][5]=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{ 0,1,2,3,4 },{ 1,2,3,4,5 },{ 2,3,4,5,6 }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 ;</a:t>
            </a:r>
            <a:endParaRPr kumimoji="0" lang="en-US" altLang="zh-CN" sz="3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或，将所有数据写在一对大括号内：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a[3][5]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={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0,1,2,3,4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1,2,3,4,5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2,3,4,5,6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按数组元素在内存中的存放顺序依次赋值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345540" name="Group 4"/>
          <p:cNvGraphicFramePr>
            <a:graphicFrameLocks noGrp="1"/>
          </p:cNvGraphicFramePr>
          <p:nvPr>
            <p:ph sz="half" idx="1"/>
          </p:nvPr>
        </p:nvGraphicFramePr>
        <p:xfrm>
          <a:off x="456883" y="1142683"/>
          <a:ext cx="3554412" cy="2305051"/>
        </p:xfrm>
        <a:graphic>
          <a:graphicData uri="http://schemas.openxmlformats.org/drawingml/2006/table">
            <a:tbl>
              <a:tblPr/>
              <a:tblGrid>
                <a:gridCol w="549275"/>
                <a:gridCol w="549275"/>
                <a:gridCol w="595312"/>
                <a:gridCol w="655638"/>
                <a:gridCol w="609600"/>
                <a:gridCol w="595312"/>
              </a:tblGrid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零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一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二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三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四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零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一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二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351B39-4CE5-4A8D-84B0-C1FE555D69B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9634" name="Rectangle 2"/>
          <p:cNvSpPr>
            <a:spLocks noGrp="1" noChangeArrowheads="1"/>
          </p:cNvSpPr>
          <p:nvPr>
            <p:ph idx="1"/>
          </p:nvPr>
        </p:nvSpPr>
        <p:spPr>
          <a:xfrm>
            <a:off x="0" y="609600"/>
            <a:ext cx="12192000" cy="55327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b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 ][4]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={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 0,1,2,3 } 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 1,2,3,4 }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 2,3,4,5 }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endParaRPr kumimoji="0" lang="en-US" altLang="zh-CN" sz="3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0" marR="0" lvl="3" indent="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 3,4,5,6 }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{4,5,6,7 }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};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endParaRPr kumimoji="0" lang="en-US" altLang="zh-CN" sz="3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定义二维数组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有五行（虽然在定义中没有指出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数组有几行），每行四个元素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注意：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多维数组定义中，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若省缺长度，只能是最左边的一维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，即最外层一维，下述写法都是错误的。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a[3][ ]= ...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b[ ][ ][4]= ...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c[2][ ][5]= ...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5257800" y="4217670"/>
            <a:ext cx="709613" cy="1417638"/>
            <a:chOff x="3904" y="1706"/>
            <a:chExt cx="1425" cy="941"/>
          </a:xfrm>
        </p:grpSpPr>
        <p:sp>
          <p:nvSpPr>
            <p:cNvPr id="66565" name="Line 4"/>
            <p:cNvSpPr/>
            <p:nvPr/>
          </p:nvSpPr>
          <p:spPr>
            <a:xfrm>
              <a:off x="3969" y="1706"/>
              <a:ext cx="1360" cy="908"/>
            </a:xfrm>
            <a:prstGeom prst="line">
              <a:avLst/>
            </a:prstGeom>
            <a:ln w="57150" cap="flat" cmpd="sng">
              <a:solidFill>
                <a:srgbClr val="F608E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66" name="Line 5"/>
            <p:cNvSpPr/>
            <p:nvPr/>
          </p:nvSpPr>
          <p:spPr>
            <a:xfrm flipH="1">
              <a:off x="3904" y="1739"/>
              <a:ext cx="1360" cy="908"/>
            </a:xfrm>
            <a:prstGeom prst="line">
              <a:avLst/>
            </a:prstGeom>
            <a:ln w="57150" cap="flat" cmpd="sng">
              <a:solidFill>
                <a:srgbClr val="F608E8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F8A416-9F11-449A-A81B-5F6F92DCF4F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60578" name="Rectangle 2"/>
          <p:cNvSpPr>
            <a:spLocks noGrp="1" noChangeArrowheads="1"/>
          </p:cNvSpPr>
          <p:nvPr>
            <p:ph idx="1"/>
          </p:nvPr>
        </p:nvSpPr>
        <p:spPr>
          <a:xfrm>
            <a:off x="0" y="533400"/>
            <a:ext cx="8737600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 x[5][2][26];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定义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: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x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是一个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维数组。它的成分类型是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int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第一维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个成分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第二维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个成分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第三维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26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个成分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访问：下标表达式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在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m= x[0][1][3]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中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: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x[0][1][3]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是 三维数组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x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的一个元素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类型是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int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型。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TABLE_ENDDRAG_ORIGIN_RECT" val="693*25"/>
  <p:tag name="TABLE_ENDDRAG_RECT" val="266*25*693*25"/>
</p:tagLst>
</file>

<file path=ppt/tags/tag2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9430</Words>
  <Application>WPS 演示</Application>
  <PresentationFormat>宽屏</PresentationFormat>
  <Paragraphs>1209</Paragraphs>
  <Slides>35</Slides>
  <Notes>13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2" baseType="lpstr">
      <vt:lpstr>Arial</vt:lpstr>
      <vt:lpstr>宋体</vt:lpstr>
      <vt:lpstr>Wingdings</vt:lpstr>
      <vt:lpstr>Tahoma</vt:lpstr>
      <vt:lpstr>Arial</vt:lpstr>
      <vt:lpstr>黑体</vt:lpstr>
      <vt:lpstr>Times New Roman</vt:lpstr>
      <vt:lpstr>隶书</vt:lpstr>
      <vt:lpstr>华文隶书</vt:lpstr>
      <vt:lpstr>微软雅黑</vt:lpstr>
      <vt:lpstr>Arial Unicode MS</vt:lpstr>
      <vt:lpstr>Verdana</vt:lpstr>
      <vt:lpstr>Gungsuh</vt:lpstr>
      <vt:lpstr>Malgun Gothic</vt:lpstr>
      <vt:lpstr>Monotype Corsiva</vt:lpstr>
      <vt:lpstr>华文彩云</vt:lpstr>
      <vt:lpstr>1_Slit</vt:lpstr>
      <vt:lpstr>第6章 批量数据组织—数组</vt:lpstr>
      <vt:lpstr>§6.1  成绩统计—数组类型 </vt:lpstr>
      <vt:lpstr>PowerPoint 演示文稿</vt:lpstr>
      <vt:lpstr>PowerPoint 演示文稿</vt:lpstr>
      <vt:lpstr>PowerPoint 演示文稿</vt:lpstr>
      <vt:lpstr>数组类型（array-type）</vt:lpstr>
      <vt:lpstr>§6.1.1  数组定义</vt:lpstr>
      <vt:lpstr>PowerPoint 演示文稿</vt:lpstr>
      <vt:lpstr>PowerPoint 演示文稿</vt:lpstr>
      <vt:lpstr>PowerPoint 演示文稿</vt:lpstr>
      <vt:lpstr>§6.1.3  数组操作需要注意的问题</vt:lpstr>
      <vt:lpstr>PowerPoint 演示文稿</vt:lpstr>
      <vt:lpstr>PowerPoint 演示文稿</vt:lpstr>
      <vt:lpstr>【课堂练习】求一组数中的最大数</vt:lpstr>
      <vt:lpstr>[例] 求一组数中的最大数 | 记录位置</vt:lpstr>
      <vt:lpstr>一维数组的初始化</vt:lpstr>
      <vt:lpstr>g[0]、g[1]的值通过数组初始化得到</vt:lpstr>
      <vt:lpstr>【课堂练习】将数组中的数颠倒顺序存放</vt:lpstr>
      <vt:lpstr>【思考】【课后实践】如下程序实现什么功能？</vt:lpstr>
      <vt:lpstr>【思考】【课后实践】 1.程序运行结果？ 2.j++和k++在此程序中起到什么作用？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(2) 二维数组的存储分配方式</vt:lpstr>
      <vt:lpstr>PowerPoint 演示文稿</vt:lpstr>
      <vt:lpstr> 定义数组，是为了使用数组中的元素。 （3）二维数组的访问</vt:lpstr>
      <vt:lpstr>内存分配：</vt:lpstr>
      <vt:lpstr>PowerPoint 演示文稿</vt:lpstr>
      <vt:lpstr>二维数组初始化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小鱼儿</cp:lastModifiedBy>
  <cp:revision>777</cp:revision>
  <dcterms:created xsi:type="dcterms:W3CDTF">2019-09-21T08:05:00Z</dcterms:created>
  <dcterms:modified xsi:type="dcterms:W3CDTF">2025-11-16T11:36:08Z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2052-12.1.0.23542</vt:lpwstr>
  </property>
  <property fmtid="{D5CDD505-2E9C-101B-9397-08002B2CF9AE}" pid="4" name="ICV">
    <vt:lpwstr>26A394C995DE4A79AB7F87E8DF9EB792_12</vt:lpwstr>
  </property>
</Properties>
</file>