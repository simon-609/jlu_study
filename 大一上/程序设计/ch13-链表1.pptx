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32" r:id="rId3"/>
    <p:sldId id="486" r:id="rId5"/>
    <p:sldId id="435" r:id="rId6"/>
    <p:sldId id="389" r:id="rId7"/>
    <p:sldId id="373" r:id="rId8"/>
    <p:sldId id="528" r:id="rId9"/>
    <p:sldId id="992" r:id="rId10"/>
    <p:sldId id="1003" r:id="rId11"/>
    <p:sldId id="996" r:id="rId12"/>
    <p:sldId id="440" r:id="rId13"/>
    <p:sldId id="480" r:id="rId14"/>
    <p:sldId id="481" r:id="rId15"/>
    <p:sldId id="388" r:id="rId16"/>
    <p:sldId id="410" r:id="rId17"/>
    <p:sldId id="540" r:id="rId18"/>
    <p:sldId id="541" r:id="rId19"/>
    <p:sldId id="557" r:id="rId20"/>
    <p:sldId id="558" r:id="rId21"/>
    <p:sldId id="993" r:id="rId22"/>
    <p:sldId id="990" r:id="rId23"/>
    <p:sldId id="972" r:id="rId24"/>
    <p:sldId id="994" r:id="rId25"/>
    <p:sldId id="995" r:id="rId26"/>
    <p:sldId id="443" r:id="rId27"/>
    <p:sldId id="444" r:id="rId28"/>
    <p:sldId id="445" r:id="rId29"/>
    <p:sldId id="446" r:id="rId30"/>
    <p:sldId id="489" r:id="rId31"/>
    <p:sldId id="447" r:id="rId32"/>
    <p:sldId id="448" r:id="rId33"/>
    <p:sldId id="449" r:id="rId34"/>
    <p:sldId id="488" r:id="rId35"/>
    <p:sldId id="991" r:id="rId36"/>
    <p:sldId id="997" r:id="rId37"/>
    <p:sldId id="998" r:id="rId3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05F6"/>
    <a:srgbClr val="FF0000"/>
    <a:srgbClr val="AC01CB"/>
    <a:srgbClr val="CC00CC"/>
    <a:srgbClr val="FF99FF"/>
    <a:srgbClr val="00FFFF"/>
    <a:srgbClr val="000000"/>
    <a:srgbClr val="0000FF"/>
    <a:srgbClr val="FFE705"/>
    <a:srgbClr val="9C1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62" autoAdjust="0"/>
    <p:restoredTop sz="86343" autoAdjust="0"/>
  </p:normalViewPr>
  <p:slideViewPr>
    <p:cSldViewPr showGuides="1">
      <p:cViewPr varScale="1">
        <p:scale>
          <a:sx n="63" d="100"/>
          <a:sy n="63" d="100"/>
        </p:scale>
        <p:origin x="86" y="336"/>
      </p:cViewPr>
      <p:guideLst>
        <p:guide orient="horz" pos="2232"/>
        <p:guide pos="3838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EDBB81C-B78D-4C67-B9A6-A693A83612F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A642F2F-CBDA-4990-BBF0-8EDCDCA8CD86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线性表：</a:t>
            </a:r>
            <a:endParaRPr lang="en-US" altLang="zh-CN"/>
          </a:p>
          <a:p>
            <a:r>
              <a:rPr lang="zh-CN" altLang="en-US"/>
              <a:t>逻辑相邻、存储相邻（不相邻）</a:t>
            </a:r>
            <a:endParaRPr lang="zh-CN" altLang="en-US"/>
          </a:p>
        </p:txBody>
      </p:sp>
      <p:sp>
        <p:nvSpPr>
          <p:cNvPr id="2355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202F885-873B-43CC-BF5C-79282D8260B9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逻辑上连续、有序，内存地址不一定连续</a:t>
            </a:r>
            <a:endParaRPr lang="zh-CN" altLang="en-US"/>
          </a:p>
        </p:txBody>
      </p:sp>
      <p:sp>
        <p:nvSpPr>
          <p:cNvPr id="2560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F6E042F-EB36-4A89-B8E0-696D53FA5744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2B8EF6-0600-40F8-8D9E-F823A8C8FF98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F7CC8D9-2DA4-42DF-BBAE-95085EFB7E33}" type="slidenum">
              <a:rPr lang="en-US" altLang="zh-CN" smtClean="0"/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</a:t>
            </a:r>
            <a:r>
              <a:rPr lang="zh-CN" altLang="en-US"/>
              <a:t>语言程序在内存中的布局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360C64A-2DF9-4D1D-8E0F-6B61909E77F5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E3C70C3-EAF3-4798-AF65-917396F1ED3E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0926874-C839-4C5C-B97D-01F68E511A46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B7B096A-D46B-4474-B915-079C4C043CE9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90313EF-8BBB-4B3D-9353-523B24EC3E0E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1A7E669-68DB-4E5B-8244-73923A6C1A70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D57F0-AD26-429C-8ED7-B1B4D3EC7293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960188C-3A4E-456D-A789-38CBFBD0677C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76A1BC-00A9-44FE-857E-694B57948467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22C7EB4-240B-49E4-AA70-2257945B2553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F9FA71-B03D-4025-BAE9-4578899B0FC5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3E1BF76-BCA0-469B-B07B-5B3C679BBF74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EA46C-4243-461D-A14F-956D2100C0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2CB4B-E387-420F-9AC3-2CCE5A1A564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1C452-CCE4-4D68-B53B-3D441E2816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F7E059-93BA-4A9D-B255-D4770C6C1FB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1D7A03-7D2E-4592-9759-BFEE276AFF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95DA8-9A23-49E6-96B4-D3E6B05A0A0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4F4C0-2D31-4C38-93F6-724FB33F14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879B8-A7D6-4BBD-B640-B2F79EF6F0D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3089F-9D7C-4F93-AC1B-B563830C1D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C1F951-B368-401C-BE91-399B7EC9EC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8826F-34FD-430B-9D94-2EE0AFFC2E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A4739-A02D-4CE0-AEED-DC4434B5C51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3D6E9E-3A92-4627-BE37-B9338B71E7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EC4F5-0294-4535-8C0D-EA1AB62517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D0168-1E16-4461-9C7A-A93E9C9105B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7AF0A1-382B-4B41-8D6C-323146065D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8765DC-0645-4E93-AB21-495AB0A3278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683C0C2C-43CC-4F60-B061-3B41A31BC38D}" type="slidenum">
              <a:rPr lang="en-US" altLang="zh-CN"/>
            </a:fld>
            <a:endParaRPr lang="en-US" altLang="zh-CN"/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openxmlformats.org/officeDocument/2006/relationships/slide" Target="slide1.xml"/><Relationship Id="rId3" Type="http://schemas.openxmlformats.org/officeDocument/2006/relationships/slide" Target="slide14.xml"/><Relationship Id="rId2" Type="http://schemas.openxmlformats.org/officeDocument/2006/relationships/slide" Target="slide11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.xml"/><Relationship Id="rId3" Type="http://schemas.openxmlformats.org/officeDocument/2006/relationships/slide" Target="slide32.xml"/><Relationship Id="rId2" Type="http://schemas.openxmlformats.org/officeDocument/2006/relationships/slide" Target="slide31.xml"/><Relationship Id="rId1" Type="http://schemas.openxmlformats.org/officeDocument/2006/relationships/slide" Target="slide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1" Type="http://schemas.openxmlformats.org/officeDocument/2006/relationships/slide" Target="slide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E6A6D4-9520-4641-9131-23721FC67E2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91440"/>
            <a:ext cx="8228330" cy="296164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b="1"/>
              <a:t>第</a:t>
            </a:r>
            <a:r>
              <a:rPr lang="en-US" altLang="zh-CN" sz="4000" b="1"/>
              <a:t>10</a:t>
            </a:r>
            <a:r>
              <a:rPr lang="zh-CN" altLang="en-US" sz="4000" b="1"/>
              <a:t>章</a:t>
            </a:r>
            <a:r>
              <a:rPr lang="en-US" altLang="zh-CN" sz="4000" b="1"/>
              <a:t> </a:t>
            </a:r>
            <a:r>
              <a:rPr lang="zh-CN" altLang="en-US" sz="4000" b="1"/>
              <a:t>递归</a:t>
            </a:r>
            <a:br>
              <a:rPr lang="zh-CN" altLang="en-US" sz="4000" b="1"/>
            </a:br>
            <a:r>
              <a:rPr lang="zh-CN" altLang="en-US" sz="4000" b="1"/>
              <a:t>第</a:t>
            </a:r>
            <a:r>
              <a:rPr lang="en-US" altLang="zh-CN" sz="4000" b="1"/>
              <a:t>11</a:t>
            </a:r>
            <a:r>
              <a:rPr lang="zh-CN" altLang="en-US" sz="4000" b="1"/>
              <a:t>章</a:t>
            </a:r>
            <a:r>
              <a:rPr lang="en-US" altLang="zh-CN" sz="4000" b="1"/>
              <a:t> </a:t>
            </a:r>
            <a:r>
              <a:rPr lang="zh-CN" altLang="en-US" sz="4000" b="1"/>
              <a:t>文件</a:t>
            </a:r>
            <a:br>
              <a:rPr lang="zh-CN" altLang="en-US" sz="4000" b="1"/>
            </a:br>
            <a:r>
              <a:rPr lang="zh-CN" altLang="en-US" sz="4000" b="1"/>
              <a:t>第</a:t>
            </a:r>
            <a:r>
              <a:rPr lang="en-US" altLang="zh-CN" sz="4000" b="1"/>
              <a:t>12</a:t>
            </a:r>
            <a:r>
              <a:rPr lang="zh-CN" altLang="en-US" sz="4000" b="1"/>
              <a:t>章</a:t>
            </a:r>
            <a:r>
              <a:rPr lang="en-US" altLang="zh-CN" sz="4000" b="1"/>
              <a:t> </a:t>
            </a:r>
            <a:r>
              <a:rPr lang="zh-CN" altLang="en-US" sz="4000" b="1"/>
              <a:t>结构化程序设计</a:t>
            </a:r>
            <a:br>
              <a:rPr lang="zh-CN" altLang="en-US" sz="4000" b="1"/>
            </a:br>
            <a:r>
              <a:rPr lang="zh-CN" altLang="en-US" sz="4000" b="1"/>
              <a:t>第</a:t>
            </a:r>
            <a:r>
              <a:rPr lang="en-US" altLang="zh-CN" sz="4000" b="1"/>
              <a:t>13</a:t>
            </a:r>
            <a:r>
              <a:rPr lang="zh-CN" altLang="en-US" sz="4000" b="1"/>
              <a:t>章 动态数据组织</a:t>
            </a:r>
            <a:endParaRPr lang="zh-CN" altLang="en-US" sz="4000" b="1"/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2819400"/>
            <a:ext cx="9066213" cy="3600450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3600" b="1" dirty="0">
                <a:ea typeface="隶书" pitchFamily="49" charset="-122"/>
                <a:hlinkClick r:id="rId1" action="ppaction://hlinksldjump"/>
              </a:rPr>
              <a:t>§13.1 </a:t>
            </a:r>
            <a:r>
              <a:rPr lang="zh-CN" altLang="en-US" sz="3600" b="1" dirty="0">
                <a:ea typeface="隶书" pitchFamily="49" charset="-122"/>
                <a:hlinkClick r:id="rId1" action="ppaction://hlinksldjump"/>
              </a:rPr>
              <a:t>动态数据结构</a:t>
            </a:r>
            <a:endParaRPr lang="zh-CN" altLang="en-US" sz="3600" b="1" dirty="0">
              <a:ea typeface="隶书" pitchFamily="49" charset="-122"/>
            </a:endParaRPr>
          </a:p>
          <a:p>
            <a:pPr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3600" b="1" dirty="0">
                <a:ea typeface="隶书" pitchFamily="49" charset="-122"/>
                <a:hlinkClick r:id="rId2" action="ppaction://hlinksldjump"/>
              </a:rPr>
              <a:t>§13.3 </a:t>
            </a:r>
            <a:r>
              <a:rPr lang="zh-CN" altLang="en-US" sz="3600" b="1" dirty="0">
                <a:ea typeface="隶书" pitchFamily="49" charset="-122"/>
                <a:hlinkClick r:id="rId2" action="ppaction://hlinksldjump"/>
              </a:rPr>
              <a:t>链表</a:t>
            </a:r>
            <a:endParaRPr lang="en-US" altLang="zh-CN" sz="3600" b="1" dirty="0">
              <a:ea typeface="隶书" pitchFamily="49" charset="-122"/>
            </a:endParaRPr>
          </a:p>
          <a:p>
            <a:pPr lvl="1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3600" b="1" dirty="0">
                <a:ea typeface="隶书" pitchFamily="49" charset="-122"/>
                <a:hlinkClick r:id="rId3" action="ppaction://hlinksldjump"/>
              </a:rPr>
              <a:t>§13.3.1 </a:t>
            </a:r>
            <a:r>
              <a:rPr lang="zh-CN" altLang="en-US" sz="3600" b="1" dirty="0">
                <a:ea typeface="隶书" pitchFamily="49" charset="-122"/>
                <a:hlinkClick r:id="rId3" action="ppaction://hlinksldjump"/>
              </a:rPr>
              <a:t>单向链表</a:t>
            </a:r>
            <a:r>
              <a:rPr lang="zh-CN" altLang="en-US" sz="3600" b="1" dirty="0">
                <a:ea typeface="隶书" pitchFamily="49" charset="-122"/>
              </a:rPr>
              <a:t>（熟练掌握）</a:t>
            </a:r>
            <a:endParaRPr lang="en-US" altLang="zh-CN" sz="3600" b="1" dirty="0">
              <a:ea typeface="隶书" pitchFamily="49" charset="-122"/>
            </a:endParaRPr>
          </a:p>
          <a:p>
            <a:pPr lvl="2" eaLnBrk="1" hangingPunct="1">
              <a:spcBef>
                <a:spcPct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ea typeface="隶书" pitchFamily="49" charset="-122"/>
              </a:rPr>
              <a:t>创建、遍历、检索、插入、删除、交换、排序</a:t>
            </a:r>
            <a:endParaRPr lang="en-US" altLang="zh-CN" sz="2400" b="1" dirty="0">
              <a:ea typeface="隶书" pitchFamily="49" charset="-122"/>
            </a:endParaRPr>
          </a:p>
          <a:p>
            <a:pPr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3600" b="1" dirty="0">
                <a:ea typeface="隶书" pitchFamily="49" charset="-122"/>
                <a:hlinkClick r:id="rId4" action="ppaction://hlinksldjump"/>
              </a:rPr>
              <a:t>§</a:t>
            </a:r>
            <a:r>
              <a:rPr lang="en-US" altLang="zh-CN" sz="3600" b="1" dirty="0">
                <a:ea typeface="隶书" pitchFamily="49" charset="-122"/>
                <a:hlinkClick r:id="" action="ppaction://noaction"/>
              </a:rPr>
              <a:t>13.4</a:t>
            </a:r>
            <a:r>
              <a:rPr lang="zh-CN" altLang="en-US" sz="3600" b="1" dirty="0">
                <a:ea typeface="隶书" pitchFamily="49" charset="-122"/>
                <a:hlinkClick r:id="" action="ppaction://noaction"/>
              </a:rPr>
              <a:t>程序设计实例</a:t>
            </a:r>
            <a:r>
              <a:rPr lang="zh-CN" altLang="en-US" sz="3600" b="1" dirty="0">
                <a:ea typeface="隶书" pitchFamily="49" charset="-122"/>
              </a:rPr>
              <a:t>（熟练掌握）</a:t>
            </a:r>
            <a:endParaRPr lang="en-US" altLang="zh-CN" sz="3600" b="1" dirty="0">
              <a:ea typeface="隶书" pitchFamily="49" charset="-122"/>
            </a:endParaRPr>
          </a:p>
          <a:p>
            <a:pPr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>
                <a:ea typeface="隶书" pitchFamily="49" charset="-122"/>
                <a:hlinkClick r:id="" action="ppaction://noaction"/>
              </a:rPr>
              <a:t>本章小结</a:t>
            </a:r>
            <a:endParaRPr lang="en-US" altLang="zh-CN" sz="3600" b="1" dirty="0">
              <a:ea typeface="隶书" pitchFamily="49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C2DA973-C64C-47D2-AB1A-444F07239201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3605" name="Line 7"/>
          <p:cNvSpPr>
            <a:spLocks noChangeShapeType="1"/>
          </p:cNvSpPr>
          <p:nvPr/>
        </p:nvSpPr>
        <p:spPr bwMode="auto">
          <a:xfrm>
            <a:off x="2841625" y="5984875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06" name="Line 8"/>
          <p:cNvSpPr>
            <a:spLocks noChangeShapeType="1"/>
          </p:cNvSpPr>
          <p:nvPr/>
        </p:nvSpPr>
        <p:spPr bwMode="auto">
          <a:xfrm>
            <a:off x="4302125" y="5984875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08" name="Line 10"/>
          <p:cNvSpPr>
            <a:spLocks noChangeShapeType="1"/>
          </p:cNvSpPr>
          <p:nvPr/>
        </p:nvSpPr>
        <p:spPr bwMode="auto">
          <a:xfrm>
            <a:off x="5762625" y="5984875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10" name="Line 12"/>
          <p:cNvSpPr>
            <a:spLocks noChangeShapeType="1"/>
          </p:cNvSpPr>
          <p:nvPr/>
        </p:nvSpPr>
        <p:spPr bwMode="auto">
          <a:xfrm>
            <a:off x="7235825" y="601345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042160" y="5711825"/>
            <a:ext cx="925513" cy="552450"/>
            <a:chOff x="3216" y="8995"/>
            <a:chExt cx="1458" cy="870"/>
          </a:xfrm>
        </p:grpSpPr>
        <p:sp>
          <p:nvSpPr>
            <p:cNvPr id="23603" name="Oval 5"/>
            <p:cNvSpPr>
              <a:spLocks noChangeArrowheads="1"/>
            </p:cNvSpPr>
            <p:nvPr/>
          </p:nvSpPr>
          <p:spPr bwMode="auto">
            <a:xfrm>
              <a:off x="3335" y="9005"/>
              <a:ext cx="1160" cy="86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611" name="Text Box 13"/>
            <p:cNvSpPr txBox="1">
              <a:spLocks noChangeArrowheads="1"/>
            </p:cNvSpPr>
            <p:nvPr/>
          </p:nvSpPr>
          <p:spPr bwMode="auto">
            <a:xfrm>
              <a:off x="3216" y="8995"/>
              <a:ext cx="1458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905F6"/>
                  </a:solidFill>
                  <a:latin typeface="Times New Roman" panose="02020603050405020304" pitchFamily="18" charset="0"/>
                </a:rPr>
                <a:t>stu1</a:t>
              </a:r>
              <a:endParaRPr kumimoji="1" lang="en-US" altLang="zh-CN" sz="2800">
                <a:solidFill>
                  <a:srgbClr val="F905F6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49009" y="5705475"/>
            <a:ext cx="817561" cy="546100"/>
            <a:chOff x="5589" y="8985"/>
            <a:chExt cx="1287" cy="860"/>
          </a:xfrm>
        </p:grpSpPr>
        <p:sp>
          <p:nvSpPr>
            <p:cNvPr id="23604" name="Oval 6"/>
            <p:cNvSpPr>
              <a:spLocks noChangeArrowheads="1"/>
            </p:cNvSpPr>
            <p:nvPr/>
          </p:nvSpPr>
          <p:spPr bwMode="auto">
            <a:xfrm>
              <a:off x="5615" y="8985"/>
              <a:ext cx="1160" cy="86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612" name="Text Box 14"/>
            <p:cNvSpPr txBox="1">
              <a:spLocks noChangeArrowheads="1"/>
            </p:cNvSpPr>
            <p:nvPr/>
          </p:nvSpPr>
          <p:spPr bwMode="auto">
            <a:xfrm>
              <a:off x="5589" y="8999"/>
              <a:ext cx="1287" cy="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800" dirty="0">
                  <a:solidFill>
                    <a:schemeClr val="tx1">
                      <a:lumMod val="50000"/>
                    </a:schemeClr>
                  </a:solidFill>
                  <a:latin typeface="Times New Roman" panose="02020603050405020304" pitchFamily="18" charset="0"/>
                </a:rPr>
                <a:t>stu2</a:t>
              </a:r>
              <a:endParaRPr kumimoji="1" lang="en-US" altLang="zh-CN" sz="28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46650" y="5694680"/>
            <a:ext cx="817562" cy="556895"/>
            <a:chOff x="7790" y="8968"/>
            <a:chExt cx="1287" cy="877"/>
          </a:xfrm>
        </p:grpSpPr>
        <p:sp>
          <p:nvSpPr>
            <p:cNvPr id="23607" name="Oval 9"/>
            <p:cNvSpPr>
              <a:spLocks noChangeArrowheads="1"/>
            </p:cNvSpPr>
            <p:nvPr/>
          </p:nvSpPr>
          <p:spPr bwMode="auto">
            <a:xfrm>
              <a:off x="7915" y="8985"/>
              <a:ext cx="1160" cy="86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613" name="Text Box 15"/>
            <p:cNvSpPr txBox="1">
              <a:spLocks noChangeArrowheads="1"/>
            </p:cNvSpPr>
            <p:nvPr/>
          </p:nvSpPr>
          <p:spPr bwMode="auto">
            <a:xfrm>
              <a:off x="7790" y="8968"/>
              <a:ext cx="1287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905F6"/>
                  </a:solidFill>
                  <a:latin typeface="Times New Roman" panose="02020603050405020304" pitchFamily="18" charset="0"/>
                </a:rPr>
                <a:t>stu3</a:t>
              </a:r>
              <a:endParaRPr kumimoji="1" lang="en-US" altLang="zh-CN" sz="2800">
                <a:solidFill>
                  <a:srgbClr val="F905F6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470015" y="5705475"/>
            <a:ext cx="817562" cy="546100"/>
            <a:chOff x="10189" y="8985"/>
            <a:chExt cx="1287" cy="860"/>
          </a:xfrm>
        </p:grpSpPr>
        <p:sp>
          <p:nvSpPr>
            <p:cNvPr id="23609" name="Oval 11"/>
            <p:cNvSpPr>
              <a:spLocks noChangeArrowheads="1"/>
            </p:cNvSpPr>
            <p:nvPr/>
          </p:nvSpPr>
          <p:spPr bwMode="auto">
            <a:xfrm>
              <a:off x="10235" y="8985"/>
              <a:ext cx="1160" cy="86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614" name="Text Box 16"/>
            <p:cNvSpPr txBox="1">
              <a:spLocks noChangeArrowheads="1"/>
            </p:cNvSpPr>
            <p:nvPr/>
          </p:nvSpPr>
          <p:spPr bwMode="auto">
            <a:xfrm>
              <a:off x="10189" y="8998"/>
              <a:ext cx="1287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905F6"/>
                  </a:solidFill>
                  <a:latin typeface="Times New Roman" panose="02020603050405020304" pitchFamily="18" charset="0"/>
                </a:rPr>
                <a:t>stu4</a:t>
              </a:r>
              <a:endParaRPr kumimoji="1" lang="en-US" altLang="zh-CN" sz="2800">
                <a:solidFill>
                  <a:srgbClr val="F905F6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" name="Group 17"/>
          <p:cNvGrpSpPr/>
          <p:nvPr/>
        </p:nvGrpSpPr>
        <p:grpSpPr bwMode="auto">
          <a:xfrm>
            <a:off x="7937500" y="5721350"/>
            <a:ext cx="880082" cy="546100"/>
            <a:chOff x="4104" y="936"/>
            <a:chExt cx="650" cy="344"/>
          </a:xfrm>
        </p:grpSpPr>
        <p:sp>
          <p:nvSpPr>
            <p:cNvPr id="22598" name="Oval 18"/>
            <p:cNvSpPr>
              <a:spLocks noChangeArrowheads="1"/>
            </p:cNvSpPr>
            <p:nvPr/>
          </p:nvSpPr>
          <p:spPr bwMode="auto">
            <a:xfrm>
              <a:off x="4104" y="936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599" name="Text Box 19"/>
            <p:cNvSpPr txBox="1">
              <a:spLocks noChangeArrowheads="1"/>
            </p:cNvSpPr>
            <p:nvPr/>
          </p:nvSpPr>
          <p:spPr bwMode="auto">
            <a:xfrm>
              <a:off x="4179" y="984"/>
              <a:ext cx="57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F905F6"/>
                  </a:solidFill>
                  <a:latin typeface="Times New Roman" panose="02020603050405020304" pitchFamily="18" charset="0"/>
                </a:rPr>
                <a:t>stu50</a:t>
              </a:r>
              <a:endParaRPr kumimoji="1" lang="en-US" altLang="zh-CN" sz="2000">
                <a:solidFill>
                  <a:srgbClr val="F905F6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3568" name="Rectangle 22"/>
          <p:cNvSpPr>
            <a:spLocks noGrp="1" noChangeArrowheads="1"/>
          </p:cNvSpPr>
          <p:nvPr>
            <p:ph type="title"/>
          </p:nvPr>
        </p:nvSpPr>
        <p:spPr>
          <a:xfrm>
            <a:off x="1644650" y="-26988"/>
            <a:ext cx="8229600" cy="6207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>
                <a:solidFill>
                  <a:schemeClr val="hlink"/>
                </a:solidFill>
              </a:rPr>
              <a:t>§13.1 </a:t>
            </a:r>
            <a:r>
              <a:rPr lang="zh-CN" altLang="en-US" b="1">
                <a:solidFill>
                  <a:schemeClr val="hlink"/>
                </a:solidFill>
              </a:rPr>
              <a:t>动态数据结构</a:t>
            </a:r>
            <a:r>
              <a:rPr lang="zh-CN" altLang="en-US">
                <a:solidFill>
                  <a:schemeClr val="hlink"/>
                </a:solidFill>
              </a:rPr>
              <a:t> </a:t>
            </a:r>
            <a:endParaRPr lang="zh-CN" altLang="en-US">
              <a:solidFill>
                <a:schemeClr val="hlink"/>
              </a:solidFill>
            </a:endParaRPr>
          </a:p>
        </p:txBody>
      </p:sp>
      <p:sp>
        <p:nvSpPr>
          <p:cNvPr id="439319" name="Text Box 23"/>
          <p:cNvSpPr txBox="1">
            <a:spLocks noChangeArrowheads="1"/>
          </p:cNvSpPr>
          <p:nvPr/>
        </p:nvSpPr>
        <p:spPr bwMode="auto">
          <a:xfrm>
            <a:off x="228600" y="2362200"/>
            <a:ext cx="7237095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3600">
                <a:latin typeface="Arial" panose="020B0604020202020204" pitchFamily="34" charset="0"/>
                <a:ea typeface="隶书" pitchFamily="49" charset="-122"/>
              </a:rPr>
              <a:t>数组</a:t>
            </a:r>
            <a:endParaRPr lang="zh-CN" altLang="en-US" sz="3600">
              <a:latin typeface="Arial" panose="020B0604020202020204" pitchFamily="34" charset="0"/>
              <a:ea typeface="隶书" pitchFamily="49" charset="-122"/>
            </a:endParaRPr>
          </a:p>
          <a:p>
            <a:pPr lvl="1"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Arial" panose="020B0604020202020204" pitchFamily="34" charset="0"/>
                <a:ea typeface="隶书" pitchFamily="49" charset="-122"/>
              </a:rPr>
              <a:t>空间：固定</a:t>
            </a:r>
            <a:endParaRPr lang="zh-CN" altLang="en-US">
              <a:latin typeface="Arial" panose="020B0604020202020204" pitchFamily="34" charset="0"/>
              <a:ea typeface="隶书" pitchFamily="49" charset="-122"/>
            </a:endParaRPr>
          </a:p>
          <a:p>
            <a:pPr lvl="1"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>
                <a:latin typeface="Arial" panose="020B0604020202020204" pitchFamily="34" charset="0"/>
                <a:ea typeface="隶书" pitchFamily="49" charset="-122"/>
              </a:rPr>
              <a:t>操作：删除、增加、排序</a:t>
            </a:r>
            <a:r>
              <a:rPr lang="en-US" altLang="zh-CN">
                <a:latin typeface="Arial" panose="020B0604020202020204" pitchFamily="34" charset="0"/>
                <a:ea typeface="隶书" pitchFamily="49" charset="-122"/>
              </a:rPr>
              <a:t>——</a:t>
            </a:r>
            <a:r>
              <a:rPr lang="zh-CN" altLang="en-US">
                <a:latin typeface="Arial" panose="020B0604020202020204" pitchFamily="34" charset="0"/>
                <a:ea typeface="隶书" pitchFamily="49" charset="-122"/>
              </a:rPr>
              <a:t>数据移动</a:t>
            </a:r>
            <a:endParaRPr lang="zh-CN" altLang="en-US">
              <a:latin typeface="Arial" panose="020B0604020202020204" pitchFamily="34" charset="0"/>
              <a:ea typeface="隶书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3600">
                <a:latin typeface="Arial" panose="020B0604020202020204" pitchFamily="34" charset="0"/>
                <a:ea typeface="隶书" pitchFamily="49" charset="-122"/>
              </a:rPr>
              <a:t>动态数据结构</a:t>
            </a:r>
            <a:endParaRPr lang="zh-CN" altLang="en-US" sz="3600">
              <a:latin typeface="Arial" panose="020B0604020202020204" pitchFamily="34" charset="0"/>
              <a:ea typeface="隶书" pitchFamily="49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36550" y="963613"/>
          <a:ext cx="8856664" cy="1112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083"/>
                <a:gridCol w="1107083"/>
                <a:gridCol w="1107083"/>
                <a:gridCol w="1107083"/>
                <a:gridCol w="1107083"/>
                <a:gridCol w="1107083"/>
                <a:gridCol w="1107083"/>
                <a:gridCol w="1107083"/>
              </a:tblGrid>
              <a:tr h="370946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zh-CN" altLang="en-US" sz="18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4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5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6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……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50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</a:tr>
              <a:tr h="370946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Zhangh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Lisi</a:t>
                      </a:r>
                      <a:endParaRPr lang="zh-CN" altLang="en-US" sz="18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Liuli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Wanw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Zhaosi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Wangp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Renxl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Fansh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</a:tr>
              <a:tr h="370945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89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91</a:t>
                      </a:r>
                      <a:endParaRPr lang="zh-CN" altLang="en-US" sz="18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72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90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67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56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……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100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</a:tr>
            </a:tbl>
          </a:graphicData>
        </a:graphic>
      </p:graphicFrame>
      <p:sp>
        <p:nvSpPr>
          <p:cNvPr id="12" name="上弧形箭头 11"/>
          <p:cNvSpPr>
            <a:spLocks noChangeArrowheads="1"/>
          </p:cNvSpPr>
          <p:nvPr/>
        </p:nvSpPr>
        <p:spPr bwMode="auto">
          <a:xfrm flipH="1">
            <a:off x="6669088" y="630238"/>
            <a:ext cx="890587" cy="333375"/>
          </a:xfrm>
          <a:prstGeom prst="curvedDownArrow">
            <a:avLst>
              <a:gd name="adj1" fmla="val 25045"/>
              <a:gd name="adj2" fmla="val 50102"/>
              <a:gd name="adj3" fmla="val 2231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2" name="上弧形箭头 31"/>
          <p:cNvSpPr>
            <a:spLocks noChangeArrowheads="1"/>
          </p:cNvSpPr>
          <p:nvPr/>
        </p:nvSpPr>
        <p:spPr bwMode="auto">
          <a:xfrm flipH="1">
            <a:off x="4392613" y="630238"/>
            <a:ext cx="890587" cy="333375"/>
          </a:xfrm>
          <a:prstGeom prst="curvedDownArrow">
            <a:avLst>
              <a:gd name="adj1" fmla="val 25045"/>
              <a:gd name="adj2" fmla="val 50102"/>
              <a:gd name="adj3" fmla="val 2231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3" name="上弧形箭头 32"/>
          <p:cNvSpPr>
            <a:spLocks noChangeArrowheads="1"/>
          </p:cNvSpPr>
          <p:nvPr/>
        </p:nvSpPr>
        <p:spPr bwMode="auto">
          <a:xfrm flipH="1">
            <a:off x="5575300" y="630238"/>
            <a:ext cx="889000" cy="333375"/>
          </a:xfrm>
          <a:prstGeom prst="curvedDownArrow">
            <a:avLst>
              <a:gd name="adj1" fmla="val 25000"/>
              <a:gd name="adj2" fmla="val 50012"/>
              <a:gd name="adj3" fmla="val 2231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4" name="上弧形箭头 33"/>
          <p:cNvSpPr>
            <a:spLocks noChangeArrowheads="1"/>
          </p:cNvSpPr>
          <p:nvPr/>
        </p:nvSpPr>
        <p:spPr bwMode="auto">
          <a:xfrm flipH="1">
            <a:off x="3259138" y="627063"/>
            <a:ext cx="889000" cy="334962"/>
          </a:xfrm>
          <a:prstGeom prst="curvedDownArrow">
            <a:avLst>
              <a:gd name="adj1" fmla="val 24882"/>
              <a:gd name="adj2" fmla="val 49775"/>
              <a:gd name="adj3" fmla="val 2231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5" name="上弧形箭头 34"/>
          <p:cNvSpPr>
            <a:spLocks noChangeArrowheads="1"/>
          </p:cNvSpPr>
          <p:nvPr/>
        </p:nvSpPr>
        <p:spPr bwMode="auto">
          <a:xfrm flipH="1">
            <a:off x="7824788" y="630238"/>
            <a:ext cx="890587" cy="333375"/>
          </a:xfrm>
          <a:prstGeom prst="curvedDownArrow">
            <a:avLst>
              <a:gd name="adj1" fmla="val 25045"/>
              <a:gd name="adj2" fmla="val 50102"/>
              <a:gd name="adj3" fmla="val 2231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751445" y="2285683"/>
            <a:ext cx="4440238" cy="30464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905F6"/>
                </a:solidFill>
                <a:latin typeface="Arial" panose="020B0604020202020204" pitchFamily="34" charset="0"/>
              </a:rPr>
              <a:t>设计数据结构：（结构体数组）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#define SIZE 50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struct stuType{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	int No;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	char name[20];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	int score;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};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struct stuType 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</a:rPr>
              <a:t>stu</a:t>
            </a:r>
            <a:r>
              <a:rPr lang="en-US" altLang="zh-CN" sz="2400">
                <a:latin typeface="Arial" panose="020B0604020202020204" pitchFamily="34" charset="0"/>
              </a:rPr>
              <a:t>[</a:t>
            </a: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SIZE</a:t>
            </a:r>
            <a:r>
              <a:rPr lang="en-US" altLang="zh-CN" sz="2400">
                <a:latin typeface="Arial" panose="020B0604020202020204" pitchFamily="34" charset="0"/>
              </a:rPr>
              <a:t>];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2590" name="矩形 13"/>
          <p:cNvSpPr>
            <a:spLocks noChangeArrowheads="1"/>
          </p:cNvSpPr>
          <p:nvPr/>
        </p:nvSpPr>
        <p:spPr bwMode="auto">
          <a:xfrm>
            <a:off x="300038" y="503238"/>
            <a:ext cx="369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50</a:t>
            </a:r>
            <a:r>
              <a:rPr lang="zh-CN" altLang="en-US" sz="2400">
                <a:solidFill>
                  <a:srgbClr val="F905F6"/>
                </a:solidFill>
                <a:latin typeface="Arial" panose="020B0604020202020204" pitchFamily="34" charset="0"/>
              </a:rPr>
              <a:t>个同学的成绩单：</a:t>
            </a:r>
            <a:endParaRPr lang="zh-CN" altLang="en-US" sz="2400">
              <a:solidFill>
                <a:srgbClr val="F905F6"/>
              </a:solidFill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/>
        </p:nvSpPr>
        <p:spPr bwMode="auto">
          <a:xfrm>
            <a:off x="2781300" y="5984875"/>
            <a:ext cx="2540000" cy="655638"/>
          </a:xfrm>
          <a:custGeom>
            <a:avLst/>
            <a:gdLst>
              <a:gd name="T0" fmla="*/ 0 w 2485378"/>
              <a:gd name="T1" fmla="*/ 0 h 903441"/>
              <a:gd name="T2" fmla="*/ 3823431 w 2485378"/>
              <a:gd name="T3" fmla="*/ 1 h 903441"/>
              <a:gd name="T4" fmla="*/ 7708522 w 2485378"/>
              <a:gd name="T5" fmla="*/ 1 h 903441"/>
              <a:gd name="T6" fmla="*/ 8047701 w 2485378"/>
              <a:gd name="T7" fmla="*/ 1 h 903441"/>
              <a:gd name="T8" fmla="*/ 0 60000 65536"/>
              <a:gd name="T9" fmla="*/ 0 60000 65536"/>
              <a:gd name="T10" fmla="*/ 0 60000 65536"/>
              <a:gd name="T11" fmla="*/ 0 60000 65536"/>
              <a:gd name="T12" fmla="*/ 0 w 2485378"/>
              <a:gd name="T13" fmla="*/ 0 h 903441"/>
              <a:gd name="T14" fmla="*/ 2485378 w 2485378"/>
              <a:gd name="T15" fmla="*/ 903441 h 90344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5378" h="903441">
                <a:moveTo>
                  <a:pt x="0" y="0"/>
                </a:moveTo>
                <a:cubicBezTo>
                  <a:pt x="384110" y="412101"/>
                  <a:pt x="768221" y="824203"/>
                  <a:pt x="1156996" y="895738"/>
                </a:cubicBezTo>
                <a:cubicBezTo>
                  <a:pt x="1545772" y="967273"/>
                  <a:pt x="2119604" y="519404"/>
                  <a:pt x="2332653" y="429208"/>
                </a:cubicBezTo>
                <a:cubicBezTo>
                  <a:pt x="2545702" y="339012"/>
                  <a:pt x="2490496" y="346787"/>
                  <a:pt x="2435290" y="354563"/>
                </a:cubicBezTo>
              </a:path>
            </a:pathLst>
          </a:custGeom>
          <a:noFill/>
          <a:ln w="25400" cap="flat" cmpd="sng" algn="ctr">
            <a:solidFill>
              <a:srgbClr val="F905F6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595" name="Line 8"/>
          <p:cNvSpPr>
            <a:spLocks noChangeShapeType="1"/>
          </p:cNvSpPr>
          <p:nvPr/>
        </p:nvSpPr>
        <p:spPr bwMode="auto">
          <a:xfrm>
            <a:off x="1394460" y="5984875"/>
            <a:ext cx="723265" cy="0"/>
          </a:xfrm>
          <a:prstGeom prst="line">
            <a:avLst/>
          </a:prstGeom>
          <a:noFill/>
          <a:ln w="28575">
            <a:solidFill>
              <a:srgbClr val="F905F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33324" y="5692140"/>
            <a:ext cx="1342390" cy="548640"/>
            <a:chOff x="1067" y="8964"/>
            <a:chExt cx="1826" cy="864"/>
          </a:xfrm>
        </p:grpSpPr>
        <p:sp>
          <p:nvSpPr>
            <p:cNvPr id="22596" name="Oval 6"/>
            <p:cNvSpPr>
              <a:spLocks noChangeArrowheads="1"/>
            </p:cNvSpPr>
            <p:nvPr/>
          </p:nvSpPr>
          <p:spPr bwMode="auto">
            <a:xfrm>
              <a:off x="1102" y="8968"/>
              <a:ext cx="1159" cy="86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597" name="Text Box 14"/>
            <p:cNvSpPr txBox="1">
              <a:spLocks noChangeArrowheads="1"/>
            </p:cNvSpPr>
            <p:nvPr/>
          </p:nvSpPr>
          <p:spPr bwMode="auto">
            <a:xfrm>
              <a:off x="1067" y="8964"/>
              <a:ext cx="1826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7030A0"/>
                  </a:solidFill>
                  <a:latin typeface="Times New Roman" panose="02020603050405020304" pitchFamily="18" charset="0"/>
                </a:rPr>
                <a:t>stu</a:t>
              </a:r>
              <a:r>
                <a:rPr kumimoji="1" lang="en-US" altLang="zh-CN" sz="2600">
                  <a:solidFill>
                    <a:srgbClr val="7030A0"/>
                  </a:solidFill>
                  <a:latin typeface="Times New Roman" panose="02020603050405020304" pitchFamily="18" charset="0"/>
                </a:rPr>
                <a:t>51</a:t>
              </a:r>
              <a:endParaRPr kumimoji="1" lang="en-US" altLang="zh-CN" sz="2600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6" name="上弧形箭头 33"/>
          <p:cNvSpPr>
            <a:spLocks noChangeArrowheads="1"/>
          </p:cNvSpPr>
          <p:nvPr/>
        </p:nvSpPr>
        <p:spPr bwMode="auto">
          <a:xfrm flipH="1">
            <a:off x="2181225" y="581025"/>
            <a:ext cx="889000" cy="334963"/>
          </a:xfrm>
          <a:prstGeom prst="curvedDownArrow">
            <a:avLst>
              <a:gd name="adj1" fmla="val 24881"/>
              <a:gd name="adj2" fmla="val 49775"/>
              <a:gd name="adj3" fmla="val 2231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cxnSp>
        <p:nvCxnSpPr>
          <p:cNvPr id="5" name="直接连接符 4"/>
          <p:cNvCxnSpPr>
            <a:cxnSpLocks noChangeShapeType="1"/>
          </p:cNvCxnSpPr>
          <p:nvPr/>
        </p:nvCxnSpPr>
        <p:spPr bwMode="auto">
          <a:xfrm>
            <a:off x="8077200" y="685800"/>
            <a:ext cx="0" cy="1735138"/>
          </a:xfrm>
          <a:prstGeom prst="line">
            <a:avLst/>
          </a:prstGeom>
          <a:noFill/>
          <a:ln w="34925" algn="ctr">
            <a:solidFill>
              <a:srgbClr val="CC00C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9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9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39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55637C3-7FD4-4F73-8EBF-30938BBB3C41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56396" name="Rectangle 44"/>
          <p:cNvSpPr>
            <a:spLocks noChangeArrowheads="1"/>
          </p:cNvSpPr>
          <p:nvPr/>
        </p:nvSpPr>
        <p:spPr bwMode="auto">
          <a:xfrm>
            <a:off x="152400" y="685483"/>
            <a:ext cx="9144000" cy="1223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是</a:t>
            </a:r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结点（数据项）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的</a:t>
            </a:r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有限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集合</a:t>
            </a:r>
            <a:endParaRPr lang="zh-CN" alt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是</a:t>
            </a:r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在程序运行期间、按需建立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的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</p:txBody>
      </p:sp>
      <p:sp>
        <p:nvSpPr>
          <p:cNvPr id="24581" name="Rectangle 4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4356100" cy="702310"/>
          </a:xfrm>
        </p:spPr>
        <p:txBody>
          <a:bodyPr/>
          <a:lstStyle/>
          <a:p>
            <a:pPr algn="l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/>
              <a:t>动态数据结构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847850" y="2947988"/>
          <a:ext cx="1106488" cy="1482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88"/>
              </a:tblGrid>
              <a:tr h="370682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L="91388" marR="91388" marT="45700" marB="45700">
                    <a:solidFill>
                      <a:schemeClr val="tx1">
                        <a:lumMod val="65000"/>
                      </a:schemeClr>
                    </a:solidFill>
                  </a:tcPr>
                </a:tc>
              </a:tr>
              <a:tr h="370682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Zhangh</a:t>
                      </a:r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89</a:t>
                      </a:r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  <a:tr h="370681"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388" marR="91388" marT="45700" marB="45700"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4594" name="Freeform 6"/>
          <p:cNvSpPr/>
          <p:nvPr/>
        </p:nvSpPr>
        <p:spPr bwMode="auto">
          <a:xfrm>
            <a:off x="2540000" y="3141663"/>
            <a:ext cx="979488" cy="108267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3541713" y="2952750"/>
          <a:ext cx="1106487" cy="1484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87"/>
              </a:tblGrid>
              <a:tr h="371079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 dirty="0"/>
                        <a:t>2</a:t>
                      </a:r>
                      <a:endParaRPr lang="en-US" altLang="zh-CN" sz="1800" b="1" dirty="0"/>
                    </a:p>
                  </a:txBody>
                  <a:tcPr marL="91388" marR="91388" marT="45749" marB="45749">
                    <a:solidFill>
                      <a:schemeClr val="tx1">
                        <a:lumMod val="65000"/>
                      </a:schemeClr>
                    </a:solidFill>
                  </a:tcPr>
                </a:tc>
              </a:tr>
              <a:tr h="371079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Lisi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91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  <a:tr h="371078"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388" marR="91388" marT="45749" marB="45749"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4607" name="Freeform 6"/>
          <p:cNvSpPr/>
          <p:nvPr/>
        </p:nvSpPr>
        <p:spPr bwMode="auto">
          <a:xfrm>
            <a:off x="4233863" y="3141663"/>
            <a:ext cx="979487" cy="108902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5229225" y="2938463"/>
          <a:ext cx="1106488" cy="1482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88"/>
              </a:tblGrid>
              <a:tr h="370682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L="91388" marR="91388" marT="45700" marB="45700">
                    <a:solidFill>
                      <a:schemeClr val="tx1">
                        <a:lumMod val="65000"/>
                      </a:schemeClr>
                    </a:solidFill>
                  </a:tcPr>
                </a:tc>
              </a:tr>
              <a:tr h="370682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Liuli</a:t>
                      </a:r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72</a:t>
                      </a:r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  <a:tr h="370681"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388" marR="91388" marT="45700" marB="45700"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4620" name="Freeform 6"/>
          <p:cNvSpPr/>
          <p:nvPr/>
        </p:nvSpPr>
        <p:spPr bwMode="auto">
          <a:xfrm>
            <a:off x="5921375" y="3132138"/>
            <a:ext cx="979488" cy="108267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6921500" y="2943225"/>
          <a:ext cx="1108075" cy="1484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075"/>
              </a:tblGrid>
              <a:tr h="371079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……</a:t>
                      </a:r>
                      <a:endParaRPr lang="zh-CN" altLang="en-US" sz="1800" b="1" dirty="0"/>
                    </a:p>
                  </a:txBody>
                  <a:tcPr marL="91519" marR="91519" marT="45749" marB="45749">
                    <a:solidFill>
                      <a:schemeClr val="tx1">
                        <a:lumMod val="65000"/>
                      </a:schemeClr>
                    </a:solidFill>
                  </a:tcPr>
                </a:tc>
              </a:tr>
              <a:tr h="371079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……</a:t>
                      </a:r>
                      <a:endParaRPr lang="zh-CN" altLang="en-US" sz="1800" b="1" dirty="0"/>
                    </a:p>
                  </a:txBody>
                  <a:tcPr marL="91519" marR="91519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……</a:t>
                      </a:r>
                      <a:endParaRPr lang="zh-CN" altLang="en-US" sz="1800" b="1" dirty="0"/>
                    </a:p>
                  </a:txBody>
                  <a:tcPr marL="91519" marR="91519" marT="45749" marB="45749"/>
                </a:tc>
              </a:tr>
              <a:tr h="371078"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519" marR="91519" marT="45749" marB="45749"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4633" name="Freeform 6"/>
          <p:cNvSpPr/>
          <p:nvPr/>
        </p:nvSpPr>
        <p:spPr bwMode="auto">
          <a:xfrm>
            <a:off x="7615238" y="3132138"/>
            <a:ext cx="979487" cy="108902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594725" y="2943225"/>
          <a:ext cx="1106488" cy="1484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88"/>
              </a:tblGrid>
              <a:tr h="371079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50</a:t>
                      </a:r>
                      <a:endParaRPr lang="zh-CN" altLang="en-US" sz="1800" b="1" dirty="0"/>
                    </a:p>
                  </a:txBody>
                  <a:tcPr marL="91388" marR="91388" marT="45749" marB="45749">
                    <a:solidFill>
                      <a:schemeClr val="tx1">
                        <a:lumMod val="65000"/>
                      </a:schemeClr>
                    </a:solidFill>
                  </a:tcPr>
                </a:tc>
              </a:tr>
              <a:tr h="371079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Fansh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100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rgbClr val="F905F6"/>
                          </a:solidFill>
                        </a:rPr>
                        <a:t>NULL</a:t>
                      </a:r>
                      <a:endParaRPr lang="en-US" altLang="zh-CN" sz="1800" b="1" dirty="0">
                        <a:solidFill>
                          <a:srgbClr val="F905F6"/>
                        </a:solidFill>
                      </a:endParaRPr>
                    </a:p>
                  </a:txBody>
                  <a:tcPr marL="91388" marR="91388" marT="45749" marB="45749"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457200" y="2362200"/>
            <a:ext cx="990600" cy="3048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cxnSp>
        <p:nvCxnSpPr>
          <p:cNvPr id="4" name="肘形连接符 3"/>
          <p:cNvCxnSpPr/>
          <p:nvPr/>
        </p:nvCxnSpPr>
        <p:spPr>
          <a:xfrm>
            <a:off x="978535" y="2676525"/>
            <a:ext cx="869315" cy="465455"/>
          </a:xfrm>
          <a:prstGeom prst="bentConnector3">
            <a:avLst>
              <a:gd name="adj1" fmla="val -168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5" name="文本框 4"/>
          <p:cNvSpPr txBox="1"/>
          <p:nvPr/>
        </p:nvSpPr>
        <p:spPr>
          <a:xfrm>
            <a:off x="381000" y="1909445"/>
            <a:ext cx="9531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905F6"/>
                </a:solidFill>
              </a:rPr>
              <a:t>head</a:t>
            </a:r>
            <a:endParaRPr lang="en-US" altLang="zh-CN" sz="2400">
              <a:solidFill>
                <a:srgbClr val="F905F6"/>
              </a:solidFill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9556115" y="1752600"/>
            <a:ext cx="2483485" cy="868680"/>
          </a:xfrm>
          <a:prstGeom prst="wedgeRoundRectCallout">
            <a:avLst>
              <a:gd name="adj1" fmla="val -44170"/>
              <a:gd name="adj2" fmla="val 161038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dirty="0">
                <a:solidFill>
                  <a:srgbClr val="FFFF00"/>
                </a:solidFill>
                <a:latin typeface="Verdana" panose="020B0604030504040204" pitchFamily="34" charset="0"/>
                <a:ea typeface="隶书" pitchFamily="49" charset="-122"/>
                <a:sym typeface="+mn-ea"/>
              </a:rPr>
              <a:t>数据域：</a:t>
            </a:r>
            <a:endParaRPr lang="zh-CN" altLang="en-US" sz="2400" dirty="0">
              <a:solidFill>
                <a:srgbClr val="FFFF00"/>
              </a:solidFill>
              <a:latin typeface="Verdana" panose="020B0604030504040204" pitchFamily="34" charset="0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dirty="0">
                <a:latin typeface="Verdana" panose="020B0604030504040204" pitchFamily="34" charset="0"/>
                <a:ea typeface="隶书" pitchFamily="49" charset="-122"/>
                <a:sym typeface="+mn-ea"/>
              </a:rPr>
              <a:t>基本的数据信息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8623935" y="5181600"/>
            <a:ext cx="2835275" cy="868680"/>
          </a:xfrm>
          <a:prstGeom prst="wedgeRoundRectCallout">
            <a:avLst>
              <a:gd name="adj1" fmla="val -44831"/>
              <a:gd name="adj2" fmla="val -145906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dirty="0">
                <a:solidFill>
                  <a:srgbClr val="FFFF00"/>
                </a:solidFill>
                <a:latin typeface="Verdana" panose="020B0604030504040204" pitchFamily="34" charset="0"/>
                <a:ea typeface="隶书" pitchFamily="49" charset="-122"/>
                <a:sym typeface="+mn-ea"/>
              </a:rPr>
              <a:t>指针域：</a:t>
            </a:r>
            <a:r>
              <a:rPr lang="zh-CN" altLang="en-US" sz="2400" dirty="0">
                <a:latin typeface="Verdana" panose="020B0604030504040204" pitchFamily="34" charset="0"/>
                <a:ea typeface="隶书" pitchFamily="49" charset="-122"/>
                <a:sym typeface="+mn-ea"/>
              </a:rPr>
              <a:t>与其它结点</a:t>
            </a:r>
            <a:endParaRPr lang="zh-CN" altLang="en-US" sz="2400" dirty="0">
              <a:latin typeface="Verdana" panose="020B0604030504040204" pitchFamily="34" charset="0"/>
              <a:ea typeface="隶书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dirty="0">
                <a:latin typeface="Verdana" panose="020B0604030504040204" pitchFamily="34" charset="0"/>
                <a:ea typeface="隶书" pitchFamily="49" charset="-122"/>
                <a:sym typeface="+mn-ea"/>
              </a:rPr>
              <a:t>相联系的信息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45830" y="2939415"/>
            <a:ext cx="1195705" cy="1170305"/>
          </a:xfrm>
          <a:prstGeom prst="rect">
            <a:avLst/>
          </a:prstGeom>
          <a:noFill/>
          <a:ln w="28575" cmpd="sng">
            <a:solidFill>
              <a:srgbClr val="F905F6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ldLvl="0" animBg="1"/>
      <p:bldP spid="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7323136-0040-4772-8F0C-1A4E44F6CB32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5087938" y="1339850"/>
            <a:ext cx="4968875" cy="2849563"/>
            <a:chOff x="2154" y="1582"/>
            <a:chExt cx="3130" cy="1795"/>
          </a:xfrm>
        </p:grpSpPr>
        <p:sp>
          <p:nvSpPr>
            <p:cNvPr id="26669" name="Rectangle 3"/>
            <p:cNvSpPr>
              <a:spLocks noChangeArrowheads="1"/>
            </p:cNvSpPr>
            <p:nvPr/>
          </p:nvSpPr>
          <p:spPr bwMode="auto">
            <a:xfrm>
              <a:off x="2154" y="1582"/>
              <a:ext cx="195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 eaLnBrk="1" hangingPunct="1"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905F6"/>
                  </a:solidFill>
                  <a:latin typeface="隶书" pitchFamily="49" charset="-122"/>
                  <a:ea typeface="隶书" pitchFamily="49" charset="-122"/>
                  <a:sym typeface="+mn-ea"/>
                </a:rPr>
                <a:t>结构体类型定义形式 </a:t>
              </a:r>
              <a:endParaRPr lang="zh-CN" altLang="en-US" sz="2400">
                <a:solidFill>
                  <a:srgbClr val="F905F6"/>
                </a:solidFill>
                <a:latin typeface="隶书" pitchFamily="49" charset="-122"/>
                <a:ea typeface="隶书" pitchFamily="49" charset="-122"/>
                <a:sym typeface="+mn-ea"/>
              </a:endParaRPr>
            </a:p>
          </p:txBody>
        </p:sp>
        <p:sp>
          <p:nvSpPr>
            <p:cNvPr id="26670" name="Text Box 4"/>
            <p:cNvSpPr txBox="1">
              <a:spLocks noChangeArrowheads="1"/>
            </p:cNvSpPr>
            <p:nvPr/>
          </p:nvSpPr>
          <p:spPr bwMode="auto">
            <a:xfrm>
              <a:off x="2517" y="1933"/>
              <a:ext cx="2767" cy="14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Verdana" panose="020B0604030504040204" pitchFamily="34" charset="0"/>
                  <a:ea typeface="楷体_GB2312" pitchFamily="49" charset="-122"/>
                </a:rPr>
                <a:t>struct link</a:t>
              </a:r>
              <a:endParaRPr lang="en-US" altLang="zh-CN" sz="2400">
                <a:solidFill>
                  <a:schemeClr val="hlink"/>
                </a:solidFill>
                <a:latin typeface="Verdana" panose="020B0604030504040204" pitchFamily="34" charset="0"/>
                <a:ea typeface="楷体_GB2312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Verdana" panose="020B0604030504040204" pitchFamily="34" charset="0"/>
                  <a:ea typeface="楷体_GB2312" pitchFamily="49" charset="-122"/>
                </a:rPr>
                <a:t>{</a:t>
              </a:r>
              <a:r>
                <a:rPr lang="en-US" altLang="zh-CN" sz="2400">
                  <a:latin typeface="Verdana" panose="020B0604030504040204" pitchFamily="34" charset="0"/>
                  <a:ea typeface="楷体_GB2312" pitchFamily="49" charset="-122"/>
                </a:rPr>
                <a:t>  </a:t>
              </a:r>
              <a:endParaRPr lang="en-US" altLang="zh-CN" sz="2400">
                <a:latin typeface="Verdana" panose="020B0604030504040204" pitchFamily="34" charset="0"/>
                <a:ea typeface="楷体_GB2312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Verdana" panose="020B0604030504040204" pitchFamily="34" charset="0"/>
                  <a:ea typeface="楷体_GB2312" pitchFamily="49" charset="-122"/>
                </a:rPr>
                <a:t>    </a:t>
              </a:r>
              <a:r>
                <a:rPr lang="zh-CN" altLang="en-US" sz="2400">
                  <a:latin typeface="Verdana" panose="020B0604030504040204" pitchFamily="34" charset="0"/>
                  <a:ea typeface="隶书" pitchFamily="49" charset="-122"/>
                </a:rPr>
                <a:t>数据域定义部分</a:t>
              </a:r>
              <a:r>
                <a:rPr lang="en-US" altLang="zh-CN" sz="2400">
                  <a:latin typeface="Verdana" panose="020B0604030504040204" pitchFamily="34" charset="0"/>
                  <a:ea typeface="隶书" pitchFamily="49" charset="-122"/>
                </a:rPr>
                <a:t>;</a:t>
              </a:r>
              <a:endParaRPr lang="en-US" altLang="zh-CN" sz="2400">
                <a:latin typeface="Verdana" panose="020B0604030504040204" pitchFamily="34" charset="0"/>
                <a:ea typeface="隶书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Verdana" panose="020B0604030504040204" pitchFamily="34" charset="0"/>
                <a:ea typeface="隶书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Verdana" panose="020B0604030504040204" pitchFamily="34" charset="0"/>
                  <a:ea typeface="楷体_GB2312" pitchFamily="49" charset="-122"/>
                </a:rPr>
                <a:t>    </a:t>
              </a:r>
              <a:r>
                <a:rPr lang="en-US" altLang="zh-CN" sz="2400">
                  <a:solidFill>
                    <a:schemeClr val="hlink"/>
                  </a:solidFill>
                  <a:latin typeface="Verdana" panose="020B0604030504040204" pitchFamily="34" charset="0"/>
                  <a:ea typeface="楷体_GB2312" pitchFamily="49" charset="-122"/>
                </a:rPr>
                <a:t>struct link</a:t>
              </a:r>
              <a:r>
                <a:rPr lang="en-US" altLang="zh-CN" sz="2400">
                  <a:latin typeface="Verdana" panose="020B0604030504040204" pitchFamily="34" charset="0"/>
                  <a:ea typeface="楷体_GB2312" pitchFamily="49" charset="-122"/>
                </a:rPr>
                <a:t> </a:t>
              </a:r>
              <a:r>
                <a:rPr lang="en-US" altLang="zh-CN" sz="2400">
                  <a:solidFill>
                    <a:srgbClr val="FFFF00"/>
                  </a:solidFill>
                  <a:latin typeface="Verdana" panose="020B0604030504040204" pitchFamily="34" charset="0"/>
                  <a:ea typeface="楷体_GB2312" pitchFamily="49" charset="-122"/>
                </a:rPr>
                <a:t>*</a:t>
              </a:r>
              <a:r>
                <a:rPr lang="en-US" altLang="zh-CN" sz="2400">
                  <a:latin typeface="Verdana" panose="020B0604030504040204" pitchFamily="34" charset="0"/>
                  <a:ea typeface="楷体_GB2312" pitchFamily="49" charset="-122"/>
                </a:rPr>
                <a:t>next ; </a:t>
              </a:r>
              <a:endParaRPr lang="en-US" altLang="zh-CN" sz="2400">
                <a:latin typeface="Verdana" panose="020B0604030504040204" pitchFamily="34" charset="0"/>
                <a:ea typeface="楷体_GB2312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Verdana" panose="020B0604030504040204" pitchFamily="34" charset="0"/>
                  <a:ea typeface="楷体_GB2312" pitchFamily="49" charset="-122"/>
                </a:rPr>
                <a:t>};</a:t>
              </a:r>
              <a:endParaRPr lang="en-US" altLang="zh-CN" sz="2400">
                <a:solidFill>
                  <a:schemeClr val="hlink"/>
                </a:solidFill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6628" name="Group 5"/>
          <p:cNvGrpSpPr/>
          <p:nvPr/>
        </p:nvGrpSpPr>
        <p:grpSpPr bwMode="auto">
          <a:xfrm>
            <a:off x="304800" y="1368425"/>
            <a:ext cx="3559175" cy="2833688"/>
            <a:chOff x="-541" y="1600"/>
            <a:chExt cx="2242" cy="1785"/>
          </a:xfrm>
        </p:grpSpPr>
        <p:grpSp>
          <p:nvGrpSpPr>
            <p:cNvPr id="26664" name="Group 6"/>
            <p:cNvGrpSpPr/>
            <p:nvPr/>
          </p:nvGrpSpPr>
          <p:grpSpPr bwMode="auto">
            <a:xfrm>
              <a:off x="433" y="1933"/>
              <a:ext cx="1268" cy="1452"/>
              <a:chOff x="0" y="0"/>
              <a:chExt cx="20000" cy="20000"/>
            </a:xfrm>
          </p:grpSpPr>
          <p:sp>
            <p:nvSpPr>
              <p:cNvPr id="26667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64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  <a:ea typeface="隶书" pitchFamily="49" charset="-122"/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Arial" panose="020B0604020202020204" pitchFamily="34" charset="0"/>
                    <a:ea typeface="隶书" pitchFamily="49" charset="-122"/>
                  </a:rPr>
                  <a:t>数据域</a:t>
                </a:r>
                <a:endParaRPr lang="zh-CN" altLang="en-US" sz="2400">
                  <a:latin typeface="Arial" panose="020B0604020202020204" pitchFamily="34" charset="0"/>
                  <a:ea typeface="隶书" pitchFamily="49" charset="-122"/>
                </a:endParaRPr>
              </a:p>
              <a:p>
                <a:pPr algn="ctr" eaLnBrk="1" hangingPunct="1">
                  <a:lnSpc>
                    <a:spcPct val="48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  <a:ea typeface="隶书" pitchFamily="49" charset="-122"/>
                </a:endParaRPr>
              </a:p>
              <a:p>
                <a:pPr algn="ctr" eaLnBrk="1" hangingPunct="1">
                  <a:lnSpc>
                    <a:spcPct val="48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  <a:ea typeface="隶书" pitchFamily="49" charset="-122"/>
                </a:endParaRPr>
              </a:p>
              <a:p>
                <a:pPr algn="ctr" eaLnBrk="1" hangingPunct="1">
                  <a:lnSpc>
                    <a:spcPct val="48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  <a:ea typeface="隶书" pitchFamily="49" charset="-122"/>
                </a:endParaRPr>
              </a:p>
              <a:p>
                <a:pPr algn="ctr" eaLnBrk="1" hangingPunct="1">
                  <a:lnSpc>
                    <a:spcPct val="48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  <a:ea typeface="隶书" pitchFamily="49" charset="-122"/>
                </a:endParaRPr>
              </a:p>
              <a:p>
                <a:pPr algn="ctr" eaLnBrk="1" hangingPunct="1">
                  <a:lnSpc>
                    <a:spcPct val="48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  <a:ea typeface="隶书" pitchFamily="49" charset="-122"/>
                </a:endParaRPr>
              </a:p>
              <a:p>
                <a:pPr algn="ctr" eaLnBrk="1" hangingPunct="1">
                  <a:lnSpc>
                    <a:spcPct val="48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  <a:ea typeface="隶书" pitchFamily="49" charset="-122"/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Arial" panose="020B0604020202020204" pitchFamily="34" charset="0"/>
                    <a:ea typeface="隶书" pitchFamily="49" charset="-122"/>
                  </a:rPr>
                  <a:t>指针域</a:t>
                </a:r>
                <a:endParaRPr lang="zh-CN" altLang="en-US" sz="2400">
                  <a:latin typeface="Arial" panose="020B0604020202020204" pitchFamily="34" charset="0"/>
                  <a:ea typeface="隶书" pitchFamily="49" charset="-122"/>
                </a:endParaRPr>
              </a:p>
            </p:txBody>
          </p:sp>
          <p:sp>
            <p:nvSpPr>
              <p:cNvPr id="26668" name="Line 8"/>
              <p:cNvSpPr>
                <a:spLocks noChangeShapeType="1"/>
              </p:cNvSpPr>
              <p:nvPr/>
            </p:nvSpPr>
            <p:spPr bwMode="auto">
              <a:xfrm>
                <a:off x="286" y="14982"/>
                <a:ext cx="19714" cy="18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65" name="Rectangle 9"/>
            <p:cNvSpPr>
              <a:spLocks noChangeArrowheads="1"/>
            </p:cNvSpPr>
            <p:nvPr/>
          </p:nvSpPr>
          <p:spPr bwMode="auto">
            <a:xfrm>
              <a:off x="-541" y="1600"/>
              <a:ext cx="131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905F6"/>
                  </a:solidFill>
                  <a:latin typeface="隶书" pitchFamily="49" charset="-122"/>
                  <a:ea typeface="隶书" pitchFamily="49" charset="-122"/>
                </a:rPr>
                <a:t>一个结点 </a:t>
              </a:r>
              <a:endParaRPr lang="zh-CN" altLang="en-US" sz="2400">
                <a:solidFill>
                  <a:srgbClr val="F905F6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26666" name="Line 10"/>
            <p:cNvSpPr>
              <a:spLocks noChangeShapeType="1"/>
            </p:cNvSpPr>
            <p:nvPr/>
          </p:nvSpPr>
          <p:spPr bwMode="auto">
            <a:xfrm>
              <a:off x="431" y="2976"/>
              <a:ext cx="12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629" name="Freeform 12"/>
          <p:cNvSpPr/>
          <p:nvPr/>
        </p:nvSpPr>
        <p:spPr bwMode="auto">
          <a:xfrm>
            <a:off x="3071813" y="260350"/>
            <a:ext cx="704850" cy="72072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0" name="Freeform 13"/>
          <p:cNvSpPr/>
          <p:nvPr/>
        </p:nvSpPr>
        <p:spPr bwMode="auto">
          <a:xfrm>
            <a:off x="4943475" y="260350"/>
            <a:ext cx="704850" cy="647700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1" name="Freeform 14"/>
          <p:cNvSpPr/>
          <p:nvPr/>
        </p:nvSpPr>
        <p:spPr bwMode="auto">
          <a:xfrm>
            <a:off x="6888163" y="333375"/>
            <a:ext cx="704850" cy="647700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2" name="Freeform 15"/>
          <p:cNvSpPr/>
          <p:nvPr/>
        </p:nvSpPr>
        <p:spPr bwMode="auto">
          <a:xfrm>
            <a:off x="8183563" y="404813"/>
            <a:ext cx="704850" cy="57626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2500" name="Group 52"/>
          <p:cNvGraphicFramePr>
            <a:graphicFrameLocks noGrp="1"/>
          </p:cNvGraphicFramePr>
          <p:nvPr/>
        </p:nvGraphicFramePr>
        <p:xfrm>
          <a:off x="1919288" y="115888"/>
          <a:ext cx="8496300" cy="1008062"/>
        </p:xfrm>
        <a:graphic>
          <a:graphicData uri="http://schemas.openxmlformats.org/drawingml/2006/table">
            <a:tbl>
              <a:tblPr/>
              <a:tblGrid>
                <a:gridCol w="1295400"/>
                <a:gridCol w="576262"/>
                <a:gridCol w="1368425"/>
                <a:gridCol w="503238"/>
                <a:gridCol w="1512887"/>
                <a:gridCol w="1728788"/>
                <a:gridCol w="1511300"/>
              </a:tblGrid>
              <a:tr h="10080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marB="12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marB="12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marB="12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marB="12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marB="12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marB="12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NULL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marB="12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57" name="Line 46"/>
          <p:cNvSpPr>
            <a:spLocks noChangeShapeType="1"/>
          </p:cNvSpPr>
          <p:nvPr/>
        </p:nvSpPr>
        <p:spPr bwMode="auto">
          <a:xfrm>
            <a:off x="1919288" y="692150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26658" name="Line 47"/>
          <p:cNvSpPr>
            <a:spLocks noChangeShapeType="1"/>
          </p:cNvSpPr>
          <p:nvPr/>
        </p:nvSpPr>
        <p:spPr bwMode="auto">
          <a:xfrm>
            <a:off x="3790950" y="692150"/>
            <a:ext cx="1368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26659" name="Line 48"/>
          <p:cNvSpPr>
            <a:spLocks noChangeShapeType="1"/>
          </p:cNvSpPr>
          <p:nvPr/>
        </p:nvSpPr>
        <p:spPr bwMode="auto">
          <a:xfrm>
            <a:off x="5662613" y="692150"/>
            <a:ext cx="1512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26660" name="Line 49"/>
          <p:cNvSpPr>
            <a:spLocks noChangeShapeType="1"/>
          </p:cNvSpPr>
          <p:nvPr/>
        </p:nvSpPr>
        <p:spPr bwMode="auto">
          <a:xfrm>
            <a:off x="8904288" y="692150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232501" name="Rectangle 53"/>
          <p:cNvSpPr>
            <a:spLocks noChangeArrowheads="1"/>
          </p:cNvSpPr>
          <p:nvPr/>
        </p:nvSpPr>
        <p:spPr bwMode="auto">
          <a:xfrm>
            <a:off x="-4763" y="4538663"/>
            <a:ext cx="5753101" cy="461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一般用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结构体变量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做动态数据结构的</a:t>
            </a:r>
            <a:r>
              <a:rPr lang="zh-CN" altLang="en-US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结点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32502" name="Rectangle 54"/>
          <p:cNvSpPr>
            <a:spLocks noChangeArrowheads="1"/>
          </p:cNvSpPr>
          <p:nvPr/>
        </p:nvSpPr>
        <p:spPr bwMode="auto">
          <a:xfrm>
            <a:off x="304800" y="4989513"/>
            <a:ext cx="10425113" cy="185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buClr>
                <a:schemeClr val="hlink"/>
              </a:buClr>
              <a:buSzPct val="80000"/>
              <a:defRPr/>
            </a:pPr>
            <a:r>
              <a:rPr lang="en-US" altLang="zh-CN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   struct link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marL="342900" indent="-342900" algn="just" eaLnBrk="1" hangingPunct="1">
              <a:buClr>
                <a:schemeClr val="tx1"/>
              </a:buClr>
              <a:buSzPct val="80000"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  </a:t>
            </a:r>
            <a:r>
              <a:rPr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 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{ 		int num;           </a:t>
            </a:r>
            <a:r>
              <a:rPr lang="zh-CN" altLang="en-US" sz="2800" dirty="0">
                <a:solidFill>
                  <a:srgbClr val="F905F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基本数据部分（数据域）</a:t>
            </a:r>
            <a:endParaRPr lang="en-US" altLang="zh-CN" sz="2800" dirty="0">
              <a:solidFill>
                <a:srgbClr val="F905F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marL="342900" indent="-342900" algn="just" eaLnBrk="1" hangingPunct="1">
              <a:buClr>
                <a:schemeClr val="tx1"/>
              </a:buClr>
              <a:buSzPct val="80000"/>
              <a:defRPr/>
            </a:pPr>
            <a:r>
              <a:rPr lang="en-US" altLang="zh-CN" sz="28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      		</a:t>
            </a:r>
            <a:r>
              <a:rPr lang="en-US" altLang="zh-CN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struct link *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next; 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  </a:t>
            </a:r>
            <a:r>
              <a:rPr lang="zh-CN" altLang="en-US" sz="2800" dirty="0">
                <a:solidFill>
                  <a:srgbClr val="F905F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指针部分（指针域）</a:t>
            </a:r>
            <a:endParaRPr lang="en-US" altLang="zh-CN" sz="2800" dirty="0">
              <a:solidFill>
                <a:srgbClr val="F905F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marL="342900" indent="-342900" algn="just" eaLnBrk="1" hangingPunct="1">
              <a:buClr>
                <a:schemeClr val="tx1"/>
              </a:buClr>
              <a:buSzPct val="80000"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   };                       </a:t>
            </a:r>
            <a:endParaRPr lang="zh-CN" altLang="en-US" sz="28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664200" y="1874838"/>
            <a:ext cx="4440238" cy="23082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struct stuLink</a:t>
            </a:r>
            <a:r>
              <a:rPr lang="en-US" altLang="zh-CN" sz="2400">
                <a:latin typeface="Arial" panose="020B0604020202020204" pitchFamily="34" charset="0"/>
              </a:rPr>
              <a:t>{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	int No;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	char name[20];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	int score;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	</a:t>
            </a: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struct stuLink * </a:t>
            </a:r>
            <a:r>
              <a:rPr lang="en-US" altLang="zh-CN" sz="2400">
                <a:latin typeface="Arial" panose="020B0604020202020204" pitchFamily="34" charset="0"/>
              </a:rPr>
              <a:t>next;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};</a:t>
            </a:r>
            <a:endParaRPr lang="en-US" altLang="zh-CN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502" grpId="0" bldLvl="0" animBg="1"/>
      <p:bldP spid="2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E088F48-627B-47A9-9B80-6A4F527BBB0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04788"/>
            <a:ext cx="8677275" cy="336391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>
                <a:latin typeface="Verdana" panose="020B0604030504040204" pitchFamily="34" charset="0"/>
                <a:ea typeface="隶书" pitchFamily="49" charset="-122"/>
              </a:rPr>
              <a:t>与其它数据项相联系</a:t>
            </a:r>
            <a:endParaRPr lang="zh-CN" altLang="en-US" b="1" dirty="0"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  struct link</a:t>
            </a:r>
            <a:endParaRPr lang="en-US" altLang="zh-CN" b="1" dirty="0">
              <a:latin typeface="Verdana" panose="020B0604030504040204" pitchFamily="34" charset="0"/>
              <a:ea typeface="隶书" pitchFamily="49" charset="-122"/>
            </a:endParaRPr>
          </a:p>
          <a:p>
            <a:pPr algn="just" eaLnBrk="1" hangingPunct="1">
              <a:lnSpc>
                <a:spcPct val="110000"/>
              </a:lnSpc>
              <a:buClr>
                <a:schemeClr val="tx1"/>
              </a:buClr>
              <a:buFontTx/>
              <a:buNone/>
              <a:defRPr/>
            </a:pP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  </a:t>
            </a:r>
            <a:r>
              <a:rPr lang="en-US" altLang="zh-CN" b="1" dirty="0">
                <a:solidFill>
                  <a:srgbClr val="FFFF00"/>
                </a:solidFill>
                <a:latin typeface="Verdana" panose="020B0604030504040204" pitchFamily="34" charset="0"/>
                <a:ea typeface="隶书" pitchFamily="49" charset="-122"/>
              </a:rPr>
              <a:t> </a:t>
            </a: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{ 		int num;</a:t>
            </a:r>
            <a:endParaRPr lang="en-US" altLang="zh-CN" b="1" dirty="0">
              <a:latin typeface="Verdana" panose="020B0604030504040204" pitchFamily="34" charset="0"/>
              <a:ea typeface="隶书" pitchFamily="49" charset="-122"/>
            </a:endParaRPr>
          </a:p>
          <a:p>
            <a:pPr algn="just" eaLnBrk="1" hangingPunct="1">
              <a:lnSpc>
                <a:spcPct val="110000"/>
              </a:lnSpc>
              <a:buClr>
                <a:schemeClr val="tx1"/>
              </a:buClr>
              <a:buFontTx/>
              <a:buNone/>
              <a:defRPr/>
            </a:pP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      		struct link </a:t>
            </a:r>
            <a:r>
              <a:rPr lang="en-US" altLang="zh-CN" b="1" dirty="0">
                <a:solidFill>
                  <a:schemeClr val="hlink"/>
                </a:solidFill>
                <a:latin typeface="Verdana" panose="020B0604030504040204" pitchFamily="34" charset="0"/>
                <a:ea typeface="隶书" pitchFamily="49" charset="-122"/>
              </a:rPr>
              <a:t>*next</a:t>
            </a: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;</a:t>
            </a:r>
            <a:r>
              <a:rPr lang="en-US" altLang="zh-CN" b="1" dirty="0">
                <a:solidFill>
                  <a:srgbClr val="FF0000"/>
                </a:solidFill>
                <a:latin typeface="Verdana" panose="020B0604030504040204" pitchFamily="34" charset="0"/>
                <a:ea typeface="隶书" pitchFamily="49" charset="-122"/>
              </a:rPr>
              <a:t> </a:t>
            </a:r>
            <a:endParaRPr lang="en-US" altLang="zh-CN" b="1" dirty="0">
              <a:solidFill>
                <a:srgbClr val="FF0000"/>
              </a:solidFill>
              <a:latin typeface="Verdana" panose="020B0604030504040204" pitchFamily="34" charset="0"/>
              <a:ea typeface="隶书" pitchFamily="49" charset="-122"/>
            </a:endParaRPr>
          </a:p>
          <a:p>
            <a:pPr algn="just" eaLnBrk="1" hangingPunct="1">
              <a:lnSpc>
                <a:spcPct val="110000"/>
              </a:lnSpc>
              <a:buClr>
                <a:schemeClr val="tx1"/>
              </a:buClr>
              <a:buFontTx/>
              <a:buNone/>
              <a:defRPr/>
            </a:pP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   }</a:t>
            </a:r>
            <a:r>
              <a:rPr lang="en-US" altLang="zh-CN" b="1" dirty="0">
                <a:solidFill>
                  <a:schemeClr val="hlink"/>
                </a:solidFill>
                <a:latin typeface="Verdana" panose="020B0604030504040204" pitchFamily="34" charset="0"/>
                <a:ea typeface="隶书" pitchFamily="49" charset="-122"/>
              </a:rPr>
              <a:t>Node1,Node2,*head</a:t>
            </a:r>
            <a:r>
              <a:rPr lang="en-US" altLang="zh-CN" b="1" dirty="0">
                <a:latin typeface="Verdana" panose="020B0604030504040204" pitchFamily="34" charset="0"/>
                <a:ea typeface="隶书" pitchFamily="49" charset="-122"/>
              </a:rPr>
              <a:t>; </a:t>
            </a:r>
            <a:endParaRPr lang="zh-CN" altLang="en-US" b="1" dirty="0">
              <a:latin typeface="Verdana" panose="020B0604030504040204" pitchFamily="34" charset="0"/>
              <a:ea typeface="隶书" pitchFamily="49" charset="-122"/>
            </a:endParaRPr>
          </a:p>
        </p:txBody>
      </p:sp>
      <p:grpSp>
        <p:nvGrpSpPr>
          <p:cNvPr id="2" name="Group 45"/>
          <p:cNvGrpSpPr/>
          <p:nvPr/>
        </p:nvGrpSpPr>
        <p:grpSpPr bwMode="auto">
          <a:xfrm>
            <a:off x="1703388" y="3738563"/>
            <a:ext cx="1754187" cy="1271587"/>
            <a:chOff x="113" y="2978"/>
            <a:chExt cx="1105" cy="801"/>
          </a:xfrm>
        </p:grpSpPr>
        <p:sp>
          <p:nvSpPr>
            <p:cNvPr id="28696" name="Rectangle 5"/>
            <p:cNvSpPr>
              <a:spLocks noChangeArrowheads="1"/>
            </p:cNvSpPr>
            <p:nvPr/>
          </p:nvSpPr>
          <p:spPr bwMode="auto">
            <a:xfrm>
              <a:off x="385" y="3341"/>
              <a:ext cx="833" cy="4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28697" name="Rectangle 8"/>
            <p:cNvSpPr>
              <a:spLocks noChangeArrowheads="1"/>
            </p:cNvSpPr>
            <p:nvPr/>
          </p:nvSpPr>
          <p:spPr bwMode="auto">
            <a:xfrm>
              <a:off x="113" y="2978"/>
              <a:ext cx="635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600">
                  <a:solidFill>
                    <a:schemeClr val="hlink"/>
                  </a:solidFill>
                  <a:latin typeface="Times New Roman" panose="02020603050405020304" pitchFamily="18" charset="0"/>
                </a:rPr>
                <a:t>head</a:t>
              </a:r>
              <a:endParaRPr lang="en-US" altLang="zh-CN" sz="36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15049" name="Freeform 9"/>
          <p:cNvSpPr/>
          <p:nvPr/>
        </p:nvSpPr>
        <p:spPr bwMode="auto">
          <a:xfrm flipV="1">
            <a:off x="3443288" y="4662488"/>
            <a:ext cx="708025" cy="69532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672"/>
                </a:moveTo>
                <a:lnTo>
                  <a:pt x="9990" y="19672"/>
                </a:lnTo>
                <a:lnTo>
                  <a:pt x="13986" y="0"/>
                </a:lnTo>
                <a:lnTo>
                  <a:pt x="199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55" name="Freeform 15"/>
          <p:cNvSpPr/>
          <p:nvPr/>
        </p:nvSpPr>
        <p:spPr bwMode="auto">
          <a:xfrm>
            <a:off x="5651500" y="5446713"/>
            <a:ext cx="1008063" cy="552450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623"/>
                </a:moveTo>
                <a:lnTo>
                  <a:pt x="9990" y="19623"/>
                </a:lnTo>
                <a:lnTo>
                  <a:pt x="13986" y="0"/>
                </a:lnTo>
                <a:lnTo>
                  <a:pt x="199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43"/>
          <p:cNvGrpSpPr/>
          <p:nvPr/>
        </p:nvGrpSpPr>
        <p:grpSpPr bwMode="auto">
          <a:xfrm>
            <a:off x="3503613" y="4581525"/>
            <a:ext cx="2232025" cy="1871663"/>
            <a:chOff x="1247" y="2886"/>
            <a:chExt cx="1406" cy="1179"/>
          </a:xfrm>
        </p:grpSpPr>
        <p:grpSp>
          <p:nvGrpSpPr>
            <p:cNvPr id="28690" name="Group 33"/>
            <p:cNvGrpSpPr/>
            <p:nvPr/>
          </p:nvGrpSpPr>
          <p:grpSpPr bwMode="auto">
            <a:xfrm>
              <a:off x="1681" y="3251"/>
              <a:ext cx="881" cy="814"/>
              <a:chOff x="1681" y="3023"/>
              <a:chExt cx="881" cy="814"/>
            </a:xfrm>
          </p:grpSpPr>
          <p:sp>
            <p:nvSpPr>
              <p:cNvPr id="28694" name="Rectangle 6"/>
              <p:cNvSpPr>
                <a:spLocks noChangeArrowheads="1"/>
              </p:cNvSpPr>
              <p:nvPr/>
            </p:nvSpPr>
            <p:spPr bwMode="auto">
              <a:xfrm>
                <a:off x="1681" y="3023"/>
                <a:ext cx="881" cy="40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3600">
                    <a:latin typeface="Times New Roman" panose="02020603050405020304" pitchFamily="18" charset="0"/>
                  </a:rPr>
                  <a:t>12</a:t>
                </a:r>
                <a:endParaRPr lang="en-US" altLang="zh-CN" sz="3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5" name="Rectangle 30"/>
              <p:cNvSpPr>
                <a:spLocks noChangeArrowheads="1"/>
              </p:cNvSpPr>
              <p:nvPr/>
            </p:nvSpPr>
            <p:spPr bwMode="auto">
              <a:xfrm>
                <a:off x="1681" y="3430"/>
                <a:ext cx="881" cy="40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36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8691" name="Text Box 34"/>
            <p:cNvSpPr txBox="1">
              <a:spLocks noChangeArrowheads="1"/>
            </p:cNvSpPr>
            <p:nvPr/>
          </p:nvSpPr>
          <p:spPr bwMode="auto">
            <a:xfrm>
              <a:off x="1247" y="3748"/>
              <a:ext cx="5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next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28692" name="Text Box 36"/>
            <p:cNvSpPr txBox="1">
              <a:spLocks noChangeArrowheads="1"/>
            </p:cNvSpPr>
            <p:nvPr/>
          </p:nvSpPr>
          <p:spPr bwMode="auto">
            <a:xfrm>
              <a:off x="1746" y="2886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Arial" panose="020B0604020202020204" pitchFamily="34" charset="0"/>
                </a:rPr>
                <a:t>Node1</a:t>
              </a:r>
              <a:endParaRPr lang="en-US" altLang="zh-CN" sz="24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693" name="Text Box 38"/>
            <p:cNvSpPr txBox="1">
              <a:spLocks noChangeArrowheads="1"/>
            </p:cNvSpPr>
            <p:nvPr/>
          </p:nvSpPr>
          <p:spPr bwMode="auto">
            <a:xfrm>
              <a:off x="1247" y="3375"/>
              <a:ext cx="5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num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44"/>
          <p:cNvGrpSpPr/>
          <p:nvPr/>
        </p:nvGrpSpPr>
        <p:grpSpPr bwMode="auto">
          <a:xfrm>
            <a:off x="5951538" y="4581525"/>
            <a:ext cx="2160587" cy="1943100"/>
            <a:chOff x="2789" y="2886"/>
            <a:chExt cx="1361" cy="1224"/>
          </a:xfrm>
        </p:grpSpPr>
        <p:grpSp>
          <p:nvGrpSpPr>
            <p:cNvPr id="28684" name="Group 32"/>
            <p:cNvGrpSpPr/>
            <p:nvPr/>
          </p:nvGrpSpPr>
          <p:grpSpPr bwMode="auto">
            <a:xfrm>
              <a:off x="3243" y="3203"/>
              <a:ext cx="891" cy="907"/>
              <a:chOff x="3243" y="2976"/>
              <a:chExt cx="891" cy="817"/>
            </a:xfrm>
          </p:grpSpPr>
          <p:sp>
            <p:nvSpPr>
              <p:cNvPr id="28688" name="Rectangle 12"/>
              <p:cNvSpPr>
                <a:spLocks noChangeArrowheads="1"/>
              </p:cNvSpPr>
              <p:nvPr/>
            </p:nvSpPr>
            <p:spPr bwMode="auto">
              <a:xfrm>
                <a:off x="3243" y="2976"/>
                <a:ext cx="891" cy="40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3600">
                    <a:latin typeface="Times New Roman" panose="02020603050405020304" pitchFamily="18" charset="0"/>
                  </a:rPr>
                  <a:t>34</a:t>
                </a:r>
                <a:endParaRPr lang="en-US" altLang="zh-CN" sz="3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9" name="Rectangle 31"/>
              <p:cNvSpPr>
                <a:spLocks noChangeArrowheads="1"/>
              </p:cNvSpPr>
              <p:nvPr/>
            </p:nvSpPr>
            <p:spPr bwMode="auto">
              <a:xfrm>
                <a:off x="3243" y="3385"/>
                <a:ext cx="891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36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8685" name="Text Box 35"/>
            <p:cNvSpPr txBox="1">
              <a:spLocks noChangeArrowheads="1"/>
            </p:cNvSpPr>
            <p:nvPr/>
          </p:nvSpPr>
          <p:spPr bwMode="auto">
            <a:xfrm>
              <a:off x="2789" y="3793"/>
              <a:ext cx="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next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28686" name="Text Box 37"/>
            <p:cNvSpPr txBox="1">
              <a:spLocks noChangeArrowheads="1"/>
            </p:cNvSpPr>
            <p:nvPr/>
          </p:nvSpPr>
          <p:spPr bwMode="auto">
            <a:xfrm>
              <a:off x="3243" y="2886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Arial" panose="020B0604020202020204" pitchFamily="34" charset="0"/>
                </a:rPr>
                <a:t>Node2</a:t>
              </a:r>
              <a:endParaRPr lang="en-US" altLang="zh-CN" sz="24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687" name="Text Box 39"/>
            <p:cNvSpPr txBox="1">
              <a:spLocks noChangeArrowheads="1"/>
            </p:cNvSpPr>
            <p:nvPr/>
          </p:nvSpPr>
          <p:spPr bwMode="auto">
            <a:xfrm>
              <a:off x="2789" y="3158"/>
              <a:ext cx="5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num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</p:grpSp>
      <p:sp>
        <p:nvSpPr>
          <p:cNvPr id="215080" name="Text Box 40"/>
          <p:cNvSpPr txBox="1">
            <a:spLocks noChangeArrowheads="1"/>
          </p:cNvSpPr>
          <p:nvPr/>
        </p:nvSpPr>
        <p:spPr bwMode="auto">
          <a:xfrm>
            <a:off x="4224338" y="5924550"/>
            <a:ext cx="1438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  <a:sym typeface="+mn-ea"/>
              </a:rPr>
              <a:t>&amp;Node2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15081" name="Text Box 41"/>
          <p:cNvSpPr txBox="1">
            <a:spLocks noChangeArrowheads="1"/>
          </p:cNvSpPr>
          <p:nvPr/>
        </p:nvSpPr>
        <p:spPr bwMode="auto">
          <a:xfrm>
            <a:off x="6743700" y="5949950"/>
            <a:ext cx="1295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  <a:sym typeface="+mn-ea"/>
              </a:rPr>
              <a:t>NULL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15082" name="Text Box 42"/>
          <p:cNvSpPr txBox="1">
            <a:spLocks noChangeArrowheads="1"/>
          </p:cNvSpPr>
          <p:nvPr/>
        </p:nvSpPr>
        <p:spPr bwMode="auto">
          <a:xfrm>
            <a:off x="2147888" y="4433888"/>
            <a:ext cx="1525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&amp;Node1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0" grpId="0"/>
      <p:bldP spid="215081" grpId="0"/>
      <p:bldP spid="2150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07A8DCC7-C164-45C6-81B3-7E2B449D05D5}" type="slidenum">
              <a:rPr lang="en-US" altLang="zh-CN" sz="1200" b="0"/>
            </a:fld>
            <a:endParaRPr lang="en-US" altLang="zh-CN" sz="1200" b="0"/>
          </a:p>
        </p:txBody>
      </p:sp>
      <p:sp>
        <p:nvSpPr>
          <p:cNvPr id="686082" name="Text Box 2"/>
          <p:cNvSpPr txBox="1">
            <a:spLocks noChangeArrowheads="1"/>
          </p:cNvSpPr>
          <p:nvPr/>
        </p:nvSpPr>
        <p:spPr bwMode="auto">
          <a:xfrm>
            <a:off x="152400" y="57150"/>
            <a:ext cx="11884025" cy="5408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latin typeface="+mn-ea"/>
                <a:ea typeface="+mn-ea"/>
              </a:rPr>
              <a:t>动态内存分配函数，需括入头文件 </a:t>
            </a:r>
            <a:r>
              <a:rPr lang="en-US" altLang="zh-CN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stdlib.h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latin typeface="+mn-ea"/>
                <a:ea typeface="+mn-ea"/>
              </a:rPr>
              <a:t>函数原型：</a:t>
            </a:r>
            <a:r>
              <a:rPr lang="en-US" altLang="zh-CN" sz="3200" dirty="0">
                <a:solidFill>
                  <a:srgbClr val="F905F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void * </a:t>
            </a:r>
            <a:r>
              <a:rPr lang="en-US" altLang="zh-CN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malloc(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unsigned int size</a:t>
            </a:r>
            <a:r>
              <a:rPr lang="en-US" altLang="zh-CN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)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spcBef>
                <a:spcPts val="0"/>
              </a:spcBef>
              <a:defRPr/>
            </a:pPr>
            <a:r>
              <a:rPr lang="zh-CN" altLang="en-US" sz="2000" dirty="0">
                <a:latin typeface="+mn-ea"/>
                <a:ea typeface="+mn-ea"/>
              </a:rPr>
              <a:t>功能：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在内存的动态存储区分配一连续空间，其长度为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size</a:t>
            </a:r>
            <a:endParaRPr lang="en-US" altLang="zh-CN" sz="2000" dirty="0">
              <a:solidFill>
                <a:schemeClr val="tx1">
                  <a:lumMod val="75000"/>
                </a:schemeClr>
              </a:solidFill>
              <a:latin typeface="+mn-ea"/>
              <a:ea typeface="+mn-ea"/>
            </a:endParaRPr>
          </a:p>
          <a:p>
            <a:pPr lvl="2" eaLnBrk="1" hangingPunct="1">
              <a:spcBef>
                <a:spcPts val="0"/>
              </a:spcBef>
              <a:defRPr/>
            </a:pP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若申请成功，则返回一个指向所分配内存空间的起始地址的指针</a:t>
            </a:r>
            <a:endParaRPr lang="en-US" altLang="zh-CN" sz="2000" dirty="0">
              <a:solidFill>
                <a:schemeClr val="tx1">
                  <a:lumMod val="75000"/>
                </a:schemeClr>
              </a:solidFill>
              <a:latin typeface="+mn-ea"/>
              <a:ea typeface="+mn-ea"/>
            </a:endParaRPr>
          </a:p>
          <a:p>
            <a:pPr lvl="2" eaLnBrk="1" hangingPunct="1">
              <a:spcBef>
                <a:spcPts val="0"/>
              </a:spcBef>
              <a:defRPr/>
            </a:pP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若申请不成功，返回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NULL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。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</a:rPr>
              <a:t>//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</a:rPr>
              <a:t>例：动态分配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</a:rPr>
              <a:t>n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</a:rPr>
              <a:t>个整数的空间</a:t>
            </a:r>
            <a:endParaRPr lang="zh-CN" altLang="en-US" dirty="0">
              <a:solidFill>
                <a:schemeClr val="tx1">
                  <a:lumMod val="65000"/>
                </a:schemeClr>
              </a:solidFill>
              <a:latin typeface="+mn-ea"/>
              <a:ea typeface="+mn-ea"/>
            </a:endParaRPr>
          </a:p>
          <a:p>
            <a:pPr indent="457200" eaLnBrk="1" hangingPunct="1">
              <a:spcBef>
                <a:spcPct val="50000"/>
              </a:spcBef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    int *p; </a:t>
            </a:r>
            <a:endParaRPr lang="en-US" altLang="zh-CN" dirty="0">
              <a:solidFill>
                <a:schemeClr val="tx1">
                  <a:lumMod val="65000"/>
                </a:schemeClr>
              </a:solidFill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	if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(</a:t>
            </a:r>
            <a:r>
              <a:rPr lang="en-US" altLang="zh-CN" sz="3200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(p</a:t>
            </a:r>
            <a:r>
              <a:rPr lang="en-US" altLang="zh-CN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=</a:t>
            </a:r>
            <a:r>
              <a:rPr lang="en-US" altLang="zh-CN" sz="3200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(int*)</a:t>
            </a:r>
            <a:r>
              <a:rPr lang="en-US" altLang="zh-CN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malloc(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n *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 </a:t>
            </a:r>
            <a:r>
              <a:rPr lang="en-US" altLang="zh-CN" sz="3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sizeof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(int)</a:t>
            </a:r>
            <a:r>
              <a:rPr lang="en-US" altLang="zh-CN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)</a:t>
            </a:r>
            <a:r>
              <a:rPr lang="en-US" altLang="zh-CN" sz="3200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)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==NULL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)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	{	</a:t>
            </a:r>
            <a:r>
              <a:rPr lang="en-US" altLang="zh-CN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printf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("Not able to allocate memory.\n");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		exit(1);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隶书" pitchFamily="49" charset="-122"/>
              </a:rPr>
              <a:t>	 }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隶书" pitchFamily="49" charset="-122"/>
            </a:endParaRPr>
          </a:p>
          <a:p>
            <a:pPr indent="457200"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	</a:t>
            </a: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686083" name="Rectangle 3"/>
          <p:cNvSpPr>
            <a:spLocks noChangeArrowheads="1"/>
          </p:cNvSpPr>
          <p:nvPr/>
        </p:nvSpPr>
        <p:spPr bwMode="auto">
          <a:xfrm>
            <a:off x="155575" y="5276850"/>
            <a:ext cx="8010525" cy="1463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【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注意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】</a:t>
            </a:r>
            <a:endParaRPr lang="en-US" altLang="zh-CN" sz="2000" dirty="0">
              <a:solidFill>
                <a:schemeClr val="tx1">
                  <a:lumMod val="75000"/>
                </a:schemeClr>
              </a:solidFill>
              <a:latin typeface="+mn-ea"/>
              <a:ea typeface="+mn-ea"/>
            </a:endParaRPr>
          </a:p>
          <a:p>
            <a:pPr marL="457200" indent="-4572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调用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malloc()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时，应利用</a:t>
            </a:r>
            <a:r>
              <a:rPr lang="en-US" altLang="zh-CN" sz="2000" dirty="0" err="1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sizeof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()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计算存储块的大小，</a:t>
            </a:r>
            <a:endParaRPr lang="en-US" altLang="zh-CN" sz="2000" dirty="0">
              <a:solidFill>
                <a:schemeClr val="tx1">
                  <a:lumMod val="75000"/>
                </a:schemeClr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    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不要直接写整数，因为不同平台数据类型占用空间大小可能不同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+mn-ea"/>
              <a:ea typeface="+mn-ea"/>
            </a:endParaRPr>
          </a:p>
          <a:p>
            <a:pPr marL="457200" indent="-4572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rPr>
              <a:t>每次动态分配检查是否成功，并考虑到例外情况的处理</a:t>
            </a:r>
            <a:endParaRPr lang="zh-CN" altLang="en-US" sz="2000" dirty="0">
              <a:solidFill>
                <a:schemeClr val="tx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534400" y="22225"/>
            <a:ext cx="3789363" cy="6191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2800" dirty="0">
                <a:solidFill>
                  <a:srgbClr val="F905F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§</a:t>
            </a:r>
            <a:r>
              <a:rPr lang="en-US" altLang="zh-CN" sz="2800" dirty="0">
                <a:solidFill>
                  <a:srgbClr val="F905F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13.2 </a:t>
            </a:r>
            <a:r>
              <a:rPr lang="zh-CN" altLang="en-US" sz="2800" dirty="0">
                <a:solidFill>
                  <a:srgbClr val="F905F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动态变量</a:t>
            </a:r>
            <a:r>
              <a:rPr lang="en-US" altLang="zh-CN" sz="2800" dirty="0">
                <a:solidFill>
                  <a:srgbClr val="F905F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P322</a:t>
            </a:r>
            <a:endParaRPr lang="en-US" altLang="zh-CN" sz="2800" dirty="0">
              <a:solidFill>
                <a:srgbClr val="F905F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50365" y="3429000"/>
            <a:ext cx="7435850" cy="49847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19565" y="6330950"/>
            <a:ext cx="2966085" cy="527050"/>
          </a:xfrm>
          <a:prstGeom prst="rect">
            <a:avLst/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释放：</a:t>
            </a:r>
            <a:r>
              <a:rPr lang="en-US" altLang="zh-CN" sz="3200" dirty="0">
                <a:latin typeface="Arial" panose="020B0604020202020204" pitchFamily="34" charset="0"/>
              </a:rPr>
              <a:t>free(p);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6069965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215" y="-12065"/>
            <a:ext cx="5955030" cy="68459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61340" y="546100"/>
            <a:ext cx="5077460" cy="301053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00670" y="3276600"/>
            <a:ext cx="1908175" cy="34099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00800" y="4876165"/>
            <a:ext cx="1595755" cy="34099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6858000" y="2895600"/>
            <a:ext cx="304800" cy="46101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" name="直接箭头连接符 5"/>
          <p:cNvCxnSpPr/>
          <p:nvPr/>
        </p:nvCxnSpPr>
        <p:spPr>
          <a:xfrm>
            <a:off x="76200" y="685800"/>
            <a:ext cx="685800" cy="53721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0" name="直接箭头连接符 9"/>
          <p:cNvCxnSpPr/>
          <p:nvPr/>
        </p:nvCxnSpPr>
        <p:spPr>
          <a:xfrm flipH="1" flipV="1">
            <a:off x="8762365" y="3505200"/>
            <a:ext cx="457200" cy="45720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1" name="直接箭头连接符 10"/>
          <p:cNvCxnSpPr/>
          <p:nvPr/>
        </p:nvCxnSpPr>
        <p:spPr>
          <a:xfrm flipH="1" flipV="1">
            <a:off x="3657600" y="3276600"/>
            <a:ext cx="457200" cy="53340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4" name="矩形标注 13"/>
          <p:cNvSpPr/>
          <p:nvPr/>
        </p:nvSpPr>
        <p:spPr>
          <a:xfrm>
            <a:off x="3048000" y="4419600"/>
            <a:ext cx="1061720" cy="523240"/>
          </a:xfrm>
          <a:prstGeom prst="wedgeRectCallout">
            <a:avLst>
              <a:gd name="adj1" fmla="val -104352"/>
              <a:gd name="adj2" fmla="val -17233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全局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3429000" y="1600200"/>
            <a:ext cx="2105025" cy="971550"/>
          </a:xfrm>
          <a:prstGeom prst="wedgeRectCallout">
            <a:avLst>
              <a:gd name="adj1" fmla="val -109457"/>
              <a:gd name="adj2" fmla="val 8692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堆栈：两端向中间生长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61340" y="3556000"/>
            <a:ext cx="5077460" cy="206121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61340" y="5616575"/>
            <a:ext cx="5078095" cy="88582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4343400" y="5410200"/>
            <a:ext cx="955675" cy="523240"/>
          </a:xfrm>
          <a:prstGeom prst="wedgeRectCallout">
            <a:avLst>
              <a:gd name="adj1" fmla="val -74953"/>
              <a:gd name="adj2" fmla="val 61639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只读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4800" y="0"/>
            <a:ext cx="11625580" cy="336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noAutofit/>
          </a:bodyPr>
          <a:p>
            <a:r>
              <a:rPr lang="en-US" altLang="zh-CN" sz="2400"/>
              <a:t>printf("1. </a:t>
            </a:r>
            <a:r>
              <a:rPr lang="zh-CN" altLang="en-US" sz="2400"/>
              <a:t>堆向上生长验证</a:t>
            </a:r>
            <a:r>
              <a:rPr lang="en-US" altLang="zh-CN" sz="2400"/>
              <a:t>:\n");</a:t>
            </a:r>
            <a:endParaRPr lang="en-US" altLang="zh-CN" sz="2400"/>
          </a:p>
          <a:p>
            <a:r>
              <a:rPr lang="en-US" altLang="zh-CN" sz="2400">
                <a:solidFill>
                  <a:srgbClr val="FFFF00"/>
                </a:solidFill>
              </a:rPr>
              <a:t>void* heap1 = malloc(sizeof(double));</a:t>
            </a:r>
            <a:endParaRPr lang="en-US" altLang="zh-CN" sz="2400">
              <a:solidFill>
                <a:srgbClr val="FFFF00"/>
              </a:solidFill>
            </a:endParaRPr>
          </a:p>
          <a:p>
            <a:r>
              <a:rPr lang="en-US" altLang="zh-CN" sz="2400">
                <a:solidFill>
                  <a:srgbClr val="FFFF00"/>
                </a:solidFill>
              </a:rPr>
              <a:t>void* heap2 = malloc(sizeof(double));</a:t>
            </a:r>
            <a:endParaRPr lang="en-US" altLang="zh-CN" sz="2400">
              <a:solidFill>
                <a:srgbClr val="FFFF00"/>
              </a:solidFill>
            </a:endParaRPr>
          </a:p>
          <a:p>
            <a:r>
              <a:rPr lang="en-US" altLang="zh-CN" sz="2400">
                <a:solidFill>
                  <a:srgbClr val="FFFF00"/>
                </a:solidFill>
              </a:rPr>
              <a:t>void* heap3 = malloc(sizeof(double));</a:t>
            </a:r>
            <a:r>
              <a:rPr lang="en-US" altLang="zh-CN" sz="2400"/>
              <a:t>	</a:t>
            </a:r>
            <a:endParaRPr lang="en-US" altLang="zh-CN" sz="2400"/>
          </a:p>
          <a:p>
            <a:r>
              <a:rPr lang="en-US" altLang="zh-CN" sz="2400"/>
              <a:t>printf("</a:t>
            </a:r>
            <a:r>
              <a:rPr lang="zh-CN" altLang="en-US" sz="2400"/>
              <a:t>堆分配</a:t>
            </a:r>
            <a:r>
              <a:rPr lang="en-US" altLang="zh-CN" sz="2400"/>
              <a:t>1: %p\n", heap1);</a:t>
            </a:r>
            <a:endParaRPr lang="en-US" altLang="zh-CN" sz="2400"/>
          </a:p>
          <a:p>
            <a:r>
              <a:rPr lang="en-US" altLang="zh-CN" sz="2400"/>
              <a:t>printf("</a:t>
            </a:r>
            <a:r>
              <a:rPr lang="zh-CN" altLang="en-US" sz="2400"/>
              <a:t>堆分配</a:t>
            </a:r>
            <a:r>
              <a:rPr lang="en-US" altLang="zh-CN" sz="2400"/>
              <a:t>2: %p\n", heap2);</a:t>
            </a:r>
            <a:endParaRPr lang="en-US" altLang="zh-CN" sz="2400"/>
          </a:p>
          <a:p>
            <a:r>
              <a:rPr lang="en-US" altLang="zh-CN" sz="2400"/>
              <a:t>printf("</a:t>
            </a:r>
            <a:r>
              <a:rPr lang="zh-CN" altLang="en-US" sz="2400"/>
              <a:t>堆分配</a:t>
            </a:r>
            <a:r>
              <a:rPr lang="en-US" altLang="zh-CN" sz="2400"/>
              <a:t>3: %p\n", heap3);	</a:t>
            </a:r>
            <a:endParaRPr lang="en-US" altLang="zh-CN" sz="2400"/>
          </a:p>
          <a:p>
            <a:r>
              <a:rPr lang="en-US" altLang="zh-CN" sz="2400"/>
              <a:t>int heap_growth = (</a:t>
            </a:r>
            <a:r>
              <a:rPr lang="en-US" altLang="zh-CN" sz="2400">
                <a:solidFill>
                  <a:srgbClr val="FFFF00"/>
                </a:solidFill>
              </a:rPr>
              <a:t>heap1 &lt; heap2 </a:t>
            </a:r>
            <a:r>
              <a:rPr lang="en-US" altLang="zh-C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&amp;&amp;</a:t>
            </a:r>
            <a:r>
              <a:rPr lang="en-US" altLang="zh-CN" sz="2400">
                <a:solidFill>
                  <a:srgbClr val="FFFF00"/>
                </a:solidFill>
              </a:rPr>
              <a:t> heap2 &lt; heap3</a:t>
            </a:r>
            <a:r>
              <a:rPr lang="en-US" altLang="zh-CN" sz="2400"/>
              <a:t>);</a:t>
            </a:r>
            <a:endParaRPr lang="en-US" altLang="zh-CN" sz="2400"/>
          </a:p>
          <a:p>
            <a:r>
              <a:rPr lang="en-US" altLang="zh-CN" sz="2200"/>
              <a:t>printf("</a:t>
            </a:r>
            <a:r>
              <a:rPr lang="zh-CN" altLang="en-US" sz="2200"/>
              <a:t>验证结果</a:t>
            </a:r>
            <a:r>
              <a:rPr lang="en-US" altLang="zh-CN" sz="2200"/>
              <a:t>: %s\n", heap_growth ? "</a:t>
            </a:r>
            <a:r>
              <a:rPr lang="zh-CN" altLang="en-US" sz="2200"/>
              <a:t>堆向上生长</a:t>
            </a:r>
            <a:r>
              <a:rPr lang="en-US" altLang="zh-CN" sz="2200"/>
              <a:t> - </a:t>
            </a:r>
            <a:r>
              <a:rPr lang="zh-CN" altLang="en-US" sz="2200"/>
              <a:t>正确</a:t>
            </a:r>
            <a:r>
              <a:rPr lang="en-US" altLang="zh-CN" sz="2200"/>
              <a:t>" : "</a:t>
            </a:r>
            <a:r>
              <a:rPr lang="zh-CN" altLang="en-US" sz="2200"/>
              <a:t>堆向上生长</a:t>
            </a:r>
            <a:r>
              <a:rPr lang="en-US" altLang="zh-CN" sz="2200"/>
              <a:t> - </a:t>
            </a:r>
            <a:r>
              <a:rPr lang="zh-CN" altLang="en-US" sz="2200"/>
              <a:t>异常</a:t>
            </a:r>
            <a:r>
              <a:rPr lang="en-US" altLang="zh-CN" sz="2200"/>
              <a:t>");</a:t>
            </a:r>
            <a:endParaRPr lang="en-US" altLang="zh-CN" sz="2200"/>
          </a:p>
          <a:p>
            <a:endParaRPr lang="zh-CN" altLang="en-US" sz="2200"/>
          </a:p>
        </p:txBody>
      </p:sp>
      <p:sp>
        <p:nvSpPr>
          <p:cNvPr id="5" name="文本框 4"/>
          <p:cNvSpPr txBox="1"/>
          <p:nvPr/>
        </p:nvSpPr>
        <p:spPr>
          <a:xfrm>
            <a:off x="304800" y="3429000"/>
            <a:ext cx="11624945" cy="3352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noAutofit/>
          </a:bodyPr>
          <a:p>
            <a:r>
              <a:rPr lang="en-US" altLang="zh-CN" sz="2400"/>
              <a:t>printf("\n2. </a:t>
            </a:r>
            <a:r>
              <a:rPr lang="zh-CN" altLang="en-US" sz="2400"/>
              <a:t>栈向下生长验证</a:t>
            </a:r>
            <a:r>
              <a:rPr lang="en-US" altLang="zh-CN" sz="2400"/>
              <a:t>:\n");</a:t>
            </a:r>
            <a:endParaRPr lang="en-US" altLang="zh-CN" sz="2400"/>
          </a:p>
          <a:p>
            <a:r>
              <a:rPr lang="en-US" altLang="zh-CN" sz="2400">
                <a:solidFill>
                  <a:srgbClr val="FFFF00"/>
                </a:solidFill>
              </a:rPr>
              <a:t>int stack_var1;</a:t>
            </a:r>
            <a:endParaRPr lang="en-US" altLang="zh-CN" sz="2400">
              <a:solidFill>
                <a:srgbClr val="FFFF00"/>
              </a:solidFill>
            </a:endParaRPr>
          </a:p>
          <a:p>
            <a:r>
              <a:rPr lang="en-US" altLang="zh-CN" sz="2400">
                <a:solidFill>
                  <a:srgbClr val="FFFF00"/>
                </a:solidFill>
              </a:rPr>
              <a:t>int stack_var2;</a:t>
            </a:r>
            <a:endParaRPr lang="en-US" altLang="zh-CN" sz="2400">
              <a:solidFill>
                <a:srgbClr val="FFFF00"/>
              </a:solidFill>
            </a:endParaRPr>
          </a:p>
          <a:p>
            <a:r>
              <a:rPr lang="en-US" altLang="zh-CN" sz="2400">
                <a:solidFill>
                  <a:srgbClr val="FFFF00"/>
                </a:solidFill>
              </a:rPr>
              <a:t>int stack_var3;</a:t>
            </a:r>
            <a:r>
              <a:rPr lang="en-US" altLang="zh-CN" sz="2400"/>
              <a:t>	</a:t>
            </a:r>
            <a:endParaRPr lang="en-US" altLang="zh-CN" sz="2400"/>
          </a:p>
          <a:p>
            <a:r>
              <a:rPr lang="en-US" altLang="zh-CN" sz="2400"/>
              <a:t>printf("</a:t>
            </a:r>
            <a:r>
              <a:rPr lang="zh-CN" altLang="en-US" sz="2400"/>
              <a:t>栈变量</a:t>
            </a:r>
            <a:r>
              <a:rPr lang="en-US" altLang="zh-CN" sz="2400"/>
              <a:t>1: %p\n", (void*)&amp;stack_var1);</a:t>
            </a:r>
            <a:endParaRPr lang="en-US" altLang="zh-CN" sz="2400"/>
          </a:p>
          <a:p>
            <a:r>
              <a:rPr lang="en-US" altLang="zh-CN" sz="2400"/>
              <a:t>printf("</a:t>
            </a:r>
            <a:r>
              <a:rPr lang="zh-CN" altLang="en-US" sz="2400"/>
              <a:t>栈变量</a:t>
            </a:r>
            <a:r>
              <a:rPr lang="en-US" altLang="zh-CN" sz="2400"/>
              <a:t>2: %p\n", (void*)&amp;stack_var2);</a:t>
            </a:r>
            <a:endParaRPr lang="en-US" altLang="zh-CN" sz="2400"/>
          </a:p>
          <a:p>
            <a:r>
              <a:rPr lang="en-US" altLang="zh-CN" sz="2400"/>
              <a:t>printf("</a:t>
            </a:r>
            <a:r>
              <a:rPr lang="zh-CN" altLang="en-US" sz="2400"/>
              <a:t>栈变量</a:t>
            </a:r>
            <a:r>
              <a:rPr lang="en-US" altLang="zh-CN" sz="2400"/>
              <a:t>3: %p\n", (void*)&amp;stack_var3);	</a:t>
            </a:r>
            <a:endParaRPr lang="en-US" altLang="zh-CN" sz="2400"/>
          </a:p>
          <a:p>
            <a:r>
              <a:rPr lang="en-US" altLang="zh-CN" sz="2000"/>
              <a:t>int stack_growth </a:t>
            </a:r>
            <a:r>
              <a:rPr lang="en-US" altLang="zh-CN" sz="2200"/>
              <a:t>= (</a:t>
            </a:r>
            <a:r>
              <a:rPr lang="en-US" altLang="zh-CN" sz="2200">
                <a:solidFill>
                  <a:srgbClr val="FFFF00"/>
                </a:solidFill>
              </a:rPr>
              <a:t>&amp;stack_var1 &gt; &amp;stack_var2 </a:t>
            </a:r>
            <a:r>
              <a:rPr lang="en-US" altLang="zh-CN" sz="2200">
                <a:solidFill>
                  <a:schemeClr val="accent2">
                    <a:lumMod val="60000"/>
                    <a:lumOff val="40000"/>
                  </a:schemeClr>
                </a:solidFill>
              </a:rPr>
              <a:t>&amp;&amp;</a:t>
            </a:r>
            <a:r>
              <a:rPr lang="en-US" altLang="zh-CN" sz="2200">
                <a:solidFill>
                  <a:srgbClr val="FFFF00"/>
                </a:solidFill>
              </a:rPr>
              <a:t> &amp;stack_var2 &gt; &amp;stack_var3</a:t>
            </a:r>
            <a:r>
              <a:rPr lang="en-US" altLang="zh-CN" sz="2200"/>
              <a:t>);</a:t>
            </a:r>
            <a:endParaRPr lang="en-US" altLang="zh-CN" sz="2200"/>
          </a:p>
          <a:p>
            <a:r>
              <a:rPr lang="en-US" altLang="zh-CN" sz="2200"/>
              <a:t>printf("</a:t>
            </a:r>
            <a:r>
              <a:rPr lang="zh-CN" altLang="en-US" sz="2200"/>
              <a:t>验证结果</a:t>
            </a:r>
            <a:r>
              <a:rPr lang="en-US" altLang="zh-CN" sz="2200"/>
              <a:t>: %s\n", stack_growth ? "</a:t>
            </a:r>
            <a:r>
              <a:rPr lang="zh-CN" altLang="en-US" sz="2200"/>
              <a:t>栈向下生长</a:t>
            </a:r>
            <a:r>
              <a:rPr lang="en-US" altLang="zh-CN" sz="2200"/>
              <a:t> - </a:t>
            </a:r>
            <a:r>
              <a:rPr lang="zh-CN" altLang="en-US" sz="2200"/>
              <a:t>正确</a:t>
            </a:r>
            <a:r>
              <a:rPr lang="en-US" altLang="zh-CN" sz="2200"/>
              <a:t>" : "</a:t>
            </a:r>
            <a:r>
              <a:rPr lang="zh-CN" altLang="en-US" sz="2200"/>
              <a:t>栈向下生长</a:t>
            </a:r>
            <a:r>
              <a:rPr lang="en-US" altLang="zh-CN" sz="2200"/>
              <a:t> - </a:t>
            </a:r>
            <a:r>
              <a:rPr lang="zh-CN" altLang="en-US" sz="2200"/>
              <a:t>异常</a:t>
            </a:r>
            <a:r>
              <a:rPr lang="en-US" altLang="zh-CN" sz="2200"/>
              <a:t>");</a:t>
            </a:r>
            <a:endParaRPr lang="en-US" altLang="zh-CN" sz="2200"/>
          </a:p>
          <a:p>
            <a:endParaRPr lang="zh-CN" altLang="en-US" sz="2200"/>
          </a:p>
        </p:txBody>
      </p:sp>
      <p:sp>
        <p:nvSpPr>
          <p:cNvPr id="6" name="矩形标注 5"/>
          <p:cNvSpPr/>
          <p:nvPr/>
        </p:nvSpPr>
        <p:spPr>
          <a:xfrm>
            <a:off x="8342630" y="275590"/>
            <a:ext cx="2592070" cy="1939290"/>
          </a:xfrm>
          <a:prstGeom prst="wedgeRectCallout">
            <a:avLst>
              <a:gd name="adj1" fmla="val -62463"/>
              <a:gd name="adj2" fmla="val 6951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用完记得释放：</a:t>
            </a:r>
            <a:r>
              <a:rPr lang="en-US" altLang="zh-CN" sz="3200" dirty="0">
                <a:latin typeface="Arial" panose="020B0604020202020204" pitchFamily="34" charset="0"/>
              </a:rPr>
              <a:t>   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free(heap1);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free(heap2);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free(heap3);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35" y="0"/>
            <a:ext cx="5410200" cy="566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【验证程序】堆和栈的生长方向</a:t>
            </a:r>
            <a:endParaRPr lang="zh-CN" altLang="en-US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" y="595630"/>
            <a:ext cx="11846560" cy="5291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630025" y="5805488"/>
            <a:ext cx="561975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EEECCBF-6F27-4C2D-AEC8-0E59D18E8B99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463" y="26988"/>
            <a:ext cx="5357812" cy="2338387"/>
          </a:xfrm>
        </p:spPr>
        <p:txBody>
          <a:bodyPr/>
          <a:lstStyle/>
          <a:p>
            <a:pPr eaLnBrk="1" hangingPunct="1">
              <a:spcBef>
                <a:spcPts val="0"/>
              </a:spcBef>
              <a:defRPr/>
            </a:pPr>
            <a:r>
              <a:rPr lang="zh-CN" altLang="en-US" sz="2800" b="1" dirty="0">
                <a:latin typeface="Verdana" panose="020B0604030504040204" pitchFamily="34" charset="0"/>
                <a:ea typeface="隶书" pitchFamily="49" charset="-122"/>
              </a:rPr>
              <a:t>与其它数据项相联系</a:t>
            </a:r>
            <a:endParaRPr lang="zh-CN" altLang="en-US" sz="2800" b="1" dirty="0"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Verdana" panose="020B0604030504040204" pitchFamily="34" charset="0"/>
                <a:ea typeface="隶书" pitchFamily="49" charset="-122"/>
              </a:rPr>
              <a:t>  struct link</a:t>
            </a:r>
            <a:endParaRPr lang="en-US" altLang="zh-CN" sz="2800" b="1" dirty="0">
              <a:latin typeface="Verdana" panose="020B0604030504040204" pitchFamily="34" charset="0"/>
              <a:ea typeface="隶书" pitchFamily="49" charset="-122"/>
            </a:endParaRPr>
          </a:p>
          <a:p>
            <a:pPr algn="just" eaLnBrk="1" hangingPunct="1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Verdana" panose="020B0604030504040204" pitchFamily="34" charset="0"/>
                <a:ea typeface="隶书" pitchFamily="49" charset="-122"/>
              </a:rPr>
              <a:t>  </a:t>
            </a:r>
            <a:r>
              <a:rPr lang="en-US" altLang="zh-CN" sz="2800" b="1" dirty="0">
                <a:solidFill>
                  <a:srgbClr val="FFFF00"/>
                </a:solidFill>
                <a:latin typeface="Verdana" panose="020B0604030504040204" pitchFamily="34" charset="0"/>
                <a:ea typeface="隶书" pitchFamily="49" charset="-122"/>
              </a:rPr>
              <a:t> </a:t>
            </a:r>
            <a:r>
              <a:rPr lang="en-US" altLang="zh-CN" sz="2800" b="1" dirty="0">
                <a:latin typeface="Verdana" panose="020B0604030504040204" pitchFamily="34" charset="0"/>
                <a:ea typeface="隶书" pitchFamily="49" charset="-122"/>
              </a:rPr>
              <a:t>{ 	  int num;</a:t>
            </a:r>
            <a:endParaRPr lang="en-US" altLang="zh-CN" sz="2800" b="1" dirty="0">
              <a:latin typeface="Verdana" panose="020B0604030504040204" pitchFamily="34" charset="0"/>
              <a:ea typeface="隶书" pitchFamily="49" charset="-122"/>
            </a:endParaRPr>
          </a:p>
          <a:p>
            <a:pPr algn="just" eaLnBrk="1" hangingPunct="1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Verdana" panose="020B0604030504040204" pitchFamily="34" charset="0"/>
                <a:ea typeface="隶书" pitchFamily="49" charset="-122"/>
              </a:rPr>
              <a:t>      	  struct link </a:t>
            </a:r>
            <a:r>
              <a: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  <a:ea typeface="隶书" pitchFamily="49" charset="-122"/>
              </a:rPr>
              <a:t>*next</a:t>
            </a:r>
            <a:r>
              <a:rPr lang="en-US" altLang="zh-CN" sz="2800" b="1" dirty="0">
                <a:latin typeface="Verdana" panose="020B0604030504040204" pitchFamily="34" charset="0"/>
                <a:ea typeface="隶书" pitchFamily="49" charset="-122"/>
              </a:rPr>
              <a:t>;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隶书" pitchFamily="49" charset="-122"/>
              </a:rPr>
              <a:t> </a:t>
            </a:r>
            <a:endParaRPr lang="en-US" altLang="zh-CN" sz="2800" b="1" dirty="0">
              <a:solidFill>
                <a:srgbClr val="FF0000"/>
              </a:solidFill>
              <a:latin typeface="Verdana" panose="020B0604030504040204" pitchFamily="34" charset="0"/>
              <a:ea typeface="隶书" pitchFamily="49" charset="-122"/>
            </a:endParaRPr>
          </a:p>
          <a:p>
            <a:pPr algn="just" eaLnBrk="1" hangingPunct="1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Verdana" panose="020B0604030504040204" pitchFamily="34" charset="0"/>
                <a:ea typeface="隶书" pitchFamily="49" charset="-122"/>
              </a:rPr>
              <a:t>   }</a:t>
            </a:r>
            <a:r>
              <a: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  <a:ea typeface="隶书" pitchFamily="49" charset="-122"/>
              </a:rPr>
              <a:t>*p,*head</a:t>
            </a:r>
            <a:r>
              <a:rPr lang="en-US" altLang="zh-CN" sz="2800" b="1" dirty="0">
                <a:latin typeface="Verdana" panose="020B0604030504040204" pitchFamily="34" charset="0"/>
                <a:ea typeface="隶书" pitchFamily="49" charset="-122"/>
              </a:rPr>
              <a:t>; </a:t>
            </a:r>
            <a:endParaRPr lang="zh-CN" altLang="en-US" sz="2800" b="1" dirty="0">
              <a:latin typeface="Verdana" panose="020B0604030504040204" pitchFamily="34" charset="0"/>
              <a:ea typeface="隶书" pitchFamily="49" charset="-122"/>
            </a:endParaRPr>
          </a:p>
        </p:txBody>
      </p:sp>
      <p:grpSp>
        <p:nvGrpSpPr>
          <p:cNvPr id="2" name="Group 4"/>
          <p:cNvGrpSpPr/>
          <p:nvPr>
            <p:custDataLst>
              <p:tags r:id="rId1"/>
            </p:custDataLst>
          </p:nvPr>
        </p:nvGrpSpPr>
        <p:grpSpPr bwMode="auto">
          <a:xfrm>
            <a:off x="430213" y="2605088"/>
            <a:ext cx="1338262" cy="981075"/>
            <a:chOff x="375" y="3161"/>
            <a:chExt cx="843" cy="618"/>
          </a:xfrm>
        </p:grpSpPr>
        <p:sp>
          <p:nvSpPr>
            <p:cNvPr id="31782" name="Rectangle 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85" y="3509"/>
              <a:ext cx="833" cy="2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31783" name="Rectangle 6"/>
            <p:cNvSpPr>
              <a:spLocks noChangeArrowheads="1"/>
            </p:cNvSpPr>
            <p:nvPr/>
          </p:nvSpPr>
          <p:spPr bwMode="auto">
            <a:xfrm>
              <a:off x="375" y="3161"/>
              <a:ext cx="635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600">
                  <a:solidFill>
                    <a:schemeClr val="hlink"/>
                  </a:solidFill>
                  <a:latin typeface="Times New Roman" panose="02020603050405020304" pitchFamily="18" charset="0"/>
                </a:rPr>
                <a:t>head</a:t>
              </a:r>
              <a:endParaRPr lang="en-US" altLang="zh-CN" sz="36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70695" name="Freeform 7"/>
          <p:cNvSpPr/>
          <p:nvPr>
            <p:custDataLst>
              <p:tags r:id="rId3"/>
            </p:custDataLst>
          </p:nvPr>
        </p:nvSpPr>
        <p:spPr bwMode="auto">
          <a:xfrm flipV="1">
            <a:off x="1784350" y="3389313"/>
            <a:ext cx="647700" cy="86042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672"/>
                </a:moveTo>
                <a:lnTo>
                  <a:pt x="9990" y="19672"/>
                </a:lnTo>
                <a:lnTo>
                  <a:pt x="13986" y="0"/>
                </a:lnTo>
                <a:lnTo>
                  <a:pt x="199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696" name="Freeform 8"/>
          <p:cNvSpPr/>
          <p:nvPr>
            <p:custDataLst>
              <p:tags r:id="rId4"/>
            </p:custDataLst>
          </p:nvPr>
        </p:nvSpPr>
        <p:spPr bwMode="auto">
          <a:xfrm>
            <a:off x="3656013" y="4251325"/>
            <a:ext cx="1284287" cy="503238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623"/>
                </a:moveTo>
                <a:lnTo>
                  <a:pt x="9990" y="19623"/>
                </a:lnTo>
                <a:lnTo>
                  <a:pt x="13986" y="0"/>
                </a:lnTo>
                <a:lnTo>
                  <a:pt x="199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711" name="Text Box 23"/>
          <p:cNvSpPr txBox="1">
            <a:spLocks noChangeArrowheads="1"/>
          </p:cNvSpPr>
          <p:nvPr/>
        </p:nvSpPr>
        <p:spPr bwMode="auto">
          <a:xfrm>
            <a:off x="2505075" y="4729163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</a:endParaRPr>
          </a:p>
        </p:txBody>
      </p:sp>
      <p:sp>
        <p:nvSpPr>
          <p:cNvPr id="370712" name="Text Box 24"/>
          <p:cNvSpPr txBox="1">
            <a:spLocks noChangeArrowheads="1"/>
          </p:cNvSpPr>
          <p:nvPr/>
        </p:nvSpPr>
        <p:spPr bwMode="auto">
          <a:xfrm>
            <a:off x="5024438" y="4754563"/>
            <a:ext cx="1295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  <a:sym typeface="+mn-ea"/>
              </a:rPr>
              <a:t>NULL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70713" name="Text Box 2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5925" y="31496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oup 31"/>
          <p:cNvGrpSpPr/>
          <p:nvPr>
            <p:custDataLst>
              <p:tags r:id="rId6"/>
            </p:custDataLst>
          </p:nvPr>
        </p:nvGrpSpPr>
        <p:grpSpPr bwMode="auto">
          <a:xfrm>
            <a:off x="1681163" y="3965575"/>
            <a:ext cx="2190750" cy="1292225"/>
            <a:chOff x="1182" y="3251"/>
            <a:chExt cx="1380" cy="814"/>
          </a:xfrm>
        </p:grpSpPr>
        <p:grpSp>
          <p:nvGrpSpPr>
            <p:cNvPr id="31777" name="Group 10"/>
            <p:cNvGrpSpPr/>
            <p:nvPr/>
          </p:nvGrpSpPr>
          <p:grpSpPr bwMode="auto">
            <a:xfrm>
              <a:off x="1681" y="3251"/>
              <a:ext cx="881" cy="814"/>
              <a:chOff x="1681" y="3023"/>
              <a:chExt cx="881" cy="814"/>
            </a:xfrm>
          </p:grpSpPr>
          <p:sp>
            <p:nvSpPr>
              <p:cNvPr id="31780" name="Rectangle 11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681" y="3023"/>
                <a:ext cx="881" cy="40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3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81" name="Rectangle 12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681" y="3430"/>
                <a:ext cx="881" cy="40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36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1778" name="Text Box 1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182" y="3763"/>
              <a:ext cx="5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next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1779" name="Text Box 1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190" y="3391"/>
              <a:ext cx="5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num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32"/>
          <p:cNvGrpSpPr/>
          <p:nvPr>
            <p:custDataLst>
              <p:tags r:id="rId11"/>
            </p:custDataLst>
          </p:nvPr>
        </p:nvGrpSpPr>
        <p:grpSpPr bwMode="auto">
          <a:xfrm>
            <a:off x="3167063" y="3376613"/>
            <a:ext cx="504825" cy="503237"/>
            <a:chOff x="1746" y="2886"/>
            <a:chExt cx="318" cy="317"/>
          </a:xfrm>
        </p:grpSpPr>
        <p:sp>
          <p:nvSpPr>
            <p:cNvPr id="31775" name="Text Box 14"/>
            <p:cNvSpPr txBox="1">
              <a:spLocks noChangeArrowheads="1"/>
            </p:cNvSpPr>
            <p:nvPr/>
          </p:nvSpPr>
          <p:spPr bwMode="auto">
            <a:xfrm>
              <a:off x="1746" y="2886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Arial" panose="020B0604020202020204" pitchFamily="34" charset="0"/>
                </a:rPr>
                <a:t> </a:t>
              </a:r>
              <a:endParaRPr lang="en-US" altLang="zh-CN" sz="24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76" name="Line 27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1791" y="302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" name="Group 34"/>
          <p:cNvGrpSpPr/>
          <p:nvPr>
            <p:custDataLst>
              <p:tags r:id="rId13"/>
            </p:custDataLst>
          </p:nvPr>
        </p:nvGrpSpPr>
        <p:grpSpPr bwMode="auto">
          <a:xfrm>
            <a:off x="4232275" y="3817938"/>
            <a:ext cx="2135188" cy="1511300"/>
            <a:chOff x="2789" y="3158"/>
            <a:chExt cx="1345" cy="952"/>
          </a:xfrm>
        </p:grpSpPr>
        <p:grpSp>
          <p:nvGrpSpPr>
            <p:cNvPr id="31770" name="Group 17"/>
            <p:cNvGrpSpPr/>
            <p:nvPr/>
          </p:nvGrpSpPr>
          <p:grpSpPr bwMode="auto">
            <a:xfrm>
              <a:off x="3243" y="3203"/>
              <a:ext cx="891" cy="907"/>
              <a:chOff x="3243" y="2976"/>
              <a:chExt cx="891" cy="817"/>
            </a:xfrm>
          </p:grpSpPr>
          <p:sp>
            <p:nvSpPr>
              <p:cNvPr id="31773" name="Rectangle 18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243" y="2976"/>
                <a:ext cx="891" cy="40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3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74" name="Rectangle 19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3243" y="3385"/>
                <a:ext cx="891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36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1771" name="Text Box 20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789" y="3793"/>
              <a:ext cx="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next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1772" name="Text Box 2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789" y="3158"/>
              <a:ext cx="5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num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</p:grp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0" y="5499100"/>
            <a:ext cx="11353800" cy="1354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申请一个结构体变量的空间，用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指向它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函数原型：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FF00"/>
                </a:solidFill>
              </a:rPr>
              <a:t>void *</a:t>
            </a:r>
            <a:r>
              <a:rPr lang="en-US" altLang="zh-CN" dirty="0">
                <a:solidFill>
                  <a:srgbClr val="F905F6"/>
                </a:solidFill>
              </a:rPr>
              <a:t>malloc</a:t>
            </a:r>
            <a:r>
              <a:rPr lang="en-US" altLang="zh-CN" dirty="0"/>
              <a:t>(unsigned int size);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调用形式： </a:t>
            </a:r>
            <a:r>
              <a:rPr lang="en-US" altLang="zh-CN" dirty="0">
                <a:latin typeface="Arial" panose="020B0604020202020204" pitchFamily="34" charset="0"/>
              </a:rPr>
              <a:t>p=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(struct link *)</a:t>
            </a:r>
            <a:r>
              <a:rPr lang="en-US" altLang="zh-CN" dirty="0">
                <a:solidFill>
                  <a:srgbClr val="F905F6"/>
                </a:solidFill>
                <a:latin typeface="Arial" panose="020B0604020202020204" pitchFamily="34" charset="0"/>
              </a:rPr>
              <a:t>malloc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sizeof</a:t>
            </a:r>
            <a:r>
              <a:rPr lang="en-US" altLang="zh-CN" dirty="0">
                <a:latin typeface="Arial" panose="020B0604020202020204" pitchFamily="34" charset="0"/>
              </a:rPr>
              <a:t>(struct link)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19738" y="46038"/>
            <a:ext cx="6672262" cy="37846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p= </a:t>
            </a:r>
            <a:r>
              <a:rPr lang="en-US" altLang="zh-CN" sz="2400" dirty="0">
                <a:solidFill>
                  <a:srgbClr val="FFFF00"/>
                </a:solidFill>
              </a:rPr>
              <a:t>(struct link*)</a:t>
            </a:r>
            <a:r>
              <a:rPr lang="en-US" altLang="zh-CN" sz="2400" dirty="0"/>
              <a:t>malloc(</a:t>
            </a:r>
            <a:r>
              <a:rPr lang="en-US" altLang="zh-CN" sz="2400" dirty="0" err="1">
                <a:solidFill>
                  <a:srgbClr val="FFFF00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sz="2400" dirty="0">
                <a:solidFill>
                  <a:srgbClr val="FFFF00"/>
                </a:solidFill>
                <a:latin typeface="Arial" panose="020B0604020202020204" pitchFamily="34" charset="0"/>
              </a:rPr>
              <a:t>(struct link)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>
              <a:defRPr/>
            </a:pPr>
            <a:r>
              <a:rPr lang="en-US" altLang="zh-CN" sz="2400" dirty="0"/>
              <a:t>scanf(”%d”,&amp;</a:t>
            </a:r>
            <a:r>
              <a:rPr lang="en-US" altLang="zh-CN" sz="2400" dirty="0">
                <a:solidFill>
                  <a:srgbClr val="FFFF00"/>
                </a:solidFill>
              </a:rPr>
              <a:t>p-&gt;num</a:t>
            </a:r>
            <a:r>
              <a:rPr lang="en-US" altLang="zh-CN" sz="2400" dirty="0"/>
              <a:t>);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数据域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,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输入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altLang="zh-CN" sz="2400" dirty="0"/>
              <a:t>p-&gt;next=NULL;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指针域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altLang="zh-CN" sz="2400" dirty="0"/>
              <a:t>head=p;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表头指针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defRPr/>
            </a:pPr>
            <a:endParaRPr lang="en-US" altLang="zh-CN" sz="2400" dirty="0"/>
          </a:p>
          <a:p>
            <a:pPr>
              <a:defRPr/>
            </a:pPr>
            <a:r>
              <a:rPr lang="en-US" altLang="zh-CN" sz="2400" dirty="0"/>
              <a:t>p=(</a:t>
            </a:r>
            <a:r>
              <a:rPr lang="en-US" altLang="zh-CN" sz="2400" dirty="0">
                <a:solidFill>
                  <a:srgbClr val="FFFF00"/>
                </a:solidFill>
              </a:rPr>
              <a:t>struct link*</a:t>
            </a:r>
            <a:r>
              <a:rPr lang="en-US" altLang="zh-CN" sz="2400" dirty="0"/>
              <a:t>)malloc(</a:t>
            </a:r>
            <a:r>
              <a:rPr lang="en-US" altLang="zh-CN" sz="2400" dirty="0" err="1">
                <a:solidFill>
                  <a:srgbClr val="FFFF00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sz="2400" dirty="0">
                <a:solidFill>
                  <a:srgbClr val="FFFF00"/>
                </a:solidFill>
                <a:latin typeface="Arial" panose="020B0604020202020204" pitchFamily="34" charset="0"/>
              </a:rPr>
              <a:t>(struct link) 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>
              <a:defRPr/>
            </a:pPr>
            <a:r>
              <a:rPr lang="en-US" altLang="zh-CN" sz="2400" dirty="0">
                <a:sym typeface="+mn-ea"/>
              </a:rPr>
              <a:t>scanf(”%d”,&amp;</a:t>
            </a:r>
            <a:r>
              <a:rPr lang="en-US" altLang="zh-CN" sz="2400" dirty="0"/>
              <a:t>p-&gt;num); 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数据域，输入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34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altLang="zh-CN" sz="2400" dirty="0"/>
              <a:t>p-&gt;next=NULL;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指针域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defRPr/>
            </a:pPr>
            <a:endParaRPr lang="en-US" altLang="zh-CN" sz="2400" dirty="0"/>
          </a:p>
          <a:p>
            <a:pPr>
              <a:defRPr/>
            </a:pPr>
            <a:r>
              <a:rPr lang="en-US" altLang="zh-CN" sz="2400" dirty="0"/>
              <a:t>head-&gt;next=p; 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连接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个结点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3" name="Text Box 24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514600" y="4743133"/>
            <a:ext cx="1295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  <a:sym typeface="+mn-ea"/>
              </a:rPr>
              <a:t>NULL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34" name="Group 4"/>
          <p:cNvGrpSpPr/>
          <p:nvPr>
            <p:custDataLst>
              <p:tags r:id="rId19"/>
            </p:custDataLst>
          </p:nvPr>
        </p:nvGrpSpPr>
        <p:grpSpPr bwMode="auto">
          <a:xfrm>
            <a:off x="2559050" y="2484438"/>
            <a:ext cx="1322388" cy="1100137"/>
            <a:chOff x="385" y="3086"/>
            <a:chExt cx="833" cy="693"/>
          </a:xfrm>
        </p:grpSpPr>
        <p:sp>
          <p:nvSpPr>
            <p:cNvPr id="31768" name="Rectangle 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85" y="3491"/>
              <a:ext cx="83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31769" name="Rectangle 6"/>
            <p:cNvSpPr>
              <a:spLocks noChangeArrowheads="1"/>
            </p:cNvSpPr>
            <p:nvPr/>
          </p:nvSpPr>
          <p:spPr bwMode="auto">
            <a:xfrm>
              <a:off x="433" y="3086"/>
              <a:ext cx="635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600">
                  <a:solidFill>
                    <a:schemeClr val="hlink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36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21"/>
            </p:custDataLst>
          </p:nvPr>
        </p:nvGrpSpPr>
        <p:grpSpPr bwMode="auto">
          <a:xfrm>
            <a:off x="3908425" y="3413125"/>
            <a:ext cx="1889125" cy="501650"/>
            <a:chOff x="3811750" y="3366967"/>
            <a:chExt cx="1644383" cy="501650"/>
          </a:xfrm>
        </p:grpSpPr>
        <p:grpSp>
          <p:nvGrpSpPr>
            <p:cNvPr id="31764" name="Group 33"/>
            <p:cNvGrpSpPr/>
            <p:nvPr/>
          </p:nvGrpSpPr>
          <p:grpSpPr bwMode="auto">
            <a:xfrm>
              <a:off x="4952896" y="3366967"/>
              <a:ext cx="503237" cy="501650"/>
              <a:chOff x="3243" y="2858"/>
              <a:chExt cx="317" cy="316"/>
            </a:xfrm>
          </p:grpSpPr>
          <p:sp>
            <p:nvSpPr>
              <p:cNvPr id="31766" name="Text Box 21"/>
              <p:cNvSpPr txBox="1">
                <a:spLocks noChangeArrowheads="1"/>
              </p:cNvSpPr>
              <p:nvPr/>
            </p:nvSpPr>
            <p:spPr bwMode="auto">
              <a:xfrm>
                <a:off x="3243" y="2886"/>
                <a:ext cx="31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chemeClr val="hlink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sz="240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767" name="Line 28"/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288" y="2858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cxnSp>
          <p:nvCxnSpPr>
            <p:cNvPr id="31765" name="直接连接符 15"/>
            <p:cNvCxnSpPr>
              <a:cxnSpLocks noChangeShapeType="1"/>
            </p:cNvCxnSpPr>
            <p:nvPr>
              <p:custDataLst>
                <p:tags r:id="rId23"/>
              </p:custDataLst>
            </p:nvPr>
          </p:nvCxnSpPr>
          <p:spPr bwMode="auto">
            <a:xfrm>
              <a:off x="3811750" y="3367297"/>
              <a:ext cx="122396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文本框 4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2825750" y="3906838"/>
            <a:ext cx="10779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>
                <a:latin typeface="Times New Roman" panose="02020603050405020304" pitchFamily="18" charset="0"/>
              </a:rPr>
              <a:t>12</a:t>
            </a:r>
            <a:endParaRPr lang="zh-CN" altLang="en-US" sz="3600"/>
          </a:p>
        </p:txBody>
      </p:sp>
      <p:sp>
        <p:nvSpPr>
          <p:cNvPr id="40" name="文本框 39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230813" y="3889375"/>
            <a:ext cx="10779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>
                <a:latin typeface="Times New Roman" panose="02020603050405020304" pitchFamily="18" charset="0"/>
              </a:rPr>
              <a:t>34</a:t>
            </a:r>
            <a:endParaRPr lang="zh-CN" altLang="en-US" sz="36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370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7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7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7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711" grpId="0"/>
      <p:bldP spid="370712" grpId="0"/>
      <p:bldP spid="370713" grpId="0"/>
      <p:bldP spid="370713" grpId="1"/>
      <p:bldP spid="4" grpId="0" bldLvl="0" animBg="1"/>
      <p:bldP spid="7" grpId="0" bldLvl="0" animBg="1"/>
      <p:bldP spid="33" grpId="0"/>
      <p:bldP spid="33" grpId="1"/>
      <p:bldP spid="5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0687528-8B03-412F-83A9-BD10E6FBBBB2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1992313" y="4651375"/>
            <a:ext cx="7632700" cy="1873250"/>
            <a:chOff x="295" y="2613"/>
            <a:chExt cx="4808" cy="1180"/>
          </a:xfrm>
        </p:grpSpPr>
        <p:sp>
          <p:nvSpPr>
            <p:cNvPr id="32793" name="Rectangle 4"/>
            <p:cNvSpPr>
              <a:spLocks noChangeArrowheads="1"/>
            </p:cNvSpPr>
            <p:nvPr/>
          </p:nvSpPr>
          <p:spPr bwMode="auto">
            <a:xfrm>
              <a:off x="295" y="2613"/>
              <a:ext cx="5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head: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794" name="Rectangle 5"/>
            <p:cNvSpPr>
              <a:spLocks noChangeArrowheads="1"/>
            </p:cNvSpPr>
            <p:nvPr/>
          </p:nvSpPr>
          <p:spPr bwMode="auto">
            <a:xfrm>
              <a:off x="863" y="2623"/>
              <a:ext cx="529" cy="25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2795" name="Rectangle 6"/>
            <p:cNvSpPr>
              <a:spLocks noChangeArrowheads="1"/>
            </p:cNvSpPr>
            <p:nvPr/>
          </p:nvSpPr>
          <p:spPr bwMode="auto">
            <a:xfrm>
              <a:off x="1407" y="3019"/>
              <a:ext cx="543" cy="73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1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905F6"/>
                  </a:solidFill>
                  <a:latin typeface="Arial" panose="020B0604020202020204" pitchFamily="34" charset="0"/>
                </a:rPr>
                <a:t>.</a:t>
              </a:r>
              <a:endParaRPr lang="en-US" altLang="zh-CN" sz="2000">
                <a:solidFill>
                  <a:srgbClr val="F905F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796" name="Line 7"/>
            <p:cNvSpPr>
              <a:spLocks noChangeShapeType="1"/>
            </p:cNvSpPr>
            <p:nvPr/>
          </p:nvSpPr>
          <p:spPr bwMode="auto">
            <a:xfrm>
              <a:off x="1421" y="3529"/>
              <a:ext cx="5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Freeform 8"/>
            <p:cNvSpPr/>
            <p:nvPr/>
          </p:nvSpPr>
          <p:spPr bwMode="auto">
            <a:xfrm>
              <a:off x="1120" y="2765"/>
              <a:ext cx="272" cy="3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45"/>
                  </a:lnTo>
                  <a:lnTo>
                    <a:pt x="19945" y="1994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8" name="Rectangle 9"/>
            <p:cNvSpPr>
              <a:spLocks noChangeArrowheads="1"/>
            </p:cNvSpPr>
            <p:nvPr/>
          </p:nvSpPr>
          <p:spPr bwMode="auto">
            <a:xfrm>
              <a:off x="2235" y="3012"/>
              <a:ext cx="544" cy="76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2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799" name="Line 10"/>
            <p:cNvSpPr>
              <a:spLocks noChangeShapeType="1"/>
            </p:cNvSpPr>
            <p:nvPr/>
          </p:nvSpPr>
          <p:spPr bwMode="auto">
            <a:xfrm>
              <a:off x="2250" y="3539"/>
              <a:ext cx="5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0" name="Rectangle 11"/>
            <p:cNvSpPr>
              <a:spLocks noChangeArrowheads="1"/>
            </p:cNvSpPr>
            <p:nvPr/>
          </p:nvSpPr>
          <p:spPr bwMode="auto">
            <a:xfrm>
              <a:off x="3729" y="3036"/>
              <a:ext cx="543" cy="75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N-1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801" name="Line 12"/>
            <p:cNvSpPr>
              <a:spLocks noChangeShapeType="1"/>
            </p:cNvSpPr>
            <p:nvPr/>
          </p:nvSpPr>
          <p:spPr bwMode="auto">
            <a:xfrm>
              <a:off x="3743" y="3559"/>
              <a:ext cx="5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2" name="Rectangle 13"/>
            <p:cNvSpPr>
              <a:spLocks noChangeArrowheads="1"/>
            </p:cNvSpPr>
            <p:nvPr/>
          </p:nvSpPr>
          <p:spPr bwMode="auto">
            <a:xfrm>
              <a:off x="4559" y="3036"/>
              <a:ext cx="544" cy="75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N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>
                <a:latin typeface="Arial" panose="020B0604020202020204" pitchFamily="34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>
                <a:latin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803" name="Line 14"/>
            <p:cNvSpPr>
              <a:spLocks noChangeShapeType="1"/>
            </p:cNvSpPr>
            <p:nvPr/>
          </p:nvSpPr>
          <p:spPr bwMode="auto">
            <a:xfrm>
              <a:off x="4574" y="3559"/>
              <a:ext cx="5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Rectangle 15"/>
            <p:cNvSpPr>
              <a:spLocks noChangeArrowheads="1"/>
            </p:cNvSpPr>
            <p:nvPr/>
          </p:nvSpPr>
          <p:spPr bwMode="auto">
            <a:xfrm>
              <a:off x="3081" y="3235"/>
              <a:ext cx="332" cy="324"/>
            </a:xfrm>
            <a:prstGeom prst="rect">
              <a:avLst/>
            </a:prstGeom>
            <a:noFill/>
            <a:ln w="9525" algn="ctr">
              <a:solidFill>
                <a:srgbClr val="F905F6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...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805" name="Line 16"/>
            <p:cNvSpPr>
              <a:spLocks noChangeShapeType="1"/>
            </p:cNvSpPr>
            <p:nvPr/>
          </p:nvSpPr>
          <p:spPr bwMode="auto">
            <a:xfrm>
              <a:off x="1708" y="3650"/>
              <a:ext cx="4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6" name="Line 17"/>
            <p:cNvSpPr>
              <a:spLocks noChangeShapeType="1"/>
            </p:cNvSpPr>
            <p:nvPr/>
          </p:nvSpPr>
          <p:spPr bwMode="auto">
            <a:xfrm>
              <a:off x="2508" y="3667"/>
              <a:ext cx="48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7" name="Line 18"/>
            <p:cNvSpPr>
              <a:spLocks noChangeShapeType="1"/>
            </p:cNvSpPr>
            <p:nvPr/>
          </p:nvSpPr>
          <p:spPr bwMode="auto">
            <a:xfrm>
              <a:off x="3398" y="3667"/>
              <a:ext cx="3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8" name="Line 19"/>
            <p:cNvSpPr>
              <a:spLocks noChangeShapeType="1"/>
            </p:cNvSpPr>
            <p:nvPr/>
          </p:nvSpPr>
          <p:spPr bwMode="auto">
            <a:xfrm>
              <a:off x="4047" y="3667"/>
              <a:ext cx="4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Rectangle 20"/>
            <p:cNvSpPr>
              <a:spLocks noChangeArrowheads="1"/>
            </p:cNvSpPr>
            <p:nvPr/>
          </p:nvSpPr>
          <p:spPr bwMode="auto">
            <a:xfrm>
              <a:off x="340" y="3003"/>
              <a:ext cx="86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hlink"/>
                  </a:solidFill>
                  <a:latin typeface="Arial" panose="020B0604020202020204" pitchFamily="34" charset="0"/>
                  <a:ea typeface="隶书" pitchFamily="49" charset="-122"/>
                </a:rPr>
                <a:t>双向链表</a:t>
              </a:r>
              <a:endParaRPr lang="zh-CN" altLang="en-US" sz="200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endParaRPr>
            </a:p>
          </p:txBody>
        </p:sp>
        <p:sp>
          <p:nvSpPr>
            <p:cNvPr id="32810" name="Line 21"/>
            <p:cNvSpPr>
              <a:spLocks noChangeShapeType="1"/>
            </p:cNvSpPr>
            <p:nvPr/>
          </p:nvSpPr>
          <p:spPr bwMode="auto">
            <a:xfrm>
              <a:off x="1407" y="3276"/>
              <a:ext cx="543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Line 22"/>
            <p:cNvSpPr>
              <a:spLocks noChangeShapeType="1"/>
            </p:cNvSpPr>
            <p:nvPr/>
          </p:nvSpPr>
          <p:spPr bwMode="auto">
            <a:xfrm>
              <a:off x="2252" y="3276"/>
              <a:ext cx="527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Line 23"/>
            <p:cNvSpPr>
              <a:spLocks noChangeShapeType="1"/>
            </p:cNvSpPr>
            <p:nvPr/>
          </p:nvSpPr>
          <p:spPr bwMode="auto">
            <a:xfrm>
              <a:off x="3745" y="3324"/>
              <a:ext cx="527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3" name="Line 24"/>
            <p:cNvSpPr>
              <a:spLocks noChangeShapeType="1"/>
            </p:cNvSpPr>
            <p:nvPr/>
          </p:nvSpPr>
          <p:spPr bwMode="auto">
            <a:xfrm>
              <a:off x="4574" y="3324"/>
              <a:ext cx="529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4" name="Line 25"/>
            <p:cNvSpPr>
              <a:spLocks noChangeShapeType="1"/>
            </p:cNvSpPr>
            <p:nvPr/>
          </p:nvSpPr>
          <p:spPr bwMode="auto">
            <a:xfrm flipH="1">
              <a:off x="4255" y="3432"/>
              <a:ext cx="453" cy="1"/>
            </a:xfrm>
            <a:prstGeom prst="line">
              <a:avLst/>
            </a:prstGeom>
            <a:noFill/>
            <a:ln w="9525">
              <a:solidFill>
                <a:srgbClr val="F905F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5" name="Line 26"/>
            <p:cNvSpPr>
              <a:spLocks noChangeShapeType="1"/>
            </p:cNvSpPr>
            <p:nvPr/>
          </p:nvSpPr>
          <p:spPr bwMode="auto">
            <a:xfrm flipH="1">
              <a:off x="3427" y="3414"/>
              <a:ext cx="453" cy="0"/>
            </a:xfrm>
            <a:prstGeom prst="line">
              <a:avLst/>
            </a:prstGeom>
            <a:noFill/>
            <a:ln w="9525">
              <a:solidFill>
                <a:srgbClr val="F905F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6" name="Line 27"/>
            <p:cNvSpPr>
              <a:spLocks noChangeShapeType="1"/>
            </p:cNvSpPr>
            <p:nvPr/>
          </p:nvSpPr>
          <p:spPr bwMode="auto">
            <a:xfrm flipH="1">
              <a:off x="2779" y="3424"/>
              <a:ext cx="331" cy="8"/>
            </a:xfrm>
            <a:prstGeom prst="line">
              <a:avLst/>
            </a:prstGeom>
            <a:noFill/>
            <a:ln w="9525">
              <a:solidFill>
                <a:srgbClr val="F905F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7" name="Line 28"/>
            <p:cNvSpPr>
              <a:spLocks noChangeShapeType="1"/>
            </p:cNvSpPr>
            <p:nvPr/>
          </p:nvSpPr>
          <p:spPr bwMode="auto">
            <a:xfrm flipH="1">
              <a:off x="1979" y="3414"/>
              <a:ext cx="453" cy="0"/>
            </a:xfrm>
            <a:prstGeom prst="line">
              <a:avLst/>
            </a:prstGeom>
            <a:noFill/>
            <a:ln w="9525">
              <a:solidFill>
                <a:srgbClr val="F905F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9"/>
          <p:cNvGrpSpPr/>
          <p:nvPr/>
        </p:nvGrpSpPr>
        <p:grpSpPr bwMode="auto">
          <a:xfrm>
            <a:off x="1919288" y="2492375"/>
            <a:ext cx="7561262" cy="1584325"/>
            <a:chOff x="249" y="1480"/>
            <a:chExt cx="2451" cy="848"/>
          </a:xfrm>
        </p:grpSpPr>
        <p:sp>
          <p:nvSpPr>
            <p:cNvPr id="32776" name="Rectangle 30"/>
            <p:cNvSpPr>
              <a:spLocks noChangeArrowheads="1"/>
            </p:cNvSpPr>
            <p:nvPr/>
          </p:nvSpPr>
          <p:spPr bwMode="auto">
            <a:xfrm>
              <a:off x="249" y="1480"/>
              <a:ext cx="274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head: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777" name="Rectangle 31"/>
            <p:cNvSpPr>
              <a:spLocks noChangeArrowheads="1"/>
            </p:cNvSpPr>
            <p:nvPr/>
          </p:nvSpPr>
          <p:spPr bwMode="auto">
            <a:xfrm>
              <a:off x="573" y="1493"/>
              <a:ext cx="265" cy="18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2778" name="Rectangle 32"/>
            <p:cNvSpPr>
              <a:spLocks noChangeArrowheads="1"/>
            </p:cNvSpPr>
            <p:nvPr/>
          </p:nvSpPr>
          <p:spPr bwMode="auto">
            <a:xfrm>
              <a:off x="846" y="1775"/>
              <a:ext cx="272" cy="52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1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779" name="Line 33"/>
            <p:cNvSpPr>
              <a:spLocks noChangeShapeType="1"/>
            </p:cNvSpPr>
            <p:nvPr/>
          </p:nvSpPr>
          <p:spPr bwMode="auto">
            <a:xfrm>
              <a:off x="854" y="2139"/>
              <a:ext cx="26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0" name="Freeform 34"/>
            <p:cNvSpPr/>
            <p:nvPr/>
          </p:nvSpPr>
          <p:spPr bwMode="auto">
            <a:xfrm>
              <a:off x="702" y="1594"/>
              <a:ext cx="136" cy="2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43"/>
                  </a:lnTo>
                  <a:lnTo>
                    <a:pt x="19945" y="19943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1" name="Rectangle 35"/>
            <p:cNvSpPr>
              <a:spLocks noChangeArrowheads="1"/>
            </p:cNvSpPr>
            <p:nvPr/>
          </p:nvSpPr>
          <p:spPr bwMode="auto">
            <a:xfrm>
              <a:off x="1262" y="1771"/>
              <a:ext cx="272" cy="54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2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782" name="Line 36"/>
            <p:cNvSpPr>
              <a:spLocks noChangeShapeType="1"/>
            </p:cNvSpPr>
            <p:nvPr/>
          </p:nvSpPr>
          <p:spPr bwMode="auto">
            <a:xfrm>
              <a:off x="1270" y="2147"/>
              <a:ext cx="26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3" name="Rectangle 37"/>
            <p:cNvSpPr>
              <a:spLocks noChangeArrowheads="1"/>
            </p:cNvSpPr>
            <p:nvPr/>
          </p:nvSpPr>
          <p:spPr bwMode="auto">
            <a:xfrm>
              <a:off x="2011" y="1788"/>
              <a:ext cx="273" cy="54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N-1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784" name="Line 38"/>
            <p:cNvSpPr>
              <a:spLocks noChangeShapeType="1"/>
            </p:cNvSpPr>
            <p:nvPr/>
          </p:nvSpPr>
          <p:spPr bwMode="auto">
            <a:xfrm>
              <a:off x="2019" y="2161"/>
              <a:ext cx="26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5" name="Rectangle 39"/>
            <p:cNvSpPr>
              <a:spLocks noChangeArrowheads="1"/>
            </p:cNvSpPr>
            <p:nvPr/>
          </p:nvSpPr>
          <p:spPr bwMode="auto">
            <a:xfrm>
              <a:off x="2427" y="1788"/>
              <a:ext cx="273" cy="54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N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786" name="Line 40"/>
            <p:cNvSpPr>
              <a:spLocks noChangeShapeType="1"/>
            </p:cNvSpPr>
            <p:nvPr/>
          </p:nvSpPr>
          <p:spPr bwMode="auto">
            <a:xfrm>
              <a:off x="2435" y="2161"/>
              <a:ext cx="26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7" name="Rectangle 41"/>
            <p:cNvSpPr>
              <a:spLocks noChangeArrowheads="1"/>
            </p:cNvSpPr>
            <p:nvPr/>
          </p:nvSpPr>
          <p:spPr bwMode="auto">
            <a:xfrm>
              <a:off x="1685" y="1930"/>
              <a:ext cx="16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...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788" name="Line 42"/>
            <p:cNvSpPr>
              <a:spLocks noChangeShapeType="1"/>
            </p:cNvSpPr>
            <p:nvPr/>
          </p:nvSpPr>
          <p:spPr bwMode="auto">
            <a:xfrm>
              <a:off x="997" y="2226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9" name="Line 43"/>
            <p:cNvSpPr>
              <a:spLocks noChangeShapeType="1"/>
            </p:cNvSpPr>
            <p:nvPr/>
          </p:nvSpPr>
          <p:spPr bwMode="auto">
            <a:xfrm>
              <a:off x="1398" y="2239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0" name="Line 44"/>
            <p:cNvSpPr>
              <a:spLocks noChangeShapeType="1"/>
            </p:cNvSpPr>
            <p:nvPr/>
          </p:nvSpPr>
          <p:spPr bwMode="auto">
            <a:xfrm>
              <a:off x="1844" y="2239"/>
              <a:ext cx="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45"/>
            <p:cNvSpPr>
              <a:spLocks noChangeShapeType="1"/>
            </p:cNvSpPr>
            <p:nvPr/>
          </p:nvSpPr>
          <p:spPr bwMode="auto">
            <a:xfrm>
              <a:off x="2170" y="2239"/>
              <a:ext cx="2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Rectangle 46"/>
            <p:cNvSpPr>
              <a:spLocks noChangeArrowheads="1"/>
            </p:cNvSpPr>
            <p:nvPr/>
          </p:nvSpPr>
          <p:spPr bwMode="auto">
            <a:xfrm>
              <a:off x="316" y="1914"/>
              <a:ext cx="458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hlink"/>
                  </a:solidFill>
                  <a:latin typeface="Arial" panose="020B0604020202020204" pitchFamily="34" charset="0"/>
                  <a:ea typeface="隶书" pitchFamily="49" charset="-122"/>
                </a:rPr>
                <a:t>单向链表</a:t>
              </a:r>
              <a:endParaRPr lang="zh-CN" altLang="en-US" sz="200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endParaRPr>
            </a:p>
          </p:txBody>
        </p:sp>
      </p:grpSp>
      <p:sp>
        <p:nvSpPr>
          <p:cNvPr id="12293" name="Text Box 47"/>
          <p:cNvSpPr txBox="1">
            <a:spLocks noChangeArrowheads="1"/>
          </p:cNvSpPr>
          <p:nvPr/>
        </p:nvSpPr>
        <p:spPr bwMode="auto">
          <a:xfrm>
            <a:off x="8904288" y="3643313"/>
            <a:ext cx="503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.</a:t>
            </a:r>
            <a:endParaRPr lang="en-US" altLang="zh-CN" sz="2400"/>
          </a:p>
        </p:txBody>
      </p:sp>
      <p:sp>
        <p:nvSpPr>
          <p:cNvPr id="30726" name="Rectangle 50"/>
          <p:cNvSpPr>
            <a:spLocks noGrp="1" noChangeArrowheads="1"/>
          </p:cNvSpPr>
          <p:nvPr>
            <p:ph type="title"/>
          </p:nvPr>
        </p:nvSpPr>
        <p:spPr>
          <a:xfrm>
            <a:off x="23813" y="73025"/>
            <a:ext cx="8424862" cy="792163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b="1" dirty="0">
                <a:solidFill>
                  <a:srgbClr val="FFC000"/>
                </a:solidFill>
              </a:rPr>
              <a:t>§13.3 </a:t>
            </a:r>
            <a:r>
              <a:rPr lang="zh-CN" altLang="en-US" b="1" dirty="0">
                <a:solidFill>
                  <a:srgbClr val="FFC000"/>
                </a:solidFill>
              </a:rPr>
              <a:t>链表</a:t>
            </a:r>
            <a:endParaRPr lang="en-US" altLang="zh-CN" b="1" dirty="0">
              <a:solidFill>
                <a:srgbClr val="FFC000"/>
              </a:solidFill>
            </a:endParaRPr>
          </a:p>
        </p:txBody>
      </p:sp>
      <p:sp>
        <p:nvSpPr>
          <p:cNvPr id="431155" name="Rectangle 51"/>
          <p:cNvSpPr>
            <a:spLocks noChangeArrowheads="1"/>
          </p:cNvSpPr>
          <p:nvPr/>
        </p:nvSpPr>
        <p:spPr bwMode="auto">
          <a:xfrm>
            <a:off x="122238" y="1062038"/>
            <a:ext cx="9485312" cy="969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隶书" pitchFamily="49" charset="-122"/>
              </a:rPr>
              <a:t>链表是一种非常重要的数据结构</a:t>
            </a:r>
            <a:endParaRPr lang="zh-CN" alt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隶书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隶书" pitchFamily="49" charset="-122"/>
              </a:rPr>
              <a:t>链表是一种可以</a:t>
            </a:r>
            <a:r>
              <a:rPr lang="zh-CN" alt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隶书" pitchFamily="49" charset="-122"/>
              </a:rPr>
              <a:t>动态地进行存储分配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隶书" pitchFamily="49" charset="-122"/>
              </a:rPr>
              <a:t>的数据结构。</a:t>
            </a:r>
            <a:endParaRPr lang="zh-CN" alt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隶书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539C4B-AE49-4802-B110-4E08F48EB3AF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34819" name="Group 2"/>
          <p:cNvGrpSpPr/>
          <p:nvPr/>
        </p:nvGrpSpPr>
        <p:grpSpPr bwMode="auto">
          <a:xfrm>
            <a:off x="1143000" y="990600"/>
            <a:ext cx="8353425" cy="1655763"/>
            <a:chOff x="158" y="709"/>
            <a:chExt cx="5262" cy="1043"/>
          </a:xfrm>
        </p:grpSpPr>
        <p:sp>
          <p:nvSpPr>
            <p:cNvPr id="34848" name="Rectangle 3"/>
            <p:cNvSpPr>
              <a:spLocks noChangeArrowheads="1"/>
            </p:cNvSpPr>
            <p:nvPr/>
          </p:nvSpPr>
          <p:spPr bwMode="auto">
            <a:xfrm>
              <a:off x="295" y="709"/>
              <a:ext cx="743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head: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4849" name="Rectangle 4"/>
            <p:cNvSpPr>
              <a:spLocks noChangeArrowheads="1"/>
            </p:cNvSpPr>
            <p:nvPr/>
          </p:nvSpPr>
          <p:spPr bwMode="auto">
            <a:xfrm>
              <a:off x="959" y="723"/>
              <a:ext cx="536" cy="19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34850" name="Group 5"/>
            <p:cNvGrpSpPr/>
            <p:nvPr/>
          </p:nvGrpSpPr>
          <p:grpSpPr bwMode="auto">
            <a:xfrm>
              <a:off x="1508" y="1024"/>
              <a:ext cx="550" cy="563"/>
              <a:chOff x="0" y="0"/>
              <a:chExt cx="20000" cy="20000"/>
            </a:xfrm>
          </p:grpSpPr>
          <p:sp>
            <p:nvSpPr>
              <p:cNvPr id="34868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1</a:t>
                </a:r>
                <a:endParaRPr lang="en-US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34869" name="Line 7"/>
              <p:cNvSpPr>
                <a:spLocks noChangeShapeType="1"/>
              </p:cNvSpPr>
              <p:nvPr/>
            </p:nvSpPr>
            <p:spPr bwMode="auto">
              <a:xfrm>
                <a:off x="554" y="13805"/>
                <a:ext cx="19446" cy="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51" name="Freeform 8"/>
            <p:cNvSpPr/>
            <p:nvPr/>
          </p:nvSpPr>
          <p:spPr bwMode="auto">
            <a:xfrm>
              <a:off x="1218" y="832"/>
              <a:ext cx="277" cy="24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42"/>
                  </a:lnTo>
                  <a:lnTo>
                    <a:pt x="19945" y="1994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52" name="Group 9"/>
            <p:cNvGrpSpPr/>
            <p:nvPr/>
          </p:nvGrpSpPr>
          <p:grpSpPr bwMode="auto">
            <a:xfrm>
              <a:off x="2348" y="1019"/>
              <a:ext cx="548" cy="581"/>
              <a:chOff x="0" y="0"/>
              <a:chExt cx="20000" cy="20000"/>
            </a:xfrm>
          </p:grpSpPr>
          <p:sp>
            <p:nvSpPr>
              <p:cNvPr id="34866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2</a:t>
                </a:r>
                <a:endParaRPr lang="en-US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34867" name="Line 11"/>
              <p:cNvSpPr>
                <a:spLocks noChangeShapeType="1"/>
              </p:cNvSpPr>
              <p:nvPr/>
            </p:nvSpPr>
            <p:spPr bwMode="auto">
              <a:xfrm>
                <a:off x="554" y="13831"/>
                <a:ext cx="19446" cy="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53" name="Group 12"/>
            <p:cNvGrpSpPr/>
            <p:nvPr/>
          </p:nvGrpSpPr>
          <p:grpSpPr bwMode="auto">
            <a:xfrm>
              <a:off x="3856" y="1038"/>
              <a:ext cx="548" cy="576"/>
              <a:chOff x="0" y="0"/>
              <a:chExt cx="20000" cy="20000"/>
            </a:xfrm>
          </p:grpSpPr>
          <p:sp>
            <p:nvSpPr>
              <p:cNvPr id="34864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N-1</a:t>
                </a:r>
                <a:endParaRPr lang="en-US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34865" name="Line 14"/>
              <p:cNvSpPr>
                <a:spLocks noChangeShapeType="1"/>
              </p:cNvSpPr>
              <p:nvPr/>
            </p:nvSpPr>
            <p:spPr bwMode="auto">
              <a:xfrm>
                <a:off x="554" y="13827"/>
                <a:ext cx="19446" cy="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54" name="Group 15"/>
            <p:cNvGrpSpPr/>
            <p:nvPr/>
          </p:nvGrpSpPr>
          <p:grpSpPr bwMode="auto">
            <a:xfrm>
              <a:off x="4694" y="1038"/>
              <a:ext cx="548" cy="576"/>
              <a:chOff x="0" y="0"/>
              <a:chExt cx="20000" cy="20000"/>
            </a:xfrm>
          </p:grpSpPr>
          <p:sp>
            <p:nvSpPr>
              <p:cNvPr id="34862" name="Rectangle 1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N</a:t>
                </a:r>
                <a:endParaRPr lang="en-US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34863" name="Line 17"/>
              <p:cNvSpPr>
                <a:spLocks noChangeShapeType="1"/>
              </p:cNvSpPr>
              <p:nvPr/>
            </p:nvSpPr>
            <p:spPr bwMode="auto">
              <a:xfrm>
                <a:off x="554" y="13827"/>
                <a:ext cx="19446" cy="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55" name="Rectangle 18"/>
            <p:cNvSpPr>
              <a:spLocks noChangeArrowheads="1"/>
            </p:cNvSpPr>
            <p:nvPr/>
          </p:nvSpPr>
          <p:spPr bwMode="auto">
            <a:xfrm>
              <a:off x="3200" y="1189"/>
              <a:ext cx="337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...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4856" name="Line 19"/>
            <p:cNvSpPr>
              <a:spLocks noChangeShapeType="1"/>
            </p:cNvSpPr>
            <p:nvPr/>
          </p:nvSpPr>
          <p:spPr bwMode="auto">
            <a:xfrm>
              <a:off x="1814" y="150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7" name="Line 20"/>
            <p:cNvSpPr>
              <a:spLocks noChangeShapeType="1"/>
            </p:cNvSpPr>
            <p:nvPr/>
          </p:nvSpPr>
          <p:spPr bwMode="auto">
            <a:xfrm>
              <a:off x="2622" y="1518"/>
              <a:ext cx="48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8" name="Line 21"/>
            <p:cNvSpPr>
              <a:spLocks noChangeShapeType="1"/>
            </p:cNvSpPr>
            <p:nvPr/>
          </p:nvSpPr>
          <p:spPr bwMode="auto">
            <a:xfrm>
              <a:off x="3520" y="1518"/>
              <a:ext cx="30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9" name="Line 22"/>
            <p:cNvSpPr>
              <a:spLocks noChangeShapeType="1"/>
            </p:cNvSpPr>
            <p:nvPr/>
          </p:nvSpPr>
          <p:spPr bwMode="auto">
            <a:xfrm>
              <a:off x="4175" y="1518"/>
              <a:ext cx="4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0" name="Rectangle 23"/>
            <p:cNvSpPr>
              <a:spLocks noChangeArrowheads="1"/>
            </p:cNvSpPr>
            <p:nvPr/>
          </p:nvSpPr>
          <p:spPr bwMode="auto">
            <a:xfrm>
              <a:off x="158" y="1157"/>
              <a:ext cx="84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hlink"/>
                  </a:solidFill>
                  <a:latin typeface="Arial" panose="020B0604020202020204" pitchFamily="34" charset="0"/>
                  <a:ea typeface="隶书" pitchFamily="49" charset="-122"/>
                </a:rPr>
                <a:t>环形链表</a:t>
              </a:r>
              <a:endParaRPr lang="zh-CN" altLang="en-US" sz="200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endParaRPr>
            </a:p>
          </p:txBody>
        </p:sp>
        <p:sp>
          <p:nvSpPr>
            <p:cNvPr id="34861" name="Freeform 24"/>
            <p:cNvSpPr/>
            <p:nvPr/>
          </p:nvSpPr>
          <p:spPr bwMode="auto">
            <a:xfrm>
              <a:off x="1242" y="1505"/>
              <a:ext cx="4178" cy="24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0"/>
                <a:gd name="T22" fmla="*/ 0 h 20000"/>
                <a:gd name="T23" fmla="*/ 20000 w 20000"/>
                <a:gd name="T24" fmla="*/ 20000 h 200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0" h="20000">
                  <a:moveTo>
                    <a:pt x="17800" y="0"/>
                  </a:moveTo>
                  <a:lnTo>
                    <a:pt x="19989" y="0"/>
                  </a:lnTo>
                  <a:lnTo>
                    <a:pt x="19989" y="17719"/>
                  </a:lnTo>
                  <a:lnTo>
                    <a:pt x="19996" y="19649"/>
                  </a:lnTo>
                  <a:lnTo>
                    <a:pt x="0" y="19942"/>
                  </a:lnTo>
                  <a:lnTo>
                    <a:pt x="0" y="0"/>
                  </a:lnTo>
                  <a:lnTo>
                    <a:pt x="116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5"/>
          <p:cNvGrpSpPr/>
          <p:nvPr/>
        </p:nvGrpSpPr>
        <p:grpSpPr bwMode="auto">
          <a:xfrm>
            <a:off x="1071563" y="3438525"/>
            <a:ext cx="8355012" cy="2016125"/>
            <a:chOff x="113" y="2251"/>
            <a:chExt cx="5263" cy="1270"/>
          </a:xfrm>
        </p:grpSpPr>
        <p:sp>
          <p:nvSpPr>
            <p:cNvPr id="34821" name="Rectangle 26"/>
            <p:cNvSpPr>
              <a:spLocks noChangeArrowheads="1"/>
            </p:cNvSpPr>
            <p:nvPr/>
          </p:nvSpPr>
          <p:spPr bwMode="auto">
            <a:xfrm>
              <a:off x="341" y="2272"/>
              <a:ext cx="783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head: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4822" name="Rectangle 27"/>
            <p:cNvSpPr>
              <a:spLocks noChangeArrowheads="1"/>
            </p:cNvSpPr>
            <p:nvPr/>
          </p:nvSpPr>
          <p:spPr bwMode="auto">
            <a:xfrm>
              <a:off x="1122" y="2251"/>
              <a:ext cx="489" cy="21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4823" name="Rectangle 28"/>
            <p:cNvSpPr>
              <a:spLocks noChangeArrowheads="1"/>
            </p:cNvSpPr>
            <p:nvPr/>
          </p:nvSpPr>
          <p:spPr bwMode="auto">
            <a:xfrm>
              <a:off x="1624" y="2589"/>
              <a:ext cx="501" cy="63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1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4824" name="Line 29"/>
            <p:cNvSpPr>
              <a:spLocks noChangeShapeType="1"/>
            </p:cNvSpPr>
            <p:nvPr/>
          </p:nvSpPr>
          <p:spPr bwMode="auto">
            <a:xfrm>
              <a:off x="1638" y="3026"/>
              <a:ext cx="48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5" name="Freeform 30"/>
            <p:cNvSpPr/>
            <p:nvPr/>
          </p:nvSpPr>
          <p:spPr bwMode="auto">
            <a:xfrm>
              <a:off x="1361" y="2373"/>
              <a:ext cx="250" cy="2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40"/>
                  </a:lnTo>
                  <a:lnTo>
                    <a:pt x="19945" y="199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6" name="Rectangle 31"/>
            <p:cNvSpPr>
              <a:spLocks noChangeArrowheads="1"/>
            </p:cNvSpPr>
            <p:nvPr/>
          </p:nvSpPr>
          <p:spPr bwMode="auto">
            <a:xfrm>
              <a:off x="2388" y="2584"/>
              <a:ext cx="501" cy="653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2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4827" name="Line 32"/>
            <p:cNvSpPr>
              <a:spLocks noChangeShapeType="1"/>
            </p:cNvSpPr>
            <p:nvPr/>
          </p:nvSpPr>
          <p:spPr bwMode="auto">
            <a:xfrm>
              <a:off x="2402" y="3036"/>
              <a:ext cx="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8" name="Rectangle 33"/>
            <p:cNvSpPr>
              <a:spLocks noChangeArrowheads="1"/>
            </p:cNvSpPr>
            <p:nvPr/>
          </p:nvSpPr>
          <p:spPr bwMode="auto">
            <a:xfrm>
              <a:off x="3763" y="2605"/>
              <a:ext cx="501" cy="64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N-1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4829" name="Line 34"/>
            <p:cNvSpPr>
              <a:spLocks noChangeShapeType="1"/>
            </p:cNvSpPr>
            <p:nvPr/>
          </p:nvSpPr>
          <p:spPr bwMode="auto">
            <a:xfrm>
              <a:off x="3777" y="3052"/>
              <a:ext cx="48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0" name="Rectangle 35"/>
            <p:cNvSpPr>
              <a:spLocks noChangeArrowheads="1"/>
            </p:cNvSpPr>
            <p:nvPr/>
          </p:nvSpPr>
          <p:spPr bwMode="auto">
            <a:xfrm>
              <a:off x="4527" y="2605"/>
              <a:ext cx="502" cy="64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N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4831" name="Line 36"/>
            <p:cNvSpPr>
              <a:spLocks noChangeShapeType="1"/>
            </p:cNvSpPr>
            <p:nvPr/>
          </p:nvSpPr>
          <p:spPr bwMode="auto">
            <a:xfrm>
              <a:off x="4542" y="3052"/>
              <a:ext cx="48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Rectangle 37"/>
            <p:cNvSpPr>
              <a:spLocks noChangeArrowheads="1"/>
            </p:cNvSpPr>
            <p:nvPr/>
          </p:nvSpPr>
          <p:spPr bwMode="auto">
            <a:xfrm>
              <a:off x="3165" y="2775"/>
              <a:ext cx="306" cy="277"/>
            </a:xfrm>
            <a:prstGeom prst="rect">
              <a:avLst/>
            </a:prstGeom>
            <a:noFill/>
            <a:ln w="9525" algn="ctr">
              <a:solidFill>
                <a:srgbClr val="F905F6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...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4833" name="Line 38"/>
            <p:cNvSpPr>
              <a:spLocks noChangeShapeType="1"/>
            </p:cNvSpPr>
            <p:nvPr/>
          </p:nvSpPr>
          <p:spPr bwMode="auto">
            <a:xfrm>
              <a:off x="1901" y="3129"/>
              <a:ext cx="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4" name="Line 39"/>
            <p:cNvSpPr>
              <a:spLocks noChangeShapeType="1"/>
            </p:cNvSpPr>
            <p:nvPr/>
          </p:nvSpPr>
          <p:spPr bwMode="auto">
            <a:xfrm>
              <a:off x="2639" y="3145"/>
              <a:ext cx="4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5" name="Line 40"/>
            <p:cNvSpPr>
              <a:spLocks noChangeShapeType="1"/>
            </p:cNvSpPr>
            <p:nvPr/>
          </p:nvSpPr>
          <p:spPr bwMode="auto">
            <a:xfrm>
              <a:off x="3459" y="3145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6" name="Line 41"/>
            <p:cNvSpPr>
              <a:spLocks noChangeShapeType="1"/>
            </p:cNvSpPr>
            <p:nvPr/>
          </p:nvSpPr>
          <p:spPr bwMode="auto">
            <a:xfrm>
              <a:off x="4055" y="3145"/>
              <a:ext cx="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7" name="Rectangle 42"/>
            <p:cNvSpPr>
              <a:spLocks noChangeArrowheads="1"/>
            </p:cNvSpPr>
            <p:nvPr/>
          </p:nvSpPr>
          <p:spPr bwMode="auto">
            <a:xfrm>
              <a:off x="113" y="2840"/>
              <a:ext cx="127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hlink"/>
                  </a:solidFill>
                  <a:latin typeface="Arial" panose="020B0604020202020204" pitchFamily="34" charset="0"/>
                  <a:ea typeface="隶书" pitchFamily="49" charset="-122"/>
                </a:rPr>
                <a:t>双向环形链表</a:t>
              </a:r>
              <a:endParaRPr lang="en-US" altLang="zh-CN" sz="200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endParaRPr>
            </a:p>
          </p:txBody>
        </p:sp>
        <p:sp>
          <p:nvSpPr>
            <p:cNvPr id="34838" name="Line 43"/>
            <p:cNvSpPr>
              <a:spLocks noChangeShapeType="1"/>
            </p:cNvSpPr>
            <p:nvPr/>
          </p:nvSpPr>
          <p:spPr bwMode="auto">
            <a:xfrm>
              <a:off x="1624" y="2851"/>
              <a:ext cx="501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Line 44"/>
            <p:cNvSpPr>
              <a:spLocks noChangeShapeType="1"/>
            </p:cNvSpPr>
            <p:nvPr/>
          </p:nvSpPr>
          <p:spPr bwMode="auto">
            <a:xfrm>
              <a:off x="2402" y="2851"/>
              <a:ext cx="487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0" name="Line 45"/>
            <p:cNvSpPr>
              <a:spLocks noChangeShapeType="1"/>
            </p:cNvSpPr>
            <p:nvPr/>
          </p:nvSpPr>
          <p:spPr bwMode="auto">
            <a:xfrm>
              <a:off x="3777" y="2851"/>
              <a:ext cx="487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Line 46"/>
            <p:cNvSpPr>
              <a:spLocks noChangeShapeType="1"/>
            </p:cNvSpPr>
            <p:nvPr/>
          </p:nvSpPr>
          <p:spPr bwMode="auto">
            <a:xfrm>
              <a:off x="4542" y="2851"/>
              <a:ext cx="487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2" name="Line 47"/>
            <p:cNvSpPr>
              <a:spLocks noChangeShapeType="1"/>
            </p:cNvSpPr>
            <p:nvPr/>
          </p:nvSpPr>
          <p:spPr bwMode="auto">
            <a:xfrm flipH="1">
              <a:off x="4291" y="2944"/>
              <a:ext cx="417" cy="0"/>
            </a:xfrm>
            <a:prstGeom prst="line">
              <a:avLst/>
            </a:prstGeom>
            <a:noFill/>
            <a:ln w="9525">
              <a:solidFill>
                <a:srgbClr val="F905F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Line 48"/>
            <p:cNvSpPr>
              <a:spLocks noChangeShapeType="1"/>
            </p:cNvSpPr>
            <p:nvPr/>
          </p:nvSpPr>
          <p:spPr bwMode="auto">
            <a:xfrm flipH="1">
              <a:off x="3485" y="2929"/>
              <a:ext cx="418" cy="0"/>
            </a:xfrm>
            <a:prstGeom prst="line">
              <a:avLst/>
            </a:prstGeom>
            <a:noFill/>
            <a:ln w="9525">
              <a:solidFill>
                <a:srgbClr val="F905F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4" name="Line 49"/>
            <p:cNvSpPr>
              <a:spLocks noChangeShapeType="1"/>
            </p:cNvSpPr>
            <p:nvPr/>
          </p:nvSpPr>
          <p:spPr bwMode="auto">
            <a:xfrm flipH="1">
              <a:off x="2928" y="2929"/>
              <a:ext cx="155" cy="0"/>
            </a:xfrm>
            <a:prstGeom prst="line">
              <a:avLst/>
            </a:prstGeom>
            <a:noFill/>
            <a:ln w="9525">
              <a:solidFill>
                <a:srgbClr val="F905F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Line 50"/>
            <p:cNvSpPr>
              <a:spLocks noChangeShapeType="1"/>
            </p:cNvSpPr>
            <p:nvPr/>
          </p:nvSpPr>
          <p:spPr bwMode="auto">
            <a:xfrm flipH="1">
              <a:off x="2152" y="2929"/>
              <a:ext cx="417" cy="0"/>
            </a:xfrm>
            <a:prstGeom prst="line">
              <a:avLst/>
            </a:prstGeom>
            <a:noFill/>
            <a:ln w="9525">
              <a:solidFill>
                <a:srgbClr val="F905F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6" name="Freeform 51"/>
            <p:cNvSpPr/>
            <p:nvPr/>
          </p:nvSpPr>
          <p:spPr bwMode="auto">
            <a:xfrm>
              <a:off x="1484" y="3136"/>
              <a:ext cx="3697" cy="2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000"/>
                <a:gd name="T19" fmla="*/ 0 h 20000"/>
                <a:gd name="T20" fmla="*/ 20000 w 20000"/>
                <a:gd name="T21" fmla="*/ 20000 h 200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000" h="20000">
                  <a:moveTo>
                    <a:pt x="17967" y="0"/>
                  </a:moveTo>
                  <a:lnTo>
                    <a:pt x="19996" y="0"/>
                  </a:lnTo>
                  <a:lnTo>
                    <a:pt x="19996" y="19940"/>
                  </a:lnTo>
                  <a:lnTo>
                    <a:pt x="0" y="19940"/>
                  </a:lnTo>
                  <a:lnTo>
                    <a:pt x="0" y="0"/>
                  </a:lnTo>
                  <a:lnTo>
                    <a:pt x="60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7" name="Freeform 52"/>
            <p:cNvSpPr/>
            <p:nvPr/>
          </p:nvSpPr>
          <p:spPr bwMode="auto">
            <a:xfrm>
              <a:off x="1332" y="2951"/>
              <a:ext cx="4044" cy="57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000"/>
                <a:gd name="T19" fmla="*/ 0 h 20000"/>
                <a:gd name="T20" fmla="*/ 20000 w 20000"/>
                <a:gd name="T21" fmla="*/ 20000 h 200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000" h="20000">
                  <a:moveTo>
                    <a:pt x="2543" y="0"/>
                  </a:moveTo>
                  <a:lnTo>
                    <a:pt x="0" y="0"/>
                  </a:lnTo>
                  <a:lnTo>
                    <a:pt x="0" y="19971"/>
                  </a:lnTo>
                  <a:lnTo>
                    <a:pt x="19997" y="19971"/>
                  </a:lnTo>
                  <a:lnTo>
                    <a:pt x="19997" y="526"/>
                  </a:lnTo>
                  <a:lnTo>
                    <a:pt x="18347" y="526"/>
                  </a:lnTo>
                </a:path>
              </a:pathLst>
            </a:custGeom>
            <a:noFill/>
            <a:ln w="9525">
              <a:solidFill>
                <a:srgbClr val="F905F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04F9735-EB1F-4045-ABE9-921F08738746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85763"/>
            <a:ext cx="9144000" cy="5876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4000" b="1" u="sng" dirty="0">
                <a:solidFill>
                  <a:schemeClr val="hlink"/>
                </a:solidFill>
                <a:latin typeface="Verdana" panose="020B0604030504040204" pitchFamily="34" charset="0"/>
                <a:ea typeface="隶书" pitchFamily="49" charset="-122"/>
              </a:rPr>
              <a:t>链表</a:t>
            </a:r>
            <a:r>
              <a:rPr lang="zh-CN" altLang="en-US" sz="4000" b="1" dirty="0">
                <a:solidFill>
                  <a:schemeClr val="hlink"/>
                </a:solidFill>
                <a:latin typeface="Verdana" panose="020B0604030504040204" pitchFamily="34" charset="0"/>
                <a:ea typeface="隶书" pitchFamily="49" charset="-122"/>
              </a:rPr>
              <a:t>的一般操作:</a:t>
            </a:r>
            <a:endParaRPr lang="zh-CN" altLang="en-US" sz="4000" b="1" dirty="0">
              <a:solidFill>
                <a:schemeClr val="hlink"/>
              </a:solidFill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① </a:t>
            </a:r>
            <a:r>
              <a:rPr lang="zh-CN" altLang="en-US" sz="4000" b="1" u="sng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创建</a:t>
            </a: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链表</a:t>
            </a:r>
            <a:endParaRPr lang="zh-CN" altLang="en-US" sz="4000" b="1" dirty="0">
              <a:solidFill>
                <a:schemeClr val="tx1">
                  <a:lumMod val="65000"/>
                </a:schemeClr>
              </a:solidFill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② </a:t>
            </a:r>
            <a:r>
              <a:rPr lang="zh-CN" altLang="en-US" sz="4000" b="1" u="sng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遍历</a:t>
            </a: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链表</a:t>
            </a:r>
            <a:endParaRPr lang="zh-CN" altLang="en-US" sz="4000" b="1" dirty="0">
              <a:solidFill>
                <a:schemeClr val="tx1">
                  <a:lumMod val="65000"/>
                </a:schemeClr>
              </a:solidFill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③ 在链表上</a:t>
            </a:r>
            <a:r>
              <a:rPr lang="zh-CN" altLang="en-US" sz="4000" b="1" u="sng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检索</a:t>
            </a:r>
            <a:endParaRPr lang="zh-CN" altLang="en-US" sz="4000" b="1" u="sng" dirty="0">
              <a:solidFill>
                <a:schemeClr val="tx1">
                  <a:lumMod val="65000"/>
                </a:schemeClr>
              </a:solidFill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④ 向链表中</a:t>
            </a:r>
            <a:r>
              <a:rPr lang="zh-CN" altLang="en-US" sz="4000" b="1" u="sng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插入</a:t>
            </a: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一个数据项</a:t>
            </a:r>
            <a:endParaRPr lang="zh-CN" altLang="en-US" sz="4000" b="1" dirty="0">
              <a:solidFill>
                <a:schemeClr val="tx1">
                  <a:lumMod val="65000"/>
                </a:schemeClr>
              </a:solidFill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⑤ 从链表中</a:t>
            </a:r>
            <a:r>
              <a:rPr lang="zh-CN" altLang="en-US" sz="4000" b="1" u="sng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删除</a:t>
            </a: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一个数据项</a:t>
            </a:r>
            <a:endParaRPr lang="zh-CN" altLang="en-US" sz="4000" b="1" dirty="0">
              <a:solidFill>
                <a:schemeClr val="tx1">
                  <a:lumMod val="65000"/>
                </a:schemeClr>
              </a:solidFill>
              <a:latin typeface="Verdana" panose="020B0604030504040204" pitchFamily="34" charset="0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⑥ </a:t>
            </a:r>
            <a:r>
              <a:rPr lang="zh-CN" altLang="en-US" sz="4000" b="1" u="sng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交换</a:t>
            </a:r>
            <a:r>
              <a:rPr lang="zh-CN" altLang="en-US" sz="4000" b="1" dirty="0">
                <a:solidFill>
                  <a:schemeClr val="tx1">
                    <a:lumMod val="65000"/>
                  </a:schemeClr>
                </a:solidFill>
                <a:latin typeface="Verdana" panose="020B0604030504040204" pitchFamily="34" charset="0"/>
                <a:ea typeface="隶书" pitchFamily="49" charset="-122"/>
              </a:rPr>
              <a:t>链表中两个数据项的位置</a:t>
            </a:r>
            <a:endParaRPr lang="zh-CN" altLang="en-US" sz="4000" b="1" dirty="0">
              <a:solidFill>
                <a:schemeClr val="tx1">
                  <a:lumMod val="65000"/>
                </a:schemeClr>
              </a:solidFill>
              <a:latin typeface="Verdana" panose="020B0604030504040204" pitchFamily="34" charset="0"/>
              <a:ea typeface="隶书" pitchFamily="49" charset="-122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589E55D-BAFC-462A-BA15-1DB231A5C47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3500" y="158750"/>
            <a:ext cx="5238750" cy="836613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b="1" dirty="0">
                <a:solidFill>
                  <a:srgbClr val="FFFF00"/>
                </a:solidFill>
              </a:rPr>
              <a:t>§13.3.1 </a:t>
            </a:r>
            <a:r>
              <a:rPr lang="zh-CN" altLang="en-US" b="1" dirty="0">
                <a:solidFill>
                  <a:srgbClr val="FFFF00"/>
                </a:solidFill>
              </a:rPr>
              <a:t>单向链表</a:t>
            </a:r>
            <a:endParaRPr lang="en-US" altLang="zh-CN" b="1" dirty="0">
              <a:solidFill>
                <a:srgbClr val="FFFF00"/>
              </a:solidFill>
            </a:endParaRP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13" y="914400"/>
            <a:ext cx="9144000" cy="43926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u="sng" dirty="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单向链表</a:t>
            </a:r>
            <a:r>
              <a:rPr lang="zh-CN" altLang="en-US" b="1" dirty="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的一般操作: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（熟练掌握）</a:t>
            </a:r>
            <a:endParaRPr lang="zh-CN" altLang="en-US" b="1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① </a:t>
            </a:r>
            <a:r>
              <a:rPr lang="zh-CN" altLang="en-US" b="1" u="sng" dirty="0">
                <a:latin typeface="隶书" pitchFamily="49" charset="-122"/>
                <a:ea typeface="隶书" pitchFamily="49" charset="-122"/>
                <a:hlinkClick r:id="rId1" action="ppaction://hlinksldjump"/>
              </a:rPr>
              <a:t>创建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单向链表</a:t>
            </a:r>
            <a:endParaRPr lang="en-US" altLang="zh-CN" b="1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② </a:t>
            </a:r>
            <a:r>
              <a:rPr lang="zh-CN" altLang="en-US" b="1" u="sng" dirty="0">
                <a:latin typeface="隶书" pitchFamily="49" charset="-122"/>
                <a:ea typeface="隶书" pitchFamily="49" charset="-122"/>
                <a:hlinkClick r:id="rId2" action="ppaction://hlinksldjump"/>
              </a:rPr>
              <a:t>遍历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单向链表</a:t>
            </a:r>
            <a:endParaRPr lang="zh-CN" altLang="en-US" b="1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③ 在单向链表上</a:t>
            </a:r>
            <a:r>
              <a:rPr lang="zh-CN" altLang="en-US" b="1" u="sng" dirty="0">
                <a:latin typeface="隶书" pitchFamily="49" charset="-122"/>
                <a:ea typeface="隶书" pitchFamily="49" charset="-122"/>
                <a:hlinkClick r:id="rId3" action="ppaction://hlinksldjump"/>
              </a:rPr>
              <a:t>检索</a:t>
            </a:r>
            <a:endParaRPr lang="en-US" altLang="zh-CN" b="1" u="sng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④ 向单向链表中</a:t>
            </a:r>
            <a:r>
              <a:rPr lang="zh-CN" altLang="en-US" b="1" u="sng" dirty="0">
                <a:latin typeface="隶书" pitchFamily="49" charset="-122"/>
                <a:ea typeface="隶书" pitchFamily="49" charset="-122"/>
                <a:hlinkClick r:id="rId4" action="ppaction://hlinksldjump"/>
              </a:rPr>
              <a:t>插入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一个结点</a:t>
            </a:r>
            <a:endParaRPr lang="en-US" altLang="zh-CN" b="1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⑤ 从单向链表中</a:t>
            </a:r>
            <a:r>
              <a:rPr lang="zh-CN" altLang="en-US" b="1" u="sng" dirty="0">
                <a:latin typeface="隶书" pitchFamily="49" charset="-122"/>
                <a:ea typeface="隶书" pitchFamily="49" charset="-122"/>
                <a:hlinkClick r:id="rId4" action="ppaction://hlinksldjump"/>
              </a:rPr>
              <a:t>删除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一个结点</a:t>
            </a:r>
            <a:endParaRPr lang="en-US" altLang="zh-CN" b="1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⑥ </a:t>
            </a:r>
            <a:r>
              <a:rPr lang="zh-CN" altLang="en-US" b="1" u="sng" dirty="0">
                <a:latin typeface="隶书" pitchFamily="49" charset="-122"/>
                <a:ea typeface="隶书" pitchFamily="49" charset="-122"/>
                <a:hlinkClick r:id="rId4" action="ppaction://hlinksldjump"/>
              </a:rPr>
              <a:t>交换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单向链表中两个结点的位置</a:t>
            </a:r>
            <a:endParaRPr lang="zh-CN" altLang="en-US" b="1" dirty="0"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37893" name="Group 30"/>
          <p:cNvGrpSpPr/>
          <p:nvPr/>
        </p:nvGrpSpPr>
        <p:grpSpPr bwMode="auto">
          <a:xfrm>
            <a:off x="2133600" y="4697413"/>
            <a:ext cx="8612188" cy="1492250"/>
            <a:chOff x="204" y="2886"/>
            <a:chExt cx="5425" cy="940"/>
          </a:xfrm>
        </p:grpSpPr>
        <p:sp>
          <p:nvSpPr>
            <p:cNvPr id="37899" name="Rectangle 5"/>
            <p:cNvSpPr>
              <a:spLocks noChangeArrowheads="1"/>
            </p:cNvSpPr>
            <p:nvPr/>
          </p:nvSpPr>
          <p:spPr bwMode="auto">
            <a:xfrm flipH="1">
              <a:off x="5057" y="2886"/>
              <a:ext cx="572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Verdana" panose="020B0604030504040204" pitchFamily="34" charset="0"/>
                </a:rPr>
                <a:t>rear</a:t>
              </a:r>
              <a:endParaRPr lang="en-US" altLang="zh-CN" sz="2000">
                <a:latin typeface="Verdana" panose="020B0604030504040204" pitchFamily="34" charset="0"/>
              </a:endParaRPr>
            </a:p>
          </p:txBody>
        </p:sp>
        <p:sp>
          <p:nvSpPr>
            <p:cNvPr id="37900" name="Rectangle 6"/>
            <p:cNvSpPr>
              <a:spLocks noChangeArrowheads="1"/>
            </p:cNvSpPr>
            <p:nvPr/>
          </p:nvSpPr>
          <p:spPr bwMode="auto">
            <a:xfrm flipH="1">
              <a:off x="204" y="3046"/>
              <a:ext cx="48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Verdana" panose="020B0604030504040204" pitchFamily="34" charset="0"/>
                </a:rPr>
                <a:t>top</a:t>
              </a:r>
              <a:endParaRPr lang="en-US" altLang="zh-CN" sz="2000">
                <a:latin typeface="Verdana" panose="020B0604030504040204" pitchFamily="34" charset="0"/>
              </a:endParaRPr>
            </a:p>
          </p:txBody>
        </p:sp>
        <p:sp>
          <p:nvSpPr>
            <p:cNvPr id="37901" name="Rectangle 7"/>
            <p:cNvSpPr>
              <a:spLocks noChangeArrowheads="1"/>
            </p:cNvSpPr>
            <p:nvPr/>
          </p:nvSpPr>
          <p:spPr bwMode="auto">
            <a:xfrm flipH="1">
              <a:off x="5045" y="3113"/>
              <a:ext cx="557" cy="14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7902" name="Rectangle 8"/>
            <p:cNvSpPr>
              <a:spLocks noChangeArrowheads="1"/>
            </p:cNvSpPr>
            <p:nvPr/>
          </p:nvSpPr>
          <p:spPr bwMode="auto">
            <a:xfrm flipH="1">
              <a:off x="599" y="3119"/>
              <a:ext cx="525" cy="1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7903" name="Freeform 9"/>
            <p:cNvSpPr/>
            <p:nvPr/>
          </p:nvSpPr>
          <p:spPr bwMode="auto">
            <a:xfrm flipH="1">
              <a:off x="5045" y="3203"/>
              <a:ext cx="284" cy="2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04" name="Group 10"/>
            <p:cNvGrpSpPr/>
            <p:nvPr/>
          </p:nvGrpSpPr>
          <p:grpSpPr bwMode="auto">
            <a:xfrm flipH="1">
              <a:off x="4458" y="3339"/>
              <a:ext cx="572" cy="406"/>
              <a:chOff x="0" y="0"/>
              <a:chExt cx="20000" cy="20000"/>
            </a:xfrm>
          </p:grpSpPr>
          <p:sp>
            <p:nvSpPr>
              <p:cNvPr id="37921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7922" name="Line 12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05" name="Group 13"/>
            <p:cNvGrpSpPr/>
            <p:nvPr/>
          </p:nvGrpSpPr>
          <p:grpSpPr bwMode="auto">
            <a:xfrm flipH="1">
              <a:off x="3585" y="3339"/>
              <a:ext cx="572" cy="414"/>
              <a:chOff x="0" y="0"/>
              <a:chExt cx="20000" cy="20000"/>
            </a:xfrm>
          </p:grpSpPr>
          <p:sp>
            <p:nvSpPr>
              <p:cNvPr id="37919" name="Rectangle 1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7920" name="Line 15"/>
              <p:cNvSpPr>
                <a:spLocks noChangeShapeType="1"/>
              </p:cNvSpPr>
              <p:nvPr/>
            </p:nvSpPr>
            <p:spPr bwMode="auto">
              <a:xfrm>
                <a:off x="557" y="13805"/>
                <a:ext cx="19443" cy="3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06" name="Freeform 16"/>
            <p:cNvSpPr/>
            <p:nvPr/>
          </p:nvSpPr>
          <p:spPr bwMode="auto">
            <a:xfrm flipH="1">
              <a:off x="3901" y="3481"/>
              <a:ext cx="525" cy="21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7" name="Freeform 17"/>
            <p:cNvSpPr/>
            <p:nvPr/>
          </p:nvSpPr>
          <p:spPr bwMode="auto">
            <a:xfrm flipH="1">
              <a:off x="3028" y="3481"/>
              <a:ext cx="525" cy="21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8" name="Freeform 18"/>
            <p:cNvSpPr/>
            <p:nvPr/>
          </p:nvSpPr>
          <p:spPr bwMode="auto">
            <a:xfrm flipH="1">
              <a:off x="2313" y="3481"/>
              <a:ext cx="526" cy="21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09" name="Group 19"/>
            <p:cNvGrpSpPr/>
            <p:nvPr/>
          </p:nvGrpSpPr>
          <p:grpSpPr bwMode="auto">
            <a:xfrm flipH="1">
              <a:off x="2012" y="3385"/>
              <a:ext cx="572" cy="375"/>
              <a:chOff x="0" y="0"/>
              <a:chExt cx="20000" cy="20000"/>
            </a:xfrm>
          </p:grpSpPr>
          <p:sp>
            <p:nvSpPr>
              <p:cNvPr id="37917" name="Rectangle 2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7918" name="Line 21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10" name="Group 22"/>
            <p:cNvGrpSpPr/>
            <p:nvPr/>
          </p:nvGrpSpPr>
          <p:grpSpPr bwMode="auto">
            <a:xfrm flipH="1">
              <a:off x="1139" y="3385"/>
              <a:ext cx="572" cy="375"/>
              <a:chOff x="0" y="0"/>
              <a:chExt cx="20000" cy="20000"/>
            </a:xfrm>
          </p:grpSpPr>
          <p:sp>
            <p:nvSpPr>
              <p:cNvPr id="37915" name="Rectangle 2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900">
                  <a:latin typeface="Times New Roman" panose="02020603050405020304" pitchFamily="18" charset="0"/>
                </a:endParaRPr>
              </a:p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90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7916" name="Line 24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11" name="Freeform 25"/>
            <p:cNvSpPr/>
            <p:nvPr/>
          </p:nvSpPr>
          <p:spPr bwMode="auto">
            <a:xfrm flipH="1">
              <a:off x="1457" y="3481"/>
              <a:ext cx="523" cy="21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2" name="Rectangle 26"/>
            <p:cNvSpPr>
              <a:spLocks noChangeArrowheads="1"/>
            </p:cNvSpPr>
            <p:nvPr/>
          </p:nvSpPr>
          <p:spPr bwMode="auto">
            <a:xfrm flipH="1">
              <a:off x="2758" y="3443"/>
              <a:ext cx="71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Verdana" panose="020B0604030504040204" pitchFamily="34" charset="0"/>
                </a:rPr>
                <a:t>...</a:t>
              </a:r>
              <a:endParaRPr lang="en-US" altLang="zh-CN">
                <a:latin typeface="Verdana" panose="020B0604030504040204" pitchFamily="34" charset="0"/>
              </a:endParaRPr>
            </a:p>
          </p:txBody>
        </p:sp>
        <p:sp>
          <p:nvSpPr>
            <p:cNvPr id="37913" name="Freeform 27"/>
            <p:cNvSpPr/>
            <p:nvPr/>
          </p:nvSpPr>
          <p:spPr bwMode="auto">
            <a:xfrm flipH="1">
              <a:off x="839" y="3203"/>
              <a:ext cx="285" cy="31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4" name="Text Box 28"/>
            <p:cNvSpPr txBox="1">
              <a:spLocks noChangeArrowheads="1"/>
            </p:cNvSpPr>
            <p:nvPr/>
          </p:nvSpPr>
          <p:spPr bwMode="auto">
            <a:xfrm>
              <a:off x="4524" y="3430"/>
              <a:ext cx="498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>
                <a:latin typeface="Verdana" panose="020B0604030504040204" pitchFamily="34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Verdana" panose="020B0604030504040204" pitchFamily="34" charset="0"/>
                </a:rPr>
                <a:t>NULL</a:t>
              </a:r>
              <a:endParaRPr lang="en-US" altLang="zh-CN" sz="1600">
                <a:latin typeface="Verdana" panose="020B0604030504040204" pitchFamily="34" charset="0"/>
              </a:endParaRPr>
            </a:p>
          </p:txBody>
        </p:sp>
      </p:grpSp>
      <p:sp>
        <p:nvSpPr>
          <p:cNvPr id="37894" name="Text Box 29"/>
          <p:cNvSpPr txBox="1">
            <a:spLocks noChangeArrowheads="1"/>
          </p:cNvSpPr>
          <p:nvPr/>
        </p:nvSpPr>
        <p:spPr bwMode="auto">
          <a:xfrm>
            <a:off x="5056188" y="6327775"/>
            <a:ext cx="3589337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>
                <a:solidFill>
                  <a:schemeClr val="accent2"/>
                </a:solidFill>
                <a:latin typeface="宋体" panose="02010600030101010101" pitchFamily="2" charset="-122"/>
                <a:ea typeface="隶书" pitchFamily="49" charset="-122"/>
              </a:rPr>
              <a:t>单向链表结构</a:t>
            </a:r>
            <a:endParaRPr lang="zh-CN" altLang="en-US" sz="3600">
              <a:solidFill>
                <a:schemeClr val="accent2"/>
              </a:solidFill>
              <a:latin typeface="Arial" panose="020B0604020202020204" pitchFamily="34" charset="0"/>
              <a:ea typeface="隶书" pitchFamily="49" charset="-122"/>
            </a:endParaRPr>
          </a:p>
        </p:txBody>
      </p:sp>
      <p:sp>
        <p:nvSpPr>
          <p:cNvPr id="37895" name="Text Box 31"/>
          <p:cNvSpPr txBox="1">
            <a:spLocks noChangeArrowheads="1"/>
          </p:cNvSpPr>
          <p:nvPr/>
        </p:nvSpPr>
        <p:spPr bwMode="auto">
          <a:xfrm>
            <a:off x="3933825" y="548957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37896" name="Text Box 32"/>
          <p:cNvSpPr txBox="1">
            <a:spLocks noChangeArrowheads="1"/>
          </p:cNvSpPr>
          <p:nvPr/>
        </p:nvSpPr>
        <p:spPr bwMode="auto">
          <a:xfrm>
            <a:off x="5302250" y="548957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37897" name="Text Box 33"/>
          <p:cNvSpPr txBox="1">
            <a:spLocks noChangeArrowheads="1"/>
          </p:cNvSpPr>
          <p:nvPr/>
        </p:nvSpPr>
        <p:spPr bwMode="auto">
          <a:xfrm>
            <a:off x="7677150" y="5416550"/>
            <a:ext cx="649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29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37898" name="Text Box 34"/>
          <p:cNvSpPr txBox="1">
            <a:spLocks noChangeArrowheads="1"/>
          </p:cNvSpPr>
          <p:nvPr/>
        </p:nvSpPr>
        <p:spPr bwMode="auto">
          <a:xfrm>
            <a:off x="9045575" y="5416550"/>
            <a:ext cx="649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30</a:t>
            </a:r>
            <a:endParaRPr lang="en-US" altLang="zh-CN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8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8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035050"/>
            <a:ext cx="8588375" cy="537845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b="1" dirty="0">
                <a:solidFill>
                  <a:schemeClr val="tx1"/>
                </a:solidFill>
              </a:rPr>
              <a:t>已有结点数据结构：</a:t>
            </a:r>
            <a:br>
              <a:rPr lang="en-US" altLang="zh-CN" sz="4000" b="1" dirty="0">
                <a:solidFill>
                  <a:schemeClr val="tx1"/>
                </a:solidFill>
              </a:rPr>
            </a:br>
            <a:r>
              <a:rPr lang="en-US" altLang="zh-CN" sz="4000" b="1" dirty="0">
                <a:solidFill>
                  <a:schemeClr val="hlink"/>
                </a:solidFill>
              </a:rPr>
              <a:t>	</a:t>
            </a:r>
            <a:r>
              <a:rPr lang="en-US" altLang="zh-CN" sz="4000" b="1" dirty="0">
                <a:solidFill>
                  <a:schemeClr val="tx1"/>
                </a:solidFill>
              </a:rPr>
              <a:t>struct link { </a:t>
            </a:r>
            <a:br>
              <a:rPr lang="en-US" altLang="zh-CN" sz="4000" b="1" dirty="0">
                <a:solidFill>
                  <a:schemeClr val="tx1"/>
                </a:solidFill>
              </a:rPr>
            </a:br>
            <a:r>
              <a:rPr lang="en-US" altLang="zh-CN" sz="4000" b="1" dirty="0">
                <a:solidFill>
                  <a:schemeClr val="tx1"/>
                </a:solidFill>
              </a:rPr>
              <a:t>		int num; </a:t>
            </a:r>
            <a:br>
              <a:rPr lang="en-US" altLang="zh-CN" sz="4000" b="1" dirty="0">
                <a:solidFill>
                  <a:schemeClr val="tx1"/>
                </a:solidFill>
              </a:rPr>
            </a:br>
            <a:r>
              <a:rPr lang="en-US" altLang="zh-CN" sz="4000" b="1" dirty="0">
                <a:solidFill>
                  <a:schemeClr val="tx1"/>
                </a:solidFill>
              </a:rPr>
              <a:t>		struct link *next;</a:t>
            </a:r>
            <a:br>
              <a:rPr lang="en-US" altLang="zh-CN" sz="4000" b="1" dirty="0">
                <a:solidFill>
                  <a:schemeClr val="tx1"/>
                </a:solidFill>
              </a:rPr>
            </a:br>
            <a:r>
              <a:rPr lang="en-US" altLang="zh-CN" sz="4000" b="1" dirty="0">
                <a:solidFill>
                  <a:schemeClr val="tx1"/>
                </a:solidFill>
              </a:rPr>
              <a:t>	};  </a:t>
            </a:r>
            <a:r>
              <a:rPr lang="en-US" altLang="zh-CN" sz="24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400" b="1" dirty="0">
                <a:solidFill>
                  <a:schemeClr val="tx1">
                    <a:lumMod val="75000"/>
                  </a:schemeClr>
                </a:solidFill>
              </a:rPr>
              <a:t>结点类型</a:t>
            </a:r>
            <a:br>
              <a:rPr lang="zh-CN" altLang="en-US" sz="4000" b="1" dirty="0">
                <a:solidFill>
                  <a:schemeClr val="tx1"/>
                </a:solidFill>
              </a:rPr>
            </a:br>
            <a:br>
              <a:rPr lang="en-US" altLang="zh-CN" sz="4000" b="1" dirty="0">
                <a:solidFill>
                  <a:schemeClr val="tx1"/>
                </a:solidFill>
              </a:rPr>
            </a:br>
            <a:r>
              <a:rPr lang="zh-CN" altLang="en-US" sz="4000" b="1" dirty="0">
                <a:solidFill>
                  <a:schemeClr val="tx1"/>
                </a:solidFill>
              </a:rPr>
              <a:t>编程序，实现如下功能：</a:t>
            </a:r>
            <a:br>
              <a:rPr lang="en-US" altLang="zh-CN" sz="4000" b="1" dirty="0">
                <a:solidFill>
                  <a:schemeClr val="tx1"/>
                </a:solidFill>
              </a:rPr>
            </a:br>
            <a:endParaRPr lang="zh-CN" altLang="en-US" sz="4000" b="1" dirty="0">
              <a:solidFill>
                <a:schemeClr val="tx1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7DDFDF0-568C-4CFF-A16C-DB49087CAC28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" name="矩形 1"/>
          <p:cNvSpPr/>
          <p:nvPr/>
        </p:nvSpPr>
        <p:spPr>
          <a:xfrm>
            <a:off x="152400" y="327025"/>
            <a:ext cx="3540125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4000" kern="0" dirty="0">
                <a:solidFill>
                  <a:srgbClr val="FFE70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【</a:t>
            </a:r>
            <a:r>
              <a:rPr lang="zh-CN" altLang="en-US" sz="4000" kern="0" dirty="0">
                <a:solidFill>
                  <a:srgbClr val="FFE70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课后实践</a:t>
            </a:r>
            <a:r>
              <a:rPr lang="en-US" altLang="zh-CN" sz="4000" kern="0" dirty="0">
                <a:solidFill>
                  <a:srgbClr val="FFE70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】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3" y="685800"/>
            <a:ext cx="11858625" cy="4752975"/>
          </a:xfrm>
        </p:spPr>
        <p:txBody>
          <a:bodyPr/>
          <a:lstStyle/>
          <a:p>
            <a:pPr algn="l">
              <a:defRPr/>
            </a:pPr>
            <a:r>
              <a:rPr lang="en-US" altLang="zh-CN" sz="3600" b="1" dirty="0">
                <a:solidFill>
                  <a:schemeClr val="tx1"/>
                </a:solidFill>
              </a:rPr>
              <a:t>1. </a:t>
            </a:r>
            <a:r>
              <a:rPr lang="zh-CN" altLang="zh-CN" sz="3600" b="1" dirty="0">
                <a:solidFill>
                  <a:srgbClr val="F905F6"/>
                </a:solidFill>
              </a:rPr>
              <a:t>创建</a:t>
            </a:r>
            <a:r>
              <a:rPr lang="zh-CN" altLang="zh-CN" sz="3600" b="1" dirty="0">
                <a:solidFill>
                  <a:schemeClr val="tx1"/>
                </a:solidFill>
              </a:rPr>
              <a:t>一个由</a:t>
            </a:r>
            <a:r>
              <a:rPr lang="en-US" altLang="zh-CN" sz="3600" b="1" dirty="0">
                <a:solidFill>
                  <a:schemeClr val="tx1"/>
                </a:solidFill>
              </a:rPr>
              <a:t>n</a:t>
            </a:r>
            <a:r>
              <a:rPr lang="zh-CN" altLang="zh-CN" sz="3600" b="1" dirty="0">
                <a:solidFill>
                  <a:schemeClr val="tx1"/>
                </a:solidFill>
              </a:rPr>
              <a:t>个结点构成的链表</a:t>
            </a:r>
            <a:r>
              <a:rPr lang="zh-CN" altLang="en-US" sz="3600" b="1" dirty="0">
                <a:solidFill>
                  <a:schemeClr val="tx1"/>
                </a:solidFill>
              </a:rPr>
              <a:t>，</a:t>
            </a:r>
            <a:r>
              <a:rPr lang="zh-CN" altLang="zh-CN" sz="3600" b="1" dirty="0">
                <a:solidFill>
                  <a:schemeClr val="tx1"/>
                </a:solidFill>
              </a:rPr>
              <a:t>函数原型</a:t>
            </a:r>
            <a:r>
              <a:rPr lang="zh-CN" altLang="en-US" sz="3600" b="1" dirty="0">
                <a:solidFill>
                  <a:schemeClr val="tx1"/>
                </a:solidFill>
              </a:rPr>
              <a:t>：</a:t>
            </a:r>
            <a:br>
              <a:rPr lang="en-US" altLang="zh-CN" sz="3600" b="1" dirty="0"/>
            </a:b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struct link * </a:t>
            </a:r>
            <a:r>
              <a:rPr lang="en-US" altLang="zh-CN" sz="3600" b="1" dirty="0">
                <a:solidFill>
                  <a:srgbClr val="FFFF00"/>
                </a:solidFill>
              </a:rPr>
              <a:t>create(int n); 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形参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n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为结点个数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; 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返回值为表头指针</a:t>
            </a:r>
            <a:br>
              <a:rPr lang="en-US" altLang="zh-CN" sz="3600" b="1" dirty="0">
                <a:solidFill>
                  <a:srgbClr val="FFFF00"/>
                </a:solidFill>
              </a:rPr>
            </a:br>
            <a:r>
              <a:rPr lang="zh-CN" altLang="en-US" sz="1800" b="1" dirty="0">
                <a:solidFill>
                  <a:schemeClr val="tx1"/>
                </a:solidFill>
              </a:rPr>
              <a:t>或</a:t>
            </a:r>
            <a:br>
              <a:rPr lang="en-US" altLang="zh-CN" sz="3600" b="1" dirty="0">
                <a:solidFill>
                  <a:srgbClr val="FFFF00"/>
                </a:solidFill>
              </a:rPr>
            </a:br>
            <a:r>
              <a:rPr lang="en-US" altLang="zh-CN" sz="3600" b="1" dirty="0">
                <a:solidFill>
                  <a:srgbClr val="FFFF00"/>
                </a:solidFill>
              </a:rPr>
              <a:t>void create(</a:t>
            </a: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struct link **</a:t>
            </a:r>
            <a:r>
              <a:rPr lang="en-US" altLang="zh-CN" sz="36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phead</a:t>
            </a: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altLang="zh-CN" sz="3600" b="1" dirty="0">
                <a:solidFill>
                  <a:srgbClr val="FFFF00"/>
                </a:solidFill>
              </a:rPr>
              <a:t>int n);</a:t>
            </a:r>
            <a:r>
              <a:rPr lang="en-US" altLang="zh-CN" sz="3600" b="1" dirty="0"/>
              <a:t> 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用形参带回表头指针</a:t>
            </a:r>
            <a:br>
              <a:rPr lang="zh-CN" altLang="zh-CN" sz="3600" b="1" dirty="0"/>
            </a:br>
            <a:br>
              <a:rPr lang="en-US" altLang="zh-CN" sz="3600" b="1" dirty="0"/>
            </a:br>
            <a:r>
              <a:rPr lang="en-US" altLang="zh-CN" sz="3600" b="1" dirty="0">
                <a:solidFill>
                  <a:schemeClr val="tx1"/>
                </a:solidFill>
              </a:rPr>
              <a:t>2. </a:t>
            </a:r>
            <a:r>
              <a:rPr lang="zh-CN" altLang="zh-CN" sz="3600" b="1" dirty="0">
                <a:solidFill>
                  <a:srgbClr val="F905F6"/>
                </a:solidFill>
              </a:rPr>
              <a:t>遍历</a:t>
            </a:r>
            <a:r>
              <a:rPr lang="zh-CN" altLang="zh-CN" sz="3600" b="1" dirty="0">
                <a:solidFill>
                  <a:schemeClr val="tx1"/>
                </a:solidFill>
              </a:rPr>
              <a:t>该链表</a:t>
            </a:r>
            <a:r>
              <a:rPr lang="zh-CN" altLang="en-US" sz="3600" b="1" dirty="0">
                <a:solidFill>
                  <a:schemeClr val="tx1"/>
                </a:solidFill>
              </a:rPr>
              <a:t>，依次</a:t>
            </a:r>
            <a:r>
              <a:rPr lang="zh-CN" altLang="zh-CN" sz="3600" b="1" dirty="0">
                <a:solidFill>
                  <a:schemeClr val="tx1"/>
                </a:solidFill>
              </a:rPr>
              <a:t>输出所有结点的数据项</a:t>
            </a:r>
            <a:r>
              <a:rPr lang="en-US" altLang="zh-CN" sz="3600" b="1" dirty="0">
                <a:solidFill>
                  <a:schemeClr val="tx1"/>
                </a:solidFill>
              </a:rPr>
              <a:t>data</a:t>
            </a:r>
            <a:r>
              <a:rPr lang="zh-CN" altLang="zh-CN" sz="3600" b="1" dirty="0">
                <a:solidFill>
                  <a:schemeClr val="tx1"/>
                </a:solidFill>
              </a:rPr>
              <a:t>的值，</a:t>
            </a:r>
            <a:br>
              <a:rPr lang="en-US" altLang="zh-CN" sz="3600" b="1" dirty="0">
                <a:solidFill>
                  <a:schemeClr val="tx1"/>
                </a:solidFill>
              </a:rPr>
            </a:br>
            <a:r>
              <a:rPr lang="zh-CN" altLang="zh-CN" sz="3600" b="1" dirty="0">
                <a:solidFill>
                  <a:schemeClr val="tx1"/>
                </a:solidFill>
              </a:rPr>
              <a:t>函数原型</a:t>
            </a:r>
            <a:r>
              <a:rPr lang="zh-CN" altLang="en-US" sz="3600" b="1" dirty="0">
                <a:solidFill>
                  <a:schemeClr val="tx1"/>
                </a:solidFill>
              </a:rPr>
              <a:t>：</a:t>
            </a: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void</a:t>
            </a:r>
            <a:r>
              <a:rPr lang="en-US" altLang="zh-CN" sz="3600" b="1" dirty="0">
                <a:solidFill>
                  <a:srgbClr val="FFFF00"/>
                </a:solidFill>
              </a:rPr>
              <a:t> print(struct link *head); 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 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形参为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表头指针</a:t>
            </a:r>
            <a:endParaRPr lang="zh-CN" altLang="en-US" sz="1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06FAEDC-8442-4A6C-A2BF-8F21D550830C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6646863"/>
          </a:xfrm>
        </p:spPr>
        <p:txBody>
          <a:bodyPr/>
          <a:lstStyle/>
          <a:p>
            <a:pPr algn="l">
              <a:defRPr/>
            </a:pPr>
            <a:r>
              <a:rPr lang="en-US" altLang="zh-CN" sz="3600" b="1" dirty="0">
                <a:solidFill>
                  <a:schemeClr val="tx1"/>
                </a:solidFill>
              </a:rPr>
              <a:t>3. </a:t>
            </a:r>
            <a:r>
              <a:rPr lang="zh-CN" altLang="zh-CN" sz="3600" b="1" dirty="0">
                <a:solidFill>
                  <a:srgbClr val="F905F6"/>
                </a:solidFill>
              </a:rPr>
              <a:t>检索</a:t>
            </a:r>
            <a:r>
              <a:rPr lang="zh-CN" altLang="zh-CN" sz="3600" b="1" dirty="0">
                <a:solidFill>
                  <a:schemeClr val="tx1"/>
                </a:solidFill>
              </a:rPr>
              <a:t>该链表中是否有指定结点，</a:t>
            </a:r>
            <a:br>
              <a:rPr lang="en-US" altLang="zh-CN" sz="3600" b="1" dirty="0">
                <a:solidFill>
                  <a:schemeClr val="tx1"/>
                </a:solidFill>
              </a:rPr>
            </a:br>
            <a:r>
              <a:rPr lang="zh-CN" altLang="zh-CN" sz="3600" b="1" dirty="0">
                <a:solidFill>
                  <a:schemeClr val="tx1"/>
                </a:solidFill>
              </a:rPr>
              <a:t>函数原型：</a:t>
            </a: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int</a:t>
            </a:r>
            <a:r>
              <a:rPr lang="en-US" altLang="zh-CN" sz="3600" b="1" dirty="0">
                <a:solidFill>
                  <a:srgbClr val="FFFF00"/>
                </a:solidFill>
              </a:rPr>
              <a:t> search( </a:t>
            </a:r>
            <a:r>
              <a:rPr lang="en-US" altLang="zh-CN" sz="3600" b="1" dirty="0">
                <a:solidFill>
                  <a:schemeClr val="tx1"/>
                </a:solidFill>
              </a:rPr>
              <a:t>struct link * head, int m </a:t>
            </a:r>
            <a:r>
              <a:rPr lang="en-US" altLang="zh-CN" sz="3600" b="1" dirty="0">
                <a:solidFill>
                  <a:srgbClr val="FFFF00"/>
                </a:solidFill>
              </a:rPr>
              <a:t>);</a:t>
            </a:r>
            <a:br>
              <a:rPr lang="en-US" altLang="zh-CN" sz="2400" b="1" dirty="0">
                <a:solidFill>
                  <a:srgbClr val="FFFF00"/>
                </a:solidFill>
              </a:rPr>
            </a:b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形参：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head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为表头指针，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m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为待检索的数据</a:t>
            </a:r>
            <a:b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返回值：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检索到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则返回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1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，没有则返回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0</a:t>
            </a:r>
            <a:br>
              <a:rPr lang="en-US" altLang="zh-CN" sz="2400" dirty="0"/>
            </a:br>
            <a:br>
              <a:rPr lang="en-US" altLang="zh-CN" sz="3600" dirty="0"/>
            </a:br>
            <a:r>
              <a:rPr lang="en-US" altLang="zh-CN" sz="3600" b="1" dirty="0">
                <a:solidFill>
                  <a:schemeClr val="tx1"/>
                </a:solidFill>
              </a:rPr>
              <a:t>4. </a:t>
            </a:r>
            <a:r>
              <a:rPr lang="zh-CN" altLang="en-US" sz="3600" b="1" dirty="0">
                <a:solidFill>
                  <a:schemeClr val="tx1"/>
                </a:solidFill>
              </a:rPr>
              <a:t>在指定结点</a:t>
            </a:r>
            <a:r>
              <a:rPr lang="en-US" altLang="zh-CN" sz="3600" b="1" dirty="0">
                <a:solidFill>
                  <a:schemeClr val="tx1"/>
                </a:solidFill>
              </a:rPr>
              <a:t>m</a:t>
            </a:r>
            <a:r>
              <a:rPr lang="zh-CN" altLang="en-US" sz="3600" b="1" dirty="0">
                <a:solidFill>
                  <a:schemeClr val="tx1"/>
                </a:solidFill>
              </a:rPr>
              <a:t>后，</a:t>
            </a:r>
            <a:r>
              <a:rPr lang="zh-CN" altLang="zh-CN" sz="3600" b="1" dirty="0">
                <a:solidFill>
                  <a:srgbClr val="F905F6"/>
                </a:solidFill>
              </a:rPr>
              <a:t>插入</a:t>
            </a:r>
            <a:r>
              <a:rPr lang="zh-CN" altLang="en-US" sz="3600" b="1" dirty="0">
                <a:solidFill>
                  <a:schemeClr val="tx1"/>
                </a:solidFill>
              </a:rPr>
              <a:t>一个新结点</a:t>
            </a:r>
            <a:r>
              <a:rPr lang="en-US" altLang="zh-CN" sz="3600" b="1" dirty="0">
                <a:solidFill>
                  <a:schemeClr val="tx1"/>
                </a:solidFill>
              </a:rPr>
              <a:t>n</a:t>
            </a:r>
            <a:br>
              <a:rPr lang="en-US" altLang="zh-CN" sz="3600" b="1" dirty="0">
                <a:solidFill>
                  <a:schemeClr val="tx1"/>
                </a:solidFill>
              </a:rPr>
            </a:b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struct link *  </a:t>
            </a:r>
            <a:r>
              <a:rPr lang="en-US" altLang="zh-CN" sz="3600" b="1" dirty="0">
                <a:solidFill>
                  <a:srgbClr val="FFFF00"/>
                </a:solidFill>
              </a:rPr>
              <a:t>insert 	(</a:t>
            </a:r>
            <a:r>
              <a:rPr lang="en-US" altLang="zh-CN" sz="3600" b="1" dirty="0">
                <a:solidFill>
                  <a:schemeClr val="tx1"/>
                </a:solidFill>
              </a:rPr>
              <a:t>struct link * head, int m, int n</a:t>
            </a:r>
            <a:r>
              <a:rPr lang="en-US" altLang="zh-CN" sz="3600" b="1" dirty="0"/>
              <a:t>);</a:t>
            </a:r>
            <a:br>
              <a:rPr lang="en-US" altLang="zh-CN" sz="1600" b="1" dirty="0">
                <a:solidFill>
                  <a:srgbClr val="FFFF00"/>
                </a:solidFill>
              </a:rPr>
            </a:b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形参：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head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为表头指针，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m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为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待插入位置（通过数据域指定位置），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n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为待插入结点的数据域</a:t>
            </a:r>
            <a:b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返回值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: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表头指针</a:t>
            </a:r>
            <a:endParaRPr lang="zh-CN" altLang="en-US" sz="1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2D40135-0FBD-4636-A008-E4B19AE4A36C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1582400" cy="6646863"/>
          </a:xfrm>
        </p:spPr>
        <p:txBody>
          <a:bodyPr/>
          <a:lstStyle/>
          <a:p>
            <a:pPr algn="l">
              <a:defRPr/>
            </a:pPr>
            <a:r>
              <a:rPr lang="en-US" altLang="zh-CN" sz="3600" b="1" dirty="0">
                <a:solidFill>
                  <a:schemeClr val="tx1"/>
                </a:solidFill>
              </a:rPr>
              <a:t>5. </a:t>
            </a:r>
            <a:r>
              <a:rPr lang="zh-CN" altLang="zh-CN" sz="3600" b="1" dirty="0">
                <a:solidFill>
                  <a:srgbClr val="F905F6"/>
                </a:solidFill>
              </a:rPr>
              <a:t>删除</a:t>
            </a:r>
            <a:r>
              <a:rPr lang="zh-CN" altLang="zh-CN" sz="3600" b="1" dirty="0">
                <a:solidFill>
                  <a:schemeClr val="tx1"/>
                </a:solidFill>
              </a:rPr>
              <a:t>该链表中</a:t>
            </a:r>
            <a:r>
              <a:rPr lang="zh-CN" altLang="en-US" sz="3600" b="1" dirty="0">
                <a:solidFill>
                  <a:schemeClr val="tx1"/>
                </a:solidFill>
              </a:rPr>
              <a:t>所有</a:t>
            </a:r>
            <a:r>
              <a:rPr lang="en-US" altLang="zh-CN" sz="3600" b="1" dirty="0">
                <a:solidFill>
                  <a:schemeClr val="tx1"/>
                </a:solidFill>
              </a:rPr>
              <a:t>m</a:t>
            </a:r>
            <a:r>
              <a:rPr lang="zh-CN" altLang="en-US" sz="3600" b="1" dirty="0">
                <a:solidFill>
                  <a:schemeClr val="tx1"/>
                </a:solidFill>
              </a:rPr>
              <a:t>结点</a:t>
            </a:r>
            <a:r>
              <a:rPr lang="zh-CN" altLang="zh-CN" sz="3600" b="1" dirty="0">
                <a:solidFill>
                  <a:schemeClr val="tx1"/>
                </a:solidFill>
              </a:rPr>
              <a:t>，函数原型：</a:t>
            </a:r>
            <a:br>
              <a:rPr lang="en-US" altLang="zh-CN" sz="3600" b="1" dirty="0">
                <a:solidFill>
                  <a:schemeClr val="tx1"/>
                </a:solidFill>
              </a:rPr>
            </a:b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struct link * </a:t>
            </a:r>
            <a:r>
              <a:rPr lang="en-US" altLang="zh-CN" sz="3600" b="1" dirty="0">
                <a:solidFill>
                  <a:srgbClr val="FFFF00"/>
                </a:solidFill>
              </a:rPr>
              <a:t>del (</a:t>
            </a:r>
            <a:r>
              <a:rPr lang="en-US" altLang="zh-CN" sz="3600" b="1" dirty="0">
                <a:solidFill>
                  <a:schemeClr val="tx1"/>
                </a:solidFill>
              </a:rPr>
              <a:t>struct link * head, int m</a:t>
            </a:r>
            <a:r>
              <a:rPr lang="en-US" altLang="zh-CN" sz="3600" b="1" dirty="0">
                <a:solidFill>
                  <a:srgbClr val="FFFF00"/>
                </a:solidFill>
              </a:rPr>
              <a:t>);</a:t>
            </a:r>
            <a:br>
              <a:rPr lang="en-US" altLang="zh-CN" sz="3600" b="1" dirty="0">
                <a:solidFill>
                  <a:srgbClr val="FFFF00"/>
                </a:solidFill>
              </a:rPr>
            </a:b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形参：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head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为表头指针，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m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为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删除的关键字</a:t>
            </a:r>
            <a:b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zh-CN" sz="1800" b="1" dirty="0">
                <a:solidFill>
                  <a:schemeClr val="tx1">
                    <a:lumMod val="75000"/>
                  </a:schemeClr>
                </a:solidFill>
              </a:rPr>
              <a:t>返回值：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表头指针</a:t>
            </a:r>
            <a:br>
              <a:rPr lang="en-US" altLang="zh-CN" sz="2400" b="1" dirty="0"/>
            </a:br>
            <a:br>
              <a:rPr lang="en-US" altLang="zh-CN" sz="2400" b="1" dirty="0"/>
            </a:br>
            <a:r>
              <a:rPr lang="en-US" altLang="zh-CN" sz="3600" b="1" dirty="0">
                <a:solidFill>
                  <a:schemeClr val="tx1"/>
                </a:solidFill>
              </a:rPr>
              <a:t>6.</a:t>
            </a:r>
            <a:r>
              <a:rPr lang="zh-CN" altLang="en-US" sz="3600" b="1" dirty="0">
                <a:solidFill>
                  <a:schemeClr val="tx1"/>
                </a:solidFill>
              </a:rPr>
              <a:t>链表</a:t>
            </a:r>
            <a:r>
              <a:rPr lang="zh-CN" altLang="zh-CN" sz="3600" b="1" dirty="0">
                <a:solidFill>
                  <a:srgbClr val="F905F6"/>
                </a:solidFill>
              </a:rPr>
              <a:t>排序</a:t>
            </a:r>
            <a:r>
              <a:rPr lang="zh-CN" altLang="en-US" sz="3600" b="1" dirty="0">
                <a:solidFill>
                  <a:schemeClr val="tx1"/>
                </a:solidFill>
              </a:rPr>
              <a:t>（例</a:t>
            </a:r>
            <a:r>
              <a:rPr lang="en-US" altLang="zh-CN" sz="3600" b="1" dirty="0">
                <a:solidFill>
                  <a:schemeClr val="tx1"/>
                </a:solidFill>
              </a:rPr>
              <a:t>13.2)</a:t>
            </a:r>
            <a:br>
              <a:rPr lang="en-US" altLang="zh-CN" sz="3600" b="1" dirty="0">
                <a:solidFill>
                  <a:schemeClr val="tx1"/>
                </a:solidFill>
              </a:rPr>
            </a:b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struct link * </a:t>
            </a:r>
            <a:r>
              <a:rPr lang="en-US" altLang="zh-CN" sz="3600" b="1" dirty="0">
                <a:solidFill>
                  <a:schemeClr val="tx1"/>
                </a:solidFill>
              </a:rPr>
              <a:t>sort(</a:t>
            </a:r>
            <a:r>
              <a:rPr lang="en-US" altLang="zh-CN" sz="3600" b="1" dirty="0">
                <a:solidFill>
                  <a:srgbClr val="FFFF00"/>
                </a:solidFill>
              </a:rPr>
              <a:t>struct link *</a:t>
            </a:r>
            <a:r>
              <a:rPr lang="en-US" altLang="zh-CN" sz="3600" b="1" dirty="0"/>
              <a:t> </a:t>
            </a:r>
            <a:r>
              <a:rPr lang="en-US" altLang="zh-CN" sz="3600" b="1" dirty="0">
                <a:solidFill>
                  <a:schemeClr val="tx1"/>
                </a:solidFill>
              </a:rPr>
              <a:t>head)</a:t>
            </a:r>
            <a:r>
              <a:rPr lang="en-US" altLang="zh-CN" sz="3600" b="1" dirty="0">
                <a:solidFill>
                  <a:srgbClr val="FFFF00"/>
                </a:solidFill>
              </a:rPr>
              <a:t>;</a:t>
            </a:r>
            <a:br>
              <a:rPr lang="en-US" altLang="zh-CN" sz="2400" b="1" dirty="0"/>
            </a:b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形参：排序前链表的表头指针</a:t>
            </a:r>
            <a:b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返回值：排序后链表的表头指针</a:t>
            </a:r>
            <a:br>
              <a:rPr lang="en-US" altLang="zh-CN" sz="2000" b="1" dirty="0"/>
            </a:br>
            <a:br>
              <a:rPr lang="en-US" altLang="zh-CN" sz="3600" b="1" dirty="0"/>
            </a:br>
            <a:r>
              <a:rPr lang="en-US" altLang="zh-CN" sz="3600" b="1" dirty="0">
                <a:solidFill>
                  <a:schemeClr val="tx1"/>
                </a:solidFill>
              </a:rPr>
              <a:t>7. </a:t>
            </a:r>
            <a:r>
              <a:rPr lang="zh-CN" altLang="zh-CN" sz="3600" b="1" dirty="0">
                <a:solidFill>
                  <a:srgbClr val="F905F6"/>
                </a:solidFill>
              </a:rPr>
              <a:t>释放</a:t>
            </a:r>
            <a:r>
              <a:rPr lang="zh-CN" altLang="en-US" sz="3600" b="1" dirty="0">
                <a:solidFill>
                  <a:schemeClr val="tx1"/>
                </a:solidFill>
              </a:rPr>
              <a:t>链表</a:t>
            </a:r>
            <a:br>
              <a:rPr lang="en-US" altLang="zh-CN" sz="3600" b="1" dirty="0"/>
            </a:b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void </a:t>
            </a:r>
            <a:r>
              <a:rPr lang="en-US" altLang="zh-CN" sz="3600" b="1" dirty="0">
                <a:solidFill>
                  <a:srgbClr val="FFFF00"/>
                </a:solidFill>
              </a:rPr>
              <a:t>destroy  (</a:t>
            </a:r>
            <a:r>
              <a:rPr lang="en-US" altLang="zh-CN" sz="3600" b="1" dirty="0">
                <a:solidFill>
                  <a:schemeClr val="tx1"/>
                </a:solidFill>
              </a:rPr>
              <a:t>struct link * head</a:t>
            </a:r>
            <a:r>
              <a:rPr lang="en-US" altLang="zh-CN" sz="3600" b="1" dirty="0">
                <a:solidFill>
                  <a:srgbClr val="FFFF00"/>
                </a:solidFill>
              </a:rPr>
              <a:t>);</a:t>
            </a:r>
            <a:br>
              <a:rPr lang="en-US" altLang="zh-CN" sz="1600" b="1" dirty="0">
                <a:solidFill>
                  <a:srgbClr val="FFFF00"/>
                </a:solidFill>
              </a:rPr>
            </a:b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形参：表头指针</a:t>
            </a:r>
            <a:endParaRPr lang="zh-CN" altLang="en-US" sz="1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82B2023-2B6C-45B3-954A-5AA35E968D8A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-635"/>
            <a:ext cx="2666365" cy="903605"/>
          </a:xfrm>
        </p:spPr>
        <p:txBody>
          <a:bodyPr/>
          <a:p>
            <a:pPr algn="l"/>
            <a:r>
              <a:rPr lang="zh-CN" altLang="en-US"/>
              <a:t>链表调试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22747" r="6429"/>
          <a:stretch>
            <a:fillRect/>
          </a:stretch>
        </p:blipFill>
        <p:spPr>
          <a:xfrm>
            <a:off x="-635" y="1752600"/>
            <a:ext cx="12193270" cy="50374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2400" y="1066800"/>
            <a:ext cx="6694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方式</a:t>
            </a:r>
            <a:r>
              <a:rPr lang="en-US" altLang="zh-CN" sz="2800"/>
              <a:t>1.</a:t>
            </a:r>
            <a:r>
              <a:rPr lang="zh-CN" altLang="en-US" sz="2800"/>
              <a:t>增加辅助输出，查看链表结点数据</a:t>
            </a:r>
            <a:endParaRPr lang="zh-CN" altLang="en-US"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35" y="0"/>
            <a:ext cx="7139940" cy="605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方式</a:t>
            </a:r>
            <a:r>
              <a:rPr lang="en-US" altLang="zh-CN" sz="2800"/>
              <a:t>2.</a:t>
            </a:r>
            <a:r>
              <a:rPr lang="zh-CN" altLang="en-US" sz="2800"/>
              <a:t>利用</a:t>
            </a:r>
            <a:r>
              <a:rPr lang="en-US" altLang="zh-CN" sz="2800"/>
              <a:t>Debug</a:t>
            </a:r>
            <a:r>
              <a:rPr lang="zh-CN" altLang="en-US" sz="2800"/>
              <a:t>查看链表结点数据</a:t>
            </a:r>
            <a:endParaRPr lang="zh-CN" altLang="en-US" sz="2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" y="457200"/>
            <a:ext cx="6018530" cy="41763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632075"/>
            <a:ext cx="7311390" cy="42259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" y="914400"/>
            <a:ext cx="9752965" cy="55048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835" y="1371600"/>
            <a:ext cx="8430895" cy="43395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2635" y="609600"/>
            <a:ext cx="9969500" cy="605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方式</a:t>
            </a:r>
            <a:r>
              <a:rPr lang="en-US" altLang="zh-CN" sz="2800"/>
              <a:t>3.</a:t>
            </a:r>
            <a:r>
              <a:rPr lang="zh-CN" altLang="en-US" sz="2800"/>
              <a:t>调试状态下，</a:t>
            </a:r>
            <a:r>
              <a:rPr lang="zh-CN" sz="2800"/>
              <a:t>鼠标在变量上悬停，可查看当前结点数据</a:t>
            </a:r>
            <a:endParaRPr lang="zh-CN"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/>
          <p:nvPr/>
        </p:nvGraphicFramePr>
        <p:xfrm>
          <a:off x="76835" y="0"/>
          <a:ext cx="12114530" cy="676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7135495" imgH="4898390" progId="Paint.Picture">
                  <p:embed/>
                </p:oleObj>
              </mc:Choice>
              <mc:Fallback>
                <p:oleObj name="" r:id="rId1" imgW="7135495" imgH="4898390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835" y="0"/>
                        <a:ext cx="12114530" cy="6768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7E82C35-D618-4047-B8F1-12F683B70841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78883" name="Rectangle 3"/>
          <p:cNvSpPr>
            <a:spLocks noChangeArrowheads="1"/>
          </p:cNvSpPr>
          <p:nvPr/>
        </p:nvSpPr>
        <p:spPr bwMode="auto">
          <a:xfrm>
            <a:off x="515938" y="884238"/>
            <a:ext cx="8856662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905F6"/>
                </a:solidFill>
                <a:latin typeface="Arial" panose="020B0604020202020204" pitchFamily="34" charset="0"/>
              </a:rPr>
              <a:t>typedef</a:t>
            </a:r>
            <a:r>
              <a:rPr lang="en-US" altLang="zh-CN" sz="2800" dirty="0">
                <a:latin typeface="Arial" panose="020B0604020202020204" pitchFamily="34" charset="0"/>
              </a:rPr>
              <a:t>  ... </a:t>
            </a:r>
            <a:r>
              <a:rPr lang="en-US" altLang="zh-CN" sz="2800" dirty="0">
                <a:solidFill>
                  <a:srgbClr val="CC3399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items</a:t>
            </a:r>
            <a:r>
              <a:rPr lang="en-US" altLang="zh-CN" sz="2800" dirty="0">
                <a:solidFill>
                  <a:srgbClr val="CC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;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struct  cell {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     </a:t>
            </a: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items</a:t>
            </a:r>
            <a:r>
              <a:rPr lang="en-US" altLang="zh-CN" sz="2800" dirty="0">
                <a:latin typeface="Arial" panose="020B0604020202020204" pitchFamily="34" charset="0"/>
              </a:rPr>
              <a:t>   data  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     struct  cell  *predecessor 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};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905F6"/>
                </a:solidFill>
                <a:latin typeface="Arial" panose="020B0604020202020204" pitchFamily="34" charset="0"/>
              </a:rPr>
              <a:t>typedef </a:t>
            </a:r>
            <a:r>
              <a:rPr lang="en-US" altLang="zh-CN" sz="2800" dirty="0">
                <a:latin typeface="Arial" panose="020B0604020202020204" pitchFamily="34" charset="0"/>
              </a:rPr>
              <a:t>struct cell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 err="1">
                <a:solidFill>
                  <a:schemeClr val="hlink"/>
                </a:solidFill>
                <a:latin typeface="Arial" panose="020B0604020202020204" pitchFamily="34" charset="0"/>
              </a:rPr>
              <a:t>celltype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;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结构体类型的别名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spcBef>
                <a:spcPct val="1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905F6"/>
                </a:solidFill>
                <a:latin typeface="Arial" panose="020B0604020202020204" pitchFamily="34" charset="0"/>
              </a:rPr>
              <a:t>typedef</a:t>
            </a:r>
            <a:r>
              <a:rPr lang="en-US" altLang="zh-CN" sz="2800" dirty="0">
                <a:latin typeface="Arial" panose="020B0604020202020204" pitchFamily="34" charset="0"/>
              </a:rPr>
              <a:t>  </a:t>
            </a:r>
            <a:r>
              <a:rPr lang="en-US" altLang="zh-CN" sz="2800" dirty="0" err="1">
                <a:latin typeface="Arial" panose="020B0604020202020204" pitchFamily="34" charset="0"/>
              </a:rPr>
              <a:t>celltype</a:t>
            </a:r>
            <a:r>
              <a:rPr lang="en-US" altLang="zh-CN" sz="2800" dirty="0">
                <a:latin typeface="Arial" panose="020B0604020202020204" pitchFamily="34" charset="0"/>
              </a:rPr>
              <a:t>  * </a:t>
            </a:r>
            <a:r>
              <a:rPr lang="en-US" altLang="zh-CN" sz="2800" dirty="0" err="1">
                <a:solidFill>
                  <a:schemeClr val="hlink"/>
                </a:solidFill>
                <a:latin typeface="Arial" panose="020B0604020202020204" pitchFamily="34" charset="0"/>
              </a:rPr>
              <a:t>ptype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;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结构体指针类型的别名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 err="1">
                <a:solidFill>
                  <a:schemeClr val="hlink"/>
                </a:solidFill>
                <a:latin typeface="Arial" panose="020B0604020202020204" pitchFamily="34" charset="0"/>
              </a:rPr>
              <a:t>ptype</a:t>
            </a:r>
            <a:r>
              <a:rPr lang="en-US" altLang="zh-CN" sz="2800" dirty="0">
                <a:latin typeface="Arial" panose="020B0604020202020204" pitchFamily="34" charset="0"/>
              </a:rPr>
              <a:t>  </a:t>
            </a:r>
            <a:r>
              <a:rPr lang="en-US" altLang="zh-CN" sz="2800" dirty="0" err="1">
                <a:latin typeface="Arial" panose="020B0604020202020204" pitchFamily="34" charset="0"/>
              </a:rPr>
              <a:t>top,rear</a:t>
            </a:r>
            <a:r>
              <a:rPr lang="en-US" altLang="zh-CN" sz="2800" dirty="0">
                <a:latin typeface="Arial" panose="020B0604020202020204" pitchFamily="34" charset="0"/>
              </a:rPr>
              <a:t> ;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/*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声明表头指针、表尾指针，</a:t>
            </a:r>
            <a:endParaRPr lang="zh-CN" altLang="en-US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latin typeface="Arial" panose="020B0604020202020204" pitchFamily="34" charset="0"/>
              </a:rPr>
              <a:t>                                          同 </a:t>
            </a:r>
            <a:r>
              <a:rPr lang="en-US" altLang="zh-CN" sz="2000" dirty="0" err="1">
                <a:solidFill>
                  <a:schemeClr val="hlink"/>
                </a:solidFill>
                <a:latin typeface="Arial" panose="020B0604020202020204" pitchFamily="34" charset="0"/>
              </a:rPr>
              <a:t>celltype</a:t>
            </a:r>
            <a:r>
              <a:rPr lang="en-US" altLang="zh-CN" sz="2000" dirty="0">
                <a:latin typeface="Arial" panose="020B0604020202020204" pitchFamily="34" charset="0"/>
              </a:rPr>
              <a:t>  * top, *rear ;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latin typeface="Arial" panose="020B0604020202020204" pitchFamily="34" charset="0"/>
              </a:rPr>
              <a:t>                                          同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struct  cell</a:t>
            </a:r>
            <a:r>
              <a:rPr lang="en-US" altLang="zh-CN" sz="2000" dirty="0">
                <a:latin typeface="Arial" panose="020B0604020202020204" pitchFamily="34" charset="0"/>
              </a:rPr>
              <a:t> * top, *rear ;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*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</a:t>
            </a:r>
            <a:endParaRPr lang="zh-CN" altLang="en-US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43012" name="Group 4"/>
          <p:cNvGrpSpPr/>
          <p:nvPr/>
        </p:nvGrpSpPr>
        <p:grpSpPr bwMode="auto">
          <a:xfrm>
            <a:off x="8112125" y="5372100"/>
            <a:ext cx="1368425" cy="752475"/>
            <a:chOff x="4150" y="2976"/>
            <a:chExt cx="862" cy="474"/>
          </a:xfrm>
        </p:grpSpPr>
        <p:sp>
          <p:nvSpPr>
            <p:cNvPr id="43041" name="Rectangle 5"/>
            <p:cNvSpPr>
              <a:spLocks noChangeArrowheads="1"/>
            </p:cNvSpPr>
            <p:nvPr/>
          </p:nvSpPr>
          <p:spPr bwMode="auto">
            <a:xfrm flipH="1">
              <a:off x="4150" y="2976"/>
              <a:ext cx="46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3042" name="Rectangle 6"/>
            <p:cNvSpPr>
              <a:spLocks noChangeArrowheads="1"/>
            </p:cNvSpPr>
            <p:nvPr/>
          </p:nvSpPr>
          <p:spPr bwMode="auto">
            <a:xfrm flipH="1">
              <a:off x="4562" y="3070"/>
              <a:ext cx="450" cy="21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3043" name="Freeform 7"/>
            <p:cNvSpPr/>
            <p:nvPr/>
          </p:nvSpPr>
          <p:spPr bwMode="auto">
            <a:xfrm flipH="1">
              <a:off x="4562" y="3194"/>
              <a:ext cx="231" cy="2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13" name="Group 8"/>
          <p:cNvGrpSpPr/>
          <p:nvPr/>
        </p:nvGrpSpPr>
        <p:grpSpPr bwMode="auto">
          <a:xfrm>
            <a:off x="2424113" y="5540375"/>
            <a:ext cx="6251575" cy="1489075"/>
            <a:chOff x="567" y="3082"/>
            <a:chExt cx="3938" cy="938"/>
          </a:xfrm>
        </p:grpSpPr>
        <p:sp>
          <p:nvSpPr>
            <p:cNvPr id="43020" name="Rectangle 9"/>
            <p:cNvSpPr>
              <a:spLocks noChangeArrowheads="1"/>
            </p:cNvSpPr>
            <p:nvPr/>
          </p:nvSpPr>
          <p:spPr bwMode="auto">
            <a:xfrm flipH="1">
              <a:off x="567" y="3082"/>
              <a:ext cx="4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top: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3021" name="Rectangle 10"/>
            <p:cNvSpPr>
              <a:spLocks noChangeArrowheads="1"/>
            </p:cNvSpPr>
            <p:nvPr/>
          </p:nvSpPr>
          <p:spPr bwMode="auto">
            <a:xfrm flipH="1">
              <a:off x="923" y="3134"/>
              <a:ext cx="425" cy="1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43022" name="Group 11"/>
            <p:cNvGrpSpPr/>
            <p:nvPr/>
          </p:nvGrpSpPr>
          <p:grpSpPr bwMode="auto">
            <a:xfrm flipH="1">
              <a:off x="4042" y="3377"/>
              <a:ext cx="463" cy="446"/>
              <a:chOff x="0" y="0"/>
              <a:chExt cx="20000" cy="20000"/>
            </a:xfrm>
          </p:grpSpPr>
          <p:sp>
            <p:nvSpPr>
              <p:cNvPr id="43039" name="Rectangle 1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3040" name="Line 13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3023" name="Group 14"/>
            <p:cNvGrpSpPr/>
            <p:nvPr/>
          </p:nvGrpSpPr>
          <p:grpSpPr bwMode="auto">
            <a:xfrm flipH="1">
              <a:off x="3337" y="3373"/>
              <a:ext cx="462" cy="461"/>
              <a:chOff x="0" y="0"/>
              <a:chExt cx="20000" cy="20000"/>
            </a:xfrm>
          </p:grpSpPr>
          <p:sp>
            <p:nvSpPr>
              <p:cNvPr id="43037" name="Rectangle 1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3038" name="Line 16"/>
              <p:cNvSpPr>
                <a:spLocks noChangeShapeType="1"/>
              </p:cNvSpPr>
              <p:nvPr/>
            </p:nvSpPr>
            <p:spPr bwMode="auto">
              <a:xfrm>
                <a:off x="557" y="1380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3024" name="Freeform 17"/>
            <p:cNvSpPr/>
            <p:nvPr/>
          </p:nvSpPr>
          <p:spPr bwMode="auto">
            <a:xfrm flipH="1">
              <a:off x="3592" y="3442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5" name="Freeform 18"/>
            <p:cNvSpPr/>
            <p:nvPr/>
          </p:nvSpPr>
          <p:spPr bwMode="auto">
            <a:xfrm flipH="1">
              <a:off x="2886" y="3442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6" name="Freeform 19"/>
            <p:cNvSpPr/>
            <p:nvPr/>
          </p:nvSpPr>
          <p:spPr bwMode="auto">
            <a:xfrm flipH="1">
              <a:off x="2309" y="3442"/>
              <a:ext cx="424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027" name="Group 20"/>
            <p:cNvGrpSpPr/>
            <p:nvPr/>
          </p:nvGrpSpPr>
          <p:grpSpPr bwMode="auto">
            <a:xfrm flipH="1">
              <a:off x="2066" y="3389"/>
              <a:ext cx="462" cy="455"/>
              <a:chOff x="0" y="0"/>
              <a:chExt cx="20000" cy="20000"/>
            </a:xfrm>
          </p:grpSpPr>
          <p:sp>
            <p:nvSpPr>
              <p:cNvPr id="43035" name="Rectangle 2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3036" name="Line 22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3028" name="Group 23"/>
            <p:cNvGrpSpPr/>
            <p:nvPr/>
          </p:nvGrpSpPr>
          <p:grpSpPr bwMode="auto">
            <a:xfrm flipH="1">
              <a:off x="1360" y="3389"/>
              <a:ext cx="462" cy="455"/>
              <a:chOff x="0" y="0"/>
              <a:chExt cx="20000" cy="20000"/>
            </a:xfrm>
          </p:grpSpPr>
          <p:sp>
            <p:nvSpPr>
              <p:cNvPr id="43033" name="Rectangle 2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3034" name="Line 25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3029" name="Freeform 26"/>
            <p:cNvSpPr/>
            <p:nvPr/>
          </p:nvSpPr>
          <p:spPr bwMode="auto">
            <a:xfrm flipH="1">
              <a:off x="1617" y="3442"/>
              <a:ext cx="423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" name="Rectangle 27"/>
            <p:cNvSpPr>
              <a:spLocks noChangeArrowheads="1"/>
            </p:cNvSpPr>
            <p:nvPr/>
          </p:nvSpPr>
          <p:spPr bwMode="auto">
            <a:xfrm flipH="1">
              <a:off x="2669" y="3388"/>
              <a:ext cx="57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...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43031" name="Freeform 28"/>
            <p:cNvSpPr/>
            <p:nvPr/>
          </p:nvSpPr>
          <p:spPr bwMode="auto">
            <a:xfrm flipH="1">
              <a:off x="1115" y="3240"/>
              <a:ext cx="233" cy="2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2" name="Text Box 29"/>
            <p:cNvSpPr txBox="1">
              <a:spLocks noChangeArrowheads="1"/>
            </p:cNvSpPr>
            <p:nvPr/>
          </p:nvSpPr>
          <p:spPr bwMode="auto">
            <a:xfrm>
              <a:off x="4096" y="3449"/>
              <a:ext cx="402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</p:grpSp>
      <p:sp>
        <p:nvSpPr>
          <p:cNvPr id="43014" name="Rectangle 30"/>
          <p:cNvSpPr>
            <a:spLocks noChangeArrowheads="1"/>
          </p:cNvSpPr>
          <p:nvPr/>
        </p:nvSpPr>
        <p:spPr bwMode="auto">
          <a:xfrm>
            <a:off x="228600" y="3609975"/>
            <a:ext cx="254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700" tIns="12700" rIns="12700" bIns="127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78915" name="Rectangle 35"/>
          <p:cNvSpPr>
            <a:spLocks noChangeArrowheads="1"/>
          </p:cNvSpPr>
          <p:nvPr/>
        </p:nvSpPr>
        <p:spPr bwMode="auto">
          <a:xfrm>
            <a:off x="263525" y="1460500"/>
            <a:ext cx="7956550" cy="2232025"/>
          </a:xfrm>
          <a:prstGeom prst="rect">
            <a:avLst/>
          </a:prstGeom>
          <a:noFill/>
          <a:ln w="38100">
            <a:solidFill>
              <a:srgbClr val="F905F6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FF99FF"/>
              </a:solidFill>
              <a:latin typeface="Arial" panose="020B0604020202020204" pitchFamily="34" charset="0"/>
            </a:endParaRPr>
          </a:p>
        </p:txBody>
      </p:sp>
      <p:sp>
        <p:nvSpPr>
          <p:cNvPr id="43016" name="Rectangle 36"/>
          <p:cNvSpPr>
            <a:spLocks noChangeArrowheads="1"/>
          </p:cNvSpPr>
          <p:nvPr/>
        </p:nvSpPr>
        <p:spPr bwMode="auto">
          <a:xfrm>
            <a:off x="152400" y="-95250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设有声明</a:t>
            </a:r>
            <a:r>
              <a:rPr lang="en-US" altLang="zh-CN" sz="2400">
                <a:latin typeface="Arial" panose="020B0604020202020204" pitchFamily="34" charset="0"/>
              </a:rPr>
              <a:t>: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3017" name="Rectangle 37"/>
          <p:cNvSpPr>
            <a:spLocks noChangeArrowheads="1"/>
          </p:cNvSpPr>
          <p:nvPr/>
        </p:nvSpPr>
        <p:spPr bwMode="auto">
          <a:xfrm>
            <a:off x="1524000" y="5059363"/>
            <a:ext cx="340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隶书" pitchFamily="49" charset="-122"/>
                <a:ea typeface="隶书" pitchFamily="49" charset="-122"/>
              </a:rPr>
              <a:t>单向链表结构如图所示</a:t>
            </a:r>
            <a:r>
              <a:rPr lang="en-US" altLang="zh-CN" sz="2400">
                <a:latin typeface="隶书" pitchFamily="49" charset="-122"/>
                <a:ea typeface="隶书" pitchFamily="49" charset="-122"/>
              </a:rPr>
              <a:t>:</a:t>
            </a:r>
            <a:endParaRPr lang="zh-CN" altLang="en-US" sz="240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78918" name="AutoShape 38"/>
          <p:cNvSpPr>
            <a:spLocks noChangeArrowheads="1"/>
          </p:cNvSpPr>
          <p:nvPr/>
        </p:nvSpPr>
        <p:spPr bwMode="auto">
          <a:xfrm>
            <a:off x="5051425" y="0"/>
            <a:ext cx="5616575" cy="1511300"/>
          </a:xfrm>
          <a:prstGeom prst="wedgeRectCallout">
            <a:avLst>
              <a:gd name="adj1" fmla="val 4944"/>
              <a:gd name="adj2" fmla="val 732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905F6"/>
                </a:solidFill>
                <a:latin typeface="Arial" panose="020B0604020202020204" pitchFamily="34" charset="0"/>
              </a:rPr>
              <a:t>typedef</a:t>
            </a:r>
            <a:r>
              <a:rPr lang="en-US" altLang="zh-CN" sz="2800">
                <a:latin typeface="Arial" panose="020B0604020202020204" pitchFamily="34" charset="0"/>
              </a:rPr>
              <a:t> struct  cell { 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  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items</a:t>
            </a:r>
            <a:r>
              <a:rPr lang="en-US" altLang="zh-CN" sz="2800">
                <a:latin typeface="Arial" panose="020B0604020202020204" pitchFamily="34" charset="0"/>
              </a:rPr>
              <a:t>   data  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     struct  cell  *predecessor 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 }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>
                <a:solidFill>
                  <a:srgbClr val="FFFF00"/>
                </a:solidFill>
                <a:latin typeface="Arial" panose="020B0604020202020204" pitchFamily="34" charset="0"/>
              </a:rPr>
              <a:t>celltype</a:t>
            </a:r>
            <a:r>
              <a:rPr lang="en-US" altLang="zh-CN" sz="2800">
                <a:latin typeface="Arial" panose="020B0604020202020204" pitchFamily="34" charset="0"/>
              </a:rPr>
              <a:t>;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sp>
        <p:nvSpPr>
          <p:cNvPr id="378919" name="AutoShape 39"/>
          <p:cNvSpPr>
            <a:spLocks noChangeArrowheads="1"/>
          </p:cNvSpPr>
          <p:nvPr/>
        </p:nvSpPr>
        <p:spPr bwMode="auto">
          <a:xfrm>
            <a:off x="228600" y="309563"/>
            <a:ext cx="3240088" cy="431800"/>
          </a:xfrm>
          <a:prstGeom prst="wedgeRectCallout">
            <a:avLst>
              <a:gd name="adj1" fmla="val -5611"/>
              <a:gd name="adj2" fmla="val 10845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>
                <a:solidFill>
                  <a:srgbClr val="F905F6"/>
                </a:solidFill>
                <a:latin typeface="Arial" panose="020B0604020202020204" pitchFamily="34" charset="0"/>
              </a:rPr>
              <a:t>typedef</a:t>
            </a:r>
            <a:r>
              <a:rPr lang="en-US" altLang="zh-CN" sz="2500">
                <a:latin typeface="Arial" panose="020B0604020202020204" pitchFamily="34" charset="0"/>
              </a:rPr>
              <a:t>  int </a:t>
            </a:r>
            <a:r>
              <a:rPr lang="en-US" altLang="zh-CN" sz="2500">
                <a:solidFill>
                  <a:srgbClr val="CC3399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500">
                <a:solidFill>
                  <a:schemeClr val="hlink"/>
                </a:solidFill>
                <a:latin typeface="Arial" panose="020B0604020202020204" pitchFamily="34" charset="0"/>
              </a:rPr>
              <a:t>items</a:t>
            </a:r>
            <a:r>
              <a:rPr lang="en-US" altLang="zh-CN" sz="2500">
                <a:solidFill>
                  <a:srgbClr val="CC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500">
                <a:latin typeface="Arial" panose="020B0604020202020204" pitchFamily="34" charset="0"/>
              </a:rPr>
              <a:t>;</a:t>
            </a:r>
            <a:endParaRPr lang="zh-CN" altLang="en-US" sz="25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8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8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8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5" grpId="0" bldLvl="0" animBg="1"/>
      <p:bldP spid="378918" grpId="0" bldLvl="0" animBg="1"/>
      <p:bldP spid="378919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BDDEB2E-258E-4E5A-9EB1-C2536BC8BFC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809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282700"/>
            <a:ext cx="12136438" cy="2430463"/>
          </a:xfrm>
        </p:spPr>
        <p:txBody>
          <a:bodyPr/>
          <a:lstStyle/>
          <a:p>
            <a:pPr eaLnBrk="1" hangingPunct="1">
              <a:lnSpc>
                <a:spcPct val="105000"/>
              </a:lnSpc>
              <a:defRPr/>
            </a:pPr>
            <a:r>
              <a:rPr lang="zh-CN" altLang="en-US" sz="2800" b="1" dirty="0"/>
              <a:t>创建单向链表，是指用一项一项的数据（结点）逐步建立、形成一个链表</a:t>
            </a:r>
            <a:endParaRPr lang="zh-CN" altLang="en-US" sz="2800" b="1" dirty="0"/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sz="2800" b="1" dirty="0"/>
              <a:t>可以分两种方式：</a:t>
            </a:r>
            <a:endParaRPr lang="en-US" altLang="zh-CN" sz="2800" b="1" dirty="0"/>
          </a:p>
          <a:p>
            <a:pPr lvl="1" eaLnBrk="1" hangingPunct="1">
              <a:lnSpc>
                <a:spcPct val="105000"/>
              </a:lnSpc>
              <a:defRPr/>
            </a:pPr>
            <a:r>
              <a:rPr lang="zh-CN" altLang="en-US" sz="3200" b="1" u="sng" dirty="0">
                <a:hlinkClick r:id="rId1" action="ppaction://hlinksldjump"/>
              </a:rPr>
              <a:t>向</a:t>
            </a:r>
            <a:r>
              <a:rPr lang="zh-CN" altLang="en-US" sz="3200" b="1" u="sng" dirty="0">
                <a:solidFill>
                  <a:schemeClr val="hlink"/>
                </a:solidFill>
                <a:hlinkClick r:id="rId1" action="ppaction://hlinksldjump"/>
              </a:rPr>
              <a:t>链头（表头、链首）</a:t>
            </a:r>
            <a:r>
              <a:rPr lang="zh-CN" altLang="en-US" sz="3200" b="1" u="sng" dirty="0">
                <a:hlinkClick r:id="rId1" action="ppaction://hlinksldjump"/>
              </a:rPr>
              <a:t>加入数据</a:t>
            </a:r>
            <a:r>
              <a:rPr lang="zh-CN" altLang="en-US" sz="3200" b="1" u="sng" dirty="0">
                <a:solidFill>
                  <a:srgbClr val="FF0000"/>
                </a:solidFill>
                <a:hlinkClick r:id="rId1" action="ppaction://hlinksldjump"/>
              </a:rPr>
              <a:t>（压栈算法）</a:t>
            </a:r>
            <a:endParaRPr lang="en-US" altLang="zh-CN" sz="3200" b="1" u="sng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05000"/>
              </a:lnSpc>
              <a:defRPr/>
            </a:pPr>
            <a:r>
              <a:rPr lang="zh-CN" altLang="en-US" sz="3200" b="1" u="sng" dirty="0">
                <a:hlinkClick r:id="rId2" action="ppaction://hlinksldjump"/>
              </a:rPr>
              <a:t>向</a:t>
            </a:r>
            <a:r>
              <a:rPr lang="zh-CN" altLang="en-US" sz="3200" b="1" u="sng" dirty="0">
                <a:solidFill>
                  <a:schemeClr val="hlink"/>
                </a:solidFill>
                <a:hlinkClick r:id="rId2" action="ppaction://hlinksldjump"/>
              </a:rPr>
              <a:t>链尾（表尾）</a:t>
            </a:r>
            <a:r>
              <a:rPr lang="zh-CN" altLang="en-US" sz="3200" b="1" u="sng" dirty="0">
                <a:hlinkClick r:id="rId2" action="ppaction://hlinksldjump"/>
              </a:rPr>
              <a:t>加入数据</a:t>
            </a:r>
            <a:r>
              <a:rPr lang="zh-CN" altLang="en-US" sz="3200" b="1" u="sng" dirty="0">
                <a:solidFill>
                  <a:srgbClr val="FF0000"/>
                </a:solidFill>
                <a:hlinkClick r:id="rId2" action="ppaction://hlinksldjump"/>
              </a:rPr>
              <a:t>（入队算法）</a:t>
            </a:r>
            <a:r>
              <a:rPr lang="zh-CN" altLang="en-US" sz="3200" b="1" dirty="0"/>
              <a:t>	</a:t>
            </a:r>
            <a:endParaRPr lang="zh-CN" altLang="en-US" sz="3200" b="1" dirty="0"/>
          </a:p>
        </p:txBody>
      </p:sp>
      <p:grpSp>
        <p:nvGrpSpPr>
          <p:cNvPr id="45060" name="Group 3"/>
          <p:cNvGrpSpPr/>
          <p:nvPr/>
        </p:nvGrpSpPr>
        <p:grpSpPr bwMode="auto">
          <a:xfrm>
            <a:off x="8112125" y="4508500"/>
            <a:ext cx="1368425" cy="752475"/>
            <a:chOff x="4150" y="2976"/>
            <a:chExt cx="862" cy="474"/>
          </a:xfrm>
        </p:grpSpPr>
        <p:sp>
          <p:nvSpPr>
            <p:cNvPr id="45084" name="Rectangle 4"/>
            <p:cNvSpPr>
              <a:spLocks noChangeArrowheads="1"/>
            </p:cNvSpPr>
            <p:nvPr/>
          </p:nvSpPr>
          <p:spPr bwMode="auto">
            <a:xfrm flipH="1">
              <a:off x="4150" y="2976"/>
              <a:ext cx="46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85" name="Rectangle 5"/>
            <p:cNvSpPr>
              <a:spLocks noChangeArrowheads="1"/>
            </p:cNvSpPr>
            <p:nvPr/>
          </p:nvSpPr>
          <p:spPr bwMode="auto">
            <a:xfrm flipH="1">
              <a:off x="4562" y="3070"/>
              <a:ext cx="450" cy="21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5086" name="Freeform 6"/>
            <p:cNvSpPr/>
            <p:nvPr/>
          </p:nvSpPr>
          <p:spPr bwMode="auto">
            <a:xfrm flipH="1">
              <a:off x="4562" y="3194"/>
              <a:ext cx="231" cy="2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061" name="Group 7"/>
          <p:cNvGrpSpPr/>
          <p:nvPr/>
        </p:nvGrpSpPr>
        <p:grpSpPr bwMode="auto">
          <a:xfrm>
            <a:off x="2424113" y="4676775"/>
            <a:ext cx="6251575" cy="1489075"/>
            <a:chOff x="567" y="3082"/>
            <a:chExt cx="3938" cy="938"/>
          </a:xfrm>
        </p:grpSpPr>
        <p:sp>
          <p:nvSpPr>
            <p:cNvPr id="45063" name="Rectangle 8"/>
            <p:cNvSpPr>
              <a:spLocks noChangeArrowheads="1"/>
            </p:cNvSpPr>
            <p:nvPr/>
          </p:nvSpPr>
          <p:spPr bwMode="auto">
            <a:xfrm flipH="1">
              <a:off x="567" y="3082"/>
              <a:ext cx="4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top: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4" name="Rectangle 9"/>
            <p:cNvSpPr>
              <a:spLocks noChangeArrowheads="1"/>
            </p:cNvSpPr>
            <p:nvPr/>
          </p:nvSpPr>
          <p:spPr bwMode="auto">
            <a:xfrm flipH="1">
              <a:off x="923" y="3134"/>
              <a:ext cx="425" cy="1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45065" name="Group 10"/>
            <p:cNvGrpSpPr/>
            <p:nvPr/>
          </p:nvGrpSpPr>
          <p:grpSpPr bwMode="auto">
            <a:xfrm flipH="1">
              <a:off x="4042" y="3377"/>
              <a:ext cx="463" cy="446"/>
              <a:chOff x="0" y="0"/>
              <a:chExt cx="20000" cy="20000"/>
            </a:xfrm>
          </p:grpSpPr>
          <p:sp>
            <p:nvSpPr>
              <p:cNvPr id="45082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3" name="Line 12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5066" name="Group 13"/>
            <p:cNvGrpSpPr/>
            <p:nvPr/>
          </p:nvGrpSpPr>
          <p:grpSpPr bwMode="auto">
            <a:xfrm flipH="1">
              <a:off x="3337" y="3373"/>
              <a:ext cx="462" cy="461"/>
              <a:chOff x="0" y="0"/>
              <a:chExt cx="20000" cy="20000"/>
            </a:xfrm>
          </p:grpSpPr>
          <p:sp>
            <p:nvSpPr>
              <p:cNvPr id="45080" name="Rectangle 1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1" name="Line 15"/>
              <p:cNvSpPr>
                <a:spLocks noChangeShapeType="1"/>
              </p:cNvSpPr>
              <p:nvPr/>
            </p:nvSpPr>
            <p:spPr bwMode="auto">
              <a:xfrm>
                <a:off x="557" y="1380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5067" name="Freeform 16"/>
            <p:cNvSpPr/>
            <p:nvPr/>
          </p:nvSpPr>
          <p:spPr bwMode="auto">
            <a:xfrm flipH="1">
              <a:off x="3592" y="3442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8" name="Freeform 17"/>
            <p:cNvSpPr/>
            <p:nvPr/>
          </p:nvSpPr>
          <p:spPr bwMode="auto">
            <a:xfrm flipH="1">
              <a:off x="2886" y="3442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9" name="Freeform 18"/>
            <p:cNvSpPr/>
            <p:nvPr/>
          </p:nvSpPr>
          <p:spPr bwMode="auto">
            <a:xfrm flipH="1">
              <a:off x="2309" y="3442"/>
              <a:ext cx="424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070" name="Group 19"/>
            <p:cNvGrpSpPr/>
            <p:nvPr/>
          </p:nvGrpSpPr>
          <p:grpSpPr bwMode="auto">
            <a:xfrm flipH="1">
              <a:off x="2066" y="3389"/>
              <a:ext cx="462" cy="455"/>
              <a:chOff x="0" y="0"/>
              <a:chExt cx="20000" cy="20000"/>
            </a:xfrm>
          </p:grpSpPr>
          <p:sp>
            <p:nvSpPr>
              <p:cNvPr id="45078" name="Rectangle 2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79" name="Line 21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5071" name="Group 22"/>
            <p:cNvGrpSpPr/>
            <p:nvPr/>
          </p:nvGrpSpPr>
          <p:grpSpPr bwMode="auto">
            <a:xfrm flipH="1">
              <a:off x="1360" y="3389"/>
              <a:ext cx="462" cy="455"/>
              <a:chOff x="0" y="0"/>
              <a:chExt cx="20000" cy="20000"/>
            </a:xfrm>
          </p:grpSpPr>
          <p:sp>
            <p:nvSpPr>
              <p:cNvPr id="45076" name="Rectangle 2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77" name="Line 24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5072" name="Freeform 25"/>
            <p:cNvSpPr/>
            <p:nvPr/>
          </p:nvSpPr>
          <p:spPr bwMode="auto">
            <a:xfrm flipH="1">
              <a:off x="1617" y="3442"/>
              <a:ext cx="423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3" name="Rectangle 26"/>
            <p:cNvSpPr>
              <a:spLocks noChangeArrowheads="1"/>
            </p:cNvSpPr>
            <p:nvPr/>
          </p:nvSpPr>
          <p:spPr bwMode="auto">
            <a:xfrm flipH="1">
              <a:off x="2669" y="3388"/>
              <a:ext cx="57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...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45074" name="Freeform 27"/>
            <p:cNvSpPr/>
            <p:nvPr/>
          </p:nvSpPr>
          <p:spPr bwMode="auto">
            <a:xfrm flipH="1">
              <a:off x="1115" y="3240"/>
              <a:ext cx="233" cy="2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5" name="Text Box 28"/>
            <p:cNvSpPr txBox="1">
              <a:spLocks noChangeArrowheads="1"/>
            </p:cNvSpPr>
            <p:nvPr/>
          </p:nvSpPr>
          <p:spPr bwMode="auto">
            <a:xfrm>
              <a:off x="4096" y="3449"/>
              <a:ext cx="402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</p:grpSp>
      <p:sp>
        <p:nvSpPr>
          <p:cNvPr id="45062" name="矩形 1"/>
          <p:cNvSpPr>
            <a:spLocks noChangeArrowheads="1"/>
          </p:cNvSpPr>
          <p:nvPr/>
        </p:nvSpPr>
        <p:spPr bwMode="auto">
          <a:xfrm>
            <a:off x="76200" y="261938"/>
            <a:ext cx="3662363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3600">
                <a:solidFill>
                  <a:schemeClr val="hlink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3600">
                <a:solidFill>
                  <a:schemeClr val="hlink"/>
                </a:solidFill>
                <a:latin typeface="宋体" panose="02010600030101010101" pitchFamily="2" charset="-122"/>
              </a:rPr>
              <a:t>创建单向链表</a:t>
            </a:r>
            <a:r>
              <a:rPr lang="en-US" altLang="zh-CN" sz="3600">
                <a:solidFill>
                  <a:schemeClr val="hlink"/>
                </a:solidFill>
                <a:latin typeface="宋体" panose="02010600030101010101" pitchFamily="2" charset="-122"/>
              </a:rPr>
              <a:t>:</a:t>
            </a:r>
            <a:endParaRPr lang="en-US" altLang="zh-CN" sz="360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695113" y="5967413"/>
            <a:ext cx="5334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5DA9BFC-93C1-4886-91D6-F59EF445F204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829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0" y="908050"/>
            <a:ext cx="7200900" cy="439261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设有声明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: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typedef  ...  items ; 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typedef  </a:t>
            </a:r>
            <a:r>
              <a:rPr lang="en-US" altLang="zh-CN" sz="2800" b="1" dirty="0">
                <a:solidFill>
                  <a:srgbClr val="99FF33"/>
                </a:solidFill>
                <a:effectLst/>
                <a:latin typeface="Arial" panose="020B0604020202020204" pitchFamily="34" charset="0"/>
              </a:rPr>
              <a:t>struct  </a:t>
            </a:r>
            <a:r>
              <a:rPr lang="en-US" altLang="zh-CN" sz="2800" b="1" dirty="0" err="1">
                <a:solidFill>
                  <a:srgbClr val="99FF33"/>
                </a:solidFill>
                <a:effectLst/>
                <a:latin typeface="Arial" panose="020B0604020202020204" pitchFamily="34" charset="0"/>
              </a:rPr>
              <a:t>stackcell</a:t>
            </a:r>
            <a:r>
              <a:rPr lang="en-US" altLang="zh-CN" sz="2800" b="1" dirty="0">
                <a:solidFill>
                  <a:srgbClr val="99FF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{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      items   data  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     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struct  </a:t>
            </a:r>
            <a:r>
              <a:rPr lang="en-US" altLang="zh-CN" sz="28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stackcell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   *</a:t>
            </a:r>
            <a:r>
              <a:rPr lang="en-US" altLang="zh-CN" sz="2800" b="1" dirty="0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predecessor 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} </a:t>
            </a:r>
            <a:r>
              <a:rPr lang="en-US" altLang="zh-CN" sz="2800" b="1" dirty="0" err="1">
                <a:solidFill>
                  <a:srgbClr val="99FF33"/>
                </a:solidFill>
                <a:effectLst/>
                <a:latin typeface="Arial" panose="020B0604020202020204" pitchFamily="34" charset="0"/>
              </a:rPr>
              <a:t>stackcelltype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typedef  </a:t>
            </a:r>
            <a:r>
              <a:rPr lang="en-US" altLang="zh-CN" sz="28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stackcelltype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 * </a:t>
            </a:r>
            <a:r>
              <a:rPr lang="en-US" altLang="zh-CN" sz="2800" b="1" dirty="0" err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pstacktype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</a:t>
            </a:r>
            <a:r>
              <a:rPr lang="en-US" altLang="zh-CN" sz="28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stackcelltype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 *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top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</a:t>
            </a:r>
            <a:r>
              <a:rPr lang="en-US" altLang="zh-CN" sz="2800" b="1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pstacktype</a:t>
            </a:r>
            <a:r>
              <a:rPr lang="en-US" altLang="zh-CN" sz="2800" b="1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 </a:t>
            </a:r>
            <a:r>
              <a:rPr lang="en-US" altLang="zh-CN" sz="2800" b="1" dirty="0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7677150" y="5457825"/>
            <a:ext cx="3744913" cy="1295400"/>
            <a:chOff x="158" y="1661"/>
            <a:chExt cx="2359" cy="816"/>
          </a:xfrm>
        </p:grpSpPr>
        <p:sp>
          <p:nvSpPr>
            <p:cNvPr id="47124" name="Rectangle 4"/>
            <p:cNvSpPr>
              <a:spLocks noChangeArrowheads="1"/>
            </p:cNvSpPr>
            <p:nvPr/>
          </p:nvSpPr>
          <p:spPr bwMode="auto">
            <a:xfrm>
              <a:off x="1519" y="1706"/>
              <a:ext cx="840" cy="5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7125" name="Line 5"/>
            <p:cNvSpPr>
              <a:spLocks noChangeShapeType="1"/>
            </p:cNvSpPr>
            <p:nvPr/>
          </p:nvSpPr>
          <p:spPr bwMode="auto">
            <a:xfrm>
              <a:off x="1519" y="2047"/>
              <a:ext cx="85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6" name="Freeform 6"/>
            <p:cNvSpPr/>
            <p:nvPr/>
          </p:nvSpPr>
          <p:spPr bwMode="auto">
            <a:xfrm>
              <a:off x="2096" y="2137"/>
              <a:ext cx="421" cy="3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0"/>
                  </a:moveTo>
                  <a:lnTo>
                    <a:pt x="19969" y="0"/>
                  </a:lnTo>
                  <a:lnTo>
                    <a:pt x="19969" y="19934"/>
                  </a:lnTo>
                  <a:lnTo>
                    <a:pt x="14977" y="199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7" name="Rectangle 7"/>
            <p:cNvSpPr>
              <a:spLocks noChangeArrowheads="1"/>
            </p:cNvSpPr>
            <p:nvPr/>
          </p:nvSpPr>
          <p:spPr bwMode="auto">
            <a:xfrm>
              <a:off x="158" y="1979"/>
              <a:ext cx="149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/>
                <a:t>predecessor</a:t>
              </a:r>
              <a:r>
                <a:rPr lang="zh-CN" altLang="en-US" sz="2400"/>
                <a:t>：</a:t>
              </a:r>
              <a:endParaRPr lang="zh-CN" altLang="en-US" sz="2400"/>
            </a:p>
          </p:txBody>
        </p:sp>
        <p:sp>
          <p:nvSpPr>
            <p:cNvPr id="47128" name="Text Box 8"/>
            <p:cNvSpPr txBox="1">
              <a:spLocks noChangeArrowheads="1"/>
            </p:cNvSpPr>
            <p:nvPr/>
          </p:nvSpPr>
          <p:spPr bwMode="auto">
            <a:xfrm>
              <a:off x="249" y="1661"/>
              <a:ext cx="10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400"/>
                <a:t>data:</a:t>
              </a:r>
              <a:endParaRPr lang="en-US" altLang="zh-CN" sz="2400"/>
            </a:p>
          </p:txBody>
        </p:sp>
      </p:grpSp>
      <p:sp>
        <p:nvSpPr>
          <p:cNvPr id="382985" name="Text Box 9"/>
          <p:cNvSpPr txBox="1">
            <a:spLocks noChangeArrowheads="1"/>
          </p:cNvSpPr>
          <p:nvPr/>
        </p:nvSpPr>
        <p:spPr bwMode="auto">
          <a:xfrm>
            <a:off x="7605713" y="4927600"/>
            <a:ext cx="1655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结点说明：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47110" name="Rectangle 10"/>
          <p:cNvSpPr>
            <a:spLocks noChangeArrowheads="1"/>
          </p:cNvSpPr>
          <p:nvPr/>
        </p:nvSpPr>
        <p:spPr bwMode="auto">
          <a:xfrm>
            <a:off x="0" y="14287"/>
            <a:ext cx="8635697" cy="4862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ct val="55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隶书" pitchFamily="49" charset="-122"/>
                <a:ea typeface="隶书" pitchFamily="49" charset="-122"/>
              </a:rPr>
              <a:t>(1)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向</a:t>
            </a:r>
            <a:r>
              <a:rPr lang="zh-CN" altLang="en-US" dirty="0">
                <a:solidFill>
                  <a:srgbClr val="F905F6"/>
                </a:solidFill>
                <a:latin typeface="隶书" pitchFamily="49" charset="-122"/>
                <a:ea typeface="隶书" pitchFamily="49" charset="-122"/>
              </a:rPr>
              <a:t>表头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加入数据的算法</a:t>
            </a:r>
            <a:r>
              <a:rPr lang="en-US" altLang="zh-CN" dirty="0">
                <a:solidFill>
                  <a:srgbClr val="F905F6"/>
                </a:solidFill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dirty="0">
                <a:solidFill>
                  <a:srgbClr val="F905F6"/>
                </a:solidFill>
                <a:latin typeface="隶书" pitchFamily="49" charset="-122"/>
                <a:ea typeface="隶书" pitchFamily="49" charset="-122"/>
              </a:rPr>
              <a:t>压栈算法、头插法</a:t>
            </a:r>
            <a:r>
              <a:rPr lang="en-US" altLang="zh-CN" dirty="0">
                <a:solidFill>
                  <a:srgbClr val="F905F6"/>
                </a:solidFill>
                <a:latin typeface="隶书" pitchFamily="49" charset="-122"/>
                <a:ea typeface="隶书" pitchFamily="49" charset="-122"/>
              </a:rPr>
              <a:t>)</a:t>
            </a:r>
            <a:endParaRPr lang="en-US" altLang="zh-CN" dirty="0">
              <a:solidFill>
                <a:srgbClr val="F905F6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3" name="Group 13"/>
          <p:cNvGrpSpPr/>
          <p:nvPr/>
        </p:nvGrpSpPr>
        <p:grpSpPr bwMode="auto">
          <a:xfrm>
            <a:off x="7605713" y="4742654"/>
            <a:ext cx="4572000" cy="2119313"/>
            <a:chOff x="2653" y="2840"/>
            <a:chExt cx="3107" cy="1480"/>
          </a:xfrm>
        </p:grpSpPr>
        <p:sp>
          <p:nvSpPr>
            <p:cNvPr id="47122" name="Line 11"/>
            <p:cNvSpPr>
              <a:spLocks noChangeShapeType="1"/>
            </p:cNvSpPr>
            <p:nvPr/>
          </p:nvSpPr>
          <p:spPr bwMode="auto">
            <a:xfrm>
              <a:off x="2653" y="2840"/>
              <a:ext cx="0" cy="1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23" name="Line 12"/>
            <p:cNvSpPr>
              <a:spLocks noChangeShapeType="1"/>
            </p:cNvSpPr>
            <p:nvPr/>
          </p:nvSpPr>
          <p:spPr bwMode="auto">
            <a:xfrm>
              <a:off x="2653" y="2840"/>
              <a:ext cx="31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22"/>
          <p:cNvGrpSpPr/>
          <p:nvPr/>
        </p:nvGrpSpPr>
        <p:grpSpPr bwMode="auto">
          <a:xfrm>
            <a:off x="1774825" y="1844675"/>
            <a:ext cx="6769100" cy="1871663"/>
            <a:chOff x="158" y="1162"/>
            <a:chExt cx="4264" cy="1179"/>
          </a:xfrm>
        </p:grpSpPr>
        <p:sp>
          <p:nvSpPr>
            <p:cNvPr id="47114" name="Line 14"/>
            <p:cNvSpPr>
              <a:spLocks noChangeShapeType="1"/>
            </p:cNvSpPr>
            <p:nvPr/>
          </p:nvSpPr>
          <p:spPr bwMode="auto">
            <a:xfrm>
              <a:off x="1247" y="1162"/>
              <a:ext cx="3130" cy="0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15" name="Line 15"/>
            <p:cNvSpPr>
              <a:spLocks noChangeShapeType="1"/>
            </p:cNvSpPr>
            <p:nvPr/>
          </p:nvSpPr>
          <p:spPr bwMode="auto">
            <a:xfrm flipH="1">
              <a:off x="1202" y="1162"/>
              <a:ext cx="45" cy="318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16" name="Line 16"/>
            <p:cNvSpPr>
              <a:spLocks noChangeShapeType="1"/>
            </p:cNvSpPr>
            <p:nvPr/>
          </p:nvSpPr>
          <p:spPr bwMode="auto">
            <a:xfrm flipH="1">
              <a:off x="477" y="1480"/>
              <a:ext cx="725" cy="0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17" name="Line 17"/>
            <p:cNvSpPr>
              <a:spLocks noChangeShapeType="1"/>
            </p:cNvSpPr>
            <p:nvPr/>
          </p:nvSpPr>
          <p:spPr bwMode="auto">
            <a:xfrm flipH="1">
              <a:off x="158" y="1480"/>
              <a:ext cx="318" cy="861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18" name="Line 18"/>
            <p:cNvSpPr>
              <a:spLocks noChangeShapeType="1"/>
            </p:cNvSpPr>
            <p:nvPr/>
          </p:nvSpPr>
          <p:spPr bwMode="auto">
            <a:xfrm>
              <a:off x="158" y="2341"/>
              <a:ext cx="273" cy="0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19" name="Line 19"/>
            <p:cNvSpPr>
              <a:spLocks noChangeShapeType="1"/>
            </p:cNvSpPr>
            <p:nvPr/>
          </p:nvSpPr>
          <p:spPr bwMode="auto">
            <a:xfrm flipV="1">
              <a:off x="431" y="2069"/>
              <a:ext cx="0" cy="272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20" name="Line 20"/>
            <p:cNvSpPr>
              <a:spLocks noChangeShapeType="1"/>
            </p:cNvSpPr>
            <p:nvPr/>
          </p:nvSpPr>
          <p:spPr bwMode="auto">
            <a:xfrm>
              <a:off x="431" y="2069"/>
              <a:ext cx="3991" cy="0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21" name="Line 21"/>
            <p:cNvSpPr>
              <a:spLocks noChangeShapeType="1"/>
            </p:cNvSpPr>
            <p:nvPr/>
          </p:nvSpPr>
          <p:spPr bwMode="auto">
            <a:xfrm>
              <a:off x="4422" y="1162"/>
              <a:ext cx="0" cy="907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82999" name="Rectangle 23"/>
          <p:cNvSpPr>
            <a:spLocks noChangeArrowheads="1"/>
          </p:cNvSpPr>
          <p:nvPr/>
        </p:nvSpPr>
        <p:spPr bwMode="auto">
          <a:xfrm>
            <a:off x="3432175" y="3716338"/>
            <a:ext cx="2663825" cy="576262"/>
          </a:xfrm>
          <a:prstGeom prst="rect">
            <a:avLst/>
          </a:prstGeom>
          <a:noFill/>
          <a:ln w="38100">
            <a:solidFill>
              <a:srgbClr val="F905F6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82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8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82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82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5" grpId="0"/>
      <p:bldP spid="382999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747500" y="5943600"/>
            <a:ext cx="41751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BFE81FF-56EB-424A-9319-B1C37E4FEFF4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9155" name="Rectangle 2"/>
          <p:cNvSpPr>
            <a:spLocks noChangeArrowheads="1"/>
          </p:cNvSpPr>
          <p:nvPr/>
        </p:nvSpPr>
        <p:spPr bwMode="auto">
          <a:xfrm>
            <a:off x="10650538" y="3152775"/>
            <a:ext cx="915987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... ...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9156" name="Rectangle 3"/>
          <p:cNvSpPr>
            <a:spLocks noChangeArrowheads="1"/>
          </p:cNvSpPr>
          <p:nvPr/>
        </p:nvSpPr>
        <p:spPr bwMode="auto">
          <a:xfrm>
            <a:off x="10866438" y="5673725"/>
            <a:ext cx="41592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pSp>
        <p:nvGrpSpPr>
          <p:cNvPr id="49157" name="Group 4"/>
          <p:cNvGrpSpPr/>
          <p:nvPr/>
        </p:nvGrpSpPr>
        <p:grpSpPr bwMode="auto">
          <a:xfrm>
            <a:off x="10361613" y="1352550"/>
            <a:ext cx="1584325" cy="1079500"/>
            <a:chOff x="0" y="0"/>
            <a:chExt cx="20002" cy="20001"/>
          </a:xfrm>
        </p:grpSpPr>
        <p:sp>
          <p:nvSpPr>
            <p:cNvPr id="4920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6845" cy="135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9206" name="Line 6"/>
            <p:cNvSpPr>
              <a:spLocks noChangeShapeType="1"/>
            </p:cNvSpPr>
            <p:nvPr/>
          </p:nvSpPr>
          <p:spPr bwMode="auto">
            <a:xfrm>
              <a:off x="0" y="8843"/>
              <a:ext cx="17109" cy="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7" name="Freeform 7"/>
            <p:cNvSpPr/>
            <p:nvPr/>
          </p:nvSpPr>
          <p:spPr bwMode="auto">
            <a:xfrm>
              <a:off x="11572" y="11186"/>
              <a:ext cx="8430" cy="88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0"/>
                  </a:moveTo>
                  <a:lnTo>
                    <a:pt x="19969" y="0"/>
                  </a:lnTo>
                  <a:lnTo>
                    <a:pt x="19969" y="19934"/>
                  </a:lnTo>
                  <a:lnTo>
                    <a:pt x="14977" y="199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58" name="Group 8"/>
          <p:cNvGrpSpPr/>
          <p:nvPr/>
        </p:nvGrpSpPr>
        <p:grpSpPr bwMode="auto">
          <a:xfrm>
            <a:off x="10361613" y="4089400"/>
            <a:ext cx="1584325" cy="1223963"/>
            <a:chOff x="0" y="0"/>
            <a:chExt cx="20000" cy="20000"/>
          </a:xfrm>
        </p:grpSpPr>
        <p:sp>
          <p:nvSpPr>
            <p:cNvPr id="49202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16845" cy="135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9203" name="Line 10"/>
            <p:cNvSpPr>
              <a:spLocks noChangeShapeType="1"/>
            </p:cNvSpPr>
            <p:nvPr/>
          </p:nvSpPr>
          <p:spPr bwMode="auto">
            <a:xfrm>
              <a:off x="0" y="8844"/>
              <a:ext cx="17107" cy="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04" name="Freeform 11"/>
            <p:cNvSpPr/>
            <p:nvPr/>
          </p:nvSpPr>
          <p:spPr bwMode="auto">
            <a:xfrm>
              <a:off x="11571" y="11188"/>
              <a:ext cx="8429" cy="88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0"/>
                  </a:moveTo>
                  <a:lnTo>
                    <a:pt x="19969" y="0"/>
                  </a:lnTo>
                  <a:lnTo>
                    <a:pt x="19969" y="19934"/>
                  </a:lnTo>
                  <a:lnTo>
                    <a:pt x="14977" y="199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59" name="Freeform 12"/>
          <p:cNvSpPr/>
          <p:nvPr/>
        </p:nvSpPr>
        <p:spPr bwMode="auto">
          <a:xfrm>
            <a:off x="11298238" y="3873500"/>
            <a:ext cx="647700" cy="431800"/>
          </a:xfrm>
          <a:custGeom>
            <a:avLst/>
            <a:gdLst>
              <a:gd name="T0" fmla="*/ 0 w 20000"/>
              <a:gd name="T1" fmla="*/ 0 h 20000"/>
              <a:gd name="T2" fmla="*/ 2147483646 w 20000"/>
              <a:gd name="T3" fmla="*/ 0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19966" y="0"/>
                </a:lnTo>
                <a:lnTo>
                  <a:pt x="19966" y="19938"/>
                </a:lnTo>
                <a:lnTo>
                  <a:pt x="14458" y="1993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0" name="Rectangle 13"/>
          <p:cNvSpPr>
            <a:spLocks noChangeArrowheads="1"/>
          </p:cNvSpPr>
          <p:nvPr/>
        </p:nvSpPr>
        <p:spPr bwMode="auto">
          <a:xfrm>
            <a:off x="10361613" y="5168900"/>
            <a:ext cx="1331912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9161" name="Line 14"/>
          <p:cNvSpPr>
            <a:spLocks noChangeShapeType="1"/>
          </p:cNvSpPr>
          <p:nvPr/>
        </p:nvSpPr>
        <p:spPr bwMode="auto">
          <a:xfrm>
            <a:off x="10361613" y="5673725"/>
            <a:ext cx="13525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5"/>
          <p:cNvGrpSpPr/>
          <p:nvPr/>
        </p:nvGrpSpPr>
        <p:grpSpPr bwMode="auto">
          <a:xfrm>
            <a:off x="8274050" y="1352550"/>
            <a:ext cx="2106613" cy="295275"/>
            <a:chOff x="1247" y="936"/>
            <a:chExt cx="1327" cy="186"/>
          </a:xfrm>
        </p:grpSpPr>
        <p:sp>
          <p:nvSpPr>
            <p:cNvPr id="49199" name="Rectangle 16"/>
            <p:cNvSpPr>
              <a:spLocks noChangeArrowheads="1"/>
            </p:cNvSpPr>
            <p:nvPr/>
          </p:nvSpPr>
          <p:spPr bwMode="auto">
            <a:xfrm>
              <a:off x="1247" y="936"/>
              <a:ext cx="517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9200" name="Rectangle 17"/>
            <p:cNvSpPr>
              <a:spLocks noChangeArrowheads="1"/>
            </p:cNvSpPr>
            <p:nvPr/>
          </p:nvSpPr>
          <p:spPr bwMode="auto">
            <a:xfrm>
              <a:off x="1837" y="936"/>
              <a:ext cx="496" cy="18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9201" name="Line 18"/>
            <p:cNvSpPr>
              <a:spLocks noChangeShapeType="1"/>
            </p:cNvSpPr>
            <p:nvPr/>
          </p:nvSpPr>
          <p:spPr bwMode="auto">
            <a:xfrm>
              <a:off x="2154" y="1027"/>
              <a:ext cx="4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63" name="Text Box 19"/>
          <p:cNvSpPr txBox="1">
            <a:spLocks noChangeArrowheads="1"/>
          </p:cNvSpPr>
          <p:nvPr/>
        </p:nvSpPr>
        <p:spPr bwMode="auto">
          <a:xfrm>
            <a:off x="9613900" y="6424613"/>
            <a:ext cx="2397125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链表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49164" name="Group 20"/>
          <p:cNvGrpSpPr/>
          <p:nvPr/>
        </p:nvGrpSpPr>
        <p:grpSpPr bwMode="auto">
          <a:xfrm>
            <a:off x="10361613" y="2289175"/>
            <a:ext cx="1584325" cy="1223963"/>
            <a:chOff x="0" y="0"/>
            <a:chExt cx="20002" cy="20001"/>
          </a:xfrm>
        </p:grpSpPr>
        <p:sp>
          <p:nvSpPr>
            <p:cNvPr id="49196" name="Rectangle 21"/>
            <p:cNvSpPr>
              <a:spLocks noChangeArrowheads="1"/>
            </p:cNvSpPr>
            <p:nvPr/>
          </p:nvSpPr>
          <p:spPr bwMode="auto">
            <a:xfrm>
              <a:off x="0" y="0"/>
              <a:ext cx="16845" cy="135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9197" name="Line 22"/>
            <p:cNvSpPr>
              <a:spLocks noChangeShapeType="1"/>
            </p:cNvSpPr>
            <p:nvPr/>
          </p:nvSpPr>
          <p:spPr bwMode="auto">
            <a:xfrm>
              <a:off x="0" y="8843"/>
              <a:ext cx="17109" cy="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8" name="Freeform 23"/>
            <p:cNvSpPr/>
            <p:nvPr/>
          </p:nvSpPr>
          <p:spPr bwMode="auto">
            <a:xfrm>
              <a:off x="11572" y="11186"/>
              <a:ext cx="8430" cy="88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0"/>
                  </a:moveTo>
                  <a:lnTo>
                    <a:pt x="19969" y="0"/>
                  </a:lnTo>
                  <a:lnTo>
                    <a:pt x="19969" y="19934"/>
                  </a:lnTo>
                  <a:lnTo>
                    <a:pt x="14977" y="199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5048" name="Freeform 24"/>
          <p:cNvSpPr/>
          <p:nvPr/>
        </p:nvSpPr>
        <p:spPr bwMode="auto">
          <a:xfrm>
            <a:off x="11277600" y="992188"/>
            <a:ext cx="668338" cy="476250"/>
          </a:xfrm>
          <a:custGeom>
            <a:avLst/>
            <a:gdLst>
              <a:gd name="T0" fmla="*/ 0 w 20000"/>
              <a:gd name="T1" fmla="*/ 0 h 20000"/>
              <a:gd name="T2" fmla="*/ 2147483646 w 20000"/>
              <a:gd name="T3" fmla="*/ 0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19969" y="0"/>
                </a:lnTo>
                <a:lnTo>
                  <a:pt x="19969" y="19934"/>
                </a:lnTo>
                <a:lnTo>
                  <a:pt x="14977" y="19934"/>
                </a:lnTo>
              </a:path>
            </a:pathLst>
          </a:custGeom>
          <a:noFill/>
          <a:ln w="9525">
            <a:solidFill>
              <a:srgbClr val="F905F6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25"/>
          <p:cNvGrpSpPr/>
          <p:nvPr/>
        </p:nvGrpSpPr>
        <p:grpSpPr bwMode="auto">
          <a:xfrm>
            <a:off x="8255000" y="342900"/>
            <a:ext cx="2106613" cy="504825"/>
            <a:chOff x="1235" y="300"/>
            <a:chExt cx="1327" cy="318"/>
          </a:xfrm>
        </p:grpSpPr>
        <p:sp>
          <p:nvSpPr>
            <p:cNvPr id="49193" name="Rectangle 26"/>
            <p:cNvSpPr>
              <a:spLocks noChangeArrowheads="1"/>
            </p:cNvSpPr>
            <p:nvPr/>
          </p:nvSpPr>
          <p:spPr bwMode="auto">
            <a:xfrm>
              <a:off x="1235" y="300"/>
              <a:ext cx="517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9194" name="Rectangle 27"/>
            <p:cNvSpPr>
              <a:spLocks noChangeArrowheads="1"/>
            </p:cNvSpPr>
            <p:nvPr/>
          </p:nvSpPr>
          <p:spPr bwMode="auto">
            <a:xfrm>
              <a:off x="1825" y="432"/>
              <a:ext cx="496" cy="18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9195" name="Line 28"/>
            <p:cNvSpPr>
              <a:spLocks noChangeShapeType="1"/>
            </p:cNvSpPr>
            <p:nvPr/>
          </p:nvSpPr>
          <p:spPr bwMode="auto">
            <a:xfrm>
              <a:off x="2142" y="523"/>
              <a:ext cx="4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9"/>
          <p:cNvGrpSpPr/>
          <p:nvPr/>
        </p:nvGrpSpPr>
        <p:grpSpPr bwMode="auto">
          <a:xfrm>
            <a:off x="9571038" y="55563"/>
            <a:ext cx="2146300" cy="1017587"/>
            <a:chOff x="2064" y="119"/>
            <a:chExt cx="1352" cy="641"/>
          </a:xfrm>
        </p:grpSpPr>
        <p:sp>
          <p:nvSpPr>
            <p:cNvPr id="49189" name="Rectangle 30"/>
            <p:cNvSpPr>
              <a:spLocks noChangeArrowheads="1"/>
            </p:cNvSpPr>
            <p:nvPr/>
          </p:nvSpPr>
          <p:spPr bwMode="auto">
            <a:xfrm>
              <a:off x="2562" y="300"/>
              <a:ext cx="840" cy="4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9190" name="Line 31"/>
            <p:cNvSpPr>
              <a:spLocks noChangeShapeType="1"/>
            </p:cNvSpPr>
            <p:nvPr/>
          </p:nvSpPr>
          <p:spPr bwMode="auto">
            <a:xfrm>
              <a:off x="2562" y="572"/>
              <a:ext cx="85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1" name="Text Box 32"/>
            <p:cNvSpPr txBox="1">
              <a:spLocks noChangeArrowheads="1"/>
            </p:cNvSpPr>
            <p:nvPr/>
          </p:nvSpPr>
          <p:spPr bwMode="auto">
            <a:xfrm>
              <a:off x="2064" y="119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F905F6"/>
                  </a:solidFill>
                </a:rPr>
                <a:t>p:</a:t>
              </a:r>
              <a:endParaRPr lang="en-US" altLang="zh-CN" sz="2400">
                <a:solidFill>
                  <a:srgbClr val="F905F6"/>
                </a:solidFill>
              </a:endParaRPr>
            </a:p>
          </p:txBody>
        </p:sp>
        <p:sp>
          <p:nvSpPr>
            <p:cNvPr id="49192" name="Line 33"/>
            <p:cNvSpPr>
              <a:spLocks noChangeShapeType="1"/>
            </p:cNvSpPr>
            <p:nvPr/>
          </p:nvSpPr>
          <p:spPr bwMode="auto">
            <a:xfrm>
              <a:off x="2154" y="391"/>
              <a:ext cx="4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68" name="Group 34"/>
          <p:cNvGrpSpPr/>
          <p:nvPr/>
        </p:nvGrpSpPr>
        <p:grpSpPr bwMode="auto">
          <a:xfrm>
            <a:off x="823913" y="765175"/>
            <a:ext cx="3744912" cy="1295400"/>
            <a:chOff x="158" y="1661"/>
            <a:chExt cx="2359" cy="816"/>
          </a:xfrm>
        </p:grpSpPr>
        <p:sp>
          <p:nvSpPr>
            <p:cNvPr id="49184" name="Rectangle 35"/>
            <p:cNvSpPr>
              <a:spLocks noChangeArrowheads="1"/>
            </p:cNvSpPr>
            <p:nvPr/>
          </p:nvSpPr>
          <p:spPr bwMode="auto">
            <a:xfrm>
              <a:off x="1519" y="1706"/>
              <a:ext cx="840" cy="5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9185" name="Line 36"/>
            <p:cNvSpPr>
              <a:spLocks noChangeShapeType="1"/>
            </p:cNvSpPr>
            <p:nvPr/>
          </p:nvSpPr>
          <p:spPr bwMode="auto">
            <a:xfrm>
              <a:off x="1519" y="2047"/>
              <a:ext cx="85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6" name="Freeform 37"/>
            <p:cNvSpPr/>
            <p:nvPr/>
          </p:nvSpPr>
          <p:spPr bwMode="auto">
            <a:xfrm>
              <a:off x="2096" y="2137"/>
              <a:ext cx="421" cy="3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0"/>
                  </a:moveTo>
                  <a:lnTo>
                    <a:pt x="19969" y="0"/>
                  </a:lnTo>
                  <a:lnTo>
                    <a:pt x="19969" y="19934"/>
                  </a:lnTo>
                  <a:lnTo>
                    <a:pt x="14977" y="199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7" name="Rectangle 38"/>
            <p:cNvSpPr>
              <a:spLocks noChangeArrowheads="1"/>
            </p:cNvSpPr>
            <p:nvPr/>
          </p:nvSpPr>
          <p:spPr bwMode="auto">
            <a:xfrm>
              <a:off x="158" y="1979"/>
              <a:ext cx="149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/>
                <a:t>predecessor</a:t>
              </a:r>
              <a:r>
                <a:rPr lang="zh-CN" altLang="en-US" sz="2400"/>
                <a:t>：</a:t>
              </a:r>
              <a:endParaRPr lang="zh-CN" altLang="en-US" sz="2400"/>
            </a:p>
          </p:txBody>
        </p:sp>
        <p:sp>
          <p:nvSpPr>
            <p:cNvPr id="49188" name="Text Box 39"/>
            <p:cNvSpPr txBox="1">
              <a:spLocks noChangeArrowheads="1"/>
            </p:cNvSpPr>
            <p:nvPr/>
          </p:nvSpPr>
          <p:spPr bwMode="auto">
            <a:xfrm>
              <a:off x="249" y="1661"/>
              <a:ext cx="10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400"/>
                <a:t>data:</a:t>
              </a:r>
              <a:endParaRPr lang="en-US" altLang="zh-CN" sz="2400"/>
            </a:p>
          </p:txBody>
        </p:sp>
      </p:grpSp>
      <p:sp>
        <p:nvSpPr>
          <p:cNvPr id="49169" name="Text Box 40"/>
          <p:cNvSpPr txBox="1">
            <a:spLocks noChangeArrowheads="1"/>
          </p:cNvSpPr>
          <p:nvPr/>
        </p:nvSpPr>
        <p:spPr bwMode="auto">
          <a:xfrm>
            <a:off x="752475" y="260350"/>
            <a:ext cx="1655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结点说明：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385065" name="Rectangle 41"/>
          <p:cNvSpPr>
            <a:spLocks noChangeArrowheads="1"/>
          </p:cNvSpPr>
          <p:nvPr/>
        </p:nvSpPr>
        <p:spPr bwMode="auto">
          <a:xfrm>
            <a:off x="474663" y="3729038"/>
            <a:ext cx="78994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void push(items x)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{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		p = (</a:t>
            </a:r>
            <a:r>
              <a:rPr lang="en-US" altLang="zh-CN" sz="2400" dirty="0" err="1">
                <a:solidFill>
                  <a:schemeClr val="hlink"/>
                </a:solidFill>
                <a:latin typeface="Arial" panose="020B0604020202020204" pitchFamily="34" charset="0"/>
              </a:rPr>
              <a:t>pstacktype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dirty="0">
                <a:latin typeface="Arial" panose="020B0604020202020204" pitchFamily="34" charset="0"/>
              </a:rPr>
              <a:t>malloc(</a:t>
            </a:r>
            <a:r>
              <a:rPr lang="en-US" altLang="zh-CN" sz="2400" dirty="0" err="1">
                <a:solidFill>
                  <a:schemeClr val="hlink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dirty="0" err="1">
                <a:solidFill>
                  <a:schemeClr val="hlink"/>
                </a:solidFill>
                <a:latin typeface="Arial" panose="020B0604020202020204" pitchFamily="34" charset="0"/>
              </a:rPr>
              <a:t>stackcelltype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dirty="0">
                <a:latin typeface="Arial" panose="020B0604020202020204" pitchFamily="34" charset="0"/>
              </a:rPr>
              <a:t>)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;</a:t>
            </a:r>
            <a:endParaRPr lang="en-US" altLang="zh-CN" sz="24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		</a:t>
            </a:r>
            <a:r>
              <a:rPr lang="en-US" altLang="zh-CN" sz="2800" dirty="0">
                <a:solidFill>
                  <a:srgbClr val="F905F6"/>
                </a:solidFill>
                <a:latin typeface="Arial" panose="020B0604020202020204" pitchFamily="34" charset="0"/>
              </a:rPr>
              <a:t>p-&gt;data = x ;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数据域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905F6"/>
                </a:solidFill>
                <a:latin typeface="Arial" panose="020B0604020202020204" pitchFamily="34" charset="0"/>
              </a:rPr>
              <a:t>	p-&gt;predecessor=top ;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指针域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top = p;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修正表头（链首）指针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49171" name="Rectangle 42"/>
          <p:cNvSpPr>
            <a:spLocks noChangeArrowheads="1"/>
          </p:cNvSpPr>
          <p:nvPr/>
        </p:nvSpPr>
        <p:spPr bwMode="auto">
          <a:xfrm>
            <a:off x="0" y="2598738"/>
            <a:ext cx="7213600" cy="4492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ct val="55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9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(1)</a:t>
            </a:r>
            <a:r>
              <a:rPr lang="zh-CN" altLang="en-US" sz="29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向</a:t>
            </a:r>
            <a:r>
              <a:rPr lang="zh-CN" altLang="en-US" sz="2900">
                <a:solidFill>
                  <a:srgbClr val="F905F6"/>
                </a:solidFill>
                <a:latin typeface="隶书" pitchFamily="49" charset="-122"/>
                <a:ea typeface="隶书" pitchFamily="49" charset="-122"/>
              </a:rPr>
              <a:t>表头</a:t>
            </a:r>
            <a:r>
              <a:rPr lang="zh-CN" altLang="en-US" sz="29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加入数据的算法</a:t>
            </a:r>
            <a:r>
              <a:rPr lang="en-US" altLang="zh-CN" sz="2900">
                <a:solidFill>
                  <a:srgbClr val="F905F6"/>
                </a:solidFill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sz="2900">
                <a:solidFill>
                  <a:srgbClr val="F905F6"/>
                </a:solidFill>
                <a:latin typeface="隶书" pitchFamily="49" charset="-122"/>
                <a:ea typeface="隶书" pitchFamily="49" charset="-122"/>
              </a:rPr>
              <a:t>压栈算法</a:t>
            </a:r>
            <a:r>
              <a:rPr lang="en-US" altLang="zh-CN" sz="2900">
                <a:solidFill>
                  <a:srgbClr val="F905F6"/>
                </a:solidFill>
                <a:latin typeface="隶书" pitchFamily="49" charset="-122"/>
                <a:ea typeface="隶书" pitchFamily="49" charset="-122"/>
              </a:rPr>
              <a:t>)</a:t>
            </a:r>
            <a:r>
              <a:rPr lang="zh-CN" altLang="en-US" sz="29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如下：</a:t>
            </a:r>
            <a:endParaRPr lang="zh-CN" altLang="en-US" sz="2900">
              <a:solidFill>
                <a:schemeClr val="hlink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49172" name="Group 45"/>
          <p:cNvGrpSpPr/>
          <p:nvPr/>
        </p:nvGrpSpPr>
        <p:grpSpPr bwMode="auto">
          <a:xfrm>
            <a:off x="141288" y="0"/>
            <a:ext cx="4932362" cy="2420938"/>
            <a:chOff x="0" y="0"/>
            <a:chExt cx="3107" cy="1525"/>
          </a:xfrm>
        </p:grpSpPr>
        <p:sp>
          <p:nvSpPr>
            <p:cNvPr id="49182" name="Line 43"/>
            <p:cNvSpPr>
              <a:spLocks noChangeShapeType="1"/>
            </p:cNvSpPr>
            <p:nvPr/>
          </p:nvSpPr>
          <p:spPr bwMode="auto">
            <a:xfrm>
              <a:off x="0" y="1525"/>
              <a:ext cx="31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83" name="Line 44"/>
            <p:cNvSpPr>
              <a:spLocks noChangeShapeType="1"/>
            </p:cNvSpPr>
            <p:nvPr/>
          </p:nvSpPr>
          <p:spPr bwMode="auto">
            <a:xfrm flipV="1">
              <a:off x="3107" y="0"/>
              <a:ext cx="0" cy="1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85070" name="Text Box 46"/>
          <p:cNvSpPr txBox="1">
            <a:spLocks noChangeArrowheads="1"/>
          </p:cNvSpPr>
          <p:nvPr/>
        </p:nvSpPr>
        <p:spPr bwMode="auto">
          <a:xfrm>
            <a:off x="10815638" y="342900"/>
            <a:ext cx="64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13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</a:endParaRPr>
          </a:p>
        </p:txBody>
      </p:sp>
      <p:sp>
        <p:nvSpPr>
          <p:cNvPr id="49174" name="Text Box 47"/>
          <p:cNvSpPr txBox="1">
            <a:spLocks noChangeArrowheads="1"/>
          </p:cNvSpPr>
          <p:nvPr/>
        </p:nvSpPr>
        <p:spPr bwMode="auto">
          <a:xfrm>
            <a:off x="1524000" y="6400800"/>
            <a:ext cx="255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9175" name="Text Box 48"/>
          <p:cNvSpPr txBox="1">
            <a:spLocks noChangeArrowheads="1"/>
          </p:cNvSpPr>
          <p:nvPr/>
        </p:nvSpPr>
        <p:spPr bwMode="auto">
          <a:xfrm>
            <a:off x="66675" y="2974975"/>
            <a:ext cx="5543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>
                <a:solidFill>
                  <a:srgbClr val="F905F6"/>
                </a:solidFill>
                <a:latin typeface="Arial" panose="020B0604020202020204" pitchFamily="34" charset="0"/>
                <a:ea typeface="隶书" pitchFamily="49" charset="-122"/>
              </a:rPr>
              <a:t>考虑当链表不为空时</a:t>
            </a:r>
            <a:endParaRPr lang="zh-CN" altLang="en-US">
              <a:solidFill>
                <a:srgbClr val="F905F6"/>
              </a:solidFill>
              <a:latin typeface="Arial" panose="020B0604020202020204" pitchFamily="34" charset="0"/>
              <a:ea typeface="隶书" pitchFamily="49" charset="-122"/>
            </a:endParaRPr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1339850" y="4622800"/>
            <a:ext cx="6669088" cy="1192213"/>
          </a:xfrm>
          <a:prstGeom prst="rect">
            <a:avLst/>
          </a:prstGeom>
          <a:noFill/>
          <a:ln w="47625" algn="ctr">
            <a:solidFill>
              <a:srgbClr val="F905F6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1338263" y="5892800"/>
            <a:ext cx="5538787" cy="400050"/>
          </a:xfrm>
          <a:prstGeom prst="rect">
            <a:avLst/>
          </a:prstGeom>
          <a:noFill/>
          <a:ln w="47625" algn="ctr">
            <a:solidFill>
              <a:schemeClr val="accent2">
                <a:lumMod val="60000"/>
                <a:lumOff val="40000"/>
              </a:schemeClr>
            </a:solidFill>
            <a:prstDash val="sysDot"/>
            <a:rou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6" name="椭圆形标注 55"/>
          <p:cNvSpPr>
            <a:spLocks noChangeArrowheads="1"/>
          </p:cNvSpPr>
          <p:nvPr/>
        </p:nvSpPr>
        <p:spPr bwMode="auto">
          <a:xfrm>
            <a:off x="4652963" y="6400800"/>
            <a:ext cx="2090737" cy="457200"/>
          </a:xfrm>
          <a:prstGeom prst="wedgeEllipseCallout">
            <a:avLst>
              <a:gd name="adj1" fmla="val -65843"/>
              <a:gd name="adj2" fmla="val -7829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完善链表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3" name="椭圆形标注 52"/>
          <p:cNvSpPr>
            <a:spLocks noChangeArrowheads="1"/>
          </p:cNvSpPr>
          <p:nvPr/>
        </p:nvSpPr>
        <p:spPr bwMode="auto">
          <a:xfrm>
            <a:off x="7591425" y="5349875"/>
            <a:ext cx="1928813" cy="647700"/>
          </a:xfrm>
          <a:prstGeom prst="wedgeEllipseCallout">
            <a:avLst>
              <a:gd name="adj1" fmla="val -98537"/>
              <a:gd name="adj2" fmla="val -1868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加入链表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2" name="椭圆形标注 51"/>
          <p:cNvSpPr>
            <a:spLocks noChangeArrowheads="1"/>
          </p:cNvSpPr>
          <p:nvPr/>
        </p:nvSpPr>
        <p:spPr bwMode="auto">
          <a:xfrm>
            <a:off x="5616575" y="3759200"/>
            <a:ext cx="1928813" cy="649288"/>
          </a:xfrm>
          <a:prstGeom prst="wedgeEllipseCallout">
            <a:avLst>
              <a:gd name="adj1" fmla="val -93687"/>
              <a:gd name="adj2" fmla="val 10931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创建新结点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8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850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850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850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70" grpId="0"/>
      <p:bldP spid="52" grpId="0" bldLvl="0" animBg="1"/>
      <p:bldP spid="54" grpId="0" bldLvl="0" animBg="1"/>
      <p:bldP spid="55" grpId="0" animBg="1"/>
      <p:bldP spid="56" grpId="0" animBg="1"/>
      <p:bldP spid="5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FA0D46D-CD08-49BA-95BE-CA25DBF2A845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49585" name="Text Box 49"/>
          <p:cNvSpPr txBox="1">
            <a:spLocks noChangeArrowheads="1"/>
          </p:cNvSpPr>
          <p:nvPr/>
        </p:nvSpPr>
        <p:spPr bwMode="auto">
          <a:xfrm>
            <a:off x="8080375" y="1339850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49552" name="Rectangle 16"/>
          <p:cNvSpPr>
            <a:spLocks noChangeArrowheads="1"/>
          </p:cNvSpPr>
          <p:nvPr/>
        </p:nvSpPr>
        <p:spPr bwMode="auto">
          <a:xfrm>
            <a:off x="7123113" y="1412875"/>
            <a:ext cx="8207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top: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49553" name="Rectangle 17"/>
          <p:cNvSpPr>
            <a:spLocks noChangeArrowheads="1"/>
          </p:cNvSpPr>
          <p:nvPr/>
        </p:nvSpPr>
        <p:spPr bwMode="auto">
          <a:xfrm>
            <a:off x="8059738" y="1412875"/>
            <a:ext cx="787400" cy="295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2" name="Group 25"/>
          <p:cNvGrpSpPr/>
          <p:nvPr/>
        </p:nvGrpSpPr>
        <p:grpSpPr bwMode="auto">
          <a:xfrm>
            <a:off x="7104063" y="403225"/>
            <a:ext cx="2106612" cy="504825"/>
            <a:chOff x="1235" y="300"/>
            <a:chExt cx="1327" cy="318"/>
          </a:xfrm>
        </p:grpSpPr>
        <p:sp>
          <p:nvSpPr>
            <p:cNvPr id="50203" name="Rectangle 26"/>
            <p:cNvSpPr>
              <a:spLocks noChangeArrowheads="1"/>
            </p:cNvSpPr>
            <p:nvPr/>
          </p:nvSpPr>
          <p:spPr bwMode="auto">
            <a:xfrm>
              <a:off x="1235" y="300"/>
              <a:ext cx="517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0204" name="Rectangle 27"/>
            <p:cNvSpPr>
              <a:spLocks noChangeArrowheads="1"/>
            </p:cNvSpPr>
            <p:nvPr/>
          </p:nvSpPr>
          <p:spPr bwMode="auto">
            <a:xfrm>
              <a:off x="1825" y="432"/>
              <a:ext cx="496" cy="18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0205" name="Line 28"/>
            <p:cNvSpPr>
              <a:spLocks noChangeShapeType="1"/>
            </p:cNvSpPr>
            <p:nvPr/>
          </p:nvSpPr>
          <p:spPr bwMode="auto">
            <a:xfrm>
              <a:off x="2142" y="523"/>
              <a:ext cx="4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9"/>
          <p:cNvGrpSpPr/>
          <p:nvPr/>
        </p:nvGrpSpPr>
        <p:grpSpPr bwMode="auto">
          <a:xfrm>
            <a:off x="8420100" y="115888"/>
            <a:ext cx="2146300" cy="1017587"/>
            <a:chOff x="2064" y="119"/>
            <a:chExt cx="1352" cy="641"/>
          </a:xfrm>
        </p:grpSpPr>
        <p:sp>
          <p:nvSpPr>
            <p:cNvPr id="50199" name="Rectangle 30"/>
            <p:cNvSpPr>
              <a:spLocks noChangeArrowheads="1"/>
            </p:cNvSpPr>
            <p:nvPr/>
          </p:nvSpPr>
          <p:spPr bwMode="auto">
            <a:xfrm>
              <a:off x="2562" y="300"/>
              <a:ext cx="840" cy="4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0200" name="Line 31"/>
            <p:cNvSpPr>
              <a:spLocks noChangeShapeType="1"/>
            </p:cNvSpPr>
            <p:nvPr/>
          </p:nvSpPr>
          <p:spPr bwMode="auto">
            <a:xfrm>
              <a:off x="2562" y="572"/>
              <a:ext cx="85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1" name="Text Box 32"/>
            <p:cNvSpPr txBox="1">
              <a:spLocks noChangeArrowheads="1"/>
            </p:cNvSpPr>
            <p:nvPr/>
          </p:nvSpPr>
          <p:spPr bwMode="auto">
            <a:xfrm>
              <a:off x="2064" y="119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F905F6"/>
                  </a:solidFill>
                </a:rPr>
                <a:t>p:</a:t>
              </a:r>
              <a:endParaRPr lang="en-US" altLang="zh-CN" sz="2400">
                <a:solidFill>
                  <a:srgbClr val="F905F6"/>
                </a:solidFill>
              </a:endParaRPr>
            </a:p>
          </p:txBody>
        </p:sp>
        <p:sp>
          <p:nvSpPr>
            <p:cNvPr id="50202" name="Line 33"/>
            <p:cNvSpPr>
              <a:spLocks noChangeShapeType="1"/>
            </p:cNvSpPr>
            <p:nvPr/>
          </p:nvSpPr>
          <p:spPr bwMode="auto">
            <a:xfrm>
              <a:off x="2154" y="391"/>
              <a:ext cx="4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4" name="Group 34"/>
          <p:cNvGrpSpPr/>
          <p:nvPr/>
        </p:nvGrpSpPr>
        <p:grpSpPr bwMode="auto">
          <a:xfrm>
            <a:off x="819150" y="765175"/>
            <a:ext cx="3744913" cy="1295400"/>
            <a:chOff x="158" y="1661"/>
            <a:chExt cx="2359" cy="816"/>
          </a:xfrm>
        </p:grpSpPr>
        <p:sp>
          <p:nvSpPr>
            <p:cNvPr id="50194" name="Rectangle 35"/>
            <p:cNvSpPr>
              <a:spLocks noChangeArrowheads="1"/>
            </p:cNvSpPr>
            <p:nvPr/>
          </p:nvSpPr>
          <p:spPr bwMode="auto">
            <a:xfrm>
              <a:off x="1519" y="1706"/>
              <a:ext cx="840" cy="5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0195" name="Line 36"/>
            <p:cNvSpPr>
              <a:spLocks noChangeShapeType="1"/>
            </p:cNvSpPr>
            <p:nvPr/>
          </p:nvSpPr>
          <p:spPr bwMode="auto">
            <a:xfrm>
              <a:off x="1519" y="2047"/>
              <a:ext cx="85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Freeform 37"/>
            <p:cNvSpPr/>
            <p:nvPr/>
          </p:nvSpPr>
          <p:spPr bwMode="auto">
            <a:xfrm>
              <a:off x="2096" y="2137"/>
              <a:ext cx="421" cy="34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0"/>
                  </a:moveTo>
                  <a:lnTo>
                    <a:pt x="19969" y="0"/>
                  </a:lnTo>
                  <a:lnTo>
                    <a:pt x="19969" y="19934"/>
                  </a:lnTo>
                  <a:lnTo>
                    <a:pt x="14977" y="199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Rectangle 38"/>
            <p:cNvSpPr>
              <a:spLocks noChangeArrowheads="1"/>
            </p:cNvSpPr>
            <p:nvPr/>
          </p:nvSpPr>
          <p:spPr bwMode="auto">
            <a:xfrm>
              <a:off x="158" y="1979"/>
              <a:ext cx="149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/>
                <a:t>predecessor</a:t>
              </a:r>
              <a:r>
                <a:rPr lang="zh-CN" altLang="en-US" sz="2400"/>
                <a:t>：</a:t>
              </a:r>
              <a:endParaRPr lang="zh-CN" altLang="en-US" sz="2400"/>
            </a:p>
          </p:txBody>
        </p:sp>
        <p:sp>
          <p:nvSpPr>
            <p:cNvPr id="50198" name="Text Box 39"/>
            <p:cNvSpPr txBox="1">
              <a:spLocks noChangeArrowheads="1"/>
            </p:cNvSpPr>
            <p:nvPr/>
          </p:nvSpPr>
          <p:spPr bwMode="auto">
            <a:xfrm>
              <a:off x="249" y="1661"/>
              <a:ext cx="10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400"/>
                <a:t>data:</a:t>
              </a:r>
              <a:endParaRPr lang="en-US" altLang="zh-CN" sz="2400"/>
            </a:p>
          </p:txBody>
        </p:sp>
      </p:grpSp>
      <p:sp>
        <p:nvSpPr>
          <p:cNvPr id="50185" name="Text Box 40"/>
          <p:cNvSpPr txBox="1">
            <a:spLocks noChangeArrowheads="1"/>
          </p:cNvSpPr>
          <p:nvPr/>
        </p:nvSpPr>
        <p:spPr bwMode="auto">
          <a:xfrm>
            <a:off x="747713" y="260350"/>
            <a:ext cx="1655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结点说明：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47114" name="Rectangle 41"/>
          <p:cNvSpPr>
            <a:spLocks noChangeArrowheads="1"/>
          </p:cNvSpPr>
          <p:nvPr/>
        </p:nvSpPr>
        <p:spPr bwMode="auto">
          <a:xfrm>
            <a:off x="254000" y="3159125"/>
            <a:ext cx="87503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void push(items x)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chemeClr val="hlink"/>
                </a:solidFill>
                <a:latin typeface="Arial" panose="020B0604020202020204" pitchFamily="34" charset="0"/>
              </a:rPr>
              <a:t>{</a:t>
            </a:r>
            <a:endParaRPr lang="en-US" altLang="zh-CN" sz="2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		p = (</a:t>
            </a:r>
            <a:r>
              <a:rPr lang="en-US" altLang="zh-CN" sz="2400" dirty="0" err="1">
                <a:solidFill>
                  <a:schemeClr val="hlink"/>
                </a:solidFill>
                <a:latin typeface="Arial" panose="020B0604020202020204" pitchFamily="34" charset="0"/>
              </a:rPr>
              <a:t>pstacktype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dirty="0">
                <a:latin typeface="Arial" panose="020B0604020202020204" pitchFamily="34" charset="0"/>
              </a:rPr>
              <a:t>malloc(</a:t>
            </a:r>
            <a:r>
              <a:rPr lang="en-US" altLang="zh-CN" sz="2400" dirty="0" err="1">
                <a:solidFill>
                  <a:schemeClr val="hlink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dirty="0" err="1">
                <a:solidFill>
                  <a:schemeClr val="hlink"/>
                </a:solidFill>
                <a:latin typeface="Arial" panose="020B0604020202020204" pitchFamily="34" charset="0"/>
              </a:rPr>
              <a:t>stackcelltype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dirty="0">
                <a:latin typeface="Arial" panose="020B0604020202020204" pitchFamily="34" charset="0"/>
              </a:rPr>
              <a:t>)</a:t>
            </a:r>
            <a:r>
              <a:rPr lang="en-US" altLang="zh-CN" sz="2400" dirty="0">
                <a:solidFill>
                  <a:schemeClr val="hlink"/>
                </a:solidFill>
                <a:latin typeface="Arial" panose="020B0604020202020204" pitchFamily="34" charset="0"/>
              </a:rPr>
              <a:t>;</a:t>
            </a:r>
            <a:endParaRPr lang="en-US" altLang="zh-CN" sz="24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		</a:t>
            </a:r>
            <a:r>
              <a:rPr lang="en-US" altLang="zh-CN" sz="2800" dirty="0">
                <a:solidFill>
                  <a:srgbClr val="F905F6"/>
                </a:solidFill>
                <a:latin typeface="Arial" panose="020B0604020202020204" pitchFamily="34" charset="0"/>
              </a:rPr>
              <a:t>p-&gt;data = x ;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数据域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905F6"/>
                </a:solidFill>
                <a:latin typeface="Arial" panose="020B0604020202020204" pitchFamily="34" charset="0"/>
              </a:rPr>
              <a:t>	p-&gt;predecessor=top 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指针域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top = p;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修正表头（链首）指针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}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grpSp>
        <p:nvGrpSpPr>
          <p:cNvPr id="50187" name="Group 43"/>
          <p:cNvGrpSpPr/>
          <p:nvPr/>
        </p:nvGrpSpPr>
        <p:grpSpPr bwMode="auto">
          <a:xfrm>
            <a:off x="136525" y="0"/>
            <a:ext cx="4932363" cy="2420938"/>
            <a:chOff x="0" y="0"/>
            <a:chExt cx="3107" cy="1525"/>
          </a:xfrm>
        </p:grpSpPr>
        <p:sp>
          <p:nvSpPr>
            <p:cNvPr id="50192" name="Line 44"/>
            <p:cNvSpPr>
              <a:spLocks noChangeShapeType="1"/>
            </p:cNvSpPr>
            <p:nvPr/>
          </p:nvSpPr>
          <p:spPr bwMode="auto">
            <a:xfrm>
              <a:off x="0" y="1525"/>
              <a:ext cx="31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193" name="Line 45"/>
            <p:cNvSpPr>
              <a:spLocks noChangeShapeType="1"/>
            </p:cNvSpPr>
            <p:nvPr/>
          </p:nvSpPr>
          <p:spPr bwMode="auto">
            <a:xfrm flipV="1">
              <a:off x="3107" y="0"/>
              <a:ext cx="0" cy="1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49582" name="Text Box 46"/>
          <p:cNvSpPr txBox="1">
            <a:spLocks noChangeArrowheads="1"/>
          </p:cNvSpPr>
          <p:nvPr/>
        </p:nvSpPr>
        <p:spPr bwMode="auto">
          <a:xfrm>
            <a:off x="9664700" y="403225"/>
            <a:ext cx="6492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13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</a:endParaRPr>
          </a:p>
        </p:txBody>
      </p:sp>
      <p:sp>
        <p:nvSpPr>
          <p:cNvPr id="50190" name="Text Box 48"/>
          <p:cNvSpPr txBox="1">
            <a:spLocks noChangeArrowheads="1"/>
          </p:cNvSpPr>
          <p:nvPr/>
        </p:nvSpPr>
        <p:spPr bwMode="auto">
          <a:xfrm>
            <a:off x="0" y="2538413"/>
            <a:ext cx="70104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>
                <a:solidFill>
                  <a:srgbClr val="F905F6"/>
                </a:solidFill>
                <a:latin typeface="Arial" panose="020B0604020202020204" pitchFamily="34" charset="0"/>
                <a:ea typeface="隶书" pitchFamily="49" charset="-122"/>
              </a:rPr>
              <a:t>当链表为空时：</a:t>
            </a:r>
            <a:r>
              <a:rPr lang="en-US" altLang="zh-CN">
                <a:solidFill>
                  <a:srgbClr val="F905F6"/>
                </a:solidFill>
                <a:latin typeface="Arial" panose="020B0604020202020204" pitchFamily="34" charset="0"/>
                <a:ea typeface="隶书" pitchFamily="49" charset="-122"/>
              </a:rPr>
              <a:t>top=NULL;</a:t>
            </a:r>
            <a:r>
              <a:rPr lang="zh-CN" altLang="en-US">
                <a:solidFill>
                  <a:srgbClr val="F905F6"/>
                </a:solidFill>
                <a:latin typeface="Arial" panose="020B0604020202020204" pitchFamily="34" charset="0"/>
                <a:ea typeface="隶书" pitchFamily="49" charset="-122"/>
              </a:rPr>
              <a:t>同样适用</a:t>
            </a:r>
            <a:endParaRPr lang="zh-CN" altLang="en-US">
              <a:solidFill>
                <a:srgbClr val="F905F6"/>
              </a:solidFill>
              <a:latin typeface="Arial" panose="020B0604020202020204" pitchFamily="34" charset="0"/>
              <a:ea typeface="隶书" pitchFamily="49" charset="-122"/>
            </a:endParaRPr>
          </a:p>
        </p:txBody>
      </p:sp>
      <p:sp>
        <p:nvSpPr>
          <p:cNvPr id="449586" name="Text Box 50"/>
          <p:cNvSpPr txBox="1">
            <a:spLocks noChangeArrowheads="1"/>
          </p:cNvSpPr>
          <p:nvPr/>
        </p:nvSpPr>
        <p:spPr bwMode="auto">
          <a:xfrm>
            <a:off x="9448800" y="763588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90210" y="5346700"/>
            <a:ext cx="6676390" cy="153860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p>
            <a:r>
              <a:rPr lang="zh-CN" altLang="en-US" sz="2400"/>
              <a:t>【课后实践】把</a:t>
            </a:r>
            <a:r>
              <a:rPr lang="en-US" altLang="zh-CN" sz="2400"/>
              <a:t>top</a:t>
            </a:r>
            <a:r>
              <a:rPr lang="zh-CN" altLang="en-US" sz="2400"/>
              <a:t>设为全局变量</a:t>
            </a:r>
            <a:r>
              <a:rPr lang="en-US" altLang="zh-CN" sz="2400"/>
              <a:t>,</a:t>
            </a:r>
            <a:r>
              <a:rPr lang="zh-CN" altLang="en-US" sz="2400">
                <a:sym typeface="+mn-ea"/>
              </a:rPr>
              <a:t>完善主函数</a:t>
            </a:r>
            <a:r>
              <a:rPr lang="zh-CN" altLang="en-US" sz="2400"/>
              <a:t>：</a:t>
            </a:r>
            <a:endParaRPr lang="zh-CN" altLang="en-US" sz="2400"/>
          </a:p>
          <a:p>
            <a:r>
              <a:rPr lang="zh-CN" altLang="en-US" sz="2400">
                <a:latin typeface="Calibri" panose="020F0502020204030204" charset="0"/>
              </a:rPr>
              <a:t>①</a:t>
            </a:r>
            <a:r>
              <a:rPr lang="zh-CN" altLang="en-US" sz="2400"/>
              <a:t>调用</a:t>
            </a:r>
            <a:r>
              <a:rPr lang="en-US" altLang="zh-CN" sz="2400"/>
              <a:t>n </a:t>
            </a:r>
            <a:r>
              <a:rPr lang="zh-CN" altLang="en-US" sz="2400"/>
              <a:t>次</a:t>
            </a:r>
            <a:r>
              <a:rPr lang="en-US" altLang="zh-CN" sz="2400"/>
              <a:t>push</a:t>
            </a:r>
            <a:r>
              <a:rPr lang="zh-CN" altLang="en-US" sz="2400"/>
              <a:t>函数，</a:t>
            </a:r>
            <a:endParaRPr lang="zh-CN" altLang="en-US" sz="2400"/>
          </a:p>
          <a:p>
            <a:r>
              <a:rPr lang="zh-CN" altLang="en-US" sz="2400"/>
              <a:t>在主函数中创建由</a:t>
            </a:r>
            <a:r>
              <a:rPr lang="en-US" altLang="zh-CN" sz="2400"/>
              <a:t>n</a:t>
            </a:r>
            <a:r>
              <a:rPr lang="zh-CN" altLang="en-US" sz="2400"/>
              <a:t>个结点构成的单向链表</a:t>
            </a:r>
            <a:endParaRPr lang="zh-CN" altLang="en-US" sz="2400"/>
          </a:p>
          <a:p>
            <a:r>
              <a:rPr lang="zh-CN" altLang="en-US" sz="2400">
                <a:latin typeface="Calibri" panose="020F0502020204030204" charset="0"/>
              </a:rPr>
              <a:t>②</a:t>
            </a:r>
            <a:r>
              <a:rPr lang="zh-CN" altLang="en-US" sz="2400"/>
              <a:t>遍历输出所有结点数据</a:t>
            </a:r>
            <a:endParaRPr lang="zh-CN" altLang="en-US" sz="2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4495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49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449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85" grpId="0"/>
      <p:bldP spid="449552" grpId="0"/>
      <p:bldP spid="449553" grpId="0" animBg="1"/>
      <p:bldP spid="449582" grpId="0"/>
      <p:bldP spid="449586" grpId="0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582400" y="5945188"/>
            <a:ext cx="6096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83C8CD3-398F-4F00-A41E-8802B64ABFA0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22263" y="908050"/>
            <a:ext cx="7596187" cy="4752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effectLst/>
                <a:latin typeface="Arial" panose="020B0604020202020204" pitchFamily="34" charset="0"/>
              </a:rPr>
              <a:t>设有如下声明</a:t>
            </a:r>
            <a:r>
              <a:rPr lang="en-US" altLang="zh-CN" sz="2800" b="1">
                <a:effectLst/>
                <a:latin typeface="Arial" panose="020B0604020202020204" pitchFamily="34" charset="0"/>
              </a:rPr>
              <a:t>:</a:t>
            </a:r>
            <a:endParaRPr lang="en-US" altLang="zh-CN" sz="2800" b="1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CN" b="1">
                <a:effectLst/>
                <a:latin typeface="Arial" panose="020B0604020202020204" pitchFamily="34" charset="0"/>
              </a:rPr>
              <a:t>         typedef  ...  </a:t>
            </a:r>
            <a:r>
              <a:rPr lang="en-US" altLang="zh-CN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items</a:t>
            </a:r>
            <a:r>
              <a:rPr lang="en-US" altLang="zh-CN" b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b="1">
                <a:effectLst/>
                <a:latin typeface="Arial" panose="020B0604020202020204" pitchFamily="34" charset="0"/>
              </a:rPr>
              <a:t>; </a:t>
            </a:r>
            <a:endParaRPr lang="en-US" altLang="zh-CN" b="1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CN" b="1">
                <a:effectLst/>
                <a:latin typeface="Arial" panose="020B0604020202020204" pitchFamily="34" charset="0"/>
              </a:rPr>
              <a:t>         typedef  </a:t>
            </a:r>
            <a:r>
              <a:rPr lang="en-US" altLang="zh-CN" b="1">
                <a:solidFill>
                  <a:srgbClr val="99FF33"/>
                </a:solidFill>
                <a:effectLst/>
                <a:latin typeface="Arial" panose="020B0604020202020204" pitchFamily="34" charset="0"/>
              </a:rPr>
              <a:t>struct  queue </a:t>
            </a:r>
            <a:r>
              <a:rPr lang="en-US" altLang="zh-CN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{</a:t>
            </a:r>
            <a:r>
              <a:rPr lang="en-US" altLang="zh-CN" b="1">
                <a:effectLst/>
                <a:latin typeface="Arial" panose="020B0604020202020204" pitchFamily="34" charset="0"/>
              </a:rPr>
              <a:t> </a:t>
            </a:r>
            <a:endParaRPr lang="en-US" altLang="zh-CN" b="1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CN" b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            items </a:t>
            </a:r>
            <a:r>
              <a:rPr lang="en-US" altLang="zh-CN" b="1">
                <a:effectLst/>
                <a:latin typeface="Arial" panose="020B0604020202020204" pitchFamily="34" charset="0"/>
              </a:rPr>
              <a:t>data;  </a:t>
            </a:r>
            <a:endParaRPr lang="en-US" altLang="zh-CN" b="1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CN" b="1">
                <a:effectLst/>
                <a:latin typeface="Arial" panose="020B0604020202020204" pitchFamily="34" charset="0"/>
              </a:rPr>
              <a:t>           </a:t>
            </a:r>
            <a:r>
              <a:rPr lang="en-US" altLang="zh-CN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  struct  queue  *</a:t>
            </a:r>
            <a:r>
              <a:rPr lang="en-US" altLang="zh-CN" b="1">
                <a:effectLst/>
                <a:latin typeface="Arial" panose="020B0604020202020204" pitchFamily="34" charset="0"/>
              </a:rPr>
              <a:t>next ;</a:t>
            </a:r>
            <a:endParaRPr lang="en-US" altLang="zh-CN" b="1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CN" b="1">
                <a:effectLst/>
                <a:latin typeface="Arial" panose="020B0604020202020204" pitchFamily="34" charset="0"/>
              </a:rPr>
              <a:t>        </a:t>
            </a:r>
            <a:r>
              <a:rPr lang="en-US" altLang="zh-CN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} </a:t>
            </a:r>
            <a:r>
              <a:rPr lang="en-US" altLang="zh-CN" b="1">
                <a:solidFill>
                  <a:srgbClr val="99FF33"/>
                </a:solidFill>
                <a:effectLst/>
                <a:latin typeface="Arial" panose="020B0604020202020204" pitchFamily="34" charset="0"/>
              </a:rPr>
              <a:t>queuetype</a:t>
            </a:r>
            <a:r>
              <a:rPr lang="en-US" altLang="zh-CN" b="1">
                <a:effectLst/>
                <a:latin typeface="Arial" panose="020B0604020202020204" pitchFamily="34" charset="0"/>
              </a:rPr>
              <a:t> ;</a:t>
            </a:r>
            <a:endParaRPr lang="en-US" altLang="zh-CN" b="1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CN" b="1">
                <a:effectLst/>
                <a:latin typeface="Arial" panose="020B0604020202020204" pitchFamily="34" charset="0"/>
              </a:rPr>
              <a:t>         typedef</a:t>
            </a:r>
            <a:r>
              <a:rPr lang="en-US" altLang="zh-CN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  queuetype  *   pqueuetype</a:t>
            </a:r>
            <a:r>
              <a:rPr lang="en-US" altLang="zh-CN" b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b="1">
                <a:effectLst/>
                <a:latin typeface="Arial" panose="020B0604020202020204" pitchFamily="34" charset="0"/>
              </a:rPr>
              <a:t>;</a:t>
            </a:r>
            <a:endParaRPr lang="en-US" altLang="zh-CN" b="1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CN" b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zh-CN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       pqueuetype</a:t>
            </a:r>
            <a:r>
              <a:rPr lang="en-US" altLang="zh-CN" b="1">
                <a:effectLst/>
                <a:latin typeface="Arial" panose="020B0604020202020204" pitchFamily="34" charset="0"/>
              </a:rPr>
              <a:t>  front,rear</a:t>
            </a:r>
            <a:r>
              <a:rPr lang="en-US" altLang="zh-CN" b="1">
                <a:solidFill>
                  <a:srgbClr val="FF99F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b="1">
                <a:effectLst/>
                <a:latin typeface="Arial" panose="020B0604020202020204" pitchFamily="34" charset="0"/>
              </a:rPr>
              <a:t>;</a:t>
            </a:r>
            <a:endParaRPr lang="en-US" altLang="zh-CN" b="1">
              <a:effectLst/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CN" b="1">
                <a:effectLst/>
                <a:latin typeface="Arial" panose="020B0604020202020204" pitchFamily="34" charset="0"/>
              </a:rPr>
              <a:t>	</a:t>
            </a:r>
            <a:r>
              <a:rPr lang="en-US" altLang="zh-CN" b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	    </a:t>
            </a:r>
            <a:r>
              <a:rPr lang="en-US" altLang="zh-CN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b="1">
                <a:effectLst/>
                <a:latin typeface="Arial" panose="020B0604020202020204" pitchFamily="34" charset="0"/>
              </a:rPr>
              <a:t>  p;</a:t>
            </a:r>
            <a:endParaRPr lang="en-US" altLang="zh-CN" b="1"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8688388" y="5386388"/>
            <a:ext cx="2808287" cy="1392237"/>
            <a:chOff x="3152" y="3022"/>
            <a:chExt cx="1769" cy="877"/>
          </a:xfrm>
        </p:grpSpPr>
        <p:grpSp>
          <p:nvGrpSpPr>
            <p:cNvPr id="51219" name="Group 4"/>
            <p:cNvGrpSpPr/>
            <p:nvPr/>
          </p:nvGrpSpPr>
          <p:grpSpPr bwMode="auto">
            <a:xfrm flipH="1">
              <a:off x="4241" y="3430"/>
              <a:ext cx="462" cy="455"/>
              <a:chOff x="0" y="0"/>
              <a:chExt cx="20000" cy="20000"/>
            </a:xfrm>
          </p:grpSpPr>
          <p:sp>
            <p:nvSpPr>
              <p:cNvPr id="51224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25" name="Line 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51220" name="Freeform 7"/>
            <p:cNvSpPr/>
            <p:nvPr/>
          </p:nvSpPr>
          <p:spPr bwMode="auto">
            <a:xfrm flipH="1">
              <a:off x="4498" y="3483"/>
              <a:ext cx="423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1" name="Text Box 8"/>
            <p:cNvSpPr txBox="1">
              <a:spLocks noChangeArrowheads="1"/>
            </p:cNvSpPr>
            <p:nvPr/>
          </p:nvSpPr>
          <p:spPr bwMode="auto">
            <a:xfrm>
              <a:off x="3152" y="3022"/>
              <a:ext cx="9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chemeClr val="hlink"/>
                  </a:solidFill>
                </a:rPr>
                <a:t>结点说明：</a:t>
              </a:r>
              <a:endParaRPr lang="zh-CN" altLang="en-US" sz="2400">
                <a:solidFill>
                  <a:schemeClr val="hlink"/>
                </a:solidFill>
              </a:endParaRPr>
            </a:p>
          </p:txBody>
        </p:sp>
        <p:sp>
          <p:nvSpPr>
            <p:cNvPr id="51222" name="Text Box 9"/>
            <p:cNvSpPr txBox="1">
              <a:spLocks noChangeArrowheads="1"/>
            </p:cNvSpPr>
            <p:nvPr/>
          </p:nvSpPr>
          <p:spPr bwMode="auto">
            <a:xfrm>
              <a:off x="3561" y="3430"/>
              <a:ext cx="6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400"/>
                <a:t>data:</a:t>
              </a:r>
              <a:endParaRPr lang="en-US" altLang="zh-CN" sz="2400"/>
            </a:p>
          </p:txBody>
        </p:sp>
        <p:sp>
          <p:nvSpPr>
            <p:cNvPr id="51223" name="Text Box 10"/>
            <p:cNvSpPr txBox="1">
              <a:spLocks noChangeArrowheads="1"/>
            </p:cNvSpPr>
            <p:nvPr/>
          </p:nvSpPr>
          <p:spPr bwMode="auto">
            <a:xfrm>
              <a:off x="3561" y="3611"/>
              <a:ext cx="6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400"/>
                <a:t>next:</a:t>
              </a:r>
              <a:endParaRPr lang="en-US" altLang="zh-CN" sz="2400"/>
            </a:p>
          </p:txBody>
        </p:sp>
      </p:grpSp>
      <p:sp>
        <p:nvSpPr>
          <p:cNvPr id="386059" name="Rectangle 11"/>
          <p:cNvSpPr>
            <a:spLocks noChangeArrowheads="1"/>
          </p:cNvSpPr>
          <p:nvPr/>
        </p:nvSpPr>
        <p:spPr bwMode="auto">
          <a:xfrm>
            <a:off x="-5134" y="0"/>
            <a:ext cx="8664499" cy="5847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(2)</a:t>
            </a:r>
            <a:r>
              <a:rPr lang="zh-CN" alt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向表尾加入数据的算法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入队算法、尾插法）</a:t>
            </a:r>
            <a:endParaRPr lang="zh-CN" altLang="en-US" sz="32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4" name="Group 14"/>
          <p:cNvGrpSpPr/>
          <p:nvPr/>
        </p:nvGrpSpPr>
        <p:grpSpPr bwMode="auto">
          <a:xfrm>
            <a:off x="8616950" y="5194300"/>
            <a:ext cx="3563938" cy="1628775"/>
            <a:chOff x="3515" y="3294"/>
            <a:chExt cx="2245" cy="1026"/>
          </a:xfrm>
        </p:grpSpPr>
        <p:sp>
          <p:nvSpPr>
            <p:cNvPr id="51217" name="Line 12"/>
            <p:cNvSpPr>
              <a:spLocks noChangeShapeType="1"/>
            </p:cNvSpPr>
            <p:nvPr/>
          </p:nvSpPr>
          <p:spPr bwMode="auto">
            <a:xfrm>
              <a:off x="3515" y="3294"/>
              <a:ext cx="0" cy="10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218" name="Line 13"/>
            <p:cNvSpPr>
              <a:spLocks noChangeShapeType="1"/>
            </p:cNvSpPr>
            <p:nvPr/>
          </p:nvSpPr>
          <p:spPr bwMode="auto">
            <a:xfrm>
              <a:off x="3515" y="3294"/>
              <a:ext cx="22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1207" name="Group 23"/>
          <p:cNvGrpSpPr/>
          <p:nvPr/>
        </p:nvGrpSpPr>
        <p:grpSpPr bwMode="auto">
          <a:xfrm>
            <a:off x="1371600" y="1912938"/>
            <a:ext cx="4968875" cy="2087562"/>
            <a:chOff x="657" y="1253"/>
            <a:chExt cx="3130" cy="1315"/>
          </a:xfrm>
        </p:grpSpPr>
        <p:sp>
          <p:nvSpPr>
            <p:cNvPr id="51209" name="Line 15"/>
            <p:cNvSpPr>
              <a:spLocks noChangeShapeType="1"/>
            </p:cNvSpPr>
            <p:nvPr/>
          </p:nvSpPr>
          <p:spPr bwMode="auto">
            <a:xfrm>
              <a:off x="1791" y="1253"/>
              <a:ext cx="1996" cy="0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210" name="Line 16"/>
            <p:cNvSpPr>
              <a:spLocks noChangeShapeType="1"/>
            </p:cNvSpPr>
            <p:nvPr/>
          </p:nvSpPr>
          <p:spPr bwMode="auto">
            <a:xfrm>
              <a:off x="1791" y="1253"/>
              <a:ext cx="0" cy="317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211" name="Line 17"/>
            <p:cNvSpPr>
              <a:spLocks noChangeShapeType="1"/>
            </p:cNvSpPr>
            <p:nvPr/>
          </p:nvSpPr>
          <p:spPr bwMode="auto">
            <a:xfrm flipH="1">
              <a:off x="1066" y="1570"/>
              <a:ext cx="725" cy="0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212" name="Line 18"/>
            <p:cNvSpPr>
              <a:spLocks noChangeShapeType="1"/>
            </p:cNvSpPr>
            <p:nvPr/>
          </p:nvSpPr>
          <p:spPr bwMode="auto">
            <a:xfrm flipH="1">
              <a:off x="657" y="1570"/>
              <a:ext cx="409" cy="998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213" name="Line 19"/>
            <p:cNvSpPr>
              <a:spLocks noChangeShapeType="1"/>
            </p:cNvSpPr>
            <p:nvPr/>
          </p:nvSpPr>
          <p:spPr bwMode="auto">
            <a:xfrm>
              <a:off x="657" y="2568"/>
              <a:ext cx="363" cy="0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214" name="Line 20"/>
            <p:cNvSpPr>
              <a:spLocks noChangeShapeType="1"/>
            </p:cNvSpPr>
            <p:nvPr/>
          </p:nvSpPr>
          <p:spPr bwMode="auto">
            <a:xfrm flipV="1">
              <a:off x="1020" y="2205"/>
              <a:ext cx="0" cy="363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215" name="Line 21"/>
            <p:cNvSpPr>
              <a:spLocks noChangeShapeType="1"/>
            </p:cNvSpPr>
            <p:nvPr/>
          </p:nvSpPr>
          <p:spPr bwMode="auto">
            <a:xfrm>
              <a:off x="1020" y="2205"/>
              <a:ext cx="2722" cy="0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216" name="Line 22"/>
            <p:cNvSpPr>
              <a:spLocks noChangeShapeType="1"/>
            </p:cNvSpPr>
            <p:nvPr/>
          </p:nvSpPr>
          <p:spPr bwMode="auto">
            <a:xfrm>
              <a:off x="3742" y="1253"/>
              <a:ext cx="0" cy="952"/>
            </a:xfrm>
            <a:prstGeom prst="line">
              <a:avLst/>
            </a:prstGeom>
            <a:noFill/>
            <a:ln w="38100">
              <a:solidFill>
                <a:srgbClr val="F905F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1208" name="Rectangle 24"/>
          <p:cNvSpPr>
            <a:spLocks noChangeArrowheads="1"/>
          </p:cNvSpPr>
          <p:nvPr/>
        </p:nvSpPr>
        <p:spPr bwMode="auto">
          <a:xfrm>
            <a:off x="3200400" y="4000183"/>
            <a:ext cx="2233613" cy="436562"/>
          </a:xfrm>
          <a:prstGeom prst="rect">
            <a:avLst/>
          </a:prstGeom>
          <a:noFill/>
          <a:ln w="38100">
            <a:solidFill>
              <a:srgbClr val="F905F6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085850" y="847725"/>
            <a:ext cx="6669088" cy="1150938"/>
          </a:xfrm>
          <a:prstGeom prst="rect">
            <a:avLst/>
          </a:prstGeom>
          <a:noFill/>
          <a:ln w="47625" algn="ctr">
            <a:solidFill>
              <a:srgbClr val="F905F6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7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C8D4076-A408-41B4-BAD0-CFD868EF952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93688" y="82550"/>
            <a:ext cx="7375525" cy="50133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dirty="0"/>
              <a:t>向链尾加入数据算法如下：</a:t>
            </a:r>
            <a:endParaRPr lang="zh-CN" altLang="en-US" sz="2800" b="1" dirty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void </a:t>
            </a:r>
            <a:r>
              <a:rPr lang="en-US" altLang="zh-CN" sz="2800" b="1" dirty="0" err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inrear</a:t>
            </a:r>
            <a:r>
              <a:rPr lang="en-US" altLang="zh-CN" sz="2800" b="1" dirty="0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(item x){</a:t>
            </a:r>
            <a:endParaRPr lang="en-US" altLang="zh-CN" sz="2800" b="1" dirty="0">
              <a:solidFill>
                <a:srgbClr val="F905F6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b="1" dirty="0">
                <a:effectLst/>
                <a:latin typeface="Arial" panose="020B0604020202020204" pitchFamily="34" charset="0"/>
              </a:rPr>
              <a:t>    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p = (</a:t>
            </a:r>
            <a:r>
              <a:rPr lang="en-US" altLang="zh-CN" sz="2400" b="1" dirty="0" err="1"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) </a:t>
            </a:r>
            <a:r>
              <a:rPr lang="en-US" altLang="zh-CN" sz="24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malloc</a:t>
            </a:r>
            <a:r>
              <a:rPr lang="en-US" altLang="zh-CN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altLang="zh-CN" sz="2400" b="1" dirty="0" err="1">
                <a:effectLst/>
                <a:latin typeface="Arial" panose="020B0604020202020204" pitchFamily="34" charset="0"/>
              </a:rPr>
              <a:t>sizeof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(</a:t>
            </a:r>
            <a:r>
              <a:rPr lang="en-US" altLang="zh-CN" sz="2400" b="1" dirty="0" err="1">
                <a:effectLst/>
                <a:latin typeface="Arial" panose="020B0604020202020204" pitchFamily="34" charset="0"/>
              </a:rPr>
              <a:t>queuetype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)</a:t>
            </a:r>
            <a:r>
              <a:rPr lang="en-US" altLang="zh-CN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);</a:t>
            </a:r>
            <a:endParaRPr lang="en-US" altLang="zh-CN" sz="24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 dirty="0">
                <a:effectLst/>
                <a:latin typeface="Arial" panose="020B0604020202020204" pitchFamily="34" charset="0"/>
              </a:rPr>
              <a:t>    </a:t>
            </a:r>
            <a:r>
              <a:rPr lang="en-US" altLang="zh-CN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p-&gt; data  =  x ;  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数据域</a:t>
            </a:r>
            <a:endParaRPr lang="zh-CN" altLang="en-US" sz="24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   p-&gt; next  =  NULL ;  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指针域</a:t>
            </a:r>
            <a:endParaRPr lang="zh-CN" altLang="en-US" sz="24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 dirty="0">
                <a:effectLst/>
                <a:latin typeface="Arial" panose="020B0604020202020204" pitchFamily="34" charset="0"/>
              </a:rPr>
              <a:t>    if </a:t>
            </a:r>
            <a:r>
              <a:rPr lang="en-US" altLang="zh-CN" sz="2400" b="1" dirty="0">
                <a:solidFill>
                  <a:srgbClr val="F905F6"/>
                </a:solidFill>
                <a:effectLst/>
                <a:latin typeface="Arial" panose="020B0604020202020204" pitchFamily="34" charset="0"/>
                <a:cs typeface="+mn-ea"/>
              </a:rPr>
              <a:t>(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 rear==NULL</a:t>
            </a:r>
            <a:r>
              <a:rPr lang="en-US" altLang="zh-CN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 { 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队空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修正表头和表尾指针</a:t>
            </a:r>
            <a:endParaRPr lang="zh-CN" altLang="en-US" sz="16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 dirty="0">
                <a:effectLst/>
                <a:latin typeface="Arial" panose="020B0604020202020204" pitchFamily="34" charset="0"/>
              </a:rPr>
              <a:t>           rear  =  p ;</a:t>
            </a:r>
            <a:endParaRPr lang="en-US" altLang="zh-CN" sz="24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 dirty="0">
                <a:effectLst/>
                <a:latin typeface="Arial" panose="020B0604020202020204" pitchFamily="34" charset="0"/>
              </a:rPr>
              <a:t>           </a:t>
            </a:r>
            <a:r>
              <a:rPr lang="en-US" altLang="zh-CN" sz="2400" b="1" dirty="0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front  =  p ;</a:t>
            </a:r>
            <a:endParaRPr lang="en-US" altLang="zh-CN" sz="2400" b="1" dirty="0">
              <a:solidFill>
                <a:srgbClr val="F905F6"/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 dirty="0">
                <a:effectLst/>
                <a:latin typeface="Arial" panose="020B0604020202020204" pitchFamily="34" charset="0"/>
              </a:rPr>
              <a:t>    } else 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{ 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队不空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修正表尾指针</a:t>
            </a:r>
            <a:endParaRPr lang="en-US" altLang="zh-CN" sz="16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 dirty="0">
                <a:effectLst/>
                <a:latin typeface="Arial" panose="020B0604020202020204" pitchFamily="34" charset="0"/>
              </a:rPr>
              <a:t>           rear-&gt; next  =  p ;</a:t>
            </a:r>
            <a:endParaRPr lang="en-US" altLang="zh-CN" sz="24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 dirty="0">
                <a:effectLst/>
                <a:latin typeface="Arial" panose="020B0604020202020204" pitchFamily="34" charset="0"/>
              </a:rPr>
              <a:t>           rear  =  p ;</a:t>
            </a:r>
            <a:endParaRPr lang="en-US" altLang="zh-CN" sz="24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 dirty="0">
                <a:effectLst/>
                <a:latin typeface="Arial" panose="020B0604020202020204" pitchFamily="34" charset="0"/>
              </a:rPr>
              <a:t>    }</a:t>
            </a:r>
            <a:endParaRPr lang="en-US" altLang="zh-CN" sz="24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b="1" dirty="0">
                <a:solidFill>
                  <a:srgbClr val="F905F6"/>
                </a:solidFill>
                <a:effectLst/>
                <a:latin typeface="Arial" panose="020B0604020202020204" pitchFamily="34" charset="0"/>
                <a:cs typeface="+mn-ea"/>
              </a:rPr>
              <a:t>}</a:t>
            </a:r>
            <a:endParaRPr lang="en-US" altLang="zh-CN" b="1" dirty="0">
              <a:solidFill>
                <a:srgbClr val="F905F6"/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8112125" y="5227638"/>
            <a:ext cx="1296988" cy="649287"/>
            <a:chOff x="4150" y="2976"/>
            <a:chExt cx="862" cy="474"/>
          </a:xfrm>
        </p:grpSpPr>
        <p:sp>
          <p:nvSpPr>
            <p:cNvPr id="53327" name="Rectangle 4"/>
            <p:cNvSpPr>
              <a:spLocks noChangeArrowheads="1"/>
            </p:cNvSpPr>
            <p:nvPr/>
          </p:nvSpPr>
          <p:spPr bwMode="auto">
            <a:xfrm flipH="1">
              <a:off x="4150" y="2976"/>
              <a:ext cx="46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328" name="Rectangle 5"/>
            <p:cNvSpPr>
              <a:spLocks noChangeArrowheads="1"/>
            </p:cNvSpPr>
            <p:nvPr/>
          </p:nvSpPr>
          <p:spPr bwMode="auto">
            <a:xfrm flipH="1">
              <a:off x="4562" y="3070"/>
              <a:ext cx="450" cy="21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3329" name="Freeform 6"/>
            <p:cNvSpPr/>
            <p:nvPr/>
          </p:nvSpPr>
          <p:spPr bwMode="auto">
            <a:xfrm flipH="1">
              <a:off x="4562" y="3194"/>
              <a:ext cx="231" cy="2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254" name="Rectangle 7"/>
          <p:cNvSpPr>
            <a:spLocks noChangeArrowheads="1"/>
          </p:cNvSpPr>
          <p:nvPr/>
        </p:nvSpPr>
        <p:spPr bwMode="auto">
          <a:xfrm flipH="1">
            <a:off x="2208213" y="5373688"/>
            <a:ext cx="733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front: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53255" name="Rectangle 8"/>
          <p:cNvSpPr>
            <a:spLocks noChangeArrowheads="1"/>
          </p:cNvSpPr>
          <p:nvPr/>
        </p:nvSpPr>
        <p:spPr bwMode="auto">
          <a:xfrm flipH="1">
            <a:off x="2989263" y="5451475"/>
            <a:ext cx="674687" cy="298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/>
          </a:p>
        </p:txBody>
      </p:sp>
      <p:grpSp>
        <p:nvGrpSpPr>
          <p:cNvPr id="53256" name="Group 9"/>
          <p:cNvGrpSpPr/>
          <p:nvPr/>
        </p:nvGrpSpPr>
        <p:grpSpPr bwMode="auto">
          <a:xfrm flipH="1">
            <a:off x="7940675" y="5837238"/>
            <a:ext cx="735013" cy="708025"/>
            <a:chOff x="0" y="0"/>
            <a:chExt cx="20000" cy="20000"/>
          </a:xfrm>
        </p:grpSpPr>
        <p:sp>
          <p:nvSpPr>
            <p:cNvPr id="53325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3326" name="Line 11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3257" name="Group 12"/>
          <p:cNvGrpSpPr/>
          <p:nvPr/>
        </p:nvGrpSpPr>
        <p:grpSpPr bwMode="auto">
          <a:xfrm flipH="1">
            <a:off x="6821488" y="5830888"/>
            <a:ext cx="733425" cy="731837"/>
            <a:chOff x="0" y="0"/>
            <a:chExt cx="20000" cy="20000"/>
          </a:xfrm>
        </p:grpSpPr>
        <p:sp>
          <p:nvSpPr>
            <p:cNvPr id="53323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3324" name="Line 14"/>
            <p:cNvSpPr>
              <a:spLocks noChangeShapeType="1"/>
            </p:cNvSpPr>
            <p:nvPr/>
          </p:nvSpPr>
          <p:spPr bwMode="auto">
            <a:xfrm>
              <a:off x="557" y="1380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3258" name="Freeform 15"/>
          <p:cNvSpPr/>
          <p:nvPr/>
        </p:nvSpPr>
        <p:spPr bwMode="auto">
          <a:xfrm flipH="1">
            <a:off x="7226300" y="5940425"/>
            <a:ext cx="674688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9" name="Freeform 16"/>
          <p:cNvSpPr/>
          <p:nvPr/>
        </p:nvSpPr>
        <p:spPr bwMode="auto">
          <a:xfrm flipH="1">
            <a:off x="6105525" y="5940425"/>
            <a:ext cx="674688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0" name="Freeform 17"/>
          <p:cNvSpPr/>
          <p:nvPr/>
        </p:nvSpPr>
        <p:spPr bwMode="auto">
          <a:xfrm flipH="1">
            <a:off x="5189538" y="5940425"/>
            <a:ext cx="673100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3261" name="Group 18"/>
          <p:cNvGrpSpPr/>
          <p:nvPr/>
        </p:nvGrpSpPr>
        <p:grpSpPr bwMode="auto">
          <a:xfrm flipH="1">
            <a:off x="4803775" y="5856288"/>
            <a:ext cx="733425" cy="722312"/>
            <a:chOff x="0" y="0"/>
            <a:chExt cx="20000" cy="20000"/>
          </a:xfrm>
        </p:grpSpPr>
        <p:sp>
          <p:nvSpPr>
            <p:cNvPr id="53321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3322" name="Line 20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3262" name="Group 21"/>
          <p:cNvGrpSpPr/>
          <p:nvPr/>
        </p:nvGrpSpPr>
        <p:grpSpPr bwMode="auto">
          <a:xfrm flipH="1">
            <a:off x="3683000" y="5856288"/>
            <a:ext cx="733425" cy="722312"/>
            <a:chOff x="0" y="0"/>
            <a:chExt cx="20000" cy="20000"/>
          </a:xfrm>
        </p:grpSpPr>
        <p:sp>
          <p:nvSpPr>
            <p:cNvPr id="53319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3320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3263" name="Freeform 24"/>
          <p:cNvSpPr/>
          <p:nvPr/>
        </p:nvSpPr>
        <p:spPr bwMode="auto">
          <a:xfrm flipH="1">
            <a:off x="4090988" y="5940425"/>
            <a:ext cx="671512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4" name="Rectangle 25"/>
          <p:cNvSpPr>
            <a:spLocks noChangeArrowheads="1"/>
          </p:cNvSpPr>
          <p:nvPr/>
        </p:nvSpPr>
        <p:spPr bwMode="auto">
          <a:xfrm flipH="1">
            <a:off x="5761038" y="5854700"/>
            <a:ext cx="917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...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53265" name="Freeform 26"/>
          <p:cNvSpPr/>
          <p:nvPr/>
        </p:nvSpPr>
        <p:spPr bwMode="auto">
          <a:xfrm flipH="1">
            <a:off x="3294063" y="5619750"/>
            <a:ext cx="369887" cy="407988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8123" name="Text Box 27"/>
          <p:cNvSpPr txBox="1">
            <a:spLocks noChangeArrowheads="1"/>
          </p:cNvSpPr>
          <p:nvPr/>
        </p:nvSpPr>
        <p:spPr bwMode="auto">
          <a:xfrm>
            <a:off x="8112125" y="5949950"/>
            <a:ext cx="6381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grpSp>
        <p:nvGrpSpPr>
          <p:cNvPr id="53267" name="Group 28"/>
          <p:cNvGrpSpPr/>
          <p:nvPr/>
        </p:nvGrpSpPr>
        <p:grpSpPr bwMode="auto">
          <a:xfrm flipH="1">
            <a:off x="11049000" y="1979613"/>
            <a:ext cx="733425" cy="722312"/>
            <a:chOff x="0" y="0"/>
            <a:chExt cx="20000" cy="20000"/>
          </a:xfrm>
        </p:grpSpPr>
        <p:sp>
          <p:nvSpPr>
            <p:cNvPr id="53317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3318" name="Line 30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3268" name="Freeform 31"/>
          <p:cNvSpPr/>
          <p:nvPr/>
        </p:nvSpPr>
        <p:spPr bwMode="auto">
          <a:xfrm flipH="1">
            <a:off x="11456988" y="2184400"/>
            <a:ext cx="671512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9" name="Text Box 32"/>
          <p:cNvSpPr txBox="1">
            <a:spLocks noChangeArrowheads="1"/>
          </p:cNvSpPr>
          <p:nvPr/>
        </p:nvSpPr>
        <p:spPr bwMode="auto">
          <a:xfrm>
            <a:off x="9320213" y="1331913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结点说明：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53270" name="Text Box 33"/>
          <p:cNvSpPr txBox="1">
            <a:spLocks noChangeArrowheads="1"/>
          </p:cNvSpPr>
          <p:nvPr/>
        </p:nvSpPr>
        <p:spPr bwMode="auto">
          <a:xfrm>
            <a:off x="9969500" y="1979613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data:</a:t>
            </a:r>
            <a:endParaRPr lang="en-US" altLang="zh-CN" sz="2400"/>
          </a:p>
        </p:txBody>
      </p:sp>
      <p:sp>
        <p:nvSpPr>
          <p:cNvPr id="53271" name="Text Box 34"/>
          <p:cNvSpPr txBox="1">
            <a:spLocks noChangeArrowheads="1"/>
          </p:cNvSpPr>
          <p:nvPr/>
        </p:nvSpPr>
        <p:spPr bwMode="auto">
          <a:xfrm>
            <a:off x="9969500" y="2266950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next:</a:t>
            </a:r>
            <a:endParaRPr lang="en-US" altLang="zh-CN" sz="2400"/>
          </a:p>
        </p:txBody>
      </p:sp>
      <p:grpSp>
        <p:nvGrpSpPr>
          <p:cNvPr id="10" name="Group 35"/>
          <p:cNvGrpSpPr/>
          <p:nvPr/>
        </p:nvGrpSpPr>
        <p:grpSpPr bwMode="auto">
          <a:xfrm>
            <a:off x="9264650" y="5229225"/>
            <a:ext cx="1368425" cy="752475"/>
            <a:chOff x="4150" y="2976"/>
            <a:chExt cx="862" cy="474"/>
          </a:xfrm>
        </p:grpSpPr>
        <p:sp>
          <p:nvSpPr>
            <p:cNvPr id="53314" name="Rectangle 36"/>
            <p:cNvSpPr>
              <a:spLocks noChangeArrowheads="1"/>
            </p:cNvSpPr>
            <p:nvPr/>
          </p:nvSpPr>
          <p:spPr bwMode="auto">
            <a:xfrm flipH="1">
              <a:off x="4150" y="2976"/>
              <a:ext cx="46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315" name="Rectangle 37"/>
            <p:cNvSpPr>
              <a:spLocks noChangeArrowheads="1"/>
            </p:cNvSpPr>
            <p:nvPr/>
          </p:nvSpPr>
          <p:spPr bwMode="auto">
            <a:xfrm flipH="1">
              <a:off x="4562" y="3070"/>
              <a:ext cx="450" cy="21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3316" name="Freeform 38"/>
            <p:cNvSpPr/>
            <p:nvPr/>
          </p:nvSpPr>
          <p:spPr bwMode="auto">
            <a:xfrm flipH="1">
              <a:off x="4562" y="3194"/>
              <a:ext cx="231" cy="2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8135" name="Freeform 39"/>
          <p:cNvSpPr/>
          <p:nvPr/>
        </p:nvSpPr>
        <p:spPr bwMode="auto">
          <a:xfrm flipH="1">
            <a:off x="8401050" y="5949950"/>
            <a:ext cx="719138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905F6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41"/>
          <p:cNvGrpSpPr/>
          <p:nvPr/>
        </p:nvGrpSpPr>
        <p:grpSpPr bwMode="auto">
          <a:xfrm>
            <a:off x="8832850" y="6427788"/>
            <a:ext cx="503238" cy="457200"/>
            <a:chOff x="4468" y="4049"/>
            <a:chExt cx="317" cy="288"/>
          </a:xfrm>
        </p:grpSpPr>
        <p:sp>
          <p:nvSpPr>
            <p:cNvPr id="53312" name="Line 42"/>
            <p:cNvSpPr>
              <a:spLocks noChangeShapeType="1"/>
            </p:cNvSpPr>
            <p:nvPr/>
          </p:nvSpPr>
          <p:spPr bwMode="auto">
            <a:xfrm flipV="1">
              <a:off x="4785" y="4156"/>
              <a:ext cx="0" cy="1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13" name="Text Box 43"/>
            <p:cNvSpPr txBox="1">
              <a:spLocks noChangeArrowheads="1"/>
            </p:cNvSpPr>
            <p:nvPr/>
          </p:nvSpPr>
          <p:spPr bwMode="auto">
            <a:xfrm>
              <a:off x="4468" y="4049"/>
              <a:ext cx="2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400"/>
                <a:t>p:</a:t>
              </a:r>
              <a:endParaRPr lang="en-US" altLang="zh-CN" sz="2400"/>
            </a:p>
          </p:txBody>
        </p:sp>
      </p:grpSp>
      <p:grpSp>
        <p:nvGrpSpPr>
          <p:cNvPr id="12" name="Group 44"/>
          <p:cNvGrpSpPr/>
          <p:nvPr/>
        </p:nvGrpSpPr>
        <p:grpSpPr bwMode="auto">
          <a:xfrm>
            <a:off x="9191625" y="5805488"/>
            <a:ext cx="844550" cy="722312"/>
            <a:chOff x="4694" y="3657"/>
            <a:chExt cx="532" cy="455"/>
          </a:xfrm>
        </p:grpSpPr>
        <p:grpSp>
          <p:nvGrpSpPr>
            <p:cNvPr id="53308" name="Group 45"/>
            <p:cNvGrpSpPr/>
            <p:nvPr/>
          </p:nvGrpSpPr>
          <p:grpSpPr bwMode="auto">
            <a:xfrm flipH="1">
              <a:off x="4694" y="3657"/>
              <a:ext cx="462" cy="455"/>
              <a:chOff x="0" y="0"/>
              <a:chExt cx="20000" cy="20000"/>
            </a:xfrm>
          </p:grpSpPr>
          <p:sp>
            <p:nvSpPr>
              <p:cNvPr id="53310" name="Rectangle 4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3311" name="Line 47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53309" name="Text Box 48"/>
            <p:cNvSpPr txBox="1">
              <a:spLocks noChangeArrowheads="1"/>
            </p:cNvSpPr>
            <p:nvPr/>
          </p:nvSpPr>
          <p:spPr bwMode="auto">
            <a:xfrm>
              <a:off x="4824" y="3748"/>
              <a:ext cx="40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solidFill>
                    <a:srgbClr val="F905F6"/>
                  </a:solidFill>
                  <a:latin typeface="Arial" panose="020B0604020202020204" pitchFamily="34" charset="0"/>
                </a:rPr>
                <a:t>.</a:t>
              </a:r>
              <a:endParaRPr lang="en-US" altLang="zh-CN" sz="4000">
                <a:solidFill>
                  <a:srgbClr val="F905F6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8145" name="Rectangle 49"/>
          <p:cNvSpPr>
            <a:spLocks noChangeArrowheads="1"/>
          </p:cNvSpPr>
          <p:nvPr/>
        </p:nvSpPr>
        <p:spPr bwMode="auto">
          <a:xfrm flipH="1">
            <a:off x="9823450" y="3348038"/>
            <a:ext cx="735013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rear: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388146" name="Rectangle 50"/>
          <p:cNvSpPr>
            <a:spLocks noChangeArrowheads="1"/>
          </p:cNvSpPr>
          <p:nvPr/>
        </p:nvSpPr>
        <p:spPr bwMode="auto">
          <a:xfrm flipH="1">
            <a:off x="10477500" y="3497263"/>
            <a:ext cx="714375" cy="333375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88147" name="Freeform 51"/>
          <p:cNvSpPr/>
          <p:nvPr/>
        </p:nvSpPr>
        <p:spPr bwMode="auto">
          <a:xfrm flipH="1">
            <a:off x="10477500" y="3694113"/>
            <a:ext cx="366713" cy="4064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2"/>
                </a:lnTo>
                <a:lnTo>
                  <a:pt x="19945" y="19932"/>
                </a:lnTo>
              </a:path>
            </a:pathLst>
          </a:custGeom>
          <a:noFill/>
          <a:ln w="38100">
            <a:solidFill>
              <a:srgbClr val="F905F6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8148" name="Freeform 52"/>
          <p:cNvSpPr/>
          <p:nvPr/>
        </p:nvSpPr>
        <p:spPr bwMode="auto">
          <a:xfrm flipH="1">
            <a:off x="9175750" y="3636963"/>
            <a:ext cx="369888" cy="407987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rgbClr val="F905F6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8149" name="Rectangle 53"/>
          <p:cNvSpPr>
            <a:spLocks noChangeArrowheads="1"/>
          </p:cNvSpPr>
          <p:nvPr/>
        </p:nvSpPr>
        <p:spPr bwMode="auto">
          <a:xfrm flipH="1">
            <a:off x="8105775" y="3414713"/>
            <a:ext cx="733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front: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388150" name="Rectangle 54"/>
          <p:cNvSpPr>
            <a:spLocks noChangeArrowheads="1"/>
          </p:cNvSpPr>
          <p:nvPr/>
        </p:nvSpPr>
        <p:spPr bwMode="auto">
          <a:xfrm flipH="1">
            <a:off x="8886825" y="3492500"/>
            <a:ext cx="674688" cy="298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/>
          </a:p>
        </p:txBody>
      </p:sp>
      <p:sp>
        <p:nvSpPr>
          <p:cNvPr id="388151" name="Text Box 55"/>
          <p:cNvSpPr txBox="1">
            <a:spLocks noChangeArrowheads="1"/>
          </p:cNvSpPr>
          <p:nvPr/>
        </p:nvSpPr>
        <p:spPr bwMode="auto">
          <a:xfrm>
            <a:off x="9104313" y="3348038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.</a:t>
            </a:r>
            <a:endParaRPr lang="en-US" altLang="zh-CN" sz="2400"/>
          </a:p>
        </p:txBody>
      </p:sp>
      <p:sp>
        <p:nvSpPr>
          <p:cNvPr id="388152" name="Text Box 56"/>
          <p:cNvSpPr txBox="1">
            <a:spLocks noChangeArrowheads="1"/>
          </p:cNvSpPr>
          <p:nvPr/>
        </p:nvSpPr>
        <p:spPr bwMode="auto">
          <a:xfrm>
            <a:off x="10760075" y="3348038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.</a:t>
            </a:r>
            <a:endParaRPr lang="en-US" altLang="zh-CN" sz="2400"/>
          </a:p>
        </p:txBody>
      </p:sp>
      <p:grpSp>
        <p:nvGrpSpPr>
          <p:cNvPr id="14" name="Group 57"/>
          <p:cNvGrpSpPr/>
          <p:nvPr/>
        </p:nvGrpSpPr>
        <p:grpSpPr bwMode="auto">
          <a:xfrm>
            <a:off x="9523413" y="3852863"/>
            <a:ext cx="876300" cy="1176337"/>
            <a:chOff x="4105" y="2387"/>
            <a:chExt cx="552" cy="741"/>
          </a:xfrm>
        </p:grpSpPr>
        <p:grpSp>
          <p:nvGrpSpPr>
            <p:cNvPr id="53303" name="Group 58"/>
            <p:cNvGrpSpPr/>
            <p:nvPr/>
          </p:nvGrpSpPr>
          <p:grpSpPr bwMode="auto">
            <a:xfrm flipH="1">
              <a:off x="4195" y="2387"/>
              <a:ext cx="462" cy="455"/>
              <a:chOff x="0" y="0"/>
              <a:chExt cx="20000" cy="20000"/>
            </a:xfrm>
          </p:grpSpPr>
          <p:sp>
            <p:nvSpPr>
              <p:cNvPr id="53306" name="Rectangle 5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3307" name="Line 60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53304" name="Text Box 61"/>
            <p:cNvSpPr txBox="1">
              <a:spLocks noChangeArrowheads="1"/>
            </p:cNvSpPr>
            <p:nvPr/>
          </p:nvSpPr>
          <p:spPr bwMode="auto">
            <a:xfrm>
              <a:off x="4105" y="2840"/>
              <a:ext cx="2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400"/>
                <a:t>p:</a:t>
              </a:r>
              <a:endParaRPr lang="en-US" altLang="zh-CN" sz="2400"/>
            </a:p>
          </p:txBody>
        </p:sp>
        <p:sp>
          <p:nvSpPr>
            <p:cNvPr id="53305" name="Line 62"/>
            <p:cNvSpPr>
              <a:spLocks noChangeShapeType="1"/>
            </p:cNvSpPr>
            <p:nvPr/>
          </p:nvSpPr>
          <p:spPr bwMode="auto">
            <a:xfrm flipV="1">
              <a:off x="4422" y="2840"/>
              <a:ext cx="0" cy="2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285" name="Text Box 63"/>
          <p:cNvSpPr txBox="1">
            <a:spLocks noChangeArrowheads="1"/>
          </p:cNvSpPr>
          <p:nvPr/>
        </p:nvSpPr>
        <p:spPr bwMode="auto">
          <a:xfrm>
            <a:off x="149225" y="5286375"/>
            <a:ext cx="172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hlink"/>
                </a:solidFill>
              </a:rPr>
              <a:t>1</a:t>
            </a:r>
            <a:r>
              <a:rPr lang="zh-CN" altLang="en-US" sz="2400">
                <a:solidFill>
                  <a:schemeClr val="hlink"/>
                </a:solidFill>
              </a:rPr>
              <a:t>链表非空：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53286" name="Text Box 64"/>
          <p:cNvSpPr txBox="1">
            <a:spLocks noChangeArrowheads="1"/>
          </p:cNvSpPr>
          <p:nvPr/>
        </p:nvSpPr>
        <p:spPr bwMode="auto">
          <a:xfrm>
            <a:off x="7464425" y="2863850"/>
            <a:ext cx="374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hlink"/>
                </a:solidFill>
              </a:rPr>
              <a:t>2</a:t>
            </a:r>
            <a:r>
              <a:rPr lang="zh-CN" altLang="en-US" sz="2400">
                <a:solidFill>
                  <a:schemeClr val="hlink"/>
                </a:solidFill>
              </a:rPr>
              <a:t>链表为空：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grpSp>
        <p:nvGrpSpPr>
          <p:cNvPr id="53287" name="Group 68"/>
          <p:cNvGrpSpPr/>
          <p:nvPr/>
        </p:nvGrpSpPr>
        <p:grpSpPr bwMode="auto">
          <a:xfrm>
            <a:off x="9175750" y="1331913"/>
            <a:ext cx="2987675" cy="1439862"/>
            <a:chOff x="3878" y="799"/>
            <a:chExt cx="1882" cy="907"/>
          </a:xfrm>
        </p:grpSpPr>
        <p:sp>
          <p:nvSpPr>
            <p:cNvPr id="53300" name="Line 65"/>
            <p:cNvSpPr>
              <a:spLocks noChangeShapeType="1"/>
            </p:cNvSpPr>
            <p:nvPr/>
          </p:nvSpPr>
          <p:spPr bwMode="auto">
            <a:xfrm>
              <a:off x="3878" y="799"/>
              <a:ext cx="18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301" name="Line 66"/>
            <p:cNvSpPr>
              <a:spLocks noChangeShapeType="1"/>
            </p:cNvSpPr>
            <p:nvPr/>
          </p:nvSpPr>
          <p:spPr bwMode="auto">
            <a:xfrm>
              <a:off x="3878" y="799"/>
              <a:ext cx="0" cy="9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302" name="Line 67"/>
            <p:cNvSpPr>
              <a:spLocks noChangeShapeType="1"/>
            </p:cNvSpPr>
            <p:nvPr/>
          </p:nvSpPr>
          <p:spPr bwMode="auto">
            <a:xfrm>
              <a:off x="3878" y="1706"/>
              <a:ext cx="18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3288" name="Line 69"/>
          <p:cNvSpPr>
            <a:spLocks noChangeShapeType="1"/>
          </p:cNvSpPr>
          <p:nvPr/>
        </p:nvSpPr>
        <p:spPr bwMode="auto">
          <a:xfrm flipV="1">
            <a:off x="149225" y="4991100"/>
            <a:ext cx="11893550" cy="53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3289" name="Group 72"/>
          <p:cNvGrpSpPr/>
          <p:nvPr/>
        </p:nvGrpSpPr>
        <p:grpSpPr bwMode="auto">
          <a:xfrm>
            <a:off x="7321550" y="2790825"/>
            <a:ext cx="1871663" cy="2233613"/>
            <a:chOff x="2744" y="1706"/>
            <a:chExt cx="1179" cy="1407"/>
          </a:xfrm>
        </p:grpSpPr>
        <p:sp>
          <p:nvSpPr>
            <p:cNvPr id="53298" name="Line 70"/>
            <p:cNvSpPr>
              <a:spLocks noChangeShapeType="1"/>
            </p:cNvSpPr>
            <p:nvPr/>
          </p:nvSpPr>
          <p:spPr bwMode="auto">
            <a:xfrm>
              <a:off x="2744" y="1706"/>
              <a:ext cx="0" cy="14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99" name="Line 71"/>
            <p:cNvSpPr>
              <a:spLocks noChangeShapeType="1"/>
            </p:cNvSpPr>
            <p:nvPr/>
          </p:nvSpPr>
          <p:spPr bwMode="auto">
            <a:xfrm flipH="1">
              <a:off x="2744" y="1706"/>
              <a:ext cx="11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88170" name="Text Box 74"/>
          <p:cNvSpPr txBox="1">
            <a:spLocks noChangeArrowheads="1"/>
          </p:cNvSpPr>
          <p:nvPr/>
        </p:nvSpPr>
        <p:spPr bwMode="auto">
          <a:xfrm>
            <a:off x="9896475" y="4284663"/>
            <a:ext cx="649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8171" name="Text Box 75"/>
          <p:cNvSpPr txBox="1">
            <a:spLocks noChangeArrowheads="1"/>
          </p:cNvSpPr>
          <p:nvPr/>
        </p:nvSpPr>
        <p:spPr bwMode="auto">
          <a:xfrm>
            <a:off x="9264650" y="5876925"/>
            <a:ext cx="5762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  <a:sym typeface="+mn-ea"/>
              </a:rPr>
              <a:t>10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88172" name="Text Box 76"/>
          <p:cNvSpPr txBox="1">
            <a:spLocks noChangeArrowheads="1"/>
          </p:cNvSpPr>
          <p:nvPr/>
        </p:nvSpPr>
        <p:spPr bwMode="auto">
          <a:xfrm>
            <a:off x="9752013" y="3852863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10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</a:endParaRPr>
          </a:p>
        </p:txBody>
      </p: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1085850" y="2057400"/>
            <a:ext cx="3529013" cy="2533650"/>
          </a:xfrm>
          <a:prstGeom prst="rect">
            <a:avLst/>
          </a:prstGeom>
          <a:noFill/>
          <a:ln w="47625" algn="ctr">
            <a:solidFill>
              <a:schemeClr val="accent2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" name="椭圆形标注 4"/>
          <p:cNvSpPr>
            <a:spLocks noChangeArrowheads="1"/>
          </p:cNvSpPr>
          <p:nvPr/>
        </p:nvSpPr>
        <p:spPr bwMode="auto">
          <a:xfrm>
            <a:off x="0" y="1129665"/>
            <a:ext cx="971550" cy="742950"/>
          </a:xfrm>
          <a:prstGeom prst="wedgeEllipseCallout">
            <a:avLst>
              <a:gd name="adj1" fmla="val 92418"/>
              <a:gd name="adj2" fmla="val -2837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Arial" panose="020B0604020202020204" pitchFamily="34" charset="0"/>
              </a:rPr>
              <a:t>创建</a:t>
            </a:r>
            <a:endParaRPr lang="zh-C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Arial" panose="020B0604020202020204" pitchFamily="34" charset="0"/>
              </a:rPr>
              <a:t>新结点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1" name="椭圆形标注 80"/>
          <p:cNvSpPr>
            <a:spLocks noChangeArrowheads="1"/>
          </p:cNvSpPr>
          <p:nvPr/>
        </p:nvSpPr>
        <p:spPr bwMode="auto">
          <a:xfrm>
            <a:off x="5002213" y="3016250"/>
            <a:ext cx="1928812" cy="647700"/>
          </a:xfrm>
          <a:prstGeom prst="wedgeEllipseCallout">
            <a:avLst>
              <a:gd name="adj1" fmla="val -86764"/>
              <a:gd name="adj2" fmla="val 4172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加入链表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0" name="椭圆形标注 79"/>
          <p:cNvSpPr>
            <a:spLocks noChangeArrowheads="1"/>
          </p:cNvSpPr>
          <p:nvPr/>
        </p:nvSpPr>
        <p:spPr bwMode="auto">
          <a:xfrm>
            <a:off x="4368800" y="3963988"/>
            <a:ext cx="2660650" cy="736600"/>
          </a:xfrm>
          <a:prstGeom prst="wedgeEllipseCallout">
            <a:avLst>
              <a:gd name="adj1" fmla="val -87551"/>
              <a:gd name="adj2" fmla="val -3636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Arial" panose="020B0604020202020204" pitchFamily="34" charset="0"/>
              </a:rPr>
              <a:t>完善链表</a:t>
            </a:r>
            <a:endParaRPr lang="en-US" altLang="zh-CN" sz="18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(</a:t>
            </a:r>
            <a:r>
              <a:rPr lang="zh-CN" altLang="en-US" sz="1800">
                <a:latin typeface="Arial" panose="020B0604020202020204" pitchFamily="34" charset="0"/>
              </a:rPr>
              <a:t>修正表尾指针</a:t>
            </a:r>
            <a:r>
              <a:rPr lang="en-US" altLang="zh-CN" sz="1800">
                <a:latin typeface="Arial" panose="020B0604020202020204" pitchFamily="34" charset="0"/>
              </a:rPr>
              <a:t>)</a:t>
            </a:r>
            <a:endParaRPr lang="en-US" altLang="zh-CN" sz="18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2" name="椭圆形标注 81"/>
          <p:cNvSpPr>
            <a:spLocks noChangeArrowheads="1"/>
          </p:cNvSpPr>
          <p:nvPr/>
        </p:nvSpPr>
        <p:spPr bwMode="auto">
          <a:xfrm>
            <a:off x="50800" y="2235200"/>
            <a:ext cx="1481138" cy="979488"/>
          </a:xfrm>
          <a:prstGeom prst="wedgeEllipseCallout">
            <a:avLst>
              <a:gd name="adj1" fmla="val 67185"/>
              <a:gd name="adj2" fmla="val 248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Arial" panose="020B0604020202020204" pitchFamily="34" charset="0"/>
              </a:rPr>
              <a:t>完善链表</a:t>
            </a:r>
            <a:endParaRPr lang="en-US" altLang="zh-CN" sz="16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Arial" panose="020B0604020202020204" pitchFamily="34" charset="0"/>
              </a:rPr>
              <a:t>(</a:t>
            </a:r>
            <a:r>
              <a:rPr lang="zh-CN" altLang="en-US" sz="1600">
                <a:latin typeface="Arial" panose="020B0604020202020204" pitchFamily="34" charset="0"/>
              </a:rPr>
              <a:t>修正表头</a:t>
            </a:r>
            <a:endParaRPr lang="en-US" altLang="zh-CN" sz="16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Arial" panose="020B0604020202020204" pitchFamily="34" charset="0"/>
              </a:rPr>
              <a:t>和表尾</a:t>
            </a:r>
            <a:r>
              <a:rPr lang="en-US" altLang="zh-CN" sz="1600">
                <a:latin typeface="Arial" panose="020B0604020202020204" pitchFamily="34" charset="0"/>
              </a:rPr>
              <a:t>)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81600" y="16510"/>
            <a:ext cx="7028815" cy="86868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p>
            <a:r>
              <a:rPr lang="zh-CN" altLang="en-US" sz="1800"/>
              <a:t>【课后实践】把</a:t>
            </a:r>
            <a:r>
              <a:rPr lang="en-US" altLang="zh-CN" sz="1800"/>
              <a:t>front,rear</a:t>
            </a:r>
            <a:r>
              <a:rPr lang="zh-CN" altLang="en-US" sz="1800"/>
              <a:t>设为全局变量</a:t>
            </a:r>
            <a:r>
              <a:rPr lang="en-US" altLang="zh-CN" sz="1800"/>
              <a:t>,</a:t>
            </a:r>
            <a:r>
              <a:rPr lang="zh-CN" altLang="en-US" sz="1800">
                <a:sym typeface="+mn-ea"/>
              </a:rPr>
              <a:t>完善主函数</a:t>
            </a:r>
            <a:r>
              <a:rPr lang="zh-CN" altLang="en-US" sz="1800"/>
              <a:t>：</a:t>
            </a:r>
            <a:endParaRPr lang="zh-CN" altLang="en-US" sz="1800"/>
          </a:p>
          <a:p>
            <a:r>
              <a:rPr lang="zh-CN" altLang="en-US" sz="1800">
                <a:latin typeface="Calibri" panose="020F0502020204030204" charset="0"/>
              </a:rPr>
              <a:t>①</a:t>
            </a:r>
            <a:r>
              <a:rPr lang="zh-CN" altLang="en-US" sz="1800"/>
              <a:t>调用</a:t>
            </a:r>
            <a:r>
              <a:rPr lang="en-US" altLang="zh-CN" sz="1800"/>
              <a:t>n </a:t>
            </a:r>
            <a:r>
              <a:rPr lang="zh-CN" altLang="en-US" sz="1800"/>
              <a:t>次</a:t>
            </a:r>
            <a:r>
              <a:rPr lang="en-US" altLang="zh-CN" sz="1800" dirty="0">
                <a:solidFill>
                  <a:srgbClr val="F905F6"/>
                </a:solidFill>
                <a:effectLst/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1800" dirty="0" err="1">
                <a:solidFill>
                  <a:srgbClr val="F905F6"/>
                </a:solidFill>
                <a:effectLst/>
                <a:latin typeface="Arial" panose="020B0604020202020204" pitchFamily="34" charset="0"/>
                <a:sym typeface="+mn-ea"/>
              </a:rPr>
              <a:t>inrear</a:t>
            </a:r>
            <a:r>
              <a:rPr lang="zh-CN" altLang="en-US" sz="1800"/>
              <a:t>函数，在主函数中创建由</a:t>
            </a:r>
            <a:r>
              <a:rPr lang="en-US" altLang="zh-CN" sz="1800"/>
              <a:t>n</a:t>
            </a:r>
            <a:r>
              <a:rPr lang="zh-CN" altLang="en-US" sz="1800"/>
              <a:t>个结点构成的单向链表</a:t>
            </a:r>
            <a:endParaRPr lang="zh-CN" altLang="en-US" sz="1800"/>
          </a:p>
          <a:p>
            <a:r>
              <a:rPr lang="zh-CN" altLang="en-US" sz="1800">
                <a:latin typeface="Calibri" panose="020F0502020204030204" charset="0"/>
              </a:rPr>
              <a:t>②</a:t>
            </a:r>
            <a:r>
              <a:rPr lang="zh-CN" altLang="en-US" sz="1800"/>
              <a:t>遍历输出所有结点数据</a:t>
            </a:r>
            <a:endParaRPr lang="zh-CN" altLang="en-US" sz="1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388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88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88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88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880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880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8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8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8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8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8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8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88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8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7" dur="500"/>
                                        <p:tgtEl>
                                          <p:spTgt spid="388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38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5" dur="500"/>
                                        <p:tgtEl>
                                          <p:spTgt spid="388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38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388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388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88123" grpId="0"/>
      <p:bldP spid="388145" grpId="0"/>
      <p:bldP spid="388146" grpId="0" animBg="1"/>
      <p:bldP spid="388149" grpId="0"/>
      <p:bldP spid="388150" grpId="0" animBg="1"/>
      <p:bldP spid="388151" grpId="0"/>
      <p:bldP spid="388151" grpId="1"/>
      <p:bldP spid="388152" grpId="0"/>
      <p:bldP spid="388152" grpId="1"/>
      <p:bldP spid="388170" grpId="0"/>
      <p:bldP spid="388171" grpId="0"/>
      <p:bldP spid="388172" grpId="0"/>
      <p:bldP spid="77" grpId="0" animBg="1"/>
      <p:bldP spid="5" grpId="0" bldLvl="0" animBg="1"/>
      <p:bldP spid="81" grpId="0" animBg="1"/>
      <p:bldP spid="80" grpId="0" animBg="1"/>
      <p:bldP spid="82" grpId="0" animBg="1"/>
      <p:bldP spid="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968990" y="6248400"/>
            <a:ext cx="61341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4B88790-BB22-4A17-85DB-CB8AB25E5531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90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-76200" y="-26988"/>
            <a:ext cx="12268200" cy="21605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遍历/扫描单向链表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zh-CN" sz="28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Arial" panose="020B0604020202020204" pitchFamily="34" charset="0"/>
              </a:rPr>
              <a:t>          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遍历</a:t>
            </a:r>
            <a:r>
              <a:rPr lang="zh-CN" altLang="en-US" sz="2800" b="1" dirty="0">
                <a:latin typeface="Arial" panose="020B0604020202020204" pitchFamily="34" charset="0"/>
              </a:rPr>
              <a:t>是指从头到尾将链表上数据全部处理一遍。可用如下左端的算法。但实际中，经常用如下右端 的算法来遍历单向链表。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390147" name="Text Box 3"/>
          <p:cNvSpPr txBox="1">
            <a:spLocks noChangeArrowheads="1"/>
          </p:cNvSpPr>
          <p:nvPr/>
        </p:nvSpPr>
        <p:spPr bwMode="auto">
          <a:xfrm>
            <a:off x="212725" y="1933575"/>
            <a:ext cx="6797675" cy="28613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000" dirty="0"/>
              <a:t>p  =  top ; </a:t>
            </a:r>
            <a:endParaRPr lang="en-US" altLang="zh-CN" sz="3000" dirty="0"/>
          </a:p>
          <a:p>
            <a:pPr eaLnBrk="1" hangingPunct="1">
              <a:defRPr/>
            </a:pPr>
            <a:r>
              <a:rPr lang="en-US" altLang="zh-CN" sz="3000" dirty="0"/>
              <a:t>while (p != NULL ) {</a:t>
            </a:r>
            <a:endParaRPr lang="en-US" altLang="zh-CN" sz="3000" dirty="0"/>
          </a:p>
          <a:p>
            <a:pPr eaLnBrk="1" hangingPunct="1">
              <a:defRPr/>
            </a:pPr>
            <a:r>
              <a:rPr lang="zh-CN" altLang="en-US" sz="3000" dirty="0">
                <a:solidFill>
                  <a:schemeClr val="hlink"/>
                </a:solidFill>
              </a:rPr>
              <a:t>        处理</a:t>
            </a:r>
            <a:r>
              <a:rPr lang="en-US" altLang="zh-CN" sz="3000" dirty="0">
                <a:solidFill>
                  <a:schemeClr val="hlink"/>
                </a:solidFill>
              </a:rPr>
              <a:t>p-&gt;data</a:t>
            </a:r>
            <a:endParaRPr lang="en-US" altLang="zh-CN" sz="3000" dirty="0">
              <a:solidFill>
                <a:schemeClr val="hlink"/>
              </a:solidFill>
            </a:endParaRPr>
          </a:p>
          <a:p>
            <a:pPr eaLnBrk="1" hangingPunct="1">
              <a:defRPr/>
            </a:pPr>
            <a:r>
              <a:rPr lang="en-US" altLang="zh-CN" sz="3000" dirty="0">
                <a:solidFill>
                  <a:schemeClr val="hlink"/>
                </a:solidFill>
              </a:rPr>
              <a:t>  	</a:t>
            </a:r>
            <a:r>
              <a:rPr lang="en-US" altLang="zh-CN" sz="3000" dirty="0" err="1">
                <a:solidFill>
                  <a:schemeClr val="tx1">
                    <a:lumMod val="65000"/>
                  </a:schemeClr>
                </a:solidFill>
              </a:rPr>
              <a:t>printf</a:t>
            </a:r>
            <a:r>
              <a:rPr lang="en-US" altLang="zh-CN" sz="3000" dirty="0">
                <a:solidFill>
                  <a:schemeClr val="tx1">
                    <a:lumMod val="65000"/>
                  </a:schemeClr>
                </a:solidFill>
              </a:rPr>
              <a:t>(“%</a:t>
            </a:r>
            <a:r>
              <a:rPr lang="en-US" altLang="zh-CN" sz="3000" dirty="0" err="1">
                <a:solidFill>
                  <a:schemeClr val="tx1">
                    <a:lumMod val="65000"/>
                  </a:schemeClr>
                </a:solidFill>
              </a:rPr>
              <a:t>d”,p</a:t>
            </a:r>
            <a:r>
              <a:rPr lang="en-US" altLang="zh-CN" sz="3000" dirty="0">
                <a:solidFill>
                  <a:schemeClr val="tx1">
                    <a:lumMod val="65000"/>
                  </a:schemeClr>
                </a:solidFill>
              </a:rPr>
              <a:t>-&gt;data); 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</a:rPr>
              <a:t>输出链表</a:t>
            </a:r>
            <a:endParaRPr lang="en-US" altLang="zh-CN" dirty="0">
              <a:solidFill>
                <a:schemeClr val="tx1">
                  <a:lumMod val="65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sz="3000" dirty="0"/>
              <a:t>	p  =  p-&gt; next;</a:t>
            </a:r>
            <a:endParaRPr lang="en-US" altLang="zh-CN" sz="3000" dirty="0"/>
          </a:p>
          <a:p>
            <a:pPr eaLnBrk="1" hangingPunct="1">
              <a:defRPr/>
            </a:pPr>
            <a:r>
              <a:rPr lang="en-US" altLang="zh-CN" sz="3000" dirty="0"/>
              <a:t>} </a:t>
            </a:r>
            <a:endParaRPr lang="en-US" altLang="zh-CN" sz="3000" dirty="0"/>
          </a:p>
        </p:txBody>
      </p:sp>
      <p:sp>
        <p:nvSpPr>
          <p:cNvPr id="55301" name="Rectangle 4"/>
          <p:cNvSpPr>
            <a:spLocks noChangeArrowheads="1"/>
          </p:cNvSpPr>
          <p:nvPr/>
        </p:nvSpPr>
        <p:spPr bwMode="auto">
          <a:xfrm flipH="1">
            <a:off x="1964690" y="4953318"/>
            <a:ext cx="733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905F6"/>
                </a:solidFill>
                <a:latin typeface="Arial" panose="020B0604020202020204" pitchFamily="34" charset="0"/>
              </a:rPr>
              <a:t>top</a:t>
            </a:r>
            <a:endParaRPr lang="en-US" altLang="zh-CN" sz="2000">
              <a:solidFill>
                <a:srgbClr val="F905F6"/>
              </a:solidFill>
              <a:latin typeface="Arial" panose="020B0604020202020204" pitchFamily="34" charset="0"/>
            </a:endParaRPr>
          </a:p>
        </p:txBody>
      </p:sp>
      <p:sp>
        <p:nvSpPr>
          <p:cNvPr id="55302" name="Rectangle 5"/>
          <p:cNvSpPr>
            <a:spLocks noChangeArrowheads="1"/>
          </p:cNvSpPr>
          <p:nvPr/>
        </p:nvSpPr>
        <p:spPr bwMode="auto">
          <a:xfrm flipH="1">
            <a:off x="2471103" y="5013643"/>
            <a:ext cx="674687" cy="298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55303" name="Group 6"/>
          <p:cNvGrpSpPr/>
          <p:nvPr/>
        </p:nvGrpSpPr>
        <p:grpSpPr bwMode="auto">
          <a:xfrm flipH="1">
            <a:off x="7422515" y="5399405"/>
            <a:ext cx="735013" cy="708025"/>
            <a:chOff x="0" y="0"/>
            <a:chExt cx="20000" cy="20000"/>
          </a:xfrm>
        </p:grpSpPr>
        <p:sp>
          <p:nvSpPr>
            <p:cNvPr id="55346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5347" name="Line 8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5304" name="Group 9"/>
          <p:cNvGrpSpPr/>
          <p:nvPr/>
        </p:nvGrpSpPr>
        <p:grpSpPr bwMode="auto">
          <a:xfrm flipH="1">
            <a:off x="6303328" y="5393055"/>
            <a:ext cx="733425" cy="731838"/>
            <a:chOff x="0" y="0"/>
            <a:chExt cx="20000" cy="20000"/>
          </a:xfrm>
        </p:grpSpPr>
        <p:sp>
          <p:nvSpPr>
            <p:cNvPr id="55344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5345" name="Line 11"/>
            <p:cNvSpPr>
              <a:spLocks noChangeShapeType="1"/>
            </p:cNvSpPr>
            <p:nvPr/>
          </p:nvSpPr>
          <p:spPr bwMode="auto">
            <a:xfrm>
              <a:off x="557" y="1380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5305" name="Freeform 12"/>
          <p:cNvSpPr/>
          <p:nvPr/>
        </p:nvSpPr>
        <p:spPr bwMode="auto">
          <a:xfrm flipH="1">
            <a:off x="6708140" y="5502593"/>
            <a:ext cx="674688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6" name="Freeform 13"/>
          <p:cNvSpPr/>
          <p:nvPr/>
        </p:nvSpPr>
        <p:spPr bwMode="auto">
          <a:xfrm flipH="1">
            <a:off x="5587365" y="5502593"/>
            <a:ext cx="674688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7" name="Freeform 14"/>
          <p:cNvSpPr/>
          <p:nvPr/>
        </p:nvSpPr>
        <p:spPr bwMode="auto">
          <a:xfrm flipH="1">
            <a:off x="4671378" y="5502593"/>
            <a:ext cx="673100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5308" name="Group 15"/>
          <p:cNvGrpSpPr/>
          <p:nvPr/>
        </p:nvGrpSpPr>
        <p:grpSpPr bwMode="auto">
          <a:xfrm flipH="1">
            <a:off x="4285615" y="5418455"/>
            <a:ext cx="733425" cy="722313"/>
            <a:chOff x="0" y="0"/>
            <a:chExt cx="20000" cy="20000"/>
          </a:xfrm>
        </p:grpSpPr>
        <p:sp>
          <p:nvSpPr>
            <p:cNvPr id="55342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5343" name="Line 17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5309" name="Group 18"/>
          <p:cNvGrpSpPr/>
          <p:nvPr/>
        </p:nvGrpSpPr>
        <p:grpSpPr bwMode="auto">
          <a:xfrm flipH="1">
            <a:off x="3164840" y="5418455"/>
            <a:ext cx="733425" cy="722313"/>
            <a:chOff x="0" y="0"/>
            <a:chExt cx="20000" cy="20000"/>
          </a:xfrm>
        </p:grpSpPr>
        <p:sp>
          <p:nvSpPr>
            <p:cNvPr id="55340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5341" name="Line 20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5310" name="Freeform 21"/>
          <p:cNvSpPr/>
          <p:nvPr/>
        </p:nvSpPr>
        <p:spPr bwMode="auto">
          <a:xfrm flipH="1">
            <a:off x="3572828" y="5502593"/>
            <a:ext cx="671512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1" name="Rectangle 22"/>
          <p:cNvSpPr>
            <a:spLocks noChangeArrowheads="1"/>
          </p:cNvSpPr>
          <p:nvPr/>
        </p:nvSpPr>
        <p:spPr bwMode="auto">
          <a:xfrm flipH="1">
            <a:off x="5242878" y="5416868"/>
            <a:ext cx="917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...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55312" name="Freeform 23"/>
          <p:cNvSpPr/>
          <p:nvPr/>
        </p:nvSpPr>
        <p:spPr bwMode="auto">
          <a:xfrm flipH="1">
            <a:off x="2775903" y="5181918"/>
            <a:ext cx="369887" cy="407987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3" name="Text Box 24"/>
          <p:cNvSpPr txBox="1">
            <a:spLocks noChangeArrowheads="1"/>
          </p:cNvSpPr>
          <p:nvPr/>
        </p:nvSpPr>
        <p:spPr bwMode="auto">
          <a:xfrm>
            <a:off x="7508240" y="5513705"/>
            <a:ext cx="638175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solidFill>
                  <a:srgbClr val="F905F6"/>
                </a:solidFill>
                <a:latin typeface="Arial" panose="020B0604020202020204" pitchFamily="34" charset="0"/>
              </a:rPr>
              <a:t>.</a:t>
            </a:r>
            <a:endParaRPr lang="en-US" altLang="zh-CN" sz="4000">
              <a:solidFill>
                <a:srgbClr val="F905F6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Group 25"/>
          <p:cNvGrpSpPr/>
          <p:nvPr/>
        </p:nvGrpSpPr>
        <p:grpSpPr bwMode="auto">
          <a:xfrm>
            <a:off x="2914015" y="6155055"/>
            <a:ext cx="503238" cy="476250"/>
            <a:chOff x="1066" y="4020"/>
            <a:chExt cx="317" cy="300"/>
          </a:xfrm>
        </p:grpSpPr>
        <p:sp>
          <p:nvSpPr>
            <p:cNvPr id="55338" name="Line 26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9" name="Text Box 27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</p:grpSp>
      <p:grpSp>
        <p:nvGrpSpPr>
          <p:cNvPr id="8" name="Group 28"/>
          <p:cNvGrpSpPr/>
          <p:nvPr/>
        </p:nvGrpSpPr>
        <p:grpSpPr bwMode="auto">
          <a:xfrm>
            <a:off x="4209415" y="6155055"/>
            <a:ext cx="503238" cy="476250"/>
            <a:chOff x="1066" y="4020"/>
            <a:chExt cx="317" cy="300"/>
          </a:xfrm>
        </p:grpSpPr>
        <p:sp>
          <p:nvSpPr>
            <p:cNvPr id="55336" name="Line 29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7" name="Text Box 30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</p:grpSp>
      <p:grpSp>
        <p:nvGrpSpPr>
          <p:cNvPr id="9" name="Group 31"/>
          <p:cNvGrpSpPr/>
          <p:nvPr/>
        </p:nvGrpSpPr>
        <p:grpSpPr bwMode="auto">
          <a:xfrm>
            <a:off x="6154103" y="6155055"/>
            <a:ext cx="503237" cy="476250"/>
            <a:chOff x="1066" y="4020"/>
            <a:chExt cx="317" cy="300"/>
          </a:xfrm>
        </p:grpSpPr>
        <p:sp>
          <p:nvSpPr>
            <p:cNvPr id="55334" name="Line 32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5" name="Text Box 33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</p:grpSp>
      <p:grpSp>
        <p:nvGrpSpPr>
          <p:cNvPr id="10" name="Group 34"/>
          <p:cNvGrpSpPr/>
          <p:nvPr/>
        </p:nvGrpSpPr>
        <p:grpSpPr bwMode="auto">
          <a:xfrm>
            <a:off x="7378065" y="6155055"/>
            <a:ext cx="503238" cy="476250"/>
            <a:chOff x="1066" y="4020"/>
            <a:chExt cx="317" cy="300"/>
          </a:xfrm>
        </p:grpSpPr>
        <p:sp>
          <p:nvSpPr>
            <p:cNvPr id="55332" name="Line 35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3" name="Text Box 36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</p:grpSp>
      <p:grpSp>
        <p:nvGrpSpPr>
          <p:cNvPr id="11" name="Group 37"/>
          <p:cNvGrpSpPr/>
          <p:nvPr/>
        </p:nvGrpSpPr>
        <p:grpSpPr bwMode="auto">
          <a:xfrm>
            <a:off x="8530590" y="6155055"/>
            <a:ext cx="503238" cy="476250"/>
            <a:chOff x="1066" y="4020"/>
            <a:chExt cx="317" cy="300"/>
          </a:xfrm>
        </p:grpSpPr>
        <p:sp>
          <p:nvSpPr>
            <p:cNvPr id="55330" name="Line 38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1" name="Text Box 39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</p:grpSp>
      <p:grpSp>
        <p:nvGrpSpPr>
          <p:cNvPr id="12" name="Group 44"/>
          <p:cNvGrpSpPr/>
          <p:nvPr/>
        </p:nvGrpSpPr>
        <p:grpSpPr bwMode="auto">
          <a:xfrm>
            <a:off x="193675" y="1790700"/>
            <a:ext cx="11922125" cy="3097213"/>
            <a:chOff x="0" y="1298"/>
            <a:chExt cx="5760" cy="1951"/>
          </a:xfrm>
        </p:grpSpPr>
        <p:sp>
          <p:nvSpPr>
            <p:cNvPr id="55328" name="Line 40"/>
            <p:cNvSpPr>
              <a:spLocks noChangeShapeType="1"/>
            </p:cNvSpPr>
            <p:nvPr/>
          </p:nvSpPr>
          <p:spPr bwMode="auto">
            <a:xfrm>
              <a:off x="0" y="3249"/>
              <a:ext cx="57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329" name="Line 41"/>
            <p:cNvSpPr>
              <a:spLocks noChangeShapeType="1"/>
            </p:cNvSpPr>
            <p:nvPr/>
          </p:nvSpPr>
          <p:spPr bwMode="auto">
            <a:xfrm>
              <a:off x="0" y="1298"/>
              <a:ext cx="57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90186" name="Line 42"/>
          <p:cNvSpPr>
            <a:spLocks noChangeShapeType="1"/>
          </p:cNvSpPr>
          <p:nvPr/>
        </p:nvSpPr>
        <p:spPr bwMode="auto">
          <a:xfrm>
            <a:off x="6888163" y="1836738"/>
            <a:ext cx="0" cy="3024187"/>
          </a:xfrm>
          <a:prstGeom prst="line">
            <a:avLst/>
          </a:prstGeom>
          <a:noFill/>
          <a:ln w="38100">
            <a:solidFill>
              <a:srgbClr val="F905F6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0187" name="Text Box 43"/>
          <p:cNvSpPr txBox="1">
            <a:spLocks noChangeArrowheads="1"/>
          </p:cNvSpPr>
          <p:nvPr/>
        </p:nvSpPr>
        <p:spPr bwMode="auto">
          <a:xfrm>
            <a:off x="7777163" y="1836738"/>
            <a:ext cx="3562350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905F6"/>
                </a:solidFill>
                <a:latin typeface="Arial" panose="020B0604020202020204" pitchFamily="34" charset="0"/>
              </a:rPr>
              <a:t>p0 = NULL;</a:t>
            </a:r>
            <a:endParaRPr lang="en-US" altLang="zh-CN" sz="2800">
              <a:solidFill>
                <a:srgbClr val="F905F6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p  =  top;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while (p != NULL ) {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chemeClr val="hlink"/>
                </a:solidFill>
                <a:latin typeface="Arial" panose="020B0604020202020204" pitchFamily="34" charset="0"/>
              </a:rPr>
              <a:t>	处理</a:t>
            </a:r>
            <a:r>
              <a:rPr lang="en-US" altLang="zh-CN" sz="2800">
                <a:solidFill>
                  <a:schemeClr val="hlink"/>
                </a:solidFill>
                <a:latin typeface="Arial" panose="020B0604020202020204" pitchFamily="34" charset="0"/>
              </a:rPr>
              <a:t>p -&gt;data</a:t>
            </a:r>
            <a:endParaRPr lang="en-US" altLang="zh-CN" sz="280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905F6"/>
                </a:solidFill>
                <a:latin typeface="Arial" panose="020B0604020202020204" pitchFamily="34" charset="0"/>
              </a:rPr>
              <a:t>	p0  =  p ;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                                                                   </a:t>
            </a:r>
            <a:r>
              <a:rPr lang="en-US" altLang="zh-CN" sz="2800">
                <a:latin typeface="Arial" panose="020B0604020202020204" pitchFamily="34" charset="0"/>
              </a:rPr>
              <a:t>	p  =  p-&gt; next; 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}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55322" name="TextBox 1"/>
          <p:cNvSpPr txBox="1">
            <a:spLocks noChangeArrowheads="1"/>
          </p:cNvSpPr>
          <p:nvPr/>
        </p:nvSpPr>
        <p:spPr bwMode="auto">
          <a:xfrm>
            <a:off x="3274378" y="5475605"/>
            <a:ext cx="603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3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5323" name="TextBox 47"/>
          <p:cNvSpPr txBox="1">
            <a:spLocks noChangeArrowheads="1"/>
          </p:cNvSpPr>
          <p:nvPr/>
        </p:nvSpPr>
        <p:spPr bwMode="auto">
          <a:xfrm>
            <a:off x="4369753" y="5439093"/>
            <a:ext cx="603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31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5324" name="TextBox 48"/>
          <p:cNvSpPr txBox="1">
            <a:spLocks noChangeArrowheads="1"/>
          </p:cNvSpPr>
          <p:nvPr/>
        </p:nvSpPr>
        <p:spPr bwMode="auto">
          <a:xfrm>
            <a:off x="6412865" y="5481955"/>
            <a:ext cx="6032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93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5325" name="TextBox 49"/>
          <p:cNvSpPr txBox="1">
            <a:spLocks noChangeArrowheads="1"/>
          </p:cNvSpPr>
          <p:nvPr/>
        </p:nvSpPr>
        <p:spPr bwMode="auto">
          <a:xfrm>
            <a:off x="7525703" y="5502593"/>
            <a:ext cx="603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98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724775" y="1893888"/>
            <a:ext cx="2068513" cy="868362"/>
          </a:xfrm>
          <a:prstGeom prst="rect">
            <a:avLst/>
          </a:prstGeom>
          <a:noFill/>
          <a:ln w="38100" algn="ctr">
            <a:solidFill>
              <a:srgbClr val="F905F6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8686800" y="3627438"/>
            <a:ext cx="2403475" cy="868362"/>
          </a:xfrm>
          <a:prstGeom prst="rect">
            <a:avLst/>
          </a:prstGeom>
          <a:noFill/>
          <a:ln w="38100" algn="ctr">
            <a:solidFill>
              <a:srgbClr val="F905F6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9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9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7" grpId="0"/>
      <p:bldP spid="390187" grpId="0"/>
      <p:bldP spid="2" grpId="0" bldLvl="0" animBg="1"/>
      <p:bldP spid="51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A07AC9C-AF39-4925-979C-4DFF82E38F6D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47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4938" y="71438"/>
            <a:ext cx="12496800" cy="41211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3.</a:t>
            </a:r>
            <a:r>
              <a:rPr lang="zh-CN" altLang="en-US" sz="36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在单向链表上检索（算法</a:t>
            </a:r>
            <a:r>
              <a:rPr lang="en-US" altLang="zh-CN" sz="36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zh-CN" altLang="en-US" sz="36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zh-CN" sz="36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zh-CN" sz="36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600" b="1" dirty="0">
                <a:effectLst/>
                <a:latin typeface="Arial" panose="020B0604020202020204" pitchFamily="34" charset="0"/>
              </a:rPr>
              <a:t>  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检索是指在单向链表上查找关键字等于某给定值的结点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, 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若找到则带回相应结点的指针，否则带回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NULL 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。设关键字域</a:t>
            </a:r>
            <a:r>
              <a:rPr lang="zh-CN" altLang="en-US" sz="2400" b="1" dirty="0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域名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为</a:t>
            </a:r>
            <a:r>
              <a:rPr lang="zh-CN" altLang="en-US" sz="2400" b="1" dirty="0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；欲检索</a:t>
            </a:r>
            <a:r>
              <a:rPr lang="zh-CN" altLang="en-US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关键字值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为</a:t>
            </a:r>
            <a:r>
              <a:rPr lang="en-US" altLang="zh-CN" sz="24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key0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，如下算法实现检索</a:t>
            </a:r>
            <a:endParaRPr lang="zh-CN" altLang="en-US" sz="2400" b="1" dirty="0">
              <a:effectLst/>
              <a:latin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ffectLst/>
              </a:rPr>
              <a:t>p = top ; </a:t>
            </a:r>
            <a:endParaRPr lang="en-US" altLang="zh-CN" b="1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ffectLst/>
              </a:rPr>
              <a:t>while (p != NULL 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&amp;&amp; </a:t>
            </a:r>
            <a:r>
              <a:rPr lang="en-US" altLang="zh-CN" b="1" dirty="0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p-&gt;data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 !=key0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b="1" dirty="0">
                <a:effectLst/>
              </a:rPr>
              <a:t>) {</a:t>
            </a:r>
            <a:endParaRPr lang="en-US" altLang="zh-CN" b="1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hlink"/>
                </a:solidFill>
                <a:effectLst/>
              </a:rPr>
              <a:t>	   </a:t>
            </a:r>
            <a:r>
              <a:rPr lang="en-US" altLang="zh-CN" b="1" dirty="0">
                <a:effectLst/>
              </a:rPr>
              <a:t>p =p-&gt;next;</a:t>
            </a:r>
            <a:endParaRPr lang="en-US" altLang="zh-CN" b="1" dirty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ffectLst/>
              </a:rPr>
              <a:t>}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57348" name="Rectangle 48"/>
          <p:cNvSpPr>
            <a:spLocks noChangeArrowheads="1"/>
          </p:cNvSpPr>
          <p:nvPr/>
        </p:nvSpPr>
        <p:spPr bwMode="auto">
          <a:xfrm flipH="1">
            <a:off x="1906588" y="4775200"/>
            <a:ext cx="733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kern="0" dirty="0">
                <a:solidFill>
                  <a:srgbClr val="F905F6"/>
                </a:solidFill>
                <a:effectLst/>
                <a:latin typeface="Arial" panose="020B0604020202020204" pitchFamily="34" charset="0"/>
                <a:ea typeface="+mn-ea"/>
              </a:rPr>
              <a:t>top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7349" name="Rectangle 49"/>
          <p:cNvSpPr>
            <a:spLocks noChangeArrowheads="1"/>
          </p:cNvSpPr>
          <p:nvPr/>
        </p:nvSpPr>
        <p:spPr bwMode="auto">
          <a:xfrm flipH="1">
            <a:off x="2413000" y="4835525"/>
            <a:ext cx="674688" cy="298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57350" name="Group 50"/>
          <p:cNvGrpSpPr/>
          <p:nvPr/>
        </p:nvGrpSpPr>
        <p:grpSpPr bwMode="auto">
          <a:xfrm flipH="1">
            <a:off x="7364413" y="5221288"/>
            <a:ext cx="735012" cy="708025"/>
            <a:chOff x="0" y="0"/>
            <a:chExt cx="20000" cy="20000"/>
          </a:xfrm>
        </p:grpSpPr>
        <p:sp>
          <p:nvSpPr>
            <p:cNvPr id="57381" name="Rectangle 51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7382" name="Line 52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7351" name="Group 53"/>
          <p:cNvGrpSpPr/>
          <p:nvPr/>
        </p:nvGrpSpPr>
        <p:grpSpPr bwMode="auto">
          <a:xfrm flipH="1">
            <a:off x="6245225" y="5214938"/>
            <a:ext cx="733425" cy="731837"/>
            <a:chOff x="0" y="0"/>
            <a:chExt cx="20000" cy="20000"/>
          </a:xfrm>
        </p:grpSpPr>
        <p:sp>
          <p:nvSpPr>
            <p:cNvPr id="57379" name="Rectangle 54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7380" name="Line 55"/>
            <p:cNvSpPr>
              <a:spLocks noChangeShapeType="1"/>
            </p:cNvSpPr>
            <p:nvPr/>
          </p:nvSpPr>
          <p:spPr bwMode="auto">
            <a:xfrm>
              <a:off x="557" y="1380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7352" name="Freeform 56"/>
          <p:cNvSpPr/>
          <p:nvPr/>
        </p:nvSpPr>
        <p:spPr bwMode="auto">
          <a:xfrm flipH="1">
            <a:off x="6650038" y="5324475"/>
            <a:ext cx="674687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3" name="Freeform 57"/>
          <p:cNvSpPr/>
          <p:nvPr/>
        </p:nvSpPr>
        <p:spPr bwMode="auto">
          <a:xfrm flipH="1">
            <a:off x="5529263" y="5324475"/>
            <a:ext cx="674687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4" name="Freeform 58"/>
          <p:cNvSpPr/>
          <p:nvPr/>
        </p:nvSpPr>
        <p:spPr bwMode="auto">
          <a:xfrm flipH="1">
            <a:off x="4613275" y="5324475"/>
            <a:ext cx="673100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7355" name="Group 59"/>
          <p:cNvGrpSpPr/>
          <p:nvPr/>
        </p:nvGrpSpPr>
        <p:grpSpPr bwMode="auto">
          <a:xfrm flipH="1">
            <a:off x="4227513" y="5240338"/>
            <a:ext cx="733425" cy="722312"/>
            <a:chOff x="0" y="0"/>
            <a:chExt cx="20000" cy="20000"/>
          </a:xfrm>
        </p:grpSpPr>
        <p:sp>
          <p:nvSpPr>
            <p:cNvPr id="57377" name="Rectangle 60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7378" name="Line 61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7356" name="Group 62"/>
          <p:cNvGrpSpPr/>
          <p:nvPr/>
        </p:nvGrpSpPr>
        <p:grpSpPr bwMode="auto">
          <a:xfrm flipH="1">
            <a:off x="3106738" y="5240338"/>
            <a:ext cx="733425" cy="722312"/>
            <a:chOff x="0" y="0"/>
            <a:chExt cx="20000" cy="20000"/>
          </a:xfrm>
        </p:grpSpPr>
        <p:sp>
          <p:nvSpPr>
            <p:cNvPr id="57375" name="Rectangle 6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7376" name="Line 64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7357" name="Freeform 65"/>
          <p:cNvSpPr/>
          <p:nvPr/>
        </p:nvSpPr>
        <p:spPr bwMode="auto">
          <a:xfrm flipH="1">
            <a:off x="3514725" y="5324475"/>
            <a:ext cx="671513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8" name="Rectangle 66"/>
          <p:cNvSpPr>
            <a:spLocks noChangeArrowheads="1"/>
          </p:cNvSpPr>
          <p:nvPr/>
        </p:nvSpPr>
        <p:spPr bwMode="auto">
          <a:xfrm flipH="1">
            <a:off x="5184775" y="5238750"/>
            <a:ext cx="917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...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57359" name="Freeform 67"/>
          <p:cNvSpPr/>
          <p:nvPr/>
        </p:nvSpPr>
        <p:spPr bwMode="auto">
          <a:xfrm flipH="1">
            <a:off x="2717800" y="5003800"/>
            <a:ext cx="369888" cy="407988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60" name="Text Box 68"/>
          <p:cNvSpPr txBox="1">
            <a:spLocks noChangeArrowheads="1"/>
          </p:cNvSpPr>
          <p:nvPr/>
        </p:nvSpPr>
        <p:spPr bwMode="auto">
          <a:xfrm>
            <a:off x="7450138" y="5335588"/>
            <a:ext cx="638175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grpSp>
        <p:nvGrpSpPr>
          <p:cNvPr id="7" name="Group 69"/>
          <p:cNvGrpSpPr/>
          <p:nvPr/>
        </p:nvGrpSpPr>
        <p:grpSpPr bwMode="auto">
          <a:xfrm>
            <a:off x="2855913" y="5976938"/>
            <a:ext cx="503237" cy="476250"/>
            <a:chOff x="1066" y="4020"/>
            <a:chExt cx="317" cy="300"/>
          </a:xfrm>
        </p:grpSpPr>
        <p:sp>
          <p:nvSpPr>
            <p:cNvPr id="57373" name="Line 70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4" name="Text Box 71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</p:grpSp>
      <p:grpSp>
        <p:nvGrpSpPr>
          <p:cNvPr id="8" name="Group 72"/>
          <p:cNvGrpSpPr/>
          <p:nvPr/>
        </p:nvGrpSpPr>
        <p:grpSpPr bwMode="auto">
          <a:xfrm>
            <a:off x="4151313" y="5976938"/>
            <a:ext cx="503237" cy="476250"/>
            <a:chOff x="1066" y="4020"/>
            <a:chExt cx="317" cy="300"/>
          </a:xfrm>
        </p:grpSpPr>
        <p:sp>
          <p:nvSpPr>
            <p:cNvPr id="57371" name="Line 73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2" name="Text Box 74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</p:grpSp>
      <p:grpSp>
        <p:nvGrpSpPr>
          <p:cNvPr id="9" name="Group 75"/>
          <p:cNvGrpSpPr/>
          <p:nvPr/>
        </p:nvGrpSpPr>
        <p:grpSpPr bwMode="auto">
          <a:xfrm>
            <a:off x="6096000" y="5976938"/>
            <a:ext cx="503238" cy="476250"/>
            <a:chOff x="1066" y="4020"/>
            <a:chExt cx="317" cy="300"/>
          </a:xfrm>
        </p:grpSpPr>
        <p:sp>
          <p:nvSpPr>
            <p:cNvPr id="57369" name="Line 76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0" name="Text Box 77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</a:t>
              </a:r>
              <a:endParaRPr lang="en-US" altLang="zh-CN" sz="2000"/>
            </a:p>
          </p:txBody>
        </p:sp>
      </p:grpSp>
      <p:sp>
        <p:nvSpPr>
          <p:cNvPr id="57364" name="Text Box 84"/>
          <p:cNvSpPr txBox="1">
            <a:spLocks noChangeArrowheads="1"/>
          </p:cNvSpPr>
          <p:nvPr/>
        </p:nvSpPr>
        <p:spPr bwMode="auto">
          <a:xfrm>
            <a:off x="3287713" y="5256213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7365" name="Text Box 85"/>
          <p:cNvSpPr txBox="1">
            <a:spLocks noChangeArrowheads="1"/>
          </p:cNvSpPr>
          <p:nvPr/>
        </p:nvSpPr>
        <p:spPr bwMode="auto">
          <a:xfrm>
            <a:off x="4367213" y="5256213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7366" name="Text Box 86"/>
          <p:cNvSpPr txBox="1">
            <a:spLocks noChangeArrowheads="1"/>
          </p:cNvSpPr>
          <p:nvPr/>
        </p:nvSpPr>
        <p:spPr bwMode="auto">
          <a:xfrm>
            <a:off x="6383338" y="5256213"/>
            <a:ext cx="6032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kern="0" dirty="0">
                <a:solidFill>
                  <a:srgbClr val="F905F6"/>
                </a:solidFill>
                <a:effectLst/>
                <a:latin typeface="Arial" panose="020B0604020202020204" pitchFamily="34" charset="0"/>
                <a:ea typeface="+mn-ea"/>
              </a:rPr>
              <a:t>54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7367" name="Text Box 86"/>
          <p:cNvSpPr txBox="1">
            <a:spLocks noChangeArrowheads="1"/>
          </p:cNvSpPr>
          <p:nvPr/>
        </p:nvSpPr>
        <p:spPr bwMode="auto">
          <a:xfrm>
            <a:off x="7434263" y="5205413"/>
            <a:ext cx="604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68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514206" y="2962841"/>
            <a:ext cx="7677794" cy="16300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【</a:t>
            </a:r>
            <a:r>
              <a:rPr lang="zh-CN" altLang="en-US" sz="2400" dirty="0">
                <a:latin typeface="Arial" panose="020B0604020202020204" pitchFamily="34" charset="0"/>
              </a:rPr>
              <a:t>思考</a:t>
            </a:r>
            <a:r>
              <a:rPr lang="en-US" altLang="zh-CN" sz="2400" dirty="0">
                <a:latin typeface="Arial" panose="020B0604020202020204" pitchFamily="34" charset="0"/>
              </a:rPr>
              <a:t>】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1.</a:t>
            </a:r>
            <a:r>
              <a:rPr lang="zh-CN" altLang="en-US" sz="2400" dirty="0">
                <a:latin typeface="Arial" panose="020B0604020202020204" pitchFamily="34" charset="0"/>
              </a:rPr>
              <a:t>如果链表中没有</a:t>
            </a:r>
            <a:r>
              <a:rPr lang="en-US" altLang="zh-CN" sz="2400" dirty="0">
                <a:latin typeface="Arial" panose="020B0604020202020204" pitchFamily="34" charset="0"/>
              </a:rPr>
              <a:t>key0</a:t>
            </a:r>
            <a:r>
              <a:rPr lang="zh-CN" altLang="en-US" sz="2400" dirty="0">
                <a:latin typeface="Arial" panose="020B0604020202020204" pitchFamily="34" charset="0"/>
              </a:rPr>
              <a:t>结点，退出循环时</a:t>
            </a:r>
            <a:r>
              <a:rPr lang="en-US" altLang="zh-CN" sz="2400" dirty="0">
                <a:latin typeface="Arial" panose="020B0604020202020204" pitchFamily="34" charset="0"/>
              </a:rPr>
              <a:t>p</a:t>
            </a:r>
            <a:r>
              <a:rPr lang="zh-CN" altLang="en-US" sz="2400" dirty="0">
                <a:latin typeface="Arial" panose="020B0604020202020204" pitchFamily="34" charset="0"/>
              </a:rPr>
              <a:t>的值是什么？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2.</a:t>
            </a:r>
            <a:r>
              <a:rPr lang="zh-CN" altLang="en-US" sz="2400" dirty="0">
                <a:latin typeface="Arial" panose="020B0604020202020204" pitchFamily="34" charset="0"/>
              </a:rPr>
              <a:t>如何设计该函数（参数？返回类型？）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int</a:t>
            </a:r>
            <a:r>
              <a:rPr lang="en-US" altLang="zh-CN" sz="2400" dirty="0">
                <a:solidFill>
                  <a:srgbClr val="FFFF00"/>
                </a:solidFill>
              </a:rPr>
              <a:t> </a:t>
            </a:r>
            <a:r>
              <a:rPr lang="en-US" altLang="zh-CN" sz="2400" dirty="0"/>
              <a:t>search(</a:t>
            </a:r>
            <a:r>
              <a:rPr lang="zh-CN" altLang="en-US" sz="2800" kern="0" dirty="0">
                <a:solidFill>
                  <a:srgbClr val="F905F6"/>
                </a:solidFill>
                <a:effectLst/>
                <a:latin typeface="Arial" panose="020B0604020202020204" pitchFamily="34" charset="0"/>
                <a:ea typeface="+mn-ea"/>
              </a:rPr>
              <a:t> struct link *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top, </a:t>
            </a:r>
            <a:r>
              <a:rPr lang="zh-CN" altLang="en-US" sz="2800" kern="0" dirty="0">
                <a:solidFill>
                  <a:srgbClr val="F905F6"/>
                </a:solidFill>
                <a:effectLst/>
                <a:latin typeface="Arial" panose="020B0604020202020204" pitchFamily="34" charset="0"/>
                <a:ea typeface="+mn-ea"/>
              </a:rPr>
              <a:t>int</a:t>
            </a:r>
            <a:r>
              <a:rPr lang="en-US" altLang="zh-CN" sz="2400" dirty="0"/>
              <a:t> key );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134600" y="6362700"/>
            <a:ext cx="1520825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73E5CA1-623B-4460-BC20-6F4C95BF375A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3988" y="406400"/>
            <a:ext cx="7793037" cy="4864100"/>
          </a:xfrm>
        </p:spPr>
        <p:txBody>
          <a:bodyPr/>
          <a:lstStyle/>
          <a:p>
            <a:pPr eaLnBrk="1" hangingPunct="1"/>
            <a:r>
              <a:rPr lang="en-US" altLang="zh-CN" sz="36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3.</a:t>
            </a:r>
            <a:r>
              <a:rPr lang="zh-CN" altLang="en-US" sz="36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在单向链表上检索（算法</a:t>
            </a:r>
            <a:r>
              <a:rPr lang="en-US" altLang="zh-CN" sz="36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zh-CN" altLang="en-US" sz="36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） </a:t>
            </a:r>
            <a:r>
              <a:rPr lang="en-US" altLang="zh-CN" sz="36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zh-CN" sz="3600" b="1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/>
            <a:endParaRPr lang="en-US" altLang="zh-CN" sz="3600" b="1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p0 = NULL;</a:t>
            </a:r>
            <a:endParaRPr lang="en-US" altLang="zh-CN" b="1">
              <a:solidFill>
                <a:srgbClr val="F905F6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b="1">
                <a:effectLst/>
                <a:latin typeface="Arial" panose="020B0604020202020204" pitchFamily="34" charset="0"/>
              </a:rPr>
              <a:t>p  = top ;</a:t>
            </a:r>
            <a:endParaRPr lang="en-US" altLang="zh-CN" b="1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b="1">
                <a:effectLst/>
                <a:latin typeface="Arial" panose="020B0604020202020204" pitchFamily="34" charset="0"/>
              </a:rPr>
              <a:t>while (p != NULL &amp;&amp; p-&gt;data!=key0 ) {</a:t>
            </a:r>
            <a:endParaRPr lang="en-US" altLang="zh-CN" b="1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lang="en-US" altLang="zh-CN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	p0 = p;</a:t>
            </a:r>
            <a:endParaRPr lang="en-US" altLang="zh-CN" b="1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b="1">
                <a:effectLst/>
                <a:latin typeface="Arial" panose="020B0604020202020204" pitchFamily="34" charset="0"/>
              </a:rPr>
              <a:t>     	p  =  p-&gt; next;</a:t>
            </a:r>
            <a:endParaRPr lang="en-US" altLang="zh-CN" b="1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b="1">
                <a:effectLst/>
                <a:latin typeface="Arial" panose="020B0604020202020204" pitchFamily="34" charset="0"/>
              </a:rPr>
              <a:t>}</a:t>
            </a:r>
            <a:endParaRPr lang="en-US" altLang="zh-CN" b="1">
              <a:effectLst/>
              <a:latin typeface="Arial" panose="020B0604020202020204" pitchFamily="34" charset="0"/>
            </a:endParaRPr>
          </a:p>
        </p:txBody>
      </p:sp>
      <p:sp>
        <p:nvSpPr>
          <p:cNvPr id="59396" name="Rectangle 3"/>
          <p:cNvSpPr>
            <a:spLocks noChangeArrowheads="1"/>
          </p:cNvSpPr>
          <p:nvPr/>
        </p:nvSpPr>
        <p:spPr bwMode="auto">
          <a:xfrm flipH="1">
            <a:off x="2768600" y="5180965"/>
            <a:ext cx="733425" cy="44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kern="0">
                <a:solidFill>
                  <a:srgbClr val="F905F6"/>
                </a:solidFill>
                <a:effectLst/>
                <a:latin typeface="Arial" panose="020B0604020202020204" pitchFamily="34" charset="0"/>
                <a:ea typeface="+mn-ea"/>
              </a:rPr>
              <a:t>top</a:t>
            </a:r>
            <a:endParaRPr lang="en-US" altLang="zh-CN" sz="2800" kern="0">
              <a:solidFill>
                <a:srgbClr val="F905F6"/>
              </a:solidFill>
              <a:effectLst/>
              <a:latin typeface="Arial" panose="020B0604020202020204" pitchFamily="34" charset="0"/>
              <a:ea typeface="+mn-ea"/>
            </a:endParaRP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 flipH="1">
            <a:off x="3421063" y="5240338"/>
            <a:ext cx="674687" cy="298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59398" name="Group 5"/>
          <p:cNvGrpSpPr/>
          <p:nvPr/>
        </p:nvGrpSpPr>
        <p:grpSpPr bwMode="auto">
          <a:xfrm flipH="1">
            <a:off x="9464675" y="5626100"/>
            <a:ext cx="735013" cy="708025"/>
            <a:chOff x="0" y="0"/>
            <a:chExt cx="20000" cy="20000"/>
          </a:xfrm>
        </p:grpSpPr>
        <p:sp>
          <p:nvSpPr>
            <p:cNvPr id="59447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9448" name="Line 7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9399" name="Group 8"/>
          <p:cNvGrpSpPr/>
          <p:nvPr/>
        </p:nvGrpSpPr>
        <p:grpSpPr bwMode="auto">
          <a:xfrm flipH="1">
            <a:off x="8345488" y="5619750"/>
            <a:ext cx="733425" cy="731838"/>
            <a:chOff x="0" y="0"/>
            <a:chExt cx="20000" cy="20000"/>
          </a:xfrm>
        </p:grpSpPr>
        <p:sp>
          <p:nvSpPr>
            <p:cNvPr id="59445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9446" name="Line 10"/>
            <p:cNvSpPr>
              <a:spLocks noChangeShapeType="1"/>
            </p:cNvSpPr>
            <p:nvPr/>
          </p:nvSpPr>
          <p:spPr bwMode="auto">
            <a:xfrm>
              <a:off x="557" y="1380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9400" name="Freeform 11"/>
          <p:cNvSpPr/>
          <p:nvPr/>
        </p:nvSpPr>
        <p:spPr bwMode="auto">
          <a:xfrm flipH="1">
            <a:off x="8750300" y="5729288"/>
            <a:ext cx="674688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1" name="Freeform 12"/>
          <p:cNvSpPr/>
          <p:nvPr/>
        </p:nvSpPr>
        <p:spPr bwMode="auto">
          <a:xfrm flipH="1">
            <a:off x="7629525" y="5729288"/>
            <a:ext cx="674688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2" name="Freeform 13"/>
          <p:cNvSpPr/>
          <p:nvPr/>
        </p:nvSpPr>
        <p:spPr bwMode="auto">
          <a:xfrm flipH="1">
            <a:off x="5621338" y="5729288"/>
            <a:ext cx="673100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9403" name="Group 14"/>
          <p:cNvGrpSpPr/>
          <p:nvPr/>
        </p:nvGrpSpPr>
        <p:grpSpPr bwMode="auto">
          <a:xfrm flipH="1">
            <a:off x="5235575" y="5645150"/>
            <a:ext cx="733425" cy="722313"/>
            <a:chOff x="0" y="0"/>
            <a:chExt cx="20000" cy="20000"/>
          </a:xfrm>
        </p:grpSpPr>
        <p:sp>
          <p:nvSpPr>
            <p:cNvPr id="59443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9444" name="Line 1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9404" name="Group 17"/>
          <p:cNvGrpSpPr/>
          <p:nvPr/>
        </p:nvGrpSpPr>
        <p:grpSpPr bwMode="auto">
          <a:xfrm flipH="1">
            <a:off x="4114800" y="5645150"/>
            <a:ext cx="733425" cy="722313"/>
            <a:chOff x="0" y="0"/>
            <a:chExt cx="20000" cy="20000"/>
          </a:xfrm>
        </p:grpSpPr>
        <p:sp>
          <p:nvSpPr>
            <p:cNvPr id="59441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9442" name="Line 19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9405" name="Freeform 20"/>
          <p:cNvSpPr/>
          <p:nvPr/>
        </p:nvSpPr>
        <p:spPr bwMode="auto">
          <a:xfrm flipH="1">
            <a:off x="4522788" y="5729288"/>
            <a:ext cx="671512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Rectangle 21"/>
          <p:cNvSpPr>
            <a:spLocks noChangeArrowheads="1"/>
          </p:cNvSpPr>
          <p:nvPr/>
        </p:nvSpPr>
        <p:spPr bwMode="auto">
          <a:xfrm flipH="1">
            <a:off x="6192838" y="5643563"/>
            <a:ext cx="917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...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59407" name="Freeform 22"/>
          <p:cNvSpPr/>
          <p:nvPr/>
        </p:nvSpPr>
        <p:spPr bwMode="auto">
          <a:xfrm flipH="1">
            <a:off x="3725863" y="5408613"/>
            <a:ext cx="369887" cy="407987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8" name="Text Box 23"/>
          <p:cNvSpPr txBox="1">
            <a:spLocks noChangeArrowheads="1"/>
          </p:cNvSpPr>
          <p:nvPr/>
        </p:nvSpPr>
        <p:spPr bwMode="auto">
          <a:xfrm>
            <a:off x="9634538" y="5700713"/>
            <a:ext cx="638175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grpSp>
        <p:nvGrpSpPr>
          <p:cNvPr id="6" name="Group 24"/>
          <p:cNvGrpSpPr/>
          <p:nvPr/>
        </p:nvGrpSpPr>
        <p:grpSpPr bwMode="auto">
          <a:xfrm>
            <a:off x="4224338" y="6381750"/>
            <a:ext cx="503237" cy="476250"/>
            <a:chOff x="1066" y="4020"/>
            <a:chExt cx="317" cy="300"/>
          </a:xfrm>
        </p:grpSpPr>
        <p:sp>
          <p:nvSpPr>
            <p:cNvPr id="59439" name="Line 25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40" name="Text Box 26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905F6"/>
                  </a:solidFill>
                </a:rPr>
                <a:t>p</a:t>
              </a:r>
              <a:endParaRPr lang="en-US" altLang="zh-CN" sz="2000">
                <a:solidFill>
                  <a:srgbClr val="F905F6"/>
                </a:solidFill>
              </a:endParaRPr>
            </a:p>
          </p:txBody>
        </p:sp>
      </p:grpSp>
      <p:grpSp>
        <p:nvGrpSpPr>
          <p:cNvPr id="7" name="Group 27"/>
          <p:cNvGrpSpPr/>
          <p:nvPr/>
        </p:nvGrpSpPr>
        <p:grpSpPr bwMode="auto">
          <a:xfrm>
            <a:off x="5375275" y="6381750"/>
            <a:ext cx="503238" cy="477838"/>
            <a:chOff x="1066" y="4020"/>
            <a:chExt cx="317" cy="301"/>
          </a:xfrm>
        </p:grpSpPr>
        <p:sp>
          <p:nvSpPr>
            <p:cNvPr id="59437" name="Line 28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38" name="Text Box 29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905F6"/>
                  </a:solidFill>
                </a:rPr>
                <a:t>p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oup 30"/>
          <p:cNvGrpSpPr/>
          <p:nvPr/>
        </p:nvGrpSpPr>
        <p:grpSpPr bwMode="auto">
          <a:xfrm>
            <a:off x="8232775" y="6362700"/>
            <a:ext cx="503238" cy="477838"/>
            <a:chOff x="1066" y="4020"/>
            <a:chExt cx="317" cy="301"/>
          </a:xfrm>
        </p:grpSpPr>
        <p:sp>
          <p:nvSpPr>
            <p:cNvPr id="59435" name="Line 31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36" name="Text Box 32"/>
            <p:cNvSpPr txBox="1">
              <a:spLocks noChangeArrowheads="1"/>
            </p:cNvSpPr>
            <p:nvPr/>
          </p:nvSpPr>
          <p:spPr bwMode="auto">
            <a:xfrm>
              <a:off x="1066" y="4070"/>
              <a:ext cx="272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905F6"/>
                  </a:solidFill>
                </a:rPr>
                <a:t>p</a:t>
              </a:r>
              <a:endParaRPr lang="en-US" altLang="zh-CN" sz="2000">
                <a:solidFill>
                  <a:srgbClr val="F905F6"/>
                </a:solidFill>
              </a:endParaRPr>
            </a:p>
          </p:txBody>
        </p:sp>
      </p:grpSp>
      <p:grpSp>
        <p:nvGrpSpPr>
          <p:cNvPr id="9" name="Group 42"/>
          <p:cNvGrpSpPr/>
          <p:nvPr/>
        </p:nvGrpSpPr>
        <p:grpSpPr bwMode="auto">
          <a:xfrm>
            <a:off x="3719513" y="6381750"/>
            <a:ext cx="574675" cy="476250"/>
            <a:chOff x="431" y="4020"/>
            <a:chExt cx="362" cy="300"/>
          </a:xfrm>
        </p:grpSpPr>
        <p:sp>
          <p:nvSpPr>
            <p:cNvPr id="59433" name="Text Box 41"/>
            <p:cNvSpPr txBox="1">
              <a:spLocks noChangeArrowheads="1"/>
            </p:cNvSpPr>
            <p:nvPr/>
          </p:nvSpPr>
          <p:spPr bwMode="auto">
            <a:xfrm>
              <a:off x="431" y="4070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p0</a:t>
              </a:r>
              <a:endParaRPr lang="en-US" altLang="zh-CN" sz="2000"/>
            </a:p>
          </p:txBody>
        </p:sp>
        <p:sp>
          <p:nvSpPr>
            <p:cNvPr id="59434" name="Line 40"/>
            <p:cNvSpPr>
              <a:spLocks noChangeShapeType="1"/>
            </p:cNvSpPr>
            <p:nvPr/>
          </p:nvSpPr>
          <p:spPr bwMode="auto">
            <a:xfrm flipV="1">
              <a:off x="748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43"/>
          <p:cNvGrpSpPr/>
          <p:nvPr/>
        </p:nvGrpSpPr>
        <p:grpSpPr bwMode="auto">
          <a:xfrm>
            <a:off x="4872038" y="6381750"/>
            <a:ext cx="574675" cy="476250"/>
            <a:chOff x="431" y="4020"/>
            <a:chExt cx="362" cy="300"/>
          </a:xfrm>
        </p:grpSpPr>
        <p:sp>
          <p:nvSpPr>
            <p:cNvPr id="59431" name="Text Box 44"/>
            <p:cNvSpPr txBox="1">
              <a:spLocks noChangeArrowheads="1"/>
            </p:cNvSpPr>
            <p:nvPr/>
          </p:nvSpPr>
          <p:spPr bwMode="auto">
            <a:xfrm>
              <a:off x="431" y="4070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p0</a:t>
              </a:r>
              <a:endParaRPr lang="en-US" altLang="zh-CN" sz="2000"/>
            </a:p>
          </p:txBody>
        </p:sp>
        <p:sp>
          <p:nvSpPr>
            <p:cNvPr id="59432" name="Line 45"/>
            <p:cNvSpPr>
              <a:spLocks noChangeShapeType="1"/>
            </p:cNvSpPr>
            <p:nvPr/>
          </p:nvSpPr>
          <p:spPr bwMode="auto">
            <a:xfrm flipV="1">
              <a:off x="748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414" name="Text Box 46"/>
          <p:cNvSpPr txBox="1">
            <a:spLocks noChangeArrowheads="1"/>
          </p:cNvSpPr>
          <p:nvPr/>
        </p:nvSpPr>
        <p:spPr bwMode="auto">
          <a:xfrm>
            <a:off x="4295775" y="566102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9415" name="Text Box 47"/>
          <p:cNvSpPr txBox="1">
            <a:spLocks noChangeArrowheads="1"/>
          </p:cNvSpPr>
          <p:nvPr/>
        </p:nvSpPr>
        <p:spPr bwMode="auto">
          <a:xfrm>
            <a:off x="5375275" y="566102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9416" name="Text Box 48"/>
          <p:cNvSpPr txBox="1">
            <a:spLocks noChangeArrowheads="1"/>
          </p:cNvSpPr>
          <p:nvPr/>
        </p:nvSpPr>
        <p:spPr bwMode="auto">
          <a:xfrm>
            <a:off x="8483600" y="5661025"/>
            <a:ext cx="612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905F6"/>
                </a:solidFill>
              </a:rPr>
              <a:t>54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Group 49"/>
          <p:cNvGrpSpPr/>
          <p:nvPr/>
        </p:nvGrpSpPr>
        <p:grpSpPr bwMode="auto">
          <a:xfrm>
            <a:off x="2927350" y="6381750"/>
            <a:ext cx="574675" cy="476250"/>
            <a:chOff x="477" y="4020"/>
            <a:chExt cx="362" cy="300"/>
          </a:xfrm>
        </p:grpSpPr>
        <p:sp>
          <p:nvSpPr>
            <p:cNvPr id="59429" name="Text Box 50"/>
            <p:cNvSpPr txBox="1">
              <a:spLocks noChangeArrowheads="1"/>
            </p:cNvSpPr>
            <p:nvPr/>
          </p:nvSpPr>
          <p:spPr bwMode="auto">
            <a:xfrm>
              <a:off x="477" y="4070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p0</a:t>
              </a:r>
              <a:endParaRPr lang="en-US" altLang="zh-CN" sz="2000"/>
            </a:p>
          </p:txBody>
        </p:sp>
        <p:sp>
          <p:nvSpPr>
            <p:cNvPr id="59430" name="Line 51"/>
            <p:cNvSpPr>
              <a:spLocks noChangeShapeType="1"/>
            </p:cNvSpPr>
            <p:nvPr/>
          </p:nvSpPr>
          <p:spPr bwMode="auto">
            <a:xfrm flipV="1">
              <a:off x="748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49"/>
          <p:cNvGrpSpPr/>
          <p:nvPr/>
        </p:nvGrpSpPr>
        <p:grpSpPr bwMode="auto">
          <a:xfrm>
            <a:off x="7104063" y="6381750"/>
            <a:ext cx="574675" cy="476250"/>
            <a:chOff x="477" y="4020"/>
            <a:chExt cx="362" cy="300"/>
          </a:xfrm>
        </p:grpSpPr>
        <p:sp>
          <p:nvSpPr>
            <p:cNvPr id="59427" name="Text Box 50"/>
            <p:cNvSpPr txBox="1">
              <a:spLocks noChangeArrowheads="1"/>
            </p:cNvSpPr>
            <p:nvPr/>
          </p:nvSpPr>
          <p:spPr bwMode="auto">
            <a:xfrm>
              <a:off x="477" y="4070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/>
                <a:t>p0</a:t>
              </a:r>
              <a:endParaRPr lang="en-US" altLang="zh-CN" sz="2000"/>
            </a:p>
          </p:txBody>
        </p:sp>
        <p:sp>
          <p:nvSpPr>
            <p:cNvPr id="59428" name="Line 51"/>
            <p:cNvSpPr>
              <a:spLocks noChangeShapeType="1"/>
            </p:cNvSpPr>
            <p:nvPr/>
          </p:nvSpPr>
          <p:spPr bwMode="auto">
            <a:xfrm flipV="1">
              <a:off x="748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9" name="Group 5"/>
          <p:cNvGrpSpPr/>
          <p:nvPr/>
        </p:nvGrpSpPr>
        <p:grpSpPr bwMode="auto">
          <a:xfrm flipH="1">
            <a:off x="7232650" y="5589588"/>
            <a:ext cx="735013" cy="708025"/>
            <a:chOff x="0" y="0"/>
            <a:chExt cx="20000" cy="20000"/>
          </a:xfrm>
        </p:grpSpPr>
        <p:sp>
          <p:nvSpPr>
            <p:cNvPr id="59425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9426" name="Line 7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9420" name="Freeform 11"/>
          <p:cNvSpPr/>
          <p:nvPr/>
        </p:nvSpPr>
        <p:spPr bwMode="auto">
          <a:xfrm flipH="1">
            <a:off x="6389688" y="5692775"/>
            <a:ext cx="674687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21" name="Text Box 47"/>
          <p:cNvSpPr txBox="1">
            <a:spLocks noChangeArrowheads="1"/>
          </p:cNvSpPr>
          <p:nvPr/>
        </p:nvSpPr>
        <p:spPr bwMode="auto">
          <a:xfrm>
            <a:off x="7391400" y="5664200"/>
            <a:ext cx="584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16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9422" name="Text Box 48"/>
          <p:cNvSpPr txBox="1">
            <a:spLocks noChangeArrowheads="1"/>
          </p:cNvSpPr>
          <p:nvPr/>
        </p:nvSpPr>
        <p:spPr bwMode="auto">
          <a:xfrm>
            <a:off x="9566275" y="5627688"/>
            <a:ext cx="612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68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153988" y="1700213"/>
            <a:ext cx="2292350" cy="1152525"/>
          </a:xfrm>
          <a:prstGeom prst="rect">
            <a:avLst/>
          </a:prstGeom>
          <a:noFill/>
          <a:ln w="38100" algn="ctr">
            <a:solidFill>
              <a:srgbClr val="F905F6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6" name="矩形 55"/>
          <p:cNvSpPr>
            <a:spLocks noChangeArrowheads="1"/>
          </p:cNvSpPr>
          <p:nvPr/>
        </p:nvSpPr>
        <p:spPr bwMode="auto">
          <a:xfrm>
            <a:off x="971550" y="3467100"/>
            <a:ext cx="3014663" cy="1150938"/>
          </a:xfrm>
          <a:prstGeom prst="rect">
            <a:avLst/>
          </a:prstGeom>
          <a:noFill/>
          <a:ln w="38100" algn="ctr">
            <a:solidFill>
              <a:srgbClr val="F905F6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5A25C8A-7F0B-4545-A531-5459F30408A1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175" y="39688"/>
            <a:ext cx="11447463" cy="2524125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4.</a:t>
            </a:r>
            <a:r>
              <a:rPr lang="zh-CN" altLang="en-US" sz="28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向单向链表插入一项</a:t>
            </a:r>
            <a:r>
              <a:rPr lang="en-US" altLang="zh-CN" sz="28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zh-CN" sz="2800" b="1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latin typeface="Arial" panose="020B0604020202020204" pitchFamily="34" charset="0"/>
              </a:rPr>
              <a:t>      </a:t>
            </a:r>
            <a:r>
              <a:rPr lang="zh-CN" altLang="en-US" sz="2000" b="1">
                <a:effectLst/>
                <a:latin typeface="Arial" panose="020B0604020202020204" pitchFamily="34" charset="0"/>
              </a:rPr>
              <a:t>设有下图的链表，现在要把</a:t>
            </a:r>
            <a:r>
              <a:rPr lang="en-US" altLang="zh-CN" sz="2000" b="1">
                <a:effectLst/>
                <a:latin typeface="Arial" panose="020B0604020202020204" pitchFamily="34" charset="0"/>
              </a:rPr>
              <a:t>r</a:t>
            </a:r>
            <a:r>
              <a:rPr lang="zh-CN" altLang="en-US" sz="2000" b="1">
                <a:effectLst/>
                <a:latin typeface="Arial" panose="020B0604020202020204" pitchFamily="34" charset="0"/>
              </a:rPr>
              <a:t>所指示的数据项插入到 </a:t>
            </a:r>
            <a:r>
              <a:rPr lang="en-US" altLang="zh-CN" sz="2000" b="1">
                <a:effectLst/>
                <a:latin typeface="Arial" panose="020B0604020202020204" pitchFamily="34" charset="0"/>
              </a:rPr>
              <a:t>p0</a:t>
            </a:r>
            <a:r>
              <a:rPr lang="zh-CN" altLang="en-US" sz="2000" b="1">
                <a:effectLst/>
                <a:latin typeface="Arial" panose="020B0604020202020204" pitchFamily="34" charset="0"/>
              </a:rPr>
              <a:t>、</a:t>
            </a:r>
            <a:r>
              <a:rPr lang="en-US" altLang="zh-CN" sz="2000" b="1">
                <a:effectLst/>
                <a:latin typeface="Arial" panose="020B0604020202020204" pitchFamily="34" charset="0"/>
              </a:rPr>
              <a:t>p </a:t>
            </a:r>
            <a:r>
              <a:rPr lang="zh-CN" altLang="en-US" sz="2000" b="1">
                <a:effectLst/>
                <a:latin typeface="Arial" panose="020B0604020202020204" pitchFamily="34" charset="0"/>
              </a:rPr>
              <a:t>所指两项之间。操作是</a:t>
            </a:r>
            <a:r>
              <a:rPr lang="en-US" altLang="zh-CN" sz="2000" b="1">
                <a:effectLst/>
                <a:latin typeface="Arial" panose="020B0604020202020204" pitchFamily="34" charset="0"/>
              </a:rPr>
              <a:t>:</a:t>
            </a:r>
            <a:endParaRPr lang="en-US" altLang="zh-CN" sz="2000" b="1">
              <a:effectLst/>
              <a:latin typeface="Arial" panose="020B0604020202020204" pitchFamily="34" charset="0"/>
            </a:endParaRPr>
          </a:p>
          <a:p>
            <a:pPr lvl="2"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200" b="1">
                <a:effectLst/>
                <a:latin typeface="Arial" panose="020B0604020202020204" pitchFamily="34" charset="0"/>
              </a:rPr>
              <a:t>          r-&gt; next  =  p ;</a:t>
            </a:r>
            <a:endParaRPr lang="en-US" altLang="zh-CN" sz="3200" b="1">
              <a:effectLst/>
              <a:latin typeface="Arial" panose="020B0604020202020204" pitchFamily="34" charset="0"/>
            </a:endParaRPr>
          </a:p>
          <a:p>
            <a:pPr lvl="2"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200" b="1">
                <a:effectLst/>
                <a:latin typeface="Arial" panose="020B0604020202020204" pitchFamily="34" charset="0"/>
              </a:rPr>
              <a:t>          p0-&gt; next  =  r ; </a:t>
            </a:r>
            <a:endParaRPr lang="en-US" altLang="zh-CN" sz="3200" b="1">
              <a:effectLst/>
              <a:latin typeface="Arial" panose="020B0604020202020204" pitchFamily="34" charset="0"/>
            </a:endParaRPr>
          </a:p>
          <a:p>
            <a:pPr lvl="2" eaLnBrk="1" hangingPunct="1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    </a:t>
            </a:r>
            <a:r>
              <a:rPr lang="en-US" altLang="zh-CN" sz="3200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 p0  =  r;            </a:t>
            </a:r>
            <a:r>
              <a:rPr lang="en-US" altLang="zh-CN" sz="2000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// </a:t>
            </a:r>
            <a:r>
              <a:rPr lang="zh-CN" altLang="en-US" sz="2000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使 </a:t>
            </a:r>
            <a:r>
              <a:rPr lang="en-US" altLang="zh-CN" sz="2000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p0 </a:t>
            </a:r>
            <a:r>
              <a:rPr lang="zh-CN" altLang="en-US" sz="2000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仍为 </a:t>
            </a:r>
            <a:r>
              <a:rPr lang="en-US" altLang="zh-CN" sz="2000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p </a:t>
            </a:r>
            <a:r>
              <a:rPr lang="zh-CN" altLang="en-US" sz="2000" b="1">
                <a:solidFill>
                  <a:srgbClr val="F905F6"/>
                </a:solidFill>
                <a:effectLst/>
                <a:latin typeface="Arial" panose="020B0604020202020204" pitchFamily="34" charset="0"/>
              </a:rPr>
              <a:t>的前一项 </a:t>
            </a:r>
            <a:endParaRPr lang="zh-CN" altLang="en-US" sz="2000" b="1">
              <a:solidFill>
                <a:srgbClr val="F905F6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2244725" y="5846763"/>
            <a:ext cx="2305050" cy="719137"/>
            <a:chOff x="0" y="0"/>
            <a:chExt cx="20001" cy="20000"/>
          </a:xfrm>
        </p:grpSpPr>
        <p:grpSp>
          <p:nvGrpSpPr>
            <p:cNvPr id="61470" name="Group 4"/>
            <p:cNvGrpSpPr/>
            <p:nvPr/>
          </p:nvGrpSpPr>
          <p:grpSpPr bwMode="auto">
            <a:xfrm>
              <a:off x="0" y="0"/>
              <a:ext cx="9744" cy="10684"/>
              <a:chOff x="0" y="0"/>
              <a:chExt cx="20000" cy="20000"/>
            </a:xfrm>
          </p:grpSpPr>
          <p:sp>
            <p:nvSpPr>
              <p:cNvPr id="61474" name="Rectangle 5"/>
              <p:cNvSpPr>
                <a:spLocks noChangeArrowheads="1"/>
              </p:cNvSpPr>
              <p:nvPr/>
            </p:nvSpPr>
            <p:spPr bwMode="auto">
              <a:xfrm>
                <a:off x="4639" y="2492"/>
                <a:ext cx="15361" cy="13772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1475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5727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r: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967" name="Rectangle 7"/>
            <p:cNvSpPr>
              <a:spLocks noChangeArrowheads="1"/>
            </p:cNvSpPr>
            <p:nvPr/>
          </p:nvSpPr>
          <p:spPr bwMode="auto">
            <a:xfrm>
              <a:off x="13913" y="662"/>
              <a:ext cx="6088" cy="1933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20</a:t>
              </a:r>
              <a:endPara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472" name="Line 8"/>
            <p:cNvSpPr>
              <a:spLocks noChangeShapeType="1"/>
            </p:cNvSpPr>
            <p:nvPr/>
          </p:nvSpPr>
          <p:spPr bwMode="auto">
            <a:xfrm>
              <a:off x="13908" y="12569"/>
              <a:ext cx="5919" cy="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  <p:sp>
          <p:nvSpPr>
            <p:cNvPr id="61473" name="Line 9"/>
            <p:cNvSpPr>
              <a:spLocks noChangeShapeType="1"/>
            </p:cNvSpPr>
            <p:nvPr/>
          </p:nvSpPr>
          <p:spPr bwMode="auto">
            <a:xfrm>
              <a:off x="6954" y="5323"/>
              <a:ext cx="6441" cy="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61445" name="Rectangle 10"/>
          <p:cNvSpPr>
            <a:spLocks noChangeArrowheads="1"/>
          </p:cNvSpPr>
          <p:nvPr/>
        </p:nvSpPr>
        <p:spPr bwMode="auto">
          <a:xfrm>
            <a:off x="2195513" y="3521075"/>
            <a:ext cx="823912" cy="263525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61446" name="Rectangle 11"/>
          <p:cNvSpPr>
            <a:spLocks noChangeArrowheads="1"/>
          </p:cNvSpPr>
          <p:nvPr/>
        </p:nvSpPr>
        <p:spPr bwMode="auto">
          <a:xfrm>
            <a:off x="1690688" y="3449638"/>
            <a:ext cx="558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p0: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47" name="Rectangle 12"/>
          <p:cNvSpPr>
            <a:spLocks noChangeArrowheads="1"/>
          </p:cNvSpPr>
          <p:nvPr/>
        </p:nvSpPr>
        <p:spPr bwMode="auto">
          <a:xfrm>
            <a:off x="5032375" y="3521075"/>
            <a:ext cx="823913" cy="263525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61448" name="Rectangle 13"/>
          <p:cNvSpPr>
            <a:spLocks noChangeArrowheads="1"/>
          </p:cNvSpPr>
          <p:nvPr/>
        </p:nvSpPr>
        <p:spPr bwMode="auto">
          <a:xfrm>
            <a:off x="4572000" y="3449638"/>
            <a:ext cx="463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</a:rPr>
              <a:t>p: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49" name="Rectangle 14"/>
          <p:cNvSpPr>
            <a:spLocks noChangeArrowheads="1"/>
          </p:cNvSpPr>
          <p:nvPr/>
        </p:nvSpPr>
        <p:spPr bwMode="auto">
          <a:xfrm>
            <a:off x="1909763" y="4214813"/>
            <a:ext cx="669925" cy="695325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  </a:t>
            </a:r>
            <a:r>
              <a:rPr lang="en-US" altLang="zh-CN" sz="2400">
                <a:latin typeface="Arial" panose="020B0604020202020204" pitchFamily="34" charset="0"/>
              </a:rPr>
              <a:t>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50" name="Line 15"/>
          <p:cNvSpPr>
            <a:spLocks noChangeShapeType="1"/>
          </p:cNvSpPr>
          <p:nvPr/>
        </p:nvSpPr>
        <p:spPr bwMode="auto">
          <a:xfrm>
            <a:off x="1909763" y="4645025"/>
            <a:ext cx="6508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61451" name="Rectangle 16"/>
          <p:cNvSpPr>
            <a:spLocks noChangeArrowheads="1"/>
          </p:cNvSpPr>
          <p:nvPr/>
        </p:nvSpPr>
        <p:spPr bwMode="auto">
          <a:xfrm>
            <a:off x="2998788" y="4214813"/>
            <a:ext cx="671512" cy="695325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  </a:t>
            </a:r>
            <a:r>
              <a:rPr lang="en-US" altLang="zh-CN" sz="2400">
                <a:latin typeface="Arial" panose="020B0604020202020204" pitchFamily="34" charset="0"/>
              </a:rPr>
              <a:t>16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52" name="Line 17"/>
          <p:cNvSpPr>
            <a:spLocks noChangeShapeType="1"/>
          </p:cNvSpPr>
          <p:nvPr/>
        </p:nvSpPr>
        <p:spPr bwMode="auto">
          <a:xfrm>
            <a:off x="2998788" y="4645025"/>
            <a:ext cx="6524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61453" name="Rectangle 18"/>
          <p:cNvSpPr>
            <a:spLocks noChangeArrowheads="1"/>
          </p:cNvSpPr>
          <p:nvPr/>
        </p:nvSpPr>
        <p:spPr bwMode="auto">
          <a:xfrm>
            <a:off x="4286250" y="4191000"/>
            <a:ext cx="669925" cy="695325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  </a:t>
            </a:r>
            <a:r>
              <a:rPr lang="en-US" altLang="zh-CN" sz="2400">
                <a:solidFill>
                  <a:srgbClr val="F905F6"/>
                </a:solidFill>
                <a:latin typeface="Arial" panose="020B0604020202020204" pitchFamily="34" charset="0"/>
              </a:rPr>
              <a:t>54</a:t>
            </a:r>
            <a:endParaRPr lang="en-US" altLang="zh-CN" sz="2400">
              <a:solidFill>
                <a:srgbClr val="F905F6"/>
              </a:solidFill>
              <a:latin typeface="Arial" panose="020B0604020202020204" pitchFamily="34" charset="0"/>
            </a:endParaRPr>
          </a:p>
        </p:txBody>
      </p:sp>
      <p:sp>
        <p:nvSpPr>
          <p:cNvPr id="61454" name="Line 19"/>
          <p:cNvSpPr>
            <a:spLocks noChangeShapeType="1"/>
          </p:cNvSpPr>
          <p:nvPr/>
        </p:nvSpPr>
        <p:spPr bwMode="auto">
          <a:xfrm>
            <a:off x="4286250" y="4619625"/>
            <a:ext cx="650875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61455" name="Rectangle 20"/>
          <p:cNvSpPr>
            <a:spLocks noChangeArrowheads="1"/>
          </p:cNvSpPr>
          <p:nvPr/>
        </p:nvSpPr>
        <p:spPr bwMode="auto">
          <a:xfrm>
            <a:off x="5338763" y="4167188"/>
            <a:ext cx="669925" cy="693737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  </a:t>
            </a:r>
            <a:r>
              <a:rPr lang="en-US" altLang="zh-CN" sz="2400">
                <a:latin typeface="Arial" panose="020B0604020202020204" pitchFamily="34" charset="0"/>
              </a:rPr>
              <a:t>68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56" name="Line 21"/>
          <p:cNvSpPr>
            <a:spLocks noChangeShapeType="1"/>
          </p:cNvSpPr>
          <p:nvPr/>
        </p:nvSpPr>
        <p:spPr bwMode="auto">
          <a:xfrm>
            <a:off x="5338763" y="4597400"/>
            <a:ext cx="6508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61457" name="Rectangle 22"/>
          <p:cNvSpPr>
            <a:spLocks noChangeArrowheads="1"/>
          </p:cNvSpPr>
          <p:nvPr/>
        </p:nvSpPr>
        <p:spPr bwMode="auto">
          <a:xfrm>
            <a:off x="804863" y="4406900"/>
            <a:ext cx="688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...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58" name="Rectangle 23"/>
          <p:cNvSpPr>
            <a:spLocks noChangeArrowheads="1"/>
          </p:cNvSpPr>
          <p:nvPr/>
        </p:nvSpPr>
        <p:spPr bwMode="auto">
          <a:xfrm>
            <a:off x="6524625" y="4044950"/>
            <a:ext cx="688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...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59" name="Freeform 24"/>
          <p:cNvSpPr/>
          <p:nvPr/>
        </p:nvSpPr>
        <p:spPr bwMode="auto">
          <a:xfrm>
            <a:off x="4706938" y="3662363"/>
            <a:ext cx="804862" cy="4572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6" y="0"/>
                </a:moveTo>
                <a:lnTo>
                  <a:pt x="19976" y="9465"/>
                </a:lnTo>
                <a:lnTo>
                  <a:pt x="0" y="9465"/>
                </a:lnTo>
                <a:lnTo>
                  <a:pt x="0" y="19944"/>
                </a:lnTo>
              </a:path>
            </a:pathLst>
          </a:cu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394265" name="Freeform 25"/>
          <p:cNvSpPr/>
          <p:nvPr/>
        </p:nvSpPr>
        <p:spPr bwMode="auto">
          <a:xfrm>
            <a:off x="2597150" y="3687763"/>
            <a:ext cx="747713" cy="455612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0" y="8169"/>
                </a:lnTo>
                <a:lnTo>
                  <a:pt x="19974" y="8169"/>
                </a:lnTo>
                <a:lnTo>
                  <a:pt x="19974" y="19944"/>
                </a:lnTo>
              </a:path>
            </a:pathLst>
          </a:custGeom>
          <a:noFill/>
          <a:ln w="38100">
            <a:solidFill>
              <a:srgbClr val="FF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61461" name="Freeform 26"/>
          <p:cNvSpPr/>
          <p:nvPr/>
        </p:nvSpPr>
        <p:spPr bwMode="auto">
          <a:xfrm>
            <a:off x="2330450" y="4333875"/>
            <a:ext cx="631825" cy="431800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0"/>
                </a:moveTo>
                <a:lnTo>
                  <a:pt x="10893" y="19940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394267" name="Freeform 27"/>
          <p:cNvSpPr/>
          <p:nvPr/>
        </p:nvSpPr>
        <p:spPr bwMode="auto">
          <a:xfrm>
            <a:off x="3324225" y="4333875"/>
            <a:ext cx="944563" cy="431800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0"/>
                </a:moveTo>
                <a:lnTo>
                  <a:pt x="10893" y="19940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61463" name="Freeform 28"/>
          <p:cNvSpPr/>
          <p:nvPr/>
        </p:nvSpPr>
        <p:spPr bwMode="auto">
          <a:xfrm>
            <a:off x="4687888" y="4286250"/>
            <a:ext cx="631825" cy="431800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0"/>
                </a:moveTo>
                <a:lnTo>
                  <a:pt x="10893" y="19940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61464" name="Freeform 29"/>
          <p:cNvSpPr/>
          <p:nvPr/>
        </p:nvSpPr>
        <p:spPr bwMode="auto">
          <a:xfrm>
            <a:off x="5778500" y="4286250"/>
            <a:ext cx="631825" cy="431800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0"/>
                </a:moveTo>
                <a:lnTo>
                  <a:pt x="10893" y="19940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61465" name="Freeform 30"/>
          <p:cNvSpPr/>
          <p:nvPr/>
        </p:nvSpPr>
        <p:spPr bwMode="auto">
          <a:xfrm>
            <a:off x="1236663" y="4335463"/>
            <a:ext cx="631825" cy="431800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0"/>
                </a:moveTo>
                <a:lnTo>
                  <a:pt x="10893" y="19940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394271" name="Freeform 31"/>
          <p:cNvSpPr/>
          <p:nvPr/>
        </p:nvSpPr>
        <p:spPr bwMode="auto">
          <a:xfrm>
            <a:off x="3468688" y="4767263"/>
            <a:ext cx="360362" cy="1150937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0 h 20000"/>
              <a:gd name="T4" fmla="*/ 2147483646 w 20000"/>
              <a:gd name="T5" fmla="*/ 2147483646 h 20000"/>
              <a:gd name="T6" fmla="*/ 0 w 20000"/>
              <a:gd name="T7" fmla="*/ 2147483646 h 20000"/>
              <a:gd name="T8" fmla="*/ 0 w 20000"/>
              <a:gd name="T9" fmla="*/ 2147483646 h 20000"/>
              <a:gd name="T10" fmla="*/ 2147483646 w 20000"/>
              <a:gd name="T11" fmla="*/ 2147483646 h 20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000"/>
              <a:gd name="T19" fmla="*/ 0 h 20000"/>
              <a:gd name="T20" fmla="*/ 20000 w 20000"/>
              <a:gd name="T21" fmla="*/ 20000 h 20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000" h="20000">
                <a:moveTo>
                  <a:pt x="6299" y="0"/>
                </a:moveTo>
                <a:lnTo>
                  <a:pt x="19948" y="0"/>
                </a:lnTo>
                <a:lnTo>
                  <a:pt x="19948" y="7580"/>
                </a:lnTo>
                <a:lnTo>
                  <a:pt x="0" y="11707"/>
                </a:lnTo>
                <a:lnTo>
                  <a:pt x="0" y="19962"/>
                </a:lnTo>
                <a:lnTo>
                  <a:pt x="19948" y="19962"/>
                </a:lnTo>
              </a:path>
            </a:pathLst>
          </a:custGeom>
          <a:noFill/>
          <a:ln w="28575">
            <a:solidFill>
              <a:srgbClr val="F905F6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394272" name="Freeform 32"/>
          <p:cNvSpPr/>
          <p:nvPr/>
        </p:nvSpPr>
        <p:spPr bwMode="auto">
          <a:xfrm>
            <a:off x="4116388" y="4406900"/>
            <a:ext cx="566737" cy="20447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0 w 20000"/>
              <a:gd name="T7" fmla="*/ 2147483646 h 20000"/>
              <a:gd name="T8" fmla="*/ 0 w 20000"/>
              <a:gd name="T9" fmla="*/ 0 h 20000"/>
              <a:gd name="T10" fmla="*/ 2147483646 w 20000"/>
              <a:gd name="T11" fmla="*/ 0 h 20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000"/>
              <a:gd name="T19" fmla="*/ 0 h 20000"/>
              <a:gd name="T20" fmla="*/ 20000 w 20000"/>
              <a:gd name="T21" fmla="*/ 20000 h 20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000" h="20000">
                <a:moveTo>
                  <a:pt x="8989" y="19985"/>
                </a:moveTo>
                <a:lnTo>
                  <a:pt x="19975" y="19985"/>
                </a:lnTo>
                <a:lnTo>
                  <a:pt x="19975" y="12502"/>
                </a:lnTo>
                <a:lnTo>
                  <a:pt x="0" y="8057"/>
                </a:lnTo>
                <a:lnTo>
                  <a:pt x="0" y="0"/>
                </a:lnTo>
                <a:lnTo>
                  <a:pt x="4994" y="0"/>
                </a:lnTo>
              </a:path>
            </a:pathLst>
          </a:custGeom>
          <a:noFill/>
          <a:ln w="28575">
            <a:solidFill>
              <a:srgbClr val="F905F6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394273" name="Freeform 33"/>
          <p:cNvSpPr/>
          <p:nvPr/>
        </p:nvSpPr>
        <p:spPr bwMode="auto">
          <a:xfrm>
            <a:off x="2820988" y="3686175"/>
            <a:ext cx="1152525" cy="2160588"/>
          </a:xfrm>
          <a:custGeom>
            <a:avLst/>
            <a:gdLst>
              <a:gd name="T0" fmla="*/ 0 w 700"/>
              <a:gd name="T1" fmla="*/ 0 h 860"/>
              <a:gd name="T2" fmla="*/ 2147483646 w 700"/>
              <a:gd name="T3" fmla="*/ 0 h 860"/>
              <a:gd name="T4" fmla="*/ 2147483646 w 700"/>
              <a:gd name="T5" fmla="*/ 2147483646 h 860"/>
              <a:gd name="T6" fmla="*/ 0 60000 65536"/>
              <a:gd name="T7" fmla="*/ 0 60000 65536"/>
              <a:gd name="T8" fmla="*/ 0 60000 65536"/>
              <a:gd name="T9" fmla="*/ 0 w 700"/>
              <a:gd name="T10" fmla="*/ 0 h 860"/>
              <a:gd name="T11" fmla="*/ 700 w 700"/>
              <a:gd name="T12" fmla="*/ 860 h 8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00" h="860">
                <a:moveTo>
                  <a:pt x="0" y="0"/>
                </a:moveTo>
                <a:lnTo>
                  <a:pt x="700" y="0"/>
                </a:lnTo>
                <a:lnTo>
                  <a:pt x="700" y="860"/>
                </a:lnTo>
              </a:path>
            </a:pathLst>
          </a:custGeom>
          <a:noFill/>
          <a:ln w="28575">
            <a:solidFill>
              <a:schemeClr val="hlink"/>
            </a:solidFill>
            <a:rou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/>
          <a:p>
            <a:endParaRPr lang="zh-CN" altLang="en-US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664200" y="5984875"/>
            <a:ext cx="6527800" cy="8318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【</a:t>
            </a:r>
            <a:r>
              <a:rPr lang="zh-CN" altLang="en-US" sz="2400">
                <a:latin typeface="Arial" panose="020B0604020202020204" pitchFamily="34" charset="0"/>
              </a:rPr>
              <a:t>思考</a:t>
            </a:r>
            <a:r>
              <a:rPr lang="en-US" altLang="zh-CN" sz="2400">
                <a:latin typeface="Arial" panose="020B0604020202020204" pitchFamily="34" charset="0"/>
              </a:rPr>
              <a:t>】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如果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插入</a:t>
            </a:r>
            <a:r>
              <a:rPr lang="zh-CN" altLang="en-US" sz="2400">
                <a:latin typeface="Arial" panose="020B0604020202020204" pitchFamily="34" charset="0"/>
              </a:rPr>
              <a:t>的位置在表头或表尾，算法的改动？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394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94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394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5632450"/>
            <a:ext cx="21336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F6EA210-5FD8-4660-AB6B-BDFB6CAEBCC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9629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95250" y="198438"/>
            <a:ext cx="9048750" cy="3530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5.</a:t>
            </a:r>
            <a:r>
              <a:rPr lang="zh-CN" altLang="en-US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从单向链表上删除一项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zh-CN" sz="28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      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设有下图的链表，现在要删除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p</a:t>
            </a:r>
            <a:r>
              <a:rPr lang="zh-CN" altLang="en-US" sz="2400" b="1" dirty="0">
                <a:effectLst/>
                <a:latin typeface="Arial" panose="020B0604020202020204" pitchFamily="34" charset="0"/>
              </a:rPr>
              <a:t>所指项。删除算法是：</a:t>
            </a:r>
            <a:endParaRPr lang="zh-CN" altLang="en-US" sz="2400" b="1" dirty="0">
              <a:effectLst/>
              <a:latin typeface="Arial" panose="020B0604020202020204" pitchFamily="34" charset="0"/>
            </a:endParaRPr>
          </a:p>
          <a:p>
            <a:pPr lvl="3" eaLnBrk="1" hangingPunct="1">
              <a:buClr>
                <a:schemeClr val="tx1"/>
              </a:buClr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        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q = p ;</a:t>
            </a:r>
            <a:endParaRPr lang="en-US" altLang="zh-CN" sz="3200" b="1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lvl="3" eaLnBrk="1" hangingPunct="1">
              <a:buClr>
                <a:schemeClr val="tx1"/>
              </a:buClr>
              <a:buFontTx/>
              <a:buNone/>
              <a:defRPr/>
            </a:pPr>
            <a:r>
              <a:rPr lang="en-US" altLang="zh-CN" sz="3200" b="1" dirty="0">
                <a:effectLst/>
                <a:latin typeface="Arial" panose="020B0604020202020204" pitchFamily="34" charset="0"/>
              </a:rPr>
              <a:t>            p  =  p-&gt; next ;</a:t>
            </a:r>
            <a:endParaRPr lang="en-US" altLang="zh-CN" sz="3200" b="1" dirty="0">
              <a:effectLst/>
              <a:latin typeface="Arial" panose="020B0604020202020204" pitchFamily="34" charset="0"/>
            </a:endParaRPr>
          </a:p>
          <a:p>
            <a:pPr lvl="3" eaLnBrk="1" hangingPunct="1">
              <a:buClr>
                <a:schemeClr val="tx1"/>
              </a:buClr>
              <a:buFontTx/>
              <a:buNone/>
              <a:defRPr/>
            </a:pPr>
            <a:r>
              <a:rPr lang="en-US" altLang="zh-CN" sz="3200" b="1" dirty="0">
                <a:effectLst/>
                <a:latin typeface="Arial" panose="020B0604020202020204" pitchFamily="34" charset="0"/>
              </a:rPr>
              <a:t>            p0-&gt; next  =  p ;</a:t>
            </a:r>
            <a:endParaRPr lang="en-US" altLang="zh-CN" sz="3200" b="1" dirty="0">
              <a:effectLst/>
              <a:latin typeface="Arial" panose="020B0604020202020204" pitchFamily="34" charset="0"/>
            </a:endParaRPr>
          </a:p>
          <a:p>
            <a:pPr lvl="3" eaLnBrk="1" hangingPunct="1">
              <a:buClr>
                <a:schemeClr val="tx1"/>
              </a:buClr>
              <a:buFontTx/>
              <a:buNone/>
              <a:defRPr/>
            </a:pPr>
            <a:r>
              <a:rPr lang="en-US" altLang="zh-CN" sz="3200" b="1" dirty="0">
                <a:effectLst/>
                <a:latin typeface="Arial" panose="020B0604020202020204" pitchFamily="34" charset="0"/>
              </a:rPr>
              <a:t>            </a:t>
            </a:r>
            <a:r>
              <a:rPr lang="en-US" altLang="zh-CN" sz="32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free(q)</a:t>
            </a:r>
            <a:endParaRPr lang="en-US" altLang="zh-CN" sz="32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492" name="Rectangle 3"/>
          <p:cNvSpPr>
            <a:spLocks noChangeArrowheads="1"/>
          </p:cNvSpPr>
          <p:nvPr/>
        </p:nvSpPr>
        <p:spPr bwMode="auto">
          <a:xfrm>
            <a:off x="2251075" y="4348163"/>
            <a:ext cx="877888" cy="35401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1536700" y="4270375"/>
            <a:ext cx="730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p0: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63494" name="Rectangle 5"/>
          <p:cNvSpPr>
            <a:spLocks noChangeArrowheads="1"/>
          </p:cNvSpPr>
          <p:nvPr/>
        </p:nvSpPr>
        <p:spPr bwMode="auto">
          <a:xfrm>
            <a:off x="1917700" y="5095875"/>
            <a:ext cx="715963" cy="933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1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63495" name="Line 6"/>
          <p:cNvSpPr>
            <a:spLocks noChangeShapeType="1"/>
          </p:cNvSpPr>
          <p:nvPr/>
        </p:nvSpPr>
        <p:spPr bwMode="auto">
          <a:xfrm>
            <a:off x="1917700" y="5716588"/>
            <a:ext cx="6953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6" name="Rectangle 7"/>
          <p:cNvSpPr>
            <a:spLocks noChangeArrowheads="1"/>
          </p:cNvSpPr>
          <p:nvPr/>
        </p:nvSpPr>
        <p:spPr bwMode="auto">
          <a:xfrm>
            <a:off x="3149600" y="5095875"/>
            <a:ext cx="714375" cy="933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2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63497" name="Line 8"/>
          <p:cNvSpPr>
            <a:spLocks noChangeShapeType="1"/>
          </p:cNvSpPr>
          <p:nvPr/>
        </p:nvSpPr>
        <p:spPr bwMode="auto">
          <a:xfrm>
            <a:off x="3149600" y="5716588"/>
            <a:ext cx="6953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9"/>
          <p:cNvGrpSpPr/>
          <p:nvPr/>
        </p:nvGrpSpPr>
        <p:grpSpPr bwMode="auto">
          <a:xfrm>
            <a:off x="4329113" y="5068888"/>
            <a:ext cx="717550" cy="931862"/>
            <a:chOff x="2974" y="2896"/>
            <a:chExt cx="478" cy="516"/>
          </a:xfrm>
        </p:grpSpPr>
        <p:sp>
          <p:nvSpPr>
            <p:cNvPr id="63519" name="Rectangle 10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zh-CN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520" name="Line 11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499" name="Rectangle 12"/>
          <p:cNvSpPr>
            <a:spLocks noChangeArrowheads="1"/>
          </p:cNvSpPr>
          <p:nvPr/>
        </p:nvSpPr>
        <p:spPr bwMode="auto">
          <a:xfrm>
            <a:off x="5545138" y="5040313"/>
            <a:ext cx="717550" cy="933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4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63500" name="Line 13"/>
          <p:cNvSpPr>
            <a:spLocks noChangeShapeType="1"/>
          </p:cNvSpPr>
          <p:nvPr/>
        </p:nvSpPr>
        <p:spPr bwMode="auto">
          <a:xfrm>
            <a:off x="5543550" y="5659438"/>
            <a:ext cx="6985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1" name="Rectangle 14"/>
          <p:cNvSpPr>
            <a:spLocks noChangeArrowheads="1"/>
          </p:cNvSpPr>
          <p:nvPr/>
        </p:nvSpPr>
        <p:spPr bwMode="auto">
          <a:xfrm>
            <a:off x="752475" y="5464175"/>
            <a:ext cx="7366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...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63502" name="Rectangle 15"/>
          <p:cNvSpPr>
            <a:spLocks noChangeArrowheads="1"/>
          </p:cNvSpPr>
          <p:nvPr/>
        </p:nvSpPr>
        <p:spPr bwMode="auto">
          <a:xfrm>
            <a:off x="6886575" y="5057775"/>
            <a:ext cx="73660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...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63503" name="Freeform 16"/>
          <p:cNvSpPr/>
          <p:nvPr/>
        </p:nvSpPr>
        <p:spPr bwMode="auto">
          <a:xfrm>
            <a:off x="2700338" y="4513263"/>
            <a:ext cx="798512" cy="611187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0" y="8189"/>
                </a:lnTo>
                <a:lnTo>
                  <a:pt x="19974" y="8189"/>
                </a:lnTo>
                <a:lnTo>
                  <a:pt x="19974" y="19948"/>
                </a:lnTo>
              </a:path>
            </a:pathLst>
          </a:custGeom>
          <a:noFill/>
          <a:ln w="25400">
            <a:solidFill>
              <a:srgbClr val="FF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4" name="Freeform 17"/>
          <p:cNvSpPr/>
          <p:nvPr/>
        </p:nvSpPr>
        <p:spPr bwMode="auto">
          <a:xfrm>
            <a:off x="2389188" y="5278438"/>
            <a:ext cx="676275" cy="58102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6306" name="Freeform 18"/>
          <p:cNvSpPr/>
          <p:nvPr/>
        </p:nvSpPr>
        <p:spPr bwMode="auto">
          <a:xfrm>
            <a:off x="3622675" y="5278438"/>
            <a:ext cx="674688" cy="58102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6307" name="Freeform 19"/>
          <p:cNvSpPr/>
          <p:nvPr/>
        </p:nvSpPr>
        <p:spPr bwMode="auto">
          <a:xfrm>
            <a:off x="4781550" y="5222875"/>
            <a:ext cx="674688" cy="579438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7" name="Freeform 20"/>
          <p:cNvSpPr/>
          <p:nvPr/>
        </p:nvSpPr>
        <p:spPr bwMode="auto">
          <a:xfrm>
            <a:off x="6042025" y="5222875"/>
            <a:ext cx="673100" cy="579438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8" name="Freeform 21"/>
          <p:cNvSpPr/>
          <p:nvPr/>
        </p:nvSpPr>
        <p:spPr bwMode="auto">
          <a:xfrm>
            <a:off x="1158875" y="5249863"/>
            <a:ext cx="676275" cy="58102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9" name="Rectangle 22"/>
          <p:cNvSpPr>
            <a:spLocks noChangeArrowheads="1"/>
          </p:cNvSpPr>
          <p:nvPr/>
        </p:nvSpPr>
        <p:spPr bwMode="auto">
          <a:xfrm>
            <a:off x="4960938" y="4313238"/>
            <a:ext cx="881062" cy="3556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63510" name="Rectangle 23"/>
          <p:cNvSpPr>
            <a:spLocks noChangeArrowheads="1"/>
          </p:cNvSpPr>
          <p:nvPr/>
        </p:nvSpPr>
        <p:spPr bwMode="auto">
          <a:xfrm>
            <a:off x="4519613" y="4238625"/>
            <a:ext cx="328612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</a:rPr>
              <a:t>p: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96312" name="Freeform 24"/>
          <p:cNvSpPr/>
          <p:nvPr/>
        </p:nvSpPr>
        <p:spPr bwMode="auto">
          <a:xfrm>
            <a:off x="4637088" y="4479925"/>
            <a:ext cx="796925" cy="579438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4" y="0"/>
                </a:moveTo>
                <a:lnTo>
                  <a:pt x="19974" y="8643"/>
                </a:lnTo>
                <a:lnTo>
                  <a:pt x="0" y="8643"/>
                </a:lnTo>
                <a:lnTo>
                  <a:pt x="0" y="19945"/>
                </a:lnTo>
              </a:path>
            </a:pathLst>
          </a:custGeom>
          <a:noFill/>
          <a:ln w="25400">
            <a:solidFill>
              <a:srgbClr val="FF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25"/>
          <p:cNvGrpSpPr/>
          <p:nvPr/>
        </p:nvGrpSpPr>
        <p:grpSpPr bwMode="auto">
          <a:xfrm>
            <a:off x="6837363" y="4154488"/>
            <a:ext cx="1363662" cy="615950"/>
            <a:chOff x="4830" y="2432"/>
            <a:chExt cx="473" cy="341"/>
          </a:xfrm>
        </p:grpSpPr>
        <p:sp>
          <p:nvSpPr>
            <p:cNvPr id="63517" name="Rectangle 26"/>
            <p:cNvSpPr>
              <a:spLocks noChangeArrowheads="1"/>
            </p:cNvSpPr>
            <p:nvPr/>
          </p:nvSpPr>
          <p:spPr bwMode="auto">
            <a:xfrm>
              <a:off x="4975" y="2475"/>
              <a:ext cx="328" cy="23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63518" name="Rectangle 27"/>
            <p:cNvSpPr>
              <a:spLocks noChangeArrowheads="1"/>
            </p:cNvSpPr>
            <p:nvPr/>
          </p:nvSpPr>
          <p:spPr bwMode="auto">
            <a:xfrm>
              <a:off x="4830" y="2432"/>
              <a:ext cx="122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q: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396316" name="Freeform 28"/>
          <p:cNvSpPr/>
          <p:nvPr/>
        </p:nvSpPr>
        <p:spPr bwMode="auto">
          <a:xfrm>
            <a:off x="4835525" y="4438650"/>
            <a:ext cx="2860675" cy="654050"/>
          </a:xfrm>
          <a:custGeom>
            <a:avLst/>
            <a:gdLst>
              <a:gd name="T0" fmla="*/ 2147483646 w 1860"/>
              <a:gd name="T1" fmla="*/ 0 h 408"/>
              <a:gd name="T2" fmla="*/ 2147483646 w 1860"/>
              <a:gd name="T3" fmla="*/ 2147483646 h 408"/>
              <a:gd name="T4" fmla="*/ 0 w 1860"/>
              <a:gd name="T5" fmla="*/ 2147483646 h 408"/>
              <a:gd name="T6" fmla="*/ 0 w 1860"/>
              <a:gd name="T7" fmla="*/ 2147483646 h 408"/>
              <a:gd name="T8" fmla="*/ 0 60000 65536"/>
              <a:gd name="T9" fmla="*/ 0 60000 65536"/>
              <a:gd name="T10" fmla="*/ 0 60000 65536"/>
              <a:gd name="T11" fmla="*/ 0 60000 65536"/>
              <a:gd name="T12" fmla="*/ 0 w 1860"/>
              <a:gd name="T13" fmla="*/ 0 h 408"/>
              <a:gd name="T14" fmla="*/ 1860 w 1860"/>
              <a:gd name="T15" fmla="*/ 408 h 4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60" h="408">
                <a:moveTo>
                  <a:pt x="1860" y="0"/>
                </a:moveTo>
                <a:lnTo>
                  <a:pt x="1860" y="227"/>
                </a:lnTo>
                <a:lnTo>
                  <a:pt x="0" y="227"/>
                </a:lnTo>
                <a:lnTo>
                  <a:pt x="0" y="408"/>
                </a:lnTo>
              </a:path>
            </a:pathLst>
          </a:custGeom>
          <a:noFill/>
          <a:ln w="28575">
            <a:solidFill>
              <a:schemeClr val="accent2">
                <a:lumMod val="60000"/>
                <a:lumOff val="4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96317" name="Freeform 29"/>
          <p:cNvSpPr/>
          <p:nvPr/>
        </p:nvSpPr>
        <p:spPr bwMode="auto">
          <a:xfrm>
            <a:off x="5257800" y="4419600"/>
            <a:ext cx="204788" cy="817563"/>
          </a:xfrm>
          <a:custGeom>
            <a:avLst/>
            <a:gdLst>
              <a:gd name="T0" fmla="*/ 0 w 136"/>
              <a:gd name="T1" fmla="*/ 0 h 453"/>
              <a:gd name="T2" fmla="*/ 0 w 136"/>
              <a:gd name="T3" fmla="*/ 2147483646 h 453"/>
              <a:gd name="T4" fmla="*/ 2147483646 w 136"/>
              <a:gd name="T5" fmla="*/ 2147483646 h 453"/>
              <a:gd name="T6" fmla="*/ 0 60000 65536"/>
              <a:gd name="T7" fmla="*/ 0 60000 65536"/>
              <a:gd name="T8" fmla="*/ 0 60000 65536"/>
              <a:gd name="T9" fmla="*/ 0 w 136"/>
              <a:gd name="T10" fmla="*/ 0 h 453"/>
              <a:gd name="T11" fmla="*/ 136 w 136"/>
              <a:gd name="T12" fmla="*/ 453 h 4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453">
                <a:moveTo>
                  <a:pt x="0" y="0"/>
                </a:moveTo>
                <a:lnTo>
                  <a:pt x="0" y="453"/>
                </a:lnTo>
                <a:lnTo>
                  <a:pt x="136" y="453"/>
                </a:lnTo>
              </a:path>
            </a:pathLst>
          </a:custGeom>
          <a:noFill/>
          <a:ln w="28575">
            <a:solidFill>
              <a:schemeClr val="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6318" name="Freeform 30"/>
          <p:cNvSpPr/>
          <p:nvPr/>
        </p:nvSpPr>
        <p:spPr bwMode="auto">
          <a:xfrm>
            <a:off x="3692525" y="5334000"/>
            <a:ext cx="1770063" cy="984250"/>
          </a:xfrm>
          <a:custGeom>
            <a:avLst/>
            <a:gdLst>
              <a:gd name="T0" fmla="*/ 0 w 1179"/>
              <a:gd name="T1" fmla="*/ 2147483646 h 545"/>
              <a:gd name="T2" fmla="*/ 0 w 1179"/>
              <a:gd name="T3" fmla="*/ 2147483646 h 545"/>
              <a:gd name="T4" fmla="*/ 2147483646 w 1179"/>
              <a:gd name="T5" fmla="*/ 2147483646 h 545"/>
              <a:gd name="T6" fmla="*/ 2147483646 w 1179"/>
              <a:gd name="T7" fmla="*/ 0 h 545"/>
              <a:gd name="T8" fmla="*/ 2147483646 w 1179"/>
              <a:gd name="T9" fmla="*/ 0 h 5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545"/>
              <a:gd name="T17" fmla="*/ 1179 w 1179"/>
              <a:gd name="T18" fmla="*/ 545 h 5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545">
                <a:moveTo>
                  <a:pt x="0" y="272"/>
                </a:moveTo>
                <a:lnTo>
                  <a:pt x="0" y="545"/>
                </a:lnTo>
                <a:lnTo>
                  <a:pt x="1043" y="545"/>
                </a:lnTo>
                <a:lnTo>
                  <a:pt x="1089" y="0"/>
                </a:lnTo>
                <a:lnTo>
                  <a:pt x="1179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8724900" y="5657850"/>
            <a:ext cx="3467100" cy="1200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【</a:t>
            </a:r>
            <a:r>
              <a:rPr lang="zh-CN" altLang="en-US" sz="2400">
                <a:latin typeface="Arial" panose="020B0604020202020204" pitchFamily="34" charset="0"/>
              </a:rPr>
              <a:t>思考</a:t>
            </a:r>
            <a:r>
              <a:rPr lang="en-US" altLang="zh-CN" sz="2400">
                <a:latin typeface="Arial" panose="020B0604020202020204" pitchFamily="34" charset="0"/>
              </a:rPr>
              <a:t>】</a:t>
            </a:r>
            <a:endParaRPr lang="en-US" altLang="zh-CN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如果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删除</a:t>
            </a:r>
            <a:r>
              <a:rPr lang="zh-CN" altLang="en-US" sz="2400">
                <a:latin typeface="Arial" panose="020B0604020202020204" pitchFamily="34" charset="0"/>
              </a:rPr>
              <a:t>的位置在表头或表尾，算法的改动？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396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396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396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396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2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3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4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5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6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7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8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9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10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11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12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13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14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15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16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17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18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19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20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21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22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23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24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ags/tag25.xml><?xml version="1.0" encoding="utf-8"?>
<p:tagLst xmlns:p="http://schemas.openxmlformats.org/presentationml/2006/main">
  <p:tag name="KSO_WM_DIAGRAM_VIRTUALLY_FRAME" val="{&quot;height&quot;:224.00000000000006,&quot;left&quot;:32.75,&quot;top&quot;:195.62503937007872,&quot;width&quot;:468.62503937007875}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7014</Words>
  <Application>WPS 演示</Application>
  <PresentationFormat>宽屏</PresentationFormat>
  <Paragraphs>885</Paragraphs>
  <Slides>35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Arial</vt:lpstr>
      <vt:lpstr>宋体</vt:lpstr>
      <vt:lpstr>Wingdings</vt:lpstr>
      <vt:lpstr>Tahoma</vt:lpstr>
      <vt:lpstr>隶书</vt:lpstr>
      <vt:lpstr>微软雅黑</vt:lpstr>
      <vt:lpstr>Times New Roman</vt:lpstr>
      <vt:lpstr>Verdana</vt:lpstr>
      <vt:lpstr>楷体_GB2312</vt:lpstr>
      <vt:lpstr>Arial Unicode MS</vt:lpstr>
      <vt:lpstr>等线</vt:lpstr>
      <vt:lpstr>黑体</vt:lpstr>
      <vt:lpstr>华文隶书</vt:lpstr>
      <vt:lpstr>新宋体</vt:lpstr>
      <vt:lpstr>Calibri</vt:lpstr>
      <vt:lpstr>1_Slit</vt:lpstr>
      <vt:lpstr>Paint.Picture</vt:lpstr>
      <vt:lpstr>第10章 递归 第11章 文件 第12章 结构化程序设计 第13章 动态数据组织</vt:lpstr>
      <vt:lpstr>§13.1 动态数据结构 </vt:lpstr>
      <vt:lpstr>动态数据结构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§13.3 链表</vt:lpstr>
      <vt:lpstr>PowerPoint 演示文稿</vt:lpstr>
      <vt:lpstr>PowerPoint 演示文稿</vt:lpstr>
      <vt:lpstr>§13.3.1 单向链表</vt:lpstr>
      <vt:lpstr>已有结点数据结构： 	struct link {  		int num;  		struct link *next; 	};  //结点类型  编程序，实现如下功能： </vt:lpstr>
      <vt:lpstr>1. 创建一个由n个结点构成的链表，函数原型： struct link * create(int n); //形参n为结点个数; 返回值为表头指针 或 void create(struct link **phead, int n); //用形参带回表头指针  2. 遍历该链表，依次输出所有结点的数据项data的值， 函数原型：void print(struct link *head); // 形参为表头指针</vt:lpstr>
      <vt:lpstr>3. 检索该链表中是否有指定结点， 函数原型：int search( struct link * head, int m ); //形参：head为表头指针，m为待检索的数据 //返回值：检索到则返回1，没有则返回0  4. 在指定结点m后，插入一个新结点n struct link *  insert 	(struct link * head, int m, int n); //形参：head为表头指针，m为待插入位置（通过数据域指定位置），n为待插入结点的数据域 //返回值:表头指针</vt:lpstr>
      <vt:lpstr>5. 删除该链表中所有m结点，函数原型： struct link * del (struct link * head, int m); //形参：head为表头指针，m为删除的关键字 //返回值：表头指针  6.链表排序（例13.2) struct link * sort(struct link * head); //形参：排序前链表的表头指针 //返回值：排序后链表的表头指针  7. 释放链表 void destroy  (struct link * head); //形参：表头指针</vt:lpstr>
      <vt:lpstr>链表调试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824</cp:revision>
  <dcterms:created xsi:type="dcterms:W3CDTF">2019-09-21T08:05:00Z</dcterms:created>
  <dcterms:modified xsi:type="dcterms:W3CDTF">2025-11-18T02:26:11Z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EA323E3A545247A3BF639FB30220AED2_12</vt:lpwstr>
  </property>
</Properties>
</file>