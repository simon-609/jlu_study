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1046" r:id="rId3"/>
    <p:sldId id="1047" r:id="rId5"/>
    <p:sldId id="1048" r:id="rId6"/>
    <p:sldId id="1049" r:id="rId7"/>
    <p:sldId id="1050" r:id="rId8"/>
    <p:sldId id="1051" r:id="rId9"/>
    <p:sldId id="1052" r:id="rId10"/>
    <p:sldId id="1053" r:id="rId11"/>
    <p:sldId id="1054" r:id="rId12"/>
    <p:sldId id="1055" r:id="rId13"/>
    <p:sldId id="1057" r:id="rId14"/>
    <p:sldId id="1063" r:id="rId15"/>
    <p:sldId id="1058" r:id="rId16"/>
    <p:sldId id="1062" r:id="rId17"/>
    <p:sldId id="1059" r:id="rId18"/>
    <p:sldId id="1060" r:id="rId19"/>
    <p:sldId id="1064" r:id="rId20"/>
    <p:sldId id="1061" r:id="rId21"/>
    <p:sldId id="991" r:id="rId22"/>
    <p:sldId id="992" r:id="rId23"/>
    <p:sldId id="993" r:id="rId24"/>
    <p:sldId id="994" r:id="rId25"/>
    <p:sldId id="995" r:id="rId26"/>
    <p:sldId id="996" r:id="rId27"/>
    <p:sldId id="997" r:id="rId28"/>
    <p:sldId id="998" r:id="rId29"/>
    <p:sldId id="999" r:id="rId30"/>
    <p:sldId id="1000" r:id="rId31"/>
    <p:sldId id="1001" r:id="rId32"/>
    <p:sldId id="942" r:id="rId33"/>
    <p:sldId id="943" r:id="rId34"/>
    <p:sldId id="944" r:id="rId35"/>
    <p:sldId id="945" r:id="rId36"/>
    <p:sldId id="1065" r:id="rId37"/>
    <p:sldId id="948" r:id="rId38"/>
    <p:sldId id="952" r:id="rId39"/>
    <p:sldId id="953" r:id="rId40"/>
    <p:sldId id="954" r:id="rId41"/>
    <p:sldId id="583" r:id="rId42"/>
    <p:sldId id="584" r:id="rId43"/>
    <p:sldId id="610" r:id="rId44"/>
    <p:sldId id="585" r:id="rId45"/>
    <p:sldId id="586" r:id="rId46"/>
    <p:sldId id="587" r:id="rId47"/>
    <p:sldId id="611" r:id="rId48"/>
    <p:sldId id="588" r:id="rId49"/>
    <p:sldId id="589" r:id="rId50"/>
    <p:sldId id="612" r:id="rId51"/>
    <p:sldId id="592" r:id="rId52"/>
    <p:sldId id="593" r:id="rId53"/>
    <p:sldId id="594" r:id="rId54"/>
    <p:sldId id="595" r:id="rId55"/>
    <p:sldId id="596" r:id="rId56"/>
    <p:sldId id="597" r:id="rId57"/>
    <p:sldId id="598" r:id="rId58"/>
    <p:sldId id="599" r:id="rId59"/>
    <p:sldId id="600" r:id="rId60"/>
    <p:sldId id="602" r:id="rId61"/>
    <p:sldId id="603" r:id="rId62"/>
    <p:sldId id="604" r:id="rId63"/>
    <p:sldId id="605" r:id="rId64"/>
    <p:sldId id="978" r:id="rId65"/>
    <p:sldId id="606" r:id="rId66"/>
    <p:sldId id="607" r:id="rId67"/>
    <p:sldId id="608" r:id="rId68"/>
    <p:sldId id="968" r:id="rId69"/>
    <p:sldId id="969" r:id="rId70"/>
    <p:sldId id="490" r:id="rId71"/>
  </p:sldIdLst>
  <p:sldSz cx="12192000" cy="6858000"/>
  <p:notesSz cx="6858000" cy="9144000"/>
  <p:custDataLst>
    <p:tags r:id="rId75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1" userDrawn="1">
          <p15:clr>
            <a:srgbClr val="A4A3A4"/>
          </p15:clr>
        </p15:guide>
        <p15:guide id="2" pos="40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2EFC"/>
    <a:srgbClr val="000000"/>
    <a:srgbClr val="FF0000"/>
    <a:srgbClr val="FF99FF"/>
    <a:srgbClr val="CC00CC"/>
    <a:srgbClr val="0000FF"/>
    <a:srgbClr val="FFE705"/>
    <a:srgbClr val="00FFFF"/>
    <a:srgbClr val="9C14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662" autoAdjust="0"/>
    <p:restoredTop sz="86343" autoAdjust="0"/>
  </p:normalViewPr>
  <p:slideViewPr>
    <p:cSldViewPr showGuides="1">
      <p:cViewPr varScale="1">
        <p:scale>
          <a:sx n="52" d="100"/>
          <a:sy n="52" d="100"/>
        </p:scale>
        <p:origin x="53" y="571"/>
      </p:cViewPr>
      <p:guideLst>
        <p:guide orient="horz" pos="2271"/>
        <p:guide pos="4063"/>
      </p:guideLst>
    </p:cSldViewPr>
  </p:slideViewPr>
  <p:outlineViewPr>
    <p:cViewPr>
      <p:scale>
        <a:sx n="33" d="100"/>
        <a:sy n="33" d="100"/>
      </p:scale>
      <p:origin x="0" y="-22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430"/>
    </p:cViewPr>
  </p:sorterViewPr>
  <p:gridSpacing cx="76198" cy="7619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5" Type="http://schemas.openxmlformats.org/officeDocument/2006/relationships/tags" Target="tags/tag1.xml"/><Relationship Id="rId74" Type="http://schemas.openxmlformats.org/officeDocument/2006/relationships/tableStyles" Target="tableStyles.xml"/><Relationship Id="rId73" Type="http://schemas.openxmlformats.org/officeDocument/2006/relationships/viewProps" Target="viewProps.xml"/><Relationship Id="rId72" Type="http://schemas.openxmlformats.org/officeDocument/2006/relationships/presProps" Target="presProps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460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ECCA494E-CA14-4A77-A001-9860B84BF7FF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5059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5060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104C13-2F73-4A16-B00A-05AA556A9A31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5D795D-D408-433B-A712-232E34473DFA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5D795D-D408-433B-A712-232E34473DFA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7107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08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45D795D-D408-433B-A712-232E34473DFA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循环条件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4294967295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1" name="备注占位符 2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/>
              <a:t>p=head-&gt;next;</a:t>
            </a:r>
            <a:r>
              <a:rPr lang="zh-CN" altLang="en-US"/>
              <a:t>也可</a:t>
            </a:r>
            <a:endParaRPr lang="en-US" altLang="zh-CN"/>
          </a:p>
          <a:p>
            <a:r>
              <a:rPr lang="zh-CN" altLang="en-US"/>
              <a:t>先判断条件也可</a:t>
            </a:r>
            <a:endParaRPr lang="zh-CN" altLang="en-US"/>
          </a:p>
        </p:txBody>
      </p:sp>
      <p:sp>
        <p:nvSpPr>
          <p:cNvPr id="5837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1627B8F-EED4-4732-A18A-F35C18313ACF}" type="slidenum">
              <a:rPr lang="en-US" altLang="zh-CN" b="0" smtClean="0">
                <a:latin typeface="Arial" panose="020B0604020202020204" pitchFamily="34" charset="0"/>
              </a:rPr>
            </a:fld>
            <a:endParaRPr lang="en-US" altLang="zh-CN" b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开始假设空序列是递增的，</a:t>
            </a:r>
            <a:endParaRPr lang="zh-CN" altLang="en-US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若 </a:t>
            </a:r>
            <a:r>
              <a:rPr lang="en-US" altLang="zh-CN" b="1" dirty="0" err="1"/>
              <a:t>i</a:t>
            </a:r>
            <a:r>
              <a:rPr lang="en-US" altLang="zh-CN" b="1" dirty="0"/>
              <a:t> </a:t>
            </a:r>
            <a:r>
              <a:rPr lang="zh-CN" altLang="en-US" b="1" dirty="0"/>
              <a:t>个元素子序列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1</a:t>
            </a:r>
            <a:r>
              <a:rPr lang="en-US" altLang="zh-CN" b="1" dirty="0">
                <a:solidFill>
                  <a:srgbClr val="FFFF00"/>
                </a:solidFill>
              </a:rPr>
              <a:t>~A</a:t>
            </a:r>
            <a:r>
              <a:rPr lang="en-US" altLang="zh-CN" b="1" baseline="-25000" dirty="0">
                <a:solidFill>
                  <a:srgbClr val="FFFF00"/>
                </a:solidFill>
              </a:rPr>
              <a:t>i</a:t>
            </a:r>
            <a:r>
              <a:rPr lang="zh-CN" altLang="en-US" b="1" dirty="0"/>
              <a:t>已经递增，</a:t>
            </a:r>
            <a:endParaRPr lang="en-US" altLang="zh-CN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/>
              <a:t>则加一个元素 </a:t>
            </a:r>
            <a:r>
              <a:rPr lang="en-US" altLang="zh-CN" b="1" dirty="0">
                <a:solidFill>
                  <a:srgbClr val="FF0000"/>
                </a:solidFill>
              </a:rPr>
              <a:t>A</a:t>
            </a:r>
            <a:r>
              <a:rPr lang="en-US" altLang="zh-CN" b="1" baseline="-25000" dirty="0">
                <a:solidFill>
                  <a:srgbClr val="FF0000"/>
                </a:solidFill>
              </a:rPr>
              <a:t>i+1</a:t>
            </a:r>
            <a:r>
              <a:rPr lang="zh-CN" altLang="en-US" b="1" dirty="0"/>
              <a:t>，把 </a:t>
            </a:r>
            <a:r>
              <a:rPr lang="en-US" altLang="zh-CN" b="1" dirty="0"/>
              <a:t>A</a:t>
            </a:r>
            <a:r>
              <a:rPr lang="en-US" altLang="zh-CN" b="1" baseline="-25000" dirty="0"/>
              <a:t>i+1</a:t>
            </a:r>
            <a:r>
              <a:rPr lang="en-US" altLang="zh-CN" b="1" dirty="0"/>
              <a:t> </a:t>
            </a:r>
            <a:r>
              <a:rPr lang="zh-CN" altLang="en-US" b="1" dirty="0"/>
              <a:t>插入到序列中一个适当位置，使 </a:t>
            </a:r>
            <a:r>
              <a:rPr lang="en-US" altLang="zh-CN" b="1" dirty="0"/>
              <a:t>i+1 </a:t>
            </a:r>
            <a:r>
              <a:rPr lang="zh-CN" altLang="en-US" b="1" dirty="0"/>
              <a:t>个元素的子序列</a:t>
            </a:r>
            <a:r>
              <a:rPr lang="en-US" altLang="zh-CN" b="1" dirty="0"/>
              <a:t> 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1</a:t>
            </a:r>
            <a:r>
              <a:rPr lang="en-US" altLang="zh-CN" b="1" dirty="0">
                <a:solidFill>
                  <a:srgbClr val="FFFF00"/>
                </a:solidFill>
              </a:rPr>
              <a:t>~A</a:t>
            </a:r>
            <a:r>
              <a:rPr lang="en-US" altLang="zh-CN" b="1" baseline="-25000" dirty="0">
                <a:solidFill>
                  <a:srgbClr val="FFFF00"/>
                </a:solidFill>
              </a:rPr>
              <a:t>i </a:t>
            </a:r>
            <a:r>
              <a:rPr lang="en-US" altLang="zh-CN" b="1" dirty="0">
                <a:solidFill>
                  <a:srgbClr val="FFFF00"/>
                </a:solidFill>
              </a:rPr>
              <a:t>A</a:t>
            </a:r>
            <a:r>
              <a:rPr lang="en-US" altLang="zh-CN" b="1" baseline="-25000" dirty="0">
                <a:solidFill>
                  <a:srgbClr val="FFFF00"/>
                </a:solidFill>
              </a:rPr>
              <a:t>i+1</a:t>
            </a:r>
            <a:r>
              <a:rPr lang="zh-CN" altLang="en-US" b="1" dirty="0"/>
              <a:t>也递增，</a:t>
            </a:r>
            <a:endParaRPr lang="en-US" altLang="zh-CN" b="1" dirty="0"/>
          </a:p>
          <a:p>
            <a:pPr marL="57150">
              <a:spcBef>
                <a:spcPct val="0"/>
              </a:spcBef>
              <a:defRPr/>
            </a:pPr>
            <a:r>
              <a:rPr lang="zh-CN" altLang="en-US" b="1" dirty="0">
                <a:solidFill>
                  <a:srgbClr val="FF0000"/>
                </a:solidFill>
              </a:rPr>
              <a:t>直到 </a:t>
            </a:r>
            <a:r>
              <a:rPr lang="en-US" altLang="zh-CN" b="1" dirty="0" err="1">
                <a:solidFill>
                  <a:srgbClr val="FF0000"/>
                </a:solidFill>
              </a:rPr>
              <a:t>i</a:t>
            </a:r>
            <a:r>
              <a:rPr lang="en-US" altLang="zh-CN" b="1" dirty="0">
                <a:solidFill>
                  <a:srgbClr val="FF0000"/>
                </a:solidFill>
              </a:rPr>
              <a:t>=n </a:t>
            </a:r>
            <a:r>
              <a:rPr lang="zh-CN" altLang="en-US" b="1" dirty="0">
                <a:solidFill>
                  <a:srgbClr val="FF0000"/>
                </a:solidFill>
              </a:rPr>
              <a:t>为止</a:t>
            </a:r>
            <a:endParaRPr lang="zh-CN" altLang="en-US" b="1" dirty="0">
              <a:solidFill>
                <a:srgbClr val="FF0000"/>
              </a:solidFill>
            </a:endParaRPr>
          </a:p>
          <a:p>
            <a:pPr>
              <a:defRPr/>
            </a:pPr>
            <a:endParaRPr lang="zh-CN" altLang="en-US" dirty="0"/>
          </a:p>
        </p:txBody>
      </p:sp>
      <p:sp>
        <p:nvSpPr>
          <p:cNvPr id="27652" name="灯片编号占位符 3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A121FAD-530C-4AAE-83ED-2C94A800D3E7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D52D72FD-E229-4850-A335-8E648393081E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8A5625-1929-4912-8A41-E5E8FAC5B009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C7034F24-988D-4CE0-80B3-D1B9456D4343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70E18F6-60D9-423E-AF80-36AAD1531000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8F737EB-848C-4F14-9674-83969BC8B77A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83F4932-EB73-47CF-8230-82C1F0A1E70C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E2DA074-AA92-4DB7-9B4A-BFC3CFDEC598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9471893-C4EB-4AB3-9526-D53BCA9916D3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690C4CF-4A8B-4109-A167-C37BA78138C9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0FE4DB7-E773-4E48-BA4E-1E5801E2893D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DF8DB15-8B4A-44A5-92E3-C60CA4263895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6DD5812E-8122-4E12-B428-E35CF56153B6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3D7052E-B76B-407C-BA0E-3B96A1B4EF9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75D877D-12F3-4A56-B0C8-CF453760D06B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A27398E-7517-4D0D-85C3-60E07DC6C7FC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C25818C-0B03-4797-BE81-C13CED5F9CD8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752533E3-825E-40A3-9A8E-7C102F68BFA2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FF54F77-A949-447E-A69E-C155F7AE659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FE5F6AE-FC17-461E-A1C4-CFBCB2904154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8F67B23F-00ED-4CD8-B5AC-DEABFFAF3A2F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077514D-9B57-4DCA-85CF-838A471668DE}" type="slidenum">
              <a:rPr lang="en-US" altLang="zh-CN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zh-CN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987CE68F-E41F-438F-8EBA-20B336A2EE9F}" type="slidenum">
              <a:rPr lang="zh-CN" altLang="en-US" b="0" smtClean="0">
                <a:latin typeface="Times New Roman" panose="02020603050405020304" pitchFamily="18" charset="0"/>
              </a:rPr>
            </a:fld>
            <a:endParaRPr lang="en-US" altLang="zh-CN" b="0">
              <a:latin typeface="Times New Roman" panose="02020603050405020304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11269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11273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914400" y="1768480"/>
            <a:ext cx="103632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03502-770E-41A8-A5EA-5E24D81DB64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4F5045-E662-433B-9D85-D0F8E519A66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10C50-3036-4E1B-90CA-A6CCFB6A5F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4865C1-D350-46BE-AD48-13FAFD5BCBB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8816BD-D7B2-49A2-99B2-16CE3E43697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468100-EDA9-419F-8302-E36D4FEEB2A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DCE7F-5FDD-4F35-97E0-545AE55282A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18F94-B50F-40C9-BE21-0C688A3B096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C97B1F-5B77-4060-8049-949C7DBBB13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0D335F-9B94-4725-B002-32D808524370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2136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2136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B29CB8-4F70-4A3F-8647-A67D96A8272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B4C0F-19E7-45AE-A276-011FAD2312B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 showMasterSp="0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3924300"/>
            <a:ext cx="10972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2AE4F2-A2E8-42AD-80E1-56E2A3257D8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 showMasterSp="0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4958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97600" y="3924300"/>
            <a:ext cx="5384800" cy="217170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F2076-4BB6-4D90-A2E3-FA3B6563AA1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 showMasterSp="0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4958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612C07-5FF6-444A-A782-FF6ECFA99026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3429E-53CD-4411-A974-7886BE697D91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5">
            <a:hlinkClick r:id="rId2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4638"/>
            <a:ext cx="10972800" cy="582136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53E815-1565-4F9E-9253-66F5FF0AC0D9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" Target="../slides/slide19.xml"/><Relationship Id="rId18" Type="http://schemas.openxmlformats.org/officeDocument/2006/relationships/image" Target="../media/image1.jpeg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024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495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10247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4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950D4CFE-552F-418D-99B5-AFEB5ECF1A78}" type="slidenum">
              <a:rPr lang="en-US" altLang="zh-CN"/>
            </a:fld>
            <a:endParaRPr lang="en-US" altLang="zh-CN"/>
          </a:p>
        </p:txBody>
      </p:sp>
      <p:sp>
        <p:nvSpPr>
          <p:cNvPr id="11" name="AutoShape 5">
            <a:hlinkClick r:id="rId19" action="ppaction://hlinksldjump" highlightClick="1"/>
          </p:cNvPr>
          <p:cNvSpPr>
            <a:spLocks noChangeArrowheads="1"/>
          </p:cNvSpPr>
          <p:nvPr userDrawn="1"/>
        </p:nvSpPr>
        <p:spPr bwMode="auto">
          <a:xfrm>
            <a:off x="11734800" y="6400800"/>
            <a:ext cx="457200" cy="457200"/>
          </a:xfrm>
          <a:prstGeom prst="actionButtonBeginning">
            <a:avLst/>
          </a:prstGeom>
          <a:solidFill>
            <a:srgbClr val="002060"/>
          </a:solidFill>
          <a:ln w="9525">
            <a:solidFill>
              <a:schemeClr val="bg1"/>
            </a:solidFill>
            <a:miter lim="800000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sz="180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slide" Target="slide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55880" y="31750"/>
            <a:ext cx="9860280" cy="6554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 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create(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18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struct link *</a:t>
            </a:r>
            <a:r>
              <a:rPr lang="en-US" altLang="zh-CN" sz="28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 NULL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,*p0=NULL,*p1; int 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printf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请输入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%d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个结点数据（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int)</a:t>
            </a:r>
            <a:r>
              <a:rPr lang="zh-CN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\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n",n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for(</a:t>
            </a:r>
            <a:r>
              <a:rPr lang="en-US" altLang="zh-CN" sz="2800" kern="100" dirty="0" err="1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=0; </a:t>
            </a:r>
            <a:r>
              <a:rPr lang="en-US" altLang="zh-CN" sz="2800" kern="100" dirty="0" err="1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&lt;n; </a:t>
            </a:r>
            <a:r>
              <a:rPr lang="en-US" altLang="zh-CN" sz="2800" kern="100" dirty="0" err="1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++) {</a:t>
            </a:r>
            <a:endParaRPr lang="zh-CN" altLang="zh-CN" sz="28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p1=(struct link*)malloc(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sizeof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(struct link));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		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scanf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("%d",&amp;p1-&gt;num);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if(</a:t>
            </a:r>
            <a:r>
              <a:rPr lang="en-US" altLang="zh-CN" sz="28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==0) </a:t>
            </a:r>
            <a:r>
              <a:rPr lang="en-US" altLang="zh-CN" sz="1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表空</a:t>
            </a:r>
            <a:endParaRPr lang="zh-CN" altLang="zh-CN" sz="18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	head = p1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else  </a:t>
            </a:r>
            <a:r>
              <a:rPr lang="en-US" altLang="zh-CN" sz="1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表非空</a:t>
            </a:r>
            <a:endParaRPr lang="zh-CN" altLang="zh-CN" sz="18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	p0-&gt;next=p1;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	</a:t>
            </a:r>
            <a:r>
              <a:rPr lang="en-US" altLang="zh-CN" sz="2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p0 = p1;</a:t>
            </a:r>
            <a:endParaRPr lang="zh-CN" altLang="zh-CN" sz="28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28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2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p1-&gt;next = NULL; </a:t>
            </a:r>
            <a:r>
              <a:rPr lang="zh-CN" altLang="zh-CN" sz="18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8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/尾结点</a:t>
            </a:r>
            <a:endParaRPr lang="zh-CN" altLang="zh-CN" sz="1800" kern="1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return head;</a:t>
            </a:r>
            <a:endParaRPr lang="zh-CN" altLang="zh-CN" sz="2800" kern="100" dirty="0">
              <a:solidFill>
                <a:srgbClr val="FA06FA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zh-CN" altLang="zh-CN" sz="28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486E359-4DC7-474D-BC45-4E3EE04B59FB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34" name="矩形 33"/>
          <p:cNvSpPr>
            <a:spLocks noChangeArrowheads="1"/>
          </p:cNvSpPr>
          <p:nvPr/>
        </p:nvSpPr>
        <p:spPr bwMode="auto">
          <a:xfrm>
            <a:off x="838200" y="533400"/>
            <a:ext cx="3971290" cy="364490"/>
          </a:xfrm>
          <a:prstGeom prst="rect">
            <a:avLst/>
          </a:prstGeom>
          <a:noFill/>
          <a:ln w="22225" algn="ctr">
            <a:solidFill>
              <a:srgbClr val="FA06FA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solidFill>
                <a:srgbClr val="FA06FA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567805" y="5974715"/>
            <a:ext cx="5622925" cy="88328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/>
              <a:t>【</a:t>
            </a:r>
            <a:r>
              <a:rPr lang="zh-CN" altLang="en-US" sz="2400"/>
              <a:t>思考</a:t>
            </a:r>
            <a:r>
              <a:rPr lang="en-US" altLang="zh-CN" sz="2400"/>
              <a:t>】</a:t>
            </a:r>
            <a:endParaRPr lang="en-US" altLang="zh-CN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/>
              <a:t>局部指针</a:t>
            </a:r>
            <a:r>
              <a:rPr lang="en-US" altLang="zh-CN" sz="2400"/>
              <a:t>head,p0,p1</a:t>
            </a:r>
            <a:r>
              <a:rPr lang="zh-CN" altLang="en-US" sz="2400"/>
              <a:t>各自所起的作用？</a:t>
            </a:r>
            <a:endParaRPr lang="zh-CN" altLang="en-US" sz="2400"/>
          </a:p>
        </p:txBody>
      </p:sp>
      <p:sp>
        <p:nvSpPr>
          <p:cNvPr id="7" name="矩形 6"/>
          <p:cNvSpPr/>
          <p:nvPr/>
        </p:nvSpPr>
        <p:spPr>
          <a:xfrm>
            <a:off x="1702435" y="4345305"/>
            <a:ext cx="1576705" cy="44323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799465" y="5202555"/>
            <a:ext cx="3151505" cy="43624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4" name="矩形标注 13"/>
          <p:cNvSpPr/>
          <p:nvPr/>
        </p:nvSpPr>
        <p:spPr>
          <a:xfrm>
            <a:off x="8838565" y="990600"/>
            <a:ext cx="2737485" cy="609600"/>
          </a:xfrm>
          <a:prstGeom prst="wedgeRectCallout">
            <a:avLst>
              <a:gd name="adj1" fmla="val -74833"/>
              <a:gd name="adj2" fmla="val 79062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Calibri" panose="020F0502020204030204" pitchFamily="34" charset="0"/>
              </a:rPr>
              <a:t>①</a:t>
            </a:r>
            <a:r>
              <a:rPr lang="zh-CN" altLang="en-US" sz="3200" dirty="0">
                <a:latin typeface="Arial" panose="020B0604020202020204" pitchFamily="34" charset="0"/>
              </a:rPr>
              <a:t>创建新结点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5" name="矩形标注 14"/>
          <p:cNvSpPr/>
          <p:nvPr/>
        </p:nvSpPr>
        <p:spPr>
          <a:xfrm>
            <a:off x="5867400" y="3276600"/>
            <a:ext cx="2337435" cy="609600"/>
          </a:xfrm>
          <a:prstGeom prst="wedgeRectCallout">
            <a:avLst>
              <a:gd name="adj1" fmla="val -92488"/>
              <a:gd name="adj2" fmla="val -52499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Calibri" panose="020F0502020204030204" pitchFamily="34" charset="0"/>
              </a:rPr>
              <a:t>②</a:t>
            </a:r>
            <a:r>
              <a:rPr lang="zh-CN" altLang="en-US" sz="3200" dirty="0">
                <a:latin typeface="Arial" panose="020B0604020202020204" pitchFamily="34" charset="0"/>
              </a:rPr>
              <a:t>加入链表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6" name="矩形标注 15"/>
          <p:cNvSpPr/>
          <p:nvPr/>
        </p:nvSpPr>
        <p:spPr>
          <a:xfrm>
            <a:off x="1828800" y="6400165"/>
            <a:ext cx="2902585" cy="454660"/>
          </a:xfrm>
          <a:prstGeom prst="wedgeRectCallout">
            <a:avLst>
              <a:gd name="adj1" fmla="val -60457"/>
              <a:gd name="adj2" fmla="val -121927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Arial" panose="020B0604020202020204" pitchFamily="34" charset="0"/>
              </a:rPr>
              <a:t>返回表头指针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762760" y="1768475"/>
            <a:ext cx="7009130" cy="837565"/>
          </a:xfrm>
          <a:prstGeom prst="rect">
            <a:avLst/>
          </a:prstGeom>
          <a:noFill/>
          <a:ln w="38100" cmpd="sng">
            <a:solidFill>
              <a:srgbClr val="FFE705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4724400" y="4495800"/>
            <a:ext cx="2337435" cy="609600"/>
          </a:xfrm>
          <a:prstGeom prst="wedgeRectCallout">
            <a:avLst>
              <a:gd name="adj1" fmla="val -81486"/>
              <a:gd name="adj2" fmla="val 60000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200" dirty="0">
                <a:latin typeface="Calibri" panose="020F0502020204030204" pitchFamily="34" charset="0"/>
                <a:sym typeface="+mn-ea"/>
              </a:rPr>
              <a:t>③完善</a:t>
            </a:r>
            <a:r>
              <a:rPr lang="zh-CN" altLang="en-US" sz="3200" dirty="0">
                <a:latin typeface="Arial" panose="020B0604020202020204" pitchFamily="34" charset="0"/>
              </a:rPr>
              <a:t>链表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ldLvl="0" animBg="1"/>
      <p:bldP spid="16" grpId="0" bldLvl="0" animBg="1"/>
      <p:bldP spid="3" grpId="0" bldLvl="0" animBg="1"/>
      <p:bldP spid="14" grpId="0" bldLvl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-1270" y="25400"/>
            <a:ext cx="6218555" cy="5012055"/>
          </a:xfrm>
          <a:prstGeom prst="rect">
            <a:avLst/>
          </a:prstGeom>
          <a:ln w="38100">
            <a:solidFill>
              <a:schemeClr val="tx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pPr algn="just">
              <a:spcAft>
                <a:spcPts val="0"/>
              </a:spcAft>
              <a:defRPr/>
            </a:pPr>
            <a:endParaRPr lang="zh-CN" altLang="en-US" sz="3200" kern="1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32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主函数： </a:t>
            </a:r>
            <a:endParaRPr lang="en-US" altLang="zh-CN" sz="3200" kern="1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struct link * 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=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create1 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(10);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solidFill>
                <a:srgbClr val="FA06FA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create1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(int n)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16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struct link *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h1= NULL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……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return h1;</a:t>
            </a:r>
            <a:endParaRPr lang="zh-CN" altLang="zh-CN" sz="3200" kern="100" dirty="0">
              <a:solidFill>
                <a:srgbClr val="FA06FA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703F345-6967-44B2-93E2-B6E27CA099F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 flipH="1">
            <a:off x="7390765" y="915665"/>
            <a:ext cx="7064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A06FA"/>
                </a:solidFill>
              </a:rPr>
              <a:t>head</a:t>
            </a:r>
            <a:endParaRPr lang="en-US" altLang="zh-CN" sz="2000" dirty="0">
              <a:solidFill>
                <a:srgbClr val="FA06FA"/>
              </a:solidFill>
            </a:endParaRPr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 flipH="1">
            <a:off x="7229475" y="1266034"/>
            <a:ext cx="1095375" cy="3683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2" name="Group 7"/>
          <p:cNvGrpSpPr/>
          <p:nvPr/>
        </p:nvGrpSpPr>
        <p:grpSpPr bwMode="auto">
          <a:xfrm flipH="1">
            <a:off x="11020425" y="1901274"/>
            <a:ext cx="708025" cy="1019175"/>
            <a:chOff x="0" y="0"/>
            <a:chExt cx="20000" cy="23197"/>
          </a:xfrm>
        </p:grpSpPr>
        <p:sp>
          <p:nvSpPr>
            <p:cNvPr id="4611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31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   </a:t>
              </a:r>
              <a:r>
                <a:rPr lang="en-US" altLang="zh-CN" sz="2400">
                  <a:solidFill>
                    <a:srgbClr val="FA06FA"/>
                  </a:solidFill>
                </a:rPr>
                <a:t>.</a:t>
              </a:r>
              <a:endParaRPr lang="en-US" altLang="zh-CN" sz="2400">
                <a:solidFill>
                  <a:srgbClr val="FA06FA"/>
                </a:solidFill>
              </a:endParaRPr>
            </a:p>
          </p:txBody>
        </p:sp>
        <p:sp>
          <p:nvSpPr>
            <p:cNvPr id="46114" name="Line 9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58" name="Freeform 10"/>
          <p:cNvSpPr/>
          <p:nvPr/>
        </p:nvSpPr>
        <p:spPr bwMode="auto">
          <a:xfrm flipH="1">
            <a:off x="10372725" y="2117174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59" name="Freeform 11"/>
          <p:cNvSpPr/>
          <p:nvPr/>
        </p:nvSpPr>
        <p:spPr bwMode="auto">
          <a:xfrm flipH="1">
            <a:off x="9572625" y="2179087"/>
            <a:ext cx="650875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 flipH="1">
            <a:off x="9209088" y="1925087"/>
            <a:ext cx="709612" cy="1055687"/>
            <a:chOff x="0" y="0"/>
            <a:chExt cx="20000" cy="20000"/>
          </a:xfrm>
        </p:grpSpPr>
        <p:sp>
          <p:nvSpPr>
            <p:cNvPr id="4611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2" name="Line 1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 flipH="1">
            <a:off x="8129588" y="1925087"/>
            <a:ext cx="776287" cy="1055687"/>
            <a:chOff x="0" y="0"/>
            <a:chExt cx="20000" cy="20000"/>
          </a:xfrm>
        </p:grpSpPr>
        <p:sp>
          <p:nvSpPr>
            <p:cNvPr id="4610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0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66" name="Freeform 18"/>
          <p:cNvSpPr/>
          <p:nvPr/>
        </p:nvSpPr>
        <p:spPr bwMode="auto">
          <a:xfrm flipH="1">
            <a:off x="8566150" y="2207662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7" name="Rectangle 19"/>
          <p:cNvSpPr>
            <a:spLocks noChangeArrowheads="1"/>
          </p:cNvSpPr>
          <p:nvPr/>
        </p:nvSpPr>
        <p:spPr bwMode="auto">
          <a:xfrm flipH="1">
            <a:off x="10133013" y="2158449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11668" name="Freeform 20"/>
          <p:cNvSpPr/>
          <p:nvPr/>
        </p:nvSpPr>
        <p:spPr bwMode="auto">
          <a:xfrm flipH="1">
            <a:off x="7756525" y="1629812"/>
            <a:ext cx="354013" cy="5080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75" name="Text Box 27"/>
          <p:cNvSpPr txBox="1">
            <a:spLocks noChangeArrowheads="1"/>
          </p:cNvSpPr>
          <p:nvPr/>
        </p:nvSpPr>
        <p:spPr bwMode="auto">
          <a:xfrm>
            <a:off x="8140700" y="2031449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78" name="Text Box 30"/>
          <p:cNvSpPr txBox="1">
            <a:spLocks noChangeArrowheads="1"/>
          </p:cNvSpPr>
          <p:nvPr/>
        </p:nvSpPr>
        <p:spPr bwMode="auto">
          <a:xfrm>
            <a:off x="9221788" y="2031449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11022013" y="1960012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-10795" y="5042118"/>
            <a:ext cx="9929495" cy="181483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>
                <a:solidFill>
                  <a:srgbClr val="FFC000"/>
                </a:solidFill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</a:rPr>
              <a:t>课后实践</a:t>
            </a:r>
            <a:r>
              <a:rPr lang="en-US" altLang="zh-CN" sz="2800" dirty="0">
                <a:solidFill>
                  <a:srgbClr val="FFC000"/>
                </a:solidFill>
              </a:rPr>
              <a:t>】【</a:t>
            </a:r>
            <a:r>
              <a:rPr lang="zh-CN" altLang="en-US" sz="2800" dirty="0">
                <a:solidFill>
                  <a:srgbClr val="FFC000"/>
                </a:solidFill>
              </a:rPr>
              <a:t>对比实验</a:t>
            </a:r>
            <a:r>
              <a:rPr lang="en-US" altLang="zh-CN" sz="2800" dirty="0">
                <a:solidFill>
                  <a:srgbClr val="FFC000"/>
                </a:solidFill>
              </a:rPr>
              <a:t>】</a:t>
            </a:r>
            <a:endParaRPr lang="en-US" altLang="zh-CN" sz="2800" dirty="0">
              <a:solidFill>
                <a:srgbClr val="FFC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/>
              <a:t>编程实现函数</a:t>
            </a:r>
            <a:r>
              <a:rPr lang="en-US" altLang="zh-CN" sz="2800" dirty="0"/>
              <a:t>create1,create2</a:t>
            </a:r>
            <a:r>
              <a:rPr lang="zh-CN" altLang="en-US" sz="2800" dirty="0"/>
              <a:t>和</a:t>
            </a:r>
            <a:r>
              <a:rPr lang="en-US" altLang="zh-CN" sz="2800" dirty="0"/>
              <a:t>creat3</a:t>
            </a:r>
            <a:endParaRPr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/>
              <a:t>1.</a:t>
            </a:r>
            <a:r>
              <a:rPr lang="zh-CN" altLang="en-US" sz="2800" dirty="0"/>
              <a:t>掌握带回表头指针的不同方式</a:t>
            </a:r>
            <a:endParaRPr lang="en-US" altLang="zh-CN" sz="2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/>
              <a:t>2.</a:t>
            </a:r>
            <a:r>
              <a:rPr lang="zh-CN" altLang="en-US" sz="2800" dirty="0"/>
              <a:t>理解：</a:t>
            </a:r>
            <a:r>
              <a:rPr lang="zh-CN" altLang="en-US" sz="2800" dirty="0">
                <a:solidFill>
                  <a:srgbClr val="FFC000"/>
                </a:solidFill>
              </a:rPr>
              <a:t>函数的返回值、一级指针作参数、二级指针作参数 </a:t>
            </a:r>
            <a:endParaRPr lang="en-US" altLang="zh-CN" sz="2800" dirty="0">
              <a:solidFill>
                <a:srgbClr val="FFC000"/>
              </a:solidFill>
            </a:endParaRPr>
          </a:p>
        </p:txBody>
      </p:sp>
      <p:cxnSp>
        <p:nvCxnSpPr>
          <p:cNvPr id="37" name="直接连接符 36"/>
          <p:cNvCxnSpPr>
            <a:cxnSpLocks noChangeShapeType="1"/>
          </p:cNvCxnSpPr>
          <p:nvPr/>
        </p:nvCxnSpPr>
        <p:spPr bwMode="auto">
          <a:xfrm flipV="1">
            <a:off x="6200458" y="1793317"/>
            <a:ext cx="5567838" cy="53181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977188" y="3383999"/>
            <a:ext cx="1081087" cy="339725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cxnSp>
        <p:nvCxnSpPr>
          <p:cNvPr id="34" name="直接箭头连接符 33"/>
          <p:cNvCxnSpPr>
            <a:cxnSpLocks noChangeShapeType="1"/>
          </p:cNvCxnSpPr>
          <p:nvPr/>
        </p:nvCxnSpPr>
        <p:spPr bwMode="auto">
          <a:xfrm flipV="1">
            <a:off x="8505825" y="2953787"/>
            <a:ext cx="1588" cy="396875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Rectangle 5"/>
          <p:cNvSpPr>
            <a:spLocks noChangeArrowheads="1"/>
          </p:cNvSpPr>
          <p:nvPr/>
        </p:nvSpPr>
        <p:spPr bwMode="auto">
          <a:xfrm flipH="1">
            <a:off x="7497763" y="3388444"/>
            <a:ext cx="8270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A06FA"/>
                </a:solidFill>
              </a:rPr>
              <a:t>h1</a:t>
            </a:r>
            <a:endParaRPr lang="en-US" altLang="zh-CN" sz="2000" dirty="0">
              <a:solidFill>
                <a:srgbClr val="FA06FA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276975" y="1258570"/>
            <a:ext cx="892810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主函数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260924" y="1962790"/>
            <a:ext cx="109537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create1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034328" y="3364887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NULL</a:t>
            </a:r>
            <a:endParaRPr lang="zh-CN" altLang="en-US" dirty="0"/>
          </a:p>
        </p:txBody>
      </p:sp>
      <p:cxnSp>
        <p:nvCxnSpPr>
          <p:cNvPr id="35" name="直接连接符 34"/>
          <p:cNvCxnSpPr>
            <a:cxnSpLocks noChangeShapeType="1"/>
          </p:cNvCxnSpPr>
          <p:nvPr/>
        </p:nvCxnSpPr>
        <p:spPr bwMode="auto">
          <a:xfrm>
            <a:off x="145571" y="1846818"/>
            <a:ext cx="5943444" cy="0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箭头连接符 37"/>
          <p:cNvCxnSpPr/>
          <p:nvPr/>
        </p:nvCxnSpPr>
        <p:spPr bwMode="auto">
          <a:xfrm flipV="1">
            <a:off x="2362180" y="1447884"/>
            <a:ext cx="990600" cy="213360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38"/>
          <p:cNvCxnSpPr/>
          <p:nvPr/>
        </p:nvCxnSpPr>
        <p:spPr bwMode="auto">
          <a:xfrm flipH="1">
            <a:off x="3581380" y="1431270"/>
            <a:ext cx="609600" cy="68580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3" grpId="0"/>
      <p:bldP spid="411654" grpId="0" bldLvl="0" animBg="1"/>
      <p:bldP spid="411658" grpId="0" bldLvl="0" animBg="1"/>
      <p:bldP spid="411659" grpId="0" bldLvl="0" animBg="1"/>
      <p:bldP spid="411666" grpId="0" bldLvl="0" animBg="1"/>
      <p:bldP spid="411667" grpId="0"/>
      <p:bldP spid="411668" grpId="0" bldLvl="0" animBg="1"/>
      <p:bldP spid="411675" grpId="0"/>
      <p:bldP spid="411678" grpId="0"/>
      <p:bldP spid="411682" grpId="0"/>
      <p:bldP spid="33" grpId="0" bldLvl="0" animBg="1"/>
      <p:bldP spid="40" grpId="0"/>
      <p:bldP spid="32" grpId="0"/>
      <p:bldP spid="32" grpId="1"/>
      <p:bldP spid="5" grpId="0" animBg="1"/>
      <p:bldP spid="32" grpId="2"/>
      <p:bldP spid="40" grpId="1"/>
      <p:bldP spid="33" grpId="1" animBg="1"/>
      <p:bldP spid="44" grpId="0" animBg="1"/>
      <p:bldP spid="4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5563" y="46038"/>
            <a:ext cx="6296025" cy="2308225"/>
          </a:xfrm>
          <a:prstGeom prst="rect">
            <a:avLst/>
          </a:prstGeom>
          <a:ln w="38100">
            <a:solidFill>
              <a:schemeClr val="tx1">
                <a:lumMod val="65000"/>
              </a:schemeClr>
            </a:solidFill>
          </a:ln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 create1(int n) //</a:t>
            </a:r>
            <a:r>
              <a:rPr lang="zh-CN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struct link *h1= NULL;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……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return h1;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head=create1(10);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703F345-6967-44B2-93E2-B6E27CA099F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 flipH="1">
            <a:off x="7616825" y="3262630"/>
            <a:ext cx="7064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A06FA"/>
                </a:solidFill>
              </a:rPr>
              <a:t>head</a:t>
            </a:r>
            <a:endParaRPr lang="en-US" altLang="zh-CN" sz="2000" dirty="0">
              <a:solidFill>
                <a:srgbClr val="FA06FA"/>
              </a:solidFill>
            </a:endParaRPr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 flipH="1">
            <a:off x="7586528" y="3604419"/>
            <a:ext cx="1095375" cy="3683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 NULL</a:t>
            </a:r>
            <a:endParaRPr lang="zh-CN" altLang="en-US" sz="2400" dirty="0"/>
          </a:p>
        </p:txBody>
      </p:sp>
      <p:grpSp>
        <p:nvGrpSpPr>
          <p:cNvPr id="2" name="Group 7"/>
          <p:cNvGrpSpPr/>
          <p:nvPr/>
        </p:nvGrpSpPr>
        <p:grpSpPr bwMode="auto">
          <a:xfrm flipH="1">
            <a:off x="11020291" y="4291330"/>
            <a:ext cx="708025" cy="1019175"/>
            <a:chOff x="0" y="0"/>
            <a:chExt cx="20000" cy="23197"/>
          </a:xfrm>
        </p:grpSpPr>
        <p:sp>
          <p:nvSpPr>
            <p:cNvPr id="4611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319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  </a:t>
              </a:r>
              <a:r>
                <a:rPr lang="en-US" altLang="zh-CN" sz="2800">
                  <a:solidFill>
                    <a:srgbClr val="FA06FA"/>
                  </a:solidFill>
                </a:rPr>
                <a:t> .</a:t>
              </a:r>
              <a:endParaRPr lang="en-US" altLang="zh-CN" sz="2800">
                <a:solidFill>
                  <a:srgbClr val="FA06FA"/>
                </a:solidFill>
              </a:endParaRPr>
            </a:p>
          </p:txBody>
        </p:sp>
        <p:sp>
          <p:nvSpPr>
            <p:cNvPr id="46114" name="Line 9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58" name="Freeform 10"/>
          <p:cNvSpPr/>
          <p:nvPr/>
        </p:nvSpPr>
        <p:spPr bwMode="auto">
          <a:xfrm flipH="1">
            <a:off x="10372591" y="4507230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59" name="Freeform 11"/>
          <p:cNvSpPr/>
          <p:nvPr/>
        </p:nvSpPr>
        <p:spPr bwMode="auto">
          <a:xfrm flipH="1">
            <a:off x="9572491" y="4569143"/>
            <a:ext cx="650875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 flipH="1">
            <a:off x="9208954" y="4315143"/>
            <a:ext cx="709612" cy="1055687"/>
            <a:chOff x="0" y="0"/>
            <a:chExt cx="20000" cy="20000"/>
          </a:xfrm>
        </p:grpSpPr>
        <p:sp>
          <p:nvSpPr>
            <p:cNvPr id="4611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2" name="Line 1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 flipH="1">
            <a:off x="8129454" y="4315143"/>
            <a:ext cx="776287" cy="1055687"/>
            <a:chOff x="0" y="0"/>
            <a:chExt cx="20000" cy="20000"/>
          </a:xfrm>
        </p:grpSpPr>
        <p:sp>
          <p:nvSpPr>
            <p:cNvPr id="4610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0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66" name="Freeform 18"/>
          <p:cNvSpPr/>
          <p:nvPr/>
        </p:nvSpPr>
        <p:spPr bwMode="auto">
          <a:xfrm flipH="1">
            <a:off x="8566016" y="4597718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7" name="Rectangle 19"/>
          <p:cNvSpPr>
            <a:spLocks noChangeArrowheads="1"/>
          </p:cNvSpPr>
          <p:nvPr/>
        </p:nvSpPr>
        <p:spPr bwMode="auto">
          <a:xfrm flipH="1">
            <a:off x="10132879" y="4548505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11675" name="Text Box 27"/>
          <p:cNvSpPr txBox="1">
            <a:spLocks noChangeArrowheads="1"/>
          </p:cNvSpPr>
          <p:nvPr/>
        </p:nvSpPr>
        <p:spPr bwMode="auto">
          <a:xfrm>
            <a:off x="8140566" y="442150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78" name="Text Box 30"/>
          <p:cNvSpPr txBox="1">
            <a:spLocks noChangeArrowheads="1"/>
          </p:cNvSpPr>
          <p:nvPr/>
        </p:nvSpPr>
        <p:spPr bwMode="auto">
          <a:xfrm>
            <a:off x="9221654" y="4421505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11021879" y="4350068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6675" y="2422525"/>
            <a:ext cx="6306820" cy="4428490"/>
          </a:xfrm>
          <a:prstGeom prst="rect">
            <a:avLst/>
          </a:prstGeom>
          <a:noFill/>
          <a:ln w="38100">
            <a:solidFill>
              <a:schemeClr val="tx1">
                <a:lumMod val="95000"/>
              </a:schemeClr>
            </a:solidFill>
          </a:ln>
        </p:spPr>
        <p:txBody>
          <a:bodyPr wrap="square">
            <a:no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en-US" sz="32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主函数：</a:t>
            </a:r>
            <a:r>
              <a:rPr lang="zh-CN" altLang="en-US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 </a:t>
            </a:r>
            <a:endParaRPr lang="en-US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struct link *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=NULL;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create2(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head, n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)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create2(</a:t>
            </a:r>
            <a:r>
              <a:rPr lang="en-US" altLang="zh-CN" sz="2800" dirty="0">
                <a:solidFill>
                  <a:srgbClr val="FA06FA"/>
                </a:solidFill>
              </a:rPr>
              <a:t>struct link </a:t>
            </a:r>
            <a:r>
              <a:rPr lang="zh-CN" altLang="en-US" sz="2800" dirty="0">
                <a:solidFill>
                  <a:srgbClr val="FA06FA"/>
                </a:solidFill>
              </a:rPr>
              <a:t>*</a:t>
            </a:r>
            <a:r>
              <a:rPr lang="en-US" altLang="zh-CN" sz="2800" dirty="0">
                <a:solidFill>
                  <a:srgbClr val="FA06FA"/>
                </a:solidFill>
              </a:rPr>
              <a:t>h</a:t>
            </a:r>
            <a:r>
              <a:rPr lang="zh-CN" altLang="en-US" sz="28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8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8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……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h=……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>
            <a:off x="6325860" y="4157663"/>
            <a:ext cx="5251326" cy="0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矩形 32"/>
          <p:cNvSpPr>
            <a:spLocks noChangeArrowheads="1"/>
          </p:cNvSpPr>
          <p:nvPr/>
        </p:nvSpPr>
        <p:spPr bwMode="auto">
          <a:xfrm>
            <a:off x="7977054" y="5774055"/>
            <a:ext cx="1081087" cy="339725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cxnSp>
        <p:nvCxnSpPr>
          <p:cNvPr id="34" name="直接箭头连接符 33"/>
          <p:cNvCxnSpPr>
            <a:cxnSpLocks noChangeShapeType="1"/>
          </p:cNvCxnSpPr>
          <p:nvPr/>
        </p:nvCxnSpPr>
        <p:spPr bwMode="auto">
          <a:xfrm flipV="1">
            <a:off x="8505691" y="5343843"/>
            <a:ext cx="1588" cy="396875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0" name="Rectangle 5"/>
          <p:cNvSpPr>
            <a:spLocks noChangeArrowheads="1"/>
          </p:cNvSpPr>
          <p:nvPr/>
        </p:nvSpPr>
        <p:spPr bwMode="auto">
          <a:xfrm flipH="1">
            <a:off x="7783379" y="5775643"/>
            <a:ext cx="4206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A06FA"/>
                </a:solidFill>
              </a:rPr>
              <a:t>h</a:t>
            </a:r>
            <a:endParaRPr lang="en-US" altLang="zh-CN" sz="2000" dirty="0">
              <a:solidFill>
                <a:srgbClr val="FA06FA"/>
              </a:solidFill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6418580" y="3581400"/>
            <a:ext cx="911225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主函数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418502" y="4419286"/>
            <a:ext cx="109537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create2</a:t>
            </a:r>
            <a:endParaRPr lang="en-US" altLang="zh-CN" dirty="0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076739" y="5774303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NULL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8180705" y="46355"/>
            <a:ext cx="4011295" cy="119888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en-US" sz="3600" dirty="0"/>
              <a:t>一级指针参数</a:t>
            </a:r>
            <a:r>
              <a:rPr lang="en-US" altLang="zh-CN" sz="3600" dirty="0"/>
              <a:t> </a:t>
            </a:r>
            <a:r>
              <a:rPr lang="zh-CN" altLang="en-US" sz="36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</a:t>
            </a:r>
            <a:r>
              <a:rPr lang="zh-CN" altLang="en-US" sz="36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36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36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带回表头指针</a:t>
            </a:r>
            <a:endParaRPr lang="en-US" altLang="zh-CN" sz="3600" kern="1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连接符 36"/>
          <p:cNvCxnSpPr>
            <a:cxnSpLocks noChangeShapeType="1"/>
          </p:cNvCxnSpPr>
          <p:nvPr/>
        </p:nvCxnSpPr>
        <p:spPr bwMode="auto">
          <a:xfrm>
            <a:off x="76354" y="4157898"/>
            <a:ext cx="6181725" cy="0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箭头连接符 37"/>
          <p:cNvCxnSpPr/>
          <p:nvPr/>
        </p:nvCxnSpPr>
        <p:spPr bwMode="auto">
          <a:xfrm>
            <a:off x="2438612" y="3811734"/>
            <a:ext cx="2209800" cy="683895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1658" grpId="0" bldLvl="0" animBg="1"/>
      <p:bldP spid="411659" grpId="0" bldLvl="0" animBg="1"/>
      <p:bldP spid="411666" grpId="0" bldLvl="0" animBg="1"/>
      <p:bldP spid="411667" grpId="0"/>
      <p:bldP spid="411675" grpId="0"/>
      <p:bldP spid="411678" grpId="0"/>
      <p:bldP spid="411682" grpId="0"/>
      <p:bldP spid="33" grpId="0" bldLvl="0" animBg="1"/>
      <p:bldP spid="40" grpId="0"/>
      <p:bldP spid="7" grpId="0"/>
      <p:bldP spid="7" grpId="1"/>
      <p:bldP spid="5" grpId="0" bldLvl="0" animBg="1"/>
      <p:bldP spid="44" grpId="0" animBg="1"/>
      <p:bldP spid="7" grpId="2"/>
      <p:bldP spid="44" grpId="1" animBg="1"/>
      <p:bldP spid="33" grpId="1" animBg="1"/>
      <p:bldP spid="4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55563" y="46038"/>
            <a:ext cx="5430853" cy="2308225"/>
          </a:xfrm>
          <a:prstGeom prst="rect">
            <a:avLst/>
          </a:prstGeom>
          <a:ln w="38100"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  create1(int n) //</a:t>
            </a:r>
            <a:r>
              <a:rPr lang="zh-CN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创建链表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struct link *h1= NULL;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……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return h1;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head=create1(10);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56228" y="5532643"/>
            <a:ext cx="28448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703F345-6967-44B2-93E2-B6E27CA099F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11653" name="Rectangle 5"/>
          <p:cNvSpPr>
            <a:spLocks noChangeArrowheads="1"/>
          </p:cNvSpPr>
          <p:nvPr/>
        </p:nvSpPr>
        <p:spPr bwMode="auto">
          <a:xfrm flipH="1">
            <a:off x="7393039" y="3606371"/>
            <a:ext cx="706438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A06FA"/>
                </a:solidFill>
              </a:rPr>
              <a:t>head</a:t>
            </a:r>
            <a:endParaRPr lang="en-US" altLang="zh-CN" sz="2000" dirty="0">
              <a:solidFill>
                <a:srgbClr val="FA06FA"/>
              </a:solidFill>
            </a:endParaRPr>
          </a:p>
        </p:txBody>
      </p:sp>
      <p:sp>
        <p:nvSpPr>
          <p:cNvPr id="411654" name="Rectangle 6"/>
          <p:cNvSpPr>
            <a:spLocks noChangeArrowheads="1"/>
          </p:cNvSpPr>
          <p:nvPr/>
        </p:nvSpPr>
        <p:spPr bwMode="auto">
          <a:xfrm flipH="1">
            <a:off x="7358297" y="3925300"/>
            <a:ext cx="1095375" cy="3683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grpSp>
        <p:nvGrpSpPr>
          <p:cNvPr id="2" name="Group 7"/>
          <p:cNvGrpSpPr/>
          <p:nvPr/>
        </p:nvGrpSpPr>
        <p:grpSpPr bwMode="auto">
          <a:xfrm flipH="1">
            <a:off x="11018755" y="4838906"/>
            <a:ext cx="708025" cy="1038243"/>
            <a:chOff x="0" y="0"/>
            <a:chExt cx="20000" cy="23631"/>
          </a:xfrm>
        </p:grpSpPr>
        <p:sp>
          <p:nvSpPr>
            <p:cNvPr id="46113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363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/>
            </a:p>
            <a:p>
              <a:pPr algn="just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0000"/>
                  </a:solidFill>
                </a:rPr>
                <a:t>   </a:t>
              </a:r>
              <a:r>
                <a:rPr lang="en-US" altLang="zh-CN" sz="2800">
                  <a:solidFill>
                    <a:srgbClr val="FA06FA"/>
                  </a:solidFill>
                </a:rPr>
                <a:t>.</a:t>
              </a:r>
              <a:endParaRPr lang="en-US" altLang="zh-CN" sz="2800">
                <a:solidFill>
                  <a:srgbClr val="FA06FA"/>
                </a:solidFill>
              </a:endParaRPr>
            </a:p>
          </p:txBody>
        </p:sp>
        <p:sp>
          <p:nvSpPr>
            <p:cNvPr id="46114" name="Line 9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58" name="Freeform 10"/>
          <p:cNvSpPr/>
          <p:nvPr/>
        </p:nvSpPr>
        <p:spPr bwMode="auto">
          <a:xfrm flipH="1">
            <a:off x="10371055" y="5054806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59" name="Freeform 11"/>
          <p:cNvSpPr/>
          <p:nvPr/>
        </p:nvSpPr>
        <p:spPr bwMode="auto">
          <a:xfrm flipH="1">
            <a:off x="9570955" y="5116719"/>
            <a:ext cx="650875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12"/>
          <p:cNvGrpSpPr/>
          <p:nvPr/>
        </p:nvGrpSpPr>
        <p:grpSpPr bwMode="auto">
          <a:xfrm flipH="1">
            <a:off x="9207418" y="4862719"/>
            <a:ext cx="709612" cy="1055687"/>
            <a:chOff x="0" y="0"/>
            <a:chExt cx="20000" cy="20000"/>
          </a:xfrm>
        </p:grpSpPr>
        <p:sp>
          <p:nvSpPr>
            <p:cNvPr id="4611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2" name="Line 14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5"/>
          <p:cNvGrpSpPr/>
          <p:nvPr/>
        </p:nvGrpSpPr>
        <p:grpSpPr bwMode="auto">
          <a:xfrm flipH="1">
            <a:off x="8127918" y="4862719"/>
            <a:ext cx="776287" cy="1055687"/>
            <a:chOff x="0" y="0"/>
            <a:chExt cx="20000" cy="20000"/>
          </a:xfrm>
        </p:grpSpPr>
        <p:sp>
          <p:nvSpPr>
            <p:cNvPr id="46109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6110" name="Line 17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1666" name="Freeform 18"/>
          <p:cNvSpPr/>
          <p:nvPr/>
        </p:nvSpPr>
        <p:spPr bwMode="auto">
          <a:xfrm flipH="1">
            <a:off x="8564480" y="5145294"/>
            <a:ext cx="649288" cy="622300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67" name="Rectangle 19"/>
          <p:cNvSpPr>
            <a:spLocks noChangeArrowheads="1"/>
          </p:cNvSpPr>
          <p:nvPr/>
        </p:nvSpPr>
        <p:spPr bwMode="auto">
          <a:xfrm flipH="1">
            <a:off x="10131343" y="5096081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11668" name="Freeform 20"/>
          <p:cNvSpPr/>
          <p:nvPr/>
        </p:nvSpPr>
        <p:spPr bwMode="auto">
          <a:xfrm flipH="1">
            <a:off x="7729855" y="4293235"/>
            <a:ext cx="379095" cy="78232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1675" name="Text Box 27"/>
          <p:cNvSpPr txBox="1">
            <a:spLocks noChangeArrowheads="1"/>
          </p:cNvSpPr>
          <p:nvPr/>
        </p:nvSpPr>
        <p:spPr bwMode="auto">
          <a:xfrm>
            <a:off x="8139030" y="4969081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78" name="Text Box 30"/>
          <p:cNvSpPr txBox="1">
            <a:spLocks noChangeArrowheads="1"/>
          </p:cNvSpPr>
          <p:nvPr/>
        </p:nvSpPr>
        <p:spPr bwMode="auto">
          <a:xfrm>
            <a:off x="9220118" y="4969081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11682" name="Text Box 34"/>
          <p:cNvSpPr txBox="1">
            <a:spLocks noChangeArrowheads="1"/>
          </p:cNvSpPr>
          <p:nvPr/>
        </p:nvSpPr>
        <p:spPr bwMode="auto">
          <a:xfrm>
            <a:off x="11020343" y="4897644"/>
            <a:ext cx="647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38" name="矩形 37"/>
          <p:cNvSpPr>
            <a:spLocks noChangeArrowheads="1"/>
          </p:cNvSpPr>
          <p:nvPr/>
        </p:nvSpPr>
        <p:spPr bwMode="auto">
          <a:xfrm>
            <a:off x="6851907" y="5301585"/>
            <a:ext cx="1096962" cy="381000"/>
          </a:xfrm>
          <a:prstGeom prst="rect">
            <a:avLst/>
          </a:prstGeom>
          <a:noFill/>
          <a:ln w="349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>
              <a:latin typeface="Arial" panose="020B0604020202020204" pitchFamily="34" charset="0"/>
            </a:endParaRPr>
          </a:p>
        </p:txBody>
      </p:sp>
      <p:sp>
        <p:nvSpPr>
          <p:cNvPr id="41" name="Rectangle 5"/>
          <p:cNvSpPr>
            <a:spLocks noChangeArrowheads="1"/>
          </p:cNvSpPr>
          <p:nvPr/>
        </p:nvSpPr>
        <p:spPr bwMode="auto">
          <a:xfrm flipH="1">
            <a:off x="6450802" y="5278326"/>
            <a:ext cx="97948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dirty="0">
                <a:solidFill>
                  <a:srgbClr val="FA06FA"/>
                </a:solidFill>
              </a:rPr>
              <a:t>pH</a:t>
            </a:r>
            <a:endParaRPr lang="en-US" altLang="zh-CN" sz="2000" dirty="0">
              <a:solidFill>
                <a:srgbClr val="FA06FA"/>
              </a:solidFill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5565654" y="85724"/>
            <a:ext cx="5430853" cy="2246313"/>
          </a:xfrm>
          <a:prstGeom prst="rect">
            <a:avLst/>
          </a:prstGeom>
          <a:noFill/>
          <a:ln w="38100">
            <a:solidFill>
              <a:schemeClr val="tx1">
                <a:lumMod val="65000"/>
              </a:schemeClr>
            </a:solidFill>
          </a:ln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create2(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struct link </a:t>
            </a:r>
            <a:r>
              <a:rPr lang="zh-CN" altLang="en-US" sz="2400" dirty="0">
                <a:solidFill>
                  <a:schemeClr val="tx1">
                    <a:lumMod val="75000"/>
                  </a:schemeClr>
                </a:solidFill>
              </a:rPr>
              <a:t>*</a:t>
            </a:r>
            <a:r>
              <a:rPr lang="en-US" altLang="zh-CN" sz="2400" dirty="0">
                <a:solidFill>
                  <a:schemeClr val="tx1">
                    <a:lumMod val="75000"/>
                  </a:schemeClr>
                </a:solidFill>
              </a:rPr>
              <a:t>h</a:t>
            </a: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n) 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……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h=……</a:t>
            </a: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zh-CN" altLang="en-US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主函数： </a:t>
            </a:r>
            <a:r>
              <a:rPr lang="en-US" altLang="zh-CN" sz="24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create2(head, n);</a:t>
            </a:r>
            <a:endParaRPr lang="zh-CN" altLang="zh-CN" sz="24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0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en-US" altLang="zh-CN" sz="2000" dirty="0">
                <a:solidFill>
                  <a:schemeClr val="tx1">
                    <a:lumMod val="75000"/>
                  </a:schemeClr>
                </a:solidFill>
              </a:rPr>
              <a:t> h </a:t>
            </a:r>
            <a:r>
              <a:rPr lang="zh-CN" altLang="en-US" sz="20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不能修改主调函数中的 </a:t>
            </a:r>
            <a:r>
              <a:rPr lang="en-US" altLang="zh-CN" sz="2000" kern="100" dirty="0">
                <a:solidFill>
                  <a:schemeClr val="tx1">
                    <a:lumMod val="75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</a:t>
            </a:r>
            <a:endParaRPr lang="zh-CN" altLang="zh-CN" sz="2000" kern="100" dirty="0">
              <a:solidFill>
                <a:schemeClr val="tx1">
                  <a:lumMod val="75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-13970" y="2849880"/>
            <a:ext cx="6299200" cy="3960495"/>
          </a:xfrm>
          <a:prstGeom prst="rect">
            <a:avLst/>
          </a:prstGeom>
          <a:ln w="38100">
            <a:solidFill>
              <a:schemeClr val="tx1"/>
            </a:solidFill>
          </a:ln>
        </p:spPr>
        <p:txBody>
          <a:bodyPr>
            <a:no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zh-CN" altLang="en-US" sz="3200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主函数：</a:t>
            </a:r>
            <a:endParaRPr lang="en-US" altLang="zh-CN" sz="3200" kern="1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struct link *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=NULL;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create3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(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&amp;head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,10);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create3</a:t>
            </a:r>
            <a:r>
              <a:rPr lang="en-US" altLang="zh-CN" sz="24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>
                <a:solidFill>
                  <a:srgbClr val="FA06FA"/>
                </a:solidFill>
              </a:rPr>
              <a:t>struct link *</a:t>
            </a:r>
            <a:r>
              <a:rPr lang="zh-CN" altLang="en-US" sz="2400" dirty="0">
                <a:solidFill>
                  <a:srgbClr val="FA06FA"/>
                </a:solidFill>
              </a:rPr>
              <a:t>*</a:t>
            </a:r>
            <a:r>
              <a:rPr lang="en-US" altLang="zh-CN" sz="2400" dirty="0">
                <a:solidFill>
                  <a:srgbClr val="FA06FA"/>
                </a:solidFill>
              </a:rPr>
              <a:t>pH </a:t>
            </a:r>
            <a:r>
              <a:rPr lang="zh-CN" altLang="en-US" sz="24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n</a:t>
            </a:r>
            <a:r>
              <a:rPr lang="en-US" altLang="zh-CN" sz="24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zh-CN" altLang="zh-CN" sz="24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{ 	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（*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pH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=……</a:t>
            </a:r>
            <a:r>
              <a:rPr lang="zh-CN" altLang="en-US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接连接符 31"/>
          <p:cNvCxnSpPr>
            <a:cxnSpLocks noChangeShapeType="1"/>
          </p:cNvCxnSpPr>
          <p:nvPr/>
        </p:nvCxnSpPr>
        <p:spPr bwMode="auto">
          <a:xfrm flipV="1">
            <a:off x="6284954" y="4647454"/>
            <a:ext cx="5765800" cy="31750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文本框 34"/>
          <p:cNvSpPr txBox="1"/>
          <p:nvPr/>
        </p:nvSpPr>
        <p:spPr>
          <a:xfrm>
            <a:off x="6345555" y="4191000"/>
            <a:ext cx="915035" cy="36830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/>
                </a:solidFill>
              </a:rPr>
              <a:t>主函数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343306" y="4767472"/>
            <a:ext cx="109537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tx1"/>
                </a:solidFill>
              </a:rPr>
              <a:t>create3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11" name="直接箭头连接符 10"/>
          <p:cNvCxnSpPr/>
          <p:nvPr/>
        </p:nvCxnSpPr>
        <p:spPr bwMode="auto">
          <a:xfrm flipV="1">
            <a:off x="7571554" y="4274744"/>
            <a:ext cx="0" cy="1031206"/>
          </a:xfrm>
          <a:prstGeom prst="straightConnector1">
            <a:avLst/>
          </a:prstGeom>
          <a:solidFill>
            <a:schemeClr val="accent1"/>
          </a:solidFill>
          <a:ln w="50800" cap="flat" cmpd="sng" algn="ctr">
            <a:solidFill>
              <a:srgbClr val="FA06FA"/>
            </a:solidFill>
            <a:prstDash val="solid"/>
            <a:bevel/>
            <a:headEnd type="none" w="med" len="med"/>
            <a:tailEnd type="triangle"/>
          </a:ln>
        </p:spPr>
      </p:cxnSp>
      <p:sp>
        <p:nvSpPr>
          <p:cNvPr id="45" name="文本框 44"/>
          <p:cNvSpPr txBox="1"/>
          <p:nvPr/>
        </p:nvSpPr>
        <p:spPr>
          <a:xfrm>
            <a:off x="7455260" y="3917757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NULL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6934258" y="5253920"/>
            <a:ext cx="9429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&amp;head</a:t>
            </a:r>
            <a:endParaRPr lang="zh-CN" altLang="en-US" dirty="0"/>
          </a:p>
        </p:txBody>
      </p:sp>
      <p:cxnSp>
        <p:nvCxnSpPr>
          <p:cNvPr id="33" name="直接连接符 32"/>
          <p:cNvCxnSpPr>
            <a:cxnSpLocks noChangeShapeType="1"/>
          </p:cNvCxnSpPr>
          <p:nvPr/>
        </p:nvCxnSpPr>
        <p:spPr bwMode="auto">
          <a:xfrm flipV="1">
            <a:off x="152083" y="4691350"/>
            <a:ext cx="6040437" cy="502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" name="直接箭头连接符 36"/>
          <p:cNvCxnSpPr/>
          <p:nvPr/>
        </p:nvCxnSpPr>
        <p:spPr bwMode="auto">
          <a:xfrm>
            <a:off x="2438215" y="4267114"/>
            <a:ext cx="1828800" cy="685165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prstDash val="solid"/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灯片编号占位符 3"/>
          <p:cNvSpPr>
            <a:spLocks noGrp="1"/>
          </p:cNvSpPr>
          <p:nvPr/>
        </p:nvSpPr>
        <p:spPr>
          <a:xfrm>
            <a:off x="10859770" y="6353175"/>
            <a:ext cx="71183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>
              <a:defRPr/>
            </a:pPr>
            <a:fld id="{6229B1EE-7CCB-4DE4-B175-0995D509BEA6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bldLvl="0" animBg="1"/>
      <p:bldP spid="411658" grpId="0" bldLvl="0" animBg="1"/>
      <p:bldP spid="411659" grpId="0" bldLvl="0" animBg="1"/>
      <p:bldP spid="411666" grpId="0" bldLvl="0" animBg="1"/>
      <p:bldP spid="411667" grpId="0"/>
      <p:bldP spid="411668" grpId="0" bldLvl="0" animBg="1"/>
      <p:bldP spid="411675" grpId="0"/>
      <p:bldP spid="411678" grpId="0"/>
      <p:bldP spid="411682" grpId="0"/>
      <p:bldP spid="38" grpId="0" bldLvl="0" animBg="1"/>
      <p:bldP spid="41" grpId="0"/>
      <p:bldP spid="45" grpId="1"/>
      <p:bldP spid="46" grpId="0"/>
      <p:bldP spid="44" grpId="0" animBg="1"/>
      <p:bldP spid="46" grpId="1"/>
      <p:bldP spid="44" grpId="1" animBg="1"/>
      <p:bldP spid="41" grpId="1"/>
      <p:bldP spid="3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614025" y="6353175"/>
            <a:ext cx="957263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229B1EE-7CCB-4DE4-B175-0995D509BEA6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577975" y="315913"/>
            <a:ext cx="9036050" cy="43402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删除指定结点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del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(struct link *head, 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int key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  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struct link * 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指向待删除结点，释放结点用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//head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直接移到第一个非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的结点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while(head!=NULL 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&amp;&amp;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kern="100" dirty="0">
                <a:solidFill>
                  <a:srgbClr val="00B05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head-&gt;num==key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{	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 = head-&gt;next;</a:t>
            </a:r>
            <a:endParaRPr lang="zh-CN" altLang="zh-CN" sz="3200" kern="100" dirty="0">
              <a:solidFill>
                <a:srgbClr val="FA06FA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	free(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8132" name="Group 12"/>
          <p:cNvGrpSpPr/>
          <p:nvPr/>
        </p:nvGrpSpPr>
        <p:grpSpPr bwMode="auto">
          <a:xfrm flipH="1">
            <a:off x="8689975" y="5581650"/>
            <a:ext cx="708025" cy="920766"/>
            <a:chOff x="0" y="0"/>
            <a:chExt cx="20000" cy="20939"/>
          </a:xfrm>
        </p:grpSpPr>
        <p:sp>
          <p:nvSpPr>
            <p:cNvPr id="48159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93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A06FA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A06FA"/>
                  </a:solidFill>
                  <a:sym typeface="+mn-ea"/>
                </a:rPr>
                <a:t>     .</a:t>
              </a:r>
              <a:endParaRPr lang="en-US" altLang="zh-CN" sz="1800"/>
            </a:p>
          </p:txBody>
        </p:sp>
        <p:sp>
          <p:nvSpPr>
            <p:cNvPr id="48160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133" name="Freeform 18"/>
          <p:cNvSpPr/>
          <p:nvPr/>
        </p:nvSpPr>
        <p:spPr bwMode="auto">
          <a:xfrm flipH="1">
            <a:off x="8042275" y="5718175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4" name="Rectangle 28"/>
          <p:cNvSpPr>
            <a:spLocks noChangeArrowheads="1"/>
          </p:cNvSpPr>
          <p:nvPr/>
        </p:nvSpPr>
        <p:spPr bwMode="auto">
          <a:xfrm flipH="1">
            <a:off x="7802563" y="5838825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8135" name="Freeform 20"/>
          <p:cNvSpPr/>
          <p:nvPr/>
        </p:nvSpPr>
        <p:spPr bwMode="auto">
          <a:xfrm flipH="1">
            <a:off x="7537450" y="5729288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8136" name="Group 21"/>
          <p:cNvGrpSpPr/>
          <p:nvPr/>
        </p:nvGrpSpPr>
        <p:grpSpPr bwMode="auto">
          <a:xfrm flipH="1">
            <a:off x="7164388" y="5624513"/>
            <a:ext cx="709612" cy="898525"/>
            <a:chOff x="0" y="0"/>
            <a:chExt cx="20000" cy="20000"/>
          </a:xfrm>
        </p:grpSpPr>
        <p:sp>
          <p:nvSpPr>
            <p:cNvPr id="48157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3</a:t>
              </a:r>
              <a:endParaRPr lang="en-US" altLang="zh-CN"/>
            </a:p>
          </p:txBody>
        </p:sp>
        <p:sp>
          <p:nvSpPr>
            <p:cNvPr id="48158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组合 34"/>
          <p:cNvGrpSpPr/>
          <p:nvPr/>
        </p:nvGrpSpPr>
        <p:grpSpPr bwMode="auto">
          <a:xfrm>
            <a:off x="2566988" y="4997450"/>
            <a:ext cx="4559300" cy="1525588"/>
            <a:chOff x="1557636" y="5105241"/>
            <a:chExt cx="4559821" cy="1526540"/>
          </a:xfrm>
        </p:grpSpPr>
        <p:sp>
          <p:nvSpPr>
            <p:cNvPr id="48142" name="Rectangle 7"/>
            <p:cNvSpPr>
              <a:spLocks noChangeArrowheads="1"/>
            </p:cNvSpPr>
            <p:nvPr/>
          </p:nvSpPr>
          <p:spPr bwMode="auto">
            <a:xfrm flipH="1">
              <a:off x="1557636" y="5105241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  <p:sp>
          <p:nvSpPr>
            <p:cNvPr id="48143" name="Rectangle 9"/>
            <p:cNvSpPr>
              <a:spLocks noChangeArrowheads="1"/>
            </p:cNvSpPr>
            <p:nvPr/>
          </p:nvSpPr>
          <p:spPr bwMode="auto">
            <a:xfrm flipH="1">
              <a:off x="2318049" y="5210016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8144" name="Freeform 20"/>
            <p:cNvSpPr/>
            <p:nvPr/>
          </p:nvSpPr>
          <p:spPr bwMode="auto">
            <a:xfrm flipH="1">
              <a:off x="4438949" y="5818028"/>
              <a:ext cx="650875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45" name="Group 21"/>
            <p:cNvGrpSpPr/>
            <p:nvPr/>
          </p:nvGrpSpPr>
          <p:grpSpPr bwMode="auto">
            <a:xfrm flipH="1">
              <a:off x="4065886" y="5713253"/>
              <a:ext cx="709613" cy="898525"/>
              <a:chOff x="0" y="0"/>
              <a:chExt cx="20000" cy="20000"/>
            </a:xfrm>
          </p:grpSpPr>
          <p:sp>
            <p:nvSpPr>
              <p:cNvPr id="48155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</a:t>
                </a:r>
                <a:r>
                  <a:rPr lang="en-US" altLang="zh-CN">
                    <a:solidFill>
                      <a:srgbClr val="FA06FA"/>
                    </a:solidFill>
                  </a:rPr>
                  <a:t> 1</a:t>
                </a:r>
                <a:endParaRPr lang="en-US" altLang="zh-CN">
                  <a:solidFill>
                    <a:srgbClr val="FA06FA"/>
                  </a:solidFill>
                </a:endParaRPr>
              </a:p>
            </p:txBody>
          </p:sp>
          <p:sp>
            <p:nvSpPr>
              <p:cNvPr id="48156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8146" name="Group 24"/>
            <p:cNvGrpSpPr/>
            <p:nvPr/>
          </p:nvGrpSpPr>
          <p:grpSpPr bwMode="auto">
            <a:xfrm flipH="1">
              <a:off x="2986386" y="5713253"/>
              <a:ext cx="708025" cy="898525"/>
              <a:chOff x="0" y="0"/>
              <a:chExt cx="20000" cy="20000"/>
            </a:xfrm>
          </p:grpSpPr>
          <p:sp>
            <p:nvSpPr>
              <p:cNvPr id="48153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</a:t>
                </a:r>
                <a:r>
                  <a:rPr lang="en-US" altLang="zh-CN">
                    <a:solidFill>
                      <a:srgbClr val="FA06FA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8154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47" name="Freeform 27"/>
            <p:cNvSpPr/>
            <p:nvPr/>
          </p:nvSpPr>
          <p:spPr bwMode="auto">
            <a:xfrm flipH="1">
              <a:off x="3378499" y="5818028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148" name="Freeform 29"/>
            <p:cNvSpPr/>
            <p:nvPr/>
          </p:nvSpPr>
          <p:spPr bwMode="auto">
            <a:xfrm flipH="1">
              <a:off x="2613324" y="5417978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8149" name="Group 24"/>
            <p:cNvGrpSpPr/>
            <p:nvPr/>
          </p:nvGrpSpPr>
          <p:grpSpPr bwMode="auto">
            <a:xfrm flipH="1">
              <a:off x="5076056" y="5733256"/>
              <a:ext cx="708025" cy="898525"/>
              <a:chOff x="0" y="0"/>
              <a:chExt cx="20000" cy="20000"/>
            </a:xfrm>
          </p:grpSpPr>
          <p:sp>
            <p:nvSpPr>
              <p:cNvPr id="48151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</a:t>
                </a:r>
                <a:r>
                  <a:rPr lang="en-US" altLang="zh-CN">
                    <a:solidFill>
                      <a:srgbClr val="FA06FA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8152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8150" name="Freeform 27"/>
            <p:cNvSpPr/>
            <p:nvPr/>
          </p:nvSpPr>
          <p:spPr bwMode="auto">
            <a:xfrm flipH="1">
              <a:off x="5468169" y="5838031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33"/>
          <p:cNvGrpSpPr/>
          <p:nvPr/>
        </p:nvGrpSpPr>
        <p:grpSpPr bwMode="auto">
          <a:xfrm>
            <a:off x="5726113" y="4976813"/>
            <a:ext cx="1409700" cy="820737"/>
            <a:chOff x="4716016" y="5085184"/>
            <a:chExt cx="1409701" cy="820737"/>
          </a:xfrm>
        </p:grpSpPr>
        <p:sp>
          <p:nvSpPr>
            <p:cNvPr id="48139" name="Rectangle 7"/>
            <p:cNvSpPr>
              <a:spLocks noChangeArrowheads="1"/>
            </p:cNvSpPr>
            <p:nvPr/>
          </p:nvSpPr>
          <p:spPr bwMode="auto">
            <a:xfrm flipH="1">
              <a:off x="4716016" y="5085184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  <p:sp>
          <p:nvSpPr>
            <p:cNvPr id="48140" name="Rectangle 9"/>
            <p:cNvSpPr>
              <a:spLocks noChangeArrowheads="1"/>
            </p:cNvSpPr>
            <p:nvPr/>
          </p:nvSpPr>
          <p:spPr bwMode="auto">
            <a:xfrm flipH="1">
              <a:off x="5476429" y="5189959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8141" name="Freeform 29"/>
            <p:cNvSpPr/>
            <p:nvPr/>
          </p:nvSpPr>
          <p:spPr bwMode="auto">
            <a:xfrm flipH="1">
              <a:off x="5771704" y="5397921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CF9BB78-953C-408B-BE8E-959D6750262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631950" y="-100013"/>
            <a:ext cx="9144000" cy="4030980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	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//head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已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指向第一个非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key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结点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p=head;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struct link *p0=NULL,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*p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head; 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while(p!=NULL)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思考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什么情况下，首次执行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就是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NULL</a:t>
            </a:r>
            <a:endParaRPr lang="en-US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p-&gt;num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!=key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当前结点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不删</a:t>
            </a:r>
            <a:endParaRPr lang="zh-CN" altLang="zh-CN" sz="3200" kern="100" dirty="0">
              <a:solidFill>
                <a:srgbClr val="FF0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p0=p;</a:t>
            </a:r>
            <a:endParaRPr lang="zh-CN" altLang="zh-CN" sz="3200" kern="100" dirty="0">
              <a:solidFill>
                <a:schemeClr val="accent2">
                  <a:lumMod val="60000"/>
                  <a:lumOff val="4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{……} </a:t>
            </a: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p=p-&gt;next; //p</a:t>
            </a:r>
            <a:r>
              <a:rPr lang="zh-CN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后移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49156" name="Group 12"/>
          <p:cNvGrpSpPr/>
          <p:nvPr/>
        </p:nvGrpSpPr>
        <p:grpSpPr bwMode="auto">
          <a:xfrm flipH="1">
            <a:off x="8124825" y="4752975"/>
            <a:ext cx="708025" cy="948074"/>
            <a:chOff x="0" y="0"/>
            <a:chExt cx="20000" cy="21560"/>
          </a:xfrm>
        </p:grpSpPr>
        <p:sp>
          <p:nvSpPr>
            <p:cNvPr id="49201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156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A06FA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A06FA"/>
                  </a:solidFill>
                  <a:sym typeface="+mn-ea"/>
                </a:rPr>
                <a:t>     .</a:t>
              </a:r>
              <a:endParaRPr lang="en-US" altLang="zh-CN" sz="1800"/>
            </a:p>
          </p:txBody>
        </p:sp>
        <p:sp>
          <p:nvSpPr>
            <p:cNvPr id="49202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157" name="Freeform 18"/>
          <p:cNvSpPr/>
          <p:nvPr/>
        </p:nvSpPr>
        <p:spPr bwMode="auto">
          <a:xfrm flipH="1">
            <a:off x="7477125" y="4889500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58" name="Rectangle 28"/>
          <p:cNvSpPr>
            <a:spLocks noChangeArrowheads="1"/>
          </p:cNvSpPr>
          <p:nvPr/>
        </p:nvSpPr>
        <p:spPr bwMode="auto">
          <a:xfrm flipH="1">
            <a:off x="7315518" y="5010150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49159" name="Freeform 20"/>
          <p:cNvSpPr/>
          <p:nvPr/>
        </p:nvSpPr>
        <p:spPr bwMode="auto">
          <a:xfrm flipH="1">
            <a:off x="6972300" y="4902200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9160" name="Group 21"/>
          <p:cNvGrpSpPr/>
          <p:nvPr/>
        </p:nvGrpSpPr>
        <p:grpSpPr bwMode="auto">
          <a:xfrm flipH="1">
            <a:off x="6599238" y="4797425"/>
            <a:ext cx="709612" cy="898525"/>
            <a:chOff x="0" y="0"/>
            <a:chExt cx="20000" cy="20000"/>
          </a:xfrm>
        </p:grpSpPr>
        <p:sp>
          <p:nvSpPr>
            <p:cNvPr id="49199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8</a:t>
              </a:r>
              <a:endParaRPr lang="en-US" altLang="zh-CN"/>
            </a:p>
          </p:txBody>
        </p:sp>
        <p:sp>
          <p:nvSpPr>
            <p:cNvPr id="49200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9161" name="组合 15"/>
          <p:cNvGrpSpPr/>
          <p:nvPr/>
        </p:nvGrpSpPr>
        <p:grpSpPr bwMode="auto">
          <a:xfrm>
            <a:off x="2001838" y="4168775"/>
            <a:ext cx="4559300" cy="1527175"/>
            <a:chOff x="1557636" y="5105241"/>
            <a:chExt cx="4559821" cy="1526540"/>
          </a:xfrm>
        </p:grpSpPr>
        <p:sp>
          <p:nvSpPr>
            <p:cNvPr id="49184" name="Rectangle 7"/>
            <p:cNvSpPr>
              <a:spLocks noChangeArrowheads="1"/>
            </p:cNvSpPr>
            <p:nvPr/>
          </p:nvSpPr>
          <p:spPr bwMode="auto">
            <a:xfrm flipH="1">
              <a:off x="1557636" y="5105241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  <p:sp>
          <p:nvSpPr>
            <p:cNvPr id="49185" name="Rectangle 9"/>
            <p:cNvSpPr>
              <a:spLocks noChangeArrowheads="1"/>
            </p:cNvSpPr>
            <p:nvPr/>
          </p:nvSpPr>
          <p:spPr bwMode="auto">
            <a:xfrm flipH="1">
              <a:off x="2318049" y="5210016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49186" name="Freeform 20"/>
            <p:cNvSpPr/>
            <p:nvPr/>
          </p:nvSpPr>
          <p:spPr bwMode="auto">
            <a:xfrm flipH="1">
              <a:off x="4438949" y="5818028"/>
              <a:ext cx="650875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187" name="Group 21"/>
            <p:cNvGrpSpPr/>
            <p:nvPr/>
          </p:nvGrpSpPr>
          <p:grpSpPr bwMode="auto">
            <a:xfrm flipH="1">
              <a:off x="4065886" y="5713253"/>
              <a:ext cx="709613" cy="898525"/>
              <a:chOff x="0" y="0"/>
              <a:chExt cx="20000" cy="20000"/>
            </a:xfrm>
          </p:grpSpPr>
          <p:sp>
            <p:nvSpPr>
              <p:cNvPr id="49197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4</a:t>
                </a:r>
                <a:endParaRPr lang="en-US" altLang="zh-CN"/>
              </a:p>
            </p:txBody>
          </p:sp>
          <p:sp>
            <p:nvSpPr>
              <p:cNvPr id="49198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9188" name="Group 24"/>
            <p:cNvGrpSpPr/>
            <p:nvPr/>
          </p:nvGrpSpPr>
          <p:grpSpPr bwMode="auto">
            <a:xfrm flipH="1">
              <a:off x="2986386" y="5713253"/>
              <a:ext cx="708025" cy="898525"/>
              <a:chOff x="0" y="0"/>
              <a:chExt cx="20000" cy="20000"/>
            </a:xfrm>
          </p:grpSpPr>
          <p:sp>
            <p:nvSpPr>
              <p:cNvPr id="49195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3</a:t>
                </a: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9196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89" name="Freeform 27"/>
            <p:cNvSpPr/>
            <p:nvPr/>
          </p:nvSpPr>
          <p:spPr bwMode="auto">
            <a:xfrm flipH="1">
              <a:off x="3378499" y="5818028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190" name="Freeform 29"/>
            <p:cNvSpPr/>
            <p:nvPr/>
          </p:nvSpPr>
          <p:spPr bwMode="auto">
            <a:xfrm flipH="1">
              <a:off x="2613324" y="5417978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9191" name="Group 24"/>
            <p:cNvGrpSpPr/>
            <p:nvPr/>
          </p:nvGrpSpPr>
          <p:grpSpPr bwMode="auto">
            <a:xfrm flipH="1">
              <a:off x="5076056" y="5733256"/>
              <a:ext cx="708025" cy="898525"/>
              <a:chOff x="0" y="0"/>
              <a:chExt cx="20000" cy="20000"/>
            </a:xfrm>
          </p:grpSpPr>
          <p:sp>
            <p:nvSpPr>
              <p:cNvPr id="49193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</a:t>
                </a:r>
                <a:r>
                  <a:rPr lang="en-US" altLang="zh-CN">
                    <a:solidFill>
                      <a:srgbClr val="FA06FA"/>
                    </a:solidFill>
                  </a:rPr>
                  <a:t>1</a:t>
                </a:r>
                <a:endParaRPr lang="zh-CN" altLang="en-US">
                  <a:solidFill>
                    <a:srgbClr val="FF00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49194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9192" name="Freeform 27"/>
            <p:cNvSpPr/>
            <p:nvPr/>
          </p:nvSpPr>
          <p:spPr bwMode="auto">
            <a:xfrm flipH="1">
              <a:off x="5468169" y="5838031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组合 40"/>
          <p:cNvGrpSpPr/>
          <p:nvPr/>
        </p:nvGrpSpPr>
        <p:grpSpPr bwMode="auto">
          <a:xfrm>
            <a:off x="2141538" y="5695950"/>
            <a:ext cx="566737" cy="704850"/>
            <a:chOff x="617866" y="5695677"/>
            <a:chExt cx="566088" cy="705654"/>
          </a:xfrm>
        </p:grpSpPr>
        <p:cxnSp>
          <p:nvCxnSpPr>
            <p:cNvPr id="49182" name="直接箭头连接符 37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83" name="文本框 38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41"/>
          <p:cNvGrpSpPr/>
          <p:nvPr/>
        </p:nvGrpSpPr>
        <p:grpSpPr bwMode="auto">
          <a:xfrm>
            <a:off x="3548063" y="5695950"/>
            <a:ext cx="566737" cy="704850"/>
            <a:chOff x="1734626" y="5695677"/>
            <a:chExt cx="566088" cy="705654"/>
          </a:xfrm>
        </p:grpSpPr>
        <p:cxnSp>
          <p:nvCxnSpPr>
            <p:cNvPr id="49180" name="直接箭头连接符 36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81" name="文本框 39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A06FA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A06FA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组合 42"/>
          <p:cNvGrpSpPr/>
          <p:nvPr/>
        </p:nvGrpSpPr>
        <p:grpSpPr bwMode="auto">
          <a:xfrm>
            <a:off x="4657725" y="5695950"/>
            <a:ext cx="566738" cy="704850"/>
            <a:chOff x="1734626" y="5695677"/>
            <a:chExt cx="566088" cy="705654"/>
          </a:xfrm>
        </p:grpSpPr>
        <p:cxnSp>
          <p:nvCxnSpPr>
            <p:cNvPr id="49178" name="直接箭头连接符 43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9" name="文本框 44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09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lvl="0" algn="l"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A06FA"/>
                  </a:solidFill>
                  <a:latin typeface="Arial" panose="020B0604020202020204" pitchFamily="34" charset="0"/>
                  <a:sym typeface="+mn-ea"/>
                </a:rPr>
                <a:t>p</a:t>
              </a:r>
              <a:endParaRPr lang="en-US" altLang="zh-CN" sz="2400">
                <a:solidFill>
                  <a:srgbClr val="FA06FA"/>
                </a:solidFill>
                <a:latin typeface="Arial" panose="020B0604020202020204" pitchFamily="34" charset="0"/>
                <a:sym typeface="+mn-ea"/>
              </a:endParaRPr>
            </a:p>
          </p:txBody>
        </p:sp>
      </p:grpSp>
      <p:grpSp>
        <p:nvGrpSpPr>
          <p:cNvPr id="13" name="组合 45"/>
          <p:cNvGrpSpPr/>
          <p:nvPr/>
        </p:nvGrpSpPr>
        <p:grpSpPr bwMode="auto">
          <a:xfrm>
            <a:off x="2987675" y="5700713"/>
            <a:ext cx="565150" cy="704850"/>
            <a:chOff x="617866" y="5695677"/>
            <a:chExt cx="566088" cy="705654"/>
          </a:xfrm>
        </p:grpSpPr>
        <p:cxnSp>
          <p:nvCxnSpPr>
            <p:cNvPr id="49176" name="直接箭头连接符 46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7" name="文本框 47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组合 43"/>
          <p:cNvGrpSpPr/>
          <p:nvPr/>
        </p:nvGrpSpPr>
        <p:grpSpPr bwMode="auto">
          <a:xfrm>
            <a:off x="4044950" y="5691188"/>
            <a:ext cx="566738" cy="704850"/>
            <a:chOff x="617866" y="5695677"/>
            <a:chExt cx="566088" cy="705654"/>
          </a:xfrm>
        </p:grpSpPr>
        <p:cxnSp>
          <p:nvCxnSpPr>
            <p:cNvPr id="49174" name="直接箭头连接符 37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5" name="文本框 38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组合 47"/>
          <p:cNvGrpSpPr/>
          <p:nvPr/>
        </p:nvGrpSpPr>
        <p:grpSpPr bwMode="auto">
          <a:xfrm>
            <a:off x="5448300" y="5700713"/>
            <a:ext cx="566738" cy="704850"/>
            <a:chOff x="1734626" y="5695677"/>
            <a:chExt cx="566088" cy="705654"/>
          </a:xfrm>
        </p:grpSpPr>
        <p:cxnSp>
          <p:nvCxnSpPr>
            <p:cNvPr id="49172" name="直接箭头连接符 43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9173" name="文本框 44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A06FA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A06FA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49168" name="矩形 1"/>
          <p:cNvSpPr>
            <a:spLocks noChangeArrowheads="1"/>
          </p:cNvSpPr>
          <p:nvPr/>
        </p:nvSpPr>
        <p:spPr bwMode="auto">
          <a:xfrm>
            <a:off x="3287713" y="2420938"/>
            <a:ext cx="4335462" cy="942975"/>
          </a:xfrm>
          <a:prstGeom prst="rect">
            <a:avLst/>
          </a:prstGeom>
          <a:noFill/>
          <a:ln w="25400" algn="ctr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69" name="对话气泡: 椭圆形 2"/>
          <p:cNvSpPr>
            <a:spLocks noChangeArrowheads="1"/>
          </p:cNvSpPr>
          <p:nvPr/>
        </p:nvSpPr>
        <p:spPr bwMode="auto">
          <a:xfrm>
            <a:off x="7175500" y="2316163"/>
            <a:ext cx="1441450" cy="554037"/>
          </a:xfrm>
          <a:prstGeom prst="wedgeEllipseCallout">
            <a:avLst>
              <a:gd name="adj1" fmla="val -78806"/>
              <a:gd name="adj2" fmla="val 5712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见下页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70" name="矩形 1"/>
          <p:cNvSpPr>
            <a:spLocks noChangeArrowheads="1"/>
          </p:cNvSpPr>
          <p:nvPr/>
        </p:nvSpPr>
        <p:spPr bwMode="auto">
          <a:xfrm>
            <a:off x="3341688" y="3471863"/>
            <a:ext cx="4232275" cy="461962"/>
          </a:xfrm>
          <a:prstGeom prst="rect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9171" name="矩形 1"/>
          <p:cNvSpPr>
            <a:spLocks noChangeArrowheads="1"/>
          </p:cNvSpPr>
          <p:nvPr/>
        </p:nvSpPr>
        <p:spPr bwMode="auto">
          <a:xfrm>
            <a:off x="4367213" y="1955800"/>
            <a:ext cx="1368425" cy="460375"/>
          </a:xfrm>
          <a:prstGeom prst="rect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8DD9EF8-9F34-4EEE-9075-664CC38670D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631950" y="-100013"/>
            <a:ext cx="8496300" cy="473900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 	 	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删除当前结点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{   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=p;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指向待删除结点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p0-&gt;next = p-&gt;next; //</a:t>
            </a:r>
            <a:r>
              <a:rPr lang="zh-CN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删除</a:t>
            </a:r>
            <a:endParaRPr lang="en-US" altLang="zh-CN" sz="3200" kern="100" dirty="0">
              <a:solidFill>
                <a:srgbClr val="FA06FA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	    p=p0</a:t>
            </a:r>
            <a:r>
              <a:rPr lang="en-US" altLang="zh-CN" sz="16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sz="16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//p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退回到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p0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，便于把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else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p=p-&gt;next</a:t>
            </a:r>
            <a:r>
              <a:rPr lang="zh-CN" altLang="en-US" sz="16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进行统一</a:t>
            </a:r>
            <a:endParaRPr lang="zh-CN" altLang="zh-CN" sz="16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    free(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} </a:t>
            </a:r>
            <a:endParaRPr lang="en-US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p=p-&gt;next;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//p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后移</a:t>
            </a:r>
            <a:endParaRPr lang="zh-CN" altLang="zh-CN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A06FA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</a:t>
            </a:r>
            <a:r>
              <a:rPr lang="en-US" altLang="zh-CN" sz="28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//while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结束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return head; 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返回表头指针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 main</a:t>
            </a:r>
            <a:r>
              <a:rPr lang="zh-CN" altLang="en-US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结束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0180" name="Group 12"/>
          <p:cNvGrpSpPr/>
          <p:nvPr/>
        </p:nvGrpSpPr>
        <p:grpSpPr bwMode="auto">
          <a:xfrm flipH="1">
            <a:off x="8124825" y="5152390"/>
            <a:ext cx="708025" cy="962660"/>
            <a:chOff x="0" y="0"/>
            <a:chExt cx="20000" cy="20000"/>
          </a:xfrm>
        </p:grpSpPr>
        <p:sp>
          <p:nvSpPr>
            <p:cNvPr id="50219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A06FA"/>
                  </a:solidFill>
                </a:rPr>
                <a:t>1</a:t>
              </a:r>
              <a:endParaRPr lang="en-US" altLang="zh-CN">
                <a:solidFill>
                  <a:srgbClr val="FF0000"/>
                </a:solidFill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solidFill>
                    <a:srgbClr val="FA06FA"/>
                  </a:solidFill>
                  <a:sym typeface="+mn-ea"/>
                </a:rPr>
                <a:t>     . </a:t>
              </a:r>
              <a:endParaRPr lang="en-US" altLang="zh-CN" sz="1800">
                <a:solidFill>
                  <a:srgbClr val="FA06FA"/>
                </a:solidFill>
              </a:endParaRPr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1800"/>
            </a:p>
          </p:txBody>
        </p:sp>
        <p:sp>
          <p:nvSpPr>
            <p:cNvPr id="50220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1" name="Freeform 18"/>
          <p:cNvSpPr/>
          <p:nvPr/>
        </p:nvSpPr>
        <p:spPr bwMode="auto">
          <a:xfrm flipH="1">
            <a:off x="7477125" y="5288915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82" name="Rectangle 28"/>
          <p:cNvSpPr>
            <a:spLocks noChangeArrowheads="1"/>
          </p:cNvSpPr>
          <p:nvPr/>
        </p:nvSpPr>
        <p:spPr bwMode="auto">
          <a:xfrm flipH="1">
            <a:off x="7237413" y="5409565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50183" name="Freeform 20"/>
          <p:cNvSpPr/>
          <p:nvPr/>
        </p:nvSpPr>
        <p:spPr bwMode="auto">
          <a:xfrm flipH="1">
            <a:off x="6972300" y="5300028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84" name="Group 21"/>
          <p:cNvGrpSpPr/>
          <p:nvPr/>
        </p:nvGrpSpPr>
        <p:grpSpPr bwMode="auto">
          <a:xfrm flipH="1">
            <a:off x="6599238" y="5195253"/>
            <a:ext cx="709612" cy="898525"/>
            <a:chOff x="0" y="0"/>
            <a:chExt cx="20000" cy="20000"/>
          </a:xfrm>
        </p:grpSpPr>
        <p:sp>
          <p:nvSpPr>
            <p:cNvPr id="50217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8</a:t>
              </a:r>
              <a:endParaRPr lang="en-US" altLang="zh-CN"/>
            </a:p>
          </p:txBody>
        </p:sp>
        <p:sp>
          <p:nvSpPr>
            <p:cNvPr id="50218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85" name="Rectangle 7"/>
          <p:cNvSpPr>
            <a:spLocks noChangeArrowheads="1"/>
          </p:cNvSpPr>
          <p:nvPr/>
        </p:nvSpPr>
        <p:spPr bwMode="auto">
          <a:xfrm flipH="1">
            <a:off x="2001838" y="4568190"/>
            <a:ext cx="706437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</a:rPr>
              <a:t>head</a:t>
            </a:r>
            <a:endParaRPr lang="en-US" altLang="zh-CN" sz="2000">
              <a:solidFill>
                <a:srgbClr val="FFFF00"/>
              </a:solidFill>
            </a:endParaRPr>
          </a:p>
        </p:txBody>
      </p:sp>
      <p:sp>
        <p:nvSpPr>
          <p:cNvPr id="50186" name="Rectangle 9"/>
          <p:cNvSpPr>
            <a:spLocks noChangeArrowheads="1"/>
          </p:cNvSpPr>
          <p:nvPr/>
        </p:nvSpPr>
        <p:spPr bwMode="auto">
          <a:xfrm flipH="1">
            <a:off x="2762250" y="4672965"/>
            <a:ext cx="649288" cy="3683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zh-CN" altLang="en-US"/>
          </a:p>
        </p:txBody>
      </p:sp>
      <p:sp>
        <p:nvSpPr>
          <p:cNvPr id="18" name="Freeform 20"/>
          <p:cNvSpPr/>
          <p:nvPr/>
        </p:nvSpPr>
        <p:spPr bwMode="auto">
          <a:xfrm flipH="1">
            <a:off x="4883150" y="5280978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88" name="Group 21"/>
          <p:cNvGrpSpPr/>
          <p:nvPr/>
        </p:nvGrpSpPr>
        <p:grpSpPr bwMode="auto">
          <a:xfrm flipH="1">
            <a:off x="4510088" y="5176203"/>
            <a:ext cx="709612" cy="898525"/>
            <a:chOff x="0" y="0"/>
            <a:chExt cx="20000" cy="20000"/>
          </a:xfrm>
        </p:grpSpPr>
        <p:sp>
          <p:nvSpPr>
            <p:cNvPr id="50215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4</a:t>
              </a:r>
              <a:endParaRPr lang="en-US" altLang="zh-CN"/>
            </a:p>
          </p:txBody>
        </p:sp>
        <p:sp>
          <p:nvSpPr>
            <p:cNvPr id="50216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0189" name="Group 24"/>
          <p:cNvGrpSpPr/>
          <p:nvPr/>
        </p:nvGrpSpPr>
        <p:grpSpPr bwMode="auto">
          <a:xfrm flipH="1">
            <a:off x="3430588" y="5176203"/>
            <a:ext cx="708025" cy="898525"/>
            <a:chOff x="0" y="0"/>
            <a:chExt cx="20000" cy="20000"/>
          </a:xfrm>
        </p:grpSpPr>
        <p:sp>
          <p:nvSpPr>
            <p:cNvPr id="50213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3</a:t>
              </a: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0214" name="Line 2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90" name="Freeform 27"/>
          <p:cNvSpPr/>
          <p:nvPr/>
        </p:nvSpPr>
        <p:spPr bwMode="auto">
          <a:xfrm flipH="1">
            <a:off x="3822700" y="5280978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1" name="Freeform 29"/>
          <p:cNvSpPr/>
          <p:nvPr/>
        </p:nvSpPr>
        <p:spPr bwMode="auto">
          <a:xfrm flipH="1">
            <a:off x="3057525" y="4880928"/>
            <a:ext cx="354013" cy="5080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4"/>
          <p:cNvGrpSpPr/>
          <p:nvPr/>
        </p:nvGrpSpPr>
        <p:grpSpPr bwMode="auto">
          <a:xfrm flipH="1">
            <a:off x="5519738" y="5195253"/>
            <a:ext cx="708025" cy="898525"/>
            <a:chOff x="0" y="0"/>
            <a:chExt cx="20000" cy="20000"/>
          </a:xfrm>
        </p:grpSpPr>
        <p:sp>
          <p:nvSpPr>
            <p:cNvPr id="50211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</a:t>
              </a:r>
              <a:r>
                <a:rPr lang="en-US" altLang="zh-CN">
                  <a:solidFill>
                    <a:srgbClr val="FA06FA"/>
                  </a:solidFill>
                </a:rPr>
                <a:t>1</a:t>
              </a:r>
              <a:endParaRPr lang="zh-CN" altLang="en-US">
                <a:solidFill>
                  <a:srgbClr val="FF0000"/>
                </a:solidFill>
              </a:endParaRPr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0212" name="Line 2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" name="Freeform 27"/>
          <p:cNvSpPr/>
          <p:nvPr/>
        </p:nvSpPr>
        <p:spPr bwMode="auto">
          <a:xfrm flipH="1">
            <a:off x="5911850" y="5300028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0194" name="组合 30"/>
          <p:cNvGrpSpPr/>
          <p:nvPr/>
        </p:nvGrpSpPr>
        <p:grpSpPr bwMode="auto">
          <a:xfrm>
            <a:off x="4089400" y="6114415"/>
            <a:ext cx="566738" cy="706438"/>
            <a:chOff x="617866" y="5695677"/>
            <a:chExt cx="566088" cy="705654"/>
          </a:xfrm>
        </p:grpSpPr>
        <p:cxnSp>
          <p:nvCxnSpPr>
            <p:cNvPr id="50209" name="直接箭头连接符 31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10" name="文本框 32"/>
            <p:cNvSpPr txBox="1">
              <a:spLocks noChangeArrowheads="1"/>
            </p:cNvSpPr>
            <p:nvPr/>
          </p:nvSpPr>
          <p:spPr bwMode="auto">
            <a:xfrm>
              <a:off x="617866" y="5935407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0" name="组合 33"/>
          <p:cNvGrpSpPr/>
          <p:nvPr/>
        </p:nvGrpSpPr>
        <p:grpSpPr bwMode="auto">
          <a:xfrm>
            <a:off x="5451475" y="6120765"/>
            <a:ext cx="566738" cy="704850"/>
            <a:chOff x="1734626" y="5695677"/>
            <a:chExt cx="566088" cy="705654"/>
          </a:xfrm>
        </p:grpSpPr>
        <p:cxnSp>
          <p:nvCxnSpPr>
            <p:cNvPr id="50207" name="直接箭头连接符 34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8" name="文本框 35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A06FA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A06FA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" name="组合 36"/>
          <p:cNvGrpSpPr/>
          <p:nvPr/>
        </p:nvGrpSpPr>
        <p:grpSpPr bwMode="auto">
          <a:xfrm>
            <a:off x="6604000" y="6131878"/>
            <a:ext cx="566738" cy="704850"/>
            <a:chOff x="1734626" y="5695677"/>
            <a:chExt cx="566088" cy="705654"/>
          </a:xfrm>
        </p:grpSpPr>
        <p:cxnSp>
          <p:nvCxnSpPr>
            <p:cNvPr id="50205" name="直接箭头连接符 37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6" name="文本框 38"/>
            <p:cNvSpPr txBox="1">
              <a:spLocks noChangeArrowheads="1"/>
            </p:cNvSpPr>
            <p:nvPr/>
          </p:nvSpPr>
          <p:spPr bwMode="auto">
            <a:xfrm>
              <a:off x="1734626" y="5916113"/>
              <a:ext cx="56608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A06FA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A06FA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2" name="组合 49"/>
          <p:cNvGrpSpPr/>
          <p:nvPr/>
        </p:nvGrpSpPr>
        <p:grpSpPr bwMode="auto">
          <a:xfrm>
            <a:off x="5137150" y="4445953"/>
            <a:ext cx="901700" cy="706437"/>
            <a:chOff x="3613309" y="4047683"/>
            <a:chExt cx="902331" cy="705654"/>
          </a:xfrm>
        </p:grpSpPr>
        <p:cxnSp>
          <p:nvCxnSpPr>
            <p:cNvPr id="50203" name="直接箭头连接符 43"/>
            <p:cNvCxnSpPr>
              <a:cxnSpLocks noChangeShapeType="1"/>
            </p:cNvCxnSpPr>
            <p:nvPr/>
          </p:nvCxnSpPr>
          <p:spPr bwMode="auto">
            <a:xfrm flipV="1">
              <a:off x="4349806" y="4047683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head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4" name="文本框 44"/>
            <p:cNvSpPr txBox="1">
              <a:spLocks noChangeArrowheads="1"/>
            </p:cNvSpPr>
            <p:nvPr/>
          </p:nvSpPr>
          <p:spPr bwMode="auto">
            <a:xfrm>
              <a:off x="3613309" y="4137039"/>
              <a:ext cx="902331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A06FA"/>
                  </a:solidFill>
                  <a:latin typeface="Arial" panose="020B0604020202020204" pitchFamily="34" charset="0"/>
                </a:rPr>
                <a:t>tmp</a:t>
              </a:r>
              <a:endParaRPr lang="en-US" altLang="zh-CN" sz="2400">
                <a:solidFill>
                  <a:srgbClr val="FA06FA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1" name="Freeform 20"/>
          <p:cNvSpPr/>
          <p:nvPr/>
        </p:nvSpPr>
        <p:spPr bwMode="auto">
          <a:xfrm flipH="1">
            <a:off x="4897438" y="5288915"/>
            <a:ext cx="1663700" cy="6270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FA06FA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1"/>
          <p:cNvGrpSpPr/>
          <p:nvPr/>
        </p:nvGrpSpPr>
        <p:grpSpPr bwMode="auto">
          <a:xfrm>
            <a:off x="4732338" y="6131878"/>
            <a:ext cx="566737" cy="704850"/>
            <a:chOff x="3208461" y="6056313"/>
            <a:chExt cx="566738" cy="704850"/>
          </a:xfrm>
        </p:grpSpPr>
        <p:cxnSp>
          <p:nvCxnSpPr>
            <p:cNvPr id="50201" name="直接箭头连接符 37"/>
            <p:cNvCxnSpPr>
              <a:cxnSpLocks noChangeShapeType="1"/>
            </p:cNvCxnSpPr>
            <p:nvPr/>
          </p:nvCxnSpPr>
          <p:spPr bwMode="auto">
            <a:xfrm flipV="1">
              <a:off x="3506885" y="6056313"/>
              <a:ext cx="0" cy="704850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0202" name="文本框 38"/>
            <p:cNvSpPr txBox="1">
              <a:spLocks noChangeArrowheads="1"/>
            </p:cNvSpPr>
            <p:nvPr/>
          </p:nvSpPr>
          <p:spPr bwMode="auto">
            <a:xfrm>
              <a:off x="3208461" y="6273163"/>
              <a:ext cx="566738" cy="4611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A06FA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A06FA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50200" name="矩形 1"/>
          <p:cNvSpPr>
            <a:spLocks noChangeArrowheads="1"/>
          </p:cNvSpPr>
          <p:nvPr/>
        </p:nvSpPr>
        <p:spPr bwMode="auto">
          <a:xfrm>
            <a:off x="3351213" y="407988"/>
            <a:ext cx="6554787" cy="2289175"/>
          </a:xfrm>
          <a:prstGeom prst="rect">
            <a:avLst/>
          </a:prstGeom>
          <a:noFill/>
          <a:ln w="25400" algn="ctr">
            <a:solidFill>
              <a:schemeClr val="tx1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6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763" y="3154363"/>
            <a:ext cx="7532687" cy="3576637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dirty="0"/>
              <a:t>void print( </a:t>
            </a:r>
            <a:r>
              <a:rPr lang="en-US" altLang="zh-CN" b="1" dirty="0">
                <a:solidFill>
                  <a:srgbClr val="FA06FA"/>
                </a:solidFill>
              </a:rPr>
              <a:t>struct link * </a:t>
            </a:r>
            <a:r>
              <a:rPr lang="en-US" altLang="zh-CN" b="1" dirty="0">
                <a:solidFill>
                  <a:srgbClr val="FFFF00"/>
                </a:solidFill>
              </a:rPr>
              <a:t>head</a:t>
            </a:r>
            <a:r>
              <a:rPr lang="en-US" altLang="zh-CN" b="1" dirty="0"/>
              <a:t>) {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输出</a:t>
            </a:r>
            <a:r>
              <a:rPr lang="en-US" altLang="zh-CN" b="1" dirty="0"/>
              <a:t>	  	  </a:t>
            </a:r>
            <a:r>
              <a:rPr lang="en-US" altLang="zh-CN" b="1" dirty="0">
                <a:solidFill>
                  <a:srgbClr val="FA06FA"/>
                </a:solidFill>
              </a:rPr>
              <a:t>struct link *</a:t>
            </a:r>
            <a:r>
              <a:rPr lang="en-US" altLang="zh-CN" b="1" dirty="0">
                <a:solidFill>
                  <a:srgbClr val="FFFF00"/>
                </a:solidFill>
              </a:rPr>
              <a:t>p</a:t>
            </a:r>
            <a:r>
              <a:rPr lang="en-US" altLang="zh-CN" b="1" dirty="0"/>
              <a:t>=head; </a:t>
            </a:r>
            <a:endParaRPr lang="en-US" altLang="zh-CN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 	while(p!=NULL)</a:t>
            </a:r>
            <a:endParaRPr lang="en-US" altLang="zh-CN" sz="3200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  { 	</a:t>
            </a:r>
            <a:r>
              <a:rPr lang="en-US" altLang="zh-CN" sz="3200" b="1" dirty="0" err="1"/>
              <a:t>printf</a:t>
            </a:r>
            <a:r>
              <a:rPr lang="en-US" altLang="zh-CN" sz="3200" b="1" dirty="0"/>
              <a:t>("%-4d ",p-&gt;num);</a:t>
            </a:r>
            <a:endParaRPr lang="en-US" altLang="zh-CN" sz="3200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		</a:t>
            </a:r>
            <a:r>
              <a:rPr lang="en-US" altLang="zh-CN" sz="3200" b="1" dirty="0">
                <a:solidFill>
                  <a:srgbClr val="FFFF00"/>
                </a:solidFill>
              </a:rPr>
              <a:t>p=p-&gt;next;</a:t>
            </a:r>
            <a:endParaRPr lang="en-US" altLang="zh-CN" sz="3200" b="1" dirty="0">
              <a:solidFill>
                <a:srgbClr val="FFFF00"/>
              </a:solidFill>
            </a:endParaRPr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3200" b="1" dirty="0"/>
              <a:t>	}</a:t>
            </a:r>
            <a:endParaRPr lang="en-US" altLang="zh-CN" sz="3200" b="1" dirty="0"/>
          </a:p>
          <a:p>
            <a:pPr lvl="2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dirty="0"/>
              <a:t>  </a:t>
            </a:r>
            <a:r>
              <a:rPr lang="en-US" altLang="zh-CN" sz="1800" b="1" dirty="0" err="1"/>
              <a:t>printf</a:t>
            </a:r>
            <a:r>
              <a:rPr lang="en-US" altLang="zh-CN" sz="1800" b="1" dirty="0"/>
              <a:t>("\n");</a:t>
            </a:r>
            <a:endParaRPr lang="en-US" altLang="zh-CN" sz="1800" b="1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b="1" dirty="0"/>
              <a:t>}</a:t>
            </a:r>
            <a:endParaRPr lang="zh-CN" altLang="en-US" sz="1800" b="1" dirty="0"/>
          </a:p>
        </p:txBody>
      </p:sp>
      <p:sp>
        <p:nvSpPr>
          <p:cNvPr id="51203" name="Rectangle 3"/>
          <p:cNvSpPr>
            <a:spLocks noChangeArrowheads="1"/>
          </p:cNvSpPr>
          <p:nvPr/>
        </p:nvSpPr>
        <p:spPr bwMode="auto">
          <a:xfrm flipH="1">
            <a:off x="304483" y="783908"/>
            <a:ext cx="7334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head</a:t>
            </a:r>
            <a:endParaRPr lang="en-US" altLang="zh-CN" sz="20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51204" name="Rectangle 4"/>
          <p:cNvSpPr>
            <a:spLocks noChangeArrowheads="1"/>
          </p:cNvSpPr>
          <p:nvPr/>
        </p:nvSpPr>
        <p:spPr bwMode="auto">
          <a:xfrm flipH="1">
            <a:off x="827088" y="1055688"/>
            <a:ext cx="674687" cy="29845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51205" name="Group 5"/>
          <p:cNvGrpSpPr/>
          <p:nvPr/>
        </p:nvGrpSpPr>
        <p:grpSpPr bwMode="auto">
          <a:xfrm flipH="1">
            <a:off x="5778500" y="1441450"/>
            <a:ext cx="735013" cy="708025"/>
            <a:chOff x="0" y="0"/>
            <a:chExt cx="20000" cy="20000"/>
          </a:xfrm>
        </p:grpSpPr>
        <p:sp>
          <p:nvSpPr>
            <p:cNvPr id="51264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65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1206" name="Group 8"/>
          <p:cNvGrpSpPr/>
          <p:nvPr/>
        </p:nvGrpSpPr>
        <p:grpSpPr bwMode="auto">
          <a:xfrm flipH="1">
            <a:off x="4659313" y="1435100"/>
            <a:ext cx="733425" cy="731838"/>
            <a:chOff x="0" y="0"/>
            <a:chExt cx="20000" cy="20000"/>
          </a:xfrm>
        </p:grpSpPr>
        <p:sp>
          <p:nvSpPr>
            <p:cNvPr id="51262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63" name="Line 10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1207" name="Freeform 11"/>
          <p:cNvSpPr/>
          <p:nvPr/>
        </p:nvSpPr>
        <p:spPr bwMode="auto">
          <a:xfrm flipH="1">
            <a:off x="5064125" y="1544638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8" name="Freeform 12"/>
          <p:cNvSpPr/>
          <p:nvPr/>
        </p:nvSpPr>
        <p:spPr bwMode="auto">
          <a:xfrm flipH="1">
            <a:off x="3943350" y="1544638"/>
            <a:ext cx="674688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09" name="Freeform 13"/>
          <p:cNvSpPr/>
          <p:nvPr/>
        </p:nvSpPr>
        <p:spPr bwMode="auto">
          <a:xfrm flipH="1">
            <a:off x="3027363" y="1544638"/>
            <a:ext cx="673100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1210" name="Group 14"/>
          <p:cNvGrpSpPr/>
          <p:nvPr/>
        </p:nvGrpSpPr>
        <p:grpSpPr bwMode="auto">
          <a:xfrm flipH="1">
            <a:off x="2641600" y="1460500"/>
            <a:ext cx="733425" cy="722313"/>
            <a:chOff x="0" y="0"/>
            <a:chExt cx="20000" cy="20000"/>
          </a:xfrm>
        </p:grpSpPr>
        <p:sp>
          <p:nvSpPr>
            <p:cNvPr id="51260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61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51211" name="Group 17"/>
          <p:cNvGrpSpPr/>
          <p:nvPr/>
        </p:nvGrpSpPr>
        <p:grpSpPr bwMode="auto">
          <a:xfrm flipH="1">
            <a:off x="1520825" y="1460500"/>
            <a:ext cx="733425" cy="722313"/>
            <a:chOff x="0" y="0"/>
            <a:chExt cx="20000" cy="20000"/>
          </a:xfrm>
        </p:grpSpPr>
        <p:sp>
          <p:nvSpPr>
            <p:cNvPr id="51258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59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51212" name="Freeform 20"/>
          <p:cNvSpPr/>
          <p:nvPr/>
        </p:nvSpPr>
        <p:spPr bwMode="auto">
          <a:xfrm flipH="1">
            <a:off x="1928813" y="1544638"/>
            <a:ext cx="671512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3" name="Rectangle 21"/>
          <p:cNvSpPr>
            <a:spLocks noChangeArrowheads="1"/>
          </p:cNvSpPr>
          <p:nvPr/>
        </p:nvSpPr>
        <p:spPr bwMode="auto">
          <a:xfrm flipH="1">
            <a:off x="3598863" y="1458913"/>
            <a:ext cx="917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51214" name="Freeform 22"/>
          <p:cNvSpPr/>
          <p:nvPr/>
        </p:nvSpPr>
        <p:spPr bwMode="auto">
          <a:xfrm flipH="1">
            <a:off x="1131888" y="1223963"/>
            <a:ext cx="369887" cy="407987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15" name="Text Box 23"/>
          <p:cNvSpPr txBox="1">
            <a:spLocks noChangeArrowheads="1"/>
          </p:cNvSpPr>
          <p:nvPr/>
        </p:nvSpPr>
        <p:spPr bwMode="auto">
          <a:xfrm>
            <a:off x="5864225" y="1555750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grpSp>
        <p:nvGrpSpPr>
          <p:cNvPr id="6" name="Group 24"/>
          <p:cNvGrpSpPr/>
          <p:nvPr/>
        </p:nvGrpSpPr>
        <p:grpSpPr bwMode="auto">
          <a:xfrm>
            <a:off x="1865313" y="2211388"/>
            <a:ext cx="431800" cy="511175"/>
            <a:chOff x="1197" y="4020"/>
            <a:chExt cx="272" cy="322"/>
          </a:xfrm>
        </p:grpSpPr>
        <p:sp>
          <p:nvSpPr>
            <p:cNvPr id="51256" name="Line 25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7" name="Text Box 26"/>
            <p:cNvSpPr txBox="1">
              <a:spLocks noChangeArrowheads="1"/>
            </p:cNvSpPr>
            <p:nvPr/>
          </p:nvSpPr>
          <p:spPr bwMode="auto">
            <a:xfrm>
              <a:off x="1197" y="4092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7" name="Group 27"/>
          <p:cNvGrpSpPr/>
          <p:nvPr/>
        </p:nvGrpSpPr>
        <p:grpSpPr bwMode="auto">
          <a:xfrm>
            <a:off x="2786063" y="2197100"/>
            <a:ext cx="431800" cy="536575"/>
            <a:chOff x="1205" y="4020"/>
            <a:chExt cx="272" cy="338"/>
          </a:xfrm>
        </p:grpSpPr>
        <p:sp>
          <p:nvSpPr>
            <p:cNvPr id="51254" name="Line 28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5" name="Text Box 29"/>
            <p:cNvSpPr txBox="1">
              <a:spLocks noChangeArrowheads="1"/>
            </p:cNvSpPr>
            <p:nvPr/>
          </p:nvSpPr>
          <p:spPr bwMode="auto">
            <a:xfrm>
              <a:off x="1205" y="4108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8" name="Group 30"/>
          <p:cNvGrpSpPr/>
          <p:nvPr/>
        </p:nvGrpSpPr>
        <p:grpSpPr bwMode="auto">
          <a:xfrm>
            <a:off x="4733925" y="2197100"/>
            <a:ext cx="431800" cy="550863"/>
            <a:chOff x="1207" y="4020"/>
            <a:chExt cx="272" cy="347"/>
          </a:xfrm>
        </p:grpSpPr>
        <p:sp>
          <p:nvSpPr>
            <p:cNvPr id="51252" name="Line 31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3" name="Text Box 32"/>
            <p:cNvSpPr txBox="1">
              <a:spLocks noChangeArrowheads="1"/>
            </p:cNvSpPr>
            <p:nvPr/>
          </p:nvSpPr>
          <p:spPr bwMode="auto">
            <a:xfrm>
              <a:off x="1207" y="4117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9" name="Group 33"/>
          <p:cNvGrpSpPr/>
          <p:nvPr/>
        </p:nvGrpSpPr>
        <p:grpSpPr bwMode="auto">
          <a:xfrm>
            <a:off x="5954713" y="2197100"/>
            <a:ext cx="431800" cy="550863"/>
            <a:chOff x="1205" y="4020"/>
            <a:chExt cx="272" cy="347"/>
          </a:xfrm>
        </p:grpSpPr>
        <p:sp>
          <p:nvSpPr>
            <p:cNvPr id="51250" name="Line 34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51" name="Text Box 35"/>
            <p:cNvSpPr txBox="1">
              <a:spLocks noChangeArrowheads="1"/>
            </p:cNvSpPr>
            <p:nvPr/>
          </p:nvSpPr>
          <p:spPr bwMode="auto">
            <a:xfrm>
              <a:off x="1205" y="4117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grpSp>
        <p:nvGrpSpPr>
          <p:cNvPr id="10" name="Group 36"/>
          <p:cNvGrpSpPr/>
          <p:nvPr/>
        </p:nvGrpSpPr>
        <p:grpSpPr bwMode="auto">
          <a:xfrm>
            <a:off x="7088188" y="2197100"/>
            <a:ext cx="431800" cy="536575"/>
            <a:chOff x="1193" y="4020"/>
            <a:chExt cx="272" cy="338"/>
          </a:xfrm>
        </p:grpSpPr>
        <p:sp>
          <p:nvSpPr>
            <p:cNvPr id="51248" name="Line 37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9" name="Text Box 38"/>
            <p:cNvSpPr txBox="1">
              <a:spLocks noChangeArrowheads="1"/>
            </p:cNvSpPr>
            <p:nvPr/>
          </p:nvSpPr>
          <p:spPr bwMode="auto">
            <a:xfrm>
              <a:off x="1193" y="4108"/>
              <a:ext cx="27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p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sp>
        <p:nvSpPr>
          <p:cNvPr id="51221" name="Text Box 39"/>
          <p:cNvSpPr txBox="1">
            <a:spLocks noChangeArrowheads="1"/>
          </p:cNvSpPr>
          <p:nvPr/>
        </p:nvSpPr>
        <p:spPr bwMode="auto">
          <a:xfrm>
            <a:off x="1557338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1222" name="Text Box 40"/>
          <p:cNvSpPr txBox="1">
            <a:spLocks noChangeArrowheads="1"/>
          </p:cNvSpPr>
          <p:nvPr/>
        </p:nvSpPr>
        <p:spPr bwMode="auto">
          <a:xfrm>
            <a:off x="2709863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1223" name="Text Box 41"/>
          <p:cNvSpPr txBox="1">
            <a:spLocks noChangeArrowheads="1"/>
          </p:cNvSpPr>
          <p:nvPr/>
        </p:nvSpPr>
        <p:spPr bwMode="auto">
          <a:xfrm>
            <a:off x="4725988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1224" name="Text Box 42"/>
          <p:cNvSpPr txBox="1">
            <a:spLocks noChangeArrowheads="1"/>
          </p:cNvSpPr>
          <p:nvPr/>
        </p:nvSpPr>
        <p:spPr bwMode="auto">
          <a:xfrm>
            <a:off x="5878513" y="1476375"/>
            <a:ext cx="5762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EFD7BD8-61CC-4843-AC51-E5FBB61BC9AE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7" name="矩形 46"/>
          <p:cNvSpPr>
            <a:spLocks noChangeArrowheads="1"/>
          </p:cNvSpPr>
          <p:nvPr/>
        </p:nvSpPr>
        <p:spPr bwMode="auto">
          <a:xfrm>
            <a:off x="7164070" y="3352165"/>
            <a:ext cx="5023485" cy="353822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800" dirty="0">
                <a:solidFill>
                  <a:srgbClr val="FFC000"/>
                </a:solidFill>
                <a:latin typeface="Arial" panose="020B0604020202020204" pitchFamily="34" charset="0"/>
              </a:rPr>
              <a:t>形参和实参同名</a:t>
            </a:r>
            <a:r>
              <a:rPr lang="en-US" altLang="zh-CN" sz="2800" dirty="0">
                <a:solidFill>
                  <a:srgbClr val="FFC000"/>
                </a:solidFill>
                <a:latin typeface="Arial" panose="020B0604020202020204" pitchFamily="34" charset="0"/>
              </a:rPr>
              <a:t>】</a:t>
            </a:r>
            <a:endParaRPr lang="en-US" altLang="zh-CN" sz="2800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void print1</a:t>
            </a:r>
            <a:r>
              <a:rPr lang="en-US" altLang="zh-CN" sz="2800" dirty="0">
                <a:solidFill>
                  <a:srgbClr val="FA06FA"/>
                </a:solidFill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latin typeface="Arial" panose="020B0604020202020204" pitchFamily="34" charset="0"/>
              </a:rPr>
              <a:t>struct link* </a:t>
            </a:r>
            <a:r>
              <a:rPr lang="en-US" altLang="zh-CN" sz="2800" dirty="0">
                <a:solidFill>
                  <a:srgbClr val="FA06FA"/>
                </a:solidFill>
                <a:latin typeface="Arial" panose="020B0604020202020204" pitchFamily="34" charset="0"/>
              </a:rPr>
              <a:t>head)</a:t>
            </a:r>
            <a:endParaRPr lang="en-US" altLang="zh-CN" sz="2800" dirty="0">
              <a:solidFill>
                <a:srgbClr val="FA06FA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A06FA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dirty="0">
                <a:latin typeface="Arial" panose="020B0604020202020204" pitchFamily="34" charset="0"/>
              </a:rPr>
              <a:t>	while(head!=NULL)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{  </a:t>
            </a:r>
            <a:r>
              <a:rPr lang="en-US" altLang="zh-CN" sz="2800" dirty="0" err="1">
                <a:latin typeface="Arial" panose="020B0604020202020204" pitchFamily="34" charset="0"/>
              </a:rPr>
              <a:t>printf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>
                <a:sym typeface="+mn-ea"/>
              </a:rPr>
              <a:t>"</a:t>
            </a:r>
            <a:r>
              <a:rPr lang="en-US" altLang="zh-CN" sz="2800" dirty="0">
                <a:latin typeface="Arial" panose="020B0604020202020204" pitchFamily="34" charset="0"/>
              </a:rPr>
              <a:t>%-4d</a:t>
            </a:r>
            <a:r>
              <a:rPr lang="en-US" altLang="zh-CN" sz="2800" dirty="0">
                <a:sym typeface="+mn-ea"/>
              </a:rPr>
              <a:t>"</a:t>
            </a:r>
            <a:r>
              <a:rPr lang="en-US" altLang="zh-CN" sz="2800" dirty="0">
                <a:latin typeface="Arial" panose="020B0604020202020204" pitchFamily="34" charset="0"/>
              </a:rPr>
              <a:t>,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head-&gt;num); 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    </a:t>
            </a:r>
            <a:r>
              <a:rPr lang="en-US" altLang="zh-CN" sz="2800" dirty="0">
                <a:solidFill>
                  <a:srgbClr val="FA06FA"/>
                </a:solidFill>
                <a:latin typeface="Arial" panose="020B0604020202020204" pitchFamily="34" charset="0"/>
              </a:rPr>
              <a:t>head=</a:t>
            </a:r>
            <a:r>
              <a:rPr lang="en-US" altLang="zh-CN" sz="2800" dirty="0">
                <a:latin typeface="Arial" panose="020B0604020202020204" pitchFamily="34" charset="0"/>
              </a:rPr>
              <a:t>head-&gt;next;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}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A06FA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FA06FA"/>
              </a:solidFill>
              <a:latin typeface="Arial" panose="020B0604020202020204" pitchFamily="34" charset="0"/>
            </a:endParaRPr>
          </a:p>
        </p:txBody>
      </p:sp>
      <p:cxnSp>
        <p:nvCxnSpPr>
          <p:cNvPr id="48" name="直接连接符 47"/>
          <p:cNvCxnSpPr/>
          <p:nvPr/>
        </p:nvCxnSpPr>
        <p:spPr bwMode="auto">
          <a:xfrm flipV="1">
            <a:off x="63500" y="784225"/>
            <a:ext cx="7646988" cy="44450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9" name="矩形 48"/>
          <p:cNvSpPr>
            <a:spLocks noChangeArrowheads="1"/>
          </p:cNvSpPr>
          <p:nvPr/>
        </p:nvSpPr>
        <p:spPr bwMode="auto">
          <a:xfrm>
            <a:off x="1586230" y="292100"/>
            <a:ext cx="668020" cy="268605"/>
          </a:xfrm>
          <a:prstGeom prst="rect">
            <a:avLst/>
          </a:prstGeom>
          <a:noFill/>
          <a:ln w="50800" algn="ctr">
            <a:solidFill>
              <a:srgbClr val="FA06FA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</p:txBody>
      </p:sp>
      <p:cxnSp>
        <p:nvCxnSpPr>
          <p:cNvPr id="50" name="直接箭头连接符 49"/>
          <p:cNvCxnSpPr/>
          <p:nvPr/>
        </p:nvCxnSpPr>
        <p:spPr bwMode="auto">
          <a:xfrm flipV="1">
            <a:off x="1928813" y="585788"/>
            <a:ext cx="0" cy="849312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文本框 50"/>
          <p:cNvSpPr txBox="1">
            <a:spLocks noChangeArrowheads="1"/>
          </p:cNvSpPr>
          <p:nvPr/>
        </p:nvSpPr>
        <p:spPr bwMode="auto">
          <a:xfrm>
            <a:off x="971550" y="-50165"/>
            <a:ext cx="1402080" cy="342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形参</a:t>
            </a: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head</a:t>
            </a:r>
            <a:endParaRPr lang="zh-CN" altLang="en-US" sz="1800" dirty="0">
              <a:solidFill>
                <a:srgbClr val="FA06FA"/>
              </a:solidFill>
              <a:sym typeface="+mn-ea"/>
            </a:endParaRPr>
          </a:p>
        </p:txBody>
      </p:sp>
      <p:cxnSp>
        <p:nvCxnSpPr>
          <p:cNvPr id="65" name="直接箭头连接符 64"/>
          <p:cNvCxnSpPr/>
          <p:nvPr/>
        </p:nvCxnSpPr>
        <p:spPr bwMode="auto">
          <a:xfrm flipV="1">
            <a:off x="2997200" y="592138"/>
            <a:ext cx="0" cy="849312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7" name="直接箭头连接符 66"/>
          <p:cNvCxnSpPr/>
          <p:nvPr/>
        </p:nvCxnSpPr>
        <p:spPr bwMode="auto">
          <a:xfrm flipV="1">
            <a:off x="5026025" y="533400"/>
            <a:ext cx="0" cy="849313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直接箭头连接符 67"/>
          <p:cNvCxnSpPr/>
          <p:nvPr/>
        </p:nvCxnSpPr>
        <p:spPr bwMode="auto">
          <a:xfrm flipV="1">
            <a:off x="6165850" y="533400"/>
            <a:ext cx="0" cy="849313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9" name="直接箭头连接符 68"/>
          <p:cNvCxnSpPr/>
          <p:nvPr/>
        </p:nvCxnSpPr>
        <p:spPr bwMode="auto">
          <a:xfrm flipV="1">
            <a:off x="7389813" y="588963"/>
            <a:ext cx="0" cy="849312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Rectangle 4"/>
          <p:cNvSpPr>
            <a:spLocks noChangeArrowheads="1"/>
          </p:cNvSpPr>
          <p:nvPr/>
        </p:nvSpPr>
        <p:spPr bwMode="auto">
          <a:xfrm flipH="1">
            <a:off x="1928813" y="2703513"/>
            <a:ext cx="674687" cy="29845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71" name="文本框 70"/>
          <p:cNvSpPr txBox="1">
            <a:spLocks noChangeArrowheads="1"/>
          </p:cNvSpPr>
          <p:nvPr/>
        </p:nvSpPr>
        <p:spPr bwMode="auto">
          <a:xfrm>
            <a:off x="1858963" y="446088"/>
            <a:ext cx="14017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形参</a:t>
            </a: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head</a:t>
            </a:r>
            <a:endParaRPr lang="zh-CN" altLang="en-US" sz="1800" dirty="0">
              <a:solidFill>
                <a:srgbClr val="FA06FA"/>
              </a:solidFill>
              <a:sym typeface="+mn-ea"/>
            </a:endParaRPr>
          </a:p>
        </p:txBody>
      </p:sp>
      <p:sp>
        <p:nvSpPr>
          <p:cNvPr id="72" name="文本框 71"/>
          <p:cNvSpPr txBox="1">
            <a:spLocks noChangeArrowheads="1"/>
          </p:cNvSpPr>
          <p:nvPr/>
        </p:nvSpPr>
        <p:spPr bwMode="auto">
          <a:xfrm>
            <a:off x="3879850" y="436563"/>
            <a:ext cx="1401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形参</a:t>
            </a: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head</a:t>
            </a:r>
            <a:endParaRPr lang="zh-CN" altLang="en-US" sz="1800" dirty="0">
              <a:solidFill>
                <a:srgbClr val="FA06FA"/>
              </a:solidFill>
              <a:sym typeface="+mn-ea"/>
            </a:endParaRPr>
          </a:p>
        </p:txBody>
      </p:sp>
      <p:sp>
        <p:nvSpPr>
          <p:cNvPr id="73" name="文本框 72"/>
          <p:cNvSpPr txBox="1">
            <a:spLocks noChangeArrowheads="1"/>
          </p:cNvSpPr>
          <p:nvPr/>
        </p:nvSpPr>
        <p:spPr bwMode="auto">
          <a:xfrm>
            <a:off x="5051425" y="442913"/>
            <a:ext cx="1401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形参</a:t>
            </a: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head</a:t>
            </a:r>
            <a:endParaRPr lang="zh-CN" altLang="en-US" sz="1800" dirty="0">
              <a:solidFill>
                <a:srgbClr val="FA06FA"/>
              </a:solidFill>
              <a:sym typeface="+mn-ea"/>
            </a:endParaRPr>
          </a:p>
        </p:txBody>
      </p:sp>
      <p:sp>
        <p:nvSpPr>
          <p:cNvPr id="74" name="文本框 73"/>
          <p:cNvSpPr txBox="1">
            <a:spLocks noChangeArrowheads="1"/>
          </p:cNvSpPr>
          <p:nvPr/>
        </p:nvSpPr>
        <p:spPr bwMode="auto">
          <a:xfrm>
            <a:off x="6223000" y="442913"/>
            <a:ext cx="14017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形参</a:t>
            </a:r>
            <a:r>
              <a:rPr lang="zh-CN" altLang="en-US" sz="1800" dirty="0">
                <a:solidFill>
                  <a:srgbClr val="FA06FA"/>
                </a:solidFill>
                <a:sym typeface="+mn-ea"/>
              </a:rPr>
              <a:t>head</a:t>
            </a:r>
            <a:endParaRPr lang="zh-CN" altLang="en-US" sz="1800" dirty="0">
              <a:solidFill>
                <a:srgbClr val="FA06FA"/>
              </a:solidFill>
              <a:sym typeface="+mn-ea"/>
            </a:endParaRPr>
          </a:p>
        </p:txBody>
      </p:sp>
      <p:cxnSp>
        <p:nvCxnSpPr>
          <p:cNvPr id="51241" name="直接连接符 75"/>
          <p:cNvCxnSpPr/>
          <p:nvPr/>
        </p:nvCxnSpPr>
        <p:spPr bwMode="auto">
          <a:xfrm flipV="1">
            <a:off x="50800" y="3130550"/>
            <a:ext cx="7572375" cy="17463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3" name="矩形 12"/>
          <p:cNvSpPr/>
          <p:nvPr/>
        </p:nvSpPr>
        <p:spPr>
          <a:xfrm>
            <a:off x="7503795" y="25400"/>
            <a:ext cx="4665345" cy="3165475"/>
          </a:xfrm>
          <a:prstGeom prst="rect">
            <a:avLst/>
          </a:prstGeom>
          <a:solidFill>
            <a:schemeClr val="accent1"/>
          </a:solidFill>
        </p:spPr>
        <p:txBody>
          <a:bodyPr lIns="0" rIns="0" anchor="ctr"/>
          <a:lstStyle/>
          <a:p>
            <a:pPr eaLnBrk="1" hangingPunct="1">
              <a:defRPr/>
            </a:pPr>
            <a:r>
              <a:rPr lang="zh-CN" altLang="en-US" sz="3200" dirty="0">
                <a:solidFill>
                  <a:srgbClr val="FFC000"/>
                </a:solidFill>
                <a:latin typeface="Arial" panose="020B0604020202020204" pitchFamily="34" charset="0"/>
              </a:rPr>
              <a:t>主调函数：</a:t>
            </a:r>
            <a:endParaRPr lang="en-US" altLang="zh-CN" sz="3200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/>
              <a:t>int main( ) {</a:t>
            </a:r>
            <a:endParaRPr lang="en-US" altLang="zh-CN" sz="3200" dirty="0"/>
          </a:p>
          <a:p>
            <a:pPr eaLnBrk="1" hangingPunct="1">
              <a:defRPr/>
            </a:pPr>
            <a:r>
              <a:rPr lang="en-US" altLang="zh-CN" sz="3200" dirty="0"/>
              <a:t>    struct link * head;</a:t>
            </a:r>
            <a:endParaRPr lang="en-US" altLang="zh-CN" sz="3200" dirty="0"/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//……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print(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head</a:t>
            </a:r>
            <a:r>
              <a:rPr lang="en-US" altLang="zh-CN" sz="3200" dirty="0">
                <a:latin typeface="Arial" panose="020B0604020202020204" pitchFamily="34" charset="0"/>
              </a:rPr>
              <a:t>);</a:t>
            </a:r>
            <a:r>
              <a:rPr lang="en-US" altLang="zh-CN" sz="2000" dirty="0">
                <a:latin typeface="Arial" panose="020B0604020202020204" pitchFamily="34" charset="0"/>
              </a:rPr>
              <a:t>//print1(head);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}</a:t>
            </a: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51243" name="Rectangle 4"/>
          <p:cNvSpPr>
            <a:spLocks noChangeArrowheads="1"/>
          </p:cNvSpPr>
          <p:nvPr/>
        </p:nvSpPr>
        <p:spPr bwMode="auto">
          <a:xfrm flipH="1">
            <a:off x="1171575" y="2703513"/>
            <a:ext cx="674688" cy="298450"/>
          </a:xfrm>
          <a:prstGeom prst="rect">
            <a:avLst/>
          </a:prstGeom>
          <a:noFill/>
          <a:ln w="38100">
            <a:solidFill>
              <a:srgbClr val="FFFF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51244" name="Group 24"/>
          <p:cNvGrpSpPr/>
          <p:nvPr/>
        </p:nvGrpSpPr>
        <p:grpSpPr bwMode="auto">
          <a:xfrm>
            <a:off x="854075" y="2189163"/>
            <a:ext cx="833438" cy="558800"/>
            <a:chOff x="867" y="4020"/>
            <a:chExt cx="525" cy="352"/>
          </a:xfrm>
        </p:grpSpPr>
        <p:sp>
          <p:nvSpPr>
            <p:cNvPr id="51246" name="Line 25"/>
            <p:cNvSpPr>
              <a:spLocks noChangeShapeType="1"/>
            </p:cNvSpPr>
            <p:nvPr/>
          </p:nvSpPr>
          <p:spPr bwMode="auto">
            <a:xfrm flipV="1">
              <a:off x="1383" y="4020"/>
              <a:ext cx="0" cy="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47" name="Text Box 26"/>
            <p:cNvSpPr txBox="1">
              <a:spLocks noChangeArrowheads="1"/>
            </p:cNvSpPr>
            <p:nvPr/>
          </p:nvSpPr>
          <p:spPr bwMode="auto">
            <a:xfrm>
              <a:off x="867" y="4120"/>
              <a:ext cx="52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en-US" altLang="zh-CN" sz="2000">
                  <a:solidFill>
                    <a:srgbClr val="FFFF00"/>
                  </a:solidFill>
                </a:rPr>
                <a:t>head</a:t>
              </a:r>
              <a:endParaRPr lang="en-US" altLang="zh-CN" sz="2000">
                <a:solidFill>
                  <a:srgbClr val="FFFF00"/>
                </a:solidFill>
              </a:endParaRPr>
            </a:p>
          </p:txBody>
        </p:sp>
      </p:grpSp>
      <p:cxnSp>
        <p:nvCxnSpPr>
          <p:cNvPr id="51245" name="直接连接符 84"/>
          <p:cNvCxnSpPr/>
          <p:nvPr/>
        </p:nvCxnSpPr>
        <p:spPr bwMode="auto">
          <a:xfrm>
            <a:off x="63500" y="2439988"/>
            <a:ext cx="7646988" cy="19050"/>
          </a:xfrm>
          <a:prstGeom prst="line">
            <a:avLst/>
          </a:prstGeom>
          <a:noFill/>
          <a:ln w="25400" algn="ctr">
            <a:solidFill>
              <a:srgbClr val="FA06FA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" name="Rectangle 3"/>
          <p:cNvSpPr>
            <a:spLocks noChangeArrowheads="1"/>
          </p:cNvSpPr>
          <p:nvPr/>
        </p:nvSpPr>
        <p:spPr bwMode="auto">
          <a:xfrm flipH="1">
            <a:off x="50800" y="1594485"/>
            <a:ext cx="941070" cy="3365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主函数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 flipH="1">
            <a:off x="76200" y="2482850"/>
            <a:ext cx="598805" cy="59499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print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函数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 flipH="1">
            <a:off x="50800" y="25400"/>
            <a:ext cx="776605" cy="59499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000" dirty="0">
                <a:solidFill>
                  <a:schemeClr val="tx1"/>
                </a:solidFill>
                <a:latin typeface="Arial" panose="020B0604020202020204" pitchFamily="34" charset="0"/>
              </a:rPr>
              <a:t>print1</a:t>
            </a:r>
            <a:endParaRPr lang="en-US" altLang="zh-CN" sz="20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函数</a:t>
            </a:r>
            <a:endParaRPr lang="zh-CN" altLang="en-US" sz="2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 uiExpand="1" build="allAtOnce"/>
      <p:bldP spid="49" grpId="0" bldLvl="0" animBg="1"/>
      <p:bldP spid="51" grpId="0"/>
      <p:bldP spid="51" grpId="1"/>
      <p:bldP spid="70" grpId="0" bldLvl="0" animBg="1"/>
      <p:bldP spid="71" grpId="0"/>
      <p:bldP spid="71" grpId="1"/>
      <p:bldP spid="72" grpId="0"/>
      <p:bldP spid="72" grpId="1"/>
      <p:bldP spid="73" grpId="0"/>
      <p:bldP spid="73" grpId="1"/>
      <p:bldP spid="74" grpId="0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10837545" y="6248400"/>
            <a:ext cx="74485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DA5CDCA-D9B9-4FFA-8066-D6A0B150E4B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" name="矩形 1"/>
          <p:cNvSpPr/>
          <p:nvPr/>
        </p:nvSpPr>
        <p:spPr>
          <a:xfrm>
            <a:off x="457200" y="76200"/>
            <a:ext cx="8364538" cy="4030980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destroy(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head)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释放链表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	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while 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!= NULL)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{     head=head-&gt;next; 					free(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32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tmp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= 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} 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52228" name="Group 12"/>
          <p:cNvGrpSpPr/>
          <p:nvPr/>
        </p:nvGrpSpPr>
        <p:grpSpPr bwMode="auto">
          <a:xfrm flipH="1">
            <a:off x="6647180" y="5075238"/>
            <a:ext cx="708025" cy="981714"/>
            <a:chOff x="0" y="0"/>
            <a:chExt cx="20000" cy="22325"/>
          </a:xfrm>
        </p:grpSpPr>
        <p:sp>
          <p:nvSpPr>
            <p:cNvPr id="52264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20000" cy="2232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9</a:t>
              </a:r>
              <a:endParaRPr lang="en-US" altLang="zh-CN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800"/>
            </a:p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/>
                <a:t>    </a:t>
              </a:r>
              <a:r>
                <a:rPr lang="en-US" altLang="zh-CN" sz="2400"/>
                <a:t>.</a:t>
              </a:r>
              <a:endParaRPr lang="en-US" altLang="zh-CN" sz="2400"/>
            </a:p>
          </p:txBody>
        </p:sp>
        <p:sp>
          <p:nvSpPr>
            <p:cNvPr id="52265" name="Line 14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29" name="Freeform 18"/>
          <p:cNvSpPr/>
          <p:nvPr/>
        </p:nvSpPr>
        <p:spPr bwMode="auto">
          <a:xfrm flipH="1">
            <a:off x="5999480" y="5211763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0" name="Rectangle 28"/>
          <p:cNvSpPr>
            <a:spLocks noChangeArrowheads="1"/>
          </p:cNvSpPr>
          <p:nvPr/>
        </p:nvSpPr>
        <p:spPr bwMode="auto">
          <a:xfrm flipH="1">
            <a:off x="5759768" y="5332413"/>
            <a:ext cx="671512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/>
              <a:t>...</a:t>
            </a:r>
            <a:endParaRPr lang="zh-CN" altLang="en-US"/>
          </a:p>
        </p:txBody>
      </p:sp>
      <p:sp>
        <p:nvSpPr>
          <p:cNvPr id="52231" name="Freeform 20"/>
          <p:cNvSpPr/>
          <p:nvPr/>
        </p:nvSpPr>
        <p:spPr bwMode="auto">
          <a:xfrm flipH="1">
            <a:off x="5494655" y="5222875"/>
            <a:ext cx="650875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2232" name="Group 21"/>
          <p:cNvGrpSpPr/>
          <p:nvPr/>
        </p:nvGrpSpPr>
        <p:grpSpPr bwMode="auto">
          <a:xfrm flipH="1">
            <a:off x="5121593" y="5118100"/>
            <a:ext cx="709612" cy="898525"/>
            <a:chOff x="0" y="0"/>
            <a:chExt cx="20000" cy="20000"/>
          </a:xfrm>
        </p:grpSpPr>
        <p:sp>
          <p:nvSpPr>
            <p:cNvPr id="52262" name="Rectangle 22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8</a:t>
              </a:r>
              <a:endParaRPr lang="en-US" altLang="zh-CN"/>
            </a:p>
          </p:txBody>
        </p:sp>
        <p:sp>
          <p:nvSpPr>
            <p:cNvPr id="52263" name="Line 23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33" name="组合 43"/>
          <p:cNvGrpSpPr/>
          <p:nvPr/>
        </p:nvGrpSpPr>
        <p:grpSpPr bwMode="auto">
          <a:xfrm>
            <a:off x="3032443" y="5099050"/>
            <a:ext cx="1023937" cy="898525"/>
            <a:chOff x="3623866" y="5098490"/>
            <a:chExt cx="1023938" cy="898525"/>
          </a:xfrm>
        </p:grpSpPr>
        <p:sp>
          <p:nvSpPr>
            <p:cNvPr id="52258" name="Freeform 20"/>
            <p:cNvSpPr/>
            <p:nvPr/>
          </p:nvSpPr>
          <p:spPr bwMode="auto">
            <a:xfrm flipH="1">
              <a:off x="3996929" y="5203265"/>
              <a:ext cx="650875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2259" name="Group 21"/>
            <p:cNvGrpSpPr/>
            <p:nvPr/>
          </p:nvGrpSpPr>
          <p:grpSpPr bwMode="auto">
            <a:xfrm flipH="1">
              <a:off x="3623866" y="5098490"/>
              <a:ext cx="709613" cy="898525"/>
              <a:chOff x="0" y="0"/>
              <a:chExt cx="20000" cy="20000"/>
            </a:xfrm>
          </p:grpSpPr>
          <p:sp>
            <p:nvSpPr>
              <p:cNvPr id="52260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4</a:t>
                </a:r>
                <a:endParaRPr lang="en-US" altLang="zh-CN"/>
              </a:p>
            </p:txBody>
          </p:sp>
          <p:sp>
            <p:nvSpPr>
              <p:cNvPr id="52261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组合 44"/>
          <p:cNvGrpSpPr/>
          <p:nvPr/>
        </p:nvGrpSpPr>
        <p:grpSpPr bwMode="auto">
          <a:xfrm>
            <a:off x="1846634" y="5099050"/>
            <a:ext cx="1147709" cy="898525"/>
            <a:chOff x="2438057" y="5098490"/>
            <a:chExt cx="1147710" cy="898525"/>
          </a:xfrm>
        </p:grpSpPr>
        <p:grpSp>
          <p:nvGrpSpPr>
            <p:cNvPr id="52254" name="Group 24"/>
            <p:cNvGrpSpPr/>
            <p:nvPr/>
          </p:nvGrpSpPr>
          <p:grpSpPr bwMode="auto">
            <a:xfrm flipH="1">
              <a:off x="2438057" y="5098490"/>
              <a:ext cx="708025" cy="898525"/>
              <a:chOff x="3003" y="0"/>
              <a:chExt cx="20000" cy="20000"/>
            </a:xfrm>
          </p:grpSpPr>
          <p:sp>
            <p:nvSpPr>
              <p:cNvPr id="52256" name="Rectangle 25"/>
              <p:cNvSpPr>
                <a:spLocks noChangeArrowheads="1"/>
              </p:cNvSpPr>
              <p:nvPr/>
            </p:nvSpPr>
            <p:spPr bwMode="auto">
              <a:xfrm>
                <a:off x="3003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  2</a:t>
                </a: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2257" name="Line 26"/>
              <p:cNvSpPr>
                <a:spLocks noChangeShapeType="1"/>
              </p:cNvSpPr>
              <p:nvPr/>
            </p:nvSpPr>
            <p:spPr bwMode="auto">
              <a:xfrm>
                <a:off x="3560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2255" name="Freeform 27"/>
            <p:cNvSpPr/>
            <p:nvPr/>
          </p:nvSpPr>
          <p:spPr bwMode="auto">
            <a:xfrm flipH="1">
              <a:off x="2936479" y="5203265"/>
              <a:ext cx="649288" cy="6223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组合 2"/>
          <p:cNvGrpSpPr/>
          <p:nvPr/>
        </p:nvGrpSpPr>
        <p:grpSpPr bwMode="auto">
          <a:xfrm>
            <a:off x="1132276" y="4239419"/>
            <a:ext cx="706437" cy="1072356"/>
            <a:chOff x="1723701" y="4238859"/>
            <a:chExt cx="706438" cy="1072356"/>
          </a:xfrm>
        </p:grpSpPr>
        <p:sp>
          <p:nvSpPr>
            <p:cNvPr id="52251" name="Rectangle 7"/>
            <p:cNvSpPr>
              <a:spLocks noChangeArrowheads="1"/>
            </p:cNvSpPr>
            <p:nvPr/>
          </p:nvSpPr>
          <p:spPr bwMode="auto">
            <a:xfrm flipH="1">
              <a:off x="1723701" y="4238859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head</a:t>
              </a:r>
              <a:endParaRPr lang="en-US" altLang="zh-CN" sz="2000" dirty="0">
                <a:solidFill>
                  <a:srgbClr val="FFFF00"/>
                </a:solidFill>
              </a:endParaRPr>
            </a:p>
          </p:txBody>
        </p:sp>
        <p:sp>
          <p:nvSpPr>
            <p:cNvPr id="52252" name="Rectangle 9"/>
            <p:cNvSpPr>
              <a:spLocks noChangeArrowheads="1"/>
            </p:cNvSpPr>
            <p:nvPr/>
          </p:nvSpPr>
          <p:spPr bwMode="auto">
            <a:xfrm flipH="1">
              <a:off x="1752277" y="4595253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2253" name="Freeform 29"/>
            <p:cNvSpPr/>
            <p:nvPr/>
          </p:nvSpPr>
          <p:spPr bwMode="auto">
            <a:xfrm flipH="1">
              <a:off x="2057070" y="4803215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2236" name="Group 24"/>
          <p:cNvGrpSpPr/>
          <p:nvPr/>
        </p:nvGrpSpPr>
        <p:grpSpPr bwMode="auto">
          <a:xfrm flipH="1">
            <a:off x="4042093" y="5118100"/>
            <a:ext cx="708025" cy="898525"/>
            <a:chOff x="0" y="0"/>
            <a:chExt cx="20000" cy="20000"/>
          </a:xfrm>
        </p:grpSpPr>
        <p:sp>
          <p:nvSpPr>
            <p:cNvPr id="52249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/>
                <a:t>  5</a:t>
              </a:r>
              <a:endParaRPr lang="zh-CN" altLang="en-US"/>
            </a:p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2250" name="Line 2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237" name="Freeform 27"/>
          <p:cNvSpPr/>
          <p:nvPr/>
        </p:nvSpPr>
        <p:spPr bwMode="auto">
          <a:xfrm flipH="1">
            <a:off x="4434205" y="5222875"/>
            <a:ext cx="649288" cy="622300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3" name="组合 36"/>
          <p:cNvGrpSpPr/>
          <p:nvPr/>
        </p:nvGrpSpPr>
        <p:grpSpPr bwMode="auto">
          <a:xfrm>
            <a:off x="2648268" y="5999163"/>
            <a:ext cx="874712" cy="744537"/>
            <a:chOff x="1413596" y="5695677"/>
            <a:chExt cx="874920" cy="744142"/>
          </a:xfrm>
        </p:grpSpPr>
        <p:cxnSp>
          <p:nvCxnSpPr>
            <p:cNvPr id="52247" name="直接箭头连接符 37"/>
            <p:cNvCxnSpPr>
              <a:cxnSpLocks noChangeShapeType="1"/>
            </p:cNvCxnSpPr>
            <p:nvPr/>
          </p:nvCxnSpPr>
          <p:spPr bwMode="auto">
            <a:xfrm flipV="1">
              <a:off x="2123728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48" name="文本框 38"/>
            <p:cNvSpPr txBox="1">
              <a:spLocks noChangeArrowheads="1"/>
            </p:cNvSpPr>
            <p:nvPr/>
          </p:nvSpPr>
          <p:spPr bwMode="auto">
            <a:xfrm>
              <a:off x="1413596" y="5978154"/>
              <a:ext cx="87492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tmp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4" name="组合 39"/>
          <p:cNvGrpSpPr/>
          <p:nvPr/>
        </p:nvGrpSpPr>
        <p:grpSpPr bwMode="auto">
          <a:xfrm>
            <a:off x="1284605" y="6021388"/>
            <a:ext cx="790575" cy="706437"/>
            <a:chOff x="392627" y="5695677"/>
            <a:chExt cx="791327" cy="705654"/>
          </a:xfrm>
        </p:grpSpPr>
        <p:cxnSp>
          <p:nvCxnSpPr>
            <p:cNvPr id="52245" name="直接箭头连接符 40"/>
            <p:cNvCxnSpPr>
              <a:cxnSpLocks noChangeShapeType="1"/>
            </p:cNvCxnSpPr>
            <p:nvPr/>
          </p:nvCxnSpPr>
          <p:spPr bwMode="auto">
            <a:xfrm flipV="1">
              <a:off x="1183954" y="5695677"/>
              <a:ext cx="0" cy="705654"/>
            </a:xfrm>
            <a:prstGeom prst="straightConnector1">
              <a:avLst/>
            </a:prstGeom>
            <a:noFill/>
            <a:ln w="381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2246" name="文本框 41"/>
            <p:cNvSpPr txBox="1">
              <a:spLocks noChangeArrowheads="1"/>
            </p:cNvSpPr>
            <p:nvPr/>
          </p:nvSpPr>
          <p:spPr bwMode="auto">
            <a:xfrm>
              <a:off x="392627" y="5935407"/>
              <a:ext cx="791327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tmp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15" name="组合 45"/>
          <p:cNvGrpSpPr/>
          <p:nvPr/>
        </p:nvGrpSpPr>
        <p:grpSpPr bwMode="auto">
          <a:xfrm>
            <a:off x="2347945" y="4232713"/>
            <a:ext cx="706437" cy="1085412"/>
            <a:chOff x="1839233" y="4225803"/>
            <a:chExt cx="706438" cy="1085412"/>
          </a:xfrm>
        </p:grpSpPr>
        <p:sp>
          <p:nvSpPr>
            <p:cNvPr id="52242" name="Rectangle 7"/>
            <p:cNvSpPr>
              <a:spLocks noChangeArrowheads="1"/>
            </p:cNvSpPr>
            <p:nvPr/>
          </p:nvSpPr>
          <p:spPr bwMode="auto">
            <a:xfrm flipH="1">
              <a:off x="1839233" y="4225803"/>
              <a:ext cx="706438" cy="4191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 dirty="0">
                  <a:solidFill>
                    <a:srgbClr val="FFFF00"/>
                  </a:solidFill>
                </a:rPr>
                <a:t>head</a:t>
              </a:r>
              <a:endParaRPr lang="en-US" altLang="zh-CN" sz="2000" dirty="0">
                <a:solidFill>
                  <a:srgbClr val="FFFF00"/>
                </a:solidFill>
              </a:endParaRPr>
            </a:p>
          </p:txBody>
        </p:sp>
        <p:sp>
          <p:nvSpPr>
            <p:cNvPr id="52243" name="Rectangle 9"/>
            <p:cNvSpPr>
              <a:spLocks noChangeArrowheads="1"/>
            </p:cNvSpPr>
            <p:nvPr/>
          </p:nvSpPr>
          <p:spPr bwMode="auto">
            <a:xfrm flipH="1">
              <a:off x="1876029" y="4595253"/>
              <a:ext cx="649288" cy="368300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sp>
          <p:nvSpPr>
            <p:cNvPr id="52244" name="Freeform 29"/>
            <p:cNvSpPr/>
            <p:nvPr/>
          </p:nvSpPr>
          <p:spPr bwMode="auto">
            <a:xfrm flipH="1">
              <a:off x="2171304" y="4803215"/>
              <a:ext cx="354013" cy="50800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" name="矩形 4"/>
          <p:cNvSpPr/>
          <p:nvPr/>
        </p:nvSpPr>
        <p:spPr>
          <a:xfrm>
            <a:off x="6550025" y="685800"/>
            <a:ext cx="5616575" cy="3353435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【</a:t>
            </a:r>
            <a:r>
              <a:rPr lang="zh-CN" altLang="en-US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易错点</a:t>
            </a:r>
            <a:r>
              <a:rPr lang="en-US" altLang="zh-CN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en-US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错误代码</a:t>
            </a:r>
            <a:r>
              <a:rPr lang="en-US" altLang="zh-CN" sz="2400" kern="100" dirty="0">
                <a:solidFill>
                  <a:srgbClr val="FFC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】</a:t>
            </a:r>
            <a:endParaRPr lang="en-US" altLang="zh-CN" sz="2400" kern="100" dirty="0">
              <a:solidFill>
                <a:srgbClr val="FFC0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void 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destroy(</a:t>
            </a:r>
            <a:r>
              <a:rPr lang="en-US" altLang="zh-CN" sz="28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 *head</a:t>
            </a:r>
            <a:r>
              <a:rPr lang="en-US" altLang="zh-CN" sz="28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sz="2800" kern="100" dirty="0">
              <a:solidFill>
                <a:srgbClr val="FFFFFF">
                  <a:lumMod val="50000"/>
                </a:srgb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{	</a:t>
            </a: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while (head!= NULL)</a:t>
            </a:r>
            <a:endParaRPr lang="zh-CN" altLang="zh-CN" sz="3200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{	free(head);</a:t>
            </a:r>
            <a:endParaRPr lang="zh-CN" altLang="zh-CN" sz="3200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8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head=head-&gt;next; </a:t>
            </a:r>
            <a:r>
              <a:rPr lang="en-US" altLang="zh-CN" sz="3200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} </a:t>
            </a:r>
            <a:endParaRPr lang="zh-CN" altLang="zh-CN" sz="3200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3200" kern="100" dirty="0">
              <a:solidFill>
                <a:srgbClr val="FFFF00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83805" y="4495800"/>
            <a:ext cx="458343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C000"/>
                </a:solidFill>
              </a:rPr>
              <a:t>【链表常见内存错误】段错误</a:t>
            </a:r>
            <a:endParaRPr lang="zh-CN" altLang="en-US" sz="2400">
              <a:solidFill>
                <a:srgbClr val="FFC000"/>
              </a:solidFill>
            </a:endParaRPr>
          </a:p>
          <a:p>
            <a:r>
              <a:rPr lang="en-US" altLang="zh-CN" sz="2400"/>
              <a:t>Segmentation Fault</a:t>
            </a:r>
            <a:endParaRPr lang="en-US" altLang="zh-CN" sz="2400"/>
          </a:p>
          <a:p>
            <a:r>
              <a:rPr lang="en-US" altLang="zh-CN" sz="2400"/>
              <a:t>/Access Violation</a:t>
            </a:r>
            <a:endParaRPr lang="en-US" altLang="zh-CN" sz="2400"/>
          </a:p>
          <a:p>
            <a:r>
              <a:rPr lang="zh-CN" altLang="en-US" sz="2400"/>
              <a:t>程序试图访问其内存空间中未分配（或无权访问）的内存段，即内存非法操作</a:t>
            </a:r>
            <a:endParaRPr lang="zh-CN" altLang="en-US" sz="2400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6" grpId="0"/>
      <p:bldP spid="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76200"/>
            <a:ext cx="12028170" cy="6635750"/>
          </a:xfrm>
        </p:spPr>
        <p:txBody>
          <a:bodyPr/>
          <a:p>
            <a:r>
              <a:rPr lang="zh-CN" altLang="en-US" b="1"/>
              <a:t>访问已释放的内存</a:t>
            </a:r>
            <a:endParaRPr lang="zh-CN" altLang="en-US" b="1"/>
          </a:p>
          <a:p>
            <a:pPr marL="0" indent="0" algn="just">
              <a:spcAft>
                <a:spcPts val="0"/>
              </a:spcAft>
              <a:buNone/>
              <a:defRPr/>
            </a:pPr>
            <a:r>
              <a:rPr lang="en-US" altLang="zh-CN" sz="2400" b="1"/>
              <a:t> </a:t>
            </a:r>
            <a:r>
              <a:rPr lang="en-US" altLang="zh-CN" sz="2400" b="1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void</a:t>
            </a:r>
            <a:r>
              <a:rPr lang="en-US" altLang="zh-CN" sz="2400" b="1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 destroy(struct link *head)</a:t>
            </a:r>
            <a:endParaRPr lang="zh-CN" altLang="zh-CN" sz="2400" b="1" kern="1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  <a:defRPr/>
            </a:pPr>
            <a:r>
              <a:rPr lang="en-US" altLang="zh-CN" sz="2400" b="1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{</a:t>
            </a:r>
            <a:r>
              <a:rPr lang="en-US" altLang="zh-CN" b="1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	wh</a:t>
            </a:r>
            <a:r>
              <a:rPr lang="en-US" altLang="zh-CN" b="1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ile (head!= NULL)</a:t>
            </a:r>
            <a:endParaRPr lang="zh-CN" altLang="zh-CN" b="1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  <a:defRPr/>
            </a:pPr>
            <a:r>
              <a:rPr lang="en-US" altLang="zh-CN" b="1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	{	free(head);</a:t>
            </a:r>
            <a:endParaRPr lang="zh-CN" altLang="zh-CN" b="1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  <a:defRPr/>
            </a:pPr>
            <a:r>
              <a:rPr lang="en-US" altLang="zh-CN" b="1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		</a:t>
            </a:r>
            <a:r>
              <a:rPr lang="en-US" altLang="zh-CN" b="1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head=head-&gt;next; </a:t>
            </a:r>
            <a:r>
              <a:rPr lang="en-US" altLang="zh-CN" b="1" kern="100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	} </a:t>
            </a:r>
            <a:endParaRPr lang="zh-CN" altLang="zh-CN" b="1" kern="100" dirty="0">
              <a:solidFill>
                <a:srgbClr val="FFFFFF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0" indent="0" algn="just">
              <a:spcAft>
                <a:spcPts val="0"/>
              </a:spcAft>
              <a:buNone/>
              <a:defRPr/>
            </a:pPr>
            <a:r>
              <a:rPr lang="en-US" altLang="zh-CN" sz="2400" b="1" kern="100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  <a:sym typeface="+mn-ea"/>
              </a:rPr>
              <a:t>}</a:t>
            </a:r>
            <a:endParaRPr lang="zh-CN" altLang="zh-CN" sz="2400" b="1" kern="100" dirty="0">
              <a:solidFill>
                <a:schemeClr val="tx1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1">
                <a:sym typeface="+mn-ea"/>
              </a:rPr>
              <a:t>重复释放</a:t>
            </a:r>
            <a:endParaRPr lang="zh-CN" altLang="en-US" b="1"/>
          </a:p>
          <a:p>
            <a:pPr marL="0" indent="457200">
              <a:buNone/>
            </a:pPr>
            <a:r>
              <a:rPr lang="en-US" altLang="zh-CN" b="1">
                <a:sym typeface="+mn-ea"/>
              </a:rPr>
              <a:t>struct link *</a:t>
            </a:r>
            <a:r>
              <a:rPr lang="en-US" altLang="zh-CN" b="1">
                <a:sym typeface="+mn-ea"/>
              </a:rPr>
              <a:t>p=(struct link *)malloc(sizeof(struct link));</a:t>
            </a:r>
            <a:endParaRPr lang="en-US" altLang="zh-CN" b="1"/>
          </a:p>
          <a:p>
            <a:pPr marL="0" indent="0">
              <a:buNone/>
            </a:pPr>
            <a:r>
              <a:rPr lang="en-US" altLang="zh-CN" b="1">
                <a:sym typeface="+mn-ea"/>
              </a:rPr>
              <a:t>    </a:t>
            </a:r>
            <a:r>
              <a:rPr lang="en-US" altLang="zh-CN" b="1">
                <a:solidFill>
                  <a:srgbClr val="FFFF00"/>
                </a:solidFill>
                <a:sym typeface="+mn-ea"/>
              </a:rPr>
              <a:t>free(p);  free(p);  </a:t>
            </a:r>
            <a:endParaRPr lang="en-US" altLang="zh-CN" b="1">
              <a:solidFill>
                <a:srgbClr val="FFFF00"/>
              </a:solidFill>
              <a:sym typeface="+mn-ea"/>
            </a:endParaRPr>
          </a:p>
          <a:p>
            <a:r>
              <a:rPr lang="zh-CN" altLang="en-US" b="1">
                <a:sym typeface="+mn-ea"/>
              </a:rPr>
              <a:t>访问空指针</a:t>
            </a:r>
            <a:endParaRPr lang="zh-CN" altLang="en-US" b="1"/>
          </a:p>
          <a:p>
            <a:pPr marL="0" indent="457200">
              <a:buNone/>
            </a:pPr>
            <a:r>
              <a:rPr lang="en-US" altLang="zh-CN" b="1">
                <a:sym typeface="+mn-ea"/>
              </a:rPr>
              <a:t>int *p,head = NULL; </a:t>
            </a:r>
            <a:endParaRPr lang="en-US" altLang="zh-CN" b="1">
              <a:sym typeface="+mn-ea"/>
            </a:endParaRPr>
          </a:p>
          <a:p>
            <a:pPr marL="0" indent="457200">
              <a:buNone/>
            </a:pPr>
            <a:r>
              <a:rPr lang="en-US" altLang="zh-CN" b="1">
                <a:solidFill>
                  <a:srgbClr val="FFFF00"/>
                </a:solidFill>
                <a:sym typeface="+mn-ea"/>
              </a:rPr>
              <a:t>p=head-&gt;next;</a:t>
            </a:r>
            <a:r>
              <a:rPr lang="en-US" altLang="zh-CN" b="1">
                <a:sym typeface="+mn-ea"/>
              </a:rPr>
              <a:t>  </a:t>
            </a:r>
            <a:endParaRPr lang="en-US" altLang="zh-CN" b="1">
              <a:solidFill>
                <a:srgbClr val="FFFF00"/>
              </a:solidFill>
              <a:sym typeface="+mn-ea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5984240" y="0"/>
            <a:ext cx="6207760" cy="6921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FFC000"/>
                </a:solidFill>
              </a:rPr>
              <a:t>链表中触发</a:t>
            </a:r>
            <a:r>
              <a:rPr lang="en-US" altLang="zh-CN" sz="3200" b="1">
                <a:solidFill>
                  <a:srgbClr val="FFC000"/>
                </a:solidFill>
              </a:rPr>
              <a:t>SegFault</a:t>
            </a:r>
            <a:r>
              <a:rPr lang="zh-CN" sz="3200" b="1">
                <a:solidFill>
                  <a:srgbClr val="FFC000"/>
                </a:solidFill>
              </a:rPr>
              <a:t>的常见情况</a:t>
            </a:r>
            <a:endParaRPr lang="zh-CN" sz="3200" b="1"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3600" y="5561330"/>
            <a:ext cx="6260465" cy="130937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no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2600" i="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【避免</a:t>
            </a:r>
            <a:r>
              <a:rPr lang="en-US" altLang="zh-CN" sz="2600">
                <a:solidFill>
                  <a:srgbClr val="FFC000"/>
                </a:solidFill>
                <a:sym typeface="+mn-ea"/>
              </a:rPr>
              <a:t>Seg</a:t>
            </a:r>
            <a:r>
              <a:rPr lang="en-US" altLang="zh-CN" sz="2600">
                <a:solidFill>
                  <a:srgbClr val="FFC000"/>
                </a:solidFill>
                <a:sym typeface="+mn-ea"/>
              </a:rPr>
              <a:t>Fault</a:t>
            </a:r>
            <a:r>
              <a:rPr lang="zh-CN" altLang="en-US" sz="2600" i="0">
                <a:solidFill>
                  <a:srgbClr val="FFC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】</a:t>
            </a:r>
            <a:endParaRPr lang="zh-CN" altLang="en-US" sz="2600" i="0">
              <a:solidFill>
                <a:srgbClr val="FFC000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+mj-ea"/>
              <a:buNone/>
            </a:pPr>
            <a:r>
              <a:rPr lang="en-US" altLang="zh-CN" sz="260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lang="zh-CN" altLang="en-US" sz="260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始终初始化指针：设为</a:t>
            </a:r>
            <a:r>
              <a:rPr lang="en-US" altLang="zh-CN" sz="260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NULL</a:t>
            </a:r>
            <a:r>
              <a:rPr lang="zh-CN" altLang="en-US" sz="260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或有效地址</a:t>
            </a:r>
            <a:endParaRPr lang="zh-CN" altLang="en-US" sz="2600" i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+mj-ea"/>
              <a:buNone/>
            </a:pPr>
            <a:r>
              <a:rPr lang="en-US" altLang="zh-CN" sz="260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lang="zh-CN" altLang="en-US" sz="2600" i="0">
                <a:solidFill>
                  <a:schemeClr val="tx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检查指针有效性：使用前验证</a:t>
            </a:r>
            <a:endParaRPr lang="zh-CN" altLang="en-US" sz="2600" i="0">
              <a:solidFill>
                <a:schemeClr val="tx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692150"/>
            <a:ext cx="9855835" cy="5445760"/>
          </a:xfrm>
        </p:spPr>
        <p:txBody>
          <a:bodyPr/>
          <a:p>
            <a:r>
              <a:rPr lang="zh-CN" altLang="en-US" sz="2800" b="1">
                <a:sym typeface="+mn-ea"/>
              </a:rPr>
              <a:t>访问</a:t>
            </a:r>
            <a:r>
              <a:rPr lang="en-US" altLang="zh-CN" sz="2800" b="1">
                <a:sym typeface="+mn-ea"/>
              </a:rPr>
              <a:t> </a:t>
            </a:r>
            <a:r>
              <a:rPr lang="zh-CN" altLang="en-US" sz="2800" b="1">
                <a:sym typeface="+mn-ea"/>
              </a:rPr>
              <a:t>空指针</a:t>
            </a:r>
            <a:r>
              <a:rPr lang="en-US" altLang="zh-CN" sz="2800" b="1">
                <a:sym typeface="+mn-ea"/>
              </a:rPr>
              <a:t>/</a:t>
            </a:r>
            <a:r>
              <a:rPr lang="zh-CN" altLang="en-US" sz="2800" b="1">
                <a:sym typeface="+mn-ea"/>
              </a:rPr>
              <a:t>未初始化的指针</a:t>
            </a:r>
            <a:endParaRPr lang="zh-CN" altLang="en-US" sz="2800" b="1">
              <a:sym typeface="+mn-ea"/>
            </a:endParaRPr>
          </a:p>
          <a:p>
            <a:pPr marL="0" indent="457200">
              <a:buNone/>
            </a:pPr>
            <a:r>
              <a:rPr lang="en-US" altLang="zh-CN" sz="2800" b="1">
                <a:sym typeface="+mn-ea"/>
              </a:rPr>
              <a:t>int *p1=NULL,*p2; </a:t>
            </a:r>
            <a:r>
              <a:rPr lang="en-US" altLang="zh-CN" sz="2800" b="1">
                <a:solidFill>
                  <a:srgbClr val="FFFF00"/>
                </a:solidFill>
                <a:sym typeface="+mn-ea"/>
              </a:rPr>
              <a:t>*p1=3;*p2=4;</a:t>
            </a:r>
            <a:endParaRPr lang="zh-CN" altLang="en-US" sz="2800" b="1">
              <a:solidFill>
                <a:srgbClr val="FFFF00"/>
              </a:solidFill>
              <a:sym typeface="+mn-ea"/>
            </a:endParaRPr>
          </a:p>
          <a:p>
            <a:r>
              <a:rPr lang="zh-CN" altLang="en-US" sz="2800" b="1">
                <a:sym typeface="+mn-ea"/>
              </a:rPr>
              <a:t>数组越界访问</a:t>
            </a:r>
            <a:endParaRPr lang="zh-CN" altLang="en-US" sz="2800" b="1"/>
          </a:p>
          <a:p>
            <a:pPr marL="0" indent="457200">
              <a:buNone/>
            </a:pPr>
            <a:r>
              <a:rPr lang="en-US" altLang="zh-CN" b="1">
                <a:sym typeface="+mn-ea"/>
              </a:rPr>
              <a:t>int arr[5] = {1, 2, 3, 4, 5}; </a:t>
            </a:r>
            <a:r>
              <a:rPr lang="en-US" altLang="zh-CN" b="1">
                <a:solidFill>
                  <a:srgbClr val="FFFF00"/>
                </a:solidFill>
                <a:sym typeface="+mn-ea"/>
              </a:rPr>
              <a:t>arr[10] = 100;</a:t>
            </a:r>
            <a:endParaRPr lang="zh-CN" altLang="en-US" b="1">
              <a:solidFill>
                <a:srgbClr val="FFFF00"/>
              </a:solidFill>
            </a:endParaRPr>
          </a:p>
          <a:p>
            <a:r>
              <a:rPr lang="zh-CN" altLang="en-US" sz="2800" b="1"/>
              <a:t>访问无效内存</a:t>
            </a:r>
            <a:r>
              <a:rPr lang="en-US" altLang="zh-CN" sz="2800" b="1"/>
              <a:t> </a:t>
            </a:r>
            <a:r>
              <a:rPr lang="en-US" altLang="zh-CN" b="1"/>
              <a:t> </a:t>
            </a:r>
            <a:endParaRPr lang="en-US" altLang="zh-CN" b="1"/>
          </a:p>
          <a:p>
            <a:pPr marL="0" indent="457200">
              <a:buNone/>
            </a:pPr>
            <a:r>
              <a:rPr lang="en-US" altLang="zh-CN" b="1"/>
              <a:t>int *ptr = &amp;x;    </a:t>
            </a:r>
            <a:r>
              <a:rPr lang="en-US" altLang="zh-CN" b="1">
                <a:solidFill>
                  <a:srgbClr val="FFFF00"/>
                </a:solidFill>
              </a:rPr>
              <a:t>ptr+=1000000;   *ptr=20;</a:t>
            </a:r>
            <a:r>
              <a:rPr lang="en-US" altLang="zh-CN" b="1"/>
              <a:t>     </a:t>
            </a:r>
            <a:endParaRPr lang="zh-CN" altLang="en-US" b="1"/>
          </a:p>
          <a:p>
            <a:r>
              <a:rPr lang="zh-CN" altLang="en-US" sz="2800" b="1">
                <a:sym typeface="+mn-ea"/>
              </a:rPr>
              <a:t>修改字符串常量</a:t>
            </a:r>
            <a:endParaRPr lang="zh-CN" altLang="en-US" sz="2800" b="1"/>
          </a:p>
          <a:p>
            <a:pPr marL="0" indent="457200">
              <a:buNone/>
            </a:pPr>
            <a:r>
              <a:rPr lang="en-US" altLang="zh-CN" b="1">
                <a:sym typeface="+mn-ea"/>
              </a:rPr>
              <a:t>char *str = "Hello World";  </a:t>
            </a:r>
            <a:r>
              <a:rPr lang="en-US" altLang="zh-CN" sz="1800" b="1">
                <a:sym typeface="+mn-ea"/>
              </a:rPr>
              <a:t>//</a:t>
            </a:r>
            <a:r>
              <a:rPr lang="zh-CN" altLang="en-US" sz="1800" b="1">
                <a:sym typeface="+mn-ea"/>
              </a:rPr>
              <a:t>字符串常量存储在只读区域</a:t>
            </a:r>
            <a:endParaRPr lang="zh-CN" altLang="en-US" sz="1800" b="1"/>
          </a:p>
          <a:p>
            <a:pPr marL="0" indent="0">
              <a:buNone/>
            </a:pPr>
            <a:r>
              <a:rPr lang="en-US" altLang="zh-CN" b="1">
                <a:solidFill>
                  <a:srgbClr val="FFFF00"/>
                </a:solidFill>
                <a:sym typeface="+mn-ea"/>
              </a:rPr>
              <a:t>    str[0]= 'h';  </a:t>
            </a:r>
            <a:r>
              <a:rPr lang="en-US" altLang="zh-CN" sz="1800" b="1">
                <a:sym typeface="+mn-ea"/>
              </a:rPr>
              <a:t>//</a:t>
            </a:r>
            <a:r>
              <a:rPr lang="zh-CN" altLang="en-US" sz="1800" b="1">
                <a:sym typeface="+mn-ea"/>
              </a:rPr>
              <a:t>试图修改只读内存</a:t>
            </a:r>
            <a:endParaRPr lang="zh-CN" altLang="en-US" sz="1800" b="1"/>
          </a:p>
          <a:p>
            <a:pPr marL="0" indent="0">
              <a:buNone/>
            </a:pPr>
            <a:endParaRPr lang="zh-CN" altLang="en-US" sz="2800" b="1"/>
          </a:p>
        </p:txBody>
      </p:sp>
      <p:sp>
        <p:nvSpPr>
          <p:cNvPr id="6" name="标题 1"/>
          <p:cNvSpPr>
            <a:spLocks noGrp="1"/>
          </p:cNvSpPr>
          <p:nvPr/>
        </p:nvSpPr>
        <p:spPr>
          <a:xfrm>
            <a:off x="7314565" y="0"/>
            <a:ext cx="4863465" cy="6921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FFC000"/>
                </a:solidFill>
              </a:rPr>
              <a:t>其它触发</a:t>
            </a:r>
            <a:r>
              <a:rPr lang="en-US" altLang="zh-CN" sz="3200" b="1">
                <a:solidFill>
                  <a:srgbClr val="FFC000"/>
                </a:solidFill>
              </a:rPr>
              <a:t>SegFault</a:t>
            </a:r>
            <a:r>
              <a:rPr lang="zh-CN" altLang="en-US" sz="3200" b="1">
                <a:solidFill>
                  <a:srgbClr val="FFC000"/>
                </a:solidFill>
              </a:rPr>
              <a:t>的</a:t>
            </a:r>
            <a:r>
              <a:rPr lang="zh-CN" altLang="en-US" sz="3200">
                <a:solidFill>
                  <a:srgbClr val="FFC000"/>
                </a:solidFill>
                <a:sym typeface="+mn-ea"/>
              </a:rPr>
              <a:t>情况</a:t>
            </a:r>
            <a:r>
              <a:rPr lang="en-US" altLang="zh-CN" sz="3200" b="1">
                <a:solidFill>
                  <a:srgbClr val="FFC000"/>
                </a:solidFill>
              </a:rPr>
              <a:t> </a:t>
            </a:r>
            <a:endParaRPr lang="en-US" altLang="zh-CN" sz="3200" b="1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1143000"/>
            <a:ext cx="8371840" cy="4244975"/>
          </a:xfrm>
        </p:spPr>
        <p:txBody>
          <a:bodyPr/>
          <a:p>
            <a:r>
              <a:rPr lang="zh-CN" altLang="en-US" sz="2800" b="1">
                <a:sym typeface="+mn-ea"/>
              </a:rPr>
              <a:t>栈溢出</a:t>
            </a:r>
            <a:endParaRPr lang="zh-CN" altLang="en-US" sz="2800" b="1">
              <a:sym typeface="+mn-ea"/>
            </a:endParaRPr>
          </a:p>
          <a:p>
            <a:pPr marL="0" indent="0">
              <a:buNone/>
            </a:pPr>
            <a:endParaRPr lang="zh-CN" altLang="en-US" sz="2800" b="1"/>
          </a:p>
          <a:p>
            <a:pPr marL="0" indent="457200">
              <a:buNone/>
            </a:pPr>
            <a:r>
              <a:rPr lang="en-US" altLang="zh-CN" sz="2800" b="1">
                <a:solidFill>
                  <a:srgbClr val="FFFF00"/>
                </a:solidFill>
                <a:sym typeface="+mn-ea"/>
              </a:rPr>
              <a:t>void f() {</a:t>
            </a:r>
            <a:endParaRPr lang="en-US" altLang="zh-CN" sz="2800" b="1">
              <a:solidFill>
                <a:srgbClr val="FFFF00"/>
              </a:solidFill>
              <a:sym typeface="+mn-ea"/>
            </a:endParaRPr>
          </a:p>
          <a:p>
            <a:pPr marL="0" indent="457200">
              <a:buNone/>
            </a:pPr>
            <a:r>
              <a:rPr lang="en-US" altLang="zh-CN" sz="2800" b="1">
                <a:sym typeface="+mn-ea"/>
              </a:rPr>
              <a:t>	static int i=0;</a:t>
            </a:r>
            <a:endParaRPr lang="en-US" altLang="zh-CN" sz="2800" b="1">
              <a:sym typeface="+mn-ea"/>
            </a:endParaRPr>
          </a:p>
          <a:p>
            <a:pPr marL="0" indent="457200">
              <a:buNone/>
            </a:pPr>
            <a:r>
              <a:rPr lang="en-US" altLang="zh-CN" sz="2800" b="1">
                <a:sym typeface="+mn-ea"/>
              </a:rPr>
              <a:t>	char buffer[1024*1024];  </a:t>
            </a:r>
            <a:r>
              <a:rPr lang="en-US" altLang="zh-CN" sz="1800" b="1">
                <a:sym typeface="+mn-ea"/>
              </a:rPr>
              <a:t>//</a:t>
            </a:r>
            <a:r>
              <a:rPr lang="zh-CN" altLang="en-US" sz="1800" b="1">
                <a:sym typeface="+mn-ea"/>
              </a:rPr>
              <a:t>在栈上分配大数组</a:t>
            </a:r>
            <a:endParaRPr lang="zh-CN" altLang="en-US" sz="1800" b="1">
              <a:sym typeface="+mn-ea"/>
            </a:endParaRPr>
          </a:p>
          <a:p>
            <a:pPr marL="0" indent="457200">
              <a:buNone/>
            </a:pPr>
            <a:r>
              <a:rPr lang="en-US" altLang="zh-CN" sz="2800" b="1">
                <a:sym typeface="+mn-ea"/>
              </a:rPr>
              <a:t>	printf("</a:t>
            </a:r>
            <a:r>
              <a:rPr lang="zh-CN" altLang="en-US" sz="2800" b="1">
                <a:sym typeface="+mn-ea"/>
              </a:rPr>
              <a:t>已占用</a:t>
            </a:r>
            <a:r>
              <a:rPr lang="en-US" altLang="zh-CN" sz="2800" b="1">
                <a:solidFill>
                  <a:srgbClr val="FFFF00"/>
                </a:solidFill>
                <a:sym typeface="+mn-ea"/>
              </a:rPr>
              <a:t>%d</a:t>
            </a:r>
            <a:r>
              <a:rPr lang="en-US" altLang="zh-CN" sz="2800" b="1">
                <a:sym typeface="+mn-ea"/>
              </a:rPr>
              <a:t>M</a:t>
            </a:r>
            <a:r>
              <a:rPr lang="zh-CN" altLang="en-US" sz="2800" b="1">
                <a:sym typeface="+mn-ea"/>
              </a:rPr>
              <a:t>栈空间</a:t>
            </a:r>
            <a:r>
              <a:rPr lang="en-US" altLang="zh-CN" sz="2800" b="1">
                <a:sym typeface="+mn-ea"/>
              </a:rPr>
              <a:t>\n",</a:t>
            </a:r>
            <a:r>
              <a:rPr lang="en-US" altLang="zh-CN" sz="2800" b="1">
                <a:solidFill>
                  <a:srgbClr val="FFFF00"/>
                </a:solidFill>
                <a:sym typeface="+mn-ea"/>
              </a:rPr>
              <a:t>++i</a:t>
            </a:r>
            <a:r>
              <a:rPr lang="en-US" altLang="zh-CN" sz="2800" b="1">
                <a:sym typeface="+mn-ea"/>
              </a:rPr>
              <a:t>);</a:t>
            </a:r>
            <a:endParaRPr lang="en-US" altLang="zh-CN" sz="2800" b="1">
              <a:sym typeface="+mn-ea"/>
            </a:endParaRPr>
          </a:p>
          <a:p>
            <a:pPr marL="0" indent="457200">
              <a:buNone/>
            </a:pPr>
            <a:r>
              <a:rPr lang="en-US" altLang="zh-CN" sz="2800" b="1">
                <a:sym typeface="+mn-ea"/>
              </a:rPr>
              <a:t>	</a:t>
            </a:r>
            <a:r>
              <a:rPr lang="en-US" altLang="zh-CN" sz="2800" b="1">
                <a:solidFill>
                  <a:srgbClr val="FFFF00"/>
                </a:solidFill>
                <a:sym typeface="+mn-ea"/>
              </a:rPr>
              <a:t>f();</a:t>
            </a:r>
            <a:r>
              <a:rPr lang="en-US" altLang="zh-CN" sz="2800" b="1">
                <a:sym typeface="+mn-ea"/>
              </a:rPr>
              <a:t> </a:t>
            </a:r>
            <a:r>
              <a:rPr lang="en-US" altLang="zh-CN" sz="1800" b="1">
                <a:sym typeface="+mn-ea"/>
              </a:rPr>
              <a:t>//</a:t>
            </a:r>
            <a:r>
              <a:rPr lang="zh-CN" altLang="en-US" sz="1800" b="1">
                <a:sym typeface="+mn-ea"/>
              </a:rPr>
              <a:t>无限递归导致栈溢出</a:t>
            </a:r>
            <a:endParaRPr lang="zh-CN" altLang="en-US" sz="1800" b="1">
              <a:sym typeface="+mn-ea"/>
            </a:endParaRPr>
          </a:p>
          <a:p>
            <a:pPr marL="0" indent="457200">
              <a:buNone/>
            </a:pPr>
            <a:r>
              <a:rPr lang="en-US" altLang="zh-CN" sz="2800" b="1">
                <a:solidFill>
                  <a:srgbClr val="FFFF00"/>
                </a:solidFill>
                <a:sym typeface="+mn-ea"/>
              </a:rPr>
              <a:t>}  </a:t>
            </a:r>
            <a:endParaRPr lang="en-US" altLang="zh-CN" sz="2800" b="1">
              <a:solidFill>
                <a:srgbClr val="FFFF00"/>
              </a:solidFill>
              <a:sym typeface="+mn-ea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7314565" y="0"/>
            <a:ext cx="4863465" cy="6921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zh-CN" altLang="en-US" sz="3200" b="1">
                <a:solidFill>
                  <a:srgbClr val="FFC000"/>
                </a:solidFill>
              </a:rPr>
              <a:t>其它触发</a:t>
            </a:r>
            <a:r>
              <a:rPr lang="en-US" altLang="zh-CN" sz="3200" b="1">
                <a:solidFill>
                  <a:srgbClr val="FFC000"/>
                </a:solidFill>
              </a:rPr>
              <a:t>SegFault</a:t>
            </a:r>
            <a:r>
              <a:rPr lang="zh-CN" altLang="en-US" sz="3200" b="1">
                <a:solidFill>
                  <a:srgbClr val="FFC000"/>
                </a:solidFill>
              </a:rPr>
              <a:t>的</a:t>
            </a:r>
            <a:r>
              <a:rPr lang="zh-CN" altLang="en-US" sz="3200">
                <a:solidFill>
                  <a:srgbClr val="FFC000"/>
                </a:solidFill>
                <a:sym typeface="+mn-ea"/>
              </a:rPr>
              <a:t>情况</a:t>
            </a:r>
            <a:r>
              <a:rPr lang="en-US" altLang="zh-CN" sz="3200" b="1">
                <a:solidFill>
                  <a:srgbClr val="FFC000"/>
                </a:solidFill>
              </a:rPr>
              <a:t> </a:t>
            </a:r>
            <a:endParaRPr lang="en-US" altLang="zh-CN" sz="3200" b="1">
              <a:solidFill>
                <a:srgbClr val="FFC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035" y="228600"/>
            <a:ext cx="669480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rgbClr val="FFC000"/>
                </a:solidFill>
              </a:rPr>
              <a:t>【预防</a:t>
            </a:r>
            <a:r>
              <a:rPr lang="en-US" altLang="zh-CN" sz="2800">
                <a:solidFill>
                  <a:srgbClr val="FFC000"/>
                </a:solidFill>
              </a:rPr>
              <a:t>Seg</a:t>
            </a:r>
            <a:r>
              <a:rPr lang="en-US" altLang="zh-CN" sz="2800">
                <a:solidFill>
                  <a:srgbClr val="FFC000"/>
                </a:solidFill>
                <a:sym typeface="+mn-ea"/>
              </a:rPr>
              <a:t>Fault</a:t>
            </a:r>
            <a:r>
              <a:rPr lang="zh-CN" altLang="en-US" sz="2800">
                <a:solidFill>
                  <a:srgbClr val="FFC000"/>
                </a:solidFill>
              </a:rPr>
              <a:t>】快慢指针</a:t>
            </a:r>
            <a:endParaRPr lang="zh-CN" altLang="en-US" sz="2800">
              <a:solidFill>
                <a:srgbClr val="FFC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" y="1094740"/>
            <a:ext cx="11908155" cy="48037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10814685" y="281940"/>
            <a:ext cx="892810" cy="1171575"/>
            <a:chOff x="14770" y="1634"/>
            <a:chExt cx="1406" cy="1845"/>
          </a:xfrm>
        </p:grpSpPr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15238" y="2041"/>
              <a:ext cx="909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44" name="Group 51"/>
            <p:cNvGrpSpPr/>
            <p:nvPr/>
          </p:nvGrpSpPr>
          <p:grpSpPr bwMode="auto">
            <a:xfrm rot="0" flipH="1">
              <a:off x="14770" y="1634"/>
              <a:ext cx="1407" cy="1421"/>
              <a:chOff x="0" y="0"/>
              <a:chExt cx="20000" cy="20000"/>
            </a:xfrm>
          </p:grpSpPr>
          <p:sp>
            <p:nvSpPr>
              <p:cNvPr id="4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6200" y="3175"/>
            <a:ext cx="11391265" cy="1191260"/>
            <a:chOff x="120" y="1195"/>
            <a:chExt cx="17939" cy="1876"/>
          </a:xfrm>
        </p:grpSpPr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120" y="1675"/>
              <a:ext cx="209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head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197" y="1195"/>
              <a:ext cx="1122" cy="45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43" y="1634"/>
              <a:ext cx="2070" cy="1420"/>
              <a:chOff x="120" y="1200"/>
              <a:chExt cx="3074" cy="2006"/>
            </a:xfrm>
          </p:grpSpPr>
          <p:grpSp>
            <p:nvGrpSpPr>
              <p:cNvPr id="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662" y="1650"/>
              <a:ext cx="2070" cy="1420"/>
              <a:chOff x="120" y="1200"/>
              <a:chExt cx="3074" cy="2006"/>
            </a:xfrm>
          </p:grpSpPr>
          <p:grpSp>
            <p:nvGrpSpPr>
              <p:cNvPr id="1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62" y="1611"/>
              <a:ext cx="2070" cy="1420"/>
              <a:chOff x="120" y="1200"/>
              <a:chExt cx="3074" cy="2006"/>
            </a:xfrm>
          </p:grpSpPr>
          <p:grpSp>
            <p:nvGrpSpPr>
              <p:cNvPr id="1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785" y="1635"/>
              <a:ext cx="2070" cy="1420"/>
              <a:chOff x="120" y="1200"/>
              <a:chExt cx="3074" cy="2006"/>
            </a:xfrm>
          </p:grpSpPr>
          <p:grpSp>
            <p:nvGrpSpPr>
              <p:cNvPr id="2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0827" y="1649"/>
              <a:ext cx="2070" cy="1420"/>
              <a:chOff x="120" y="1200"/>
              <a:chExt cx="3074" cy="2006"/>
            </a:xfrm>
          </p:grpSpPr>
          <p:grpSp>
            <p:nvGrpSpPr>
              <p:cNvPr id="2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908" y="1649"/>
              <a:ext cx="2070" cy="1420"/>
              <a:chOff x="120" y="1200"/>
              <a:chExt cx="3074" cy="2006"/>
            </a:xfrm>
          </p:grpSpPr>
          <p:grpSp>
            <p:nvGrpSpPr>
              <p:cNvPr id="3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4950" y="1651"/>
              <a:ext cx="2070" cy="1420"/>
              <a:chOff x="120" y="1200"/>
              <a:chExt cx="3074" cy="2006"/>
            </a:xfrm>
          </p:grpSpPr>
          <p:grpSp>
            <p:nvGrpSpPr>
              <p:cNvPr id="3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4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4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0" name="肘形连接符 49"/>
            <p:cNvCxnSpPr/>
            <p:nvPr/>
          </p:nvCxnSpPr>
          <p:spPr>
            <a:xfrm>
              <a:off x="1319" y="1423"/>
              <a:ext cx="1321" cy="377"/>
            </a:xfrm>
            <a:prstGeom prst="bentConnector3">
              <a:avLst>
                <a:gd name="adj1" fmla="val 50038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51" name="文本框 50"/>
            <p:cNvSpPr txBox="1"/>
            <p:nvPr/>
          </p:nvSpPr>
          <p:spPr>
            <a:xfrm>
              <a:off x="3149" y="179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41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22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916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120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28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303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36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132965" y="1169670"/>
            <a:ext cx="847725" cy="779780"/>
            <a:chOff x="3225" y="2944"/>
            <a:chExt cx="1335" cy="1228"/>
          </a:xfrm>
        </p:grpSpPr>
        <p:cxnSp>
          <p:nvCxnSpPr>
            <p:cNvPr id="59" name="直接箭头连接符 58"/>
            <p:cNvCxnSpPr/>
            <p:nvPr/>
          </p:nvCxnSpPr>
          <p:spPr>
            <a:xfrm flipV="1">
              <a:off x="3225" y="2944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3240" y="3592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819400" y="1149985"/>
            <a:ext cx="838200" cy="741680"/>
            <a:chOff x="2400" y="3032"/>
            <a:chExt cx="1320" cy="1168"/>
          </a:xfrm>
        </p:grpSpPr>
        <p:cxnSp>
          <p:nvCxnSpPr>
            <p:cNvPr id="64" name="直接箭头连接符 6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5" name="文本框 6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114800" y="1149985"/>
            <a:ext cx="838200" cy="741680"/>
            <a:chOff x="2400" y="3032"/>
            <a:chExt cx="1320" cy="1168"/>
          </a:xfrm>
        </p:grpSpPr>
        <p:cxnSp>
          <p:nvCxnSpPr>
            <p:cNvPr id="67" name="直接箭头连接符 6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8" name="文本框 6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419725" y="1149985"/>
            <a:ext cx="838200" cy="741680"/>
            <a:chOff x="2400" y="3032"/>
            <a:chExt cx="1320" cy="1168"/>
          </a:xfrm>
        </p:grpSpPr>
        <p:cxnSp>
          <p:nvCxnSpPr>
            <p:cNvPr id="70" name="直接箭头连接符 6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1" name="文本框 7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715125" y="1182370"/>
            <a:ext cx="838200" cy="741680"/>
            <a:chOff x="2400" y="3032"/>
            <a:chExt cx="1320" cy="1168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4" name="文本框 7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445895" y="1149985"/>
            <a:ext cx="838200" cy="785495"/>
            <a:chOff x="2394" y="3032"/>
            <a:chExt cx="1320" cy="1237"/>
          </a:xfrm>
        </p:grpSpPr>
        <p:cxnSp>
          <p:nvCxnSpPr>
            <p:cNvPr id="79" name="直接箭头连接符 7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0" name="文本框 79"/>
            <p:cNvSpPr txBox="1"/>
            <p:nvPr/>
          </p:nvSpPr>
          <p:spPr>
            <a:xfrm>
              <a:off x="2394" y="3689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2667000" y="1149985"/>
            <a:ext cx="838200" cy="741680"/>
            <a:chOff x="2400" y="3032"/>
            <a:chExt cx="1320" cy="1168"/>
          </a:xfrm>
        </p:grpSpPr>
        <p:cxnSp>
          <p:nvCxnSpPr>
            <p:cNvPr id="83" name="直接箭头连接符 8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4" name="文本框 8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2400" y="1162685"/>
            <a:ext cx="838200" cy="741680"/>
            <a:chOff x="2400" y="3032"/>
            <a:chExt cx="1320" cy="1168"/>
          </a:xfrm>
        </p:grpSpPr>
        <p:cxnSp>
          <p:nvCxnSpPr>
            <p:cNvPr id="89" name="直接箭头连接符 8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0" name="文本框 8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7924165" y="1193800"/>
            <a:ext cx="838200" cy="741680"/>
            <a:chOff x="2400" y="3032"/>
            <a:chExt cx="1320" cy="1168"/>
          </a:xfrm>
        </p:grpSpPr>
        <p:cxnSp>
          <p:nvCxnSpPr>
            <p:cNvPr id="104" name="直接箭头连接符 10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5" name="文本框 10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334000" y="1195070"/>
            <a:ext cx="838200" cy="741680"/>
            <a:chOff x="2400" y="3032"/>
            <a:chExt cx="1320" cy="1168"/>
          </a:xfrm>
        </p:grpSpPr>
        <p:cxnSp>
          <p:nvCxnSpPr>
            <p:cNvPr id="107" name="直接箭头连接符 10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8" name="文本框 10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9295765" y="1181100"/>
            <a:ext cx="838200" cy="741680"/>
            <a:chOff x="2400" y="3032"/>
            <a:chExt cx="1320" cy="1168"/>
          </a:xfrm>
        </p:grpSpPr>
        <p:cxnSp>
          <p:nvCxnSpPr>
            <p:cNvPr id="110" name="直接箭头连接符 10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1" name="文本框 11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6629400" y="1182370"/>
            <a:ext cx="838200" cy="741680"/>
            <a:chOff x="2400" y="3032"/>
            <a:chExt cx="1320" cy="1168"/>
          </a:xfrm>
        </p:grpSpPr>
        <p:cxnSp>
          <p:nvCxnSpPr>
            <p:cNvPr id="113" name="直接箭头连接符 11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4" name="文本框 11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0667365" y="1207770"/>
            <a:ext cx="838200" cy="741680"/>
            <a:chOff x="2400" y="3032"/>
            <a:chExt cx="1320" cy="1168"/>
          </a:xfrm>
        </p:grpSpPr>
        <p:cxnSp>
          <p:nvCxnSpPr>
            <p:cNvPr id="116" name="直接箭头连接符 115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7" name="文本框 116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7775575" y="1175385"/>
            <a:ext cx="838200" cy="741680"/>
            <a:chOff x="2400" y="3032"/>
            <a:chExt cx="1320" cy="1168"/>
          </a:xfrm>
        </p:grpSpPr>
        <p:cxnSp>
          <p:nvCxnSpPr>
            <p:cNvPr id="119" name="直接箭头连接符 11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20" name="文本框 11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5875" y="749935"/>
            <a:ext cx="1674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52EFC"/>
                </a:solidFill>
              </a:rPr>
              <a:t>k</a:t>
            </a:r>
            <a:r>
              <a:rPr lang="zh-CN" altLang="en-US">
                <a:solidFill>
                  <a:srgbClr val="F52EFC"/>
                </a:solidFill>
              </a:rPr>
              <a:t>为</a:t>
            </a:r>
            <a:r>
              <a:rPr lang="en-US" altLang="zh-CN">
                <a:solidFill>
                  <a:srgbClr val="F52EFC"/>
                </a:solidFill>
              </a:rPr>
              <a:t>3</a:t>
            </a:r>
            <a:r>
              <a:rPr lang="zh-CN" altLang="en-US">
                <a:solidFill>
                  <a:srgbClr val="F52EFC"/>
                </a:solidFill>
              </a:rPr>
              <a:t>的情况：</a:t>
            </a:r>
            <a:endParaRPr lang="zh-CN" altLang="en-US">
              <a:solidFill>
                <a:srgbClr val="F52EF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8" dur="2000" fill="hold"/>
                                        <p:tgtEl>
                                          <p:spTgt spid="1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10814685" y="281940"/>
            <a:ext cx="892810" cy="1171575"/>
            <a:chOff x="14770" y="1634"/>
            <a:chExt cx="1406" cy="1845"/>
          </a:xfrm>
        </p:grpSpPr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15238" y="2041"/>
              <a:ext cx="909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44" name="Group 51"/>
            <p:cNvGrpSpPr/>
            <p:nvPr/>
          </p:nvGrpSpPr>
          <p:grpSpPr bwMode="auto">
            <a:xfrm rot="0" flipH="1">
              <a:off x="14770" y="1634"/>
              <a:ext cx="1407" cy="1421"/>
              <a:chOff x="0" y="0"/>
              <a:chExt cx="20000" cy="20000"/>
            </a:xfrm>
          </p:grpSpPr>
          <p:sp>
            <p:nvSpPr>
              <p:cNvPr id="4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6200" y="3175"/>
            <a:ext cx="11391265" cy="1191260"/>
            <a:chOff x="120" y="1195"/>
            <a:chExt cx="17939" cy="1876"/>
          </a:xfrm>
        </p:grpSpPr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120" y="1675"/>
              <a:ext cx="209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head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197" y="1195"/>
              <a:ext cx="1122" cy="45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43" y="1634"/>
              <a:ext cx="2070" cy="1420"/>
              <a:chOff x="120" y="1200"/>
              <a:chExt cx="3074" cy="2006"/>
            </a:xfrm>
          </p:grpSpPr>
          <p:grpSp>
            <p:nvGrpSpPr>
              <p:cNvPr id="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662" y="1650"/>
              <a:ext cx="2070" cy="1420"/>
              <a:chOff x="120" y="1200"/>
              <a:chExt cx="3074" cy="2006"/>
            </a:xfrm>
          </p:grpSpPr>
          <p:grpSp>
            <p:nvGrpSpPr>
              <p:cNvPr id="1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62" y="1611"/>
              <a:ext cx="2070" cy="1420"/>
              <a:chOff x="120" y="1200"/>
              <a:chExt cx="3074" cy="2006"/>
            </a:xfrm>
          </p:grpSpPr>
          <p:grpSp>
            <p:nvGrpSpPr>
              <p:cNvPr id="1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785" y="1635"/>
              <a:ext cx="2070" cy="1420"/>
              <a:chOff x="120" y="1200"/>
              <a:chExt cx="3074" cy="2006"/>
            </a:xfrm>
          </p:grpSpPr>
          <p:grpSp>
            <p:nvGrpSpPr>
              <p:cNvPr id="2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0827" y="1649"/>
              <a:ext cx="2070" cy="1420"/>
              <a:chOff x="120" y="1200"/>
              <a:chExt cx="3074" cy="2006"/>
            </a:xfrm>
          </p:grpSpPr>
          <p:grpSp>
            <p:nvGrpSpPr>
              <p:cNvPr id="2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908" y="1649"/>
              <a:ext cx="2070" cy="1420"/>
              <a:chOff x="120" y="1200"/>
              <a:chExt cx="3074" cy="2006"/>
            </a:xfrm>
          </p:grpSpPr>
          <p:grpSp>
            <p:nvGrpSpPr>
              <p:cNvPr id="3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4950" y="1651"/>
              <a:ext cx="2070" cy="1420"/>
              <a:chOff x="120" y="1200"/>
              <a:chExt cx="3074" cy="2006"/>
            </a:xfrm>
          </p:grpSpPr>
          <p:grpSp>
            <p:nvGrpSpPr>
              <p:cNvPr id="3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4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4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0" name="肘形连接符 49"/>
            <p:cNvCxnSpPr/>
            <p:nvPr/>
          </p:nvCxnSpPr>
          <p:spPr>
            <a:xfrm>
              <a:off x="1319" y="1423"/>
              <a:ext cx="1321" cy="377"/>
            </a:xfrm>
            <a:prstGeom prst="bentConnector3">
              <a:avLst>
                <a:gd name="adj1" fmla="val 50038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51" name="文本框 50"/>
            <p:cNvSpPr txBox="1"/>
            <p:nvPr/>
          </p:nvSpPr>
          <p:spPr>
            <a:xfrm>
              <a:off x="3149" y="179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41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22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916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120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28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303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36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132965" y="1169670"/>
            <a:ext cx="847725" cy="779780"/>
            <a:chOff x="3225" y="2825"/>
            <a:chExt cx="1335" cy="1228"/>
          </a:xfrm>
        </p:grpSpPr>
        <p:cxnSp>
          <p:nvCxnSpPr>
            <p:cNvPr id="59" name="直接箭头连接符 58"/>
            <p:cNvCxnSpPr>
              <a:endCxn id="20" idx="2"/>
            </p:cNvCxnSpPr>
            <p:nvPr/>
          </p:nvCxnSpPr>
          <p:spPr>
            <a:xfrm flipV="1">
              <a:off x="3225" y="2825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1" name="文本框 60"/>
            <p:cNvSpPr txBox="1"/>
            <p:nvPr/>
          </p:nvSpPr>
          <p:spPr>
            <a:xfrm>
              <a:off x="3240" y="3473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>
            <a:off x="2819400" y="1149985"/>
            <a:ext cx="838200" cy="741680"/>
            <a:chOff x="2400" y="3032"/>
            <a:chExt cx="1320" cy="1168"/>
          </a:xfrm>
        </p:grpSpPr>
        <p:cxnSp>
          <p:nvCxnSpPr>
            <p:cNvPr id="64" name="直接箭头连接符 6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5" name="文本框 6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114800" y="1149985"/>
            <a:ext cx="838200" cy="741680"/>
            <a:chOff x="2400" y="3032"/>
            <a:chExt cx="1320" cy="1168"/>
          </a:xfrm>
        </p:grpSpPr>
        <p:cxnSp>
          <p:nvCxnSpPr>
            <p:cNvPr id="67" name="直接箭头连接符 6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8" name="文本框 6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419725" y="1149985"/>
            <a:ext cx="838200" cy="741680"/>
            <a:chOff x="2400" y="3032"/>
            <a:chExt cx="1320" cy="1168"/>
          </a:xfrm>
        </p:grpSpPr>
        <p:cxnSp>
          <p:nvCxnSpPr>
            <p:cNvPr id="70" name="直接箭头连接符 6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1" name="文本框 7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715125" y="1182370"/>
            <a:ext cx="838200" cy="741680"/>
            <a:chOff x="2400" y="3032"/>
            <a:chExt cx="1320" cy="1168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4" name="文本框 7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445895" y="1149985"/>
            <a:ext cx="838200" cy="785495"/>
            <a:chOff x="2394" y="3032"/>
            <a:chExt cx="1320" cy="1237"/>
          </a:xfrm>
        </p:grpSpPr>
        <p:cxnSp>
          <p:nvCxnSpPr>
            <p:cNvPr id="79" name="直接箭头连接符 7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0" name="文本框 79"/>
            <p:cNvSpPr txBox="1"/>
            <p:nvPr/>
          </p:nvSpPr>
          <p:spPr>
            <a:xfrm>
              <a:off x="2394" y="3689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15875" y="1954530"/>
            <a:ext cx="11878945" cy="4774565"/>
          </a:xfrm>
          <a:prstGeom prst="rect">
            <a:avLst/>
          </a:prstGeom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txBody>
          <a:bodyPr wrap="square">
            <a:noAutofit/>
          </a:bodyPr>
          <a:p>
            <a:pPr marL="0" indent="0" latinLnBrk="0"/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struct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cell </a:t>
            </a:r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back</a:t>
            </a:r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(struct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cell</a:t>
            </a:r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head</a:t>
            </a:r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k</a:t>
            </a:r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en-US" altLang="zh-CN" sz="24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 </a:t>
            </a:r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  </a:t>
            </a:r>
            <a:endParaRPr lang="en-US" altLang="zh-CN" sz="2000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000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   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k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0 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|| k&gt;n || 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head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==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NULL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struct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cell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slow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*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fast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int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i</a:t>
            </a:r>
            <a:r>
              <a:rPr lang="en-US" altLang="zh-CN" sz="20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0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slow 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fast 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head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zh-CN" altLang="en-US" sz="1800" b="1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//快慢指针起点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</a:t>
            </a:r>
            <a:endParaRPr lang="en-US" altLang="zh-CN" sz="18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0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</a:t>
            </a:r>
            <a:r>
              <a:rPr lang="en-US" altLang="zh-CN" sz="2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for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1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&lt;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k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i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++)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//快指针先走k-1步</a:t>
            </a:r>
            <a:endParaRPr lang="zh-CN" altLang="en-US" sz="1800" i="1">
              <a:solidFill>
                <a:schemeClr val="tx1">
                  <a:lumMod val="6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    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fast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fast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next</a:t>
            </a:r>
            <a:r>
              <a:rPr lang="en-US" altLang="zh-CN" sz="24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 </a:t>
            </a:r>
            <a:endParaRPr lang="en-US" altLang="zh-CN" sz="24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   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fast 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==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) return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;  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//不足k个结点，退出 ，避免空指针访问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</a:t>
            </a:r>
            <a:endParaRPr lang="en-US" altLang="zh-CN" sz="18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8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1800" b="1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 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</a:t>
            </a:r>
            <a:endParaRPr lang="en-US" altLang="zh-CN" sz="24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while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(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fast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-&gt;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next </a:t>
            </a:r>
            <a:r>
              <a:rPr lang="en-US" altLang="zh-CN" sz="24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!=</a:t>
            </a:r>
            <a:r>
              <a:rPr lang="en-US" altLang="zh-CN" sz="2400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 NULL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)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{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//避免空指针访问</a:t>
            </a:r>
            <a:r>
              <a:rPr lang="en-US" altLang="zh-CN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altLang="en-US" sz="1800" i="1">
                <a:solidFill>
                  <a:schemeClr val="tx1">
                    <a:lumMod val="65000"/>
                  </a:schemeClr>
                </a:solidFill>
                <a:latin typeface="Consolas" panose="020B0609020204030204"/>
              </a:rPr>
              <a:t>且停在最后一个结点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   </a:t>
            </a:r>
            <a:endParaRPr lang="en-US" altLang="zh-CN" sz="24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   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  <a:sym typeface="+mn-ea"/>
              </a:rPr>
              <a:t>slow=slow-&gt;next; 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  <a:sym typeface="+mn-ea"/>
              </a:rPr>
              <a:t>fast=fast-&gt;next; </a:t>
            </a:r>
            <a:r>
              <a:rPr lang="en-US" altLang="zh-CN" sz="2400">
                <a:solidFill>
                  <a:srgbClr val="FFFF00"/>
                </a:solidFill>
                <a:latin typeface="Consolas" panose="020B0609020204030204"/>
                <a:ea typeface="Consolas" panose="020B0609020204030204"/>
              </a:rPr>
              <a:t>   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4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18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}</a:t>
            </a:r>
            <a:r>
              <a:rPr lang="en-US" altLang="zh-CN" sz="18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</a:t>
            </a:r>
            <a:endParaRPr lang="en-US" altLang="zh-CN" sz="24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     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return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slow</a:t>
            </a:r>
            <a:r>
              <a:rPr lang="en-US" altLang="zh-CN" sz="2400" b="1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;</a:t>
            </a:r>
            <a:r>
              <a:rPr lang="en-US" altLang="zh-CN" sz="2400">
                <a:solidFill>
                  <a:schemeClr val="tx1"/>
                </a:solidFill>
                <a:latin typeface="Consolas" panose="020B0609020204030204"/>
                <a:ea typeface="Consolas" panose="020B0609020204030204"/>
              </a:rPr>
              <a:t>    </a:t>
            </a:r>
            <a:endParaRPr lang="en-US" altLang="zh-CN" sz="2400">
              <a:solidFill>
                <a:schemeClr val="tx1"/>
              </a:solidFill>
              <a:latin typeface="Consolas" panose="020B0609020204030204"/>
              <a:ea typeface="Consolas" panose="020B0609020204030204"/>
            </a:endParaRPr>
          </a:p>
          <a:p>
            <a:pPr marL="0" indent="0" latinLnBrk="0"/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2667000" y="1149985"/>
            <a:ext cx="838200" cy="741680"/>
            <a:chOff x="2400" y="3032"/>
            <a:chExt cx="1320" cy="1168"/>
          </a:xfrm>
        </p:grpSpPr>
        <p:cxnSp>
          <p:nvCxnSpPr>
            <p:cNvPr id="83" name="直接箭头连接符 8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4" name="文本框 8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2400" y="1162685"/>
            <a:ext cx="838200" cy="741680"/>
            <a:chOff x="2400" y="3032"/>
            <a:chExt cx="1320" cy="1168"/>
          </a:xfrm>
        </p:grpSpPr>
        <p:cxnSp>
          <p:nvCxnSpPr>
            <p:cNvPr id="89" name="直接箭头连接符 8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0" name="文本框 8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7924165" y="1193800"/>
            <a:ext cx="838200" cy="741680"/>
            <a:chOff x="2400" y="3032"/>
            <a:chExt cx="1320" cy="1168"/>
          </a:xfrm>
        </p:grpSpPr>
        <p:cxnSp>
          <p:nvCxnSpPr>
            <p:cNvPr id="104" name="直接箭头连接符 10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5" name="文本框 10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334000" y="1195070"/>
            <a:ext cx="838200" cy="741680"/>
            <a:chOff x="2400" y="3032"/>
            <a:chExt cx="1320" cy="1168"/>
          </a:xfrm>
        </p:grpSpPr>
        <p:cxnSp>
          <p:nvCxnSpPr>
            <p:cNvPr id="107" name="直接箭头连接符 10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8" name="文本框 10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9295765" y="1181100"/>
            <a:ext cx="838200" cy="741680"/>
            <a:chOff x="2400" y="3032"/>
            <a:chExt cx="1320" cy="1168"/>
          </a:xfrm>
        </p:grpSpPr>
        <p:cxnSp>
          <p:nvCxnSpPr>
            <p:cNvPr id="110" name="直接箭头连接符 10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1" name="文本框 11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6629400" y="1182370"/>
            <a:ext cx="838200" cy="741680"/>
            <a:chOff x="2400" y="3032"/>
            <a:chExt cx="1320" cy="1168"/>
          </a:xfrm>
        </p:grpSpPr>
        <p:cxnSp>
          <p:nvCxnSpPr>
            <p:cNvPr id="113" name="直接箭头连接符 11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4" name="文本框 11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0667365" y="1207770"/>
            <a:ext cx="838200" cy="741680"/>
            <a:chOff x="2400" y="3032"/>
            <a:chExt cx="1320" cy="1168"/>
          </a:xfrm>
        </p:grpSpPr>
        <p:cxnSp>
          <p:nvCxnSpPr>
            <p:cNvPr id="116" name="直接箭头连接符 115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7" name="文本框 116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8" name="组合 117"/>
          <p:cNvGrpSpPr/>
          <p:nvPr/>
        </p:nvGrpSpPr>
        <p:grpSpPr>
          <a:xfrm>
            <a:off x="7775575" y="1175385"/>
            <a:ext cx="838200" cy="741680"/>
            <a:chOff x="2400" y="3032"/>
            <a:chExt cx="1320" cy="1168"/>
          </a:xfrm>
        </p:grpSpPr>
        <p:cxnSp>
          <p:nvCxnSpPr>
            <p:cNvPr id="119" name="直接箭头连接符 11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20" name="文本框 11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777875" y="3429000"/>
            <a:ext cx="5937250" cy="1575435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62000" y="5004435"/>
            <a:ext cx="6557645" cy="979805"/>
          </a:xfrm>
          <a:prstGeom prst="rect">
            <a:avLst/>
          </a:prstGeom>
          <a:noFill/>
          <a:ln w="28575" cmpd="sng">
            <a:solidFill>
              <a:srgbClr val="FFFF00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875" y="749935"/>
            <a:ext cx="1674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rgbClr val="F52EFC"/>
                </a:solidFill>
              </a:rPr>
              <a:t>k</a:t>
            </a:r>
            <a:r>
              <a:rPr lang="zh-CN" altLang="en-US">
                <a:solidFill>
                  <a:srgbClr val="F52EFC"/>
                </a:solidFill>
              </a:rPr>
              <a:t>为</a:t>
            </a:r>
            <a:r>
              <a:rPr lang="en-US" altLang="zh-CN">
                <a:solidFill>
                  <a:srgbClr val="F52EFC"/>
                </a:solidFill>
              </a:rPr>
              <a:t>3</a:t>
            </a:r>
            <a:r>
              <a:rPr lang="zh-CN" altLang="en-US">
                <a:solidFill>
                  <a:srgbClr val="F52EFC"/>
                </a:solidFill>
              </a:rPr>
              <a:t>的情况：</a:t>
            </a:r>
            <a:endParaRPr lang="zh-CN" altLang="en-US">
              <a:solidFill>
                <a:srgbClr val="F52EFC"/>
              </a:solidFill>
            </a:endParaRPr>
          </a:p>
        </p:txBody>
      </p:sp>
      <p:sp>
        <p:nvSpPr>
          <p:cNvPr id="2" name="矩形标注 1"/>
          <p:cNvSpPr/>
          <p:nvPr/>
        </p:nvSpPr>
        <p:spPr>
          <a:xfrm>
            <a:off x="6553200" y="2747010"/>
            <a:ext cx="5615305" cy="1447165"/>
          </a:xfrm>
          <a:prstGeom prst="wedgeRectCallout">
            <a:avLst>
              <a:gd name="adj1" fmla="val -64666"/>
              <a:gd name="adj2" fmla="val -1426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altLang="en-US" sz="3100" dirty="0">
                <a:latin typeface="Arial" panose="020B0604020202020204" pitchFamily="34" charset="0"/>
              </a:rPr>
              <a:t>【思考】若</a:t>
            </a:r>
            <a:r>
              <a:rPr lang="en-US" altLang="zh-CN" sz="3100" dirty="0">
                <a:latin typeface="Arial" panose="020B0604020202020204" pitchFamily="34" charset="0"/>
              </a:rPr>
              <a:t>k</a:t>
            </a:r>
            <a:r>
              <a:rPr lang="zh-CN" altLang="en-US" sz="3100" dirty="0">
                <a:latin typeface="Arial" panose="020B0604020202020204" pitchFamily="34" charset="0"/>
              </a:rPr>
              <a:t>为定值</a:t>
            </a:r>
            <a:r>
              <a:rPr lang="en-US" altLang="zh-CN" sz="3100" dirty="0">
                <a:latin typeface="Arial" panose="020B0604020202020204" pitchFamily="34" charset="0"/>
              </a:rPr>
              <a:t>3,</a:t>
            </a:r>
            <a:r>
              <a:rPr lang="zh-CN" altLang="en-US" sz="3100" dirty="0">
                <a:latin typeface="Arial" panose="020B0604020202020204" pitchFamily="34" charset="0"/>
              </a:rPr>
              <a:t>能否：</a:t>
            </a:r>
            <a:endParaRPr lang="zh-CN" altLang="en-US" sz="31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r>
              <a:rPr lang="en-US" altLang="zh-CN" sz="3100" dirty="0">
                <a:latin typeface="Arial" panose="020B0604020202020204" pitchFamily="34" charset="0"/>
              </a:rPr>
              <a:t>if(head-&gt;next-&gt;next != NULL)</a:t>
            </a:r>
            <a:endParaRPr lang="en-US" altLang="zh-CN" sz="3100" dirty="0">
              <a:latin typeface="Arial" panose="020B0604020202020204" pitchFamily="34" charset="0"/>
            </a:endParaRPr>
          </a:p>
          <a:p>
            <a:pPr marL="457200" lvl="1" indent="457200" eaLnBrk="1" hangingPunct="1">
              <a:buNone/>
            </a:pPr>
            <a:r>
              <a:rPr lang="en-US" altLang="zh-CN" sz="3100" dirty="0">
                <a:latin typeface="Arial" panose="020B0604020202020204" pitchFamily="34" charset="0"/>
              </a:rPr>
              <a:t>fast = head-&gt;next-&gt;next;</a:t>
            </a:r>
            <a:endParaRPr lang="en-US" altLang="zh-CN" sz="3100" dirty="0">
              <a:latin typeface="Arial" panose="020B0604020202020204" pitchFamily="34" charset="0"/>
            </a:endParaRPr>
          </a:p>
          <a:p>
            <a:pPr eaLnBrk="1" hangingPunct="1">
              <a:buNone/>
            </a:pPr>
            <a:endParaRPr lang="en-US" altLang="zh-CN" sz="31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8" dur="2000" fill="hold"/>
                                        <p:tgtEl>
                                          <p:spTgt spid="11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bldLvl="0" animBg="1"/>
      <p:bldP spid="6" grpId="0" bldLvl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53035" y="228600"/>
            <a:ext cx="2837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/>
              <a:t>快慢指针：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700" y="704850"/>
            <a:ext cx="1165860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10814685" y="357505"/>
            <a:ext cx="892810" cy="1171575"/>
            <a:chOff x="14770" y="1634"/>
            <a:chExt cx="1406" cy="1845"/>
          </a:xfrm>
        </p:grpSpPr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15238" y="2041"/>
              <a:ext cx="909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44" name="Group 51"/>
            <p:cNvGrpSpPr/>
            <p:nvPr/>
          </p:nvGrpSpPr>
          <p:grpSpPr bwMode="auto">
            <a:xfrm rot="0" flipH="1">
              <a:off x="14770" y="1634"/>
              <a:ext cx="1407" cy="1421"/>
              <a:chOff x="0" y="0"/>
              <a:chExt cx="20000" cy="20000"/>
            </a:xfrm>
          </p:grpSpPr>
          <p:sp>
            <p:nvSpPr>
              <p:cNvPr id="4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6200" y="78740"/>
            <a:ext cx="11391265" cy="1191260"/>
            <a:chOff x="120" y="1195"/>
            <a:chExt cx="17939" cy="1876"/>
          </a:xfrm>
        </p:grpSpPr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120" y="1675"/>
              <a:ext cx="209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head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197" y="1195"/>
              <a:ext cx="1122" cy="45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43" y="1634"/>
              <a:ext cx="2070" cy="1420"/>
              <a:chOff x="120" y="1200"/>
              <a:chExt cx="3074" cy="2006"/>
            </a:xfrm>
          </p:grpSpPr>
          <p:grpSp>
            <p:nvGrpSpPr>
              <p:cNvPr id="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662" y="1650"/>
              <a:ext cx="2070" cy="1420"/>
              <a:chOff x="120" y="1200"/>
              <a:chExt cx="3074" cy="2006"/>
            </a:xfrm>
          </p:grpSpPr>
          <p:grpSp>
            <p:nvGrpSpPr>
              <p:cNvPr id="1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62" y="1611"/>
              <a:ext cx="2070" cy="1420"/>
              <a:chOff x="120" y="1200"/>
              <a:chExt cx="3074" cy="2006"/>
            </a:xfrm>
          </p:grpSpPr>
          <p:grpSp>
            <p:nvGrpSpPr>
              <p:cNvPr id="1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785" y="1635"/>
              <a:ext cx="2070" cy="1420"/>
              <a:chOff x="120" y="1200"/>
              <a:chExt cx="3074" cy="2006"/>
            </a:xfrm>
          </p:grpSpPr>
          <p:grpSp>
            <p:nvGrpSpPr>
              <p:cNvPr id="2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0827" y="1649"/>
              <a:ext cx="2070" cy="1420"/>
              <a:chOff x="120" y="1200"/>
              <a:chExt cx="3074" cy="2006"/>
            </a:xfrm>
          </p:grpSpPr>
          <p:grpSp>
            <p:nvGrpSpPr>
              <p:cNvPr id="2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908" y="1649"/>
              <a:ext cx="2070" cy="1420"/>
              <a:chOff x="120" y="1200"/>
              <a:chExt cx="3074" cy="2006"/>
            </a:xfrm>
          </p:grpSpPr>
          <p:grpSp>
            <p:nvGrpSpPr>
              <p:cNvPr id="3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4950" y="1651"/>
              <a:ext cx="2070" cy="1420"/>
              <a:chOff x="120" y="1200"/>
              <a:chExt cx="3074" cy="2006"/>
            </a:xfrm>
          </p:grpSpPr>
          <p:grpSp>
            <p:nvGrpSpPr>
              <p:cNvPr id="3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4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4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0" name="肘形连接符 49"/>
            <p:cNvCxnSpPr/>
            <p:nvPr/>
          </p:nvCxnSpPr>
          <p:spPr>
            <a:xfrm>
              <a:off x="1319" y="1423"/>
              <a:ext cx="1321" cy="377"/>
            </a:xfrm>
            <a:prstGeom prst="bentConnector3">
              <a:avLst>
                <a:gd name="adj1" fmla="val 50038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51" name="文本框 50"/>
            <p:cNvSpPr txBox="1"/>
            <p:nvPr/>
          </p:nvSpPr>
          <p:spPr>
            <a:xfrm>
              <a:off x="3149" y="179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41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22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916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120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28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303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36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114800" y="1225550"/>
            <a:ext cx="838200" cy="741680"/>
            <a:chOff x="2400" y="3032"/>
            <a:chExt cx="1320" cy="1168"/>
          </a:xfrm>
        </p:grpSpPr>
        <p:cxnSp>
          <p:nvCxnSpPr>
            <p:cNvPr id="67" name="直接箭头连接符 6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8" name="文本框 6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419725" y="1225550"/>
            <a:ext cx="838200" cy="741680"/>
            <a:chOff x="2400" y="3032"/>
            <a:chExt cx="1320" cy="1168"/>
          </a:xfrm>
        </p:grpSpPr>
        <p:cxnSp>
          <p:nvCxnSpPr>
            <p:cNvPr id="70" name="直接箭头连接符 6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1" name="文本框 7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715125" y="1257935"/>
            <a:ext cx="838200" cy="741680"/>
            <a:chOff x="2400" y="3032"/>
            <a:chExt cx="1320" cy="1168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4" name="文本框 7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372870" y="1275080"/>
            <a:ext cx="838200" cy="741680"/>
            <a:chOff x="2400" y="3032"/>
            <a:chExt cx="1320" cy="1168"/>
          </a:xfrm>
        </p:grpSpPr>
        <p:cxnSp>
          <p:nvCxnSpPr>
            <p:cNvPr id="79" name="直接箭头连接符 7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0" name="文本框 7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组合 81"/>
          <p:cNvGrpSpPr/>
          <p:nvPr/>
        </p:nvGrpSpPr>
        <p:grpSpPr>
          <a:xfrm>
            <a:off x="2668270" y="1275080"/>
            <a:ext cx="838200" cy="741680"/>
            <a:chOff x="2400" y="3032"/>
            <a:chExt cx="1320" cy="1168"/>
          </a:xfrm>
        </p:grpSpPr>
        <p:cxnSp>
          <p:nvCxnSpPr>
            <p:cNvPr id="83" name="直接箭头连接符 8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4" name="文本框 8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3670" y="1236980"/>
            <a:ext cx="838200" cy="741680"/>
            <a:chOff x="2400" y="3032"/>
            <a:chExt cx="1320" cy="1168"/>
          </a:xfrm>
        </p:grpSpPr>
        <p:cxnSp>
          <p:nvCxnSpPr>
            <p:cNvPr id="89" name="直接箭头连接符 8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0" name="文本框 8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7924165" y="1269365"/>
            <a:ext cx="838200" cy="741680"/>
            <a:chOff x="2400" y="3032"/>
            <a:chExt cx="1320" cy="1168"/>
          </a:xfrm>
        </p:grpSpPr>
        <p:cxnSp>
          <p:nvCxnSpPr>
            <p:cNvPr id="104" name="直接箭头连接符 10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5" name="文本框 10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259070" y="1212850"/>
            <a:ext cx="838200" cy="741680"/>
            <a:chOff x="2400" y="3032"/>
            <a:chExt cx="1320" cy="1168"/>
          </a:xfrm>
        </p:grpSpPr>
        <p:cxnSp>
          <p:nvCxnSpPr>
            <p:cNvPr id="107" name="直接箭头连接符 10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8" name="文本框 10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9295765" y="1256665"/>
            <a:ext cx="838200" cy="741680"/>
            <a:chOff x="2400" y="3032"/>
            <a:chExt cx="1320" cy="1168"/>
          </a:xfrm>
        </p:grpSpPr>
        <p:cxnSp>
          <p:nvCxnSpPr>
            <p:cNvPr id="110" name="直接箭头连接符 10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1" name="文本框 11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0667365" y="1283335"/>
            <a:ext cx="838200" cy="741680"/>
            <a:chOff x="2400" y="3032"/>
            <a:chExt cx="1320" cy="1168"/>
          </a:xfrm>
        </p:grpSpPr>
        <p:cxnSp>
          <p:nvCxnSpPr>
            <p:cNvPr id="116" name="直接箭头连接符 115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7" name="文本框 116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505565" y="1295400"/>
            <a:ext cx="838200" cy="741680"/>
            <a:chOff x="2400" y="3032"/>
            <a:chExt cx="1320" cy="1168"/>
          </a:xfrm>
        </p:grpSpPr>
        <p:cxnSp>
          <p:nvCxnSpPr>
            <p:cNvPr id="3" name="直接箭头连接符 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4" name="文本框 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8" name="组合 47"/>
          <p:cNvGrpSpPr/>
          <p:nvPr/>
        </p:nvGrpSpPr>
        <p:grpSpPr>
          <a:xfrm>
            <a:off x="10814685" y="357505"/>
            <a:ext cx="892810" cy="1171575"/>
            <a:chOff x="14770" y="1634"/>
            <a:chExt cx="1406" cy="1845"/>
          </a:xfrm>
        </p:grpSpPr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15238" y="2041"/>
              <a:ext cx="909" cy="1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44" name="Group 51"/>
            <p:cNvGrpSpPr/>
            <p:nvPr/>
          </p:nvGrpSpPr>
          <p:grpSpPr bwMode="auto">
            <a:xfrm rot="0" flipH="1">
              <a:off x="14770" y="1634"/>
              <a:ext cx="1407" cy="1421"/>
              <a:chOff x="0" y="0"/>
              <a:chExt cx="20000" cy="20000"/>
            </a:xfrm>
          </p:grpSpPr>
          <p:sp>
            <p:nvSpPr>
              <p:cNvPr id="4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</p:grpSp>
      <p:grpSp>
        <p:nvGrpSpPr>
          <p:cNvPr id="60" name="组合 59"/>
          <p:cNvGrpSpPr/>
          <p:nvPr/>
        </p:nvGrpSpPr>
        <p:grpSpPr>
          <a:xfrm>
            <a:off x="76200" y="78740"/>
            <a:ext cx="11391265" cy="1191260"/>
            <a:chOff x="120" y="1195"/>
            <a:chExt cx="17939" cy="1876"/>
          </a:xfrm>
        </p:grpSpPr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120" y="1675"/>
              <a:ext cx="209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head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197" y="1195"/>
              <a:ext cx="1122" cy="455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>
              <a:off x="6743" y="1634"/>
              <a:ext cx="2070" cy="1420"/>
              <a:chOff x="120" y="1200"/>
              <a:chExt cx="3074" cy="2006"/>
            </a:xfrm>
          </p:grpSpPr>
          <p:grpSp>
            <p:nvGrpSpPr>
              <p:cNvPr id="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3" name="组合 12"/>
            <p:cNvGrpSpPr/>
            <p:nvPr/>
          </p:nvGrpSpPr>
          <p:grpSpPr>
            <a:xfrm>
              <a:off x="4662" y="1650"/>
              <a:ext cx="2070" cy="1420"/>
              <a:chOff x="120" y="1200"/>
              <a:chExt cx="3074" cy="2006"/>
            </a:xfrm>
          </p:grpSpPr>
          <p:grpSp>
            <p:nvGrpSpPr>
              <p:cNvPr id="1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1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1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662" y="1611"/>
              <a:ext cx="2070" cy="1420"/>
              <a:chOff x="120" y="1200"/>
              <a:chExt cx="3074" cy="2006"/>
            </a:xfrm>
          </p:grpSpPr>
          <p:grpSp>
            <p:nvGrpSpPr>
              <p:cNvPr id="1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3" name="组合 22"/>
            <p:cNvGrpSpPr/>
            <p:nvPr/>
          </p:nvGrpSpPr>
          <p:grpSpPr>
            <a:xfrm>
              <a:off x="8785" y="1635"/>
              <a:ext cx="2070" cy="1420"/>
              <a:chOff x="120" y="1200"/>
              <a:chExt cx="3074" cy="2006"/>
            </a:xfrm>
          </p:grpSpPr>
          <p:grpSp>
            <p:nvGrpSpPr>
              <p:cNvPr id="2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2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2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>
              <a:off x="10827" y="1649"/>
              <a:ext cx="2070" cy="1420"/>
              <a:chOff x="120" y="1200"/>
              <a:chExt cx="3074" cy="2006"/>
            </a:xfrm>
          </p:grpSpPr>
          <p:grpSp>
            <p:nvGrpSpPr>
              <p:cNvPr id="2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12908" y="1649"/>
              <a:ext cx="2070" cy="1420"/>
              <a:chOff x="120" y="1200"/>
              <a:chExt cx="3074" cy="2006"/>
            </a:xfrm>
          </p:grpSpPr>
          <p:grpSp>
            <p:nvGrpSpPr>
              <p:cNvPr id="34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35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36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37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8" name="组合 37"/>
            <p:cNvGrpSpPr/>
            <p:nvPr/>
          </p:nvGrpSpPr>
          <p:grpSpPr>
            <a:xfrm>
              <a:off x="14950" y="1651"/>
              <a:ext cx="2070" cy="1420"/>
              <a:chOff x="120" y="1200"/>
              <a:chExt cx="3074" cy="2006"/>
            </a:xfrm>
          </p:grpSpPr>
          <p:grpSp>
            <p:nvGrpSpPr>
              <p:cNvPr id="39" name="Group 51"/>
              <p:cNvGrpSpPr/>
              <p:nvPr/>
            </p:nvGrpSpPr>
            <p:grpSpPr bwMode="auto">
              <a:xfrm rot="0" flipH="1">
                <a:off x="120" y="1200"/>
                <a:ext cx="2090" cy="2007"/>
                <a:chOff x="0" y="0"/>
                <a:chExt cx="20000" cy="20000"/>
              </a:xfrm>
            </p:grpSpPr>
            <p:sp>
              <p:nvSpPr>
                <p:cNvPr id="40" name="Rectangle 5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38100" algn="ctr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41" name="Line 53"/>
                <p:cNvSpPr>
                  <a:spLocks noChangeShapeType="1"/>
                </p:cNvSpPr>
                <p:nvPr/>
              </p:nvSpPr>
              <p:spPr bwMode="auto">
                <a:xfrm>
                  <a:off x="557" y="13823"/>
                  <a:ext cx="19443" cy="38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lIns="12700" tIns="12700" rIns="12700" bIns="12700"/>
                <a:lstStyle/>
                <a:p>
                  <a:endParaRPr lang="zh-CN" altLang="en-US"/>
                </a:p>
              </p:txBody>
            </p:sp>
          </p:grpSp>
          <p:sp>
            <p:nvSpPr>
              <p:cNvPr id="42" name="Freeform 54"/>
              <p:cNvSpPr/>
              <p:nvPr/>
            </p:nvSpPr>
            <p:spPr bwMode="auto">
              <a:xfrm flipH="1">
                <a:off x="1282" y="1434"/>
                <a:ext cx="1913" cy="1389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19970" y="19944"/>
                    </a:moveTo>
                    <a:lnTo>
                      <a:pt x="6657" y="19944"/>
                    </a:lnTo>
                    <a:lnTo>
                      <a:pt x="6657" y="0"/>
                    </a:ln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cxnSp>
          <p:nvCxnSpPr>
            <p:cNvPr id="50" name="肘形连接符 49"/>
            <p:cNvCxnSpPr/>
            <p:nvPr/>
          </p:nvCxnSpPr>
          <p:spPr>
            <a:xfrm>
              <a:off x="1319" y="1423"/>
              <a:ext cx="1321" cy="377"/>
            </a:xfrm>
            <a:prstGeom prst="bentConnector3">
              <a:avLst>
                <a:gd name="adj1" fmla="val 50038"/>
              </a:avLst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51" name="文本框 50"/>
            <p:cNvSpPr txBox="1"/>
            <p:nvPr/>
          </p:nvSpPr>
          <p:spPr>
            <a:xfrm>
              <a:off x="3149" y="179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5041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222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916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11205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5</a:t>
              </a:r>
              <a:endParaRPr lang="en-US" altLang="zh-CN"/>
            </a:p>
          </p:txBody>
        </p:sp>
        <p:sp>
          <p:nvSpPr>
            <p:cNvPr id="56" name="文本框 55"/>
            <p:cNvSpPr txBox="1"/>
            <p:nvPr/>
          </p:nvSpPr>
          <p:spPr>
            <a:xfrm>
              <a:off x="1328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6</a:t>
              </a:r>
              <a:endParaRPr lang="en-US" altLang="zh-CN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15303" y="1817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7</a:t>
              </a:r>
              <a:endParaRPr lang="en-US" altLang="zh-CN"/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7369" y="1801"/>
              <a:ext cx="69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8</a:t>
              </a:r>
              <a:endParaRPr lang="en-US" altLang="zh-CN"/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4114800" y="1225550"/>
            <a:ext cx="838200" cy="741680"/>
            <a:chOff x="2400" y="3032"/>
            <a:chExt cx="1320" cy="1168"/>
          </a:xfrm>
        </p:grpSpPr>
        <p:cxnSp>
          <p:nvCxnSpPr>
            <p:cNvPr id="67" name="直接箭头连接符 6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68" name="文本框 6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69" name="组合 68"/>
          <p:cNvGrpSpPr/>
          <p:nvPr/>
        </p:nvGrpSpPr>
        <p:grpSpPr>
          <a:xfrm>
            <a:off x="5419725" y="1225550"/>
            <a:ext cx="838200" cy="741680"/>
            <a:chOff x="2400" y="3032"/>
            <a:chExt cx="1320" cy="1168"/>
          </a:xfrm>
        </p:grpSpPr>
        <p:cxnSp>
          <p:nvCxnSpPr>
            <p:cNvPr id="70" name="直接箭头连接符 6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1" name="文本框 7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2" name="组合 71"/>
          <p:cNvGrpSpPr/>
          <p:nvPr/>
        </p:nvGrpSpPr>
        <p:grpSpPr>
          <a:xfrm>
            <a:off x="6715125" y="1257935"/>
            <a:ext cx="838200" cy="741680"/>
            <a:chOff x="2400" y="3032"/>
            <a:chExt cx="1320" cy="1168"/>
          </a:xfrm>
        </p:grpSpPr>
        <p:cxnSp>
          <p:nvCxnSpPr>
            <p:cNvPr id="73" name="直接箭头连接符 7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74" name="文本框 7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78" name="组合 77"/>
          <p:cNvGrpSpPr/>
          <p:nvPr/>
        </p:nvGrpSpPr>
        <p:grpSpPr>
          <a:xfrm>
            <a:off x="1372870" y="1275080"/>
            <a:ext cx="838200" cy="741680"/>
            <a:chOff x="2400" y="3032"/>
            <a:chExt cx="1320" cy="1168"/>
          </a:xfrm>
        </p:grpSpPr>
        <p:cxnSp>
          <p:nvCxnSpPr>
            <p:cNvPr id="79" name="直接箭头连接符 7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0" name="文本框 7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sp>
        <p:nvSpPr>
          <p:cNvPr id="81" name="文本框 80"/>
          <p:cNvSpPr txBox="1"/>
          <p:nvPr/>
        </p:nvSpPr>
        <p:spPr>
          <a:xfrm>
            <a:off x="35560" y="2058035"/>
            <a:ext cx="11410950" cy="4745990"/>
          </a:xfrm>
          <a:prstGeom prst="rect">
            <a:avLst/>
          </a:prstGeom>
          <a:ln w="28575" cmpd="sng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txBody>
          <a:bodyPr wrap="square">
            <a:noAutofit/>
          </a:bodyPr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struct cell* mid(struct cell* head) {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struct cell* fast=NULL, *slow=NULL;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if(head==NULL) return NULL;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r>
              <a:rPr lang="en-US" altLang="zh-CN" sz="2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slow = head;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//慢指针起点</a:t>
            </a:r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if(head-&gt;next!=NULL) </a:t>
            </a:r>
            <a:r>
              <a:rPr lang="en-US" altLang="zh-CN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避免空指针访问</a:t>
            </a:r>
            <a:endParaRPr lang="zh-CN" altLang="en-US" sz="1800" b="1">
              <a:solidFill>
                <a:schemeClr val="tx1">
                  <a:lumMod val="7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buClrTx/>
              <a:buSzTx/>
              <a:buFontTx/>
            </a:pP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		fast=head-&gt;next-&gt;next;	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//快指针起点：先走2步</a:t>
            </a:r>
            <a:endParaRPr lang="zh-CN" altLang="en-US" sz="1800" b="1">
              <a:solidFill>
                <a:schemeClr val="tx1">
                  <a:lumMod val="7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r>
              <a:rPr lang="en-US" altLang="zh-CN" sz="2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while(fast!=NULL){	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	</a:t>
            </a: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slow=slow-&gt;next;</a:t>
            </a: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</a:t>
            </a:r>
            <a:r>
              <a:rPr lang="zh-CN" altLang="en-US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//慢指针走1步</a:t>
            </a:r>
            <a:r>
              <a:rPr lang="en-US" altLang="zh-CN" sz="1800" b="1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</a:rPr>
              <a:t>,</a:t>
            </a:r>
            <a:r>
              <a:rPr lang="zh-CN" altLang="en-US" sz="1800">
                <a:solidFill>
                  <a:schemeClr val="tx1">
                    <a:lumMod val="75000"/>
                  </a:schemeClr>
                </a:solidFill>
                <a:latin typeface="Consolas" panose="020B0609020204030204"/>
                <a:ea typeface="Consolas" panose="020B0609020204030204"/>
                <a:sym typeface="+mn-ea"/>
              </a:rPr>
              <a:t>快指针走2步</a:t>
            </a:r>
            <a:endParaRPr lang="zh-CN" altLang="en-US" sz="1800" b="1">
              <a:solidFill>
                <a:schemeClr val="tx1">
                  <a:lumMod val="75000"/>
                </a:schemeClr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buClrTx/>
              <a:buSzTx/>
              <a:buFontTx/>
            </a:pPr>
            <a:r>
              <a:rPr lang="en-US" altLang="zh-CN" sz="20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	</a:t>
            </a:r>
            <a:r>
              <a:rPr lang="en-US" altLang="zh-CN" sz="2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if(fast-&gt;next!=NULL)	</a:t>
            </a:r>
            <a:r>
              <a:rPr lang="en-US" altLang="zh-CN" sz="2800" b="1">
                <a:solidFill>
                  <a:srgbClr val="F52EFC"/>
                </a:solidFill>
                <a:latin typeface="Consolas" panose="020B0609020204030204"/>
                <a:ea typeface="Consolas" panose="020B0609020204030204"/>
              </a:rPr>
              <a:t>fast=fast-&gt;next-&gt;next;	</a:t>
            </a:r>
            <a:r>
              <a:rPr lang="en-US" altLang="zh-CN" sz="2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	else	 fast=NULL;		</a:t>
            </a:r>
            <a:endParaRPr lang="en-US" altLang="zh-CN" sz="20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}	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	return slow;	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  <a:p>
            <a:r>
              <a:rPr lang="en-US" altLang="zh-CN" sz="1800" b="1">
                <a:solidFill>
                  <a:srgbClr val="E7E7E7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lang="en-US" altLang="zh-CN" sz="1800" b="1">
              <a:solidFill>
                <a:srgbClr val="E7E7E7"/>
              </a:solidFill>
              <a:latin typeface="Consolas" panose="020B0609020204030204"/>
              <a:ea typeface="Consolas" panose="020B0609020204030204"/>
            </a:endParaRPr>
          </a:p>
        </p:txBody>
      </p:sp>
      <p:grpSp>
        <p:nvGrpSpPr>
          <p:cNvPr id="82" name="组合 81"/>
          <p:cNvGrpSpPr/>
          <p:nvPr/>
        </p:nvGrpSpPr>
        <p:grpSpPr>
          <a:xfrm>
            <a:off x="2668270" y="1275080"/>
            <a:ext cx="838200" cy="741680"/>
            <a:chOff x="2400" y="3032"/>
            <a:chExt cx="1320" cy="1168"/>
          </a:xfrm>
        </p:grpSpPr>
        <p:cxnSp>
          <p:nvCxnSpPr>
            <p:cNvPr id="83" name="直接箭头连接符 8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84" name="文本框 8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88" name="组合 87"/>
          <p:cNvGrpSpPr/>
          <p:nvPr/>
        </p:nvGrpSpPr>
        <p:grpSpPr>
          <a:xfrm>
            <a:off x="3963670" y="1236980"/>
            <a:ext cx="838200" cy="741680"/>
            <a:chOff x="2400" y="3032"/>
            <a:chExt cx="1320" cy="1168"/>
          </a:xfrm>
        </p:grpSpPr>
        <p:cxnSp>
          <p:nvCxnSpPr>
            <p:cNvPr id="89" name="直接箭头连接符 88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0" name="文本框 89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组合 102"/>
          <p:cNvGrpSpPr/>
          <p:nvPr/>
        </p:nvGrpSpPr>
        <p:grpSpPr>
          <a:xfrm>
            <a:off x="7924165" y="1269365"/>
            <a:ext cx="838200" cy="741680"/>
            <a:chOff x="2400" y="3032"/>
            <a:chExt cx="1320" cy="1168"/>
          </a:xfrm>
        </p:grpSpPr>
        <p:cxnSp>
          <p:nvCxnSpPr>
            <p:cNvPr id="104" name="直接箭头连接符 103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5" name="文本框 104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06" name="组合 105"/>
          <p:cNvGrpSpPr/>
          <p:nvPr/>
        </p:nvGrpSpPr>
        <p:grpSpPr>
          <a:xfrm>
            <a:off x="5259070" y="1212850"/>
            <a:ext cx="838200" cy="741680"/>
            <a:chOff x="2400" y="3032"/>
            <a:chExt cx="1320" cy="1168"/>
          </a:xfrm>
        </p:grpSpPr>
        <p:cxnSp>
          <p:nvCxnSpPr>
            <p:cNvPr id="107" name="直接箭头连接符 106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08" name="文本框 107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chemeClr val="tx1"/>
                  </a:solidFill>
                </a:rPr>
                <a:t>slow</a:t>
              </a:r>
              <a:endParaRPr lang="en-US" altLang="zh-CN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9295765" y="1256665"/>
            <a:ext cx="838200" cy="741680"/>
            <a:chOff x="2400" y="3032"/>
            <a:chExt cx="1320" cy="1168"/>
          </a:xfrm>
        </p:grpSpPr>
        <p:cxnSp>
          <p:nvCxnSpPr>
            <p:cNvPr id="110" name="直接箭头连接符 109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1" name="文本框 110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115" name="组合 114"/>
          <p:cNvGrpSpPr/>
          <p:nvPr/>
        </p:nvGrpSpPr>
        <p:grpSpPr>
          <a:xfrm>
            <a:off x="10667365" y="1283335"/>
            <a:ext cx="838200" cy="741680"/>
            <a:chOff x="2400" y="3032"/>
            <a:chExt cx="1320" cy="1168"/>
          </a:xfrm>
        </p:grpSpPr>
        <p:cxnSp>
          <p:nvCxnSpPr>
            <p:cNvPr id="116" name="直接箭头连接符 115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117" name="文本框 116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11505565" y="1295400"/>
            <a:ext cx="838200" cy="741680"/>
            <a:chOff x="2400" y="3032"/>
            <a:chExt cx="1320" cy="1168"/>
          </a:xfrm>
        </p:grpSpPr>
        <p:cxnSp>
          <p:nvCxnSpPr>
            <p:cNvPr id="3" name="直接箭头连接符 2"/>
            <p:cNvCxnSpPr/>
            <p:nvPr/>
          </p:nvCxnSpPr>
          <p:spPr>
            <a:xfrm flipV="1">
              <a:off x="3360" y="3032"/>
              <a:ext cx="6" cy="1168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FFFF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4" name="文本框 3"/>
            <p:cNvSpPr txBox="1"/>
            <p:nvPr/>
          </p:nvSpPr>
          <p:spPr>
            <a:xfrm>
              <a:off x="2400" y="3600"/>
              <a:ext cx="132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>
                  <a:solidFill>
                    <a:srgbClr val="FFFF00"/>
                  </a:solidFill>
                </a:rPr>
                <a:t>fast</a:t>
              </a:r>
              <a:endParaRPr lang="en-US" altLang="zh-CN">
                <a:solidFill>
                  <a:srgbClr val="FFFF00"/>
                </a:solidFill>
              </a:endParaRPr>
            </a:p>
          </p:txBody>
        </p:sp>
      </p:grpSp>
      <p:sp>
        <p:nvSpPr>
          <p:cNvPr id="5" name="矩形 4"/>
          <p:cNvSpPr/>
          <p:nvPr/>
        </p:nvSpPr>
        <p:spPr>
          <a:xfrm>
            <a:off x="990600" y="3429000"/>
            <a:ext cx="8175625" cy="834390"/>
          </a:xfrm>
          <a:prstGeom prst="rect">
            <a:avLst/>
          </a:prstGeom>
          <a:noFill/>
          <a:ln w="28575" cmpd="sng">
            <a:solidFill>
              <a:schemeClr val="tx1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95680" y="4343400"/>
            <a:ext cx="9812020" cy="1981835"/>
          </a:xfrm>
          <a:prstGeom prst="rect">
            <a:avLst/>
          </a:prstGeom>
          <a:noFill/>
          <a:ln w="28575" cmpd="sng">
            <a:solidFill>
              <a:srgbClr val="FFFF00"/>
            </a:solidFill>
            <a:prstDash val="sysDash"/>
          </a:ln>
        </p:spPr>
        <p:txBody>
          <a:bodyPr wrap="square" lIns="0" rIns="0">
            <a:noAutofit/>
          </a:bodyPr>
          <a:p>
            <a:pPr eaLnBrk="1" hangingPunct="1">
              <a:buNone/>
            </a:pPr>
            <a:endParaRPr lang="zh-CN" altLang="en-US" sz="24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3"/>
          <p:cNvSpPr>
            <a:spLocks noGrp="1" noChangeArrowheads="1"/>
          </p:cNvSpPr>
          <p:nvPr>
            <p:ph type="title"/>
          </p:nvPr>
        </p:nvSpPr>
        <p:spPr>
          <a:xfrm>
            <a:off x="85725" y="290513"/>
            <a:ext cx="7270750" cy="871537"/>
          </a:xfrm>
        </p:spPr>
        <p:txBody>
          <a:bodyPr/>
          <a:lstStyle/>
          <a:p>
            <a:pPr algn="l" eaLnBrk="1" hangingPunct="1">
              <a:lnSpc>
                <a:spcPct val="70000"/>
              </a:lnSpc>
              <a:defRPr/>
            </a:pPr>
            <a:r>
              <a:rPr lang="en-US" altLang="zh-CN" sz="3600" b="1" dirty="0"/>
              <a:t>【</a:t>
            </a:r>
            <a:r>
              <a:rPr lang="zh-CN" altLang="en-US" sz="3600" b="1" dirty="0"/>
              <a:t>例</a:t>
            </a:r>
            <a:r>
              <a:rPr lang="en-US" altLang="zh-CN" sz="3600" b="1" dirty="0"/>
              <a:t>1a】</a:t>
            </a:r>
            <a:r>
              <a:rPr lang="zh-CN" altLang="en-US" sz="3600" b="1" dirty="0">
                <a:solidFill>
                  <a:srgbClr val="F52EFC"/>
                </a:solidFill>
              </a:rPr>
              <a:t>反序</a:t>
            </a:r>
            <a:endParaRPr lang="zh-CN" altLang="en-US" sz="3600" b="1" dirty="0">
              <a:solidFill>
                <a:srgbClr val="F52EFC"/>
              </a:solidFill>
            </a:endParaRPr>
          </a:p>
        </p:txBody>
      </p:sp>
      <p:grpSp>
        <p:nvGrpSpPr>
          <p:cNvPr id="53251" name="Group 66"/>
          <p:cNvGrpSpPr/>
          <p:nvPr/>
        </p:nvGrpSpPr>
        <p:grpSpPr bwMode="auto">
          <a:xfrm>
            <a:off x="1774825" y="1700213"/>
            <a:ext cx="5027613" cy="1506537"/>
            <a:chOff x="158" y="1071"/>
            <a:chExt cx="3167" cy="949"/>
          </a:xfrm>
        </p:grpSpPr>
        <p:sp>
          <p:nvSpPr>
            <p:cNvPr id="53271" name="Rectangle 7"/>
            <p:cNvSpPr>
              <a:spLocks noChangeArrowheads="1"/>
            </p:cNvSpPr>
            <p:nvPr/>
          </p:nvSpPr>
          <p:spPr bwMode="auto">
            <a:xfrm flipH="1">
              <a:off x="158" y="1071"/>
              <a:ext cx="44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/>
                <a:t>head</a:t>
              </a:r>
              <a:endParaRPr lang="en-US" altLang="zh-CN" sz="2000"/>
            </a:p>
          </p:txBody>
        </p:sp>
        <p:sp>
          <p:nvSpPr>
            <p:cNvPr id="53272" name="Rectangle 9"/>
            <p:cNvSpPr>
              <a:spLocks noChangeArrowheads="1"/>
            </p:cNvSpPr>
            <p:nvPr/>
          </p:nvSpPr>
          <p:spPr bwMode="auto">
            <a:xfrm flipH="1">
              <a:off x="637" y="1137"/>
              <a:ext cx="409" cy="2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grpSp>
          <p:nvGrpSpPr>
            <p:cNvPr id="53273" name="Group 12"/>
            <p:cNvGrpSpPr/>
            <p:nvPr/>
          </p:nvGrpSpPr>
          <p:grpSpPr bwMode="auto">
            <a:xfrm flipH="1">
              <a:off x="2879" y="1439"/>
              <a:ext cx="446" cy="554"/>
              <a:chOff x="0" y="0"/>
              <a:chExt cx="20000" cy="20000"/>
            </a:xfrm>
          </p:grpSpPr>
          <p:sp>
            <p:nvSpPr>
              <p:cNvPr id="53285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45</a:t>
                </a:r>
                <a:endParaRPr lang="en-US" altLang="zh-CN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800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800"/>
                  <a:t>NULL</a:t>
                </a:r>
                <a:endParaRPr lang="en-US" altLang="zh-CN" sz="1800"/>
              </a:p>
            </p:txBody>
          </p:sp>
          <p:sp>
            <p:nvSpPr>
              <p:cNvPr id="53286" name="Line 14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74" name="Freeform 18"/>
            <p:cNvSpPr/>
            <p:nvPr/>
          </p:nvSpPr>
          <p:spPr bwMode="auto">
            <a:xfrm flipH="1">
              <a:off x="2471" y="1525"/>
              <a:ext cx="409" cy="3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5" name="Freeform 20"/>
            <p:cNvSpPr/>
            <p:nvPr/>
          </p:nvSpPr>
          <p:spPr bwMode="auto">
            <a:xfrm flipH="1">
              <a:off x="1973" y="1520"/>
              <a:ext cx="410" cy="3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3276" name="Group 21"/>
            <p:cNvGrpSpPr/>
            <p:nvPr/>
          </p:nvGrpSpPr>
          <p:grpSpPr bwMode="auto">
            <a:xfrm flipH="1">
              <a:off x="1738" y="1454"/>
              <a:ext cx="447" cy="566"/>
              <a:chOff x="0" y="0"/>
              <a:chExt cx="20000" cy="20000"/>
            </a:xfrm>
          </p:grpSpPr>
          <p:sp>
            <p:nvSpPr>
              <p:cNvPr id="53283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21</a:t>
                </a:r>
                <a:endParaRPr lang="en-US" altLang="zh-CN"/>
              </a:p>
            </p:txBody>
          </p:sp>
          <p:sp>
            <p:nvSpPr>
              <p:cNvPr id="53284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3277" name="Group 24"/>
            <p:cNvGrpSpPr/>
            <p:nvPr/>
          </p:nvGrpSpPr>
          <p:grpSpPr bwMode="auto">
            <a:xfrm flipH="1">
              <a:off x="1058" y="1454"/>
              <a:ext cx="446" cy="566"/>
              <a:chOff x="0" y="0"/>
              <a:chExt cx="20000" cy="20000"/>
            </a:xfrm>
          </p:grpSpPr>
          <p:sp>
            <p:nvSpPr>
              <p:cNvPr id="53281" name="Rectangle 2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13</a:t>
                </a:r>
                <a:endParaRPr lang="en-US" altLang="zh-CN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3282" name="Line 26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78" name="Freeform 27"/>
            <p:cNvSpPr/>
            <p:nvPr/>
          </p:nvSpPr>
          <p:spPr bwMode="auto">
            <a:xfrm flipH="1">
              <a:off x="1305" y="1520"/>
              <a:ext cx="409" cy="39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279" name="Rectangle 28"/>
            <p:cNvSpPr>
              <a:spLocks noChangeArrowheads="1"/>
            </p:cNvSpPr>
            <p:nvPr/>
          </p:nvSpPr>
          <p:spPr bwMode="auto">
            <a:xfrm flipH="1">
              <a:off x="2320" y="1601"/>
              <a:ext cx="42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/>
                <a:t>...</a:t>
              </a:r>
              <a:endParaRPr lang="zh-CN" altLang="en-US"/>
            </a:p>
          </p:txBody>
        </p:sp>
        <p:sp>
          <p:nvSpPr>
            <p:cNvPr id="53280" name="Freeform 29"/>
            <p:cNvSpPr/>
            <p:nvPr/>
          </p:nvSpPr>
          <p:spPr bwMode="auto">
            <a:xfrm flipH="1">
              <a:off x="823" y="1268"/>
              <a:ext cx="223" cy="320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65"/>
          <p:cNvGrpSpPr/>
          <p:nvPr/>
        </p:nvGrpSpPr>
        <p:grpSpPr bwMode="auto">
          <a:xfrm>
            <a:off x="3000375" y="3933825"/>
            <a:ext cx="4810125" cy="1762125"/>
            <a:chOff x="930" y="2478"/>
            <a:chExt cx="3030" cy="1110"/>
          </a:xfrm>
        </p:grpSpPr>
        <p:grpSp>
          <p:nvGrpSpPr>
            <p:cNvPr id="53255" name="Group 57"/>
            <p:cNvGrpSpPr/>
            <p:nvPr/>
          </p:nvGrpSpPr>
          <p:grpSpPr bwMode="auto">
            <a:xfrm flipH="1">
              <a:off x="2925" y="3022"/>
              <a:ext cx="446" cy="566"/>
              <a:chOff x="0" y="0"/>
              <a:chExt cx="20000" cy="20000"/>
            </a:xfrm>
          </p:grpSpPr>
          <p:sp>
            <p:nvSpPr>
              <p:cNvPr id="53269" name="Rectangle 5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45</a:t>
                </a:r>
                <a:endParaRPr lang="en-US" altLang="zh-CN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/>
              </a:p>
            </p:txBody>
          </p:sp>
          <p:sp>
            <p:nvSpPr>
              <p:cNvPr id="53270" name="Line 59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56" name="Rectangle 44"/>
            <p:cNvSpPr>
              <a:spLocks noChangeArrowheads="1"/>
            </p:cNvSpPr>
            <p:nvPr/>
          </p:nvSpPr>
          <p:spPr bwMode="auto">
            <a:xfrm flipH="1">
              <a:off x="3515" y="2478"/>
              <a:ext cx="445" cy="2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52EFC"/>
                  </a:solidFill>
                </a:rPr>
                <a:t>head</a:t>
              </a:r>
              <a:endParaRPr lang="en-US" altLang="zh-CN" sz="2000">
                <a:solidFill>
                  <a:srgbClr val="F52EFC"/>
                </a:solidFill>
              </a:endParaRPr>
            </a:p>
          </p:txBody>
        </p:sp>
        <p:sp>
          <p:nvSpPr>
            <p:cNvPr id="53257" name="Rectangle 45"/>
            <p:cNvSpPr>
              <a:spLocks noChangeArrowheads="1"/>
            </p:cNvSpPr>
            <p:nvPr/>
          </p:nvSpPr>
          <p:spPr bwMode="auto">
            <a:xfrm flipH="1">
              <a:off x="3515" y="2750"/>
              <a:ext cx="409" cy="232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/>
            </a:p>
          </p:txBody>
        </p:sp>
        <p:grpSp>
          <p:nvGrpSpPr>
            <p:cNvPr id="53258" name="Group 46"/>
            <p:cNvGrpSpPr/>
            <p:nvPr/>
          </p:nvGrpSpPr>
          <p:grpSpPr bwMode="auto">
            <a:xfrm flipH="1">
              <a:off x="930" y="3022"/>
              <a:ext cx="446" cy="554"/>
              <a:chOff x="0" y="0"/>
              <a:chExt cx="20000" cy="20000"/>
            </a:xfrm>
          </p:grpSpPr>
          <p:sp>
            <p:nvSpPr>
              <p:cNvPr id="53267" name="Rectangle 4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800"/>
                  <a:t>13</a:t>
                </a:r>
                <a:endParaRPr lang="en-US" altLang="zh-CN" sz="2800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zh-CN" sz="1000"/>
              </a:p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600"/>
                  <a:t>NULL</a:t>
                </a:r>
                <a:endParaRPr lang="en-US" altLang="zh-CN" sz="1600"/>
              </a:p>
            </p:txBody>
          </p:sp>
          <p:sp>
            <p:nvSpPr>
              <p:cNvPr id="53268" name="Line 48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59" name="Freeform 49"/>
            <p:cNvSpPr/>
            <p:nvPr/>
          </p:nvSpPr>
          <p:spPr bwMode="auto">
            <a:xfrm>
              <a:off x="2654" y="3113"/>
              <a:ext cx="453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52EFC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grpSp>
          <p:nvGrpSpPr>
            <p:cNvPr id="53260" name="Group 51"/>
            <p:cNvGrpSpPr/>
            <p:nvPr/>
          </p:nvGrpSpPr>
          <p:grpSpPr bwMode="auto">
            <a:xfrm flipH="1">
              <a:off x="1791" y="3000"/>
              <a:ext cx="447" cy="566"/>
              <a:chOff x="0" y="0"/>
              <a:chExt cx="20000" cy="20000"/>
            </a:xfrm>
          </p:grpSpPr>
          <p:sp>
            <p:nvSpPr>
              <p:cNvPr id="53265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just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/>
                  <a:t>21</a:t>
                </a:r>
                <a:endParaRPr lang="en-US" altLang="zh-CN"/>
              </a:p>
            </p:txBody>
          </p:sp>
          <p:sp>
            <p:nvSpPr>
              <p:cNvPr id="53266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3261" name="Rectangle 55"/>
            <p:cNvSpPr>
              <a:spLocks noChangeArrowheads="1"/>
            </p:cNvSpPr>
            <p:nvPr/>
          </p:nvSpPr>
          <p:spPr bwMode="auto">
            <a:xfrm flipH="1">
              <a:off x="2426" y="3158"/>
              <a:ext cx="423" cy="2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/>
                <a:t>...</a:t>
              </a:r>
              <a:endParaRPr lang="zh-CN" altLang="en-US"/>
            </a:p>
          </p:txBody>
        </p:sp>
        <p:sp>
          <p:nvSpPr>
            <p:cNvPr id="53262" name="Freeform 56"/>
            <p:cNvSpPr/>
            <p:nvPr/>
          </p:nvSpPr>
          <p:spPr bwMode="auto">
            <a:xfrm>
              <a:off x="3379" y="2886"/>
              <a:ext cx="317" cy="27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rgbClr val="F52EFC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53263" name="Freeform 60"/>
            <p:cNvSpPr/>
            <p:nvPr/>
          </p:nvSpPr>
          <p:spPr bwMode="auto">
            <a:xfrm>
              <a:off x="2245" y="3113"/>
              <a:ext cx="453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52EFC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noAutofit/>
            </a:bodyPr>
            <a:lstStyle/>
            <a:p>
              <a:pPr lvl="0" algn="l">
                <a:buClrTx/>
                <a:buSzTx/>
                <a:buFontTx/>
              </a:pPr>
              <a:endParaRPr lang="zh-CN" altLang="en-US" sz="1800">
                <a:sym typeface="+mn-ea"/>
              </a:endParaRPr>
            </a:p>
          </p:txBody>
        </p:sp>
        <p:sp>
          <p:nvSpPr>
            <p:cNvPr id="53264" name="Freeform 61"/>
            <p:cNvSpPr/>
            <p:nvPr/>
          </p:nvSpPr>
          <p:spPr bwMode="auto">
            <a:xfrm>
              <a:off x="1384" y="3113"/>
              <a:ext cx="543" cy="408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rgbClr val="F52EFC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" name="灯片编号占位符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6DCAE08-13BC-4AEF-A6D5-C9BEE7EF1454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7BDCE1C-A963-44F4-89E5-0818B78DC39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4275" name="Rectangle 22"/>
          <p:cNvSpPr>
            <a:spLocks noChangeArrowheads="1"/>
          </p:cNvSpPr>
          <p:nvPr/>
        </p:nvSpPr>
        <p:spPr bwMode="auto">
          <a:xfrm>
            <a:off x="1465263" y="2746375"/>
            <a:ext cx="1354137" cy="503238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428055" name="Rectangle 23"/>
          <p:cNvSpPr>
            <a:spLocks noChangeArrowheads="1"/>
          </p:cNvSpPr>
          <p:nvPr/>
        </p:nvSpPr>
        <p:spPr bwMode="auto">
          <a:xfrm>
            <a:off x="1077913" y="5421313"/>
            <a:ext cx="10036175" cy="132238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if(head==NULL ||head-&gt;next==NULL) </a:t>
            </a:r>
            <a:endParaRPr lang="en-US" altLang="zh-CN" sz="40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40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	</a:t>
            </a:r>
            <a:r>
              <a:rPr lang="en-US" altLang="zh-CN" sz="4000" dirty="0">
                <a:solidFill>
                  <a:srgbClr val="F52E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return head;</a:t>
            </a:r>
            <a:endParaRPr lang="en-US" altLang="zh-CN" sz="4000" dirty="0">
              <a:solidFill>
                <a:srgbClr val="F52EF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grpSp>
        <p:nvGrpSpPr>
          <p:cNvPr id="54277" name="Group 25"/>
          <p:cNvGrpSpPr/>
          <p:nvPr/>
        </p:nvGrpSpPr>
        <p:grpSpPr bwMode="auto">
          <a:xfrm>
            <a:off x="8051800" y="2881313"/>
            <a:ext cx="1701800" cy="1323975"/>
            <a:chOff x="2974" y="2896"/>
            <a:chExt cx="478" cy="516"/>
          </a:xfrm>
        </p:grpSpPr>
        <p:sp>
          <p:nvSpPr>
            <p:cNvPr id="54288" name="Rectangle 26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4289" name="Line 27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4278" name="Freeform 28"/>
          <p:cNvSpPr/>
          <p:nvPr/>
        </p:nvSpPr>
        <p:spPr bwMode="auto">
          <a:xfrm flipV="1">
            <a:off x="7045325" y="3024188"/>
            <a:ext cx="1008063" cy="290512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0 h 20000"/>
              <a:gd name="T4" fmla="*/ 0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279" name="Text Box 29"/>
          <p:cNvSpPr txBox="1">
            <a:spLocks noChangeArrowheads="1"/>
          </p:cNvSpPr>
          <p:nvPr/>
        </p:nvSpPr>
        <p:spPr bwMode="auto">
          <a:xfrm>
            <a:off x="8307388" y="3746500"/>
            <a:ext cx="185261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NULL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54280" name="Rectangle 30"/>
          <p:cNvSpPr>
            <a:spLocks noChangeArrowheads="1"/>
          </p:cNvSpPr>
          <p:nvPr/>
        </p:nvSpPr>
        <p:spPr bwMode="auto">
          <a:xfrm>
            <a:off x="5999163" y="2252663"/>
            <a:ext cx="1295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head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54281" name="Rectangle 31"/>
          <p:cNvSpPr>
            <a:spLocks noChangeArrowheads="1"/>
          </p:cNvSpPr>
          <p:nvPr/>
        </p:nvSpPr>
        <p:spPr bwMode="auto">
          <a:xfrm>
            <a:off x="6016625" y="2736850"/>
            <a:ext cx="1295400" cy="503238"/>
          </a:xfrm>
          <a:prstGeom prst="rect">
            <a:avLst/>
          </a:prstGeom>
          <a:noFill/>
          <a:ln w="38100" algn="ctr">
            <a:solidFill>
              <a:schemeClr val="tx1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54282" name="Rectangle 36"/>
          <p:cNvSpPr>
            <a:spLocks noChangeArrowheads="1"/>
          </p:cNvSpPr>
          <p:nvPr/>
        </p:nvSpPr>
        <p:spPr bwMode="auto">
          <a:xfrm>
            <a:off x="1582738" y="2166938"/>
            <a:ext cx="1631950" cy="598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head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54283" name="Text Box 37"/>
          <p:cNvSpPr txBox="1">
            <a:spLocks noChangeArrowheads="1"/>
          </p:cNvSpPr>
          <p:nvPr/>
        </p:nvSpPr>
        <p:spPr bwMode="auto">
          <a:xfrm>
            <a:off x="1614488" y="2746375"/>
            <a:ext cx="1479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NULL</a:t>
            </a:r>
            <a:endParaRPr lang="en-US" altLang="zh-CN" sz="2800">
              <a:latin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5088" y="69850"/>
            <a:ext cx="7886700" cy="12001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3600" dirty="0">
                <a:solidFill>
                  <a:srgbClr val="F52EFC"/>
                </a:solidFill>
                <a:latin typeface="+mj-ea"/>
                <a:ea typeface="+mj-ea"/>
              </a:rPr>
              <a:t>链表反序：</a:t>
            </a:r>
            <a:endParaRPr lang="en-US" altLang="zh-CN" sz="3600" dirty="0">
              <a:solidFill>
                <a:srgbClr val="F52EFC"/>
              </a:solidFill>
              <a:latin typeface="+mj-ea"/>
              <a:ea typeface="+mj-ea"/>
            </a:endParaRPr>
          </a:p>
          <a:p>
            <a:pPr>
              <a:defRPr/>
            </a:pPr>
            <a:r>
              <a:rPr lang="en-US" altLang="zh-CN" sz="3600" dirty="0">
                <a:solidFill>
                  <a:srgbClr val="FFFF00"/>
                </a:solidFill>
                <a:latin typeface="+mj-ea"/>
                <a:ea typeface="+mj-ea"/>
              </a:rPr>
              <a:t>1</a:t>
            </a:r>
            <a:r>
              <a:rPr lang="zh-CN" altLang="en-US" sz="3600" dirty="0">
                <a:solidFill>
                  <a:srgbClr val="FFFF00"/>
                </a:solidFill>
                <a:latin typeface="+mj-ea"/>
                <a:ea typeface="+mj-ea"/>
              </a:rPr>
              <a:t>）表空，或一个结点的情况</a:t>
            </a:r>
            <a:endParaRPr lang="zh-CN" altLang="en-US" sz="3600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54286" name="文本框 2"/>
          <p:cNvSpPr txBox="1">
            <a:spLocks noChangeArrowheads="1"/>
          </p:cNvSpPr>
          <p:nvPr/>
        </p:nvSpPr>
        <p:spPr bwMode="auto">
          <a:xfrm>
            <a:off x="1714500" y="4124325"/>
            <a:ext cx="11049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空表</a:t>
            </a:r>
            <a:endParaRPr lang="zh-CN" altLang="en-US" sz="2800">
              <a:solidFill>
                <a:srgbClr val="FFFF00"/>
              </a:solidFill>
            </a:endParaRPr>
          </a:p>
        </p:txBody>
      </p: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7004050" y="4295775"/>
            <a:ext cx="2486025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一个结点</a:t>
            </a:r>
            <a:endParaRPr lang="zh-CN" altLang="en-US" sz="280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2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55" grpId="0" bldLvl="0" animBg="1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auto">
          <a:xfrm>
            <a:off x="1949450" y="715963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55299" name="Group 3"/>
          <p:cNvGrpSpPr/>
          <p:nvPr/>
        </p:nvGrpSpPr>
        <p:grpSpPr bwMode="auto">
          <a:xfrm>
            <a:off x="3194050" y="766763"/>
            <a:ext cx="758825" cy="1366837"/>
            <a:chOff x="2974" y="2896"/>
            <a:chExt cx="478" cy="516"/>
          </a:xfrm>
        </p:grpSpPr>
        <p:sp>
          <p:nvSpPr>
            <p:cNvPr id="55362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63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00" name="Freeform 6"/>
          <p:cNvSpPr/>
          <p:nvPr/>
        </p:nvSpPr>
        <p:spPr bwMode="auto">
          <a:xfrm>
            <a:off x="6938963" y="1125538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5301" name="Group 7"/>
          <p:cNvGrpSpPr/>
          <p:nvPr/>
        </p:nvGrpSpPr>
        <p:grpSpPr bwMode="auto">
          <a:xfrm>
            <a:off x="4778375" y="766763"/>
            <a:ext cx="758825" cy="1366837"/>
            <a:chOff x="2974" y="2896"/>
            <a:chExt cx="478" cy="516"/>
          </a:xfrm>
        </p:grpSpPr>
        <p:sp>
          <p:nvSpPr>
            <p:cNvPr id="55360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61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02" name="Group 10"/>
          <p:cNvGrpSpPr/>
          <p:nvPr/>
        </p:nvGrpSpPr>
        <p:grpSpPr bwMode="auto">
          <a:xfrm>
            <a:off x="6396038" y="766763"/>
            <a:ext cx="758825" cy="1366837"/>
            <a:chOff x="2974" y="2896"/>
            <a:chExt cx="478" cy="516"/>
          </a:xfrm>
        </p:grpSpPr>
        <p:sp>
          <p:nvSpPr>
            <p:cNvPr id="55358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9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5303" name="Group 13"/>
          <p:cNvGrpSpPr/>
          <p:nvPr/>
        </p:nvGrpSpPr>
        <p:grpSpPr bwMode="auto">
          <a:xfrm>
            <a:off x="7980363" y="766763"/>
            <a:ext cx="758825" cy="1366837"/>
            <a:chOff x="2974" y="2896"/>
            <a:chExt cx="478" cy="516"/>
          </a:xfrm>
        </p:grpSpPr>
        <p:sp>
          <p:nvSpPr>
            <p:cNvPr id="55356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7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5304" name="Freeform 16"/>
          <p:cNvSpPr/>
          <p:nvPr/>
        </p:nvSpPr>
        <p:spPr bwMode="auto">
          <a:xfrm>
            <a:off x="5354638" y="1055688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5" name="Freeform 17"/>
          <p:cNvSpPr/>
          <p:nvPr/>
        </p:nvSpPr>
        <p:spPr bwMode="auto">
          <a:xfrm>
            <a:off x="3698875" y="1125538"/>
            <a:ext cx="1008063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6" name="Freeform 21"/>
          <p:cNvSpPr/>
          <p:nvPr/>
        </p:nvSpPr>
        <p:spPr bwMode="auto">
          <a:xfrm flipV="1">
            <a:off x="2187575" y="766763"/>
            <a:ext cx="1008063" cy="433387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07" name="Text Box 45"/>
          <p:cNvSpPr txBox="1">
            <a:spLocks noChangeArrowheads="1"/>
          </p:cNvSpPr>
          <p:nvPr/>
        </p:nvSpPr>
        <p:spPr bwMode="auto">
          <a:xfrm>
            <a:off x="7969250" y="17018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55308" name="Text Box 59"/>
          <p:cNvSpPr txBox="1">
            <a:spLocks noChangeArrowheads="1"/>
          </p:cNvSpPr>
          <p:nvPr/>
        </p:nvSpPr>
        <p:spPr bwMode="auto">
          <a:xfrm>
            <a:off x="131763" y="92075"/>
            <a:ext cx="7046912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2</a:t>
            </a: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）多个结点的情况</a:t>
            </a:r>
            <a:endParaRPr lang="zh-CN" altLang="en-US">
              <a:solidFill>
                <a:schemeClr val="hlink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grpSp>
        <p:nvGrpSpPr>
          <p:cNvPr id="6" name="Group 3"/>
          <p:cNvGrpSpPr/>
          <p:nvPr/>
        </p:nvGrpSpPr>
        <p:grpSpPr bwMode="auto">
          <a:xfrm>
            <a:off x="3216275" y="4954588"/>
            <a:ext cx="758825" cy="1366837"/>
            <a:chOff x="2974" y="2896"/>
            <a:chExt cx="478" cy="516"/>
          </a:xfrm>
        </p:grpSpPr>
        <p:sp>
          <p:nvSpPr>
            <p:cNvPr id="55354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5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6" name="Freeform 6"/>
          <p:cNvSpPr/>
          <p:nvPr/>
        </p:nvSpPr>
        <p:spPr bwMode="auto">
          <a:xfrm>
            <a:off x="6961188" y="5313363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7"/>
          <p:cNvGrpSpPr/>
          <p:nvPr/>
        </p:nvGrpSpPr>
        <p:grpSpPr bwMode="auto">
          <a:xfrm>
            <a:off x="4800600" y="4954588"/>
            <a:ext cx="758825" cy="1366837"/>
            <a:chOff x="2974" y="2896"/>
            <a:chExt cx="478" cy="516"/>
          </a:xfrm>
        </p:grpSpPr>
        <p:sp>
          <p:nvSpPr>
            <p:cNvPr id="55352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3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0"/>
          <p:cNvGrpSpPr/>
          <p:nvPr/>
        </p:nvGrpSpPr>
        <p:grpSpPr bwMode="auto">
          <a:xfrm>
            <a:off x="6418263" y="4954588"/>
            <a:ext cx="758825" cy="1366837"/>
            <a:chOff x="2974" y="2896"/>
            <a:chExt cx="478" cy="516"/>
          </a:xfrm>
        </p:grpSpPr>
        <p:sp>
          <p:nvSpPr>
            <p:cNvPr id="55350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51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3"/>
          <p:cNvGrpSpPr/>
          <p:nvPr/>
        </p:nvGrpSpPr>
        <p:grpSpPr bwMode="auto">
          <a:xfrm>
            <a:off x="8002588" y="4954588"/>
            <a:ext cx="758825" cy="1366837"/>
            <a:chOff x="2974" y="2896"/>
            <a:chExt cx="478" cy="516"/>
          </a:xfrm>
        </p:grpSpPr>
        <p:sp>
          <p:nvSpPr>
            <p:cNvPr id="55348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9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8" name="Freeform 18"/>
          <p:cNvSpPr/>
          <p:nvPr/>
        </p:nvSpPr>
        <p:spPr bwMode="auto">
          <a:xfrm flipH="1">
            <a:off x="3937000" y="5314950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82" name="Line 39"/>
          <p:cNvSpPr>
            <a:spLocks noChangeShapeType="1"/>
          </p:cNvSpPr>
          <p:nvPr/>
        </p:nvSpPr>
        <p:spPr bwMode="auto">
          <a:xfrm>
            <a:off x="3498850" y="4422775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3" name="Text Box 40"/>
          <p:cNvSpPr txBox="1">
            <a:spLocks noChangeArrowheads="1"/>
          </p:cNvSpPr>
          <p:nvPr/>
        </p:nvSpPr>
        <p:spPr bwMode="auto">
          <a:xfrm>
            <a:off x="3606800" y="4365625"/>
            <a:ext cx="595313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p0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85" name="Line 42"/>
          <p:cNvSpPr>
            <a:spLocks noChangeShapeType="1"/>
          </p:cNvSpPr>
          <p:nvPr/>
        </p:nvSpPr>
        <p:spPr bwMode="auto">
          <a:xfrm>
            <a:off x="5233988" y="441325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86" name="Text Box 44"/>
          <p:cNvSpPr txBox="1">
            <a:spLocks noChangeArrowheads="1"/>
          </p:cNvSpPr>
          <p:nvPr/>
        </p:nvSpPr>
        <p:spPr bwMode="auto">
          <a:xfrm>
            <a:off x="3162935" y="5881688"/>
            <a:ext cx="935038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87" name="Text Box 45"/>
          <p:cNvSpPr txBox="1">
            <a:spLocks noChangeArrowheads="1"/>
          </p:cNvSpPr>
          <p:nvPr/>
        </p:nvSpPr>
        <p:spPr bwMode="auto">
          <a:xfrm>
            <a:off x="7991475" y="5889625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88" name="Rectangle 46"/>
          <p:cNvSpPr>
            <a:spLocks noChangeArrowheads="1"/>
          </p:cNvSpPr>
          <p:nvPr/>
        </p:nvSpPr>
        <p:spPr bwMode="auto">
          <a:xfrm>
            <a:off x="5324475" y="4435475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89" name="Text Box 47"/>
          <p:cNvSpPr txBox="1">
            <a:spLocks noChangeArrowheads="1"/>
          </p:cNvSpPr>
          <p:nvPr/>
        </p:nvSpPr>
        <p:spPr bwMode="auto">
          <a:xfrm>
            <a:off x="6818313" y="4391025"/>
            <a:ext cx="360362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90" name="Line 48"/>
          <p:cNvSpPr>
            <a:spLocks noChangeShapeType="1"/>
          </p:cNvSpPr>
          <p:nvPr/>
        </p:nvSpPr>
        <p:spPr bwMode="auto">
          <a:xfrm>
            <a:off x="6818313" y="445135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5324" name="矩形 8"/>
          <p:cNvSpPr>
            <a:spLocks noChangeArrowheads="1"/>
          </p:cNvSpPr>
          <p:nvPr/>
        </p:nvSpPr>
        <p:spPr bwMode="auto">
          <a:xfrm>
            <a:off x="4776788" y="6362700"/>
            <a:ext cx="204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（反序思路）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10" name="Group 3"/>
          <p:cNvGrpSpPr/>
          <p:nvPr/>
        </p:nvGrpSpPr>
        <p:grpSpPr bwMode="auto">
          <a:xfrm>
            <a:off x="3216275" y="2782888"/>
            <a:ext cx="758825" cy="1366837"/>
            <a:chOff x="2974" y="2896"/>
            <a:chExt cx="478" cy="516"/>
          </a:xfrm>
        </p:grpSpPr>
        <p:sp>
          <p:nvSpPr>
            <p:cNvPr id="55346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7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6"/>
          <p:cNvSpPr/>
          <p:nvPr/>
        </p:nvSpPr>
        <p:spPr bwMode="auto">
          <a:xfrm>
            <a:off x="6961188" y="3141663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7"/>
          <p:cNvGrpSpPr/>
          <p:nvPr/>
        </p:nvGrpSpPr>
        <p:grpSpPr bwMode="auto">
          <a:xfrm>
            <a:off x="4800600" y="2782888"/>
            <a:ext cx="758825" cy="1366837"/>
            <a:chOff x="2974" y="2896"/>
            <a:chExt cx="478" cy="516"/>
          </a:xfrm>
        </p:grpSpPr>
        <p:sp>
          <p:nvSpPr>
            <p:cNvPr id="55344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5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10"/>
          <p:cNvGrpSpPr/>
          <p:nvPr/>
        </p:nvGrpSpPr>
        <p:grpSpPr bwMode="auto">
          <a:xfrm>
            <a:off x="6418263" y="2782888"/>
            <a:ext cx="758825" cy="1366837"/>
            <a:chOff x="2974" y="2896"/>
            <a:chExt cx="478" cy="516"/>
          </a:xfrm>
        </p:grpSpPr>
        <p:sp>
          <p:nvSpPr>
            <p:cNvPr id="55342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3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3" name="Group 13"/>
          <p:cNvGrpSpPr/>
          <p:nvPr/>
        </p:nvGrpSpPr>
        <p:grpSpPr bwMode="auto">
          <a:xfrm>
            <a:off x="8002588" y="2782888"/>
            <a:ext cx="758825" cy="1366837"/>
            <a:chOff x="2974" y="2896"/>
            <a:chExt cx="478" cy="516"/>
          </a:xfrm>
        </p:grpSpPr>
        <p:sp>
          <p:nvSpPr>
            <p:cNvPr id="55340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41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" name="Line 42"/>
          <p:cNvSpPr>
            <a:spLocks noChangeShapeType="1"/>
          </p:cNvSpPr>
          <p:nvPr/>
        </p:nvSpPr>
        <p:spPr bwMode="auto">
          <a:xfrm>
            <a:off x="5233988" y="227965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62" name="Text Box 44"/>
          <p:cNvSpPr txBox="1">
            <a:spLocks noChangeArrowheads="1"/>
          </p:cNvSpPr>
          <p:nvPr/>
        </p:nvSpPr>
        <p:spPr bwMode="auto">
          <a:xfrm>
            <a:off x="3162935" y="3709988"/>
            <a:ext cx="935038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64" name="Text Box 45"/>
          <p:cNvSpPr txBox="1">
            <a:spLocks noChangeArrowheads="1"/>
          </p:cNvSpPr>
          <p:nvPr/>
        </p:nvSpPr>
        <p:spPr bwMode="auto">
          <a:xfrm>
            <a:off x="7991475" y="3717925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65" name="Rectangle 46"/>
          <p:cNvSpPr txBox="1">
            <a:spLocks noChangeArrowheads="1"/>
          </p:cNvSpPr>
          <p:nvPr/>
        </p:nvSpPr>
        <p:spPr bwMode="auto">
          <a:xfrm>
            <a:off x="5307013" y="2349500"/>
            <a:ext cx="80645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1440" tIns="45720" rIns="91440" bIns="4572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grpSp>
        <p:nvGrpSpPr>
          <p:cNvPr id="14" name="组合 1"/>
          <p:cNvGrpSpPr/>
          <p:nvPr/>
        </p:nvGrpSpPr>
        <p:grpSpPr bwMode="auto">
          <a:xfrm>
            <a:off x="1973263" y="2693988"/>
            <a:ext cx="1206500" cy="501650"/>
            <a:chOff x="448669" y="2693510"/>
            <a:chExt cx="1206501" cy="501737"/>
          </a:xfrm>
        </p:grpSpPr>
        <p:sp>
          <p:nvSpPr>
            <p:cNvPr id="55338" name="Rectangle 2"/>
            <p:cNvSpPr>
              <a:spLocks noChangeArrowheads="1"/>
            </p:cNvSpPr>
            <p:nvPr/>
          </p:nvSpPr>
          <p:spPr bwMode="auto">
            <a:xfrm>
              <a:off x="448669" y="2693510"/>
              <a:ext cx="77152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head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5339" name="Freeform 21"/>
            <p:cNvSpPr/>
            <p:nvPr/>
          </p:nvSpPr>
          <p:spPr bwMode="auto">
            <a:xfrm flipV="1">
              <a:off x="647107" y="2761860"/>
              <a:ext cx="1008063" cy="433387"/>
            </a:xfrm>
            <a:custGeom>
              <a:avLst/>
              <a:gdLst>
                <a:gd name="T0" fmla="*/ 0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2147483646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19945"/>
                  </a:moveTo>
                  <a:lnTo>
                    <a:pt x="10893" y="19945"/>
                  </a:lnTo>
                  <a:lnTo>
                    <a:pt x="14523" y="0"/>
                  </a:lnTo>
                  <a:lnTo>
                    <a:pt x="1997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4" name="Freeform 16"/>
          <p:cNvSpPr/>
          <p:nvPr/>
        </p:nvSpPr>
        <p:spPr bwMode="auto">
          <a:xfrm>
            <a:off x="5451475" y="3117850"/>
            <a:ext cx="1008063" cy="79851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336" name="文本框 1"/>
          <p:cNvSpPr txBox="1">
            <a:spLocks noChangeArrowheads="1"/>
          </p:cNvSpPr>
          <p:nvPr/>
        </p:nvSpPr>
        <p:spPr bwMode="auto">
          <a:xfrm>
            <a:off x="8904288" y="3192463"/>
            <a:ext cx="1633537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</a:rPr>
              <a:t>表头变表尾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67" name="文本框 66"/>
          <p:cNvSpPr txBox="1">
            <a:spLocks noChangeArrowheads="1"/>
          </p:cNvSpPr>
          <p:nvPr/>
        </p:nvSpPr>
        <p:spPr bwMode="auto">
          <a:xfrm>
            <a:off x="8732838" y="5359400"/>
            <a:ext cx="1804987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记录</a:t>
            </a: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3</a:t>
            </a: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个结点的地址，反序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Freeform 16"/>
          <p:cNvSpPr/>
          <p:nvPr/>
        </p:nvSpPr>
        <p:spPr bwMode="auto">
          <a:xfrm>
            <a:off x="5451475" y="5257800"/>
            <a:ext cx="1008063" cy="79851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p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/>
      <p:bldP spid="86" grpId="0"/>
      <p:bldP spid="87" grpId="0"/>
      <p:bldP spid="88" grpId="0"/>
      <p:bldP spid="89" grpId="0"/>
      <p:bldP spid="62" grpId="0"/>
      <p:bldP spid="64" grpId="0"/>
      <p:bldP spid="65" grpId="0"/>
      <p:bldP spid="67" grpId="0"/>
      <p:bldP spid="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1F2FE16-0526-4A71-AA74-FDF96D9DCB2D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56324" name="Group 3"/>
          <p:cNvGrpSpPr/>
          <p:nvPr/>
        </p:nvGrpSpPr>
        <p:grpSpPr bwMode="auto">
          <a:xfrm>
            <a:off x="3124200" y="1055688"/>
            <a:ext cx="758825" cy="1366837"/>
            <a:chOff x="2974" y="2896"/>
            <a:chExt cx="478" cy="516"/>
          </a:xfrm>
        </p:grpSpPr>
        <p:sp>
          <p:nvSpPr>
            <p:cNvPr id="56369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70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25" name="Group 7"/>
          <p:cNvGrpSpPr/>
          <p:nvPr/>
        </p:nvGrpSpPr>
        <p:grpSpPr bwMode="auto">
          <a:xfrm>
            <a:off x="4708525" y="1055688"/>
            <a:ext cx="758825" cy="1366837"/>
            <a:chOff x="2974" y="2896"/>
            <a:chExt cx="478" cy="516"/>
          </a:xfrm>
        </p:grpSpPr>
        <p:sp>
          <p:nvSpPr>
            <p:cNvPr id="56367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8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26" name="Group 10"/>
          <p:cNvGrpSpPr/>
          <p:nvPr/>
        </p:nvGrpSpPr>
        <p:grpSpPr bwMode="auto">
          <a:xfrm>
            <a:off x="6326188" y="1055688"/>
            <a:ext cx="758825" cy="1366837"/>
            <a:chOff x="2974" y="2896"/>
            <a:chExt cx="478" cy="516"/>
          </a:xfrm>
        </p:grpSpPr>
        <p:sp>
          <p:nvSpPr>
            <p:cNvPr id="56365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6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6327" name="Group 13"/>
          <p:cNvGrpSpPr/>
          <p:nvPr/>
        </p:nvGrpSpPr>
        <p:grpSpPr bwMode="auto">
          <a:xfrm>
            <a:off x="7910513" y="1055688"/>
            <a:ext cx="758825" cy="1366837"/>
            <a:chOff x="2974" y="2896"/>
            <a:chExt cx="478" cy="516"/>
          </a:xfrm>
        </p:grpSpPr>
        <p:sp>
          <p:nvSpPr>
            <p:cNvPr id="56363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4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328" name="Freeform 18"/>
          <p:cNvSpPr/>
          <p:nvPr/>
        </p:nvSpPr>
        <p:spPr bwMode="auto">
          <a:xfrm flipH="1">
            <a:off x="3844925" y="1416050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95241" name="Freeform 19"/>
          <p:cNvSpPr/>
          <p:nvPr/>
        </p:nvSpPr>
        <p:spPr bwMode="auto">
          <a:xfrm flipH="1">
            <a:off x="5500688" y="1344613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56330" name="Line 42"/>
          <p:cNvSpPr>
            <a:spLocks noChangeShapeType="1"/>
          </p:cNvSpPr>
          <p:nvPr/>
        </p:nvSpPr>
        <p:spPr bwMode="auto">
          <a:xfrm>
            <a:off x="5141913" y="477838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331" name="Text Box 44"/>
          <p:cNvSpPr txBox="1">
            <a:spLocks noChangeArrowheads="1"/>
          </p:cNvSpPr>
          <p:nvPr/>
        </p:nvSpPr>
        <p:spPr bwMode="auto">
          <a:xfrm>
            <a:off x="3070860" y="1982788"/>
            <a:ext cx="935038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56332" name="Text Box 45"/>
          <p:cNvSpPr txBox="1">
            <a:spLocks noChangeArrowheads="1"/>
          </p:cNvSpPr>
          <p:nvPr/>
        </p:nvSpPr>
        <p:spPr bwMode="auto">
          <a:xfrm>
            <a:off x="7899400" y="1990725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sp>
        <p:nvSpPr>
          <p:cNvPr id="56333" name="Line 48"/>
          <p:cNvSpPr>
            <a:spLocks noChangeShapeType="1"/>
          </p:cNvSpPr>
          <p:nvPr/>
        </p:nvSpPr>
        <p:spPr bwMode="auto">
          <a:xfrm>
            <a:off x="6726238" y="477838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334" name="Text Box 49"/>
          <p:cNvSpPr txBox="1">
            <a:spLocks noChangeArrowheads="1"/>
          </p:cNvSpPr>
          <p:nvPr/>
        </p:nvSpPr>
        <p:spPr bwMode="auto">
          <a:xfrm>
            <a:off x="5141913" y="438150"/>
            <a:ext cx="595312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p0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56335" name="Rectangle 50"/>
          <p:cNvSpPr>
            <a:spLocks noChangeArrowheads="1"/>
          </p:cNvSpPr>
          <p:nvPr/>
        </p:nvSpPr>
        <p:spPr bwMode="auto">
          <a:xfrm>
            <a:off x="6799263" y="498475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56336" name="Text Box 51"/>
          <p:cNvSpPr txBox="1">
            <a:spLocks noChangeArrowheads="1"/>
          </p:cNvSpPr>
          <p:nvPr/>
        </p:nvSpPr>
        <p:spPr bwMode="auto">
          <a:xfrm>
            <a:off x="8705850" y="333375"/>
            <a:ext cx="360363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56337" name="Line 52"/>
          <p:cNvSpPr>
            <a:spLocks noChangeShapeType="1"/>
          </p:cNvSpPr>
          <p:nvPr/>
        </p:nvSpPr>
        <p:spPr bwMode="auto">
          <a:xfrm>
            <a:off x="8331200" y="477838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6" name="Group 3"/>
          <p:cNvGrpSpPr/>
          <p:nvPr/>
        </p:nvGrpSpPr>
        <p:grpSpPr bwMode="auto">
          <a:xfrm>
            <a:off x="3071813" y="4006850"/>
            <a:ext cx="758825" cy="1366838"/>
            <a:chOff x="2974" y="2896"/>
            <a:chExt cx="478" cy="516"/>
          </a:xfrm>
        </p:grpSpPr>
        <p:sp>
          <p:nvSpPr>
            <p:cNvPr id="56361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2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7"/>
          <p:cNvGrpSpPr/>
          <p:nvPr/>
        </p:nvGrpSpPr>
        <p:grpSpPr bwMode="auto">
          <a:xfrm>
            <a:off x="4656138" y="4006850"/>
            <a:ext cx="758825" cy="1366838"/>
            <a:chOff x="2974" y="2896"/>
            <a:chExt cx="478" cy="516"/>
          </a:xfrm>
        </p:grpSpPr>
        <p:sp>
          <p:nvSpPr>
            <p:cNvPr id="56359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60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10"/>
          <p:cNvGrpSpPr/>
          <p:nvPr/>
        </p:nvGrpSpPr>
        <p:grpSpPr bwMode="auto">
          <a:xfrm>
            <a:off x="6273800" y="4006850"/>
            <a:ext cx="758825" cy="1366838"/>
            <a:chOff x="2974" y="2896"/>
            <a:chExt cx="478" cy="516"/>
          </a:xfrm>
        </p:grpSpPr>
        <p:sp>
          <p:nvSpPr>
            <p:cNvPr id="56357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58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13"/>
          <p:cNvGrpSpPr/>
          <p:nvPr/>
        </p:nvGrpSpPr>
        <p:grpSpPr bwMode="auto">
          <a:xfrm>
            <a:off x="7858125" y="4006850"/>
            <a:ext cx="758825" cy="1366838"/>
            <a:chOff x="2974" y="2896"/>
            <a:chExt cx="478" cy="516"/>
          </a:xfrm>
        </p:grpSpPr>
        <p:sp>
          <p:nvSpPr>
            <p:cNvPr id="56355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6356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3" name="Freeform 18"/>
          <p:cNvSpPr/>
          <p:nvPr/>
        </p:nvSpPr>
        <p:spPr bwMode="auto">
          <a:xfrm flipH="1">
            <a:off x="3792538" y="4367213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44" name="Freeform 19"/>
          <p:cNvSpPr/>
          <p:nvPr/>
        </p:nvSpPr>
        <p:spPr bwMode="auto">
          <a:xfrm flipH="1">
            <a:off x="5448300" y="4295775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45" name="Freeform 20"/>
          <p:cNvSpPr/>
          <p:nvPr/>
        </p:nvSpPr>
        <p:spPr bwMode="auto">
          <a:xfrm flipH="1">
            <a:off x="7105650" y="4367213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151" name="Text Box 44"/>
          <p:cNvSpPr txBox="1">
            <a:spLocks noChangeArrowheads="1"/>
          </p:cNvSpPr>
          <p:nvPr/>
        </p:nvSpPr>
        <p:spPr bwMode="auto">
          <a:xfrm>
            <a:off x="3094038" y="4933950"/>
            <a:ext cx="935037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55" name="Line 48"/>
          <p:cNvSpPr>
            <a:spLocks noChangeShapeType="1"/>
          </p:cNvSpPr>
          <p:nvPr/>
        </p:nvSpPr>
        <p:spPr bwMode="auto">
          <a:xfrm>
            <a:off x="6673850" y="342900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9" name="Line 52"/>
          <p:cNvSpPr>
            <a:spLocks noChangeShapeType="1"/>
          </p:cNvSpPr>
          <p:nvPr/>
        </p:nvSpPr>
        <p:spPr bwMode="auto">
          <a:xfrm>
            <a:off x="8278813" y="342900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60" name="Text Box 53"/>
          <p:cNvSpPr txBox="1">
            <a:spLocks noChangeArrowheads="1"/>
          </p:cNvSpPr>
          <p:nvPr/>
        </p:nvSpPr>
        <p:spPr bwMode="auto">
          <a:xfrm>
            <a:off x="6710363" y="3309938"/>
            <a:ext cx="595312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1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p0</a:t>
            </a:r>
            <a:endParaRPr lang="zh-CN" altLang="en-US" sz="21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1" name="Rectangle 54"/>
          <p:cNvSpPr>
            <a:spLocks noChangeArrowheads="1"/>
          </p:cNvSpPr>
          <p:nvPr/>
        </p:nvSpPr>
        <p:spPr bwMode="auto">
          <a:xfrm>
            <a:off x="8320088" y="3429000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162" name="Text Box 55"/>
          <p:cNvSpPr txBox="1">
            <a:spLocks noChangeArrowheads="1"/>
          </p:cNvSpPr>
          <p:nvPr/>
        </p:nvSpPr>
        <p:spPr bwMode="auto">
          <a:xfrm>
            <a:off x="9488805" y="3310255"/>
            <a:ext cx="194246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0" algn="l">
              <a:buClrTx/>
              <a:buSzTx/>
              <a:buFontTx/>
              <a:buNone/>
            </a:pPr>
            <a:r>
              <a:rPr lang="zh-CN" altLang="en-US" sz="24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</a:t>
            </a:r>
            <a:r>
              <a:rPr lang="zh-CN" altLang="en-US" sz="24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值为</a:t>
            </a:r>
            <a:r>
              <a:rPr lang="zh-CN" altLang="en-US" sz="2400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NULL</a:t>
            </a:r>
            <a:endParaRPr lang="zh-CN" altLang="en-US" sz="2400">
              <a:solidFill>
                <a:srgbClr val="F52EFC"/>
              </a:solidFill>
              <a:latin typeface="Arial" panose="020B0604020202020204" pitchFamily="34" charset="0"/>
              <a:sym typeface="+mn-ea"/>
            </a:endParaRPr>
          </a:p>
        </p:txBody>
      </p:sp>
      <p:sp>
        <p:nvSpPr>
          <p:cNvPr id="163" name="Line 56"/>
          <p:cNvSpPr>
            <a:spLocks noChangeShapeType="1"/>
          </p:cNvSpPr>
          <p:nvPr/>
        </p:nvSpPr>
        <p:spPr bwMode="auto">
          <a:xfrm>
            <a:off x="9488488" y="3454400"/>
            <a:ext cx="0" cy="50323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6352" name="矩形 163"/>
          <p:cNvSpPr>
            <a:spLocks noChangeArrowheads="1"/>
          </p:cNvSpPr>
          <p:nvPr/>
        </p:nvSpPr>
        <p:spPr bwMode="auto">
          <a:xfrm>
            <a:off x="4776788" y="5829300"/>
            <a:ext cx="2041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（反序思路）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6353" name="文本框 48"/>
          <p:cNvSpPr txBox="1">
            <a:spLocks noChangeArrowheads="1"/>
          </p:cNvSpPr>
          <p:nvPr/>
        </p:nvSpPr>
        <p:spPr bwMode="auto">
          <a:xfrm>
            <a:off x="157163" y="354013"/>
            <a:ext cx="39243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记录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个结点的地址，反序</a:t>
            </a:r>
            <a:endParaRPr lang="zh-CN" altLang="en-US" sz="24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157163" y="3197225"/>
            <a:ext cx="67770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记录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3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个结点的地址，反序，直至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p==NULL</a:t>
            </a:r>
            <a:endParaRPr lang="zh-CN" altLang="en-US" sz="24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66" name="Freeform 6"/>
          <p:cNvSpPr/>
          <p:nvPr/>
        </p:nvSpPr>
        <p:spPr bwMode="auto">
          <a:xfrm>
            <a:off x="6961188" y="1338263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p>
            <a:endParaRPr lang="zh-CN" altLang="en-US"/>
          </a:p>
        </p:txBody>
      </p:sp>
      <p:sp>
        <p:nvSpPr>
          <p:cNvPr id="2" name="Text Box 45"/>
          <p:cNvSpPr txBox="1">
            <a:spLocks noChangeArrowheads="1"/>
          </p:cNvSpPr>
          <p:nvPr/>
        </p:nvSpPr>
        <p:spPr bwMode="auto">
          <a:xfrm>
            <a:off x="7802245" y="4876800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latin typeface="Arial" panose="020B0604020202020204" pitchFamily="34" charset="0"/>
              </a:rPr>
              <a:t>NULL</a:t>
            </a:r>
            <a:endParaRPr lang="en-US" altLang="zh-CN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/>
      <p:bldP spid="160" grpId="0"/>
      <p:bldP spid="161" grpId="0"/>
      <p:bldP spid="162" grpId="0"/>
      <p:bldP spid="50" grpId="0"/>
      <p:bldP spid="2" grpId="0"/>
      <p:bldP spid="2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6AA493F-C301-44B1-A3B0-D35F8D4986D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28034" name="Rectangle 2"/>
          <p:cNvSpPr>
            <a:spLocks noChangeArrowheads="1"/>
          </p:cNvSpPr>
          <p:nvPr/>
        </p:nvSpPr>
        <p:spPr bwMode="auto">
          <a:xfrm>
            <a:off x="1774719" y="4679868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57348" name="Group 3"/>
          <p:cNvGrpSpPr/>
          <p:nvPr/>
        </p:nvGrpSpPr>
        <p:grpSpPr bwMode="auto">
          <a:xfrm>
            <a:off x="3444769" y="5186281"/>
            <a:ext cx="758825" cy="1366837"/>
            <a:chOff x="2974" y="2896"/>
            <a:chExt cx="478" cy="516"/>
          </a:xfrm>
        </p:grpSpPr>
        <p:sp>
          <p:nvSpPr>
            <p:cNvPr id="57387" name="Rectangle 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13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8" name="Line 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8038" name="Freeform 6"/>
          <p:cNvSpPr/>
          <p:nvPr/>
        </p:nvSpPr>
        <p:spPr bwMode="auto">
          <a:xfrm>
            <a:off x="7189682" y="5545056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7350" name="Group 7"/>
          <p:cNvGrpSpPr/>
          <p:nvPr/>
        </p:nvGrpSpPr>
        <p:grpSpPr bwMode="auto">
          <a:xfrm>
            <a:off x="5029094" y="5186281"/>
            <a:ext cx="758825" cy="1366837"/>
            <a:chOff x="2974" y="2896"/>
            <a:chExt cx="478" cy="516"/>
          </a:xfrm>
        </p:grpSpPr>
        <p:sp>
          <p:nvSpPr>
            <p:cNvPr id="57385" name="Rectangle 8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21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6" name="Line 9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51" name="Group 10"/>
          <p:cNvGrpSpPr/>
          <p:nvPr/>
        </p:nvGrpSpPr>
        <p:grpSpPr bwMode="auto">
          <a:xfrm>
            <a:off x="6646757" y="5186281"/>
            <a:ext cx="758825" cy="1366837"/>
            <a:chOff x="2974" y="2896"/>
            <a:chExt cx="478" cy="516"/>
          </a:xfrm>
        </p:grpSpPr>
        <p:sp>
          <p:nvSpPr>
            <p:cNvPr id="57383" name="Rectangle 11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31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4" name="Line 12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7352" name="Group 13"/>
          <p:cNvGrpSpPr/>
          <p:nvPr/>
        </p:nvGrpSpPr>
        <p:grpSpPr bwMode="auto">
          <a:xfrm>
            <a:off x="8231082" y="5186281"/>
            <a:ext cx="758825" cy="1366837"/>
            <a:chOff x="2974" y="2896"/>
            <a:chExt cx="478" cy="516"/>
          </a:xfrm>
        </p:grpSpPr>
        <p:sp>
          <p:nvSpPr>
            <p:cNvPr id="57381" name="Rectangle 14"/>
            <p:cNvSpPr>
              <a:spLocks noChangeArrowheads="1"/>
            </p:cNvSpPr>
            <p:nvPr/>
          </p:nvSpPr>
          <p:spPr bwMode="auto">
            <a:xfrm>
              <a:off x="2974" y="2896"/>
              <a:ext cx="478" cy="51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45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57382" name="Line 15"/>
            <p:cNvSpPr>
              <a:spLocks noChangeShapeType="1"/>
            </p:cNvSpPr>
            <p:nvPr/>
          </p:nvSpPr>
          <p:spPr bwMode="auto">
            <a:xfrm>
              <a:off x="2974" y="3215"/>
              <a:ext cx="463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28048" name="Freeform 16"/>
          <p:cNvSpPr/>
          <p:nvPr/>
        </p:nvSpPr>
        <p:spPr bwMode="auto">
          <a:xfrm>
            <a:off x="5605357" y="5475206"/>
            <a:ext cx="1008062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49" name="Freeform 17"/>
          <p:cNvSpPr/>
          <p:nvPr/>
        </p:nvSpPr>
        <p:spPr bwMode="auto">
          <a:xfrm>
            <a:off x="3949594" y="5545056"/>
            <a:ext cx="1008063" cy="79851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8050" name="Freeform 18"/>
          <p:cNvSpPr/>
          <p:nvPr/>
        </p:nvSpPr>
        <p:spPr bwMode="auto">
          <a:xfrm flipH="1">
            <a:off x="4165494" y="5546643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428051" name="Freeform 19"/>
          <p:cNvSpPr/>
          <p:nvPr/>
        </p:nvSpPr>
        <p:spPr bwMode="auto">
          <a:xfrm flipH="1">
            <a:off x="5821257" y="5475206"/>
            <a:ext cx="1079500" cy="792162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428052" name="Freeform 20"/>
          <p:cNvSpPr/>
          <p:nvPr/>
        </p:nvSpPr>
        <p:spPr bwMode="auto">
          <a:xfrm flipH="1">
            <a:off x="7478607" y="5546643"/>
            <a:ext cx="1079500" cy="792163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rgbClr val="F52EFC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noAutofit/>
          </a:bodyPr>
          <a:lstStyle/>
          <a:p>
            <a:pPr lvl="0" algn="l">
              <a:buClrTx/>
              <a:buSzTx/>
              <a:buFontTx/>
            </a:pPr>
            <a:endParaRPr lang="zh-CN" altLang="en-US" sz="1800">
              <a:sym typeface="+mn-ea"/>
            </a:endParaRPr>
          </a:p>
        </p:txBody>
      </p:sp>
      <p:sp>
        <p:nvSpPr>
          <p:cNvPr id="428053" name="Freeform 21"/>
          <p:cNvSpPr/>
          <p:nvPr/>
        </p:nvSpPr>
        <p:spPr bwMode="auto">
          <a:xfrm flipV="1">
            <a:off x="2438294" y="5186281"/>
            <a:ext cx="1008063" cy="433387"/>
          </a:xfrm>
          <a:custGeom>
            <a:avLst/>
            <a:gdLst>
              <a:gd name="T0" fmla="*/ 0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2147483646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19945"/>
                </a:moveTo>
                <a:lnTo>
                  <a:pt x="10893" y="19945"/>
                </a:lnTo>
                <a:lnTo>
                  <a:pt x="14523" y="0"/>
                </a:lnTo>
                <a:lnTo>
                  <a:pt x="1997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359" name="Text Box 38"/>
          <p:cNvSpPr txBox="1">
            <a:spLocks noChangeArrowheads="1"/>
          </p:cNvSpPr>
          <p:nvPr/>
        </p:nvSpPr>
        <p:spPr bwMode="auto">
          <a:xfrm>
            <a:off x="11368336" y="4149725"/>
            <a:ext cx="862012" cy="270827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4400">
                <a:solidFill>
                  <a:srgbClr val="F52EFC"/>
                </a:solidFill>
                <a:latin typeface="Arial" panose="020B0604020202020204" pitchFamily="34" charset="0"/>
                <a:ea typeface="隶书" pitchFamily="49" charset="-122"/>
              </a:rPr>
              <a:t>链表反序</a:t>
            </a:r>
            <a:endParaRPr lang="zh-CN" altLang="en-US" sz="4400">
              <a:solidFill>
                <a:srgbClr val="F52EFC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428071" name="Line 39"/>
          <p:cNvSpPr>
            <a:spLocks noChangeShapeType="1"/>
          </p:cNvSpPr>
          <p:nvPr/>
        </p:nvSpPr>
        <p:spPr bwMode="auto">
          <a:xfrm>
            <a:off x="3733694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72" name="Text Box 40"/>
          <p:cNvSpPr txBox="1">
            <a:spLocks noChangeArrowheads="1"/>
          </p:cNvSpPr>
          <p:nvPr/>
        </p:nvSpPr>
        <p:spPr bwMode="auto">
          <a:xfrm>
            <a:off x="3806719" y="4321093"/>
            <a:ext cx="595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428073" name="Text Box 41"/>
          <p:cNvSpPr txBox="1">
            <a:spLocks noChangeArrowheads="1"/>
          </p:cNvSpPr>
          <p:nvPr/>
        </p:nvSpPr>
        <p:spPr bwMode="auto">
          <a:xfrm>
            <a:off x="5625994" y="4392531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74" name="Line 42"/>
          <p:cNvSpPr>
            <a:spLocks noChangeShapeType="1"/>
          </p:cNvSpPr>
          <p:nvPr/>
        </p:nvSpPr>
        <p:spPr bwMode="auto">
          <a:xfrm>
            <a:off x="5462482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75" name="Rectangle 43"/>
          <p:cNvSpPr>
            <a:spLocks noChangeArrowheads="1"/>
          </p:cNvSpPr>
          <p:nvPr/>
        </p:nvSpPr>
        <p:spPr bwMode="auto">
          <a:xfrm>
            <a:off x="-12701" y="0"/>
            <a:ext cx="7766047" cy="403098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p=head-&gt;next;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head-&gt;next=NULL; </a:t>
            </a:r>
            <a:r>
              <a:rPr lang="en-US" altLang="zh-CN" sz="320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//</a:t>
            </a:r>
            <a:r>
              <a:rPr lang="zh-CN" altLang="en-US" sz="320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表头变表尾</a:t>
            </a:r>
            <a:r>
              <a:rPr lang="en-US" altLang="zh-CN" sz="3200" dirty="0">
                <a:solidFill>
                  <a:schemeClr val="tx1">
                    <a:lumMod val="50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</a:t>
            </a:r>
            <a:endParaRPr lang="en-US" altLang="zh-CN" sz="3200" dirty="0">
              <a:solidFill>
                <a:schemeClr val="tx1">
                  <a:lumMod val="50000"/>
                </a:schemeClr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do{</a:t>
            </a:r>
            <a:endParaRPr lang="en-US" altLang="zh-CN" sz="32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	</a:t>
            </a:r>
            <a:r>
              <a:rPr lang="en-US" altLang="zh-CN" sz="3200" dirty="0">
                <a:solidFill>
                  <a:srgbClr val="F52E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p0=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head;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	</a:t>
            </a:r>
            <a:r>
              <a:rPr lang="en-US" altLang="zh-CN" sz="3200" dirty="0">
                <a:solidFill>
                  <a:srgbClr val="F52E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head=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	</a:t>
            </a:r>
            <a:r>
              <a:rPr lang="en-US" altLang="zh-CN" sz="3200" dirty="0">
                <a:solidFill>
                  <a:srgbClr val="F52EF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p=</a:t>
            </a: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p-&gt;next;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     	head-&gt;next=p0; </a:t>
            </a:r>
            <a:endParaRPr lang="en-US" altLang="zh-CN" sz="3200" dirty="0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altLang="zh-CN" sz="3200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</a:rPr>
              <a:t>}while(p!=NULL);</a:t>
            </a:r>
            <a:endParaRPr lang="en-US" altLang="zh-CN" sz="32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428076" name="Text Box 44"/>
          <p:cNvSpPr txBox="1">
            <a:spLocks noChangeArrowheads="1"/>
          </p:cNvSpPr>
          <p:nvPr/>
        </p:nvSpPr>
        <p:spPr bwMode="auto">
          <a:xfrm>
            <a:off x="3466994" y="6113381"/>
            <a:ext cx="935038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52EFC"/>
                </a:solidFill>
                <a:latin typeface="Arial" panose="020B0604020202020204" pitchFamily="34" charset="0"/>
              </a:rPr>
              <a:t>NULL</a:t>
            </a:r>
            <a:endParaRPr lang="en-US" altLang="zh-CN" sz="2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77" name="Text Box 45"/>
          <p:cNvSpPr txBox="1">
            <a:spLocks noChangeArrowheads="1"/>
          </p:cNvSpPr>
          <p:nvPr/>
        </p:nvSpPr>
        <p:spPr bwMode="auto">
          <a:xfrm>
            <a:off x="8219969" y="6121318"/>
            <a:ext cx="9350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FF00"/>
                </a:solidFill>
                <a:latin typeface="Arial" panose="020B0604020202020204" pitchFamily="34" charset="0"/>
              </a:rPr>
              <a:t>NULL</a:t>
            </a:r>
            <a:endParaRPr lang="en-US" altLang="zh-CN" sz="18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428078" name="Rectangle 46"/>
          <p:cNvSpPr>
            <a:spLocks noChangeArrowheads="1"/>
          </p:cNvSpPr>
          <p:nvPr/>
        </p:nvSpPr>
        <p:spPr bwMode="auto">
          <a:xfrm>
            <a:off x="4690957" y="4463968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28079" name="Text Box 47"/>
          <p:cNvSpPr txBox="1">
            <a:spLocks noChangeArrowheads="1"/>
          </p:cNvSpPr>
          <p:nvPr/>
        </p:nvSpPr>
        <p:spPr bwMode="auto">
          <a:xfrm>
            <a:off x="7210319" y="4392531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428080" name="Line 48"/>
          <p:cNvSpPr>
            <a:spLocks noChangeShapeType="1"/>
          </p:cNvSpPr>
          <p:nvPr/>
        </p:nvSpPr>
        <p:spPr bwMode="auto">
          <a:xfrm>
            <a:off x="7046807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81" name="Text Box 49"/>
          <p:cNvSpPr txBox="1">
            <a:spLocks noChangeArrowheads="1"/>
          </p:cNvSpPr>
          <p:nvPr/>
        </p:nvSpPr>
        <p:spPr bwMode="auto">
          <a:xfrm>
            <a:off x="5410094" y="4536993"/>
            <a:ext cx="59531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428082" name="Rectangle 50"/>
          <p:cNvSpPr>
            <a:spLocks noChangeArrowheads="1"/>
          </p:cNvSpPr>
          <p:nvPr/>
        </p:nvSpPr>
        <p:spPr bwMode="auto">
          <a:xfrm>
            <a:off x="6202257" y="4536993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28083" name="Text Box 51"/>
          <p:cNvSpPr txBox="1">
            <a:spLocks noChangeArrowheads="1"/>
          </p:cNvSpPr>
          <p:nvPr/>
        </p:nvSpPr>
        <p:spPr bwMode="auto">
          <a:xfrm>
            <a:off x="8651769" y="4463968"/>
            <a:ext cx="360363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84" name="Line 52"/>
          <p:cNvSpPr>
            <a:spLocks noChangeShapeType="1"/>
          </p:cNvSpPr>
          <p:nvPr/>
        </p:nvSpPr>
        <p:spPr bwMode="auto">
          <a:xfrm>
            <a:off x="8651769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428085" name="Text Box 53"/>
          <p:cNvSpPr txBox="1">
            <a:spLocks noChangeArrowheads="1"/>
          </p:cNvSpPr>
          <p:nvPr/>
        </p:nvSpPr>
        <p:spPr bwMode="auto">
          <a:xfrm>
            <a:off x="7138882" y="4752893"/>
            <a:ext cx="59531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p0</a:t>
            </a:r>
            <a:endParaRPr lang="en-US" altLang="zh-CN" sz="24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428086" name="Rectangle 54"/>
          <p:cNvSpPr>
            <a:spLocks noChangeArrowheads="1"/>
          </p:cNvSpPr>
          <p:nvPr/>
        </p:nvSpPr>
        <p:spPr bwMode="auto">
          <a:xfrm>
            <a:off x="7859607" y="4536993"/>
            <a:ext cx="7715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428087" name="Text Box 55"/>
          <p:cNvSpPr txBox="1">
            <a:spLocks noChangeArrowheads="1"/>
          </p:cNvSpPr>
          <p:nvPr/>
        </p:nvSpPr>
        <p:spPr bwMode="auto">
          <a:xfrm>
            <a:off x="9659832" y="4463968"/>
            <a:ext cx="360362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428088" name="Line 56"/>
          <p:cNvSpPr>
            <a:spLocks noChangeShapeType="1"/>
          </p:cNvSpPr>
          <p:nvPr/>
        </p:nvSpPr>
        <p:spPr bwMode="auto">
          <a:xfrm>
            <a:off x="9659832" y="4608431"/>
            <a:ext cx="0" cy="50323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57378" name="Text Box 59"/>
          <p:cNvSpPr txBox="1">
            <a:spLocks noChangeArrowheads="1"/>
          </p:cNvSpPr>
          <p:nvPr/>
        </p:nvSpPr>
        <p:spPr bwMode="auto">
          <a:xfrm>
            <a:off x="707919" y="5653006"/>
            <a:ext cx="2555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chemeClr val="hlink"/>
                </a:solidFill>
                <a:latin typeface="Arial" panose="020B0604020202020204" pitchFamily="34" charset="0"/>
                <a:ea typeface="隶书" pitchFamily="49" charset="-122"/>
              </a:rPr>
              <a:t>多个结点</a:t>
            </a:r>
            <a:endParaRPr lang="zh-CN" altLang="en-US">
              <a:solidFill>
                <a:schemeClr val="hlink"/>
              </a:solidFill>
              <a:latin typeface="Arial" panose="020B0604020202020204" pitchFamily="34" charset="0"/>
              <a:ea typeface="隶书" pitchFamily="49" charset="-122"/>
            </a:endParaRPr>
          </a:p>
        </p:txBody>
      </p:sp>
      <p:sp>
        <p:nvSpPr>
          <p:cNvPr id="2" name="文本框 1"/>
          <p:cNvSpPr txBox="1">
            <a:spLocks noChangeArrowheads="1"/>
          </p:cNvSpPr>
          <p:nvPr/>
        </p:nvSpPr>
        <p:spPr bwMode="auto">
          <a:xfrm>
            <a:off x="9115319" y="5083093"/>
            <a:ext cx="10191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FF00"/>
                </a:solidFill>
                <a:latin typeface="Arial" panose="020B0604020202020204" pitchFamily="34" charset="0"/>
              </a:rPr>
              <a:t>NULL</a:t>
            </a:r>
            <a:endParaRPr lang="zh-CN" altLang="en-US" sz="24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8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28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28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" dur="500"/>
                                        <p:tgtEl>
                                          <p:spTgt spid="4280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28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28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6" dur="500"/>
                                        <p:tgtEl>
                                          <p:spTgt spid="4280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9" dur="500"/>
                                        <p:tgtEl>
                                          <p:spTgt spid="4280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28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7" dur="500"/>
                                        <p:tgtEl>
                                          <p:spTgt spid="4280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428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428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428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1" dur="500"/>
                                        <p:tgtEl>
                                          <p:spTgt spid="4280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6" dur="500"/>
                                        <p:tgtEl>
                                          <p:spTgt spid="4280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9" dur="500"/>
                                        <p:tgtEl>
                                          <p:spTgt spid="4280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428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4280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428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95" dur="500"/>
                                        <p:tgtEl>
                                          <p:spTgt spid="4280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9" dur="500"/>
                                        <p:tgtEl>
                                          <p:spTgt spid="428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428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42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9" dur="500"/>
                                        <p:tgtEl>
                                          <p:spTgt spid="4280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4" dur="500"/>
                                        <p:tgtEl>
                                          <p:spTgt spid="4280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7" dur="500"/>
                                        <p:tgtEl>
                                          <p:spTgt spid="428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1" dur="500"/>
                                        <p:tgtEl>
                                          <p:spTgt spid="428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5" dur="500"/>
                                        <p:tgtEl>
                                          <p:spTgt spid="4280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9" dur="500"/>
                                        <p:tgtEl>
                                          <p:spTgt spid="428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3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3" dur="500"/>
                                        <p:tgtEl>
                                          <p:spTgt spid="4280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428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428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7" dur="500"/>
                                        <p:tgtEl>
                                          <p:spTgt spid="42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9" dur="500"/>
                                        <p:tgtEl>
                                          <p:spTgt spid="4280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4" grpId="0"/>
      <p:bldP spid="428072" grpId="0"/>
      <p:bldP spid="428072" grpId="1"/>
      <p:bldP spid="428073" grpId="0"/>
      <p:bldP spid="428073" grpId="1"/>
      <p:bldP spid="428076" grpId="0"/>
      <p:bldP spid="428078" grpId="0"/>
      <p:bldP spid="428078" grpId="1"/>
      <p:bldP spid="428079" grpId="0"/>
      <p:bldP spid="428079" grpId="1"/>
      <p:bldP spid="428081" grpId="0"/>
      <p:bldP spid="428081" grpId="1"/>
      <p:bldP spid="428082" grpId="0"/>
      <p:bldP spid="428082" grpId="1"/>
      <p:bldP spid="428083" grpId="0"/>
      <p:bldP spid="428083" grpId="1"/>
      <p:bldP spid="428085" grpId="0"/>
      <p:bldP spid="428086" grpId="0"/>
      <p:bldP spid="428087" grpId="0"/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28600" y="609600"/>
            <a:ext cx="9144000" cy="6216650"/>
          </a:xfrm>
        </p:spPr>
        <p:txBody>
          <a:bodyPr/>
          <a:lstStyle/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struct link * </a:t>
            </a:r>
            <a:r>
              <a:rPr lang="en-US" altLang="zh-CN" sz="2800" b="1" dirty="0">
                <a:solidFill>
                  <a:srgbClr val="F52EFC"/>
                </a:solidFill>
              </a:rPr>
              <a:t>turnback(</a:t>
            </a:r>
            <a:r>
              <a:rPr lang="en-US" altLang="zh-CN" sz="2800" b="1" dirty="0"/>
              <a:t>struct link *head1</a:t>
            </a:r>
            <a:r>
              <a:rPr lang="en-US" altLang="zh-CN" sz="2800" b="1" dirty="0">
                <a:solidFill>
                  <a:srgbClr val="F52EFC"/>
                </a:solidFill>
              </a:rPr>
              <a:t>)</a:t>
            </a:r>
            <a:r>
              <a:rPr lang="en-US" altLang="zh-CN" sz="2800" b="1" dirty="0">
                <a:solidFill>
                  <a:srgbClr val="FF0000"/>
                </a:solidFill>
              </a:rPr>
              <a:t>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反序</a:t>
            </a:r>
            <a:endParaRPr lang="zh-CN" altLang="en-US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{</a:t>
            </a:r>
            <a:r>
              <a:rPr lang="en-US" altLang="zh-CN" sz="1800" b="1" dirty="0"/>
              <a:t>	</a:t>
            </a:r>
            <a:r>
              <a:rPr lang="en-US" altLang="zh-CN" sz="2800" b="1" dirty="0"/>
              <a:t>	struct link </a:t>
            </a:r>
            <a:r>
              <a:rPr lang="en-US" altLang="zh-CN" sz="2800" b="1" dirty="0">
                <a:solidFill>
                  <a:schemeClr val="hlink"/>
                </a:solidFill>
              </a:rPr>
              <a:t>*p0,*p</a:t>
            </a:r>
            <a:r>
              <a:rPr lang="en-US" altLang="zh-CN" sz="2800" b="1" dirty="0"/>
              <a:t>;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if(head1==NULL ||head1-&gt;next==NULL) 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	</a:t>
            </a:r>
            <a:r>
              <a:rPr lang="en-US" altLang="zh-CN" sz="2800" b="1" dirty="0">
                <a:solidFill>
                  <a:srgbClr val="F52EFC"/>
                </a:solidFill>
              </a:rPr>
              <a:t>return head1;</a:t>
            </a:r>
            <a:endParaRPr lang="en-US" altLang="zh-CN" sz="2800" b="1" dirty="0">
              <a:solidFill>
                <a:srgbClr val="F52EFC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p=head1-&gt;next;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head1-&gt;next=NULL;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表头变表尾</a:t>
            </a:r>
            <a:endParaRPr lang="en-US" altLang="zh-CN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chemeClr val="hlink"/>
                </a:solidFill>
              </a:rPr>
              <a:t>do{</a:t>
            </a:r>
            <a:endParaRPr lang="en-US" altLang="zh-CN" sz="2800" b="1" dirty="0">
              <a:solidFill>
                <a:schemeClr val="hlink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chemeClr val="hlink"/>
                </a:solidFill>
              </a:rPr>
              <a:t>			</a:t>
            </a: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p0=head1;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head1=p;</a:t>
            </a:r>
            <a:endParaRPr lang="en-US" altLang="zh-CN" sz="2800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			p=p-&gt;next;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保存现场</a:t>
            </a:r>
            <a:endParaRPr lang="en-US" altLang="zh-CN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	head1-&gt;next=p0; </a:t>
            </a:r>
            <a:endParaRPr lang="en-US" altLang="zh-CN" sz="2800" b="1" dirty="0"/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/>
              <a:t>		</a:t>
            </a:r>
            <a:r>
              <a:rPr lang="en-US" altLang="zh-CN" sz="2800" b="1" dirty="0">
                <a:solidFill>
                  <a:schemeClr val="hlink"/>
                </a:solidFill>
              </a:rPr>
              <a:t>}while(p!=NULL); </a:t>
            </a:r>
            <a:r>
              <a:rPr lang="en-US" altLang="zh-CN" sz="1800" b="1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b="1" dirty="0">
                <a:solidFill>
                  <a:schemeClr val="tx1">
                    <a:lumMod val="50000"/>
                  </a:schemeClr>
                </a:solidFill>
              </a:rPr>
              <a:t>逐个反向</a:t>
            </a:r>
            <a:endParaRPr lang="en-US" altLang="zh-CN" sz="1800" b="1" dirty="0">
              <a:solidFill>
                <a:schemeClr val="tx1">
                  <a:lumMod val="50000"/>
                </a:schemeClr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F0000"/>
                </a:solidFill>
              </a:rPr>
              <a:t>		</a:t>
            </a:r>
            <a:r>
              <a:rPr lang="en-US" altLang="zh-CN" sz="2800" b="1" dirty="0">
                <a:solidFill>
                  <a:srgbClr val="F52EFC"/>
                </a:solidFill>
              </a:rPr>
              <a:t>return  head1;</a:t>
            </a:r>
            <a:endParaRPr lang="en-US" altLang="zh-CN" sz="2800" b="1" dirty="0">
              <a:solidFill>
                <a:srgbClr val="F52EFC"/>
              </a:solidFill>
            </a:endParaRPr>
          </a:p>
          <a:p>
            <a:pPr eaLnBrk="1" hangingPunct="1"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}</a:t>
            </a:r>
            <a:endParaRPr lang="en-US" altLang="zh-CN" sz="2800" b="1" dirty="0">
              <a:solidFill>
                <a:srgbClr val="F52EFC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BD185FA-7273-491E-84F6-42452A4E314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2" name="文本框 1"/>
          <p:cNvSpPr txBox="1"/>
          <p:nvPr/>
        </p:nvSpPr>
        <p:spPr>
          <a:xfrm>
            <a:off x="-6350" y="31750"/>
            <a:ext cx="5759450" cy="3698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//【</a:t>
            </a:r>
            <a:r>
              <a:rPr lang="zh-CN" altLang="en-US" dirty="0"/>
              <a:t>实现</a:t>
            </a:r>
            <a:r>
              <a:rPr lang="en-US" altLang="zh-CN" dirty="0"/>
              <a:t>1】 </a:t>
            </a:r>
            <a:r>
              <a:rPr lang="zh-CN" altLang="en-US" dirty="0"/>
              <a:t>通过返回值 带回 表头指针</a:t>
            </a:r>
            <a:endParaRPr lang="zh-CN" altLang="en-US" dirty="0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6553200" y="3717925"/>
            <a:ext cx="5257800" cy="3108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800" dirty="0">
                <a:latin typeface="Arial" panose="020B0604020202020204" pitchFamily="34" charset="0"/>
              </a:rPr>
              <a:t>调用形式：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int main()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{	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//……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	head=create(n);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	head=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turnback(</a:t>
            </a:r>
            <a:r>
              <a:rPr lang="en-US" altLang="zh-CN" sz="2800" dirty="0">
                <a:latin typeface="Arial" panose="020B0604020202020204" pitchFamily="34" charset="0"/>
              </a:rPr>
              <a:t>head</a:t>
            </a:r>
            <a:r>
              <a:rPr lang="en-US" altLang="zh-CN" sz="2800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 dirty="0">
                <a:latin typeface="Arial" panose="020B0604020202020204" pitchFamily="34" charset="0"/>
              </a:rPr>
              <a:t>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//……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}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3" name="矩形标注 2"/>
          <p:cNvSpPr/>
          <p:nvPr/>
        </p:nvSpPr>
        <p:spPr>
          <a:xfrm>
            <a:off x="8925560" y="685800"/>
            <a:ext cx="2999740" cy="797560"/>
          </a:xfrm>
          <a:prstGeom prst="wedgeRectCallout">
            <a:avLst>
              <a:gd name="adj1" fmla="val -54741"/>
              <a:gd name="adj2" fmla="val 78980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en-US" altLang="zh-CN" sz="2800" dirty="0">
                <a:latin typeface="Arial" panose="020B0604020202020204" pitchFamily="34" charset="0"/>
              </a:rPr>
              <a:t>0</a:t>
            </a:r>
            <a:r>
              <a:rPr lang="zh-CN" altLang="en-US" sz="2800" dirty="0">
                <a:latin typeface="Arial" panose="020B0604020202020204" pitchFamily="34" charset="0"/>
              </a:rPr>
              <a:t>个结点或</a:t>
            </a:r>
            <a:r>
              <a:rPr lang="en-US" altLang="zh-CN" sz="2800" dirty="0">
                <a:latin typeface="Arial" panose="020B0604020202020204" pitchFamily="34" charset="0"/>
              </a:rPr>
              <a:t>1</a:t>
            </a:r>
            <a:r>
              <a:rPr lang="zh-CN" altLang="en-US" sz="2800" dirty="0">
                <a:latin typeface="Arial" panose="020B0604020202020204" pitchFamily="34" charset="0"/>
              </a:rPr>
              <a:t>个结点的情况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4" name="矩形标注 3"/>
          <p:cNvSpPr/>
          <p:nvPr/>
        </p:nvSpPr>
        <p:spPr>
          <a:xfrm>
            <a:off x="6172200" y="2209800"/>
            <a:ext cx="2929890" cy="645160"/>
          </a:xfrm>
          <a:prstGeom prst="wedgeRectCallout">
            <a:avLst>
              <a:gd name="adj1" fmla="val -83224"/>
              <a:gd name="adj2" fmla="val 55511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sz="2800" dirty="0">
                <a:latin typeface="Arial" panose="020B0604020202020204" pitchFamily="34" charset="0"/>
              </a:rPr>
              <a:t>多</a:t>
            </a:r>
            <a:r>
              <a:rPr lang="zh-CN" altLang="en-US" sz="2800" dirty="0">
                <a:latin typeface="Arial" panose="020B0604020202020204" pitchFamily="34" charset="0"/>
              </a:rPr>
              <a:t>个结点的情况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  <p:sp>
        <p:nvSpPr>
          <p:cNvPr id="5" name="矩形标注 4"/>
          <p:cNvSpPr/>
          <p:nvPr/>
        </p:nvSpPr>
        <p:spPr>
          <a:xfrm>
            <a:off x="2805430" y="6369050"/>
            <a:ext cx="3122930" cy="447675"/>
          </a:xfrm>
          <a:prstGeom prst="wedgeRectCallout">
            <a:avLst>
              <a:gd name="adj1" fmla="val -49288"/>
              <a:gd name="adj2" fmla="val -98794"/>
            </a:avLst>
          </a:prstGeom>
          <a:solidFill>
            <a:schemeClr val="accent1"/>
          </a:solidFill>
        </p:spPr>
        <p:txBody>
          <a:bodyPr wrap="square" lIns="0" rIns="0">
            <a:noAutofit/>
          </a:bodyPr>
          <a:p>
            <a:pPr eaLnBrk="1" hangingPunct="1">
              <a:buNone/>
            </a:pPr>
            <a:r>
              <a:rPr lang="zh-CN" sz="2800" dirty="0">
                <a:latin typeface="Arial" panose="020B0604020202020204" pitchFamily="34" charset="0"/>
              </a:rPr>
              <a:t>返回新的表头指针</a:t>
            </a:r>
            <a:endParaRPr lang="zh-CN" altLang="en-US" sz="28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3" grpId="0" animBg="1"/>
      <p:bldP spid="4" grpId="0" bldLvl="0" animBg="1"/>
      <p:bldP spid="5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4925" y="581025"/>
            <a:ext cx="9261475" cy="5692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void 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turnback2(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struct link **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head2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//</a:t>
            </a:r>
            <a:r>
              <a:rPr lang="zh-CN" altLang="zh-CN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反</a:t>
            </a:r>
            <a:r>
              <a:rPr lang="zh-CN" altLang="en-US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序</a:t>
            </a:r>
            <a:r>
              <a:rPr lang="en-US" altLang="zh-CN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:</a:t>
            </a:r>
            <a:r>
              <a:rPr lang="zh-CN" altLang="en-US" sz="2800" kern="100" dirty="0">
                <a:solidFill>
                  <a:schemeClr val="tx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二级指针作参数</a:t>
            </a:r>
            <a:endParaRPr lang="zh-CN" altLang="zh-CN" sz="2800" kern="100" dirty="0">
              <a:solidFill>
                <a:schemeClr val="tx1">
                  <a:lumMod val="50000"/>
                </a:schemeClr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{	struct link *p0,*p;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if( 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==NULL ||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(*head2)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-&gt;next==NULL) 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return 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p= 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-&gt;next;</a:t>
            </a:r>
            <a:endParaRPr lang="en-US" altLang="zh-CN" sz="2800" kern="100" dirty="0">
              <a:solidFill>
                <a:srgbClr val="F52EF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-&gt;next=NULL; </a:t>
            </a:r>
            <a:endParaRPr lang="en-US" altLang="zh-CN" sz="2800" kern="100" dirty="0">
              <a:solidFill>
                <a:srgbClr val="F52EF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do{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p0=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(*head2)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=p;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p= p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	</a:t>
            </a:r>
            <a:r>
              <a:rPr lang="en-US" altLang="zh-CN" sz="28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</a:t>
            </a:r>
            <a:r>
              <a:rPr lang="en-US" altLang="zh-CN" sz="28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-&gt;next=p0; 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}while(p!=NULL);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}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96646E5-327D-40CF-B470-DB5BE7CA35C6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" name="文本框 3"/>
          <p:cNvSpPr txBox="1"/>
          <p:nvPr/>
        </p:nvSpPr>
        <p:spPr>
          <a:xfrm>
            <a:off x="0" y="0"/>
            <a:ext cx="5327650" cy="369888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dirty="0"/>
              <a:t>//【</a:t>
            </a:r>
            <a:r>
              <a:rPr lang="zh-CN" altLang="en-US" dirty="0"/>
              <a:t>实现</a:t>
            </a:r>
            <a:r>
              <a:rPr lang="en-US" altLang="zh-CN" dirty="0"/>
              <a:t>2】</a:t>
            </a:r>
            <a:r>
              <a:rPr lang="zh-CN" altLang="en-US" dirty="0"/>
              <a:t>通过参数 带回 表头指针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5562600" y="2541905"/>
            <a:ext cx="4827270" cy="22764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800" dirty="0">
                <a:solidFill>
                  <a:srgbClr val="F52EFC"/>
                </a:solidFill>
              </a:rPr>
              <a:t>调用形式：</a:t>
            </a:r>
            <a:endParaRPr lang="en-US" altLang="zh-CN" sz="2800" dirty="0">
              <a:solidFill>
                <a:srgbClr val="F52EFC"/>
              </a:solidFill>
            </a:endParaRPr>
          </a:p>
          <a:p>
            <a:pPr>
              <a:defRPr/>
            </a:pPr>
            <a:r>
              <a:rPr lang="en-US" altLang="zh-CN" dirty="0"/>
              <a:t>int main()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{	//……</a:t>
            </a:r>
            <a:endParaRPr lang="en-US" altLang="zh-CN" dirty="0"/>
          </a:p>
          <a:p>
            <a:pPr>
              <a:defRPr/>
            </a:pPr>
            <a:r>
              <a:rPr lang="en-US" altLang="zh-CN" sz="3200" dirty="0"/>
              <a:t> 	head=create(n); </a:t>
            </a:r>
            <a:endParaRPr lang="en-US" altLang="zh-CN" sz="3200" dirty="0"/>
          </a:p>
          <a:p>
            <a:pPr>
              <a:defRPr/>
            </a:pP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turnback2(</a:t>
            </a:r>
            <a:r>
              <a:rPr lang="en-US" altLang="zh-CN" sz="2800" dirty="0">
                <a:solidFill>
                  <a:srgbClr val="F52EFC"/>
                </a:solidFill>
              </a:rPr>
              <a:t>&amp;head</a:t>
            </a:r>
            <a:r>
              <a: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);</a:t>
            </a:r>
            <a:endParaRPr lang="en-US" altLang="zh-CN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>
              <a:defRPr/>
            </a:pPr>
            <a:r>
              <a:rPr lang="en-US" altLang="zh-CN" dirty="0"/>
              <a:t>}</a:t>
            </a:r>
            <a:endParaRPr lang="en-US" altLang="zh-CN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134100" y="476250"/>
            <a:ext cx="5981700" cy="27997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void</a:t>
            </a: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turnback2</a:t>
            </a:r>
            <a:r>
              <a:rPr lang="en-US" altLang="zh-CN" sz="32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</a:t>
            </a:r>
            <a:r>
              <a:rPr lang="en-US" altLang="zh-CN" sz="32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struct link **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head2</a:t>
            </a:r>
            <a:r>
              <a:rPr lang="en-US" altLang="zh-CN" sz="2800" kern="100" dirty="0">
                <a:solidFill>
                  <a:schemeClr val="accent2">
                    <a:lumMod val="60000"/>
                    <a:lumOff val="4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zh-CN" sz="3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{	struct link *p0,*p;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……</a:t>
            </a:r>
            <a:endParaRPr lang="en-US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(*head2)</a:t>
            </a:r>
            <a:r>
              <a:rPr lang="en-US" altLang="zh-CN" sz="3200" kern="100" dirty="0">
                <a:solidFill>
                  <a:srgbClr val="FF000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zh-CN" sz="32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=p;</a:t>
            </a:r>
            <a:endParaRPr lang="zh-CN" altLang="zh-CN" sz="32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	……	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 eaLnBrk="1" hangingPunct="1">
              <a:spcAft>
                <a:spcPts val="0"/>
              </a:spcAft>
              <a:defRPr/>
            </a:pPr>
            <a:r>
              <a:rPr lang="en-US" altLang="zh-CN" sz="28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 }</a:t>
            </a:r>
            <a:endParaRPr lang="zh-CN" altLang="zh-CN" sz="2800" kern="100" dirty="0"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5655F55-6959-4AAB-866E-3D441DD7A45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1444" name="文本框 3"/>
          <p:cNvSpPr txBox="1">
            <a:spLocks noChangeArrowheads="1"/>
          </p:cNvSpPr>
          <p:nvPr/>
        </p:nvSpPr>
        <p:spPr bwMode="auto">
          <a:xfrm>
            <a:off x="0" y="0"/>
            <a:ext cx="5327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FC000"/>
                </a:solidFill>
              </a:rPr>
              <a:t>//【</a:t>
            </a:r>
            <a:r>
              <a:rPr lang="zh-CN" altLang="en-US" sz="1800">
                <a:solidFill>
                  <a:srgbClr val="FFC000"/>
                </a:solidFill>
              </a:rPr>
              <a:t>实现</a:t>
            </a:r>
            <a:r>
              <a:rPr lang="en-US" altLang="zh-CN" sz="1800">
                <a:solidFill>
                  <a:srgbClr val="FFC000"/>
                </a:solidFill>
              </a:rPr>
              <a:t>2】</a:t>
            </a:r>
            <a:r>
              <a:rPr lang="zh-CN" altLang="en-US" sz="1800">
                <a:solidFill>
                  <a:srgbClr val="FFC000"/>
                </a:solidFill>
              </a:rPr>
              <a:t>通过参数 带回 表头指针</a:t>
            </a:r>
            <a:endParaRPr lang="zh-CN" altLang="en-US" sz="1800">
              <a:solidFill>
                <a:srgbClr val="FFC000"/>
              </a:solidFill>
            </a:endParaRPr>
          </a:p>
        </p:txBody>
      </p:sp>
      <p:sp>
        <p:nvSpPr>
          <p:cNvPr id="61445" name="Rectangle 3"/>
          <p:cNvSpPr>
            <a:spLocks noChangeArrowheads="1"/>
          </p:cNvSpPr>
          <p:nvPr/>
        </p:nvSpPr>
        <p:spPr bwMode="auto">
          <a:xfrm flipH="1">
            <a:off x="1504950" y="5116513"/>
            <a:ext cx="1255713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head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46" name="Rectangle 4"/>
          <p:cNvSpPr>
            <a:spLocks noChangeArrowheads="1"/>
          </p:cNvSpPr>
          <p:nvPr/>
        </p:nvSpPr>
        <p:spPr bwMode="auto">
          <a:xfrm flipH="1">
            <a:off x="2863850" y="5126038"/>
            <a:ext cx="1101725" cy="3429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>
              <a:latin typeface="Arial" panose="020B0604020202020204" pitchFamily="34" charset="0"/>
            </a:endParaRPr>
          </a:p>
        </p:txBody>
      </p:sp>
      <p:grpSp>
        <p:nvGrpSpPr>
          <p:cNvPr id="61447" name="Group 5"/>
          <p:cNvGrpSpPr/>
          <p:nvPr/>
        </p:nvGrpSpPr>
        <p:grpSpPr bwMode="auto">
          <a:xfrm flipH="1">
            <a:off x="8042275" y="5524500"/>
            <a:ext cx="736600" cy="708025"/>
            <a:chOff x="0" y="0"/>
            <a:chExt cx="20000" cy="20000"/>
          </a:xfrm>
        </p:grpSpPr>
        <p:sp>
          <p:nvSpPr>
            <p:cNvPr id="61476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7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61448" name="Group 8"/>
          <p:cNvGrpSpPr/>
          <p:nvPr/>
        </p:nvGrpSpPr>
        <p:grpSpPr bwMode="auto">
          <a:xfrm flipH="1">
            <a:off x="6924675" y="5518150"/>
            <a:ext cx="733425" cy="731838"/>
            <a:chOff x="0" y="0"/>
            <a:chExt cx="20000" cy="20000"/>
          </a:xfrm>
        </p:grpSpPr>
        <p:sp>
          <p:nvSpPr>
            <p:cNvPr id="61474" name="Rectangle 9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5" name="Line 10"/>
            <p:cNvSpPr>
              <a:spLocks noChangeShapeType="1"/>
            </p:cNvSpPr>
            <p:nvPr/>
          </p:nvSpPr>
          <p:spPr bwMode="auto">
            <a:xfrm>
              <a:off x="557" y="1380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61449" name="Freeform 11"/>
          <p:cNvSpPr/>
          <p:nvPr/>
        </p:nvSpPr>
        <p:spPr bwMode="auto">
          <a:xfrm flipH="1">
            <a:off x="7327900" y="5627688"/>
            <a:ext cx="676275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0" name="Freeform 12"/>
          <p:cNvSpPr/>
          <p:nvPr/>
        </p:nvSpPr>
        <p:spPr bwMode="auto">
          <a:xfrm flipH="1">
            <a:off x="6207125" y="5627688"/>
            <a:ext cx="676275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1" name="Freeform 13"/>
          <p:cNvSpPr/>
          <p:nvPr/>
        </p:nvSpPr>
        <p:spPr bwMode="auto">
          <a:xfrm flipH="1">
            <a:off x="5292725" y="5627688"/>
            <a:ext cx="673100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61452" name="Group 14"/>
          <p:cNvGrpSpPr/>
          <p:nvPr/>
        </p:nvGrpSpPr>
        <p:grpSpPr bwMode="auto">
          <a:xfrm flipH="1">
            <a:off x="4905375" y="5543550"/>
            <a:ext cx="733425" cy="722313"/>
            <a:chOff x="0" y="0"/>
            <a:chExt cx="20000" cy="20000"/>
          </a:xfrm>
        </p:grpSpPr>
        <p:sp>
          <p:nvSpPr>
            <p:cNvPr id="61472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3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61453" name="Group 17"/>
          <p:cNvGrpSpPr/>
          <p:nvPr/>
        </p:nvGrpSpPr>
        <p:grpSpPr bwMode="auto">
          <a:xfrm flipH="1">
            <a:off x="3784600" y="5543550"/>
            <a:ext cx="733425" cy="722313"/>
            <a:chOff x="0" y="0"/>
            <a:chExt cx="20000" cy="20000"/>
          </a:xfrm>
        </p:grpSpPr>
        <p:sp>
          <p:nvSpPr>
            <p:cNvPr id="61470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1471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61454" name="Freeform 20"/>
          <p:cNvSpPr/>
          <p:nvPr/>
        </p:nvSpPr>
        <p:spPr bwMode="auto">
          <a:xfrm flipH="1">
            <a:off x="4194175" y="5627688"/>
            <a:ext cx="669925" cy="50006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5" name="Rectangle 21"/>
          <p:cNvSpPr>
            <a:spLocks noChangeArrowheads="1"/>
          </p:cNvSpPr>
          <p:nvPr/>
        </p:nvSpPr>
        <p:spPr bwMode="auto">
          <a:xfrm flipH="1">
            <a:off x="5864225" y="5541963"/>
            <a:ext cx="9175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...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61456" name="Freeform 22"/>
          <p:cNvSpPr/>
          <p:nvPr/>
        </p:nvSpPr>
        <p:spPr bwMode="auto">
          <a:xfrm flipH="1">
            <a:off x="3392488" y="5486400"/>
            <a:ext cx="373062" cy="2286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57" name="Text Box 23"/>
          <p:cNvSpPr txBox="1">
            <a:spLocks noChangeArrowheads="1"/>
          </p:cNvSpPr>
          <p:nvPr/>
        </p:nvSpPr>
        <p:spPr bwMode="auto">
          <a:xfrm>
            <a:off x="8128000" y="5638800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61458" name="Text Box 39"/>
          <p:cNvSpPr txBox="1">
            <a:spLocks noChangeArrowheads="1"/>
          </p:cNvSpPr>
          <p:nvPr/>
        </p:nvSpPr>
        <p:spPr bwMode="auto">
          <a:xfrm>
            <a:off x="3822700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13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59" name="Text Box 40"/>
          <p:cNvSpPr txBox="1">
            <a:spLocks noChangeArrowheads="1"/>
          </p:cNvSpPr>
          <p:nvPr/>
        </p:nvSpPr>
        <p:spPr bwMode="auto">
          <a:xfrm>
            <a:off x="4975225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21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60" name="Text Box 41"/>
          <p:cNvSpPr txBox="1">
            <a:spLocks noChangeArrowheads="1"/>
          </p:cNvSpPr>
          <p:nvPr/>
        </p:nvSpPr>
        <p:spPr bwMode="auto">
          <a:xfrm>
            <a:off x="6991350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31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sp>
        <p:nvSpPr>
          <p:cNvPr id="61461" name="Text Box 42"/>
          <p:cNvSpPr txBox="1">
            <a:spLocks noChangeArrowheads="1"/>
          </p:cNvSpPr>
          <p:nvPr/>
        </p:nvSpPr>
        <p:spPr bwMode="auto">
          <a:xfrm>
            <a:off x="8143875" y="5559425"/>
            <a:ext cx="574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45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 bwMode="auto">
          <a:xfrm flipV="1">
            <a:off x="1303338" y="4859338"/>
            <a:ext cx="8351837" cy="17462"/>
          </a:xfrm>
          <a:prstGeom prst="line">
            <a:avLst/>
          </a:prstGeom>
          <a:noFill/>
          <a:ln w="25400" algn="ctr">
            <a:solidFill>
              <a:srgbClr val="F52EFC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8" name="矩形 47"/>
          <p:cNvSpPr>
            <a:spLocks noChangeArrowheads="1"/>
          </p:cNvSpPr>
          <p:nvPr/>
        </p:nvSpPr>
        <p:spPr bwMode="auto">
          <a:xfrm>
            <a:off x="2506663" y="4268788"/>
            <a:ext cx="1135062" cy="354012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&amp;head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50" name="文本框 49"/>
          <p:cNvSpPr txBox="1">
            <a:spLocks noChangeArrowheads="1"/>
          </p:cNvSpPr>
          <p:nvPr/>
        </p:nvSpPr>
        <p:spPr bwMode="auto">
          <a:xfrm>
            <a:off x="1504950" y="3776663"/>
            <a:ext cx="27051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形参 </a:t>
            </a:r>
            <a:r>
              <a:rPr lang="en-US" altLang="zh-CN" sz="2400">
                <a:solidFill>
                  <a:srgbClr val="FFFF00"/>
                </a:solidFill>
              </a:rPr>
              <a:t>head2</a:t>
            </a:r>
            <a:endParaRPr lang="zh-CN" altLang="en-US" sz="2400">
              <a:solidFill>
                <a:srgbClr val="FFFF00"/>
              </a:solidFill>
            </a:endParaRPr>
          </a:p>
        </p:txBody>
      </p:sp>
      <p:sp>
        <p:nvSpPr>
          <p:cNvPr id="61465" name="矩形 53"/>
          <p:cNvSpPr>
            <a:spLocks noChangeArrowheads="1"/>
          </p:cNvSpPr>
          <p:nvPr/>
        </p:nvSpPr>
        <p:spPr bwMode="auto">
          <a:xfrm>
            <a:off x="49213" y="458788"/>
            <a:ext cx="6072187" cy="316928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000"/>
              <a:t>struct link * </a:t>
            </a:r>
            <a:r>
              <a:rPr lang="en-US" altLang="zh-CN" sz="36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turnback(</a:t>
            </a:r>
            <a:r>
              <a:rPr lang="en-US" altLang="zh-CN" sz="2000"/>
              <a:t>struct link *head1</a:t>
            </a:r>
            <a:r>
              <a:rPr lang="en-US" altLang="zh-CN" sz="36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)</a:t>
            </a:r>
            <a:r>
              <a:rPr lang="en-US" altLang="zh-CN" sz="2000">
                <a:solidFill>
                  <a:srgbClr val="FF0000"/>
                </a:solidFill>
              </a:rPr>
              <a:t> </a:t>
            </a:r>
            <a:r>
              <a:rPr lang="en-US" altLang="zh-CN" sz="36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altLang="zh-CN" sz="2800"/>
              <a:t>	……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/>
              <a:t>	head1=p; 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2800"/>
              <a:t>	……</a:t>
            </a:r>
            <a:endParaRPr lang="en-US" altLang="zh-CN" sz="2800"/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>
                <a:solidFill>
                  <a:srgbClr val="FF0000"/>
                </a:solidFill>
              </a:rPr>
              <a:t>	</a:t>
            </a:r>
            <a:r>
              <a:rPr lang="en-US" altLang="zh-CN" sz="36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return  head1;</a:t>
            </a:r>
            <a:endParaRPr lang="en-US" altLang="zh-CN" sz="3600" kern="100" dirty="0">
              <a:solidFill>
                <a:srgbClr val="F52EF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</a:pPr>
            <a:r>
              <a:rPr lang="en-US" altLang="zh-CN" sz="3600" kern="100" dirty="0">
                <a:solidFill>
                  <a:srgbClr val="F52EFC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en-US" altLang="zh-CN" sz="3600" kern="100" dirty="0">
              <a:solidFill>
                <a:srgbClr val="F52EFC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3897313" y="4259263"/>
            <a:ext cx="1135062" cy="35560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rIns="0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结点地址</a:t>
            </a:r>
            <a:endParaRPr lang="zh-CN" altLang="en-US" sz="2000">
              <a:latin typeface="Arial" panose="020B0604020202020204" pitchFamily="34" charset="0"/>
            </a:endParaRPr>
          </a:p>
        </p:txBody>
      </p:sp>
      <p:sp>
        <p:nvSpPr>
          <p:cNvPr id="56" name="文本框 55"/>
          <p:cNvSpPr txBox="1">
            <a:spLocks noChangeArrowheads="1"/>
          </p:cNvSpPr>
          <p:nvPr/>
        </p:nvSpPr>
        <p:spPr bwMode="auto">
          <a:xfrm>
            <a:off x="3765550" y="3786188"/>
            <a:ext cx="2844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FF00"/>
                </a:solidFill>
              </a:rPr>
              <a:t>形参 </a:t>
            </a:r>
            <a:r>
              <a:rPr lang="en-US" altLang="zh-CN" sz="2400">
                <a:solidFill>
                  <a:srgbClr val="FFFF00"/>
                </a:solidFill>
              </a:rPr>
              <a:t>head1</a:t>
            </a:r>
            <a:endParaRPr lang="zh-CN" altLang="en-US" sz="2400">
              <a:solidFill>
                <a:srgbClr val="FFFF00"/>
              </a:solidFill>
            </a:endParaRPr>
          </a:p>
        </p:txBody>
      </p:sp>
      <p:cxnSp>
        <p:nvCxnSpPr>
          <p:cNvPr id="57" name="直接箭头连接符 56"/>
          <p:cNvCxnSpPr/>
          <p:nvPr/>
        </p:nvCxnSpPr>
        <p:spPr bwMode="auto">
          <a:xfrm flipV="1">
            <a:off x="4306888" y="4665663"/>
            <a:ext cx="0" cy="893762"/>
          </a:xfrm>
          <a:prstGeom prst="straightConnector1">
            <a:avLst/>
          </a:prstGeom>
          <a:noFill/>
          <a:ln w="50800" algn="ctr">
            <a:solidFill>
              <a:srgbClr val="F52EFC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38"/>
          <p:cNvCxnSpPr/>
          <p:nvPr/>
        </p:nvCxnSpPr>
        <p:spPr bwMode="auto">
          <a:xfrm flipV="1">
            <a:off x="3200400" y="4648200"/>
            <a:ext cx="0" cy="463550"/>
          </a:xfrm>
          <a:prstGeom prst="straightConnector1">
            <a:avLst/>
          </a:prstGeom>
          <a:noFill/>
          <a:ln w="50800" algn="ctr">
            <a:solidFill>
              <a:srgbClr val="F52EFC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bldLvl="0" animBg="1"/>
      <p:bldP spid="50" grpId="0"/>
      <p:bldP spid="55" grpId="0" bldLvl="0" animBg="1"/>
      <p:bldP spid="5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7CB3CAA-CED4-4CED-8BBB-D6170703600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52400" y="736600"/>
            <a:ext cx="11458575" cy="6000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link* 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sort(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struct link*  head </a:t>
            </a:r>
            <a:r>
              <a:rPr lang="en-US" altLang="zh-CN" sz="32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{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链表排序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struct link *p , *p0 , *r , *r0 , *q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p0=NULL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p=head 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3200" kern="100" dirty="0">
                <a:solidFill>
                  <a:srgbClr val="F52E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while(p!=NULL) {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逐项处理，把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加入到子序列中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r=head ; </a:t>
            </a:r>
            <a:endParaRPr lang="en-US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2">
              <a:spcAft>
                <a:spcPts val="0"/>
              </a:spcAft>
              <a:defRPr/>
            </a:pPr>
            <a:endParaRPr lang="en-US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//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寻找位置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r0~r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while (r-&gt;num 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&lt; 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p-&gt;num )  )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{    r0=r;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r=r-&gt;next;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532" name="文本框 1"/>
          <p:cNvSpPr txBox="1">
            <a:spLocks noChangeArrowheads="1"/>
          </p:cNvSpPr>
          <p:nvPr/>
        </p:nvSpPr>
        <p:spPr bwMode="auto">
          <a:xfrm>
            <a:off x="152400" y="152400"/>
            <a:ext cx="77597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注：算法讲解见 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【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例</a:t>
            </a:r>
            <a:r>
              <a:rPr lang="en-US" altLang="zh-CN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13.2】</a:t>
            </a: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插入排序</a:t>
            </a:r>
            <a:endParaRPr lang="zh-CN" altLang="en-US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A9D0359-E2E7-44F0-8445-A1D8E79E9C5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228600" y="44450"/>
            <a:ext cx="8928100" cy="6492875"/>
          </a:xfrm>
          <a:prstGeom prst="rect">
            <a:avLst/>
          </a:prstGeom>
        </p:spPr>
        <p:txBody>
          <a:bodyPr>
            <a:spAutoFit/>
          </a:bodyPr>
          <a:lstStyle/>
          <a:p>
            <a:pPr lvl="3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52E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if (r!=p){</a:t>
            </a: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//p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插入到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r0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 ；若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r==p 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在链尾，则不用插入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q=p ;   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把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p 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独立出来，令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q 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指向它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p0-&gt;next = p-&gt;next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p=p0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if (r==head) { </a:t>
            </a:r>
            <a:r>
              <a:rPr lang="en-US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插在链首</a:t>
            </a:r>
            <a:endParaRPr lang="zh-CN" altLang="zh-CN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 	 q-&gt;next=head;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 head=q 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4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en-US" altLang="zh-CN" sz="3200" kern="100" dirty="0">
              <a:solidFill>
                <a:srgbClr val="99FF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    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else{ 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插在链中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r0 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0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之间</a:t>
            </a:r>
            <a:endParaRPr lang="zh-CN" altLang="zh-CN" sz="20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		q-&gt;next=r;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	r0-&gt;next=q;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	</a:t>
            </a: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	</a:t>
            </a:r>
            <a:r>
              <a:rPr lang="en-US" altLang="zh-CN" sz="3200" kern="100" dirty="0">
                <a:solidFill>
                  <a:srgbClr val="99FF33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3200" kern="100" dirty="0">
              <a:solidFill>
                <a:srgbClr val="99FF33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3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52E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}//end if</a:t>
            </a:r>
            <a:endParaRPr lang="en-US" altLang="zh-CN" sz="3200" kern="100" dirty="0">
              <a:solidFill>
                <a:srgbClr val="F52EFC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13C43CB-8FAE-4301-BB0A-DCF844AA190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" name="矩形 4"/>
          <p:cNvSpPr/>
          <p:nvPr/>
        </p:nvSpPr>
        <p:spPr>
          <a:xfrm>
            <a:off x="1487488" y="3573463"/>
            <a:ext cx="7056437" cy="2553335"/>
          </a:xfrm>
          <a:prstGeom prst="rect">
            <a:avLst/>
          </a:prstGeom>
        </p:spPr>
        <p:txBody>
          <a:bodyPr>
            <a:spAutoFit/>
          </a:bodyPr>
          <a:lstStyle/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		p0=p;</a:t>
            </a:r>
            <a:endParaRPr lang="zh-CN" altLang="zh-CN" sz="32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	p=p-&gt;next ;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zh-CN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前进一项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}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//end while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F00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3200" kern="100" dirty="0">
                <a:solidFill>
                  <a:srgbClr val="F52E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return head ;</a:t>
            </a:r>
            <a:endParaRPr lang="en-US" altLang="zh-CN" sz="3200" kern="100" dirty="0">
              <a:solidFill>
                <a:srgbClr val="F52EFC"/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  <a:defRPr/>
            </a:pPr>
            <a:r>
              <a:rPr lang="en-US" altLang="zh-CN" sz="3200" kern="100" dirty="0">
                <a:solidFill>
                  <a:srgbClr val="F52EFC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} </a:t>
            </a:r>
            <a:r>
              <a:rPr lang="en-US" altLang="zh-CN" sz="3200" kern="100" dirty="0">
                <a:solidFill>
                  <a:schemeClr val="tx1">
                    <a:lumMod val="50000"/>
                  </a:schemeClr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//end main</a:t>
            </a:r>
            <a:endParaRPr lang="zh-CN" altLang="zh-CN" sz="3200" kern="100" dirty="0">
              <a:solidFill>
                <a:schemeClr val="tx1">
                  <a:lumMod val="50000"/>
                </a:schemeClr>
              </a:solidFill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标题 1"/>
          <p:cNvSpPr>
            <a:spLocks noGrp="1" noChangeArrowheads="1"/>
          </p:cNvSpPr>
          <p:nvPr>
            <p:ph type="title"/>
          </p:nvPr>
        </p:nvSpPr>
        <p:spPr>
          <a:xfrm>
            <a:off x="227013" y="193675"/>
            <a:ext cx="7416800" cy="1196975"/>
          </a:xfrm>
        </p:spPr>
        <p:txBody>
          <a:bodyPr/>
          <a:lstStyle/>
          <a:p>
            <a:pPr algn="l">
              <a:defRPr/>
            </a:pPr>
            <a:r>
              <a:rPr lang="en-US" altLang="zh-CN" b="1" dirty="0">
                <a:solidFill>
                  <a:srgbClr val="FFC000"/>
                </a:solidFill>
              </a:rPr>
              <a:t>【</a:t>
            </a:r>
            <a:r>
              <a:rPr lang="zh-CN" altLang="en-US" b="1" dirty="0">
                <a:solidFill>
                  <a:srgbClr val="FFC000"/>
                </a:solidFill>
              </a:rPr>
              <a:t>例</a:t>
            </a:r>
            <a:r>
              <a:rPr lang="en-US" altLang="zh-CN" b="1" dirty="0">
                <a:solidFill>
                  <a:srgbClr val="FFC000"/>
                </a:solidFill>
              </a:rPr>
              <a:t>13.2】</a:t>
            </a:r>
            <a:r>
              <a:rPr lang="zh-CN" altLang="en-US" b="1" dirty="0">
                <a:solidFill>
                  <a:srgbClr val="FFC000"/>
                </a:solidFill>
              </a:rPr>
              <a:t>插入排序</a:t>
            </a:r>
            <a:br>
              <a:rPr lang="en-US" altLang="zh-CN" b="1" dirty="0">
                <a:solidFill>
                  <a:srgbClr val="FFC000"/>
                </a:solidFill>
              </a:rPr>
            </a:br>
            <a:r>
              <a:rPr lang="zh-CN" altLang="en-US" sz="2800" b="1" dirty="0">
                <a:solidFill>
                  <a:srgbClr val="FFC000"/>
                </a:solidFill>
              </a:rPr>
              <a:t>注：完整测试程序见 </a:t>
            </a:r>
            <a:r>
              <a:rPr lang="en-US" altLang="zh-CN" sz="2800" b="1" dirty="0">
                <a:solidFill>
                  <a:srgbClr val="FFC000"/>
                </a:solidFill>
                <a:hlinkClick r:id="rId1" action="ppaction://hlinksldjump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hlinkClick r:id="rId1" action="ppaction://hlinksldjump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hlinkClick r:id="rId1" action="ppaction://hlinksldjump"/>
              </a:rPr>
              <a:t>1a】</a:t>
            </a:r>
            <a:r>
              <a:rPr lang="zh-CN" altLang="en-US" sz="2800" b="1" dirty="0">
                <a:solidFill>
                  <a:srgbClr val="FFC000"/>
                </a:solidFill>
                <a:hlinkClick r:id="rId1" action="ppaction://hlinksldjump"/>
              </a:rPr>
              <a:t>链表操作实例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134147" name="内容占位符 2"/>
          <p:cNvSpPr>
            <a:spLocks noGrp="1"/>
          </p:cNvSpPr>
          <p:nvPr>
            <p:ph sz="quarter" idx="1"/>
          </p:nvPr>
        </p:nvSpPr>
        <p:spPr>
          <a:xfrm>
            <a:off x="1703388" y="1579563"/>
            <a:ext cx="4464050" cy="481012"/>
          </a:xfrm>
        </p:spPr>
        <p:txBody>
          <a:bodyPr/>
          <a:lstStyle/>
          <a:p>
            <a:pPr>
              <a:defRPr/>
            </a:pPr>
            <a:r>
              <a:rPr lang="zh-CN" altLang="en-US" sz="2400" b="1" dirty="0"/>
              <a:t>在单向链表上实现插入排序 </a:t>
            </a:r>
            <a:endParaRPr lang="zh-CN" altLang="en-US" sz="2400" b="1" dirty="0"/>
          </a:p>
        </p:txBody>
      </p:sp>
      <p:sp>
        <p:nvSpPr>
          <p:cNvPr id="13415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01BEF48-3511-4E49-A34A-7617DF0DBF92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34151" name="Rectangle 3"/>
          <p:cNvSpPr txBox="1">
            <a:spLocks noChangeArrowheads="1"/>
          </p:cNvSpPr>
          <p:nvPr/>
        </p:nvSpPr>
        <p:spPr bwMode="auto">
          <a:xfrm>
            <a:off x="2154429" y="2370207"/>
            <a:ext cx="7238809" cy="3547994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typedef  ... 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datatype</a:t>
            </a:r>
            <a:r>
              <a:rPr lang="en-US" altLang="zh-CN" sz="3200" dirty="0"/>
              <a:t>; </a:t>
            </a:r>
            <a:endParaRPr lang="en-US" altLang="zh-CN" sz="3200" dirty="0"/>
          </a:p>
          <a:p>
            <a:pPr>
              <a:buFont typeface="Wingdings" panose="05000000000000000000" pitchFamily="2" charset="2"/>
              <a:buNone/>
              <a:defRPr/>
            </a:pPr>
            <a:r>
              <a:rPr lang="en-US" altLang="zh-CN" sz="3200" dirty="0">
                <a:solidFill>
                  <a:srgbClr val="F52EFC"/>
                </a:solidFill>
              </a:rPr>
              <a:t>struct item</a:t>
            </a:r>
            <a:r>
              <a:rPr lang="en-US" altLang="zh-CN" sz="3200" dirty="0">
                <a:solidFill>
                  <a:srgbClr val="FF0000"/>
                </a:solidFill>
              </a:rPr>
              <a:t> </a:t>
            </a:r>
            <a:r>
              <a:rPr lang="en-US" altLang="zh-CN" sz="3200" dirty="0"/>
              <a:t>{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datatype  </a:t>
            </a:r>
            <a:r>
              <a:rPr lang="en-US" altLang="zh-CN" sz="3200" dirty="0"/>
              <a:t>data;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 int  key;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      struct item  *next; 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};</a:t>
            </a:r>
            <a:endParaRPr lang="en-US" altLang="zh-CN" sz="3200" dirty="0"/>
          </a:p>
          <a:p>
            <a:pPr marL="0" lvl="3">
              <a:lnSpc>
                <a:spcPct val="120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3200" dirty="0"/>
              <a:t>typedef</a:t>
            </a:r>
            <a:r>
              <a:rPr lang="en-US" altLang="zh-CN" sz="3200" dirty="0">
                <a:solidFill>
                  <a:srgbClr val="F52EFC"/>
                </a:solidFill>
              </a:rPr>
              <a:t>  struct item *</a:t>
            </a:r>
            <a:r>
              <a:rPr lang="en-US" altLang="zh-CN" sz="3200" dirty="0">
                <a:solidFill>
                  <a:srgbClr val="FF0000"/>
                </a:solidFill>
              </a:rPr>
              <a:t>  </a:t>
            </a:r>
            <a:r>
              <a:rPr lang="en-US" altLang="zh-CN" sz="3200" dirty="0" err="1"/>
              <a:t>pt</a:t>
            </a:r>
            <a:r>
              <a:rPr lang="en-US" altLang="zh-CN" sz="3200" dirty="0"/>
              <a:t>;</a:t>
            </a:r>
            <a:endParaRPr lang="en-US" altLang="zh-CN" sz="3200" dirty="0"/>
          </a:p>
        </p:txBody>
      </p:sp>
      <p:sp>
        <p:nvSpPr>
          <p:cNvPr id="9" name="矩形标注 8"/>
          <p:cNvSpPr/>
          <p:nvPr/>
        </p:nvSpPr>
        <p:spPr>
          <a:xfrm>
            <a:off x="6752363" y="2895614"/>
            <a:ext cx="5186210" cy="457200"/>
          </a:xfrm>
          <a:prstGeom prst="wedgeRectCallout">
            <a:avLst>
              <a:gd name="adj1" fmla="val -70055"/>
              <a:gd name="adj2" fmla="val 3594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用于保存一个结点的数据结构</a:t>
            </a:r>
            <a:endParaRPr lang="en-US" altLang="zh-CN" sz="2800" dirty="0">
              <a:solidFill>
                <a:srgbClr val="FFFF00"/>
              </a:solidFill>
            </a:endParaRPr>
          </a:p>
        </p:txBody>
      </p:sp>
      <p:sp>
        <p:nvSpPr>
          <p:cNvPr id="10" name="矩形标注 9"/>
          <p:cNvSpPr/>
          <p:nvPr/>
        </p:nvSpPr>
        <p:spPr>
          <a:xfrm>
            <a:off x="7781925" y="5653088"/>
            <a:ext cx="2378075" cy="530225"/>
          </a:xfrm>
          <a:prstGeom prst="wedgeRectCallout">
            <a:avLst>
              <a:gd name="adj1" fmla="val -81914"/>
              <a:gd name="adj2" fmla="val 3772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800" dirty="0">
                <a:solidFill>
                  <a:srgbClr val="FFFF00"/>
                </a:solidFill>
              </a:rPr>
              <a:t>结点指针类型</a:t>
            </a:r>
            <a:endParaRPr lang="en-US" altLang="zh-CN" sz="2800" dirty="0">
              <a:solidFill>
                <a:srgbClr val="FFFF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3809978" y="5845687"/>
            <a:ext cx="2535431" cy="502726"/>
          </a:xfrm>
          <a:prstGeom prst="rect">
            <a:avLst/>
          </a:prstGeom>
          <a:noFill/>
          <a:ln w="34925">
            <a:solidFill>
              <a:srgbClr val="F52EFC"/>
            </a:solidFill>
            <a:prstDash val="sysDash"/>
          </a:ln>
        </p:spPr>
        <p:txBody>
          <a:bodyPr wrap="square" lIns="0" rIns="0" rtlCol="0" anchor="ctr">
            <a:noAutofit/>
          </a:bodyPr>
          <a:lstStyle/>
          <a:p>
            <a:pPr algn="ctr"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标题 1"/>
          <p:cNvSpPr>
            <a:spLocks noGrp="1" noChangeArrowheads="1"/>
          </p:cNvSpPr>
          <p:nvPr>
            <p:ph type="title"/>
          </p:nvPr>
        </p:nvSpPr>
        <p:spPr>
          <a:xfrm>
            <a:off x="10161588" y="12700"/>
            <a:ext cx="2030412" cy="893763"/>
          </a:xfrm>
        </p:spPr>
        <p:txBody>
          <a:bodyPr/>
          <a:lstStyle/>
          <a:p>
            <a:pPr>
              <a:defRPr/>
            </a:pPr>
            <a:r>
              <a:rPr lang="zh-CN" altLang="en-US" sz="2800" b="1" dirty="0">
                <a:solidFill>
                  <a:srgbClr val="FFC000"/>
                </a:solidFill>
              </a:rPr>
              <a:t>插入排序</a:t>
            </a:r>
            <a:br>
              <a:rPr lang="en-US" altLang="zh-CN" sz="2800" b="1" dirty="0">
                <a:solidFill>
                  <a:srgbClr val="FFC000"/>
                </a:solidFill>
              </a:rPr>
            </a:br>
            <a:r>
              <a:rPr lang="zh-CN" altLang="en-US" sz="2800" b="1" dirty="0">
                <a:solidFill>
                  <a:srgbClr val="FFC000"/>
                </a:solidFill>
              </a:rPr>
              <a:t>算法思想</a:t>
            </a:r>
            <a:endParaRPr lang="zh-CN" altLang="en-US" sz="2800" b="1" dirty="0">
              <a:solidFill>
                <a:srgbClr val="FFC000"/>
              </a:solidFill>
            </a:endParaRPr>
          </a:p>
        </p:txBody>
      </p:sp>
      <p:sp>
        <p:nvSpPr>
          <p:cNvPr id="13517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229975" y="6391275"/>
            <a:ext cx="42862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9CEAD1-2B65-420E-BED9-1BD89A2C3AB2}" type="slidenum"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6628" name="组合 38"/>
          <p:cNvGrpSpPr/>
          <p:nvPr/>
        </p:nvGrpSpPr>
        <p:grpSpPr bwMode="auto">
          <a:xfrm>
            <a:off x="1473200" y="152400"/>
            <a:ext cx="6370638" cy="1639888"/>
            <a:chOff x="502997" y="4711278"/>
            <a:chExt cx="6371286" cy="1640704"/>
          </a:xfrm>
        </p:grpSpPr>
        <p:grpSp>
          <p:nvGrpSpPr>
            <p:cNvPr id="26723" name="Group 3"/>
            <p:cNvGrpSpPr/>
            <p:nvPr/>
          </p:nvGrpSpPr>
          <p:grpSpPr bwMode="auto">
            <a:xfrm>
              <a:off x="502997" y="4711278"/>
              <a:ext cx="6371286" cy="1640704"/>
              <a:chOff x="4981" y="11162"/>
              <a:chExt cx="3822" cy="1111"/>
            </a:xfrm>
          </p:grpSpPr>
          <p:grpSp>
            <p:nvGrpSpPr>
              <p:cNvPr id="26728" name="Group 4"/>
              <p:cNvGrpSpPr/>
              <p:nvPr/>
            </p:nvGrpSpPr>
            <p:grpSpPr bwMode="auto">
              <a:xfrm>
                <a:off x="5609" y="11228"/>
                <a:ext cx="3194" cy="1045"/>
                <a:chOff x="1976" y="285"/>
                <a:chExt cx="14980" cy="23381"/>
              </a:xfrm>
            </p:grpSpPr>
            <p:sp>
              <p:nvSpPr>
                <p:cNvPr id="11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5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731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746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14" y="351"/>
                    <a:ext cx="20522" cy="265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33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57" y="18782"/>
                    <a:ext cx="2106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732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733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744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82" y="468"/>
                    <a:ext cx="21411" cy="2571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52EFC"/>
                        </a:solidFill>
                      </a:rPr>
                      <a:t>59</a:t>
                    </a:r>
                    <a:endParaRPr lang="en-US" altLang="zh-CN" sz="2400">
                      <a:solidFill>
                        <a:srgbClr val="F52EFC"/>
                      </a:solidFill>
                    </a:endParaRPr>
                  </a:p>
                </p:txBody>
              </p:sp>
              <p:sp>
                <p:nvSpPr>
                  <p:cNvPr id="31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27" y="18312"/>
                    <a:ext cx="21256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34" name="Group 14"/>
                <p:cNvGrpSpPr/>
                <p:nvPr/>
              </p:nvGrpSpPr>
              <p:grpSpPr bwMode="auto">
                <a:xfrm>
                  <a:off x="11138" y="6958"/>
                  <a:ext cx="2411" cy="16496"/>
                  <a:chOff x="-25897" y="-485"/>
                  <a:chExt cx="20936" cy="25911"/>
                </a:xfrm>
              </p:grpSpPr>
              <p:sp>
                <p:nvSpPr>
                  <p:cNvPr id="26742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5063" y="-926"/>
                    <a:ext cx="20092" cy="2634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76</a:t>
                    </a:r>
                    <a:endParaRPr lang="en-US" altLang="zh-CN" sz="2400"/>
                  </a:p>
                </p:txBody>
              </p:sp>
              <p:sp>
                <p:nvSpPr>
                  <p:cNvPr id="29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955" y="17217"/>
                    <a:ext cx="2009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35" name="Group 17"/>
                <p:cNvGrpSpPr/>
                <p:nvPr/>
              </p:nvGrpSpPr>
              <p:grpSpPr bwMode="auto">
                <a:xfrm>
                  <a:off x="14652" y="6957"/>
                  <a:ext cx="2304" cy="16496"/>
                  <a:chOff x="-25897" y="-487"/>
                  <a:chExt cx="20011" cy="25911"/>
                </a:xfrm>
              </p:grpSpPr>
              <p:sp>
                <p:nvSpPr>
                  <p:cNvPr id="26740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5905" y="-927"/>
                    <a:ext cx="20019" cy="26345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60</a:t>
                    </a:r>
                    <a:endParaRPr lang="en-US" altLang="zh-CN" sz="2400"/>
                  </a:p>
                </p:txBody>
              </p:sp>
              <p:sp>
                <p:nvSpPr>
                  <p:cNvPr id="27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5672" y="17216"/>
                    <a:ext cx="1978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2" name="Line 25"/>
                <p:cNvSpPr>
                  <a:spLocks noChangeShapeType="1"/>
                </p:cNvSpPr>
                <p:nvPr/>
              </p:nvSpPr>
              <p:spPr bwMode="auto">
                <a:xfrm>
                  <a:off x="4217" y="13030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23" name="Line 26"/>
                <p:cNvSpPr>
                  <a:spLocks noChangeShapeType="1"/>
                </p:cNvSpPr>
                <p:nvPr/>
              </p:nvSpPr>
              <p:spPr bwMode="auto">
                <a:xfrm>
                  <a:off x="7759" y="13078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 dirty="0">
                    <a:latin typeface="+mn-lt"/>
                  </a:endParaRPr>
                </a:p>
              </p:txBody>
            </p:sp>
            <p:sp>
              <p:nvSpPr>
                <p:cNvPr id="24" name="Line 27"/>
                <p:cNvSpPr>
                  <a:spLocks noChangeShapeType="1"/>
                </p:cNvSpPr>
                <p:nvPr/>
              </p:nvSpPr>
              <p:spPr bwMode="auto">
                <a:xfrm>
                  <a:off x="11136" y="12837"/>
                  <a:ext cx="23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25" name="Line 28"/>
                <p:cNvSpPr>
                  <a:spLocks noChangeShapeType="1"/>
                </p:cNvSpPr>
                <p:nvPr/>
              </p:nvSpPr>
              <p:spPr bwMode="auto">
                <a:xfrm>
                  <a:off x="14660" y="12813"/>
                  <a:ext cx="2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9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724" name="Freeform 25"/>
            <p:cNvSpPr/>
            <p:nvPr/>
          </p:nvSpPr>
          <p:spPr bwMode="auto">
            <a:xfrm flipH="1">
              <a:off x="2748253" y="5444817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5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6" name="Freeform 25"/>
            <p:cNvSpPr/>
            <p:nvPr/>
          </p:nvSpPr>
          <p:spPr bwMode="auto">
            <a:xfrm flipH="1">
              <a:off x="5288122" y="5389908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 bwMode="auto">
            <a:xfrm>
              <a:off x="6280498" y="5940614"/>
              <a:ext cx="333409" cy="37007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组合 1"/>
          <p:cNvGrpSpPr/>
          <p:nvPr/>
        </p:nvGrpSpPr>
        <p:grpSpPr bwMode="auto">
          <a:xfrm>
            <a:off x="4651375" y="1819275"/>
            <a:ext cx="658813" cy="479686"/>
            <a:chOff x="3630426" y="5323431"/>
            <a:chExt cx="658813" cy="693916"/>
          </a:xfrm>
        </p:grpSpPr>
        <p:sp>
          <p:nvSpPr>
            <p:cNvPr id="26721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6659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722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" name="组合 38"/>
          <p:cNvGrpSpPr/>
          <p:nvPr/>
        </p:nvGrpSpPr>
        <p:grpSpPr bwMode="auto">
          <a:xfrm>
            <a:off x="1466850" y="1858963"/>
            <a:ext cx="6423025" cy="1639887"/>
            <a:chOff x="502997" y="4711278"/>
            <a:chExt cx="6422963" cy="1640704"/>
          </a:xfrm>
        </p:grpSpPr>
        <p:grpSp>
          <p:nvGrpSpPr>
            <p:cNvPr id="26696" name="Group 3"/>
            <p:cNvGrpSpPr/>
            <p:nvPr/>
          </p:nvGrpSpPr>
          <p:grpSpPr bwMode="auto">
            <a:xfrm>
              <a:off x="502997" y="4711278"/>
              <a:ext cx="6422963" cy="1640704"/>
              <a:chOff x="4981" y="11162"/>
              <a:chExt cx="3853" cy="1111"/>
            </a:xfrm>
          </p:grpSpPr>
          <p:grpSp>
            <p:nvGrpSpPr>
              <p:cNvPr id="26701" name="Group 4"/>
              <p:cNvGrpSpPr/>
              <p:nvPr/>
            </p:nvGrpSpPr>
            <p:grpSpPr bwMode="auto">
              <a:xfrm>
                <a:off x="5609" y="11228"/>
                <a:ext cx="3225" cy="1045"/>
                <a:chOff x="1976" y="285"/>
                <a:chExt cx="15124" cy="23381"/>
              </a:xfrm>
            </p:grpSpPr>
            <p:sp>
              <p:nvSpPr>
                <p:cNvPr id="47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59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704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719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21" y="351"/>
                    <a:ext cx="20091" cy="26524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65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4" y="18782"/>
                    <a:ext cx="20091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705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706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717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56" y="468"/>
                    <a:ext cx="21407" cy="25716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63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01" y="18312"/>
                    <a:ext cx="21251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07" name="Group 14"/>
                <p:cNvGrpSpPr/>
                <p:nvPr/>
              </p:nvGrpSpPr>
              <p:grpSpPr bwMode="auto">
                <a:xfrm>
                  <a:off x="11275" y="6799"/>
                  <a:ext cx="2315" cy="16496"/>
                  <a:chOff x="-24709" y="-734"/>
                  <a:chExt cx="20104" cy="25911"/>
                </a:xfrm>
              </p:grpSpPr>
              <p:sp>
                <p:nvSpPr>
                  <p:cNvPr id="2671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5162" y="-736"/>
                    <a:ext cx="20516" cy="2592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52EFC"/>
                        </a:solidFill>
                      </a:rPr>
                      <a:t>76</a:t>
                    </a:r>
                    <a:endParaRPr lang="en-US" altLang="zh-CN" sz="2400">
                      <a:solidFill>
                        <a:srgbClr val="F52EFC"/>
                      </a:solidFill>
                    </a:endParaRPr>
                  </a:p>
                </p:txBody>
              </p:sp>
              <p:sp>
                <p:nvSpPr>
                  <p:cNvPr id="61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66" y="17595"/>
                    <a:ext cx="2105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708" name="Group 17"/>
                <p:cNvGrpSpPr/>
                <p:nvPr/>
              </p:nvGrpSpPr>
              <p:grpSpPr bwMode="auto">
                <a:xfrm>
                  <a:off x="14687" y="6799"/>
                  <a:ext cx="2413" cy="16496"/>
                  <a:chOff x="-25598" y="-736"/>
                  <a:chExt cx="20958" cy="25911"/>
                </a:xfrm>
              </p:grpSpPr>
              <p:sp>
                <p:nvSpPr>
                  <p:cNvPr id="26713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5586" y="-738"/>
                    <a:ext cx="20015" cy="2592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60</a:t>
                    </a:r>
                    <a:endParaRPr lang="en-US" altLang="zh-CN" sz="2400"/>
                  </a:p>
                </p:txBody>
              </p:sp>
              <p:sp>
                <p:nvSpPr>
                  <p:cNvPr id="59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4422" y="17593"/>
                    <a:ext cx="1978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54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30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5" name="Line 26"/>
                <p:cNvSpPr>
                  <a:spLocks noChangeShapeType="1"/>
                </p:cNvSpPr>
                <p:nvPr/>
              </p:nvSpPr>
              <p:spPr bwMode="auto">
                <a:xfrm>
                  <a:off x="7757" y="13078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6" name="Line 27"/>
                <p:cNvSpPr>
                  <a:spLocks noChangeShapeType="1"/>
                </p:cNvSpPr>
                <p:nvPr/>
              </p:nvSpPr>
              <p:spPr bwMode="auto">
                <a:xfrm>
                  <a:off x="11330" y="12669"/>
                  <a:ext cx="23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57" name="Line 28"/>
                <p:cNvSpPr>
                  <a:spLocks noChangeShapeType="1"/>
                </p:cNvSpPr>
                <p:nvPr/>
              </p:nvSpPr>
              <p:spPr bwMode="auto">
                <a:xfrm>
                  <a:off x="14697" y="12669"/>
                  <a:ext cx="2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46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97" name="Freeform 25"/>
            <p:cNvSpPr/>
            <p:nvPr/>
          </p:nvSpPr>
          <p:spPr bwMode="auto">
            <a:xfrm flipH="1">
              <a:off x="2750100" y="5434690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8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99" name="Freeform 25"/>
            <p:cNvSpPr/>
            <p:nvPr/>
          </p:nvSpPr>
          <p:spPr bwMode="auto">
            <a:xfrm flipH="1">
              <a:off x="5339246" y="5404199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 bwMode="auto">
            <a:xfrm>
              <a:off x="6289379" y="5931085"/>
              <a:ext cx="333372" cy="37007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组合 65"/>
          <p:cNvGrpSpPr/>
          <p:nvPr/>
        </p:nvGrpSpPr>
        <p:grpSpPr bwMode="auto">
          <a:xfrm>
            <a:off x="5913438" y="3475038"/>
            <a:ext cx="658812" cy="492125"/>
            <a:chOff x="3630426" y="5323431"/>
            <a:chExt cx="658813" cy="491486"/>
          </a:xfrm>
        </p:grpSpPr>
        <p:sp>
          <p:nvSpPr>
            <p:cNvPr id="26694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95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0" name="组合 38"/>
          <p:cNvGrpSpPr/>
          <p:nvPr/>
        </p:nvGrpSpPr>
        <p:grpSpPr bwMode="auto">
          <a:xfrm>
            <a:off x="1446213" y="3446463"/>
            <a:ext cx="6462712" cy="1655762"/>
            <a:chOff x="502998" y="4711282"/>
            <a:chExt cx="6462972" cy="1656949"/>
          </a:xfrm>
        </p:grpSpPr>
        <p:grpSp>
          <p:nvGrpSpPr>
            <p:cNvPr id="26669" name="Group 3"/>
            <p:cNvGrpSpPr/>
            <p:nvPr/>
          </p:nvGrpSpPr>
          <p:grpSpPr bwMode="auto">
            <a:xfrm>
              <a:off x="502998" y="4711282"/>
              <a:ext cx="6462972" cy="1656949"/>
              <a:chOff x="4981" y="11162"/>
              <a:chExt cx="3877" cy="1122"/>
            </a:xfrm>
          </p:grpSpPr>
          <p:grpSp>
            <p:nvGrpSpPr>
              <p:cNvPr id="26674" name="Group 4"/>
              <p:cNvGrpSpPr/>
              <p:nvPr/>
            </p:nvGrpSpPr>
            <p:grpSpPr bwMode="auto">
              <a:xfrm>
                <a:off x="5609" y="11228"/>
                <a:ext cx="3249" cy="1056"/>
                <a:chOff x="1976" y="285"/>
                <a:chExt cx="15234" cy="23625"/>
              </a:xfrm>
            </p:grpSpPr>
            <p:sp>
              <p:nvSpPr>
                <p:cNvPr id="78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6"/>
                  <a:ext cx="2242" cy="4260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677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692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21" y="353"/>
                    <a:ext cx="20089" cy="26527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6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4" y="18787"/>
                    <a:ext cx="20089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678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79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690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461" y="470"/>
                    <a:ext cx="21404" cy="2571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76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4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1305" y="18316"/>
                    <a:ext cx="21249" cy="38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80" name="Group 14"/>
                <p:cNvGrpSpPr/>
                <p:nvPr/>
              </p:nvGrpSpPr>
              <p:grpSpPr bwMode="auto">
                <a:xfrm>
                  <a:off x="11163" y="7414"/>
                  <a:ext cx="2411" cy="16496"/>
                  <a:chOff x="-25676" y="231"/>
                  <a:chExt cx="20934" cy="25911"/>
                </a:xfrm>
              </p:grpSpPr>
              <p:sp>
                <p:nvSpPr>
                  <p:cNvPr id="26688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4777" y="-206"/>
                    <a:ext cx="20045" cy="2634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92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68" y="17939"/>
                    <a:ext cx="20045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81" name="Group 17"/>
                <p:cNvGrpSpPr/>
                <p:nvPr/>
              </p:nvGrpSpPr>
              <p:grpSpPr bwMode="auto">
                <a:xfrm>
                  <a:off x="14862" y="6992"/>
                  <a:ext cx="2313" cy="16496"/>
                  <a:chOff x="-24075" y="-433"/>
                  <a:chExt cx="20087" cy="25911"/>
                </a:xfrm>
              </p:grpSpPr>
              <p:sp>
                <p:nvSpPr>
                  <p:cNvPr id="26686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24004" y="-434"/>
                    <a:ext cx="20010" cy="25819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rgbClr val="F52EFC"/>
                        </a:solidFill>
                      </a:rPr>
                      <a:t>60</a:t>
                    </a:r>
                    <a:endParaRPr lang="en-US" altLang="zh-CN" sz="2400">
                      <a:solidFill>
                        <a:srgbClr val="F52EFC"/>
                      </a:solidFill>
                    </a:endParaRPr>
                  </a:p>
                </p:txBody>
              </p:sp>
              <p:sp>
                <p:nvSpPr>
                  <p:cNvPr id="90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24082" y="17711"/>
                    <a:ext cx="19777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85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32"/>
                  <a:ext cx="233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6" name="Line 26"/>
                <p:cNvSpPr>
                  <a:spLocks noChangeShapeType="1"/>
                </p:cNvSpPr>
                <p:nvPr/>
              </p:nvSpPr>
              <p:spPr bwMode="auto">
                <a:xfrm>
                  <a:off x="7757" y="13080"/>
                  <a:ext cx="2367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7" name="Line 27"/>
                <p:cNvSpPr>
                  <a:spLocks noChangeShapeType="1"/>
                </p:cNvSpPr>
                <p:nvPr/>
              </p:nvSpPr>
              <p:spPr bwMode="auto">
                <a:xfrm>
                  <a:off x="11159" y="13297"/>
                  <a:ext cx="230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88" name="Line 28"/>
                <p:cNvSpPr>
                  <a:spLocks noChangeShapeType="1"/>
                </p:cNvSpPr>
                <p:nvPr/>
              </p:nvSpPr>
              <p:spPr bwMode="auto">
                <a:xfrm>
                  <a:off x="14915" y="12502"/>
                  <a:ext cx="229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77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70" name="Freeform 25"/>
            <p:cNvSpPr/>
            <p:nvPr/>
          </p:nvSpPr>
          <p:spPr bwMode="auto">
            <a:xfrm flipH="1">
              <a:off x="2795093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1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72" name="Freeform 25"/>
            <p:cNvSpPr/>
            <p:nvPr/>
          </p:nvSpPr>
          <p:spPr bwMode="auto">
            <a:xfrm flipH="1">
              <a:off x="5334012" y="545887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矩形 74"/>
            <p:cNvSpPr/>
            <p:nvPr/>
          </p:nvSpPr>
          <p:spPr bwMode="auto">
            <a:xfrm>
              <a:off x="6376984" y="5977426"/>
              <a:ext cx="333388" cy="3701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" name="组合 96"/>
          <p:cNvGrpSpPr/>
          <p:nvPr/>
        </p:nvGrpSpPr>
        <p:grpSpPr bwMode="auto">
          <a:xfrm>
            <a:off x="7134225" y="5097463"/>
            <a:ext cx="658813" cy="490537"/>
            <a:chOff x="3630426" y="5323431"/>
            <a:chExt cx="658813" cy="491486"/>
          </a:xfrm>
        </p:grpSpPr>
        <p:sp>
          <p:nvSpPr>
            <p:cNvPr id="26667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8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组合 99"/>
          <p:cNvGrpSpPr/>
          <p:nvPr/>
        </p:nvGrpSpPr>
        <p:grpSpPr bwMode="auto">
          <a:xfrm>
            <a:off x="3373438" y="1835150"/>
            <a:ext cx="658812" cy="481013"/>
            <a:chOff x="3630426" y="5323431"/>
            <a:chExt cx="658813" cy="692729"/>
          </a:xfrm>
        </p:grpSpPr>
        <p:sp>
          <p:nvSpPr>
            <p:cNvPr id="26665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664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66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7" name="组合 38"/>
          <p:cNvGrpSpPr/>
          <p:nvPr/>
        </p:nvGrpSpPr>
        <p:grpSpPr bwMode="auto">
          <a:xfrm>
            <a:off x="1446213" y="5040313"/>
            <a:ext cx="6621462" cy="1657350"/>
            <a:chOff x="502997" y="4711282"/>
            <a:chExt cx="6621337" cy="1656949"/>
          </a:xfrm>
        </p:grpSpPr>
        <p:grpSp>
          <p:nvGrpSpPr>
            <p:cNvPr id="26640" name="Group 3"/>
            <p:cNvGrpSpPr/>
            <p:nvPr/>
          </p:nvGrpSpPr>
          <p:grpSpPr bwMode="auto">
            <a:xfrm>
              <a:off x="502997" y="4711282"/>
              <a:ext cx="6621337" cy="1656949"/>
              <a:chOff x="4981" y="11162"/>
              <a:chExt cx="3972" cy="1122"/>
            </a:xfrm>
          </p:grpSpPr>
          <p:grpSp>
            <p:nvGrpSpPr>
              <p:cNvPr id="26645" name="Group 4"/>
              <p:cNvGrpSpPr/>
              <p:nvPr/>
            </p:nvGrpSpPr>
            <p:grpSpPr bwMode="auto">
              <a:xfrm>
                <a:off x="5609" y="11228"/>
                <a:ext cx="3344" cy="1056"/>
                <a:chOff x="1976" y="285"/>
                <a:chExt cx="15686" cy="23625"/>
              </a:xfrm>
            </p:grpSpPr>
            <p:sp>
              <p:nvSpPr>
                <p:cNvPr id="112" name="Rectangle 6"/>
                <p:cNvSpPr>
                  <a:spLocks noChangeArrowheads="1"/>
                </p:cNvSpPr>
                <p:nvPr/>
              </p:nvSpPr>
              <p:spPr bwMode="auto">
                <a:xfrm>
                  <a:off x="1974" y="275"/>
                  <a:ext cx="2242" cy="4256"/>
                </a:xfrm>
                <a:prstGeom prst="rect">
                  <a:avLst/>
                </a:prstGeom>
                <a:noFill/>
                <a:ln w="2857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lIns="12700" tIns="12700" rIns="12700" bIns="12700"/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>
                    <a:defRPr/>
                  </a:pPr>
                  <a:endParaRPr lang="zh-CN" altLang="zh-CN">
                    <a:latin typeface="+mn-lt"/>
                  </a:endParaRPr>
                </a:p>
              </p:txBody>
            </p:sp>
            <p:grpSp>
              <p:nvGrpSpPr>
                <p:cNvPr id="26648" name="Group 7"/>
                <p:cNvGrpSpPr/>
                <p:nvPr/>
              </p:nvGrpSpPr>
              <p:grpSpPr bwMode="auto">
                <a:xfrm>
                  <a:off x="4112" y="7204"/>
                  <a:ext cx="2313" cy="16462"/>
                  <a:chOff x="-1465" y="386"/>
                  <a:chExt cx="20088" cy="26489"/>
                </a:xfrm>
              </p:grpSpPr>
              <p:sp>
                <p:nvSpPr>
                  <p:cNvPr id="26663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-1916" y="340"/>
                    <a:ext cx="20523" cy="26540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B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59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30" name="Line 9"/>
                  <p:cNvSpPr>
                    <a:spLocks noChangeShapeType="1"/>
                  </p:cNvSpPr>
                  <p:nvPr/>
                </p:nvSpPr>
                <p:spPr bwMode="auto">
                  <a:xfrm>
                    <a:off x="-2460" y="18795"/>
                    <a:ext cx="2106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26649" name="Freeform 10"/>
                <p:cNvSpPr/>
                <p:nvPr/>
              </p:nvSpPr>
              <p:spPr bwMode="auto">
                <a:xfrm>
                  <a:off x="3067" y="2710"/>
                  <a:ext cx="1153" cy="5465"/>
                </a:xfrm>
                <a:custGeom>
                  <a:avLst/>
                  <a:gdLst>
                    <a:gd name="T0" fmla="*/ 0 w 20000"/>
                    <a:gd name="T1" fmla="*/ 0 h 20000"/>
                    <a:gd name="T2" fmla="*/ 0 w 20000"/>
                    <a:gd name="T3" fmla="*/ 0 h 20000"/>
                    <a:gd name="T4" fmla="*/ 0 w 20000"/>
                    <a:gd name="T5" fmla="*/ 0 h 20000"/>
                    <a:gd name="T6" fmla="*/ 0 60000 65536"/>
                    <a:gd name="T7" fmla="*/ 0 60000 65536"/>
                    <a:gd name="T8" fmla="*/ 0 60000 65536"/>
                    <a:gd name="T9" fmla="*/ 0 w 20000"/>
                    <a:gd name="T10" fmla="*/ 0 h 20000"/>
                    <a:gd name="T11" fmla="*/ 20000 w 20000"/>
                    <a:gd name="T12" fmla="*/ 20000 h 200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000" h="20000">
                      <a:moveTo>
                        <a:pt x="0" y="0"/>
                      </a:moveTo>
                      <a:lnTo>
                        <a:pt x="0" y="19945"/>
                      </a:lnTo>
                      <a:lnTo>
                        <a:pt x="19945" y="19945"/>
                      </a:lnTo>
                    </a:path>
                  </a:pathLst>
                </a:custGeom>
                <a:noFill/>
                <a:ln w="28575">
                  <a:solidFill>
                    <a:srgbClr val="FFFF00"/>
                  </a:solidFill>
                  <a:round/>
                  <a:tailEnd type="arrow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650" name="Group 11"/>
                <p:cNvGrpSpPr/>
                <p:nvPr/>
              </p:nvGrpSpPr>
              <p:grpSpPr bwMode="auto">
                <a:xfrm>
                  <a:off x="7627" y="7180"/>
                  <a:ext cx="2465" cy="16486"/>
                  <a:chOff x="-1463" y="502"/>
                  <a:chExt cx="21405" cy="25682"/>
                </a:xfrm>
              </p:grpSpPr>
              <p:sp>
                <p:nvSpPr>
                  <p:cNvPr id="26661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-1910" y="458"/>
                    <a:ext cx="21838" cy="25732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D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60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8" name="Line 13"/>
                  <p:cNvSpPr>
                    <a:spLocks noChangeShapeType="1"/>
                  </p:cNvSpPr>
                  <p:nvPr/>
                </p:nvSpPr>
                <p:spPr bwMode="auto">
                  <a:xfrm>
                    <a:off x="-2298" y="18324"/>
                    <a:ext cx="22226" cy="37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51" name="Group 14"/>
                <p:cNvGrpSpPr/>
                <p:nvPr/>
              </p:nvGrpSpPr>
              <p:grpSpPr bwMode="auto">
                <a:xfrm>
                  <a:off x="11163" y="7414"/>
                  <a:ext cx="2411" cy="16496"/>
                  <a:chOff x="-25676" y="231"/>
                  <a:chExt cx="20934" cy="25911"/>
                </a:xfrm>
              </p:grpSpPr>
              <p:sp>
                <p:nvSpPr>
                  <p:cNvPr id="26659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-24788" y="234"/>
                    <a:ext cx="20052" cy="25908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C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76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6" name="Line 16"/>
                  <p:cNvSpPr>
                    <a:spLocks noChangeShapeType="1"/>
                  </p:cNvSpPr>
                  <p:nvPr/>
                </p:nvSpPr>
                <p:spPr bwMode="auto">
                  <a:xfrm>
                    <a:off x="-25680" y="17947"/>
                    <a:ext cx="20052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26652" name="Group 17"/>
                <p:cNvGrpSpPr/>
                <p:nvPr/>
              </p:nvGrpSpPr>
              <p:grpSpPr bwMode="auto">
                <a:xfrm>
                  <a:off x="15333" y="7362"/>
                  <a:ext cx="2329" cy="16496"/>
                  <a:chOff x="-19979" y="149"/>
                  <a:chExt cx="20226" cy="25911"/>
                </a:xfrm>
              </p:grpSpPr>
              <p:sp>
                <p:nvSpPr>
                  <p:cNvPr id="26657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-19964" y="-295"/>
                    <a:ext cx="19978" cy="26361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/>
                    </a:solidFill>
                    <a:miter lim="800000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12700" tIns="12700" rIns="12700" bIns="12700"/>
                  <a:lstStyle>
                    <a:lvl1pPr>
                      <a:spcBef>
                        <a:spcPct val="20000"/>
                      </a:spcBef>
                      <a:buClr>
                        <a:schemeClr val="hlink"/>
                      </a:buClr>
                      <a:buSzPct val="80000"/>
                      <a:buFont typeface="Wingdings" panose="05000000000000000000" pitchFamily="2" charset="2"/>
                      <a:buChar char="n"/>
                      <a:defRPr sz="32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sz="28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hlink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Tahoma" panose="020B060403050404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/>
                      <a:t>A</a:t>
                    </a:r>
                    <a:endParaRPr lang="en-US" altLang="zh-CN" sz="2400"/>
                  </a:p>
                  <a:p>
                    <a:pPr algn="ctr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2400"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</a:rPr>
                      <a:t>80</a:t>
                    </a:r>
                    <a:endParaRPr lang="en-US" altLang="zh-CN" sz="2400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endParaRPr>
                  </a:p>
                </p:txBody>
              </p:sp>
              <p:sp>
                <p:nvSpPr>
                  <p:cNvPr id="124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-19499" y="17758"/>
                    <a:ext cx="19746" cy="0"/>
                  </a:xfrm>
                  <a:prstGeom prst="line">
                    <a:avLst/>
                  </a:prstGeom>
                  <a:noFill/>
                  <a:ln w="28575">
                    <a:solidFill>
                      <a:schemeClr val="tx1"/>
                    </a:solidFill>
                    <a:round/>
                    <a:headEnd type="none" w="sm" len="sm"/>
                    <a:tailEnd type="none" w="med" len="lg"/>
                  </a:ln>
                  <a:effectLst/>
                </p:spPr>
                <p:txBody>
                  <a:bodyPr/>
                  <a:lstStyle/>
                  <a:p>
                    <a:pPr>
                      <a:defRPr/>
                    </a:pPr>
                    <a:endParaRPr lang="zh-CN" altLang="en-US">
                      <a:latin typeface="+mn-lt"/>
                    </a:endParaRPr>
                  </a:p>
                </p:txBody>
              </p:sp>
            </p:grpSp>
            <p:sp>
              <p:nvSpPr>
                <p:cNvPr id="119" name="Line 25"/>
                <p:cNvSpPr>
                  <a:spLocks noChangeShapeType="1"/>
                </p:cNvSpPr>
                <p:nvPr/>
              </p:nvSpPr>
              <p:spPr bwMode="auto">
                <a:xfrm>
                  <a:off x="4216" y="13018"/>
                  <a:ext cx="233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0" name="Line 26"/>
                <p:cNvSpPr>
                  <a:spLocks noChangeShapeType="1"/>
                </p:cNvSpPr>
                <p:nvPr/>
              </p:nvSpPr>
              <p:spPr bwMode="auto">
                <a:xfrm>
                  <a:off x="7759" y="13066"/>
                  <a:ext cx="2368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1" name="Line 27"/>
                <p:cNvSpPr>
                  <a:spLocks noChangeShapeType="1"/>
                </p:cNvSpPr>
                <p:nvPr/>
              </p:nvSpPr>
              <p:spPr bwMode="auto">
                <a:xfrm>
                  <a:off x="11163" y="13307"/>
                  <a:ext cx="2305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  <p:sp>
              <p:nvSpPr>
                <p:cNvPr id="122" name="Line 28"/>
                <p:cNvSpPr>
                  <a:spLocks noChangeShapeType="1"/>
                </p:cNvSpPr>
                <p:nvPr/>
              </p:nvSpPr>
              <p:spPr bwMode="auto">
                <a:xfrm>
                  <a:off x="15339" y="12658"/>
                  <a:ext cx="2296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 type="none" w="sm" len="sm"/>
                  <a:tailEnd type="none" w="med" len="lg"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zh-CN" altLang="en-US">
                    <a:latin typeface="+mn-lt"/>
                  </a:endParaRPr>
                </a:p>
              </p:txBody>
            </p:sp>
          </p:grpSp>
          <p:sp>
            <p:nvSpPr>
              <p:cNvPr id="111" name="Text Box 29"/>
              <p:cNvSpPr txBox="1">
                <a:spLocks noChangeArrowheads="1"/>
              </p:cNvSpPr>
              <p:nvPr/>
            </p:nvSpPr>
            <p:spPr bwMode="auto">
              <a:xfrm>
                <a:off x="4981" y="11162"/>
                <a:ext cx="631" cy="256"/>
              </a:xfrm>
              <a:prstGeom prst="rect">
                <a:avLst/>
              </a:prstGeom>
              <a:noFill/>
              <a:ln w="38100">
                <a:noFill/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base: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</p:txBody>
          </p:sp>
        </p:grpSp>
        <p:sp>
          <p:nvSpPr>
            <p:cNvPr id="26641" name="Freeform 25"/>
            <p:cNvSpPr/>
            <p:nvPr/>
          </p:nvSpPr>
          <p:spPr bwMode="auto">
            <a:xfrm flipH="1">
              <a:off x="2795093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25"/>
            <p:cNvSpPr/>
            <p:nvPr/>
          </p:nvSpPr>
          <p:spPr bwMode="auto">
            <a:xfrm flipH="1">
              <a:off x="4062911" y="5445226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25"/>
            <p:cNvSpPr/>
            <p:nvPr/>
          </p:nvSpPr>
          <p:spPr bwMode="auto">
            <a:xfrm flipH="1">
              <a:off x="5538141" y="5422893"/>
              <a:ext cx="777758" cy="725261"/>
            </a:xfrm>
            <a:custGeom>
              <a:avLst/>
              <a:gdLst>
                <a:gd name="T0" fmla="*/ 2147483646 w 20000"/>
                <a:gd name="T1" fmla="*/ 2147483646 h 20000"/>
                <a:gd name="T2" fmla="*/ 2147483646 w 20000"/>
                <a:gd name="T3" fmla="*/ 2147483646 h 20000"/>
                <a:gd name="T4" fmla="*/ 2147483646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矩形 108"/>
            <p:cNvSpPr/>
            <p:nvPr/>
          </p:nvSpPr>
          <p:spPr bwMode="auto">
            <a:xfrm>
              <a:off x="6544908" y="5988910"/>
              <a:ext cx="333369" cy="36821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eaLnBrk="1" hangingPunct="1">
                <a:defRPr/>
              </a:pPr>
              <a:r>
                <a:rPr lang="en-US" altLang="zh-CN" dirty="0">
                  <a:latin typeface="+mn-lt"/>
                  <a:ea typeface="黑体" panose="02010609060101010101" pitchFamily="49" charset="-122"/>
                  <a:cs typeface="Times New Roman" panose="02020603050405020304" pitchFamily="18" charset="0"/>
                </a:rPr>
                <a:t>•</a:t>
              </a:r>
              <a:endPara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8" name="组合 130"/>
          <p:cNvGrpSpPr/>
          <p:nvPr/>
        </p:nvGrpSpPr>
        <p:grpSpPr bwMode="auto">
          <a:xfrm>
            <a:off x="8232775" y="6367463"/>
            <a:ext cx="658813" cy="490537"/>
            <a:chOff x="3630426" y="5323431"/>
            <a:chExt cx="658813" cy="470445"/>
          </a:xfrm>
        </p:grpSpPr>
        <p:sp>
          <p:nvSpPr>
            <p:cNvPr id="26638" name="文本框 77"/>
            <p:cNvSpPr txBox="1">
              <a:spLocks noChangeArrowheads="1"/>
            </p:cNvSpPr>
            <p:nvPr/>
          </p:nvSpPr>
          <p:spPr bwMode="auto">
            <a:xfrm>
              <a:off x="3630426" y="5351367"/>
              <a:ext cx="658813" cy="4425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26639" name="直接箭头连接符 59"/>
            <p:cNvCxnSpPr>
              <a:cxnSpLocks noChangeShapeType="1"/>
            </p:cNvCxnSpPr>
            <p:nvPr/>
          </p:nvCxnSpPr>
          <p:spPr bwMode="auto">
            <a:xfrm>
              <a:off x="3956071" y="5323431"/>
              <a:ext cx="0" cy="461962"/>
            </a:xfrm>
            <a:prstGeom prst="straightConnector1">
              <a:avLst/>
            </a:prstGeom>
            <a:noFill/>
            <a:ln w="38100" algn="ctr">
              <a:solidFill>
                <a:srgbClr val="F52EFC"/>
              </a:solidFill>
              <a:round/>
              <a:head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标题 1"/>
          <p:cNvSpPr>
            <a:spLocks noGrp="1" noChangeArrowheads="1"/>
          </p:cNvSpPr>
          <p:nvPr>
            <p:ph type="title"/>
          </p:nvPr>
        </p:nvSpPr>
        <p:spPr>
          <a:xfrm>
            <a:off x="1682750" y="6350"/>
            <a:ext cx="8229600" cy="573088"/>
          </a:xfrm>
        </p:spPr>
        <p:txBody>
          <a:bodyPr/>
          <a:lstStyle/>
          <a:p>
            <a:pPr>
              <a:defRPr/>
            </a:pPr>
            <a:r>
              <a:rPr lang="zh-CN" altLang="en-US"/>
              <a:t>插入排序</a:t>
            </a:r>
            <a:r>
              <a:rPr lang="en-US" altLang="zh-CN"/>
              <a:t>——PAD</a:t>
            </a:r>
            <a:endParaRPr lang="zh-CN" altLang="en-US"/>
          </a:p>
        </p:txBody>
      </p:sp>
      <p:sp>
        <p:nvSpPr>
          <p:cNvPr id="13619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BB29A85-AA9E-47FF-A1BD-5B21DD6A736B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2" name="组合 3"/>
          <p:cNvGrpSpPr/>
          <p:nvPr/>
        </p:nvGrpSpPr>
        <p:grpSpPr bwMode="auto">
          <a:xfrm>
            <a:off x="2338388" y="1754188"/>
            <a:ext cx="4814887" cy="1336675"/>
            <a:chOff x="814896" y="1753596"/>
            <a:chExt cx="4814379" cy="1336585"/>
          </a:xfrm>
        </p:grpSpPr>
        <p:sp>
          <p:nvSpPr>
            <p:cNvPr id="12" name="Line 9"/>
            <p:cNvSpPr>
              <a:spLocks noChangeShapeType="1"/>
            </p:cNvSpPr>
            <p:nvPr/>
          </p:nvSpPr>
          <p:spPr bwMode="auto">
            <a:xfrm>
              <a:off x="997439" y="2179017"/>
              <a:ext cx="0" cy="4381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3" name="Line 10"/>
            <p:cNvSpPr>
              <a:spLocks noChangeShapeType="1"/>
            </p:cNvSpPr>
            <p:nvPr/>
          </p:nvSpPr>
          <p:spPr bwMode="auto">
            <a:xfrm flipH="1">
              <a:off x="3178434" y="1890112"/>
              <a:ext cx="0" cy="113974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8698" name="组合 2"/>
            <p:cNvGrpSpPr/>
            <p:nvPr/>
          </p:nvGrpSpPr>
          <p:grpSpPr bwMode="auto">
            <a:xfrm>
              <a:off x="814896" y="1753596"/>
              <a:ext cx="4814379" cy="1336585"/>
              <a:chOff x="814896" y="1753596"/>
              <a:chExt cx="4814379" cy="1336585"/>
            </a:xfrm>
          </p:grpSpPr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814896" y="2194891"/>
                <a:ext cx="1766701" cy="422247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  <a:ea typeface="+mn-ea"/>
                  </a:rPr>
                  <a:t>p!=NULL</a:t>
                </a:r>
                <a:endParaRPr lang="en-US" altLang="zh-CN" dirty="0">
                  <a:latin typeface="+mn-lt"/>
                  <a:ea typeface="+mn-ea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>
                <a:off x="2581597" y="2420301"/>
                <a:ext cx="59842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3178434" y="1753596"/>
                <a:ext cx="2450841" cy="422247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dirty="0">
                    <a:solidFill>
                      <a:srgbClr val="F52EFC"/>
                    </a:solidFill>
                    <a:latin typeface="+mn-lt"/>
                    <a:ea typeface="+mn-ea"/>
                  </a:rPr>
                  <a:t>使</a:t>
                </a:r>
                <a:r>
                  <a:rPr lang="en-US" altLang="zh-CN" dirty="0">
                    <a:solidFill>
                      <a:srgbClr val="F52EFC"/>
                    </a:solidFill>
                    <a:latin typeface="+mn-lt"/>
                    <a:ea typeface="+mn-ea"/>
                  </a:rPr>
                  <a:t>base</a:t>
                </a:r>
                <a:r>
                  <a:rPr lang="zh-CN" altLang="en-US" dirty="0">
                    <a:solidFill>
                      <a:srgbClr val="F52EFC"/>
                    </a:solidFill>
                    <a:latin typeface="+mn-lt"/>
                    <a:ea typeface="+mn-ea"/>
                  </a:rPr>
                  <a:t>～</a:t>
                </a:r>
                <a:r>
                  <a:rPr lang="en-US" altLang="zh-CN" dirty="0">
                    <a:solidFill>
                      <a:srgbClr val="F52EFC"/>
                    </a:solidFill>
                    <a:latin typeface="+mn-lt"/>
                    <a:ea typeface="+mn-ea"/>
                  </a:rPr>
                  <a:t>p</a:t>
                </a:r>
                <a:r>
                  <a:rPr lang="zh-CN" altLang="en-US" dirty="0">
                    <a:solidFill>
                      <a:srgbClr val="F52EFC"/>
                    </a:solidFill>
                    <a:latin typeface="+mn-lt"/>
                    <a:ea typeface="+mn-ea"/>
                  </a:rPr>
                  <a:t>递增</a:t>
                </a:r>
                <a:endParaRPr lang="zh-CN" altLang="en-US" dirty="0">
                  <a:solidFill>
                    <a:srgbClr val="F52EFC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16" name="Rectangle 13"/>
              <p:cNvSpPr>
                <a:spLocks noChangeArrowheads="1"/>
              </p:cNvSpPr>
              <p:nvPr/>
            </p:nvSpPr>
            <p:spPr bwMode="auto">
              <a:xfrm>
                <a:off x="3184783" y="2313945"/>
                <a:ext cx="2238139" cy="776236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457200" algn="l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</a:rPr>
                  <a:t>p0=p;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endParaRPr>
              </a:p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  <a:ea typeface="+mn-ea"/>
                  </a:rPr>
                  <a:t>   p=p-&gt;next;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endParaRPr>
              </a:p>
            </p:txBody>
          </p:sp>
        </p:grpSp>
      </p:grpSp>
      <p:grpSp>
        <p:nvGrpSpPr>
          <p:cNvPr id="28677" name="组合 4"/>
          <p:cNvGrpSpPr/>
          <p:nvPr/>
        </p:nvGrpSpPr>
        <p:grpSpPr bwMode="auto">
          <a:xfrm>
            <a:off x="1876425" y="787400"/>
            <a:ext cx="2466975" cy="2968625"/>
            <a:chOff x="352425" y="787083"/>
            <a:chExt cx="2466947" cy="2968942"/>
          </a:xfrm>
        </p:grpSpPr>
        <p:sp>
          <p:nvSpPr>
            <p:cNvPr id="9" name="Line 6"/>
            <p:cNvSpPr>
              <a:spLocks noChangeShapeType="1"/>
            </p:cNvSpPr>
            <p:nvPr/>
          </p:nvSpPr>
          <p:spPr bwMode="auto">
            <a:xfrm>
              <a:off x="809620" y="1274498"/>
              <a:ext cx="4763" cy="200999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8688" name="Group 3"/>
            <p:cNvGrpSpPr/>
            <p:nvPr/>
          </p:nvGrpSpPr>
          <p:grpSpPr bwMode="auto">
            <a:xfrm>
              <a:off x="352425" y="787083"/>
              <a:ext cx="919746" cy="447976"/>
              <a:chOff x="1906" y="6826"/>
              <a:chExt cx="691" cy="258"/>
            </a:xfrm>
          </p:grpSpPr>
          <p:sp>
            <p:nvSpPr>
              <p:cNvPr id="21" name="Rectangle 4"/>
              <p:cNvSpPr>
                <a:spLocks noChangeArrowheads="1"/>
              </p:cNvSpPr>
              <p:nvPr/>
            </p:nvSpPr>
            <p:spPr bwMode="auto">
              <a:xfrm>
                <a:off x="1906" y="6849"/>
                <a:ext cx="691" cy="211"/>
              </a:xfrm>
              <a:prstGeom prst="rect">
                <a:avLst/>
              </a:prstGeom>
              <a:noFill/>
              <a:ln w="57150" algn="ctr">
                <a:noFill/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dirty="0">
                    <a:latin typeface="+mn-lt"/>
                    <a:ea typeface="+mn-ea"/>
                  </a:rPr>
                  <a:t>开始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22" name="Oval 5"/>
              <p:cNvSpPr>
                <a:spLocks noChangeArrowheads="1"/>
              </p:cNvSpPr>
              <p:nvPr/>
            </p:nvSpPr>
            <p:spPr bwMode="auto">
              <a:xfrm>
                <a:off x="1906" y="6826"/>
                <a:ext cx="691" cy="258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809620" y="1257033"/>
              <a:ext cx="1766868" cy="816062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p0=NULL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p = base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endParaRPr lang="en-US" altLang="zh-CN" dirty="0">
                <a:latin typeface="+mn-lt"/>
                <a:ea typeface="+mn-ea"/>
              </a:endParaRPr>
            </a:p>
          </p:txBody>
        </p:sp>
        <p:grpSp>
          <p:nvGrpSpPr>
            <p:cNvPr id="28690" name="Group 14"/>
            <p:cNvGrpSpPr/>
            <p:nvPr/>
          </p:nvGrpSpPr>
          <p:grpSpPr bwMode="auto">
            <a:xfrm>
              <a:off x="352425" y="3284793"/>
              <a:ext cx="922345" cy="471232"/>
              <a:chOff x="1874" y="7851"/>
              <a:chExt cx="693" cy="271"/>
            </a:xfrm>
          </p:grpSpPr>
          <p:sp>
            <p:nvSpPr>
              <p:cNvPr id="19" name="Rectangle 15"/>
              <p:cNvSpPr>
                <a:spLocks noChangeArrowheads="1"/>
              </p:cNvSpPr>
              <p:nvPr/>
            </p:nvSpPr>
            <p:spPr bwMode="auto">
              <a:xfrm>
                <a:off x="1874" y="7853"/>
                <a:ext cx="691" cy="211"/>
              </a:xfrm>
              <a:prstGeom prst="rect">
                <a:avLst/>
              </a:prstGeom>
              <a:noFill/>
              <a:ln w="57150" algn="ctr">
                <a:noFill/>
                <a:miter lim="800000"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zh-CN" altLang="en-US" dirty="0">
                    <a:latin typeface="+mn-lt"/>
                    <a:ea typeface="+mn-ea"/>
                  </a:rPr>
                  <a:t>结束</a:t>
                </a:r>
                <a:endParaRPr lang="zh-CN" altLang="en-US" dirty="0">
                  <a:latin typeface="+mn-lt"/>
                  <a:ea typeface="+mn-ea"/>
                </a:endParaRPr>
              </a:p>
            </p:txBody>
          </p:sp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1876" y="7851"/>
                <a:ext cx="691" cy="271"/>
              </a:xfrm>
              <a:prstGeom prst="ellipse">
                <a:avLst/>
              </a:prstGeom>
              <a:noFill/>
              <a:ln w="28575" algn="ctr">
                <a:solidFill>
                  <a:schemeClr val="tx1"/>
                </a:solidFill>
                <a:round/>
              </a:ln>
              <a:effectLst/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</p:grp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814383" y="2714514"/>
              <a:ext cx="2004989" cy="450898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return base</a:t>
              </a:r>
              <a:endPara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4872038" y="3814763"/>
            <a:ext cx="5338762" cy="2479675"/>
            <a:chOff x="766" y="2600"/>
            <a:chExt cx="3537" cy="1562"/>
          </a:xfrm>
        </p:grpSpPr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766" y="2627"/>
              <a:ext cx="1623" cy="244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solidFill>
                    <a:srgbClr val="F52EFC"/>
                  </a:solidFill>
                  <a:latin typeface="+mn-lt"/>
                  <a:ea typeface="+mn-ea"/>
                </a:rPr>
                <a:t>使</a:t>
              </a:r>
              <a:r>
                <a:rPr lang="en-US" altLang="zh-CN" dirty="0">
                  <a:solidFill>
                    <a:srgbClr val="F52EFC"/>
                  </a:solidFill>
                  <a:latin typeface="+mn-lt"/>
                  <a:ea typeface="+mn-ea"/>
                </a:rPr>
                <a:t>base</a:t>
              </a:r>
              <a:r>
                <a:rPr lang="zh-CN" altLang="en-US" dirty="0">
                  <a:solidFill>
                    <a:srgbClr val="F52EFC"/>
                  </a:solidFill>
                  <a:latin typeface="+mn-lt"/>
                  <a:ea typeface="+mn-ea"/>
                </a:rPr>
                <a:t>～</a:t>
              </a:r>
              <a:r>
                <a:rPr lang="en-US" altLang="zh-CN" dirty="0">
                  <a:solidFill>
                    <a:srgbClr val="F52EFC"/>
                  </a:solidFill>
                  <a:latin typeface="+mn-lt"/>
                  <a:ea typeface="+mn-ea"/>
                </a:rPr>
                <a:t>p</a:t>
              </a:r>
              <a:r>
                <a:rPr lang="zh-CN" altLang="en-US" dirty="0">
                  <a:solidFill>
                    <a:srgbClr val="F52EFC"/>
                  </a:solidFill>
                  <a:latin typeface="+mn-lt"/>
                  <a:ea typeface="+mn-ea"/>
                </a:rPr>
                <a:t>递增</a:t>
              </a:r>
              <a:endParaRPr lang="zh-CN" altLang="en-US" dirty="0">
                <a:solidFill>
                  <a:srgbClr val="F52EFC"/>
                </a:solidFill>
                <a:latin typeface="+mn-lt"/>
                <a:ea typeface="+mn-ea"/>
              </a:endParaRPr>
            </a:p>
          </p:txBody>
        </p:sp>
        <p:sp>
          <p:nvSpPr>
            <p:cNvPr id="25" name="Oval 20"/>
            <p:cNvSpPr>
              <a:spLocks noChangeArrowheads="1"/>
            </p:cNvSpPr>
            <p:nvPr/>
          </p:nvSpPr>
          <p:spPr bwMode="auto">
            <a:xfrm>
              <a:off x="766" y="2600"/>
              <a:ext cx="1623" cy="33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6" name="Line 21"/>
            <p:cNvSpPr>
              <a:spLocks noChangeShapeType="1"/>
            </p:cNvSpPr>
            <p:nvPr/>
          </p:nvSpPr>
          <p:spPr bwMode="auto">
            <a:xfrm>
              <a:off x="1565" y="2938"/>
              <a:ext cx="0" cy="9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7" name="Rectangle 22"/>
            <p:cNvSpPr>
              <a:spLocks noChangeArrowheads="1"/>
            </p:cNvSpPr>
            <p:nvPr/>
          </p:nvSpPr>
          <p:spPr bwMode="auto">
            <a:xfrm>
              <a:off x="1565" y="3048"/>
              <a:ext cx="2738" cy="297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latin typeface="+mn-lt"/>
                  <a:ea typeface="+mn-ea"/>
                </a:rPr>
                <a:t>寻找</a:t>
              </a:r>
              <a:r>
                <a:rPr lang="en-US" altLang="zh-CN" dirty="0">
                  <a:latin typeface="+mn-lt"/>
                  <a:ea typeface="+mn-ea"/>
                </a:rPr>
                <a:t>p</a:t>
              </a:r>
              <a:r>
                <a:rPr lang="zh-CN" altLang="en-US" dirty="0">
                  <a:latin typeface="+mn-lt"/>
                  <a:ea typeface="+mn-ea"/>
                </a:rPr>
                <a:t>应该插入的位置</a:t>
              </a:r>
              <a:r>
                <a:rPr lang="en-US" altLang="zh-CN" dirty="0">
                  <a:solidFill>
                    <a:srgbClr val="FFFF00"/>
                  </a:solidFill>
                  <a:latin typeface="+mn-lt"/>
                  <a:ea typeface="+mn-ea"/>
                </a:rPr>
                <a:t>r0</a:t>
              </a:r>
              <a:r>
                <a:rPr lang="zh-CN" altLang="en-US" dirty="0">
                  <a:solidFill>
                    <a:srgbClr val="FFFF00"/>
                  </a:solidFill>
                  <a:latin typeface="+mn-lt"/>
                  <a:ea typeface="+mn-ea"/>
                </a:rPr>
                <a:t>、</a:t>
              </a:r>
              <a:r>
                <a:rPr lang="en-US" altLang="zh-CN" dirty="0">
                  <a:solidFill>
                    <a:srgbClr val="FFFF00"/>
                  </a:solidFill>
                  <a:latin typeface="+mn-lt"/>
                  <a:ea typeface="+mn-ea"/>
                </a:rPr>
                <a:t>r</a:t>
              </a:r>
              <a:endParaRPr lang="en-US" altLang="zh-CN" dirty="0">
                <a:solidFill>
                  <a:srgbClr val="FFFF00"/>
                </a:solidFill>
                <a:latin typeface="+mn-lt"/>
                <a:ea typeface="+mn-ea"/>
              </a:endParaRPr>
            </a:p>
            <a:p>
              <a:pPr algn="ctr">
                <a:defRPr/>
              </a:pPr>
              <a:endParaRPr lang="en-US" altLang="zh-CN" dirty="0">
                <a:latin typeface="+mn-lt"/>
                <a:ea typeface="+mn-ea"/>
              </a:endParaRPr>
            </a:p>
          </p:txBody>
        </p:sp>
        <p:sp>
          <p:nvSpPr>
            <p:cNvPr id="28" name="Rectangle 23"/>
            <p:cNvSpPr>
              <a:spLocks noChangeArrowheads="1"/>
            </p:cNvSpPr>
            <p:nvPr/>
          </p:nvSpPr>
          <p:spPr bwMode="auto">
            <a:xfrm>
              <a:off x="1565" y="3482"/>
              <a:ext cx="2535" cy="273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dirty="0">
                  <a:solidFill>
                    <a:srgbClr val="FFFF00"/>
                  </a:solidFill>
                  <a:latin typeface="+mn-lt"/>
                  <a:ea typeface="+mn-ea"/>
                </a:rPr>
                <a:t>p</a:t>
              </a:r>
              <a:r>
                <a:rPr lang="zh-CN" altLang="en-US" dirty="0">
                  <a:solidFill>
                    <a:srgbClr val="FFFF00"/>
                  </a:solidFill>
                  <a:latin typeface="+mn-lt"/>
                  <a:ea typeface="+mn-ea"/>
                </a:rPr>
                <a:t>插入</a:t>
              </a:r>
              <a:r>
                <a:rPr lang="zh-CN" altLang="en-US" dirty="0">
                  <a:latin typeface="+mn-lt"/>
                  <a:ea typeface="+mn-ea"/>
                </a:rPr>
                <a:t>到 </a:t>
              </a:r>
              <a:r>
                <a:rPr lang="en-US" altLang="zh-CN" dirty="0">
                  <a:latin typeface="+mn-lt"/>
                  <a:ea typeface="+mn-ea"/>
                </a:rPr>
                <a:t>r0</a:t>
              </a:r>
              <a:r>
                <a:rPr lang="zh-CN" altLang="en-US" dirty="0">
                  <a:latin typeface="+mn-lt"/>
                  <a:ea typeface="+mn-ea"/>
                </a:rPr>
                <a:t>、</a:t>
              </a:r>
              <a:r>
                <a:rPr lang="en-US" altLang="zh-CN" dirty="0">
                  <a:latin typeface="+mn-lt"/>
                  <a:ea typeface="+mn-ea"/>
                </a:rPr>
                <a:t>r </a:t>
              </a:r>
              <a:r>
                <a:rPr lang="zh-CN" altLang="en-US" dirty="0">
                  <a:latin typeface="+mn-lt"/>
                  <a:ea typeface="+mn-ea"/>
                </a:rPr>
                <a:t>之间</a:t>
              </a:r>
              <a:endParaRPr lang="zh-CN" altLang="en-US" dirty="0">
                <a:latin typeface="+mn-lt"/>
                <a:ea typeface="+mn-ea"/>
              </a:endParaRPr>
            </a:p>
          </p:txBody>
        </p:sp>
        <p:sp>
          <p:nvSpPr>
            <p:cNvPr id="29" name="Rectangle 24"/>
            <p:cNvSpPr>
              <a:spLocks noChangeArrowheads="1"/>
            </p:cNvSpPr>
            <p:nvPr/>
          </p:nvSpPr>
          <p:spPr bwMode="auto">
            <a:xfrm>
              <a:off x="1257" y="3890"/>
              <a:ext cx="582" cy="27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dirty="0">
                  <a:latin typeface="+mn-lt"/>
                  <a:ea typeface="+mn-ea"/>
                </a:rPr>
                <a:t>结束</a:t>
              </a:r>
              <a:endParaRPr lang="zh-CN" altLang="en-US" dirty="0">
                <a:latin typeface="+mn-lt"/>
                <a:ea typeface="+mn-ea"/>
              </a:endParaRPr>
            </a:p>
          </p:txBody>
        </p:sp>
        <p:sp>
          <p:nvSpPr>
            <p:cNvPr id="30" name="Oval 25"/>
            <p:cNvSpPr>
              <a:spLocks noChangeArrowheads="1"/>
            </p:cNvSpPr>
            <p:nvPr/>
          </p:nvSpPr>
          <p:spPr bwMode="auto">
            <a:xfrm>
              <a:off x="1257" y="3884"/>
              <a:ext cx="582" cy="278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4572000" y="1641475"/>
            <a:ext cx="2806700" cy="598170"/>
          </a:xfrm>
          <a:prstGeom prst="rect">
            <a:avLst/>
          </a:prstGeom>
          <a:noFill/>
          <a:ln w="34925">
            <a:solidFill>
              <a:srgbClr val="FFFF00"/>
            </a:solidFill>
            <a:prstDash val="sysDash"/>
          </a:ln>
        </p:spPr>
        <p:txBody>
          <a:bodyPr wrap="square" lIns="0" rIns="0" rtlCol="0" anchor="ctr">
            <a:noAutofit/>
          </a:bodyPr>
          <a:lstStyle/>
          <a:p>
            <a:pPr algn="ctr"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43600" y="4429760"/>
            <a:ext cx="4642485" cy="654685"/>
          </a:xfrm>
          <a:prstGeom prst="rect">
            <a:avLst/>
          </a:prstGeom>
          <a:noFill/>
          <a:ln w="34925">
            <a:solidFill>
              <a:srgbClr val="FFFF00"/>
            </a:solidFill>
            <a:prstDash val="sysDash"/>
          </a:ln>
        </p:spPr>
        <p:txBody>
          <a:bodyPr wrap="square" lIns="0" rIns="0" rtlCol="0" anchor="ctr">
            <a:noAutofit/>
          </a:bodyPr>
          <a:lstStyle/>
          <a:p>
            <a:pPr algn="ctr" eaLnBrk="1" hangingPunct="1">
              <a:buNone/>
            </a:pPr>
            <a:endParaRPr lang="zh-CN" altLang="en-US" sz="32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4" grpId="0" bldLvl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组合 84"/>
          <p:cNvGrpSpPr/>
          <p:nvPr/>
        </p:nvGrpSpPr>
        <p:grpSpPr bwMode="auto">
          <a:xfrm>
            <a:off x="5638800" y="285115"/>
            <a:ext cx="1849120" cy="561288"/>
            <a:chOff x="5588946" y="79193"/>
            <a:chExt cx="1832224" cy="561224"/>
          </a:xfrm>
        </p:grpSpPr>
        <p:sp>
          <p:nvSpPr>
            <p:cNvPr id="29723" name="文本框 3"/>
            <p:cNvSpPr txBox="1">
              <a:spLocks noChangeArrowheads="1"/>
            </p:cNvSpPr>
            <p:nvPr/>
          </p:nvSpPr>
          <p:spPr bwMode="auto">
            <a:xfrm>
              <a:off x="5588946" y="79193"/>
              <a:ext cx="658812" cy="460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24" name="文本框 76"/>
            <p:cNvSpPr txBox="1">
              <a:spLocks noChangeArrowheads="1"/>
            </p:cNvSpPr>
            <p:nvPr/>
          </p:nvSpPr>
          <p:spPr bwMode="auto">
            <a:xfrm>
              <a:off x="6762358" y="180094"/>
              <a:ext cx="658812" cy="460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25" name="直接箭头连接符 2"/>
            <p:cNvCxnSpPr>
              <a:cxnSpLocks noChangeShapeType="1"/>
            </p:cNvCxnSpPr>
            <p:nvPr/>
          </p:nvCxnSpPr>
          <p:spPr bwMode="auto">
            <a:xfrm>
              <a:off x="5588946" y="123643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26" name="直接箭头连接符 58"/>
            <p:cNvCxnSpPr>
              <a:cxnSpLocks noChangeShapeType="1"/>
            </p:cNvCxnSpPr>
            <p:nvPr/>
          </p:nvCxnSpPr>
          <p:spPr bwMode="auto">
            <a:xfrm>
              <a:off x="6784071" y="13316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10594" name="标题 1"/>
          <p:cNvSpPr>
            <a:spLocks noGrp="1" noChangeArrowheads="1"/>
          </p:cNvSpPr>
          <p:nvPr>
            <p:ph type="title"/>
          </p:nvPr>
        </p:nvSpPr>
        <p:spPr>
          <a:xfrm>
            <a:off x="219075" y="169863"/>
            <a:ext cx="2663825" cy="481012"/>
          </a:xfrm>
        </p:spPr>
        <p:txBody>
          <a:bodyPr/>
          <a:lstStyle/>
          <a:p>
            <a:pPr algn="l"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endParaRPr lang="zh-CN" altLang="en-US" dirty="0">
              <a:solidFill>
                <a:srgbClr val="FFC000"/>
              </a:solidFill>
            </a:endParaRPr>
          </a:p>
        </p:txBody>
      </p:sp>
      <p:grpSp>
        <p:nvGrpSpPr>
          <p:cNvPr id="29700" name="Group 23"/>
          <p:cNvGrpSpPr/>
          <p:nvPr/>
        </p:nvGrpSpPr>
        <p:grpSpPr bwMode="auto">
          <a:xfrm>
            <a:off x="0" y="2971800"/>
            <a:ext cx="8466455" cy="3962400"/>
            <a:chOff x="547" y="119"/>
            <a:chExt cx="6249" cy="1742"/>
          </a:xfrm>
        </p:grpSpPr>
        <p:sp>
          <p:nvSpPr>
            <p:cNvPr id="8" name="Rectangle 24"/>
            <p:cNvSpPr>
              <a:spLocks noChangeArrowheads="1"/>
            </p:cNvSpPr>
            <p:nvPr/>
          </p:nvSpPr>
          <p:spPr bwMode="auto">
            <a:xfrm>
              <a:off x="547" y="144"/>
              <a:ext cx="1759" cy="240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400" dirty="0">
                  <a:solidFill>
                    <a:srgbClr val="F52EFC"/>
                  </a:solidFill>
                  <a:latin typeface="+mn-lt"/>
                  <a:ea typeface="+mn-ea"/>
                </a:rPr>
                <a:t>寻找位置</a:t>
              </a:r>
              <a:r>
                <a:rPr lang="en-US" altLang="zh-CN" sz="2400" dirty="0">
                  <a:solidFill>
                    <a:srgbClr val="F52EFC"/>
                  </a:solidFill>
                  <a:latin typeface="+mn-lt"/>
                  <a:ea typeface="+mn-ea"/>
                </a:rPr>
                <a:t>r0,r</a:t>
              </a:r>
              <a:endParaRPr lang="en-US" altLang="zh-CN" sz="2400" dirty="0">
                <a:solidFill>
                  <a:srgbClr val="F52EFC"/>
                </a:solidFill>
                <a:latin typeface="+mn-lt"/>
                <a:ea typeface="+mn-ea"/>
              </a:endParaRPr>
            </a:p>
          </p:txBody>
        </p:sp>
        <p:sp>
          <p:nvSpPr>
            <p:cNvPr id="9" name="Oval 25"/>
            <p:cNvSpPr>
              <a:spLocks noChangeArrowheads="1"/>
            </p:cNvSpPr>
            <p:nvPr/>
          </p:nvSpPr>
          <p:spPr bwMode="auto">
            <a:xfrm>
              <a:off x="547" y="119"/>
              <a:ext cx="1860" cy="287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  <p:sp>
          <p:nvSpPr>
            <p:cNvPr id="10" name="Line 26"/>
            <p:cNvSpPr>
              <a:spLocks noChangeShapeType="1"/>
            </p:cNvSpPr>
            <p:nvPr/>
          </p:nvSpPr>
          <p:spPr bwMode="auto">
            <a:xfrm>
              <a:off x="1156" y="391"/>
              <a:ext cx="0" cy="117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11" name="Rectangle 27"/>
            <p:cNvSpPr>
              <a:spLocks noChangeArrowheads="1"/>
            </p:cNvSpPr>
            <p:nvPr/>
          </p:nvSpPr>
          <p:spPr bwMode="auto">
            <a:xfrm>
              <a:off x="1156" y="489"/>
              <a:ext cx="3151" cy="318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solidFill>
                    <a:schemeClr val="tx1"/>
                  </a:solidFill>
                  <a:latin typeface="+mn-lt"/>
                  <a:ea typeface="+mn-ea"/>
                </a:rPr>
                <a:t>r0=</a:t>
              </a:r>
              <a:r>
                <a:rPr lang="en-US" altLang="zh-CN" sz="2800" dirty="0" err="1">
                  <a:solidFill>
                    <a:schemeClr val="tx1"/>
                  </a:solidFill>
                  <a:latin typeface="+mn-lt"/>
                  <a:ea typeface="+mn-ea"/>
                </a:rPr>
                <a:t>NULL;r</a:t>
              </a:r>
              <a:r>
                <a:rPr lang="en-US" altLang="zh-CN" sz="2800" dirty="0">
                  <a:solidFill>
                    <a:schemeClr val="tx1"/>
                  </a:solidFill>
                  <a:latin typeface="+mn-lt"/>
                  <a:ea typeface="+mn-ea"/>
                </a:rPr>
                <a:t> </a:t>
              </a:r>
              <a:r>
                <a:rPr lang="en-US" altLang="zh-CN" sz="2800" dirty="0">
                  <a:latin typeface="+mn-lt"/>
                  <a:ea typeface="+mn-ea"/>
                </a:rPr>
                <a:t>= base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12" name="Rectangle 28"/>
            <p:cNvSpPr>
              <a:spLocks noChangeArrowheads="1"/>
            </p:cNvSpPr>
            <p:nvPr/>
          </p:nvSpPr>
          <p:spPr bwMode="auto">
            <a:xfrm>
              <a:off x="1156" y="981"/>
              <a:ext cx="2999" cy="499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 r-&gt;key </a:t>
              </a: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&lt; </a:t>
              </a:r>
              <a:r>
                <a:rPr lang="en-US" altLang="zh-CN" sz="2800" dirty="0">
                  <a:latin typeface="+mn-lt"/>
                  <a:ea typeface="+mn-ea"/>
                </a:rPr>
                <a:t>p-&gt;key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13" name="Line 29"/>
            <p:cNvSpPr>
              <a:spLocks noChangeShapeType="1"/>
            </p:cNvSpPr>
            <p:nvPr/>
          </p:nvSpPr>
          <p:spPr bwMode="auto">
            <a:xfrm>
              <a:off x="1291" y="981"/>
              <a:ext cx="0" cy="49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anchor="ctr"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grpSp>
          <p:nvGrpSpPr>
            <p:cNvPr id="29783" name="Group 30"/>
            <p:cNvGrpSpPr/>
            <p:nvPr/>
          </p:nvGrpSpPr>
          <p:grpSpPr bwMode="auto">
            <a:xfrm>
              <a:off x="4155" y="980"/>
              <a:ext cx="2641" cy="499"/>
              <a:chOff x="6877" y="2172"/>
              <a:chExt cx="1759" cy="430"/>
            </a:xfrm>
          </p:grpSpPr>
          <p:sp>
            <p:nvSpPr>
              <p:cNvPr id="17" name="Line 31"/>
              <p:cNvSpPr>
                <a:spLocks noChangeShapeType="1"/>
              </p:cNvSpPr>
              <p:nvPr/>
            </p:nvSpPr>
            <p:spPr bwMode="auto">
              <a:xfrm>
                <a:off x="6877" y="2363"/>
                <a:ext cx="10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</a:ln>
              <a:effectLst/>
            </p:spPr>
            <p:txBody>
              <a:bodyPr anchor="ctr"/>
              <a:lstStyle/>
              <a:p>
                <a:pPr>
                  <a:defRPr/>
                </a:pPr>
                <a:endParaRPr lang="zh-CN" altLang="en-US">
                  <a:latin typeface="+mn-lt"/>
                  <a:ea typeface="+mn-ea"/>
                </a:endParaRPr>
              </a:p>
            </p:txBody>
          </p:sp>
          <p:sp>
            <p:nvSpPr>
              <p:cNvPr id="18" name="Rectangle 32"/>
              <p:cNvSpPr>
                <a:spLocks noChangeArrowheads="1"/>
              </p:cNvSpPr>
              <p:nvPr/>
            </p:nvSpPr>
            <p:spPr bwMode="auto">
              <a:xfrm>
                <a:off x="6984" y="2172"/>
                <a:ext cx="1652" cy="430"/>
              </a:xfrm>
              <a:prstGeom prst="rect">
                <a:avLst/>
              </a:prstGeom>
              <a:noFill/>
              <a:ln w="28575" algn="ctr">
                <a:solidFill>
                  <a:schemeClr val="tx1"/>
                </a:solidFill>
                <a:miter lim="800000"/>
              </a:ln>
              <a:effectLst/>
            </p:spPr>
            <p:txBody>
              <a:bodyPr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indent="457200" algn="l">
                  <a:defRPr/>
                </a:pPr>
                <a:r>
                  <a:rPr lang="en-US" altLang="zh-CN" sz="2800" dirty="0">
                    <a:latin typeface="+mn-lt"/>
                    <a:ea typeface="+mn-ea"/>
                  </a:rPr>
                  <a:t>r0=r;</a:t>
                </a:r>
                <a:endParaRPr lang="en-US" altLang="zh-CN" sz="2800" dirty="0">
                  <a:latin typeface="+mn-lt"/>
                  <a:ea typeface="+mn-ea"/>
                </a:endParaRPr>
              </a:p>
              <a:p>
                <a:pPr indent="457200" algn="l">
                  <a:defRPr/>
                </a:pPr>
                <a:r>
                  <a:rPr lang="en-US" altLang="zh-CN" sz="2800" dirty="0">
                    <a:latin typeface="+mn-lt"/>
                    <a:ea typeface="+mn-ea"/>
                  </a:rPr>
                  <a:t>r=r-&gt;next; </a:t>
                </a:r>
                <a:endParaRPr lang="en-US" altLang="zh-CN" sz="2800" dirty="0">
                  <a:latin typeface="+mn-lt"/>
                  <a:ea typeface="+mn-ea"/>
                </a:endParaRPr>
              </a:p>
            </p:txBody>
          </p:sp>
        </p:grpSp>
        <p:sp>
          <p:nvSpPr>
            <p:cNvPr id="15" name="Rectangle 33"/>
            <p:cNvSpPr>
              <a:spLocks noChangeArrowheads="1"/>
            </p:cNvSpPr>
            <p:nvPr/>
          </p:nvSpPr>
          <p:spPr bwMode="auto">
            <a:xfrm>
              <a:off x="678" y="1603"/>
              <a:ext cx="901" cy="225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latin typeface="+mn-lt"/>
                  <a:ea typeface="+mn-ea"/>
                </a:rPr>
                <a:t>结束</a:t>
              </a:r>
              <a:endParaRPr lang="zh-CN" altLang="en-US" sz="2800" dirty="0">
                <a:latin typeface="+mn-lt"/>
                <a:ea typeface="+mn-ea"/>
              </a:endParaRPr>
            </a:p>
          </p:txBody>
        </p:sp>
        <p:sp>
          <p:nvSpPr>
            <p:cNvPr id="16" name="Oval 34"/>
            <p:cNvSpPr>
              <a:spLocks noChangeArrowheads="1"/>
            </p:cNvSpPr>
            <p:nvPr/>
          </p:nvSpPr>
          <p:spPr bwMode="auto">
            <a:xfrm>
              <a:off x="678" y="1570"/>
              <a:ext cx="901" cy="291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</p:grpSp>
      <p:sp>
        <p:nvSpPr>
          <p:cNvPr id="29703" name="Oval 5"/>
          <p:cNvSpPr>
            <a:spLocks noChangeArrowheads="1"/>
          </p:cNvSpPr>
          <p:nvPr/>
        </p:nvSpPr>
        <p:spPr bwMode="auto">
          <a:xfrm>
            <a:off x="5199063" y="78708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4" name="Oval 6"/>
          <p:cNvSpPr>
            <a:spLocks noChangeArrowheads="1"/>
          </p:cNvSpPr>
          <p:nvPr/>
        </p:nvSpPr>
        <p:spPr bwMode="auto">
          <a:xfrm>
            <a:off x="6646863" y="77438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5" name="Line 7"/>
          <p:cNvSpPr>
            <a:spLocks noChangeShapeType="1"/>
          </p:cNvSpPr>
          <p:nvPr/>
        </p:nvSpPr>
        <p:spPr bwMode="auto">
          <a:xfrm>
            <a:off x="5922963" y="105378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6" name="Line 8"/>
          <p:cNvSpPr>
            <a:spLocks noChangeShapeType="1"/>
          </p:cNvSpPr>
          <p:nvPr/>
        </p:nvSpPr>
        <p:spPr bwMode="auto">
          <a:xfrm>
            <a:off x="7383463" y="105378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07" name="Oval 9"/>
          <p:cNvSpPr>
            <a:spLocks noChangeArrowheads="1"/>
          </p:cNvSpPr>
          <p:nvPr/>
        </p:nvSpPr>
        <p:spPr bwMode="auto">
          <a:xfrm>
            <a:off x="8107363" y="77438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8" name="Oval 11"/>
          <p:cNvSpPr>
            <a:spLocks noChangeArrowheads="1"/>
          </p:cNvSpPr>
          <p:nvPr/>
        </p:nvSpPr>
        <p:spPr bwMode="auto">
          <a:xfrm>
            <a:off x="9580563" y="77438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>
            <a:off x="10317163" y="108235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6" name="Text Box 13"/>
          <p:cNvSpPr txBox="1">
            <a:spLocks noChangeArrowheads="1"/>
          </p:cNvSpPr>
          <p:nvPr/>
        </p:nvSpPr>
        <p:spPr bwMode="auto">
          <a:xfrm>
            <a:off x="5418138" y="787083"/>
            <a:ext cx="925512" cy="5191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10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47" name="Text Box 14"/>
          <p:cNvSpPr txBox="1">
            <a:spLocks noChangeArrowheads="1"/>
          </p:cNvSpPr>
          <p:nvPr/>
        </p:nvSpPr>
        <p:spPr bwMode="auto">
          <a:xfrm>
            <a:off x="6816725" y="798195"/>
            <a:ext cx="700088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11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2" name="Text Box 15"/>
          <p:cNvSpPr txBox="1">
            <a:spLocks noChangeArrowheads="1"/>
          </p:cNvSpPr>
          <p:nvPr/>
        </p:nvSpPr>
        <p:spPr bwMode="auto">
          <a:xfrm>
            <a:off x="8166100" y="785495"/>
            <a:ext cx="54292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52EFC"/>
                </a:solidFill>
                <a:latin typeface="Times New Roman" panose="02020603050405020304" pitchFamily="18" charset="0"/>
              </a:rPr>
              <a:t>13</a:t>
            </a:r>
            <a:endParaRPr kumimoji="1" lang="en-US" altLang="zh-CN" sz="2800">
              <a:solidFill>
                <a:srgbClr val="F52EF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713" name="Text Box 16"/>
          <p:cNvSpPr txBox="1">
            <a:spLocks noChangeArrowheads="1"/>
          </p:cNvSpPr>
          <p:nvPr/>
        </p:nvSpPr>
        <p:spPr bwMode="auto">
          <a:xfrm>
            <a:off x="9675813" y="761683"/>
            <a:ext cx="6540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12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9714" name="Group 17"/>
          <p:cNvGrpSpPr/>
          <p:nvPr/>
        </p:nvGrpSpPr>
        <p:grpSpPr bwMode="auto">
          <a:xfrm>
            <a:off x="11018838" y="790258"/>
            <a:ext cx="962025" cy="546100"/>
            <a:chOff x="4104" y="936"/>
            <a:chExt cx="711" cy="344"/>
          </a:xfrm>
        </p:grpSpPr>
        <p:sp>
          <p:nvSpPr>
            <p:cNvPr id="29756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57" name="Text Box 19"/>
            <p:cNvSpPr txBox="1">
              <a:spLocks noChangeArrowheads="1"/>
            </p:cNvSpPr>
            <p:nvPr/>
          </p:nvSpPr>
          <p:spPr bwMode="auto">
            <a:xfrm>
              <a:off x="4240" y="946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rPr>
                <a:t>9</a:t>
              </a:r>
              <a:endPara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9715" name="文本框 77"/>
          <p:cNvSpPr txBox="1">
            <a:spLocks noChangeArrowheads="1"/>
          </p:cNvSpPr>
          <p:nvPr/>
        </p:nvSpPr>
        <p:spPr bwMode="auto">
          <a:xfrm>
            <a:off x="8709025" y="374650"/>
            <a:ext cx="658813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p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29716" name="Line 10"/>
          <p:cNvSpPr>
            <a:spLocks noChangeShapeType="1"/>
          </p:cNvSpPr>
          <p:nvPr/>
        </p:nvSpPr>
        <p:spPr bwMode="auto">
          <a:xfrm>
            <a:off x="8843963" y="104743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7137400" y="302895"/>
            <a:ext cx="1827213" cy="534988"/>
            <a:chOff x="7027478" y="63720"/>
            <a:chExt cx="1827212" cy="534988"/>
          </a:xfrm>
        </p:grpSpPr>
        <p:sp>
          <p:nvSpPr>
            <p:cNvPr id="29753" name="文本框 76"/>
            <p:cNvSpPr txBox="1">
              <a:spLocks noChangeArrowheads="1"/>
            </p:cNvSpPr>
            <p:nvPr/>
          </p:nvSpPr>
          <p:spPr bwMode="auto">
            <a:xfrm>
              <a:off x="8195878" y="135158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52" name="文本框 3"/>
            <p:cNvSpPr txBox="1">
              <a:spLocks noChangeArrowheads="1"/>
            </p:cNvSpPr>
            <p:nvPr/>
          </p:nvSpPr>
          <p:spPr bwMode="auto">
            <a:xfrm>
              <a:off x="7027478" y="63720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54" name="直接箭头连接符 2"/>
            <p:cNvCxnSpPr>
              <a:cxnSpLocks noChangeShapeType="1"/>
            </p:cNvCxnSpPr>
            <p:nvPr/>
          </p:nvCxnSpPr>
          <p:spPr bwMode="auto">
            <a:xfrm>
              <a:off x="7027478" y="108170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55" name="直接箭头连接符 58"/>
            <p:cNvCxnSpPr>
              <a:cxnSpLocks noChangeShapeType="1"/>
            </p:cNvCxnSpPr>
            <p:nvPr/>
          </p:nvCxnSpPr>
          <p:spPr bwMode="auto">
            <a:xfrm>
              <a:off x="8221913" y="117695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29718" name="直接箭头连接符 59"/>
          <p:cNvCxnSpPr>
            <a:cxnSpLocks noChangeShapeType="1"/>
          </p:cNvCxnSpPr>
          <p:nvPr/>
        </p:nvCxnSpPr>
        <p:spPr bwMode="auto">
          <a:xfrm>
            <a:off x="8633460" y="336233"/>
            <a:ext cx="0" cy="461962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6" name="组合 5"/>
          <p:cNvGrpSpPr/>
          <p:nvPr/>
        </p:nvGrpSpPr>
        <p:grpSpPr bwMode="auto">
          <a:xfrm>
            <a:off x="5183188" y="1448118"/>
            <a:ext cx="6781800" cy="1100137"/>
            <a:chOff x="5182803" y="1296601"/>
            <a:chExt cx="6781800" cy="1100333"/>
          </a:xfrm>
        </p:grpSpPr>
        <p:sp>
          <p:nvSpPr>
            <p:cNvPr id="29731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2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3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4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735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6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37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0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429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41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F52EF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9742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29750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9751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000043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29743" name="文本框 3"/>
            <p:cNvSpPr txBox="1">
              <a:spLocks noChangeArrowheads="1"/>
            </p:cNvSpPr>
            <p:nvPr/>
          </p:nvSpPr>
          <p:spPr bwMode="auto">
            <a:xfrm>
              <a:off x="7011603" y="1350771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44" name="文本框 76"/>
            <p:cNvSpPr txBox="1">
              <a:spLocks noChangeArrowheads="1"/>
            </p:cNvSpPr>
            <p:nvPr/>
          </p:nvSpPr>
          <p:spPr bwMode="auto">
            <a:xfrm>
              <a:off x="8447735" y="1296601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45" name="文本框 77"/>
            <p:cNvSpPr txBox="1">
              <a:spLocks noChangeArrowheads="1"/>
            </p:cNvSpPr>
            <p:nvPr/>
          </p:nvSpPr>
          <p:spPr bwMode="auto">
            <a:xfrm>
              <a:off x="9987372" y="1334896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974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29747" name="直接箭头连接符 2"/>
            <p:cNvCxnSpPr>
              <a:cxnSpLocks noChangeShapeType="1"/>
            </p:cNvCxnSpPr>
            <p:nvPr/>
          </p:nvCxnSpPr>
          <p:spPr bwMode="auto">
            <a:xfrm>
              <a:off x="7011603" y="1395221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8" name="直接箭头连接符 58"/>
            <p:cNvCxnSpPr>
              <a:cxnSpLocks noChangeShapeType="1"/>
            </p:cNvCxnSpPr>
            <p:nvPr/>
          </p:nvCxnSpPr>
          <p:spPr bwMode="auto">
            <a:xfrm>
              <a:off x="8447735" y="139343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49" name="直接箭头连接符 59"/>
            <p:cNvCxnSpPr>
              <a:cxnSpLocks noChangeShapeType="1"/>
            </p:cNvCxnSpPr>
            <p:nvPr/>
          </p:nvCxnSpPr>
          <p:spPr bwMode="auto">
            <a:xfrm>
              <a:off x="10003247" y="1422209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" name="组合 2"/>
          <p:cNvGrpSpPr/>
          <p:nvPr/>
        </p:nvGrpSpPr>
        <p:grpSpPr bwMode="auto">
          <a:xfrm>
            <a:off x="4108450" y="285432"/>
            <a:ext cx="1928813" cy="515938"/>
            <a:chOff x="5588946" y="79193"/>
            <a:chExt cx="1928812" cy="515938"/>
          </a:xfrm>
        </p:grpSpPr>
        <p:sp>
          <p:nvSpPr>
            <p:cNvPr id="29727" name="文本框 3"/>
            <p:cNvSpPr txBox="1">
              <a:spLocks noChangeArrowheads="1"/>
            </p:cNvSpPr>
            <p:nvPr/>
          </p:nvSpPr>
          <p:spPr bwMode="auto">
            <a:xfrm>
              <a:off x="5588946" y="79193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9728" name="文本框 76"/>
            <p:cNvSpPr txBox="1">
              <a:spLocks noChangeArrowheads="1"/>
            </p:cNvSpPr>
            <p:nvPr/>
          </p:nvSpPr>
          <p:spPr bwMode="auto">
            <a:xfrm>
              <a:off x="6858946" y="111896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cxnSp>
          <p:nvCxnSpPr>
            <p:cNvPr id="29729" name="直接箭头连接符 2"/>
            <p:cNvCxnSpPr>
              <a:cxnSpLocks noChangeShapeType="1"/>
            </p:cNvCxnSpPr>
            <p:nvPr/>
          </p:nvCxnSpPr>
          <p:spPr bwMode="auto">
            <a:xfrm>
              <a:off x="5588946" y="123643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9730" name="直接箭头连接符 58"/>
            <p:cNvCxnSpPr>
              <a:cxnSpLocks noChangeShapeType="1"/>
            </p:cNvCxnSpPr>
            <p:nvPr/>
          </p:nvCxnSpPr>
          <p:spPr bwMode="auto">
            <a:xfrm>
              <a:off x="6858946" y="13316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7" name="组合 6"/>
          <p:cNvGrpSpPr/>
          <p:nvPr/>
        </p:nvGrpSpPr>
        <p:grpSpPr bwMode="auto">
          <a:xfrm>
            <a:off x="4343083" y="2697163"/>
            <a:ext cx="7744936" cy="1062037"/>
            <a:chOff x="4342698" y="1334708"/>
            <a:chExt cx="7744936" cy="1062226"/>
          </a:xfrm>
        </p:grpSpPr>
        <p:sp>
          <p:nvSpPr>
            <p:cNvPr id="14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51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F52EFC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3" name="文本框 3"/>
            <p:cNvSpPr txBox="1">
              <a:spLocks noChangeArrowheads="1"/>
            </p:cNvSpPr>
            <p:nvPr/>
          </p:nvSpPr>
          <p:spPr bwMode="auto">
            <a:xfrm>
              <a:off x="4342698" y="1360298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4" name="文本框 76"/>
            <p:cNvSpPr txBox="1">
              <a:spLocks noChangeArrowheads="1"/>
            </p:cNvSpPr>
            <p:nvPr/>
          </p:nvSpPr>
          <p:spPr bwMode="auto">
            <a:xfrm>
              <a:off x="5562295" y="1334708"/>
              <a:ext cx="658812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Arial" panose="020B0604020202020204" pitchFamily="34" charset="0"/>
                </a:rPr>
                <a:t>r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55" name="文本框 77"/>
            <p:cNvSpPr txBox="1">
              <a:spLocks noChangeArrowheads="1"/>
            </p:cNvSpPr>
            <p:nvPr/>
          </p:nvSpPr>
          <p:spPr bwMode="auto">
            <a:xfrm>
              <a:off x="11428822" y="1358395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7" name="直接箭头连接符 2"/>
            <p:cNvCxnSpPr>
              <a:cxnSpLocks noChangeShapeType="1"/>
            </p:cNvCxnSpPr>
            <p:nvPr/>
          </p:nvCxnSpPr>
          <p:spPr bwMode="auto">
            <a:xfrm>
              <a:off x="4342698" y="1412369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直接箭头连接符 58"/>
            <p:cNvCxnSpPr>
              <a:cxnSpLocks noChangeShapeType="1"/>
            </p:cNvCxnSpPr>
            <p:nvPr/>
          </p:nvCxnSpPr>
          <p:spPr bwMode="auto">
            <a:xfrm>
              <a:off x="5486095" y="1410586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直接箭头连接符 59"/>
            <p:cNvCxnSpPr>
              <a:cxnSpLocks noChangeShapeType="1"/>
            </p:cNvCxnSpPr>
            <p:nvPr/>
          </p:nvCxnSpPr>
          <p:spPr bwMode="auto">
            <a:xfrm>
              <a:off x="11352622" y="1397440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标题 1"/>
          <p:cNvSpPr>
            <a:spLocks noGrp="1" noChangeArrowheads="1"/>
          </p:cNvSpPr>
          <p:nvPr>
            <p:ph type="title"/>
          </p:nvPr>
        </p:nvSpPr>
        <p:spPr>
          <a:xfrm>
            <a:off x="219075" y="169863"/>
            <a:ext cx="2663825" cy="481012"/>
          </a:xfrm>
        </p:spPr>
        <p:txBody>
          <a:bodyPr/>
          <a:lstStyle/>
          <a:p>
            <a:pPr algn="l"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137221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743565" y="6400800"/>
            <a:ext cx="1055688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AFF8814-01A6-47AC-B5A8-09A99F730238}" type="slidenum">
              <a:rPr lang="en-US" altLang="zh-CN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grpSp>
        <p:nvGrpSpPr>
          <p:cNvPr id="5" name="Group 2"/>
          <p:cNvGrpSpPr/>
          <p:nvPr/>
        </p:nvGrpSpPr>
        <p:grpSpPr bwMode="auto">
          <a:xfrm>
            <a:off x="152400" y="2643505"/>
            <a:ext cx="9201785" cy="4059460"/>
            <a:chOff x="97238" y="1624"/>
            <a:chExt cx="7271965" cy="2577"/>
          </a:xfrm>
        </p:grpSpPr>
        <p:sp>
          <p:nvSpPr>
            <p:cNvPr id="20" name="Rectangle 3"/>
            <p:cNvSpPr>
              <a:spLocks noChangeArrowheads="1"/>
            </p:cNvSpPr>
            <p:nvPr/>
          </p:nvSpPr>
          <p:spPr bwMode="auto">
            <a:xfrm>
              <a:off x="97238" y="1950"/>
              <a:ext cx="1958552" cy="416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lnSpc>
                  <a:spcPts val="2200"/>
                </a:lnSpc>
                <a:defRPr/>
              </a:pP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插入到</a:t>
              </a:r>
              <a:endParaRPr lang="zh-CN" altLang="en-US" sz="2800" dirty="0">
                <a:solidFill>
                  <a:srgbClr val="F52EFC"/>
                </a:solidFill>
                <a:latin typeface="+mn-lt"/>
                <a:ea typeface="+mn-ea"/>
              </a:endParaRPr>
            </a:p>
            <a:p>
              <a:pPr algn="ctr">
                <a:lnSpc>
                  <a:spcPts val="2200"/>
                </a:lnSpc>
                <a:defRPr/>
              </a:pP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r0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、</a:t>
              </a: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r</a:t>
              </a:r>
              <a:r>
                <a:rPr lang="zh-CN" altLang="en-US" sz="2800" dirty="0">
                  <a:solidFill>
                    <a:srgbClr val="F52EFC"/>
                  </a:solidFill>
                  <a:latin typeface="+mn-lt"/>
                  <a:ea typeface="+mn-ea"/>
                </a:rPr>
                <a:t>之间</a:t>
              </a:r>
              <a:endParaRPr lang="zh-CN" altLang="en-US" sz="2800" dirty="0">
                <a:solidFill>
                  <a:srgbClr val="F52EFC"/>
                </a:solidFill>
                <a:latin typeface="+mn-lt"/>
                <a:ea typeface="+mn-ea"/>
              </a:endParaRPr>
            </a:p>
          </p:txBody>
        </p:sp>
        <p:sp>
          <p:nvSpPr>
            <p:cNvPr id="21" name="Oval 4"/>
            <p:cNvSpPr>
              <a:spLocks noChangeArrowheads="1"/>
            </p:cNvSpPr>
            <p:nvPr/>
          </p:nvSpPr>
          <p:spPr bwMode="auto">
            <a:xfrm>
              <a:off x="97238" y="1888"/>
              <a:ext cx="1958447" cy="529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  <p:sp>
          <p:nvSpPr>
            <p:cNvPr id="22" name="Line 5"/>
            <p:cNvSpPr>
              <a:spLocks noChangeShapeType="1"/>
            </p:cNvSpPr>
            <p:nvPr/>
          </p:nvSpPr>
          <p:spPr bwMode="auto">
            <a:xfrm flipH="1">
              <a:off x="1019327" y="2417"/>
              <a:ext cx="0" cy="93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446394" y="3354"/>
              <a:ext cx="1098254" cy="232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zh-CN" altLang="en-US" sz="2800" dirty="0">
                  <a:latin typeface="+mn-lt"/>
                  <a:ea typeface="+mn-ea"/>
                </a:rPr>
                <a:t>结束</a:t>
              </a:r>
              <a:endParaRPr lang="zh-CN" altLang="en-US" sz="2800" dirty="0">
                <a:latin typeface="+mn-lt"/>
                <a:ea typeface="+mn-ea"/>
              </a:endParaRPr>
            </a:p>
          </p:txBody>
        </p:sp>
        <p:sp>
          <p:nvSpPr>
            <p:cNvPr id="24" name="Oval 7"/>
            <p:cNvSpPr>
              <a:spLocks noChangeArrowheads="1"/>
            </p:cNvSpPr>
            <p:nvPr/>
          </p:nvSpPr>
          <p:spPr bwMode="auto">
            <a:xfrm>
              <a:off x="446394" y="3357"/>
              <a:ext cx="1098254" cy="310"/>
            </a:xfrm>
            <a:prstGeom prst="ellipse">
              <a:avLst/>
            </a:prstGeom>
            <a:noFill/>
            <a:ln w="28575" algn="ctr">
              <a:solidFill>
                <a:schemeClr val="tx1"/>
              </a:solidFill>
              <a:round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2800">
                <a:latin typeface="+mn-lt"/>
                <a:ea typeface="+mn-ea"/>
              </a:endParaRP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 bwMode="auto">
            <a:xfrm>
              <a:off x="1019327" y="2568"/>
              <a:ext cx="138233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 bwMode="auto">
            <a:xfrm flipV="1">
              <a:off x="1019327" y="3007"/>
              <a:ext cx="1098254" cy="1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 bwMode="auto">
            <a:xfrm flipH="1">
              <a:off x="1992202" y="2568"/>
              <a:ext cx="165056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 bwMode="auto">
            <a:xfrm flipH="1" flipV="1">
              <a:off x="1992202" y="2790"/>
              <a:ext cx="165056" cy="23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1087571" y="2624"/>
              <a:ext cx="815755" cy="353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 err="1">
                  <a:latin typeface="+mn-lt"/>
                  <a:ea typeface="+mn-ea"/>
                </a:rPr>
                <a:t>r≠p</a:t>
              </a:r>
              <a:endParaRPr lang="en-US" altLang="zh-CN" sz="2800" dirty="0" err="1">
                <a:latin typeface="+mn-lt"/>
                <a:ea typeface="+mn-ea"/>
              </a:endParaRPr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2401667" y="1624"/>
              <a:ext cx="3023373" cy="575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4000"/>
                </a:lnSpc>
                <a:defRPr/>
              </a:pPr>
              <a:r>
                <a:rPr lang="zh-CN" altLang="en-US" sz="2800" dirty="0">
                  <a:latin typeface="+mn-lt"/>
                  <a:ea typeface="+mn-ea"/>
                </a:rPr>
                <a:t>把</a:t>
              </a:r>
              <a:r>
                <a:rPr lang="en-US" altLang="zh-CN" sz="2800" dirty="0"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latin typeface="+mn-lt"/>
                  <a:ea typeface="+mn-ea"/>
                </a:rPr>
                <a:t>独立出来</a:t>
              </a:r>
              <a:r>
                <a:rPr lang="zh-CN" altLang="en-US" sz="2800" dirty="0">
                  <a:latin typeface="+mn-lt"/>
                  <a:ea typeface="+mn-ea"/>
                  <a:sym typeface="Wingdings" panose="05000000000000000000" pitchFamily="2" charset="2"/>
                </a:rPr>
                <a:t>给</a:t>
              </a: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q</a:t>
              </a:r>
              <a:r>
                <a:rPr lang="en-US" altLang="zh-CN" sz="2800" dirty="0">
                  <a:latin typeface="+mn-lt"/>
                  <a:ea typeface="+mn-ea"/>
                </a:rPr>
                <a:t>;</a:t>
              </a:r>
              <a:endParaRPr lang="en-US" altLang="zh-CN" sz="2800" dirty="0">
                <a:latin typeface="+mn-lt"/>
                <a:ea typeface="+mn-ea"/>
              </a:endParaRPr>
            </a:p>
            <a:p>
              <a:pPr>
                <a:lnSpc>
                  <a:spcPct val="90000"/>
                </a:lnSpc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p</a:t>
              </a:r>
              <a:r>
                <a:rPr lang="zh-CN" altLang="en-US" sz="2800" dirty="0">
                  <a:latin typeface="+mn-lt"/>
                  <a:ea typeface="+mn-ea"/>
                </a:rPr>
                <a:t>退到</a:t>
              </a:r>
              <a:r>
                <a:rPr lang="en-US" altLang="zh-CN" sz="2800" dirty="0">
                  <a:latin typeface="+mn-lt"/>
                  <a:ea typeface="+mn-ea"/>
                </a:rPr>
                <a:t>p0;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31" name="Rectangle 15"/>
            <p:cNvSpPr>
              <a:spLocks noChangeArrowheads="1"/>
            </p:cNvSpPr>
            <p:nvPr/>
          </p:nvSpPr>
          <p:spPr bwMode="auto">
            <a:xfrm>
              <a:off x="4417249" y="3395"/>
              <a:ext cx="2951954" cy="80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r>
                <a:rPr lang="zh-CN" altLang="en-US" sz="2800" dirty="0">
                  <a:solidFill>
                    <a:srgbClr val="FFC000"/>
                  </a:solidFill>
                  <a:latin typeface="+mn-lt"/>
                  <a:ea typeface="+mn-ea"/>
                </a:rPr>
                <a:t>插入到</a:t>
              </a:r>
              <a:r>
                <a:rPr lang="en-US" altLang="zh-CN" sz="2800" dirty="0">
                  <a:solidFill>
                    <a:srgbClr val="FFC000"/>
                  </a:solidFill>
                  <a:latin typeface="+mn-lt"/>
                  <a:ea typeface="+mn-ea"/>
                </a:rPr>
                <a:t>r0,r</a:t>
              </a:r>
              <a:r>
                <a:rPr lang="zh-CN" altLang="en-US" sz="2800" dirty="0">
                  <a:solidFill>
                    <a:srgbClr val="FFC000"/>
                  </a:solidFill>
                  <a:latin typeface="+mn-lt"/>
                  <a:ea typeface="+mn-ea"/>
                </a:rPr>
                <a:t>之间</a:t>
              </a:r>
              <a:r>
                <a:rPr lang="en-US" altLang="zh-CN" sz="2800" dirty="0">
                  <a:solidFill>
                    <a:srgbClr val="FFC000"/>
                  </a:solidFill>
                  <a:latin typeface="+mn-lt"/>
                  <a:ea typeface="+mn-ea"/>
                </a:rPr>
                <a:t>:</a:t>
              </a:r>
              <a:endParaRPr lang="en-US" altLang="zh-CN" sz="2800" dirty="0">
                <a:solidFill>
                  <a:srgbClr val="FFC000"/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q</a:t>
              </a:r>
              <a:r>
                <a:rPr lang="en-US" altLang="zh-CN" sz="2800" dirty="0">
                  <a:latin typeface="+mn-lt"/>
                  <a:ea typeface="+mn-ea"/>
                </a:rPr>
                <a:t>-&gt;next = r ; </a:t>
              </a:r>
              <a:endParaRPr lang="en-US" altLang="zh-CN" sz="2800" dirty="0"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r0-&gt;next = q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4417249" y="2359"/>
              <a:ext cx="2951954" cy="966"/>
            </a:xfrm>
            <a:prstGeom prst="rect">
              <a:avLst/>
            </a:prstGeom>
            <a:noFill/>
            <a:ln w="28575" algn="ctr">
              <a:solidFill>
                <a:schemeClr val="tx1"/>
              </a:solidFill>
              <a:miter lim="800000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lnSpc>
                  <a:spcPct val="64000"/>
                </a:lnSpc>
                <a:defRPr/>
              </a:pPr>
              <a:r>
                <a:rPr lang="zh-CN" altLang="en-US" sz="2800" dirty="0">
                  <a:solidFill>
                    <a:srgbClr val="FFC000"/>
                  </a:solidFill>
                  <a:latin typeface="+mn-lt"/>
                  <a:ea typeface="+mn-ea"/>
                </a:rPr>
                <a:t>插入到表头</a:t>
              </a:r>
              <a:r>
                <a:rPr lang="en-US" altLang="zh-CN" sz="2800" dirty="0">
                  <a:solidFill>
                    <a:srgbClr val="FFC000"/>
                  </a:solidFill>
                  <a:latin typeface="+mn-lt"/>
                  <a:ea typeface="+mn-ea"/>
                </a:rPr>
                <a:t>:</a:t>
              </a:r>
              <a:endParaRPr lang="en-US" altLang="zh-CN" sz="2800" dirty="0">
                <a:solidFill>
                  <a:srgbClr val="FFC000"/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solidFill>
                    <a:srgbClr val="F52EFC"/>
                  </a:solidFill>
                  <a:latin typeface="+mn-lt"/>
                  <a:ea typeface="+mn-ea"/>
                </a:rPr>
                <a:t>q</a:t>
              </a: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-&gt;next=base; </a:t>
              </a:r>
              <a:endPara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  <a:p>
              <a:pPr>
                <a:defRPr/>
              </a:pPr>
              <a:r>
                <a:rPr lang="en-US" altLang="zh-CN" sz="28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  <a:ea typeface="+mn-ea"/>
                </a:rPr>
                <a:t>base=q;</a:t>
              </a:r>
              <a:endParaRPr lang="en-US" altLang="zh-CN" sz="2800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 flipV="1">
              <a:off x="2401667" y="2779"/>
              <a:ext cx="20155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4" name="Line 18"/>
            <p:cNvSpPr>
              <a:spLocks noChangeShapeType="1"/>
            </p:cNvSpPr>
            <p:nvPr/>
          </p:nvSpPr>
          <p:spPr bwMode="auto">
            <a:xfrm>
              <a:off x="2392144" y="3696"/>
              <a:ext cx="202669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5" name="Line 19"/>
            <p:cNvSpPr>
              <a:spLocks noChangeShapeType="1"/>
            </p:cNvSpPr>
            <p:nvPr/>
          </p:nvSpPr>
          <p:spPr bwMode="auto">
            <a:xfrm flipH="1">
              <a:off x="3949063" y="2779"/>
              <a:ext cx="215842" cy="489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flipH="1" flipV="1">
              <a:off x="3949063" y="3257"/>
              <a:ext cx="215842" cy="4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2317553" y="3057"/>
              <a:ext cx="1706102" cy="319"/>
            </a:xfrm>
            <a:prstGeom prst="rect">
              <a:avLst/>
            </a:prstGeom>
            <a:noFill/>
            <a:ln w="57150" algn="ctr">
              <a:noFill/>
              <a:miter lim="800000"/>
            </a:ln>
            <a:effectLst/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r>
                <a:rPr lang="en-US" altLang="zh-CN" sz="2800" dirty="0">
                  <a:latin typeface="+mn-lt"/>
                  <a:ea typeface="+mn-ea"/>
                </a:rPr>
                <a:t>r==base</a:t>
              </a:r>
              <a:endParaRPr lang="en-US" altLang="zh-CN" sz="2800" dirty="0">
                <a:latin typeface="+mn-lt"/>
                <a:ea typeface="+mn-ea"/>
              </a:endParaRPr>
            </a:p>
          </p:txBody>
        </p:sp>
        <p:sp>
          <p:nvSpPr>
            <p:cNvPr id="38" name="Line 22"/>
            <p:cNvSpPr>
              <a:spLocks noChangeShapeType="1"/>
            </p:cNvSpPr>
            <p:nvPr/>
          </p:nvSpPr>
          <p:spPr bwMode="auto">
            <a:xfrm flipH="1">
              <a:off x="2401667" y="1805"/>
              <a:ext cx="0" cy="190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  <a:ea typeface="+mn-ea"/>
              </a:endParaRPr>
            </a:p>
          </p:txBody>
        </p:sp>
      </p:grpSp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2961640" y="2514600"/>
            <a:ext cx="4051300" cy="1163955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5280978" y="1203008"/>
            <a:ext cx="6781800" cy="1100137"/>
            <a:chOff x="5182803" y="1296601"/>
            <a:chExt cx="6781800" cy="1100333"/>
          </a:xfrm>
        </p:grpSpPr>
        <p:sp>
          <p:nvSpPr>
            <p:cNvPr id="14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9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2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3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5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42925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9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F52EFC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50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51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2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000043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000043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53" name="文本框 3"/>
            <p:cNvSpPr txBox="1">
              <a:spLocks noChangeArrowheads="1"/>
            </p:cNvSpPr>
            <p:nvPr/>
          </p:nvSpPr>
          <p:spPr bwMode="auto">
            <a:xfrm>
              <a:off x="7011603" y="1350771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4" name="文本框 76"/>
            <p:cNvSpPr txBox="1">
              <a:spLocks noChangeArrowheads="1"/>
            </p:cNvSpPr>
            <p:nvPr/>
          </p:nvSpPr>
          <p:spPr bwMode="auto">
            <a:xfrm>
              <a:off x="8447735" y="1296601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5" name="文本框 77"/>
            <p:cNvSpPr txBox="1">
              <a:spLocks noChangeArrowheads="1"/>
            </p:cNvSpPr>
            <p:nvPr/>
          </p:nvSpPr>
          <p:spPr bwMode="auto">
            <a:xfrm>
              <a:off x="9987372" y="1334896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56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7" name="直接箭头连接符 2"/>
            <p:cNvCxnSpPr>
              <a:cxnSpLocks noChangeShapeType="1"/>
            </p:cNvCxnSpPr>
            <p:nvPr/>
          </p:nvCxnSpPr>
          <p:spPr bwMode="auto">
            <a:xfrm>
              <a:off x="7011603" y="1395221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直接箭头连接符 58"/>
            <p:cNvCxnSpPr>
              <a:cxnSpLocks noChangeShapeType="1"/>
            </p:cNvCxnSpPr>
            <p:nvPr/>
          </p:nvCxnSpPr>
          <p:spPr bwMode="auto">
            <a:xfrm>
              <a:off x="8447735" y="139343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直接箭头连接符 59"/>
            <p:cNvCxnSpPr>
              <a:cxnSpLocks noChangeShapeType="1"/>
            </p:cNvCxnSpPr>
            <p:nvPr/>
          </p:nvCxnSpPr>
          <p:spPr bwMode="auto">
            <a:xfrm>
              <a:off x="10003247" y="1422209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0" name="组合 59"/>
          <p:cNvGrpSpPr/>
          <p:nvPr/>
        </p:nvGrpSpPr>
        <p:grpSpPr bwMode="auto">
          <a:xfrm>
            <a:off x="4419283" y="157163"/>
            <a:ext cx="7744936" cy="1062037"/>
            <a:chOff x="4342698" y="1334708"/>
            <a:chExt cx="7744936" cy="1062226"/>
          </a:xfrm>
        </p:grpSpPr>
        <p:sp>
          <p:nvSpPr>
            <p:cNvPr id="61" name="Oval 5"/>
            <p:cNvSpPr>
              <a:spLocks noChangeArrowheads="1"/>
            </p:cNvSpPr>
            <p:nvPr/>
          </p:nvSpPr>
          <p:spPr bwMode="auto">
            <a:xfrm>
              <a:off x="5182803" y="18476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2" name="Oval 6"/>
            <p:cNvSpPr>
              <a:spLocks noChangeArrowheads="1"/>
            </p:cNvSpPr>
            <p:nvPr/>
          </p:nvSpPr>
          <p:spPr bwMode="auto">
            <a:xfrm>
              <a:off x="66306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3" name="Line 7"/>
            <p:cNvSpPr>
              <a:spLocks noChangeShapeType="1"/>
            </p:cNvSpPr>
            <p:nvPr/>
          </p:nvSpPr>
          <p:spPr bwMode="auto">
            <a:xfrm>
              <a:off x="59067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8"/>
            <p:cNvSpPr>
              <a:spLocks noChangeShapeType="1"/>
            </p:cNvSpPr>
            <p:nvPr/>
          </p:nvSpPr>
          <p:spPr bwMode="auto">
            <a:xfrm>
              <a:off x="7367203" y="211435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Oval 9"/>
            <p:cNvSpPr>
              <a:spLocks noChangeArrowheads="1"/>
            </p:cNvSpPr>
            <p:nvPr/>
          </p:nvSpPr>
          <p:spPr bwMode="auto">
            <a:xfrm>
              <a:off x="80911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" name="Oval 11"/>
            <p:cNvSpPr>
              <a:spLocks noChangeArrowheads="1"/>
            </p:cNvSpPr>
            <p:nvPr/>
          </p:nvSpPr>
          <p:spPr bwMode="auto">
            <a:xfrm>
              <a:off x="9564303" y="1834959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9" name="Line 12"/>
            <p:cNvSpPr>
              <a:spLocks noChangeShapeType="1"/>
            </p:cNvSpPr>
            <p:nvPr/>
          </p:nvSpPr>
          <p:spPr bwMode="auto">
            <a:xfrm>
              <a:off x="10300903" y="2142934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Text Box 13"/>
            <p:cNvSpPr txBox="1">
              <a:spLocks noChangeArrowheads="1"/>
            </p:cNvSpPr>
            <p:nvPr/>
          </p:nvSpPr>
          <p:spPr bwMode="auto">
            <a:xfrm>
              <a:off x="5401878" y="1847561"/>
              <a:ext cx="925512" cy="519205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10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1" name="Text Box 14"/>
            <p:cNvSpPr txBox="1">
              <a:spLocks noChangeArrowheads="1"/>
            </p:cNvSpPr>
            <p:nvPr/>
          </p:nvSpPr>
          <p:spPr bwMode="auto">
            <a:xfrm>
              <a:off x="6800465" y="1858676"/>
              <a:ext cx="700088" cy="523968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11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2" name="Text Box 15"/>
            <p:cNvSpPr txBox="1">
              <a:spLocks noChangeArrowheads="1"/>
            </p:cNvSpPr>
            <p:nvPr/>
          </p:nvSpPr>
          <p:spPr bwMode="auto">
            <a:xfrm>
              <a:off x="8283190" y="1846071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000000"/>
                  </a:solidFill>
                  <a:latin typeface="Times New Roman" panose="02020603050405020304" pitchFamily="18" charset="0"/>
                </a:rPr>
                <a:t>12</a:t>
              </a:r>
              <a:endParaRPr kumimoji="1" lang="en-US" altLang="zh-CN" sz="28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3" name="Text Box 16"/>
            <p:cNvSpPr txBox="1">
              <a:spLocks noChangeArrowheads="1"/>
            </p:cNvSpPr>
            <p:nvPr/>
          </p:nvSpPr>
          <p:spPr bwMode="auto">
            <a:xfrm>
              <a:off x="9659553" y="1822259"/>
              <a:ext cx="538480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13</a:t>
              </a:r>
              <a:endParaRPr kumimoji="1" lang="en-US" altLang="zh-CN" sz="28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74" name="Group 17"/>
            <p:cNvGrpSpPr/>
            <p:nvPr/>
          </p:nvGrpSpPr>
          <p:grpSpPr bwMode="auto">
            <a:xfrm>
              <a:off x="11002578" y="1850834"/>
              <a:ext cx="962025" cy="546100"/>
              <a:chOff x="4104" y="936"/>
              <a:chExt cx="711" cy="344"/>
            </a:xfrm>
          </p:grpSpPr>
          <p:sp>
            <p:nvSpPr>
              <p:cNvPr id="75" name="Oval 18"/>
              <p:cNvSpPr>
                <a:spLocks noChangeArrowheads="1"/>
              </p:cNvSpPr>
              <p:nvPr/>
            </p:nvSpPr>
            <p:spPr bwMode="auto">
              <a:xfrm>
                <a:off x="4104" y="936"/>
                <a:ext cx="639" cy="344"/>
              </a:xfrm>
              <a:prstGeom prst="ellipse">
                <a:avLst/>
              </a:prstGeom>
              <a:solidFill>
                <a:srgbClr val="66FFFF"/>
              </a:solidFill>
              <a:ln w="28575">
                <a:solidFill>
                  <a:srgbClr val="0000CC"/>
                </a:solidFill>
                <a:rou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6" name="Text Box 19"/>
              <p:cNvSpPr txBox="1">
                <a:spLocks noChangeArrowheads="1"/>
              </p:cNvSpPr>
              <p:nvPr/>
            </p:nvSpPr>
            <p:spPr bwMode="auto">
              <a:xfrm>
                <a:off x="4240" y="946"/>
                <a:ext cx="575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kumimoji="1" lang="en-US" altLang="zh-CN" sz="2800">
                    <a:solidFill>
                      <a:srgbClr val="F52EFC"/>
                    </a:solidFill>
                    <a:latin typeface="Times New Roman" panose="02020603050405020304" pitchFamily="18" charset="0"/>
                  </a:rPr>
                  <a:t>9</a:t>
                </a:r>
                <a:endParaRPr kumimoji="1" lang="en-US" altLang="zh-CN" sz="2800">
                  <a:solidFill>
                    <a:srgbClr val="F52EFC"/>
                  </a:solidFill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7" name="文本框 3"/>
            <p:cNvSpPr txBox="1">
              <a:spLocks noChangeArrowheads="1"/>
            </p:cNvSpPr>
            <p:nvPr/>
          </p:nvSpPr>
          <p:spPr bwMode="auto">
            <a:xfrm>
              <a:off x="4342698" y="1360298"/>
              <a:ext cx="658812" cy="4619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" name="文本框 76"/>
            <p:cNvSpPr txBox="1">
              <a:spLocks noChangeArrowheads="1"/>
            </p:cNvSpPr>
            <p:nvPr/>
          </p:nvSpPr>
          <p:spPr bwMode="auto">
            <a:xfrm>
              <a:off x="5562295" y="1334708"/>
              <a:ext cx="658812" cy="52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latin typeface="Arial" panose="020B0604020202020204" pitchFamily="34" charset="0"/>
                </a:rPr>
                <a:t>r</a:t>
              </a:r>
              <a:endParaRPr lang="zh-CN" altLang="en-US" sz="2800">
                <a:latin typeface="Arial" panose="020B0604020202020204" pitchFamily="34" charset="0"/>
              </a:endParaRPr>
            </a:p>
          </p:txBody>
        </p:sp>
        <p:sp>
          <p:nvSpPr>
            <p:cNvPr id="79" name="文本框 77"/>
            <p:cNvSpPr txBox="1">
              <a:spLocks noChangeArrowheads="1"/>
            </p:cNvSpPr>
            <p:nvPr/>
          </p:nvSpPr>
          <p:spPr bwMode="auto">
            <a:xfrm>
              <a:off x="11428822" y="1358395"/>
              <a:ext cx="658812" cy="463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p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0" name="Line 10"/>
            <p:cNvSpPr>
              <a:spLocks noChangeShapeType="1"/>
            </p:cNvSpPr>
            <p:nvPr/>
          </p:nvSpPr>
          <p:spPr bwMode="auto">
            <a:xfrm>
              <a:off x="8827703" y="2108009"/>
              <a:ext cx="723900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81" name="直接箭头连接符 2"/>
            <p:cNvCxnSpPr>
              <a:cxnSpLocks noChangeShapeType="1"/>
            </p:cNvCxnSpPr>
            <p:nvPr/>
          </p:nvCxnSpPr>
          <p:spPr bwMode="auto">
            <a:xfrm>
              <a:off x="4342698" y="1412369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2" name="直接箭头连接符 58"/>
            <p:cNvCxnSpPr>
              <a:cxnSpLocks noChangeShapeType="1"/>
            </p:cNvCxnSpPr>
            <p:nvPr/>
          </p:nvCxnSpPr>
          <p:spPr bwMode="auto">
            <a:xfrm>
              <a:off x="5486095" y="1410586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3" name="直接箭头连接符 59"/>
            <p:cNvCxnSpPr>
              <a:cxnSpLocks noChangeShapeType="1"/>
            </p:cNvCxnSpPr>
            <p:nvPr/>
          </p:nvCxnSpPr>
          <p:spPr bwMode="auto">
            <a:xfrm>
              <a:off x="11352622" y="1397440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4" name="矩形 83"/>
          <p:cNvSpPr>
            <a:spLocks noChangeArrowheads="1"/>
          </p:cNvSpPr>
          <p:nvPr/>
        </p:nvSpPr>
        <p:spPr bwMode="auto">
          <a:xfrm>
            <a:off x="9589135" y="1219200"/>
            <a:ext cx="994410" cy="1198880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6" name="矩形 85"/>
          <p:cNvSpPr>
            <a:spLocks noChangeArrowheads="1"/>
          </p:cNvSpPr>
          <p:nvPr/>
        </p:nvSpPr>
        <p:spPr bwMode="auto">
          <a:xfrm>
            <a:off x="11047095" y="157480"/>
            <a:ext cx="994410" cy="1198880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84" grpId="0" bldLvl="0" animBg="1"/>
      <p:bldP spid="86" grpId="0" bldLvl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687513" y="1460500"/>
            <a:ext cx="8362950" cy="1528763"/>
          </a:xfrm>
        </p:spPr>
        <p:txBody>
          <a:bodyPr/>
          <a:lstStyle/>
          <a:p>
            <a:pPr marL="0" indent="0">
              <a:lnSpc>
                <a:spcPts val="2400"/>
              </a:lnSpc>
              <a:buFont typeface="Wingdings" panose="05000000000000000000" pitchFamily="2" charset="2"/>
              <a:buNone/>
              <a:defRPr/>
            </a:pPr>
            <a:r>
              <a:rPr lang="zh-CN" altLang="en-US" sz="2800" b="1" dirty="0"/>
              <a:t>把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独立出来</a:t>
            </a:r>
            <a:r>
              <a:rPr lang="en-US" altLang="zh-CN" sz="2800" b="1" dirty="0">
                <a:sym typeface="Wingdings" panose="05000000000000000000" pitchFamily="2" charset="2"/>
              </a:rPr>
              <a:t></a:t>
            </a:r>
            <a:r>
              <a:rPr lang="en-US" altLang="zh-CN" sz="2800" b="1" dirty="0"/>
              <a:t>q</a:t>
            </a:r>
            <a:r>
              <a:rPr lang="zh-CN" altLang="en-US" sz="2800" b="1" dirty="0"/>
              <a:t>， </a:t>
            </a:r>
            <a:r>
              <a:rPr lang="en-US" altLang="zh-CN" sz="2800" b="1" dirty="0"/>
              <a:t>p</a:t>
            </a:r>
            <a:r>
              <a:rPr lang="zh-CN" altLang="en-US" sz="2800" b="1" dirty="0"/>
              <a:t>回退到</a:t>
            </a:r>
            <a:r>
              <a:rPr lang="en-US" altLang="zh-CN" sz="2800" b="1" dirty="0"/>
              <a:t>p0</a:t>
            </a:r>
            <a:endParaRPr lang="zh-CN" altLang="en-US" sz="2800" b="1" dirty="0"/>
          </a:p>
          <a:p>
            <a:pPr lvl="1">
              <a:lnSpc>
                <a:spcPts val="2400"/>
              </a:lnSpc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q=p;</a:t>
            </a:r>
            <a:endParaRPr lang="en-US" altLang="zh-CN" sz="2800" b="1" dirty="0">
              <a:solidFill>
                <a:srgbClr val="F52EFC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p0-&gt;next=p-&gt;next;</a:t>
            </a:r>
            <a:endParaRPr lang="en-US" altLang="zh-CN" sz="2800" b="1" dirty="0">
              <a:solidFill>
                <a:srgbClr val="F52EFC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800" b="1" dirty="0">
                <a:solidFill>
                  <a:srgbClr val="F52EFC"/>
                </a:solidFill>
              </a:rPr>
              <a:t>p=p0; 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//p</a:t>
            </a:r>
            <a:r>
              <a:rPr lang="zh-CN" altLang="en-US" sz="2800" b="1" dirty="0">
                <a:solidFill>
                  <a:schemeClr val="tx1">
                    <a:lumMod val="50000"/>
                  </a:schemeClr>
                </a:solidFill>
              </a:rPr>
              <a:t>回退到</a:t>
            </a:r>
            <a:r>
              <a:rPr lang="en-US" altLang="zh-CN" sz="2800" b="1" dirty="0">
                <a:solidFill>
                  <a:schemeClr val="tx1">
                    <a:lumMod val="50000"/>
                  </a:schemeClr>
                </a:solidFill>
              </a:rPr>
              <a:t>p0</a:t>
            </a:r>
            <a:endParaRPr lang="en-US" altLang="zh-CN" sz="2800" b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ts val="2400"/>
              </a:lnSpc>
              <a:defRPr/>
            </a:pPr>
            <a:endParaRPr lang="zh-CN" altLang="en-US" sz="2800" b="1" dirty="0"/>
          </a:p>
        </p:txBody>
      </p:sp>
      <p:sp>
        <p:nvSpPr>
          <p:cNvPr id="139270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6041E44-9F5C-47BE-8241-15AFDFAB61C2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879600" y="454501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648075" y="5529263"/>
            <a:ext cx="500063" cy="3619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...</a:t>
            </a:r>
            <a:endParaRPr lang="en-US" altLang="zh-CN" dirty="0">
              <a:latin typeface="+mn-lt"/>
            </a:endParaRPr>
          </a:p>
        </p:txBody>
      </p:sp>
      <p:grpSp>
        <p:nvGrpSpPr>
          <p:cNvPr id="30726" name="组合 48"/>
          <p:cNvGrpSpPr/>
          <p:nvPr/>
        </p:nvGrpSpPr>
        <p:grpSpPr bwMode="auto">
          <a:xfrm>
            <a:off x="1879600" y="4984750"/>
            <a:ext cx="647700" cy="1047750"/>
            <a:chOff x="251520" y="4985387"/>
            <a:chExt cx="830211" cy="1047060"/>
          </a:xfrm>
        </p:grpSpPr>
        <p:grpSp>
          <p:nvGrpSpPr>
            <p:cNvPr id="30796" name="Group 7"/>
            <p:cNvGrpSpPr/>
            <p:nvPr/>
          </p:nvGrpSpPr>
          <p:grpSpPr bwMode="auto">
            <a:xfrm>
              <a:off x="262898" y="4985387"/>
              <a:ext cx="818833" cy="1047060"/>
              <a:chOff x="0" y="0"/>
              <a:chExt cx="20000" cy="25502"/>
            </a:xfrm>
          </p:grpSpPr>
          <p:sp>
            <p:nvSpPr>
              <p:cNvPr id="30798" name="Rectangle 8"/>
              <p:cNvSpPr>
                <a:spLocks noChangeArrowheads="1"/>
              </p:cNvSpPr>
              <p:nvPr/>
            </p:nvSpPr>
            <p:spPr bwMode="auto">
              <a:xfrm>
                <a:off x="20" y="0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34" name="Line 9"/>
              <p:cNvSpPr>
                <a:spLocks noChangeShapeType="1"/>
              </p:cNvSpPr>
              <p:nvPr/>
            </p:nvSpPr>
            <p:spPr bwMode="auto">
              <a:xfrm>
                <a:off x="20" y="18817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251520" y="5389933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1677988" y="4149725"/>
            <a:ext cx="1050925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base:</a:t>
            </a:r>
            <a:endParaRPr lang="en-US" altLang="zh-CN" dirty="0">
              <a:latin typeface="+mn-lt"/>
            </a:endParaRPr>
          </a:p>
        </p:txBody>
      </p:sp>
      <p:sp>
        <p:nvSpPr>
          <p:cNvPr id="9" name="Freeform 25"/>
          <p:cNvSpPr/>
          <p:nvPr/>
        </p:nvSpPr>
        <p:spPr bwMode="auto">
          <a:xfrm flipH="1">
            <a:off x="2208213" y="5181600"/>
            <a:ext cx="668337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cxnSp>
        <p:nvCxnSpPr>
          <p:cNvPr id="30729" name="直接箭头连接符 35"/>
          <p:cNvCxnSpPr>
            <a:cxnSpLocks noChangeShapeType="1"/>
          </p:cNvCxnSpPr>
          <p:nvPr/>
        </p:nvCxnSpPr>
        <p:spPr bwMode="auto">
          <a:xfrm>
            <a:off x="2203450" y="4686300"/>
            <a:ext cx="0" cy="298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矩形 46"/>
          <p:cNvSpPr/>
          <p:nvPr/>
        </p:nvSpPr>
        <p:spPr bwMode="auto">
          <a:xfrm>
            <a:off x="9744075" y="5665153"/>
            <a:ext cx="3333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solidFill>
                  <a:srgbClr val="F52EFC"/>
                </a:solidFill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endParaRPr lang="en-US" altLang="zh-CN" dirty="0">
              <a:solidFill>
                <a:srgbClr val="F52EFC"/>
              </a:solidFill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0731" name="组合 49"/>
          <p:cNvGrpSpPr/>
          <p:nvPr/>
        </p:nvGrpSpPr>
        <p:grpSpPr bwMode="auto">
          <a:xfrm>
            <a:off x="2855913" y="4984750"/>
            <a:ext cx="647700" cy="1047750"/>
            <a:chOff x="251520" y="4953321"/>
            <a:chExt cx="830211" cy="1047060"/>
          </a:xfrm>
        </p:grpSpPr>
        <p:grpSp>
          <p:nvGrpSpPr>
            <p:cNvPr id="30792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0794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2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54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>
              <a:off x="251520" y="535786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55" name="Freeform 25"/>
          <p:cNvSpPr/>
          <p:nvPr/>
        </p:nvSpPr>
        <p:spPr bwMode="auto">
          <a:xfrm flipH="1">
            <a:off x="4008438" y="5170488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3" name="组合 55"/>
          <p:cNvGrpSpPr/>
          <p:nvPr/>
        </p:nvGrpSpPr>
        <p:grpSpPr bwMode="auto">
          <a:xfrm>
            <a:off x="4656138" y="4973638"/>
            <a:ext cx="647700" cy="1047750"/>
            <a:chOff x="251520" y="4953321"/>
            <a:chExt cx="830211" cy="1047060"/>
          </a:xfrm>
        </p:grpSpPr>
        <p:grpSp>
          <p:nvGrpSpPr>
            <p:cNvPr id="30788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0790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</a:rPr>
                  <a:t>4</a:t>
                </a:r>
                <a:endParaRPr lang="en-US" altLang="zh-CN" sz="2400">
                  <a:solidFill>
                    <a:srgbClr val="FFFF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60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51520" y="535786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1" name="Freeform 25"/>
          <p:cNvSpPr/>
          <p:nvPr/>
        </p:nvSpPr>
        <p:spPr bwMode="auto">
          <a:xfrm flipH="1">
            <a:off x="4994275" y="5167313"/>
            <a:ext cx="669925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5" name="组合 61"/>
          <p:cNvGrpSpPr/>
          <p:nvPr/>
        </p:nvGrpSpPr>
        <p:grpSpPr bwMode="auto">
          <a:xfrm>
            <a:off x="5664200" y="5047613"/>
            <a:ext cx="647700" cy="1046163"/>
            <a:chOff x="251520" y="5104579"/>
            <a:chExt cx="830211" cy="1047060"/>
          </a:xfrm>
        </p:grpSpPr>
        <p:grpSp>
          <p:nvGrpSpPr>
            <p:cNvPr id="30784" name="Group 7"/>
            <p:cNvGrpSpPr/>
            <p:nvPr/>
          </p:nvGrpSpPr>
          <p:grpSpPr bwMode="auto">
            <a:xfrm>
              <a:off x="263717" y="5104579"/>
              <a:ext cx="818014" cy="1047060"/>
              <a:chOff x="20" y="2903"/>
              <a:chExt cx="19980" cy="25502"/>
            </a:xfrm>
          </p:grpSpPr>
          <p:sp>
            <p:nvSpPr>
              <p:cNvPr id="65" name="Rectangle 8"/>
              <p:cNvSpPr>
                <a:spLocks noChangeArrowheads="1"/>
              </p:cNvSpPr>
              <p:nvPr/>
            </p:nvSpPr>
            <p:spPr bwMode="auto">
              <a:xfrm>
                <a:off x="20" y="2903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15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0" y="1787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>
              <a:off x="251520" y="5358481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7" name="Freeform 25"/>
          <p:cNvSpPr/>
          <p:nvPr/>
        </p:nvSpPr>
        <p:spPr bwMode="auto">
          <a:xfrm flipH="1">
            <a:off x="5951538" y="5140325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7" name="组合 67"/>
          <p:cNvGrpSpPr/>
          <p:nvPr/>
        </p:nvGrpSpPr>
        <p:grpSpPr bwMode="auto">
          <a:xfrm>
            <a:off x="6600825" y="5047614"/>
            <a:ext cx="647700" cy="1046163"/>
            <a:chOff x="251520" y="5056377"/>
            <a:chExt cx="830211" cy="1047060"/>
          </a:xfrm>
        </p:grpSpPr>
        <p:grpSp>
          <p:nvGrpSpPr>
            <p:cNvPr id="30780" name="Group 7"/>
            <p:cNvGrpSpPr/>
            <p:nvPr/>
          </p:nvGrpSpPr>
          <p:grpSpPr bwMode="auto">
            <a:xfrm>
              <a:off x="263717" y="5056377"/>
              <a:ext cx="818014" cy="1047060"/>
              <a:chOff x="20" y="1729"/>
              <a:chExt cx="19980" cy="25502"/>
            </a:xfrm>
          </p:grpSpPr>
          <p:sp>
            <p:nvSpPr>
              <p:cNvPr id="71" name="Rectangle 8"/>
              <p:cNvSpPr>
                <a:spLocks noChangeArrowheads="1"/>
              </p:cNvSpPr>
              <p:nvPr/>
            </p:nvSpPr>
            <p:spPr bwMode="auto">
              <a:xfrm>
                <a:off x="20" y="1729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17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2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0" name="Line 25"/>
            <p:cNvSpPr>
              <a:spLocks noChangeShapeType="1"/>
            </p:cNvSpPr>
            <p:nvPr/>
          </p:nvSpPr>
          <p:spPr bwMode="auto">
            <a:xfrm>
              <a:off x="251520" y="535889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73" name="Freeform 25"/>
          <p:cNvSpPr/>
          <p:nvPr/>
        </p:nvSpPr>
        <p:spPr bwMode="auto">
          <a:xfrm flipH="1">
            <a:off x="6938963" y="5137150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39" name="组合 73"/>
          <p:cNvGrpSpPr/>
          <p:nvPr/>
        </p:nvGrpSpPr>
        <p:grpSpPr bwMode="auto">
          <a:xfrm>
            <a:off x="7608888" y="5047614"/>
            <a:ext cx="647700" cy="1046163"/>
            <a:chOff x="251520" y="5059210"/>
            <a:chExt cx="830211" cy="1047060"/>
          </a:xfrm>
        </p:grpSpPr>
        <p:grpSp>
          <p:nvGrpSpPr>
            <p:cNvPr id="30776" name="Group 7"/>
            <p:cNvGrpSpPr/>
            <p:nvPr/>
          </p:nvGrpSpPr>
          <p:grpSpPr bwMode="auto">
            <a:xfrm>
              <a:off x="263717" y="5059210"/>
              <a:ext cx="818014" cy="1047060"/>
              <a:chOff x="20" y="1798"/>
              <a:chExt cx="19980" cy="25502"/>
            </a:xfrm>
          </p:grpSpPr>
          <p:sp>
            <p:nvSpPr>
              <p:cNvPr id="77" name="Rectangle 8"/>
              <p:cNvSpPr>
                <a:spLocks noChangeArrowheads="1"/>
              </p:cNvSpPr>
              <p:nvPr/>
            </p:nvSpPr>
            <p:spPr bwMode="auto">
              <a:xfrm>
                <a:off x="20" y="1798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18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8" name="Line 9"/>
              <p:cNvSpPr>
                <a:spLocks noChangeShapeType="1"/>
              </p:cNvSpPr>
              <p:nvPr/>
            </p:nvSpPr>
            <p:spPr bwMode="auto">
              <a:xfrm>
                <a:off x="20" y="1787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251520" y="5358552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0740" name="组合 79"/>
          <p:cNvGrpSpPr/>
          <p:nvPr/>
        </p:nvGrpSpPr>
        <p:grpSpPr bwMode="auto">
          <a:xfrm>
            <a:off x="8543925" y="5031736"/>
            <a:ext cx="647700" cy="1062038"/>
            <a:chOff x="251520" y="5083270"/>
            <a:chExt cx="830211" cy="1061841"/>
          </a:xfrm>
        </p:grpSpPr>
        <p:grpSp>
          <p:nvGrpSpPr>
            <p:cNvPr id="30772" name="Group 7"/>
            <p:cNvGrpSpPr/>
            <p:nvPr/>
          </p:nvGrpSpPr>
          <p:grpSpPr bwMode="auto">
            <a:xfrm>
              <a:off x="263717" y="5083270"/>
              <a:ext cx="818014" cy="1061841"/>
              <a:chOff x="20" y="2384"/>
              <a:chExt cx="19980" cy="25862"/>
            </a:xfrm>
          </p:grpSpPr>
          <p:sp>
            <p:nvSpPr>
              <p:cNvPr id="83" name="Rectangle 8"/>
              <p:cNvSpPr>
                <a:spLocks noChangeArrowheads="1"/>
              </p:cNvSpPr>
              <p:nvPr/>
            </p:nvSpPr>
            <p:spPr bwMode="auto">
              <a:xfrm>
                <a:off x="20" y="2384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</a:rPr>
                  <a:t>12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solidFill>
                      <a:schemeClr val="accent2">
                        <a:lumMod val="60000"/>
                        <a:lumOff val="40000"/>
                      </a:schemeClr>
                    </a:solidFill>
                    <a:latin typeface="+mn-lt"/>
                  </a:rPr>
                  <a:t>key</a:t>
                </a:r>
                <a:endParaRPr lang="en-US" altLang="zh-CN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+mn-lt"/>
                </a:endParaRPr>
              </a:p>
            </p:txBody>
          </p:sp>
          <p:sp>
            <p:nvSpPr>
              <p:cNvPr id="84" name="Line 9"/>
              <p:cNvSpPr>
                <a:spLocks noChangeShapeType="1"/>
              </p:cNvSpPr>
              <p:nvPr/>
            </p:nvSpPr>
            <p:spPr bwMode="auto">
              <a:xfrm>
                <a:off x="20" y="1790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251520" y="535849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 dirty="0">
                <a:latin typeface="+mn-lt"/>
              </a:endParaRPr>
            </a:p>
          </p:txBody>
        </p:sp>
      </p:grpSp>
      <p:sp>
        <p:nvSpPr>
          <p:cNvPr id="85" name="Freeform 25"/>
          <p:cNvSpPr/>
          <p:nvPr/>
        </p:nvSpPr>
        <p:spPr bwMode="auto">
          <a:xfrm flipH="1">
            <a:off x="8883650" y="5095875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0742" name="组合 85"/>
          <p:cNvGrpSpPr/>
          <p:nvPr/>
        </p:nvGrpSpPr>
        <p:grpSpPr bwMode="auto">
          <a:xfrm>
            <a:off x="9551988" y="5031740"/>
            <a:ext cx="647700" cy="1062038"/>
            <a:chOff x="251520" y="5010556"/>
            <a:chExt cx="830211" cy="1061841"/>
          </a:xfrm>
        </p:grpSpPr>
        <p:grpSp>
          <p:nvGrpSpPr>
            <p:cNvPr id="30768" name="Group 7"/>
            <p:cNvGrpSpPr/>
            <p:nvPr/>
          </p:nvGrpSpPr>
          <p:grpSpPr bwMode="auto">
            <a:xfrm>
              <a:off x="262898" y="5010556"/>
              <a:ext cx="818833" cy="1061841"/>
              <a:chOff x="0" y="613"/>
              <a:chExt cx="20000" cy="25862"/>
            </a:xfrm>
          </p:grpSpPr>
          <p:sp>
            <p:nvSpPr>
              <p:cNvPr id="30770" name="Rectangle 8"/>
              <p:cNvSpPr>
                <a:spLocks noChangeArrowheads="1"/>
              </p:cNvSpPr>
              <p:nvPr/>
            </p:nvSpPr>
            <p:spPr bwMode="auto">
              <a:xfrm>
                <a:off x="20" y="613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6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90" name="Line 9"/>
              <p:cNvSpPr>
                <a:spLocks noChangeShapeType="1"/>
              </p:cNvSpPr>
              <p:nvPr/>
            </p:nvSpPr>
            <p:spPr bwMode="auto">
              <a:xfrm>
                <a:off x="20" y="1789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251520" y="5358155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91" name="Freeform 25"/>
          <p:cNvSpPr/>
          <p:nvPr/>
        </p:nvSpPr>
        <p:spPr bwMode="auto">
          <a:xfrm flipH="1">
            <a:off x="3184525" y="5181600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92" name="Rectangle 6"/>
          <p:cNvSpPr>
            <a:spLocks noChangeArrowheads="1"/>
          </p:cNvSpPr>
          <p:nvPr/>
        </p:nvSpPr>
        <p:spPr bwMode="auto">
          <a:xfrm>
            <a:off x="7616825" y="3852863"/>
            <a:ext cx="6397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76088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p0:</a:t>
            </a:r>
            <a:endParaRPr lang="en-US" altLang="zh-CN" dirty="0">
              <a:latin typeface="+mn-lt"/>
            </a:endParaRPr>
          </a:p>
        </p:txBody>
      </p:sp>
      <p:cxnSp>
        <p:nvCxnSpPr>
          <p:cNvPr id="30746" name="直接箭头连接符 93"/>
          <p:cNvCxnSpPr>
            <a:cxnSpLocks noChangeShapeType="1"/>
            <a:endCxn id="77" idx="0"/>
          </p:cNvCxnSpPr>
          <p:nvPr/>
        </p:nvCxnSpPr>
        <p:spPr bwMode="auto">
          <a:xfrm>
            <a:off x="7937183" y="4066540"/>
            <a:ext cx="0" cy="9810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8543925" y="385286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85359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rPr>
              <a:t>p: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+mn-lt"/>
            </a:endParaRPr>
          </a:p>
        </p:txBody>
      </p:sp>
      <p:cxnSp>
        <p:nvCxnSpPr>
          <p:cNvPr id="97" name="直接箭头连接符 96"/>
          <p:cNvCxnSpPr>
            <a:cxnSpLocks noChangeShapeType="1"/>
            <a:endCxn id="83" idx="0"/>
          </p:cNvCxnSpPr>
          <p:nvPr/>
        </p:nvCxnSpPr>
        <p:spPr bwMode="auto">
          <a:xfrm>
            <a:off x="8872538" y="4069715"/>
            <a:ext cx="0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4676775" y="3906838"/>
            <a:ext cx="6270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1" name="Text Box 29"/>
          <p:cNvSpPr txBox="1">
            <a:spLocks noChangeArrowheads="1"/>
          </p:cNvSpPr>
          <p:nvPr/>
        </p:nvSpPr>
        <p:spPr bwMode="auto">
          <a:xfrm>
            <a:off x="4656138" y="3511550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</a:rPr>
              <a:t>r0:</a:t>
            </a:r>
            <a:endParaRPr lang="en-US" altLang="zh-CN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30752" name="直接箭头连接符 101"/>
          <p:cNvCxnSpPr>
            <a:cxnSpLocks noChangeShapeType="1"/>
            <a:endCxn id="30790" idx="0"/>
          </p:cNvCxnSpPr>
          <p:nvPr/>
        </p:nvCxnSpPr>
        <p:spPr bwMode="auto">
          <a:xfrm flipH="1">
            <a:off x="4984750" y="4048125"/>
            <a:ext cx="6350" cy="9255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5591175" y="3906838"/>
            <a:ext cx="649288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4" name="Text Box 29"/>
          <p:cNvSpPr txBox="1">
            <a:spLocks noChangeArrowheads="1"/>
          </p:cNvSpPr>
          <p:nvPr/>
        </p:nvSpPr>
        <p:spPr bwMode="auto">
          <a:xfrm>
            <a:off x="5583238" y="3511550"/>
            <a:ext cx="649287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FFF00"/>
                </a:solidFill>
                <a:latin typeface="+mn-lt"/>
              </a:rPr>
              <a:t>r:</a:t>
            </a:r>
            <a:endParaRPr lang="en-US" altLang="zh-CN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30755" name="直接箭头连接符 104"/>
          <p:cNvCxnSpPr>
            <a:cxnSpLocks noChangeShapeType="1"/>
          </p:cNvCxnSpPr>
          <p:nvPr/>
        </p:nvCxnSpPr>
        <p:spPr bwMode="auto">
          <a:xfrm>
            <a:off x="5919788" y="4048125"/>
            <a:ext cx="0" cy="908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Rectangle 6"/>
          <p:cNvSpPr>
            <a:spLocks noChangeArrowheads="1"/>
          </p:cNvSpPr>
          <p:nvPr/>
        </p:nvSpPr>
        <p:spPr bwMode="auto">
          <a:xfrm>
            <a:off x="9526588" y="3836988"/>
            <a:ext cx="649287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28" name="Text Box 29"/>
          <p:cNvSpPr txBox="1">
            <a:spLocks noChangeArrowheads="1"/>
          </p:cNvSpPr>
          <p:nvPr/>
        </p:nvSpPr>
        <p:spPr bwMode="auto">
          <a:xfrm>
            <a:off x="9518650" y="3441700"/>
            <a:ext cx="649288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52EFC"/>
                </a:solidFill>
                <a:latin typeface="+mn-lt"/>
              </a:rPr>
              <a:t>q:</a:t>
            </a:r>
            <a:endParaRPr lang="en-US" altLang="zh-CN" dirty="0">
              <a:solidFill>
                <a:srgbClr val="F52EFC"/>
              </a:solidFill>
              <a:latin typeface="+mn-lt"/>
            </a:endParaRPr>
          </a:p>
        </p:txBody>
      </p:sp>
      <p:cxnSp>
        <p:nvCxnSpPr>
          <p:cNvPr id="139305" name="直接箭头连接符 128"/>
          <p:cNvCxnSpPr>
            <a:cxnSpLocks noChangeShapeType="1"/>
            <a:endCxn id="83" idx="0"/>
          </p:cNvCxnSpPr>
          <p:nvPr/>
        </p:nvCxnSpPr>
        <p:spPr bwMode="auto">
          <a:xfrm flipH="1">
            <a:off x="8872538" y="4053840"/>
            <a:ext cx="982662" cy="977900"/>
          </a:xfrm>
          <a:prstGeom prst="straightConnector1">
            <a:avLst/>
          </a:prstGeom>
          <a:noFill/>
          <a:ln w="28575">
            <a:solidFill>
              <a:srgbClr val="F52EF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7" name="组合 26"/>
          <p:cNvGrpSpPr/>
          <p:nvPr/>
        </p:nvGrpSpPr>
        <p:grpSpPr bwMode="auto">
          <a:xfrm>
            <a:off x="7923213" y="5187950"/>
            <a:ext cx="1638300" cy="1055688"/>
            <a:chOff x="6398419" y="5302083"/>
            <a:chExt cx="1638848" cy="94116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412711" y="5831397"/>
              <a:ext cx="0" cy="41043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398419" y="6234751"/>
              <a:ext cx="1500689" cy="1415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 flipH="1">
              <a:off x="7884816" y="5302083"/>
              <a:ext cx="1588" cy="94116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7872112" y="5309160"/>
              <a:ext cx="165155" cy="0"/>
            </a:xfrm>
            <a:prstGeom prst="straightConnector1">
              <a:avLst/>
            </a:prstGeom>
            <a:ln w="28575">
              <a:solidFill>
                <a:srgbClr val="F52EF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Freeform 83"/>
          <p:cNvSpPr/>
          <p:nvPr/>
        </p:nvSpPr>
        <p:spPr bwMode="auto">
          <a:xfrm>
            <a:off x="8112125" y="3990975"/>
            <a:ext cx="803275" cy="965200"/>
          </a:xfrm>
          <a:custGeom>
            <a:avLst/>
            <a:gdLst>
              <a:gd name="T0" fmla="*/ 2147483646 w 416"/>
              <a:gd name="T1" fmla="*/ 0 h 453"/>
              <a:gd name="T2" fmla="*/ 2147483646 w 416"/>
              <a:gd name="T3" fmla="*/ 2147483646 h 453"/>
              <a:gd name="T4" fmla="*/ 2147483646 w 416"/>
              <a:gd name="T5" fmla="*/ 2147483646 h 453"/>
              <a:gd name="T6" fmla="*/ 2147483646 w 416"/>
              <a:gd name="T7" fmla="*/ 2147483646 h 453"/>
              <a:gd name="T8" fmla="*/ 0 60000 65536"/>
              <a:gd name="T9" fmla="*/ 0 60000 65536"/>
              <a:gd name="T10" fmla="*/ 0 60000 65536"/>
              <a:gd name="T11" fmla="*/ 0 60000 65536"/>
              <a:gd name="T12" fmla="*/ 0 w 416"/>
              <a:gd name="T13" fmla="*/ 0 h 453"/>
              <a:gd name="T14" fmla="*/ 416 w 416"/>
              <a:gd name="T15" fmla="*/ 453 h 4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6" h="453">
                <a:moveTo>
                  <a:pt x="416" y="0"/>
                </a:moveTo>
                <a:cubicBezTo>
                  <a:pt x="401" y="91"/>
                  <a:pt x="386" y="182"/>
                  <a:pt x="326" y="227"/>
                </a:cubicBezTo>
                <a:cubicBezTo>
                  <a:pt x="266" y="272"/>
                  <a:pt x="106" y="234"/>
                  <a:pt x="53" y="272"/>
                </a:cubicBezTo>
                <a:cubicBezTo>
                  <a:pt x="0" y="310"/>
                  <a:pt x="4" y="381"/>
                  <a:pt x="8" y="453"/>
                </a:cubicBezTo>
              </a:path>
            </a:pathLst>
          </a:custGeom>
          <a:noFill/>
          <a:ln w="28575">
            <a:solidFill>
              <a:srgbClr val="F52EF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25"/>
          <p:cNvSpPr/>
          <p:nvPr/>
        </p:nvSpPr>
        <p:spPr bwMode="auto">
          <a:xfrm flipH="1">
            <a:off x="7923213" y="5084763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111658" name="标题 1"/>
          <p:cNvSpPr>
            <a:spLocks noGrp="1" noChangeArrowheads="1"/>
          </p:cNvSpPr>
          <p:nvPr>
            <p:ph type="title"/>
          </p:nvPr>
        </p:nvSpPr>
        <p:spPr>
          <a:xfrm>
            <a:off x="96838" y="-26988"/>
            <a:ext cx="7519987" cy="923926"/>
          </a:xfrm>
        </p:spPr>
        <p:txBody>
          <a:bodyPr/>
          <a:lstStyle/>
          <a:p>
            <a:pPr algn="l">
              <a:defRPr/>
            </a:pPr>
            <a:r>
              <a:rPr lang="zh-CN" altLang="en-US" b="1" dirty="0">
                <a:solidFill>
                  <a:srgbClr val="FFC000"/>
                </a:solidFill>
              </a:rPr>
              <a:t>插入排序</a:t>
            </a:r>
            <a:r>
              <a:rPr lang="en-US" altLang="zh-CN" b="1" dirty="0">
                <a:solidFill>
                  <a:srgbClr val="FFC000"/>
                </a:solidFill>
              </a:rPr>
              <a:t>——</a:t>
            </a:r>
            <a:r>
              <a:rPr lang="zh-CN" altLang="en-US" b="1" dirty="0">
                <a:solidFill>
                  <a:srgbClr val="FFC000"/>
                </a:solidFill>
              </a:rPr>
              <a:t>插入过程演示</a:t>
            </a:r>
            <a:endParaRPr lang="zh-CN" altLang="en-US" b="1" dirty="0">
              <a:solidFill>
                <a:srgbClr val="FFC000"/>
              </a:solidFill>
            </a:endParaRPr>
          </a:p>
        </p:txBody>
      </p:sp>
      <p:sp>
        <p:nvSpPr>
          <p:cNvPr id="30763" name="矩形 79"/>
          <p:cNvSpPr>
            <a:spLocks noChangeArrowheads="1"/>
          </p:cNvSpPr>
          <p:nvPr/>
        </p:nvSpPr>
        <p:spPr bwMode="auto">
          <a:xfrm>
            <a:off x="1678305" y="1371600"/>
            <a:ext cx="5260975" cy="536575"/>
          </a:xfrm>
          <a:prstGeom prst="rect">
            <a:avLst/>
          </a:prstGeom>
          <a:noFill/>
          <a:ln w="38100" algn="ctr">
            <a:solidFill>
              <a:srgbClr val="F52EFC"/>
            </a:solidFill>
            <a:prstDash val="sysDot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标题 1"/>
          <p:cNvSpPr>
            <a:spLocks noGrp="1" noChangeArrowheads="1"/>
          </p:cNvSpPr>
          <p:nvPr>
            <p:ph type="title"/>
          </p:nvPr>
        </p:nvSpPr>
        <p:spPr>
          <a:xfrm>
            <a:off x="122238" y="201613"/>
            <a:ext cx="7772400" cy="500062"/>
          </a:xfrm>
        </p:spPr>
        <p:txBody>
          <a:bodyPr/>
          <a:lstStyle/>
          <a:p>
            <a:pPr>
              <a:defRPr/>
            </a:pPr>
            <a:r>
              <a:rPr lang="zh-CN" altLang="en-US" dirty="0">
                <a:solidFill>
                  <a:srgbClr val="FFC000"/>
                </a:solidFill>
              </a:rPr>
              <a:t>插入排序</a:t>
            </a:r>
            <a:r>
              <a:rPr lang="en-US" altLang="zh-CN" dirty="0">
                <a:solidFill>
                  <a:srgbClr val="FFC000"/>
                </a:solidFill>
              </a:rPr>
              <a:t>——</a:t>
            </a:r>
            <a:r>
              <a:rPr lang="zh-CN" altLang="en-US" dirty="0">
                <a:solidFill>
                  <a:srgbClr val="FFC000"/>
                </a:solidFill>
              </a:rPr>
              <a:t>插入过程演示</a:t>
            </a:r>
            <a:endParaRPr lang="zh-CN" altLang="en-US" dirty="0">
              <a:solidFill>
                <a:srgbClr val="FFC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874838" y="1657350"/>
            <a:ext cx="8556625" cy="1258888"/>
          </a:xfrm>
        </p:spPr>
        <p:txBody>
          <a:bodyPr/>
          <a:lstStyle/>
          <a:p>
            <a:pPr>
              <a:lnSpc>
                <a:spcPts val="2400"/>
              </a:lnSpc>
              <a:defRPr/>
            </a:pPr>
            <a:r>
              <a:rPr lang="zh-CN" altLang="en-US" sz="2400" b="1" dirty="0"/>
              <a:t>把 </a:t>
            </a:r>
            <a:r>
              <a:rPr lang="en-US" altLang="zh-CN" sz="2400" b="1" dirty="0"/>
              <a:t>q </a:t>
            </a:r>
            <a:r>
              <a:rPr lang="zh-CN" altLang="en-US" sz="2400" b="1" dirty="0"/>
              <a:t>插入到</a:t>
            </a:r>
            <a:r>
              <a:rPr lang="en-US" altLang="zh-CN" sz="2400" b="1" dirty="0"/>
              <a:t>r0</a:t>
            </a:r>
            <a:r>
              <a:rPr lang="zh-CN" altLang="en-US" sz="2400" b="1" dirty="0"/>
              <a:t>、</a:t>
            </a:r>
            <a:r>
              <a:rPr lang="en-US" altLang="zh-CN" sz="2400" b="1" dirty="0"/>
              <a:t>r</a:t>
            </a:r>
            <a:r>
              <a:rPr lang="zh-CN" altLang="en-US" sz="2400" b="1" dirty="0"/>
              <a:t>之间</a:t>
            </a:r>
            <a:endParaRPr lang="en-US" altLang="zh-CN" sz="2400" b="1" dirty="0"/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52EFC"/>
                </a:solidFill>
              </a:rPr>
              <a:t>q-&gt;next=r;</a:t>
            </a:r>
            <a:endParaRPr lang="en-US" altLang="zh-CN" sz="2400" b="1" dirty="0">
              <a:solidFill>
                <a:srgbClr val="F52EFC"/>
              </a:solidFill>
            </a:endParaRPr>
          </a:p>
          <a:p>
            <a:pPr lvl="1">
              <a:lnSpc>
                <a:spcPts val="2400"/>
              </a:lnSpc>
              <a:defRPr/>
            </a:pPr>
            <a:r>
              <a:rPr lang="en-US" altLang="zh-CN" sz="2400" b="1" dirty="0">
                <a:solidFill>
                  <a:srgbClr val="F52EFC"/>
                </a:solidFill>
              </a:rPr>
              <a:t>r0-&gt;next=q;</a:t>
            </a:r>
            <a:endParaRPr lang="en-US" altLang="zh-CN" sz="2400" b="1" dirty="0">
              <a:solidFill>
                <a:srgbClr val="F52EFC"/>
              </a:solidFill>
            </a:endParaRPr>
          </a:p>
        </p:txBody>
      </p:sp>
      <p:sp>
        <p:nvSpPr>
          <p:cNvPr id="14336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AF904DA-5E7A-47AD-A07D-620C9F05A1E1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879600" y="454501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22" name="Rectangle 20"/>
          <p:cNvSpPr>
            <a:spLocks noChangeArrowheads="1"/>
          </p:cNvSpPr>
          <p:nvPr/>
        </p:nvSpPr>
        <p:spPr bwMode="auto">
          <a:xfrm>
            <a:off x="3648075" y="5529263"/>
            <a:ext cx="500063" cy="361950"/>
          </a:xfrm>
          <a:prstGeom prst="rect">
            <a:avLst/>
          </a:prstGeom>
          <a:noFill/>
          <a:ln w="38100">
            <a:noFill/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...</a:t>
            </a:r>
            <a:endParaRPr lang="en-US" altLang="zh-CN" dirty="0">
              <a:latin typeface="+mn-lt"/>
            </a:endParaRPr>
          </a:p>
        </p:txBody>
      </p:sp>
      <p:grpSp>
        <p:nvGrpSpPr>
          <p:cNvPr id="31751" name="组合 48"/>
          <p:cNvGrpSpPr/>
          <p:nvPr/>
        </p:nvGrpSpPr>
        <p:grpSpPr bwMode="auto">
          <a:xfrm>
            <a:off x="1879600" y="4984750"/>
            <a:ext cx="647700" cy="1047750"/>
            <a:chOff x="251520" y="4985387"/>
            <a:chExt cx="830211" cy="1047060"/>
          </a:xfrm>
        </p:grpSpPr>
        <p:grpSp>
          <p:nvGrpSpPr>
            <p:cNvPr id="31830" name="Group 7"/>
            <p:cNvGrpSpPr/>
            <p:nvPr/>
          </p:nvGrpSpPr>
          <p:grpSpPr bwMode="auto">
            <a:xfrm>
              <a:off x="262898" y="4985387"/>
              <a:ext cx="818833" cy="1047060"/>
              <a:chOff x="0" y="0"/>
              <a:chExt cx="20000" cy="25502"/>
            </a:xfrm>
          </p:grpSpPr>
          <p:sp>
            <p:nvSpPr>
              <p:cNvPr id="31832" name="Rectangle 8"/>
              <p:cNvSpPr>
                <a:spLocks noChangeArrowheads="1"/>
              </p:cNvSpPr>
              <p:nvPr/>
            </p:nvSpPr>
            <p:spPr bwMode="auto">
              <a:xfrm>
                <a:off x="20" y="0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1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34" name="Line 9"/>
              <p:cNvSpPr>
                <a:spLocks noChangeShapeType="1"/>
              </p:cNvSpPr>
              <p:nvPr/>
            </p:nvSpPr>
            <p:spPr bwMode="auto">
              <a:xfrm>
                <a:off x="20" y="18817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23" name="Line 25"/>
            <p:cNvSpPr>
              <a:spLocks noChangeShapeType="1"/>
            </p:cNvSpPr>
            <p:nvPr/>
          </p:nvSpPr>
          <p:spPr bwMode="auto">
            <a:xfrm>
              <a:off x="251520" y="5389933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15" name="Text Box 29"/>
          <p:cNvSpPr txBox="1">
            <a:spLocks noChangeArrowheads="1"/>
          </p:cNvSpPr>
          <p:nvPr/>
        </p:nvSpPr>
        <p:spPr bwMode="auto">
          <a:xfrm>
            <a:off x="1677988" y="4149725"/>
            <a:ext cx="1050925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base:</a:t>
            </a:r>
            <a:endParaRPr lang="en-US" altLang="zh-CN" dirty="0">
              <a:latin typeface="+mn-lt"/>
            </a:endParaRPr>
          </a:p>
        </p:txBody>
      </p:sp>
      <p:sp>
        <p:nvSpPr>
          <p:cNvPr id="9" name="Freeform 25"/>
          <p:cNvSpPr/>
          <p:nvPr/>
        </p:nvSpPr>
        <p:spPr bwMode="auto">
          <a:xfrm flipH="1">
            <a:off x="2208213" y="5181600"/>
            <a:ext cx="668337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cxnSp>
        <p:nvCxnSpPr>
          <p:cNvPr id="31754" name="直接箭头连接符 35"/>
          <p:cNvCxnSpPr>
            <a:cxnSpLocks noChangeShapeType="1"/>
          </p:cNvCxnSpPr>
          <p:nvPr/>
        </p:nvCxnSpPr>
        <p:spPr bwMode="auto">
          <a:xfrm>
            <a:off x="2203450" y="4686300"/>
            <a:ext cx="0" cy="2984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矩形 46"/>
          <p:cNvSpPr/>
          <p:nvPr/>
        </p:nvSpPr>
        <p:spPr bwMode="auto">
          <a:xfrm>
            <a:off x="9744075" y="5589588"/>
            <a:ext cx="333375" cy="369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eaLnBrk="1" hangingPunct="1">
              <a:defRPr/>
            </a:pPr>
            <a:r>
              <a:rPr lang="en-US" altLang="zh-CN" dirty="0">
                <a:latin typeface="+mn-lt"/>
                <a:ea typeface="黑体" panose="02010609060101010101" pitchFamily="49" charset="-122"/>
                <a:cs typeface="Times New Roman" panose="02020603050405020304" pitchFamily="18" charset="0"/>
              </a:rPr>
              <a:t>•</a:t>
            </a:r>
            <a:endParaRPr lang="en-US" altLang="zh-CN" dirty="0">
              <a:latin typeface="+mn-lt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1756" name="组合 49"/>
          <p:cNvGrpSpPr/>
          <p:nvPr/>
        </p:nvGrpSpPr>
        <p:grpSpPr bwMode="auto">
          <a:xfrm>
            <a:off x="2855913" y="4984750"/>
            <a:ext cx="647700" cy="1047750"/>
            <a:chOff x="251520" y="4953321"/>
            <a:chExt cx="830211" cy="1047060"/>
          </a:xfrm>
        </p:grpSpPr>
        <p:grpSp>
          <p:nvGrpSpPr>
            <p:cNvPr id="31826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1828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2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54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2" name="Line 25"/>
            <p:cNvSpPr>
              <a:spLocks noChangeShapeType="1"/>
            </p:cNvSpPr>
            <p:nvPr/>
          </p:nvSpPr>
          <p:spPr bwMode="auto">
            <a:xfrm>
              <a:off x="251520" y="535786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55" name="Freeform 25"/>
          <p:cNvSpPr/>
          <p:nvPr/>
        </p:nvSpPr>
        <p:spPr bwMode="auto">
          <a:xfrm flipH="1">
            <a:off x="4008438" y="5170488"/>
            <a:ext cx="668337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58" name="组合 55"/>
          <p:cNvGrpSpPr/>
          <p:nvPr/>
        </p:nvGrpSpPr>
        <p:grpSpPr bwMode="auto">
          <a:xfrm>
            <a:off x="4656138" y="4973638"/>
            <a:ext cx="647700" cy="1047750"/>
            <a:chOff x="251520" y="4953321"/>
            <a:chExt cx="830211" cy="1047060"/>
          </a:xfrm>
        </p:grpSpPr>
        <p:grpSp>
          <p:nvGrpSpPr>
            <p:cNvPr id="31822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31824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FF00"/>
                    </a:solidFill>
                  </a:rPr>
                  <a:t>4</a:t>
                </a:r>
                <a:endParaRPr lang="en-US" altLang="zh-CN" sz="2400">
                  <a:solidFill>
                    <a:srgbClr val="FFFF00"/>
                  </a:solidFill>
                </a:endParaRP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60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>
              <a:off x="251520" y="535786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59" name="组合 61"/>
          <p:cNvGrpSpPr/>
          <p:nvPr/>
        </p:nvGrpSpPr>
        <p:grpSpPr bwMode="auto">
          <a:xfrm>
            <a:off x="5664200" y="4972050"/>
            <a:ext cx="647700" cy="1046163"/>
            <a:chOff x="251520" y="4953321"/>
            <a:chExt cx="830211" cy="1047060"/>
          </a:xfrm>
        </p:grpSpPr>
        <p:grpSp>
          <p:nvGrpSpPr>
            <p:cNvPr id="31818" name="Group 7"/>
            <p:cNvGrpSpPr/>
            <p:nvPr/>
          </p:nvGrpSpPr>
          <p:grpSpPr bwMode="auto">
            <a:xfrm>
              <a:off x="262898" y="4953321"/>
              <a:ext cx="818833" cy="1047060"/>
              <a:chOff x="0" y="-781"/>
              <a:chExt cx="20000" cy="25502"/>
            </a:xfrm>
          </p:grpSpPr>
          <p:sp>
            <p:nvSpPr>
              <p:cNvPr id="65" name="Rectangle 8"/>
              <p:cNvSpPr>
                <a:spLocks noChangeArrowheads="1"/>
              </p:cNvSpPr>
              <p:nvPr/>
            </p:nvSpPr>
            <p:spPr bwMode="auto">
              <a:xfrm>
                <a:off x="20" y="-781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rgbClr val="FFFF00"/>
                    </a:solidFill>
                    <a:latin typeface="+mn-lt"/>
                  </a:rPr>
                  <a:t>15</a:t>
                </a:r>
                <a:endParaRPr lang="en-US" altLang="zh-CN" dirty="0">
                  <a:solidFill>
                    <a:srgbClr val="FFFF00"/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66" name="Line 9"/>
              <p:cNvSpPr>
                <a:spLocks noChangeShapeType="1"/>
              </p:cNvSpPr>
              <p:nvPr/>
            </p:nvSpPr>
            <p:spPr bwMode="auto">
              <a:xfrm>
                <a:off x="20" y="1787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64" name="Line 25"/>
            <p:cNvSpPr>
              <a:spLocks noChangeShapeType="1"/>
            </p:cNvSpPr>
            <p:nvPr/>
          </p:nvSpPr>
          <p:spPr bwMode="auto">
            <a:xfrm>
              <a:off x="251520" y="5358481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67" name="Freeform 25"/>
          <p:cNvSpPr/>
          <p:nvPr/>
        </p:nvSpPr>
        <p:spPr bwMode="auto">
          <a:xfrm flipH="1">
            <a:off x="5951538" y="5140325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61" name="组合 67"/>
          <p:cNvGrpSpPr/>
          <p:nvPr/>
        </p:nvGrpSpPr>
        <p:grpSpPr bwMode="auto">
          <a:xfrm>
            <a:off x="6600825" y="4972050"/>
            <a:ext cx="647700" cy="1046163"/>
            <a:chOff x="251520" y="4980748"/>
            <a:chExt cx="830211" cy="1047060"/>
          </a:xfrm>
        </p:grpSpPr>
        <p:grpSp>
          <p:nvGrpSpPr>
            <p:cNvPr id="31814" name="Group 7"/>
            <p:cNvGrpSpPr/>
            <p:nvPr/>
          </p:nvGrpSpPr>
          <p:grpSpPr bwMode="auto">
            <a:xfrm>
              <a:off x="262898" y="4980748"/>
              <a:ext cx="818833" cy="1047060"/>
              <a:chOff x="0" y="-113"/>
              <a:chExt cx="20000" cy="25502"/>
            </a:xfrm>
          </p:grpSpPr>
          <p:sp>
            <p:nvSpPr>
              <p:cNvPr id="71" name="Rectangle 8"/>
              <p:cNvSpPr>
                <a:spLocks noChangeArrowheads="1"/>
              </p:cNvSpPr>
              <p:nvPr/>
            </p:nvSpPr>
            <p:spPr bwMode="auto">
              <a:xfrm>
                <a:off x="20" y="-113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17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2" name="Line 9"/>
              <p:cNvSpPr>
                <a:spLocks noChangeShapeType="1"/>
              </p:cNvSpPr>
              <p:nvPr/>
            </p:nvSpPr>
            <p:spPr bwMode="auto">
              <a:xfrm>
                <a:off x="20" y="17882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0" name="Line 25"/>
            <p:cNvSpPr>
              <a:spLocks noChangeShapeType="1"/>
            </p:cNvSpPr>
            <p:nvPr/>
          </p:nvSpPr>
          <p:spPr bwMode="auto">
            <a:xfrm>
              <a:off x="251520" y="5358897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73" name="Freeform 25"/>
          <p:cNvSpPr/>
          <p:nvPr/>
        </p:nvSpPr>
        <p:spPr bwMode="auto">
          <a:xfrm flipH="1">
            <a:off x="6938963" y="5137150"/>
            <a:ext cx="669925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grpSp>
        <p:nvGrpSpPr>
          <p:cNvPr id="31763" name="组合 73"/>
          <p:cNvGrpSpPr/>
          <p:nvPr/>
        </p:nvGrpSpPr>
        <p:grpSpPr bwMode="auto">
          <a:xfrm>
            <a:off x="7608888" y="4972050"/>
            <a:ext cx="647700" cy="1046163"/>
            <a:chOff x="251520" y="4983581"/>
            <a:chExt cx="830211" cy="1047060"/>
          </a:xfrm>
        </p:grpSpPr>
        <p:grpSp>
          <p:nvGrpSpPr>
            <p:cNvPr id="31810" name="Group 7"/>
            <p:cNvGrpSpPr/>
            <p:nvPr/>
          </p:nvGrpSpPr>
          <p:grpSpPr bwMode="auto">
            <a:xfrm>
              <a:off x="262898" y="4983581"/>
              <a:ext cx="818833" cy="1047060"/>
              <a:chOff x="0" y="-44"/>
              <a:chExt cx="20000" cy="25502"/>
            </a:xfrm>
          </p:grpSpPr>
          <p:sp>
            <p:nvSpPr>
              <p:cNvPr id="77" name="Rectangle 8"/>
              <p:cNvSpPr>
                <a:spLocks noChangeArrowheads="1"/>
              </p:cNvSpPr>
              <p:nvPr/>
            </p:nvSpPr>
            <p:spPr bwMode="auto">
              <a:xfrm>
                <a:off x="20" y="-44"/>
                <a:ext cx="19980" cy="2550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18</a:t>
                </a:r>
                <a:endParaRPr lang="en-US" altLang="zh-CN" dirty="0"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78" name="Line 9"/>
              <p:cNvSpPr>
                <a:spLocks noChangeShapeType="1"/>
              </p:cNvSpPr>
              <p:nvPr/>
            </p:nvSpPr>
            <p:spPr bwMode="auto">
              <a:xfrm>
                <a:off x="20" y="1787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76" name="Line 25"/>
            <p:cNvSpPr>
              <a:spLocks noChangeShapeType="1"/>
            </p:cNvSpPr>
            <p:nvPr/>
          </p:nvSpPr>
          <p:spPr bwMode="auto">
            <a:xfrm>
              <a:off x="251520" y="5358552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64" name="组合 79"/>
          <p:cNvGrpSpPr/>
          <p:nvPr/>
        </p:nvGrpSpPr>
        <p:grpSpPr bwMode="auto">
          <a:xfrm>
            <a:off x="8543925" y="4956175"/>
            <a:ext cx="647700" cy="1062038"/>
            <a:chOff x="251520" y="5007723"/>
            <a:chExt cx="830211" cy="1061841"/>
          </a:xfrm>
        </p:grpSpPr>
        <p:grpSp>
          <p:nvGrpSpPr>
            <p:cNvPr id="31806" name="Group 7"/>
            <p:cNvGrpSpPr/>
            <p:nvPr/>
          </p:nvGrpSpPr>
          <p:grpSpPr bwMode="auto">
            <a:xfrm>
              <a:off x="262898" y="5007723"/>
              <a:ext cx="818833" cy="1061841"/>
              <a:chOff x="0" y="544"/>
              <a:chExt cx="20000" cy="25862"/>
            </a:xfrm>
          </p:grpSpPr>
          <p:sp>
            <p:nvSpPr>
              <p:cNvPr id="83" name="Rectangle 8"/>
              <p:cNvSpPr>
                <a:spLocks noChangeArrowheads="1"/>
              </p:cNvSpPr>
              <p:nvPr/>
            </p:nvSpPr>
            <p:spPr bwMode="auto">
              <a:xfrm>
                <a:off x="20" y="544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ffectLst/>
            </p:spPr>
            <p:txBody>
              <a:bodyPr lIns="12700" tIns="12700" rIns="12700" bIns="1270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defRPr/>
                </a:pPr>
                <a:r>
                  <a:rPr lang="en-US" altLang="zh-CN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+mn-lt"/>
                  </a:rPr>
                  <a:t>12</a:t>
                </a:r>
                <a:endParaRPr lang="en-US" altLang="zh-CN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+mn-lt"/>
                </a:endParaRPr>
              </a:p>
              <a:p>
                <a:pPr algn="ctr">
                  <a:defRPr/>
                </a:pPr>
                <a:r>
                  <a:rPr lang="en-US" altLang="zh-CN" dirty="0">
                    <a:latin typeface="+mn-lt"/>
                  </a:rPr>
                  <a:t>key</a:t>
                </a:r>
                <a:endParaRPr lang="en-US" altLang="zh-CN" dirty="0">
                  <a:latin typeface="+mn-lt"/>
                </a:endParaRPr>
              </a:p>
            </p:txBody>
          </p:sp>
          <p:sp>
            <p:nvSpPr>
              <p:cNvPr id="84" name="Line 9"/>
              <p:cNvSpPr>
                <a:spLocks noChangeShapeType="1"/>
              </p:cNvSpPr>
              <p:nvPr/>
            </p:nvSpPr>
            <p:spPr bwMode="auto">
              <a:xfrm>
                <a:off x="20" y="17901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2" name="Line 25"/>
            <p:cNvSpPr>
              <a:spLocks noChangeShapeType="1"/>
            </p:cNvSpPr>
            <p:nvPr/>
          </p:nvSpPr>
          <p:spPr bwMode="auto">
            <a:xfrm>
              <a:off x="251520" y="5358496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grpSp>
        <p:nvGrpSpPr>
          <p:cNvPr id="31765" name="组合 85"/>
          <p:cNvGrpSpPr/>
          <p:nvPr/>
        </p:nvGrpSpPr>
        <p:grpSpPr bwMode="auto">
          <a:xfrm>
            <a:off x="9551988" y="4956175"/>
            <a:ext cx="647700" cy="1062038"/>
            <a:chOff x="251520" y="5010556"/>
            <a:chExt cx="830211" cy="1061841"/>
          </a:xfrm>
        </p:grpSpPr>
        <p:grpSp>
          <p:nvGrpSpPr>
            <p:cNvPr id="31802" name="Group 7"/>
            <p:cNvGrpSpPr/>
            <p:nvPr/>
          </p:nvGrpSpPr>
          <p:grpSpPr bwMode="auto">
            <a:xfrm>
              <a:off x="262898" y="5010556"/>
              <a:ext cx="818833" cy="1061841"/>
              <a:chOff x="0" y="613"/>
              <a:chExt cx="20000" cy="25862"/>
            </a:xfrm>
          </p:grpSpPr>
          <p:sp>
            <p:nvSpPr>
              <p:cNvPr id="31804" name="Rectangle 8"/>
              <p:cNvSpPr>
                <a:spLocks noChangeArrowheads="1"/>
              </p:cNvSpPr>
              <p:nvPr/>
            </p:nvSpPr>
            <p:spPr bwMode="auto">
              <a:xfrm>
                <a:off x="20" y="613"/>
                <a:ext cx="19980" cy="2586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6</a:t>
                </a:r>
                <a:endParaRPr lang="en-US" altLang="zh-CN" sz="2400"/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/>
                  <a:t>key</a:t>
                </a:r>
                <a:endParaRPr lang="en-US" altLang="zh-CN" sz="2400"/>
              </a:p>
            </p:txBody>
          </p:sp>
          <p:sp>
            <p:nvSpPr>
              <p:cNvPr id="90" name="Line 9"/>
              <p:cNvSpPr>
                <a:spLocks noChangeShapeType="1"/>
              </p:cNvSpPr>
              <p:nvPr/>
            </p:nvSpPr>
            <p:spPr bwMode="auto">
              <a:xfrm>
                <a:off x="20" y="17893"/>
                <a:ext cx="199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sm" len="sm"/>
                <a:tailEnd type="none" w="med" len="lg"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zh-CN" altLang="en-US">
                  <a:latin typeface="+mn-lt"/>
                </a:endParaRPr>
              </a:p>
            </p:txBody>
          </p:sp>
        </p:grpSp>
        <p:sp>
          <p:nvSpPr>
            <p:cNvPr id="88" name="Line 25"/>
            <p:cNvSpPr>
              <a:spLocks noChangeShapeType="1"/>
            </p:cNvSpPr>
            <p:nvPr/>
          </p:nvSpPr>
          <p:spPr bwMode="auto">
            <a:xfrm>
              <a:off x="251520" y="5358155"/>
              <a:ext cx="83021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med" len="lg"/>
            </a:ln>
            <a:effectLst/>
          </p:spPr>
          <p:txBody>
            <a:bodyPr/>
            <a:lstStyle/>
            <a:p>
              <a:pPr>
                <a:defRPr/>
              </a:pPr>
              <a:endParaRPr lang="zh-CN" altLang="en-US">
                <a:latin typeface="+mn-lt"/>
              </a:endParaRPr>
            </a:p>
          </p:txBody>
        </p:sp>
      </p:grpSp>
      <p:sp>
        <p:nvSpPr>
          <p:cNvPr id="91" name="Freeform 25"/>
          <p:cNvSpPr/>
          <p:nvPr/>
        </p:nvSpPr>
        <p:spPr bwMode="auto">
          <a:xfrm flipH="1">
            <a:off x="3184525" y="5181600"/>
            <a:ext cx="668338" cy="725488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92" name="Rectangle 6"/>
          <p:cNvSpPr>
            <a:spLocks noChangeArrowheads="1"/>
          </p:cNvSpPr>
          <p:nvPr/>
        </p:nvSpPr>
        <p:spPr bwMode="auto">
          <a:xfrm>
            <a:off x="7616825" y="3852863"/>
            <a:ext cx="6397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3" name="Text Box 29"/>
          <p:cNvSpPr txBox="1">
            <a:spLocks noChangeArrowheads="1"/>
          </p:cNvSpPr>
          <p:nvPr/>
        </p:nvSpPr>
        <p:spPr bwMode="auto">
          <a:xfrm>
            <a:off x="76088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p0:</a:t>
            </a:r>
            <a:endParaRPr lang="en-US" altLang="zh-CN" dirty="0">
              <a:latin typeface="+mn-lt"/>
            </a:endParaRPr>
          </a:p>
        </p:txBody>
      </p:sp>
      <p:cxnSp>
        <p:nvCxnSpPr>
          <p:cNvPr id="31769" name="直接箭头连接符 93"/>
          <p:cNvCxnSpPr>
            <a:cxnSpLocks noChangeShapeType="1"/>
            <a:endCxn id="77" idx="0"/>
          </p:cNvCxnSpPr>
          <p:nvPr/>
        </p:nvCxnSpPr>
        <p:spPr bwMode="auto">
          <a:xfrm>
            <a:off x="7935913" y="3990975"/>
            <a:ext cx="0" cy="9810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5" name="Rectangle 6"/>
          <p:cNvSpPr>
            <a:spLocks noChangeArrowheads="1"/>
          </p:cNvSpPr>
          <p:nvPr/>
        </p:nvSpPr>
        <p:spPr bwMode="auto">
          <a:xfrm>
            <a:off x="8543925" y="3852863"/>
            <a:ext cx="647700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96" name="Text Box 29"/>
          <p:cNvSpPr txBox="1">
            <a:spLocks noChangeArrowheads="1"/>
          </p:cNvSpPr>
          <p:nvPr/>
        </p:nvSpPr>
        <p:spPr bwMode="auto">
          <a:xfrm>
            <a:off x="8535988" y="3457575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p:</a:t>
            </a:r>
            <a:endParaRPr lang="en-US" altLang="zh-CN" dirty="0">
              <a:latin typeface="+mn-lt"/>
            </a:endParaRPr>
          </a:p>
        </p:txBody>
      </p:sp>
      <p:sp>
        <p:nvSpPr>
          <p:cNvPr id="100" name="Rectangle 6"/>
          <p:cNvSpPr>
            <a:spLocks noChangeArrowheads="1"/>
          </p:cNvSpPr>
          <p:nvPr/>
        </p:nvSpPr>
        <p:spPr bwMode="auto">
          <a:xfrm>
            <a:off x="4676775" y="3906838"/>
            <a:ext cx="627063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1" name="Text Box 29"/>
          <p:cNvSpPr txBox="1">
            <a:spLocks noChangeArrowheads="1"/>
          </p:cNvSpPr>
          <p:nvPr/>
        </p:nvSpPr>
        <p:spPr bwMode="auto">
          <a:xfrm>
            <a:off x="4656138" y="3511550"/>
            <a:ext cx="647700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r0:</a:t>
            </a:r>
            <a:endParaRPr lang="en-US" altLang="zh-CN" dirty="0">
              <a:latin typeface="+mn-lt"/>
            </a:endParaRPr>
          </a:p>
        </p:txBody>
      </p:sp>
      <p:cxnSp>
        <p:nvCxnSpPr>
          <p:cNvPr id="31774" name="直接箭头连接符 101"/>
          <p:cNvCxnSpPr>
            <a:cxnSpLocks noChangeShapeType="1"/>
            <a:endCxn id="31824" idx="0"/>
          </p:cNvCxnSpPr>
          <p:nvPr/>
        </p:nvCxnSpPr>
        <p:spPr bwMode="auto">
          <a:xfrm flipH="1">
            <a:off x="4984750" y="4048125"/>
            <a:ext cx="6350" cy="925513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3" name="Rectangle 6"/>
          <p:cNvSpPr>
            <a:spLocks noChangeArrowheads="1"/>
          </p:cNvSpPr>
          <p:nvPr/>
        </p:nvSpPr>
        <p:spPr bwMode="auto">
          <a:xfrm>
            <a:off x="5591175" y="3906838"/>
            <a:ext cx="649288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04" name="Text Box 29"/>
          <p:cNvSpPr txBox="1">
            <a:spLocks noChangeArrowheads="1"/>
          </p:cNvSpPr>
          <p:nvPr/>
        </p:nvSpPr>
        <p:spPr bwMode="auto">
          <a:xfrm>
            <a:off x="5583238" y="3511550"/>
            <a:ext cx="649287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latin typeface="+mn-lt"/>
              </a:rPr>
              <a:t>r:</a:t>
            </a:r>
            <a:endParaRPr lang="en-US" altLang="zh-CN" dirty="0">
              <a:latin typeface="+mn-lt"/>
            </a:endParaRPr>
          </a:p>
        </p:txBody>
      </p:sp>
      <p:cxnSp>
        <p:nvCxnSpPr>
          <p:cNvPr id="31777" name="直接箭头连接符 104"/>
          <p:cNvCxnSpPr>
            <a:cxnSpLocks noChangeShapeType="1"/>
          </p:cNvCxnSpPr>
          <p:nvPr/>
        </p:nvCxnSpPr>
        <p:spPr bwMode="auto">
          <a:xfrm>
            <a:off x="5919788" y="4048125"/>
            <a:ext cx="0" cy="9080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7" name="Rectangle 6"/>
          <p:cNvSpPr>
            <a:spLocks noChangeArrowheads="1"/>
          </p:cNvSpPr>
          <p:nvPr/>
        </p:nvSpPr>
        <p:spPr bwMode="auto">
          <a:xfrm>
            <a:off x="9526588" y="3836988"/>
            <a:ext cx="649287" cy="280987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txBody>
          <a:bodyPr lIns="12700" tIns="12700" rIns="12700" bIns="1270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>
              <a:latin typeface="+mn-lt"/>
            </a:endParaRPr>
          </a:p>
        </p:txBody>
      </p:sp>
      <p:sp>
        <p:nvSpPr>
          <p:cNvPr id="128" name="Text Box 29"/>
          <p:cNvSpPr txBox="1">
            <a:spLocks noChangeArrowheads="1"/>
          </p:cNvSpPr>
          <p:nvPr/>
        </p:nvSpPr>
        <p:spPr bwMode="auto">
          <a:xfrm>
            <a:off x="9518650" y="3441700"/>
            <a:ext cx="649288" cy="341313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en-US" altLang="zh-CN" dirty="0">
                <a:solidFill>
                  <a:srgbClr val="F52EFC"/>
                </a:solidFill>
                <a:latin typeface="+mn-lt"/>
              </a:rPr>
              <a:t>q:</a:t>
            </a:r>
            <a:endParaRPr lang="en-US" altLang="zh-CN" dirty="0">
              <a:solidFill>
                <a:srgbClr val="F52EFC"/>
              </a:solidFill>
              <a:latin typeface="+mn-lt"/>
            </a:endParaRPr>
          </a:p>
        </p:txBody>
      </p:sp>
      <p:cxnSp>
        <p:nvCxnSpPr>
          <p:cNvPr id="31780" name="直接箭头连接符 128"/>
          <p:cNvCxnSpPr>
            <a:cxnSpLocks noChangeShapeType="1"/>
            <a:endCxn id="83" idx="0"/>
          </p:cNvCxnSpPr>
          <p:nvPr/>
        </p:nvCxnSpPr>
        <p:spPr bwMode="auto">
          <a:xfrm flipH="1">
            <a:off x="8872538" y="3978275"/>
            <a:ext cx="982662" cy="977900"/>
          </a:xfrm>
          <a:prstGeom prst="straightConnector1">
            <a:avLst/>
          </a:prstGeom>
          <a:noFill/>
          <a:ln w="28575">
            <a:solidFill>
              <a:srgbClr val="F52EFC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31781" name="组合 26"/>
          <p:cNvGrpSpPr/>
          <p:nvPr/>
        </p:nvGrpSpPr>
        <p:grpSpPr bwMode="auto">
          <a:xfrm>
            <a:off x="7923213" y="5191125"/>
            <a:ext cx="1627187" cy="1052513"/>
            <a:chOff x="6398419" y="5295352"/>
            <a:chExt cx="1628468" cy="947891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6412717" y="5831490"/>
              <a:ext cx="0" cy="41032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 flipV="1">
              <a:off x="6398419" y="6234665"/>
              <a:ext cx="1499780" cy="142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/>
            <p:cNvCxnSpPr/>
            <p:nvPr/>
          </p:nvCxnSpPr>
          <p:spPr>
            <a:xfrm>
              <a:off x="7883900" y="5295352"/>
              <a:ext cx="0" cy="9478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/>
          </p:nvCxnSpPr>
          <p:spPr>
            <a:xfrm>
              <a:off x="7871190" y="5295352"/>
              <a:ext cx="155697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782" name="Freeform 83"/>
          <p:cNvSpPr/>
          <p:nvPr/>
        </p:nvSpPr>
        <p:spPr bwMode="auto">
          <a:xfrm>
            <a:off x="8112125" y="3990975"/>
            <a:ext cx="803275" cy="965200"/>
          </a:xfrm>
          <a:custGeom>
            <a:avLst/>
            <a:gdLst>
              <a:gd name="T0" fmla="*/ 2147483646 w 416"/>
              <a:gd name="T1" fmla="*/ 0 h 453"/>
              <a:gd name="T2" fmla="*/ 2147483646 w 416"/>
              <a:gd name="T3" fmla="*/ 2147483646 h 453"/>
              <a:gd name="T4" fmla="*/ 2147483646 w 416"/>
              <a:gd name="T5" fmla="*/ 2147483646 h 453"/>
              <a:gd name="T6" fmla="*/ 2147483646 w 416"/>
              <a:gd name="T7" fmla="*/ 2147483646 h 453"/>
              <a:gd name="T8" fmla="*/ 0 60000 65536"/>
              <a:gd name="T9" fmla="*/ 0 60000 65536"/>
              <a:gd name="T10" fmla="*/ 0 60000 65536"/>
              <a:gd name="T11" fmla="*/ 0 60000 65536"/>
              <a:gd name="T12" fmla="*/ 0 w 416"/>
              <a:gd name="T13" fmla="*/ 0 h 453"/>
              <a:gd name="T14" fmla="*/ 416 w 416"/>
              <a:gd name="T15" fmla="*/ 453 h 45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16" h="453">
                <a:moveTo>
                  <a:pt x="416" y="0"/>
                </a:moveTo>
                <a:cubicBezTo>
                  <a:pt x="401" y="91"/>
                  <a:pt x="386" y="182"/>
                  <a:pt x="326" y="227"/>
                </a:cubicBezTo>
                <a:cubicBezTo>
                  <a:pt x="266" y="272"/>
                  <a:pt x="106" y="234"/>
                  <a:pt x="53" y="272"/>
                </a:cubicBezTo>
                <a:cubicBezTo>
                  <a:pt x="0" y="310"/>
                  <a:pt x="4" y="381"/>
                  <a:pt x="8" y="453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5" name="组合 28"/>
          <p:cNvGrpSpPr/>
          <p:nvPr/>
        </p:nvGrpSpPr>
        <p:grpSpPr bwMode="auto">
          <a:xfrm>
            <a:off x="6153150" y="3470275"/>
            <a:ext cx="3122613" cy="2359025"/>
            <a:chOff x="4629180" y="3469492"/>
            <a:chExt cx="3121789" cy="2359808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341502" y="5818184"/>
              <a:ext cx="403119" cy="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连接符 10"/>
            <p:cNvCxnSpPr/>
            <p:nvPr/>
          </p:nvCxnSpPr>
          <p:spPr>
            <a:xfrm flipV="1">
              <a:off x="7738272" y="3469492"/>
              <a:ext cx="0" cy="2359808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 flipH="1">
              <a:off x="4862481" y="3474257"/>
              <a:ext cx="2888488" cy="3176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4876765" y="3472668"/>
              <a:ext cx="3174" cy="117514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 flipH="1" flipV="1">
              <a:off x="4629180" y="4633516"/>
              <a:ext cx="250759" cy="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>
              <a:off x="4643464" y="4630340"/>
              <a:ext cx="0" cy="325545"/>
            </a:xfrm>
            <a:prstGeom prst="straightConnector1">
              <a:avLst/>
            </a:prstGeom>
            <a:ln w="28575">
              <a:solidFill>
                <a:srgbClr val="F52EF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84"/>
          <p:cNvGrpSpPr/>
          <p:nvPr/>
        </p:nvGrpSpPr>
        <p:grpSpPr bwMode="auto">
          <a:xfrm>
            <a:off x="5014913" y="5222875"/>
            <a:ext cx="3538537" cy="958850"/>
            <a:chOff x="6408615" y="5286876"/>
            <a:chExt cx="1618272" cy="906741"/>
          </a:xfrm>
        </p:grpSpPr>
        <p:cxnSp>
          <p:nvCxnSpPr>
            <p:cNvPr id="97" name="直接连接符 96"/>
            <p:cNvCxnSpPr/>
            <p:nvPr/>
          </p:nvCxnSpPr>
          <p:spPr>
            <a:xfrm flipH="1">
              <a:off x="6408615" y="5864849"/>
              <a:ext cx="0" cy="328768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接连接符 98"/>
            <p:cNvCxnSpPr/>
            <p:nvPr/>
          </p:nvCxnSpPr>
          <p:spPr>
            <a:xfrm flipV="1">
              <a:off x="6412971" y="6178605"/>
              <a:ext cx="1541315" cy="1502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/>
            <p:cNvCxnSpPr/>
            <p:nvPr/>
          </p:nvCxnSpPr>
          <p:spPr>
            <a:xfrm>
              <a:off x="7948478" y="5286876"/>
              <a:ext cx="0" cy="893230"/>
            </a:xfrm>
            <a:prstGeom prst="line">
              <a:avLst/>
            </a:prstGeom>
            <a:ln w="28575">
              <a:solidFill>
                <a:srgbClr val="F52EF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箭头连接符 106"/>
            <p:cNvCxnSpPr/>
            <p:nvPr/>
          </p:nvCxnSpPr>
          <p:spPr>
            <a:xfrm>
              <a:off x="7949204" y="5295883"/>
              <a:ext cx="77683" cy="0"/>
            </a:xfrm>
            <a:prstGeom prst="straightConnector1">
              <a:avLst/>
            </a:prstGeom>
            <a:ln w="28575">
              <a:solidFill>
                <a:srgbClr val="F52EF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Freeform 25"/>
          <p:cNvSpPr/>
          <p:nvPr/>
        </p:nvSpPr>
        <p:spPr bwMode="auto">
          <a:xfrm flipH="1">
            <a:off x="8883650" y="5151438"/>
            <a:ext cx="668338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  <p:sp>
        <p:nvSpPr>
          <p:cNvPr id="102" name="Freeform 25"/>
          <p:cNvSpPr/>
          <p:nvPr/>
        </p:nvSpPr>
        <p:spPr bwMode="auto">
          <a:xfrm flipH="1">
            <a:off x="5010150" y="5154613"/>
            <a:ext cx="669925" cy="725487"/>
          </a:xfrm>
          <a:custGeom>
            <a:avLst/>
            <a:gdLst>
              <a:gd name="T0" fmla="*/ 2147483647 w 20000"/>
              <a:gd name="T1" fmla="*/ 2147483647 h 20000"/>
              <a:gd name="T2" fmla="*/ 2147483647 w 20000"/>
              <a:gd name="T3" fmla="*/ 2147483647 h 20000"/>
              <a:gd name="T4" fmla="*/ 2147483647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chemeClr val="accent2">
                <a:lumMod val="60000"/>
                <a:lumOff val="40000"/>
              </a:schemeClr>
            </a:solidFill>
            <a:round/>
            <a:tailEnd type="arrow" w="med" len="med"/>
          </a:ln>
          <a:effectLst/>
        </p:spPr>
        <p:txBody>
          <a:bodyPr/>
          <a:lstStyle/>
          <a:p>
            <a:pPr>
              <a:defRPr/>
            </a:pPr>
            <a:endParaRPr lang="zh-CN" altLang="en-US">
              <a:latin typeface="+mn-lt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0D1D31C-F56D-46E2-9725-17994C199F35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524000" y="620713"/>
            <a:ext cx="9324975" cy="619283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273050" indent="-273050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/>
              <a:t>  </a:t>
            </a:r>
            <a:r>
              <a:rPr lang="en-US" altLang="zh-CN" sz="2800" dirty="0">
                <a:solidFill>
                  <a:srgbClr val="F52EFC"/>
                </a:solidFill>
              </a:rPr>
              <a:t>sort(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/>
              <a:t>  base </a:t>
            </a:r>
            <a:r>
              <a:rPr lang="en-US" altLang="zh-CN" sz="2800" dirty="0">
                <a:solidFill>
                  <a:srgbClr val="F52EFC"/>
                </a:solidFill>
              </a:rPr>
              <a:t>) {</a:t>
            </a:r>
            <a:r>
              <a:rPr lang="en-US" altLang="zh-CN" sz="2800" dirty="0"/>
              <a:t>	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链表排序，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base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为链首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FF00"/>
                </a:solidFill>
              </a:rPr>
              <a:t>       </a:t>
            </a:r>
            <a:r>
              <a:rPr lang="en-US" altLang="zh-CN" sz="2800" dirty="0" err="1">
                <a:solidFill>
                  <a:srgbClr val="FFFF00"/>
                </a:solidFill>
              </a:rPr>
              <a:t>pt</a:t>
            </a:r>
            <a:r>
              <a:rPr lang="en-US" altLang="zh-CN" sz="2800" dirty="0">
                <a:solidFill>
                  <a:srgbClr val="FFFF00"/>
                </a:solidFill>
              </a:rPr>
              <a:t>  </a:t>
            </a:r>
            <a:r>
              <a:rPr lang="en-US" altLang="zh-CN" sz="2800" dirty="0"/>
              <a:t>p , p0 , r , r0 , q ;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p0=NULL ;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52EFC"/>
                </a:solidFill>
              </a:rPr>
              <a:t>       p=base ;</a:t>
            </a:r>
            <a:endParaRPr lang="en-US" altLang="zh-CN" sz="2800" dirty="0">
              <a:solidFill>
                <a:srgbClr val="F52EFC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while(p!=NULL) {	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//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逐项处理，把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p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加入到子序列中，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dirty="0"/>
              <a:t>                                     	            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// 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并保持“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</a:rPr>
              <a:t>base--p”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</a:rPr>
              <a:t>递增 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p0=p;		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       p=p-&gt;next ;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</a:rPr>
              <a:t> // 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</a:rPr>
              <a:t>前进一项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     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/>
              <a:t>	   }</a:t>
            </a:r>
            <a:endParaRPr lang="en-US" altLang="zh-CN" sz="2800" dirty="0"/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      </a:t>
            </a:r>
            <a:r>
              <a:rPr lang="en-US" altLang="zh-CN" sz="2800" dirty="0">
                <a:solidFill>
                  <a:srgbClr val="F52EFC"/>
                </a:solidFill>
              </a:rPr>
              <a:t>return base ;</a:t>
            </a:r>
            <a:endParaRPr lang="en-US" altLang="zh-CN" sz="2800" dirty="0">
              <a:solidFill>
                <a:srgbClr val="F52EFC"/>
              </a:solidFill>
            </a:endParaRPr>
          </a:p>
          <a:p>
            <a:pPr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52EFC"/>
                </a:solidFill>
              </a:rPr>
              <a:t>}</a:t>
            </a:r>
            <a:endParaRPr lang="en-US" altLang="zh-CN" sz="2800" dirty="0">
              <a:solidFill>
                <a:srgbClr val="F52EFC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2743200" y="3444875"/>
            <a:ext cx="2592388" cy="522288"/>
          </a:xfrm>
          <a:prstGeom prst="rect">
            <a:avLst/>
          </a:prstGeom>
          <a:solidFill>
            <a:srgbClr val="00B0F0"/>
          </a:solidFill>
          <a:ln w="19050">
            <a:solidFill>
              <a:schemeClr val="tx1"/>
            </a:solidFill>
          </a:ln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  <a:defRPr/>
            </a:pP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处理 </a:t>
            </a:r>
            <a:r>
              <a:rPr lang="en-US" altLang="zh-CN" sz="2800" dirty="0">
                <a:solidFill>
                  <a:srgbClr val="FFFF00"/>
                </a:solidFill>
                <a:latin typeface="+mn-lt"/>
                <a:ea typeface="+mn-ea"/>
              </a:rPr>
              <a:t>p </a:t>
            </a:r>
            <a:r>
              <a:rPr lang="zh-CN" altLang="en-US" sz="2800" dirty="0">
                <a:solidFill>
                  <a:srgbClr val="FFFF00"/>
                </a:solidFill>
                <a:latin typeface="+mn-lt"/>
                <a:ea typeface="+mn-ea"/>
              </a:rPr>
              <a:t>所指项</a:t>
            </a:r>
            <a:endParaRPr lang="zh-CN" altLang="en-US" sz="2800" dirty="0">
              <a:latin typeface="+mn-lt"/>
              <a:ea typeface="+mn-ea"/>
            </a:endParaRPr>
          </a:p>
        </p:txBody>
      </p:sp>
      <p:sp>
        <p:nvSpPr>
          <p:cNvPr id="32774" name="矩形 1"/>
          <p:cNvSpPr>
            <a:spLocks noChangeArrowheads="1"/>
          </p:cNvSpPr>
          <p:nvPr/>
        </p:nvSpPr>
        <p:spPr bwMode="auto">
          <a:xfrm>
            <a:off x="2208213" y="1412875"/>
            <a:ext cx="2016125" cy="863600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" name="矩形 8"/>
          <p:cNvSpPr>
            <a:spLocks noChangeArrowheads="1"/>
          </p:cNvSpPr>
          <p:nvPr/>
        </p:nvSpPr>
        <p:spPr bwMode="auto">
          <a:xfrm>
            <a:off x="2743200" y="4300538"/>
            <a:ext cx="2016125" cy="830262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90800" y="2971800"/>
            <a:ext cx="4648200" cy="2209800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" name="对话气泡: 椭圆形 2"/>
          <p:cNvSpPr>
            <a:spLocks noChangeArrowheads="1"/>
          </p:cNvSpPr>
          <p:nvPr/>
        </p:nvSpPr>
        <p:spPr bwMode="auto">
          <a:xfrm>
            <a:off x="7696200" y="2971800"/>
            <a:ext cx="1655763" cy="719138"/>
          </a:xfrm>
          <a:prstGeom prst="wedgeEllipseCallout">
            <a:avLst>
              <a:gd name="adj1" fmla="val -72606"/>
              <a:gd name="adj2" fmla="val 59319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</a:rPr>
              <a:t>见下页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bldLvl="0" animBg="1"/>
      <p:bldP spid="10" grpId="0" animBg="1"/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4298D5AC-3EB7-40EB-A8ED-7DE129EFD2C5}" type="slidenum">
              <a:rPr lang="en-US" altLang="zh-CN" b="0" smtClean="0">
                <a:solidFill>
                  <a:schemeClr val="tx2"/>
                </a:solidFill>
                <a:latin typeface="Arial" panose="020B0604020202020204" pitchFamily="34" charset="0"/>
              </a:rPr>
            </a:fld>
            <a:endParaRPr lang="en-US" altLang="zh-CN" b="0">
              <a:solidFill>
                <a:schemeClr val="tx2"/>
              </a:solidFill>
              <a:latin typeface="Arial" panose="020B0604020202020204" pitchFamily="34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476376" y="14288"/>
            <a:ext cx="8867775" cy="669131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Char char=""/>
              <a:defRPr sz="2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48005" indent="-273050">
              <a:spcBef>
                <a:spcPts val="500"/>
              </a:spcBef>
              <a:buClr>
                <a:schemeClr val="accent2"/>
              </a:buClr>
              <a:buSzPct val="76000"/>
              <a:buFont typeface="Wingdings 3" panose="05040102010807070707" pitchFamily="18" charset="2"/>
              <a:buChar char=""/>
              <a:defRPr sz="230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22325" indent="-228600">
              <a:spcBef>
                <a:spcPts val="500"/>
              </a:spcBef>
              <a:buClr>
                <a:srgbClr val="BCBCBC"/>
              </a:buClr>
              <a:buSzPct val="76000"/>
              <a:buFont typeface="Wingdings 3" panose="05040102010807070707" pitchFamily="18" charset="2"/>
              <a:buChar char=""/>
              <a:defRPr sz="20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097280" indent="-228600">
              <a:spcBef>
                <a:spcPts val="400"/>
              </a:spcBef>
              <a:buClr>
                <a:srgbClr val="3C74BA"/>
              </a:buClr>
              <a:buSzPct val="70000"/>
              <a:buFont typeface="Wingdings" panose="05000000000000000000" pitchFamily="2" charset="2"/>
              <a:buChar char=""/>
              <a:defRPr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371600" indent="-228600">
              <a:spcBef>
                <a:spcPts val="3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288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860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7432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200400" indent="-228600" eaLnBrk="0" fontAlgn="base" hangingPunct="0">
              <a:spcBef>
                <a:spcPts val="3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"/>
              <a:defRPr sz="160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while ( p!=NULL ) {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逐项处理，把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加入子序列，并保持 </a:t>
            </a:r>
            <a:r>
              <a:rPr lang="en-US" altLang="zh-CN" sz="1800" dirty="0" err="1">
                <a:solidFill>
                  <a:schemeClr val="tx1">
                    <a:lumMod val="50000"/>
                  </a:schemeClr>
                </a:solidFill>
              </a:rPr>
              <a:t>base~p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递增 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	</a:t>
            </a:r>
            <a:r>
              <a:rPr lang="en-US" altLang="zh-CN" sz="2400" dirty="0">
                <a:solidFill>
                  <a:schemeClr val="tx1"/>
                </a:solidFill>
              </a:rPr>
              <a:t>r0=</a:t>
            </a:r>
            <a:r>
              <a:rPr lang="en-US" altLang="zh-CN" sz="2400" dirty="0" err="1">
                <a:solidFill>
                  <a:schemeClr val="tx1"/>
                </a:solidFill>
              </a:rPr>
              <a:t>NULL;r</a:t>
            </a:r>
            <a:r>
              <a:rPr lang="en-US" altLang="zh-CN" sz="2400" dirty="0"/>
              <a:t>=base ;            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while (</a:t>
            </a:r>
            <a:r>
              <a:rPr lang="en-US" altLang="zh-CN" sz="2400" dirty="0"/>
              <a:t> r-&gt;key&lt;p-&gt;key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寻找位置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r0~r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	{</a:t>
            </a:r>
            <a:r>
              <a:rPr lang="en-US" altLang="zh-CN" sz="2400" dirty="0"/>
              <a:t>r0=r; r=r-&gt;next;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     	</a:t>
            </a:r>
            <a:r>
              <a:rPr lang="en-US" altLang="zh-CN" sz="2400" dirty="0">
                <a:solidFill>
                  <a:srgbClr val="F52EFC"/>
                </a:solidFill>
              </a:rPr>
              <a:t>if (</a:t>
            </a:r>
            <a:r>
              <a:rPr lang="en-US" altLang="zh-CN" sz="2400" dirty="0"/>
              <a:t>r!=p</a:t>
            </a:r>
            <a:r>
              <a:rPr lang="en-US" altLang="zh-CN" sz="2400" dirty="0">
                <a:solidFill>
                  <a:srgbClr val="F52EFC"/>
                </a:solidFill>
              </a:rPr>
              <a:t>){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//p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插入到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r0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之间 ；若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r==p ,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则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p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已在链尾，则不用插入 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</a:t>
            </a:r>
            <a:r>
              <a:rPr lang="en-US" altLang="zh-CN" sz="2400" dirty="0"/>
              <a:t>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dirty="0"/>
              <a:t>      	q=p ;   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把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p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独立出来，令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q 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</a:rPr>
              <a:t>指向它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p0-&gt;next = p-&gt;next ;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p=p0 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</a:rPr>
              <a:t>回退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          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if (</a:t>
            </a:r>
            <a:r>
              <a:rPr lang="en-US" altLang="zh-CN" sz="2400" dirty="0"/>
              <a:t>r==base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插在链首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		 </a:t>
            </a:r>
            <a:r>
              <a:rPr lang="en-US" altLang="zh-CN" sz="2400" dirty="0">
                <a:solidFill>
                  <a:srgbClr val="FF0000"/>
                </a:solidFill>
              </a:rPr>
              <a:t>       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   </a:t>
            </a:r>
            <a:r>
              <a:rPr lang="en-US" altLang="zh-CN" sz="2400" dirty="0"/>
              <a:t>q-&gt;next=base;   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	base=q ;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</a:rPr>
              <a:t>插在链中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r0~r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</a:rPr>
              <a:t>		     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</a:rPr>
              <a:t>    </a:t>
            </a:r>
            <a:r>
              <a:rPr lang="en-US" altLang="zh-CN" sz="2400" dirty="0"/>
              <a:t>q-&gt;next=r;     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2400" dirty="0"/>
              <a:t>			r0-&gt;next=q;</a:t>
            </a:r>
            <a:endParaRPr lang="en-US" altLang="zh-CN" sz="2400" dirty="0"/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         		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}</a:t>
            </a:r>
            <a:endParaRPr lang="en-US" altLang="zh-CN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      	</a:t>
            </a:r>
            <a:r>
              <a:rPr lang="en-US" altLang="zh-CN" sz="1800" dirty="0">
                <a:solidFill>
                  <a:srgbClr val="F52EFC"/>
                </a:solidFill>
              </a:rPr>
              <a:t>}//end if</a:t>
            </a:r>
            <a:endParaRPr lang="en-US" altLang="zh-CN" sz="1800" dirty="0">
              <a:solidFill>
                <a:srgbClr val="F52EFC"/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>
                <a:solidFill>
                  <a:srgbClr val="FF0000"/>
                </a:solidFill>
              </a:rPr>
              <a:t>      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p0=</a:t>
            </a:r>
            <a:r>
              <a:rPr lang="en-US" altLang="zh-CN" sz="1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p;p</a:t>
            </a:r>
            <a:r>
              <a:rPr lang="en-US" altLang="zh-CN" sz="1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=p-&gt;next;</a:t>
            </a:r>
            <a:endParaRPr lang="en-US" altLang="zh-CN" sz="1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spcBef>
                <a:spcPts val="0"/>
              </a:spcBef>
              <a:buClr>
                <a:schemeClr val="tx1"/>
              </a:buClr>
              <a:buFont typeface="Wingdings 3" panose="05040102010807070707" pitchFamily="18" charset="2"/>
              <a:buNone/>
              <a:defRPr/>
            </a:pPr>
            <a:r>
              <a:rPr lang="en-US" altLang="zh-CN" sz="1800" dirty="0"/>
              <a:t>} //end while</a:t>
            </a:r>
            <a:endParaRPr lang="en-US" altLang="zh-CN" sz="1800" dirty="0"/>
          </a:p>
        </p:txBody>
      </p:sp>
      <p:sp>
        <p:nvSpPr>
          <p:cNvPr id="8" name="矩形 7"/>
          <p:cNvSpPr/>
          <p:nvPr/>
        </p:nvSpPr>
        <p:spPr>
          <a:xfrm>
            <a:off x="1703388" y="476250"/>
            <a:ext cx="8212137" cy="5894388"/>
          </a:xfrm>
          <a:prstGeom prst="rect">
            <a:avLst/>
          </a:prstGeom>
          <a:noFill/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9" name="矩形标注 8"/>
          <p:cNvSpPr/>
          <p:nvPr/>
        </p:nvSpPr>
        <p:spPr>
          <a:xfrm>
            <a:off x="10039350" y="2259013"/>
            <a:ext cx="503238" cy="3009900"/>
          </a:xfrm>
          <a:prstGeom prst="wedgeRectCallout">
            <a:avLst>
              <a:gd name="adj1" fmla="val -97379"/>
              <a:gd name="adj2" fmla="val -22996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dirty="0">
                <a:solidFill>
                  <a:srgbClr val="FFFF00"/>
                </a:solidFill>
              </a:rPr>
              <a:t>处理 </a:t>
            </a:r>
            <a:r>
              <a:rPr lang="en-US" altLang="zh-CN" dirty="0">
                <a:solidFill>
                  <a:srgbClr val="FFFF00"/>
                </a:solidFill>
              </a:rPr>
              <a:t>p </a:t>
            </a:r>
            <a:r>
              <a:rPr lang="zh-CN" altLang="en-US" dirty="0">
                <a:solidFill>
                  <a:srgbClr val="FFFF00"/>
                </a:solidFill>
              </a:rPr>
              <a:t>所指项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3798" name="矩形 1"/>
          <p:cNvSpPr>
            <a:spLocks noChangeArrowheads="1"/>
          </p:cNvSpPr>
          <p:nvPr/>
        </p:nvSpPr>
        <p:spPr bwMode="auto">
          <a:xfrm>
            <a:off x="6588125" y="6381750"/>
            <a:ext cx="33131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【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例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1a】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  <a:hlinkClick r:id="rId1" action="ppaction://hlinksldjump"/>
              </a:rPr>
              <a:t>链表操作实例</a:t>
            </a: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</a:rPr>
              <a:t>§13.3.2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</a:rPr>
              <a:t>栈</a:t>
            </a:r>
            <a:endParaRPr lang="zh-CN" altLang="en-US" b="1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600200"/>
            <a:ext cx="8362950" cy="3700463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数组实现（第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章）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链表实现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栈的操作：</a:t>
            </a:r>
            <a:endParaRPr lang="en-US" altLang="zh-CN" b="1" dirty="0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①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初始化：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stackintial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②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压栈：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stackpush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 lvl="1">
              <a:buFontTx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    ③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弹栈：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stackpop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2800" dirty="0">
              <a:effectLst/>
              <a:ea typeface="黑体" panose="02010609060101010101" pitchFamily="49" charset="-122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B016E2C-A47B-4940-A467-46BFC89C5B29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" y="3330575"/>
            <a:ext cx="6443663" cy="3527425"/>
          </a:xfrm>
        </p:spPr>
        <p:txBody>
          <a:bodyPr/>
          <a:lstStyle/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latin typeface="Arial" panose="020B0604020202020204" pitchFamily="34" charset="0"/>
              </a:rPr>
              <a:t>设有声明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: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...  items ; 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struct  stackcell { 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      items   data 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      </a:t>
            </a:r>
            <a:r>
              <a:rPr lang="en-US" altLang="zh-CN" sz="2400" b="1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struct  stackcell    *</a:t>
            </a:r>
            <a:r>
              <a:rPr lang="en-US" altLang="zh-CN" sz="2400" b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predocessor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} stackcelltype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typedef  </a:t>
            </a:r>
            <a:r>
              <a:rPr lang="en-US" altLang="zh-CN" sz="2400" b="1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stackcelltype  *</a:t>
            </a:r>
            <a:r>
              <a:rPr lang="en-US" altLang="zh-CN" sz="2400" b="1">
                <a:effectLst/>
                <a:latin typeface="Arial" panose="020B0604020202020204" pitchFamily="34" charset="0"/>
              </a:rPr>
              <a:t>pstacktype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  <a:p>
            <a:pPr marL="0" indent="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latin typeface="Arial" panose="020B0604020202020204" pitchFamily="34" charset="0"/>
              </a:rPr>
              <a:t>    pstacktype  top ;</a:t>
            </a:r>
            <a:endParaRPr lang="en-US" altLang="zh-CN" sz="2400" b="1">
              <a:effectLst/>
              <a:latin typeface="Arial" panose="020B0604020202020204" pitchFamily="34" charset="0"/>
            </a:endParaRPr>
          </a:p>
        </p:txBody>
      </p:sp>
      <p:grpSp>
        <p:nvGrpSpPr>
          <p:cNvPr id="36867" name="Group 31"/>
          <p:cNvGrpSpPr/>
          <p:nvPr/>
        </p:nvGrpSpPr>
        <p:grpSpPr bwMode="auto">
          <a:xfrm>
            <a:off x="7943850" y="304800"/>
            <a:ext cx="4033838" cy="5397500"/>
            <a:chOff x="3243" y="391"/>
            <a:chExt cx="2541" cy="3400"/>
          </a:xfrm>
        </p:grpSpPr>
        <p:sp>
          <p:nvSpPr>
            <p:cNvPr id="36879" name="Rectangle 6"/>
            <p:cNvSpPr>
              <a:spLocks noChangeArrowheads="1"/>
            </p:cNvSpPr>
            <p:nvPr/>
          </p:nvSpPr>
          <p:spPr bwMode="auto">
            <a:xfrm>
              <a:off x="3243" y="391"/>
              <a:ext cx="517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6880" name="Rectangle 7"/>
            <p:cNvSpPr>
              <a:spLocks noChangeArrowheads="1"/>
            </p:cNvSpPr>
            <p:nvPr/>
          </p:nvSpPr>
          <p:spPr bwMode="auto">
            <a:xfrm>
              <a:off x="3833" y="391"/>
              <a:ext cx="496" cy="18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6881" name="Rectangle 8"/>
            <p:cNvSpPr>
              <a:spLocks noChangeArrowheads="1"/>
            </p:cNvSpPr>
            <p:nvPr/>
          </p:nvSpPr>
          <p:spPr bwMode="auto">
            <a:xfrm>
              <a:off x="4740" y="1525"/>
              <a:ext cx="577" cy="2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... ...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6882" name="Rectangle 9"/>
            <p:cNvSpPr>
              <a:spLocks noChangeArrowheads="1"/>
            </p:cNvSpPr>
            <p:nvPr/>
          </p:nvSpPr>
          <p:spPr bwMode="auto">
            <a:xfrm>
              <a:off x="4961" y="2931"/>
              <a:ext cx="262" cy="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grpSp>
          <p:nvGrpSpPr>
            <p:cNvPr id="36883" name="Group 10"/>
            <p:cNvGrpSpPr/>
            <p:nvPr/>
          </p:nvGrpSpPr>
          <p:grpSpPr bwMode="auto">
            <a:xfrm>
              <a:off x="4558" y="391"/>
              <a:ext cx="998" cy="680"/>
              <a:chOff x="0" y="0"/>
              <a:chExt cx="20002" cy="20001"/>
            </a:xfrm>
          </p:grpSpPr>
          <p:sp>
            <p:nvSpPr>
              <p:cNvPr id="36897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8" name="Line 12"/>
              <p:cNvSpPr>
                <a:spLocks noChangeShapeType="1"/>
              </p:cNvSpPr>
              <p:nvPr/>
            </p:nvSpPr>
            <p:spPr bwMode="auto">
              <a:xfrm>
                <a:off x="0" y="8843"/>
                <a:ext cx="17109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9" name="Freeform 13"/>
              <p:cNvSpPr/>
              <p:nvPr/>
            </p:nvSpPr>
            <p:spPr bwMode="auto">
              <a:xfrm>
                <a:off x="11572" y="11186"/>
                <a:ext cx="8430" cy="881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36884" name="Group 18"/>
            <p:cNvGrpSpPr/>
            <p:nvPr/>
          </p:nvGrpSpPr>
          <p:grpSpPr bwMode="auto">
            <a:xfrm>
              <a:off x="4558" y="2115"/>
              <a:ext cx="998" cy="771"/>
              <a:chOff x="0" y="0"/>
              <a:chExt cx="20000" cy="20000"/>
            </a:xfrm>
          </p:grpSpPr>
          <p:sp>
            <p:nvSpPr>
              <p:cNvPr id="36894" name="Rectangle 1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7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5" name="Line 20"/>
              <p:cNvSpPr>
                <a:spLocks noChangeShapeType="1"/>
              </p:cNvSpPr>
              <p:nvPr/>
            </p:nvSpPr>
            <p:spPr bwMode="auto">
              <a:xfrm>
                <a:off x="0" y="8844"/>
                <a:ext cx="17107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6" name="Freeform 21"/>
              <p:cNvSpPr/>
              <p:nvPr/>
            </p:nvSpPr>
            <p:spPr bwMode="auto">
              <a:xfrm>
                <a:off x="11571" y="11188"/>
                <a:ext cx="8429" cy="8812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6885" name="Freeform 22"/>
            <p:cNvSpPr/>
            <p:nvPr/>
          </p:nvSpPr>
          <p:spPr bwMode="auto">
            <a:xfrm>
              <a:off x="5148" y="1979"/>
              <a:ext cx="408" cy="272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0" y="0"/>
                  </a:moveTo>
                  <a:lnTo>
                    <a:pt x="19966" y="0"/>
                  </a:lnTo>
                  <a:lnTo>
                    <a:pt x="19966" y="19938"/>
                  </a:lnTo>
                  <a:lnTo>
                    <a:pt x="14458" y="19938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6" name="Rectangle 23"/>
            <p:cNvSpPr>
              <a:spLocks noChangeArrowheads="1"/>
            </p:cNvSpPr>
            <p:nvPr/>
          </p:nvSpPr>
          <p:spPr bwMode="auto">
            <a:xfrm>
              <a:off x="4558" y="2795"/>
              <a:ext cx="839" cy="544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6887" name="Line 24"/>
            <p:cNvSpPr>
              <a:spLocks noChangeShapeType="1"/>
            </p:cNvSpPr>
            <p:nvPr/>
          </p:nvSpPr>
          <p:spPr bwMode="auto">
            <a:xfrm>
              <a:off x="4558" y="3113"/>
              <a:ext cx="852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8" name="Line 25"/>
            <p:cNvSpPr>
              <a:spLocks noChangeShapeType="1"/>
            </p:cNvSpPr>
            <p:nvPr/>
          </p:nvSpPr>
          <p:spPr bwMode="auto">
            <a:xfrm>
              <a:off x="4150" y="482"/>
              <a:ext cx="420" cy="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889" name="Text Box 26"/>
            <p:cNvSpPr txBox="1">
              <a:spLocks noChangeArrowheads="1"/>
            </p:cNvSpPr>
            <p:nvPr/>
          </p:nvSpPr>
          <p:spPr bwMode="auto">
            <a:xfrm>
              <a:off x="4274" y="3553"/>
              <a:ext cx="1510" cy="2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宋体" panose="02010600030101010101" pitchFamily="2" charset="-122"/>
                </a:rPr>
                <a:t>      栈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36890" name="Group 27"/>
            <p:cNvGrpSpPr/>
            <p:nvPr/>
          </p:nvGrpSpPr>
          <p:grpSpPr bwMode="auto">
            <a:xfrm>
              <a:off x="4558" y="981"/>
              <a:ext cx="998" cy="771"/>
              <a:chOff x="0" y="0"/>
              <a:chExt cx="20002" cy="20001"/>
            </a:xfrm>
          </p:grpSpPr>
          <p:sp>
            <p:nvSpPr>
              <p:cNvPr id="36891" name="Rectangle 2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16845" cy="13529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36892" name="Line 29"/>
              <p:cNvSpPr>
                <a:spLocks noChangeShapeType="1"/>
              </p:cNvSpPr>
              <p:nvPr/>
            </p:nvSpPr>
            <p:spPr bwMode="auto">
              <a:xfrm>
                <a:off x="0" y="8843"/>
                <a:ext cx="17109" cy="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6893" name="Freeform 30"/>
              <p:cNvSpPr/>
              <p:nvPr/>
            </p:nvSpPr>
            <p:spPr bwMode="auto">
              <a:xfrm>
                <a:off x="11572" y="11186"/>
                <a:ext cx="8430" cy="8815"/>
              </a:xfrm>
              <a:custGeom>
                <a:avLst/>
                <a:gdLst>
                  <a:gd name="T0" fmla="*/ 0 w 20000"/>
                  <a:gd name="T1" fmla="*/ 0 h 20000"/>
                  <a:gd name="T2" fmla="*/ 0 w 20000"/>
                  <a:gd name="T3" fmla="*/ 0 h 20000"/>
                  <a:gd name="T4" fmla="*/ 0 w 20000"/>
                  <a:gd name="T5" fmla="*/ 0 h 20000"/>
                  <a:gd name="T6" fmla="*/ 0 w 20000"/>
                  <a:gd name="T7" fmla="*/ 0 h 200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0000"/>
                  <a:gd name="T13" fmla="*/ 0 h 20000"/>
                  <a:gd name="T14" fmla="*/ 20000 w 20000"/>
                  <a:gd name="T15" fmla="*/ 20000 h 200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0000" h="20000">
                    <a:moveTo>
                      <a:pt x="0" y="0"/>
                    </a:moveTo>
                    <a:lnTo>
                      <a:pt x="19969" y="0"/>
                    </a:lnTo>
                    <a:lnTo>
                      <a:pt x="19969" y="19934"/>
                    </a:lnTo>
                    <a:lnTo>
                      <a:pt x="14977" y="19934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D645B3-6385-42A6-84C6-C50B0BB9E79F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36870" name="Group 23"/>
          <p:cNvGrpSpPr/>
          <p:nvPr/>
        </p:nvGrpSpPr>
        <p:grpSpPr bwMode="auto">
          <a:xfrm>
            <a:off x="4763" y="4149725"/>
            <a:ext cx="5905500" cy="1628775"/>
            <a:chOff x="657" y="1253"/>
            <a:chExt cx="3130" cy="1315"/>
          </a:xfrm>
        </p:grpSpPr>
        <p:sp>
          <p:nvSpPr>
            <p:cNvPr id="36871" name="Line 15"/>
            <p:cNvSpPr>
              <a:spLocks noChangeShapeType="1"/>
            </p:cNvSpPr>
            <p:nvPr/>
          </p:nvSpPr>
          <p:spPr bwMode="auto">
            <a:xfrm flipV="1">
              <a:off x="1573" y="1253"/>
              <a:ext cx="2214" cy="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2" name="Line 16"/>
            <p:cNvSpPr>
              <a:spLocks noChangeShapeType="1"/>
            </p:cNvSpPr>
            <p:nvPr/>
          </p:nvSpPr>
          <p:spPr bwMode="auto">
            <a:xfrm>
              <a:off x="1573" y="1260"/>
              <a:ext cx="0" cy="31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3" name="Line 17"/>
            <p:cNvSpPr>
              <a:spLocks noChangeShapeType="1"/>
            </p:cNvSpPr>
            <p:nvPr/>
          </p:nvSpPr>
          <p:spPr bwMode="auto">
            <a:xfrm flipH="1">
              <a:off x="1066" y="1558"/>
              <a:ext cx="507" cy="1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4" name="Line 18"/>
            <p:cNvSpPr>
              <a:spLocks noChangeShapeType="1"/>
            </p:cNvSpPr>
            <p:nvPr/>
          </p:nvSpPr>
          <p:spPr bwMode="auto">
            <a:xfrm flipH="1">
              <a:off x="657" y="1570"/>
              <a:ext cx="409" cy="998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5" name="Line 19"/>
            <p:cNvSpPr>
              <a:spLocks noChangeShapeType="1"/>
            </p:cNvSpPr>
            <p:nvPr/>
          </p:nvSpPr>
          <p:spPr bwMode="auto">
            <a:xfrm>
              <a:off x="657" y="2568"/>
              <a:ext cx="363" cy="0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6" name="Line 20"/>
            <p:cNvSpPr>
              <a:spLocks noChangeShapeType="1"/>
            </p:cNvSpPr>
            <p:nvPr/>
          </p:nvSpPr>
          <p:spPr bwMode="auto">
            <a:xfrm flipV="1">
              <a:off x="1020" y="2205"/>
              <a:ext cx="0" cy="363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7" name="Line 21"/>
            <p:cNvSpPr>
              <a:spLocks noChangeShapeType="1"/>
            </p:cNvSpPr>
            <p:nvPr/>
          </p:nvSpPr>
          <p:spPr bwMode="auto">
            <a:xfrm>
              <a:off x="1020" y="2205"/>
              <a:ext cx="2722" cy="0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6878" name="Line 22"/>
            <p:cNvSpPr>
              <a:spLocks noChangeShapeType="1"/>
            </p:cNvSpPr>
            <p:nvPr/>
          </p:nvSpPr>
          <p:spPr bwMode="auto">
            <a:xfrm>
              <a:off x="3742" y="1253"/>
              <a:ext cx="0" cy="95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68611" name="Rectangle 3"/>
          <p:cNvSpPr>
            <a:spLocks noGrp="1" noChangeArrowheads="1"/>
          </p:cNvSpPr>
          <p:nvPr/>
        </p:nvSpPr>
        <p:spPr>
          <a:xfrm>
            <a:off x="76200" y="14605"/>
            <a:ext cx="4607560" cy="2511425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栈的操作：</a:t>
            </a:r>
            <a:endParaRPr lang="zh-CN" altLang="en-US" b="1" dirty="0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①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初始化：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stackintial</a:t>
            </a:r>
            <a:endParaRPr lang="en-US" altLang="zh-CN" sz="3200" b="1" dirty="0" err="1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②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压栈：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stackpush</a:t>
            </a:r>
            <a:endParaRPr lang="en-US" altLang="zh-CN" sz="3200" b="1" dirty="0" err="1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altLang="zh-CN" sz="3200" b="1" dirty="0">
                <a:effectLst/>
                <a:ea typeface="黑体" panose="02010609060101010101" pitchFamily="49" charset="-122"/>
              </a:rPr>
              <a:t>③ </a:t>
            </a:r>
            <a:r>
              <a:rPr lang="zh-CN" altLang="en-US" sz="3200" b="1" dirty="0">
                <a:effectLst/>
                <a:ea typeface="黑体" panose="02010609060101010101" pitchFamily="49" charset="-122"/>
              </a:rPr>
              <a:t>弹栈：</a:t>
            </a:r>
            <a:r>
              <a:rPr lang="en-US" altLang="zh-CN" sz="3200" b="1" dirty="0" err="1">
                <a:effectLst/>
                <a:ea typeface="黑体" panose="02010609060101010101" pitchFamily="49" charset="-122"/>
              </a:rPr>
              <a:t>stackpop</a:t>
            </a:r>
            <a:endParaRPr lang="en-US" altLang="zh-CN" sz="3200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sz="2800" dirty="0">
              <a:effectLst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19063" y="161925"/>
            <a:ext cx="5543550" cy="2592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609600" indent="-609600"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栈的三个操作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: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初始化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(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stackinitail)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调用一次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stackpush(1)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再调用一次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stackpush(2)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 marL="990600" lvl="1" indent="-533400">
              <a:lnSpc>
                <a:spcPct val="120000"/>
              </a:lnSpc>
              <a:buFontTx/>
              <a:buAutoNum type="arabicPeriod"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调用一次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stackpop(&amp;b)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2" name="Group 47"/>
          <p:cNvGrpSpPr/>
          <p:nvPr/>
        </p:nvGrpSpPr>
        <p:grpSpPr bwMode="auto">
          <a:xfrm>
            <a:off x="1776413" y="3548063"/>
            <a:ext cx="2157412" cy="431800"/>
            <a:chOff x="2859" y="482"/>
            <a:chExt cx="1359" cy="148"/>
          </a:xfrm>
        </p:grpSpPr>
        <p:sp>
          <p:nvSpPr>
            <p:cNvPr id="38936" name="Rectangle 5"/>
            <p:cNvSpPr>
              <a:spLocks noChangeArrowheads="1"/>
            </p:cNvSpPr>
            <p:nvPr/>
          </p:nvSpPr>
          <p:spPr bwMode="auto">
            <a:xfrm>
              <a:off x="2859" y="482"/>
              <a:ext cx="87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7" name="Rectangle 6"/>
            <p:cNvSpPr>
              <a:spLocks noChangeArrowheads="1"/>
            </p:cNvSpPr>
            <p:nvPr/>
          </p:nvSpPr>
          <p:spPr bwMode="auto">
            <a:xfrm>
              <a:off x="3251" y="492"/>
              <a:ext cx="967" cy="13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3" name="Group 13"/>
          <p:cNvGrpSpPr/>
          <p:nvPr/>
        </p:nvGrpSpPr>
        <p:grpSpPr bwMode="auto">
          <a:xfrm>
            <a:off x="5303838" y="4556125"/>
            <a:ext cx="1216025" cy="863600"/>
            <a:chOff x="0" y="0"/>
            <a:chExt cx="20000" cy="20000"/>
          </a:xfrm>
        </p:grpSpPr>
        <p:sp>
          <p:nvSpPr>
            <p:cNvPr id="38934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1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5" name="Line 15"/>
            <p:cNvSpPr>
              <a:spLocks noChangeShapeType="1"/>
            </p:cNvSpPr>
            <p:nvPr/>
          </p:nvSpPr>
          <p:spPr bwMode="auto">
            <a:xfrm>
              <a:off x="0" y="12569"/>
              <a:ext cx="20000" cy="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3503613" y="3692525"/>
            <a:ext cx="18002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5303838" y="3476625"/>
            <a:ext cx="1193800" cy="792163"/>
            <a:chOff x="0" y="0"/>
            <a:chExt cx="20000" cy="20000"/>
          </a:xfrm>
        </p:grpSpPr>
        <p:sp>
          <p:nvSpPr>
            <p:cNvPr id="38932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 2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3" name="Line 26"/>
            <p:cNvSpPr>
              <a:spLocks noChangeShapeType="1"/>
            </p:cNvSpPr>
            <p:nvPr/>
          </p:nvSpPr>
          <p:spPr bwMode="auto">
            <a:xfrm>
              <a:off x="0" y="12569"/>
              <a:ext cx="20000" cy="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3" name="Freeform 31"/>
          <p:cNvSpPr/>
          <p:nvPr/>
        </p:nvSpPr>
        <p:spPr bwMode="auto">
          <a:xfrm>
            <a:off x="6024563" y="4124325"/>
            <a:ext cx="904875" cy="792163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6" y="0"/>
                </a:lnTo>
                <a:lnTo>
                  <a:pt x="19966" y="19955"/>
                </a:lnTo>
                <a:lnTo>
                  <a:pt x="16095" y="19955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43"/>
          <p:cNvGrpSpPr/>
          <p:nvPr/>
        </p:nvGrpSpPr>
        <p:grpSpPr bwMode="auto">
          <a:xfrm>
            <a:off x="1703388" y="5060950"/>
            <a:ext cx="2376487" cy="360363"/>
            <a:chOff x="-1" y="-3"/>
            <a:chExt cx="20001" cy="20003"/>
          </a:xfrm>
        </p:grpSpPr>
        <p:sp>
          <p:nvSpPr>
            <p:cNvPr id="38930" name="Rectangle 44"/>
            <p:cNvSpPr>
              <a:spLocks noChangeArrowheads="1"/>
            </p:cNvSpPr>
            <p:nvPr/>
          </p:nvSpPr>
          <p:spPr bwMode="auto">
            <a:xfrm>
              <a:off x="3627" y="-3"/>
              <a:ext cx="16373" cy="20003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31" name="Rectangle 45"/>
            <p:cNvSpPr>
              <a:spLocks noChangeArrowheads="1"/>
            </p:cNvSpPr>
            <p:nvPr/>
          </p:nvSpPr>
          <p:spPr bwMode="auto">
            <a:xfrm>
              <a:off x="-1" y="1112"/>
              <a:ext cx="5720" cy="17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b</a:t>
              </a:r>
              <a:r>
                <a:rPr lang="en-US" altLang="zh-CN" sz="2400">
                  <a:latin typeface="Arial" panose="020B0604020202020204" pitchFamily="34" charset="0"/>
                </a:rPr>
                <a:t>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</p:grpSp>
      <p:sp>
        <p:nvSpPr>
          <p:cNvPr id="13360" name="Freeform 48"/>
          <p:cNvSpPr/>
          <p:nvPr/>
        </p:nvSpPr>
        <p:spPr bwMode="auto">
          <a:xfrm>
            <a:off x="3503613" y="3836988"/>
            <a:ext cx="1800225" cy="863600"/>
          </a:xfrm>
          <a:custGeom>
            <a:avLst/>
            <a:gdLst>
              <a:gd name="T0" fmla="*/ 0 w 862"/>
              <a:gd name="T1" fmla="*/ 0 h 998"/>
              <a:gd name="T2" fmla="*/ 2147483646 w 862"/>
              <a:gd name="T3" fmla="*/ 0 h 998"/>
              <a:gd name="T4" fmla="*/ 2147483646 w 862"/>
              <a:gd name="T5" fmla="*/ 2147483646 h 998"/>
              <a:gd name="T6" fmla="*/ 2147483646 w 862"/>
              <a:gd name="T7" fmla="*/ 2147483646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862"/>
              <a:gd name="T13" fmla="*/ 0 h 998"/>
              <a:gd name="T14" fmla="*/ 862 w 862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2" h="998">
                <a:moveTo>
                  <a:pt x="0" y="0"/>
                </a:moveTo>
                <a:lnTo>
                  <a:pt x="590" y="0"/>
                </a:lnTo>
                <a:lnTo>
                  <a:pt x="590" y="998"/>
                </a:lnTo>
                <a:lnTo>
                  <a:pt x="862" y="99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1" name="Text Box 49"/>
          <p:cNvSpPr txBox="1">
            <a:spLocks noChangeArrowheads="1"/>
          </p:cNvSpPr>
          <p:nvPr/>
        </p:nvSpPr>
        <p:spPr bwMode="auto">
          <a:xfrm>
            <a:off x="2890838" y="4987925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BB38297-9EE5-44B2-8A0B-469826647FF4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2676525" y="3554413"/>
            <a:ext cx="12239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NULL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grpSp>
        <p:nvGrpSpPr>
          <p:cNvPr id="23" name="组合 22"/>
          <p:cNvGrpSpPr/>
          <p:nvPr/>
        </p:nvGrpSpPr>
        <p:grpSpPr bwMode="auto">
          <a:xfrm>
            <a:off x="6519863" y="3230563"/>
            <a:ext cx="2960687" cy="635000"/>
            <a:chOff x="4923979" y="-99392"/>
            <a:chExt cx="2961805" cy="633236"/>
          </a:xfrm>
        </p:grpSpPr>
        <p:sp>
          <p:nvSpPr>
            <p:cNvPr id="38927" name="Rectangle 5"/>
            <p:cNvSpPr>
              <a:spLocks noChangeArrowheads="1"/>
            </p:cNvSpPr>
            <p:nvPr/>
          </p:nvSpPr>
          <p:spPr bwMode="auto">
            <a:xfrm>
              <a:off x="5940152" y="-99392"/>
              <a:ext cx="13874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p</a:t>
              </a:r>
              <a:r>
                <a:rPr lang="en-US" altLang="zh-CN" sz="2400">
                  <a:latin typeface="Arial" panose="020B0604020202020204" pitchFamily="34" charset="0"/>
                </a:rPr>
                <a:t>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28" name="Rectangle 6"/>
            <p:cNvSpPr>
              <a:spLocks noChangeArrowheads="1"/>
            </p:cNvSpPr>
            <p:nvPr/>
          </p:nvSpPr>
          <p:spPr bwMode="auto">
            <a:xfrm>
              <a:off x="6350671" y="131220"/>
              <a:ext cx="1535113" cy="40262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38929" name="Line 16"/>
            <p:cNvSpPr>
              <a:spLocks noChangeShapeType="1"/>
            </p:cNvSpPr>
            <p:nvPr/>
          </p:nvSpPr>
          <p:spPr bwMode="auto">
            <a:xfrm>
              <a:off x="4923979" y="342963"/>
              <a:ext cx="180022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arrow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3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3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3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2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3" dur="500"/>
                                        <p:tgtEl>
                                          <p:spTgt spid="133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1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1" grpId="0"/>
      <p:bldP spid="6" grpId="0"/>
      <p:bldP spid="6" grpId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84150" y="125413"/>
            <a:ext cx="9251950" cy="6864350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FFC000"/>
                </a:solidFill>
                <a:effectLst/>
                <a:latin typeface="Arial" panose="020B0604020202020204" pitchFamily="34" charset="0"/>
              </a:rPr>
              <a:t>如下实现栈的操作：</a:t>
            </a:r>
            <a:endParaRPr lang="en-US" altLang="zh-CN" sz="3000" b="1" dirty="0">
              <a:solidFill>
                <a:srgbClr val="FFC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zh-CN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1.</a:t>
            </a:r>
            <a:r>
              <a:rPr lang="zh-CN" altLang="en-US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初始化</a:t>
            </a:r>
            <a:endParaRPr lang="en-US" altLang="zh-CN" sz="3000" b="1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</a:t>
            </a:r>
            <a:r>
              <a:rPr lang="zh-CN" altLang="en-US" sz="3000" b="1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void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stackinitial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(void) {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    top = NULL ;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}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</a:t>
            </a:r>
            <a:r>
              <a:rPr lang="en-US" altLang="zh-CN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30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压栈</a:t>
            </a:r>
            <a:endParaRPr lang="en-US" altLang="zh-CN" sz="3000" b="1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void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stackpush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( items x ) {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  p ;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900" b="1" dirty="0">
                <a:effectLst/>
                <a:latin typeface="Arial" panose="020B0604020202020204" pitchFamily="34" charset="0"/>
              </a:rPr>
              <a:t>        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 = 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pstacktype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)malloc(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sizeof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altLang="zh-CN" sz="2900" b="1" dirty="0" err="1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stackcelltype</a:t>
            </a:r>
            <a:r>
              <a:rPr lang="en-US" altLang="zh-CN" sz="2900" b="1" dirty="0">
                <a:solidFill>
                  <a:schemeClr val="hlink"/>
                </a:solidFill>
                <a:effectLst/>
                <a:latin typeface="Arial" panose="020B0604020202020204" pitchFamily="34" charset="0"/>
              </a:rPr>
              <a:t>));</a:t>
            </a:r>
            <a:endParaRPr lang="en-US" altLang="zh-CN" sz="2900" b="1" dirty="0">
              <a:solidFill>
                <a:schemeClr val="hlink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p-&gt;data  =  x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数据域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p-&gt;</a:t>
            </a:r>
            <a:r>
              <a:rPr lang="en-US" altLang="zh-CN" sz="3000" b="1" dirty="0" err="1">
                <a:effectLst/>
                <a:latin typeface="Arial" panose="020B0604020202020204" pitchFamily="34" charset="0"/>
              </a:rPr>
              <a:t>prodocessor</a:t>
            </a:r>
            <a:r>
              <a:rPr lang="en-US" altLang="zh-CN" sz="3000" b="1" dirty="0">
                <a:effectLst/>
                <a:latin typeface="Arial" panose="020B0604020202020204" pitchFamily="34" charset="0"/>
              </a:rPr>
              <a:t>  =  top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指针域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     top  =  p ; </a:t>
            </a:r>
            <a:r>
              <a:rPr lang="en-US" altLang="zh-CN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sz="3000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修正表头</a:t>
            </a:r>
            <a:endParaRPr lang="en-US" altLang="zh-CN" sz="3000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3000" b="1" dirty="0">
                <a:effectLst/>
                <a:latin typeface="Arial" panose="020B0604020202020204" pitchFamily="34" charset="0"/>
              </a:rPr>
              <a:t>   }    </a:t>
            </a:r>
            <a:endParaRPr lang="en-US" altLang="zh-CN" sz="3000" b="1" dirty="0">
              <a:effectLst/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F074970-70C4-41D4-9B0B-2934FA35992C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40965" name="组合 3"/>
          <p:cNvGrpSpPr/>
          <p:nvPr/>
        </p:nvGrpSpPr>
        <p:grpSpPr bwMode="auto">
          <a:xfrm>
            <a:off x="3048001" y="2205038"/>
            <a:ext cx="6719889" cy="1223963"/>
            <a:chOff x="2051720" y="313317"/>
            <a:chExt cx="7092280" cy="1243476"/>
          </a:xfrm>
        </p:grpSpPr>
        <p:sp>
          <p:nvSpPr>
            <p:cNvPr id="40966" name="TextBox 5"/>
            <p:cNvSpPr txBox="1">
              <a:spLocks noChangeArrowheads="1"/>
            </p:cNvSpPr>
            <p:nvPr/>
          </p:nvSpPr>
          <p:spPr bwMode="auto">
            <a:xfrm>
              <a:off x="3530324" y="313317"/>
              <a:ext cx="5613676" cy="96931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压栈算法同</a:t>
              </a:r>
              <a:r>
                <a:rPr lang="zh-CN" altLang="en-US" sz="2800" dirty="0">
                  <a:solidFill>
                    <a:srgbClr val="F52EFC"/>
                  </a:solidFill>
                  <a:latin typeface="Arial" panose="020B0604020202020204" pitchFamily="34" charset="0"/>
                </a:rPr>
                <a:t>创建链表</a:t>
              </a:r>
              <a:r>
                <a:rPr lang="zh-CN" altLang="en-US" sz="1600" dirty="0">
                  <a:solidFill>
                    <a:srgbClr val="F52EFC"/>
                  </a:solidFill>
                  <a:latin typeface="Arial" panose="020B0604020202020204" pitchFamily="34" charset="0"/>
                </a:rPr>
                <a:t>（压栈算法）</a:t>
              </a:r>
              <a:endParaRPr lang="en-US" altLang="zh-CN" sz="16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dirty="0">
                  <a:latin typeface="Arial" panose="020B0604020202020204" pitchFamily="34" charset="0"/>
                </a:rPr>
                <a:t>演示见本章前面</a:t>
              </a:r>
              <a:r>
                <a:rPr lang="en-US" altLang="zh-CN" sz="2800" dirty="0">
                  <a:latin typeface="Arial" panose="020B0604020202020204" pitchFamily="34" charset="0"/>
                </a:rPr>
                <a:t>PPT</a:t>
              </a:r>
              <a:endParaRPr lang="zh-CN" altLang="en-US" sz="2800" dirty="0">
                <a:latin typeface="Arial" panose="020B0604020202020204" pitchFamily="34" charset="0"/>
              </a:endParaRPr>
            </a:p>
          </p:txBody>
        </p:sp>
        <p:cxnSp>
          <p:nvCxnSpPr>
            <p:cNvPr id="40967" name="直接箭头连接符 2"/>
            <p:cNvCxnSpPr>
              <a:cxnSpLocks noChangeShapeType="1"/>
            </p:cNvCxnSpPr>
            <p:nvPr/>
          </p:nvCxnSpPr>
          <p:spPr bwMode="auto">
            <a:xfrm flipV="1">
              <a:off x="2051720" y="954107"/>
              <a:ext cx="1478603" cy="602685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010" name="Group 47"/>
          <p:cNvGrpSpPr/>
          <p:nvPr/>
        </p:nvGrpSpPr>
        <p:grpSpPr bwMode="auto">
          <a:xfrm>
            <a:off x="1704975" y="187325"/>
            <a:ext cx="2157413" cy="431800"/>
            <a:chOff x="2859" y="482"/>
            <a:chExt cx="1359" cy="148"/>
          </a:xfrm>
        </p:grpSpPr>
        <p:sp>
          <p:nvSpPr>
            <p:cNvPr id="43033" name="Rectangle 5"/>
            <p:cNvSpPr>
              <a:spLocks noChangeArrowheads="1"/>
            </p:cNvSpPr>
            <p:nvPr/>
          </p:nvSpPr>
          <p:spPr bwMode="auto">
            <a:xfrm>
              <a:off x="2859" y="482"/>
              <a:ext cx="874" cy="1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top: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34" name="Rectangle 6"/>
            <p:cNvSpPr>
              <a:spLocks noChangeArrowheads="1"/>
            </p:cNvSpPr>
            <p:nvPr/>
          </p:nvSpPr>
          <p:spPr bwMode="auto">
            <a:xfrm>
              <a:off x="3251" y="492"/>
              <a:ext cx="967" cy="13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3011" name="Group 13"/>
          <p:cNvGrpSpPr/>
          <p:nvPr/>
        </p:nvGrpSpPr>
        <p:grpSpPr bwMode="auto">
          <a:xfrm>
            <a:off x="5232400" y="1195388"/>
            <a:ext cx="1216025" cy="863600"/>
            <a:chOff x="0" y="0"/>
            <a:chExt cx="20000" cy="20000"/>
          </a:xfrm>
        </p:grpSpPr>
        <p:sp>
          <p:nvSpPr>
            <p:cNvPr id="43031" name="Rectangle 14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1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  .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32" name="Line 15"/>
            <p:cNvSpPr>
              <a:spLocks noChangeShapeType="1"/>
            </p:cNvSpPr>
            <p:nvPr/>
          </p:nvSpPr>
          <p:spPr bwMode="auto">
            <a:xfrm>
              <a:off x="0" y="12569"/>
              <a:ext cx="20000" cy="3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28" name="Line 16"/>
          <p:cNvSpPr>
            <a:spLocks noChangeShapeType="1"/>
          </p:cNvSpPr>
          <p:nvPr/>
        </p:nvSpPr>
        <p:spPr bwMode="auto">
          <a:xfrm>
            <a:off x="3432175" y="331788"/>
            <a:ext cx="18002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" name="Group 24"/>
          <p:cNvGrpSpPr/>
          <p:nvPr/>
        </p:nvGrpSpPr>
        <p:grpSpPr bwMode="auto">
          <a:xfrm>
            <a:off x="5232400" y="115888"/>
            <a:ext cx="1193800" cy="792162"/>
            <a:chOff x="0" y="0"/>
            <a:chExt cx="20000" cy="20000"/>
          </a:xfrm>
        </p:grpSpPr>
        <p:sp>
          <p:nvSpPr>
            <p:cNvPr id="43029" name="Rectangle 2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     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 2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3030" name="Line 26"/>
            <p:cNvSpPr>
              <a:spLocks noChangeShapeType="1"/>
            </p:cNvSpPr>
            <p:nvPr/>
          </p:nvSpPr>
          <p:spPr bwMode="auto">
            <a:xfrm>
              <a:off x="0" y="12569"/>
              <a:ext cx="20000" cy="3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3343" name="Freeform 31"/>
          <p:cNvSpPr/>
          <p:nvPr/>
        </p:nvSpPr>
        <p:spPr bwMode="auto">
          <a:xfrm>
            <a:off x="5953125" y="763588"/>
            <a:ext cx="904875" cy="792162"/>
          </a:xfrm>
          <a:custGeom>
            <a:avLst/>
            <a:gdLst>
              <a:gd name="T0" fmla="*/ 0 w 20000"/>
              <a:gd name="T1" fmla="*/ 0 h 20000"/>
              <a:gd name="T2" fmla="*/ 2147483646 w 20000"/>
              <a:gd name="T3" fmla="*/ 0 h 20000"/>
              <a:gd name="T4" fmla="*/ 2147483646 w 20000"/>
              <a:gd name="T5" fmla="*/ 2147483646 h 20000"/>
              <a:gd name="T6" fmla="*/ 2147483646 w 20000"/>
              <a:gd name="T7" fmla="*/ 2147483646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0" y="0"/>
                </a:moveTo>
                <a:lnTo>
                  <a:pt x="19966" y="0"/>
                </a:lnTo>
                <a:lnTo>
                  <a:pt x="19966" y="19955"/>
                </a:lnTo>
                <a:lnTo>
                  <a:pt x="16095" y="19955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43"/>
          <p:cNvGrpSpPr/>
          <p:nvPr/>
        </p:nvGrpSpPr>
        <p:grpSpPr bwMode="auto">
          <a:xfrm>
            <a:off x="1774825" y="836613"/>
            <a:ext cx="2449513" cy="450850"/>
            <a:chOff x="-610" y="-4990"/>
            <a:chExt cx="20610" cy="24990"/>
          </a:xfrm>
        </p:grpSpPr>
        <p:sp>
          <p:nvSpPr>
            <p:cNvPr id="43027" name="Rectangle 44"/>
            <p:cNvSpPr>
              <a:spLocks noChangeArrowheads="1"/>
            </p:cNvSpPr>
            <p:nvPr/>
          </p:nvSpPr>
          <p:spPr bwMode="auto">
            <a:xfrm>
              <a:off x="3627" y="-3"/>
              <a:ext cx="16373" cy="20003"/>
            </a:xfrm>
            <a:prstGeom prst="rect">
              <a:avLst/>
            </a:prstGeom>
            <a:noFill/>
            <a:ln w="57150" algn="ctr">
              <a:solidFill>
                <a:schemeClr val="tx1"/>
              </a:solidFill>
              <a:miter lim="800000"/>
              <a:headEnd type="none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8" name="Rectangle 45"/>
            <p:cNvSpPr>
              <a:spLocks noChangeArrowheads="1"/>
            </p:cNvSpPr>
            <p:nvPr/>
          </p:nvSpPr>
          <p:spPr bwMode="auto">
            <a:xfrm>
              <a:off x="-610" y="-4990"/>
              <a:ext cx="5720" cy="176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 type="none" w="sm" len="sm"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b: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360" name="Freeform 48"/>
          <p:cNvSpPr/>
          <p:nvPr/>
        </p:nvSpPr>
        <p:spPr bwMode="auto">
          <a:xfrm>
            <a:off x="3432175" y="476250"/>
            <a:ext cx="1800225" cy="863600"/>
          </a:xfrm>
          <a:custGeom>
            <a:avLst/>
            <a:gdLst>
              <a:gd name="T0" fmla="*/ 0 w 862"/>
              <a:gd name="T1" fmla="*/ 0 h 998"/>
              <a:gd name="T2" fmla="*/ 2147483646 w 862"/>
              <a:gd name="T3" fmla="*/ 0 h 998"/>
              <a:gd name="T4" fmla="*/ 2147483646 w 862"/>
              <a:gd name="T5" fmla="*/ 2147483646 h 998"/>
              <a:gd name="T6" fmla="*/ 2147483646 w 862"/>
              <a:gd name="T7" fmla="*/ 2147483646 h 998"/>
              <a:gd name="T8" fmla="*/ 0 60000 65536"/>
              <a:gd name="T9" fmla="*/ 0 60000 65536"/>
              <a:gd name="T10" fmla="*/ 0 60000 65536"/>
              <a:gd name="T11" fmla="*/ 0 60000 65536"/>
              <a:gd name="T12" fmla="*/ 0 w 862"/>
              <a:gd name="T13" fmla="*/ 0 h 998"/>
              <a:gd name="T14" fmla="*/ 862 w 862"/>
              <a:gd name="T15" fmla="*/ 998 h 99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62" h="998">
                <a:moveTo>
                  <a:pt x="0" y="0"/>
                </a:moveTo>
                <a:lnTo>
                  <a:pt x="590" y="0"/>
                </a:lnTo>
                <a:lnTo>
                  <a:pt x="590" y="998"/>
                </a:lnTo>
                <a:lnTo>
                  <a:pt x="862" y="998"/>
                </a:lnTo>
              </a:path>
            </a:pathLst>
          </a:custGeom>
          <a:noFill/>
          <a:ln w="5715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61" name="Text Box 49"/>
          <p:cNvSpPr txBox="1">
            <a:spLocks noChangeArrowheads="1"/>
          </p:cNvSpPr>
          <p:nvPr/>
        </p:nvSpPr>
        <p:spPr bwMode="auto">
          <a:xfrm>
            <a:off x="3035300" y="87630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endParaRPr lang="en-US" altLang="zh-CN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>
          <a:xfrm>
            <a:off x="9625013" y="6248400"/>
            <a:ext cx="51435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E5A92F1-5075-4F77-8EF5-00CDC747B39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228600" y="1771650"/>
            <a:ext cx="9072563" cy="501586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3.</a:t>
            </a:r>
            <a:r>
              <a:rPr lang="zh-CN" altLang="en-US" dirty="0">
                <a:solidFill>
                  <a:srgbClr val="F52EFC"/>
                </a:solidFill>
                <a:latin typeface="Arial" panose="020B0604020202020204" pitchFamily="34" charset="0"/>
              </a:rPr>
              <a:t>出栈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stackpop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(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items *x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 err="1">
                <a:latin typeface="Arial" panose="020B0604020202020204" pitchFamily="34" charset="0"/>
              </a:rPr>
              <a:t>pstacktype</a:t>
            </a:r>
            <a:r>
              <a:rPr lang="en-US" altLang="zh-CN" sz="3200" dirty="0">
                <a:latin typeface="Arial" panose="020B0604020202020204" pitchFamily="34" charset="0"/>
              </a:rPr>
              <a:t>  p 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if ( </a:t>
            </a:r>
            <a:r>
              <a:rPr lang="en-US" altLang="zh-CN" sz="3200" dirty="0">
                <a:latin typeface="Arial" panose="020B0604020202020204" pitchFamily="34" charset="0"/>
              </a:rPr>
              <a:t>top</a:t>
            </a:r>
            <a:r>
              <a:rPr lang="en-US" altLang="zh-CN" sz="3200" dirty="0">
                <a:solidFill>
                  <a:srgbClr val="F52EFC"/>
                </a:solidFill>
                <a:latin typeface="Arial" panose="020B0604020202020204" pitchFamily="34" charset="0"/>
              </a:rPr>
              <a:t>!=</a:t>
            </a:r>
            <a:r>
              <a:rPr lang="en-US" altLang="zh-CN" sz="3200" dirty="0">
                <a:latin typeface="Arial" panose="020B0604020202020204" pitchFamily="34" charset="0"/>
              </a:rPr>
              <a:t>NULL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) {</a:t>
            </a:r>
            <a:endParaRPr lang="en-US" altLang="zh-CN" sz="3200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       	 *x  =  top-&gt;data;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取出数据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rgbClr val="FFFF00"/>
                </a:solidFill>
                <a:latin typeface="Arial" panose="020B0604020202020204" pitchFamily="34" charset="0"/>
              </a:rPr>
              <a:t>          	p  =  top 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记录要删除的位置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         	</a:t>
            </a:r>
            <a:r>
              <a:rPr lang="en-US" altLang="zh-CN" sz="3200" dirty="0">
                <a:latin typeface="Arial" panose="020B0604020202020204" pitchFamily="34" charset="0"/>
              </a:rPr>
              <a:t>top  =  top-&gt;predecessor ;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修正表头（栈顶）</a:t>
            </a:r>
            <a:endParaRPr lang="en-US" altLang="zh-CN" sz="1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solidFill>
                  <a:schemeClr val="hlink"/>
                </a:solidFill>
                <a:latin typeface="Arial" panose="020B0604020202020204" pitchFamily="34" charset="0"/>
              </a:rPr>
              <a:t>     	free(p);   </a:t>
            </a:r>
            <a:r>
              <a:rPr lang="en-US" altLang="zh-CN" sz="1800" dirty="0">
                <a:solidFill>
                  <a:schemeClr val="hlink"/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hlink"/>
                </a:solidFill>
                <a:latin typeface="Arial" panose="020B0604020202020204" pitchFamily="34" charset="0"/>
              </a:rPr>
              <a:t>删除</a:t>
            </a:r>
            <a:endParaRPr lang="en-US" altLang="zh-CN" sz="1800" dirty="0">
              <a:solidFill>
                <a:schemeClr val="hlink"/>
              </a:solidFill>
              <a:latin typeface="Arial" panose="020B0604020202020204" pitchFamily="34" charset="0"/>
            </a:endParaRPr>
          </a:p>
          <a:p>
            <a:pPr lvl="1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3200" dirty="0">
                <a:latin typeface="Arial" panose="020B0604020202020204" pitchFamily="34" charset="0"/>
              </a:rPr>
              <a:t> </a:t>
            </a:r>
            <a:r>
              <a:rPr lang="en-US" altLang="zh-CN" sz="3200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} else  </a:t>
            </a:r>
            <a:r>
              <a:rPr lang="en-US" altLang="zh-CN" sz="3200" dirty="0" err="1">
                <a:latin typeface="Arial" panose="020B0604020202020204" pitchFamily="34" charset="0"/>
              </a:rPr>
              <a:t>printf</a:t>
            </a:r>
            <a:r>
              <a:rPr lang="en-US" altLang="zh-CN" sz="3200" dirty="0">
                <a:latin typeface="Arial" panose="020B0604020202020204" pitchFamily="34" charset="0"/>
              </a:rPr>
              <a:t>( </a:t>
            </a:r>
            <a:r>
              <a:rPr lang="en-US" altLang="zh-CN" sz="32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3200" dirty="0">
                <a:latin typeface="Arial" panose="020B0604020202020204" pitchFamily="34" charset="0"/>
              </a:rPr>
              <a:t>栈下溢</a:t>
            </a:r>
            <a:r>
              <a:rPr lang="en-US" altLang="zh-CN" sz="3200" dirty="0">
                <a:latin typeface="Arial" panose="020B0604020202020204" pitchFamily="34" charset="0"/>
              </a:rPr>
              <a:t>\n</a:t>
            </a:r>
            <a:r>
              <a:rPr lang="en-US" altLang="zh-CN" sz="32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3200" dirty="0">
                <a:latin typeface="Arial" panose="020B0604020202020204" pitchFamily="34" charset="0"/>
              </a:rPr>
              <a:t> );</a:t>
            </a:r>
            <a:endParaRPr lang="en-US" altLang="zh-CN" sz="32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>
                <a:schemeClr val="tx1"/>
              </a:buClr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}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6448425" y="-100013"/>
            <a:ext cx="2960688" cy="633413"/>
            <a:chOff x="4923979" y="-99392"/>
            <a:chExt cx="2961805" cy="633236"/>
          </a:xfrm>
        </p:grpSpPr>
        <p:sp>
          <p:nvSpPr>
            <p:cNvPr id="43024" name="Rectangle 5"/>
            <p:cNvSpPr>
              <a:spLocks noChangeArrowheads="1"/>
            </p:cNvSpPr>
            <p:nvPr/>
          </p:nvSpPr>
          <p:spPr bwMode="auto">
            <a:xfrm>
              <a:off x="5940152" y="-99392"/>
              <a:ext cx="1387475" cy="43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p: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5" name="Rectangle 6"/>
            <p:cNvSpPr>
              <a:spLocks noChangeArrowheads="1"/>
            </p:cNvSpPr>
            <p:nvPr/>
          </p:nvSpPr>
          <p:spPr bwMode="auto">
            <a:xfrm>
              <a:off x="6350671" y="131220"/>
              <a:ext cx="1535113" cy="40262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43026" name="Line 16"/>
            <p:cNvSpPr>
              <a:spLocks noChangeShapeType="1"/>
            </p:cNvSpPr>
            <p:nvPr/>
          </p:nvSpPr>
          <p:spPr bwMode="auto">
            <a:xfrm>
              <a:off x="4923979" y="342963"/>
              <a:ext cx="1800225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arrow" w="sm" len="sm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" name="矩形 24"/>
          <p:cNvSpPr>
            <a:spLocks noChangeArrowheads="1"/>
          </p:cNvSpPr>
          <p:nvPr/>
        </p:nvSpPr>
        <p:spPr bwMode="auto">
          <a:xfrm>
            <a:off x="1981200" y="4267200"/>
            <a:ext cx="1981200" cy="533400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6" name="矩形 25"/>
          <p:cNvSpPr>
            <a:spLocks noChangeArrowheads="1"/>
          </p:cNvSpPr>
          <p:nvPr/>
        </p:nvSpPr>
        <p:spPr bwMode="auto">
          <a:xfrm>
            <a:off x="2057400" y="5257800"/>
            <a:ext cx="1584325" cy="431800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0" dur="500"/>
                                        <p:tgtEl>
                                          <p:spTgt spid="133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3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61" grpId="0"/>
      <p:bldP spid="25" grpId="0" bldLvl="0" animBg="1"/>
      <p:bldP spid="26" grpId="0" bldLvl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90725" y="28575"/>
            <a:ext cx="8229600" cy="808038"/>
          </a:xfrm>
        </p:spPr>
        <p:txBody>
          <a:bodyPr/>
          <a:lstStyle/>
          <a:p>
            <a:pPr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</a:rPr>
              <a:t>§13.3.3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</a:rPr>
              <a:t>队列</a:t>
            </a:r>
            <a:endParaRPr lang="zh-CN" altLang="en-US" b="1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52400" y="847725"/>
            <a:ext cx="8861425" cy="3671888"/>
          </a:xfrm>
        </p:spPr>
        <p:txBody>
          <a:bodyPr/>
          <a:lstStyle/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数组实现（第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6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章）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链表实现</a:t>
            </a:r>
            <a:endParaRPr lang="en-US" altLang="zh-CN" b="1" dirty="0">
              <a:effectLst/>
              <a:ea typeface="黑体" panose="02010609060101010101" pitchFamily="49" charset="-12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solidFill>
                  <a:srgbClr val="FFC000"/>
                </a:solidFill>
                <a:effectLst/>
                <a:ea typeface="黑体" panose="02010609060101010101" pitchFamily="49" charset="-122"/>
              </a:rPr>
              <a:t>   队列的操作：</a:t>
            </a:r>
            <a:endParaRPr lang="zh-CN" altLang="en-US" b="1" dirty="0">
              <a:solidFill>
                <a:srgbClr val="FFC000"/>
              </a:solidFill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① 初始化（ 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queueinitial</a:t>
            </a:r>
            <a:r>
              <a:rPr lang="en-US" altLang="zh-CN" b="1" dirty="0">
                <a:effectLst/>
                <a:ea typeface="黑体" panose="02010609060101010101" pitchFamily="49" charset="-122"/>
              </a:rPr>
              <a:t> 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② 入队──排在队尾（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inqueue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None/>
              <a:defRPr/>
            </a:pPr>
            <a:r>
              <a:rPr lang="zh-CN" altLang="en-US" b="1" dirty="0">
                <a:effectLst/>
                <a:ea typeface="黑体" panose="02010609060101010101" pitchFamily="49" charset="-122"/>
              </a:rPr>
              <a:t>	③ 出队──从队头删一项（</a:t>
            </a:r>
            <a:r>
              <a:rPr lang="en-US" altLang="zh-CN" b="1" dirty="0" err="1">
                <a:effectLst/>
                <a:ea typeface="黑体" panose="02010609060101010101" pitchFamily="49" charset="-122"/>
              </a:rPr>
              <a:t>outqueue</a:t>
            </a:r>
            <a:r>
              <a:rPr lang="zh-CN" altLang="en-US" b="1" dirty="0">
                <a:effectLst/>
                <a:ea typeface="黑体" panose="02010609060101010101" pitchFamily="49" charset="-122"/>
              </a:rPr>
              <a:t>）</a:t>
            </a:r>
            <a:endParaRPr lang="zh-CN" altLang="en-US" b="1" dirty="0">
              <a:effectLst/>
              <a:ea typeface="黑体" panose="02010609060101010101" pitchFamily="49" charset="-122"/>
            </a:endParaRPr>
          </a:p>
          <a:p>
            <a:pPr>
              <a:defRPr/>
            </a:pPr>
            <a:endParaRPr lang="en-US" altLang="zh-CN" dirty="0">
              <a:effectLst/>
              <a:ea typeface="黑体" panose="02010609060101010101" pitchFamily="49" charset="-122"/>
            </a:endParaRPr>
          </a:p>
        </p:txBody>
      </p:sp>
      <p:grpSp>
        <p:nvGrpSpPr>
          <p:cNvPr id="45060" name="Group 58"/>
          <p:cNvGrpSpPr/>
          <p:nvPr/>
        </p:nvGrpSpPr>
        <p:grpSpPr bwMode="auto">
          <a:xfrm>
            <a:off x="2279650" y="4868863"/>
            <a:ext cx="7200900" cy="1657350"/>
            <a:chOff x="476" y="3067"/>
            <a:chExt cx="4536" cy="1044"/>
          </a:xfrm>
        </p:grpSpPr>
        <p:sp>
          <p:nvSpPr>
            <p:cNvPr id="45063" name="Rectangle 33"/>
            <p:cNvSpPr>
              <a:spLocks noChangeArrowheads="1"/>
            </p:cNvSpPr>
            <p:nvPr/>
          </p:nvSpPr>
          <p:spPr bwMode="auto">
            <a:xfrm flipH="1">
              <a:off x="4150" y="3067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4" name="Rectangle 34"/>
            <p:cNvSpPr>
              <a:spLocks noChangeArrowheads="1"/>
            </p:cNvSpPr>
            <p:nvPr/>
          </p:nvSpPr>
          <p:spPr bwMode="auto">
            <a:xfrm flipH="1">
              <a:off x="4562" y="3161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45065" name="Freeform 35"/>
            <p:cNvSpPr/>
            <p:nvPr/>
          </p:nvSpPr>
          <p:spPr bwMode="auto">
            <a:xfrm flipH="1">
              <a:off x="4562" y="3285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66" name="Rectangle 37"/>
            <p:cNvSpPr>
              <a:spLocks noChangeArrowheads="1"/>
            </p:cNvSpPr>
            <p:nvPr/>
          </p:nvSpPr>
          <p:spPr bwMode="auto">
            <a:xfrm flipH="1">
              <a:off x="476" y="3173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5067" name="Rectangle 38"/>
            <p:cNvSpPr>
              <a:spLocks noChangeArrowheads="1"/>
            </p:cNvSpPr>
            <p:nvPr/>
          </p:nvSpPr>
          <p:spPr bwMode="auto">
            <a:xfrm flipH="1">
              <a:off x="923" y="3225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45068" name="Group 39"/>
            <p:cNvGrpSpPr/>
            <p:nvPr/>
          </p:nvGrpSpPr>
          <p:grpSpPr bwMode="auto">
            <a:xfrm flipH="1">
              <a:off x="4042" y="3468"/>
              <a:ext cx="463" cy="446"/>
              <a:chOff x="0" y="0"/>
              <a:chExt cx="20000" cy="20000"/>
            </a:xfrm>
          </p:grpSpPr>
          <p:sp>
            <p:nvSpPr>
              <p:cNvPr id="45085" name="Rectangle 4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6" name="Line 41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69" name="Group 42"/>
            <p:cNvGrpSpPr/>
            <p:nvPr/>
          </p:nvGrpSpPr>
          <p:grpSpPr bwMode="auto">
            <a:xfrm flipH="1">
              <a:off x="3337" y="3464"/>
              <a:ext cx="462" cy="461"/>
              <a:chOff x="0" y="0"/>
              <a:chExt cx="20000" cy="20000"/>
            </a:xfrm>
          </p:grpSpPr>
          <p:sp>
            <p:nvSpPr>
              <p:cNvPr id="45083" name="Rectangle 4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4" name="Line 44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70" name="Freeform 45"/>
            <p:cNvSpPr/>
            <p:nvPr/>
          </p:nvSpPr>
          <p:spPr bwMode="auto">
            <a:xfrm flipH="1">
              <a:off x="3592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1" name="Freeform 46"/>
            <p:cNvSpPr/>
            <p:nvPr/>
          </p:nvSpPr>
          <p:spPr bwMode="auto">
            <a:xfrm flipH="1">
              <a:off x="2886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2" name="Freeform 47"/>
            <p:cNvSpPr/>
            <p:nvPr/>
          </p:nvSpPr>
          <p:spPr bwMode="auto">
            <a:xfrm flipH="1">
              <a:off x="2309" y="3533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5073" name="Group 48"/>
            <p:cNvGrpSpPr/>
            <p:nvPr/>
          </p:nvGrpSpPr>
          <p:grpSpPr bwMode="auto">
            <a:xfrm flipH="1">
              <a:off x="2066" y="3480"/>
              <a:ext cx="462" cy="455"/>
              <a:chOff x="0" y="0"/>
              <a:chExt cx="20000" cy="20000"/>
            </a:xfrm>
          </p:grpSpPr>
          <p:sp>
            <p:nvSpPr>
              <p:cNvPr id="45081" name="Rectangle 4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2" name="Line 50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45074" name="Group 51"/>
            <p:cNvGrpSpPr/>
            <p:nvPr/>
          </p:nvGrpSpPr>
          <p:grpSpPr bwMode="auto">
            <a:xfrm flipH="1">
              <a:off x="1360" y="3480"/>
              <a:ext cx="462" cy="455"/>
              <a:chOff x="0" y="0"/>
              <a:chExt cx="20000" cy="20000"/>
            </a:xfrm>
          </p:grpSpPr>
          <p:sp>
            <p:nvSpPr>
              <p:cNvPr id="45079" name="Rectangle 5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45080" name="Line 5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45075" name="Freeform 54"/>
            <p:cNvSpPr/>
            <p:nvPr/>
          </p:nvSpPr>
          <p:spPr bwMode="auto">
            <a:xfrm flipH="1">
              <a:off x="1617" y="3533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6" name="Rectangle 55"/>
            <p:cNvSpPr>
              <a:spLocks noChangeArrowheads="1"/>
            </p:cNvSpPr>
            <p:nvPr/>
          </p:nvSpPr>
          <p:spPr bwMode="auto">
            <a:xfrm flipH="1">
              <a:off x="2669" y="3479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45077" name="Freeform 56"/>
            <p:cNvSpPr/>
            <p:nvPr/>
          </p:nvSpPr>
          <p:spPr bwMode="auto">
            <a:xfrm flipH="1">
              <a:off x="1115" y="3331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078" name="Text Box 57"/>
            <p:cNvSpPr txBox="1">
              <a:spLocks noChangeArrowheads="1"/>
            </p:cNvSpPr>
            <p:nvPr/>
          </p:nvSpPr>
          <p:spPr bwMode="auto">
            <a:xfrm>
              <a:off x="4096" y="3540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31" name="灯片编号占位符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2132308-63CB-413A-BA51-5A856CABEFB2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298450" y="333375"/>
            <a:ext cx="7058025" cy="41767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队列的三个操作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: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1.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初始化（调用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queueinitail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）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2.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inqueue(1)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inqueue(2)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inqueue(3)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3.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outqueue(&amp;a) 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400" b="1">
                <a:effectLst/>
                <a:ea typeface="黑体" panose="02010609060101010101" pitchFamily="49" charset="-122"/>
              </a:rPr>
              <a:t>     调用 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outqueue(&amp;b)  </a:t>
            </a:r>
            <a:endParaRPr lang="en-US" altLang="zh-CN" sz="2400" b="1">
              <a:effectLst/>
              <a:ea typeface="黑体" panose="02010609060101010101" pitchFamily="49" charset="-122"/>
            </a:endParaRPr>
          </a:p>
          <a:p>
            <a:pPr>
              <a:lnSpc>
                <a:spcPct val="12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400" b="1">
                <a:effectLst/>
                <a:ea typeface="黑体" panose="02010609060101010101" pitchFamily="49" charset="-122"/>
              </a:rPr>
              <a:t>     </a:t>
            </a:r>
            <a:r>
              <a:rPr lang="zh-CN" altLang="en-US" sz="2400" b="1">
                <a:effectLst/>
                <a:ea typeface="黑体" panose="02010609060101010101" pitchFamily="49" charset="-122"/>
              </a:rPr>
              <a:t>调用</a:t>
            </a:r>
            <a:r>
              <a:rPr lang="en-US" altLang="zh-CN" sz="2400" b="1">
                <a:effectLst/>
                <a:ea typeface="黑体" panose="02010609060101010101" pitchFamily="49" charset="-122"/>
              </a:rPr>
              <a:t>outqueue(&amp;a) </a:t>
            </a:r>
            <a:endParaRPr lang="zh-CN" altLang="en-US" sz="24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3935413" y="5516563"/>
            <a:ext cx="936625" cy="720725"/>
            <a:chOff x="3878" y="300"/>
            <a:chExt cx="591" cy="346"/>
          </a:xfrm>
        </p:grpSpPr>
        <p:sp>
          <p:nvSpPr>
            <p:cNvPr id="47147" name="Rectangle 4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1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48" name="Line 5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26" name="Freeform 6"/>
          <p:cNvSpPr/>
          <p:nvPr/>
        </p:nvSpPr>
        <p:spPr bwMode="auto">
          <a:xfrm flipH="1">
            <a:off x="4800600" y="5013325"/>
            <a:ext cx="5111750" cy="720725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7" name="Freeform 7"/>
          <p:cNvSpPr/>
          <p:nvPr/>
        </p:nvSpPr>
        <p:spPr bwMode="auto">
          <a:xfrm flipH="1">
            <a:off x="3143250" y="5157788"/>
            <a:ext cx="792163" cy="4318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58" y="0"/>
                </a:moveTo>
                <a:lnTo>
                  <a:pt x="19958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8" name="Freeform 8"/>
          <p:cNvSpPr/>
          <p:nvPr/>
        </p:nvSpPr>
        <p:spPr bwMode="auto">
          <a:xfrm flipH="1">
            <a:off x="4440238" y="5805488"/>
            <a:ext cx="1223962" cy="325437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9"/>
          <p:cNvGrpSpPr/>
          <p:nvPr/>
        </p:nvGrpSpPr>
        <p:grpSpPr bwMode="auto">
          <a:xfrm>
            <a:off x="8759825" y="2997200"/>
            <a:ext cx="1657350" cy="627063"/>
            <a:chOff x="4828" y="2441"/>
            <a:chExt cx="624" cy="187"/>
          </a:xfrm>
        </p:grpSpPr>
        <p:sp>
          <p:nvSpPr>
            <p:cNvPr id="47145" name="Rectangle 10"/>
            <p:cNvSpPr>
              <a:spLocks noChangeArrowheads="1"/>
            </p:cNvSpPr>
            <p:nvPr/>
          </p:nvSpPr>
          <p:spPr bwMode="auto">
            <a:xfrm flipH="1">
              <a:off x="4828" y="2441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52EFC"/>
                  </a:solidFill>
                  <a:latin typeface="Arial" panose="020B0604020202020204" pitchFamily="34" charset="0"/>
                </a:rPr>
                <a:t>a:</a:t>
              </a:r>
              <a:endParaRPr lang="en-US" altLang="zh-CN" sz="20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6" name="Rectangle 11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4" name="Group 12"/>
          <p:cNvGrpSpPr/>
          <p:nvPr/>
        </p:nvGrpSpPr>
        <p:grpSpPr bwMode="auto">
          <a:xfrm>
            <a:off x="8472488" y="4622800"/>
            <a:ext cx="1944687" cy="504825"/>
            <a:chOff x="0" y="0"/>
            <a:chExt cx="19999" cy="20000"/>
          </a:xfrm>
        </p:grpSpPr>
        <p:sp>
          <p:nvSpPr>
            <p:cNvPr id="47143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11619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Arial" panose="020B0604020202020204" pitchFamily="34" charset="0"/>
                </a:rPr>
                <a:t>rear:</a:t>
              </a:r>
              <a:endParaRPr lang="en-US" altLang="zh-CN" sz="20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4" name="Rectangle 14"/>
            <p:cNvSpPr>
              <a:spLocks noChangeArrowheads="1"/>
            </p:cNvSpPr>
            <p:nvPr/>
          </p:nvSpPr>
          <p:spPr bwMode="auto">
            <a:xfrm>
              <a:off x="8701" y="0"/>
              <a:ext cx="11298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1774825" y="4941888"/>
            <a:ext cx="1727200" cy="431800"/>
            <a:chOff x="0" y="0"/>
            <a:chExt cx="20000" cy="20000"/>
          </a:xfrm>
        </p:grpSpPr>
        <p:sp>
          <p:nvSpPr>
            <p:cNvPr id="47141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FFF00"/>
                  </a:solidFill>
                  <a:latin typeface="Arial" panose="020B0604020202020204" pitchFamily="34" charset="0"/>
                </a:rPr>
                <a:t>front:</a:t>
              </a:r>
              <a:endParaRPr lang="en-US" altLang="zh-CN" sz="2000">
                <a:solidFill>
                  <a:srgbClr val="FFFF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42" name="Rectangle 17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6" name="Group 18"/>
          <p:cNvGrpSpPr/>
          <p:nvPr/>
        </p:nvGrpSpPr>
        <p:grpSpPr bwMode="auto">
          <a:xfrm>
            <a:off x="5622925" y="5518150"/>
            <a:ext cx="904875" cy="719138"/>
            <a:chOff x="3878" y="300"/>
            <a:chExt cx="591" cy="346"/>
          </a:xfrm>
        </p:grpSpPr>
        <p:sp>
          <p:nvSpPr>
            <p:cNvPr id="47139" name="Rectangle 19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2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 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40" name="Line 20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1" name="Freeform 21"/>
          <p:cNvSpPr/>
          <p:nvPr/>
        </p:nvSpPr>
        <p:spPr bwMode="auto">
          <a:xfrm flipH="1">
            <a:off x="6527800" y="5013325"/>
            <a:ext cx="3384550" cy="5762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22"/>
          <p:cNvGrpSpPr/>
          <p:nvPr/>
        </p:nvGrpSpPr>
        <p:grpSpPr bwMode="auto">
          <a:xfrm>
            <a:off x="7319963" y="5516563"/>
            <a:ext cx="908050" cy="790575"/>
            <a:chOff x="3878" y="300"/>
            <a:chExt cx="591" cy="346"/>
          </a:xfrm>
        </p:grpSpPr>
        <p:sp>
          <p:nvSpPr>
            <p:cNvPr id="47137" name="Rectangle 23"/>
            <p:cNvSpPr>
              <a:spLocks noChangeArrowheads="1"/>
            </p:cNvSpPr>
            <p:nvPr/>
          </p:nvSpPr>
          <p:spPr bwMode="auto">
            <a:xfrm flipH="1">
              <a:off x="3878" y="300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3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38" name="Line 24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5" name="Freeform 25"/>
          <p:cNvSpPr/>
          <p:nvPr/>
        </p:nvSpPr>
        <p:spPr bwMode="auto">
          <a:xfrm flipH="1">
            <a:off x="8183563" y="5084763"/>
            <a:ext cx="1728787" cy="576262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6" name="Freeform 26"/>
          <p:cNvSpPr/>
          <p:nvPr/>
        </p:nvSpPr>
        <p:spPr bwMode="auto">
          <a:xfrm flipH="1">
            <a:off x="6024563" y="5734050"/>
            <a:ext cx="1295400" cy="35877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9551988" y="3123248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52EFC"/>
                </a:solidFill>
                <a:latin typeface="Arial" panose="020B0604020202020204" pitchFamily="34" charset="0"/>
              </a:rPr>
              <a:t>1</a:t>
            </a:r>
            <a:endParaRPr lang="en-US" altLang="zh-CN" sz="20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grpSp>
        <p:nvGrpSpPr>
          <p:cNvPr id="8" name="Group 28"/>
          <p:cNvGrpSpPr/>
          <p:nvPr/>
        </p:nvGrpSpPr>
        <p:grpSpPr bwMode="auto">
          <a:xfrm>
            <a:off x="1774825" y="5805488"/>
            <a:ext cx="1625600" cy="431800"/>
            <a:chOff x="0" y="0"/>
            <a:chExt cx="20000" cy="20000"/>
          </a:xfrm>
        </p:grpSpPr>
        <p:sp>
          <p:nvSpPr>
            <p:cNvPr id="47135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p: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47136" name="Rectangle 30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1" name="Freeform 31"/>
          <p:cNvSpPr/>
          <p:nvPr/>
        </p:nvSpPr>
        <p:spPr bwMode="auto">
          <a:xfrm>
            <a:off x="2927350" y="5734050"/>
            <a:ext cx="1009650" cy="360363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2" name="Freeform 32"/>
          <p:cNvSpPr/>
          <p:nvPr/>
        </p:nvSpPr>
        <p:spPr bwMode="auto">
          <a:xfrm>
            <a:off x="3071813" y="5157788"/>
            <a:ext cx="2592387" cy="431800"/>
          </a:xfrm>
          <a:custGeom>
            <a:avLst/>
            <a:gdLst>
              <a:gd name="T0" fmla="*/ 0 w 1542"/>
              <a:gd name="T1" fmla="*/ 0 h 272"/>
              <a:gd name="T2" fmla="*/ 2147483646 w 1542"/>
              <a:gd name="T3" fmla="*/ 0 h 272"/>
              <a:gd name="T4" fmla="*/ 2147483646 w 1542"/>
              <a:gd name="T5" fmla="*/ 2147483646 h 272"/>
              <a:gd name="T6" fmla="*/ 2147483646 w 1542"/>
              <a:gd name="T7" fmla="*/ 2147483646 h 272"/>
              <a:gd name="T8" fmla="*/ 0 60000 65536"/>
              <a:gd name="T9" fmla="*/ 0 60000 65536"/>
              <a:gd name="T10" fmla="*/ 0 60000 65536"/>
              <a:gd name="T11" fmla="*/ 0 60000 65536"/>
              <a:gd name="T12" fmla="*/ 0 w 1542"/>
              <a:gd name="T13" fmla="*/ 0 h 272"/>
              <a:gd name="T14" fmla="*/ 1542 w 1542"/>
              <a:gd name="T15" fmla="*/ 272 h 2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2" h="272">
                <a:moveTo>
                  <a:pt x="0" y="0"/>
                </a:moveTo>
                <a:lnTo>
                  <a:pt x="1180" y="0"/>
                </a:lnTo>
                <a:lnTo>
                  <a:pt x="1180" y="272"/>
                </a:lnTo>
                <a:lnTo>
                  <a:pt x="1542" y="27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" name="Group 33"/>
          <p:cNvGrpSpPr/>
          <p:nvPr/>
        </p:nvGrpSpPr>
        <p:grpSpPr bwMode="auto">
          <a:xfrm>
            <a:off x="8789988" y="3716338"/>
            <a:ext cx="1627187" cy="571500"/>
            <a:chOff x="4811" y="2441"/>
            <a:chExt cx="641" cy="187"/>
          </a:xfrm>
        </p:grpSpPr>
        <p:sp>
          <p:nvSpPr>
            <p:cNvPr id="47133" name="Rectangle 34"/>
            <p:cNvSpPr>
              <a:spLocks noChangeArrowheads="1"/>
            </p:cNvSpPr>
            <p:nvPr/>
          </p:nvSpPr>
          <p:spPr bwMode="auto">
            <a:xfrm flipH="1">
              <a:off x="4811" y="2441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solidFill>
                    <a:srgbClr val="F52EFC"/>
                  </a:solidFill>
                  <a:latin typeface="Arial" panose="020B0604020202020204" pitchFamily="34" charset="0"/>
                </a:rPr>
                <a:t>b:</a:t>
              </a:r>
              <a:endParaRPr lang="en-US" altLang="zh-CN" sz="20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7134" name="Rectangle 35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9551988" y="3860800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endParaRPr lang="en-US" altLang="zh-CN" sz="20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107557" name="Freeform 37"/>
          <p:cNvSpPr/>
          <p:nvPr/>
        </p:nvSpPr>
        <p:spPr bwMode="auto">
          <a:xfrm>
            <a:off x="3000375" y="5661025"/>
            <a:ext cx="2663825" cy="360363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8" name="Freeform 38"/>
          <p:cNvSpPr/>
          <p:nvPr/>
        </p:nvSpPr>
        <p:spPr bwMode="auto">
          <a:xfrm>
            <a:off x="3143250" y="5157788"/>
            <a:ext cx="4176713" cy="503237"/>
          </a:xfrm>
          <a:custGeom>
            <a:avLst/>
            <a:gdLst>
              <a:gd name="T0" fmla="*/ 0 w 2631"/>
              <a:gd name="T1" fmla="*/ 0 h 317"/>
              <a:gd name="T2" fmla="*/ 2147483646 w 2631"/>
              <a:gd name="T3" fmla="*/ 0 h 317"/>
              <a:gd name="T4" fmla="*/ 2147483646 w 2631"/>
              <a:gd name="T5" fmla="*/ 2147483646 h 317"/>
              <a:gd name="T6" fmla="*/ 2147483646 w 2631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2631"/>
              <a:gd name="T13" fmla="*/ 0 h 317"/>
              <a:gd name="T14" fmla="*/ 2631 w 2631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1" h="317">
                <a:moveTo>
                  <a:pt x="0" y="0"/>
                </a:moveTo>
                <a:lnTo>
                  <a:pt x="2268" y="0"/>
                </a:lnTo>
                <a:lnTo>
                  <a:pt x="2268" y="317"/>
                </a:lnTo>
                <a:lnTo>
                  <a:pt x="2631" y="31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9580563" y="3123883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52EFC"/>
                </a:solidFill>
                <a:latin typeface="Arial" panose="020B0604020202020204" pitchFamily="34" charset="0"/>
              </a:rPr>
              <a:t>3</a:t>
            </a:r>
            <a:endParaRPr lang="en-US" altLang="zh-CN" sz="20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107560" name="Freeform 40"/>
          <p:cNvSpPr/>
          <p:nvPr/>
        </p:nvSpPr>
        <p:spPr bwMode="auto">
          <a:xfrm>
            <a:off x="3000375" y="5589588"/>
            <a:ext cx="4321175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2640013" y="4941888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62" name="Text Box 42"/>
          <p:cNvSpPr txBox="1">
            <a:spLocks noChangeArrowheads="1"/>
          </p:cNvSpPr>
          <p:nvPr/>
        </p:nvSpPr>
        <p:spPr bwMode="auto">
          <a:xfrm>
            <a:off x="9409113" y="4724400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0B0ADB-05D7-492A-A059-A9526B82A375}" type="slidenum">
              <a:rPr lang="zh-CN" altLang="en-US" b="0" smtClean="0"/>
            </a:fld>
            <a:endParaRPr lang="en-US" altLang="zh-CN" b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07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1075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2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1075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7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3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1075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8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0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4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1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4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1075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3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5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1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78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1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8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0" dur="500"/>
                                        <p:tgtEl>
                                          <p:spTgt spid="10752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94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8" dur="500"/>
                                        <p:tgtEl>
                                          <p:spTgt spid="1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0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6" dur="500"/>
                                        <p:tgtEl>
                                          <p:spTgt spid="10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20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6" dur="500"/>
                                        <p:tgtEl>
                                          <p:spTgt spid="1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3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7" grpId="0" build="allAtOnce"/>
      <p:bldP spid="107556" grpId="0"/>
      <p:bldP spid="107559" grpId="0"/>
      <p:bldP spid="107561" grpId="0"/>
      <p:bldP spid="107561" grpId="1"/>
      <p:bldP spid="107561" grpId="2"/>
      <p:bldP spid="107562" grpId="0"/>
      <p:bldP spid="107562" grpId="1"/>
      <p:bldP spid="107562" grpId="2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131763" y="0"/>
            <a:ext cx="8424862" cy="6964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000" b="1">
                <a:effectLst/>
                <a:ea typeface="黑体" panose="02010609060101010101" pitchFamily="49" charset="-122"/>
              </a:rPr>
              <a:t>设有如下说明</a:t>
            </a:r>
            <a:r>
              <a:rPr lang="en-US" altLang="zh-CN" sz="2000" b="1">
                <a:effectLst/>
                <a:ea typeface="黑体" panose="02010609060101010101" pitchFamily="49" charset="-122"/>
              </a:rPr>
              <a:t>:</a:t>
            </a:r>
            <a:endParaRPr lang="en-US" altLang="zh-CN" sz="2000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typedef  ...  items ;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        typedef  </a:t>
            </a:r>
            <a:r>
              <a:rPr lang="en-US" altLang="zh-CN" b="1">
                <a:effectLst/>
                <a:ea typeface="黑体" panose="02010609060101010101" pitchFamily="49" charset="-122"/>
              </a:rPr>
              <a:t>struct  queue {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    items data ; 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    struct  queue  *next ;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} queuetype ;</a:t>
            </a:r>
            <a:endParaRPr lang="en-US" altLang="zh-CN" b="1">
              <a:solidFill>
                <a:srgbClr val="FFFF00"/>
              </a:solidFill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        typedef  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  *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p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 ;</a:t>
            </a:r>
            <a:endParaRPr lang="en-US" altLang="zh-CN" b="1">
              <a:solidFill>
                <a:srgbClr val="FFFF00"/>
              </a:solidFill>
              <a:effectLst/>
              <a:ea typeface="黑体" panose="02010609060101010101" pitchFamily="49" charset="-122"/>
            </a:endParaRP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b="1">
                <a:effectLst/>
                <a:ea typeface="黑体" panose="02010609060101010101" pitchFamily="49" charset="-122"/>
              </a:rPr>
              <a:t>         </a:t>
            </a:r>
            <a:r>
              <a:rPr lang="en-US" altLang="zh-CN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p</a:t>
            </a:r>
            <a:r>
              <a:rPr lang="en-US" altLang="zh-CN" b="1">
                <a:effectLst/>
                <a:ea typeface="黑体" panose="02010609060101010101" pitchFamily="49" charset="-122"/>
              </a:rPr>
              <a:t>queuetype  front,rear ;</a:t>
            </a:r>
            <a:endParaRPr lang="en-US" altLang="zh-CN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52EFC"/>
                </a:solidFill>
                <a:effectLst/>
                <a:ea typeface="黑体" panose="02010609060101010101" pitchFamily="49" charset="-122"/>
              </a:rPr>
              <a:t>操作：</a:t>
            </a:r>
            <a:endParaRPr lang="zh-CN" altLang="en-US" sz="2800" b="1">
              <a:solidFill>
                <a:srgbClr val="F52EFC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52EFC"/>
                </a:solidFill>
                <a:effectLst/>
                <a:ea typeface="黑体" panose="02010609060101010101" pitchFamily="49" charset="-122"/>
              </a:rPr>
              <a:t>1.</a:t>
            </a:r>
            <a:r>
              <a:rPr lang="zh-CN" altLang="en-US" sz="2800" b="1">
                <a:solidFill>
                  <a:srgbClr val="F52EFC"/>
                </a:solidFill>
                <a:effectLst/>
                <a:ea typeface="黑体" panose="02010609060101010101" pitchFamily="49" charset="-122"/>
              </a:rPr>
              <a:t>初始化队列          </a:t>
            </a:r>
            <a:r>
              <a:rPr lang="zh-CN" altLang="en-US" sz="2800" b="1">
                <a:solidFill>
                  <a:srgbClr val="FF0000"/>
                </a:solidFill>
                <a:effectLst/>
                <a:ea typeface="黑体" panose="02010609060101010101" pitchFamily="49" charset="-122"/>
              </a:rPr>
              <a:t>  </a:t>
            </a:r>
            <a:endParaRPr lang="en-US" altLang="zh-CN" sz="2800" b="1">
              <a:solidFill>
                <a:srgbClr val="FF0000"/>
              </a:solidFill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effectLst/>
                <a:ea typeface="黑体" panose="02010609060101010101" pitchFamily="49" charset="-122"/>
              </a:rPr>
              <a:t> </a:t>
            </a:r>
            <a:r>
              <a:rPr lang="en-US" altLang="zh-CN" sz="2800" b="1">
                <a:effectLst/>
                <a:ea typeface="黑体" panose="02010609060101010101" pitchFamily="49" charset="-122"/>
              </a:rPr>
              <a:t>void </a:t>
            </a:r>
            <a:r>
              <a:rPr lang="en-US" altLang="zh-CN" sz="2800" b="1">
                <a:solidFill>
                  <a:srgbClr val="FFFF00"/>
                </a:solidFill>
                <a:effectLst/>
                <a:ea typeface="黑体" panose="02010609060101010101" pitchFamily="49" charset="-122"/>
              </a:rPr>
              <a:t>queueinitial</a:t>
            </a:r>
            <a:r>
              <a:rPr lang="en-US" altLang="zh-CN" sz="2800" b="1">
                <a:effectLst/>
                <a:ea typeface="黑体" panose="02010609060101010101" pitchFamily="49" charset="-122"/>
              </a:rPr>
              <a:t>( ) {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                 front  =  NULL ;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                 rear  =  NULL ;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effectLst/>
                <a:ea typeface="黑体" panose="02010609060101010101" pitchFamily="49" charset="-122"/>
              </a:rPr>
              <a:t>  }</a:t>
            </a:r>
            <a:endParaRPr lang="en-US" altLang="zh-CN" sz="2800" b="1">
              <a:effectLst/>
              <a:ea typeface="黑体" panose="02010609060101010101" pitchFamily="49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1E9DB0B-8F08-4B42-9D35-8EF3BB1F1B03}" type="slidenum">
              <a:rPr lang="zh-CN" altLang="en-US" b="0" smtClean="0"/>
            </a:fld>
            <a:endParaRPr lang="en-US" altLang="zh-CN" b="0"/>
          </a:p>
        </p:txBody>
      </p:sp>
      <p:grpSp>
        <p:nvGrpSpPr>
          <p:cNvPr id="49157" name="Group 23"/>
          <p:cNvGrpSpPr/>
          <p:nvPr/>
        </p:nvGrpSpPr>
        <p:grpSpPr bwMode="auto">
          <a:xfrm>
            <a:off x="1212850" y="871538"/>
            <a:ext cx="4895850" cy="1843087"/>
            <a:chOff x="543" y="1253"/>
            <a:chExt cx="2595" cy="1489"/>
          </a:xfrm>
        </p:grpSpPr>
        <p:sp>
          <p:nvSpPr>
            <p:cNvPr id="49158" name="Line 15"/>
            <p:cNvSpPr>
              <a:spLocks noChangeShapeType="1"/>
            </p:cNvSpPr>
            <p:nvPr/>
          </p:nvSpPr>
          <p:spPr bwMode="auto">
            <a:xfrm flipV="1">
              <a:off x="1573" y="1253"/>
              <a:ext cx="1565" cy="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59" name="Line 16"/>
            <p:cNvSpPr>
              <a:spLocks noChangeShapeType="1"/>
            </p:cNvSpPr>
            <p:nvPr/>
          </p:nvSpPr>
          <p:spPr bwMode="auto">
            <a:xfrm>
              <a:off x="1573" y="1260"/>
              <a:ext cx="0" cy="317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0" name="Line 17"/>
            <p:cNvSpPr>
              <a:spLocks noChangeShapeType="1"/>
            </p:cNvSpPr>
            <p:nvPr/>
          </p:nvSpPr>
          <p:spPr bwMode="auto">
            <a:xfrm flipH="1">
              <a:off x="1066" y="1558"/>
              <a:ext cx="507" cy="1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1" name="Line 18"/>
            <p:cNvSpPr>
              <a:spLocks noChangeShapeType="1"/>
            </p:cNvSpPr>
            <p:nvPr/>
          </p:nvSpPr>
          <p:spPr bwMode="auto">
            <a:xfrm flipH="1">
              <a:off x="543" y="1570"/>
              <a:ext cx="523" cy="117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2" name="Line 19"/>
            <p:cNvSpPr>
              <a:spLocks noChangeShapeType="1"/>
            </p:cNvSpPr>
            <p:nvPr/>
          </p:nvSpPr>
          <p:spPr bwMode="auto">
            <a:xfrm>
              <a:off x="543" y="2742"/>
              <a:ext cx="363" cy="0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3" name="Line 20"/>
            <p:cNvSpPr>
              <a:spLocks noChangeShapeType="1"/>
            </p:cNvSpPr>
            <p:nvPr/>
          </p:nvSpPr>
          <p:spPr bwMode="auto">
            <a:xfrm flipV="1">
              <a:off x="924" y="2379"/>
              <a:ext cx="0" cy="363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4" name="Line 21"/>
            <p:cNvSpPr>
              <a:spLocks noChangeShapeType="1"/>
            </p:cNvSpPr>
            <p:nvPr/>
          </p:nvSpPr>
          <p:spPr bwMode="auto">
            <a:xfrm flipV="1">
              <a:off x="1020" y="2386"/>
              <a:ext cx="2118" cy="8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9165" name="Line 22"/>
            <p:cNvSpPr>
              <a:spLocks noChangeShapeType="1"/>
            </p:cNvSpPr>
            <p:nvPr/>
          </p:nvSpPr>
          <p:spPr bwMode="auto">
            <a:xfrm>
              <a:off x="3138" y="1347"/>
              <a:ext cx="0" cy="952"/>
            </a:xfrm>
            <a:prstGeom prst="line">
              <a:avLst/>
            </a:prstGeom>
            <a:noFill/>
            <a:ln w="38100">
              <a:solidFill>
                <a:srgbClr val="F52EFC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slow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2"/>
          <p:cNvSpPr>
            <a:spLocks noGrp="1" noChangeArrowheads="1"/>
          </p:cNvSpPr>
          <p:nvPr>
            <p:ph type="body" idx="4294967295"/>
          </p:nvPr>
        </p:nvSpPr>
        <p:spPr>
          <a:xfrm>
            <a:off x="0" y="6350"/>
            <a:ext cx="9966325" cy="6281738"/>
          </a:xfrm>
        </p:spPr>
        <p:txBody>
          <a:bodyPr/>
          <a:lstStyle/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2.</a:t>
            </a:r>
            <a:r>
              <a:rPr lang="zh-CN" altLang="en-US" sz="2800" b="1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入队</a:t>
            </a:r>
            <a:endParaRPr lang="en-US" altLang="zh-CN" sz="2800" b="1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void </a:t>
            </a:r>
            <a:r>
              <a:rPr lang="en-US" altLang="zh-CN" sz="2800" b="1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inqueue</a:t>
            </a:r>
            <a:r>
              <a:rPr lang="en-US" altLang="zh-CN" sz="2800" b="1" dirty="0">
                <a:effectLst/>
                <a:latin typeface="Arial" panose="020B0604020202020204" pitchFamily="34" charset="0"/>
              </a:rPr>
              <a:t> (item x) {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 p;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 = 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)malloc(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sizeof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(</a:t>
            </a:r>
            <a:r>
              <a:rPr lang="en-US" altLang="zh-CN" b="1" dirty="0" err="1">
                <a:effectLst/>
                <a:latin typeface="Arial" panose="020B0604020202020204" pitchFamily="34" charset="0"/>
              </a:rPr>
              <a:t>queuetype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));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p-&gt; data  =  x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p-&gt; next  =  NULL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if ( rear==NULL )</a:t>
            </a:r>
            <a:r>
              <a:rPr lang="en-US" altLang="zh-CN" b="1" dirty="0">
                <a:effectLst/>
                <a:latin typeface="Arial" panose="020B0604020202020204" pitchFamily="34" charset="0"/>
              </a:rPr>
              <a:t> {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队空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修正表头和表尾指针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rear  =  p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front  =  p ;</a:t>
            </a:r>
            <a:endParaRPr lang="en-US" altLang="zh-CN" b="1" dirty="0"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} else { //</a:t>
            </a:r>
            <a:r>
              <a:rPr lang="zh-CN" altLang="en-US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队不空</a:t>
            </a: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       </a:t>
            </a:r>
            <a:endParaRPr lang="en-US" altLang="zh-CN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		      rear-&gt; next  =  p ;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加入链尾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effectLst/>
                <a:latin typeface="Arial" panose="020B0604020202020204" pitchFamily="34" charset="0"/>
              </a:rPr>
              <a:t>           rear  =  p ; 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//</a:t>
            </a:r>
            <a:r>
              <a:rPr lang="zh-CN" altLang="en-US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修正表尾指针</a:t>
            </a:r>
            <a:r>
              <a:rPr lang="en-US" altLang="zh-CN" b="1" dirty="0">
                <a:solidFill>
                  <a:schemeClr val="tx1">
                    <a:lumMod val="50000"/>
                  </a:schemeClr>
                </a:solidFill>
                <a:effectLst/>
                <a:latin typeface="Arial" panose="020B0604020202020204" pitchFamily="34" charset="0"/>
              </a:rPr>
              <a:t>rear</a:t>
            </a:r>
            <a:endParaRPr lang="en-US" altLang="zh-CN" b="1" dirty="0">
              <a:solidFill>
                <a:schemeClr val="tx1">
                  <a:lumMod val="50000"/>
                </a:schemeClr>
              </a:solidFill>
              <a:effectLst/>
              <a:latin typeface="Arial" panose="020B0604020202020204" pitchFamily="34" charset="0"/>
            </a:endParaRPr>
          </a:p>
          <a:p>
            <a:pPr lvl="1">
              <a:spcBef>
                <a:spcPct val="0"/>
              </a:spcBef>
              <a:buFontTx/>
              <a:buNone/>
              <a:defRPr/>
            </a:pPr>
            <a:r>
              <a:rPr lang="en-US" altLang="zh-CN" b="1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}</a:t>
            </a:r>
            <a:endParaRPr lang="en-US" altLang="zh-CN" b="1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effectLst/>
                <a:latin typeface="Arial" panose="020B0604020202020204" pitchFamily="34" charset="0"/>
              </a:rPr>
              <a:t>}</a:t>
            </a:r>
            <a:endParaRPr lang="en-US" altLang="zh-CN" sz="2800" b="1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51203" name="Group 3"/>
          <p:cNvGrpSpPr/>
          <p:nvPr/>
        </p:nvGrpSpPr>
        <p:grpSpPr bwMode="auto">
          <a:xfrm>
            <a:off x="2711450" y="5200650"/>
            <a:ext cx="7200900" cy="1657350"/>
            <a:chOff x="476" y="3067"/>
            <a:chExt cx="4536" cy="1044"/>
          </a:xfrm>
        </p:grpSpPr>
        <p:sp>
          <p:nvSpPr>
            <p:cNvPr id="51207" name="Rectangle 4"/>
            <p:cNvSpPr>
              <a:spLocks noChangeArrowheads="1"/>
            </p:cNvSpPr>
            <p:nvPr/>
          </p:nvSpPr>
          <p:spPr bwMode="auto">
            <a:xfrm flipH="1">
              <a:off x="4150" y="3067"/>
              <a:ext cx="463" cy="2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1208" name="Rectangle 5"/>
            <p:cNvSpPr>
              <a:spLocks noChangeArrowheads="1"/>
            </p:cNvSpPr>
            <p:nvPr/>
          </p:nvSpPr>
          <p:spPr bwMode="auto">
            <a:xfrm flipH="1">
              <a:off x="4562" y="3161"/>
              <a:ext cx="450" cy="21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51209" name="Freeform 6"/>
            <p:cNvSpPr/>
            <p:nvPr/>
          </p:nvSpPr>
          <p:spPr bwMode="auto">
            <a:xfrm flipH="1">
              <a:off x="4562" y="3285"/>
              <a:ext cx="231" cy="256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0" y="0"/>
                  </a:moveTo>
                  <a:lnTo>
                    <a:pt x="0" y="19932"/>
                  </a:lnTo>
                  <a:lnTo>
                    <a:pt x="19945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0" name="Rectangle 7"/>
            <p:cNvSpPr>
              <a:spLocks noChangeArrowheads="1"/>
            </p:cNvSpPr>
            <p:nvPr/>
          </p:nvSpPr>
          <p:spPr bwMode="auto">
            <a:xfrm flipH="1">
              <a:off x="476" y="3173"/>
              <a:ext cx="4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1211" name="Rectangle 8"/>
            <p:cNvSpPr>
              <a:spLocks noChangeArrowheads="1"/>
            </p:cNvSpPr>
            <p:nvPr/>
          </p:nvSpPr>
          <p:spPr bwMode="auto">
            <a:xfrm flipH="1">
              <a:off x="923" y="3225"/>
              <a:ext cx="425" cy="1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51212" name="Group 9"/>
            <p:cNvGrpSpPr/>
            <p:nvPr/>
          </p:nvGrpSpPr>
          <p:grpSpPr bwMode="auto">
            <a:xfrm flipH="1">
              <a:off x="4042" y="3468"/>
              <a:ext cx="463" cy="446"/>
              <a:chOff x="0" y="0"/>
              <a:chExt cx="20000" cy="20000"/>
            </a:xfrm>
          </p:grpSpPr>
          <p:sp>
            <p:nvSpPr>
              <p:cNvPr id="51229" name="Rectangle 10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30" name="Line 11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51213" name="Group 12"/>
            <p:cNvGrpSpPr/>
            <p:nvPr/>
          </p:nvGrpSpPr>
          <p:grpSpPr bwMode="auto">
            <a:xfrm flipH="1">
              <a:off x="3337" y="3464"/>
              <a:ext cx="462" cy="461"/>
              <a:chOff x="0" y="0"/>
              <a:chExt cx="20000" cy="20000"/>
            </a:xfrm>
          </p:grpSpPr>
          <p:sp>
            <p:nvSpPr>
              <p:cNvPr id="51227" name="Rectangle 13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8" name="Line 14"/>
              <p:cNvSpPr>
                <a:spLocks noChangeShapeType="1"/>
              </p:cNvSpPr>
              <p:nvPr/>
            </p:nvSpPr>
            <p:spPr bwMode="auto">
              <a:xfrm>
                <a:off x="557" y="1380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1214" name="Freeform 15"/>
            <p:cNvSpPr/>
            <p:nvPr/>
          </p:nvSpPr>
          <p:spPr bwMode="auto">
            <a:xfrm flipH="1">
              <a:off x="3592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5" name="Freeform 16"/>
            <p:cNvSpPr/>
            <p:nvPr/>
          </p:nvSpPr>
          <p:spPr bwMode="auto">
            <a:xfrm flipH="1">
              <a:off x="2886" y="3533"/>
              <a:ext cx="425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16" name="Freeform 17"/>
            <p:cNvSpPr/>
            <p:nvPr/>
          </p:nvSpPr>
          <p:spPr bwMode="auto">
            <a:xfrm flipH="1">
              <a:off x="2309" y="3533"/>
              <a:ext cx="424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1217" name="Group 18"/>
            <p:cNvGrpSpPr/>
            <p:nvPr/>
          </p:nvGrpSpPr>
          <p:grpSpPr bwMode="auto">
            <a:xfrm flipH="1">
              <a:off x="2066" y="3480"/>
              <a:ext cx="462" cy="455"/>
              <a:chOff x="0" y="0"/>
              <a:chExt cx="20000" cy="20000"/>
            </a:xfrm>
          </p:grpSpPr>
          <p:sp>
            <p:nvSpPr>
              <p:cNvPr id="51225" name="Rectangle 19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6" name="Line 20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grpSp>
          <p:nvGrpSpPr>
            <p:cNvPr id="51218" name="Group 21"/>
            <p:cNvGrpSpPr/>
            <p:nvPr/>
          </p:nvGrpSpPr>
          <p:grpSpPr bwMode="auto">
            <a:xfrm flipH="1">
              <a:off x="1360" y="3480"/>
              <a:ext cx="462" cy="455"/>
              <a:chOff x="0" y="0"/>
              <a:chExt cx="20000" cy="20000"/>
            </a:xfrm>
          </p:grpSpPr>
          <p:sp>
            <p:nvSpPr>
              <p:cNvPr id="51223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51224" name="Line 23"/>
              <p:cNvSpPr>
                <a:spLocks noChangeShapeType="1"/>
              </p:cNvSpPr>
              <p:nvPr/>
            </p:nvSpPr>
            <p:spPr bwMode="auto">
              <a:xfrm>
                <a:off x="557" y="13823"/>
                <a:ext cx="19443" cy="3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51219" name="Freeform 24"/>
            <p:cNvSpPr/>
            <p:nvPr/>
          </p:nvSpPr>
          <p:spPr bwMode="auto">
            <a:xfrm flipH="1">
              <a:off x="1617" y="3533"/>
              <a:ext cx="423" cy="315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w 20000"/>
                <a:gd name="T7" fmla="*/ 0 h 2000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000"/>
                <a:gd name="T13" fmla="*/ 0 h 20000"/>
                <a:gd name="T14" fmla="*/ 20000 w 20000"/>
                <a:gd name="T15" fmla="*/ 20000 h 200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000" h="20000">
                  <a:moveTo>
                    <a:pt x="19970" y="19944"/>
                  </a:moveTo>
                  <a:lnTo>
                    <a:pt x="6657" y="19944"/>
                  </a:lnTo>
                  <a:lnTo>
                    <a:pt x="6657" y="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0" name="Rectangle 25"/>
            <p:cNvSpPr>
              <a:spLocks noChangeArrowheads="1"/>
            </p:cNvSpPr>
            <p:nvPr/>
          </p:nvSpPr>
          <p:spPr bwMode="auto">
            <a:xfrm flipH="1">
              <a:off x="2669" y="3479"/>
              <a:ext cx="578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...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51221" name="Freeform 26"/>
            <p:cNvSpPr/>
            <p:nvPr/>
          </p:nvSpPr>
          <p:spPr bwMode="auto">
            <a:xfrm flipH="1">
              <a:off x="1115" y="3331"/>
              <a:ext cx="233" cy="257"/>
            </a:xfrm>
            <a:custGeom>
              <a:avLst/>
              <a:gdLst>
                <a:gd name="T0" fmla="*/ 0 w 20000"/>
                <a:gd name="T1" fmla="*/ 0 h 20000"/>
                <a:gd name="T2" fmla="*/ 0 w 20000"/>
                <a:gd name="T3" fmla="*/ 0 h 20000"/>
                <a:gd name="T4" fmla="*/ 0 w 20000"/>
                <a:gd name="T5" fmla="*/ 0 h 20000"/>
                <a:gd name="T6" fmla="*/ 0 60000 65536"/>
                <a:gd name="T7" fmla="*/ 0 60000 65536"/>
                <a:gd name="T8" fmla="*/ 0 60000 65536"/>
                <a:gd name="T9" fmla="*/ 0 w 20000"/>
                <a:gd name="T10" fmla="*/ 0 h 20000"/>
                <a:gd name="T11" fmla="*/ 20000 w 20000"/>
                <a:gd name="T12" fmla="*/ 20000 h 200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00" h="20000">
                  <a:moveTo>
                    <a:pt x="19945" y="0"/>
                  </a:moveTo>
                  <a:lnTo>
                    <a:pt x="19945" y="19932"/>
                  </a:lnTo>
                  <a:lnTo>
                    <a:pt x="0" y="1993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222" name="Text Box 27"/>
            <p:cNvSpPr txBox="1">
              <a:spLocks noChangeArrowheads="1"/>
            </p:cNvSpPr>
            <p:nvPr/>
          </p:nvSpPr>
          <p:spPr bwMode="auto">
            <a:xfrm>
              <a:off x="4096" y="3540"/>
              <a:ext cx="402" cy="5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</p:grpSp>
      <p:sp>
        <p:nvSpPr>
          <p:cNvPr id="30" name="灯片编号占位符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AC0BAA76-4A72-4258-BF9A-EF8E5FD9746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51206" name="TextBox 1"/>
          <p:cNvSpPr txBox="1">
            <a:spLocks noChangeArrowheads="1"/>
          </p:cNvSpPr>
          <p:nvPr/>
        </p:nvSpPr>
        <p:spPr bwMode="auto">
          <a:xfrm>
            <a:off x="7354888" y="-6350"/>
            <a:ext cx="4837112" cy="95408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算法同</a:t>
            </a: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创建链表（入队算法）</a:t>
            </a:r>
            <a:endParaRPr lang="en-US" altLang="zh-CN" sz="2800" dirty="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Arial" panose="020B0604020202020204" pitchFamily="34" charset="0"/>
              </a:rPr>
              <a:t>演示见本章前面</a:t>
            </a:r>
            <a:r>
              <a:rPr lang="en-US" altLang="zh-CN" sz="2800">
                <a:latin typeface="Arial" panose="020B0604020202020204" pitchFamily="34" charset="0"/>
              </a:rPr>
              <a:t>PPT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2"/>
          <p:cNvSpPr txBox="1">
            <a:spLocks noChangeArrowheads="1"/>
          </p:cNvSpPr>
          <p:nvPr/>
        </p:nvSpPr>
        <p:spPr bwMode="auto">
          <a:xfrm>
            <a:off x="300038" y="31750"/>
            <a:ext cx="7235825" cy="60975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</a:defRPr>
            </a:lvl9pPr>
          </a:lstStyle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3.</a:t>
            </a:r>
            <a:r>
              <a:rPr lang="zh-CN" altLang="en-US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出队</a:t>
            </a:r>
            <a:endParaRPr lang="en-US" altLang="zh-CN" sz="2800" kern="0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void  </a:t>
            </a:r>
            <a:r>
              <a:rPr lang="en-US" altLang="zh-CN" sz="2800" kern="0" dirty="0" err="1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outqueue</a:t>
            </a:r>
            <a:r>
              <a:rPr lang="en-US" altLang="zh-CN" sz="2800" kern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( item *x ) {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</a:t>
            </a:r>
            <a:r>
              <a:rPr lang="en-US" altLang="zh-CN" sz="2800" kern="0" dirty="0" err="1">
                <a:effectLst/>
                <a:latin typeface="Arial" panose="020B0604020202020204" pitchFamily="34" charset="0"/>
              </a:rPr>
              <a:t>pqueuetype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 p;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if ( front==NULL )    </a:t>
            </a:r>
            <a:r>
              <a:rPr lang="en-US" altLang="zh-CN" sz="2800" kern="0" dirty="0" err="1">
                <a:effectLst/>
                <a:latin typeface="Arial" panose="020B0604020202020204" pitchFamily="34" charset="0"/>
              </a:rPr>
              <a:t>printf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( 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800" kern="0" dirty="0">
                <a:effectLst/>
                <a:latin typeface="Arial" panose="020B0604020202020204" pitchFamily="34" charset="0"/>
              </a:rPr>
              <a:t>队空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\n</a:t>
            </a:r>
            <a:r>
              <a:rPr lang="en-US" altLang="zh-CN" sz="28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800" kern="0" dirty="0">
                <a:effectLst/>
                <a:latin typeface="Arial" panose="020B0604020202020204" pitchFamily="34" charset="0"/>
              </a:rPr>
              <a:t> );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else {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FF00"/>
                </a:solidFill>
                <a:effectLst/>
                <a:latin typeface="Arial" panose="020B0604020202020204" pitchFamily="34" charset="0"/>
              </a:rPr>
              <a:t>           *x = front-&gt;data ;</a:t>
            </a:r>
            <a:endParaRPr lang="en-US" altLang="zh-CN" sz="2800" kern="0" dirty="0">
              <a:solidFill>
                <a:srgbClr val="FFFF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lang="en-US" altLang="zh-CN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p=front ;</a:t>
            </a:r>
            <a:endParaRPr lang="en-US" altLang="zh-CN" sz="2800" kern="0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effectLst/>
                <a:latin typeface="Arial" panose="020B0604020202020204" pitchFamily="34" charset="0"/>
              </a:rPr>
              <a:t>           front = front-&gt; next;</a:t>
            </a:r>
            <a:endParaRPr lang="en-US" altLang="zh-CN" sz="28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          </a:t>
            </a:r>
            <a:r>
              <a:rPr lang="en-US" altLang="zh-CN" sz="2800" kern="0" dirty="0">
                <a:solidFill>
                  <a:srgbClr val="F52EFC"/>
                </a:solidFill>
                <a:effectLst/>
                <a:latin typeface="Arial" panose="020B0604020202020204" pitchFamily="34" charset="0"/>
              </a:rPr>
              <a:t>free(p);</a:t>
            </a:r>
            <a:endParaRPr lang="en-US" altLang="zh-CN" sz="2800" kern="0" dirty="0">
              <a:solidFill>
                <a:srgbClr val="F52EFC"/>
              </a:solidFill>
              <a:effectLst/>
              <a:latin typeface="Arial" panose="020B0604020202020204" pitchFamily="34" charset="0"/>
            </a:endParaRPr>
          </a:p>
          <a:p>
            <a:pPr indent="457200"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  </a:t>
            </a: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if ( front==NULL )</a:t>
            </a:r>
            <a:endParaRPr lang="en-US" altLang="zh-CN" sz="2800" kern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800" kern="0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  <a:sym typeface="+mn-ea"/>
              </a:rPr>
              <a:t>                  rear  =  NULL ; </a:t>
            </a:r>
            <a:endParaRPr lang="en-US" altLang="zh-CN" sz="2800" kern="0" dirty="0">
              <a:solidFill>
                <a:schemeClr val="accent6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en-US" altLang="zh-CN" sz="2800" kern="0" dirty="0"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effectLst/>
                <a:latin typeface="Arial" panose="020B0604020202020204" pitchFamily="34" charset="0"/>
              </a:rPr>
              <a:t>      }</a:t>
            </a:r>
            <a:endParaRPr lang="en-US" altLang="zh-CN" sz="2000" kern="0" dirty="0">
              <a:effectLst/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r>
              <a:rPr lang="en-US" altLang="zh-CN" sz="2000" kern="0" dirty="0">
                <a:effectLst/>
                <a:latin typeface="Arial" panose="020B0604020202020204" pitchFamily="34" charset="0"/>
              </a:rPr>
              <a:t>}</a:t>
            </a:r>
            <a:endParaRPr lang="en-US" altLang="zh-CN" sz="2000" kern="0" dirty="0">
              <a:effectLst/>
              <a:latin typeface="Arial" panose="020B0604020202020204" pitchFamily="34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4079875" y="5949950"/>
            <a:ext cx="946150" cy="720725"/>
            <a:chOff x="3855" y="283"/>
            <a:chExt cx="597" cy="346"/>
          </a:xfrm>
        </p:grpSpPr>
        <p:sp>
          <p:nvSpPr>
            <p:cNvPr id="53291" name="Rectangle 4"/>
            <p:cNvSpPr>
              <a:spLocks noChangeArrowheads="1"/>
            </p:cNvSpPr>
            <p:nvPr/>
          </p:nvSpPr>
          <p:spPr bwMode="auto">
            <a:xfrm flipH="1">
              <a:off x="3855" y="283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1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92" name="Line 5"/>
            <p:cNvSpPr>
              <a:spLocks noChangeShapeType="1"/>
            </p:cNvSpPr>
            <p:nvPr/>
          </p:nvSpPr>
          <p:spPr bwMode="auto">
            <a:xfrm flipH="1">
              <a:off x="3878" y="482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27" name="Freeform 7"/>
          <p:cNvSpPr/>
          <p:nvPr/>
        </p:nvSpPr>
        <p:spPr bwMode="auto">
          <a:xfrm flipH="1">
            <a:off x="3324225" y="5626100"/>
            <a:ext cx="792163" cy="4318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58" y="0"/>
                </a:moveTo>
                <a:lnTo>
                  <a:pt x="19958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28" name="Freeform 8"/>
          <p:cNvSpPr/>
          <p:nvPr/>
        </p:nvSpPr>
        <p:spPr bwMode="auto">
          <a:xfrm flipH="1">
            <a:off x="4621213" y="6273800"/>
            <a:ext cx="1223962" cy="325438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3" name="Group 9"/>
          <p:cNvGrpSpPr/>
          <p:nvPr/>
        </p:nvGrpSpPr>
        <p:grpSpPr bwMode="auto">
          <a:xfrm>
            <a:off x="8940800" y="3573463"/>
            <a:ext cx="1657350" cy="519112"/>
            <a:chOff x="4828" y="2473"/>
            <a:chExt cx="624" cy="155"/>
          </a:xfrm>
        </p:grpSpPr>
        <p:sp>
          <p:nvSpPr>
            <p:cNvPr id="53289" name="Rectangle 10"/>
            <p:cNvSpPr>
              <a:spLocks noChangeArrowheads="1"/>
            </p:cNvSpPr>
            <p:nvPr/>
          </p:nvSpPr>
          <p:spPr bwMode="auto">
            <a:xfrm flipH="1">
              <a:off x="4828" y="2473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a: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90" name="Rectangle 11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3255" name="Group 12"/>
          <p:cNvGrpSpPr/>
          <p:nvPr/>
        </p:nvGrpSpPr>
        <p:grpSpPr bwMode="auto">
          <a:xfrm>
            <a:off x="8653463" y="5121275"/>
            <a:ext cx="1944687" cy="504825"/>
            <a:chOff x="0" y="0"/>
            <a:chExt cx="19999" cy="20000"/>
          </a:xfrm>
        </p:grpSpPr>
        <p:sp>
          <p:nvSpPr>
            <p:cNvPr id="53287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11619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rear: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8" name="Rectangle 14"/>
            <p:cNvSpPr>
              <a:spLocks noChangeArrowheads="1"/>
            </p:cNvSpPr>
            <p:nvPr/>
          </p:nvSpPr>
          <p:spPr bwMode="auto">
            <a:xfrm>
              <a:off x="8701" y="0"/>
              <a:ext cx="11298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53256" name="Group 15"/>
          <p:cNvGrpSpPr/>
          <p:nvPr/>
        </p:nvGrpSpPr>
        <p:grpSpPr bwMode="auto">
          <a:xfrm>
            <a:off x="1955800" y="5410200"/>
            <a:ext cx="1727200" cy="431800"/>
            <a:chOff x="0" y="0"/>
            <a:chExt cx="20000" cy="20000"/>
          </a:xfrm>
        </p:grpSpPr>
        <p:sp>
          <p:nvSpPr>
            <p:cNvPr id="53285" name="Rectangle 16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front: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6" name="Rectangle 17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grpSp>
        <p:nvGrpSpPr>
          <p:cNvPr id="7" name="Group 18"/>
          <p:cNvGrpSpPr/>
          <p:nvPr/>
        </p:nvGrpSpPr>
        <p:grpSpPr bwMode="auto">
          <a:xfrm>
            <a:off x="5803900" y="5949950"/>
            <a:ext cx="904875" cy="719138"/>
            <a:chOff x="3878" y="1043"/>
            <a:chExt cx="591" cy="346"/>
          </a:xfrm>
        </p:grpSpPr>
        <p:sp>
          <p:nvSpPr>
            <p:cNvPr id="53283" name="Rectangle 19"/>
            <p:cNvSpPr>
              <a:spLocks noChangeArrowheads="1"/>
            </p:cNvSpPr>
            <p:nvPr/>
          </p:nvSpPr>
          <p:spPr bwMode="auto">
            <a:xfrm flipH="1">
              <a:off x="3878" y="1043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2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4" name="Line 20"/>
            <p:cNvSpPr>
              <a:spLocks noChangeShapeType="1"/>
            </p:cNvSpPr>
            <p:nvPr/>
          </p:nvSpPr>
          <p:spPr bwMode="auto">
            <a:xfrm flipH="1">
              <a:off x="3878" y="1225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2"/>
          <p:cNvGrpSpPr/>
          <p:nvPr/>
        </p:nvGrpSpPr>
        <p:grpSpPr bwMode="auto">
          <a:xfrm>
            <a:off x="7500938" y="5948363"/>
            <a:ext cx="908050" cy="790575"/>
            <a:chOff x="3878" y="284"/>
            <a:chExt cx="591" cy="346"/>
          </a:xfrm>
        </p:grpSpPr>
        <p:sp>
          <p:nvSpPr>
            <p:cNvPr id="53281" name="Rectangle 23"/>
            <p:cNvSpPr>
              <a:spLocks noChangeArrowheads="1"/>
            </p:cNvSpPr>
            <p:nvPr/>
          </p:nvSpPr>
          <p:spPr bwMode="auto">
            <a:xfrm flipH="1">
              <a:off x="3878" y="284"/>
              <a:ext cx="591" cy="346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3</a:t>
              </a:r>
              <a:endParaRPr lang="en-US" altLang="zh-CN" sz="20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  ·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2" name="Line 24"/>
            <p:cNvSpPr>
              <a:spLocks noChangeShapeType="1"/>
            </p:cNvSpPr>
            <p:nvPr/>
          </p:nvSpPr>
          <p:spPr bwMode="auto">
            <a:xfrm flipH="1">
              <a:off x="3878" y="474"/>
              <a:ext cx="57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545" name="Freeform 25"/>
          <p:cNvSpPr/>
          <p:nvPr/>
        </p:nvSpPr>
        <p:spPr bwMode="auto">
          <a:xfrm flipH="1">
            <a:off x="8364538" y="5553075"/>
            <a:ext cx="1728787" cy="576263"/>
          </a:xfrm>
          <a:custGeom>
            <a:avLst/>
            <a:gdLst>
              <a:gd name="T0" fmla="*/ 0 w 20000"/>
              <a:gd name="T1" fmla="*/ 0 h 20000"/>
              <a:gd name="T2" fmla="*/ 0 w 20000"/>
              <a:gd name="T3" fmla="*/ 2147483646 h 20000"/>
              <a:gd name="T4" fmla="*/ 2147483646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0" y="0"/>
                </a:moveTo>
                <a:lnTo>
                  <a:pt x="0" y="19934"/>
                </a:lnTo>
                <a:lnTo>
                  <a:pt x="19945" y="19934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6" name="Freeform 26"/>
          <p:cNvSpPr/>
          <p:nvPr/>
        </p:nvSpPr>
        <p:spPr bwMode="auto">
          <a:xfrm flipH="1">
            <a:off x="6205538" y="6202363"/>
            <a:ext cx="1295400" cy="358775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64" y="19950"/>
                </a:moveTo>
                <a:lnTo>
                  <a:pt x="6667" y="19950"/>
                </a:lnTo>
                <a:lnTo>
                  <a:pt x="666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47" name="Text Box 27"/>
          <p:cNvSpPr txBox="1">
            <a:spLocks noChangeArrowheads="1"/>
          </p:cNvSpPr>
          <p:nvPr/>
        </p:nvSpPr>
        <p:spPr bwMode="auto">
          <a:xfrm>
            <a:off x="9912350" y="3679825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1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grpSp>
        <p:nvGrpSpPr>
          <p:cNvPr id="9" name="Group 28"/>
          <p:cNvGrpSpPr/>
          <p:nvPr/>
        </p:nvGrpSpPr>
        <p:grpSpPr bwMode="auto">
          <a:xfrm>
            <a:off x="1955800" y="6273800"/>
            <a:ext cx="1625600" cy="431800"/>
            <a:chOff x="0" y="0"/>
            <a:chExt cx="20000" cy="20000"/>
          </a:xfrm>
        </p:grpSpPr>
        <p:sp>
          <p:nvSpPr>
            <p:cNvPr id="53279" name="Rectangle 29"/>
            <p:cNvSpPr>
              <a:spLocks noChangeArrowheads="1"/>
            </p:cNvSpPr>
            <p:nvPr/>
          </p:nvSpPr>
          <p:spPr bwMode="auto">
            <a:xfrm>
              <a:off x="0" y="0"/>
              <a:ext cx="10915" cy="20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   p: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80" name="Rectangle 30"/>
            <p:cNvSpPr>
              <a:spLocks noChangeArrowheads="1"/>
            </p:cNvSpPr>
            <p:nvPr/>
          </p:nvSpPr>
          <p:spPr bwMode="auto">
            <a:xfrm>
              <a:off x="9992" y="1377"/>
              <a:ext cx="10008" cy="18083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6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1" name="Freeform 31"/>
          <p:cNvSpPr/>
          <p:nvPr/>
        </p:nvSpPr>
        <p:spPr bwMode="auto">
          <a:xfrm>
            <a:off x="3108325" y="6202363"/>
            <a:ext cx="1009650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2" name="Freeform 32"/>
          <p:cNvSpPr/>
          <p:nvPr/>
        </p:nvSpPr>
        <p:spPr bwMode="auto">
          <a:xfrm>
            <a:off x="3252788" y="5626100"/>
            <a:ext cx="2592387" cy="431800"/>
          </a:xfrm>
          <a:custGeom>
            <a:avLst/>
            <a:gdLst>
              <a:gd name="T0" fmla="*/ 0 w 1542"/>
              <a:gd name="T1" fmla="*/ 0 h 272"/>
              <a:gd name="T2" fmla="*/ 2147483646 w 1542"/>
              <a:gd name="T3" fmla="*/ 0 h 272"/>
              <a:gd name="T4" fmla="*/ 2147483646 w 1542"/>
              <a:gd name="T5" fmla="*/ 2147483646 h 272"/>
              <a:gd name="T6" fmla="*/ 2147483646 w 1542"/>
              <a:gd name="T7" fmla="*/ 2147483646 h 272"/>
              <a:gd name="T8" fmla="*/ 0 60000 65536"/>
              <a:gd name="T9" fmla="*/ 0 60000 65536"/>
              <a:gd name="T10" fmla="*/ 0 60000 65536"/>
              <a:gd name="T11" fmla="*/ 0 60000 65536"/>
              <a:gd name="T12" fmla="*/ 0 w 1542"/>
              <a:gd name="T13" fmla="*/ 0 h 272"/>
              <a:gd name="T14" fmla="*/ 1542 w 1542"/>
              <a:gd name="T15" fmla="*/ 272 h 27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542" h="272">
                <a:moveTo>
                  <a:pt x="0" y="0"/>
                </a:moveTo>
                <a:lnTo>
                  <a:pt x="1180" y="0"/>
                </a:lnTo>
                <a:lnTo>
                  <a:pt x="1180" y="272"/>
                </a:lnTo>
                <a:lnTo>
                  <a:pt x="1542" y="27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Group 33"/>
          <p:cNvGrpSpPr/>
          <p:nvPr/>
        </p:nvGrpSpPr>
        <p:grpSpPr bwMode="auto">
          <a:xfrm>
            <a:off x="8975725" y="4297363"/>
            <a:ext cx="1622425" cy="458787"/>
            <a:chOff x="4813" y="2478"/>
            <a:chExt cx="639" cy="150"/>
          </a:xfrm>
        </p:grpSpPr>
        <p:sp>
          <p:nvSpPr>
            <p:cNvPr id="53277" name="Rectangle 34"/>
            <p:cNvSpPr>
              <a:spLocks noChangeArrowheads="1"/>
            </p:cNvSpPr>
            <p:nvPr/>
          </p:nvSpPr>
          <p:spPr bwMode="auto">
            <a:xfrm flipH="1">
              <a:off x="4813" y="2499"/>
              <a:ext cx="264" cy="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 type="none" w="med" len="lg"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b: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53278" name="Rectangle 35"/>
            <p:cNvSpPr>
              <a:spLocks noChangeArrowheads="1"/>
            </p:cNvSpPr>
            <p:nvPr/>
          </p:nvSpPr>
          <p:spPr bwMode="auto">
            <a:xfrm flipH="1">
              <a:off x="5012" y="2478"/>
              <a:ext cx="440" cy="15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000">
                <a:latin typeface="Arial" panose="020B0604020202020204" pitchFamily="34" charset="0"/>
              </a:endParaRPr>
            </a:p>
          </p:txBody>
        </p:sp>
      </p:grpSp>
      <p:sp>
        <p:nvSpPr>
          <p:cNvPr id="107556" name="Text Box 36"/>
          <p:cNvSpPr txBox="1">
            <a:spLocks noChangeArrowheads="1"/>
          </p:cNvSpPr>
          <p:nvPr/>
        </p:nvSpPr>
        <p:spPr bwMode="auto">
          <a:xfrm>
            <a:off x="9912350" y="4329113"/>
            <a:ext cx="5048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2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57" name="Freeform 37"/>
          <p:cNvSpPr/>
          <p:nvPr/>
        </p:nvSpPr>
        <p:spPr bwMode="auto">
          <a:xfrm>
            <a:off x="3181350" y="6129338"/>
            <a:ext cx="2663825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8" name="Freeform 38"/>
          <p:cNvSpPr/>
          <p:nvPr/>
        </p:nvSpPr>
        <p:spPr bwMode="auto">
          <a:xfrm>
            <a:off x="3324225" y="5626100"/>
            <a:ext cx="4176713" cy="503238"/>
          </a:xfrm>
          <a:custGeom>
            <a:avLst/>
            <a:gdLst>
              <a:gd name="T0" fmla="*/ 0 w 2631"/>
              <a:gd name="T1" fmla="*/ 0 h 317"/>
              <a:gd name="T2" fmla="*/ 2147483646 w 2631"/>
              <a:gd name="T3" fmla="*/ 0 h 317"/>
              <a:gd name="T4" fmla="*/ 2147483646 w 2631"/>
              <a:gd name="T5" fmla="*/ 2147483646 h 317"/>
              <a:gd name="T6" fmla="*/ 2147483646 w 2631"/>
              <a:gd name="T7" fmla="*/ 2147483646 h 317"/>
              <a:gd name="T8" fmla="*/ 0 60000 65536"/>
              <a:gd name="T9" fmla="*/ 0 60000 65536"/>
              <a:gd name="T10" fmla="*/ 0 60000 65536"/>
              <a:gd name="T11" fmla="*/ 0 60000 65536"/>
              <a:gd name="T12" fmla="*/ 0 w 2631"/>
              <a:gd name="T13" fmla="*/ 0 h 317"/>
              <a:gd name="T14" fmla="*/ 2631 w 2631"/>
              <a:gd name="T15" fmla="*/ 317 h 31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31" h="317">
                <a:moveTo>
                  <a:pt x="0" y="0"/>
                </a:moveTo>
                <a:lnTo>
                  <a:pt x="2268" y="0"/>
                </a:lnTo>
                <a:lnTo>
                  <a:pt x="2268" y="317"/>
                </a:lnTo>
                <a:lnTo>
                  <a:pt x="2631" y="31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59" name="Text Box 39"/>
          <p:cNvSpPr txBox="1">
            <a:spLocks noChangeArrowheads="1"/>
          </p:cNvSpPr>
          <p:nvPr/>
        </p:nvSpPr>
        <p:spPr bwMode="auto">
          <a:xfrm>
            <a:off x="9910763" y="3643313"/>
            <a:ext cx="288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3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60" name="Freeform 40"/>
          <p:cNvSpPr/>
          <p:nvPr/>
        </p:nvSpPr>
        <p:spPr bwMode="auto">
          <a:xfrm>
            <a:off x="3216275" y="6129338"/>
            <a:ext cx="4321175" cy="360362"/>
          </a:xfrm>
          <a:custGeom>
            <a:avLst/>
            <a:gdLst>
              <a:gd name="T0" fmla="*/ 0 w 636"/>
              <a:gd name="T1" fmla="*/ 2147483646 h 227"/>
              <a:gd name="T2" fmla="*/ 2147483646 w 636"/>
              <a:gd name="T3" fmla="*/ 2147483646 h 227"/>
              <a:gd name="T4" fmla="*/ 2147483646 w 636"/>
              <a:gd name="T5" fmla="*/ 0 h 227"/>
              <a:gd name="T6" fmla="*/ 2147483646 w 636"/>
              <a:gd name="T7" fmla="*/ 0 h 227"/>
              <a:gd name="T8" fmla="*/ 0 60000 65536"/>
              <a:gd name="T9" fmla="*/ 0 60000 65536"/>
              <a:gd name="T10" fmla="*/ 0 60000 65536"/>
              <a:gd name="T11" fmla="*/ 0 60000 65536"/>
              <a:gd name="T12" fmla="*/ 0 w 636"/>
              <a:gd name="T13" fmla="*/ 0 h 227"/>
              <a:gd name="T14" fmla="*/ 636 w 636"/>
              <a:gd name="T15" fmla="*/ 227 h 2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36" h="227">
                <a:moveTo>
                  <a:pt x="0" y="227"/>
                </a:moveTo>
                <a:lnTo>
                  <a:pt x="409" y="227"/>
                </a:lnTo>
                <a:lnTo>
                  <a:pt x="409" y="0"/>
                </a:lnTo>
                <a:lnTo>
                  <a:pt x="636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561" name="Text Box 41"/>
          <p:cNvSpPr txBox="1">
            <a:spLocks noChangeArrowheads="1"/>
          </p:cNvSpPr>
          <p:nvPr/>
        </p:nvSpPr>
        <p:spPr bwMode="auto">
          <a:xfrm>
            <a:off x="2820988" y="5410200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107562" name="Text Box 42"/>
          <p:cNvSpPr txBox="1">
            <a:spLocks noChangeArrowheads="1"/>
          </p:cNvSpPr>
          <p:nvPr/>
        </p:nvSpPr>
        <p:spPr bwMode="auto">
          <a:xfrm>
            <a:off x="9590088" y="5192713"/>
            <a:ext cx="863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NULL</a:t>
            </a:r>
            <a:endParaRPr lang="en-US" altLang="zh-CN" sz="2000">
              <a:latin typeface="Arial" panose="020B0604020202020204" pitchFamily="34" charset="0"/>
            </a:endParaRPr>
          </a:p>
        </p:txBody>
      </p:sp>
      <p:sp>
        <p:nvSpPr>
          <p:cNvPr id="46" name="灯片编号占位符 45"/>
          <p:cNvSpPr>
            <a:spLocks noGrp="1"/>
          </p:cNvSpPr>
          <p:nvPr>
            <p:ph type="sldNum" sz="quarter" idx="12"/>
          </p:nvPr>
        </p:nvSpPr>
        <p:spPr>
          <a:xfrm>
            <a:off x="10972800" y="6437313"/>
            <a:ext cx="549275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78C69D7-4EAF-485A-9662-146B8661D2B0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1192213" y="2657475"/>
            <a:ext cx="2470150" cy="431800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44" name="矩形 43"/>
          <p:cNvSpPr>
            <a:spLocks noChangeArrowheads="1"/>
          </p:cNvSpPr>
          <p:nvPr/>
        </p:nvSpPr>
        <p:spPr bwMode="auto">
          <a:xfrm>
            <a:off x="1196340" y="3460115"/>
            <a:ext cx="1850390" cy="488950"/>
          </a:xfrm>
          <a:prstGeom prst="rect">
            <a:avLst/>
          </a:prstGeom>
          <a:noFill/>
          <a:ln w="34925" algn="ctr">
            <a:solidFill>
              <a:srgbClr val="F52EFC"/>
            </a:solidFill>
            <a:prstDash val="sysDash"/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4" dur="500"/>
                                        <p:tgtEl>
                                          <p:spTgt spid="1075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5" dur="500"/>
                                        <p:tgtEl>
                                          <p:spTgt spid="1075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8" dur="500"/>
                                        <p:tgtEl>
                                          <p:spTgt spid="1075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07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4" dur="500"/>
                                        <p:tgtEl>
                                          <p:spTgt spid="1075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77" dur="500"/>
                                        <p:tgtEl>
                                          <p:spTgt spid="107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0" dur="500"/>
                                        <p:tgtEl>
                                          <p:spTgt spid="107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88" dur="500"/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107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6" dur="500"/>
                                        <p:tgtEl>
                                          <p:spTgt spid="1075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2" dur="500"/>
                                        <p:tgtEl>
                                          <p:spTgt spid="107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6" dur="500"/>
                                        <p:tgtEl>
                                          <p:spTgt spid="1075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107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9" dur="500"/>
                                        <p:tgtEl>
                                          <p:spTgt spid="1075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47" grpId="0" build="allAtOnce"/>
      <p:bldP spid="107556" grpId="0"/>
      <p:bldP spid="107559" grpId="0"/>
      <p:bldP spid="107561" grpId="0"/>
      <p:bldP spid="107562" grpId="0"/>
      <p:bldP spid="4" grpId="0" bldLvl="0" animBg="1"/>
      <p:bldP spid="44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2"/>
          <p:cNvSpPr>
            <a:spLocks noGrp="1" noChangeArrowheads="1"/>
          </p:cNvSpPr>
          <p:nvPr>
            <p:ph type="title"/>
          </p:nvPr>
        </p:nvSpPr>
        <p:spPr>
          <a:xfrm>
            <a:off x="98425" y="223838"/>
            <a:ext cx="8229600" cy="633412"/>
          </a:xfrm>
        </p:spPr>
        <p:txBody>
          <a:bodyPr/>
          <a:lstStyle/>
          <a:p>
            <a:pPr algn="l">
              <a:defRPr/>
            </a:pP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【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例</a:t>
            </a:r>
            <a:r>
              <a:rPr lang="en-US" altLang="zh-CN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13.3】</a:t>
            </a:r>
            <a:r>
              <a:rPr lang="zh-CN" altLang="en-US" sz="2800" b="1" dirty="0">
                <a:solidFill>
                  <a:srgbClr val="FFC000"/>
                </a:solidFill>
                <a:ea typeface="黑体" panose="02010609060101010101" pitchFamily="49" charset="-122"/>
              </a:rPr>
              <a:t>多项式加法</a:t>
            </a:r>
            <a:r>
              <a:rPr lang="zh-CN" altLang="en-US" sz="2800" dirty="0">
                <a:solidFill>
                  <a:srgbClr val="FFC000"/>
                </a:solidFill>
                <a:ea typeface="黑体" panose="02010609060101010101" pitchFamily="49" charset="-122"/>
              </a:rPr>
              <a:t> </a:t>
            </a:r>
            <a:endParaRPr lang="zh-CN" altLang="en-US" sz="2800" dirty="0">
              <a:solidFill>
                <a:srgbClr val="FFC000"/>
              </a:solidFill>
              <a:ea typeface="黑体" panose="02010609060101010101" pitchFamily="49" charset="-122"/>
            </a:endParaRP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438" y="898525"/>
            <a:ext cx="8686800" cy="6477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b="1">
                <a:effectLst/>
                <a:ea typeface="黑体" panose="02010609060101010101" pitchFamily="49" charset="-122"/>
              </a:rPr>
              <a:t>多项式可以用如下形式的链表来存储；</a:t>
            </a:r>
            <a:endParaRPr lang="zh-CN" altLang="en-US" sz="2800" b="1">
              <a:effectLst/>
              <a:ea typeface="黑体" panose="02010609060101010101" pitchFamily="49" charset="-122"/>
            </a:endParaRPr>
          </a:p>
        </p:txBody>
      </p:sp>
      <p:grpSp>
        <p:nvGrpSpPr>
          <p:cNvPr id="55300" name="Group 5"/>
          <p:cNvGrpSpPr/>
          <p:nvPr/>
        </p:nvGrpSpPr>
        <p:grpSpPr bwMode="auto">
          <a:xfrm>
            <a:off x="2209800" y="2362200"/>
            <a:ext cx="6848475" cy="1223963"/>
            <a:chOff x="476" y="1752"/>
            <a:chExt cx="4314" cy="771"/>
          </a:xfrm>
        </p:grpSpPr>
        <p:sp>
          <p:nvSpPr>
            <p:cNvPr id="55304" name="Rectangle 6"/>
            <p:cNvSpPr>
              <a:spLocks noChangeArrowheads="1"/>
            </p:cNvSpPr>
            <p:nvPr/>
          </p:nvSpPr>
          <p:spPr bwMode="auto">
            <a:xfrm>
              <a:off x="476" y="1752"/>
              <a:ext cx="504" cy="23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05" name="Rectangle 7"/>
            <p:cNvSpPr>
              <a:spLocks noChangeArrowheads="1"/>
            </p:cNvSpPr>
            <p:nvPr/>
          </p:nvSpPr>
          <p:spPr bwMode="auto">
            <a:xfrm>
              <a:off x="1383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06" name="Line 8"/>
            <p:cNvSpPr>
              <a:spLocks noChangeShapeType="1"/>
            </p:cNvSpPr>
            <p:nvPr/>
          </p:nvSpPr>
          <p:spPr bwMode="auto">
            <a:xfrm>
              <a:off x="1383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7" name="Rectangle 9"/>
            <p:cNvSpPr>
              <a:spLocks noChangeArrowheads="1"/>
            </p:cNvSpPr>
            <p:nvPr/>
          </p:nvSpPr>
          <p:spPr bwMode="auto">
            <a:xfrm>
              <a:off x="2934" y="2015"/>
              <a:ext cx="317" cy="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...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08" name="Line 10"/>
            <p:cNvSpPr>
              <a:spLocks noChangeShapeType="1"/>
            </p:cNvSpPr>
            <p:nvPr/>
          </p:nvSpPr>
          <p:spPr bwMode="auto">
            <a:xfrm>
              <a:off x="1649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09" name="Line 11"/>
            <p:cNvSpPr>
              <a:spLocks noChangeShapeType="1"/>
            </p:cNvSpPr>
            <p:nvPr/>
          </p:nvSpPr>
          <p:spPr bwMode="auto">
            <a:xfrm>
              <a:off x="3137" y="2432"/>
              <a:ext cx="287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0" name="Line 12"/>
            <p:cNvSpPr>
              <a:spLocks noChangeShapeType="1"/>
            </p:cNvSpPr>
            <p:nvPr/>
          </p:nvSpPr>
          <p:spPr bwMode="auto">
            <a:xfrm>
              <a:off x="1383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1" name="Line 13"/>
            <p:cNvSpPr>
              <a:spLocks noChangeShapeType="1"/>
            </p:cNvSpPr>
            <p:nvPr/>
          </p:nvSpPr>
          <p:spPr bwMode="auto">
            <a:xfrm>
              <a:off x="923" y="1915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2" name="Rectangle 14"/>
            <p:cNvSpPr>
              <a:spLocks noChangeArrowheads="1"/>
            </p:cNvSpPr>
            <p:nvPr/>
          </p:nvSpPr>
          <p:spPr bwMode="auto">
            <a:xfrm>
              <a:off x="2109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13" name="Line 15"/>
            <p:cNvSpPr>
              <a:spLocks noChangeShapeType="1"/>
            </p:cNvSpPr>
            <p:nvPr/>
          </p:nvSpPr>
          <p:spPr bwMode="auto">
            <a:xfrm>
              <a:off x="2109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4" name="Line 16"/>
            <p:cNvSpPr>
              <a:spLocks noChangeShapeType="1"/>
            </p:cNvSpPr>
            <p:nvPr/>
          </p:nvSpPr>
          <p:spPr bwMode="auto">
            <a:xfrm>
              <a:off x="2336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5" name="Line 17"/>
            <p:cNvSpPr>
              <a:spLocks noChangeShapeType="1"/>
            </p:cNvSpPr>
            <p:nvPr/>
          </p:nvSpPr>
          <p:spPr bwMode="auto">
            <a:xfrm>
              <a:off x="2109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6" name="Rectangle 18"/>
            <p:cNvSpPr>
              <a:spLocks noChangeArrowheads="1"/>
            </p:cNvSpPr>
            <p:nvPr/>
          </p:nvSpPr>
          <p:spPr bwMode="auto">
            <a:xfrm>
              <a:off x="3424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  <p:sp>
          <p:nvSpPr>
            <p:cNvPr id="55317" name="Line 19"/>
            <p:cNvSpPr>
              <a:spLocks noChangeShapeType="1"/>
            </p:cNvSpPr>
            <p:nvPr/>
          </p:nvSpPr>
          <p:spPr bwMode="auto">
            <a:xfrm>
              <a:off x="3424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8" name="Line 20"/>
            <p:cNvSpPr>
              <a:spLocks noChangeShapeType="1"/>
            </p:cNvSpPr>
            <p:nvPr/>
          </p:nvSpPr>
          <p:spPr bwMode="auto">
            <a:xfrm>
              <a:off x="3787" y="2432"/>
              <a:ext cx="460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19" name="Line 21"/>
            <p:cNvSpPr>
              <a:spLocks noChangeShapeType="1"/>
            </p:cNvSpPr>
            <p:nvPr/>
          </p:nvSpPr>
          <p:spPr bwMode="auto">
            <a:xfrm>
              <a:off x="3424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0" name="Rectangle 22"/>
            <p:cNvSpPr>
              <a:spLocks noChangeArrowheads="1"/>
            </p:cNvSpPr>
            <p:nvPr/>
          </p:nvSpPr>
          <p:spPr bwMode="auto">
            <a:xfrm>
              <a:off x="4241" y="1797"/>
              <a:ext cx="518" cy="726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幂次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系数</a:t>
              </a:r>
              <a:endParaRPr lang="zh-CN" altLang="en-US" sz="2400">
                <a:ea typeface="黑体" panose="02010609060101010101" pitchFamily="49" charset="-122"/>
              </a:endParaRPr>
            </a:p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55321" name="Line 23"/>
            <p:cNvSpPr>
              <a:spLocks noChangeShapeType="1"/>
            </p:cNvSpPr>
            <p:nvPr/>
          </p:nvSpPr>
          <p:spPr bwMode="auto">
            <a:xfrm>
              <a:off x="4241" y="2387"/>
              <a:ext cx="504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2" name="Line 24"/>
            <p:cNvSpPr>
              <a:spLocks noChangeShapeType="1"/>
            </p:cNvSpPr>
            <p:nvPr/>
          </p:nvSpPr>
          <p:spPr bwMode="auto">
            <a:xfrm>
              <a:off x="4241" y="2115"/>
              <a:ext cx="4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323" name="Rectangle 25"/>
            <p:cNvSpPr>
              <a:spLocks noChangeArrowheads="1"/>
            </p:cNvSpPr>
            <p:nvPr/>
          </p:nvSpPr>
          <p:spPr bwMode="auto">
            <a:xfrm>
              <a:off x="4286" y="2251"/>
              <a:ext cx="504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ea typeface="黑体" panose="02010609060101010101" pitchFamily="49" charset="-122"/>
                </a:rPr>
                <a:t>．</a:t>
              </a:r>
              <a:endParaRPr lang="zh-CN" altLang="en-US" sz="2400">
                <a:ea typeface="黑体" panose="02010609060101010101" pitchFamily="49" charset="-122"/>
              </a:endParaRPr>
            </a:p>
          </p:txBody>
        </p:sp>
      </p:grp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F431B77-DC8C-459E-B673-A9AFF94EC333}" type="slidenum">
              <a:rPr lang="en-US" altLang="zh-CN" b="0" smtClean="0"/>
            </a:fld>
            <a:endParaRPr lang="en-US" altLang="zh-CN" b="0"/>
          </a:p>
        </p:txBody>
      </p:sp>
      <p:sp>
        <p:nvSpPr>
          <p:cNvPr id="3" name="文本框 2"/>
          <p:cNvSpPr txBox="1"/>
          <p:nvPr/>
        </p:nvSpPr>
        <p:spPr>
          <a:xfrm>
            <a:off x="23813" y="5564188"/>
            <a:ext cx="8937625" cy="12001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2400" dirty="0"/>
              <a:t>【</a:t>
            </a:r>
            <a:r>
              <a:rPr lang="zh-CN" altLang="en-US" sz="2400" dirty="0"/>
              <a:t>对比实验</a:t>
            </a:r>
            <a:r>
              <a:rPr lang="en-US" altLang="zh-CN" sz="2400" dirty="0"/>
              <a:t>】</a:t>
            </a:r>
            <a:endParaRPr lang="en-US" altLang="zh-CN" sz="2400" dirty="0"/>
          </a:p>
          <a:p>
            <a:pPr>
              <a:defRPr/>
            </a:pPr>
            <a:r>
              <a:rPr lang="zh-CN" altLang="en-US" sz="2400" dirty="0"/>
              <a:t>改写</a:t>
            </a:r>
            <a:r>
              <a:rPr lang="en-US" altLang="zh-CN" sz="2400" dirty="0">
                <a:solidFill>
                  <a:schemeClr val="hlink"/>
                </a:solidFill>
              </a:rPr>
              <a:t>【</a:t>
            </a:r>
            <a:r>
              <a:rPr lang="zh-CN" altLang="en-US" sz="2400" dirty="0">
                <a:solidFill>
                  <a:schemeClr val="hlink"/>
                </a:solidFill>
              </a:rPr>
              <a:t>例</a:t>
            </a:r>
            <a:r>
              <a:rPr lang="en-US" altLang="zh-CN" sz="2400" dirty="0">
                <a:solidFill>
                  <a:schemeClr val="hlink"/>
                </a:solidFill>
              </a:rPr>
              <a:t>1】</a:t>
            </a:r>
            <a:r>
              <a:rPr lang="zh-CN" altLang="en-US" sz="2400" dirty="0">
                <a:solidFill>
                  <a:schemeClr val="hlink"/>
                </a:solidFill>
              </a:rPr>
              <a:t>单向链表操作示例</a:t>
            </a:r>
            <a:r>
              <a:rPr lang="zh-CN" altLang="en-US" sz="2400" dirty="0"/>
              <a:t>中的排序函数</a:t>
            </a:r>
            <a:endParaRPr lang="en-US" altLang="zh-CN" sz="2400" dirty="0"/>
          </a:p>
          <a:p>
            <a:pPr>
              <a:defRPr/>
            </a:pP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struct link*  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sort(</a:t>
            </a:r>
            <a:r>
              <a:rPr lang="en-US" altLang="zh-CN" sz="24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struct link*  head </a:t>
            </a:r>
            <a:r>
              <a:rPr lang="en-US" altLang="zh-CN" sz="2400" kern="100" dirty="0">
                <a:solidFill>
                  <a:srgbClr val="FFFF00"/>
                </a:solidFill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400" dirty="0"/>
              <a:t>——</a:t>
            </a:r>
            <a:r>
              <a:rPr lang="zh-CN" altLang="en-US" sz="2400" dirty="0"/>
              <a:t>加入哨兵结点，排序</a:t>
            </a:r>
            <a:endParaRPr lang="zh-CN" altLang="en-US" sz="2400" dirty="0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3"/>
          <p:cNvSpPr>
            <a:spLocks noChangeArrowheads="1"/>
          </p:cNvSpPr>
          <p:nvPr/>
        </p:nvSpPr>
        <p:spPr bwMode="auto">
          <a:xfrm>
            <a:off x="109538" y="381000"/>
            <a:ext cx="17160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例如多项式</a:t>
            </a:r>
            <a:endParaRPr lang="zh-CN" altLang="en-US" sz="2400">
              <a:ea typeface="黑体" panose="02010609060101010101" pitchFamily="49" charset="-122"/>
            </a:endParaRPr>
          </a:p>
        </p:txBody>
      </p:sp>
      <p:sp>
        <p:nvSpPr>
          <p:cNvPr id="57347" name="Rectangle 4"/>
          <p:cNvSpPr>
            <a:spLocks noChangeArrowheads="1"/>
          </p:cNvSpPr>
          <p:nvPr/>
        </p:nvSpPr>
        <p:spPr bwMode="auto">
          <a:xfrm>
            <a:off x="98425" y="990600"/>
            <a:ext cx="3052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ea typeface="黑体" panose="02010609060101010101" pitchFamily="49" charset="-122"/>
              </a:rPr>
              <a:t>可以表示成如下形式</a:t>
            </a:r>
            <a:r>
              <a:rPr lang="en-US" altLang="zh-CN" sz="2400">
                <a:ea typeface="黑体" panose="02010609060101010101" pitchFamily="49" charset="-122"/>
              </a:rPr>
              <a:t>:</a:t>
            </a:r>
            <a:endParaRPr lang="en-US" altLang="zh-CN" sz="2400">
              <a:ea typeface="黑体" panose="02010609060101010101" pitchFamily="49" charset="-122"/>
            </a:endParaRPr>
          </a:p>
        </p:txBody>
      </p:sp>
      <p:grpSp>
        <p:nvGrpSpPr>
          <p:cNvPr id="57348" name="Group 5"/>
          <p:cNvGrpSpPr/>
          <p:nvPr/>
        </p:nvGrpSpPr>
        <p:grpSpPr bwMode="auto">
          <a:xfrm>
            <a:off x="1082675" y="2286000"/>
            <a:ext cx="8104188" cy="3105150"/>
            <a:chOff x="270" y="1878"/>
            <a:chExt cx="5105" cy="1879"/>
          </a:xfrm>
        </p:grpSpPr>
        <p:sp>
          <p:nvSpPr>
            <p:cNvPr id="57352" name="Rectangle 6"/>
            <p:cNvSpPr>
              <a:spLocks noChangeArrowheads="1"/>
            </p:cNvSpPr>
            <p:nvPr/>
          </p:nvSpPr>
          <p:spPr bwMode="auto">
            <a:xfrm>
              <a:off x="703" y="1878"/>
              <a:ext cx="643" cy="285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2400">
                <a:ea typeface="黑体" panose="02010609060101010101" pitchFamily="49" charset="-122"/>
              </a:endParaRPr>
            </a:p>
          </p:txBody>
        </p:sp>
        <p:grpSp>
          <p:nvGrpSpPr>
            <p:cNvPr id="57353" name="Group 7"/>
            <p:cNvGrpSpPr/>
            <p:nvPr/>
          </p:nvGrpSpPr>
          <p:grpSpPr bwMode="auto">
            <a:xfrm>
              <a:off x="1749" y="1899"/>
              <a:ext cx="661" cy="830"/>
              <a:chOff x="0" y="0"/>
              <a:chExt cx="20000" cy="20000"/>
            </a:xfrm>
          </p:grpSpPr>
          <p:sp>
            <p:nvSpPr>
              <p:cNvPr id="57374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   </a:t>
                </a:r>
                <a:r>
                  <a: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rPr>
                  <a:t>5</a:t>
                </a:r>
                <a:endParaRPr lang="en-US" altLang="zh-CN" sz="2400">
                  <a:solidFill>
                    <a:srgbClr val="FF0000"/>
                  </a:solidFill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6.5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57375" name="Line 9"/>
              <p:cNvSpPr>
                <a:spLocks noChangeShapeType="1"/>
              </p:cNvSpPr>
              <p:nvPr/>
            </p:nvSpPr>
            <p:spPr bwMode="auto">
              <a:xfrm>
                <a:off x="555" y="13812"/>
                <a:ext cx="19445" cy="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54" name="Group 10"/>
            <p:cNvGrpSpPr/>
            <p:nvPr/>
          </p:nvGrpSpPr>
          <p:grpSpPr bwMode="auto">
            <a:xfrm>
              <a:off x="2757" y="1892"/>
              <a:ext cx="662" cy="858"/>
              <a:chOff x="0" y="0"/>
              <a:chExt cx="20000" cy="20000"/>
            </a:xfrm>
          </p:grpSpPr>
          <p:sp>
            <p:nvSpPr>
              <p:cNvPr id="57372" name="Rectangle 11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F0000"/>
                    </a:solidFill>
                    <a:ea typeface="黑体" panose="02010609060101010101" pitchFamily="49" charset="-122"/>
                  </a:rPr>
                  <a:t>    </a:t>
                </a:r>
                <a:r>
                  <a: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rPr>
                  <a:t>2</a:t>
                </a:r>
                <a:endParaRPr lang="en-US" altLang="zh-CN" sz="2400">
                  <a:solidFill>
                    <a:srgbClr val="F52EFC"/>
                  </a:solidFill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3.4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57373" name="Line 12"/>
              <p:cNvSpPr>
                <a:spLocks noChangeShapeType="1"/>
              </p:cNvSpPr>
              <p:nvPr/>
            </p:nvSpPr>
            <p:spPr bwMode="auto">
              <a:xfrm>
                <a:off x="555" y="13821"/>
                <a:ext cx="19445" cy="2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55" name="Line 13"/>
            <p:cNvSpPr>
              <a:spLocks noChangeShapeType="1"/>
            </p:cNvSpPr>
            <p:nvPr/>
          </p:nvSpPr>
          <p:spPr bwMode="auto">
            <a:xfrm>
              <a:off x="2116" y="2608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6" name="Line 14"/>
            <p:cNvSpPr>
              <a:spLocks noChangeShapeType="1"/>
            </p:cNvSpPr>
            <p:nvPr/>
          </p:nvSpPr>
          <p:spPr bwMode="auto">
            <a:xfrm>
              <a:off x="3180" y="2613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7" name="Line 15"/>
            <p:cNvSpPr>
              <a:spLocks noChangeShapeType="1"/>
            </p:cNvSpPr>
            <p:nvPr/>
          </p:nvSpPr>
          <p:spPr bwMode="auto">
            <a:xfrm>
              <a:off x="4088" y="2613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8" name="Line 16"/>
            <p:cNvSpPr>
              <a:spLocks noChangeShapeType="1"/>
            </p:cNvSpPr>
            <p:nvPr/>
          </p:nvSpPr>
          <p:spPr bwMode="auto">
            <a:xfrm>
              <a:off x="1749" y="2189"/>
              <a:ext cx="679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59" name="Line 17"/>
            <p:cNvSpPr>
              <a:spLocks noChangeShapeType="1"/>
            </p:cNvSpPr>
            <p:nvPr/>
          </p:nvSpPr>
          <p:spPr bwMode="auto">
            <a:xfrm>
              <a:off x="2757" y="2189"/>
              <a:ext cx="682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57360" name="Group 18"/>
            <p:cNvGrpSpPr/>
            <p:nvPr/>
          </p:nvGrpSpPr>
          <p:grpSpPr bwMode="auto">
            <a:xfrm>
              <a:off x="3683" y="1890"/>
              <a:ext cx="688" cy="849"/>
              <a:chOff x="4558" y="1886"/>
              <a:chExt cx="309" cy="1226"/>
            </a:xfrm>
          </p:grpSpPr>
          <p:grpSp>
            <p:nvGrpSpPr>
              <p:cNvPr id="57368" name="Group 19"/>
              <p:cNvGrpSpPr/>
              <p:nvPr/>
            </p:nvGrpSpPr>
            <p:grpSpPr bwMode="auto">
              <a:xfrm>
                <a:off x="4570" y="1886"/>
                <a:ext cx="297" cy="1226"/>
                <a:chOff x="0" y="0"/>
                <a:chExt cx="20000" cy="20000"/>
              </a:xfrm>
            </p:grpSpPr>
            <p:sp>
              <p:nvSpPr>
                <p:cNvPr id="57370" name="Rectangle 20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F52EFC"/>
                      </a:solidFill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endParaRPr>
                </a:p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371" name="Line 21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9" name="Line 22"/>
              <p:cNvSpPr>
                <a:spLocks noChangeShapeType="1"/>
              </p:cNvSpPr>
              <p:nvPr/>
            </p:nvSpPr>
            <p:spPr bwMode="auto">
              <a:xfrm>
                <a:off x="4558" y="2296"/>
                <a:ext cx="305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57361" name="Group 23"/>
            <p:cNvGrpSpPr/>
            <p:nvPr/>
          </p:nvGrpSpPr>
          <p:grpSpPr bwMode="auto">
            <a:xfrm>
              <a:off x="4694" y="1890"/>
              <a:ext cx="681" cy="849"/>
              <a:chOff x="5023" y="1886"/>
              <a:chExt cx="306" cy="1226"/>
            </a:xfrm>
          </p:grpSpPr>
          <p:grpSp>
            <p:nvGrpSpPr>
              <p:cNvPr id="57364" name="Group 24"/>
              <p:cNvGrpSpPr/>
              <p:nvPr/>
            </p:nvGrpSpPr>
            <p:grpSpPr bwMode="auto">
              <a:xfrm>
                <a:off x="5023" y="1886"/>
                <a:ext cx="298" cy="1226"/>
                <a:chOff x="0" y="0"/>
                <a:chExt cx="20000" cy="20000"/>
              </a:xfrm>
            </p:grpSpPr>
            <p:sp>
              <p:nvSpPr>
                <p:cNvPr id="57366" name="Rectangle 25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solidFill>
                        <a:srgbClr val="FF0000"/>
                      </a:solidFill>
                      <a:ea typeface="黑体" panose="02010609060101010101" pitchFamily="49" charset="-122"/>
                    </a:rPr>
                    <a:t>    </a:t>
                  </a:r>
                  <a:r>
                    <a:rPr lang="en-US" altLang="zh-CN" sz="2400">
                      <a:solidFill>
                        <a:srgbClr val="F52EFC"/>
                      </a:solidFill>
                      <a:ea typeface="黑体" panose="02010609060101010101" pitchFamily="49" charset="-122"/>
                    </a:rPr>
                    <a:t>0</a:t>
                  </a:r>
                  <a:endParaRPr lang="en-US" altLang="zh-CN" sz="2400">
                    <a:solidFill>
                      <a:srgbClr val="F52EFC"/>
                    </a:solidFill>
                    <a:ea typeface="黑体" panose="02010609060101010101" pitchFamily="49" charset="-122"/>
                  </a:endParaRPr>
                </a:p>
                <a:p>
                  <a:pPr algn="ctr"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0.5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     ·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57367" name="Line 26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57365" name="Line 27"/>
              <p:cNvSpPr>
                <a:spLocks noChangeShapeType="1"/>
              </p:cNvSpPr>
              <p:nvPr/>
            </p:nvSpPr>
            <p:spPr bwMode="auto">
              <a:xfrm>
                <a:off x="5023" y="2274"/>
                <a:ext cx="306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57362" name="Line 28"/>
            <p:cNvSpPr>
              <a:spLocks noChangeShapeType="1"/>
            </p:cNvSpPr>
            <p:nvPr/>
          </p:nvSpPr>
          <p:spPr bwMode="auto">
            <a:xfrm>
              <a:off x="1126" y="2021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363" name="Rectangle 29"/>
            <p:cNvSpPr>
              <a:spLocks noChangeArrowheads="1"/>
            </p:cNvSpPr>
            <p:nvPr/>
          </p:nvSpPr>
          <p:spPr bwMode="auto">
            <a:xfrm>
              <a:off x="270" y="3105"/>
              <a:ext cx="4433" cy="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>
                  <a:ea typeface="黑体" panose="02010609060101010101" pitchFamily="49" charset="-122"/>
                </a:rPr>
                <a:t>编函数，实现多项式加法：</a:t>
              </a:r>
              <a:endParaRPr lang="en-US" altLang="zh-CN">
                <a:ea typeface="黑体" panose="02010609060101010101" pitchFamily="49" charset="-122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>
                  <a:ea typeface="黑体" panose="02010609060101010101" pitchFamily="49" charset="-122"/>
                </a:rPr>
                <a:t>	            </a:t>
              </a:r>
              <a:r>
                <a:rPr lang="en-US" altLang="zh-CN">
                  <a:solidFill>
                    <a:srgbClr val="FFFF00"/>
                  </a:solidFill>
                  <a:ea typeface="黑体" panose="02010609060101010101" pitchFamily="49" charset="-122"/>
                </a:rPr>
                <a:t>p(X)+q(X) =&gt; s(X) </a:t>
              </a:r>
              <a:endParaRPr lang="zh-CN" altLang="en-US">
                <a:solidFill>
                  <a:srgbClr val="FFFF00"/>
                </a:solidFill>
                <a:ea typeface="黑体" panose="02010609060101010101" pitchFamily="49" charset="-122"/>
              </a:endParaRPr>
            </a:p>
          </p:txBody>
        </p:sp>
      </p:grpSp>
      <p:sp>
        <p:nvSpPr>
          <p:cNvPr id="32" name="灯片编号占位符 3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C3E4F168-D8D6-442B-AFB1-B1A643CAB309}" type="slidenum">
              <a:rPr lang="zh-CN" altLang="en-US" b="0" smtClean="0"/>
            </a:fld>
            <a:endParaRPr lang="en-US" altLang="zh-CN" b="0"/>
          </a:p>
        </p:txBody>
      </p:sp>
      <p:pic>
        <p:nvPicPr>
          <p:cNvPr id="57351" name="Picture 33" descr="C:\Users\chuny\Desktop\图片2.png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6575" y="304800"/>
            <a:ext cx="6656388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9160084C-9F70-4653-89C8-5DF591A27E76}" type="slidenum">
              <a:rPr lang="zh-CN" altLang="en-US" b="0" smtClean="0"/>
            </a:fld>
            <a:endParaRPr lang="en-US" altLang="zh-CN" b="0"/>
          </a:p>
        </p:txBody>
      </p:sp>
      <p:pic>
        <p:nvPicPr>
          <p:cNvPr id="59395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-55563"/>
            <a:ext cx="9144000" cy="691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397" name="TextBox 2"/>
          <p:cNvSpPr txBox="1">
            <a:spLocks noChangeArrowheads="1"/>
          </p:cNvSpPr>
          <p:nvPr/>
        </p:nvSpPr>
        <p:spPr bwMode="auto">
          <a:xfrm>
            <a:off x="4943475" y="908050"/>
            <a:ext cx="487045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p(x)=6.5X</a:t>
            </a:r>
            <a:r>
              <a:rPr lang="en-US" altLang="zh-CN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>
                <a:latin typeface="Arial" panose="020B0604020202020204" pitchFamily="34" charset="0"/>
              </a:rPr>
              <a:t>+3.4X</a:t>
            </a:r>
            <a:r>
              <a:rPr lang="en-US" altLang="zh-CN" baseline="3000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+X+0.5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36198" name="TextBox 8"/>
          <p:cNvSpPr txBox="1">
            <a:spLocks noChangeArrowheads="1"/>
          </p:cNvSpPr>
          <p:nvPr/>
        </p:nvSpPr>
        <p:spPr bwMode="auto">
          <a:xfrm>
            <a:off x="4725988" y="2997200"/>
            <a:ext cx="5942012" cy="104616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q(x)=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000" dirty="0">
                <a:latin typeface="Arial" panose="020B0604020202020204" pitchFamily="34" charset="0"/>
              </a:rPr>
              <a:t>1.1X</a:t>
            </a:r>
            <a:r>
              <a:rPr lang="en-US" altLang="zh-CN" sz="3000" baseline="30000" dirty="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 dirty="0">
                <a:latin typeface="Arial" panose="020B0604020202020204" pitchFamily="34" charset="0"/>
              </a:rPr>
              <a:t>+1.2X</a:t>
            </a:r>
            <a:r>
              <a:rPr lang="en-US" altLang="zh-CN" sz="30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 dirty="0">
                <a:latin typeface="Arial" panose="020B0604020202020204" pitchFamily="34" charset="0"/>
              </a:rPr>
              <a:t>+1.3X</a:t>
            </a:r>
            <a:r>
              <a:rPr lang="en-US" altLang="zh-CN" sz="3000" baseline="300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 dirty="0">
                <a:latin typeface="Arial" panose="020B0604020202020204" pitchFamily="34" charset="0"/>
              </a:rPr>
              <a:t>+1.4X</a:t>
            </a:r>
            <a:r>
              <a:rPr lang="en-US" altLang="zh-CN" sz="3000" baseline="30000" dirty="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 dirty="0">
                <a:latin typeface="Arial" panose="020B0604020202020204" pitchFamily="34" charset="0"/>
              </a:rPr>
              <a:t>+1.5X</a:t>
            </a:r>
            <a:endParaRPr lang="zh-CN" altLang="en-US" sz="3000" dirty="0">
              <a:latin typeface="Arial" panose="020B0604020202020204" pitchFamily="34" charset="0"/>
            </a:endParaRPr>
          </a:p>
        </p:txBody>
      </p:sp>
      <p:sp>
        <p:nvSpPr>
          <p:cNvPr id="59399" name="TextBox 9"/>
          <p:cNvSpPr txBox="1">
            <a:spLocks noChangeArrowheads="1"/>
          </p:cNvSpPr>
          <p:nvPr/>
        </p:nvSpPr>
        <p:spPr bwMode="auto">
          <a:xfrm>
            <a:off x="3287713" y="5476875"/>
            <a:ext cx="7380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s(x)=</a:t>
            </a:r>
            <a:r>
              <a:rPr lang="en-US" altLang="zh-CN" sz="3000">
                <a:latin typeface="Arial" panose="020B0604020202020204" pitchFamily="34" charset="0"/>
              </a:rPr>
              <a:t>7.6X</a:t>
            </a:r>
            <a:r>
              <a:rPr lang="en-US" altLang="zh-CN" sz="3000" baseline="30000">
                <a:solidFill>
                  <a:srgbClr val="FF0000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+4.8X</a:t>
            </a:r>
            <a:r>
              <a:rPr lang="en-US" altLang="zh-CN" sz="3000" baseline="30000">
                <a:solidFill>
                  <a:srgbClr val="FFFF00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+2.5X+0.5</a:t>
            </a:r>
            <a:endParaRPr lang="zh-CN" altLang="en-US" sz="30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ChangeArrowheads="1"/>
          </p:cNvSpPr>
          <p:nvPr/>
        </p:nvSpPr>
        <p:spPr bwMode="auto">
          <a:xfrm>
            <a:off x="422275" y="477838"/>
            <a:ext cx="8677275" cy="4087812"/>
          </a:xfrm>
          <a:prstGeom prst="rect">
            <a:avLst/>
          </a:prstGeom>
          <a:noFill/>
          <a:ln>
            <a:noFill/>
          </a:ln>
        </p:spPr>
        <p:txBody>
          <a:bodyPr lIns="12700" tIns="12700" rIns="12700" bIns="12700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2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zh-CN" altLang="en-US" dirty="0">
                <a:ea typeface="黑体" panose="02010609060101010101" pitchFamily="49" charset="-122"/>
              </a:rPr>
              <a:t>设有类型说明：</a:t>
            </a:r>
            <a:endParaRPr lang="zh-CN" altLang="en-US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 err="1">
                <a:solidFill>
                  <a:srgbClr val="FFFF00"/>
                </a:solidFill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  item { </a:t>
            </a:r>
            <a:endParaRPr lang="en-US" altLang="zh-CN" sz="240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float  </a:t>
            </a:r>
            <a:r>
              <a:rPr lang="en-US" altLang="zh-CN" sz="2400" dirty="0" err="1">
                <a:ea typeface="黑体" panose="02010609060101010101" pitchFamily="49" charset="-122"/>
              </a:rPr>
              <a:t>coef</a:t>
            </a:r>
            <a:r>
              <a:rPr lang="en-US" altLang="zh-CN" sz="2400" dirty="0">
                <a:ea typeface="黑体" panose="02010609060101010101" pitchFamily="49" charset="-122"/>
              </a:rPr>
              <a:t>;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系数</a:t>
            </a:r>
            <a:endParaRPr lang="en-US" altLang="zh-CN" sz="2400" dirty="0">
              <a:solidFill>
                <a:schemeClr val="tx1">
                  <a:lumMod val="65000"/>
                </a:schemeClr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</a:t>
            </a:r>
            <a:r>
              <a:rPr lang="en-US" altLang="zh-CN" sz="2400" dirty="0" err="1">
                <a:ea typeface="黑体" panose="02010609060101010101" pitchFamily="49" charset="-122"/>
              </a:rPr>
              <a:t>int</a:t>
            </a:r>
            <a:r>
              <a:rPr lang="en-US" altLang="zh-CN" sz="2400" dirty="0">
                <a:ea typeface="黑体" panose="02010609060101010101" pitchFamily="49" charset="-122"/>
              </a:rPr>
              <a:t>  </a:t>
            </a:r>
            <a:r>
              <a:rPr lang="en-US" altLang="zh-CN" sz="2400" dirty="0" err="1">
                <a:ea typeface="黑体" panose="02010609060101010101" pitchFamily="49" charset="-122"/>
              </a:rPr>
              <a:t>exp</a:t>
            </a:r>
            <a:r>
              <a:rPr lang="en-US" altLang="zh-CN" sz="2400" dirty="0">
                <a:ea typeface="黑体" panose="02010609060101010101" pitchFamily="49" charset="-122"/>
              </a:rPr>
              <a:t>; </a:t>
            </a:r>
            <a:r>
              <a:rPr lang="en-US" altLang="zh-CN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//</a:t>
            </a:r>
            <a:r>
              <a:rPr lang="zh-CN" altLang="en-US" sz="2400" dirty="0">
                <a:solidFill>
                  <a:schemeClr val="tx1">
                    <a:lumMod val="65000"/>
                  </a:schemeClr>
                </a:solidFill>
                <a:ea typeface="黑体" panose="02010609060101010101" pitchFamily="49" charset="-122"/>
              </a:rPr>
              <a:t>幂次</a:t>
            </a:r>
            <a:r>
              <a:rPr lang="en-US" altLang="zh-CN" sz="2400" dirty="0">
                <a:ea typeface="黑体" panose="02010609060101010101" pitchFamily="49" charset="-122"/>
              </a:rPr>
              <a:t>	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        </a:t>
            </a:r>
            <a:r>
              <a:rPr lang="en-US" altLang="zh-CN" sz="2400" dirty="0" err="1"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ea typeface="黑体" panose="02010609060101010101" pitchFamily="49" charset="-122"/>
              </a:rPr>
              <a:t>  item  *next;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};</a:t>
            </a:r>
            <a:endParaRPr lang="en-US" altLang="zh-CN" sz="2400" dirty="0">
              <a:solidFill>
                <a:srgbClr val="FFFF00"/>
              </a:solidFill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en-US" altLang="zh-CN" sz="2400" dirty="0">
                <a:ea typeface="黑体" panose="02010609060101010101" pitchFamily="49" charset="-122"/>
              </a:rPr>
              <a:t>typedef  </a:t>
            </a:r>
            <a:r>
              <a:rPr lang="en-US" altLang="zh-CN" sz="2400" dirty="0" err="1">
                <a:solidFill>
                  <a:srgbClr val="FFFF00"/>
                </a:solidFill>
                <a:ea typeface="黑体" panose="02010609060101010101" pitchFamily="49" charset="-122"/>
              </a:rPr>
              <a:t>struct</a:t>
            </a:r>
            <a:r>
              <a:rPr lang="en-US" altLang="zh-CN" sz="2400" dirty="0">
                <a:solidFill>
                  <a:srgbClr val="FFFF00"/>
                </a:solidFill>
                <a:ea typeface="黑体" panose="02010609060101010101" pitchFamily="49" charset="-122"/>
              </a:rPr>
              <a:t> item * </a:t>
            </a:r>
            <a:r>
              <a:rPr lang="en-US" altLang="zh-CN" sz="2400" dirty="0" err="1">
                <a:ea typeface="黑体" panose="02010609060101010101" pitchFamily="49" charset="-122"/>
              </a:rPr>
              <a:t>polynome</a:t>
            </a:r>
            <a:r>
              <a:rPr lang="en-US" altLang="zh-CN" sz="2400" dirty="0">
                <a:ea typeface="黑体" panose="02010609060101010101" pitchFamily="49" charset="-122"/>
              </a:rPr>
              <a:t>;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lvl="4" eaLnBrk="1" hangingPunct="1">
              <a:spcBef>
                <a:spcPct val="0"/>
              </a:spcBef>
              <a:buClrTx/>
              <a:buFontTx/>
              <a:buNone/>
              <a:defRPr/>
            </a:pPr>
            <a:endParaRPr lang="en-US" altLang="zh-CN" sz="2400" dirty="0">
              <a:solidFill>
                <a:srgbClr val="F52EFC"/>
              </a:solidFill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solidFill>
                  <a:srgbClr val="F52EFC"/>
                </a:solidFill>
                <a:ea typeface="黑体" panose="02010609060101010101" pitchFamily="49" charset="-122"/>
              </a:rPr>
              <a:t>哨兵结点（哨兵项、哨兵变量）：</a:t>
            </a:r>
            <a:endParaRPr lang="en-US" altLang="zh-CN" sz="2400" dirty="0">
              <a:solidFill>
                <a:srgbClr val="F52EFC"/>
              </a:solidFill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在链表的链首多加一节，使算法统一</a:t>
            </a:r>
            <a:endParaRPr lang="en-US" altLang="zh-CN" sz="2400" dirty="0">
              <a:ea typeface="黑体" panose="02010609060101010101" pitchFamily="49" charset="-122"/>
            </a:endParaRPr>
          </a:p>
          <a:p>
            <a:pPr marL="342900" indent="-342900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ea typeface="黑体" panose="02010609060101010101" pitchFamily="49" charset="-122"/>
              </a:rPr>
              <a:t>该节不存储有效的链表项的值，本程序的哨兵项是空值</a:t>
            </a:r>
            <a:endParaRPr lang="en-US" altLang="zh-CN" sz="2400" dirty="0">
              <a:ea typeface="黑体" panose="02010609060101010101" pitchFamily="49" charset="-122"/>
            </a:endParaRPr>
          </a:p>
        </p:txBody>
      </p:sp>
      <p:grpSp>
        <p:nvGrpSpPr>
          <p:cNvPr id="60419" name="Group 3"/>
          <p:cNvGrpSpPr/>
          <p:nvPr/>
        </p:nvGrpSpPr>
        <p:grpSpPr bwMode="auto">
          <a:xfrm>
            <a:off x="2998788" y="5229225"/>
            <a:ext cx="7489825" cy="1384300"/>
            <a:chOff x="385" y="3249"/>
            <a:chExt cx="4718" cy="872"/>
          </a:xfrm>
        </p:grpSpPr>
        <p:grpSp>
          <p:nvGrpSpPr>
            <p:cNvPr id="60426" name="Group 4"/>
            <p:cNvGrpSpPr/>
            <p:nvPr/>
          </p:nvGrpSpPr>
          <p:grpSpPr bwMode="auto">
            <a:xfrm>
              <a:off x="1477" y="3270"/>
              <a:ext cx="661" cy="830"/>
              <a:chOff x="0" y="0"/>
              <a:chExt cx="20000" cy="20000"/>
            </a:xfrm>
          </p:grpSpPr>
          <p:sp>
            <p:nvSpPr>
              <p:cNvPr id="60450" name="Rectangle 5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6.5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0451" name="Line 6"/>
              <p:cNvSpPr>
                <a:spLocks noChangeShapeType="1"/>
              </p:cNvSpPr>
              <p:nvPr/>
            </p:nvSpPr>
            <p:spPr bwMode="auto">
              <a:xfrm>
                <a:off x="555" y="13812"/>
                <a:ext cx="19445" cy="25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27" name="Group 7"/>
            <p:cNvGrpSpPr/>
            <p:nvPr/>
          </p:nvGrpSpPr>
          <p:grpSpPr bwMode="auto">
            <a:xfrm>
              <a:off x="2485" y="3263"/>
              <a:ext cx="662" cy="858"/>
              <a:chOff x="0" y="0"/>
              <a:chExt cx="20000" cy="20000"/>
            </a:xfrm>
          </p:grpSpPr>
          <p:sp>
            <p:nvSpPr>
              <p:cNvPr id="60448" name="Rectangle 8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2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3.4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60449" name="Line 9"/>
              <p:cNvSpPr>
                <a:spLocks noChangeShapeType="1"/>
              </p:cNvSpPr>
              <p:nvPr/>
            </p:nvSpPr>
            <p:spPr bwMode="auto">
              <a:xfrm>
                <a:off x="555" y="13821"/>
                <a:ext cx="19445" cy="23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28" name="Line 10"/>
            <p:cNvSpPr>
              <a:spLocks noChangeShapeType="1"/>
            </p:cNvSpPr>
            <p:nvPr/>
          </p:nvSpPr>
          <p:spPr bwMode="auto">
            <a:xfrm>
              <a:off x="1844" y="3979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29" name="Line 11"/>
            <p:cNvSpPr>
              <a:spLocks noChangeShapeType="1"/>
            </p:cNvSpPr>
            <p:nvPr/>
          </p:nvSpPr>
          <p:spPr bwMode="auto">
            <a:xfrm>
              <a:off x="2908" y="3984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0" name="Line 12"/>
            <p:cNvSpPr>
              <a:spLocks noChangeShapeType="1"/>
            </p:cNvSpPr>
            <p:nvPr/>
          </p:nvSpPr>
          <p:spPr bwMode="auto">
            <a:xfrm>
              <a:off x="3816" y="3984"/>
              <a:ext cx="588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1" name="Line 13"/>
            <p:cNvSpPr>
              <a:spLocks noChangeShapeType="1"/>
            </p:cNvSpPr>
            <p:nvPr/>
          </p:nvSpPr>
          <p:spPr bwMode="auto">
            <a:xfrm>
              <a:off x="1477" y="3560"/>
              <a:ext cx="679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432" name="Line 14"/>
            <p:cNvSpPr>
              <a:spLocks noChangeShapeType="1"/>
            </p:cNvSpPr>
            <p:nvPr/>
          </p:nvSpPr>
          <p:spPr bwMode="auto">
            <a:xfrm>
              <a:off x="2485" y="3560"/>
              <a:ext cx="682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33" name="Group 15"/>
            <p:cNvGrpSpPr/>
            <p:nvPr/>
          </p:nvGrpSpPr>
          <p:grpSpPr bwMode="auto">
            <a:xfrm>
              <a:off x="3411" y="3261"/>
              <a:ext cx="688" cy="849"/>
              <a:chOff x="4558" y="1886"/>
              <a:chExt cx="309" cy="1226"/>
            </a:xfrm>
          </p:grpSpPr>
          <p:grpSp>
            <p:nvGrpSpPr>
              <p:cNvPr id="60444" name="Group 16"/>
              <p:cNvGrpSpPr/>
              <p:nvPr/>
            </p:nvGrpSpPr>
            <p:grpSpPr bwMode="auto">
              <a:xfrm>
                <a:off x="4570" y="1886"/>
                <a:ext cx="297" cy="1226"/>
                <a:chOff x="0" y="0"/>
                <a:chExt cx="20000" cy="20000"/>
              </a:xfrm>
            </p:grpSpPr>
            <p:sp>
              <p:nvSpPr>
                <p:cNvPr id="60446" name="Rectangle 17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1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447" name="Line 18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45" name="Line 19"/>
              <p:cNvSpPr>
                <a:spLocks noChangeShapeType="1"/>
              </p:cNvSpPr>
              <p:nvPr/>
            </p:nvSpPr>
            <p:spPr bwMode="auto">
              <a:xfrm>
                <a:off x="4558" y="2296"/>
                <a:ext cx="305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60434" name="Group 20"/>
            <p:cNvGrpSpPr/>
            <p:nvPr/>
          </p:nvGrpSpPr>
          <p:grpSpPr bwMode="auto">
            <a:xfrm>
              <a:off x="4422" y="3261"/>
              <a:ext cx="681" cy="849"/>
              <a:chOff x="5023" y="1886"/>
              <a:chExt cx="306" cy="1226"/>
            </a:xfrm>
          </p:grpSpPr>
          <p:grpSp>
            <p:nvGrpSpPr>
              <p:cNvPr id="60440" name="Group 21"/>
              <p:cNvGrpSpPr/>
              <p:nvPr/>
            </p:nvGrpSpPr>
            <p:grpSpPr bwMode="auto">
              <a:xfrm>
                <a:off x="5023" y="1886"/>
                <a:ext cx="298" cy="1226"/>
                <a:chOff x="0" y="0"/>
                <a:chExt cx="20000" cy="20000"/>
              </a:xfrm>
            </p:grpSpPr>
            <p:sp>
              <p:nvSpPr>
                <p:cNvPr id="60442" name="Rectangle 22"/>
                <p:cNvSpPr>
                  <a:spLocks noChangeArrowheads="1"/>
                </p:cNvSpPr>
                <p:nvPr/>
              </p:nvSpPr>
              <p:spPr bwMode="auto">
                <a:xfrm>
                  <a:off x="0" y="0"/>
                  <a:ext cx="20000" cy="20000"/>
                </a:xfrm>
                <a:prstGeom prst="rect">
                  <a:avLst/>
                </a:prstGeom>
                <a:noFill/>
                <a:ln w="57150">
                  <a:solidFill>
                    <a:schemeClr val="tx1"/>
                  </a:solidFill>
                  <a:miter lim="800000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12700" tIns="12700" rIns="12700" bIns="12700"/>
                <a:lstStyle>
                  <a:lvl1pPr>
                    <a:spcBef>
                      <a:spcPct val="20000"/>
                    </a:spcBef>
                    <a:buClr>
                      <a:schemeClr val="hlink"/>
                    </a:buClr>
                    <a:buSzPct val="8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hlink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0.5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  <a:p>
                  <a:pPr eaLnBrk="1" hangingPunct="1">
                    <a:lnSpc>
                      <a:spcPct val="13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zh-CN" sz="2400">
                      <a:ea typeface="黑体" panose="02010609060101010101" pitchFamily="49" charset="-122"/>
                    </a:rPr>
                    <a:t>·</a:t>
                  </a:r>
                  <a:endParaRPr lang="en-US" altLang="zh-CN" sz="2400">
                    <a:ea typeface="黑体" panose="02010609060101010101" pitchFamily="49" charset="-122"/>
                  </a:endParaRPr>
                </a:p>
              </p:txBody>
            </p:sp>
            <p:sp>
              <p:nvSpPr>
                <p:cNvPr id="60443" name="Line 23"/>
                <p:cNvSpPr>
                  <a:spLocks noChangeShapeType="1"/>
                </p:cNvSpPr>
                <p:nvPr/>
              </p:nvSpPr>
              <p:spPr bwMode="auto">
                <a:xfrm>
                  <a:off x="555" y="13817"/>
                  <a:ext cx="19445" cy="24"/>
                </a:xfrm>
                <a:prstGeom prst="line">
                  <a:avLst/>
                </a:prstGeom>
                <a:noFill/>
                <a:ln w="5715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0441" name="Line 24"/>
              <p:cNvSpPr>
                <a:spLocks noChangeShapeType="1"/>
              </p:cNvSpPr>
              <p:nvPr/>
            </p:nvSpPr>
            <p:spPr bwMode="auto">
              <a:xfrm>
                <a:off x="5023" y="2274"/>
                <a:ext cx="306" cy="2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0435" name="Line 25"/>
            <p:cNvSpPr>
              <a:spLocks noChangeShapeType="1"/>
            </p:cNvSpPr>
            <p:nvPr/>
          </p:nvSpPr>
          <p:spPr bwMode="auto">
            <a:xfrm>
              <a:off x="839" y="3974"/>
              <a:ext cx="588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60436" name="Group 26"/>
            <p:cNvGrpSpPr/>
            <p:nvPr/>
          </p:nvGrpSpPr>
          <p:grpSpPr bwMode="auto">
            <a:xfrm>
              <a:off x="385" y="3249"/>
              <a:ext cx="661" cy="830"/>
              <a:chOff x="0" y="0"/>
              <a:chExt cx="20000" cy="20000"/>
            </a:xfrm>
          </p:grpSpPr>
          <p:sp>
            <p:nvSpPr>
              <p:cNvPr id="2" name="Rectangle 2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en-US" altLang="zh-CN">
                  <a:latin typeface="Arial" panose="020B0604020202020204" pitchFamily="34" charset="0"/>
                </a:endParaRPr>
              </a:p>
              <a:p>
                <a:pPr eaLnBrk="1" hangingPunct="1">
                  <a:defRPr/>
                </a:pPr>
                <a:endParaRPr lang="en-US" altLang="zh-CN">
                  <a:latin typeface="Arial" panose="020B0604020202020204" pitchFamily="34" charset="0"/>
                </a:endParaRPr>
              </a:p>
            </p:txBody>
          </p:sp>
          <p:sp>
            <p:nvSpPr>
              <p:cNvPr id="81941" name="Line 28"/>
              <p:cNvSpPr>
                <a:spLocks noChangeShapeType="1"/>
              </p:cNvSpPr>
              <p:nvPr/>
            </p:nvSpPr>
            <p:spPr bwMode="auto">
              <a:xfrm>
                <a:off x="545" y="13807"/>
                <a:ext cx="19455" cy="24"/>
              </a:xfrm>
              <a:prstGeom prst="line">
                <a:avLst/>
              </a:prstGeom>
              <a:noFill/>
              <a:ln w="57150">
                <a:solidFill>
                  <a:schemeClr val="accent6">
                    <a:lumMod val="60000"/>
                    <a:lumOff val="40000"/>
                  </a:schemeClr>
                </a:solidFill>
                <a:round/>
                <a:headEnd type="none" w="sm" len="sm"/>
                <a:tailEnd type="none" w="sm" len="sm"/>
              </a:ln>
            </p:spPr>
            <p:txBody>
              <a:bodyPr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3" name="Line 29"/>
            <p:cNvSpPr>
              <a:spLocks noChangeShapeType="1"/>
            </p:cNvSpPr>
            <p:nvPr/>
          </p:nvSpPr>
          <p:spPr bwMode="auto">
            <a:xfrm>
              <a:off x="385" y="3566"/>
              <a:ext cx="679" cy="1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60420" name="Rectangle 30"/>
          <p:cNvSpPr>
            <a:spLocks noChangeArrowheads="1"/>
          </p:cNvSpPr>
          <p:nvPr/>
        </p:nvSpPr>
        <p:spPr bwMode="auto">
          <a:xfrm>
            <a:off x="1524000" y="5300663"/>
            <a:ext cx="1020763" cy="452437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60421" name="Line 31"/>
          <p:cNvSpPr>
            <a:spLocks noChangeShapeType="1"/>
          </p:cNvSpPr>
          <p:nvPr/>
        </p:nvSpPr>
        <p:spPr bwMode="auto">
          <a:xfrm>
            <a:off x="2063750" y="5516563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灯片编号占位符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80B9DC1B-B901-4EC6-AB89-E3A0A63BF33A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0424" name="TextBox 1"/>
          <p:cNvSpPr txBox="1">
            <a:spLocks noChangeArrowheads="1"/>
          </p:cNvSpPr>
          <p:nvPr/>
        </p:nvSpPr>
        <p:spPr bwMode="auto">
          <a:xfrm>
            <a:off x="2817813" y="47672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52EFC"/>
                </a:solidFill>
                <a:latin typeface="Arial" panose="020B0604020202020204" pitchFamily="34" charset="0"/>
              </a:rPr>
              <a:t>哨兵结点</a:t>
            </a:r>
            <a:endParaRPr lang="zh-CN" altLang="en-US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60425" name="TextBox 34"/>
          <p:cNvSpPr txBox="1">
            <a:spLocks noChangeArrowheads="1"/>
          </p:cNvSpPr>
          <p:nvPr/>
        </p:nvSpPr>
        <p:spPr bwMode="auto">
          <a:xfrm>
            <a:off x="1476375" y="4852988"/>
            <a:ext cx="11160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52EFC"/>
                </a:solidFill>
                <a:latin typeface="Arial" panose="020B0604020202020204" pitchFamily="34" charset="0"/>
              </a:rPr>
              <a:t>表头指针</a:t>
            </a:r>
            <a:endParaRPr lang="zh-CN" altLang="en-US" sz="18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6" name="Group 2"/>
          <p:cNvGrpSpPr/>
          <p:nvPr/>
        </p:nvGrpSpPr>
        <p:grpSpPr bwMode="auto">
          <a:xfrm>
            <a:off x="1400175" y="1319213"/>
            <a:ext cx="8893175" cy="4699000"/>
            <a:chOff x="158" y="185"/>
            <a:chExt cx="5602" cy="2960"/>
          </a:xfrm>
        </p:grpSpPr>
        <p:grpSp>
          <p:nvGrpSpPr>
            <p:cNvPr id="62474" name="Group 3"/>
            <p:cNvGrpSpPr/>
            <p:nvPr/>
          </p:nvGrpSpPr>
          <p:grpSpPr bwMode="auto">
            <a:xfrm>
              <a:off x="204" y="185"/>
              <a:ext cx="962" cy="395"/>
              <a:chOff x="340" y="2726"/>
              <a:chExt cx="758" cy="185"/>
            </a:xfrm>
          </p:grpSpPr>
          <p:sp>
            <p:nvSpPr>
              <p:cNvPr id="62506" name="Rectangle 4"/>
              <p:cNvSpPr>
                <a:spLocks noChangeArrowheads="1"/>
              </p:cNvSpPr>
              <p:nvPr/>
            </p:nvSpPr>
            <p:spPr bwMode="auto">
              <a:xfrm>
                <a:off x="464" y="2741"/>
                <a:ext cx="63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开始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7" name="Oval 5"/>
              <p:cNvSpPr>
                <a:spLocks noChangeArrowheads="1"/>
              </p:cNvSpPr>
              <p:nvPr/>
            </p:nvSpPr>
            <p:spPr bwMode="auto">
              <a:xfrm>
                <a:off x="340" y="2726"/>
                <a:ext cx="678" cy="160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2475" name="Line 6"/>
            <p:cNvSpPr>
              <a:spLocks noChangeShapeType="1"/>
            </p:cNvSpPr>
            <p:nvPr/>
          </p:nvSpPr>
          <p:spPr bwMode="auto">
            <a:xfrm>
              <a:off x="567" y="527"/>
              <a:ext cx="0" cy="22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" name="Rectangle 7"/>
            <p:cNvSpPr>
              <a:spLocks noChangeArrowheads="1"/>
            </p:cNvSpPr>
            <p:nvPr/>
          </p:nvSpPr>
          <p:spPr bwMode="auto">
            <a:xfrm>
              <a:off x="3016" y="291"/>
              <a:ext cx="1814" cy="36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p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 ; p = p-&gt;next 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4" name="Rectangle 8"/>
            <p:cNvSpPr>
              <a:spLocks noChangeArrowheads="1"/>
            </p:cNvSpPr>
            <p:nvPr/>
          </p:nvSpPr>
          <p:spPr bwMode="auto">
            <a:xfrm>
              <a:off x="3969" y="1253"/>
              <a:ext cx="1587" cy="771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atin typeface="Arial" panose="020B0604020202020204" pitchFamily="34" charset="0"/>
                </a:rPr>
                <a:t>　</a:t>
              </a:r>
              <a:r>
                <a:rPr lang="en-US" altLang="zh-CN" sz="2400" dirty="0" err="1">
                  <a:latin typeface="Arial" panose="020B0604020202020204" pitchFamily="34" charset="0"/>
                </a:rPr>
                <a:t>p+q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zh-CN" altLang="en-US" sz="2400" dirty="0">
                  <a:latin typeface="Arial" panose="020B0604020202020204" pitchFamily="34" charset="0"/>
                </a:rPr>
                <a:t>　</a:t>
              </a:r>
              <a:r>
                <a:rPr lang="en-US" altLang="zh-CN" sz="2400" dirty="0">
                  <a:latin typeface="Arial" panose="020B0604020202020204" pitchFamily="34" charset="0"/>
                </a:rPr>
                <a:t>q = q-&gt;next;</a:t>
              </a:r>
              <a:endParaRPr lang="en-US" altLang="zh-CN" sz="24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   p = p-&gt;next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5" name="Rectangle 9"/>
            <p:cNvSpPr>
              <a:spLocks noChangeArrowheads="1"/>
            </p:cNvSpPr>
            <p:nvPr/>
          </p:nvSpPr>
          <p:spPr bwMode="auto">
            <a:xfrm>
              <a:off x="3969" y="709"/>
              <a:ext cx="1791" cy="254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q = q-&gt;next 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62479" name="Group 10"/>
            <p:cNvGrpSpPr/>
            <p:nvPr/>
          </p:nvGrpSpPr>
          <p:grpSpPr bwMode="auto">
            <a:xfrm>
              <a:off x="158" y="2782"/>
              <a:ext cx="973" cy="363"/>
              <a:chOff x="1687" y="9889"/>
              <a:chExt cx="633" cy="247"/>
            </a:xfrm>
          </p:grpSpPr>
          <p:sp>
            <p:nvSpPr>
              <p:cNvPr id="62504" name="Rectangle 11"/>
              <p:cNvSpPr>
                <a:spLocks noChangeArrowheads="1"/>
              </p:cNvSpPr>
              <p:nvPr/>
            </p:nvSpPr>
            <p:spPr bwMode="auto">
              <a:xfrm>
                <a:off x="1760" y="9889"/>
                <a:ext cx="560" cy="2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571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>
                    <a:latin typeface="Arial" panose="020B0604020202020204" pitchFamily="34" charset="0"/>
                  </a:rPr>
                  <a:t>结束</a:t>
                </a: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5" name="Oval 12"/>
              <p:cNvSpPr>
                <a:spLocks noChangeArrowheads="1"/>
              </p:cNvSpPr>
              <p:nvPr/>
            </p:nvSpPr>
            <p:spPr bwMode="auto">
              <a:xfrm>
                <a:off x="1687" y="9895"/>
                <a:ext cx="512" cy="199"/>
              </a:xfrm>
              <a:prstGeom prst="ellipse">
                <a:avLst/>
              </a:prstGeom>
              <a:noFill/>
              <a:ln w="5715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62480" name="Group 13"/>
            <p:cNvGrpSpPr/>
            <p:nvPr/>
          </p:nvGrpSpPr>
          <p:grpSpPr bwMode="auto">
            <a:xfrm>
              <a:off x="586" y="527"/>
              <a:ext cx="1251" cy="635"/>
              <a:chOff x="305" y="0"/>
              <a:chExt cx="19695" cy="20000"/>
            </a:xfrm>
          </p:grpSpPr>
          <p:sp>
            <p:nvSpPr>
              <p:cNvPr id="62501" name="Rectangle 14"/>
              <p:cNvSpPr>
                <a:spLocks noChangeArrowheads="1"/>
              </p:cNvSpPr>
              <p:nvPr/>
            </p:nvSpPr>
            <p:spPr bwMode="auto">
              <a:xfrm>
                <a:off x="305" y="0"/>
                <a:ext cx="17851" cy="19838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  (p!=NULL)</a:t>
                </a:r>
                <a:endParaRPr lang="en-US" altLang="zh-CN" sz="2400">
                  <a:latin typeface="Arial" panose="020B0604020202020204" pitchFamily="34" charset="0"/>
                </a:endParaRPr>
              </a:p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solidFill>
                      <a:srgbClr val="F52EFC"/>
                    </a:solidFill>
                    <a:latin typeface="Arial" panose="020B0604020202020204" pitchFamily="34" charset="0"/>
                  </a:rPr>
                  <a:t>   &amp;&amp;</a:t>
                </a:r>
                <a:endPara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endParaRPr>
              </a:p>
              <a:p>
                <a:pPr eaLnBrk="1" hangingPunct="1">
                  <a:lnSpc>
                    <a:spcPct val="64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latin typeface="Arial" panose="020B0604020202020204" pitchFamily="34" charset="0"/>
                  </a:rPr>
                  <a:t>   (q!=NULL)</a:t>
                </a:r>
                <a:endParaRPr lang="en-US" altLang="zh-CN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2502" name="Line 15"/>
              <p:cNvSpPr>
                <a:spLocks noChangeShapeType="1"/>
              </p:cNvSpPr>
              <p:nvPr/>
            </p:nvSpPr>
            <p:spPr bwMode="auto">
              <a:xfrm>
                <a:off x="1455" y="462"/>
                <a:ext cx="17" cy="19538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  <p:sp>
            <p:nvSpPr>
              <p:cNvPr id="62503" name="Line 16"/>
              <p:cNvSpPr>
                <a:spLocks noChangeShapeType="1"/>
              </p:cNvSpPr>
              <p:nvPr/>
            </p:nvSpPr>
            <p:spPr bwMode="auto">
              <a:xfrm>
                <a:off x="18164" y="9755"/>
                <a:ext cx="1836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zh-CN" altLang="en-US"/>
              </a:p>
            </p:txBody>
          </p:sp>
        </p:grpSp>
        <p:sp>
          <p:nvSpPr>
            <p:cNvPr id="62481" name="Rectangle 17"/>
            <p:cNvSpPr>
              <a:spLocks noChangeArrowheads="1"/>
            </p:cNvSpPr>
            <p:nvPr/>
          </p:nvSpPr>
          <p:spPr bwMode="auto">
            <a:xfrm>
              <a:off x="1891" y="578"/>
              <a:ext cx="1134" cy="4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 -&gt;exp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l" eaLnBrk="1" hangingPunct="1">
                <a:lnSpc>
                  <a:spcPct val="64000"/>
                </a:lnSpc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&gt;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q -&gt;exp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82" name="Line 18"/>
            <p:cNvSpPr>
              <a:spLocks noChangeShapeType="1"/>
            </p:cNvSpPr>
            <p:nvPr/>
          </p:nvSpPr>
          <p:spPr bwMode="auto">
            <a:xfrm flipV="1">
              <a:off x="1837" y="482"/>
              <a:ext cx="1179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3" name="Line 19"/>
            <p:cNvSpPr>
              <a:spLocks noChangeShapeType="1"/>
            </p:cNvSpPr>
            <p:nvPr/>
          </p:nvSpPr>
          <p:spPr bwMode="auto">
            <a:xfrm flipH="1">
              <a:off x="2789" y="482"/>
              <a:ext cx="227" cy="36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4" name="Line 20"/>
            <p:cNvSpPr>
              <a:spLocks noChangeShapeType="1"/>
            </p:cNvSpPr>
            <p:nvPr/>
          </p:nvSpPr>
          <p:spPr bwMode="auto">
            <a:xfrm>
              <a:off x="1837" y="1162"/>
              <a:ext cx="115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5" name="Line 21"/>
            <p:cNvSpPr>
              <a:spLocks noChangeShapeType="1"/>
            </p:cNvSpPr>
            <p:nvPr/>
          </p:nvSpPr>
          <p:spPr bwMode="auto">
            <a:xfrm flipH="1" flipV="1">
              <a:off x="2789" y="845"/>
              <a:ext cx="182" cy="31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6" name="Line 22"/>
            <p:cNvSpPr>
              <a:spLocks noChangeShapeType="1"/>
            </p:cNvSpPr>
            <p:nvPr/>
          </p:nvSpPr>
          <p:spPr bwMode="auto">
            <a:xfrm>
              <a:off x="1837" y="482"/>
              <a:ext cx="0" cy="68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7" name="Rectangle 23"/>
            <p:cNvSpPr>
              <a:spLocks noChangeArrowheads="1"/>
            </p:cNvSpPr>
            <p:nvPr/>
          </p:nvSpPr>
          <p:spPr bwMode="auto">
            <a:xfrm>
              <a:off x="567" y="1616"/>
              <a:ext cx="1088" cy="318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p!=NULL 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88" name="Line 24"/>
            <p:cNvSpPr>
              <a:spLocks noChangeShapeType="1"/>
            </p:cNvSpPr>
            <p:nvPr/>
          </p:nvSpPr>
          <p:spPr bwMode="auto">
            <a:xfrm>
              <a:off x="703" y="2160"/>
              <a:ext cx="0" cy="27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89" name="Line 25"/>
            <p:cNvSpPr>
              <a:spLocks noChangeShapeType="1"/>
            </p:cNvSpPr>
            <p:nvPr/>
          </p:nvSpPr>
          <p:spPr bwMode="auto">
            <a:xfrm>
              <a:off x="1655" y="1797"/>
              <a:ext cx="1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0" name="Rectangle 26"/>
            <p:cNvSpPr>
              <a:spLocks noChangeArrowheads="1"/>
            </p:cNvSpPr>
            <p:nvPr/>
          </p:nvSpPr>
          <p:spPr bwMode="auto">
            <a:xfrm>
              <a:off x="567" y="2160"/>
              <a:ext cx="1088" cy="272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    q!=NULL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91" name="Line 27"/>
            <p:cNvSpPr>
              <a:spLocks noChangeShapeType="1"/>
            </p:cNvSpPr>
            <p:nvPr/>
          </p:nvSpPr>
          <p:spPr bwMode="auto">
            <a:xfrm>
              <a:off x="748" y="1616"/>
              <a:ext cx="0" cy="318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2" name="Line 28"/>
            <p:cNvSpPr>
              <a:spLocks noChangeShapeType="1"/>
            </p:cNvSpPr>
            <p:nvPr/>
          </p:nvSpPr>
          <p:spPr bwMode="auto">
            <a:xfrm>
              <a:off x="1655" y="2341"/>
              <a:ext cx="136" cy="0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" name="Rectangle 29"/>
            <p:cNvSpPr>
              <a:spLocks noChangeArrowheads="1"/>
            </p:cNvSpPr>
            <p:nvPr/>
          </p:nvSpPr>
          <p:spPr bwMode="auto">
            <a:xfrm>
              <a:off x="1791" y="1616"/>
              <a:ext cx="1905" cy="359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p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p = p-&gt;next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6" name="Rectangle 30"/>
            <p:cNvSpPr>
              <a:spLocks noChangeArrowheads="1"/>
            </p:cNvSpPr>
            <p:nvPr/>
          </p:nvSpPr>
          <p:spPr bwMode="auto">
            <a:xfrm>
              <a:off x="1791" y="2160"/>
              <a:ext cx="1951" cy="317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</p:spPr>
          <p:txBody>
            <a:bodyPr lIns="12700" tIns="12700" rIns="12700" bIns="12700"/>
            <a:lstStyle>
              <a:lvl1pPr eaLnBrk="0" hangingPunct="0"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lang="en-US" altLang="zh-CN" sz="2400" dirty="0">
                  <a:latin typeface="Arial" panose="020B0604020202020204" pitchFamily="34" charset="0"/>
                </a:rPr>
                <a:t> q</a:t>
              </a:r>
              <a:r>
                <a:rPr lang="en-US" altLang="zh-CN" sz="2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Arial" panose="020B0604020202020204" pitchFamily="34" charset="0"/>
                </a:rPr>
                <a:t>=&gt;</a:t>
              </a:r>
              <a:r>
                <a:rPr lang="en-US" altLang="zh-CN" sz="2400" dirty="0">
                  <a:latin typeface="Arial" panose="020B0604020202020204" pitchFamily="34" charset="0"/>
                </a:rPr>
                <a:t>s; q = q-&gt;next</a:t>
              </a:r>
              <a:endParaRPr lang="en-US" altLang="zh-CN" sz="2400" dirty="0">
                <a:latin typeface="Arial" panose="020B0604020202020204" pitchFamily="34" charset="0"/>
              </a:endParaRPr>
            </a:p>
          </p:txBody>
        </p:sp>
        <p:sp>
          <p:nvSpPr>
            <p:cNvPr id="62495" name="Rectangle 31"/>
            <p:cNvSpPr>
              <a:spLocks noChangeArrowheads="1"/>
            </p:cNvSpPr>
            <p:nvPr/>
          </p:nvSpPr>
          <p:spPr bwMode="auto">
            <a:xfrm>
              <a:off x="3016" y="913"/>
              <a:ext cx="851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p-&gt;exp</a:t>
              </a:r>
              <a:endParaRPr lang="en-US" altLang="zh-CN" sz="2400">
                <a:latin typeface="Arial" panose="020B0604020202020204" pitchFamily="34" charset="0"/>
              </a:endParaRPr>
            </a:p>
            <a:p>
              <a:pPr algn="l" eaLnBrk="1" hangingPunct="1">
                <a:lnSpc>
                  <a:spcPct val="64000"/>
                </a:lnSpc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&lt;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  <a:p>
              <a:pPr eaLnBrk="1" hangingPunct="1">
                <a:lnSpc>
                  <a:spcPct val="64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q-&gt;exp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62496" name="Line 32"/>
            <p:cNvSpPr>
              <a:spLocks noChangeShapeType="1"/>
            </p:cNvSpPr>
            <p:nvPr/>
          </p:nvSpPr>
          <p:spPr bwMode="auto">
            <a:xfrm>
              <a:off x="2971" y="890"/>
              <a:ext cx="100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7" name="Line 33"/>
            <p:cNvSpPr>
              <a:spLocks noChangeShapeType="1"/>
            </p:cNvSpPr>
            <p:nvPr/>
          </p:nvSpPr>
          <p:spPr bwMode="auto">
            <a:xfrm flipH="1">
              <a:off x="3833" y="890"/>
              <a:ext cx="144" cy="22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8" name="Line 34"/>
            <p:cNvSpPr>
              <a:spLocks noChangeShapeType="1"/>
            </p:cNvSpPr>
            <p:nvPr/>
          </p:nvSpPr>
          <p:spPr bwMode="auto">
            <a:xfrm>
              <a:off x="2971" y="1434"/>
              <a:ext cx="1001" cy="1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499" name="Line 35"/>
            <p:cNvSpPr>
              <a:spLocks noChangeShapeType="1"/>
            </p:cNvSpPr>
            <p:nvPr/>
          </p:nvSpPr>
          <p:spPr bwMode="auto">
            <a:xfrm flipH="1" flipV="1">
              <a:off x="3833" y="1117"/>
              <a:ext cx="136" cy="317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500" name="Line 36"/>
            <p:cNvSpPr>
              <a:spLocks noChangeShapeType="1"/>
            </p:cNvSpPr>
            <p:nvPr/>
          </p:nvSpPr>
          <p:spPr bwMode="auto">
            <a:xfrm>
              <a:off x="2971" y="890"/>
              <a:ext cx="0" cy="544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2467" name="Rectangle 37"/>
          <p:cNvSpPr>
            <a:spLocks noChangeArrowheads="1"/>
          </p:cNvSpPr>
          <p:nvPr/>
        </p:nvSpPr>
        <p:spPr bwMode="auto">
          <a:xfrm>
            <a:off x="133350" y="230188"/>
            <a:ext cx="9037638" cy="763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由于利用了</a:t>
            </a:r>
            <a:r>
              <a:rPr lang="zh-CN" altLang="en-US" sz="2400">
                <a:solidFill>
                  <a:srgbClr val="FFFF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哨兵变量</a:t>
            </a: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，所以处理统一了</a:t>
            </a:r>
            <a:endParaRPr lang="en-US" altLang="zh-CN" sz="24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latin typeface="Arial" panose="020B0604020202020204" pitchFamily="34" charset="0"/>
                <a:ea typeface="黑体" panose="02010609060101010101" pitchFamily="49" charset="-122"/>
              </a:rPr>
              <a:t>多项式加法的算法如下：</a:t>
            </a:r>
            <a:endParaRPr lang="zh-CN" altLang="en-US" sz="240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41" name="灯片编号占位符 40"/>
          <p:cNvSpPr>
            <a:spLocks noGrp="1"/>
          </p:cNvSpPr>
          <p:nvPr>
            <p:ph type="sldNum" sz="quarter" idx="12"/>
          </p:nvPr>
        </p:nvSpPr>
        <p:spPr>
          <a:xfrm>
            <a:off x="9409113" y="6248400"/>
            <a:ext cx="801687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C1F0FE9-B118-4D99-A3F2-8C415545223F}" type="slidenum">
              <a:rPr lang="zh-CN" altLang="en-US" smtClean="0"/>
            </a:fld>
            <a:endParaRPr lang="en-US" altLang="zh-CN"/>
          </a:p>
        </p:txBody>
      </p:sp>
      <p:sp>
        <p:nvSpPr>
          <p:cNvPr id="62470" name="矩形 6"/>
          <p:cNvSpPr>
            <a:spLocks noChangeArrowheads="1"/>
          </p:cNvSpPr>
          <p:nvPr/>
        </p:nvSpPr>
        <p:spPr bwMode="auto">
          <a:xfrm>
            <a:off x="9170988" y="0"/>
            <a:ext cx="3021012" cy="16319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Arial" panose="020B0604020202020204" pitchFamily="34" charset="0"/>
              </a:rPr>
              <a:t>struct  item { </a:t>
            </a:r>
            <a:endParaRPr lang="en-US" altLang="zh-CN" sz="200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float  coef;//</a:t>
            </a:r>
            <a:r>
              <a:rPr lang="zh-CN" altLang="en-US" sz="2000">
                <a:latin typeface="Arial" panose="020B0604020202020204" pitchFamily="34" charset="0"/>
              </a:rPr>
              <a:t>系数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int  exp;//</a:t>
            </a:r>
            <a:r>
              <a:rPr lang="zh-CN" altLang="en-US" sz="2000">
                <a:latin typeface="Arial" panose="020B0604020202020204" pitchFamily="34" charset="0"/>
              </a:rPr>
              <a:t>幂次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        struct  item  *next;</a:t>
            </a:r>
            <a:endParaRPr lang="en-US" altLang="zh-CN" sz="20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rgbClr val="FFFF00"/>
                </a:solidFill>
                <a:latin typeface="Arial" panose="020B0604020202020204" pitchFamily="34" charset="0"/>
              </a:rPr>
              <a:t>};</a:t>
            </a:r>
            <a:endParaRPr lang="en-US" altLang="zh-CN" sz="20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sp>
        <p:nvSpPr>
          <p:cNvPr id="62471" name="TextBox 2"/>
          <p:cNvSpPr txBox="1">
            <a:spLocks noChangeArrowheads="1"/>
          </p:cNvSpPr>
          <p:nvPr/>
        </p:nvSpPr>
        <p:spPr bwMode="auto">
          <a:xfrm>
            <a:off x="3097213" y="5102225"/>
            <a:ext cx="4870450" cy="5835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52EFC"/>
                </a:solidFill>
                <a:latin typeface="Arial" panose="020B0604020202020204" pitchFamily="34" charset="0"/>
              </a:rPr>
              <a:t>p(x)=</a:t>
            </a:r>
            <a:r>
              <a:rPr lang="en-US" altLang="zh-CN">
                <a:latin typeface="Arial" panose="020B0604020202020204" pitchFamily="34" charset="0"/>
              </a:rPr>
              <a:t>6.5X</a:t>
            </a:r>
            <a:r>
              <a:rPr lang="en-US" altLang="zh-CN" baseline="30000">
                <a:solidFill>
                  <a:srgbClr val="F52EFC"/>
                </a:solidFill>
                <a:latin typeface="Arial" panose="020B0604020202020204" pitchFamily="34" charset="0"/>
              </a:rPr>
              <a:t>5</a:t>
            </a:r>
            <a:r>
              <a:rPr lang="en-US" altLang="zh-CN">
                <a:latin typeface="Arial" panose="020B0604020202020204" pitchFamily="34" charset="0"/>
              </a:rPr>
              <a:t>+3.4X</a:t>
            </a:r>
            <a:r>
              <a:rPr lang="en-US" altLang="zh-CN" baseline="300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r>
              <a:rPr lang="en-US" altLang="zh-CN">
                <a:latin typeface="Arial" panose="020B0604020202020204" pitchFamily="34" charset="0"/>
              </a:rPr>
              <a:t>+X+0.5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2472" name="TextBox 8"/>
          <p:cNvSpPr txBox="1">
            <a:spLocks noChangeArrowheads="1"/>
          </p:cNvSpPr>
          <p:nvPr/>
        </p:nvSpPr>
        <p:spPr bwMode="auto">
          <a:xfrm>
            <a:off x="3116263" y="5654675"/>
            <a:ext cx="6853237" cy="583565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52EFC"/>
                </a:solidFill>
                <a:latin typeface="Arial" panose="020B0604020202020204" pitchFamily="34" charset="0"/>
              </a:rPr>
              <a:t>q(x)=</a:t>
            </a:r>
            <a:r>
              <a:rPr lang="en-US" altLang="zh-CN" sz="3000">
                <a:latin typeface="Arial" panose="020B0604020202020204" pitchFamily="34" charset="0"/>
              </a:rPr>
              <a:t>1.1X</a:t>
            </a:r>
            <a:r>
              <a:rPr lang="en-US" altLang="zh-CN" sz="3200" baseline="30000">
                <a:solidFill>
                  <a:srgbClr val="F52EFC"/>
                </a:solidFill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solidFill>
                  <a:srgbClr val="99FF33"/>
                </a:solidFill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+1.4X</a:t>
            </a:r>
            <a:r>
              <a:rPr lang="en-US" altLang="zh-CN" sz="3200" baseline="30000">
                <a:solidFill>
                  <a:srgbClr val="F52EFC"/>
                </a:solidFill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+1.5X</a:t>
            </a:r>
            <a:endParaRPr lang="zh-CN" altLang="en-US" sz="3000">
              <a:latin typeface="Arial" panose="020B0604020202020204" pitchFamily="34" charset="0"/>
            </a:endParaRPr>
          </a:p>
        </p:txBody>
      </p:sp>
      <p:sp>
        <p:nvSpPr>
          <p:cNvPr id="62473" name="TextBox 9"/>
          <p:cNvSpPr txBox="1">
            <a:spLocks noChangeArrowheads="1"/>
          </p:cNvSpPr>
          <p:nvPr/>
        </p:nvSpPr>
        <p:spPr bwMode="auto">
          <a:xfrm>
            <a:off x="3071813" y="6165850"/>
            <a:ext cx="7380287" cy="5842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52EFC"/>
                </a:solidFill>
                <a:latin typeface="Arial" panose="020B0604020202020204" pitchFamily="34" charset="0"/>
              </a:rPr>
              <a:t>s(x)=</a:t>
            </a:r>
            <a:r>
              <a:rPr lang="en-US" altLang="zh-CN" sz="3000">
                <a:latin typeface="Arial" panose="020B0604020202020204" pitchFamily="34" charset="0"/>
              </a:rPr>
              <a:t>7.6X</a:t>
            </a:r>
            <a:r>
              <a:rPr lang="en-US" altLang="zh-CN" sz="3000" baseline="30000">
                <a:latin typeface="Arial" panose="020B0604020202020204" pitchFamily="34" charset="0"/>
              </a:rPr>
              <a:t>5</a:t>
            </a:r>
            <a:r>
              <a:rPr lang="en-US" altLang="zh-CN" sz="3000">
                <a:latin typeface="Arial" panose="020B0604020202020204" pitchFamily="34" charset="0"/>
              </a:rPr>
              <a:t>+1.2X</a:t>
            </a:r>
            <a:r>
              <a:rPr lang="en-US" altLang="zh-CN" sz="3000" baseline="30000">
                <a:latin typeface="Arial" panose="020B0604020202020204" pitchFamily="34" charset="0"/>
              </a:rPr>
              <a:t>4</a:t>
            </a:r>
            <a:r>
              <a:rPr lang="en-US" altLang="zh-CN" sz="3000">
                <a:latin typeface="Arial" panose="020B0604020202020204" pitchFamily="34" charset="0"/>
              </a:rPr>
              <a:t>+1.3X</a:t>
            </a:r>
            <a:r>
              <a:rPr lang="en-US" altLang="zh-CN" sz="3000" baseline="30000">
                <a:latin typeface="Arial" panose="020B0604020202020204" pitchFamily="34" charset="0"/>
              </a:rPr>
              <a:t>3</a:t>
            </a:r>
            <a:r>
              <a:rPr lang="en-US" altLang="zh-CN" sz="3000">
                <a:latin typeface="Arial" panose="020B0604020202020204" pitchFamily="34" charset="0"/>
              </a:rPr>
              <a:t>+4.8X</a:t>
            </a:r>
            <a:r>
              <a:rPr lang="en-US" altLang="zh-CN" sz="3000" baseline="30000">
                <a:latin typeface="Arial" panose="020B0604020202020204" pitchFamily="34" charset="0"/>
              </a:rPr>
              <a:t>2</a:t>
            </a:r>
            <a:r>
              <a:rPr lang="en-US" altLang="zh-CN" sz="3000">
                <a:latin typeface="Arial" panose="020B0604020202020204" pitchFamily="34" charset="0"/>
              </a:rPr>
              <a:t>+2.5X+0.5</a:t>
            </a:r>
            <a:endParaRPr lang="zh-CN" altLang="en-US" sz="30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6DA9682C-C8EC-49D7-BB4D-A55F5069CBA8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4515" name="矩形 6"/>
          <p:cNvSpPr>
            <a:spLocks noChangeArrowheads="1"/>
          </p:cNvSpPr>
          <p:nvPr/>
        </p:nvSpPr>
        <p:spPr bwMode="auto">
          <a:xfrm>
            <a:off x="1600200" y="1066800"/>
            <a:ext cx="7286625" cy="40309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#include&lt;stdio.h&gt;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#include&lt;stdlib.h&gt;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struct  item { </a:t>
            </a:r>
            <a:endParaRPr lang="en-US" altLang="zh-CN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float  coef;</a:t>
            </a: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系数</a:t>
            </a:r>
            <a:endParaRPr lang="en-US" altLang="zh-CN" sz="20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int  exp;</a:t>
            </a: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幂次</a:t>
            </a:r>
            <a:endParaRPr lang="en-US" altLang="zh-CN" sz="200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        struct  item  *next;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};</a:t>
            </a:r>
            <a:endParaRPr lang="en-US" altLang="zh-CN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typedef  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struct item * </a:t>
            </a:r>
            <a:r>
              <a:rPr lang="en-US" altLang="zh-CN">
                <a:latin typeface="Arial" panose="020B0604020202020204" pitchFamily="34" charset="0"/>
              </a:rPr>
              <a:t>polynome;</a:t>
            </a:r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4516" name="TextBox 7"/>
          <p:cNvSpPr txBox="1">
            <a:spLocks noChangeArrowheads="1"/>
          </p:cNvSpPr>
          <p:nvPr/>
        </p:nvSpPr>
        <p:spPr bwMode="auto">
          <a:xfrm>
            <a:off x="6350" y="0"/>
            <a:ext cx="20716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完整程序</a:t>
            </a:r>
            <a:r>
              <a:rPr lang="en-US" altLang="zh-CN">
                <a:latin typeface="Arial" panose="020B0604020202020204" pitchFamily="34" charset="0"/>
              </a:rPr>
              <a:t>:</a:t>
            </a:r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1249BED4-DB7A-4DC0-A183-825CA3E3CA80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4995" name="矩形 6"/>
          <p:cNvSpPr>
            <a:spLocks noChangeArrowheads="1"/>
          </p:cNvSpPr>
          <p:nvPr/>
        </p:nvSpPr>
        <p:spPr bwMode="auto">
          <a:xfrm>
            <a:off x="533400" y="370840"/>
            <a:ext cx="10484485" cy="58775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创建多项式（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项）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create(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int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n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遍历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  <a:sym typeface="+mn-ea"/>
              </a:rPr>
              <a:t>void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print(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head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创建求和链表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s(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p+q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+mn-ea"/>
              </a:rPr>
              <a:t>=&gt;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sym typeface="Wingdings" panose="05000000000000000000" pitchFamily="2" charset="2"/>
              </a:rPr>
              <a:t>s)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addpolynome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( 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p, </a:t>
            </a:r>
            <a:r>
              <a:rPr lang="en-US" altLang="zh-CN" dirty="0" err="1">
                <a:latin typeface="Arial" panose="020B0604020202020204" pitchFamily="34" charset="0"/>
                <a:sym typeface="+mn-ea"/>
              </a:rPr>
              <a:t>polynome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q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  <a:sym typeface="+mn-ea"/>
              </a:rPr>
              <a:t>);</a:t>
            </a:r>
            <a:r>
              <a:rPr lang="en-US" altLang="zh-CN" dirty="0">
                <a:latin typeface="Arial" panose="020B0604020202020204" pitchFamily="34" charset="0"/>
                <a:sym typeface="+mn-ea"/>
              </a:rPr>
              <a:t> </a:t>
            </a:r>
            <a:endParaRPr lang="en-US" altLang="zh-CN" dirty="0">
              <a:latin typeface="Arial" panose="020B0604020202020204" pitchFamily="34" charset="0"/>
              <a:sym typeface="+mn-ea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*在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的表尾结点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后边加入一项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（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p+q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=&gt;s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的过程中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,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把指定结点加入到 </a:t>
            </a:r>
            <a:r>
              <a:rPr lang="en-US" altLang="zh-CN" sz="2800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rr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-&gt;next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）*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exp0,float coef0,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F5351DC2-3DF8-4E6E-BC80-06DFC5FBE3F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68611" name="矩形 6"/>
          <p:cNvSpPr>
            <a:spLocks noChangeArrowheads="1"/>
          </p:cNvSpPr>
          <p:nvPr/>
        </p:nvSpPr>
        <p:spPr bwMode="auto">
          <a:xfrm>
            <a:off x="76835" y="685800"/>
            <a:ext cx="9000490" cy="583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int 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main()</a:t>
            </a:r>
            <a:endParaRPr lang="en-US" altLang="zh-CN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r>
              <a:rPr lang="en-US" altLang="zh-CN">
                <a:latin typeface="Arial" panose="020B0604020202020204" pitchFamily="34" charset="0"/>
                <a:sym typeface="+mn-ea"/>
              </a:rPr>
              <a:t> </a:t>
            </a:r>
            <a:endParaRPr lang="en-US" altLang="zh-CN">
              <a:latin typeface="Arial" panose="020B0604020202020204" pitchFamily="34" charset="0"/>
              <a:sym typeface="+mn-ea"/>
            </a:endParaRPr>
          </a:p>
          <a:p>
            <a:pPr marL="457200" lvl="1" indent="45720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//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分别指向多项式</a:t>
            </a: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1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、多项式</a:t>
            </a:r>
            <a:r>
              <a:rPr lang="en-US" altLang="zh-CN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2</a:t>
            </a:r>
            <a:r>
              <a:rPr lang="zh-CN" altLang="en-US" sz="200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、求和结果</a:t>
            </a:r>
            <a:endParaRPr lang="en-US" altLang="zh-CN" sz="2000" dirty="0" err="1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</a:t>
            </a:r>
            <a:r>
              <a:rPr lang="en-US" altLang="zh-CN">
                <a:solidFill>
                  <a:srgbClr val="FFFF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>
                <a:latin typeface="Arial" panose="020B0604020202020204" pitchFamily="34" charset="0"/>
              </a:rPr>
              <a:t> h1=NULL,h2</a:t>
            </a:r>
            <a:r>
              <a:rPr lang="en-US" altLang="zh-CN">
                <a:latin typeface="Arial" panose="020B0604020202020204" pitchFamily="34" charset="0"/>
                <a:sym typeface="+mn-ea"/>
              </a:rPr>
              <a:t>=NULL</a:t>
            </a:r>
            <a:r>
              <a:rPr lang="en-US" altLang="zh-CN">
                <a:latin typeface="Arial" panose="020B0604020202020204" pitchFamily="34" charset="0"/>
              </a:rPr>
              <a:t>,h3</a:t>
            </a:r>
            <a:r>
              <a:rPr lang="en-US" altLang="zh-CN">
                <a:latin typeface="Arial" panose="020B0604020202020204" pitchFamily="34" charset="0"/>
                <a:sym typeface="+mn-ea"/>
              </a:rPr>
              <a:t>=NULL</a:t>
            </a:r>
            <a:r>
              <a:rPr lang="en-US" altLang="zh-CN">
                <a:latin typeface="Arial" panose="020B0604020202020204" pitchFamily="34" charset="0"/>
              </a:rPr>
              <a:t>;</a:t>
            </a: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开始创建链表</a:t>
            </a:r>
            <a:r>
              <a:rPr lang="en-US" altLang="zh-CN" sz="1800">
                <a:latin typeface="Arial" panose="020B0604020202020204" pitchFamily="34" charset="0"/>
              </a:rPr>
              <a:t>...\n");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h1=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>
                <a:latin typeface="Arial" panose="020B0604020202020204" pitchFamily="34" charset="0"/>
              </a:rPr>
              <a:t>4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 </a:t>
            </a:r>
            <a:r>
              <a:rPr lang="en-US" altLang="zh-CN" sz="1800">
                <a:latin typeface="Arial" panose="020B0604020202020204" pitchFamily="34" charset="0"/>
              </a:rPr>
              <a:t>//</a:t>
            </a:r>
            <a:r>
              <a:rPr lang="zh-CN" altLang="en-US" sz="1800">
                <a:latin typeface="Arial" panose="020B0604020202020204" pitchFamily="34" charset="0"/>
              </a:rPr>
              <a:t>调用函数，创建多项式</a:t>
            </a:r>
            <a:r>
              <a:rPr lang="en-US" altLang="zh-CN" sz="1800">
                <a:latin typeface="Arial" panose="020B0604020202020204" pitchFamily="34" charset="0"/>
              </a:rPr>
              <a:t>1</a:t>
            </a:r>
            <a:r>
              <a:rPr lang="zh-CN" altLang="en-US" sz="1800">
                <a:latin typeface="Arial" panose="020B0604020202020204" pitchFamily="34" charset="0"/>
              </a:rPr>
              <a:t>，共</a:t>
            </a:r>
            <a:r>
              <a:rPr lang="en-US" altLang="zh-CN" sz="1800">
                <a:latin typeface="Arial" panose="020B0604020202020204" pitchFamily="34" charset="0"/>
              </a:rPr>
              <a:t>4</a:t>
            </a:r>
            <a:r>
              <a:rPr lang="zh-CN" altLang="en-US" sz="1800">
                <a:latin typeface="Arial" panose="020B0604020202020204" pitchFamily="34" charset="0"/>
              </a:rPr>
              <a:t>项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链表已创建</a:t>
            </a:r>
            <a:r>
              <a:rPr lang="en-US" altLang="zh-CN" sz="1800">
                <a:latin typeface="Arial" panose="020B0604020202020204" pitchFamily="34" charset="0"/>
              </a:rPr>
              <a:t>...\n\n");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zh-CN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开始创建链表</a:t>
            </a:r>
            <a:r>
              <a:rPr lang="en-US" altLang="zh-CN" sz="1800">
                <a:latin typeface="Arial" panose="020B0604020202020204" pitchFamily="34" charset="0"/>
              </a:rPr>
              <a:t>...\n");</a:t>
            </a:r>
            <a:endParaRPr lang="en-US" altLang="zh-CN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h2=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>
                <a:latin typeface="Arial" panose="020B0604020202020204" pitchFamily="34" charset="0"/>
              </a:rPr>
              <a:t>5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>
                <a:latin typeface="Arial" panose="020B0604020202020204" pitchFamily="34" charset="0"/>
              </a:rPr>
              <a:t>; </a:t>
            </a:r>
            <a:r>
              <a:rPr lang="en-US" altLang="zh-CN" sz="1800">
                <a:latin typeface="Arial" panose="020B0604020202020204" pitchFamily="34" charset="0"/>
              </a:rPr>
              <a:t>//</a:t>
            </a:r>
            <a:r>
              <a:rPr lang="zh-CN" altLang="en-US" sz="1800">
                <a:latin typeface="Arial" panose="020B0604020202020204" pitchFamily="34" charset="0"/>
              </a:rPr>
              <a:t>调用函数，创建多项式</a:t>
            </a:r>
            <a:r>
              <a:rPr lang="en-US" altLang="zh-CN" sz="1800">
                <a:latin typeface="Arial" panose="020B0604020202020204" pitchFamily="34" charset="0"/>
              </a:rPr>
              <a:t>2</a:t>
            </a:r>
            <a:r>
              <a:rPr lang="zh-CN" altLang="en-US" sz="1800">
                <a:latin typeface="Arial" panose="020B0604020202020204" pitchFamily="34" charset="0"/>
              </a:rPr>
              <a:t>，共</a:t>
            </a:r>
            <a:r>
              <a:rPr lang="en-US" altLang="zh-CN" sz="1800">
                <a:latin typeface="Arial" panose="020B0604020202020204" pitchFamily="34" charset="0"/>
              </a:rPr>
              <a:t>5</a:t>
            </a:r>
            <a:r>
              <a:rPr lang="zh-CN" altLang="en-US" sz="1800">
                <a:latin typeface="Arial" panose="020B0604020202020204" pitchFamily="34" charset="0"/>
              </a:rPr>
              <a:t>项</a:t>
            </a:r>
            <a:endParaRPr lang="zh-C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	</a:t>
            </a:r>
            <a:r>
              <a:rPr lang="en-US" altLang="zh-CN" sz="1800">
                <a:latin typeface="Arial" panose="020B0604020202020204" pitchFamily="34" charset="0"/>
              </a:rPr>
              <a:t>printf("</a:t>
            </a:r>
            <a:r>
              <a:rPr lang="zh-CN" altLang="en-US" sz="1800">
                <a:latin typeface="Arial" panose="020B0604020202020204" pitchFamily="34" charset="0"/>
              </a:rPr>
              <a:t>链表已创建</a:t>
            </a:r>
            <a:r>
              <a:rPr lang="en-US" altLang="zh-CN" sz="1800">
                <a:latin typeface="Arial" panose="020B0604020202020204" pitchFamily="34" charset="0"/>
              </a:rPr>
              <a:t>...\n\n");</a:t>
            </a:r>
            <a:endParaRPr lang="en-US" altLang="zh-CN" sz="1800">
              <a:latin typeface="Arial" panose="020B0604020202020204" pitchFamily="34" charset="0"/>
            </a:endParaRPr>
          </a:p>
        </p:txBody>
      </p:sp>
      <p:grpSp>
        <p:nvGrpSpPr>
          <p:cNvPr id="68613" name="组合 7"/>
          <p:cNvGrpSpPr/>
          <p:nvPr/>
        </p:nvGrpSpPr>
        <p:grpSpPr bwMode="auto">
          <a:xfrm>
            <a:off x="2819650" y="228600"/>
            <a:ext cx="5484245" cy="1374775"/>
            <a:chOff x="1567214" y="663080"/>
            <a:chExt cx="7576786" cy="1149199"/>
          </a:xfrm>
        </p:grpSpPr>
        <p:sp>
          <p:nvSpPr>
            <p:cNvPr id="68614" name="矩形 1"/>
            <p:cNvSpPr>
              <a:spLocks noChangeArrowheads="1"/>
            </p:cNvSpPr>
            <p:nvPr/>
          </p:nvSpPr>
          <p:spPr bwMode="auto">
            <a:xfrm>
              <a:off x="2198515" y="663080"/>
              <a:ext cx="6945485" cy="69376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已有类型定义：</a:t>
              </a:r>
              <a:endParaRPr lang="zh-CN" altLang="en-US" sz="240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typedef  </a:t>
              </a: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struct item * </a:t>
              </a:r>
              <a:r>
                <a:rPr lang="en-US" altLang="zh-CN" sz="2400">
                  <a:latin typeface="Arial" panose="020B0604020202020204" pitchFamily="34" charset="0"/>
                </a:rPr>
                <a:t>polynome;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cxnSp>
          <p:nvCxnSpPr>
            <p:cNvPr id="68615" name="直接箭头连接符 6"/>
            <p:cNvCxnSpPr>
              <a:cxnSpLocks noChangeShapeType="1"/>
            </p:cNvCxnSpPr>
            <p:nvPr/>
          </p:nvCxnSpPr>
          <p:spPr bwMode="auto">
            <a:xfrm flipV="1">
              <a:off x="1567214" y="1363747"/>
              <a:ext cx="631647" cy="448532"/>
            </a:xfrm>
            <a:prstGeom prst="straightConnector1">
              <a:avLst/>
            </a:prstGeom>
            <a:noFill/>
            <a:ln w="476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600EF79-3A9A-421B-8DBF-17C9A054FD2C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70659" name="矩形 6"/>
          <p:cNvSpPr>
            <a:spLocks noChangeArrowheads="1"/>
          </p:cNvSpPr>
          <p:nvPr/>
        </p:nvSpPr>
        <p:spPr bwMode="auto">
          <a:xfrm>
            <a:off x="762000" y="990600"/>
            <a:ext cx="11001375" cy="366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printf("\n</a:t>
            </a:r>
            <a:r>
              <a:rPr lang="zh-CN" altLang="en-US" sz="2800">
                <a:latin typeface="Arial" panose="020B0604020202020204" pitchFamily="34" charset="0"/>
              </a:rPr>
              <a:t>多项式加法</a:t>
            </a:r>
            <a:r>
              <a:rPr lang="en-US" altLang="zh-CN" sz="2800">
                <a:latin typeface="Arial" panose="020B0604020202020204" pitchFamily="34" charset="0"/>
              </a:rPr>
              <a:t>...\n");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h3=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addpolynome(</a:t>
            </a:r>
            <a:r>
              <a:rPr lang="en-US" altLang="zh-CN" sz="2800">
                <a:latin typeface="Arial" panose="020B0604020202020204" pitchFamily="34" charset="0"/>
              </a:rPr>
              <a:t>h1,h2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 </a:t>
            </a:r>
            <a:r>
              <a:rPr lang="en-US" altLang="zh-CN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调用函数，多项式加法</a:t>
            </a:r>
            <a:endParaRPr lang="zh-CN" altLang="en-US" sz="2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latin typeface="Arial" panose="020B0604020202020204" pitchFamily="34" charset="0"/>
              </a:rPr>
              <a:t>printf("\n</a:t>
            </a:r>
            <a:r>
              <a:rPr lang="zh-CN" altLang="en-US" sz="2800">
                <a:latin typeface="Arial" panose="020B0604020202020204" pitchFamily="34" charset="0"/>
              </a:rPr>
              <a:t>输出结果</a:t>
            </a:r>
            <a:r>
              <a:rPr lang="en-US" altLang="zh-CN" sz="2800">
                <a:latin typeface="Arial" panose="020B0604020202020204" pitchFamily="34" charset="0"/>
              </a:rPr>
              <a:t>...\n");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print(</a:t>
            </a:r>
            <a:r>
              <a:rPr lang="en-US" altLang="zh-CN" sz="2800">
                <a:latin typeface="Arial" panose="020B0604020202020204" pitchFamily="34" charset="0"/>
              </a:rPr>
              <a:t>h3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800">
                <a:latin typeface="Arial" panose="020B0604020202020204" pitchFamily="34" charset="0"/>
              </a:rPr>
              <a:t>; </a:t>
            </a:r>
            <a:r>
              <a:rPr lang="en-US" altLang="zh-CN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调用函数，遍历</a:t>
            </a:r>
            <a:endParaRPr lang="zh-CN" altLang="en-US" sz="280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Arial" panose="020B0604020202020204" pitchFamily="34" charset="0"/>
              </a:rPr>
              <a:t>	</a:t>
            </a:r>
            <a:r>
              <a:rPr lang="en-US" altLang="zh-CN" sz="2800">
                <a:latin typeface="Arial" panose="020B0604020202020204" pitchFamily="34" charset="0"/>
              </a:rPr>
              <a:t>return 0;</a:t>
            </a:r>
            <a:endParaRPr lang="en-US" altLang="zh-CN" sz="2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}</a:t>
            </a:r>
            <a:endParaRPr lang="en-US" altLang="zh-CN" sz="280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15C6840-7342-4056-A27D-CC4A812BD15D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9091" name="矩形 6"/>
          <p:cNvSpPr>
            <a:spLocks noChangeArrowheads="1"/>
          </p:cNvSpPr>
          <p:nvPr/>
        </p:nvSpPr>
        <p:spPr bwMode="auto">
          <a:xfrm>
            <a:off x="228600" y="757238"/>
            <a:ext cx="9144000" cy="61601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addpolynome(</a:t>
            </a: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 </a:t>
            </a:r>
            <a:r>
              <a:rPr lang="en-US" altLang="zh-CN" sz="2800" dirty="0" err="1">
                <a:latin typeface="Arial" panose="020B0604020202020204" pitchFamily="34" charset="0"/>
              </a:rPr>
              <a:t>p,polynome</a:t>
            </a:r>
            <a:r>
              <a:rPr lang="en-US" altLang="zh-CN" sz="2800" dirty="0">
                <a:latin typeface="Arial" panose="020B0604020202020204" pitchFamily="34" charset="0"/>
              </a:rPr>
              <a:t> q</a:t>
            </a:r>
            <a:r>
              <a:rPr lang="en-US" altLang="zh-CN" sz="3200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endParaRPr lang="en-US" altLang="zh-CN" sz="3200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endParaRPr lang="en-US" altLang="zh-CN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为结果多项式链首；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r 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始终指向结果多项式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的最低次幂项</a:t>
            </a:r>
            <a:endParaRPr lang="zh-CN" altLang="en-US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   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s=NULL</a:t>
            </a:r>
            <a:r>
              <a:rPr lang="en-US" altLang="zh-CN" dirty="0" err="1">
                <a:latin typeface="Arial" panose="020B0604020202020204" pitchFamily="34" charset="0"/>
              </a:rPr>
              <a:t>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申请一个哨兵变量 ，以便算法统一</a:t>
            </a:r>
            <a:endParaRPr lang="zh-CN" altLang="en-US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s = (polynome)malloc( sizeof(struct  item) );</a:t>
            </a:r>
            <a:endParaRPr lang="en-US" altLang="zh-CN" dirty="0" err="1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 =</a:t>
            </a:r>
            <a:r>
              <a:rPr lang="en-US" altLang="zh-CN" dirty="0">
                <a:latin typeface="Arial" panose="020B0604020202020204" pitchFamily="34" charset="0"/>
              </a:rPr>
              <a:t> s; 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 r 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始终指向</a:t>
            </a:r>
            <a:r>
              <a:rPr lang="en-US" altLang="zh-CN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的最低次幂项</a:t>
            </a:r>
            <a:endParaRPr lang="en-US" altLang="zh-CN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 </a:t>
            </a:r>
            <a:r>
              <a:rPr lang="en-US" altLang="zh-CN" dirty="0">
                <a:latin typeface="Arial" panose="020B0604020202020204" pitchFamily="34" charset="0"/>
              </a:rPr>
              <a:t>(p!=NULL)&amp;&amp;(q!=NULL)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){ </a:t>
            </a:r>
            <a:r>
              <a:rPr lang="en-US" altLang="zh-CN" dirty="0">
                <a:latin typeface="Arial" panose="020B0604020202020204" pitchFamily="34" charset="0"/>
              </a:rPr>
              <a:t>          </a:t>
            </a:r>
            <a:endParaRPr lang="en-US" altLang="zh-CN" dirty="0">
              <a:latin typeface="Arial" panose="020B0604020202020204" pitchFamily="34" charset="0"/>
            </a:endParaRPr>
          </a:p>
          <a:p>
            <a:pPr algn="l" eaLnBrk="1" hangingPunct="1"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 if (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&gt; </a:t>
            </a:r>
            <a:r>
              <a:rPr lang="en-US" altLang="zh-CN" dirty="0">
                <a:latin typeface="Arial" panose="020B0604020202020204" pitchFamily="34" charset="0"/>
              </a:rPr>
              <a:t>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 </a:t>
            </a:r>
            <a:r>
              <a:rPr lang="zh-CN" altLang="en-US" sz="18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//比较幂次</a:t>
            </a:r>
            <a:endParaRPr lang="zh-CN" altLang="en-US" sz="18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 {	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solidFill>
                  <a:srgbClr val="FF99FF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	p = p-&gt;next;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 }</a:t>
            </a:r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72709" name="组合 9"/>
          <p:cNvGrpSpPr/>
          <p:nvPr/>
        </p:nvGrpSpPr>
        <p:grpSpPr bwMode="auto">
          <a:xfrm>
            <a:off x="1905000" y="117475"/>
            <a:ext cx="8524875" cy="796925"/>
            <a:chOff x="793589" y="79719"/>
            <a:chExt cx="8115273" cy="622011"/>
          </a:xfrm>
        </p:grpSpPr>
        <p:sp>
          <p:nvSpPr>
            <p:cNvPr id="72710" name="矩形 4"/>
            <p:cNvSpPr>
              <a:spLocks noChangeArrowheads="1"/>
            </p:cNvSpPr>
            <p:nvPr/>
          </p:nvSpPr>
          <p:spPr bwMode="auto">
            <a:xfrm>
              <a:off x="1694198" y="79719"/>
              <a:ext cx="7214664" cy="3134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400">
                  <a:latin typeface="Arial" panose="020B0604020202020204" pitchFamily="34" charset="0"/>
                </a:rPr>
                <a:t>已有类型定义：</a:t>
              </a:r>
              <a:r>
                <a:rPr lang="en-US" altLang="zh-CN" sz="2400">
                  <a:latin typeface="Arial" panose="020B0604020202020204" pitchFamily="34" charset="0"/>
                </a:rPr>
                <a:t>typedef  </a:t>
              </a:r>
              <a:r>
                <a:rPr lang="en-US" altLang="zh-CN" sz="2400">
                  <a:solidFill>
                    <a:srgbClr val="FFFF00"/>
                  </a:solidFill>
                  <a:latin typeface="Arial" panose="020B0604020202020204" pitchFamily="34" charset="0"/>
                </a:rPr>
                <a:t>struct item * </a:t>
              </a:r>
              <a:r>
                <a:rPr lang="en-US" altLang="zh-CN" sz="2400">
                  <a:latin typeface="Arial" panose="020B0604020202020204" pitchFamily="34" charset="0"/>
                </a:rPr>
                <a:t>polynome;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cxnSp>
          <p:nvCxnSpPr>
            <p:cNvPr id="72711" name="直接箭头连接符 2"/>
            <p:cNvCxnSpPr>
              <a:cxnSpLocks noChangeShapeType="1"/>
              <a:endCxn id="72710" idx="1"/>
            </p:cNvCxnSpPr>
            <p:nvPr/>
          </p:nvCxnSpPr>
          <p:spPr bwMode="auto">
            <a:xfrm flipV="1">
              <a:off x="793589" y="236456"/>
              <a:ext cx="900609" cy="465274"/>
            </a:xfrm>
            <a:prstGeom prst="straightConnector1">
              <a:avLst/>
            </a:prstGeom>
            <a:noFill/>
            <a:ln w="476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B7556B-5B07-4A7F-AED9-3E4569E1EC21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0115" name="矩形 6"/>
          <p:cNvSpPr>
            <a:spLocks noChangeArrowheads="1"/>
          </p:cNvSpPr>
          <p:nvPr/>
        </p:nvSpPr>
        <p:spPr bwMode="auto">
          <a:xfrm>
            <a:off x="1022350" y="608013"/>
            <a:ext cx="9144000" cy="550799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else if ( 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&lt;</a:t>
            </a:r>
            <a:r>
              <a:rPr lang="en-US" altLang="zh-CN" dirty="0">
                <a:latin typeface="Arial" panose="020B0604020202020204" pitchFamily="34" charset="0"/>
              </a:rPr>
              <a:t> 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endParaRPr lang="en-US" altLang="zh-CN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 {	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q-&gt;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);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	q = q-&gt;next;   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}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else</a:t>
            </a:r>
            <a:endParaRPr lang="en-US" altLang="zh-CN" dirty="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{ 	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+</a:t>
            </a:r>
            <a:r>
              <a:rPr lang="en-US" altLang="zh-CN" dirty="0" err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latin typeface="Arial" panose="020B0604020202020204" pitchFamily="34" charset="0"/>
              </a:rPr>
              <a:t>q</a:t>
            </a:r>
            <a:r>
              <a:rPr lang="en-US" altLang="zh-CN" dirty="0">
                <a:latin typeface="Arial" panose="020B0604020202020204" pitchFamily="34" charset="0"/>
              </a:rPr>
              <a:t>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, </a:t>
            </a:r>
            <a:r>
              <a:rPr lang="en-US" altLang="zh-CN" dirty="0">
                <a:solidFill>
                  <a:srgbClr val="99FF33"/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);</a:t>
            </a:r>
            <a:endParaRPr lang="en-US" altLang="zh-CN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		q = q-&gt;next;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		p = p-&gt;next;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}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r=r-&gt;next; //</a:t>
            </a:r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让</a:t>
            </a:r>
            <a:r>
              <a:rPr lang="en-US" altLang="zh-CN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zh-CN" altLang="en-US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指向新的尾结点</a:t>
            </a:r>
            <a:endParaRPr lang="en-US" altLang="zh-CN" dirty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}  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//while</a:t>
            </a:r>
            <a:r>
              <a:rPr lang="zh-CN" altLang="en-US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结束</a:t>
            </a:r>
            <a:endParaRPr lang="zh-CN" altLang="en-US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5F5DB018-93FC-4054-ACC2-842AD7738EF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1139" name="矩形 2"/>
          <p:cNvSpPr>
            <a:spLocks noChangeArrowheads="1"/>
          </p:cNvSpPr>
          <p:nvPr/>
        </p:nvSpPr>
        <p:spPr bwMode="auto">
          <a:xfrm>
            <a:off x="1371600" y="246063"/>
            <a:ext cx="8001000" cy="60023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  //p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多项式尾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</a:t>
            </a:r>
            <a:r>
              <a:rPr lang="en-US" altLang="zh-CN" dirty="0">
                <a:latin typeface="Arial" panose="020B0604020202020204" pitchFamily="34" charset="0"/>
              </a:rPr>
              <a:t>p!=NULL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adds( 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p-&gt;</a:t>
            </a:r>
            <a:r>
              <a:rPr lang="en-US" altLang="zh-CN" dirty="0" err="1">
                <a:latin typeface="Arial" panose="020B0604020202020204" pitchFamily="34" charset="0"/>
              </a:rPr>
              <a:t>coef,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p = p-&gt;next;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r=r-&gt;next;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} 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 //q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多项式尾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while (</a:t>
            </a:r>
            <a:r>
              <a:rPr lang="en-US" altLang="zh-CN" dirty="0">
                <a:latin typeface="Arial" panose="020B0604020202020204" pitchFamily="34" charset="0"/>
              </a:rPr>
              <a:t>q!=NULL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 {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 adds( q-&gt;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 , q-&gt;</a:t>
            </a:r>
            <a:r>
              <a:rPr lang="en-US" altLang="zh-CN" dirty="0" err="1">
                <a:latin typeface="Arial" panose="020B0604020202020204" pitchFamily="34" charset="0"/>
              </a:rPr>
              <a:t>coef,</a:t>
            </a:r>
            <a:r>
              <a:rPr lang="en-US" altLang="zh-CN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r</a:t>
            </a:r>
            <a:r>
              <a:rPr lang="en-US" altLang="zh-CN" dirty="0">
                <a:latin typeface="Arial" panose="020B0604020202020204" pitchFamily="34" charset="0"/>
              </a:rPr>
              <a:t> 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    q = q-&gt;next;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    r=r-&gt;next;</a:t>
            </a:r>
            <a:endParaRPr lang="en-US" altLang="zh-CN" dirty="0">
              <a:solidFill>
                <a:schemeClr val="accent2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} </a:t>
            </a:r>
            <a:endParaRPr lang="en-US" altLang="zh-CN" dirty="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矩形 2"/>
          <p:cNvSpPr>
            <a:spLocks noChangeArrowheads="1"/>
          </p:cNvSpPr>
          <p:nvPr/>
        </p:nvSpPr>
        <p:spPr bwMode="auto">
          <a:xfrm>
            <a:off x="1524000" y="260350"/>
            <a:ext cx="8686800" cy="304609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释放哨兵变量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r </a:t>
            </a:r>
            <a:r>
              <a:rPr lang="en-US" altLang="zh-CN" dirty="0">
                <a:latin typeface="Arial" panose="020B0604020202020204" pitchFamily="34" charset="0"/>
              </a:rPr>
              <a:t>= s; 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保存哨兵结点地址，为释放做准备</a:t>
            </a:r>
            <a:endParaRPr lang="en-US" altLang="zh-CN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s = s-&gt;next; </a:t>
            </a:r>
            <a:r>
              <a:rPr lang="en-US" altLang="zh-CN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//s</a:t>
            </a:r>
            <a:r>
              <a:rPr lang="zh-CN" altLang="en-US" sz="2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指向真正的表头结点（哨兵结点的下一个结点）</a:t>
            </a:r>
            <a:endParaRPr lang="en-US" altLang="zh-CN" sz="20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   free(r); </a:t>
            </a:r>
            <a:r>
              <a:rPr lang="en-US" altLang="zh-CN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求和已完成，释放哨兵结点</a:t>
            </a: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return  s ;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返回求和多项式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的表头指针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}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函数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addpolynome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结束</a:t>
            </a:r>
            <a:endParaRPr lang="zh-CN" alt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</p:txBody>
      </p:sp>
      <p:grpSp>
        <p:nvGrpSpPr>
          <p:cNvPr id="77828" name="Group 4"/>
          <p:cNvGrpSpPr/>
          <p:nvPr/>
        </p:nvGrpSpPr>
        <p:grpSpPr bwMode="auto">
          <a:xfrm>
            <a:off x="4732338" y="4495800"/>
            <a:ext cx="1049337" cy="1317625"/>
            <a:chOff x="0" y="0"/>
            <a:chExt cx="20000" cy="20000"/>
          </a:xfrm>
        </p:grpSpPr>
        <p:sp>
          <p:nvSpPr>
            <p:cNvPr id="77864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5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6.5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7865" name="Line 6"/>
            <p:cNvSpPr>
              <a:spLocks noChangeShapeType="1"/>
            </p:cNvSpPr>
            <p:nvPr/>
          </p:nvSpPr>
          <p:spPr bwMode="auto">
            <a:xfrm>
              <a:off x="555" y="13812"/>
              <a:ext cx="19445" cy="25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29" name="Group 7"/>
          <p:cNvGrpSpPr/>
          <p:nvPr/>
        </p:nvGrpSpPr>
        <p:grpSpPr bwMode="auto">
          <a:xfrm>
            <a:off x="6332538" y="4484688"/>
            <a:ext cx="1050925" cy="1362075"/>
            <a:chOff x="0" y="0"/>
            <a:chExt cx="20000" cy="20000"/>
          </a:xfrm>
        </p:grpSpPr>
        <p:sp>
          <p:nvSpPr>
            <p:cNvPr id="77862" name="Rectangle 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2</a:t>
              </a:r>
              <a:endParaRPr lang="en-US" altLang="zh-CN" sz="2400">
                <a:ea typeface="黑体" panose="02010609060101010101" pitchFamily="49" charset="-122"/>
              </a:endParaRPr>
            </a:p>
            <a:p>
              <a:pPr algn="ctr" eaLnBrk="1" hangingPunct="1">
                <a:lnSpc>
                  <a:spcPct val="13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ea typeface="黑体" panose="02010609060101010101" pitchFamily="49" charset="-122"/>
                </a:rPr>
                <a:t>3.4</a:t>
              </a:r>
              <a:endParaRPr lang="en-US" altLang="zh-CN" sz="2400">
                <a:ea typeface="黑体" panose="02010609060101010101" pitchFamily="49" charset="-122"/>
              </a:endParaRPr>
            </a:p>
          </p:txBody>
        </p:sp>
        <p:sp>
          <p:nvSpPr>
            <p:cNvPr id="77863" name="Line 9"/>
            <p:cNvSpPr>
              <a:spLocks noChangeShapeType="1"/>
            </p:cNvSpPr>
            <p:nvPr/>
          </p:nvSpPr>
          <p:spPr bwMode="auto">
            <a:xfrm>
              <a:off x="555" y="13821"/>
              <a:ext cx="19445" cy="23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7830" name="Line 10"/>
          <p:cNvSpPr>
            <a:spLocks noChangeShapeType="1"/>
          </p:cNvSpPr>
          <p:nvPr/>
        </p:nvSpPr>
        <p:spPr bwMode="auto">
          <a:xfrm>
            <a:off x="5314950" y="5621338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1" name="Line 11"/>
          <p:cNvSpPr>
            <a:spLocks noChangeShapeType="1"/>
          </p:cNvSpPr>
          <p:nvPr/>
        </p:nvSpPr>
        <p:spPr bwMode="auto">
          <a:xfrm>
            <a:off x="7004050" y="5629275"/>
            <a:ext cx="93345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2" name="Line 12"/>
          <p:cNvSpPr>
            <a:spLocks noChangeShapeType="1"/>
          </p:cNvSpPr>
          <p:nvPr/>
        </p:nvSpPr>
        <p:spPr bwMode="auto">
          <a:xfrm>
            <a:off x="8445500" y="5629275"/>
            <a:ext cx="93345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3" name="Line 13"/>
          <p:cNvSpPr>
            <a:spLocks noChangeShapeType="1"/>
          </p:cNvSpPr>
          <p:nvPr/>
        </p:nvSpPr>
        <p:spPr bwMode="auto">
          <a:xfrm>
            <a:off x="4732338" y="4956175"/>
            <a:ext cx="1077912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834" name="Line 14"/>
          <p:cNvSpPr>
            <a:spLocks noChangeShapeType="1"/>
          </p:cNvSpPr>
          <p:nvPr/>
        </p:nvSpPr>
        <p:spPr bwMode="auto">
          <a:xfrm>
            <a:off x="6332538" y="4956175"/>
            <a:ext cx="1082675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835" name="Group 15"/>
          <p:cNvGrpSpPr/>
          <p:nvPr/>
        </p:nvGrpSpPr>
        <p:grpSpPr bwMode="auto">
          <a:xfrm>
            <a:off x="7802563" y="4481513"/>
            <a:ext cx="1092200" cy="1347787"/>
            <a:chOff x="4558" y="1886"/>
            <a:chExt cx="309" cy="1226"/>
          </a:xfrm>
        </p:grpSpPr>
        <p:grpSp>
          <p:nvGrpSpPr>
            <p:cNvPr id="77858" name="Group 16"/>
            <p:cNvGrpSpPr/>
            <p:nvPr/>
          </p:nvGrpSpPr>
          <p:grpSpPr bwMode="auto">
            <a:xfrm>
              <a:off x="4570" y="1886"/>
              <a:ext cx="297" cy="1226"/>
              <a:chOff x="0" y="0"/>
              <a:chExt cx="20000" cy="20000"/>
            </a:xfrm>
          </p:grpSpPr>
          <p:sp>
            <p:nvSpPr>
              <p:cNvPr id="77860" name="Rectangle 17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1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77861" name="Line 18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59" name="Line 19"/>
            <p:cNvSpPr>
              <a:spLocks noChangeShapeType="1"/>
            </p:cNvSpPr>
            <p:nvPr/>
          </p:nvSpPr>
          <p:spPr bwMode="auto">
            <a:xfrm>
              <a:off x="4558" y="2296"/>
              <a:ext cx="305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7836" name="Group 20"/>
          <p:cNvGrpSpPr/>
          <p:nvPr/>
        </p:nvGrpSpPr>
        <p:grpSpPr bwMode="auto">
          <a:xfrm>
            <a:off x="9407525" y="4481513"/>
            <a:ext cx="1081088" cy="1347787"/>
            <a:chOff x="5023" y="1886"/>
            <a:chExt cx="306" cy="1226"/>
          </a:xfrm>
        </p:grpSpPr>
        <p:grpSp>
          <p:nvGrpSpPr>
            <p:cNvPr id="77854" name="Group 21"/>
            <p:cNvGrpSpPr/>
            <p:nvPr/>
          </p:nvGrpSpPr>
          <p:grpSpPr bwMode="auto">
            <a:xfrm>
              <a:off x="5023" y="1886"/>
              <a:ext cx="298" cy="1226"/>
              <a:chOff x="0" y="0"/>
              <a:chExt cx="20000" cy="20000"/>
            </a:xfrm>
          </p:grpSpPr>
          <p:sp>
            <p:nvSpPr>
              <p:cNvPr id="77856" name="Rectangle 22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57150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0.5</a:t>
                </a:r>
                <a:endParaRPr lang="en-US" altLang="zh-CN" sz="2400">
                  <a:ea typeface="黑体" panose="02010609060101010101" pitchFamily="49" charset="-122"/>
                </a:endParaRPr>
              </a:p>
              <a:p>
                <a:pPr algn="ctr" eaLnBrk="1" hangingPunct="1">
                  <a:lnSpc>
                    <a:spcPct val="13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2400">
                    <a:ea typeface="黑体" panose="02010609060101010101" pitchFamily="49" charset="-122"/>
                  </a:rPr>
                  <a:t>·</a:t>
                </a:r>
                <a:endParaRPr lang="en-US" altLang="zh-CN" sz="2400">
                  <a:ea typeface="黑体" panose="02010609060101010101" pitchFamily="49" charset="-122"/>
                </a:endParaRPr>
              </a:p>
            </p:txBody>
          </p:sp>
          <p:sp>
            <p:nvSpPr>
              <p:cNvPr id="77857" name="Line 23"/>
              <p:cNvSpPr>
                <a:spLocks noChangeShapeType="1"/>
              </p:cNvSpPr>
              <p:nvPr/>
            </p:nvSpPr>
            <p:spPr bwMode="auto">
              <a:xfrm>
                <a:off x="555" y="13817"/>
                <a:ext cx="19445" cy="24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7855" name="Line 24"/>
            <p:cNvSpPr>
              <a:spLocks noChangeShapeType="1"/>
            </p:cNvSpPr>
            <p:nvPr/>
          </p:nvSpPr>
          <p:spPr bwMode="auto">
            <a:xfrm>
              <a:off x="5023" y="2274"/>
              <a:ext cx="306" cy="2"/>
            </a:xfrm>
            <a:prstGeom prst="line">
              <a:avLst/>
            </a:prstGeom>
            <a:noFill/>
            <a:ln w="5715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" name="Line 25"/>
          <p:cNvSpPr>
            <a:spLocks noChangeShapeType="1"/>
          </p:cNvSpPr>
          <p:nvPr/>
        </p:nvSpPr>
        <p:spPr bwMode="auto">
          <a:xfrm>
            <a:off x="3719513" y="5613400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26"/>
          <p:cNvGrpSpPr/>
          <p:nvPr/>
        </p:nvGrpSpPr>
        <p:grpSpPr bwMode="auto">
          <a:xfrm>
            <a:off x="2998788" y="4462463"/>
            <a:ext cx="1049337" cy="1317625"/>
            <a:chOff x="0" y="0"/>
            <a:chExt cx="20000" cy="20000"/>
          </a:xfrm>
        </p:grpSpPr>
        <p:sp>
          <p:nvSpPr>
            <p:cNvPr id="18" name="Rectangle 27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  <a:p>
              <a:pPr eaLnBrk="1" hangingPunct="1">
                <a:defRPr/>
              </a:pPr>
              <a:endParaRPr lang="en-US" altLang="zh-CN">
                <a:latin typeface="Arial" panose="020B0604020202020204" pitchFamily="34" charset="0"/>
              </a:endParaRPr>
            </a:p>
          </p:txBody>
        </p:sp>
        <p:sp>
          <p:nvSpPr>
            <p:cNvPr id="19" name="Line 28"/>
            <p:cNvSpPr>
              <a:spLocks noChangeShapeType="1"/>
            </p:cNvSpPr>
            <p:nvPr/>
          </p:nvSpPr>
          <p:spPr bwMode="auto">
            <a:xfrm>
              <a:off x="545" y="13807"/>
              <a:ext cx="19455" cy="24"/>
            </a:xfrm>
            <a:prstGeom prst="line">
              <a:avLst/>
            </a:prstGeom>
            <a:noFill/>
            <a:ln w="57150">
              <a:solidFill>
                <a:schemeClr val="accent6">
                  <a:lumMod val="60000"/>
                  <a:lumOff val="40000"/>
                </a:schemeClr>
              </a:solidFill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latin typeface="Arial" panose="020B0604020202020204" pitchFamily="34" charset="0"/>
              </a:endParaRPr>
            </a:p>
          </p:txBody>
        </p:sp>
      </p:grpSp>
      <p:sp>
        <p:nvSpPr>
          <p:cNvPr id="17" name="Line 29"/>
          <p:cNvSpPr>
            <a:spLocks noChangeShapeType="1"/>
          </p:cNvSpPr>
          <p:nvPr/>
        </p:nvSpPr>
        <p:spPr bwMode="auto">
          <a:xfrm>
            <a:off x="2998788" y="4965700"/>
            <a:ext cx="1077912" cy="1588"/>
          </a:xfrm>
          <a:prstGeom prst="line">
            <a:avLst/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  <a:round/>
            <a:headEnd type="none" w="sm" len="sm"/>
            <a:tailEnd type="none" w="sm" len="sm"/>
          </a:ln>
        </p:spPr>
        <p:txBody>
          <a:bodyPr/>
          <a:lstStyle/>
          <a:p>
            <a:pPr eaLnBrk="1" hangingPunct="1">
              <a:defRPr/>
            </a:pP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7840" name="Rectangle 30"/>
          <p:cNvSpPr>
            <a:spLocks noChangeArrowheads="1"/>
          </p:cNvSpPr>
          <p:nvPr/>
        </p:nvSpPr>
        <p:spPr bwMode="auto">
          <a:xfrm>
            <a:off x="1524000" y="4533900"/>
            <a:ext cx="1020763" cy="452438"/>
          </a:xfrm>
          <a:prstGeom prst="rect">
            <a:avLst/>
          </a:prstGeom>
          <a:noFill/>
          <a:ln w="57150">
            <a:solidFill>
              <a:schemeClr val="tx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2400">
              <a:ea typeface="黑体" panose="02010609060101010101" pitchFamily="49" charset="-122"/>
            </a:endParaRPr>
          </a:p>
        </p:txBody>
      </p:sp>
      <p:sp>
        <p:nvSpPr>
          <p:cNvPr id="33" name="Line 31"/>
          <p:cNvSpPr>
            <a:spLocks noChangeShapeType="1"/>
          </p:cNvSpPr>
          <p:nvPr/>
        </p:nvSpPr>
        <p:spPr bwMode="auto">
          <a:xfrm>
            <a:off x="2063750" y="4749800"/>
            <a:ext cx="9334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灯片编号占位符 33"/>
          <p:cNvSpPr txBox="1"/>
          <p:nvPr/>
        </p:nvSpPr>
        <p:spPr bwMode="auto">
          <a:xfrm>
            <a:off x="9393238" y="6308725"/>
            <a:ext cx="2133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defRPr/>
            </a:pPr>
            <a:fld id="{52957DC1-971B-4D2C-9234-766D77FD97D5}" type="slidenum">
              <a:rPr lang="zh-CN" altLang="en-US" sz="1200" smtClean="0">
                <a:effectLst>
                  <a:outerShdw blurRad="38100" dist="38100" dir="2700000" algn="tl">
                    <a:srgbClr val="000000"/>
                  </a:outerShdw>
                </a:effectLst>
              </a:rPr>
            </a:fld>
            <a:endParaRPr lang="en-US" altLang="zh-CN" sz="1200"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35" name="TextBox 1"/>
          <p:cNvSpPr txBox="1">
            <a:spLocks noChangeArrowheads="1"/>
          </p:cNvSpPr>
          <p:nvPr/>
        </p:nvSpPr>
        <p:spPr bwMode="auto">
          <a:xfrm>
            <a:off x="2744788" y="5846763"/>
            <a:ext cx="14414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52EFC"/>
                </a:solidFill>
                <a:latin typeface="Arial" panose="020B0604020202020204" pitchFamily="34" charset="0"/>
              </a:rPr>
              <a:t>哨兵结点</a:t>
            </a:r>
            <a:endParaRPr lang="zh-CN" altLang="en-US" sz="24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77844" name="TextBox 34"/>
          <p:cNvSpPr txBox="1">
            <a:spLocks noChangeArrowheads="1"/>
          </p:cNvSpPr>
          <p:nvPr/>
        </p:nvSpPr>
        <p:spPr bwMode="auto">
          <a:xfrm>
            <a:off x="1719263" y="4003675"/>
            <a:ext cx="803275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solidFill>
                  <a:srgbClr val="F52EFC"/>
                </a:solidFill>
                <a:latin typeface="Arial" panose="020B0604020202020204" pitchFamily="34" charset="0"/>
              </a:rPr>
              <a:t>s</a:t>
            </a:r>
            <a:endParaRPr lang="en-US" altLang="zh-CN" sz="280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grpSp>
        <p:nvGrpSpPr>
          <p:cNvPr id="9" name="组合 37"/>
          <p:cNvGrpSpPr/>
          <p:nvPr/>
        </p:nvGrpSpPr>
        <p:grpSpPr bwMode="auto">
          <a:xfrm>
            <a:off x="3132138" y="3644900"/>
            <a:ext cx="803275" cy="801688"/>
            <a:chOff x="1547955" y="3645024"/>
            <a:chExt cx="803201" cy="801018"/>
          </a:xfrm>
        </p:grpSpPr>
        <p:sp>
          <p:nvSpPr>
            <p:cNvPr id="77850" name="TextBox 34"/>
            <p:cNvSpPr txBox="1">
              <a:spLocks noChangeArrowheads="1"/>
            </p:cNvSpPr>
            <p:nvPr/>
          </p:nvSpPr>
          <p:spPr bwMode="auto">
            <a:xfrm>
              <a:off x="1547955" y="3645024"/>
              <a:ext cx="8032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52EFC"/>
                  </a:solidFill>
                  <a:latin typeface="Arial" panose="020B0604020202020204" pitchFamily="34" charset="0"/>
                </a:rPr>
                <a:t>r</a:t>
              </a:r>
              <a:endParaRPr lang="en-US" altLang="zh-CN" sz="28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7851" name="直接箭头连接符 3"/>
            <p:cNvCxnSpPr>
              <a:cxnSpLocks noChangeShapeType="1"/>
            </p:cNvCxnSpPr>
            <p:nvPr/>
          </p:nvCxnSpPr>
          <p:spPr bwMode="auto">
            <a:xfrm>
              <a:off x="1937836" y="3890446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41" name="Line 31"/>
          <p:cNvSpPr>
            <a:spLocks noChangeShapeType="1"/>
          </p:cNvSpPr>
          <p:nvPr/>
        </p:nvSpPr>
        <p:spPr bwMode="auto">
          <a:xfrm>
            <a:off x="2055813" y="4724400"/>
            <a:ext cx="259715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" name="组合 43"/>
          <p:cNvGrpSpPr/>
          <p:nvPr/>
        </p:nvGrpSpPr>
        <p:grpSpPr bwMode="auto">
          <a:xfrm>
            <a:off x="9532938" y="3635375"/>
            <a:ext cx="803275" cy="801688"/>
            <a:chOff x="1547955" y="3645024"/>
            <a:chExt cx="803201" cy="801018"/>
          </a:xfrm>
        </p:grpSpPr>
        <p:sp>
          <p:nvSpPr>
            <p:cNvPr id="77848" name="TextBox 34"/>
            <p:cNvSpPr txBox="1">
              <a:spLocks noChangeArrowheads="1"/>
            </p:cNvSpPr>
            <p:nvPr/>
          </p:nvSpPr>
          <p:spPr bwMode="auto">
            <a:xfrm>
              <a:off x="1547955" y="3645024"/>
              <a:ext cx="803201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800">
                  <a:solidFill>
                    <a:srgbClr val="F52EFC"/>
                  </a:solidFill>
                  <a:latin typeface="Arial" panose="020B0604020202020204" pitchFamily="34" charset="0"/>
                </a:rPr>
                <a:t>r</a:t>
              </a:r>
              <a:endParaRPr lang="en-US" altLang="zh-CN" sz="28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77849" name="直接箭头连接符 45"/>
            <p:cNvCxnSpPr>
              <a:cxnSpLocks noChangeShapeType="1"/>
            </p:cNvCxnSpPr>
            <p:nvPr/>
          </p:nvCxnSpPr>
          <p:spPr bwMode="auto">
            <a:xfrm>
              <a:off x="1937836" y="3890446"/>
              <a:ext cx="0" cy="555596"/>
            </a:xfrm>
            <a:prstGeom prst="straightConnector1">
              <a:avLst/>
            </a:prstGeom>
            <a:noFill/>
            <a:ln w="34925" algn="ctr">
              <a:solidFill>
                <a:schemeClr val="tx1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7" name="矩形 5"/>
          <p:cNvSpPr>
            <a:spLocks noChangeArrowheads="1"/>
          </p:cNvSpPr>
          <p:nvPr/>
        </p:nvSpPr>
        <p:spPr bwMode="auto">
          <a:xfrm>
            <a:off x="110883" y="26662"/>
            <a:ext cx="12192000" cy="344614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void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adds(</a:t>
            </a:r>
            <a:r>
              <a:rPr lang="en-US" altLang="zh-CN" dirty="0">
                <a:latin typeface="Arial" panose="020B0604020202020204" pitchFamily="34" charset="0"/>
              </a:rPr>
              <a:t>int exp0,float coef0,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en-US" altLang="zh-CN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将新结点加入表尾（入队算法）</a:t>
            </a:r>
            <a:endParaRPr lang="en-US" altLang="zh-CN" sz="18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FFC000"/>
                </a:solidFill>
                <a:latin typeface="Arial" panose="020B0604020202020204" pitchFamily="34" charset="0"/>
              </a:rPr>
              <a:t>{ </a:t>
            </a:r>
            <a:r>
              <a:rPr lang="zh-CN" altLang="en-US" sz="1800" dirty="0">
                <a:latin typeface="Arial" panose="020B0604020202020204" pitchFamily="34" charset="0"/>
              </a:rPr>
              <a:t>   </a:t>
            </a:r>
            <a:r>
              <a:rPr lang="en-US" altLang="zh-CN" sz="1800" dirty="0">
                <a:latin typeface="Arial" panose="020B0604020202020204" pitchFamily="34" charset="0"/>
              </a:rPr>
              <a:t>     </a:t>
            </a:r>
            <a:r>
              <a:rPr lang="en-US" altLang="zh-CN" sz="2400" dirty="0" err="1">
                <a:solidFill>
                  <a:srgbClr val="F52EFC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solidFill>
                  <a:srgbClr val="F52EFC"/>
                </a:solidFill>
                <a:latin typeface="Arial" panose="020B0604020202020204" pitchFamily="34" charset="0"/>
              </a:rPr>
              <a:t> r0;</a:t>
            </a:r>
            <a:r>
              <a:rPr lang="en-US" altLang="zh-CN" sz="1800" dirty="0">
                <a:solidFill>
                  <a:srgbClr val="F52EFC"/>
                </a:solidFill>
                <a:latin typeface="Arial" panose="020B0604020202020204" pitchFamily="34" charset="0"/>
              </a:rPr>
              <a:t> //</a:t>
            </a:r>
            <a:r>
              <a:rPr lang="zh-CN" altLang="en-US" sz="1800" dirty="0">
                <a:solidFill>
                  <a:srgbClr val="F52EFC"/>
                </a:solidFill>
                <a:latin typeface="Arial" panose="020B0604020202020204" pitchFamily="34" charset="0"/>
              </a:rPr>
              <a:t>指针变量    </a:t>
            </a:r>
            <a:endParaRPr lang="en-US" altLang="zh-CN" sz="1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      r0=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 err="1">
                <a:solidFill>
                  <a:srgbClr val="FFC0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struct</a:t>
            </a:r>
            <a:r>
              <a:rPr lang="en-US" altLang="zh-CN" dirty="0">
                <a:latin typeface="Arial" panose="020B0604020202020204" pitchFamily="34" charset="0"/>
              </a:rPr>
              <a:t> item)</a:t>
            </a:r>
            <a:r>
              <a:rPr lang="en-US" altLang="zh-CN" dirty="0">
                <a:solidFill>
                  <a:srgbClr val="FFC0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创建新结点</a:t>
            </a:r>
            <a:endParaRPr lang="zh-CN" altLang="en-US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latin typeface="Arial" panose="020B0604020202020204" pitchFamily="34" charset="0"/>
              </a:rPr>
              <a:t>      </a:t>
            </a:r>
            <a:r>
              <a:rPr lang="en-US" altLang="zh-CN" sz="2400" dirty="0">
                <a:latin typeface="Arial" panose="020B0604020202020204" pitchFamily="34" charset="0"/>
              </a:rPr>
              <a:t>r0-&gt;exp = exp0; 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数据域：幂次</a:t>
            </a:r>
            <a:endParaRPr lang="zh-CN" altLang="en-US" sz="24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</a:rPr>
              <a:t>r0-&gt;</a:t>
            </a:r>
            <a:r>
              <a:rPr lang="en-US" altLang="zh-CN" sz="2400" dirty="0" err="1">
                <a:latin typeface="Arial" panose="020B0604020202020204" pitchFamily="34" charset="0"/>
              </a:rPr>
              <a:t>coef</a:t>
            </a:r>
            <a:r>
              <a:rPr lang="en-US" altLang="zh-CN" sz="2400" dirty="0">
                <a:latin typeface="Arial" panose="020B0604020202020204" pitchFamily="34" charset="0"/>
              </a:rPr>
              <a:t> = coef0;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数据域：系数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400" dirty="0">
                <a:latin typeface="Arial" panose="020B0604020202020204" pitchFamily="34" charset="0"/>
              </a:rPr>
              <a:t>        </a:t>
            </a:r>
            <a:r>
              <a:rPr lang="en-US" altLang="zh-CN" sz="2400" dirty="0">
                <a:latin typeface="Arial" panose="020B0604020202020204" pitchFamily="34" charset="0"/>
              </a:rPr>
              <a:t>r0-&gt;next = NULL; </a:t>
            </a:r>
            <a:r>
              <a:rPr lang="en-US" altLang="zh-CN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指针域</a:t>
            </a:r>
            <a:endParaRPr lang="zh-CN" altLang="en-US" sz="24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solidFill>
                  <a:srgbClr val="FF0000"/>
                </a:solidFill>
                <a:latin typeface="Arial" panose="020B0604020202020204" pitchFamily="34" charset="0"/>
              </a:rPr>
              <a:t>     </a:t>
            </a:r>
            <a:r>
              <a:rPr lang="zh-CN" altLang="en-US" dirty="0">
                <a:solidFill>
                  <a:srgbClr val="F52EFC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 err="1">
                <a:solidFill>
                  <a:srgbClr val="F52EFC"/>
                </a:solidFill>
                <a:latin typeface="Arial" panose="020B0604020202020204" pitchFamily="34" charset="0"/>
              </a:rPr>
              <a:t>rr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-&gt;next= r0;</a:t>
            </a:r>
            <a:r>
              <a:rPr lang="zh-CN" altLang="en-US" sz="1800" dirty="0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</a:rPr>
              <a:t>//加到表尾</a:t>
            </a:r>
            <a:endParaRPr lang="zh-CN" altLang="en-US" sz="1800" dirty="0">
              <a:solidFill>
                <a:schemeClr val="accent3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rgbClr val="FFC000"/>
                </a:solidFill>
                <a:latin typeface="Arial" panose="020B0604020202020204" pitchFamily="34" charset="0"/>
              </a:rPr>
              <a:t>}</a:t>
            </a:r>
            <a:endParaRPr lang="zh-CN" altLang="en-US" sz="1800" dirty="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050588" y="6350000"/>
            <a:ext cx="609600" cy="457200"/>
          </a:xfrm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3E59FF5C-D61A-4044-B007-89D8B5F2989F}" type="slidenum">
              <a:rPr lang="zh-CN" altLang="en-US" b="0" smtClean="0"/>
            </a:fld>
            <a:endParaRPr lang="en-US" altLang="zh-CN" b="0" dirty="0"/>
          </a:p>
        </p:txBody>
      </p:sp>
      <p:sp>
        <p:nvSpPr>
          <p:cNvPr id="78853" name="Rectangle 3"/>
          <p:cNvSpPr>
            <a:spLocks noChangeArrowheads="1"/>
          </p:cNvSpPr>
          <p:nvPr/>
        </p:nvSpPr>
        <p:spPr bwMode="auto">
          <a:xfrm flipH="1">
            <a:off x="6096000" y="4187825"/>
            <a:ext cx="2181225" cy="4775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  <a:latin typeface="Arial" panose="020B0604020202020204" pitchFamily="34" charset="0"/>
              </a:rPr>
              <a:t>表头指针</a:t>
            </a:r>
            <a:r>
              <a:rPr lang="en-US" altLang="zh-CN" sz="2800">
                <a:solidFill>
                  <a:srgbClr val="FFFF00"/>
                </a:solidFill>
                <a:latin typeface="Arial" panose="020B0604020202020204" pitchFamily="34" charset="0"/>
              </a:rPr>
              <a:t> s</a:t>
            </a:r>
            <a:endParaRPr lang="en-US" altLang="zh-CN" sz="2800">
              <a:solidFill>
                <a:srgbClr val="FFFF00"/>
              </a:solidFill>
              <a:latin typeface="Arial" panose="020B0604020202020204" pitchFamily="34" charset="0"/>
            </a:endParaRPr>
          </a:p>
        </p:txBody>
      </p:sp>
      <p:grpSp>
        <p:nvGrpSpPr>
          <p:cNvPr id="78855" name="Group 5"/>
          <p:cNvGrpSpPr/>
          <p:nvPr/>
        </p:nvGrpSpPr>
        <p:grpSpPr bwMode="auto">
          <a:xfrm flipH="1">
            <a:off x="9859963" y="4805363"/>
            <a:ext cx="736600" cy="708025"/>
            <a:chOff x="0" y="0"/>
            <a:chExt cx="20000" cy="20000"/>
          </a:xfrm>
        </p:grpSpPr>
        <p:sp>
          <p:nvSpPr>
            <p:cNvPr id="78888" name="Rectangle 6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9" name="Line 7"/>
            <p:cNvSpPr>
              <a:spLocks noChangeShapeType="1"/>
            </p:cNvSpPr>
            <p:nvPr/>
          </p:nvSpPr>
          <p:spPr bwMode="auto">
            <a:xfrm>
              <a:off x="557" y="13835"/>
              <a:ext cx="19443" cy="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78856" name="Freeform 11"/>
          <p:cNvSpPr/>
          <p:nvPr/>
        </p:nvSpPr>
        <p:spPr bwMode="auto">
          <a:xfrm flipH="1">
            <a:off x="9145588" y="4908550"/>
            <a:ext cx="676275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8857" name="Group 14"/>
          <p:cNvGrpSpPr/>
          <p:nvPr/>
        </p:nvGrpSpPr>
        <p:grpSpPr bwMode="auto">
          <a:xfrm flipH="1">
            <a:off x="8399463" y="4824413"/>
            <a:ext cx="733425" cy="722312"/>
            <a:chOff x="0" y="0"/>
            <a:chExt cx="20000" cy="20000"/>
          </a:xfrm>
        </p:grpSpPr>
        <p:sp>
          <p:nvSpPr>
            <p:cNvPr id="78886" name="Rectangle 15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7" name="Line 16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grpSp>
        <p:nvGrpSpPr>
          <p:cNvPr id="78858" name="Group 17"/>
          <p:cNvGrpSpPr/>
          <p:nvPr/>
        </p:nvGrpSpPr>
        <p:grpSpPr bwMode="auto">
          <a:xfrm flipH="1">
            <a:off x="7278688" y="4824413"/>
            <a:ext cx="733425" cy="722312"/>
            <a:chOff x="0" y="0"/>
            <a:chExt cx="20000" cy="20000"/>
          </a:xfrm>
        </p:grpSpPr>
        <p:sp>
          <p:nvSpPr>
            <p:cNvPr id="78884" name="Rectangle 18"/>
            <p:cNvSpPr>
              <a:spLocks noChangeArrowheads="1"/>
            </p:cNvSpPr>
            <p:nvPr/>
          </p:nvSpPr>
          <p:spPr bwMode="auto">
            <a:xfrm>
              <a:off x="0" y="0"/>
              <a:ext cx="20000" cy="20000"/>
            </a:xfrm>
            <a:prstGeom prst="rect">
              <a:avLst/>
            </a:prstGeom>
            <a:noFill/>
            <a:ln w="38100" algn="ctr">
              <a:solidFill>
                <a:srgbClr val="FFFF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12700" tIns="12700" rIns="12700" bIns="12700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78885" name="Line 19"/>
            <p:cNvSpPr>
              <a:spLocks noChangeShapeType="1"/>
            </p:cNvSpPr>
            <p:nvPr/>
          </p:nvSpPr>
          <p:spPr bwMode="auto">
            <a:xfrm>
              <a:off x="557" y="13823"/>
              <a:ext cx="19443" cy="38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12700" tIns="12700" rIns="12700" bIns="12700"/>
            <a:lstStyle/>
            <a:p>
              <a:endParaRPr lang="zh-CN" altLang="en-US"/>
            </a:p>
          </p:txBody>
        </p:sp>
      </p:grpSp>
      <p:sp>
        <p:nvSpPr>
          <p:cNvPr id="78859" name="Freeform 20"/>
          <p:cNvSpPr/>
          <p:nvPr/>
        </p:nvSpPr>
        <p:spPr bwMode="auto">
          <a:xfrm flipH="1">
            <a:off x="7688263" y="4908550"/>
            <a:ext cx="669925" cy="500063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860" name="Freeform 22"/>
          <p:cNvSpPr/>
          <p:nvPr/>
        </p:nvSpPr>
        <p:spPr bwMode="auto">
          <a:xfrm flipH="1">
            <a:off x="6886575" y="4767263"/>
            <a:ext cx="373063" cy="228600"/>
          </a:xfrm>
          <a:custGeom>
            <a:avLst/>
            <a:gdLst>
              <a:gd name="T0" fmla="*/ 2147483646 w 20000"/>
              <a:gd name="T1" fmla="*/ 0 h 20000"/>
              <a:gd name="T2" fmla="*/ 2147483646 w 20000"/>
              <a:gd name="T3" fmla="*/ 2147483646 h 20000"/>
              <a:gd name="T4" fmla="*/ 0 w 20000"/>
              <a:gd name="T5" fmla="*/ 2147483646 h 20000"/>
              <a:gd name="T6" fmla="*/ 0 60000 65536"/>
              <a:gd name="T7" fmla="*/ 0 60000 65536"/>
              <a:gd name="T8" fmla="*/ 0 60000 65536"/>
              <a:gd name="T9" fmla="*/ 0 w 20000"/>
              <a:gd name="T10" fmla="*/ 0 h 20000"/>
              <a:gd name="T11" fmla="*/ 20000 w 20000"/>
              <a:gd name="T12" fmla="*/ 20000 h 200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000" h="20000">
                <a:moveTo>
                  <a:pt x="19945" y="0"/>
                </a:moveTo>
                <a:lnTo>
                  <a:pt x="19945" y="19932"/>
                </a:lnTo>
                <a:lnTo>
                  <a:pt x="0" y="19932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10055225" y="4902200"/>
            <a:ext cx="638175" cy="906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>
                <a:latin typeface="Arial" panose="020B0604020202020204" pitchFamily="34" charset="0"/>
              </a:rPr>
              <a:t>.</a:t>
            </a:r>
            <a:endParaRPr lang="en-US" altLang="zh-CN" sz="4000">
              <a:latin typeface="Arial" panose="020B0604020202020204" pitchFamily="34" charset="0"/>
            </a:endParaRPr>
          </a:p>
        </p:txBody>
      </p:sp>
      <p:sp>
        <p:nvSpPr>
          <p:cNvPr id="78862" name="Text Box 39"/>
          <p:cNvSpPr txBox="1">
            <a:spLocks noChangeArrowheads="1"/>
          </p:cNvSpPr>
          <p:nvPr/>
        </p:nvSpPr>
        <p:spPr bwMode="auto">
          <a:xfrm>
            <a:off x="7464425" y="4759325"/>
            <a:ext cx="574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sz="1000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solidFill>
                  <a:srgbClr val="FF0000"/>
                </a:solidFill>
                <a:latin typeface="Arial" panose="020B0604020202020204" pitchFamily="34" charset="0"/>
              </a:rPr>
              <a:t>…</a:t>
            </a:r>
            <a:endParaRPr lang="en-US" altLang="zh-CN" sz="10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78863" name="Text Box 40"/>
          <p:cNvSpPr txBox="1">
            <a:spLocks noChangeArrowheads="1"/>
          </p:cNvSpPr>
          <p:nvPr/>
        </p:nvSpPr>
        <p:spPr bwMode="auto">
          <a:xfrm>
            <a:off x="8607425" y="4759325"/>
            <a:ext cx="574675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</p:txBody>
      </p:sp>
      <p:sp>
        <p:nvSpPr>
          <p:cNvPr id="78864" name="Text Box 42"/>
          <p:cNvSpPr txBox="1">
            <a:spLocks noChangeArrowheads="1"/>
          </p:cNvSpPr>
          <p:nvPr/>
        </p:nvSpPr>
        <p:spPr bwMode="auto">
          <a:xfrm>
            <a:off x="9979025" y="4835525"/>
            <a:ext cx="6096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1000">
                <a:latin typeface="Arial" panose="020B0604020202020204" pitchFamily="34" charset="0"/>
              </a:rPr>
              <a:t>…</a:t>
            </a:r>
            <a:endParaRPr lang="en-US" altLang="zh-CN" sz="1000">
              <a:latin typeface="Arial" panose="020B0604020202020204" pitchFamily="34" charset="0"/>
            </a:endParaRPr>
          </a:p>
        </p:txBody>
      </p:sp>
      <p:cxnSp>
        <p:nvCxnSpPr>
          <p:cNvPr id="78865" name="直接连接符 30"/>
          <p:cNvCxnSpPr/>
          <p:nvPr/>
        </p:nvCxnSpPr>
        <p:spPr bwMode="auto">
          <a:xfrm flipV="1">
            <a:off x="110883" y="3534569"/>
            <a:ext cx="11668125" cy="41275"/>
          </a:xfrm>
          <a:prstGeom prst="line">
            <a:avLst/>
          </a:prstGeom>
          <a:noFill/>
          <a:ln w="25400" algn="ctr">
            <a:solidFill>
              <a:srgbClr val="F52EFC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文本框 55"/>
          <p:cNvSpPr txBox="1">
            <a:spLocks noChangeArrowheads="1"/>
          </p:cNvSpPr>
          <p:nvPr/>
        </p:nvSpPr>
        <p:spPr bwMode="auto">
          <a:xfrm>
            <a:off x="9067800" y="2990850"/>
            <a:ext cx="102425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>
                <a:solidFill>
                  <a:srgbClr val="F52EFC"/>
                </a:solidFill>
              </a:rPr>
              <a:t>形参 </a:t>
            </a:r>
            <a:r>
              <a:rPr lang="en-US" altLang="zh-CN" sz="1800">
                <a:solidFill>
                  <a:srgbClr val="F52EFC"/>
                </a:solidFill>
              </a:rPr>
              <a:t>rr</a:t>
            </a:r>
            <a:endParaRPr lang="en-US" altLang="zh-CN" sz="1800">
              <a:solidFill>
                <a:srgbClr val="F52EFC"/>
              </a:solidFill>
            </a:endParaRPr>
          </a:p>
        </p:txBody>
      </p:sp>
      <p:grpSp>
        <p:nvGrpSpPr>
          <p:cNvPr id="8" name="组合 49"/>
          <p:cNvGrpSpPr/>
          <p:nvPr/>
        </p:nvGrpSpPr>
        <p:grpSpPr bwMode="auto">
          <a:xfrm>
            <a:off x="11350625" y="2165394"/>
            <a:ext cx="685800" cy="1065213"/>
            <a:chOff x="9448712" y="3231932"/>
            <a:chExt cx="685782" cy="1065435"/>
          </a:xfrm>
        </p:grpSpPr>
        <p:grpSp>
          <p:nvGrpSpPr>
            <p:cNvPr id="78879" name="Group 5"/>
            <p:cNvGrpSpPr/>
            <p:nvPr/>
          </p:nvGrpSpPr>
          <p:grpSpPr bwMode="auto">
            <a:xfrm flipH="1">
              <a:off x="9448712" y="3231932"/>
              <a:ext cx="685022" cy="752697"/>
              <a:chOff x="0" y="0"/>
              <a:chExt cx="20000" cy="20000"/>
            </a:xfrm>
          </p:grpSpPr>
          <p:sp>
            <p:nvSpPr>
              <p:cNvPr id="78882" name="Rectangle 6"/>
              <p:cNvSpPr>
                <a:spLocks noChangeArrowheads="1"/>
              </p:cNvSpPr>
              <p:nvPr/>
            </p:nvSpPr>
            <p:spPr bwMode="auto">
              <a:xfrm>
                <a:off x="0" y="0"/>
                <a:ext cx="20000" cy="20000"/>
              </a:xfrm>
              <a:prstGeom prst="rect">
                <a:avLst/>
              </a:prstGeom>
              <a:noFill/>
              <a:ln w="38100" algn="ctr">
                <a:solidFill>
                  <a:schemeClr val="tx1"/>
                </a:solidFill>
                <a:miter lim="800000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12700" tIns="12700" rIns="12700" bIns="12700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SzPct val="8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Char char="–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78883" name="Line 7"/>
              <p:cNvSpPr>
                <a:spLocks noChangeShapeType="1"/>
              </p:cNvSpPr>
              <p:nvPr/>
            </p:nvSpPr>
            <p:spPr bwMode="auto">
              <a:xfrm>
                <a:off x="557" y="13835"/>
                <a:ext cx="19443" cy="3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12700" tIns="12700" rIns="12700" bIns="12700"/>
              <a:lstStyle/>
              <a:p>
                <a:endParaRPr lang="zh-CN" altLang="en-US"/>
              </a:p>
            </p:txBody>
          </p:sp>
        </p:grpSp>
        <p:sp>
          <p:nvSpPr>
            <p:cNvPr id="78880" name="Text Box 23"/>
            <p:cNvSpPr txBox="1">
              <a:spLocks noChangeArrowheads="1"/>
            </p:cNvSpPr>
            <p:nvPr/>
          </p:nvSpPr>
          <p:spPr bwMode="auto">
            <a:xfrm>
              <a:off x="9534437" y="3333712"/>
              <a:ext cx="593489" cy="963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4000">
                  <a:latin typeface="Arial" panose="020B0604020202020204" pitchFamily="34" charset="0"/>
                </a:rPr>
                <a:t>.</a:t>
              </a:r>
              <a:endParaRPr lang="en-US" altLang="zh-CN" sz="4000">
                <a:latin typeface="Arial" panose="020B0604020202020204" pitchFamily="34" charset="0"/>
              </a:endParaRPr>
            </a:p>
          </p:txBody>
        </p:sp>
        <p:sp>
          <p:nvSpPr>
            <p:cNvPr id="78881" name="Text Box 42"/>
            <p:cNvSpPr txBox="1">
              <a:spLocks noChangeArrowheads="1"/>
            </p:cNvSpPr>
            <p:nvPr/>
          </p:nvSpPr>
          <p:spPr bwMode="auto">
            <a:xfrm>
              <a:off x="9567594" y="3276604"/>
              <a:ext cx="566900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</a:rPr>
                <a:t>…</a:t>
              </a:r>
              <a:endParaRPr lang="en-US" altLang="zh-CN" sz="1000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1000" dirty="0">
                  <a:latin typeface="Arial" panose="020B0604020202020204" pitchFamily="34" charset="0"/>
                </a:rPr>
                <a:t>…</a:t>
              </a:r>
              <a:endParaRPr lang="en-US" altLang="zh-CN" sz="1000" dirty="0">
                <a:latin typeface="Arial" panose="020B0604020202020204" pitchFamily="34" charset="0"/>
              </a:endParaRPr>
            </a:p>
          </p:txBody>
        </p:sp>
      </p:grpSp>
      <p:sp>
        <p:nvSpPr>
          <p:cNvPr id="44" name="文本框 55"/>
          <p:cNvSpPr txBox="1">
            <a:spLocks noChangeArrowheads="1"/>
          </p:cNvSpPr>
          <p:nvPr/>
        </p:nvSpPr>
        <p:spPr bwMode="auto">
          <a:xfrm>
            <a:off x="11214100" y="1744345"/>
            <a:ext cx="666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>
                <a:solidFill>
                  <a:srgbClr val="F52EFC"/>
                </a:solidFill>
              </a:rPr>
              <a:t>r0</a:t>
            </a:r>
            <a:endParaRPr lang="en-US" altLang="zh-CN" sz="1800">
              <a:solidFill>
                <a:srgbClr val="F52EFC"/>
              </a:solidFill>
            </a:endParaRPr>
          </a:p>
        </p:txBody>
      </p:sp>
      <p:sp>
        <p:nvSpPr>
          <p:cNvPr id="45" name="Freeform 11"/>
          <p:cNvSpPr/>
          <p:nvPr/>
        </p:nvSpPr>
        <p:spPr bwMode="auto">
          <a:xfrm flipH="1">
            <a:off x="10283825" y="2376532"/>
            <a:ext cx="1066800" cy="3025732"/>
          </a:xfrm>
          <a:custGeom>
            <a:avLst/>
            <a:gdLst>
              <a:gd name="T0" fmla="*/ 2147483646 w 20000"/>
              <a:gd name="T1" fmla="*/ 2147483646 h 20000"/>
              <a:gd name="T2" fmla="*/ 2147483646 w 20000"/>
              <a:gd name="T3" fmla="*/ 2147483646 h 20000"/>
              <a:gd name="T4" fmla="*/ 2147483646 w 20000"/>
              <a:gd name="T5" fmla="*/ 0 h 20000"/>
              <a:gd name="T6" fmla="*/ 0 w 20000"/>
              <a:gd name="T7" fmla="*/ 0 h 20000"/>
              <a:gd name="T8" fmla="*/ 0 60000 65536"/>
              <a:gd name="T9" fmla="*/ 0 60000 65536"/>
              <a:gd name="T10" fmla="*/ 0 60000 65536"/>
              <a:gd name="T11" fmla="*/ 0 60000 65536"/>
              <a:gd name="T12" fmla="*/ 0 w 20000"/>
              <a:gd name="T13" fmla="*/ 0 h 20000"/>
              <a:gd name="T14" fmla="*/ 20000 w 20000"/>
              <a:gd name="T15" fmla="*/ 20000 h 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000" h="20000">
                <a:moveTo>
                  <a:pt x="19970" y="19944"/>
                </a:moveTo>
                <a:lnTo>
                  <a:pt x="6657" y="19944"/>
                </a:lnTo>
                <a:lnTo>
                  <a:pt x="6657" y="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>
                <a:lumMod val="60000"/>
                <a:lumOff val="40000"/>
              </a:schemeClr>
            </a:solidFill>
            <a:round/>
            <a:headEnd type="none" w="sm" len="sm"/>
            <a:tailEnd type="triangle" w="med" len="lg"/>
          </a:ln>
        </p:spPr>
        <p:txBody>
          <a:bodyPr/>
          <a:lstStyle/>
          <a:p>
            <a:pPr>
              <a:defRPr/>
            </a:pPr>
            <a:endParaRPr lang="zh-CN" alt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8872" name="文本框 55"/>
          <p:cNvSpPr txBox="1">
            <a:spLocks noChangeArrowheads="1"/>
          </p:cNvSpPr>
          <p:nvPr/>
        </p:nvSpPr>
        <p:spPr bwMode="auto">
          <a:xfrm>
            <a:off x="8915400" y="5910580"/>
            <a:ext cx="1918970" cy="487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FF00"/>
                </a:solidFill>
              </a:rPr>
              <a:t>表尾指针 </a:t>
            </a:r>
            <a:r>
              <a:rPr lang="en-US" altLang="zh-CN" sz="2800">
                <a:solidFill>
                  <a:srgbClr val="FFFF00"/>
                </a:solidFill>
              </a:rPr>
              <a:t>r</a:t>
            </a:r>
            <a:endParaRPr lang="zh-CN" altLang="en-US" sz="2800">
              <a:solidFill>
                <a:srgbClr val="FFFF00"/>
              </a:solidFill>
            </a:endParaRPr>
          </a:p>
        </p:txBody>
      </p:sp>
      <p:cxnSp>
        <p:nvCxnSpPr>
          <p:cNvPr id="48" name="直接箭头连接符 47"/>
          <p:cNvCxnSpPr/>
          <p:nvPr/>
        </p:nvCxnSpPr>
        <p:spPr bwMode="auto">
          <a:xfrm>
            <a:off x="10207625" y="5511800"/>
            <a:ext cx="0" cy="398463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-20280" y="3581396"/>
            <a:ext cx="6064250" cy="3170099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dirty="0" err="1">
                <a:solidFill>
                  <a:srgbClr val="F52EFC"/>
                </a:solidFill>
                <a:latin typeface="Arial" panose="020B0604020202020204" pitchFamily="34" charset="0"/>
              </a:rPr>
              <a:t>Addpolynome</a:t>
            </a: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函数：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dirty="0">
                <a:latin typeface="Arial" panose="020B0604020202020204" pitchFamily="34" charset="0"/>
              </a:rPr>
              <a:t>已有</a:t>
            </a:r>
            <a:r>
              <a:rPr lang="en-US" altLang="zh-CN" sz="2400" dirty="0" err="1">
                <a:latin typeface="Arial" panose="020B0604020202020204" pitchFamily="34" charset="0"/>
              </a:rPr>
              <a:t>polynome</a:t>
            </a:r>
            <a:r>
              <a:rPr lang="en-US" altLang="zh-CN" sz="2400" dirty="0">
                <a:latin typeface="Arial" panose="020B0604020202020204" pitchFamily="34" charset="0"/>
              </a:rPr>
              <a:t> 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s</a:t>
            </a:r>
            <a:r>
              <a:rPr lang="en-US" altLang="zh-CN" sz="2400" dirty="0" err="1">
                <a:latin typeface="Arial" panose="020B0604020202020204" pitchFamily="34" charset="0"/>
              </a:rPr>
              <a:t>,</a:t>
            </a:r>
            <a:r>
              <a:rPr lang="en-US" altLang="zh-CN" sz="2400" dirty="0" err="1">
                <a:solidFill>
                  <a:srgbClr val="FFFF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latin typeface="Arial" panose="020B0604020202020204" pitchFamily="34" charset="0"/>
              </a:rPr>
              <a:t>;  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表头指针和表尾指针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300" dirty="0"/>
              <a:t>while ( p!=NULL)&amp;&amp;(q!=NULL) )</a:t>
            </a:r>
            <a:endParaRPr lang="en-US" altLang="zh-CN" sz="23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/>
              <a:t>{ </a:t>
            </a:r>
            <a:r>
              <a:rPr lang="en-US" altLang="zh-CN" sz="1800" dirty="0"/>
              <a:t>if ( p-&gt;exp &gt; q-&gt;exp ) </a:t>
            </a:r>
            <a:r>
              <a:rPr lang="zh-CN" altLang="en-US" sz="1800" dirty="0"/>
              <a:t>	</a:t>
            </a:r>
            <a:r>
              <a:rPr lang="en-US" altLang="zh-CN" sz="1800" dirty="0">
                <a:solidFill>
                  <a:srgbClr val="FF99FF"/>
                </a:solidFill>
                <a:latin typeface="Arial" panose="020B0604020202020204" pitchFamily="34" charset="0"/>
              </a:rPr>
              <a:t> </a:t>
            </a:r>
            <a:endParaRPr lang="en-US" altLang="zh-CN" sz="1800" dirty="0">
              <a:solidFill>
                <a:srgbClr val="FF99FF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>
                <a:solidFill>
                  <a:srgbClr val="FF99FF"/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latin typeface="Arial" panose="020B0604020202020204" pitchFamily="34" charset="0"/>
              </a:rPr>
              <a:t>{</a:t>
            </a: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F52EFC"/>
                </a:solidFill>
                <a:latin typeface="Arial" panose="020B0604020202020204" pitchFamily="34" charset="0"/>
              </a:rPr>
              <a:t>adds( </a:t>
            </a:r>
            <a:r>
              <a:rPr lang="en-US" altLang="zh-CN" sz="2400" dirty="0">
                <a:latin typeface="Arial" panose="020B0604020202020204" pitchFamily="34" charset="0"/>
              </a:rPr>
              <a:t>p-&gt;exp , p-&gt;</a:t>
            </a:r>
            <a:r>
              <a:rPr lang="en-US" altLang="zh-CN" sz="2400" dirty="0" err="1">
                <a:latin typeface="Arial" panose="020B0604020202020204" pitchFamily="34" charset="0"/>
              </a:rPr>
              <a:t>coef</a:t>
            </a:r>
            <a:r>
              <a:rPr lang="en-US" altLang="zh-CN" sz="2400" dirty="0">
                <a:latin typeface="Arial" panose="020B0604020202020204" pitchFamily="34" charset="0"/>
              </a:rPr>
              <a:t>, </a:t>
            </a:r>
            <a:r>
              <a:rPr lang="en-US" altLang="zh-CN" sz="2400" dirty="0">
                <a:solidFill>
                  <a:srgbClr val="FFFF00"/>
                </a:solidFill>
                <a:latin typeface="Arial" panose="020B0604020202020204" pitchFamily="34" charset="0"/>
              </a:rPr>
              <a:t>r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20204" pitchFamily="34" charset="0"/>
              </a:rPr>
              <a:t>)</a:t>
            </a:r>
            <a:r>
              <a:rPr lang="en-US" altLang="zh-CN" sz="2400" dirty="0">
                <a:latin typeface="Arial" panose="020B0604020202020204" pitchFamily="34" charset="0"/>
              </a:rPr>
              <a:t>; </a:t>
            </a:r>
            <a:r>
              <a:rPr lang="en-US" altLang="zh-CN" sz="1800" dirty="0"/>
              <a:t>……}</a:t>
            </a:r>
            <a:endParaRPr lang="en-US" altLang="zh-CN" sz="18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else if(……</a:t>
            </a:r>
            <a:r>
              <a:rPr lang="zh-CN" altLang="en-US" sz="1800" dirty="0"/>
              <a:t>）	</a:t>
            </a:r>
            <a:r>
              <a:rPr lang="en-US" altLang="zh-CN" sz="1800" dirty="0">
                <a:solidFill>
                  <a:srgbClr val="F52EFC"/>
                </a:solidFill>
              </a:rPr>
              <a:t>……</a:t>
            </a:r>
            <a:endParaRPr lang="en-US" altLang="zh-CN" sz="1800" dirty="0">
              <a:solidFill>
                <a:srgbClr val="F52EFC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else		</a:t>
            </a:r>
            <a:r>
              <a:rPr lang="en-US" altLang="zh-CN" sz="1800" dirty="0">
                <a:solidFill>
                  <a:srgbClr val="F52EFC"/>
                </a:solidFill>
              </a:rPr>
              <a:t>……</a:t>
            </a:r>
            <a:endParaRPr lang="en-US" altLang="zh-CN" sz="1800" dirty="0">
              <a:solidFill>
                <a:srgbClr val="F52EFC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    </a:t>
            </a:r>
            <a:r>
              <a:rPr lang="en-US" altLang="zh-CN" sz="2300" dirty="0">
                <a:solidFill>
                  <a:srgbClr val="FFFF00"/>
                </a:solidFill>
              </a:rPr>
              <a:t>r=r-&gt;next; </a:t>
            </a:r>
            <a:r>
              <a:rPr lang="en-US" altLang="zh-CN" sz="1800" dirty="0">
                <a:solidFill>
                  <a:srgbClr val="FFFF00"/>
                </a:solidFill>
              </a:rPr>
              <a:t>//</a:t>
            </a:r>
            <a:r>
              <a:rPr lang="zh-CN" altLang="en-US" sz="1800" dirty="0">
                <a:solidFill>
                  <a:srgbClr val="FFFF00"/>
                </a:solidFill>
              </a:rPr>
              <a:t>让</a:t>
            </a:r>
            <a:r>
              <a:rPr lang="en-US" altLang="zh-CN" sz="1800" dirty="0">
                <a:solidFill>
                  <a:srgbClr val="FFFF00"/>
                </a:solidFill>
              </a:rPr>
              <a:t>r</a:t>
            </a:r>
            <a:r>
              <a:rPr lang="zh-CN" altLang="en-US" sz="1800" dirty="0">
                <a:solidFill>
                  <a:srgbClr val="FFFF00"/>
                </a:solidFill>
              </a:rPr>
              <a:t>指向新的尾结点</a:t>
            </a:r>
            <a:endParaRPr lang="zh-CN" altLang="en-US" sz="1800" dirty="0">
              <a:solidFill>
                <a:srgbClr val="FFFF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800" dirty="0"/>
              <a:t>}</a:t>
            </a:r>
            <a:endParaRPr lang="zh-CN" altLang="en-US" sz="1800" dirty="0"/>
          </a:p>
        </p:txBody>
      </p:sp>
      <p:cxnSp>
        <p:nvCxnSpPr>
          <p:cNvPr id="64" name="直接箭头连接符 63"/>
          <p:cNvCxnSpPr/>
          <p:nvPr/>
        </p:nvCxnSpPr>
        <p:spPr bwMode="auto">
          <a:xfrm>
            <a:off x="9979025" y="2990894"/>
            <a:ext cx="0" cy="1809706"/>
          </a:xfrm>
          <a:prstGeom prst="straightConnector1">
            <a:avLst/>
          </a:prstGeom>
          <a:noFill/>
          <a:ln w="50800" algn="ctr">
            <a:solidFill>
              <a:srgbClr val="F52EFC"/>
            </a:solidFill>
            <a:rou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2" name="组合 78"/>
          <p:cNvGrpSpPr/>
          <p:nvPr/>
        </p:nvGrpSpPr>
        <p:grpSpPr bwMode="auto">
          <a:xfrm>
            <a:off x="10817225" y="2941012"/>
            <a:ext cx="762000" cy="3154988"/>
            <a:chOff x="6019802" y="3962386"/>
            <a:chExt cx="685782" cy="2666930"/>
          </a:xfrm>
        </p:grpSpPr>
        <p:cxnSp>
          <p:nvCxnSpPr>
            <p:cNvPr id="78877" name="直接连接符 71"/>
            <p:cNvCxnSpPr>
              <a:cxnSpLocks noChangeShapeType="1"/>
            </p:cNvCxnSpPr>
            <p:nvPr/>
          </p:nvCxnSpPr>
          <p:spPr bwMode="auto">
            <a:xfrm>
              <a:off x="6019802" y="6629316"/>
              <a:ext cx="685782" cy="0"/>
            </a:xfrm>
            <a:prstGeom prst="line">
              <a:avLst/>
            </a:prstGeom>
            <a:noFill/>
            <a:ln w="50800" algn="ctr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878" name="直接箭头连接符 75"/>
            <p:cNvCxnSpPr>
              <a:cxnSpLocks noChangeShapeType="1"/>
            </p:cNvCxnSpPr>
            <p:nvPr/>
          </p:nvCxnSpPr>
          <p:spPr bwMode="auto">
            <a:xfrm flipV="1">
              <a:off x="6705584" y="3962386"/>
              <a:ext cx="0" cy="2666930"/>
            </a:xfrm>
            <a:prstGeom prst="straightConnector1">
              <a:avLst/>
            </a:prstGeom>
            <a:noFill/>
            <a:ln w="50800" algn="ctr">
              <a:solidFill>
                <a:schemeClr val="accent2"/>
              </a:solidFill>
              <a:rou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3" name="直接箭头连接符 2"/>
          <p:cNvCxnSpPr/>
          <p:nvPr/>
        </p:nvCxnSpPr>
        <p:spPr bwMode="auto">
          <a:xfrm flipV="1">
            <a:off x="4648238" y="533477"/>
            <a:ext cx="3625812" cy="470209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52EFC"/>
            </a:solidFill>
            <a:prstDash val="solid"/>
            <a:round/>
            <a:headEnd type="none" w="med" len="med"/>
            <a:tailEnd type="stealth"/>
          </a:ln>
        </p:spPr>
      </p:cxnSp>
      <p:cxnSp>
        <p:nvCxnSpPr>
          <p:cNvPr id="4" name="直接箭头连接符 3"/>
          <p:cNvCxnSpPr/>
          <p:nvPr/>
        </p:nvCxnSpPr>
        <p:spPr bwMode="auto">
          <a:xfrm flipV="1">
            <a:off x="11734800" y="1906905"/>
            <a:ext cx="0" cy="304800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文本框 5"/>
          <p:cNvSpPr txBox="1"/>
          <p:nvPr/>
        </p:nvSpPr>
        <p:spPr>
          <a:xfrm>
            <a:off x="7304405" y="5594350"/>
            <a:ext cx="7086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哨兵</a:t>
            </a:r>
            <a:r>
              <a:rPr lang="zh-CN" altLang="en-US"/>
              <a:t>结点</a:t>
            </a:r>
            <a:endParaRPr lang="zh-CN" altLang="en-US"/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5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6" grpId="0"/>
      <p:bldP spid="44" grpId="0"/>
      <p:bldP spid="53" grpId="0" bldLvl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29CE02E8-E3E2-4207-BEBF-1B0965F025A9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3187" name="矩形 2"/>
          <p:cNvSpPr>
            <a:spLocks noChangeArrowheads="1"/>
          </p:cNvSpPr>
          <p:nvPr/>
        </p:nvSpPr>
        <p:spPr bwMode="auto">
          <a:xfrm>
            <a:off x="1105031" y="0"/>
            <a:ext cx="9981938" cy="677037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创建链表，共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项，即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n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个结点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create(</a:t>
            </a:r>
            <a:r>
              <a:rPr lang="en-US" altLang="zh-CN" dirty="0" err="1">
                <a:latin typeface="Arial" panose="020B0604020202020204" pitchFamily="34" charset="0"/>
              </a:rPr>
              <a:t>int</a:t>
            </a:r>
            <a:r>
              <a:rPr lang="en-US" altLang="zh-CN" dirty="0">
                <a:latin typeface="Arial" panose="020B0604020202020204" pitchFamily="34" charset="0"/>
              </a:rPr>
              <a:t> n</a:t>
            </a: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//p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指向新结点，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p0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指向其前驱结点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 head=NULL,p0,p;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zh-CN" altLang="en-US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创建第</a:t>
            </a:r>
            <a:r>
              <a:rPr lang="en-US" altLang="zh-CN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1</a:t>
            </a:r>
            <a:r>
              <a:rPr lang="zh-CN" altLang="en-US" sz="18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项</a:t>
            </a:r>
            <a:endParaRPr lang="en-US" altLang="zh-CN" sz="1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        p=(</a:t>
            </a:r>
            <a:r>
              <a:rPr lang="en-US" altLang="zh-CN" dirty="0" err="1">
                <a:latin typeface="Arial" panose="020B0604020202020204" pitchFamily="34" charset="0"/>
              </a:rPr>
              <a:t>polynome</a:t>
            </a:r>
            <a:r>
              <a:rPr lang="en-US" altLang="zh-CN" dirty="0">
                <a:latin typeface="Arial" panose="020B0604020202020204" pitchFamily="34" charset="0"/>
              </a:rPr>
              <a:t>)</a:t>
            </a:r>
            <a:r>
              <a:rPr lang="en-US" altLang="zh-CN" dirty="0" err="1">
                <a:solidFill>
                  <a:srgbClr val="FFFF00"/>
                </a:solidFill>
                <a:latin typeface="Arial" panose="020B0604020202020204" pitchFamily="34" charset="0"/>
              </a:rPr>
              <a:t>malloc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sizeof</a:t>
            </a:r>
            <a:r>
              <a:rPr lang="en-US" altLang="zh-CN" dirty="0">
                <a:latin typeface="Arial" panose="020B0604020202020204" pitchFamily="34" charset="0"/>
              </a:rPr>
              <a:t>(</a:t>
            </a:r>
            <a:r>
              <a:rPr lang="en-US" altLang="zh-CN" dirty="0" err="1">
                <a:latin typeface="Arial" panose="020B0604020202020204" pitchFamily="34" charset="0"/>
              </a:rPr>
              <a:t>struct</a:t>
            </a:r>
            <a:r>
              <a:rPr lang="en-US" altLang="zh-CN" dirty="0">
                <a:latin typeface="Arial" panose="020B0604020202020204" pitchFamily="34" charset="0"/>
              </a:rPr>
              <a:t> item)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)</a:t>
            </a:r>
            <a:r>
              <a:rPr lang="en-US" altLang="zh-CN" dirty="0">
                <a:latin typeface="Arial" panose="020B0604020202020204" pitchFamily="34" charset="0"/>
              </a:rPr>
              <a:t>;  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en-US" altLang="zh-CN" sz="2000" dirty="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000" dirty="0">
                <a:latin typeface="Arial" panose="020B0604020202020204" pitchFamily="34" charset="0"/>
              </a:rPr>
              <a:t>请输入该项的系数</a:t>
            </a:r>
            <a:r>
              <a:rPr lang="en-US" altLang="zh-CN" sz="2000" dirty="0">
                <a:latin typeface="Arial" panose="020B0604020202020204" pitchFamily="34" charset="0"/>
              </a:rPr>
              <a:t>:");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scanf</a:t>
            </a:r>
            <a:r>
              <a:rPr lang="en-US" altLang="zh-CN" dirty="0">
                <a:latin typeface="Arial" panose="020B0604020202020204" pitchFamily="34" charset="0"/>
              </a:rPr>
              <a:t>("%f", &amp;p-&gt;</a:t>
            </a:r>
            <a:r>
              <a:rPr lang="en-US" altLang="zh-CN" dirty="0" err="1">
                <a:latin typeface="Arial" panose="020B0604020202020204" pitchFamily="34" charset="0"/>
              </a:rPr>
              <a:t>coef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("</a:t>
            </a:r>
            <a:r>
              <a:rPr lang="zh-CN" altLang="en-US" sz="2000" dirty="0">
                <a:latin typeface="Arial" panose="020B0604020202020204" pitchFamily="34" charset="0"/>
              </a:rPr>
              <a:t>请输入该项的幂次</a:t>
            </a:r>
            <a:r>
              <a:rPr lang="en-US" altLang="zh-CN" sz="2000" dirty="0">
                <a:latin typeface="Arial" panose="020B0604020202020204" pitchFamily="34" charset="0"/>
              </a:rPr>
              <a:t>:");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r>
              <a:rPr lang="en-US" altLang="zh-CN" dirty="0" err="1">
                <a:latin typeface="Arial" panose="020B0604020202020204" pitchFamily="34" charset="0"/>
              </a:rPr>
              <a:t>scanf</a:t>
            </a:r>
            <a:r>
              <a:rPr lang="en-US" altLang="zh-CN" dirty="0">
                <a:latin typeface="Arial" panose="020B0604020202020204" pitchFamily="34" charset="0"/>
              </a:rPr>
              <a:t>("%d", &amp;p-&gt;</a:t>
            </a:r>
            <a:r>
              <a:rPr lang="en-US" altLang="zh-CN" dirty="0" err="1">
                <a:latin typeface="Arial" panose="020B0604020202020204" pitchFamily="34" charset="0"/>
              </a:rPr>
              <a:t>exp</a:t>
            </a:r>
            <a:r>
              <a:rPr lang="en-US" altLang="zh-CN" dirty="0">
                <a:latin typeface="Arial" panose="020B0604020202020204" pitchFamily="34" charset="0"/>
              </a:rPr>
              <a:t>);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dirty="0">
                <a:latin typeface="Arial" panose="020B0604020202020204" pitchFamily="34" charset="0"/>
              </a:rPr>
              <a:t>	p-&gt;next=NULL;</a:t>
            </a:r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E52B657B-5E1D-4BD4-B053-75249F50F19B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94211" name="矩形 2"/>
          <p:cNvSpPr>
            <a:spLocks noChangeArrowheads="1"/>
          </p:cNvSpPr>
          <p:nvPr/>
        </p:nvSpPr>
        <p:spPr bwMode="auto">
          <a:xfrm>
            <a:off x="1524000" y="28575"/>
            <a:ext cx="10788650" cy="675068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head=p; 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while(--n)//</a:t>
            </a: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入队算法</a:t>
            </a:r>
            <a:endParaRPr lang="zh-CN" altLang="en-US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rgbClr val="F52EFC"/>
                </a:solidFill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r>
              <a:rPr lang="en-US" altLang="zh-CN" sz="2800" dirty="0">
                <a:latin typeface="Arial" panose="020B0604020202020204" pitchFamily="34" charset="0"/>
              </a:rPr>
              <a:t>	p0=p; 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//使p0指向当前的表尾结点</a:t>
            </a: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		</a:t>
            </a:r>
            <a:endParaRPr lang="en-US" altLang="zh-CN" sz="24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eaLnBrk="1" hangingPunct="1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		p=(</a:t>
            </a:r>
            <a:r>
              <a:rPr lang="en-US" altLang="zh-CN" sz="2800" dirty="0" err="1">
                <a:latin typeface="Arial" panose="020B0604020202020204" pitchFamily="34" charset="0"/>
              </a:rPr>
              <a:t>polynome</a:t>
            </a:r>
            <a:r>
              <a:rPr lang="en-US" altLang="zh-CN" sz="2800" dirty="0">
                <a:latin typeface="Arial" panose="020B0604020202020204" pitchFamily="34" charset="0"/>
              </a:rPr>
              <a:t>)</a:t>
            </a:r>
            <a:r>
              <a:rPr lang="en-US" altLang="zh-CN" sz="2800" dirty="0" err="1">
                <a:latin typeface="Arial" panose="020B0604020202020204" pitchFamily="34" charset="0"/>
              </a:rPr>
              <a:t>malloc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</a:rPr>
              <a:t>sizeof</a:t>
            </a:r>
            <a:r>
              <a:rPr lang="en-US" altLang="zh-CN" sz="2800" dirty="0">
                <a:latin typeface="Arial" panose="020B0604020202020204" pitchFamily="34" charset="0"/>
              </a:rPr>
              <a:t>(</a:t>
            </a:r>
            <a:r>
              <a:rPr lang="en-US" altLang="zh-CN" sz="2800" dirty="0" err="1">
                <a:latin typeface="Arial" panose="020B0604020202020204" pitchFamily="34" charset="0"/>
              </a:rPr>
              <a:t>struct</a:t>
            </a:r>
            <a:r>
              <a:rPr lang="en-US" altLang="zh-CN" sz="2800" dirty="0">
                <a:latin typeface="Arial" panose="020B0604020202020204" pitchFamily="34" charset="0"/>
              </a:rPr>
              <a:t> item));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  <a:sym typeface="+mn-ea"/>
              </a:rPr>
              <a:t>//申请新结点</a:t>
            </a:r>
            <a:endParaRPr lang="zh-CN" altLang="en-US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</a:t>
            </a:r>
            <a:r>
              <a:rPr lang="en-US" altLang="zh-CN" sz="2000">
                <a:latin typeface="Arial" panose="020B0604020202020204" pitchFamily="34" charset="0"/>
                <a:sym typeface="+mn-ea"/>
              </a:rPr>
              <a:t>"</a:t>
            </a:r>
            <a:r>
              <a:rPr lang="zh-CN" altLang="en-US" sz="2000" dirty="0">
                <a:latin typeface="Arial" panose="020B0604020202020204" pitchFamily="34" charset="0"/>
              </a:rPr>
              <a:t>请输入该项的系数：</a:t>
            </a:r>
            <a:r>
              <a:rPr lang="en-US" altLang="zh-CN" sz="2000">
                <a:latin typeface="Arial" panose="020B0604020202020204" pitchFamily="34" charset="0"/>
                <a:sym typeface="+mn-ea"/>
              </a:rPr>
              <a:t>"</a:t>
            </a:r>
            <a:r>
              <a:rPr lang="en-US" altLang="zh-CN" sz="2000" dirty="0">
                <a:latin typeface="Arial" panose="020B0604020202020204" pitchFamily="34" charset="0"/>
              </a:rPr>
              <a:t>); </a:t>
            </a:r>
            <a:r>
              <a:rPr lang="en-US" altLang="zh-CN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数据域</a:t>
            </a:r>
            <a:endParaRPr lang="en-US" altLang="zh-CN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scanf</a:t>
            </a:r>
            <a:r>
              <a:rPr lang="en-US" altLang="zh-CN" sz="2800" dirty="0">
                <a:latin typeface="Arial" panose="020B0604020202020204" pitchFamily="34" charset="0"/>
              </a:rPr>
              <a:t>("%f", &amp;p-&gt;</a:t>
            </a:r>
            <a:r>
              <a:rPr lang="en-US" altLang="zh-CN" sz="2800" dirty="0" err="1">
                <a:latin typeface="Arial" panose="020B0604020202020204" pitchFamily="34" charset="0"/>
              </a:rPr>
              <a:t>coef</a:t>
            </a:r>
            <a:r>
              <a:rPr lang="en-US" altLang="zh-CN" sz="2800" dirty="0">
                <a:latin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000" dirty="0" err="1">
                <a:latin typeface="Arial" panose="020B0604020202020204" pitchFamily="34" charset="0"/>
              </a:rPr>
              <a:t>printf</a:t>
            </a:r>
            <a:r>
              <a:rPr lang="en-US" altLang="zh-CN" sz="2000" dirty="0">
                <a:latin typeface="Arial" panose="020B0604020202020204" pitchFamily="34" charset="0"/>
              </a:rPr>
              <a:t>("</a:t>
            </a:r>
            <a:r>
              <a:rPr lang="zh-CN" altLang="en-US" sz="2000" dirty="0">
                <a:latin typeface="Arial" panose="020B0604020202020204" pitchFamily="34" charset="0"/>
              </a:rPr>
              <a:t>请输入该项的幂次：</a:t>
            </a:r>
            <a:r>
              <a:rPr lang="en-US" altLang="zh-CN" sz="2000" dirty="0">
                <a:latin typeface="Arial" panose="020B0604020202020204" pitchFamily="34" charset="0"/>
              </a:rPr>
              <a:t>");</a:t>
            </a:r>
            <a:endParaRPr lang="en-US" altLang="zh-CN" sz="20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</a:t>
            </a:r>
            <a:r>
              <a:rPr lang="en-US" altLang="zh-CN" sz="2800" dirty="0" err="1">
                <a:latin typeface="Arial" panose="020B0604020202020204" pitchFamily="34" charset="0"/>
              </a:rPr>
              <a:t>scanf</a:t>
            </a:r>
            <a:r>
              <a:rPr lang="en-US" altLang="zh-CN" sz="2800" dirty="0">
                <a:latin typeface="Arial" panose="020B0604020202020204" pitchFamily="34" charset="0"/>
              </a:rPr>
              <a:t>("%d", &amp;p-&gt;</a:t>
            </a:r>
            <a:r>
              <a:rPr lang="en-US" altLang="zh-CN" sz="2800" dirty="0" err="1">
                <a:latin typeface="Arial" panose="020B0604020202020204" pitchFamily="34" charset="0"/>
              </a:rPr>
              <a:t>exp</a:t>
            </a:r>
            <a:r>
              <a:rPr lang="en-US" altLang="zh-CN" sz="2800" dirty="0">
                <a:latin typeface="Arial" panose="020B0604020202020204" pitchFamily="34" charset="0"/>
              </a:rPr>
              <a:t>);</a:t>
            </a:r>
            <a:endParaRPr lang="en-US" altLang="zh-CN" sz="2800" dirty="0">
              <a:latin typeface="Arial" panose="020B0604020202020204" pitchFamily="34" charset="0"/>
            </a:endParaRPr>
          </a:p>
          <a:p>
            <a:pPr algn="l" eaLnBrk="1" hangingPunct="1"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  		p-&gt;next=NULL; 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//指针域</a:t>
            </a:r>
            <a:endParaRPr lang="zh-CN" altLang="en-US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endParaRPr lang="en-US" altLang="zh-CN" sz="28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algn="l" eaLnBrk="1" hangingPunct="1">
              <a:spcBef>
                <a:spcPct val="2000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	p0-&gt;next=p; </a:t>
            </a:r>
            <a:r>
              <a:rPr lang="zh-CN" altLang="en-US" sz="2000" dirty="0">
                <a:solidFill>
                  <a:schemeClr val="tx1">
                    <a:lumMod val="65000"/>
                  </a:schemeClr>
                </a:solidFill>
                <a:latin typeface="Arial" panose="020B0604020202020204" pitchFamily="34" charset="0"/>
              </a:rPr>
              <a:t>//加入链表</a:t>
            </a:r>
            <a:endParaRPr lang="zh-CN" altLang="en-US" sz="2000" dirty="0">
              <a:solidFill>
                <a:schemeClr val="tx1">
                  <a:lumMod val="65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latin typeface="Arial" panose="020B0604020202020204" pitchFamily="34" charset="0"/>
              </a:rPr>
              <a:t>	</a:t>
            </a: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} 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	return head; 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solidFill>
                  <a:srgbClr val="F52EFC"/>
                </a:solidFill>
                <a:latin typeface="Arial" panose="020B0604020202020204" pitchFamily="34" charset="0"/>
              </a:rPr>
              <a:t>}</a:t>
            </a:r>
            <a:endParaRPr lang="en-US" altLang="zh-CN" sz="2800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BB2F9C68-4118-4347-8679-FD7AEE33516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2947" name="矩形 2"/>
          <p:cNvSpPr>
            <a:spLocks noChangeArrowheads="1"/>
          </p:cNvSpPr>
          <p:nvPr/>
        </p:nvSpPr>
        <p:spPr bwMode="auto">
          <a:xfrm>
            <a:off x="1230312" y="54077"/>
            <a:ext cx="8929688" cy="6739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void 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print(</a:t>
            </a:r>
            <a:r>
              <a:rPr lang="en-US" altLang="zh-CN" sz="3600" dirty="0" err="1">
                <a:latin typeface="Arial" panose="020B0604020202020204" pitchFamily="34" charset="0"/>
              </a:rPr>
              <a:t>polynome</a:t>
            </a:r>
            <a:r>
              <a:rPr lang="en-US" altLang="zh-CN" sz="3600" dirty="0">
                <a:latin typeface="Arial" panose="020B0604020202020204" pitchFamily="34" charset="0"/>
              </a:rPr>
              <a:t> head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)</a:t>
            </a:r>
            <a:r>
              <a:rPr lang="en-US" altLang="zh-CN" sz="3600" dirty="0">
                <a:solidFill>
                  <a:srgbClr val="FF0000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//</a:t>
            </a:r>
            <a:r>
              <a:rPr lang="zh-CN" altLang="en-US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</a:rPr>
              <a:t>输出链表</a:t>
            </a:r>
            <a:endParaRPr lang="zh-CN" altLang="en-US" sz="3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{</a:t>
            </a:r>
            <a:endParaRPr lang="en-US" altLang="zh-CN" sz="3600" dirty="0">
              <a:solidFill>
                <a:srgbClr val="F52EFC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</a:t>
            </a:r>
            <a:r>
              <a:rPr lang="en-US" altLang="zh-CN" sz="3600" dirty="0" err="1">
                <a:latin typeface="Arial" panose="020B0604020202020204" pitchFamily="34" charset="0"/>
              </a:rPr>
              <a:t>polynome</a:t>
            </a:r>
            <a:r>
              <a:rPr lang="en-US" altLang="zh-CN" sz="3600" dirty="0">
                <a:latin typeface="Arial" panose="020B0604020202020204" pitchFamily="34" charset="0"/>
              </a:rPr>
              <a:t> p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=head</a:t>
            </a:r>
            <a:r>
              <a:rPr lang="en-US" altLang="zh-CN" sz="3600" dirty="0">
                <a:latin typeface="Arial" panose="020B0604020202020204" pitchFamily="34" charset="0"/>
              </a:rPr>
              <a:t>; 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 	while(p!=NULL)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   	{ 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("%5.2f", p-&gt;</a:t>
            </a:r>
            <a:r>
              <a:rPr lang="en-US" altLang="zh-CN" sz="3600" dirty="0" err="1">
                <a:latin typeface="Arial" panose="020B0604020202020204" pitchFamily="34" charset="0"/>
              </a:rPr>
              <a:t>coef</a:t>
            </a:r>
            <a:r>
              <a:rPr lang="en-US" altLang="zh-CN" sz="3600" dirty="0">
                <a:latin typeface="Arial" panose="020B0604020202020204" pitchFamily="34" charset="0"/>
              </a:rPr>
              <a:t>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("%5d", p-&gt;exp);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	</a:t>
            </a:r>
            <a:r>
              <a:rPr lang="en-US" altLang="zh-CN" sz="3600" dirty="0">
                <a:solidFill>
                  <a:srgbClr val="FFFF00"/>
                </a:solidFill>
                <a:latin typeface="Arial" panose="020B0604020202020204" pitchFamily="34" charset="0"/>
              </a:rPr>
              <a:t>p=p-&gt;next;</a:t>
            </a:r>
            <a:endParaRPr lang="en-US" altLang="zh-CN" sz="3600" dirty="0">
              <a:solidFill>
                <a:srgbClr val="FFFF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}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latin typeface="Arial" panose="020B0604020202020204" pitchFamily="34" charset="0"/>
              </a:rPr>
              <a:t>	</a:t>
            </a:r>
            <a:r>
              <a:rPr lang="en-US" altLang="zh-CN" sz="3600" dirty="0" err="1">
                <a:latin typeface="Arial" panose="020B0604020202020204" pitchFamily="34" charset="0"/>
              </a:rPr>
              <a:t>printf</a:t>
            </a:r>
            <a:r>
              <a:rPr lang="en-US" altLang="zh-CN" sz="3600" dirty="0">
                <a:latin typeface="Arial" panose="020B0604020202020204" pitchFamily="34" charset="0"/>
              </a:rPr>
              <a:t>("\n");</a:t>
            </a:r>
            <a:endParaRPr lang="en-US" altLang="zh-CN" sz="3600" dirty="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}</a:t>
            </a:r>
            <a:endParaRPr lang="en-US" altLang="zh-CN" sz="3600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spd="slow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D67124A0-3AEA-4694-84F4-2546B4BA07B2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3971" name="文本框 2"/>
          <p:cNvSpPr txBox="1">
            <a:spLocks noChangeArrowheads="1"/>
          </p:cNvSpPr>
          <p:nvPr/>
        </p:nvSpPr>
        <p:spPr bwMode="auto">
          <a:xfrm>
            <a:off x="0" y="125413"/>
            <a:ext cx="8156575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13.4】n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阶法雷序列</a:t>
            </a: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3600">
                <a:solidFill>
                  <a:srgbClr val="FFC000"/>
                </a:solidFill>
                <a:latin typeface="Arial" panose="020B0604020202020204" pitchFamily="34" charset="0"/>
              </a:rPr>
              <a:t>例：</a:t>
            </a:r>
            <a:r>
              <a:rPr lang="en-US" altLang="zh-CN" sz="3600">
                <a:solidFill>
                  <a:srgbClr val="FFC000"/>
                </a:solidFill>
                <a:latin typeface="Arial" panose="020B0604020202020204" pitchFamily="34" charset="0"/>
              </a:rPr>
              <a:t>n=8)</a:t>
            </a:r>
            <a:endParaRPr lang="zh-CN" altLang="en-US" sz="3600">
              <a:solidFill>
                <a:srgbClr val="FFC000"/>
              </a:solidFill>
              <a:latin typeface="Arial" panose="020B0604020202020204" pitchFamily="34" charset="0"/>
            </a:endParaRPr>
          </a:p>
        </p:txBody>
      </p:sp>
      <p:sp>
        <p:nvSpPr>
          <p:cNvPr id="164868" name="文本框 3"/>
          <p:cNvSpPr txBox="1">
            <a:spLocks noChangeArrowheads="1"/>
          </p:cNvSpPr>
          <p:nvPr/>
        </p:nvSpPr>
        <p:spPr bwMode="auto">
          <a:xfrm>
            <a:off x="0" y="747713"/>
            <a:ext cx="12115800" cy="119888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0/1，</a:t>
            </a:r>
            <a:r>
              <a:rPr lang="en-US" altLang="zh-CN" dirty="0">
                <a:latin typeface="Arial" panose="020B0604020202020204" pitchFamily="34" charset="0"/>
              </a:rPr>
              <a:t>1/8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1/6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99FFCC"/>
                </a:solidFill>
                <a:latin typeface="Arial" panose="020B0604020202020204" pitchFamily="34" charset="0"/>
              </a:rPr>
              <a:t>1/5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1/4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2/7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1/3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2/5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chemeClr val="accent2">
                    <a:lumMod val="60000"/>
                    <a:lumOff val="40000"/>
                  </a:schemeClr>
                </a:solidFill>
                <a:latin typeface="Arial" panose="020B0604020202020204" pitchFamily="34" charset="0"/>
              </a:rPr>
              <a:t>1/2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4/7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3/5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2/3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solidFill>
                  <a:srgbClr val="FFFF00"/>
                </a:solidFill>
                <a:latin typeface="Arial" panose="020B0604020202020204" pitchFamily="34" charset="0"/>
              </a:rPr>
              <a:t>3/4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4/5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5/6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6/7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7/8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1/1</a:t>
            </a:r>
            <a:endParaRPr lang="en-US" altLang="zh-CN" sz="3600" dirty="0">
              <a:solidFill>
                <a:srgbClr val="F52EFC"/>
              </a:solidFill>
              <a:latin typeface="Arial" panose="020B060402020202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685800" y="2895600"/>
            <a:ext cx="8751888" cy="36614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>
                <a:solidFill>
                  <a:srgbClr val="FFC000"/>
                </a:solidFill>
                <a:latin typeface="Arial" panose="020B0604020202020204" pitchFamily="34" charset="0"/>
              </a:rPr>
              <a:t>关键思路：</a:t>
            </a:r>
            <a:endParaRPr lang="en-US" altLang="zh-CN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for(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i=2;i&lt;=n;</a:t>
            </a:r>
            <a:r>
              <a:rPr lang="en-US" altLang="zh-CN">
                <a:latin typeface="Arial" panose="020B0604020202020204" pitchFamily="34" charset="0"/>
              </a:rPr>
              <a:t>i++)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for(</a:t>
            </a:r>
            <a:r>
              <a:rPr lang="en-US" altLang="zh-CN" sz="3600" dirty="0">
                <a:solidFill>
                  <a:srgbClr val="F52EFC"/>
                </a:solidFill>
                <a:latin typeface="Arial" panose="020B0604020202020204" pitchFamily="34" charset="0"/>
              </a:rPr>
              <a:t>j=1;j&lt;i;</a:t>
            </a:r>
            <a:r>
              <a:rPr lang="en-US" altLang="zh-CN">
                <a:latin typeface="Arial" panose="020B0604020202020204" pitchFamily="34" charset="0"/>
              </a:rPr>
              <a:t>j++)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if(</a:t>
            </a:r>
            <a:r>
              <a:rPr lang="zh-CN" altLang="en-US">
                <a:latin typeface="Arial" panose="020B0604020202020204" pitchFamily="34" charset="0"/>
              </a:rPr>
              <a:t>分子和分母不可约分）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{	</a:t>
            </a:r>
            <a:r>
              <a:rPr lang="zh-CN" altLang="en-US">
                <a:latin typeface="Arial" panose="020B0604020202020204" pitchFamily="34" charset="0"/>
              </a:rPr>
              <a:t>寻找</a:t>
            </a:r>
            <a:r>
              <a:rPr lang="en-US" altLang="zh-CN">
                <a:latin typeface="Arial" panose="020B0604020202020204" pitchFamily="34" charset="0"/>
              </a:rPr>
              <a:t>j/i</a:t>
            </a:r>
            <a:r>
              <a:rPr lang="zh-CN" altLang="en-US">
                <a:latin typeface="Arial" panose="020B0604020202020204" pitchFamily="34" charset="0"/>
              </a:rPr>
              <a:t>的位置</a:t>
            </a:r>
            <a:r>
              <a:rPr lang="en-US" altLang="zh-CN">
                <a:latin typeface="Arial" panose="020B0604020202020204" pitchFamily="34" charset="0"/>
              </a:rPr>
              <a:t>(</a:t>
            </a:r>
            <a:r>
              <a:rPr lang="zh-CN" altLang="en-US">
                <a:latin typeface="Arial" panose="020B0604020202020204" pitchFamily="34" charset="0"/>
              </a:rPr>
              <a:t>在</a:t>
            </a:r>
            <a:r>
              <a:rPr lang="en-US" altLang="zh-CN">
                <a:latin typeface="Arial" panose="020B0604020202020204" pitchFamily="34" charset="0"/>
              </a:rPr>
              <a:t>r0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之间</a:t>
            </a:r>
            <a:r>
              <a:rPr lang="en-US" altLang="zh-CN">
                <a:latin typeface="Arial" panose="020B0604020202020204" pitchFamily="34" charset="0"/>
              </a:rPr>
              <a:t>)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	</a:t>
            </a:r>
            <a:r>
              <a:rPr lang="zh-CN" altLang="en-US">
                <a:latin typeface="Arial" panose="020B0604020202020204" pitchFamily="34" charset="0"/>
              </a:rPr>
              <a:t>构造</a:t>
            </a:r>
            <a:r>
              <a:rPr lang="en-US" altLang="zh-CN">
                <a:latin typeface="Arial" panose="020B0604020202020204" pitchFamily="34" charset="0"/>
              </a:rPr>
              <a:t>j/i</a:t>
            </a:r>
            <a:r>
              <a:rPr lang="zh-CN" altLang="en-US">
                <a:latin typeface="Arial" panose="020B0604020202020204" pitchFamily="34" charset="0"/>
              </a:rPr>
              <a:t>、并插入到</a:t>
            </a:r>
            <a:r>
              <a:rPr lang="en-US" altLang="zh-CN">
                <a:latin typeface="Arial" panose="020B0604020202020204" pitchFamily="34" charset="0"/>
              </a:rPr>
              <a:t>r0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r</a:t>
            </a:r>
            <a:r>
              <a:rPr lang="zh-CN" altLang="en-US">
                <a:latin typeface="Arial" panose="020B0604020202020204" pitchFamily="34" charset="0"/>
              </a:rPr>
              <a:t>之间</a:t>
            </a:r>
            <a:endParaRPr lang="en-US" altLang="zh-CN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		}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21" name="Line 7"/>
          <p:cNvSpPr>
            <a:spLocks noChangeShapeType="1"/>
          </p:cNvSpPr>
          <p:nvPr/>
        </p:nvSpPr>
        <p:spPr bwMode="auto">
          <a:xfrm>
            <a:off x="5595938" y="2452053"/>
            <a:ext cx="222885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Line 7"/>
          <p:cNvSpPr>
            <a:spLocks noChangeShapeType="1"/>
          </p:cNvSpPr>
          <p:nvPr/>
        </p:nvSpPr>
        <p:spPr bwMode="auto">
          <a:xfrm flipV="1">
            <a:off x="2606675" y="2545715"/>
            <a:ext cx="5365750" cy="269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08" name="Oval 5"/>
          <p:cNvSpPr>
            <a:spLocks noChangeArrowheads="1"/>
          </p:cNvSpPr>
          <p:nvPr/>
        </p:nvSpPr>
        <p:spPr bwMode="auto">
          <a:xfrm>
            <a:off x="1892300" y="217900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25609" name="Oval 6"/>
          <p:cNvSpPr>
            <a:spLocks noChangeArrowheads="1"/>
          </p:cNvSpPr>
          <p:nvPr/>
        </p:nvSpPr>
        <p:spPr bwMode="auto">
          <a:xfrm>
            <a:off x="7951788" y="2147253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" name="Line 7"/>
          <p:cNvSpPr>
            <a:spLocks noChangeShapeType="1"/>
          </p:cNvSpPr>
          <p:nvPr/>
        </p:nvSpPr>
        <p:spPr bwMode="auto">
          <a:xfrm>
            <a:off x="2628900" y="2452053"/>
            <a:ext cx="22304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628900" y="235362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5608638" y="233457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613" name="Text Box 13"/>
          <p:cNvSpPr txBox="1">
            <a:spLocks noChangeArrowheads="1"/>
          </p:cNvSpPr>
          <p:nvPr/>
        </p:nvSpPr>
        <p:spPr bwMode="auto">
          <a:xfrm>
            <a:off x="1906270" y="2179003"/>
            <a:ext cx="92551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0/1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14" name="Text Box 14"/>
          <p:cNvSpPr txBox="1">
            <a:spLocks noChangeArrowheads="1"/>
          </p:cNvSpPr>
          <p:nvPr/>
        </p:nvSpPr>
        <p:spPr bwMode="auto">
          <a:xfrm>
            <a:off x="7991475" y="2171065"/>
            <a:ext cx="7092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0043"/>
                </a:solidFill>
                <a:latin typeface="Times New Roman" panose="02020603050405020304" pitchFamily="18" charset="0"/>
              </a:rPr>
              <a:t>1/1</a:t>
            </a:r>
            <a:endParaRPr kumimoji="1" lang="en-US" altLang="zh-CN" sz="2800">
              <a:solidFill>
                <a:srgbClr val="00004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" name="Group 17"/>
          <p:cNvGrpSpPr/>
          <p:nvPr/>
        </p:nvGrpSpPr>
        <p:grpSpPr bwMode="auto">
          <a:xfrm>
            <a:off x="6332538" y="2142490"/>
            <a:ext cx="904875" cy="546100"/>
            <a:chOff x="3085" y="911"/>
            <a:chExt cx="669" cy="344"/>
          </a:xfrm>
        </p:grpSpPr>
        <p:sp>
          <p:nvSpPr>
            <p:cNvPr id="25624" name="Oval 18"/>
            <p:cNvSpPr>
              <a:spLocks noChangeArrowheads="1"/>
            </p:cNvSpPr>
            <p:nvPr/>
          </p:nvSpPr>
          <p:spPr bwMode="auto">
            <a:xfrm>
              <a:off x="3085" y="911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3179" y="918"/>
              <a:ext cx="575" cy="329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  <a:defRPr/>
              </a:pPr>
              <a:r>
                <a:rPr kumimoji="1" lang="en-US" altLang="zh-CN" sz="28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</a:rPr>
                <a:t>2/3</a:t>
              </a:r>
              <a:endPara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4065588" y="233457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Line 12"/>
          <p:cNvSpPr>
            <a:spLocks noChangeShapeType="1"/>
          </p:cNvSpPr>
          <p:nvPr/>
        </p:nvSpPr>
        <p:spPr bwMode="auto">
          <a:xfrm>
            <a:off x="7196138" y="2337753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组合 24"/>
          <p:cNvGrpSpPr/>
          <p:nvPr/>
        </p:nvGrpSpPr>
        <p:grpSpPr bwMode="auto">
          <a:xfrm>
            <a:off x="3281363" y="2131378"/>
            <a:ext cx="1095375" cy="546100"/>
            <a:chOff x="1801742" y="921018"/>
            <a:chExt cx="1095235" cy="546100"/>
          </a:xfrm>
        </p:grpSpPr>
        <p:sp>
          <p:nvSpPr>
            <p:cNvPr id="25622" name="Oval 9"/>
            <p:cNvSpPr>
              <a:spLocks noChangeArrowheads="1"/>
            </p:cNvSpPr>
            <p:nvPr/>
          </p:nvSpPr>
          <p:spPr bwMode="auto">
            <a:xfrm>
              <a:off x="1849354" y="921018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3" name="Text Box 15"/>
            <p:cNvSpPr txBox="1">
              <a:spLocks noChangeArrowheads="1"/>
            </p:cNvSpPr>
            <p:nvPr/>
          </p:nvSpPr>
          <p:spPr bwMode="auto">
            <a:xfrm>
              <a:off x="1801742" y="965998"/>
              <a:ext cx="1095235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CC0000"/>
                  </a:solidFill>
                  <a:latin typeface="Times New Roman" panose="02020603050405020304" pitchFamily="18" charset="0"/>
                </a:rPr>
                <a:t>1/3</a:t>
              </a:r>
              <a:endParaRPr kumimoji="1" lang="en-US" altLang="zh-CN" sz="24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7" name="组合 4"/>
          <p:cNvGrpSpPr/>
          <p:nvPr/>
        </p:nvGrpSpPr>
        <p:grpSpPr bwMode="auto">
          <a:xfrm>
            <a:off x="4859338" y="2179003"/>
            <a:ext cx="849312" cy="546100"/>
            <a:chOff x="3334562" y="969211"/>
            <a:chExt cx="850020" cy="546100"/>
          </a:xfrm>
        </p:grpSpPr>
        <p:sp>
          <p:nvSpPr>
            <p:cNvPr id="25620" name="Oval 11"/>
            <p:cNvSpPr>
              <a:spLocks noChangeArrowheads="1"/>
            </p:cNvSpPr>
            <p:nvPr/>
          </p:nvSpPr>
          <p:spPr bwMode="auto">
            <a:xfrm>
              <a:off x="3334562" y="969211"/>
              <a:ext cx="736600" cy="546100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5621" name="Text Box 16"/>
            <p:cNvSpPr txBox="1">
              <a:spLocks noChangeArrowheads="1"/>
            </p:cNvSpPr>
            <p:nvPr/>
          </p:nvSpPr>
          <p:spPr bwMode="auto">
            <a:xfrm>
              <a:off x="3371539" y="992807"/>
              <a:ext cx="813043" cy="4603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400">
                  <a:solidFill>
                    <a:srgbClr val="FF0000"/>
                  </a:solidFill>
                  <a:latin typeface="Times New Roman" panose="02020603050405020304" pitchFamily="18" charset="0"/>
                </a:rPr>
                <a:t>1/2</a:t>
              </a:r>
              <a:endParaRPr kumimoji="1" lang="zh-CN" altLang="en-US" sz="24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0EBE8E77-0410-438A-9E7C-C14C105B6BF7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84995" name="Oval 5"/>
          <p:cNvSpPr>
            <a:spLocks noChangeArrowheads="1"/>
          </p:cNvSpPr>
          <p:nvPr/>
        </p:nvSpPr>
        <p:spPr bwMode="auto">
          <a:xfrm>
            <a:off x="1927225" y="14668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4996" name="Oval 6"/>
          <p:cNvSpPr>
            <a:spLocks noChangeArrowheads="1"/>
          </p:cNvSpPr>
          <p:nvPr/>
        </p:nvSpPr>
        <p:spPr bwMode="auto">
          <a:xfrm>
            <a:off x="3375025" y="14541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4997" name="Line 7"/>
          <p:cNvSpPr>
            <a:spLocks noChangeShapeType="1"/>
          </p:cNvSpPr>
          <p:nvPr/>
        </p:nvSpPr>
        <p:spPr bwMode="auto">
          <a:xfrm>
            <a:off x="2651125" y="17335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8" name="Line 8"/>
          <p:cNvSpPr>
            <a:spLocks noChangeShapeType="1"/>
          </p:cNvSpPr>
          <p:nvPr/>
        </p:nvSpPr>
        <p:spPr bwMode="auto">
          <a:xfrm>
            <a:off x="4111625" y="1733550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4999" name="Oval 9"/>
          <p:cNvSpPr>
            <a:spLocks noChangeArrowheads="1"/>
          </p:cNvSpPr>
          <p:nvPr/>
        </p:nvSpPr>
        <p:spPr bwMode="auto">
          <a:xfrm>
            <a:off x="4835525" y="1454150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85000" name="Oval 11"/>
          <p:cNvSpPr>
            <a:spLocks noChangeArrowheads="1"/>
          </p:cNvSpPr>
          <p:nvPr/>
        </p:nvSpPr>
        <p:spPr bwMode="auto">
          <a:xfrm>
            <a:off x="4308475" y="2484438"/>
            <a:ext cx="736600" cy="546100"/>
          </a:xfrm>
          <a:prstGeom prst="ellipse">
            <a:avLst/>
          </a:prstGeom>
          <a:solidFill>
            <a:srgbClr val="66FFFF"/>
          </a:solidFill>
          <a:ln w="28575">
            <a:solidFill>
              <a:srgbClr val="0000CC"/>
            </a:solidFill>
            <a:rou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Arial" panose="020B0604020202020204" pitchFamily="34" charset="0"/>
            </a:endParaRPr>
          </a:p>
        </p:txBody>
      </p:sp>
      <p:sp>
        <p:nvSpPr>
          <p:cNvPr id="9" name="Line 12"/>
          <p:cNvSpPr>
            <a:spLocks noChangeShapeType="1"/>
          </p:cNvSpPr>
          <p:nvPr/>
        </p:nvSpPr>
        <p:spPr bwMode="auto">
          <a:xfrm flipV="1">
            <a:off x="5062538" y="1943100"/>
            <a:ext cx="1576387" cy="8159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2" name="Text Box 13"/>
          <p:cNvSpPr txBox="1">
            <a:spLocks noChangeArrowheads="1"/>
          </p:cNvSpPr>
          <p:nvPr/>
        </p:nvSpPr>
        <p:spPr bwMode="auto">
          <a:xfrm>
            <a:off x="2006600" y="1485900"/>
            <a:ext cx="9255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rPr>
              <a:t>0/1</a:t>
            </a:r>
            <a:endParaRPr kumimoji="1" lang="en-US" altLang="zh-CN" sz="2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" name="Text Box 14"/>
          <p:cNvSpPr txBox="1">
            <a:spLocks noChangeArrowheads="1"/>
          </p:cNvSpPr>
          <p:nvPr/>
        </p:nvSpPr>
        <p:spPr bwMode="auto">
          <a:xfrm>
            <a:off x="3452813" y="1477963"/>
            <a:ext cx="700087" cy="5238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1/3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sp>
        <p:nvSpPr>
          <p:cNvPr id="85004" name="Text Box 15"/>
          <p:cNvSpPr txBox="1">
            <a:spLocks noChangeArrowheads="1"/>
          </p:cNvSpPr>
          <p:nvPr/>
        </p:nvSpPr>
        <p:spPr bwMode="auto">
          <a:xfrm>
            <a:off x="4943475" y="1465263"/>
            <a:ext cx="6429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en-US" altLang="zh-CN" sz="2800">
                <a:solidFill>
                  <a:srgbClr val="002060"/>
                </a:solidFill>
                <a:latin typeface="Times New Roman" panose="02020603050405020304" pitchFamily="18" charset="0"/>
              </a:rPr>
              <a:t>1/2</a:t>
            </a:r>
            <a:endParaRPr kumimoji="1" lang="en-US" altLang="zh-CN" sz="280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4343400" y="2484438"/>
            <a:ext cx="642938" cy="5238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</a:rPr>
              <a:t>2/3</a:t>
            </a:r>
            <a:endParaRPr kumimoji="1" lang="en-US" altLang="zh-CN" sz="2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85006" name="Group 17"/>
          <p:cNvGrpSpPr/>
          <p:nvPr/>
        </p:nvGrpSpPr>
        <p:grpSpPr bwMode="auto">
          <a:xfrm>
            <a:off x="6270625" y="1385888"/>
            <a:ext cx="962025" cy="546100"/>
            <a:chOff x="4104" y="936"/>
            <a:chExt cx="711" cy="344"/>
          </a:xfrm>
        </p:grpSpPr>
        <p:sp>
          <p:nvSpPr>
            <p:cNvPr id="85030" name="Oval 18"/>
            <p:cNvSpPr>
              <a:spLocks noChangeArrowheads="1"/>
            </p:cNvSpPr>
            <p:nvPr/>
          </p:nvSpPr>
          <p:spPr bwMode="auto">
            <a:xfrm>
              <a:off x="4104" y="936"/>
              <a:ext cx="639" cy="344"/>
            </a:xfrm>
            <a:prstGeom prst="ellipse">
              <a:avLst/>
            </a:prstGeom>
            <a:solidFill>
              <a:srgbClr val="66FFFF"/>
            </a:solidFill>
            <a:ln w="28575">
              <a:solidFill>
                <a:srgbClr val="0000CC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85031" name="Text Box 19"/>
            <p:cNvSpPr txBox="1">
              <a:spLocks noChangeArrowheads="1"/>
            </p:cNvSpPr>
            <p:nvPr/>
          </p:nvSpPr>
          <p:spPr bwMode="auto">
            <a:xfrm>
              <a:off x="4240" y="946"/>
              <a:ext cx="57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sz="2800">
                  <a:solidFill>
                    <a:srgbClr val="FF0000"/>
                  </a:solidFill>
                  <a:latin typeface="Times New Roman" panose="02020603050405020304" pitchFamily="18" charset="0"/>
                </a:rPr>
                <a:t>1/1</a:t>
              </a:r>
              <a:endParaRPr kumimoji="1" lang="en-US" altLang="zh-CN" sz="2800">
                <a:solidFill>
                  <a:srgbClr val="FF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17" name="Line 10"/>
          <p:cNvSpPr>
            <a:spLocks noChangeShapeType="1"/>
          </p:cNvSpPr>
          <p:nvPr/>
        </p:nvSpPr>
        <p:spPr bwMode="auto">
          <a:xfrm flipH="1">
            <a:off x="4794250" y="1938338"/>
            <a:ext cx="149225" cy="5238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5008" name="文本框 20"/>
          <p:cNvSpPr txBox="1">
            <a:spLocks noChangeArrowheads="1"/>
          </p:cNvSpPr>
          <p:nvPr/>
        </p:nvSpPr>
        <p:spPr bwMode="auto">
          <a:xfrm>
            <a:off x="458788" y="3597275"/>
            <a:ext cx="8753475" cy="3107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FFC000"/>
                </a:solidFill>
                <a:latin typeface="Arial" panose="020B0604020202020204" pitchFamily="34" charset="0"/>
              </a:rPr>
              <a:t>关键思路：</a:t>
            </a:r>
            <a:endParaRPr lang="en-US" altLang="zh-CN" sz="28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for(</a:t>
            </a:r>
            <a:r>
              <a:rPr lang="en-US" altLang="zh-CN" sz="2800">
                <a:solidFill>
                  <a:srgbClr val="F52EFC"/>
                </a:solidFill>
                <a:latin typeface="Arial" panose="020B0604020202020204" pitchFamily="34" charset="0"/>
              </a:rPr>
              <a:t>i=2;i&lt;=n;</a:t>
            </a:r>
            <a:r>
              <a:rPr lang="en-US" altLang="zh-CN" sz="2800">
                <a:latin typeface="Arial" panose="020B0604020202020204" pitchFamily="34" charset="0"/>
              </a:rPr>
              <a:t>i++)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for(</a:t>
            </a:r>
            <a:r>
              <a:rPr lang="en-US" altLang="zh-CN" sz="2800">
                <a:solidFill>
                  <a:srgbClr val="F52EFC"/>
                </a:solidFill>
                <a:latin typeface="Arial" panose="020B0604020202020204" pitchFamily="34" charset="0"/>
              </a:rPr>
              <a:t>j=1;j&lt;i;</a:t>
            </a:r>
            <a:r>
              <a:rPr lang="en-US" altLang="zh-CN" sz="2800">
                <a:latin typeface="Arial" panose="020B0604020202020204" pitchFamily="34" charset="0"/>
              </a:rPr>
              <a:t>j++)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if(</a:t>
            </a:r>
            <a:r>
              <a:rPr lang="zh-CN" altLang="en-US" sz="2800">
                <a:latin typeface="Arial" panose="020B0604020202020204" pitchFamily="34" charset="0"/>
              </a:rPr>
              <a:t>分子和分母不可约分）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{	</a:t>
            </a:r>
            <a:r>
              <a:rPr lang="zh-CN" altLang="en-US" sz="2800">
                <a:latin typeface="Arial" panose="020B0604020202020204" pitchFamily="34" charset="0"/>
              </a:rPr>
              <a:t>寻找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的位置，在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	</a:t>
            </a:r>
            <a:r>
              <a:rPr lang="zh-CN" altLang="en-US" sz="2800">
                <a:latin typeface="Arial" panose="020B0604020202020204" pitchFamily="34" charset="0"/>
              </a:rPr>
              <a:t>构造</a:t>
            </a:r>
            <a:r>
              <a:rPr lang="en-US" altLang="zh-CN" sz="2800">
                <a:latin typeface="Arial" panose="020B0604020202020204" pitchFamily="34" charset="0"/>
              </a:rPr>
              <a:t>j/i</a:t>
            </a:r>
            <a:r>
              <a:rPr lang="zh-CN" altLang="en-US" sz="2800">
                <a:latin typeface="Arial" panose="020B0604020202020204" pitchFamily="34" charset="0"/>
              </a:rPr>
              <a:t>并插入到</a:t>
            </a:r>
            <a:r>
              <a:rPr lang="en-US" altLang="zh-CN" sz="2800">
                <a:latin typeface="Arial" panose="020B0604020202020204" pitchFamily="34" charset="0"/>
              </a:rPr>
              <a:t>r0</a:t>
            </a:r>
            <a:r>
              <a:rPr lang="zh-CN" altLang="en-US" sz="2800">
                <a:latin typeface="Arial" panose="020B0604020202020204" pitchFamily="34" charset="0"/>
              </a:rPr>
              <a:t>和</a:t>
            </a:r>
            <a:r>
              <a:rPr lang="en-US" altLang="zh-CN" sz="2800">
                <a:latin typeface="Arial" panose="020B0604020202020204" pitchFamily="34" charset="0"/>
              </a:rPr>
              <a:t>r</a:t>
            </a:r>
            <a:r>
              <a:rPr lang="zh-CN" altLang="en-US" sz="2800">
                <a:latin typeface="Arial" panose="020B0604020202020204" pitchFamily="34" charset="0"/>
              </a:rPr>
              <a:t>之间</a:t>
            </a:r>
            <a:endParaRPr lang="en-US" altLang="zh-CN" sz="280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		}</a:t>
            </a:r>
            <a:endParaRPr lang="zh-CN" altLang="en-US" sz="2800">
              <a:latin typeface="Arial" panose="020B0604020202020204" pitchFamily="34" charset="0"/>
            </a:endParaRPr>
          </a:p>
        </p:txBody>
      </p:sp>
      <p:grpSp>
        <p:nvGrpSpPr>
          <p:cNvPr id="4" name="组合 33"/>
          <p:cNvGrpSpPr/>
          <p:nvPr/>
        </p:nvGrpSpPr>
        <p:grpSpPr bwMode="auto">
          <a:xfrm>
            <a:off x="3375025" y="1003300"/>
            <a:ext cx="504825" cy="504825"/>
            <a:chOff x="1851422" y="1003348"/>
            <a:chExt cx="504044" cy="504661"/>
          </a:xfrm>
        </p:grpSpPr>
        <p:cxnSp>
          <p:nvCxnSpPr>
            <p:cNvPr id="85028" name="直接箭头连接符 2"/>
            <p:cNvCxnSpPr>
              <a:cxnSpLocks noChangeShapeType="1"/>
            </p:cNvCxnSpPr>
            <p:nvPr/>
          </p:nvCxnSpPr>
          <p:spPr bwMode="auto">
            <a:xfrm>
              <a:off x="2279204" y="100334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9" name="文本框 21"/>
            <p:cNvSpPr txBox="1">
              <a:spLocks noChangeArrowheads="1"/>
            </p:cNvSpPr>
            <p:nvPr/>
          </p:nvSpPr>
          <p:spPr bwMode="auto">
            <a:xfrm>
              <a:off x="1851422" y="1046344"/>
              <a:ext cx="504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5" name="组合 34"/>
          <p:cNvGrpSpPr/>
          <p:nvPr/>
        </p:nvGrpSpPr>
        <p:grpSpPr bwMode="auto">
          <a:xfrm>
            <a:off x="5092700" y="947738"/>
            <a:ext cx="504825" cy="550862"/>
            <a:chOff x="3462926" y="977414"/>
            <a:chExt cx="504048" cy="549645"/>
          </a:xfrm>
        </p:grpSpPr>
        <p:cxnSp>
          <p:nvCxnSpPr>
            <p:cNvPr id="85026" name="直接箭头连接符 59"/>
            <p:cNvCxnSpPr>
              <a:cxnSpLocks noChangeShapeType="1"/>
            </p:cNvCxnSpPr>
            <p:nvPr/>
          </p:nvCxnSpPr>
          <p:spPr bwMode="auto">
            <a:xfrm>
              <a:off x="3740574" y="977414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7" name="文本框 22"/>
            <p:cNvSpPr txBox="1">
              <a:spLocks noChangeArrowheads="1"/>
            </p:cNvSpPr>
            <p:nvPr/>
          </p:nvSpPr>
          <p:spPr bwMode="auto">
            <a:xfrm>
              <a:off x="3462926" y="1065394"/>
              <a:ext cx="5040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85011" name="文本框 25"/>
          <p:cNvSpPr txBox="1">
            <a:spLocks noChangeArrowheads="1"/>
          </p:cNvSpPr>
          <p:nvPr/>
        </p:nvSpPr>
        <p:spPr bwMode="auto">
          <a:xfrm>
            <a:off x="5003800" y="2822575"/>
            <a:ext cx="635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j/i</a:t>
            </a:r>
            <a:endParaRPr lang="zh-CN" altLang="en-US" sz="2400">
              <a:latin typeface="Arial" panose="020B0604020202020204" pitchFamily="34" charset="0"/>
            </a:endParaRPr>
          </a:p>
        </p:txBody>
      </p:sp>
      <p:pic>
        <p:nvPicPr>
          <p:cNvPr id="85012" name="图片 26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363" y="-12700"/>
            <a:ext cx="1155700" cy="706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8" name="图片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963" y="676275"/>
            <a:ext cx="1943100" cy="99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图片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0963" y="1654175"/>
            <a:ext cx="1943100" cy="62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015" name="矩形 29"/>
          <p:cNvSpPr>
            <a:spLocks noChangeArrowheads="1"/>
          </p:cNvSpPr>
          <p:nvPr/>
        </p:nvSpPr>
        <p:spPr bwMode="auto">
          <a:xfrm>
            <a:off x="385763" y="144463"/>
            <a:ext cx="6858000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如何寻找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j/i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的位置？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(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如何定位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r0</a:t>
            </a:r>
            <a:r>
              <a:rPr lang="zh-CN" altLang="en-US" sz="2400">
                <a:solidFill>
                  <a:srgbClr val="FFC000"/>
                </a:solidFill>
                <a:latin typeface="Arial" panose="020B0604020202020204" pitchFamily="34" charset="0"/>
              </a:rPr>
              <a:t>和</a:t>
            </a:r>
            <a:r>
              <a:rPr lang="en-US" altLang="zh-CN" sz="2400">
                <a:solidFill>
                  <a:srgbClr val="FFC000"/>
                </a:solidFill>
                <a:latin typeface="Arial" panose="020B0604020202020204" pitchFamily="34" charset="0"/>
              </a:rPr>
              <a:t>r?)</a:t>
            </a:r>
            <a:endParaRPr lang="en-US" altLang="zh-CN" sz="2400">
              <a:solidFill>
                <a:srgbClr val="FFC000"/>
              </a:solidFill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>
                <a:latin typeface="Arial" panose="020B0604020202020204" pitchFamily="34" charset="0"/>
              </a:rPr>
              <a:t>——</a:t>
            </a:r>
            <a:r>
              <a:rPr lang="zh-CN" altLang="en-US" sz="2400">
                <a:latin typeface="Arial" panose="020B0604020202020204" pitchFamily="34" charset="0"/>
              </a:rPr>
              <a:t>比较 </a:t>
            </a:r>
            <a:r>
              <a:rPr lang="en-US" altLang="zh-CN" sz="2400">
                <a:latin typeface="Arial" panose="020B0604020202020204" pitchFamily="34" charset="0"/>
              </a:rPr>
              <a:t>j/i </a:t>
            </a:r>
            <a:r>
              <a:rPr lang="zh-CN" altLang="en-US" sz="2400">
                <a:latin typeface="Arial" panose="020B0604020202020204" pitchFamily="34" charset="0"/>
              </a:rPr>
              <a:t>和 </a:t>
            </a:r>
            <a:r>
              <a:rPr lang="en-US" altLang="zh-CN" sz="2400">
                <a:latin typeface="Arial" panose="020B0604020202020204" pitchFamily="34" charset="0"/>
              </a:rPr>
              <a:t>r</a:t>
            </a:r>
            <a:r>
              <a:rPr lang="zh-CN" altLang="en-US" sz="2400">
                <a:latin typeface="Arial" panose="020B0604020202020204" pitchFamily="34" charset="0"/>
              </a:rPr>
              <a:t>的大小</a:t>
            </a:r>
            <a:endParaRPr lang="en-US" altLang="zh-CN" sz="2400">
              <a:latin typeface="Arial" panose="020B0604020202020204" pitchFamily="34" charset="0"/>
            </a:endParaRPr>
          </a:p>
        </p:txBody>
      </p:sp>
      <p:grpSp>
        <p:nvGrpSpPr>
          <p:cNvPr id="6" name="组合 41"/>
          <p:cNvGrpSpPr/>
          <p:nvPr/>
        </p:nvGrpSpPr>
        <p:grpSpPr bwMode="auto">
          <a:xfrm>
            <a:off x="6415088" y="3954463"/>
            <a:ext cx="5497512" cy="1525587"/>
            <a:chOff x="4007274" y="3950563"/>
            <a:chExt cx="5496650" cy="1525255"/>
          </a:xfrm>
        </p:grpSpPr>
        <p:sp>
          <p:nvSpPr>
            <p:cNvPr id="85024" name="文本框 24"/>
            <p:cNvSpPr txBox="1">
              <a:spLocks noChangeArrowheads="1"/>
            </p:cNvSpPr>
            <p:nvPr/>
          </p:nvSpPr>
          <p:spPr bwMode="auto">
            <a:xfrm>
              <a:off x="4007274" y="3950563"/>
              <a:ext cx="5496650" cy="8297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  while (</a:t>
              </a:r>
              <a:r>
                <a:rPr lang="en-US" altLang="zh-CN" sz="2400">
                  <a:latin typeface="Arial" panose="020B0604020202020204" pitchFamily="34" charset="0"/>
                </a:rPr>
                <a:t>(r</a:t>
              </a:r>
              <a:r>
                <a:rPr lang="zh-CN" altLang="zh-CN" sz="2400">
                  <a:latin typeface="Arial" panose="020B0604020202020204" pitchFamily="34" charset="0"/>
                </a:rPr>
                <a:t>的分子</a:t>
              </a:r>
              <a:r>
                <a:rPr lang="en-US" altLang="zh-CN" sz="2400">
                  <a:latin typeface="Arial" panose="020B0604020202020204" pitchFamily="34" charset="0"/>
                </a:rPr>
                <a:t>) * i 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&lt;</a:t>
              </a:r>
              <a:r>
                <a:rPr lang="en-US" altLang="zh-CN" sz="2400">
                  <a:latin typeface="Arial" panose="020B0604020202020204" pitchFamily="34" charset="0"/>
                </a:rPr>
                <a:t> j * (r</a:t>
              </a:r>
              <a:r>
                <a:rPr lang="zh-CN" altLang="zh-CN" sz="2400">
                  <a:latin typeface="Arial" panose="020B0604020202020204" pitchFamily="34" charset="0"/>
                </a:rPr>
                <a:t>的分母</a:t>
              </a:r>
              <a:r>
                <a:rPr lang="en-US" altLang="zh-CN" sz="2400">
                  <a:latin typeface="Arial" panose="020B0604020202020204" pitchFamily="34" charset="0"/>
                </a:rPr>
                <a:t>)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)</a:t>
              </a:r>
              <a:endParaRPr lang="en-US" altLang="zh-CN" sz="2400">
                <a:solidFill>
                  <a:srgbClr val="FF0000"/>
                </a:solidFill>
                <a:latin typeface="Arial" panose="020B0604020202020204" pitchFamily="34" charset="0"/>
              </a:endParaRP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solidFill>
                    <a:srgbClr val="FF0000"/>
                  </a:solidFill>
                  <a:latin typeface="Arial" panose="020B0604020202020204" pitchFamily="34" charset="0"/>
                </a:rPr>
                <a:t>	</a:t>
              </a:r>
              <a:r>
                <a:rPr lang="en-US" altLang="zh-CN" sz="2400">
                  <a:solidFill>
                    <a:srgbClr val="F52EFC"/>
                  </a:solidFill>
                  <a:latin typeface="Arial" panose="020B0604020202020204" pitchFamily="34" charset="0"/>
                </a:rPr>
                <a:t>r0和r后移</a:t>
              </a:r>
              <a:endParaRPr lang="en-US" altLang="zh-CN" sz="2400">
                <a:solidFill>
                  <a:srgbClr val="F52EFC"/>
                </a:solidFill>
                <a:latin typeface="Arial" panose="020B0604020202020204" pitchFamily="34" charset="0"/>
              </a:endParaRPr>
            </a:p>
          </p:txBody>
        </p:sp>
        <p:cxnSp>
          <p:nvCxnSpPr>
            <p:cNvPr id="85025" name="直接箭头连接符 31"/>
            <p:cNvCxnSpPr>
              <a:cxnSpLocks noChangeShapeType="1"/>
            </p:cNvCxnSpPr>
            <p:nvPr/>
          </p:nvCxnSpPr>
          <p:spPr bwMode="auto">
            <a:xfrm flipH="1">
              <a:off x="4890860" y="4958808"/>
              <a:ext cx="951717" cy="517010"/>
            </a:xfrm>
            <a:prstGeom prst="straightConnector1">
              <a:avLst/>
            </a:prstGeom>
            <a:noFill/>
            <a:ln w="44450" algn="ctr">
              <a:solidFill>
                <a:srgbClr val="FF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" name="Line 8"/>
          <p:cNvSpPr>
            <a:spLocks noChangeShapeType="1"/>
          </p:cNvSpPr>
          <p:nvPr/>
        </p:nvSpPr>
        <p:spPr bwMode="auto">
          <a:xfrm>
            <a:off x="5572125" y="1722438"/>
            <a:ext cx="7239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组合 35"/>
          <p:cNvGrpSpPr/>
          <p:nvPr/>
        </p:nvGrpSpPr>
        <p:grpSpPr bwMode="auto">
          <a:xfrm>
            <a:off x="4568825" y="968375"/>
            <a:ext cx="503238" cy="504825"/>
            <a:chOff x="1851422" y="1003348"/>
            <a:chExt cx="504044" cy="504661"/>
          </a:xfrm>
        </p:grpSpPr>
        <p:cxnSp>
          <p:nvCxnSpPr>
            <p:cNvPr id="85022" name="直接箭头连接符 2"/>
            <p:cNvCxnSpPr>
              <a:cxnSpLocks noChangeShapeType="1"/>
            </p:cNvCxnSpPr>
            <p:nvPr/>
          </p:nvCxnSpPr>
          <p:spPr bwMode="auto">
            <a:xfrm>
              <a:off x="2279204" y="1003348"/>
              <a:ext cx="0" cy="461963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3" name="文本框 37"/>
            <p:cNvSpPr txBox="1">
              <a:spLocks noChangeArrowheads="1"/>
            </p:cNvSpPr>
            <p:nvPr/>
          </p:nvSpPr>
          <p:spPr bwMode="auto">
            <a:xfrm>
              <a:off x="1851422" y="1046344"/>
              <a:ext cx="50404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r0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8" name="组合 38"/>
          <p:cNvGrpSpPr/>
          <p:nvPr/>
        </p:nvGrpSpPr>
        <p:grpSpPr bwMode="auto">
          <a:xfrm>
            <a:off x="6432550" y="941388"/>
            <a:ext cx="503238" cy="550862"/>
            <a:chOff x="3462926" y="977414"/>
            <a:chExt cx="504048" cy="549645"/>
          </a:xfrm>
        </p:grpSpPr>
        <p:cxnSp>
          <p:nvCxnSpPr>
            <p:cNvPr id="85020" name="直接箭头连接符 59"/>
            <p:cNvCxnSpPr>
              <a:cxnSpLocks noChangeShapeType="1"/>
            </p:cNvCxnSpPr>
            <p:nvPr/>
          </p:nvCxnSpPr>
          <p:spPr bwMode="auto">
            <a:xfrm>
              <a:off x="3740574" y="977414"/>
              <a:ext cx="0" cy="461962"/>
            </a:xfrm>
            <a:prstGeom prst="straightConnector1">
              <a:avLst/>
            </a:prstGeom>
            <a:noFill/>
            <a:ln w="25400" algn="ctr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5021" name="文本框 40"/>
            <p:cNvSpPr txBox="1">
              <a:spLocks noChangeArrowheads="1"/>
            </p:cNvSpPr>
            <p:nvPr/>
          </p:nvSpPr>
          <p:spPr bwMode="auto">
            <a:xfrm>
              <a:off x="3462926" y="1065394"/>
              <a:ext cx="50404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SzPct val="8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Char char="–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hlink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</a:t>
              </a:r>
              <a:endParaRPr lang="zh-CN" altLang="en-US" sz="2400">
                <a:latin typeface="Arial" panose="020B0604020202020204" pitchFamily="34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fld id="{7FE889B1-B970-46A8-9374-81AAE7F028AF}" type="slidenum">
              <a:rPr lang="zh-CN" altLang="en-US" b="0" smtClean="0"/>
            </a:fld>
            <a:endParaRPr lang="en-US" altLang="zh-CN" b="0"/>
          </a:p>
        </p:txBody>
      </p:sp>
      <p:sp>
        <p:nvSpPr>
          <p:cNvPr id="4055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447800" y="1066800"/>
            <a:ext cx="8395335" cy="5291455"/>
          </a:xfrm>
        </p:spPr>
        <p:txBody>
          <a:bodyPr/>
          <a:lstStyle/>
          <a:p>
            <a:pPr eaLnBrk="1" hangingPunct="1">
              <a:buClr>
                <a:schemeClr val="accent2"/>
              </a:buClr>
              <a:buSzTx/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动态数据结构概念</a:t>
            </a:r>
            <a:endParaRPr lang="zh-CN" altLang="en-US" sz="3600" b="1" dirty="0"/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单向链表操作（熟练掌握）</a:t>
            </a:r>
            <a:endParaRPr lang="en-US" altLang="zh-CN" sz="36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创建、遍历和检索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插入、删除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交换</a:t>
            </a:r>
            <a:endParaRPr lang="en-US" altLang="zh-CN" sz="3200" b="1" dirty="0"/>
          </a:p>
          <a:p>
            <a:pPr lvl="2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200" b="1" dirty="0"/>
              <a:t>插入排序</a:t>
            </a:r>
            <a:endParaRPr lang="zh-CN" altLang="en-US" sz="3200" b="1" dirty="0"/>
          </a:p>
          <a:p>
            <a:pPr lvl="0" algn="l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重点：链表应用</a:t>
            </a:r>
            <a:endParaRPr lang="zh-CN" altLang="en-US" sz="3600" b="1" dirty="0"/>
          </a:p>
          <a:p>
            <a:pPr lvl="0" algn="l" eaLnBrk="1" hangingPunct="1">
              <a:buClr>
                <a:schemeClr val="accent2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sz="3600" b="1" dirty="0"/>
              <a:t>难点：指针</a:t>
            </a:r>
            <a:endParaRPr lang="zh-CN" altLang="en-US" sz="3600" b="1" dirty="0"/>
          </a:p>
        </p:txBody>
      </p:sp>
      <p:sp>
        <p:nvSpPr>
          <p:cNvPr id="166916" name="Rectangle 3"/>
          <p:cNvSpPr>
            <a:spLocks noGrp="1" noChangeArrowheads="1"/>
          </p:cNvSpPr>
          <p:nvPr>
            <p:ph type="title"/>
          </p:nvPr>
        </p:nvSpPr>
        <p:spPr>
          <a:xfrm>
            <a:off x="1774825" y="0"/>
            <a:ext cx="8229600" cy="7651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b="1">
                <a:solidFill>
                  <a:srgbClr val="FFC000"/>
                </a:solidFill>
              </a:rPr>
              <a:t>本章小结</a:t>
            </a:r>
            <a:endParaRPr lang="zh-CN" altLang="en-US" b="1">
              <a:solidFill>
                <a:srgbClr val="FFC000"/>
              </a:solidFill>
            </a:endParaRPr>
          </a:p>
        </p:txBody>
      </p:sp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commondata" val="eyJoZGlkIjoiNmNmMTFlYTU3YjU5NDNlMjFjNGE1NDM0ZWI5YjNhZDUifQ=="/>
</p:tagLst>
</file>

<file path=ppt/theme/theme1.xml><?xml version="1.0" encoding="utf-8"?>
<a:theme xmlns:a="http://schemas.openxmlformats.org/drawingml/2006/main" name="1_Slit">
  <a:themeElements>
    <a:clrScheme name="Slit 6">
      <a:dk1>
        <a:srgbClr val="0000AC"/>
      </a:dk1>
      <a:lt1>
        <a:srgbClr val="FFFFFF"/>
      </a:lt1>
      <a:dk2>
        <a:srgbClr val="000086"/>
      </a:dk2>
      <a:lt2>
        <a:srgbClr val="CCFFFF"/>
      </a:lt2>
      <a:accent1>
        <a:srgbClr val="0099FF"/>
      </a:accent1>
      <a:accent2>
        <a:srgbClr val="00B000"/>
      </a:accent2>
      <a:accent3>
        <a:srgbClr val="AAAAC3"/>
      </a:accent3>
      <a:accent4>
        <a:srgbClr val="DADADA"/>
      </a:accent4>
      <a:accent5>
        <a:srgbClr val="AACAFF"/>
      </a:accent5>
      <a:accent6>
        <a:srgbClr val="009F00"/>
      </a:accent6>
      <a:hlink>
        <a:srgbClr val="FFE701"/>
      </a:hlink>
      <a:folHlink>
        <a:srgbClr val="FF9900"/>
      </a:folHlink>
    </a:clrScheme>
    <a:fontScheme name="Slit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</a:spPr>
      <a:bodyPr wrap="square" lIns="0" rIns="0">
        <a:noAutofit/>
      </a:bodyPr>
      <a:lstStyle>
        <a:defPPr eaLnBrk="1" hangingPunct="1">
          <a:buNone/>
          <a:defRPr sz="3200" dirty="0"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Slit 1">
        <a:dk1>
          <a:srgbClr val="8C0000"/>
        </a:dk1>
        <a:lt1>
          <a:srgbClr val="FFFFFF"/>
        </a:lt1>
        <a:dk2>
          <a:srgbClr val="720000"/>
        </a:dk2>
        <a:lt2>
          <a:srgbClr val="FFFFCC"/>
        </a:lt2>
        <a:accent1>
          <a:srgbClr val="FF3300"/>
        </a:accent1>
        <a:accent2>
          <a:srgbClr val="BE7960"/>
        </a:accent2>
        <a:accent3>
          <a:srgbClr val="BCAAAA"/>
        </a:accent3>
        <a:accent4>
          <a:srgbClr val="DADADA"/>
        </a:accent4>
        <a:accent5>
          <a:srgbClr val="FFADAA"/>
        </a:accent5>
        <a:accent6>
          <a:srgbClr val="AC6D56"/>
        </a:accent6>
        <a:hlink>
          <a:srgbClr val="FFCC66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2">
        <a:dk1>
          <a:srgbClr val="674E2F"/>
        </a:dk1>
        <a:lt1>
          <a:srgbClr val="FFFFFF"/>
        </a:lt1>
        <a:dk2>
          <a:srgbClr val="533F27"/>
        </a:dk2>
        <a:lt2>
          <a:srgbClr val="D8B274"/>
        </a:lt2>
        <a:accent1>
          <a:srgbClr val="CC990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E2CAAA"/>
        </a:accent5>
        <a:accent6>
          <a:srgbClr val="81552A"/>
        </a:accent6>
        <a:hlink>
          <a:srgbClr val="FF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3">
        <a:dk1>
          <a:srgbClr val="646464"/>
        </a:dk1>
        <a:lt1>
          <a:srgbClr val="FFFFFF"/>
        </a:lt1>
        <a:dk2>
          <a:srgbClr val="545454"/>
        </a:dk2>
        <a:lt2>
          <a:srgbClr val="D4D4CE"/>
        </a:lt2>
        <a:accent1>
          <a:srgbClr val="49747D"/>
        </a:accent1>
        <a:accent2>
          <a:srgbClr val="8F9699"/>
        </a:accent2>
        <a:accent3>
          <a:srgbClr val="B3B3B3"/>
        </a:accent3>
        <a:accent4>
          <a:srgbClr val="DADADA"/>
        </a:accent4>
        <a:accent5>
          <a:srgbClr val="B1BCBF"/>
        </a:accent5>
        <a:accent6>
          <a:srgbClr val="81878A"/>
        </a:accent6>
        <a:hlink>
          <a:srgbClr val="8DC4D7"/>
        </a:hlink>
        <a:folHlink>
          <a:srgbClr val="7FB97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4">
        <a:dk1>
          <a:srgbClr val="3A7400"/>
        </a:dk1>
        <a:lt1>
          <a:srgbClr val="FFFFFF"/>
        </a:lt1>
        <a:dk2>
          <a:srgbClr val="2E5C00"/>
        </a:dk2>
        <a:lt2>
          <a:srgbClr val="FFFFFF"/>
        </a:lt2>
        <a:accent1>
          <a:srgbClr val="79CA02"/>
        </a:accent1>
        <a:accent2>
          <a:srgbClr val="008080"/>
        </a:accent2>
        <a:accent3>
          <a:srgbClr val="ADB5AA"/>
        </a:accent3>
        <a:accent4>
          <a:srgbClr val="DADADA"/>
        </a:accent4>
        <a:accent5>
          <a:srgbClr val="BEE1AA"/>
        </a:accent5>
        <a:accent6>
          <a:srgbClr val="007373"/>
        </a:accent6>
        <a:hlink>
          <a:srgbClr val="A8DE0E"/>
        </a:hlink>
        <a:folHlink>
          <a:srgbClr val="00CC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5">
        <a:dk1>
          <a:srgbClr val="008885"/>
        </a:dk1>
        <a:lt1>
          <a:srgbClr val="FFFFFF"/>
        </a:lt1>
        <a:dk2>
          <a:srgbClr val="007572"/>
        </a:dk2>
        <a:lt2>
          <a:srgbClr val="FFFF99"/>
        </a:lt2>
        <a:accent1>
          <a:srgbClr val="33CCCC"/>
        </a:accent1>
        <a:accent2>
          <a:srgbClr val="6D6FC7"/>
        </a:accent2>
        <a:accent3>
          <a:srgbClr val="AABDBC"/>
        </a:accent3>
        <a:accent4>
          <a:srgbClr val="DADADA"/>
        </a:accent4>
        <a:accent5>
          <a:srgbClr val="ADE2E2"/>
        </a:accent5>
        <a:accent6>
          <a:srgbClr val="6264B4"/>
        </a:accent6>
        <a:hlink>
          <a:srgbClr val="FFFFCC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6">
        <a:dk1>
          <a:srgbClr val="0000AC"/>
        </a:dk1>
        <a:lt1>
          <a:srgbClr val="FFFFFF"/>
        </a:lt1>
        <a:dk2>
          <a:srgbClr val="000086"/>
        </a:dk2>
        <a:lt2>
          <a:srgbClr val="CCFFFF"/>
        </a:lt2>
        <a:accent1>
          <a:srgbClr val="0099FF"/>
        </a:accent1>
        <a:accent2>
          <a:srgbClr val="00B000"/>
        </a:accent2>
        <a:accent3>
          <a:srgbClr val="AAAAC3"/>
        </a:accent3>
        <a:accent4>
          <a:srgbClr val="DADADA"/>
        </a:accent4>
        <a:accent5>
          <a:srgbClr val="AACAFF"/>
        </a:accent5>
        <a:accent6>
          <a:srgbClr val="009F00"/>
        </a:accent6>
        <a:hlink>
          <a:srgbClr val="FFE701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7">
        <a:dk1>
          <a:srgbClr val="7474A2"/>
        </a:dk1>
        <a:lt1>
          <a:srgbClr val="FFFFFF"/>
        </a:lt1>
        <a:dk2>
          <a:srgbClr val="5E5E8E"/>
        </a:dk2>
        <a:lt2>
          <a:srgbClr val="D1D1DF"/>
        </a:lt2>
        <a:accent1>
          <a:srgbClr val="CC66FF"/>
        </a:accent1>
        <a:accent2>
          <a:srgbClr val="6666FF"/>
        </a:accent2>
        <a:accent3>
          <a:srgbClr val="B6B6C6"/>
        </a:accent3>
        <a:accent4>
          <a:srgbClr val="DADADA"/>
        </a:accent4>
        <a:accent5>
          <a:srgbClr val="E2B8FF"/>
        </a:accent5>
        <a:accent6>
          <a:srgbClr val="5C5CE7"/>
        </a:accent6>
        <a:hlink>
          <a:srgbClr val="FFCC99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lit 8">
        <a:dk1>
          <a:srgbClr val="000000"/>
        </a:dk1>
        <a:lt1>
          <a:srgbClr val="D0DAE2"/>
        </a:lt1>
        <a:dk2>
          <a:srgbClr val="000000"/>
        </a:dk2>
        <a:lt2>
          <a:srgbClr val="E7EDF1"/>
        </a:lt2>
        <a:accent1>
          <a:srgbClr val="33CCCC"/>
        </a:accent1>
        <a:accent2>
          <a:srgbClr val="0099CC"/>
        </a:accent2>
        <a:accent3>
          <a:srgbClr val="E4EAEE"/>
        </a:accent3>
        <a:accent4>
          <a:srgbClr val="000000"/>
        </a:accent4>
        <a:accent5>
          <a:srgbClr val="ADE2E2"/>
        </a:accent5>
        <a:accent6>
          <a:srgbClr val="008AB9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lit 9">
        <a:dk1>
          <a:srgbClr val="000000"/>
        </a:dk1>
        <a:lt1>
          <a:srgbClr val="FFFFFF"/>
        </a:lt1>
        <a:dk2>
          <a:srgbClr val="000000"/>
        </a:dk2>
        <a:lt2>
          <a:srgbClr val="E6E6E6"/>
        </a:lt2>
        <a:accent1>
          <a:srgbClr val="66CCFF"/>
        </a:accent1>
        <a:accent2>
          <a:srgbClr val="9999FF"/>
        </a:accent2>
        <a:accent3>
          <a:srgbClr val="FFFFFF"/>
        </a:accent3>
        <a:accent4>
          <a:srgbClr val="000000"/>
        </a:accent4>
        <a:accent5>
          <a:srgbClr val="B8E2FF"/>
        </a:accent5>
        <a:accent6>
          <a:srgbClr val="8A8AE7"/>
        </a:accent6>
        <a:hlink>
          <a:srgbClr val="3333CC"/>
        </a:hlink>
        <a:folHlink>
          <a:srgbClr val="0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14945</Words>
  <Application>WPS 演示</Application>
  <PresentationFormat>宽屏</PresentationFormat>
  <Paragraphs>2115</Paragraphs>
  <Slides>68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68</vt:i4>
      </vt:variant>
    </vt:vector>
  </HeadingPairs>
  <TitlesOfParts>
    <vt:vector size="83" baseType="lpstr">
      <vt:lpstr>Arial</vt:lpstr>
      <vt:lpstr>宋体</vt:lpstr>
      <vt:lpstr>Wingdings</vt:lpstr>
      <vt:lpstr>Tahoma</vt:lpstr>
      <vt:lpstr>等线</vt:lpstr>
      <vt:lpstr>Times New Roman</vt:lpstr>
      <vt:lpstr>Calibri</vt:lpstr>
      <vt:lpstr>微软雅黑</vt:lpstr>
      <vt:lpstr>Arial Unicode MS</vt:lpstr>
      <vt:lpstr>Consolas</vt:lpstr>
      <vt:lpstr>隶书</vt:lpstr>
      <vt:lpstr>Wingdings 3</vt:lpstr>
      <vt:lpstr>Symbol</vt:lpstr>
      <vt:lpstr>黑体</vt:lpstr>
      <vt:lpstr>1_Slit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【例1a】反序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【例13.2】插入排序 注：完整测试程序见 【例1a】链表操作实例</vt:lpstr>
      <vt:lpstr>插入排序 算法思想</vt:lpstr>
      <vt:lpstr>插入排序——PAD</vt:lpstr>
      <vt:lpstr>插入排序</vt:lpstr>
      <vt:lpstr>插入排序</vt:lpstr>
      <vt:lpstr>插入排序——插入过程演示</vt:lpstr>
      <vt:lpstr>插入排序——插入过程演示</vt:lpstr>
      <vt:lpstr>PowerPoint 演示文稿</vt:lpstr>
      <vt:lpstr>PowerPoint 演示文稿</vt:lpstr>
      <vt:lpstr>§13.3.2  栈</vt:lpstr>
      <vt:lpstr>PowerPoint 演示文稿</vt:lpstr>
      <vt:lpstr>PowerPoint 演示文稿</vt:lpstr>
      <vt:lpstr>PowerPoint 演示文稿</vt:lpstr>
      <vt:lpstr>PowerPoint 演示文稿</vt:lpstr>
      <vt:lpstr>§13.3.3  队列</vt:lpstr>
      <vt:lpstr>PowerPoint 演示文稿</vt:lpstr>
      <vt:lpstr>PowerPoint 演示文稿</vt:lpstr>
      <vt:lpstr>PowerPoint 演示文稿</vt:lpstr>
      <vt:lpstr>PowerPoint 演示文稿</vt:lpstr>
      <vt:lpstr>【例13.3】多项式加法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本章小结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chunyan deng</dc:creator>
  <cp:lastModifiedBy>DENGCY</cp:lastModifiedBy>
  <cp:revision>820</cp:revision>
  <dcterms:created xsi:type="dcterms:W3CDTF">2019-09-21T08:05:00Z</dcterms:created>
  <dcterms:modified xsi:type="dcterms:W3CDTF">2025-11-25T14:17:22Z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r8>1</vt:r8>
  </property>
  <property fmtid="{D5CDD505-2E9C-101B-9397-08002B2CF9AE}" pid="3" name="KSOProductBuildVer">
    <vt:lpwstr>2052-12.1.0.23125</vt:lpwstr>
  </property>
  <property fmtid="{D5CDD505-2E9C-101B-9397-08002B2CF9AE}" pid="4" name="ICV">
    <vt:lpwstr>9BD7FD4C16C24B4B82DB3AD4D6EF1091_12</vt:lpwstr>
  </property>
</Properties>
</file>