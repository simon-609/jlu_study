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07" r:id="rId3"/>
    <p:sldId id="464" r:id="rId4"/>
    <p:sldId id="465" r:id="rId6"/>
    <p:sldId id="467" r:id="rId7"/>
    <p:sldId id="466" r:id="rId8"/>
    <p:sldId id="468" r:id="rId9"/>
    <p:sldId id="469" r:id="rId10"/>
    <p:sldId id="472" r:id="rId11"/>
    <p:sldId id="529" r:id="rId12"/>
    <p:sldId id="473" r:id="rId13"/>
    <p:sldId id="474" r:id="rId14"/>
    <p:sldId id="476" r:id="rId15"/>
    <p:sldId id="475" r:id="rId16"/>
    <p:sldId id="530" r:id="rId17"/>
    <p:sldId id="531" r:id="rId18"/>
    <p:sldId id="532" r:id="rId19"/>
    <p:sldId id="533" r:id="rId20"/>
    <p:sldId id="534" r:id="rId21"/>
    <p:sldId id="535" r:id="rId22"/>
    <p:sldId id="536" r:id="rId2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02FC"/>
    <a:srgbClr val="FF0000"/>
    <a:srgbClr val="F803FB"/>
    <a:srgbClr val="000000"/>
    <a:srgbClr val="0000FF"/>
    <a:srgbClr val="FFE705"/>
    <a:srgbClr val="9C1489"/>
    <a:srgbClr val="00FF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6343" autoAdjust="0"/>
  </p:normalViewPr>
  <p:slideViewPr>
    <p:cSldViewPr showGuides="1">
      <p:cViewPr varScale="1">
        <p:scale>
          <a:sx n="75" d="100"/>
          <a:sy n="75" d="100"/>
        </p:scale>
        <p:origin x="408" y="58"/>
      </p:cViewPr>
      <p:guideLst>
        <p:guide orient="horz" pos="2214"/>
        <p:guide pos="3908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0" name="Rectangle 4"/>
          <p:cNvSpPr>
            <a:spLocks noRo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6B3D39E-1B95-4CC3-AEAE-F6FC5750CDF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A1FBEBC-4103-4E8C-8345-57ADE27B521B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B6706A0-BCBC-448B-B69C-FC66619ED909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F478EB-CA01-42C0-8A0D-F658503A7796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B84513-F73D-4867-85B1-D89DE1DC2DDA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9E73D79-B2EB-4C22-B10C-7601F0DFF6FE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递归程序设计是非常有用的工具，可以解决一些用其他方法很难解决的问题，但递归程序设计的技巧性要求比较高，对于一个具体的问题，要想归纳出递归式子有时很难，并不是每个问题都像阶乘的函数那样简单。</a:t>
            </a:r>
            <a:endParaRPr lang="zh-CN" altLang="en-US" b="1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C9ABE0-3CDD-42F8-9A2B-A5E3EB689E27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有返回值的递归函数</a:t>
            </a:r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16FADE5-0C8A-454F-8867-05F30F76D979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有返回值的递归函数</a:t>
            </a:r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78A7335-FC06-4623-B569-8DEE36157A73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5B6AFC-2BED-4F61-A9C7-D797B96E4BBB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在数组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en-US" altLang="zh-CN"/>
              <a:t>lower~upper</a:t>
            </a:r>
            <a:r>
              <a:rPr lang="zh-CN" altLang="en-US"/>
              <a:t>区间内，检索关键词</a:t>
            </a:r>
            <a:r>
              <a:rPr lang="en-US" altLang="zh-CN"/>
              <a:t>key</a:t>
            </a:r>
            <a:endParaRPr lang="zh-CN" altLang="en-US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325D137-5B78-453B-8977-D049DD1646D4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5BAC0E-3452-48CE-A709-98F4501FDDC3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73684D-F7A0-42A6-A490-2F3BA98767D2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223D51-DC19-4277-957A-8EC13CCDA941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66FB7C7-51E8-4534-BC21-01DDB0B19479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0AD7BF-8754-4564-B419-4B4349EC4AB5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3D3CC-405D-40D0-AF50-D27C85E21F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20220-8BD2-4CC1-A9A0-D32D477BE0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38477-4E5C-48DD-BAE5-E6CBA99B29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9FF52-ADEE-4FF6-BC49-AD7F2346E0A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191B0-B218-4516-8ECD-5DBE708D23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BADF6-41FF-41A9-AB9C-8E232D7DB8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FEAD5-364D-43ED-B423-F36309E335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02851-E204-4E45-9855-2EAD4B70C8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61BAF-8959-46AA-9C68-3B3360EF31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CCFF5-F2C8-43B1-9807-E9A731D27C3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78DCD-76FD-428E-9270-A83E7C3D3A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BAFFA-2609-4EF1-84ED-F6D35A6580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20070-1286-4615-8A3E-15208A6D0B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464AE-9FE8-4AF0-84A6-B98CEAD809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0D814-1285-46C0-9557-1DDFEBD265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4F48D5-AED4-4E68-8B68-077E361380A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6E682111-D5C1-4C30-B359-3AB5E9B5EB53}" type="slidenum">
              <a:rPr lang="en-US" altLang="zh-CN"/>
            </a:fld>
            <a:endParaRPr lang="en-US" altLang="zh-CN"/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slide" Target="slide1.xml"/><Relationship Id="rId3" Type="http://schemas.openxmlformats.org/officeDocument/2006/relationships/slide" Target="slide11.xml"/><Relationship Id="rId2" Type="http://schemas.openxmlformats.org/officeDocument/2006/relationships/slide" Target="slide10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3" Type="http://schemas.openxmlformats.org/officeDocument/2006/relationships/notesSlide" Target="../notesSlides/notesSlide4.xml"/><Relationship Id="rId42" Type="http://schemas.openxmlformats.org/officeDocument/2006/relationships/slideLayout" Target="../slideLayouts/slideLayout2.xml"/><Relationship Id="rId41" Type="http://schemas.openxmlformats.org/officeDocument/2006/relationships/image" Target="../media/image3.png"/><Relationship Id="rId40" Type="http://schemas.openxmlformats.org/officeDocument/2006/relationships/tags" Target="../tags/tag42.xml"/><Relationship Id="rId4" Type="http://schemas.openxmlformats.org/officeDocument/2006/relationships/tags" Target="../tags/tag6.xml"/><Relationship Id="rId39" Type="http://schemas.openxmlformats.org/officeDocument/2006/relationships/tags" Target="../tags/tag41.xml"/><Relationship Id="rId38" Type="http://schemas.openxmlformats.org/officeDocument/2006/relationships/tags" Target="../tags/tag40.xml"/><Relationship Id="rId37" Type="http://schemas.openxmlformats.org/officeDocument/2006/relationships/tags" Target="../tags/tag39.xml"/><Relationship Id="rId36" Type="http://schemas.openxmlformats.org/officeDocument/2006/relationships/tags" Target="../tags/tag38.xml"/><Relationship Id="rId35" Type="http://schemas.openxmlformats.org/officeDocument/2006/relationships/tags" Target="../tags/tag37.xml"/><Relationship Id="rId34" Type="http://schemas.openxmlformats.org/officeDocument/2006/relationships/tags" Target="../tags/tag36.xml"/><Relationship Id="rId33" Type="http://schemas.openxmlformats.org/officeDocument/2006/relationships/tags" Target="../tags/tag35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tags" Target="../tags/tag5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4B8DD50-A4E2-4168-9C81-2321702F8B91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7463"/>
            <a:ext cx="8208962" cy="72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章 递归程序设计</a:t>
            </a:r>
            <a:endParaRPr lang="zh-CN" altLang="en-US" b="1" dirty="0"/>
          </a:p>
        </p:txBody>
      </p:sp>
      <p:sp>
        <p:nvSpPr>
          <p:cNvPr id="20484" name="矩形 1"/>
          <p:cNvSpPr>
            <a:spLocks noChangeArrowheads="1"/>
          </p:cNvSpPr>
          <p:nvPr/>
        </p:nvSpPr>
        <p:spPr bwMode="auto">
          <a:xfrm>
            <a:off x="76200" y="609283"/>
            <a:ext cx="8991600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10.1 </a:t>
            </a:r>
            <a:r>
              <a:rPr lang="zh-CN" altLang="en-US"/>
              <a:t>计算</a:t>
            </a:r>
            <a:r>
              <a:rPr lang="en-US" altLang="zh-CN"/>
              <a:t>n!——</a:t>
            </a:r>
            <a:r>
              <a:rPr lang="zh-CN" altLang="en-US"/>
              <a:t>递归程序设计</a:t>
            </a:r>
            <a:endParaRPr lang="en-US" altLang="zh-CN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hlinkClick r:id="rId1" action="ppaction://hlinksldjump"/>
              </a:rPr>
              <a:t>【</a:t>
            </a:r>
            <a:r>
              <a:rPr lang="zh-CN" altLang="en-US">
                <a:hlinkClick r:id="rId1" action="ppaction://hlinksldjump"/>
              </a:rPr>
              <a:t>例</a:t>
            </a:r>
            <a:r>
              <a:rPr lang="en-US" altLang="zh-CN">
                <a:hlinkClick r:id="rId1" action="ppaction://hlinksldjump"/>
              </a:rPr>
              <a:t>10.1】</a:t>
            </a:r>
            <a:r>
              <a:rPr lang="zh-CN" altLang="en-US">
                <a:hlinkClick r:id="rId1" action="ppaction://hlinksldjump"/>
              </a:rPr>
              <a:t>计算</a:t>
            </a:r>
            <a:r>
              <a:rPr lang="en-US" altLang="zh-CN">
                <a:hlinkClick r:id="rId1" action="ppaction://hlinksldjump"/>
              </a:rPr>
              <a:t>n!</a:t>
            </a:r>
            <a:endParaRPr lang="en-US" altLang="zh-CN"/>
          </a:p>
          <a:p>
            <a:pPr lvl="2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hlinkClick r:id="rId2" action="ppaction://hlinksldjump"/>
              </a:rPr>
              <a:t>【</a:t>
            </a:r>
            <a:r>
              <a:rPr lang="zh-CN" altLang="en-US">
                <a:hlinkClick r:id="rId2" action="ppaction://hlinksldjump"/>
              </a:rPr>
              <a:t>课堂练习</a:t>
            </a:r>
            <a:r>
              <a:rPr lang="en-US" altLang="zh-CN">
                <a:hlinkClick r:id="rId2" action="ppaction://hlinksldjump"/>
              </a:rPr>
              <a:t>】</a:t>
            </a:r>
            <a:r>
              <a:rPr lang="zh-CN" altLang="en-US">
                <a:hlinkClick r:id="rId2" action="ppaction://hlinksldjump"/>
              </a:rPr>
              <a:t>计算</a:t>
            </a:r>
            <a:r>
              <a:rPr lang="en-US" altLang="zh-CN">
                <a:hlinkClick r:id="rId2" action="ppaction://hlinksldjump"/>
              </a:rPr>
              <a:t>x</a:t>
            </a:r>
            <a:r>
              <a:rPr lang="en-US" altLang="zh-CN" baseline="30000">
                <a:hlinkClick r:id="rId2" action="ppaction://hlinksldjump"/>
              </a:rPr>
              <a:t>n</a:t>
            </a:r>
            <a:endParaRPr lang="en-US" altLang="zh-CN" baseline="30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hlinkClick r:id="rId3" action="ppaction://hlinksldjump"/>
              </a:rPr>
              <a:t>【</a:t>
            </a:r>
            <a:r>
              <a:rPr lang="zh-CN" altLang="en-US">
                <a:hlinkClick r:id="rId3" action="ppaction://hlinksldjump"/>
              </a:rPr>
              <a:t>例</a:t>
            </a:r>
            <a:r>
              <a:rPr lang="en-US" altLang="zh-CN">
                <a:hlinkClick r:id="rId3" action="ppaction://hlinksldjump"/>
              </a:rPr>
              <a:t>10.2】n</a:t>
            </a:r>
            <a:r>
              <a:rPr lang="zh-CN" altLang="en-US">
                <a:hlinkClick r:id="rId3" action="ppaction://hlinksldjump"/>
              </a:rPr>
              <a:t>次勒让德多项式</a:t>
            </a:r>
            <a:endParaRPr lang="en-US" altLang="zh-CN"/>
          </a:p>
          <a:p>
            <a:pPr lvl="2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hlinkClick r:id="rId4" action="ppaction://hlinksldjump"/>
              </a:rPr>
              <a:t>【</a:t>
            </a:r>
            <a:r>
              <a:rPr lang="zh-CN" altLang="en-US">
                <a:hlinkClick r:id="rId4" action="ppaction://hlinksldjump"/>
              </a:rPr>
              <a:t>课后实践</a:t>
            </a:r>
            <a:r>
              <a:rPr lang="en-US" altLang="zh-CN">
                <a:hlinkClick r:id="rId4" action="ppaction://hlinksldjump"/>
              </a:rPr>
              <a:t>】</a:t>
            </a:r>
            <a:r>
              <a:rPr lang="zh-CN" altLang="en-US">
                <a:hlinkClick r:id="rId4" action="ppaction://hlinksldjump"/>
              </a:rPr>
              <a:t>折半检索</a:t>
            </a:r>
            <a:endParaRPr lang="en-US" altLang="zh-CN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10.2 </a:t>
            </a:r>
            <a:r>
              <a:rPr lang="zh-CN" altLang="en-US"/>
              <a:t>程序设计实例</a:t>
            </a:r>
            <a:endParaRPr lang="zh-CN" altLang="en-US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hlinkClick r:id="rId4" action="ppaction://hlinksldjump"/>
              </a:rPr>
              <a:t>【</a:t>
            </a:r>
            <a:r>
              <a:rPr lang="zh-CN" altLang="en-US" sz="2800">
                <a:hlinkClick r:id="rId4" action="ppaction://hlinksldjump"/>
              </a:rPr>
              <a:t>例</a:t>
            </a:r>
            <a:r>
              <a:rPr lang="en-US" altLang="zh-CN" sz="2800">
                <a:hlinkClick r:id="rId4" action="ppaction://hlinksldjump"/>
              </a:rPr>
              <a:t>10.3】</a:t>
            </a:r>
            <a:r>
              <a:rPr lang="zh-CN" altLang="en-US" sz="2800">
                <a:hlinkClick r:id="rId4" action="ppaction://hlinksldjump"/>
              </a:rPr>
              <a:t>汉诺塔游戏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hlinkClick r:id="rId4" action="ppaction://hlinksldjump"/>
              </a:rPr>
              <a:t>【</a:t>
            </a:r>
            <a:r>
              <a:rPr lang="zh-CN" altLang="en-US" sz="2800">
                <a:hlinkClick r:id="rId4" action="ppaction://hlinksldjump"/>
              </a:rPr>
              <a:t>例</a:t>
            </a:r>
            <a:r>
              <a:rPr lang="en-US" altLang="zh-CN" sz="2800">
                <a:hlinkClick r:id="rId4" action="ppaction://hlinksldjump"/>
              </a:rPr>
              <a:t>10.4】</a:t>
            </a:r>
            <a:r>
              <a:rPr lang="zh-CN" altLang="en-US" sz="2800">
                <a:hlinkClick r:id="rId4" action="ppaction://hlinksldjump"/>
              </a:rPr>
              <a:t>数组逆序</a:t>
            </a:r>
            <a:endParaRPr lang="en-US" altLang="zh-CN" sz="2800"/>
          </a:p>
          <a:p>
            <a:pPr lvl="2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hlinkClick r:id="" action="ppaction://noaction"/>
              </a:rPr>
              <a:t>【</a:t>
            </a:r>
            <a:r>
              <a:rPr lang="zh-CN" altLang="en-US">
                <a:hlinkClick r:id="" action="ppaction://noaction"/>
              </a:rPr>
              <a:t>课后实践</a:t>
            </a:r>
            <a:r>
              <a:rPr lang="en-US" altLang="zh-CN">
                <a:hlinkClick r:id="" action="ppaction://noaction"/>
              </a:rPr>
              <a:t>】</a:t>
            </a:r>
            <a:r>
              <a:rPr lang="zh-CN" altLang="en-US">
                <a:hlinkClick r:id="" action="ppaction://noaction"/>
              </a:rPr>
              <a:t>木棍折断问题</a:t>
            </a:r>
            <a:endParaRPr lang="en-US" altLang="zh-CN"/>
          </a:p>
          <a:p>
            <a:pPr lvl="2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hlinkClick r:id="" action="ppaction://noaction"/>
              </a:rPr>
              <a:t>【</a:t>
            </a:r>
            <a:r>
              <a:rPr lang="zh-CN" altLang="en-US">
                <a:hlinkClick r:id="" action="ppaction://noaction"/>
              </a:rPr>
              <a:t>课后实践</a:t>
            </a:r>
            <a:r>
              <a:rPr lang="en-US" altLang="zh-CN">
                <a:hlinkClick r:id="" action="ppaction://noaction"/>
              </a:rPr>
              <a:t>】</a:t>
            </a:r>
            <a:r>
              <a:rPr lang="zh-CN" altLang="en-US">
                <a:hlinkClick r:id="" action="ppaction://noaction"/>
              </a:rPr>
              <a:t>求数码</a:t>
            </a:r>
            <a:endParaRPr lang="en-US" altLang="zh-CN"/>
          </a:p>
          <a:p>
            <a:pPr lvl="2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  <a:hlinkClick r:id="" action="ppaction://noaction"/>
              </a:rPr>
              <a:t>【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  <a:hlinkClick r:id="" action="ppaction://noaction"/>
              </a:rPr>
              <a:t>课后实践</a:t>
            </a: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  <a:hlinkClick r:id="" action="ppaction://noaction"/>
              </a:rPr>
              <a:t>】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  <a:hlinkClick r:id="" action="ppaction://noaction"/>
              </a:rPr>
              <a:t>十进制数转二进制数</a:t>
            </a:r>
            <a:endParaRPr lang="en-US" altLang="zh-CN"/>
          </a:p>
          <a:p>
            <a:pPr lvl="2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000">
                <a:hlinkClick r:id="rId4" action="ppaction://hlinksldjump"/>
              </a:rPr>
              <a:t>【</a:t>
            </a:r>
            <a:r>
              <a:rPr lang="zh-CN" altLang="en-US" sz="2000">
                <a:hlinkClick r:id="rId4" action="ppaction://hlinksldjump"/>
              </a:rPr>
              <a:t>课后实践</a:t>
            </a:r>
            <a:r>
              <a:rPr lang="en-US" altLang="zh-CN" sz="2000">
                <a:hlinkClick r:id="rId4" action="ppaction://hlinksldjump"/>
              </a:rPr>
              <a:t>】【</a:t>
            </a:r>
            <a:r>
              <a:rPr lang="zh-CN" altLang="en-US" sz="2000">
                <a:hlinkClick r:id="rId4" action="ppaction://hlinksldjump"/>
              </a:rPr>
              <a:t>习题</a:t>
            </a:r>
            <a:r>
              <a:rPr lang="en-US" altLang="zh-CN" sz="2000">
                <a:hlinkClick r:id="rId4" action="ppaction://hlinksldjump"/>
              </a:rPr>
              <a:t>10.5】</a:t>
            </a:r>
            <a:r>
              <a:rPr lang="zh-CN" altLang="en-US" sz="2000">
                <a:hlinkClick r:id="rId4" action="ppaction://hlinksldjump"/>
              </a:rPr>
              <a:t>求数组最大值</a:t>
            </a:r>
            <a:endParaRPr lang="en-US" altLang="zh-CN" sz="2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hlinkClick r:id="" action="ppaction://noaction"/>
              </a:rPr>
              <a:t>【</a:t>
            </a:r>
            <a:r>
              <a:rPr lang="zh-CN" altLang="en-US" sz="2800">
                <a:hlinkClick r:id="" action="ppaction://noaction"/>
              </a:rPr>
              <a:t>例</a:t>
            </a:r>
            <a:r>
              <a:rPr lang="en-US" altLang="zh-CN" sz="2800">
                <a:hlinkClick r:id="" action="ppaction://noaction"/>
              </a:rPr>
              <a:t>10.5】</a:t>
            </a:r>
            <a:r>
              <a:rPr lang="zh-CN" altLang="en-US" sz="2800">
                <a:hlinkClick r:id="" action="ppaction://noaction"/>
              </a:rPr>
              <a:t>最大公约数和最小公倍数</a:t>
            </a:r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685" y="1524000"/>
            <a:ext cx="6975475" cy="53314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B0CFFD1-867E-431A-B5E6-2711566A85A4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4450"/>
            <a:ext cx="8229600" cy="647700"/>
          </a:xfrm>
        </p:spPr>
        <p:txBody>
          <a:bodyPr/>
          <a:lstStyle/>
          <a:p>
            <a:pPr eaLnBrk="1" hangingPunct="1"/>
            <a:r>
              <a:rPr lang="en-US" altLang="zh-CN" sz="4000" b="1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§10.1 </a:t>
            </a:r>
            <a:r>
              <a:rPr lang="zh-CN" altLang="en-US" sz="4000" b="1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计算</a:t>
            </a:r>
            <a:r>
              <a:rPr lang="en-US" altLang="zh-CN" sz="4000" b="1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n!</a:t>
            </a:r>
            <a:r>
              <a:rPr lang="en-US" altLang="zh-CN" sz="40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——</a:t>
            </a:r>
            <a:r>
              <a:rPr lang="zh-CN" altLang="en-US" sz="4000" b="1">
                <a:solidFill>
                  <a:schemeClr val="hlink"/>
                </a:solidFill>
                <a:effectLst/>
              </a:rPr>
              <a:t>递归程序设计</a:t>
            </a:r>
            <a:endParaRPr lang="zh-CN" altLang="en-US" sz="4000" b="1">
              <a:solidFill>
                <a:schemeClr val="hlink"/>
              </a:solidFill>
              <a:effectLst/>
            </a:endParaRPr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388" y="1984375"/>
            <a:ext cx="6678612" cy="42465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int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f( int n ) {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3200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  </a:t>
            </a:r>
            <a:r>
              <a:rPr lang="en-US" altLang="zh-CN" sz="32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i,</a:t>
            </a:r>
            <a:r>
              <a:rPr lang="en-US" altLang="zh-CN" sz="32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+mn-cs"/>
              </a:rPr>
              <a:t>v=1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lang="en-US" altLang="zh-CN" sz="32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for ( </a:t>
            </a:r>
            <a:r>
              <a:rPr lang="en-US" altLang="zh-CN" sz="32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=2 ; </a:t>
            </a:r>
            <a:r>
              <a:rPr lang="en-US" altLang="zh-CN" sz="32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&lt;=n ; </a:t>
            </a:r>
            <a:r>
              <a:rPr lang="en-US" altLang="zh-CN" sz="32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++ )</a:t>
            </a:r>
            <a:endParaRPr lang="en-US" altLang="zh-CN" sz="32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v=v*</a:t>
            </a:r>
            <a:r>
              <a:rPr lang="en-US" altLang="zh-CN" sz="32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lang="en-US" altLang="zh-CN" sz="32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1" indent="-342900" algn="l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 	</a:t>
            </a:r>
            <a:r>
              <a:rPr lang="en-US" altLang="zh-CN" sz="32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+mn-cs"/>
              </a:rPr>
              <a:t>return  v ;</a:t>
            </a:r>
            <a:endParaRPr lang="en-US" altLang="zh-CN" sz="3200" b="1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}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1000" y="1216025"/>
            <a:ext cx="1133729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defRPr/>
            </a:pPr>
            <a:r>
              <a:rPr lang="en-US" altLang="zh-CN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10.1】</a:t>
            </a:r>
            <a:r>
              <a:rPr lang="zh-CN" altLang="en-US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编函数计算阶乘 ｎ</a:t>
            </a:r>
            <a:r>
              <a:rPr lang="en-US" altLang="zh-CN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! </a:t>
            </a:r>
            <a:r>
              <a:rPr lang="zh-CN" altLang="en-US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（假定</a:t>
            </a:r>
            <a:r>
              <a:rPr lang="en-US" altLang="zh-CN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n&gt;=0</a:t>
            </a:r>
            <a:r>
              <a:rPr lang="zh-CN" altLang="en-US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，且</a:t>
            </a:r>
            <a:r>
              <a:rPr lang="zh-CN" altLang="en-US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结果无</a:t>
            </a:r>
            <a:r>
              <a:rPr lang="zh-CN" altLang="en-US" sz="3200" kern="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溢出）</a:t>
            </a:r>
            <a:endParaRPr lang="en-US" altLang="zh-CN" sz="3200" kern="0" dirty="0">
              <a:solidFill>
                <a:srgbClr val="FFC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F24DFD0-BE81-4E2B-A30F-464E8D5AEEE6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457200" y="381000"/>
            <a:ext cx="9525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现在换一个角度考虑问题，ｎ</a:t>
            </a:r>
            <a:r>
              <a:rPr lang="en-US" altLang="zh-CN">
                <a:latin typeface="Arial" panose="020B0604020202020204" pitchFamily="34" charset="0"/>
              </a:rPr>
              <a:t>! </a:t>
            </a:r>
            <a:r>
              <a:rPr lang="zh-CN" altLang="en-US">
                <a:latin typeface="Arial" panose="020B0604020202020204" pitchFamily="34" charset="0"/>
              </a:rPr>
              <a:t>还可以定义成</a:t>
            </a: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23556" name="Group 3"/>
          <p:cNvGrpSpPr/>
          <p:nvPr/>
        </p:nvGrpSpPr>
        <p:grpSpPr bwMode="auto">
          <a:xfrm>
            <a:off x="1393825" y="1368425"/>
            <a:ext cx="5670550" cy="1368425"/>
            <a:chOff x="930" y="1117"/>
            <a:chExt cx="3572" cy="1088"/>
          </a:xfrm>
        </p:grpSpPr>
        <p:sp>
          <p:nvSpPr>
            <p:cNvPr id="23560" name="Rectangle 4"/>
            <p:cNvSpPr>
              <a:spLocks noChangeArrowheads="1"/>
            </p:cNvSpPr>
            <p:nvPr/>
          </p:nvSpPr>
          <p:spPr bwMode="auto">
            <a:xfrm>
              <a:off x="930" y="1480"/>
              <a:ext cx="540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n!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=</a:t>
              </a:r>
              <a:endParaRPr lang="en-US" altLang="zh-CN" sz="2800">
                <a:latin typeface="Arial" panose="020B0604020202020204" pitchFamily="34" charset="0"/>
              </a:endParaRPr>
            </a:p>
          </p:txBody>
        </p:sp>
        <p:sp>
          <p:nvSpPr>
            <p:cNvPr id="23561" name="Rectangle 5"/>
            <p:cNvSpPr>
              <a:spLocks noChangeArrowheads="1"/>
            </p:cNvSpPr>
            <p:nvPr/>
          </p:nvSpPr>
          <p:spPr bwMode="auto">
            <a:xfrm>
              <a:off x="1610" y="1117"/>
              <a:ext cx="2892" cy="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AutoNum type="arabicPlain"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n=0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n*</a:t>
              </a:r>
              <a:r>
                <a:rPr lang="en-US" altLang="zh-CN" sz="2800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(n-1)!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n&gt;0</a:t>
              </a:r>
              <a:endParaRPr lang="en-US" altLang="zh-CN" sz="2800">
                <a:latin typeface="Arial" panose="020B0604020202020204" pitchFamily="34" charset="0"/>
              </a:endParaRPr>
            </a:p>
          </p:txBody>
        </p:sp>
        <p:sp>
          <p:nvSpPr>
            <p:cNvPr id="449542" name="AutoShape 6"/>
            <p:cNvSpPr/>
            <p:nvPr/>
          </p:nvSpPr>
          <p:spPr bwMode="auto">
            <a:xfrm>
              <a:off x="1383" y="1117"/>
              <a:ext cx="136" cy="1044"/>
            </a:xfrm>
            <a:prstGeom prst="leftBrace">
              <a:avLst>
                <a:gd name="adj1" fmla="val 63971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49543" name="Rectangle 7"/>
          <p:cNvSpPr>
            <a:spLocks noChangeArrowheads="1"/>
          </p:cNvSpPr>
          <p:nvPr/>
        </p:nvSpPr>
        <p:spPr bwMode="auto">
          <a:xfrm>
            <a:off x="2637155" y="3581400"/>
            <a:ext cx="706501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     </a:t>
            </a:r>
            <a:r>
              <a:rPr lang="en-US" altLang="zh-CN" sz="2800">
                <a:latin typeface="Arial" panose="020B0604020202020204" pitchFamily="34" charset="0"/>
              </a:rPr>
              <a:t>int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800">
                <a:latin typeface="Arial" panose="020B0604020202020204" pitchFamily="34" charset="0"/>
              </a:rPr>
              <a:t>( int n ) {</a:t>
            </a:r>
            <a:endParaRPr lang="en-US" altLang="zh-CN" sz="2800">
              <a:latin typeface="Arial" panose="020B0604020202020204" pitchFamily="34" charset="0"/>
            </a:endParaRPr>
          </a:p>
          <a:p>
            <a:pPr lvl="2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    if ( n==0 )</a:t>
            </a:r>
            <a:endParaRPr lang="en-US" altLang="zh-CN" sz="2800">
              <a:latin typeface="Arial" panose="020B0604020202020204" pitchFamily="34" charset="0"/>
            </a:endParaRPr>
          </a:p>
          <a:p>
            <a:pPr lvl="2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        	return 1;</a:t>
            </a:r>
            <a:endParaRPr lang="en-US" altLang="zh-CN" sz="2800">
              <a:latin typeface="Arial" panose="020B0604020202020204" pitchFamily="34" charset="0"/>
            </a:endParaRPr>
          </a:p>
          <a:p>
            <a:pPr lvl="2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    else </a:t>
            </a:r>
            <a:endParaRPr lang="en-US" altLang="zh-CN" sz="2800">
              <a:latin typeface="Arial" panose="020B0604020202020204" pitchFamily="34" charset="0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return  n * (</a:t>
            </a:r>
            <a:r>
              <a:rPr lang="en-US" altLang="zh-CN" sz="2800">
                <a:solidFill>
                  <a:srgbClr val="F302FC"/>
                </a:solidFill>
                <a:latin typeface="Arial" panose="020B0604020202020204" pitchFamily="34" charset="0"/>
              </a:rPr>
              <a:t>n-1</a:t>
            </a:r>
            <a:r>
              <a:rPr lang="zh-CN" altLang="en-US" sz="2800">
                <a:solidFill>
                  <a:srgbClr val="F302FC"/>
                </a:solidFill>
                <a:latin typeface="Arial" panose="020B0604020202020204" pitchFamily="34" charset="0"/>
              </a:rPr>
              <a:t>的阶乘</a:t>
            </a:r>
            <a:r>
              <a:rPr lang="en-US" altLang="zh-CN" sz="2800">
                <a:latin typeface="Arial" panose="020B0604020202020204" pitchFamily="34" charset="0"/>
              </a:rPr>
              <a:t>) ; 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} 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207250" y="5257165"/>
            <a:ext cx="1904365" cy="5835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f (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n-1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endParaRPr lang="en-US" altLang="zh-CN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838200" y="4343400"/>
            <a:ext cx="2820670" cy="1288415"/>
          </a:xfrm>
          <a:prstGeom prst="wedgeRoundRectCallout">
            <a:avLst>
              <a:gd name="adj1" fmla="val 53449"/>
              <a:gd name="adj2" fmla="val -79521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l" eaLnBrk="1" hangingPunct="1">
              <a:buNone/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调用函数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求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n!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algn="l" eaLnBrk="1" hangingPunct="1">
              <a:buNone/>
            </a:pP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        f(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n</a:t>
            </a: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)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282575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  <a:sym typeface="+mn-ea"/>
              </a:rPr>
              <a:t>按照该定义，可以设计函数：</a:t>
            </a:r>
            <a:endParaRPr lang="zh-CN" altLang="en-US" sz="280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7315200" y="3657600"/>
            <a:ext cx="3711575" cy="1288415"/>
          </a:xfrm>
          <a:prstGeom prst="wedgeRoundRectCallout">
            <a:avLst>
              <a:gd name="adj1" fmla="val -40391"/>
              <a:gd name="adj2" fmla="val 79571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l" eaLnBrk="1" hangingPunct="1">
              <a:buNone/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调用函数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求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(n-1)!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algn="l" eaLnBrk="1" hangingPunct="1">
              <a:buNone/>
            </a:pP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          f(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n-1</a:t>
            </a: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)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98" name="Rectangle 4"/>
          <p:cNvSpPr>
            <a:spLocks noChangeArrowheads="1"/>
          </p:cNvSpPr>
          <p:nvPr/>
        </p:nvSpPr>
        <p:spPr bwMode="auto">
          <a:xfrm>
            <a:off x="7239635" y="5871528"/>
            <a:ext cx="187166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>
                <a:solidFill>
                  <a:srgbClr val="FFFF00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递归</a:t>
            </a:r>
            <a:endParaRPr lang="zh-CN" altLang="en-US" sz="3600">
              <a:solidFill>
                <a:srgbClr val="FFFF00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9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95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9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9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49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9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3" grpId="0" uiExpand="1" build="allAtOnce"/>
      <p:bldP spid="2" grpId="0" bldLvl="0" animBg="1"/>
      <p:bldP spid="3" grpId="0" animBg="1"/>
      <p:bldP spid="3" grpId="1" animBg="1"/>
      <p:bldP spid="5" grpId="0" animBg="1"/>
      <p:bldP spid="5" grpId="1" animBg="1"/>
      <p:bldP spid="3" grpId="2" animBg="1"/>
      <p:bldP spid="5" grpId="2" animBg="1"/>
      <p:bldP spid="9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937B938-2C54-40DF-8741-6D54E83197EE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53634" name="Rectangle 2"/>
          <p:cNvSpPr>
            <a:spLocks noChangeArrowheads="1"/>
          </p:cNvSpPr>
          <p:nvPr/>
        </p:nvSpPr>
        <p:spPr bwMode="auto">
          <a:xfrm>
            <a:off x="4956175" y="765175"/>
            <a:ext cx="1582738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" tIns="2540" rIns="2540" bIns="254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主函数</a:t>
            </a:r>
            <a:endParaRPr lang="zh-CN" altLang="en-US" sz="2800"/>
          </a:p>
        </p:txBody>
      </p:sp>
      <p:sp>
        <p:nvSpPr>
          <p:cNvPr id="453635" name="Rectangle 3"/>
          <p:cNvSpPr>
            <a:spLocks noChangeArrowheads="1"/>
          </p:cNvSpPr>
          <p:nvPr/>
        </p:nvSpPr>
        <p:spPr bwMode="auto">
          <a:xfrm>
            <a:off x="4654550" y="3068638"/>
            <a:ext cx="205898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" tIns="2540" rIns="2540" bIns="254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调用函数</a:t>
            </a:r>
            <a:r>
              <a:rPr lang="en-US" altLang="zh-CN" sz="2800">
                <a:latin typeface="Times New Roman" panose="02020603050405020304" pitchFamily="18" charset="0"/>
              </a:rPr>
              <a:t>f</a:t>
            </a:r>
            <a:endParaRPr lang="zh-CN" altLang="en-US" sz="2800"/>
          </a:p>
        </p:txBody>
      </p:sp>
      <p:sp>
        <p:nvSpPr>
          <p:cNvPr id="453636" name="Rectangle 4"/>
          <p:cNvSpPr>
            <a:spLocks noChangeArrowheads="1"/>
          </p:cNvSpPr>
          <p:nvPr/>
        </p:nvSpPr>
        <p:spPr bwMode="auto">
          <a:xfrm>
            <a:off x="9550400" y="4581525"/>
            <a:ext cx="12255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" tIns="2540" rIns="2540" bIns="254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返回</a:t>
            </a:r>
            <a:endParaRPr lang="zh-CN" altLang="en-US" sz="2800"/>
          </a:p>
        </p:txBody>
      </p:sp>
      <p:sp>
        <p:nvSpPr>
          <p:cNvPr id="453637" name="Rectangle 5"/>
          <p:cNvSpPr>
            <a:spLocks noChangeArrowheads="1"/>
          </p:cNvSpPr>
          <p:nvPr/>
        </p:nvSpPr>
        <p:spPr bwMode="auto">
          <a:xfrm>
            <a:off x="4725988" y="5373688"/>
            <a:ext cx="1825625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" tIns="2540" rIns="2540" bIns="254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结束</a:t>
            </a:r>
            <a:endParaRPr lang="zh-CN" altLang="en-US" sz="2800"/>
          </a:p>
        </p:txBody>
      </p:sp>
      <p:sp>
        <p:nvSpPr>
          <p:cNvPr id="453638" name="Rectangle 6"/>
          <p:cNvSpPr>
            <a:spLocks noChangeArrowheads="1"/>
          </p:cNvSpPr>
          <p:nvPr/>
        </p:nvSpPr>
        <p:spPr bwMode="auto">
          <a:xfrm>
            <a:off x="9628188" y="2124075"/>
            <a:ext cx="10033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" tIns="2540" rIns="2540" bIns="254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函数</a:t>
            </a:r>
            <a:r>
              <a:rPr lang="en-US" altLang="zh-CN" sz="2800">
                <a:latin typeface="Times New Roman" panose="02020603050405020304" pitchFamily="18" charset="0"/>
              </a:rPr>
              <a:t>f</a:t>
            </a:r>
            <a:endParaRPr lang="zh-CN" altLang="en-US" sz="2800"/>
          </a:p>
        </p:txBody>
      </p:sp>
      <p:sp>
        <p:nvSpPr>
          <p:cNvPr id="453639" name="Line 7"/>
          <p:cNvSpPr>
            <a:spLocks noChangeShapeType="1"/>
          </p:cNvSpPr>
          <p:nvPr/>
        </p:nvSpPr>
        <p:spPr bwMode="auto">
          <a:xfrm>
            <a:off x="5662613" y="1412875"/>
            <a:ext cx="0" cy="1520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lg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3640" name="Line 8"/>
          <p:cNvSpPr>
            <a:spLocks noChangeShapeType="1"/>
          </p:cNvSpPr>
          <p:nvPr/>
        </p:nvSpPr>
        <p:spPr bwMode="auto">
          <a:xfrm>
            <a:off x="5662613" y="3716338"/>
            <a:ext cx="0" cy="1679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lg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3641" name="Line 9"/>
          <p:cNvSpPr>
            <a:spLocks noChangeShapeType="1"/>
          </p:cNvSpPr>
          <p:nvPr/>
        </p:nvSpPr>
        <p:spPr bwMode="auto">
          <a:xfrm flipV="1">
            <a:off x="6697663" y="2446338"/>
            <a:ext cx="2851150" cy="7985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lg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3642" name="Line 10"/>
          <p:cNvSpPr>
            <a:spLocks noChangeShapeType="1"/>
          </p:cNvSpPr>
          <p:nvPr/>
        </p:nvSpPr>
        <p:spPr bwMode="auto">
          <a:xfrm>
            <a:off x="10104438" y="2686050"/>
            <a:ext cx="7937" cy="1909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lg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3643" name="Line 11"/>
          <p:cNvSpPr>
            <a:spLocks noChangeShapeType="1"/>
          </p:cNvSpPr>
          <p:nvPr/>
        </p:nvSpPr>
        <p:spPr bwMode="auto">
          <a:xfrm flipH="1" flipV="1">
            <a:off x="6619875" y="3484563"/>
            <a:ext cx="3087688" cy="127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lg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13" name="Rectangle 12"/>
          <p:cNvSpPr>
            <a:spLocks noChangeArrowheads="1"/>
          </p:cNvSpPr>
          <p:nvPr/>
        </p:nvSpPr>
        <p:spPr bwMode="auto">
          <a:xfrm>
            <a:off x="0" y="17463"/>
            <a:ext cx="845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调用一个函数的大致执行过程是：</a:t>
            </a:r>
            <a:endParaRPr lang="zh-CN" altLang="en-US" sz="2800"/>
          </a:p>
        </p:txBody>
      </p:sp>
      <p:sp>
        <p:nvSpPr>
          <p:cNvPr id="453645" name="Text Box 13"/>
          <p:cNvSpPr txBox="1">
            <a:spLocks noChangeArrowheads="1"/>
          </p:cNvSpPr>
          <p:nvPr/>
        </p:nvSpPr>
        <p:spPr bwMode="auto">
          <a:xfrm>
            <a:off x="1058863" y="1182688"/>
            <a:ext cx="2535237" cy="427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int main()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{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	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……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   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f(a);</a:t>
            </a:r>
            <a:endParaRPr lang="en-US" altLang="zh-CN" sz="32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   ……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}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5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5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5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5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5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5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4" grpId="0"/>
      <p:bldP spid="453635" grpId="0"/>
      <p:bldP spid="453636" grpId="0"/>
      <p:bldP spid="453637" grpId="0"/>
      <p:bldP spid="4536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9431165-2177-4631-83F5-FF2FF0FDA117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51586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2227263" y="4873625"/>
            <a:ext cx="1587" cy="554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87" name="Line 3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227263" y="5829300"/>
            <a:ext cx="1587" cy="511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8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2895600" y="4919663"/>
            <a:ext cx="576263" cy="454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8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687763" y="49911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687763" y="5783263"/>
            <a:ext cx="0" cy="39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 flipV="1">
            <a:off x="9264650" y="5734050"/>
            <a:ext cx="400050" cy="45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2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4408488" y="4846638"/>
            <a:ext cx="576262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3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6064250" y="4846638"/>
            <a:ext cx="647700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4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V="1">
            <a:off x="7648575" y="4846638"/>
            <a:ext cx="576263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5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 flipV="1">
            <a:off x="7680325" y="5734050"/>
            <a:ext cx="544513" cy="4810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6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 flipV="1">
            <a:off x="6167438" y="5805488"/>
            <a:ext cx="473075" cy="48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 flipV="1">
            <a:off x="4440238" y="5805488"/>
            <a:ext cx="400050" cy="48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8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 flipV="1">
            <a:off x="2824163" y="5783263"/>
            <a:ext cx="576262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599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524000" y="5422900"/>
            <a:ext cx="14033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5*f(4)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0" name="Rectangle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063750" y="4559300"/>
            <a:ext cx="5143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f(5)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1" name="Rectangle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847850" y="6286500"/>
            <a:ext cx="11557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000">
                <a:latin typeface="Arial" panose="020B0604020202020204" pitchFamily="34" charset="0"/>
              </a:rPr>
              <a:t>(</a:t>
            </a:r>
            <a:r>
              <a:rPr lang="en-US" altLang="zh-CN" sz="200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5</a:t>
            </a:r>
            <a:r>
              <a:rPr lang="en-US" altLang="zh-CN" sz="2000">
                <a:latin typeface="Arial" panose="020B0604020202020204" pitchFamily="34" charset="0"/>
              </a:rPr>
              <a:t>)</a:t>
            </a:r>
            <a:r>
              <a:rPr lang="en-US" altLang="zh-CN" sz="2000">
                <a:solidFill>
                  <a:schemeClr val="hlink"/>
                </a:solidFill>
                <a:latin typeface="Arial" panose="020B0604020202020204" pitchFamily="34" charset="0"/>
              </a:rPr>
              <a:t>=120</a:t>
            </a:r>
            <a:endParaRPr lang="en-US" altLang="zh-CN" sz="20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451602" name="Rectangle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543300" y="4630738"/>
            <a:ext cx="5143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f(4)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3" name="Rectangle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056188" y="4630738"/>
            <a:ext cx="5143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f(3)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4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773863" y="4630738"/>
            <a:ext cx="5143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f(2)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5" name="Rectangle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8358188" y="4630738"/>
            <a:ext cx="5143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f(1)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6" name="Rectangle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9798050" y="4630738"/>
            <a:ext cx="5143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f(0)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7" name="Rectangle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184525" y="5422900"/>
            <a:ext cx="14033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4*f(3)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8" name="Rectangle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840288" y="5422900"/>
            <a:ext cx="14033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3*f(2)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09" name="Rectangle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424613" y="5407025"/>
            <a:ext cx="14033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2*f(1)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10" name="Rectangle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8045450" y="5407025"/>
            <a:ext cx="14033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1*f(0)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11" name="Rectangle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9701213" y="5445125"/>
            <a:ext cx="11477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return 1</a:t>
            </a:r>
            <a:endParaRPr lang="en-US" altLang="zh-CN" sz="200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51612" name="Rectangle 28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3381375" y="6264275"/>
            <a:ext cx="1004888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f(4)=24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13" name="Rectangle 29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829175" y="6237288"/>
            <a:ext cx="922338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f(3)=6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14" name="Rectangle 30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626225" y="6246813"/>
            <a:ext cx="893763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f(2)=2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15" name="Rectangle 31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9693275" y="6186488"/>
            <a:ext cx="800100" cy="4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f(0)=1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16" name="Rectangle 32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8169275" y="6215063"/>
            <a:ext cx="8921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f(1)=1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1617" name="Line 33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5200650" y="49911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618" name="Line 34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5200650" y="5783263"/>
            <a:ext cx="0" cy="39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619" name="Line 35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6927850" y="49911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620" name="Line 36"/>
          <p:cNvSpPr>
            <a:spLocks noChangeShapeType="1"/>
          </p:cNvSpPr>
          <p:nvPr>
            <p:custDataLst>
              <p:tags r:id="rId35"/>
            </p:custDataLst>
          </p:nvPr>
        </p:nvSpPr>
        <p:spPr bwMode="auto">
          <a:xfrm>
            <a:off x="6927850" y="578326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621" name="Line 37"/>
          <p:cNvSpPr>
            <a:spLocks noChangeShapeType="1"/>
          </p:cNvSpPr>
          <p:nvPr>
            <p:custDataLst>
              <p:tags r:id="rId36"/>
            </p:custDataLst>
          </p:nvPr>
        </p:nvSpPr>
        <p:spPr bwMode="auto">
          <a:xfrm>
            <a:off x="8512175" y="49911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622" name="Line 38"/>
          <p:cNvSpPr>
            <a:spLocks noChangeShapeType="1"/>
          </p:cNvSpPr>
          <p:nvPr>
            <p:custDataLst>
              <p:tags r:id="rId37"/>
            </p:custDataLst>
          </p:nvPr>
        </p:nvSpPr>
        <p:spPr bwMode="auto">
          <a:xfrm>
            <a:off x="8512175" y="578326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623" name="Line 39"/>
          <p:cNvSpPr>
            <a:spLocks noChangeShapeType="1"/>
          </p:cNvSpPr>
          <p:nvPr>
            <p:custDataLst>
              <p:tags r:id="rId38"/>
            </p:custDataLst>
          </p:nvPr>
        </p:nvSpPr>
        <p:spPr bwMode="auto">
          <a:xfrm flipV="1">
            <a:off x="9304338" y="4941888"/>
            <a:ext cx="43180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624" name="Line 40"/>
          <p:cNvSpPr>
            <a:spLocks noChangeShapeType="1"/>
          </p:cNvSpPr>
          <p:nvPr>
            <p:custDataLst>
              <p:tags r:id="rId39"/>
            </p:custDataLst>
          </p:nvPr>
        </p:nvSpPr>
        <p:spPr bwMode="auto">
          <a:xfrm>
            <a:off x="9952038" y="5013325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1625" name="Line 41"/>
          <p:cNvSpPr>
            <a:spLocks noChangeShapeType="1"/>
          </p:cNvSpPr>
          <p:nvPr>
            <p:custDataLst>
              <p:tags r:id="rId40"/>
            </p:custDataLst>
          </p:nvPr>
        </p:nvSpPr>
        <p:spPr bwMode="auto">
          <a:xfrm>
            <a:off x="9952038" y="578326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691" name="Rectangle 42"/>
          <p:cNvSpPr>
            <a:spLocks noChangeArrowheads="1"/>
          </p:cNvSpPr>
          <p:nvPr/>
        </p:nvSpPr>
        <p:spPr bwMode="auto">
          <a:xfrm>
            <a:off x="0" y="85725"/>
            <a:ext cx="54356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#include&lt;stido.h&gt;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int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f (</a:t>
            </a:r>
            <a:r>
              <a:rPr lang="en-US" altLang="zh-CN" sz="2800">
                <a:latin typeface="Arial" panose="020B0604020202020204" pitchFamily="34" charset="0"/>
              </a:rPr>
              <a:t> int n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) {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if ( n==0 )    return 1;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else             return  n*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f (</a:t>
            </a:r>
            <a:r>
              <a:rPr lang="en-US" altLang="zh-CN" sz="2800">
                <a:latin typeface="Arial" panose="020B0604020202020204" pitchFamily="34" charset="0"/>
              </a:rPr>
              <a:t>n-1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} 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int main(){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    printf("%d\n",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f(</a:t>
            </a: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5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);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return 0;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}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pic>
        <p:nvPicPr>
          <p:cNvPr id="451628" name="Picture 44"/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0"/>
          <a:stretch>
            <a:fillRect/>
          </a:stretch>
        </p:blipFill>
        <p:spPr bwMode="auto">
          <a:xfrm>
            <a:off x="6434138" y="762000"/>
            <a:ext cx="5148262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5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5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5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5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5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5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5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5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5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5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5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45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5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5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5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5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45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45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5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5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5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45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45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45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45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45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45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45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45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45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4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45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45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99" grpId="0"/>
      <p:bldP spid="451600" grpId="0"/>
      <p:bldP spid="451601" grpId="0"/>
      <p:bldP spid="451602" grpId="0"/>
      <p:bldP spid="451603" grpId="0"/>
      <p:bldP spid="451604" grpId="0"/>
      <p:bldP spid="451605" grpId="0"/>
      <p:bldP spid="451606" grpId="0"/>
      <p:bldP spid="451607" grpId="0"/>
      <p:bldP spid="451608" grpId="0"/>
      <p:bldP spid="451609" grpId="0"/>
      <p:bldP spid="451610" grpId="0"/>
      <p:bldP spid="451611" grpId="0"/>
      <p:bldP spid="451612" grpId="0"/>
      <p:bldP spid="451613" grpId="0"/>
      <p:bldP spid="451614" grpId="0"/>
      <p:bldP spid="451615" grpId="0"/>
      <p:bldP spid="4516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E5757D7-206E-49D1-A030-AA072B039459}" type="slidenum">
              <a:rPr lang="en-US" altLang="zh-CN" sz="1200" b="0"/>
            </a:fld>
            <a:endParaRPr lang="en-US" altLang="zh-CN" sz="1200" b="0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7624763" y="3641725"/>
            <a:ext cx="4391025" cy="798513"/>
            <a:chOff x="2744" y="2473"/>
            <a:chExt cx="2766" cy="503"/>
          </a:xfrm>
        </p:grpSpPr>
        <p:grpSp>
          <p:nvGrpSpPr>
            <p:cNvPr id="29789" name="Group 3"/>
            <p:cNvGrpSpPr/>
            <p:nvPr/>
          </p:nvGrpSpPr>
          <p:grpSpPr bwMode="auto">
            <a:xfrm>
              <a:off x="4059" y="2473"/>
              <a:ext cx="1451" cy="503"/>
              <a:chOff x="3923" y="2247"/>
              <a:chExt cx="1451" cy="503"/>
            </a:xfrm>
          </p:grpSpPr>
          <p:sp>
            <p:nvSpPr>
              <p:cNvPr id="455684" name="Rectangle 4"/>
              <p:cNvSpPr>
                <a:spLocks noChangeArrowheads="1"/>
              </p:cNvSpPr>
              <p:nvPr/>
            </p:nvSpPr>
            <p:spPr bwMode="auto">
              <a:xfrm>
                <a:off x="4558" y="2519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92" name="Rectangle 5"/>
              <p:cNvSpPr>
                <a:spLocks noChangeArrowheads="1"/>
              </p:cNvSpPr>
              <p:nvPr/>
            </p:nvSpPr>
            <p:spPr bwMode="auto">
              <a:xfrm>
                <a:off x="4558" y="2292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5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93" name="Text Box 6"/>
              <p:cNvSpPr txBox="1">
                <a:spLocks noChangeArrowheads="1"/>
              </p:cNvSpPr>
              <p:nvPr/>
            </p:nvSpPr>
            <p:spPr bwMode="auto">
              <a:xfrm>
                <a:off x="3969" y="2247"/>
                <a:ext cx="49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n: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94" name="Text Box 7"/>
              <p:cNvSpPr txBox="1">
                <a:spLocks noChangeArrowheads="1"/>
              </p:cNvSpPr>
              <p:nvPr/>
            </p:nvSpPr>
            <p:spPr bwMode="auto">
              <a:xfrm>
                <a:off x="3969" y="2519"/>
                <a:ext cx="49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455688" name="Line 8"/>
              <p:cNvSpPr>
                <a:spLocks noChangeShapeType="1"/>
              </p:cNvSpPr>
              <p:nvPr/>
            </p:nvSpPr>
            <p:spPr bwMode="auto">
              <a:xfrm flipH="1">
                <a:off x="3923" y="2750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9790" name="Text Box 9"/>
            <p:cNvSpPr txBox="1">
              <a:spLocks noChangeArrowheads="1"/>
            </p:cNvSpPr>
            <p:nvPr/>
          </p:nvSpPr>
          <p:spPr bwMode="auto">
            <a:xfrm>
              <a:off x="2744" y="2659"/>
              <a:ext cx="127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函数调用：</a:t>
              </a: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f(5)</a:t>
              </a:r>
              <a:endParaRPr lang="zh-CN" altLang="en-US" sz="2000">
                <a:solidFill>
                  <a:srgbClr val="F302FC"/>
                </a:solidFill>
                <a:latin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7624763" y="2922588"/>
            <a:ext cx="4391025" cy="792162"/>
            <a:chOff x="2744" y="2020"/>
            <a:chExt cx="2766" cy="499"/>
          </a:xfrm>
        </p:grpSpPr>
        <p:grpSp>
          <p:nvGrpSpPr>
            <p:cNvPr id="29782" name="Group 11"/>
            <p:cNvGrpSpPr/>
            <p:nvPr/>
          </p:nvGrpSpPr>
          <p:grpSpPr bwMode="auto">
            <a:xfrm>
              <a:off x="4059" y="2020"/>
              <a:ext cx="1451" cy="499"/>
              <a:chOff x="3923" y="1793"/>
              <a:chExt cx="1451" cy="499"/>
            </a:xfrm>
          </p:grpSpPr>
          <p:sp>
            <p:nvSpPr>
              <p:cNvPr id="455692" name="Rectangle 12"/>
              <p:cNvSpPr>
                <a:spLocks noChangeArrowheads="1"/>
              </p:cNvSpPr>
              <p:nvPr/>
            </p:nvSpPr>
            <p:spPr bwMode="auto">
              <a:xfrm>
                <a:off x="4558" y="2065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85" name="Rectangle 13"/>
              <p:cNvSpPr>
                <a:spLocks noChangeArrowheads="1"/>
              </p:cNvSpPr>
              <p:nvPr/>
            </p:nvSpPr>
            <p:spPr bwMode="auto">
              <a:xfrm>
                <a:off x="4558" y="1838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4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86" name="Text Box 14"/>
              <p:cNvSpPr txBox="1">
                <a:spLocks noChangeArrowheads="1"/>
              </p:cNvSpPr>
              <p:nvPr/>
            </p:nvSpPr>
            <p:spPr bwMode="auto">
              <a:xfrm>
                <a:off x="3969" y="1793"/>
                <a:ext cx="49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n: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87" name="Text Box 15"/>
              <p:cNvSpPr txBox="1">
                <a:spLocks noChangeArrowheads="1"/>
              </p:cNvSpPr>
              <p:nvPr/>
            </p:nvSpPr>
            <p:spPr bwMode="auto">
              <a:xfrm>
                <a:off x="3969" y="2065"/>
                <a:ext cx="49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455696" name="Line 16"/>
              <p:cNvSpPr>
                <a:spLocks noChangeShapeType="1"/>
              </p:cNvSpPr>
              <p:nvPr/>
            </p:nvSpPr>
            <p:spPr bwMode="auto">
              <a:xfrm flipH="1">
                <a:off x="3923" y="2292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9783" name="Text Box 17"/>
            <p:cNvSpPr txBox="1">
              <a:spLocks noChangeArrowheads="1"/>
            </p:cNvSpPr>
            <p:nvPr/>
          </p:nvSpPr>
          <p:spPr bwMode="auto">
            <a:xfrm>
              <a:off x="2744" y="2115"/>
              <a:ext cx="127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函数调用：</a:t>
              </a: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f(4)</a:t>
              </a:r>
              <a:endParaRPr lang="zh-CN" altLang="en-US" sz="2000">
                <a:solidFill>
                  <a:srgbClr val="F302FC"/>
                </a:solidFill>
                <a:latin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6" name="Group 18"/>
          <p:cNvGrpSpPr/>
          <p:nvPr/>
        </p:nvGrpSpPr>
        <p:grpSpPr bwMode="auto">
          <a:xfrm>
            <a:off x="7624763" y="2208213"/>
            <a:ext cx="4391025" cy="1068387"/>
            <a:chOff x="2744" y="1570"/>
            <a:chExt cx="2766" cy="673"/>
          </a:xfrm>
        </p:grpSpPr>
        <p:grpSp>
          <p:nvGrpSpPr>
            <p:cNvPr id="29775" name="Group 19"/>
            <p:cNvGrpSpPr/>
            <p:nvPr/>
          </p:nvGrpSpPr>
          <p:grpSpPr bwMode="auto">
            <a:xfrm>
              <a:off x="4059" y="1570"/>
              <a:ext cx="1451" cy="673"/>
              <a:chOff x="3923" y="1339"/>
              <a:chExt cx="1451" cy="673"/>
            </a:xfrm>
          </p:grpSpPr>
          <p:sp>
            <p:nvSpPr>
              <p:cNvPr id="29777" name="Text Box 20"/>
              <p:cNvSpPr txBox="1">
                <a:spLocks noChangeArrowheads="1"/>
              </p:cNvSpPr>
              <p:nvPr/>
            </p:nvSpPr>
            <p:spPr bwMode="auto">
              <a:xfrm>
                <a:off x="3969" y="1339"/>
                <a:ext cx="49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n: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55701" name="Line 21"/>
              <p:cNvSpPr>
                <a:spLocks noChangeShapeType="1"/>
              </p:cNvSpPr>
              <p:nvPr/>
            </p:nvSpPr>
            <p:spPr bwMode="auto">
              <a:xfrm flipH="1">
                <a:off x="3923" y="1842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55702" name="Rectangle 22"/>
              <p:cNvSpPr>
                <a:spLocks noChangeArrowheads="1"/>
              </p:cNvSpPr>
              <p:nvPr/>
            </p:nvSpPr>
            <p:spPr bwMode="auto">
              <a:xfrm>
                <a:off x="4558" y="1615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80" name="Rectangle 23"/>
              <p:cNvSpPr>
                <a:spLocks noChangeArrowheads="1"/>
              </p:cNvSpPr>
              <p:nvPr/>
            </p:nvSpPr>
            <p:spPr bwMode="auto">
              <a:xfrm>
                <a:off x="4558" y="1388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3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81" name="Text Box 24"/>
              <p:cNvSpPr txBox="1">
                <a:spLocks noChangeArrowheads="1"/>
              </p:cNvSpPr>
              <p:nvPr/>
            </p:nvSpPr>
            <p:spPr bwMode="auto">
              <a:xfrm>
                <a:off x="3969" y="1615"/>
                <a:ext cx="454" cy="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zh-CN" sz="1400">
                  <a:latin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zh-CN" sz="1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76" name="Text Box 25"/>
            <p:cNvSpPr txBox="1">
              <a:spLocks noChangeArrowheads="1"/>
            </p:cNvSpPr>
            <p:nvPr/>
          </p:nvSpPr>
          <p:spPr bwMode="auto">
            <a:xfrm>
              <a:off x="2744" y="1661"/>
              <a:ext cx="127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函数调用：</a:t>
              </a: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f(3)</a:t>
              </a:r>
              <a:endParaRPr lang="zh-CN" altLang="en-US" sz="2000">
                <a:solidFill>
                  <a:srgbClr val="F302FC"/>
                </a:solidFill>
                <a:latin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8" name="Group 26"/>
          <p:cNvGrpSpPr/>
          <p:nvPr/>
        </p:nvGrpSpPr>
        <p:grpSpPr bwMode="auto">
          <a:xfrm>
            <a:off x="7624763" y="1482725"/>
            <a:ext cx="4391025" cy="790575"/>
            <a:chOff x="2744" y="1113"/>
            <a:chExt cx="2766" cy="498"/>
          </a:xfrm>
        </p:grpSpPr>
        <p:grpSp>
          <p:nvGrpSpPr>
            <p:cNvPr id="29768" name="Group 27"/>
            <p:cNvGrpSpPr/>
            <p:nvPr/>
          </p:nvGrpSpPr>
          <p:grpSpPr bwMode="auto">
            <a:xfrm>
              <a:off x="4059" y="1113"/>
              <a:ext cx="1451" cy="498"/>
              <a:chOff x="3923" y="886"/>
              <a:chExt cx="1451" cy="498"/>
            </a:xfrm>
          </p:grpSpPr>
          <p:sp>
            <p:nvSpPr>
              <p:cNvPr id="455708" name="Line 28"/>
              <p:cNvSpPr>
                <a:spLocks noChangeShapeType="1"/>
              </p:cNvSpPr>
              <p:nvPr/>
            </p:nvSpPr>
            <p:spPr bwMode="auto">
              <a:xfrm flipH="1">
                <a:off x="3923" y="1384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55709" name="Rectangle 29"/>
              <p:cNvSpPr>
                <a:spLocks noChangeArrowheads="1"/>
              </p:cNvSpPr>
              <p:nvPr/>
            </p:nvSpPr>
            <p:spPr bwMode="auto">
              <a:xfrm>
                <a:off x="4558" y="1158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72" name="Rectangle 30"/>
              <p:cNvSpPr>
                <a:spLocks noChangeArrowheads="1"/>
              </p:cNvSpPr>
              <p:nvPr/>
            </p:nvSpPr>
            <p:spPr bwMode="auto">
              <a:xfrm>
                <a:off x="4558" y="931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2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73" name="Text Box 31"/>
              <p:cNvSpPr txBox="1">
                <a:spLocks noChangeArrowheads="1"/>
              </p:cNvSpPr>
              <p:nvPr/>
            </p:nvSpPr>
            <p:spPr bwMode="auto">
              <a:xfrm>
                <a:off x="3969" y="886"/>
                <a:ext cx="49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n: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74" name="Text Box 32"/>
              <p:cNvSpPr txBox="1">
                <a:spLocks noChangeArrowheads="1"/>
              </p:cNvSpPr>
              <p:nvPr/>
            </p:nvSpPr>
            <p:spPr bwMode="auto">
              <a:xfrm>
                <a:off x="4014" y="1158"/>
                <a:ext cx="45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69" name="Text Box 33"/>
            <p:cNvSpPr txBox="1">
              <a:spLocks noChangeArrowheads="1"/>
            </p:cNvSpPr>
            <p:nvPr/>
          </p:nvSpPr>
          <p:spPr bwMode="auto">
            <a:xfrm>
              <a:off x="2744" y="1207"/>
              <a:ext cx="127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函数调用：</a:t>
              </a: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f(2)</a:t>
              </a:r>
              <a:endParaRPr lang="zh-CN" altLang="en-US" sz="2000">
                <a:solidFill>
                  <a:srgbClr val="F302FC"/>
                </a:solidFill>
                <a:latin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10" name="Group 34"/>
          <p:cNvGrpSpPr/>
          <p:nvPr/>
        </p:nvGrpSpPr>
        <p:grpSpPr bwMode="auto">
          <a:xfrm>
            <a:off x="7624763" y="768350"/>
            <a:ext cx="4391025" cy="792163"/>
            <a:chOff x="2744" y="663"/>
            <a:chExt cx="2766" cy="499"/>
          </a:xfrm>
        </p:grpSpPr>
        <p:grpSp>
          <p:nvGrpSpPr>
            <p:cNvPr id="29761" name="Group 35"/>
            <p:cNvGrpSpPr/>
            <p:nvPr/>
          </p:nvGrpSpPr>
          <p:grpSpPr bwMode="auto">
            <a:xfrm>
              <a:off x="4059" y="663"/>
              <a:ext cx="1451" cy="499"/>
              <a:chOff x="3923" y="432"/>
              <a:chExt cx="1451" cy="499"/>
            </a:xfrm>
          </p:grpSpPr>
          <p:sp>
            <p:nvSpPr>
              <p:cNvPr id="455716" name="Line 36"/>
              <p:cNvSpPr>
                <a:spLocks noChangeShapeType="1"/>
              </p:cNvSpPr>
              <p:nvPr/>
            </p:nvSpPr>
            <p:spPr bwMode="auto">
              <a:xfrm flipH="1">
                <a:off x="3923" y="931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55717" name="Rectangle 37"/>
              <p:cNvSpPr>
                <a:spLocks noChangeArrowheads="1"/>
              </p:cNvSpPr>
              <p:nvPr/>
            </p:nvSpPr>
            <p:spPr bwMode="auto">
              <a:xfrm>
                <a:off x="4558" y="704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65" name="Rectangle 38"/>
              <p:cNvSpPr>
                <a:spLocks noChangeArrowheads="1"/>
              </p:cNvSpPr>
              <p:nvPr/>
            </p:nvSpPr>
            <p:spPr bwMode="auto">
              <a:xfrm>
                <a:off x="4558" y="477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66" name="Text Box 39"/>
              <p:cNvSpPr txBox="1">
                <a:spLocks noChangeArrowheads="1"/>
              </p:cNvSpPr>
              <p:nvPr/>
            </p:nvSpPr>
            <p:spPr bwMode="auto">
              <a:xfrm>
                <a:off x="3969" y="432"/>
                <a:ext cx="49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n: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67" name="Text Box 40"/>
              <p:cNvSpPr txBox="1">
                <a:spLocks noChangeArrowheads="1"/>
              </p:cNvSpPr>
              <p:nvPr/>
            </p:nvSpPr>
            <p:spPr bwMode="auto">
              <a:xfrm>
                <a:off x="4059" y="704"/>
                <a:ext cx="40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62" name="Text Box 41"/>
            <p:cNvSpPr txBox="1">
              <a:spLocks noChangeArrowheads="1"/>
            </p:cNvSpPr>
            <p:nvPr/>
          </p:nvSpPr>
          <p:spPr bwMode="auto">
            <a:xfrm>
              <a:off x="2744" y="708"/>
              <a:ext cx="127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函数调用：</a:t>
              </a: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  <a:sym typeface="+mn-ea"/>
                </a:rPr>
                <a:t>f(1)</a:t>
              </a:r>
              <a:endParaRPr lang="zh-CN" altLang="en-US" sz="2000">
                <a:solidFill>
                  <a:srgbClr val="F302FC"/>
                </a:solidFill>
                <a:latin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12" name="Group 42"/>
          <p:cNvGrpSpPr/>
          <p:nvPr/>
        </p:nvGrpSpPr>
        <p:grpSpPr bwMode="auto">
          <a:xfrm>
            <a:off x="7624763" y="41275"/>
            <a:ext cx="4391025" cy="790575"/>
            <a:chOff x="2744" y="205"/>
            <a:chExt cx="2766" cy="498"/>
          </a:xfrm>
        </p:grpSpPr>
        <p:grpSp>
          <p:nvGrpSpPr>
            <p:cNvPr id="29754" name="Group 43"/>
            <p:cNvGrpSpPr/>
            <p:nvPr/>
          </p:nvGrpSpPr>
          <p:grpSpPr bwMode="auto">
            <a:xfrm>
              <a:off x="4059" y="205"/>
              <a:ext cx="1451" cy="498"/>
              <a:chOff x="3923" y="0"/>
              <a:chExt cx="1451" cy="498"/>
            </a:xfrm>
          </p:grpSpPr>
          <p:sp>
            <p:nvSpPr>
              <p:cNvPr id="455724" name="Rectangle 44"/>
              <p:cNvSpPr>
                <a:spLocks noChangeArrowheads="1"/>
              </p:cNvSpPr>
              <p:nvPr/>
            </p:nvSpPr>
            <p:spPr bwMode="auto">
              <a:xfrm>
                <a:off x="4558" y="272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757" name="Rectangle 45"/>
              <p:cNvSpPr>
                <a:spLocks noChangeArrowheads="1"/>
              </p:cNvSpPr>
              <p:nvPr/>
            </p:nvSpPr>
            <p:spPr bwMode="auto">
              <a:xfrm>
                <a:off x="4558" y="45"/>
                <a:ext cx="816" cy="22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0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58" name="Text Box 46"/>
              <p:cNvSpPr txBox="1">
                <a:spLocks noChangeArrowheads="1"/>
              </p:cNvSpPr>
              <p:nvPr/>
            </p:nvSpPr>
            <p:spPr bwMode="auto">
              <a:xfrm>
                <a:off x="3969" y="0"/>
                <a:ext cx="49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n: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759" name="Text Box 47"/>
              <p:cNvSpPr txBox="1">
                <a:spLocks noChangeArrowheads="1"/>
              </p:cNvSpPr>
              <p:nvPr/>
            </p:nvSpPr>
            <p:spPr bwMode="auto">
              <a:xfrm>
                <a:off x="4014" y="272"/>
                <a:ext cx="45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455728" name="Line 48"/>
              <p:cNvSpPr>
                <a:spLocks noChangeShapeType="1"/>
              </p:cNvSpPr>
              <p:nvPr/>
            </p:nvSpPr>
            <p:spPr bwMode="auto">
              <a:xfrm flipH="1">
                <a:off x="3923" y="482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9755" name="Text Box 49"/>
            <p:cNvSpPr txBox="1">
              <a:spLocks noChangeArrowheads="1"/>
            </p:cNvSpPr>
            <p:nvPr/>
          </p:nvSpPr>
          <p:spPr bwMode="auto">
            <a:xfrm>
              <a:off x="2744" y="346"/>
              <a:ext cx="12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302FC"/>
                  </a:solidFill>
                  <a:latin typeface="Arial" panose="020B0604020202020204" pitchFamily="34" charset="0"/>
                </a:rPr>
                <a:t>函数调用：</a:t>
              </a:r>
              <a:r>
                <a:rPr lang="en-US" altLang="zh-CN" sz="2000">
                  <a:solidFill>
                    <a:srgbClr val="F302FC"/>
                  </a:solidFill>
                  <a:latin typeface="Arial" panose="020B0604020202020204" pitchFamily="34" charset="0"/>
                </a:rPr>
                <a:t>f(0)</a:t>
              </a:r>
              <a:endParaRPr lang="en-US" altLang="zh-CN" sz="2000">
                <a:solidFill>
                  <a:srgbClr val="F302F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4585" name="Text Box 50"/>
          <p:cNvSpPr txBox="1">
            <a:spLocks noChangeArrowheads="1"/>
          </p:cNvSpPr>
          <p:nvPr/>
        </p:nvSpPr>
        <p:spPr bwMode="auto">
          <a:xfrm>
            <a:off x="9929813" y="3570288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b="0">
              <a:latin typeface="Arial" panose="020B0604020202020204" pitchFamily="34" charset="0"/>
            </a:endParaRPr>
          </a:p>
        </p:txBody>
      </p:sp>
      <p:sp>
        <p:nvSpPr>
          <p:cNvPr id="455731" name="Text Box 51"/>
          <p:cNvSpPr txBox="1">
            <a:spLocks noChangeArrowheads="1"/>
          </p:cNvSpPr>
          <p:nvPr/>
        </p:nvSpPr>
        <p:spPr bwMode="auto">
          <a:xfrm>
            <a:off x="10866438" y="1200150"/>
            <a:ext cx="647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endParaRPr lang="en-US" altLang="zh-CN" sz="180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455732" name="Text Box 52"/>
          <p:cNvSpPr txBox="1">
            <a:spLocks noChangeArrowheads="1"/>
          </p:cNvSpPr>
          <p:nvPr/>
        </p:nvSpPr>
        <p:spPr bwMode="auto">
          <a:xfrm>
            <a:off x="10866438" y="1914525"/>
            <a:ext cx="647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latin typeface="Arial" panose="020B0604020202020204" pitchFamily="34" charset="0"/>
              </a:rPr>
              <a:t>2</a:t>
            </a:r>
            <a:endParaRPr lang="en-US" altLang="zh-CN" sz="180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455733" name="Text Box 53"/>
          <p:cNvSpPr txBox="1">
            <a:spLocks noChangeArrowheads="1"/>
          </p:cNvSpPr>
          <p:nvPr/>
        </p:nvSpPr>
        <p:spPr bwMode="auto">
          <a:xfrm>
            <a:off x="10929938" y="3375025"/>
            <a:ext cx="647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latin typeface="Arial" panose="020B0604020202020204" pitchFamily="34" charset="0"/>
              </a:rPr>
              <a:t>24</a:t>
            </a:r>
            <a:endParaRPr lang="en-US" altLang="zh-CN" sz="180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455734" name="Text Box 54"/>
          <p:cNvSpPr txBox="1">
            <a:spLocks noChangeArrowheads="1"/>
          </p:cNvSpPr>
          <p:nvPr/>
        </p:nvSpPr>
        <p:spPr bwMode="auto">
          <a:xfrm>
            <a:off x="10966450" y="4094163"/>
            <a:ext cx="647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latin typeface="Arial" panose="020B0604020202020204" pitchFamily="34" charset="0"/>
              </a:rPr>
              <a:t>120</a:t>
            </a:r>
            <a:endParaRPr lang="en-US" altLang="zh-CN" sz="180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455735" name="Text Box 55"/>
          <p:cNvSpPr txBox="1">
            <a:spLocks noChangeArrowheads="1"/>
          </p:cNvSpPr>
          <p:nvPr/>
        </p:nvSpPr>
        <p:spPr bwMode="auto">
          <a:xfrm>
            <a:off x="10866438" y="473075"/>
            <a:ext cx="647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endParaRPr lang="en-US" altLang="zh-CN" sz="180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455736" name="Text Box 56"/>
          <p:cNvSpPr txBox="1">
            <a:spLocks noChangeArrowheads="1"/>
          </p:cNvSpPr>
          <p:nvPr/>
        </p:nvSpPr>
        <p:spPr bwMode="auto">
          <a:xfrm>
            <a:off x="10866438" y="2640013"/>
            <a:ext cx="647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  <a:latin typeface="Arial" panose="020B0604020202020204" pitchFamily="34" charset="0"/>
              </a:rPr>
              <a:t>6</a:t>
            </a:r>
            <a:endParaRPr lang="en-US" altLang="zh-CN" sz="180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455737" name="Line 57"/>
          <p:cNvSpPr>
            <a:spLocks noChangeShapeType="1"/>
          </p:cNvSpPr>
          <p:nvPr/>
        </p:nvSpPr>
        <p:spPr bwMode="auto">
          <a:xfrm>
            <a:off x="1298575" y="4989513"/>
            <a:ext cx="1588" cy="5540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38" name="Line 58"/>
          <p:cNvSpPr>
            <a:spLocks noChangeShapeType="1"/>
          </p:cNvSpPr>
          <p:nvPr/>
        </p:nvSpPr>
        <p:spPr bwMode="auto">
          <a:xfrm>
            <a:off x="1298575" y="5945188"/>
            <a:ext cx="1588" cy="511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39" name="Line 59"/>
          <p:cNvSpPr>
            <a:spLocks noChangeShapeType="1"/>
          </p:cNvSpPr>
          <p:nvPr/>
        </p:nvSpPr>
        <p:spPr bwMode="auto">
          <a:xfrm flipV="1">
            <a:off x="1966913" y="5035550"/>
            <a:ext cx="576262" cy="454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0" name="Line 60"/>
          <p:cNvSpPr>
            <a:spLocks noChangeShapeType="1"/>
          </p:cNvSpPr>
          <p:nvPr/>
        </p:nvSpPr>
        <p:spPr bwMode="auto">
          <a:xfrm>
            <a:off x="2759075" y="510698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1" name="Line 61"/>
          <p:cNvSpPr>
            <a:spLocks noChangeShapeType="1"/>
          </p:cNvSpPr>
          <p:nvPr/>
        </p:nvSpPr>
        <p:spPr bwMode="auto">
          <a:xfrm>
            <a:off x="2759075" y="5899150"/>
            <a:ext cx="0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2" name="Line 62"/>
          <p:cNvSpPr>
            <a:spLocks noChangeShapeType="1"/>
          </p:cNvSpPr>
          <p:nvPr/>
        </p:nvSpPr>
        <p:spPr bwMode="auto">
          <a:xfrm flipH="1" flipV="1">
            <a:off x="8186738" y="5849938"/>
            <a:ext cx="549275" cy="458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3" name="Line 63"/>
          <p:cNvSpPr>
            <a:spLocks noChangeShapeType="1"/>
          </p:cNvSpPr>
          <p:nvPr/>
        </p:nvSpPr>
        <p:spPr bwMode="auto">
          <a:xfrm flipV="1">
            <a:off x="3479800" y="4962525"/>
            <a:ext cx="576263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4" name="Line 64"/>
          <p:cNvSpPr>
            <a:spLocks noChangeShapeType="1"/>
          </p:cNvSpPr>
          <p:nvPr/>
        </p:nvSpPr>
        <p:spPr bwMode="auto">
          <a:xfrm flipV="1">
            <a:off x="5135563" y="4962525"/>
            <a:ext cx="647700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5" name="Line 65"/>
          <p:cNvSpPr>
            <a:spLocks noChangeShapeType="1"/>
          </p:cNvSpPr>
          <p:nvPr/>
        </p:nvSpPr>
        <p:spPr bwMode="auto">
          <a:xfrm flipV="1">
            <a:off x="6719888" y="4962525"/>
            <a:ext cx="576262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6" name="Line 66"/>
          <p:cNvSpPr>
            <a:spLocks noChangeShapeType="1"/>
          </p:cNvSpPr>
          <p:nvPr/>
        </p:nvSpPr>
        <p:spPr bwMode="auto">
          <a:xfrm flipH="1" flipV="1">
            <a:off x="6575425" y="5827713"/>
            <a:ext cx="720725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7" name="Line 67"/>
          <p:cNvSpPr>
            <a:spLocks noChangeShapeType="1"/>
          </p:cNvSpPr>
          <p:nvPr/>
        </p:nvSpPr>
        <p:spPr bwMode="auto">
          <a:xfrm flipH="1" flipV="1">
            <a:off x="5064125" y="5902325"/>
            <a:ext cx="647700" cy="501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8" name="Line 68"/>
          <p:cNvSpPr>
            <a:spLocks noChangeShapeType="1"/>
          </p:cNvSpPr>
          <p:nvPr/>
        </p:nvSpPr>
        <p:spPr bwMode="auto">
          <a:xfrm flipH="1" flipV="1">
            <a:off x="3335338" y="5899150"/>
            <a:ext cx="576262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49" name="Line 69"/>
          <p:cNvSpPr>
            <a:spLocks noChangeShapeType="1"/>
          </p:cNvSpPr>
          <p:nvPr/>
        </p:nvSpPr>
        <p:spPr bwMode="auto">
          <a:xfrm flipH="1" flipV="1">
            <a:off x="1895475" y="5899150"/>
            <a:ext cx="576263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725" name="Rectangle 70"/>
          <p:cNvSpPr>
            <a:spLocks noChangeArrowheads="1"/>
          </p:cNvSpPr>
          <p:nvPr/>
        </p:nvSpPr>
        <p:spPr bwMode="auto">
          <a:xfrm>
            <a:off x="595313" y="5538788"/>
            <a:ext cx="1403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5*f(4)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26" name="Rectangle 71"/>
          <p:cNvSpPr>
            <a:spLocks noChangeArrowheads="1"/>
          </p:cNvSpPr>
          <p:nvPr/>
        </p:nvSpPr>
        <p:spPr bwMode="auto">
          <a:xfrm>
            <a:off x="1135063" y="4675188"/>
            <a:ext cx="5143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f(5)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27" name="Rectangle 72"/>
          <p:cNvSpPr>
            <a:spLocks noChangeArrowheads="1"/>
          </p:cNvSpPr>
          <p:nvPr/>
        </p:nvSpPr>
        <p:spPr bwMode="auto">
          <a:xfrm>
            <a:off x="919163" y="6402388"/>
            <a:ext cx="8953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f=120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28" name="Rectangle 73"/>
          <p:cNvSpPr>
            <a:spLocks noChangeArrowheads="1"/>
          </p:cNvSpPr>
          <p:nvPr/>
        </p:nvSpPr>
        <p:spPr bwMode="auto">
          <a:xfrm>
            <a:off x="2614613" y="4746625"/>
            <a:ext cx="5143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f(4)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29" name="Rectangle 74"/>
          <p:cNvSpPr>
            <a:spLocks noChangeArrowheads="1"/>
          </p:cNvSpPr>
          <p:nvPr/>
        </p:nvSpPr>
        <p:spPr bwMode="auto">
          <a:xfrm>
            <a:off x="4127500" y="4746625"/>
            <a:ext cx="5143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f(3)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0" name="Rectangle 75"/>
          <p:cNvSpPr>
            <a:spLocks noChangeArrowheads="1"/>
          </p:cNvSpPr>
          <p:nvPr/>
        </p:nvSpPr>
        <p:spPr bwMode="auto">
          <a:xfrm>
            <a:off x="5741988" y="4673600"/>
            <a:ext cx="5143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f(2)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1" name="Rectangle 76"/>
          <p:cNvSpPr>
            <a:spLocks noChangeArrowheads="1"/>
          </p:cNvSpPr>
          <p:nvPr/>
        </p:nvSpPr>
        <p:spPr bwMode="auto">
          <a:xfrm>
            <a:off x="7361238" y="4706938"/>
            <a:ext cx="514350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f(1)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2" name="Rectangle 77"/>
          <p:cNvSpPr>
            <a:spLocks noChangeArrowheads="1"/>
          </p:cNvSpPr>
          <p:nvPr/>
        </p:nvSpPr>
        <p:spPr bwMode="auto">
          <a:xfrm>
            <a:off x="8807450" y="4708525"/>
            <a:ext cx="5143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f(0)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3" name="Rectangle 78"/>
          <p:cNvSpPr>
            <a:spLocks noChangeArrowheads="1"/>
          </p:cNvSpPr>
          <p:nvPr/>
        </p:nvSpPr>
        <p:spPr bwMode="auto">
          <a:xfrm>
            <a:off x="2255838" y="5538788"/>
            <a:ext cx="1403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4*f(3)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4" name="Rectangle 79"/>
          <p:cNvSpPr>
            <a:spLocks noChangeArrowheads="1"/>
          </p:cNvSpPr>
          <p:nvPr/>
        </p:nvSpPr>
        <p:spPr bwMode="auto">
          <a:xfrm>
            <a:off x="3911600" y="5538788"/>
            <a:ext cx="1403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3*f(2)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5" name="Rectangle 80"/>
          <p:cNvSpPr>
            <a:spLocks noChangeArrowheads="1"/>
          </p:cNvSpPr>
          <p:nvPr/>
        </p:nvSpPr>
        <p:spPr bwMode="auto">
          <a:xfrm>
            <a:off x="5495925" y="5522913"/>
            <a:ext cx="1403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2*f(1)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6" name="Rectangle 81"/>
          <p:cNvSpPr>
            <a:spLocks noChangeArrowheads="1"/>
          </p:cNvSpPr>
          <p:nvPr/>
        </p:nvSpPr>
        <p:spPr bwMode="auto">
          <a:xfrm>
            <a:off x="7116763" y="5522913"/>
            <a:ext cx="14033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return 1*f(0)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7" name="Rectangle 82"/>
          <p:cNvSpPr>
            <a:spLocks noChangeArrowheads="1"/>
          </p:cNvSpPr>
          <p:nvPr/>
        </p:nvSpPr>
        <p:spPr bwMode="auto">
          <a:xfrm>
            <a:off x="2543175" y="6330950"/>
            <a:ext cx="6381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f=24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8" name="Rectangle 83"/>
          <p:cNvSpPr>
            <a:spLocks noChangeArrowheads="1"/>
          </p:cNvSpPr>
          <p:nvPr/>
        </p:nvSpPr>
        <p:spPr bwMode="auto">
          <a:xfrm>
            <a:off x="4056063" y="6330950"/>
            <a:ext cx="6381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f=6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39" name="Rectangle 84"/>
          <p:cNvSpPr>
            <a:spLocks noChangeArrowheads="1"/>
          </p:cNvSpPr>
          <p:nvPr/>
        </p:nvSpPr>
        <p:spPr bwMode="auto">
          <a:xfrm>
            <a:off x="5865813" y="6342063"/>
            <a:ext cx="4937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f=2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40" name="Rectangle 85"/>
          <p:cNvSpPr>
            <a:spLocks noChangeArrowheads="1"/>
          </p:cNvSpPr>
          <p:nvPr/>
        </p:nvSpPr>
        <p:spPr bwMode="auto">
          <a:xfrm>
            <a:off x="8807450" y="6330950"/>
            <a:ext cx="4318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f=1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9741" name="Rectangle 86"/>
          <p:cNvSpPr>
            <a:spLocks noChangeArrowheads="1"/>
          </p:cNvSpPr>
          <p:nvPr/>
        </p:nvSpPr>
        <p:spPr bwMode="auto">
          <a:xfrm>
            <a:off x="7367588" y="6342063"/>
            <a:ext cx="5032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f=1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55767" name="Line 87"/>
          <p:cNvSpPr>
            <a:spLocks noChangeShapeType="1"/>
          </p:cNvSpPr>
          <p:nvPr/>
        </p:nvSpPr>
        <p:spPr bwMode="auto">
          <a:xfrm>
            <a:off x="4271963" y="510698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68" name="Line 88"/>
          <p:cNvSpPr>
            <a:spLocks noChangeShapeType="1"/>
          </p:cNvSpPr>
          <p:nvPr/>
        </p:nvSpPr>
        <p:spPr bwMode="auto">
          <a:xfrm>
            <a:off x="4271963" y="5899150"/>
            <a:ext cx="0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69" name="Line 89"/>
          <p:cNvSpPr>
            <a:spLocks noChangeShapeType="1"/>
          </p:cNvSpPr>
          <p:nvPr/>
        </p:nvSpPr>
        <p:spPr bwMode="auto">
          <a:xfrm>
            <a:off x="5999163" y="510698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70" name="Line 90"/>
          <p:cNvSpPr>
            <a:spLocks noChangeShapeType="1"/>
          </p:cNvSpPr>
          <p:nvPr/>
        </p:nvSpPr>
        <p:spPr bwMode="auto">
          <a:xfrm>
            <a:off x="5999163" y="589915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71" name="Line 91"/>
          <p:cNvSpPr>
            <a:spLocks noChangeShapeType="1"/>
          </p:cNvSpPr>
          <p:nvPr/>
        </p:nvSpPr>
        <p:spPr bwMode="auto">
          <a:xfrm>
            <a:off x="7583488" y="510698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72" name="Line 92"/>
          <p:cNvSpPr>
            <a:spLocks noChangeShapeType="1"/>
          </p:cNvSpPr>
          <p:nvPr/>
        </p:nvSpPr>
        <p:spPr bwMode="auto">
          <a:xfrm>
            <a:off x="7583488" y="589915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73" name="Line 93"/>
          <p:cNvSpPr>
            <a:spLocks noChangeShapeType="1"/>
          </p:cNvSpPr>
          <p:nvPr/>
        </p:nvSpPr>
        <p:spPr bwMode="auto">
          <a:xfrm flipV="1">
            <a:off x="8375650" y="5057775"/>
            <a:ext cx="43180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74" name="Line 94"/>
          <p:cNvSpPr>
            <a:spLocks noChangeShapeType="1"/>
          </p:cNvSpPr>
          <p:nvPr/>
        </p:nvSpPr>
        <p:spPr bwMode="auto">
          <a:xfrm>
            <a:off x="9023350" y="512921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5775" name="Line 95"/>
          <p:cNvSpPr>
            <a:spLocks noChangeShapeType="1"/>
          </p:cNvSpPr>
          <p:nvPr/>
        </p:nvSpPr>
        <p:spPr bwMode="auto">
          <a:xfrm>
            <a:off x="9023350" y="589915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752" name="Rectangle 27"/>
          <p:cNvSpPr txBox="1">
            <a:spLocks noChangeArrowheads="1"/>
          </p:cNvSpPr>
          <p:nvPr/>
        </p:nvSpPr>
        <p:spPr bwMode="auto">
          <a:xfrm>
            <a:off x="8666163" y="5530850"/>
            <a:ext cx="11461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302FC"/>
                </a:solidFill>
                <a:latin typeface="Arial" panose="020B0604020202020204" pitchFamily="34" charset="0"/>
                <a:sym typeface="+mn-ea"/>
              </a:rPr>
              <a:t>return 1</a:t>
            </a:r>
            <a:endParaRPr lang="zh-CN" altLang="en-US" sz="2000">
              <a:solidFill>
                <a:srgbClr val="F302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9753" name="Rectangle 42"/>
          <p:cNvSpPr>
            <a:spLocks noChangeArrowheads="1"/>
          </p:cNvSpPr>
          <p:nvPr/>
        </p:nvSpPr>
        <p:spPr bwMode="auto">
          <a:xfrm>
            <a:off x="0" y="85725"/>
            <a:ext cx="54356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#include&lt;stido.h&gt;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int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f (</a:t>
            </a:r>
            <a:r>
              <a:rPr lang="en-US" altLang="zh-CN" sz="2800">
                <a:latin typeface="Arial" panose="020B0604020202020204" pitchFamily="34" charset="0"/>
              </a:rPr>
              <a:t> int n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) {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if ( n==0 )    return 1;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else             return  n*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f (</a:t>
            </a:r>
            <a:r>
              <a:rPr lang="en-US" altLang="zh-CN" sz="2800">
                <a:latin typeface="Arial" panose="020B0604020202020204" pitchFamily="34" charset="0"/>
              </a:rPr>
              <a:t>n-1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} 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int main(){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    printf("%d\n",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f(</a:t>
            </a:r>
            <a:r>
              <a:rPr lang="en-US" altLang="zh-CN" sz="2800">
                <a:solidFill>
                  <a:srgbClr val="F803FB"/>
                </a:solidFill>
                <a:latin typeface="Arial" panose="020B0604020202020204" pitchFamily="34" charset="0"/>
              </a:rPr>
              <a:t>5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);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return 0;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}</a:t>
            </a:r>
            <a:endParaRPr lang="en-US" altLang="zh-CN" sz="2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455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5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455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5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455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5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455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5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455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5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5" grpId="0"/>
      <p:bldP spid="455731" grpId="0"/>
      <p:bldP spid="455731" grpId="1"/>
      <p:bldP spid="455732" grpId="0"/>
      <p:bldP spid="455732" grpId="1"/>
      <p:bldP spid="455733" grpId="0"/>
      <p:bldP spid="455733" grpId="1"/>
      <p:bldP spid="455734" grpId="0"/>
      <p:bldP spid="455734" grpId="1"/>
      <p:bldP spid="455735" grpId="0"/>
      <p:bldP spid="455735" grpId="1"/>
      <p:bldP spid="455736" grpId="0"/>
      <p:bldP spid="45573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6FB6643-6164-4B29-8B07-AF55E7AA4461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567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76200" y="381000"/>
            <a:ext cx="7269480" cy="640842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#include&lt;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  <a:endParaRPr lang="en-US" altLang="zh-CN" sz="20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 err="1"/>
              <a:t>int</a:t>
            </a:r>
            <a:r>
              <a:rPr lang="en-US" altLang="zh-CN" sz="2400" b="1" dirty="0"/>
              <a:t> f (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n ) {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     if ( n==0 )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             return 1;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     else{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hlink"/>
                </a:solidFill>
              </a:rPr>
              <a:t>		</a:t>
            </a:r>
            <a:r>
              <a:rPr lang="en-US" altLang="zh-CN" sz="2400" b="1" dirty="0" err="1">
                <a:solidFill>
                  <a:schemeClr val="hlink"/>
                </a:solidFill>
              </a:rPr>
              <a:t>printf</a:t>
            </a:r>
            <a:r>
              <a:rPr lang="en-US" altLang="zh-CN" sz="2400" b="1" dirty="0">
                <a:solidFill>
                  <a:schemeClr val="hlink"/>
                </a:solidFill>
              </a:rPr>
              <a:t>("</a:t>
            </a:r>
            <a:r>
              <a:rPr lang="zh-CN" altLang="en-US" sz="2400" b="1" dirty="0">
                <a:solidFill>
                  <a:schemeClr val="hlink"/>
                </a:solidFill>
              </a:rPr>
              <a:t>当前</a:t>
            </a:r>
            <a:r>
              <a:rPr lang="en-US" altLang="zh-CN" sz="2400" b="1" dirty="0">
                <a:solidFill>
                  <a:schemeClr val="hlink"/>
                </a:solidFill>
              </a:rPr>
              <a:t>n</a:t>
            </a:r>
            <a:r>
              <a:rPr lang="zh-CN" altLang="en-US" sz="2400" b="1" dirty="0">
                <a:solidFill>
                  <a:schemeClr val="hlink"/>
                </a:solidFill>
              </a:rPr>
              <a:t>的值为</a:t>
            </a:r>
            <a:r>
              <a:rPr lang="en-US" altLang="zh-CN" sz="2400" b="1" dirty="0">
                <a:solidFill>
                  <a:schemeClr val="hlink"/>
                </a:solidFill>
              </a:rPr>
              <a:t>:%d\</a:t>
            </a:r>
            <a:r>
              <a:rPr lang="en-US" altLang="zh-CN" sz="2400" b="1" dirty="0" err="1">
                <a:solidFill>
                  <a:schemeClr val="hlink"/>
                </a:solidFill>
              </a:rPr>
              <a:t>n",n</a:t>
            </a:r>
            <a:r>
              <a:rPr lang="en-US" altLang="zh-CN" sz="2400" b="1" dirty="0">
                <a:solidFill>
                  <a:schemeClr val="hlink"/>
                </a:solidFill>
              </a:rPr>
              <a:t>);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		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tmp</a:t>
            </a:r>
            <a:r>
              <a:rPr lang="en-US" altLang="zh-CN" sz="2400" b="1" dirty="0"/>
              <a:t>=n*</a:t>
            </a:r>
            <a:r>
              <a:rPr lang="en-US" altLang="zh-CN" sz="2400" b="1" dirty="0">
                <a:solidFill>
                  <a:schemeClr val="hlink"/>
                </a:solidFill>
              </a:rPr>
              <a:t>f (</a:t>
            </a:r>
            <a:r>
              <a:rPr lang="en-US" altLang="zh-CN" sz="2400" b="1" dirty="0"/>
              <a:t>n-1</a:t>
            </a:r>
            <a:r>
              <a:rPr lang="en-US" altLang="zh-CN" sz="2400" b="1" dirty="0">
                <a:solidFill>
                  <a:schemeClr val="hlink"/>
                </a:solidFill>
              </a:rPr>
              <a:t>);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		</a:t>
            </a:r>
            <a:r>
              <a:rPr lang="en-US" altLang="zh-CN" sz="2400" b="1" dirty="0" err="1">
                <a:solidFill>
                  <a:srgbClr val="FF0000"/>
                </a:solidFill>
                <a:highlight>
                  <a:srgbClr val="C0C0C0"/>
                </a:highlight>
              </a:rPr>
              <a:t>printf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C0C0C0"/>
                </a:highlight>
              </a:rPr>
              <a:t>("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C0C0C0"/>
                </a:highlight>
              </a:rPr>
              <a:t>当前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C0C0C0"/>
                </a:highlight>
              </a:rPr>
              <a:t>n=%d,(n!)=%d\n",</a:t>
            </a:r>
            <a:r>
              <a:rPr lang="en-US" altLang="zh-CN" sz="2400" b="1" dirty="0" err="1">
                <a:solidFill>
                  <a:srgbClr val="FF0000"/>
                </a:solidFill>
                <a:highlight>
                  <a:srgbClr val="C0C0C0"/>
                </a:highlight>
              </a:rPr>
              <a:t>n,tmp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C0C0C0"/>
                </a:highlight>
              </a:rPr>
              <a:t>);</a:t>
            </a:r>
            <a:endParaRPr lang="en-US" altLang="zh-CN" sz="2400" b="1" dirty="0">
              <a:solidFill>
                <a:srgbClr val="FF0000"/>
              </a:solidFill>
              <a:highlight>
                <a:srgbClr val="C0C0C0"/>
              </a:highligh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		return </a:t>
            </a:r>
            <a:r>
              <a:rPr lang="en-US" altLang="zh-CN" sz="2400" b="1" dirty="0" err="1"/>
              <a:t>tmp</a:t>
            </a:r>
            <a:r>
              <a:rPr lang="en-US" altLang="zh-CN" sz="2400" b="1" dirty="0"/>
              <a:t>;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		</a:t>
            </a:r>
            <a:r>
              <a:rPr lang="en-US" altLang="zh-CN" sz="2000" b="1" dirty="0"/>
              <a:t>}</a:t>
            </a:r>
            <a:endParaRPr lang="en-US" altLang="zh-CN" sz="20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} 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int main(){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	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data=</a:t>
            </a:r>
            <a:r>
              <a:rPr lang="en-US" altLang="zh-CN" sz="2400" b="1" dirty="0">
                <a:solidFill>
                  <a:schemeClr val="hlink"/>
                </a:solidFill>
              </a:rPr>
              <a:t>f (5);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	</a:t>
            </a:r>
            <a:r>
              <a:rPr lang="en-US" altLang="zh-C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printf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("5!</a:t>
            </a:r>
            <a:r>
              <a:rPr lang="zh-CN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为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%d\</a:t>
            </a:r>
            <a:r>
              <a:rPr lang="en-US" altLang="zh-C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n",data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);</a:t>
            </a:r>
            <a:endParaRPr lang="en-US" altLang="zh-C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	return 0;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}</a:t>
            </a:r>
            <a:endParaRPr lang="en-US" altLang="zh-CN" sz="2000" b="1" dirty="0"/>
          </a:p>
        </p:txBody>
      </p:sp>
      <p:sp>
        <p:nvSpPr>
          <p:cNvPr id="456707" name="Rectangle 3"/>
          <p:cNvSpPr>
            <a:spLocks noChangeArrowheads="1"/>
          </p:cNvSpPr>
          <p:nvPr/>
        </p:nvSpPr>
        <p:spPr bwMode="auto">
          <a:xfrm>
            <a:off x="9282113" y="-23813"/>
            <a:ext cx="2909887" cy="54721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1C1C1C"/>
                </a:solidFill>
                <a:latin typeface="Arial" panose="020B0604020202020204" pitchFamily="34" charset="0"/>
              </a:rPr>
              <a:t>运行结果：</a:t>
            </a:r>
            <a:endParaRPr lang="zh-CN" altLang="en-US" sz="2800" dirty="0">
              <a:solidFill>
                <a:srgbClr val="1C1C1C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endParaRPr lang="zh-CN" altLang="en-US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的值为：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5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的值为：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4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的值为：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3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的值为：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2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</a:rPr>
              <a:t>的值为：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1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n=1,(n!)=1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n=2,(n!)=2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n=3,(n!)=6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n=4,(n!)=24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当前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n=5,(n!)=120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5!</a:t>
            </a: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为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120</a:t>
            </a:r>
            <a:endParaRPr lang="en-US" altLang="zh-CN" sz="28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4640263" y="1588"/>
            <a:ext cx="2909887" cy="4794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>
                <a:solidFill>
                  <a:srgbClr val="FFFF00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递归执行过程</a:t>
            </a:r>
            <a:endParaRPr lang="zh-CN" altLang="en-US" sz="3600">
              <a:solidFill>
                <a:srgbClr val="FFFF00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905"/>
            <a:ext cx="183451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ym typeface="+mn-ea"/>
              </a:rPr>
              <a:t>【课堂练习】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67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6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56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6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56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6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56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56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56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56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56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56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7" grpId="0" animBg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C603BC4-F620-4F8B-904D-5ADFB62EE1B2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924300" cy="47625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b="1"/>
              <a:t>递归程序设计的关键：</a:t>
            </a:r>
            <a:endParaRPr lang="zh-CN" altLang="en-US" sz="3200" b="1"/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773430"/>
            <a:ext cx="9904730" cy="270573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charset="0"/>
              <a:buChar char="u"/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递归</a:t>
            </a:r>
            <a:r>
              <a:rPr lang="zh-CN" altLang="en-US" b="1" dirty="0">
                <a:solidFill>
                  <a:schemeClr val="hlink"/>
                </a:solidFill>
              </a:rPr>
              <a:t>表达式：</a:t>
            </a:r>
            <a:endParaRPr lang="zh-CN" altLang="en-US" b="1" dirty="0">
              <a:solidFill>
                <a:schemeClr val="hlink"/>
              </a:solidFill>
            </a:endParaRPr>
          </a:p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	</a:t>
            </a:r>
            <a:r>
              <a:rPr lang="zh-CN" altLang="en-US" b="1" dirty="0">
                <a:solidFill>
                  <a:schemeClr val="tx1"/>
                </a:solidFill>
              </a:rPr>
              <a:t>找出规律是关键，不要陷入实现细节的泥沼中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charset="0"/>
              <a:buChar char="u"/>
              <a:defRPr/>
            </a:pPr>
            <a:r>
              <a:rPr lang="zh-CN" altLang="en-US" b="1" dirty="0">
                <a:solidFill>
                  <a:schemeClr val="hlink"/>
                </a:solidFill>
                <a:sym typeface="+mn-ea"/>
              </a:rPr>
              <a:t>递归出口：</a:t>
            </a:r>
            <a:endParaRPr lang="zh-CN" altLang="en-US" b="1" dirty="0">
              <a:solidFill>
                <a:schemeClr val="hlink"/>
              </a:solidFill>
            </a:endParaRPr>
          </a:p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ym typeface="+mn-ea"/>
              </a:rPr>
              <a:t>	即递归的结束条件，到何时不再递归下去</a:t>
            </a:r>
            <a:endParaRPr lang="zh-CN" altLang="en-US" b="1" dirty="0"/>
          </a:p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460805" name="Rectangle 5"/>
          <p:cNvSpPr>
            <a:spLocks noChangeArrowheads="1"/>
          </p:cNvSpPr>
          <p:nvPr/>
        </p:nvSpPr>
        <p:spPr bwMode="auto">
          <a:xfrm>
            <a:off x="5808663" y="3789363"/>
            <a:ext cx="5545137" cy="29241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int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f (</a:t>
            </a:r>
            <a:r>
              <a:rPr lang="en-US" altLang="zh-CN">
                <a:latin typeface="Arial" panose="020B0604020202020204" pitchFamily="34" charset="0"/>
              </a:rPr>
              <a:t> int n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) {</a:t>
            </a:r>
            <a:endParaRPr lang="en-US" altLang="zh-CN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if ( n==0 )   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return 1;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else 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return  n*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f (</a:t>
            </a:r>
            <a:r>
              <a:rPr lang="en-US" altLang="zh-CN">
                <a:latin typeface="Arial" panose="020B0604020202020204" pitchFamily="34" charset="0"/>
              </a:rPr>
              <a:t>n-1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}</a:t>
            </a:r>
            <a:endParaRPr lang="en-US" altLang="zh-CN" sz="24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60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60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60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1798557-6636-46E7-8A70-23A4D9B21E83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150813"/>
            <a:ext cx="4697413" cy="5413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/>
              <a:t>【</a:t>
            </a:r>
            <a:r>
              <a:rPr lang="zh-CN" altLang="en-US" sz="3600" b="1" dirty="0"/>
              <a:t>比较</a:t>
            </a:r>
            <a:r>
              <a:rPr lang="en-US" altLang="zh-CN" sz="3600" b="1" dirty="0"/>
              <a:t>】</a:t>
            </a:r>
            <a:r>
              <a:rPr lang="zh-CN" altLang="en-US" sz="3600" b="1" dirty="0"/>
              <a:t>递归与循环</a:t>
            </a:r>
            <a:endParaRPr lang="zh-CN" altLang="en-US" sz="3600" b="1" dirty="0"/>
          </a:p>
        </p:txBody>
      </p:sp>
      <p:sp>
        <p:nvSpPr>
          <p:cNvPr id="52941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15925" y="842963"/>
            <a:ext cx="4427538" cy="5732462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zh-CN" altLang="en-US" sz="3600" b="1" dirty="0">
                <a:solidFill>
                  <a:srgbClr val="F302FC"/>
                </a:solidFill>
                <a:latin typeface="Verdana" panose="020B0604030504040204" pitchFamily="34" charset="0"/>
                <a:ea typeface="隶书" pitchFamily="49" charset="-122"/>
              </a:rPr>
              <a:t>循环</a:t>
            </a:r>
            <a:endParaRPr lang="zh-CN" altLang="en-US" sz="3600" b="1" dirty="0">
              <a:solidFill>
                <a:srgbClr val="FF0000"/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effectLst/>
                <a:latin typeface="Arial" panose="020B0604020202020204" pitchFamily="34" charset="0"/>
              </a:rPr>
              <a:t>int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f(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int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n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 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{</a:t>
            </a:r>
            <a:r>
              <a:rPr lang="en-US" altLang="zh-CN" sz="3200" b="1" dirty="0">
                <a:effectLst/>
                <a:latin typeface="Arial" panose="020B0604020202020204" pitchFamily="34" charset="0"/>
              </a:rPr>
              <a:t> int  </a:t>
            </a:r>
            <a:r>
              <a:rPr lang="en-US" altLang="zh-CN" sz="3200" b="1" dirty="0" err="1">
                <a:effectLst/>
                <a:latin typeface="Arial" panose="020B0604020202020204" pitchFamily="34" charset="0"/>
              </a:rPr>
              <a:t>i,v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=1;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for ( </a:t>
            </a:r>
            <a:r>
              <a:rPr lang="en-US" altLang="zh-CN" sz="2800" b="1" dirty="0" err="1">
                <a:effectLst/>
                <a:latin typeface="Arial" panose="020B0604020202020204" pitchFamily="34" charset="0"/>
              </a:rPr>
              <a:t>i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=2 ; </a:t>
            </a:r>
            <a:r>
              <a:rPr lang="en-US" altLang="zh-CN" sz="2800" b="1" dirty="0" err="1">
                <a:effectLst/>
                <a:latin typeface="Arial" panose="020B0604020202020204" pitchFamily="34" charset="0"/>
              </a:rPr>
              <a:t>i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&lt;=n ; </a:t>
            </a:r>
            <a:r>
              <a:rPr lang="en-US" altLang="zh-CN" sz="2800" b="1" dirty="0" err="1">
                <a:effectLst/>
                <a:latin typeface="Arial" panose="020B0604020202020204" pitchFamily="34" charset="0"/>
              </a:rPr>
              <a:t>i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=i+1 )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  </a:t>
            </a:r>
            <a:r>
              <a:rPr lang="en-US" altLang="zh-CN" sz="2800" b="1" dirty="0">
                <a:solidFill>
                  <a:srgbClr val="F302FC"/>
                </a:solidFill>
                <a:effectLst/>
                <a:latin typeface="Arial" panose="020B0604020202020204" pitchFamily="34" charset="0"/>
              </a:rPr>
              <a:t> v=v*</a:t>
            </a:r>
            <a:r>
              <a:rPr lang="en-US" altLang="zh-CN" sz="2800" b="1" dirty="0" err="1">
                <a:solidFill>
                  <a:srgbClr val="F302FC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altLang="zh-CN" sz="2800" b="1" dirty="0">
                <a:solidFill>
                  <a:srgbClr val="F302FC"/>
                </a:solidFill>
                <a:effectLst/>
                <a:latin typeface="Arial" panose="020B0604020202020204" pitchFamily="34" charset="0"/>
              </a:rPr>
              <a:t>;</a:t>
            </a:r>
            <a:endParaRPr lang="en-US" altLang="zh-CN" sz="2800" b="1" dirty="0">
              <a:solidFill>
                <a:srgbClr val="F302FC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return  v 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}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3600" b="1" dirty="0">
              <a:latin typeface="Verdana" panose="020B0604030504040204" pitchFamily="34" charset="0"/>
              <a:ea typeface="隶书" pitchFamily="49" charset="-122"/>
            </a:endParaRPr>
          </a:p>
        </p:txBody>
      </p:sp>
      <p:sp>
        <p:nvSpPr>
          <p:cNvPr id="33797" name="AutoShape 6"/>
          <p:cNvSpPr>
            <a:spLocks noChangeArrowheads="1"/>
          </p:cNvSpPr>
          <p:nvPr/>
        </p:nvSpPr>
        <p:spPr bwMode="auto">
          <a:xfrm>
            <a:off x="1218883" y="4800600"/>
            <a:ext cx="2771775" cy="1296988"/>
          </a:xfrm>
          <a:prstGeom prst="cloudCallout">
            <a:avLst>
              <a:gd name="adj1" fmla="val -66148"/>
              <a:gd name="adj2" fmla="val -114014"/>
            </a:avLst>
          </a:prstGeom>
          <a:solidFill>
            <a:srgbClr val="CCECFF"/>
          </a:solidFill>
          <a:ln w="9525">
            <a:solidFill>
              <a:schemeClr val="bg1"/>
            </a:solidFill>
            <a:rou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chemeClr val="bg1"/>
                </a:solidFill>
                <a:latin typeface="Courier New" panose="02070309020205020404" pitchFamily="49" charset="0"/>
                <a:ea typeface="隶书" pitchFamily="49" charset="-122"/>
              </a:rPr>
              <a:t>重复</a:t>
            </a:r>
            <a:endParaRPr kumimoji="1" lang="en-US" altLang="zh-CN" b="0">
              <a:solidFill>
                <a:schemeClr val="bg1"/>
              </a:solidFill>
              <a:latin typeface="Courier New" panose="02070309020205020404" pitchFamily="49" charset="0"/>
              <a:ea typeface="隶书" pitchFamily="49" charset="-122"/>
            </a:endParaRPr>
          </a:p>
          <a:p>
            <a:pPr algn="ctr" eaLnBrk="1" hangingPunct="1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chemeClr val="bg1"/>
                </a:solidFill>
                <a:latin typeface="Courier New" panose="02070309020205020404" pitchFamily="49" charset="0"/>
                <a:ea typeface="隶书" pitchFamily="49" charset="-122"/>
              </a:rPr>
              <a:t>执行语句</a:t>
            </a:r>
            <a:endParaRPr kumimoji="1" lang="zh-CN" altLang="en-US" b="0">
              <a:solidFill>
                <a:schemeClr val="bg1"/>
              </a:solidFill>
              <a:latin typeface="Courier New" panose="02070309020205020404" pitchFamily="49" charset="0"/>
              <a:ea typeface="隶书" pitchFamily="49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499225" y="828675"/>
            <a:ext cx="4284663" cy="5732463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>
                <a:solidFill>
                  <a:srgbClr val="F302FC"/>
                </a:solidFill>
                <a:latin typeface="Verdana" panose="020B0604030504040204" pitchFamily="34" charset="0"/>
                <a:ea typeface="隶书" pitchFamily="49" charset="-122"/>
              </a:rPr>
              <a:t>递归</a:t>
            </a:r>
            <a:endParaRPr lang="zh-CN" altLang="en-US" sz="3600" kern="0" dirty="0">
              <a:solidFill>
                <a:srgbClr val="F302FC"/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effectLst/>
                <a:latin typeface="Arial" panose="020B0604020202020204" pitchFamily="34" charset="0"/>
              </a:rPr>
              <a:t>int </a:t>
            </a:r>
            <a:r>
              <a:rPr lang="en-US" altLang="zh-CN" kern="0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f(</a:t>
            </a:r>
            <a:r>
              <a:rPr lang="en-US" altLang="zh-CN" kern="0" dirty="0">
                <a:effectLst/>
                <a:latin typeface="Arial" panose="020B0604020202020204" pitchFamily="34" charset="0"/>
              </a:rPr>
              <a:t>int n</a:t>
            </a:r>
            <a:r>
              <a:rPr lang="en-US" altLang="zh-CN" kern="0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</a:t>
            </a:r>
            <a:endParaRPr lang="en-US" altLang="zh-CN" kern="0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{</a:t>
            </a:r>
            <a:endParaRPr lang="en-US" altLang="zh-CN" kern="0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effectLst/>
                <a:latin typeface="Arial" panose="020B0604020202020204" pitchFamily="34" charset="0"/>
              </a:rPr>
              <a:t>	if ( n==0 )</a:t>
            </a:r>
            <a:endParaRPr lang="en-US" altLang="zh-CN" kern="0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effectLst/>
                <a:latin typeface="Arial" panose="020B0604020202020204" pitchFamily="34" charset="0"/>
              </a:rPr>
              <a:t>		return 1;</a:t>
            </a:r>
            <a:endParaRPr lang="en-US" altLang="zh-CN" kern="0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effectLst/>
                <a:latin typeface="Arial" panose="020B0604020202020204" pitchFamily="34" charset="0"/>
              </a:rPr>
              <a:t>	else </a:t>
            </a:r>
            <a:endParaRPr lang="en-US" altLang="zh-CN" kern="0" dirty="0">
              <a:effectLst/>
              <a:latin typeface="Arial" panose="020B0604020202020204" pitchFamily="34" charset="0"/>
            </a:endParaRPr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return  n*</a:t>
            </a:r>
            <a:r>
              <a:rPr lang="en-US" altLang="zh-CN" sz="2800" kern="0" dirty="0">
                <a:solidFill>
                  <a:srgbClr val="F302FC"/>
                </a:solidFill>
                <a:effectLst/>
                <a:latin typeface="Arial" panose="020B0604020202020204" pitchFamily="34" charset="0"/>
              </a:rPr>
              <a:t>f(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n-1</a:t>
            </a:r>
            <a:r>
              <a:rPr lang="en-US" altLang="zh-CN" sz="2800" kern="0" dirty="0">
                <a:solidFill>
                  <a:srgbClr val="F302FC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} </a:t>
            </a:r>
            <a:endParaRPr lang="en-US" altLang="zh-CN" kern="0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799" name="AutoShape 5"/>
          <p:cNvSpPr>
            <a:spLocks noChangeArrowheads="1"/>
          </p:cNvSpPr>
          <p:nvPr/>
        </p:nvSpPr>
        <p:spPr bwMode="auto">
          <a:xfrm>
            <a:off x="7388225" y="4953000"/>
            <a:ext cx="2593975" cy="1456055"/>
          </a:xfrm>
          <a:prstGeom prst="cloudCallout">
            <a:avLst>
              <a:gd name="adj1" fmla="val -37637"/>
              <a:gd name="adj2" fmla="val -65220"/>
            </a:avLst>
          </a:prstGeom>
          <a:solidFill>
            <a:srgbClr val="CCECFF"/>
          </a:solidFill>
          <a:ln w="9525">
            <a:solidFill>
              <a:schemeClr val="bg1"/>
            </a:solidFill>
            <a:rou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en-US" sz="3600" b="0">
                <a:solidFill>
                  <a:schemeClr val="bg1"/>
                </a:solidFill>
                <a:latin typeface="Courier New" panose="02070309020205020404" pitchFamily="49" charset="0"/>
                <a:ea typeface="隶书" pitchFamily="49" charset="-122"/>
              </a:rPr>
              <a:t>重复</a:t>
            </a:r>
            <a:endParaRPr kumimoji="1" lang="en-US" altLang="zh-CN" sz="3600" b="0">
              <a:solidFill>
                <a:schemeClr val="bg1"/>
              </a:solidFill>
              <a:latin typeface="Courier New" panose="02070309020205020404" pitchFamily="49" charset="0"/>
              <a:ea typeface="隶书" pitchFamily="49" charset="-122"/>
            </a:endParaRPr>
          </a:p>
          <a:p>
            <a:pPr algn="ctr" eaLnBrk="1" hangingPunct="1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en-US" sz="3600" b="0">
                <a:solidFill>
                  <a:schemeClr val="bg1"/>
                </a:solidFill>
                <a:latin typeface="Courier New" panose="02070309020205020404" pitchFamily="49" charset="0"/>
                <a:ea typeface="隶书" pitchFamily="49" charset="-122"/>
              </a:rPr>
              <a:t>调用自身</a:t>
            </a:r>
            <a:endParaRPr kumimoji="1" lang="zh-CN" altLang="en-US" sz="3600" b="0">
              <a:solidFill>
                <a:schemeClr val="bg1"/>
              </a:solidFill>
              <a:latin typeface="Courier New" panose="02070309020205020404" pitchFamily="49" charset="0"/>
              <a:ea typeface="隶书" pitchFamily="49" charset="-122"/>
            </a:endParaRPr>
          </a:p>
        </p:txBody>
      </p:sp>
      <p:sp>
        <p:nvSpPr>
          <p:cNvPr id="13" name="对话气泡: 圆角矩形 12"/>
          <p:cNvSpPr/>
          <p:nvPr/>
        </p:nvSpPr>
        <p:spPr bwMode="auto">
          <a:xfrm>
            <a:off x="9677400" y="2362200"/>
            <a:ext cx="2308225" cy="927100"/>
          </a:xfrm>
          <a:prstGeom prst="wedgeRoundRectCallout">
            <a:avLst>
              <a:gd name="adj1" fmla="val -76712"/>
              <a:gd name="adj2" fmla="val 16301"/>
              <a:gd name="adj3" fmla="val 16667"/>
            </a:avLst>
          </a:prstGeom>
          <a:solidFill>
            <a:srgbClr val="00B0F0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有返回值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的递归函数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34FA1D0-1FF9-4A3E-8040-5C2B237B9A96}" type="slidenum">
              <a:rPr lang="en-US" altLang="zh-CN" sz="1200" b="0"/>
            </a:fld>
            <a:endParaRPr lang="en-US" altLang="zh-CN" sz="1200" b="0"/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>
            <p:ph idx="1"/>
          </p:nvPr>
        </p:nvGraphicFramePr>
        <p:xfrm>
          <a:off x="8129588" y="0"/>
          <a:ext cx="403225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公式" r:id="rId1" imgW="1803400" imgH="482600" progId="Equation.3">
                  <p:embed/>
                </p:oleObj>
              </mc:Choice>
              <mc:Fallback>
                <p:oleObj name="公式" r:id="rId1" imgW="18034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9588" y="0"/>
                        <a:ext cx="4032250" cy="12128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2852" name="Rectangle 4"/>
          <p:cNvSpPr>
            <a:spLocks noChangeArrowheads="1"/>
          </p:cNvSpPr>
          <p:nvPr/>
        </p:nvSpPr>
        <p:spPr bwMode="auto">
          <a:xfrm>
            <a:off x="231775" y="705803"/>
            <a:ext cx="10989945" cy="566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825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#include &lt;stdio.h&gt;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  <a:cs typeface="Times New Roman" panose="02020603050405020304" pitchFamily="18" charset="0"/>
              </a:rPr>
              <a:t>float 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pow1 (</a:t>
            </a:r>
            <a:r>
              <a:rPr lang="en-US" altLang="zh-CN">
                <a:latin typeface="Arial" panose="020B0604020202020204" pitchFamily="34" charset="0"/>
                <a:cs typeface="Times New Roman" panose="02020603050405020304" pitchFamily="18" charset="0"/>
              </a:rPr>
              <a:t> float x, int n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 {</a:t>
            </a:r>
            <a:endParaRPr lang="en-US" altLang="zh-CN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latin typeface="Arial" panose="020B0604020202020204" pitchFamily="34" charset="0"/>
                <a:cs typeface="Times New Roman" panose="02020603050405020304" pitchFamily="18" charset="0"/>
              </a:rPr>
              <a:t>if ( n==0 )   </a:t>
            </a:r>
            <a:endParaRPr lang="en-US" altLang="zh-CN" sz="320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latin typeface="Arial" panose="020B0604020202020204" pitchFamily="34" charset="0"/>
                <a:cs typeface="Times New Roman" panose="02020603050405020304" pitchFamily="18" charset="0"/>
              </a:rPr>
              <a:t> 	return  1 ;</a:t>
            </a:r>
            <a:endParaRPr lang="en-US" altLang="zh-CN" sz="32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latin typeface="Arial" panose="020B0604020202020204" pitchFamily="34" charset="0"/>
                <a:cs typeface="Times New Roman" panose="02020603050405020304" pitchFamily="18" charset="0"/>
              </a:rPr>
              <a:t>else  </a:t>
            </a:r>
            <a:endParaRPr lang="en-US" altLang="zh-CN" sz="32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latin typeface="Arial" panose="020B0604020202020204" pitchFamily="34" charset="0"/>
              </a:rPr>
              <a:t>     </a:t>
            </a:r>
            <a:r>
              <a:rPr lang="en-US" altLang="zh-CN" sz="3200">
                <a:latin typeface="Arial" panose="020B0604020202020204" pitchFamily="34" charset="0"/>
                <a:cs typeface="Times New Roman" panose="02020603050405020304" pitchFamily="18" charset="0"/>
              </a:rPr>
              <a:t>return  x *          </a:t>
            </a:r>
            <a:r>
              <a:rPr lang="zh-CN" altLang="en-US" sz="3200">
                <a:solidFill>
                  <a:srgbClr val="F302F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？</a:t>
            </a:r>
            <a:r>
              <a:rPr lang="zh-CN" altLang="en-US" sz="3200">
                <a:latin typeface="Arial" panose="020B06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en-US" altLang="zh-CN">
                <a:latin typeface="Arial" panose="020B0604020202020204" pitchFamily="34" charset="0"/>
                <a:cs typeface="Times New Roman" panose="02020603050405020304" pitchFamily="18" charset="0"/>
              </a:rPr>
              <a:t>;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}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int main(){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	</a:t>
            </a:r>
            <a:r>
              <a:rPr lang="en-US" altLang="zh-CN">
                <a:latin typeface="Arial" panose="020B0604020202020204" pitchFamily="34" charset="0"/>
              </a:rPr>
              <a:t>float x;int n;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scanf("%f%d",&amp;x,&amp;n);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printf("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%g</a:t>
            </a:r>
            <a:r>
              <a:rPr lang="en-US" altLang="zh-CN">
                <a:latin typeface="Arial" panose="020B0604020202020204" pitchFamily="34" charset="0"/>
              </a:rPr>
              <a:t>^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%d</a:t>
            </a:r>
            <a:r>
              <a:rPr lang="en-US" altLang="zh-CN">
                <a:latin typeface="Arial" panose="020B0604020202020204" pitchFamily="34" charset="0"/>
              </a:rPr>
              <a:t>=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%g</a:t>
            </a:r>
            <a:r>
              <a:rPr lang="en-US" altLang="zh-CN">
                <a:latin typeface="Arial" panose="020B0604020202020204" pitchFamily="34" charset="0"/>
              </a:rPr>
              <a:t>\n",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,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n</a:t>
            </a:r>
            <a:r>
              <a:rPr lang="en-US" altLang="zh-CN">
                <a:latin typeface="Arial" panose="020B0604020202020204" pitchFamily="34" charset="0"/>
              </a:rPr>
              <a:t>,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pow1(x,n)</a:t>
            </a:r>
            <a:r>
              <a:rPr lang="en-US" altLang="zh-CN">
                <a:latin typeface="Arial" panose="020B0604020202020204" pitchFamily="34" charset="0"/>
              </a:rPr>
              <a:t>);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	return 0;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}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572022" y="1904744"/>
            <a:ext cx="5943444" cy="954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F302F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函数调用</a:t>
            </a:r>
            <a:r>
              <a:rPr lang="en-US" altLang="zh-CN" sz="2800" dirty="0">
                <a:solidFill>
                  <a:srgbClr val="F302F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latin typeface="Arial" panose="020B0604020202020204" pitchFamily="34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</a:t>
            </a:r>
            <a:r>
              <a:rPr lang="en-US" altLang="zh-CN" sz="2800" dirty="0">
                <a:latin typeface="Arial" panose="020B0604020202020204" pitchFamily="34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次方</a:t>
            </a:r>
            <a:r>
              <a:rPr lang="en-US" altLang="zh-CN" sz="2800" dirty="0">
                <a:solidFill>
                  <a:srgbClr val="F302F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): 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chemeClr val="hlink"/>
                </a:solidFill>
                <a:highlight>
                  <a:srgbClr val="0000FF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pow1(</a:t>
            </a:r>
            <a:r>
              <a:rPr lang="en-US" altLang="zh-CN" sz="2800" dirty="0" err="1">
                <a:highlight>
                  <a:srgbClr val="0000FF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x,n</a:t>
            </a:r>
            <a:r>
              <a:rPr lang="en-US" altLang="zh-CN" sz="2800" dirty="0">
                <a:solidFill>
                  <a:schemeClr val="hlink"/>
                </a:solidFill>
                <a:highlight>
                  <a:srgbClr val="0000FF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  <a:endParaRPr lang="en-US" altLang="zh-CN" sz="2800" dirty="0">
              <a:solidFill>
                <a:schemeClr val="hlink"/>
              </a:solidFill>
              <a:highlight>
                <a:srgbClr val="0000FF"/>
              </a:highlight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F302F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函数调用</a:t>
            </a:r>
            <a:r>
              <a:rPr lang="en-US" altLang="zh-CN" sz="2800" dirty="0">
                <a:solidFill>
                  <a:srgbClr val="F302F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latin typeface="Arial" panose="020B0604020202020204" pitchFamily="34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</a:t>
            </a:r>
            <a:r>
              <a:rPr lang="en-US" altLang="zh-CN" sz="2800" dirty="0">
                <a:latin typeface="Arial" panose="020B0604020202020204" pitchFamily="34" charset="0"/>
                <a:cs typeface="Times New Roman" panose="02020603050405020304" pitchFamily="18" charset="0"/>
              </a:rPr>
              <a:t>n-1</a:t>
            </a:r>
            <a:r>
              <a:rPr lang="zh-CN" altLang="en-US" sz="28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次方</a:t>
            </a:r>
            <a:r>
              <a:rPr lang="en-US" altLang="zh-CN" sz="2800" dirty="0">
                <a:solidFill>
                  <a:srgbClr val="F302FC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):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highlight>
                  <a:srgbClr val="0000FF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pow1(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0000FF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?,?</a:t>
            </a:r>
            <a:r>
              <a:rPr lang="en-US" altLang="zh-CN" sz="2800" dirty="0">
                <a:solidFill>
                  <a:schemeClr val="hlink"/>
                </a:solidFill>
                <a:highlight>
                  <a:srgbClr val="0000FF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  <a:endParaRPr lang="en-US" altLang="zh-CN" sz="2800" dirty="0">
              <a:solidFill>
                <a:schemeClr val="hlink"/>
              </a:solidFill>
              <a:highlight>
                <a:srgbClr val="0000FF"/>
              </a:highlight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581083" y="2971800"/>
            <a:ext cx="2459037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pow1(</a:t>
            </a:r>
            <a:r>
              <a:rPr lang="en-US" altLang="zh-CN">
                <a:latin typeface="Arial" panose="020B0604020202020204" pitchFamily="34" charset="0"/>
                <a:cs typeface="Times New Roman" panose="02020603050405020304" pitchFamily="18" charset="0"/>
              </a:rPr>
              <a:t>x,n-1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  <a:endParaRPr lang="zh-CN" altLang="en-US"/>
          </a:p>
        </p:txBody>
      </p:sp>
      <p:sp>
        <p:nvSpPr>
          <p:cNvPr id="34824" name="文本框 3"/>
          <p:cNvSpPr txBox="1">
            <a:spLocks noChangeArrowheads="1"/>
          </p:cNvSpPr>
          <p:nvPr/>
        </p:nvSpPr>
        <p:spPr bwMode="auto">
          <a:xfrm>
            <a:off x="-228600" y="-76200"/>
            <a:ext cx="89154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400">
                <a:solidFill>
                  <a:srgbClr val="FFC000"/>
                </a:solidFill>
              </a:rPr>
              <a:t>【</a:t>
            </a:r>
            <a:r>
              <a:rPr lang="zh-CN" altLang="en-US" sz="3400">
                <a:solidFill>
                  <a:srgbClr val="FFC000"/>
                </a:solidFill>
              </a:rPr>
              <a:t>课堂练习</a:t>
            </a:r>
            <a:r>
              <a:rPr lang="en-US" altLang="zh-CN" sz="3400">
                <a:solidFill>
                  <a:srgbClr val="FFC000"/>
                </a:solidFill>
              </a:rPr>
              <a:t>】</a:t>
            </a:r>
            <a:r>
              <a:rPr lang="zh-CN" altLang="en-US" sz="3400">
                <a:solidFill>
                  <a:srgbClr val="FFC000"/>
                </a:solidFill>
              </a:rPr>
              <a:t>计算</a:t>
            </a:r>
            <a:r>
              <a:rPr lang="en-US" altLang="zh-CN" sz="3400">
                <a:solidFill>
                  <a:srgbClr val="FFC000"/>
                </a:solidFill>
              </a:rPr>
              <a:t>x</a:t>
            </a:r>
            <a:r>
              <a:rPr lang="en-US" altLang="zh-CN" sz="3400" baseline="30000">
                <a:solidFill>
                  <a:srgbClr val="FFC000"/>
                </a:solidFill>
              </a:rPr>
              <a:t>n</a:t>
            </a:r>
            <a:r>
              <a:rPr lang="en-US" altLang="zh-CN" sz="3400">
                <a:solidFill>
                  <a:srgbClr val="FFC000"/>
                </a:solidFill>
              </a:rPr>
              <a:t>(n&gt;=0),</a:t>
            </a:r>
            <a:r>
              <a:rPr lang="zh-CN" altLang="en-US" sz="3400">
                <a:solidFill>
                  <a:srgbClr val="FFC000"/>
                </a:solidFill>
              </a:rPr>
              <a:t>可以定义为：</a:t>
            </a:r>
            <a:endParaRPr lang="zh-CN" altLang="en-US" sz="3400">
              <a:solidFill>
                <a:srgbClr val="FFC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790565"/>
            <a:ext cx="3195955" cy="98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2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28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62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2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2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2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62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628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9" name="Rectangle 3"/>
          <p:cNvSpPr>
            <a:spLocks noChangeArrowheads="1"/>
          </p:cNvSpPr>
          <p:nvPr/>
        </p:nvSpPr>
        <p:spPr bwMode="auto">
          <a:xfrm>
            <a:off x="101600" y="2665730"/>
            <a:ext cx="10584815" cy="415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计算它的递归函数是</a:t>
            </a:r>
            <a:r>
              <a:rPr lang="en-US" altLang="zh-CN" sz="2800">
                <a:latin typeface="Arial" panose="020B0604020202020204" pitchFamily="34" charset="0"/>
              </a:rPr>
              <a:t>: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float 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p (</a:t>
            </a:r>
            <a:r>
              <a:rPr lang="en-US" altLang="zh-CN" sz="2800">
                <a:latin typeface="Arial" panose="020B0604020202020204" pitchFamily="34" charset="0"/>
              </a:rPr>
              <a:t> int n , float x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 {</a:t>
            </a:r>
            <a:endParaRPr lang="en-US" altLang="zh-CN" sz="2800">
              <a:latin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   if ( n==0 )</a:t>
            </a:r>
            <a:endParaRPr lang="en-US" altLang="zh-CN">
              <a:latin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        	return  1 ;</a:t>
            </a:r>
            <a:endParaRPr lang="en-US" altLang="zh-CN">
              <a:latin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   else  if (n==1)</a:t>
            </a:r>
            <a:endParaRPr lang="en-US" altLang="zh-CN">
              <a:latin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        	return  x ;</a:t>
            </a:r>
            <a:endParaRPr lang="en-US" altLang="zh-CN">
              <a:latin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   else   </a:t>
            </a:r>
            <a:endParaRPr lang="en-US" altLang="zh-CN">
              <a:latin typeface="Arial" panose="020B0604020202020204" pitchFamily="34" charset="0"/>
            </a:endParaRPr>
          </a:p>
          <a:p>
            <a:pPr lvl="4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	return ( (2*n-1)*x*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p(n-1,x)</a:t>
            </a:r>
            <a:r>
              <a:rPr lang="en-US" altLang="zh-CN" sz="2800">
                <a:latin typeface="Arial" panose="020B0604020202020204" pitchFamily="34" charset="0"/>
              </a:rPr>
              <a:t> - (n-1)*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p(n-2,x)</a:t>
            </a:r>
            <a:r>
              <a:rPr lang="en-US" altLang="zh-CN" sz="2800">
                <a:latin typeface="Arial" panose="020B0604020202020204" pitchFamily="34" charset="0"/>
              </a:rPr>
              <a:t> )/n 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}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25200" y="6342063"/>
            <a:ext cx="53340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91D1F34-8DA6-4335-AC6F-1F8139859B04}" type="slidenum">
              <a:rPr lang="en-US" altLang="zh-CN" sz="1200" b="0"/>
            </a:fld>
            <a:endParaRPr lang="en-US" altLang="zh-CN" sz="1200" b="0" dirty="0"/>
          </a:p>
        </p:txBody>
      </p:sp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10113010" cy="85598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b="1" dirty="0">
                <a:solidFill>
                  <a:srgbClr val="FFC000"/>
                </a:solidFill>
                <a:latin typeface="Arial" panose="020B0604020202020204" pitchFamily="34" charset="0"/>
              </a:rPr>
              <a:t>例</a:t>
            </a:r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</a:rPr>
              <a:t>10.2】 n </a:t>
            </a:r>
            <a:r>
              <a:rPr lang="zh-CN" altLang="en-US" b="1" dirty="0">
                <a:solidFill>
                  <a:srgbClr val="FFC000"/>
                </a:solidFill>
                <a:latin typeface="Arial" panose="020B0604020202020204" pitchFamily="34" charset="0"/>
              </a:rPr>
              <a:t>次勒让德多项式</a:t>
            </a:r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</a:rPr>
              <a:t>(n&gt;=0)</a:t>
            </a:r>
            <a:endParaRPr lang="en-US" altLang="zh-CN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6869" name="Object 4"/>
          <p:cNvGraphicFramePr>
            <a:graphicFrameLocks noChangeAspect="1"/>
          </p:cNvGraphicFramePr>
          <p:nvPr>
            <p:ph idx="1"/>
          </p:nvPr>
        </p:nvGraphicFramePr>
        <p:xfrm>
          <a:off x="609600" y="885825"/>
          <a:ext cx="8424863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" r:id="rId1" imgW="3733800" imgH="711200" progId="Equation.3">
                  <p:embed/>
                </p:oleObj>
              </mc:Choice>
              <mc:Fallback>
                <p:oleObj name="" r:id="rId1" imgW="37338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885825"/>
                        <a:ext cx="8424863" cy="16033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467600" y="3733800"/>
            <a:ext cx="4622800" cy="18161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函数调用</a:t>
            </a:r>
            <a:r>
              <a:rPr lang="en-US" altLang="zh-CN" sz="2800">
                <a:latin typeface="Arial" panose="020B0604020202020204" pitchFamily="34" charset="0"/>
              </a:rPr>
              <a:t>: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p(n,x)         //</a:t>
            </a:r>
            <a:r>
              <a:rPr lang="zh-CN" altLang="en-US" sz="2800">
                <a:latin typeface="Arial" panose="020B0604020202020204" pitchFamily="34" charset="0"/>
              </a:rPr>
              <a:t>求</a:t>
            </a:r>
            <a:r>
              <a:rPr lang="en-US" altLang="zh-CN" sz="2800">
                <a:latin typeface="Arial" panose="020B0604020202020204" pitchFamily="34" charset="0"/>
              </a:rPr>
              <a:t>n</a:t>
            </a:r>
            <a:r>
              <a:rPr lang="zh-CN" altLang="en-US" sz="2800">
                <a:latin typeface="Arial" panose="020B0604020202020204" pitchFamily="34" charset="0"/>
              </a:rPr>
              <a:t>次多项式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p(n-1,x)      //</a:t>
            </a:r>
            <a:r>
              <a:rPr lang="zh-CN" altLang="en-US" sz="2800">
                <a:latin typeface="Arial" panose="020B0604020202020204" pitchFamily="34" charset="0"/>
              </a:rPr>
              <a:t>求</a:t>
            </a:r>
            <a:r>
              <a:rPr lang="en-US" altLang="zh-CN" sz="2800">
                <a:latin typeface="Arial" panose="020B0604020202020204" pitchFamily="34" charset="0"/>
              </a:rPr>
              <a:t>n-1</a:t>
            </a:r>
            <a:r>
              <a:rPr lang="zh-CN" altLang="en-US" sz="2800">
                <a:latin typeface="Arial" panose="020B0604020202020204" pitchFamily="34" charset="0"/>
              </a:rPr>
              <a:t>次多项式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p(n-2,x)      //</a:t>
            </a:r>
            <a:r>
              <a:rPr lang="zh-CN" altLang="en-US" sz="2800">
                <a:latin typeface="Arial" panose="020B0604020202020204" pitchFamily="34" charset="0"/>
              </a:rPr>
              <a:t>求</a:t>
            </a:r>
            <a:r>
              <a:rPr lang="en-US" altLang="zh-CN" sz="2800">
                <a:latin typeface="Arial" panose="020B0604020202020204" pitchFamily="34" charset="0"/>
              </a:rPr>
              <a:t>n-2</a:t>
            </a:r>
            <a:r>
              <a:rPr lang="zh-CN" altLang="en-US" sz="2800">
                <a:latin typeface="Arial" panose="020B0604020202020204" pitchFamily="34" charset="0"/>
              </a:rPr>
              <a:t>次多项式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4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4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64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4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uiExpand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6F34698-C577-4DA9-995F-97862E53401F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089025"/>
            <a:ext cx="12192000" cy="5159375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zh-CN" altLang="en-US" sz="2800" b="1" dirty="0">
                <a:effectLst/>
              </a:rPr>
              <a:t>编写递归程序要</a:t>
            </a:r>
            <a:r>
              <a:rPr lang="zh-CN" altLang="en-US" sz="2800" b="1" dirty="0">
                <a:solidFill>
                  <a:schemeClr val="folHlink"/>
                </a:solidFill>
                <a:effectLst/>
              </a:rPr>
              <a:t>注意</a:t>
            </a:r>
            <a:r>
              <a:rPr lang="zh-CN" altLang="en-US" sz="2800" b="1" dirty="0">
                <a:effectLst/>
              </a:rPr>
              <a:t>：</a:t>
            </a:r>
            <a:endParaRPr lang="zh-CN" altLang="en-US" sz="2800" b="1" dirty="0">
              <a:effectLst/>
            </a:endParaRPr>
          </a:p>
          <a:p>
            <a:pPr marL="990600" lvl="1" indent="-533400" eaLnBrk="1" hangingPunct="1">
              <a:defRPr/>
            </a:pPr>
            <a:r>
              <a:rPr lang="zh-CN" altLang="en-US" b="1" dirty="0">
                <a:effectLst/>
              </a:rPr>
              <a:t>递归程序</a:t>
            </a:r>
            <a:endParaRPr lang="en-US" altLang="zh-CN" b="1" dirty="0">
              <a:effectLst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b="1" dirty="0">
                <a:solidFill>
                  <a:schemeClr val="hlink"/>
                </a:solidFill>
                <a:effectLst/>
              </a:rPr>
              <a:t>	</a:t>
            </a:r>
            <a:r>
              <a:rPr lang="zh-CN" altLang="en-US" b="1" dirty="0">
                <a:solidFill>
                  <a:schemeClr val="hlink"/>
                </a:solidFill>
                <a:effectLst/>
              </a:rPr>
              <a:t>简洁、易读，但执行效率低</a:t>
            </a:r>
            <a:endParaRPr lang="zh-CN" altLang="en-US" b="1" dirty="0">
              <a:effectLst/>
            </a:endParaRPr>
          </a:p>
          <a:p>
            <a:pPr marL="990600" lvl="1" indent="-533400" eaLnBrk="1" hangingPunct="1">
              <a:defRPr/>
            </a:pPr>
            <a:r>
              <a:rPr lang="zh-CN" altLang="en-US" b="1" dirty="0">
                <a:effectLst/>
              </a:rPr>
              <a:t>终结条件</a:t>
            </a:r>
            <a:endParaRPr lang="en-US" altLang="zh-CN" b="1" dirty="0">
              <a:effectLst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b="1" dirty="0">
                <a:solidFill>
                  <a:schemeClr val="hlink"/>
                </a:solidFill>
                <a:effectLst/>
              </a:rPr>
              <a:t>	</a:t>
            </a:r>
            <a:r>
              <a:rPr lang="zh-CN" altLang="en-US" b="1" dirty="0">
                <a:solidFill>
                  <a:schemeClr val="hlink"/>
                </a:solidFill>
                <a:effectLst/>
              </a:rPr>
              <a:t>程序一定要能终止，不能无限递归下去</a:t>
            </a:r>
            <a:endParaRPr lang="en-US" altLang="zh-CN" b="1" dirty="0">
              <a:solidFill>
                <a:schemeClr val="hlink"/>
              </a:solidFill>
              <a:effectLst/>
            </a:endParaRPr>
          </a:p>
          <a:p>
            <a:pPr marL="457200" lvl="1" indent="0" eaLnBrk="1" hangingPunct="1">
              <a:buFontTx/>
              <a:buNone/>
              <a:defRPr/>
            </a:pPr>
            <a:endParaRPr lang="en-US" altLang="zh-CN" b="1" dirty="0">
              <a:solidFill>
                <a:schemeClr val="hlink"/>
              </a:solidFill>
              <a:effectLst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US" b="1" dirty="0">
                <a:effectLst/>
              </a:rPr>
              <a:t>有些函数既可以写成循环形式，也可以写成递归形式</a:t>
            </a:r>
            <a:r>
              <a:rPr lang="zh-CN" altLang="en-US" b="1" dirty="0">
                <a:solidFill>
                  <a:schemeClr val="tx1">
                    <a:lumMod val="65000"/>
                  </a:schemeClr>
                </a:solidFill>
                <a:effectLst/>
              </a:rPr>
              <a:t>，例如：</a:t>
            </a:r>
            <a:endParaRPr lang="en-US" altLang="zh-CN" b="1" dirty="0">
              <a:solidFill>
                <a:schemeClr val="tx1">
                  <a:lumMod val="65000"/>
                </a:schemeClr>
              </a:solidFill>
              <a:effectLst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 b="1" dirty="0">
                <a:solidFill>
                  <a:schemeClr val="tx1">
                    <a:lumMod val="65000"/>
                  </a:schemeClr>
                </a:solidFill>
                <a:effectLst/>
              </a:rPr>
              <a:t>	</a:t>
            </a:r>
            <a:r>
              <a:rPr lang="zh-CN" altLang="en-US" b="1" dirty="0">
                <a:solidFill>
                  <a:schemeClr val="tx1">
                    <a:lumMod val="65000"/>
                  </a:schemeClr>
                </a:solidFill>
                <a:effectLst/>
              </a:rPr>
              <a:t>计算ｎ的阶乘、</a:t>
            </a:r>
            <a:r>
              <a:rPr lang="en-US" altLang="zh-CN" b="1" dirty="0">
                <a:solidFill>
                  <a:schemeClr val="tx1">
                    <a:lumMod val="65000"/>
                  </a:schemeClr>
                </a:solidFill>
                <a:effectLst/>
              </a:rPr>
              <a:t>n</a:t>
            </a:r>
            <a:r>
              <a:rPr lang="zh-CN" altLang="en-US" b="1" dirty="0">
                <a:solidFill>
                  <a:schemeClr val="tx1">
                    <a:lumMod val="65000"/>
                  </a:schemeClr>
                </a:solidFill>
                <a:effectLst/>
              </a:rPr>
              <a:t>次勒让德多项式</a:t>
            </a:r>
            <a:endParaRPr lang="en-US" altLang="zh-CN" b="1" dirty="0">
              <a:solidFill>
                <a:schemeClr val="tx1">
                  <a:lumMod val="65000"/>
                </a:schemeClr>
              </a:solidFill>
              <a:effectLst/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US" b="1" dirty="0">
                <a:effectLst/>
              </a:rPr>
              <a:t>但是有些循环程序写成递归很困难</a:t>
            </a:r>
            <a:endParaRPr lang="en-US" altLang="zh-CN" sz="24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AA2EEA9-ECB0-47C4-A78E-758F8AD81C25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" y="1219200"/>
            <a:ext cx="9601835" cy="45942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effectLst/>
                <a:latin typeface="Times New Roman" panose="02020603050405020304" pitchFamily="18" charset="0"/>
              </a:rPr>
              <a:t>递归程序设计的</a:t>
            </a:r>
            <a:r>
              <a:rPr lang="zh-CN" altLang="en-US" b="1" dirty="0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思想</a:t>
            </a:r>
            <a:endParaRPr lang="en-US" altLang="zh-CN" b="1" dirty="0">
              <a:effectLst/>
              <a:latin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b="1" dirty="0">
              <a:effectLst/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effectLst/>
                <a:latin typeface="Times New Roman" panose="02020603050405020304" pitchFamily="18" charset="0"/>
              </a:rPr>
              <a:t>思想：</a:t>
            </a:r>
            <a:endParaRPr lang="zh-CN" altLang="en-US" b="1" dirty="0">
              <a:effectLst/>
              <a:latin typeface="Times New Roman" panose="02020603050405020304" pitchFamily="18" charset="0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latin typeface="Times New Roman" panose="02020603050405020304" pitchFamily="18" charset="0"/>
              </a:rPr>
              <a:t>将复杂问题拆解为</a:t>
            </a:r>
            <a:r>
              <a:rPr lang="zh-CN" altLang="en-US" b="1" dirty="0">
                <a:solidFill>
                  <a:srgbClr val="F302FC"/>
                </a:solidFill>
                <a:effectLst/>
                <a:latin typeface="Times New Roman" panose="02020603050405020304" pitchFamily="18" charset="0"/>
              </a:rPr>
              <a:t>同类</a:t>
            </a:r>
            <a:r>
              <a:rPr lang="zh-CN" altLang="en-US" b="1" dirty="0">
                <a:effectLst/>
                <a:latin typeface="Times New Roman" panose="02020603050405020304" pitchFamily="18" charset="0"/>
              </a:rPr>
              <a:t>子问题，通过</a:t>
            </a:r>
            <a:r>
              <a:rPr lang="zh-CN" altLang="en-US" b="1" dirty="0">
                <a:solidFill>
                  <a:srgbClr val="F302FC"/>
                </a:solidFill>
                <a:effectLst/>
                <a:latin typeface="Times New Roman" panose="02020603050405020304" pitchFamily="18" charset="0"/>
              </a:rPr>
              <a:t>自身调用</a:t>
            </a:r>
            <a:r>
              <a:rPr lang="zh-CN" altLang="en-US" b="1" dirty="0">
                <a:effectLst/>
                <a:latin typeface="Times New Roman" panose="02020603050405020304" pitchFamily="18" charset="0"/>
              </a:rPr>
              <a:t>逐步简化，</a:t>
            </a:r>
            <a:endParaRPr lang="zh-CN" altLang="en-US" b="1" dirty="0">
              <a:effectLst/>
              <a:latin typeface="Times New Roman" panose="02020603050405020304" pitchFamily="18" charset="0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latin typeface="Times New Roman" panose="02020603050405020304" pitchFamily="18" charset="0"/>
              </a:rPr>
              <a:t>最终靠终止条件收尾</a:t>
            </a:r>
            <a:endParaRPr lang="en-US" altLang="zh-CN" b="1" dirty="0">
              <a:effectLst/>
              <a:latin typeface="Times New Roman" panose="02020603050405020304" pitchFamily="18" charset="0"/>
            </a:endParaRPr>
          </a:p>
          <a:p>
            <a:pPr marL="457200" lvl="1" indent="0" eaLnBrk="1" hangingPunct="1">
              <a:buFontTx/>
              <a:buNone/>
              <a:defRPr/>
            </a:pPr>
            <a:endParaRPr lang="en-US" altLang="zh-CN" b="1" dirty="0">
              <a:effectLst/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effectLst/>
                <a:latin typeface="Times New Roman" panose="02020603050405020304" pitchFamily="18" charset="0"/>
              </a:rPr>
              <a:t>实现：递归函数</a:t>
            </a:r>
            <a:endParaRPr lang="en-US" altLang="zh-CN" b="1" dirty="0">
              <a:effectLst/>
              <a:latin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zh-CN" altLang="en-US" b="1" dirty="0">
                <a:effectLst/>
                <a:latin typeface="Times New Roman" panose="02020603050405020304" pitchFamily="18" charset="0"/>
              </a:rPr>
              <a:t>原始问题：</a:t>
            </a:r>
            <a:r>
              <a:rPr lang="zh-CN" altLang="en-US" b="1" dirty="0">
                <a:solidFill>
                  <a:schemeClr val="tx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设计为一个函数</a:t>
            </a:r>
            <a:endParaRPr lang="en-US" altLang="zh-CN" b="1" dirty="0">
              <a:solidFill>
                <a:schemeClr val="tx1">
                  <a:lumMod val="7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 lvl="2" eaLnBrk="1" hangingPunct="1">
              <a:defRPr/>
            </a:pPr>
            <a:r>
              <a:rPr lang="zh-CN" altLang="en-US" b="1" dirty="0">
                <a:effectLst/>
                <a:latin typeface="Times New Roman" panose="02020603050405020304" pitchFamily="18" charset="0"/>
              </a:rPr>
              <a:t>子问题：</a:t>
            </a:r>
            <a:r>
              <a:rPr lang="zh-CN" altLang="en-US" b="1" dirty="0">
                <a:solidFill>
                  <a:schemeClr val="tx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递归调用</a:t>
            </a:r>
            <a:endParaRPr lang="zh-CN" altLang="en-US" dirty="0">
              <a:solidFill>
                <a:schemeClr val="tx1">
                  <a:lumMod val="75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76200"/>
            <a:ext cx="6997700" cy="6762115"/>
          </a:xfrm>
        </p:spPr>
        <p:txBody>
          <a:bodyPr/>
          <a:p>
            <a:r>
              <a:rPr lang="zh-CN" altLang="en-US" b="1"/>
              <a:t>模块化程序设计思想（第</a:t>
            </a:r>
            <a:r>
              <a:rPr lang="en-US" altLang="zh-CN" b="1"/>
              <a:t>5</a:t>
            </a:r>
            <a:r>
              <a:rPr lang="zh-CN" altLang="en-US" b="1"/>
              <a:t>章）</a:t>
            </a:r>
            <a:endParaRPr lang="zh-CN" altLang="en-US" b="1"/>
          </a:p>
          <a:p>
            <a:pPr lvl="1"/>
            <a:r>
              <a:rPr lang="zh-CN" altLang="en-US" b="1"/>
              <a:t>如何设计好一个系统</a:t>
            </a:r>
            <a:endParaRPr lang="zh-CN" altLang="en-US" b="1"/>
          </a:p>
          <a:p>
            <a:pPr lvl="2" algn="l">
              <a:buSzTx/>
            </a:pPr>
            <a:r>
              <a:rPr lang="zh-CN" altLang="en-US" b="1">
                <a:cs typeface="+mn-ea"/>
              </a:rPr>
              <a:t>拆分、拼接</a:t>
            </a:r>
            <a:endParaRPr lang="zh-CN" altLang="en-US" b="1">
              <a:cs typeface="+mn-ea"/>
            </a:endParaRPr>
          </a:p>
          <a:p>
            <a:pPr lvl="1"/>
            <a:r>
              <a:rPr lang="zh-CN" altLang="en-US" sz="2800" b="1"/>
              <a:t>实现：函数</a:t>
            </a:r>
            <a:endParaRPr lang="zh-CN" altLang="en-US" sz="2800" b="1"/>
          </a:p>
          <a:p>
            <a:pPr lvl="1"/>
            <a:endParaRPr lang="zh-CN" altLang="en-US" b="1"/>
          </a:p>
          <a:p>
            <a:r>
              <a:rPr lang="zh-CN" altLang="en-US" b="1"/>
              <a:t>结构化程序设计思想（第</a:t>
            </a:r>
            <a:r>
              <a:rPr lang="en-US" altLang="zh-CN" b="1"/>
              <a:t>12</a:t>
            </a:r>
            <a:r>
              <a:rPr lang="zh-CN" altLang="en-US" b="1"/>
              <a:t>章）</a:t>
            </a:r>
            <a:endParaRPr lang="zh-CN" altLang="en-US" b="1"/>
          </a:p>
          <a:p>
            <a:pPr lvl="1"/>
            <a:r>
              <a:rPr lang="zh-CN" altLang="en-US" b="1"/>
              <a:t>如何写好一段代码</a:t>
            </a:r>
            <a:endParaRPr lang="zh-CN" altLang="en-US" b="1"/>
          </a:p>
          <a:p>
            <a:pPr lvl="2"/>
            <a:r>
              <a:rPr lang="zh-CN" altLang="en-US" b="1"/>
              <a:t>逻辑清晰、流程可控</a:t>
            </a:r>
            <a:endParaRPr lang="zh-CN" altLang="en-US" b="1"/>
          </a:p>
          <a:p>
            <a:pPr lvl="1"/>
            <a:r>
              <a:rPr lang="zh-CN" altLang="en-US" b="1"/>
              <a:t>实现：</a:t>
            </a:r>
            <a:endParaRPr lang="zh-CN" altLang="en-US" b="1"/>
          </a:p>
          <a:p>
            <a:pPr lvl="2"/>
            <a:r>
              <a:rPr lang="zh-CN" altLang="en-US" b="1"/>
              <a:t>三大结构</a:t>
            </a:r>
            <a:endParaRPr lang="zh-CN" altLang="en-US" b="1"/>
          </a:p>
          <a:p>
            <a:pPr lvl="2"/>
            <a:r>
              <a:rPr lang="zh-CN" altLang="en-US" b="1"/>
              <a:t>限制使用</a:t>
            </a:r>
            <a:r>
              <a:rPr lang="en-US" altLang="zh-CN" b="1"/>
              <a:t>goto</a:t>
            </a:r>
            <a:r>
              <a:rPr lang="zh-CN" altLang="en-US" b="1"/>
              <a:t>语句</a:t>
            </a:r>
            <a:endParaRPr lang="zh-CN" altLang="en-US" b="1"/>
          </a:p>
          <a:p>
            <a:pPr lvl="2"/>
            <a:r>
              <a:rPr lang="zh-CN" altLang="en-US" b="1"/>
              <a:t>良好的行文风格</a:t>
            </a:r>
            <a:endParaRPr lang="zh-CN" altLang="en-US" b="1"/>
          </a:p>
          <a:p>
            <a:pPr lvl="2"/>
            <a:r>
              <a:rPr lang="zh-CN" altLang="en-US" b="1"/>
              <a:t>无死码区</a:t>
            </a:r>
            <a:endParaRPr lang="zh-CN" altLang="en-US" b="1"/>
          </a:p>
          <a:p>
            <a:pPr lvl="2"/>
            <a:r>
              <a:rPr lang="zh-CN" altLang="en-US" b="1"/>
              <a:t>无死循环</a:t>
            </a:r>
            <a:endParaRPr lang="zh-CN" altLang="en-US" b="1"/>
          </a:p>
          <a:p>
            <a:pPr lvl="0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8305165" y="5638165"/>
            <a:ext cx="3879215" cy="1200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ker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sym typeface="+mn-ea"/>
              </a:rPr>
              <a:t>递归（第</a:t>
            </a:r>
            <a:r>
              <a:rPr lang="en-US" altLang="zh-CN" sz="3200" ker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sym typeface="+mn-ea"/>
              </a:rPr>
              <a:t>10</a:t>
            </a:r>
            <a:r>
              <a:rPr lang="zh-CN" altLang="en-US" sz="3200" ker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sym typeface="+mn-ea"/>
              </a:rPr>
              <a:t>章）</a:t>
            </a:r>
            <a:endParaRPr lang="zh-CN" altLang="en-US" sz="3200" kern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Clr>
                <a:schemeClr val="tx1"/>
              </a:buClr>
              <a:buSzTx/>
              <a:buFontTx/>
              <a:buChar char="–"/>
            </a:pPr>
            <a:r>
              <a:rPr lang="zh-CN" altLang="en-US" sz="2800" ker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ea"/>
                <a:sym typeface="+mn-ea"/>
              </a:rPr>
              <a:t>算法技巧</a:t>
            </a:r>
            <a:endParaRPr lang="zh-CN" altLang="en-US" sz="2800" kern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6200" y="163513"/>
            <a:ext cx="5410200" cy="476250"/>
          </a:xfrm>
        </p:spPr>
        <p:txBody>
          <a:bodyPr/>
          <a:lstStyle/>
          <a:p>
            <a:pPr algn="l">
              <a:defRPr/>
            </a:pPr>
            <a:r>
              <a:rPr lang="en-US" altLang="zh-CN" sz="3600" b="1" dirty="0"/>
              <a:t>【</a:t>
            </a:r>
            <a:r>
              <a:rPr lang="zh-CN" altLang="en-US" sz="3600" b="1" dirty="0"/>
              <a:t>课后实践</a:t>
            </a:r>
            <a:r>
              <a:rPr lang="en-US" altLang="zh-CN" sz="3600" b="1" dirty="0"/>
              <a:t>】</a:t>
            </a:r>
            <a:r>
              <a:rPr lang="zh-CN" altLang="en-US" sz="3600" b="1" dirty="0"/>
              <a:t>折半检索</a:t>
            </a:r>
            <a:endParaRPr lang="zh-CN" altLang="en-US" sz="36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68000" y="6329363"/>
            <a:ext cx="94615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9318BC8-8541-4B45-99AF-A5932372BC42}" type="slidenum">
              <a:rPr lang="en-US" altLang="zh-CN" sz="1200" b="0"/>
            </a:fld>
            <a:endParaRPr lang="en-US" altLang="zh-CN" sz="1200" b="0" dirty="0"/>
          </a:p>
        </p:txBody>
      </p:sp>
      <p:sp>
        <p:nvSpPr>
          <p:cNvPr id="5" name="矩形 4"/>
          <p:cNvSpPr/>
          <p:nvPr/>
        </p:nvSpPr>
        <p:spPr>
          <a:xfrm>
            <a:off x="76358" y="762070"/>
            <a:ext cx="8991364" cy="52622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思路</a:t>
            </a:r>
            <a:r>
              <a:rPr lang="en-US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在数组</a:t>
            </a:r>
            <a:r>
              <a:rPr lang="en-US" altLang="zh-CN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 err="1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lower~upper</a:t>
            </a:r>
            <a:r>
              <a:rPr lang="zh-CN" altLang="en-US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区间内，检索关键词</a:t>
            </a:r>
            <a:r>
              <a:rPr lang="en-US" altLang="zh-CN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en-US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。函数返回下标。</a:t>
            </a:r>
            <a:endParaRPr lang="en-US" altLang="zh-CN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28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b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f(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a[ ],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lower, int upper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int key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 {</a:t>
            </a:r>
            <a:endParaRPr lang="en-US" altLang="zh-CN" sz="2800" kern="100" dirty="0">
              <a:solidFill>
                <a:srgbClr val="F902FC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int 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mid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=(lower +upper)/2;	</a:t>
            </a:r>
            <a:endParaRPr lang="zh-CN" altLang="zh-CN" sz="2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kern="100" dirty="0">
                <a:solidFill>
                  <a:schemeClr val="accent2">
                    <a:lumMod val="40000"/>
                    <a:lumOff val="6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 (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lower&gt;</a:t>
            </a:r>
            <a:r>
              <a:rPr lang="en-US" altLang="zh-CN" sz="2800" kern="100" dirty="0">
                <a:solidFill>
                  <a:schemeClr val="accent2">
                    <a:lumMod val="40000"/>
                    <a:lumOff val="6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upper)   return -1; 	</a:t>
            </a:r>
            <a:r>
              <a:rPr lang="en-US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递归出口</a:t>
            </a:r>
            <a:endParaRPr lang="zh-CN" altLang="zh-CN" sz="2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chemeClr val="accent2">
                    <a:lumMod val="40000"/>
                    <a:lumOff val="6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if (a[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mid</a:t>
            </a:r>
            <a:r>
              <a:rPr lang="en-US" altLang="zh-CN" sz="2800" kern="100" dirty="0">
                <a:solidFill>
                  <a:schemeClr val="accent2">
                    <a:lumMod val="40000"/>
                    <a:lumOff val="6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]==key)   return mid; 	</a:t>
            </a:r>
            <a:r>
              <a:rPr lang="en-US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递归出口</a:t>
            </a:r>
            <a:endParaRPr lang="zh-CN" altLang="zh-CN" sz="2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if (key&lt;a[mid])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	return </a:t>
            </a:r>
            <a:r>
              <a:rPr lang="en-US" altLang="zh-CN" sz="2800" kern="100" dirty="0">
                <a:highlight>
                  <a:srgbClr val="FF00FF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f(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lower,mid-1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,key</a:t>
            </a:r>
            <a:r>
              <a:rPr lang="en-US" altLang="zh-CN" sz="2800" kern="100" dirty="0">
                <a:highlight>
                  <a:srgbClr val="FF00FF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 	</a:t>
            </a:r>
            <a:r>
              <a:rPr lang="en-US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递归调用</a:t>
            </a:r>
            <a:endParaRPr lang="zh-CN" altLang="zh-CN" sz="2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else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	return </a:t>
            </a:r>
            <a:r>
              <a:rPr lang="en-US" altLang="zh-CN" sz="2800" kern="100" dirty="0">
                <a:highlight>
                  <a:srgbClr val="FF00FF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f(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mid+1,upper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,key</a:t>
            </a:r>
            <a:r>
              <a:rPr lang="en-US" altLang="zh-CN" sz="2800" kern="100" dirty="0">
                <a:highlight>
                  <a:srgbClr val="FF00FF"/>
                </a:highlight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 	</a:t>
            </a:r>
            <a:r>
              <a:rPr lang="en-US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递归调用</a:t>
            </a:r>
            <a:endParaRPr lang="zh-CN" altLang="zh-CN" sz="2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800" kern="100" dirty="0">
              <a:solidFill>
                <a:srgbClr val="F902FC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358" y="6263343"/>
            <a:ext cx="7391206" cy="568325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C000"/>
                </a:solidFill>
              </a:rPr>
              <a:t>函数调用：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</a:t>
            </a:r>
            <a:r>
              <a:rPr lang="en-US" altLang="zh-CN" sz="2800" dirty="0" err="1">
                <a:highlight>
                  <a:srgbClr val="FF00FF"/>
                </a:highlight>
              </a:rPr>
              <a:t>f</a:t>
            </a:r>
            <a:r>
              <a:rPr lang="en-US" altLang="zh-CN" sz="2800" dirty="0">
                <a:highlight>
                  <a:srgbClr val="FF00FF"/>
                </a:highlight>
              </a:rPr>
              <a:t>(</a:t>
            </a:r>
            <a:r>
              <a:rPr lang="en-US" altLang="zh-CN" sz="2800" dirty="0"/>
              <a:t>a,</a:t>
            </a:r>
            <a:r>
              <a:rPr lang="en-US" altLang="zh-CN" sz="31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0,n-1</a:t>
            </a:r>
            <a:r>
              <a:rPr lang="en-US" altLang="zh-CN" sz="2800" dirty="0"/>
              <a:t>,data</a:t>
            </a:r>
            <a:r>
              <a:rPr lang="en-US" altLang="zh-CN" sz="2800" dirty="0">
                <a:highlight>
                  <a:srgbClr val="FF00FF"/>
                </a:highlight>
              </a:rPr>
              <a:t>)</a:t>
            </a: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6" name="对话气泡: 圆角矩形 5"/>
          <p:cNvSpPr/>
          <p:nvPr/>
        </p:nvSpPr>
        <p:spPr bwMode="auto">
          <a:xfrm>
            <a:off x="304800" y="1295400"/>
            <a:ext cx="3886200" cy="481013"/>
          </a:xfrm>
          <a:prstGeom prst="wedgeRoundRectCallout">
            <a:avLst>
              <a:gd name="adj1" fmla="val -50297"/>
              <a:gd name="adj2" fmla="val 139159"/>
              <a:gd name="adj3" fmla="val 16667"/>
            </a:avLst>
          </a:prstGeom>
          <a:solidFill>
            <a:srgbClr val="00B0F0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zh-CN" altLang="en-US" sz="2800" dirty="0">
                <a:solidFill>
                  <a:srgbClr val="F90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有返回值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的递归函数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8838565" y="0"/>
            <a:ext cx="3339465" cy="119888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递归函数实现的一般过程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】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递归出口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当前层需要实现的逻辑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递归下探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D43CE16-9285-4F3F-8C62-155B6CB09F3B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" y="93663"/>
            <a:ext cx="9144000" cy="549275"/>
          </a:xfrm>
        </p:spPr>
        <p:txBody>
          <a:bodyPr/>
          <a:lstStyle/>
          <a:p>
            <a:pPr algn="l" eaLnBrk="1" hangingPunct="1"/>
            <a:r>
              <a:rPr lang="en-US" altLang="zh-CN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【</a:t>
            </a:r>
            <a:r>
              <a:rPr lang="zh-CN" altLang="en-US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例</a:t>
            </a:r>
            <a:r>
              <a:rPr lang="en-US" altLang="zh-CN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10.3】</a:t>
            </a:r>
            <a:r>
              <a:rPr lang="zh-CN" altLang="en-US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汉诺（ </a:t>
            </a:r>
            <a:r>
              <a:rPr lang="en-US" altLang="zh-CN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Hanoi </a:t>
            </a:r>
            <a:r>
              <a:rPr lang="zh-CN" altLang="en-US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）塔游戏</a:t>
            </a:r>
            <a:endParaRPr lang="zh-CN" altLang="en-US" sz="4000" b="1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5556" name="Line 4"/>
          <p:cNvSpPr>
            <a:spLocks noChangeShapeType="1"/>
          </p:cNvSpPr>
          <p:nvPr/>
        </p:nvSpPr>
        <p:spPr bwMode="auto">
          <a:xfrm>
            <a:off x="1524000" y="2060575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5557" name="Line 5"/>
          <p:cNvSpPr>
            <a:spLocks noChangeShapeType="1"/>
          </p:cNvSpPr>
          <p:nvPr/>
        </p:nvSpPr>
        <p:spPr bwMode="auto">
          <a:xfrm flipV="1">
            <a:off x="3359150" y="836613"/>
            <a:ext cx="1588" cy="1185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351088" y="1917700"/>
            <a:ext cx="2233612" cy="122238"/>
            <a:chOff x="1116" y="1605"/>
            <a:chExt cx="951" cy="77"/>
          </a:xfrm>
        </p:grpSpPr>
        <p:sp>
          <p:nvSpPr>
            <p:cNvPr id="535559" name="Freeform 7"/>
            <p:cNvSpPr/>
            <p:nvPr/>
          </p:nvSpPr>
          <p:spPr bwMode="auto">
            <a:xfrm>
              <a:off x="1116" y="1605"/>
              <a:ext cx="476" cy="77"/>
            </a:xfrm>
            <a:custGeom>
              <a:avLst/>
              <a:gdLst>
                <a:gd name="T0" fmla="*/ 0 w 20000"/>
                <a:gd name="T1" fmla="*/ 19835 h 20000"/>
                <a:gd name="T2" fmla="*/ 0 w 20000"/>
                <a:gd name="T3" fmla="*/ 0 h 20000"/>
                <a:gd name="T4" fmla="*/ 19976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35"/>
                  </a:move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5560" name="Freeform 8"/>
            <p:cNvSpPr/>
            <p:nvPr/>
          </p:nvSpPr>
          <p:spPr bwMode="auto">
            <a:xfrm>
              <a:off x="1591" y="1605"/>
              <a:ext cx="476" cy="77"/>
            </a:xfrm>
            <a:custGeom>
              <a:avLst/>
              <a:gdLst>
                <a:gd name="T0" fmla="*/ 19976 w 20000"/>
                <a:gd name="T1" fmla="*/ 19835 h 20000"/>
                <a:gd name="T2" fmla="*/ 19976 w 20000"/>
                <a:gd name="T3" fmla="*/ 0 h 20000"/>
                <a:gd name="T4" fmla="*/ 0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76" y="19835"/>
                  </a:moveTo>
                  <a:lnTo>
                    <a:pt x="1997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35561" name="Line 9"/>
          <p:cNvSpPr>
            <a:spLocks noChangeShapeType="1"/>
          </p:cNvSpPr>
          <p:nvPr/>
        </p:nvSpPr>
        <p:spPr bwMode="auto">
          <a:xfrm flipV="1">
            <a:off x="9048750" y="908050"/>
            <a:ext cx="0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11"/>
          <p:cNvGrpSpPr/>
          <p:nvPr/>
        </p:nvGrpSpPr>
        <p:grpSpPr bwMode="auto">
          <a:xfrm>
            <a:off x="1703388" y="1052513"/>
            <a:ext cx="2592387" cy="1008062"/>
            <a:chOff x="930" y="1074"/>
            <a:chExt cx="1021" cy="608"/>
          </a:xfrm>
        </p:grpSpPr>
        <p:grpSp>
          <p:nvGrpSpPr>
            <p:cNvPr id="45088" name="Group 12"/>
            <p:cNvGrpSpPr/>
            <p:nvPr/>
          </p:nvGrpSpPr>
          <p:grpSpPr bwMode="auto">
            <a:xfrm>
              <a:off x="1220" y="1112"/>
              <a:ext cx="731" cy="494"/>
              <a:chOff x="1220" y="1112"/>
              <a:chExt cx="731" cy="494"/>
            </a:xfrm>
          </p:grpSpPr>
          <p:sp>
            <p:nvSpPr>
              <p:cNvPr id="45093" name="Rectangle 13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5094" name="Group 14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5095" name="Group 15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535568" name="Freeform 16"/>
                  <p:cNvSpPr/>
                  <p:nvPr/>
                </p:nvSpPr>
                <p:spPr bwMode="auto">
                  <a:xfrm>
                    <a:off x="3" y="14373"/>
                    <a:ext cx="10161" cy="572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35569" name="Freeform 17"/>
                  <p:cNvSpPr/>
                  <p:nvPr/>
                </p:nvSpPr>
                <p:spPr bwMode="auto">
                  <a:xfrm>
                    <a:off x="9838" y="14373"/>
                    <a:ext cx="10161" cy="572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5096" name="Group 18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535571" name="Freeform 19"/>
                  <p:cNvSpPr/>
                  <p:nvPr/>
                </p:nvSpPr>
                <p:spPr bwMode="auto">
                  <a:xfrm>
                    <a:off x="1283" y="42"/>
                    <a:ext cx="8932" cy="34817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35572" name="Freeform 20"/>
                  <p:cNvSpPr/>
                  <p:nvPr/>
                </p:nvSpPr>
                <p:spPr bwMode="auto">
                  <a:xfrm>
                    <a:off x="9849" y="42"/>
                    <a:ext cx="10159" cy="34817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535573" name="Rectangle 21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35574" name="Rectangle 22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45089" name="Group 23"/>
            <p:cNvGrpSpPr/>
            <p:nvPr/>
          </p:nvGrpSpPr>
          <p:grpSpPr bwMode="auto">
            <a:xfrm>
              <a:off x="930" y="1074"/>
              <a:ext cx="279" cy="608"/>
              <a:chOff x="930" y="1074"/>
              <a:chExt cx="279" cy="608"/>
            </a:xfrm>
          </p:grpSpPr>
          <p:sp>
            <p:nvSpPr>
              <p:cNvPr id="45090" name="Rectangle 24"/>
              <p:cNvSpPr>
                <a:spLocks noChangeArrowheads="1"/>
              </p:cNvSpPr>
              <p:nvPr/>
            </p:nvSpPr>
            <p:spPr bwMode="auto">
              <a:xfrm>
                <a:off x="930" y="1188"/>
                <a:ext cx="279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64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35577" name="Freeform 25"/>
              <p:cNvSpPr/>
              <p:nvPr/>
            </p:nvSpPr>
            <p:spPr bwMode="auto">
              <a:xfrm>
                <a:off x="1034" y="1377"/>
                <a:ext cx="1" cy="305"/>
              </a:xfrm>
              <a:custGeom>
                <a:avLst/>
                <a:gdLst>
                  <a:gd name="T0" fmla="*/ 0 w 20000"/>
                  <a:gd name="T1" fmla="*/ 19958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5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35578" name="Freeform 26"/>
              <p:cNvSpPr/>
              <p:nvPr/>
            </p:nvSpPr>
            <p:spPr bwMode="auto">
              <a:xfrm>
                <a:off x="1034" y="1074"/>
                <a:ext cx="164" cy="102"/>
              </a:xfrm>
              <a:custGeom>
                <a:avLst/>
                <a:gdLst>
                  <a:gd name="T0" fmla="*/ 0 w 20000"/>
                  <a:gd name="T1" fmla="*/ 19876 h 20000"/>
                  <a:gd name="T2" fmla="*/ 0 w 20000"/>
                  <a:gd name="T3" fmla="*/ 0 h 20000"/>
                  <a:gd name="T4" fmla="*/ 19929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0" y="19876"/>
                    </a:moveTo>
                    <a:lnTo>
                      <a:pt x="0" y="0"/>
                    </a:lnTo>
                    <a:lnTo>
                      <a:pt x="1992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45065" name="Rectangle 27"/>
          <p:cNvSpPr>
            <a:spLocks noChangeArrowheads="1"/>
          </p:cNvSpPr>
          <p:nvPr/>
        </p:nvSpPr>
        <p:spPr bwMode="auto">
          <a:xfrm>
            <a:off x="1847850" y="2205038"/>
            <a:ext cx="88201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             a                                b                         c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35619" name="Rectangle 67"/>
          <p:cNvSpPr>
            <a:spLocks noGrp="1" noChangeArrowheads="1"/>
          </p:cNvSpPr>
          <p:nvPr>
            <p:ph type="body" idx="1"/>
          </p:nvPr>
        </p:nvSpPr>
        <p:spPr>
          <a:xfrm>
            <a:off x="136525" y="2805113"/>
            <a:ext cx="12039600" cy="2560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274955" indent="-274955" eaLnBrk="1" hangingPunct="1">
              <a:buClr>
                <a:schemeClr val="accent2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该问题又称世界末日问题。相传，古印度布拉玛婆罗门神庙的僧侣们，当时作一种被称为 </a:t>
            </a:r>
            <a:r>
              <a:rPr lang="en-US" altLang="zh-CN" sz="2000" b="1">
                <a:effectLst/>
              </a:rPr>
              <a:t>Hanoi</a:t>
            </a:r>
            <a:r>
              <a:rPr lang="zh-CN" altLang="en-US" sz="2000" b="1">
                <a:effectLst/>
              </a:rPr>
              <a:t>塔的游戏。该游戏是：在一个平板上，有三根钻石针；在其中一根针上有成塔型落放的大小不等的</a:t>
            </a:r>
            <a:r>
              <a:rPr lang="en-US" altLang="zh-CN" sz="2000" b="1">
                <a:effectLst/>
              </a:rPr>
              <a:t>64</a:t>
            </a:r>
            <a:r>
              <a:rPr lang="zh-CN" altLang="en-US" sz="2000" b="1">
                <a:effectLst/>
              </a:rPr>
              <a:t>片金片；要求把这</a:t>
            </a:r>
            <a:r>
              <a:rPr lang="en-US" altLang="zh-CN" sz="2000" b="1">
                <a:effectLst/>
              </a:rPr>
              <a:t>64</a:t>
            </a:r>
            <a:r>
              <a:rPr lang="zh-CN" altLang="en-US" sz="2000" b="1">
                <a:effectLst/>
              </a:rPr>
              <a:t>片金片全部移到另一根钻石针上。移动规则是：</a:t>
            </a:r>
            <a:endParaRPr lang="zh-CN" altLang="en-US" sz="2000" b="1">
              <a:effectLst/>
            </a:endParaRPr>
          </a:p>
          <a:p>
            <a:pPr marL="808355" lvl="1" indent="-35433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每次只允许移动一片金片；</a:t>
            </a:r>
            <a:endParaRPr lang="zh-CN" altLang="en-US" sz="2000" b="1">
              <a:effectLst/>
            </a:endParaRPr>
          </a:p>
          <a:p>
            <a:pPr marL="808355" lvl="1" indent="-35433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移动过程中的任何时刻，都不允许有较大的金片放在较小的金片的上面；</a:t>
            </a:r>
            <a:endParaRPr lang="zh-CN" altLang="en-US" sz="2000" b="1">
              <a:effectLst/>
            </a:endParaRPr>
          </a:p>
          <a:p>
            <a:pPr marL="808355" lvl="1" indent="-35433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移动过程中，三根钻石针都可以利用，但是金片不许放在除钻石针以外的任何地方。</a:t>
            </a:r>
            <a:endParaRPr lang="zh-CN" altLang="en-US" sz="2000" b="1">
              <a:effectLst/>
            </a:endParaRPr>
          </a:p>
          <a:p>
            <a:pPr marL="274955" indent="-274955" eaLnBrk="1" hangingPunct="1">
              <a:buClr>
                <a:schemeClr val="accent2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据说当</a:t>
            </a:r>
            <a:r>
              <a:rPr lang="en-US" altLang="zh-CN" sz="2000" b="1">
                <a:effectLst/>
              </a:rPr>
              <a:t>64</a:t>
            </a:r>
            <a:r>
              <a:rPr lang="zh-CN" altLang="en-US" sz="2000" b="1">
                <a:effectLst/>
              </a:rPr>
              <a:t>片金片全部从一根钻石针移到另一根钻石针那天，就是世界的末日。</a:t>
            </a:r>
            <a:endParaRPr lang="zh-CN" altLang="en-US" sz="2000" b="1">
              <a:effectLst/>
            </a:endParaRPr>
          </a:p>
        </p:txBody>
      </p:sp>
      <p:sp>
        <p:nvSpPr>
          <p:cNvPr id="45067" name="Rectangle 68"/>
          <p:cNvSpPr>
            <a:spLocks noChangeArrowheads="1"/>
          </p:cNvSpPr>
          <p:nvPr/>
        </p:nvSpPr>
        <p:spPr bwMode="auto">
          <a:xfrm>
            <a:off x="371475" y="5638800"/>
            <a:ext cx="5521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C000"/>
                </a:solidFill>
                <a:latin typeface="Arial" panose="020B0604020202020204" pitchFamily="34" charset="0"/>
              </a:rPr>
              <a:t>请编程序，打印金片的移动顺序。</a:t>
            </a:r>
            <a:endParaRPr lang="zh-CN" altLang="en-US" sz="28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535637" name="Line 85"/>
          <p:cNvSpPr>
            <a:spLocks noChangeShapeType="1"/>
          </p:cNvSpPr>
          <p:nvPr/>
        </p:nvSpPr>
        <p:spPr bwMode="auto">
          <a:xfrm flipV="1">
            <a:off x="6311900" y="836613"/>
            <a:ext cx="1588" cy="1185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" name="Group 86"/>
          <p:cNvGrpSpPr/>
          <p:nvPr/>
        </p:nvGrpSpPr>
        <p:grpSpPr bwMode="auto">
          <a:xfrm>
            <a:off x="5303838" y="1917700"/>
            <a:ext cx="2233612" cy="122238"/>
            <a:chOff x="1116" y="1605"/>
            <a:chExt cx="951" cy="77"/>
          </a:xfrm>
        </p:grpSpPr>
        <p:sp>
          <p:nvSpPr>
            <p:cNvPr id="535639" name="Freeform 87"/>
            <p:cNvSpPr/>
            <p:nvPr/>
          </p:nvSpPr>
          <p:spPr bwMode="auto">
            <a:xfrm>
              <a:off x="1116" y="1605"/>
              <a:ext cx="476" cy="77"/>
            </a:xfrm>
            <a:custGeom>
              <a:avLst/>
              <a:gdLst>
                <a:gd name="T0" fmla="*/ 0 w 20000"/>
                <a:gd name="T1" fmla="*/ 19835 h 20000"/>
                <a:gd name="T2" fmla="*/ 0 w 20000"/>
                <a:gd name="T3" fmla="*/ 0 h 20000"/>
                <a:gd name="T4" fmla="*/ 19976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35"/>
                  </a:move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5640" name="Freeform 88"/>
            <p:cNvSpPr/>
            <p:nvPr/>
          </p:nvSpPr>
          <p:spPr bwMode="auto">
            <a:xfrm>
              <a:off x="1591" y="1605"/>
              <a:ext cx="476" cy="77"/>
            </a:xfrm>
            <a:custGeom>
              <a:avLst/>
              <a:gdLst>
                <a:gd name="T0" fmla="*/ 19976 w 20000"/>
                <a:gd name="T1" fmla="*/ 19835 h 20000"/>
                <a:gd name="T2" fmla="*/ 19976 w 20000"/>
                <a:gd name="T3" fmla="*/ 0 h 20000"/>
                <a:gd name="T4" fmla="*/ 0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76" y="19835"/>
                  </a:moveTo>
                  <a:lnTo>
                    <a:pt x="1997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" name="Group 89"/>
          <p:cNvGrpSpPr/>
          <p:nvPr/>
        </p:nvGrpSpPr>
        <p:grpSpPr bwMode="auto">
          <a:xfrm>
            <a:off x="4656138" y="1052513"/>
            <a:ext cx="2592387" cy="1008062"/>
            <a:chOff x="930" y="1074"/>
            <a:chExt cx="1021" cy="608"/>
          </a:xfrm>
        </p:grpSpPr>
        <p:grpSp>
          <p:nvGrpSpPr>
            <p:cNvPr id="45071" name="Group 90"/>
            <p:cNvGrpSpPr/>
            <p:nvPr/>
          </p:nvGrpSpPr>
          <p:grpSpPr bwMode="auto">
            <a:xfrm>
              <a:off x="1220" y="1112"/>
              <a:ext cx="731" cy="494"/>
              <a:chOff x="1220" y="1112"/>
              <a:chExt cx="731" cy="494"/>
            </a:xfrm>
          </p:grpSpPr>
          <p:sp>
            <p:nvSpPr>
              <p:cNvPr id="45076" name="Rectangle 91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5077" name="Group 92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5078" name="Group 93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535646" name="Freeform 94"/>
                  <p:cNvSpPr/>
                  <p:nvPr/>
                </p:nvSpPr>
                <p:spPr bwMode="auto">
                  <a:xfrm>
                    <a:off x="3" y="14373"/>
                    <a:ext cx="10161" cy="572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35647" name="Freeform 95"/>
                  <p:cNvSpPr/>
                  <p:nvPr/>
                </p:nvSpPr>
                <p:spPr bwMode="auto">
                  <a:xfrm>
                    <a:off x="9838" y="14373"/>
                    <a:ext cx="10161" cy="572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5079" name="Group 96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535649" name="Freeform 97"/>
                  <p:cNvSpPr/>
                  <p:nvPr/>
                </p:nvSpPr>
                <p:spPr bwMode="auto">
                  <a:xfrm>
                    <a:off x="1283" y="42"/>
                    <a:ext cx="8932" cy="34817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35650" name="Freeform 98"/>
                  <p:cNvSpPr/>
                  <p:nvPr/>
                </p:nvSpPr>
                <p:spPr bwMode="auto">
                  <a:xfrm>
                    <a:off x="9849" y="42"/>
                    <a:ext cx="10159" cy="34817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535651" name="Rectangle 99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35652" name="Rectangle 100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45072" name="Group 101"/>
            <p:cNvGrpSpPr/>
            <p:nvPr/>
          </p:nvGrpSpPr>
          <p:grpSpPr bwMode="auto">
            <a:xfrm>
              <a:off x="930" y="1074"/>
              <a:ext cx="279" cy="608"/>
              <a:chOff x="930" y="1074"/>
              <a:chExt cx="279" cy="608"/>
            </a:xfrm>
          </p:grpSpPr>
          <p:sp>
            <p:nvSpPr>
              <p:cNvPr id="45073" name="Rectangle 102"/>
              <p:cNvSpPr>
                <a:spLocks noChangeArrowheads="1"/>
              </p:cNvSpPr>
              <p:nvPr/>
            </p:nvSpPr>
            <p:spPr bwMode="auto">
              <a:xfrm>
                <a:off x="930" y="1188"/>
                <a:ext cx="279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64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35655" name="Freeform 103"/>
              <p:cNvSpPr/>
              <p:nvPr/>
            </p:nvSpPr>
            <p:spPr bwMode="auto">
              <a:xfrm>
                <a:off x="1034" y="1377"/>
                <a:ext cx="1" cy="305"/>
              </a:xfrm>
              <a:custGeom>
                <a:avLst/>
                <a:gdLst>
                  <a:gd name="T0" fmla="*/ 0 w 20000"/>
                  <a:gd name="T1" fmla="*/ 19958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5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35656" name="Freeform 104"/>
              <p:cNvSpPr/>
              <p:nvPr/>
            </p:nvSpPr>
            <p:spPr bwMode="auto">
              <a:xfrm>
                <a:off x="1034" y="1074"/>
                <a:ext cx="164" cy="102"/>
              </a:xfrm>
              <a:custGeom>
                <a:avLst/>
                <a:gdLst>
                  <a:gd name="T0" fmla="*/ 0 w 20000"/>
                  <a:gd name="T1" fmla="*/ 19876 h 20000"/>
                  <a:gd name="T2" fmla="*/ 0 w 20000"/>
                  <a:gd name="T3" fmla="*/ 0 h 20000"/>
                  <a:gd name="T4" fmla="*/ 19929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0" y="19876"/>
                    </a:moveTo>
                    <a:lnTo>
                      <a:pt x="0" y="0"/>
                    </a:lnTo>
                    <a:lnTo>
                      <a:pt x="1992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61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ACD7A60-7AA0-4C4D-8E8E-BD69D2AFAA0C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75138" name="Rectangle 2"/>
          <p:cNvSpPr>
            <a:spLocks noChangeArrowheads="1"/>
          </p:cNvSpPr>
          <p:nvPr/>
        </p:nvSpPr>
        <p:spPr bwMode="auto">
          <a:xfrm>
            <a:off x="50800" y="1447483"/>
            <a:ext cx="9144000" cy="160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移动 </a:t>
            </a:r>
            <a:r>
              <a:rPr lang="en-US" altLang="zh-CN" sz="2800">
                <a:latin typeface="Arial" panose="020B0604020202020204" pitchFamily="34" charset="0"/>
              </a:rPr>
              <a:t>64 </a:t>
            </a:r>
            <a:r>
              <a:rPr lang="zh-CN" altLang="en-US" sz="2800">
                <a:latin typeface="Arial" panose="020B0604020202020204" pitchFamily="34" charset="0"/>
              </a:rPr>
              <a:t>片金片的问题可以被分解成：</a:t>
            </a: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a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63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片金片，从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a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针移到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c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针上，移动过程中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b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针可用</a:t>
            </a:r>
            <a:endParaRPr lang="zh-CN" altLang="en-US" sz="18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a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针上一片金片移到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b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针上</a:t>
            </a:r>
            <a:endParaRPr lang="zh-CN" altLang="en-US" sz="18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c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63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片金片，从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c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针移到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b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针上，移动过程中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a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itchFamily="49" charset="-122"/>
              </a:rPr>
              <a:t>针可用</a:t>
            </a:r>
            <a:endParaRPr lang="zh-CN" altLang="en-US" sz="18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475139" name="Line 3"/>
          <p:cNvSpPr>
            <a:spLocks noChangeShapeType="1"/>
          </p:cNvSpPr>
          <p:nvPr/>
        </p:nvSpPr>
        <p:spPr bwMode="auto">
          <a:xfrm>
            <a:off x="1524000" y="1196975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5140" name="Line 4"/>
          <p:cNvSpPr>
            <a:spLocks noChangeShapeType="1"/>
          </p:cNvSpPr>
          <p:nvPr/>
        </p:nvSpPr>
        <p:spPr bwMode="auto">
          <a:xfrm flipV="1">
            <a:off x="3359150" y="-26988"/>
            <a:ext cx="1588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351088" y="1054100"/>
            <a:ext cx="2233612" cy="122238"/>
            <a:chOff x="1116" y="1605"/>
            <a:chExt cx="951" cy="77"/>
          </a:xfrm>
        </p:grpSpPr>
        <p:sp>
          <p:nvSpPr>
            <p:cNvPr id="475143" name="Freeform 7"/>
            <p:cNvSpPr/>
            <p:nvPr/>
          </p:nvSpPr>
          <p:spPr bwMode="auto">
            <a:xfrm>
              <a:off x="1116" y="1605"/>
              <a:ext cx="476" cy="77"/>
            </a:xfrm>
            <a:custGeom>
              <a:avLst/>
              <a:gdLst>
                <a:gd name="T0" fmla="*/ 0 w 20000"/>
                <a:gd name="T1" fmla="*/ 19835 h 20000"/>
                <a:gd name="T2" fmla="*/ 0 w 20000"/>
                <a:gd name="T3" fmla="*/ 0 h 20000"/>
                <a:gd name="T4" fmla="*/ 19976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35"/>
                  </a:move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5144" name="Freeform 8"/>
            <p:cNvSpPr/>
            <p:nvPr/>
          </p:nvSpPr>
          <p:spPr bwMode="auto">
            <a:xfrm>
              <a:off x="1591" y="1605"/>
              <a:ext cx="476" cy="77"/>
            </a:xfrm>
            <a:custGeom>
              <a:avLst/>
              <a:gdLst>
                <a:gd name="T0" fmla="*/ 19976 w 20000"/>
                <a:gd name="T1" fmla="*/ 19835 h 20000"/>
                <a:gd name="T2" fmla="*/ 19976 w 20000"/>
                <a:gd name="T3" fmla="*/ 0 h 20000"/>
                <a:gd name="T4" fmla="*/ 0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76" y="19835"/>
                  </a:moveTo>
                  <a:lnTo>
                    <a:pt x="1997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75145" name="Line 9"/>
          <p:cNvSpPr>
            <a:spLocks noChangeShapeType="1"/>
          </p:cNvSpPr>
          <p:nvPr/>
        </p:nvSpPr>
        <p:spPr bwMode="auto">
          <a:xfrm flipV="1">
            <a:off x="6240463" y="-26988"/>
            <a:ext cx="0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5146" name="Line 10"/>
          <p:cNvSpPr>
            <a:spLocks noChangeShapeType="1"/>
          </p:cNvSpPr>
          <p:nvPr/>
        </p:nvSpPr>
        <p:spPr bwMode="auto">
          <a:xfrm flipV="1">
            <a:off x="8543925" y="-26988"/>
            <a:ext cx="0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11"/>
          <p:cNvGrpSpPr/>
          <p:nvPr/>
        </p:nvGrpSpPr>
        <p:grpSpPr bwMode="auto">
          <a:xfrm>
            <a:off x="1703388" y="188913"/>
            <a:ext cx="2592387" cy="1008062"/>
            <a:chOff x="930" y="1074"/>
            <a:chExt cx="1021" cy="608"/>
          </a:xfrm>
        </p:grpSpPr>
        <p:grpSp>
          <p:nvGrpSpPr>
            <p:cNvPr id="46131" name="Group 12"/>
            <p:cNvGrpSpPr/>
            <p:nvPr/>
          </p:nvGrpSpPr>
          <p:grpSpPr bwMode="auto">
            <a:xfrm>
              <a:off x="1220" y="1112"/>
              <a:ext cx="731" cy="494"/>
              <a:chOff x="1220" y="1112"/>
              <a:chExt cx="731" cy="494"/>
            </a:xfrm>
          </p:grpSpPr>
          <p:sp>
            <p:nvSpPr>
              <p:cNvPr id="46136" name="Rectangle 13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6137" name="Group 14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6138" name="Group 15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475152" name="Freeform 16"/>
                  <p:cNvSpPr/>
                  <p:nvPr/>
                </p:nvSpPr>
                <p:spPr bwMode="auto">
                  <a:xfrm>
                    <a:off x="3" y="14373"/>
                    <a:ext cx="10161" cy="572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53" name="Freeform 17"/>
                  <p:cNvSpPr/>
                  <p:nvPr/>
                </p:nvSpPr>
                <p:spPr bwMode="auto">
                  <a:xfrm>
                    <a:off x="9838" y="14373"/>
                    <a:ext cx="10161" cy="572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6139" name="Group 18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475155" name="Freeform 19"/>
                  <p:cNvSpPr/>
                  <p:nvPr/>
                </p:nvSpPr>
                <p:spPr bwMode="auto">
                  <a:xfrm>
                    <a:off x="1283" y="42"/>
                    <a:ext cx="8932" cy="34817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56" name="Freeform 20"/>
                  <p:cNvSpPr/>
                  <p:nvPr/>
                </p:nvSpPr>
                <p:spPr bwMode="auto">
                  <a:xfrm>
                    <a:off x="9849" y="42"/>
                    <a:ext cx="10159" cy="34817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75157" name="Rectangle 21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75158" name="Rectangle 22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46132" name="Group 23"/>
            <p:cNvGrpSpPr/>
            <p:nvPr/>
          </p:nvGrpSpPr>
          <p:grpSpPr bwMode="auto">
            <a:xfrm>
              <a:off x="930" y="1074"/>
              <a:ext cx="279" cy="608"/>
              <a:chOff x="930" y="1074"/>
              <a:chExt cx="279" cy="608"/>
            </a:xfrm>
          </p:grpSpPr>
          <p:sp>
            <p:nvSpPr>
              <p:cNvPr id="46133" name="Rectangle 24"/>
              <p:cNvSpPr>
                <a:spLocks noChangeArrowheads="1"/>
              </p:cNvSpPr>
              <p:nvPr/>
            </p:nvSpPr>
            <p:spPr bwMode="auto">
              <a:xfrm>
                <a:off x="930" y="1188"/>
                <a:ext cx="279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64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75161" name="Freeform 25"/>
              <p:cNvSpPr/>
              <p:nvPr/>
            </p:nvSpPr>
            <p:spPr bwMode="auto">
              <a:xfrm>
                <a:off x="1034" y="1377"/>
                <a:ext cx="1" cy="305"/>
              </a:xfrm>
              <a:custGeom>
                <a:avLst/>
                <a:gdLst>
                  <a:gd name="T0" fmla="*/ 0 w 20000"/>
                  <a:gd name="T1" fmla="*/ 19958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5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5162" name="Freeform 26"/>
              <p:cNvSpPr/>
              <p:nvPr/>
            </p:nvSpPr>
            <p:spPr bwMode="auto">
              <a:xfrm>
                <a:off x="1034" y="1074"/>
                <a:ext cx="164" cy="102"/>
              </a:xfrm>
              <a:custGeom>
                <a:avLst/>
                <a:gdLst>
                  <a:gd name="T0" fmla="*/ 0 w 20000"/>
                  <a:gd name="T1" fmla="*/ 19876 h 20000"/>
                  <a:gd name="T2" fmla="*/ 0 w 20000"/>
                  <a:gd name="T3" fmla="*/ 0 h 20000"/>
                  <a:gd name="T4" fmla="*/ 19929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0" y="19876"/>
                    </a:moveTo>
                    <a:lnTo>
                      <a:pt x="0" y="0"/>
                    </a:lnTo>
                    <a:lnTo>
                      <a:pt x="1992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46090" name="Rectangle 27"/>
          <p:cNvSpPr>
            <a:spLocks noChangeArrowheads="1"/>
          </p:cNvSpPr>
          <p:nvPr/>
        </p:nvSpPr>
        <p:spPr bwMode="auto">
          <a:xfrm>
            <a:off x="1847850" y="1125538"/>
            <a:ext cx="88201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             a                                b                         c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9" name="Group 28"/>
          <p:cNvGrpSpPr/>
          <p:nvPr/>
        </p:nvGrpSpPr>
        <p:grpSpPr bwMode="auto">
          <a:xfrm>
            <a:off x="7680325" y="406400"/>
            <a:ext cx="2592388" cy="792163"/>
            <a:chOff x="3782" y="1207"/>
            <a:chExt cx="1056" cy="499"/>
          </a:xfrm>
        </p:grpSpPr>
        <p:grpSp>
          <p:nvGrpSpPr>
            <p:cNvPr id="46116" name="Group 29"/>
            <p:cNvGrpSpPr/>
            <p:nvPr/>
          </p:nvGrpSpPr>
          <p:grpSpPr bwMode="auto">
            <a:xfrm>
              <a:off x="4468" y="1207"/>
              <a:ext cx="370" cy="499"/>
              <a:chOff x="4869" y="3529"/>
              <a:chExt cx="370" cy="456"/>
            </a:xfrm>
          </p:grpSpPr>
          <p:sp>
            <p:nvSpPr>
              <p:cNvPr id="46128" name="Rectangle 30"/>
              <p:cNvSpPr>
                <a:spLocks noChangeArrowheads="1"/>
              </p:cNvSpPr>
              <p:nvPr/>
            </p:nvSpPr>
            <p:spPr bwMode="auto">
              <a:xfrm>
                <a:off x="4922" y="3637"/>
                <a:ext cx="317" cy="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63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75167" name="Freeform 31"/>
              <p:cNvSpPr/>
              <p:nvPr/>
            </p:nvSpPr>
            <p:spPr bwMode="auto">
              <a:xfrm>
                <a:off x="5054" y="3789"/>
                <a:ext cx="0" cy="196"/>
              </a:xfrm>
              <a:custGeom>
                <a:avLst/>
                <a:gdLst>
                  <a:gd name="T0" fmla="*/ 0 w 20000"/>
                  <a:gd name="T1" fmla="*/ 19945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4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5168" name="Freeform 32"/>
              <p:cNvSpPr/>
              <p:nvPr/>
            </p:nvSpPr>
            <p:spPr bwMode="auto">
              <a:xfrm>
                <a:off x="4869" y="3529"/>
                <a:ext cx="198" cy="86"/>
              </a:xfrm>
              <a:custGeom>
                <a:avLst/>
                <a:gdLst>
                  <a:gd name="T0" fmla="*/ 19934 w 20000"/>
                  <a:gd name="T1" fmla="*/ 19874 h 20000"/>
                  <a:gd name="T2" fmla="*/ 19934 w 20000"/>
                  <a:gd name="T3" fmla="*/ 0 h 20000"/>
                  <a:gd name="T4" fmla="*/ 0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19934" y="19874"/>
                    </a:moveTo>
                    <a:lnTo>
                      <a:pt x="19934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46117" name="Group 33"/>
            <p:cNvGrpSpPr/>
            <p:nvPr/>
          </p:nvGrpSpPr>
          <p:grpSpPr bwMode="auto">
            <a:xfrm>
              <a:off x="3782" y="1212"/>
              <a:ext cx="731" cy="494"/>
              <a:chOff x="1220" y="1112"/>
              <a:chExt cx="731" cy="494"/>
            </a:xfrm>
          </p:grpSpPr>
          <p:sp>
            <p:nvSpPr>
              <p:cNvPr id="46118" name="Rectangle 34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6119" name="Group 35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6120" name="Group 36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475173" name="Freeform 37"/>
                  <p:cNvSpPr/>
                  <p:nvPr/>
                </p:nvSpPr>
                <p:spPr bwMode="auto">
                  <a:xfrm>
                    <a:off x="0" y="0"/>
                    <a:ext cx="10173" cy="2000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74" name="Freeform 38"/>
                  <p:cNvSpPr/>
                  <p:nvPr/>
                </p:nvSpPr>
                <p:spPr bwMode="auto">
                  <a:xfrm>
                    <a:off x="9837" y="0"/>
                    <a:ext cx="10155" cy="2000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6121" name="Group 39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475176" name="Freeform 40"/>
                  <p:cNvSpPr/>
                  <p:nvPr/>
                </p:nvSpPr>
                <p:spPr bwMode="auto">
                  <a:xfrm>
                    <a:off x="-6" y="0"/>
                    <a:ext cx="10151" cy="2000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77" name="Freeform 41"/>
                  <p:cNvSpPr/>
                  <p:nvPr/>
                </p:nvSpPr>
                <p:spPr bwMode="auto">
                  <a:xfrm>
                    <a:off x="9833" y="0"/>
                    <a:ext cx="8837" cy="20000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75178" name="Rectangle 42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75179" name="Rectangle 43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grpSp>
        <p:nvGrpSpPr>
          <p:cNvPr id="15" name="Group 44"/>
          <p:cNvGrpSpPr/>
          <p:nvPr/>
        </p:nvGrpSpPr>
        <p:grpSpPr bwMode="auto">
          <a:xfrm>
            <a:off x="5232400" y="1054100"/>
            <a:ext cx="1943100" cy="122238"/>
            <a:chOff x="1116" y="1605"/>
            <a:chExt cx="951" cy="77"/>
          </a:xfrm>
        </p:grpSpPr>
        <p:sp>
          <p:nvSpPr>
            <p:cNvPr id="475181" name="Freeform 45"/>
            <p:cNvSpPr/>
            <p:nvPr/>
          </p:nvSpPr>
          <p:spPr bwMode="auto">
            <a:xfrm>
              <a:off x="1116" y="1605"/>
              <a:ext cx="476" cy="77"/>
            </a:xfrm>
            <a:custGeom>
              <a:avLst/>
              <a:gdLst>
                <a:gd name="T0" fmla="*/ 0 w 20000"/>
                <a:gd name="T1" fmla="*/ 19835 h 20000"/>
                <a:gd name="T2" fmla="*/ 0 w 20000"/>
                <a:gd name="T3" fmla="*/ 0 h 20000"/>
                <a:gd name="T4" fmla="*/ 19976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35"/>
                  </a:move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5182" name="Freeform 46"/>
            <p:cNvSpPr/>
            <p:nvPr/>
          </p:nvSpPr>
          <p:spPr bwMode="auto">
            <a:xfrm>
              <a:off x="1591" y="1605"/>
              <a:ext cx="476" cy="77"/>
            </a:xfrm>
            <a:custGeom>
              <a:avLst/>
              <a:gdLst>
                <a:gd name="T0" fmla="*/ 19976 w 20000"/>
                <a:gd name="T1" fmla="*/ 19835 h 20000"/>
                <a:gd name="T2" fmla="*/ 19976 w 20000"/>
                <a:gd name="T3" fmla="*/ 0 h 20000"/>
                <a:gd name="T4" fmla="*/ 0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76" y="19835"/>
                  </a:moveTo>
                  <a:lnTo>
                    <a:pt x="1997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6" name="Group 47"/>
          <p:cNvGrpSpPr/>
          <p:nvPr/>
        </p:nvGrpSpPr>
        <p:grpSpPr bwMode="auto">
          <a:xfrm>
            <a:off x="5375275" y="261938"/>
            <a:ext cx="2376488" cy="792162"/>
            <a:chOff x="3782" y="1207"/>
            <a:chExt cx="1056" cy="499"/>
          </a:xfrm>
        </p:grpSpPr>
        <p:grpSp>
          <p:nvGrpSpPr>
            <p:cNvPr id="46099" name="Group 48"/>
            <p:cNvGrpSpPr/>
            <p:nvPr/>
          </p:nvGrpSpPr>
          <p:grpSpPr bwMode="auto">
            <a:xfrm>
              <a:off x="4468" y="1207"/>
              <a:ext cx="370" cy="499"/>
              <a:chOff x="4869" y="3529"/>
              <a:chExt cx="370" cy="456"/>
            </a:xfrm>
          </p:grpSpPr>
          <p:sp>
            <p:nvSpPr>
              <p:cNvPr id="46111" name="Rectangle 49"/>
              <p:cNvSpPr>
                <a:spLocks noChangeArrowheads="1"/>
              </p:cNvSpPr>
              <p:nvPr/>
            </p:nvSpPr>
            <p:spPr bwMode="auto">
              <a:xfrm>
                <a:off x="4922" y="3637"/>
                <a:ext cx="317" cy="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63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75186" name="Freeform 50"/>
              <p:cNvSpPr/>
              <p:nvPr/>
            </p:nvSpPr>
            <p:spPr bwMode="auto">
              <a:xfrm>
                <a:off x="5054" y="3789"/>
                <a:ext cx="0" cy="196"/>
              </a:xfrm>
              <a:custGeom>
                <a:avLst/>
                <a:gdLst>
                  <a:gd name="T0" fmla="*/ 0 w 20000"/>
                  <a:gd name="T1" fmla="*/ 19945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4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5187" name="Freeform 51"/>
              <p:cNvSpPr/>
              <p:nvPr/>
            </p:nvSpPr>
            <p:spPr bwMode="auto">
              <a:xfrm>
                <a:off x="4869" y="3529"/>
                <a:ext cx="198" cy="86"/>
              </a:xfrm>
              <a:custGeom>
                <a:avLst/>
                <a:gdLst>
                  <a:gd name="T0" fmla="*/ 19934 w 20000"/>
                  <a:gd name="T1" fmla="*/ 19874 h 20000"/>
                  <a:gd name="T2" fmla="*/ 19934 w 20000"/>
                  <a:gd name="T3" fmla="*/ 0 h 20000"/>
                  <a:gd name="T4" fmla="*/ 0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19934" y="19874"/>
                    </a:moveTo>
                    <a:lnTo>
                      <a:pt x="19934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46100" name="Group 52"/>
            <p:cNvGrpSpPr/>
            <p:nvPr/>
          </p:nvGrpSpPr>
          <p:grpSpPr bwMode="auto">
            <a:xfrm>
              <a:off x="3782" y="1212"/>
              <a:ext cx="731" cy="494"/>
              <a:chOff x="1220" y="1112"/>
              <a:chExt cx="731" cy="494"/>
            </a:xfrm>
          </p:grpSpPr>
          <p:sp>
            <p:nvSpPr>
              <p:cNvPr id="46101" name="Rectangle 53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6102" name="Group 54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6103" name="Group 55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475192" name="Freeform 56"/>
                  <p:cNvSpPr/>
                  <p:nvPr/>
                </p:nvSpPr>
                <p:spPr bwMode="auto">
                  <a:xfrm>
                    <a:off x="0" y="0"/>
                    <a:ext cx="10171" cy="2000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93" name="Freeform 57"/>
                  <p:cNvSpPr/>
                  <p:nvPr/>
                </p:nvSpPr>
                <p:spPr bwMode="auto">
                  <a:xfrm>
                    <a:off x="9842" y="0"/>
                    <a:ext cx="10151" cy="2000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6104" name="Group 58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475195" name="Freeform 59"/>
                  <p:cNvSpPr/>
                  <p:nvPr/>
                </p:nvSpPr>
                <p:spPr bwMode="auto">
                  <a:xfrm>
                    <a:off x="4" y="0"/>
                    <a:ext cx="10174" cy="2000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96" name="Freeform 60"/>
                  <p:cNvSpPr/>
                  <p:nvPr/>
                </p:nvSpPr>
                <p:spPr bwMode="auto">
                  <a:xfrm>
                    <a:off x="9839" y="0"/>
                    <a:ext cx="10150" cy="20000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75197" name="Rectangle 61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75198" name="Rectangle 62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grpSp>
        <p:nvGrpSpPr>
          <p:cNvPr id="22" name="Group 63"/>
          <p:cNvGrpSpPr/>
          <p:nvPr/>
        </p:nvGrpSpPr>
        <p:grpSpPr bwMode="auto">
          <a:xfrm>
            <a:off x="4583113" y="188913"/>
            <a:ext cx="730250" cy="965200"/>
            <a:chOff x="930" y="1074"/>
            <a:chExt cx="279" cy="608"/>
          </a:xfrm>
        </p:grpSpPr>
        <p:sp>
          <p:nvSpPr>
            <p:cNvPr id="46096" name="Rectangle 64"/>
            <p:cNvSpPr>
              <a:spLocks noChangeArrowheads="1"/>
            </p:cNvSpPr>
            <p:nvPr/>
          </p:nvSpPr>
          <p:spPr bwMode="auto">
            <a:xfrm>
              <a:off x="930" y="1188"/>
              <a:ext cx="27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64</a:t>
              </a:r>
              <a:r>
                <a:rPr lang="zh-CN" altLang="en-US" sz="2400">
                  <a:latin typeface="Arial" panose="020B0604020202020204" pitchFamily="34" charset="0"/>
                </a:rPr>
                <a:t>片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75201" name="Freeform 65"/>
            <p:cNvSpPr/>
            <p:nvPr/>
          </p:nvSpPr>
          <p:spPr bwMode="auto">
            <a:xfrm>
              <a:off x="1034" y="1377"/>
              <a:ext cx="1" cy="305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5202" name="Freeform 66"/>
            <p:cNvSpPr/>
            <p:nvPr/>
          </p:nvSpPr>
          <p:spPr bwMode="auto">
            <a:xfrm>
              <a:off x="1034" y="1074"/>
              <a:ext cx="164" cy="102"/>
            </a:xfrm>
            <a:custGeom>
              <a:avLst/>
              <a:gdLst>
                <a:gd name="T0" fmla="*/ 0 w 20000"/>
                <a:gd name="T1" fmla="*/ 19876 h 20000"/>
                <a:gd name="T2" fmla="*/ 0 w 20000"/>
                <a:gd name="T3" fmla="*/ 0 h 20000"/>
                <a:gd name="T4" fmla="*/ 19929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76"/>
                  </a:moveTo>
                  <a:lnTo>
                    <a:pt x="0" y="0"/>
                  </a:lnTo>
                  <a:lnTo>
                    <a:pt x="1992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75203" name="Rectangle 67"/>
          <p:cNvSpPr>
            <a:spLocks noChangeArrowheads="1"/>
          </p:cNvSpPr>
          <p:nvPr/>
        </p:nvSpPr>
        <p:spPr bwMode="auto">
          <a:xfrm>
            <a:off x="157480" y="3048000"/>
            <a:ext cx="10431780" cy="33229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设若有一函数：   </a:t>
            </a:r>
            <a:r>
              <a:rPr lang="en-US" altLang="zh-CN" sz="2800" dirty="0">
                <a:latin typeface="Arial" panose="020B0604020202020204" pitchFamily="34" charset="0"/>
              </a:rPr>
              <a:t>void  move ( </a:t>
            </a:r>
            <a:r>
              <a:rPr lang="en-US" altLang="zh-CN" sz="2800" dirty="0" err="1">
                <a:latin typeface="Arial" panose="020B0604020202020204" pitchFamily="34" charset="0"/>
              </a:rPr>
              <a:t>int</a:t>
            </a:r>
            <a:r>
              <a:rPr lang="en-US" altLang="zh-CN" sz="2800" dirty="0">
                <a:latin typeface="Arial" panose="020B0604020202020204" pitchFamily="34" charset="0"/>
              </a:rPr>
              <a:t> n, 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char x, char y, </a:t>
            </a:r>
            <a:r>
              <a:rPr lang="en-US" altLang="zh-CN" sz="2800" dirty="0">
                <a:latin typeface="Arial" panose="020B0604020202020204" pitchFamily="34" charset="0"/>
              </a:rPr>
              <a:t>char z 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能够完成：把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x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针上的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片金片，移动到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y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针上，移动过程中可以利用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z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针。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原始问题：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move( 64 ,'a' , 'b' ,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'c'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 )</a:t>
            </a:r>
            <a:endParaRPr lang="en-US" altLang="zh-CN" sz="2800" dirty="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分解：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　　	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move( 63 , 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'a' , 'c'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dirty="0">
                <a:latin typeface="Arial" panose="020B0604020202020204" pitchFamily="34" charset="0"/>
              </a:rPr>
              <a:t>'b'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 );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 err="1">
                <a:latin typeface="Arial" panose="020B0604020202020204" pitchFamily="34" charset="0"/>
              </a:rPr>
              <a:t>moveone</a:t>
            </a:r>
            <a:r>
              <a:rPr lang="en-US" altLang="zh-CN" sz="2800" dirty="0">
                <a:latin typeface="Arial" panose="020B0604020202020204" pitchFamily="34" charset="0"/>
              </a:rPr>
              <a:t>( 'a', 'b' 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	move( 63 , 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'c' , 'b' , 'a'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);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7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75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75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5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7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7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7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7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7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47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7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47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475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64EF419-1A24-4C75-A681-3FD6ECD54F92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77186" name="Rectangle 2"/>
          <p:cNvSpPr>
            <a:spLocks noChangeArrowheads="1"/>
          </p:cNvSpPr>
          <p:nvPr/>
        </p:nvSpPr>
        <p:spPr bwMode="auto">
          <a:xfrm>
            <a:off x="1538288" y="4363720"/>
            <a:ext cx="8596312" cy="171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递归出口 :</a:t>
            </a:r>
            <a:endParaRPr lang="en-US" altLang="zh-CN" sz="320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当移动金片的片数为 </a:t>
            </a:r>
            <a:r>
              <a:rPr lang="en-US" altLang="zh-CN" sz="2800">
                <a:latin typeface="Arial" panose="020B0604020202020204" pitchFamily="34" charset="0"/>
              </a:rPr>
              <a:t>0 </a:t>
            </a:r>
            <a:r>
              <a:rPr lang="zh-CN" altLang="en-US" sz="2800">
                <a:latin typeface="Arial" panose="020B0604020202020204" pitchFamily="34" charset="0"/>
              </a:rPr>
              <a:t>时，便不用移动了</a:t>
            </a: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程序如下</a:t>
            </a:r>
            <a:r>
              <a:rPr lang="en-US" altLang="zh-CN" sz="2800">
                <a:latin typeface="Arial" panose="020B0604020202020204" pitchFamily="34" charset="0"/>
              </a:rPr>
              <a:t>: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1499870" y="290513"/>
            <a:ext cx="8126730" cy="5835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void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move (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</a:rPr>
              <a:t>int n, 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char x, char y,</a:t>
            </a:r>
            <a:r>
              <a:rPr lang="en-US" altLang="zh-CN">
                <a:latin typeface="Arial" panose="020B0604020202020204" pitchFamily="34" charset="0"/>
              </a:rPr>
              <a:t> char z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484313" y="2251075"/>
            <a:ext cx="6265862" cy="15068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move(</a:t>
            </a:r>
            <a:r>
              <a:rPr lang="en-US" altLang="zh-CN" sz="2800">
                <a:solidFill>
                  <a:schemeClr val="folHlink"/>
                </a:solidFill>
              </a:rPr>
              <a:t> </a:t>
            </a:r>
            <a:r>
              <a:rPr lang="en-US" altLang="zh-CN" sz="2800"/>
              <a:t>n-1, </a:t>
            </a: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x, z,</a:t>
            </a:r>
            <a:r>
              <a:rPr lang="en-US" altLang="zh-CN" sz="2800"/>
              <a:t> y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);</a:t>
            </a:r>
            <a:endParaRPr lang="en-US" altLang="zh-CN" sz="320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moveone( x, y );</a:t>
            </a:r>
            <a:endParaRPr lang="en-US" altLang="zh-CN" sz="2800"/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move(</a:t>
            </a:r>
            <a:r>
              <a:rPr lang="en-US" altLang="zh-CN" sz="2800">
                <a:solidFill>
                  <a:schemeClr val="folHlink"/>
                </a:solidFill>
              </a:rPr>
              <a:t> </a:t>
            </a:r>
            <a:r>
              <a:rPr lang="en-US" altLang="zh-CN" sz="2800"/>
              <a:t>n-1, </a:t>
            </a: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z, y,</a:t>
            </a:r>
            <a:r>
              <a:rPr lang="en-US" altLang="zh-CN" sz="2800"/>
              <a:t> x</a:t>
            </a:r>
            <a:r>
              <a:rPr lang="en-US" altLang="zh-CN" sz="2800">
                <a:solidFill>
                  <a:schemeClr val="folHlink"/>
                </a:solidFill>
              </a:rPr>
              <a:t> </a:t>
            </a: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);</a:t>
            </a:r>
            <a:endParaRPr lang="en-US" altLang="zh-CN" sz="3200">
              <a:solidFill>
                <a:srgbClr val="F902FC"/>
              </a:solidFill>
              <a:latin typeface="Arial" panose="020B0604020202020204" pitchFamily="34" charset="0"/>
            </a:endParaRPr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0" y="1162050"/>
            <a:ext cx="11201400" cy="8915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考虑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move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函数（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n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片金片）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:</a:t>
            </a:r>
            <a:endParaRPr lang="en-US" altLang="zh-CN" sz="24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“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把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x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针上的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n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片金片，移动到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y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针上，移动过程中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z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针可用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”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可被</a:t>
            </a:r>
            <a:r>
              <a:rPr lang="zh-CN" altLang="en-US" sz="2800" dirty="0"/>
              <a:t>分解成：</a:t>
            </a:r>
            <a:endParaRPr lang="zh-CN" altLang="en-US" sz="2800" dirty="0"/>
          </a:p>
        </p:txBody>
      </p:sp>
      <p:pic>
        <p:nvPicPr>
          <p:cNvPr id="4813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9848" y="0"/>
            <a:ext cx="19812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7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7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7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bldLvl="0" animBg="1"/>
      <p:bldP spid="18438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6D3B090-2BA3-47CE-89E5-25DE68194A67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79234" name="Rectangle 2"/>
          <p:cNvSpPr>
            <a:spLocks noChangeArrowheads="1"/>
          </p:cNvSpPr>
          <p:nvPr/>
        </p:nvSpPr>
        <p:spPr bwMode="auto">
          <a:xfrm>
            <a:off x="268288" y="138113"/>
            <a:ext cx="6659562" cy="6683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</a:rPr>
              <a:t>void 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chemeClr val="hlink"/>
                </a:solidFill>
                <a:latin typeface="Arial" panose="020B0604020202020204" pitchFamily="34" charset="0"/>
              </a:rPr>
              <a:t>moveone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char u , char v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) {</a:t>
            </a:r>
            <a:endParaRPr lang="en-US" altLang="zh-CN" sz="24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     </a:t>
            </a:r>
            <a:r>
              <a:rPr lang="en-US" altLang="zh-CN" sz="2800" dirty="0" err="1">
                <a:latin typeface="Arial" panose="020B0604020202020204" pitchFamily="34" charset="0"/>
              </a:rPr>
              <a:t>printf</a:t>
            </a:r>
            <a:r>
              <a:rPr lang="en-US" altLang="zh-CN" sz="2800" dirty="0">
                <a:latin typeface="Arial" panose="020B0604020202020204" pitchFamily="34" charset="0"/>
              </a:rPr>
              <a:t> ("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%c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-&gt;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%c</a:t>
            </a:r>
            <a:r>
              <a:rPr lang="en-US" altLang="zh-CN" sz="2800" dirty="0">
                <a:latin typeface="Arial" panose="020B0604020202020204" pitchFamily="34" charset="0"/>
              </a:rPr>
              <a:t>\n",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u , v</a:t>
            </a:r>
            <a:r>
              <a:rPr lang="en-US" altLang="zh-CN" sz="2800" dirty="0">
                <a:latin typeface="Arial" panose="020B0604020202020204" pitchFamily="34" charset="0"/>
              </a:rPr>
              <a:t> 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}</a:t>
            </a:r>
            <a:endParaRPr lang="en-US" altLang="zh-CN" sz="1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</a:rPr>
              <a:t>void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 dirty="0">
                <a:solidFill>
                  <a:srgbClr val="F902FC"/>
                </a:solidFill>
                <a:latin typeface="Arial" panose="020B0604020202020204" pitchFamily="34" charset="0"/>
              </a:rPr>
              <a:t>move (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int n, char x, char y, char z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902FC"/>
                </a:solidFill>
                <a:latin typeface="Arial" panose="020B0604020202020204" pitchFamily="34" charset="0"/>
              </a:rPr>
              <a:t>) {</a:t>
            </a:r>
            <a:endParaRPr lang="en-US" altLang="zh-CN" sz="2400" dirty="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	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if  ( n&lt;=0 ) 	return;</a:t>
            </a:r>
            <a:endParaRPr lang="en-US" altLang="zh-CN" sz="2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move(</a:t>
            </a:r>
            <a:r>
              <a:rPr lang="en-US" altLang="zh-CN" sz="28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n-1,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x, z,</a:t>
            </a:r>
            <a:r>
              <a:rPr lang="en-US" altLang="zh-CN" sz="2800" dirty="0">
                <a:latin typeface="Arial" panose="020B0604020202020204" pitchFamily="34" charset="0"/>
              </a:rPr>
              <a:t> y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 );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 err="1">
                <a:solidFill>
                  <a:schemeClr val="hlink"/>
                </a:solidFill>
                <a:latin typeface="Arial" panose="020B0604020202020204" pitchFamily="34" charset="0"/>
              </a:rPr>
              <a:t>moveone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x, y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);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move(</a:t>
            </a:r>
            <a:r>
              <a:rPr lang="en-US" altLang="zh-CN" sz="28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n-1,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z, y,</a:t>
            </a:r>
            <a:r>
              <a:rPr lang="en-US" altLang="zh-CN" sz="2800" dirty="0">
                <a:latin typeface="Arial" panose="020B0604020202020204" pitchFamily="34" charset="0"/>
              </a:rPr>
              <a:t> x</a:t>
            </a:r>
            <a:r>
              <a:rPr lang="en-US" altLang="zh-CN" sz="28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);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F902FC"/>
                </a:solidFill>
                <a:latin typeface="Arial" panose="020B0604020202020204" pitchFamily="34" charset="0"/>
              </a:rPr>
              <a:t>}</a:t>
            </a:r>
            <a:endParaRPr lang="en-US" altLang="zh-CN" sz="2000" dirty="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int main( ) {</a:t>
            </a:r>
            <a:endParaRPr lang="en-US" altLang="zh-CN" sz="24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　　</a:t>
            </a:r>
            <a:r>
              <a:rPr lang="en-US" altLang="zh-CN" sz="2400" dirty="0">
                <a:latin typeface="Arial" panose="020B0604020202020204" pitchFamily="34" charset="0"/>
              </a:rPr>
              <a:t>int   n 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　　</a:t>
            </a:r>
            <a:r>
              <a:rPr lang="en-US" altLang="zh-CN" sz="2400" dirty="0" err="1">
                <a:latin typeface="Arial" panose="020B0604020202020204" pitchFamily="34" charset="0"/>
              </a:rPr>
              <a:t>printf</a:t>
            </a:r>
            <a:r>
              <a:rPr lang="en-US" altLang="zh-CN" sz="2400" dirty="0">
                <a:latin typeface="Arial" panose="020B0604020202020204" pitchFamily="34" charset="0"/>
              </a:rPr>
              <a:t>("please input n:");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</a:rPr>
              <a:t>scanf</a:t>
            </a:r>
            <a:r>
              <a:rPr lang="en-US" altLang="zh-CN" sz="2400" dirty="0">
                <a:latin typeface="Arial" panose="020B0604020202020204" pitchFamily="34" charset="0"/>
              </a:rPr>
              <a:t>("%d" , &amp;n );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   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move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 ( n ,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'a' , 'b' ,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 'c’ );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         return 0;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} 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479235" name="Rectangle 3"/>
          <p:cNvSpPr>
            <a:spLocks noChangeArrowheads="1"/>
          </p:cNvSpPr>
          <p:nvPr/>
        </p:nvSpPr>
        <p:spPr bwMode="auto">
          <a:xfrm>
            <a:off x="325438" y="6410325"/>
            <a:ext cx="86756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Aft>
                <a:spcPct val="5000"/>
              </a:spcAft>
              <a:buClr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执行 </a:t>
            </a:r>
            <a:r>
              <a:rPr lang="en-US" altLang="zh-CN" sz="2400">
                <a:latin typeface="Arial" panose="020B0604020202020204" pitchFamily="34" charset="0"/>
              </a:rPr>
              <a:t>Hanoi </a:t>
            </a:r>
            <a:r>
              <a:rPr lang="zh-CN" altLang="en-US" sz="2400">
                <a:latin typeface="Arial" panose="020B0604020202020204" pitchFamily="34" charset="0"/>
              </a:rPr>
              <a:t>程序时不要输入太大的 </a:t>
            </a:r>
            <a:r>
              <a:rPr lang="en-US" altLang="zh-CN" sz="2400">
                <a:latin typeface="Arial" panose="020B0604020202020204" pitchFamily="34" charset="0"/>
              </a:rPr>
              <a:t>n </a:t>
            </a:r>
            <a:r>
              <a:rPr lang="zh-CN" altLang="en-US" sz="2400">
                <a:latin typeface="Arial" panose="020B0604020202020204" pitchFamily="34" charset="0"/>
              </a:rPr>
              <a:t>，执行该程序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47923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400" y="3024188"/>
            <a:ext cx="3382963" cy="322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对话气泡: 圆角矩形 2"/>
          <p:cNvSpPr/>
          <p:nvPr/>
        </p:nvSpPr>
        <p:spPr bwMode="auto">
          <a:xfrm>
            <a:off x="5922963" y="722313"/>
            <a:ext cx="3906837" cy="587375"/>
          </a:xfrm>
          <a:prstGeom prst="wedgeRoundRectCallout">
            <a:avLst>
              <a:gd name="adj1" fmla="val -76601"/>
              <a:gd name="adj2" fmla="val 61132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无返回值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的递归函数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对话气泡: 矩形 1"/>
          <p:cNvSpPr>
            <a:spLocks noChangeArrowheads="1"/>
          </p:cNvSpPr>
          <p:nvPr/>
        </p:nvSpPr>
        <p:spPr bwMode="auto">
          <a:xfrm>
            <a:off x="4978400" y="1894205"/>
            <a:ext cx="3327400" cy="2284095"/>
          </a:xfrm>
          <a:prstGeom prst="wedgeRectCallout">
            <a:avLst>
              <a:gd name="adj1" fmla="val -61764"/>
              <a:gd name="adj2" fmla="val -4184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if(n&gt;0){</a:t>
            </a:r>
            <a:endParaRPr lang="en-US" altLang="zh-CN" sz="240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move( n-1, x, z, y );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moveone( x, y );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move( n-1, z, y, x );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}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9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9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9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9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7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79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79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7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5" grpId="0"/>
      <p:bldP spid="3" grpId="0" bldLvl="0" animBg="1"/>
      <p:bldP spid="2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49D2A18-E793-4DEC-8187-AB278D59E798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81282" name="Rectangle 2"/>
          <p:cNvSpPr>
            <a:spLocks noChangeArrowheads="1"/>
          </p:cNvSpPr>
          <p:nvPr/>
        </p:nvSpPr>
        <p:spPr bwMode="auto">
          <a:xfrm>
            <a:off x="155575" y="395288"/>
            <a:ext cx="5905500" cy="7921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按程序输出的移动顺序，实际移动。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9480550" y="1652588"/>
            <a:ext cx="1439863" cy="37687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a-&gt;b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a-&gt;c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b-&gt;c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a-&gt;b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c-&gt;a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c-&gt;b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a-&gt;b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2229" name="Rectangle 4"/>
          <p:cNvSpPr>
            <a:spLocks noChangeArrowheads="1"/>
          </p:cNvSpPr>
          <p:nvPr/>
        </p:nvSpPr>
        <p:spPr bwMode="auto">
          <a:xfrm>
            <a:off x="2063750" y="3860800"/>
            <a:ext cx="73453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      a                            b                        c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81285" name="Rectangle 5"/>
          <p:cNvSpPr>
            <a:spLocks noChangeArrowheads="1"/>
          </p:cNvSpPr>
          <p:nvPr/>
        </p:nvSpPr>
        <p:spPr bwMode="auto">
          <a:xfrm>
            <a:off x="2424113" y="3070225"/>
            <a:ext cx="1368425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86" name="Rectangle 6"/>
          <p:cNvSpPr>
            <a:spLocks noChangeArrowheads="1"/>
          </p:cNvSpPr>
          <p:nvPr/>
        </p:nvSpPr>
        <p:spPr bwMode="auto">
          <a:xfrm>
            <a:off x="2136775" y="3357563"/>
            <a:ext cx="1943100" cy="36036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87" name="Rectangle 7"/>
          <p:cNvSpPr>
            <a:spLocks noChangeArrowheads="1"/>
          </p:cNvSpPr>
          <p:nvPr/>
        </p:nvSpPr>
        <p:spPr bwMode="auto">
          <a:xfrm>
            <a:off x="2711450" y="2781300"/>
            <a:ext cx="720725" cy="287338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88" name="Rectangle 8"/>
          <p:cNvSpPr>
            <a:spLocks noChangeArrowheads="1"/>
          </p:cNvSpPr>
          <p:nvPr/>
        </p:nvSpPr>
        <p:spPr bwMode="auto">
          <a:xfrm>
            <a:off x="5160963" y="3430588"/>
            <a:ext cx="792162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89" name="Rectangle 9"/>
          <p:cNvSpPr>
            <a:spLocks noChangeArrowheads="1"/>
          </p:cNvSpPr>
          <p:nvPr/>
        </p:nvSpPr>
        <p:spPr bwMode="auto">
          <a:xfrm>
            <a:off x="6959600" y="3429000"/>
            <a:ext cx="1441450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0" name="Rectangle 10"/>
          <p:cNvSpPr>
            <a:spLocks noChangeArrowheads="1"/>
          </p:cNvSpPr>
          <p:nvPr/>
        </p:nvSpPr>
        <p:spPr bwMode="auto">
          <a:xfrm>
            <a:off x="7319963" y="3141663"/>
            <a:ext cx="720725" cy="28733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1" name="Rectangle 11"/>
          <p:cNvSpPr>
            <a:spLocks noChangeArrowheads="1"/>
          </p:cNvSpPr>
          <p:nvPr/>
        </p:nvSpPr>
        <p:spPr bwMode="auto">
          <a:xfrm>
            <a:off x="4584700" y="3430588"/>
            <a:ext cx="18716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2" name="Rectangle 12"/>
          <p:cNvSpPr>
            <a:spLocks noChangeArrowheads="1"/>
          </p:cNvSpPr>
          <p:nvPr/>
        </p:nvSpPr>
        <p:spPr bwMode="auto">
          <a:xfrm>
            <a:off x="2711450" y="3357563"/>
            <a:ext cx="649288" cy="36036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3" name="Rectangle 13"/>
          <p:cNvSpPr>
            <a:spLocks noChangeArrowheads="1"/>
          </p:cNvSpPr>
          <p:nvPr/>
        </p:nvSpPr>
        <p:spPr bwMode="auto">
          <a:xfrm>
            <a:off x="4872038" y="3141663"/>
            <a:ext cx="1296987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4" name="Rectangle 14"/>
          <p:cNvSpPr>
            <a:spLocks noChangeArrowheads="1"/>
          </p:cNvSpPr>
          <p:nvPr/>
        </p:nvSpPr>
        <p:spPr bwMode="auto">
          <a:xfrm>
            <a:off x="5160963" y="2854325"/>
            <a:ext cx="719137" cy="287338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5" name="Line 15"/>
          <p:cNvSpPr>
            <a:spLocks noChangeShapeType="1"/>
          </p:cNvSpPr>
          <p:nvPr/>
        </p:nvSpPr>
        <p:spPr bwMode="auto">
          <a:xfrm>
            <a:off x="1668463" y="3717925"/>
            <a:ext cx="73088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6" name="Line 16"/>
          <p:cNvSpPr>
            <a:spLocks noChangeShapeType="1"/>
          </p:cNvSpPr>
          <p:nvPr/>
        </p:nvSpPr>
        <p:spPr bwMode="auto">
          <a:xfrm flipV="1">
            <a:off x="3071813" y="2422525"/>
            <a:ext cx="1587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7" name="Line 17"/>
          <p:cNvSpPr>
            <a:spLocks noChangeShapeType="1"/>
          </p:cNvSpPr>
          <p:nvPr/>
        </p:nvSpPr>
        <p:spPr bwMode="auto">
          <a:xfrm flipV="1">
            <a:off x="5521325" y="2422525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8" name="Line 18"/>
          <p:cNvSpPr>
            <a:spLocks noChangeShapeType="1"/>
          </p:cNvSpPr>
          <p:nvPr/>
        </p:nvSpPr>
        <p:spPr bwMode="auto">
          <a:xfrm flipV="1">
            <a:off x="7680325" y="2420938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244" name="矩形 1"/>
          <p:cNvSpPr>
            <a:spLocks noChangeArrowheads="1"/>
          </p:cNvSpPr>
          <p:nvPr/>
        </p:nvSpPr>
        <p:spPr bwMode="auto">
          <a:xfrm>
            <a:off x="2819400" y="4795203"/>
            <a:ext cx="4564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move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( 3 ,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 'a' , 'b' ,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 'c’ );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1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81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5" grpId="0" bldLvl="0" animBg="1"/>
      <p:bldP spid="481286" grpId="0" bldLvl="0" animBg="1"/>
      <p:bldP spid="481287" grpId="0" bldLvl="0" animBg="1"/>
      <p:bldP spid="481288" grpId="0" bldLvl="0" animBg="1"/>
      <p:bldP spid="481288" grpId="1" bldLvl="0" animBg="1"/>
      <p:bldP spid="481289" grpId="0" bldLvl="0" animBg="1"/>
      <p:bldP spid="481289" grpId="1" bldLvl="0" animBg="1"/>
      <p:bldP spid="481290" grpId="0" bldLvl="0" animBg="1"/>
      <p:bldP spid="481290" grpId="1" bldLvl="0" animBg="1"/>
      <p:bldP spid="481291" grpId="0" bldLvl="0" animBg="1"/>
      <p:bldP spid="481292" grpId="0" bldLvl="0" animBg="1"/>
      <p:bldP spid="481292" grpId="1" bldLvl="0" animBg="1"/>
      <p:bldP spid="481293" grpId="0" bldLvl="0" animBg="1"/>
      <p:bldP spid="481294" grpId="0" bldLvl="0" animBg="1"/>
    </p:bldLst>
  </p:timing>
</p:sld>
</file>

<file path=ppt/tags/tag1.xml><?xml version="1.0" encoding="utf-8"?>
<p:tagLst xmlns:p="http://schemas.openxmlformats.org/presentationml/2006/main">
  <p:tag name="TIMING" val="|4.3"/>
</p:tagLst>
</file>

<file path=ppt/tags/tag2.xml><?xml version="1.0" encoding="utf-8"?>
<p:tagLst xmlns:p="http://schemas.openxmlformats.org/presentationml/2006/main">
  <p:tag name="TIMING" val="|0"/>
</p:tagLst>
</file>

<file path=ppt/tags/tag3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4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5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6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7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8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9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0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1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2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3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4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5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6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7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8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19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0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1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2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3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4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5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6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7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8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29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0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1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2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3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4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5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6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7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8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39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40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41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ags/tag42.xml><?xml version="1.0" encoding="utf-8"?>
<p:tagLst xmlns:p="http://schemas.openxmlformats.org/presentationml/2006/main">
  <p:tag name="KSO_WM_DIAGRAM_VIRTUALLY_FRAME" val="{&quot;height&quot;:164.5,&quot;left&quot;:120,&quot;top&quot;:359,&quot;width&quot;:734.25}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4899</Words>
  <Application>WPS 演示</Application>
  <PresentationFormat>宽屏</PresentationFormat>
  <Paragraphs>537</Paragraphs>
  <Slides>20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Tahoma</vt:lpstr>
      <vt:lpstr>Times New Roman</vt:lpstr>
      <vt:lpstr>华文隶书</vt:lpstr>
      <vt:lpstr>微软雅黑</vt:lpstr>
      <vt:lpstr>Arial</vt:lpstr>
      <vt:lpstr>Wingdings</vt:lpstr>
      <vt:lpstr>Verdana</vt:lpstr>
      <vt:lpstr>隶书</vt:lpstr>
      <vt:lpstr>Courier New</vt:lpstr>
      <vt:lpstr>Arial Unicode MS</vt:lpstr>
      <vt:lpstr>等线</vt:lpstr>
      <vt:lpstr>1_Slit</vt:lpstr>
      <vt:lpstr>Equation.3</vt:lpstr>
      <vt:lpstr>Equation.3</vt:lpstr>
      <vt:lpstr>第10章 递归程序设计</vt:lpstr>
      <vt:lpstr>§10.1 计算n!——递归程序设计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递归程序设计的关键：</vt:lpstr>
      <vt:lpstr>【比较】递归与循环</vt:lpstr>
      <vt:lpstr>PowerPoint 演示文稿</vt:lpstr>
      <vt:lpstr>【例10.2】 n 次勒让德多项式(n&gt;=0)</vt:lpstr>
      <vt:lpstr>PowerPoint 演示文稿</vt:lpstr>
      <vt:lpstr>PowerPoint 演示文稿</vt:lpstr>
      <vt:lpstr>PowerPoint 演示文稿</vt:lpstr>
      <vt:lpstr>【课后实践】折半检索</vt:lpstr>
      <vt:lpstr>【例10.3】汉诺（ Hanoi ）塔游戏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773</cp:revision>
  <dcterms:created xsi:type="dcterms:W3CDTF">2019-09-21T08:05:00Z</dcterms:created>
  <dcterms:modified xsi:type="dcterms:W3CDTF">2025-11-11T14:13:04Z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9867D0F249554107A91C713E44F69F26_12</vt:lpwstr>
  </property>
</Properties>
</file>