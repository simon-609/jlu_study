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  <p:sldMasterId id="2147483721" r:id="rId5"/>
  </p:sldMasterIdLst>
  <p:sldIdLst>
    <p:sldId id="269" r:id="rId6"/>
    <p:sldId id="270" r:id="rId7"/>
    <p:sldId id="257" r:id="rId8"/>
    <p:sldId id="263" r:id="rId9"/>
    <p:sldId id="264" r:id="rId10"/>
    <p:sldId id="265" r:id="rId11"/>
    <p:sldId id="258" r:id="rId12"/>
    <p:sldId id="268" r:id="rId13"/>
    <p:sldId id="271" r:id="rId14"/>
    <p:sldId id="260" r:id="rId15"/>
    <p:sldId id="261" r:id="rId16"/>
    <p:sldId id="262" r:id="rId17"/>
    <p:sldId id="273" r:id="rId18"/>
    <p:sldId id="274" r:id="rId19"/>
    <p:sldId id="266" r:id="rId20"/>
    <p:sldId id="267" r:id="rId21"/>
    <p:sldId id="272" r:id="rId22"/>
    <p:sldId id="259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40 w 1722"/>
                <a:gd name="T1" fmla="*/ 33 h 66"/>
                <a:gd name="T2" fmla="*/ 1640 w 1722"/>
                <a:gd name="T3" fmla="*/ 33 h 66"/>
                <a:gd name="T4" fmla="*/ 0 w 1722"/>
                <a:gd name="T5" fmla="*/ 0 h 66"/>
                <a:gd name="T6" fmla="*/ 0 w 1722"/>
                <a:gd name="T7" fmla="*/ 33 h 66"/>
                <a:gd name="T8" fmla="*/ 1640 w 1722"/>
                <a:gd name="T9" fmla="*/ 33 h 66"/>
                <a:gd name="T10" fmla="*/ 1640 w 1722"/>
                <a:gd name="T11" fmla="*/ 3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34 w 975"/>
                <a:gd name="T1" fmla="*/ 48 h 101"/>
                <a:gd name="T2" fmla="*/ 934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34 w 975"/>
                <a:gd name="T9" fmla="*/ 48 h 101"/>
                <a:gd name="T10" fmla="*/ 934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05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059 w 2141"/>
                <a:gd name="T7" fmla="*/ 0 h 198"/>
                <a:gd name="T8" fmla="*/ 205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071 w 2517"/>
                <a:gd name="T1" fmla="*/ 276 h 276"/>
                <a:gd name="T2" fmla="*/ 2394 w 2517"/>
                <a:gd name="T3" fmla="*/ 204 h 276"/>
                <a:gd name="T4" fmla="*/ 2137 w 2517"/>
                <a:gd name="T5" fmla="*/ 0 h 276"/>
                <a:gd name="T6" fmla="*/ 0 w 2517"/>
                <a:gd name="T7" fmla="*/ 276 h 276"/>
                <a:gd name="T8" fmla="*/ 2071 w 2517"/>
                <a:gd name="T9" fmla="*/ 276 h 276"/>
                <a:gd name="T10" fmla="*/ 2071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688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688 w 729"/>
                <a:gd name="T7" fmla="*/ 240 h 240"/>
                <a:gd name="T8" fmla="*/ 688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688 w 729"/>
                <a:gd name="T1" fmla="*/ 318 h 318"/>
                <a:gd name="T2" fmla="*/ 688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688 w 729"/>
                <a:gd name="T9" fmla="*/ 318 h 318"/>
                <a:gd name="T10" fmla="*/ 688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71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745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1745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A220E90-0392-4909-861D-123036A59F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8989998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F7F9898-006D-468F-97FC-D77146EB22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394095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A89B65-D917-4012-A646-C29ABA022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018938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5582E94-BBEC-4FA7-BA77-AB30833DF7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9986035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7C750CC-79B4-47CD-B13E-811FB08FC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134517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410BDFF-E0E2-473B-AC6F-1776AE414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6373399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5DD7955-970E-4FFB-BFE7-EBCE48C480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9803563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98B0389-F906-4459-B874-1238F0B8F6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922305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A3EEBD6-8185-4325-B704-5B0ADF1F25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36593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00DD8E1-C617-4216-B518-A7E58FD0C5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59932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87FB497-0437-47F6-B968-B68B886F1B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4540747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40 w 1722"/>
                <a:gd name="T1" fmla="*/ 33 h 66"/>
                <a:gd name="T2" fmla="*/ 1640 w 1722"/>
                <a:gd name="T3" fmla="*/ 33 h 66"/>
                <a:gd name="T4" fmla="*/ 0 w 1722"/>
                <a:gd name="T5" fmla="*/ 0 h 66"/>
                <a:gd name="T6" fmla="*/ 0 w 1722"/>
                <a:gd name="T7" fmla="*/ 33 h 66"/>
                <a:gd name="T8" fmla="*/ 1640 w 1722"/>
                <a:gd name="T9" fmla="*/ 33 h 66"/>
                <a:gd name="T10" fmla="*/ 1640 w 1722"/>
                <a:gd name="T11" fmla="*/ 3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34 w 975"/>
                <a:gd name="T1" fmla="*/ 48 h 101"/>
                <a:gd name="T2" fmla="*/ 934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34 w 975"/>
                <a:gd name="T9" fmla="*/ 48 h 101"/>
                <a:gd name="T10" fmla="*/ 934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05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059 w 2141"/>
                <a:gd name="T7" fmla="*/ 0 h 198"/>
                <a:gd name="T8" fmla="*/ 205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071 w 2517"/>
                <a:gd name="T1" fmla="*/ 276 h 276"/>
                <a:gd name="T2" fmla="*/ 2394 w 2517"/>
                <a:gd name="T3" fmla="*/ 204 h 276"/>
                <a:gd name="T4" fmla="*/ 2137 w 2517"/>
                <a:gd name="T5" fmla="*/ 0 h 276"/>
                <a:gd name="T6" fmla="*/ 0 w 2517"/>
                <a:gd name="T7" fmla="*/ 276 h 276"/>
                <a:gd name="T8" fmla="*/ 2071 w 2517"/>
                <a:gd name="T9" fmla="*/ 276 h 276"/>
                <a:gd name="T10" fmla="*/ 2071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688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688 w 729"/>
                <a:gd name="T7" fmla="*/ 240 h 240"/>
                <a:gd name="T8" fmla="*/ 688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688 w 729"/>
                <a:gd name="T1" fmla="*/ 318 h 318"/>
                <a:gd name="T2" fmla="*/ 688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688 w 729"/>
                <a:gd name="T9" fmla="*/ 318 h 318"/>
                <a:gd name="T10" fmla="*/ 688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71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745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1745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A220E90-0392-4909-861D-123036A59F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1376978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F7F9898-006D-468F-97FC-D77146EB22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7327607"/>
      </p:ext>
    </p:extLst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A89B65-D917-4012-A646-C29ABA022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3793594"/>
      </p:ext>
    </p:extLst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5582E94-BBEC-4FA7-BA77-AB30833DF7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2671576"/>
      </p:ext>
    </p:extLst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7C750CC-79B4-47CD-B13E-811FB08FC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2244215"/>
      </p:ext>
    </p:extLst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410BDFF-E0E2-473B-AC6F-1776AE414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3623183"/>
      </p:ext>
    </p:extLst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5DD7955-970E-4FFB-BFE7-EBCE48C480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42781"/>
      </p:ext>
    </p:extLst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98B0389-F906-4459-B874-1238F0B8F6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9222928"/>
      </p:ext>
    </p:extLst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A3EEBD6-8185-4325-B704-5B0ADF1F25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4269672"/>
      </p:ext>
    </p:extLst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00DD8E1-C617-4216-B518-A7E58FD0C5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2454867"/>
      </p:ext>
    </p:extLst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87FB497-0437-47F6-B968-B68B886F1B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4551151"/>
      </p:ext>
    </p:extLst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40 w 1722"/>
                <a:gd name="T1" fmla="*/ 33 h 66"/>
                <a:gd name="T2" fmla="*/ 1640 w 1722"/>
                <a:gd name="T3" fmla="*/ 33 h 66"/>
                <a:gd name="T4" fmla="*/ 0 w 1722"/>
                <a:gd name="T5" fmla="*/ 0 h 66"/>
                <a:gd name="T6" fmla="*/ 0 w 1722"/>
                <a:gd name="T7" fmla="*/ 33 h 66"/>
                <a:gd name="T8" fmla="*/ 1640 w 1722"/>
                <a:gd name="T9" fmla="*/ 33 h 66"/>
                <a:gd name="T10" fmla="*/ 1640 w 1722"/>
                <a:gd name="T11" fmla="*/ 3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34 w 975"/>
                <a:gd name="T1" fmla="*/ 48 h 101"/>
                <a:gd name="T2" fmla="*/ 934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34 w 975"/>
                <a:gd name="T9" fmla="*/ 48 h 101"/>
                <a:gd name="T10" fmla="*/ 934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05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059 w 2141"/>
                <a:gd name="T7" fmla="*/ 0 h 198"/>
                <a:gd name="T8" fmla="*/ 205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071 w 2517"/>
                <a:gd name="T1" fmla="*/ 276 h 276"/>
                <a:gd name="T2" fmla="*/ 2394 w 2517"/>
                <a:gd name="T3" fmla="*/ 204 h 276"/>
                <a:gd name="T4" fmla="*/ 2137 w 2517"/>
                <a:gd name="T5" fmla="*/ 0 h 276"/>
                <a:gd name="T6" fmla="*/ 0 w 2517"/>
                <a:gd name="T7" fmla="*/ 276 h 276"/>
                <a:gd name="T8" fmla="*/ 2071 w 2517"/>
                <a:gd name="T9" fmla="*/ 276 h 276"/>
                <a:gd name="T10" fmla="*/ 2071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688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688 w 729"/>
                <a:gd name="T7" fmla="*/ 240 h 240"/>
                <a:gd name="T8" fmla="*/ 688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688 w 729"/>
                <a:gd name="T1" fmla="*/ 318 h 318"/>
                <a:gd name="T2" fmla="*/ 688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688 w 729"/>
                <a:gd name="T9" fmla="*/ 318 h 318"/>
                <a:gd name="T10" fmla="*/ 688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71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745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1745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A220E90-0392-4909-861D-123036A59F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8053244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F7F9898-006D-468F-97FC-D77146EB22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454121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CA89B65-D917-4012-A646-C29ABA022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0553521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5582E94-BBEC-4FA7-BA77-AB30833DF7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111384"/>
      </p:ext>
    </p:extLst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7C750CC-79B4-47CD-B13E-811FB08FC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3376708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410BDFF-E0E2-473B-AC6F-1776AE414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1032559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5DD7955-970E-4FFB-BFE7-EBCE48C480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6222617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98B0389-F906-4459-B874-1238F0B8F6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860779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A3EEBD6-8185-4325-B704-5B0ADF1F25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9194232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00DD8E1-C617-4216-B518-A7E58FD0C5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7834242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87FB497-0437-47F6-B968-B68B886F1B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811589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0" y="-14288"/>
            <a:ext cx="9155113" cy="6884988"/>
            <a:chOff x="0" y="-9"/>
            <a:chExt cx="5767" cy="4337"/>
          </a:xfrm>
        </p:grpSpPr>
        <p:sp>
          <p:nvSpPr>
            <p:cNvPr id="5" name="Freeform 4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478 h 4320"/>
                <a:gd name="T2" fmla="*/ 1737 w 1737"/>
                <a:gd name="T3" fmla="*/ 448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7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426 h 4320"/>
                <a:gd name="T2" fmla="*/ 1737 w 1737"/>
                <a:gd name="T3" fmla="*/ 4437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26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3379 h 4420"/>
                <a:gd name="T2" fmla="*/ 1739 w 1739"/>
                <a:gd name="T3" fmla="*/ 3383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3379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157 h 4338"/>
                <a:gd name="T4" fmla="*/ 2080 w 2080"/>
                <a:gd name="T5" fmla="*/ 4157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5" name="Freeform 17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7" name="Freeform 20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8" name="Freeform 21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8" name="Freeform 34"/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32" name="Rectangle 45"/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3" name="Rectangle 46"/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pic>
          <p:nvPicPr>
            <p:cNvPr id="34" name="Picture 43" descr="BTZBUL1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30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1676400" y="1905000"/>
            <a:ext cx="7239000" cy="1905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231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4572000"/>
            <a:ext cx="6400800" cy="1679575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5" name="Rectangle 40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6" name="Rectangle 4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4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A3C7C-9E7A-47A0-8E53-FC203A9458AA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630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9FEE2-A3D6-480C-926A-0C965DC7A5EE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4082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9F138-05D8-498B-860A-F59EC3465996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4674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DF926-6793-44FE-A0E5-993E7C06E74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3257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FC935-199B-4E58-A732-568FE979253A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0692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EBC5-E75F-4D98-ACB4-25DCAB04374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974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19CB4-A6EE-4D20-8940-B34A8AD9B274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311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DD4D46-57A0-48A2-A4AF-D230A2406DC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45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6D4FD-5754-4B1B-AC4A-75F39F590BAD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497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3246A-47E8-4F6E-8604-C96DCA7EFCFF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369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22098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304800"/>
            <a:ext cx="64770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E5303-DEEE-4C92-B761-7A2367D6A638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57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BDBE2-FD42-40AC-A5A8-FB7BFB1B804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9007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0" y="-14288"/>
            <a:ext cx="9155113" cy="6884988"/>
            <a:chOff x="0" y="-9"/>
            <a:chExt cx="5767" cy="4337"/>
          </a:xfrm>
        </p:grpSpPr>
        <p:sp>
          <p:nvSpPr>
            <p:cNvPr id="5" name="Freeform 4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478 h 4320"/>
                <a:gd name="T2" fmla="*/ 1737 w 1737"/>
                <a:gd name="T3" fmla="*/ 448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7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426 h 4320"/>
                <a:gd name="T2" fmla="*/ 1737 w 1737"/>
                <a:gd name="T3" fmla="*/ 4437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26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3379 h 4420"/>
                <a:gd name="T2" fmla="*/ 1739 w 1739"/>
                <a:gd name="T3" fmla="*/ 3383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3379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157 h 4338"/>
                <a:gd name="T4" fmla="*/ 2080 w 2080"/>
                <a:gd name="T5" fmla="*/ 4157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2" name="Freeform 14"/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5" name="Freeform 17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7" name="Freeform 20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8" name="Freeform 21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8" name="Freeform 34"/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32" name="Rectangle 45"/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3" name="Rectangle 46"/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pic>
          <p:nvPicPr>
            <p:cNvPr id="34" name="Picture 43" descr="BTZBUL1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230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1676400" y="1905000"/>
            <a:ext cx="7239000" cy="1905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231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4572000"/>
            <a:ext cx="6400800" cy="1679575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5" name="Rectangle 40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6" name="Rectangle 4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4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A3C7C-9E7A-47A0-8E53-FC203A9458AA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2136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9FEE2-A3D6-480C-926A-0C965DC7A5EE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646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9F138-05D8-498B-860A-F59EC3465996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9018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DF926-6793-44FE-A0E5-993E7C06E74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1802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FC935-199B-4E58-A732-568FE979253A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5544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EBC5-E75F-4D98-ACB4-25DCAB04374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2154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19CB4-A6EE-4D20-8940-B34A8AD9B274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059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DD4D46-57A0-48A2-A4AF-D230A2406DC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786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6D4FD-5754-4B1B-AC4A-75F39F590BAD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4226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3246A-47E8-4F6E-8604-C96DCA7EFCFF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96049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22098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304800"/>
            <a:ext cx="64770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E5303-DEEE-4C92-B761-7A2367D6A638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2716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343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BDBE2-FD42-40AC-A5A8-FB7BFB1B804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4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6387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88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89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3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40 w 1722"/>
                <a:gd name="T1" fmla="*/ 33 h 66"/>
                <a:gd name="T2" fmla="*/ 1640 w 1722"/>
                <a:gd name="T3" fmla="*/ 33 h 66"/>
                <a:gd name="T4" fmla="*/ 0 w 1722"/>
                <a:gd name="T5" fmla="*/ 0 h 66"/>
                <a:gd name="T6" fmla="*/ 0 w 1722"/>
                <a:gd name="T7" fmla="*/ 33 h 66"/>
                <a:gd name="T8" fmla="*/ 1640 w 1722"/>
                <a:gd name="T9" fmla="*/ 33 h 66"/>
                <a:gd name="T10" fmla="*/ 1640 w 1722"/>
                <a:gd name="T11" fmla="*/ 3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1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5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34 w 975"/>
                <a:gd name="T1" fmla="*/ 48 h 101"/>
                <a:gd name="T2" fmla="*/ 934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34 w 975"/>
                <a:gd name="T9" fmla="*/ 48 h 101"/>
                <a:gd name="T10" fmla="*/ 934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6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05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059 w 2141"/>
                <a:gd name="T7" fmla="*/ 0 h 198"/>
                <a:gd name="T8" fmla="*/ 205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4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8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071 w 2517"/>
                <a:gd name="T1" fmla="*/ 276 h 276"/>
                <a:gd name="T2" fmla="*/ 2394 w 2517"/>
                <a:gd name="T3" fmla="*/ 204 h 276"/>
                <a:gd name="T4" fmla="*/ 2137 w 2517"/>
                <a:gd name="T5" fmla="*/ 0 h 276"/>
                <a:gd name="T6" fmla="*/ 0 w 2517"/>
                <a:gd name="T7" fmla="*/ 276 h 276"/>
                <a:gd name="T8" fmla="*/ 2071 w 2517"/>
                <a:gd name="T9" fmla="*/ 276 h 276"/>
                <a:gd name="T10" fmla="*/ 2071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6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0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688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688 w 729"/>
                <a:gd name="T7" fmla="*/ 240 h 240"/>
                <a:gd name="T8" fmla="*/ 688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8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2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688 w 729"/>
                <a:gd name="T1" fmla="*/ 318 h 318"/>
                <a:gd name="T2" fmla="*/ 688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688 w 729"/>
                <a:gd name="T9" fmla="*/ 318 h 318"/>
                <a:gd name="T10" fmla="*/ 688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0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1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2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6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4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8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6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7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8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2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0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1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5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71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3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7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5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6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7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8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9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0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1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2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3116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6424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425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6426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64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6428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6429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643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A72EE4-0DBD-499F-8BBC-BB7C8C661483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44003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random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6387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88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89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3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40 w 1722"/>
                <a:gd name="T1" fmla="*/ 33 h 66"/>
                <a:gd name="T2" fmla="*/ 1640 w 1722"/>
                <a:gd name="T3" fmla="*/ 33 h 66"/>
                <a:gd name="T4" fmla="*/ 0 w 1722"/>
                <a:gd name="T5" fmla="*/ 0 h 66"/>
                <a:gd name="T6" fmla="*/ 0 w 1722"/>
                <a:gd name="T7" fmla="*/ 33 h 66"/>
                <a:gd name="T8" fmla="*/ 1640 w 1722"/>
                <a:gd name="T9" fmla="*/ 33 h 66"/>
                <a:gd name="T10" fmla="*/ 1640 w 1722"/>
                <a:gd name="T11" fmla="*/ 3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1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5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34 w 975"/>
                <a:gd name="T1" fmla="*/ 48 h 101"/>
                <a:gd name="T2" fmla="*/ 934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34 w 975"/>
                <a:gd name="T9" fmla="*/ 48 h 101"/>
                <a:gd name="T10" fmla="*/ 934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6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05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059 w 2141"/>
                <a:gd name="T7" fmla="*/ 0 h 198"/>
                <a:gd name="T8" fmla="*/ 205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4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8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071 w 2517"/>
                <a:gd name="T1" fmla="*/ 276 h 276"/>
                <a:gd name="T2" fmla="*/ 2394 w 2517"/>
                <a:gd name="T3" fmla="*/ 204 h 276"/>
                <a:gd name="T4" fmla="*/ 2137 w 2517"/>
                <a:gd name="T5" fmla="*/ 0 h 276"/>
                <a:gd name="T6" fmla="*/ 0 w 2517"/>
                <a:gd name="T7" fmla="*/ 276 h 276"/>
                <a:gd name="T8" fmla="*/ 2071 w 2517"/>
                <a:gd name="T9" fmla="*/ 276 h 276"/>
                <a:gd name="T10" fmla="*/ 2071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6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0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688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688 w 729"/>
                <a:gd name="T7" fmla="*/ 240 h 240"/>
                <a:gd name="T8" fmla="*/ 688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8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2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688 w 729"/>
                <a:gd name="T1" fmla="*/ 318 h 318"/>
                <a:gd name="T2" fmla="*/ 688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688 w 729"/>
                <a:gd name="T9" fmla="*/ 318 h 318"/>
                <a:gd name="T10" fmla="*/ 688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0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1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2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6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4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8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6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7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8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2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0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1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5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71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3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7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5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6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7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8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9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0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1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2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3116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6424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425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6426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64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6428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6429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643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A72EE4-0DBD-499F-8BBC-BB7C8C661483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60198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random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6387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88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389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3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640 w 1722"/>
                <a:gd name="T1" fmla="*/ 33 h 66"/>
                <a:gd name="T2" fmla="*/ 1640 w 1722"/>
                <a:gd name="T3" fmla="*/ 33 h 66"/>
                <a:gd name="T4" fmla="*/ 0 w 1722"/>
                <a:gd name="T5" fmla="*/ 0 h 66"/>
                <a:gd name="T6" fmla="*/ 0 w 1722"/>
                <a:gd name="T7" fmla="*/ 33 h 66"/>
                <a:gd name="T8" fmla="*/ 1640 w 1722"/>
                <a:gd name="T9" fmla="*/ 33 h 66"/>
                <a:gd name="T10" fmla="*/ 1640 w 1722"/>
                <a:gd name="T11" fmla="*/ 33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1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5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34 w 975"/>
                <a:gd name="T1" fmla="*/ 48 h 101"/>
                <a:gd name="T2" fmla="*/ 934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34 w 975"/>
                <a:gd name="T9" fmla="*/ 48 h 101"/>
                <a:gd name="T10" fmla="*/ 934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6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05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059 w 2141"/>
                <a:gd name="T7" fmla="*/ 0 h 198"/>
                <a:gd name="T8" fmla="*/ 205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4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88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071 w 2517"/>
                <a:gd name="T1" fmla="*/ 276 h 276"/>
                <a:gd name="T2" fmla="*/ 2394 w 2517"/>
                <a:gd name="T3" fmla="*/ 204 h 276"/>
                <a:gd name="T4" fmla="*/ 2137 w 2517"/>
                <a:gd name="T5" fmla="*/ 0 h 276"/>
                <a:gd name="T6" fmla="*/ 0 w 2517"/>
                <a:gd name="T7" fmla="*/ 276 h 276"/>
                <a:gd name="T8" fmla="*/ 2071 w 2517"/>
                <a:gd name="T9" fmla="*/ 276 h 276"/>
                <a:gd name="T10" fmla="*/ 2071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6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0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688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688 w 729"/>
                <a:gd name="T7" fmla="*/ 240 h 240"/>
                <a:gd name="T8" fmla="*/ 688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398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2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688 w 729"/>
                <a:gd name="T1" fmla="*/ 318 h 318"/>
                <a:gd name="T2" fmla="*/ 688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688 w 729"/>
                <a:gd name="T9" fmla="*/ 318 h 318"/>
                <a:gd name="T10" fmla="*/ 688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0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1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2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6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4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098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6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7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08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2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0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1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5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271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3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107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5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6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7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8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9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0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1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2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3116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6424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425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6426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64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6428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6429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643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A72EE4-0DBD-499F-8BBC-BB7C8C661483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095854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random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CC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9"/>
          <p:cNvGrpSpPr>
            <a:grpSpLocks/>
          </p:cNvGrpSpPr>
          <p:nvPr/>
        </p:nvGrpSpPr>
        <p:grpSpPr bwMode="auto">
          <a:xfrm>
            <a:off x="0" y="0"/>
            <a:ext cx="9144000" cy="7405688"/>
            <a:chOff x="0" y="-9"/>
            <a:chExt cx="5760" cy="4665"/>
          </a:xfrm>
        </p:grpSpPr>
        <p:sp>
          <p:nvSpPr>
            <p:cNvPr id="1032" name="Freeform 8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478 h 4320"/>
                <a:gd name="T2" fmla="*/ 1737 w 1737"/>
                <a:gd name="T3" fmla="*/ 448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7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426 h 4320"/>
                <a:gd name="T2" fmla="*/ 1737 w 1737"/>
                <a:gd name="T3" fmla="*/ 4437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26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3379 h 4420"/>
                <a:gd name="T2" fmla="*/ 1739 w 1739"/>
                <a:gd name="T3" fmla="*/ 3383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3379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157 h 4338"/>
                <a:gd name="T4" fmla="*/ 2080 w 2080"/>
                <a:gd name="T5" fmla="*/ 4157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4" name="Freeform 20"/>
            <p:cNvSpPr>
              <a:spLocks/>
            </p:cNvSpPr>
            <p:nvPr userDrawn="1"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" name="Rectangle 25"/>
            <p:cNvSpPr>
              <a:spLocks noChangeArrowheads="1"/>
            </p:cNvSpPr>
            <p:nvPr/>
          </p:nvSpPr>
          <p:spPr bwMode="hidden">
            <a:xfrm>
              <a:off x="0" y="3910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" name="Freeform 27"/>
            <p:cNvSpPr>
              <a:spLocks/>
            </p:cNvSpPr>
            <p:nvPr/>
          </p:nvSpPr>
          <p:spPr bwMode="hidden">
            <a:xfrm>
              <a:off x="1632" y="3956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4" name="Freeform 28"/>
            <p:cNvSpPr>
              <a:spLocks/>
            </p:cNvSpPr>
            <p:nvPr/>
          </p:nvSpPr>
          <p:spPr bwMode="hidden">
            <a:xfrm>
              <a:off x="0" y="3956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5" name="Freeform 29"/>
            <p:cNvSpPr>
              <a:spLocks/>
            </p:cNvSpPr>
            <p:nvPr/>
          </p:nvSpPr>
          <p:spPr bwMode="hidden">
            <a:xfrm>
              <a:off x="3744" y="3956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30"/>
            <p:cNvSpPr>
              <a:spLocks/>
            </p:cNvSpPr>
            <p:nvPr/>
          </p:nvSpPr>
          <p:spPr bwMode="hidden">
            <a:xfrm>
              <a:off x="1920" y="3956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8" name="Rectangle 34"/>
            <p:cNvSpPr>
              <a:spLocks noChangeArrowheads="1"/>
            </p:cNvSpPr>
            <p:nvPr/>
          </p:nvSpPr>
          <p:spPr bwMode="hidden">
            <a:xfrm>
              <a:off x="0" y="3905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059" name="Freeform 35"/>
            <p:cNvSpPr>
              <a:spLocks/>
            </p:cNvSpPr>
            <p:nvPr/>
          </p:nvSpPr>
          <p:spPr bwMode="hidden">
            <a:xfrm>
              <a:off x="2583" y="3918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0" name="Freeform 36"/>
            <p:cNvSpPr>
              <a:spLocks/>
            </p:cNvSpPr>
            <p:nvPr/>
          </p:nvSpPr>
          <p:spPr bwMode="hidden">
            <a:xfrm rot="18897039" flipH="1">
              <a:off x="148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1" name="Freeform 37"/>
            <p:cNvSpPr>
              <a:spLocks/>
            </p:cNvSpPr>
            <p:nvPr/>
          </p:nvSpPr>
          <p:spPr bwMode="hidden">
            <a:xfrm rot="18897039" flipH="1">
              <a:off x="76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2" name="Freeform 38"/>
            <p:cNvSpPr>
              <a:spLocks/>
            </p:cNvSpPr>
            <p:nvPr/>
          </p:nvSpPr>
          <p:spPr bwMode="hidden">
            <a:xfrm rot="18897039" flipH="1">
              <a:off x="31" y="3854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3" name="Freeform 39"/>
            <p:cNvSpPr>
              <a:spLocks/>
            </p:cNvSpPr>
            <p:nvPr/>
          </p:nvSpPr>
          <p:spPr bwMode="hidden">
            <a:xfrm flipH="1" flipV="1">
              <a:off x="576" y="3910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4" name="Freeform 40"/>
            <p:cNvSpPr>
              <a:spLocks/>
            </p:cNvSpPr>
            <p:nvPr/>
          </p:nvSpPr>
          <p:spPr bwMode="hidden">
            <a:xfrm flipH="1" flipV="1">
              <a:off x="240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5" name="Freeform 41"/>
            <p:cNvSpPr>
              <a:spLocks/>
            </p:cNvSpPr>
            <p:nvPr/>
          </p:nvSpPr>
          <p:spPr bwMode="hidden">
            <a:xfrm flipH="1" flipV="1">
              <a:off x="3036" y="3958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6" name="Freeform 42"/>
            <p:cNvSpPr>
              <a:spLocks/>
            </p:cNvSpPr>
            <p:nvPr/>
          </p:nvSpPr>
          <p:spPr bwMode="hidden">
            <a:xfrm flipH="1" flipV="1">
              <a:off x="3984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7" name="Freeform 43"/>
            <p:cNvSpPr>
              <a:spLocks/>
            </p:cNvSpPr>
            <p:nvPr/>
          </p:nvSpPr>
          <p:spPr bwMode="hidden">
            <a:xfrm flipH="1" flipV="1">
              <a:off x="3456" y="3910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8" name="Rectangle 44"/>
            <p:cNvSpPr>
              <a:spLocks noChangeArrowheads="1"/>
            </p:cNvSpPr>
            <p:nvPr/>
          </p:nvSpPr>
          <p:spPr bwMode="hidden">
            <a:xfrm>
              <a:off x="0" y="3931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04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524000"/>
            <a:ext cx="8839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Arial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AE5CE7-1E71-4D77-94E8-5EB3BA1FF2A4}" type="slidenum">
              <a:rPr lang="zh-CN" alt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36717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v"/>
        <a:defRPr kumimoji="1"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9"/>
          <p:cNvGrpSpPr>
            <a:grpSpLocks/>
          </p:cNvGrpSpPr>
          <p:nvPr/>
        </p:nvGrpSpPr>
        <p:grpSpPr bwMode="auto">
          <a:xfrm>
            <a:off x="0" y="0"/>
            <a:ext cx="9144000" cy="7405688"/>
            <a:chOff x="0" y="-9"/>
            <a:chExt cx="5760" cy="4665"/>
          </a:xfrm>
        </p:grpSpPr>
        <p:sp>
          <p:nvSpPr>
            <p:cNvPr id="1032" name="Freeform 8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478 h 4320"/>
                <a:gd name="T2" fmla="*/ 1737 w 1737"/>
                <a:gd name="T3" fmla="*/ 448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7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426 h 4320"/>
                <a:gd name="T2" fmla="*/ 1737 w 1737"/>
                <a:gd name="T3" fmla="*/ 4437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426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3379 h 4420"/>
                <a:gd name="T2" fmla="*/ 1739 w 1739"/>
                <a:gd name="T3" fmla="*/ 3383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3379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157 h 4338"/>
                <a:gd name="T4" fmla="*/ 2080 w 2080"/>
                <a:gd name="T5" fmla="*/ 4157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4" name="Freeform 20"/>
            <p:cNvSpPr>
              <a:spLocks/>
            </p:cNvSpPr>
            <p:nvPr userDrawn="1"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" name="Rectangle 25"/>
            <p:cNvSpPr>
              <a:spLocks noChangeArrowheads="1"/>
            </p:cNvSpPr>
            <p:nvPr/>
          </p:nvSpPr>
          <p:spPr bwMode="hidden">
            <a:xfrm>
              <a:off x="0" y="3910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3" name="Freeform 27"/>
            <p:cNvSpPr>
              <a:spLocks/>
            </p:cNvSpPr>
            <p:nvPr/>
          </p:nvSpPr>
          <p:spPr bwMode="hidden">
            <a:xfrm>
              <a:off x="1632" y="3956"/>
              <a:ext cx="1737" cy="382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4" name="Freeform 28"/>
            <p:cNvSpPr>
              <a:spLocks/>
            </p:cNvSpPr>
            <p:nvPr/>
          </p:nvSpPr>
          <p:spPr bwMode="hidden">
            <a:xfrm>
              <a:off x="0" y="3956"/>
              <a:ext cx="1737" cy="381"/>
            </a:xfrm>
            <a:custGeom>
              <a:avLst/>
              <a:gdLst>
                <a:gd name="T0" fmla="*/ 494 w 1737"/>
                <a:gd name="T1" fmla="*/ 0 h 4320"/>
                <a:gd name="T2" fmla="*/ 1737 w 1737"/>
                <a:gd name="T3" fmla="*/ 0 h 4320"/>
                <a:gd name="T4" fmla="*/ 524 w 1737"/>
                <a:gd name="T5" fmla="*/ 0 h 4320"/>
                <a:gd name="T6" fmla="*/ 0 w 1737"/>
                <a:gd name="T7" fmla="*/ 0 h 4320"/>
                <a:gd name="T8" fmla="*/ 494 w 1737"/>
                <a:gd name="T9" fmla="*/ 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5" name="Freeform 29"/>
            <p:cNvSpPr>
              <a:spLocks/>
            </p:cNvSpPr>
            <p:nvPr/>
          </p:nvSpPr>
          <p:spPr bwMode="hidden">
            <a:xfrm>
              <a:off x="3744" y="3956"/>
              <a:ext cx="1739" cy="382"/>
            </a:xfrm>
            <a:custGeom>
              <a:avLst/>
              <a:gdLst>
                <a:gd name="T0" fmla="*/ 494 w 1739"/>
                <a:gd name="T1" fmla="*/ 0 h 4420"/>
                <a:gd name="T2" fmla="*/ 1739 w 1739"/>
                <a:gd name="T3" fmla="*/ 0 h 4420"/>
                <a:gd name="T4" fmla="*/ 524 w 1739"/>
                <a:gd name="T5" fmla="*/ 0 h 4420"/>
                <a:gd name="T6" fmla="*/ 0 w 1739"/>
                <a:gd name="T7" fmla="*/ 0 h 4420"/>
                <a:gd name="T8" fmla="*/ 494 w 1739"/>
                <a:gd name="T9" fmla="*/ 0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30"/>
            <p:cNvSpPr>
              <a:spLocks/>
            </p:cNvSpPr>
            <p:nvPr/>
          </p:nvSpPr>
          <p:spPr bwMode="hidden">
            <a:xfrm>
              <a:off x="1920" y="3956"/>
              <a:ext cx="2080" cy="381"/>
            </a:xfrm>
            <a:custGeom>
              <a:avLst/>
              <a:gdLst>
                <a:gd name="T0" fmla="*/ 0 w 2080"/>
                <a:gd name="T1" fmla="*/ 0 h 4338"/>
                <a:gd name="T2" fmla="*/ 1870 w 2080"/>
                <a:gd name="T3" fmla="*/ 0 h 4338"/>
                <a:gd name="T4" fmla="*/ 2080 w 2080"/>
                <a:gd name="T5" fmla="*/ 0 h 4338"/>
                <a:gd name="T6" fmla="*/ 1033 w 2080"/>
                <a:gd name="T7" fmla="*/ 0 h 4338"/>
                <a:gd name="T8" fmla="*/ 0 w 2080"/>
                <a:gd name="T9" fmla="*/ 0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48" name="Rectangle 34"/>
            <p:cNvSpPr>
              <a:spLocks noChangeArrowheads="1"/>
            </p:cNvSpPr>
            <p:nvPr/>
          </p:nvSpPr>
          <p:spPr bwMode="hidden">
            <a:xfrm>
              <a:off x="0" y="3905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FFFFFF"/>
                </a:solidFill>
              </a:endParaRPr>
            </a:p>
          </p:txBody>
        </p:sp>
        <p:sp>
          <p:nvSpPr>
            <p:cNvPr id="1059" name="Freeform 35"/>
            <p:cNvSpPr>
              <a:spLocks/>
            </p:cNvSpPr>
            <p:nvPr/>
          </p:nvSpPr>
          <p:spPr bwMode="hidden">
            <a:xfrm>
              <a:off x="2583" y="3918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0" name="Freeform 36"/>
            <p:cNvSpPr>
              <a:spLocks/>
            </p:cNvSpPr>
            <p:nvPr/>
          </p:nvSpPr>
          <p:spPr bwMode="hidden">
            <a:xfrm rot="18897039" flipH="1">
              <a:off x="148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1" name="Freeform 37"/>
            <p:cNvSpPr>
              <a:spLocks/>
            </p:cNvSpPr>
            <p:nvPr/>
          </p:nvSpPr>
          <p:spPr bwMode="hidden">
            <a:xfrm rot="18897039" flipH="1">
              <a:off x="766" y="3886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2" name="Freeform 38"/>
            <p:cNvSpPr>
              <a:spLocks/>
            </p:cNvSpPr>
            <p:nvPr/>
          </p:nvSpPr>
          <p:spPr bwMode="hidden">
            <a:xfrm rot="18897039" flipH="1">
              <a:off x="31" y="3854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3" name="Freeform 39"/>
            <p:cNvSpPr>
              <a:spLocks/>
            </p:cNvSpPr>
            <p:nvPr/>
          </p:nvSpPr>
          <p:spPr bwMode="hidden">
            <a:xfrm flipH="1" flipV="1">
              <a:off x="576" y="3910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4" name="Freeform 40"/>
            <p:cNvSpPr>
              <a:spLocks/>
            </p:cNvSpPr>
            <p:nvPr/>
          </p:nvSpPr>
          <p:spPr bwMode="hidden">
            <a:xfrm flipH="1" flipV="1">
              <a:off x="240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5" name="Freeform 41"/>
            <p:cNvSpPr>
              <a:spLocks/>
            </p:cNvSpPr>
            <p:nvPr/>
          </p:nvSpPr>
          <p:spPr bwMode="hidden">
            <a:xfrm flipH="1" flipV="1">
              <a:off x="3036" y="3958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6" name="Freeform 42"/>
            <p:cNvSpPr>
              <a:spLocks/>
            </p:cNvSpPr>
            <p:nvPr/>
          </p:nvSpPr>
          <p:spPr bwMode="hidden">
            <a:xfrm flipH="1" flipV="1">
              <a:off x="3984" y="3910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7" name="Freeform 43"/>
            <p:cNvSpPr>
              <a:spLocks/>
            </p:cNvSpPr>
            <p:nvPr/>
          </p:nvSpPr>
          <p:spPr bwMode="hidden">
            <a:xfrm flipH="1" flipV="1">
              <a:off x="3456" y="3910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1068" name="Rectangle 44"/>
            <p:cNvSpPr>
              <a:spLocks noChangeArrowheads="1"/>
            </p:cNvSpPr>
            <p:nvPr/>
          </p:nvSpPr>
          <p:spPr bwMode="hidden">
            <a:xfrm>
              <a:off x="0" y="3931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048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524000"/>
            <a:ext cx="8839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Arial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AE5CE7-1E71-4D77-94E8-5EB3BA1FF2A4}" type="slidenum">
              <a:rPr lang="zh-CN" alt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21380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8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v"/>
        <a:defRPr kumimoji="1"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l"/>
        <a:defRPr kumimoji="1" sz="20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sz="quarter" idx="1"/>
          </p:nvPr>
        </p:nvSpPr>
        <p:spPr>
          <a:xfrm>
            <a:off x="359229" y="97972"/>
            <a:ext cx="8327571" cy="6145666"/>
          </a:xfrm>
        </p:spPr>
        <p:txBody>
          <a:bodyPr/>
          <a:lstStyle/>
          <a:p>
            <a:pPr algn="l"/>
            <a:r>
              <a:rPr lang="zh-CN" altLang="en-US" sz="3000" dirty="0" smtClean="0">
                <a:solidFill>
                  <a:srgbClr val="FFC000"/>
                </a:solidFill>
              </a:rPr>
              <a:t>习题</a:t>
            </a:r>
            <a:r>
              <a:rPr lang="en-US" altLang="zh-CN" sz="3000" dirty="0" smtClean="0">
                <a:solidFill>
                  <a:srgbClr val="FFC000"/>
                </a:solidFill>
              </a:rPr>
              <a:t>3.2-1</a:t>
            </a:r>
            <a:r>
              <a:rPr lang="zh-CN" altLang="zh-CN" sz="3000" dirty="0">
                <a:solidFill>
                  <a:srgbClr val="FFC000"/>
                </a:solidFill>
                <a:effectLst/>
              </a:rPr>
              <a:t>指出下列表达式中的自由变量和约束变量，并指明量词的作用域</a:t>
            </a:r>
            <a:r>
              <a:rPr lang="zh-CN" altLang="zh-CN" sz="3000" dirty="0" smtClean="0">
                <a:effectLst/>
              </a:rPr>
              <a:t>：</a:t>
            </a:r>
            <a:endParaRPr lang="en-US" altLang="zh-CN" sz="3000" dirty="0" smtClean="0">
              <a:effectLst/>
            </a:endParaRPr>
          </a:p>
          <a:p>
            <a:pPr algn="l">
              <a:spcBef>
                <a:spcPts val="0"/>
              </a:spcBef>
            </a:pPr>
            <a:r>
              <a:rPr lang="en-US" altLang="zh-CN" sz="3000" dirty="0" smtClean="0">
                <a:effectLst/>
              </a:rPr>
              <a:t>(1) (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effectLst/>
              </a:rPr>
              <a:t>xP</a:t>
            </a:r>
            <a:r>
              <a:rPr lang="en-US" altLang="zh-CN" sz="3000" dirty="0">
                <a:effectLst/>
              </a:rPr>
              <a:t>(x)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</a:t>
            </a:r>
            <a:r>
              <a:rPr lang="en-US" altLang="zh-CN" sz="3000" dirty="0" err="1">
                <a:effectLst/>
              </a:rPr>
              <a:t>xQ</a:t>
            </a:r>
            <a:r>
              <a:rPr lang="en-US" altLang="zh-CN" sz="3000" dirty="0">
                <a:effectLst/>
              </a:rPr>
              <a:t>(x))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</a:t>
            </a:r>
            <a:r>
              <a:rPr lang="en-US" altLang="zh-CN" sz="3000" dirty="0">
                <a:effectLst/>
              </a:rPr>
              <a:t>(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effectLst/>
              </a:rPr>
              <a:t>xP</a:t>
            </a:r>
            <a:r>
              <a:rPr lang="en-US" altLang="zh-CN" sz="3000" dirty="0">
                <a:effectLst/>
              </a:rPr>
              <a:t>(x)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3000" dirty="0">
                <a:effectLst/>
              </a:rPr>
              <a:t>Q(y))</a:t>
            </a:r>
            <a:endParaRPr lang="zh-CN" altLang="zh-CN" sz="3000" dirty="0">
              <a:effectLst/>
            </a:endParaRPr>
          </a:p>
          <a:p>
            <a:pPr algn="l">
              <a:spcBef>
                <a:spcPts val="0"/>
              </a:spcBef>
            </a:pPr>
            <a:r>
              <a:rPr lang="en-US" altLang="zh-CN" sz="3000" dirty="0" smtClean="0">
                <a:effectLst/>
              </a:rPr>
              <a:t>(2) </a:t>
            </a:r>
            <a:r>
              <a:rPr lang="en-US" altLang="zh-CN" sz="3000" dirty="0" smtClean="0">
                <a:effectLst/>
                <a:sym typeface="Symbol" panose="05050102010706020507" pitchFamily="18" charset="2"/>
              </a:rPr>
              <a:t></a:t>
            </a:r>
            <a:r>
              <a:rPr lang="en-US" altLang="zh-CN" sz="3000" dirty="0" err="1">
                <a:effectLst/>
              </a:rPr>
              <a:t>x</a:t>
            </a:r>
            <a:r>
              <a:rPr lang="en-US" altLang="zh-CN" sz="3000" dirty="0" err="1">
                <a:effectLst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effectLst/>
              </a:rPr>
              <a:t>y</a:t>
            </a:r>
            <a:r>
              <a:rPr lang="en-US" altLang="zh-CN" sz="3000" dirty="0">
                <a:effectLst/>
              </a:rPr>
              <a:t>((P(x)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</a:t>
            </a:r>
            <a:r>
              <a:rPr lang="en-US" altLang="zh-CN" sz="3000" dirty="0">
                <a:effectLst/>
              </a:rPr>
              <a:t>Q(y))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</a:t>
            </a:r>
            <a:r>
              <a:rPr lang="en-US" altLang="zh-CN" sz="3000" dirty="0" err="1">
                <a:effectLst/>
              </a:rPr>
              <a:t>zR</a:t>
            </a:r>
            <a:r>
              <a:rPr lang="en-US" altLang="zh-CN" sz="3000" dirty="0">
                <a:effectLst/>
              </a:rPr>
              <a:t>(z</a:t>
            </a:r>
            <a:r>
              <a:rPr lang="en-US" altLang="zh-CN" sz="3200" dirty="0" smtClean="0">
                <a:effectLst/>
              </a:rPr>
              <a:t>))</a:t>
            </a:r>
          </a:p>
          <a:p>
            <a:pPr algn="l"/>
            <a:r>
              <a:rPr lang="zh-CN" altLang="zh-CN" sz="3000" dirty="0" smtClean="0">
                <a:effectLst/>
              </a:rPr>
              <a:t>解</a:t>
            </a:r>
            <a:r>
              <a:rPr lang="zh-CN" altLang="zh-CN" sz="3000" dirty="0">
                <a:effectLst/>
              </a:rPr>
              <a:t>： </a:t>
            </a:r>
            <a:endParaRPr lang="en-US" altLang="zh-CN" sz="3000" dirty="0" smtClean="0">
              <a:effectLst/>
            </a:endParaRPr>
          </a:p>
          <a:p>
            <a:pPr algn="l"/>
            <a:r>
              <a:rPr lang="en-US" altLang="zh-CN" sz="3000" dirty="0" smtClean="0">
                <a:effectLst/>
              </a:rPr>
              <a:t>(1)</a:t>
            </a:r>
            <a:r>
              <a:rPr lang="zh-CN" altLang="zh-CN" sz="3000" dirty="0" smtClean="0">
                <a:effectLst/>
              </a:rPr>
              <a:t>中</a:t>
            </a:r>
            <a:r>
              <a:rPr lang="zh-CN" altLang="zh-CN" sz="3000" dirty="0">
                <a:effectLst/>
              </a:rPr>
              <a:t>的自由变量是</a:t>
            </a:r>
            <a:r>
              <a:rPr lang="en-US" altLang="zh-CN" sz="3000" dirty="0">
                <a:effectLst/>
              </a:rPr>
              <a:t>Q(y)</a:t>
            </a:r>
            <a:r>
              <a:rPr lang="zh-CN" altLang="zh-CN" sz="3000" dirty="0">
                <a:effectLst/>
              </a:rPr>
              <a:t>中的</a:t>
            </a:r>
            <a:r>
              <a:rPr lang="en-US" altLang="zh-CN" sz="3000" dirty="0">
                <a:effectLst/>
              </a:rPr>
              <a:t>y</a:t>
            </a:r>
            <a:r>
              <a:rPr lang="zh-CN" altLang="zh-CN" sz="3000" dirty="0">
                <a:effectLst/>
              </a:rPr>
              <a:t>，约束变量是</a:t>
            </a:r>
            <a:r>
              <a:rPr lang="en-US" altLang="zh-CN" sz="3000" dirty="0">
                <a:effectLst/>
              </a:rPr>
              <a:t>P(x)</a:t>
            </a:r>
            <a:r>
              <a:rPr lang="zh-CN" altLang="zh-CN" sz="3000" dirty="0">
                <a:effectLst/>
              </a:rPr>
              <a:t>、</a:t>
            </a:r>
            <a:r>
              <a:rPr lang="en-US" altLang="zh-CN" sz="3000" dirty="0">
                <a:effectLst/>
              </a:rPr>
              <a:t>Q(x))</a:t>
            </a:r>
            <a:r>
              <a:rPr lang="zh-CN" altLang="zh-CN" sz="3000" dirty="0">
                <a:effectLst/>
              </a:rPr>
              <a:t>和</a:t>
            </a:r>
            <a:r>
              <a:rPr lang="en-US" altLang="zh-CN" sz="3000" dirty="0">
                <a:effectLst/>
              </a:rPr>
              <a:t>P(x)</a:t>
            </a:r>
            <a:r>
              <a:rPr lang="zh-CN" altLang="zh-CN" sz="3000" dirty="0">
                <a:effectLst/>
              </a:rPr>
              <a:t>中的</a:t>
            </a:r>
            <a:r>
              <a:rPr lang="en-US" altLang="zh-CN" sz="3000" dirty="0">
                <a:effectLst/>
              </a:rPr>
              <a:t>x</a:t>
            </a:r>
            <a:r>
              <a:rPr lang="zh-CN" altLang="zh-CN" sz="3000" dirty="0">
                <a:effectLst/>
              </a:rPr>
              <a:t>，第一个量词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effectLst/>
              </a:rPr>
              <a:t>x</a:t>
            </a:r>
            <a:r>
              <a:rPr lang="zh-CN" altLang="zh-CN" sz="3000" dirty="0">
                <a:effectLst/>
              </a:rPr>
              <a:t>的作用域是</a:t>
            </a:r>
            <a:r>
              <a:rPr lang="en-US" altLang="zh-CN" sz="3000" dirty="0">
                <a:effectLst/>
              </a:rPr>
              <a:t>P(x)</a:t>
            </a:r>
            <a:r>
              <a:rPr lang="zh-CN" altLang="zh-CN" sz="3000" dirty="0">
                <a:effectLst/>
              </a:rPr>
              <a:t>，第</a:t>
            </a:r>
            <a:r>
              <a:rPr lang="en-US" altLang="zh-CN" sz="3000" dirty="0">
                <a:effectLst/>
              </a:rPr>
              <a:t>2</a:t>
            </a:r>
            <a:r>
              <a:rPr lang="zh-CN" altLang="zh-CN" sz="3000" dirty="0">
                <a:effectLst/>
              </a:rPr>
              <a:t>个量词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</a:t>
            </a:r>
            <a:r>
              <a:rPr lang="en-US" altLang="zh-CN" sz="3000" dirty="0">
                <a:effectLst/>
              </a:rPr>
              <a:t>x</a:t>
            </a:r>
            <a:r>
              <a:rPr lang="zh-CN" altLang="zh-CN" sz="3000" dirty="0">
                <a:effectLst/>
              </a:rPr>
              <a:t>的作用域是</a:t>
            </a:r>
            <a:r>
              <a:rPr lang="en-US" altLang="zh-CN" sz="3000" dirty="0">
                <a:effectLst/>
              </a:rPr>
              <a:t>Q(x)</a:t>
            </a:r>
            <a:r>
              <a:rPr lang="zh-CN" altLang="zh-CN" sz="3000" dirty="0">
                <a:effectLst/>
              </a:rPr>
              <a:t>，第三个量词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effectLst/>
              </a:rPr>
              <a:t>x</a:t>
            </a:r>
            <a:r>
              <a:rPr lang="zh-CN" altLang="zh-CN" sz="3000" dirty="0">
                <a:effectLst/>
              </a:rPr>
              <a:t>的作用域是</a:t>
            </a:r>
            <a:r>
              <a:rPr lang="en-US" altLang="zh-CN" sz="3000" dirty="0">
                <a:effectLst/>
              </a:rPr>
              <a:t>P(x)</a:t>
            </a:r>
            <a:r>
              <a:rPr lang="zh-CN" altLang="zh-CN" sz="3000" dirty="0">
                <a:effectLst/>
              </a:rPr>
              <a:t>。</a:t>
            </a:r>
          </a:p>
          <a:p>
            <a:pPr algn="l"/>
            <a:r>
              <a:rPr lang="en-US" altLang="zh-CN" sz="3000" dirty="0" smtClean="0">
                <a:effectLst/>
              </a:rPr>
              <a:t>(2)</a:t>
            </a:r>
            <a:r>
              <a:rPr lang="zh-CN" altLang="zh-CN" sz="3000" dirty="0" smtClean="0">
                <a:effectLst/>
              </a:rPr>
              <a:t>此</a:t>
            </a:r>
            <a:r>
              <a:rPr lang="zh-CN" altLang="zh-CN" sz="3000" dirty="0">
                <a:effectLst/>
              </a:rPr>
              <a:t>式中没有自由变量，</a:t>
            </a:r>
            <a:r>
              <a:rPr lang="en-US" altLang="zh-CN" sz="3000" dirty="0">
                <a:effectLst/>
              </a:rPr>
              <a:t>x</a:t>
            </a:r>
            <a:r>
              <a:rPr lang="zh-CN" altLang="zh-CN" sz="3000" dirty="0">
                <a:effectLst/>
              </a:rPr>
              <a:t>，</a:t>
            </a:r>
            <a:r>
              <a:rPr lang="en-US" altLang="zh-CN" sz="3000" dirty="0">
                <a:effectLst/>
              </a:rPr>
              <a:t>y</a:t>
            </a:r>
            <a:r>
              <a:rPr lang="zh-CN" altLang="zh-CN" sz="3000" dirty="0">
                <a:effectLst/>
              </a:rPr>
              <a:t>，</a:t>
            </a:r>
            <a:r>
              <a:rPr lang="en-US" altLang="zh-CN" sz="3000" dirty="0">
                <a:effectLst/>
              </a:rPr>
              <a:t>z</a:t>
            </a:r>
            <a:r>
              <a:rPr lang="zh-CN" altLang="zh-CN" sz="3000" dirty="0">
                <a:effectLst/>
              </a:rPr>
              <a:t>都是约束变量，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</a:t>
            </a:r>
            <a:r>
              <a:rPr lang="en-US" altLang="zh-CN" sz="3000" dirty="0">
                <a:effectLst/>
              </a:rPr>
              <a:t>x</a:t>
            </a:r>
            <a:r>
              <a:rPr lang="zh-CN" altLang="zh-CN" sz="3000" dirty="0">
                <a:effectLst/>
              </a:rPr>
              <a:t>和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effectLst/>
              </a:rPr>
              <a:t>y</a:t>
            </a:r>
            <a:r>
              <a:rPr lang="zh-CN" altLang="zh-CN" sz="3000" dirty="0">
                <a:effectLst/>
              </a:rPr>
              <a:t>的作用域都是</a:t>
            </a:r>
            <a:r>
              <a:rPr lang="en-US" altLang="zh-CN" sz="3000" dirty="0">
                <a:effectLst/>
              </a:rPr>
              <a:t> (P(x)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</a:t>
            </a:r>
            <a:r>
              <a:rPr lang="en-US" altLang="zh-CN" sz="3000" dirty="0">
                <a:effectLst/>
              </a:rPr>
              <a:t>Q(y))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</a:t>
            </a:r>
            <a:r>
              <a:rPr lang="en-US" altLang="zh-CN" sz="3000" dirty="0" err="1">
                <a:effectLst/>
              </a:rPr>
              <a:t>zR</a:t>
            </a:r>
            <a:r>
              <a:rPr lang="en-US" altLang="zh-CN" sz="3000" dirty="0">
                <a:effectLst/>
              </a:rPr>
              <a:t>(z)</a:t>
            </a:r>
            <a:r>
              <a:rPr lang="zh-CN" altLang="zh-CN" sz="3000" dirty="0">
                <a:effectLst/>
              </a:rPr>
              <a:t>，而</a:t>
            </a:r>
            <a:r>
              <a:rPr lang="en-US" altLang="zh-CN" sz="30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effectLst/>
              </a:rPr>
              <a:t>z</a:t>
            </a:r>
            <a:r>
              <a:rPr lang="zh-CN" altLang="zh-CN" sz="3000" dirty="0">
                <a:effectLst/>
              </a:rPr>
              <a:t>的作用域是</a:t>
            </a:r>
            <a:r>
              <a:rPr lang="en-US" altLang="zh-CN" sz="3000" dirty="0">
                <a:effectLst/>
              </a:rPr>
              <a:t>R(z)</a:t>
            </a:r>
            <a:r>
              <a:rPr lang="zh-CN" altLang="zh-CN" sz="3000" dirty="0">
                <a:effectLst/>
              </a:rPr>
              <a:t>。</a:t>
            </a:r>
          </a:p>
          <a:p>
            <a:pPr algn="l">
              <a:spcBef>
                <a:spcPts val="0"/>
              </a:spcBef>
            </a:pPr>
            <a:endParaRPr lang="zh-CN" altLang="zh-CN" sz="3200" dirty="0">
              <a:effectLst/>
            </a:endParaRPr>
          </a:p>
          <a:p>
            <a:pPr algn="l"/>
            <a:endParaRPr lang="zh-CN" altLang="en-US" sz="3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220E90-0392-4909-861D-123036A59F8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871428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sz="quarter" idx="1"/>
          </p:nvPr>
        </p:nvSpPr>
        <p:spPr>
          <a:xfrm>
            <a:off x="359229" y="97972"/>
            <a:ext cx="8327571" cy="6145666"/>
          </a:xfrm>
        </p:spPr>
        <p:txBody>
          <a:bodyPr/>
          <a:lstStyle/>
          <a:p>
            <a:pPr algn="l"/>
            <a:r>
              <a:rPr lang="zh-CN" altLang="en-US" sz="3000" dirty="0" smtClean="0">
                <a:solidFill>
                  <a:srgbClr val="FFC000"/>
                </a:solidFill>
              </a:rPr>
              <a:t>习题</a:t>
            </a:r>
            <a:r>
              <a:rPr lang="en-US" altLang="zh-CN" sz="3000" dirty="0" smtClean="0">
                <a:solidFill>
                  <a:srgbClr val="FFC000"/>
                </a:solidFill>
              </a:rPr>
              <a:t>3.2-1</a:t>
            </a:r>
            <a:r>
              <a:rPr lang="zh-CN" altLang="zh-CN" sz="3000" dirty="0">
                <a:solidFill>
                  <a:srgbClr val="FFC000"/>
                </a:solidFill>
                <a:effectLst/>
              </a:rPr>
              <a:t>指出下列表达式中的自由变量和约束变量，并指明量词的作用域</a:t>
            </a:r>
            <a:r>
              <a:rPr lang="zh-CN" altLang="zh-CN" sz="3000" dirty="0" smtClean="0">
                <a:solidFill>
                  <a:srgbClr val="FFC000"/>
                </a:solidFill>
                <a:effectLst/>
              </a:rPr>
              <a:t>：</a:t>
            </a:r>
            <a:endParaRPr lang="en-US" altLang="zh-CN" sz="3000" dirty="0" smtClean="0">
              <a:solidFill>
                <a:srgbClr val="FFC000"/>
              </a:solidFill>
              <a:effectLst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2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 A(z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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yB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a))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2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(4) </a:t>
            </a:r>
            <a:r>
              <a:rPr lang="en-US" altLang="zh-CN" sz="32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 A(x)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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yB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2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(5) (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xF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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yG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z))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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zH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32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marL="85725" algn="l">
              <a:spcAft>
                <a:spcPts val="0"/>
              </a:spcAft>
            </a:pPr>
            <a:r>
              <a:rPr lang="zh-CN" altLang="en-US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en-US" altLang="zh-CN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(3)z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是自由变量，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是约束变量，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的作用域是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marL="85725" algn="l">
              <a:spcAft>
                <a:spcPts val="0"/>
              </a:spcAft>
            </a:pPr>
            <a:r>
              <a:rPr lang="en-US" altLang="zh-CN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(4)x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是自由变量，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是约束变量，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的作用域是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A(x)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的作用域是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l"/>
            <a:r>
              <a:rPr lang="en-US" altLang="zh-CN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是自由变量并且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又是约束变量，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的作用域是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F(x)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的作用域是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的作用域是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3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</a:pPr>
            <a:endParaRPr lang="zh-CN" altLang="zh-CN" sz="3200" dirty="0">
              <a:effectLst/>
            </a:endParaRPr>
          </a:p>
          <a:p>
            <a:pPr algn="l"/>
            <a:endParaRPr lang="zh-CN" altLang="en-US" sz="3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220E90-0392-4909-861D-123036A59F8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92147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"/>
            <a:ext cx="8686800" cy="6248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b="1" dirty="0" smtClean="0">
                <a:solidFill>
                  <a:srgbClr val="FFC000"/>
                </a:solidFill>
                <a:latin typeface="Times New Roman" pitchFamily="18" charset="0"/>
              </a:rPr>
              <a:t>习题</a:t>
            </a:r>
            <a:r>
              <a:rPr lang="en-US" altLang="zh-CN" sz="3200" b="1" dirty="0" smtClean="0">
                <a:solidFill>
                  <a:srgbClr val="FFC000"/>
                </a:solidFill>
                <a:latin typeface="Times New Roman" pitchFamily="18" charset="0"/>
              </a:rPr>
              <a:t>3.2-2</a:t>
            </a:r>
            <a:r>
              <a:rPr lang="zh-CN" altLang="zh-CN" sz="3200" dirty="0" smtClean="0"/>
              <a:t>设</a:t>
            </a:r>
            <a:r>
              <a:rPr lang="en-US" altLang="zh-CN" sz="3200" dirty="0" smtClean="0"/>
              <a:t>I</a:t>
            </a:r>
            <a:r>
              <a:rPr lang="zh-CN" altLang="zh-CN" sz="3200" dirty="0" smtClean="0"/>
              <a:t>是如下一个解释：</a:t>
            </a:r>
            <a:r>
              <a:rPr lang="en-US" altLang="zh-CN" sz="3200" dirty="0" smtClean="0"/>
              <a:t>D={a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b}</a:t>
            </a:r>
            <a:endParaRPr lang="zh-CN" altLang="zh-CN" sz="32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</a:t>
            </a:r>
            <a:r>
              <a:rPr lang="en-US" altLang="zh-CN" sz="3200" u="sng" dirty="0" smtClean="0"/>
              <a:t>P(a</a:t>
            </a:r>
            <a:r>
              <a:rPr lang="zh-CN" altLang="zh-CN" sz="3200" u="sng" dirty="0" smtClean="0"/>
              <a:t>，</a:t>
            </a:r>
            <a:r>
              <a:rPr lang="en-US" altLang="zh-CN" sz="3200" u="sng" dirty="0" smtClean="0"/>
              <a:t>a)  P(a</a:t>
            </a:r>
            <a:r>
              <a:rPr lang="zh-CN" altLang="zh-CN" sz="3200" u="sng" dirty="0" smtClean="0"/>
              <a:t>，</a:t>
            </a:r>
            <a:r>
              <a:rPr lang="en-US" altLang="zh-CN" sz="3200" u="sng" dirty="0" smtClean="0"/>
              <a:t>b)  P(b</a:t>
            </a:r>
            <a:r>
              <a:rPr lang="zh-CN" altLang="zh-CN" sz="3200" u="sng" dirty="0" smtClean="0"/>
              <a:t>，</a:t>
            </a:r>
            <a:r>
              <a:rPr lang="en-US" altLang="zh-CN" sz="3200" u="sng" dirty="0" smtClean="0"/>
              <a:t>a)  P(b</a:t>
            </a:r>
            <a:r>
              <a:rPr lang="zh-CN" altLang="zh-CN" sz="3200" u="sng" dirty="0" smtClean="0"/>
              <a:t>，</a:t>
            </a:r>
            <a:r>
              <a:rPr lang="en-US" altLang="zh-CN" sz="3200" u="sng" dirty="0" smtClean="0"/>
              <a:t>b)</a:t>
            </a:r>
            <a:endParaRPr lang="zh-CN" altLang="zh-CN" sz="32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1                0             0             1</a:t>
            </a:r>
            <a:endParaRPr lang="zh-CN" altLang="zh-CN" sz="32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3200" dirty="0" smtClean="0"/>
              <a:t>试确定下列公式在</a:t>
            </a:r>
            <a:r>
              <a:rPr lang="en-US" altLang="zh-CN" sz="3200" dirty="0" smtClean="0"/>
              <a:t>I</a:t>
            </a:r>
            <a:r>
              <a:rPr lang="zh-CN" altLang="zh-CN" sz="3200" dirty="0" smtClean="0"/>
              <a:t>下的真值：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ym typeface="Symbol"/>
              </a:rPr>
              <a:t>  </a:t>
            </a:r>
            <a:r>
              <a:rPr lang="en-US" altLang="zh-CN" sz="3200" dirty="0" smtClean="0">
                <a:sym typeface="Symbol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/>
              </a:rPr>
              <a:t></a:t>
            </a:r>
            <a:r>
              <a:rPr lang="en-US" altLang="zh-CN" sz="3200" dirty="0" err="1" smtClean="0"/>
              <a:t>yP</a:t>
            </a:r>
            <a:r>
              <a:rPr lang="en-US" altLang="zh-CN" sz="3200" dirty="0" smtClean="0"/>
              <a:t>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y)</a:t>
            </a:r>
            <a:r>
              <a:rPr lang="zh-CN" altLang="zh-CN" sz="3200" dirty="0" smtClean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/>
              </a:rPr>
              <a:t>  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/>
              </a:rPr>
              <a:t></a:t>
            </a:r>
            <a:r>
              <a:rPr lang="en-US" altLang="zh-CN" sz="3200" dirty="0" err="1" smtClean="0"/>
              <a:t>yP</a:t>
            </a:r>
            <a:r>
              <a:rPr lang="en-US" altLang="zh-CN" sz="3200" dirty="0" smtClean="0"/>
              <a:t>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y)</a:t>
            </a:r>
            <a:r>
              <a:rPr lang="zh-CN" altLang="zh-CN" sz="3200" dirty="0" smtClean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/>
              </a:rPr>
              <a:t>  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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3200" dirty="0" err="1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yP</a:t>
            </a:r>
            <a:r>
              <a:rPr lang="en-US" altLang="zh-CN" sz="3200" dirty="0" smtClean="0">
                <a:solidFill>
                  <a:srgbClr val="FFC000"/>
                </a:solidFill>
              </a:rPr>
              <a:t>(x</a:t>
            </a:r>
            <a:r>
              <a:rPr lang="zh-CN" altLang="zh-CN" sz="3200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</a:rPr>
              <a:t>y)</a:t>
            </a:r>
            <a:r>
              <a:rPr lang="zh-CN" altLang="zh-CN" sz="3200" dirty="0" smtClean="0">
                <a:solidFill>
                  <a:srgbClr val="FFC000"/>
                </a:solidFill>
              </a:rPr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/>
              </a:rPr>
              <a:t>  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/>
              </a:rPr>
              <a:t></a:t>
            </a:r>
            <a:r>
              <a:rPr lang="en-US" altLang="zh-CN" sz="3200" dirty="0" err="1" smtClean="0"/>
              <a:t>P</a:t>
            </a:r>
            <a:r>
              <a:rPr lang="en-US" altLang="zh-CN" sz="3200" dirty="0" smtClean="0"/>
              <a:t>(a</a:t>
            </a:r>
            <a:r>
              <a:rPr lang="zh-CN" altLang="zh-CN" sz="3200" dirty="0" smtClean="0"/>
              <a:t>，</a:t>
            </a:r>
            <a:r>
              <a:rPr lang="en-US" altLang="zh-CN" sz="3200" dirty="0" smtClean="0">
                <a:solidFill>
                  <a:srgbClr val="C00000"/>
                </a:solidFill>
              </a:rPr>
              <a:t>x</a:t>
            </a:r>
            <a:r>
              <a:rPr lang="en-US" altLang="zh-CN" sz="3200" dirty="0" smtClean="0"/>
              <a:t>)</a:t>
            </a:r>
            <a:r>
              <a:rPr lang="zh-CN" altLang="zh-CN" sz="3200" dirty="0" smtClean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/>
              </a:rPr>
              <a:t>  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(P(x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y)</a:t>
            </a:r>
            <a:r>
              <a:rPr lang="en-US" altLang="zh-CN" sz="3200" dirty="0" smtClean="0">
                <a:sym typeface="Symbol"/>
              </a:rPr>
              <a:t></a:t>
            </a:r>
            <a:r>
              <a:rPr lang="en-US" altLang="zh-CN" sz="3200" dirty="0" smtClean="0"/>
              <a:t>P(y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x))</a:t>
            </a:r>
            <a:r>
              <a:rPr lang="zh-CN" altLang="zh-CN" sz="3200" dirty="0" smtClean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/>
              </a:rPr>
              <a:t>  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x)    </a:t>
            </a:r>
            <a:endParaRPr lang="zh-CN" altLang="zh-CN" sz="32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 smtClean="0">
                <a:latin typeface="Times New Roman" pitchFamily="18" charset="0"/>
              </a:rPr>
              <a:t> </a:t>
            </a:r>
          </a:p>
        </p:txBody>
      </p:sp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3505200" y="2514600"/>
            <a:ext cx="3886200" cy="3632200"/>
            <a:chOff x="3505200" y="2514600"/>
            <a:chExt cx="3886200" cy="3632775"/>
          </a:xfrm>
        </p:grpSpPr>
        <p:sp>
          <p:nvSpPr>
            <p:cNvPr id="178182" name="TextBox 3"/>
            <p:cNvSpPr txBox="1">
              <a:spLocks noChangeArrowheads="1"/>
            </p:cNvSpPr>
            <p:nvPr/>
          </p:nvSpPr>
          <p:spPr bwMode="auto">
            <a:xfrm>
              <a:off x="3505200" y="2514600"/>
              <a:ext cx="2133600" cy="2397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zh-CN" sz="3200">
                  <a:solidFill>
                    <a:srgbClr val="FFFFFF"/>
                  </a:solidFill>
                </a:rPr>
                <a:t>真值为</a:t>
              </a:r>
              <a:r>
                <a:rPr lang="en-US" altLang="zh-CN" sz="3200">
                  <a:solidFill>
                    <a:srgbClr val="FFFFFF"/>
                  </a:solidFill>
                </a:rPr>
                <a:t>1</a:t>
              </a:r>
            </a:p>
            <a:p>
              <a:pPr algn="ctr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zh-CN" sz="3200">
                  <a:solidFill>
                    <a:srgbClr val="FFFFFF"/>
                  </a:solidFill>
                </a:rPr>
                <a:t>真值为</a:t>
              </a:r>
              <a:r>
                <a:rPr lang="en-US" altLang="zh-CN" sz="3200">
                  <a:solidFill>
                    <a:srgbClr val="FFFFFF"/>
                  </a:solidFill>
                </a:rPr>
                <a:t>0</a:t>
              </a:r>
            </a:p>
            <a:p>
              <a:pPr algn="ctr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zh-CN" sz="3200">
                  <a:solidFill>
                    <a:srgbClr val="FFC000"/>
                  </a:solidFill>
                </a:rPr>
                <a:t>真值为</a:t>
              </a:r>
              <a:r>
                <a:rPr lang="en-US" altLang="zh-CN" sz="3200">
                  <a:solidFill>
                    <a:srgbClr val="FFC000"/>
                  </a:solidFill>
                </a:rPr>
                <a:t>0</a:t>
              </a:r>
            </a:p>
            <a:p>
              <a:pPr algn="ctr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zh-CN" sz="3200">
                  <a:solidFill>
                    <a:srgbClr val="FFFFFF"/>
                  </a:solidFill>
                </a:rPr>
                <a:t>真值为</a:t>
              </a:r>
              <a:r>
                <a:rPr lang="en-US" altLang="zh-CN" sz="3200">
                  <a:solidFill>
                    <a:srgbClr val="FFFFFF"/>
                  </a:solidFill>
                </a:rPr>
                <a:t>1</a:t>
              </a:r>
              <a:endParaRPr lang="zh-CN" altLang="en-US" sz="3000">
                <a:solidFill>
                  <a:srgbClr val="FFFFFF"/>
                </a:solidFill>
              </a:endParaRPr>
            </a:p>
          </p:txBody>
        </p:sp>
        <p:sp>
          <p:nvSpPr>
            <p:cNvPr id="178183" name="TextBox 5"/>
            <p:cNvSpPr txBox="1">
              <a:spLocks noChangeArrowheads="1"/>
            </p:cNvSpPr>
            <p:nvPr/>
          </p:nvSpPr>
          <p:spPr bwMode="auto">
            <a:xfrm>
              <a:off x="5562600" y="4977825"/>
              <a:ext cx="18288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zh-CN" sz="3200">
                  <a:solidFill>
                    <a:srgbClr val="FFFFFF"/>
                  </a:solidFill>
                </a:rPr>
                <a:t>真值为</a:t>
              </a:r>
              <a:r>
                <a:rPr lang="en-US" altLang="zh-CN" sz="3200">
                  <a:solidFill>
                    <a:srgbClr val="FFFFFF"/>
                  </a:solidFill>
                </a:rPr>
                <a:t>1</a:t>
              </a:r>
              <a:endParaRPr lang="zh-CN" altLang="en-US" sz="3200">
                <a:solidFill>
                  <a:srgbClr val="FFFFFF"/>
                </a:solidFill>
              </a:endParaRPr>
            </a:p>
          </p:txBody>
        </p:sp>
        <p:sp>
          <p:nvSpPr>
            <p:cNvPr id="178184" name="TextBox 6"/>
            <p:cNvSpPr txBox="1">
              <a:spLocks noChangeArrowheads="1"/>
            </p:cNvSpPr>
            <p:nvPr/>
          </p:nvSpPr>
          <p:spPr bwMode="auto">
            <a:xfrm>
              <a:off x="3733800" y="5562600"/>
              <a:ext cx="18288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3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4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zh-CN" sz="3200">
                  <a:solidFill>
                    <a:srgbClr val="FFFFFF"/>
                  </a:solidFill>
                </a:rPr>
                <a:t>真值为</a:t>
              </a:r>
              <a:r>
                <a:rPr lang="en-US" altLang="zh-CN" sz="3200">
                  <a:solidFill>
                    <a:srgbClr val="FFFFFF"/>
                  </a:solidFill>
                </a:rPr>
                <a:t>1</a:t>
              </a:r>
              <a:endParaRPr lang="zh-CN" altLang="en-US" sz="3200">
                <a:solidFill>
                  <a:srgbClr val="FFFFFF"/>
                </a:solidFill>
              </a:endParaRPr>
            </a:p>
          </p:txBody>
        </p:sp>
      </p:grp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3598A2-49F7-4BF3-A720-B38141A1BC91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543993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5715000"/>
          </a:xfrm>
        </p:spPr>
        <p:txBody>
          <a:bodyPr/>
          <a:lstStyle/>
          <a:p>
            <a:pPr marL="0" indent="0">
              <a:defRPr/>
            </a:pPr>
            <a:r>
              <a:rPr lang="zh-CN" altLang="en-US" sz="3200" dirty="0" smtClean="0">
                <a:solidFill>
                  <a:srgbClr val="FFC000"/>
                </a:solidFill>
              </a:rPr>
              <a:t>习题</a:t>
            </a:r>
            <a:r>
              <a:rPr lang="en-US" altLang="zh-CN" sz="3200" dirty="0" smtClean="0">
                <a:solidFill>
                  <a:srgbClr val="FFC000"/>
                </a:solidFill>
              </a:rPr>
              <a:t>3.2-3  </a:t>
            </a:r>
            <a:r>
              <a:rPr lang="zh-CN" altLang="zh-CN" sz="3200" dirty="0" smtClean="0">
                <a:solidFill>
                  <a:srgbClr val="FFC000"/>
                </a:solidFill>
              </a:rPr>
              <a:t>设</a:t>
            </a:r>
            <a:r>
              <a:rPr lang="en-US" altLang="zh-CN" sz="3200" dirty="0" smtClean="0">
                <a:solidFill>
                  <a:srgbClr val="FFC000"/>
                </a:solidFill>
              </a:rPr>
              <a:t>G=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xP</a:t>
            </a:r>
            <a:r>
              <a:rPr lang="en-US" altLang="zh-CN" sz="3200" dirty="0" smtClean="0">
                <a:solidFill>
                  <a:srgbClr val="FFC000"/>
                </a:solidFill>
              </a:rPr>
              <a:t> (x)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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xP</a:t>
            </a:r>
            <a:r>
              <a:rPr lang="en-US" altLang="zh-CN" sz="3200" dirty="0" smtClean="0">
                <a:solidFill>
                  <a:srgbClr val="FFC000"/>
                </a:solidFill>
              </a:rPr>
              <a:t>(x)</a:t>
            </a:r>
            <a:r>
              <a:rPr lang="zh-CN" altLang="zh-CN" sz="3200" dirty="0" smtClean="0">
                <a:solidFill>
                  <a:srgbClr val="FFC000"/>
                </a:solidFill>
              </a:rPr>
              <a:t>。</a:t>
            </a:r>
            <a:br>
              <a:rPr lang="zh-CN" altLang="zh-CN" sz="3200" dirty="0" smtClean="0">
                <a:solidFill>
                  <a:srgbClr val="FFC000"/>
                </a:solidFill>
              </a:rPr>
            </a:br>
            <a:r>
              <a:rPr lang="en-US" altLang="zh-CN" sz="3200" dirty="0" smtClean="0">
                <a:solidFill>
                  <a:srgbClr val="FFC000"/>
                </a:solidFill>
              </a:rPr>
              <a:t>(1)</a:t>
            </a:r>
            <a:r>
              <a:rPr lang="zh-CN" altLang="zh-CN" sz="3200" dirty="0" smtClean="0">
                <a:solidFill>
                  <a:srgbClr val="FFC000"/>
                </a:solidFill>
              </a:rPr>
              <a:t>若解释</a:t>
            </a:r>
            <a:r>
              <a:rPr lang="en-US" altLang="zh-CN" sz="3200" dirty="0" smtClean="0">
                <a:solidFill>
                  <a:srgbClr val="FFC000"/>
                </a:solidFill>
              </a:rPr>
              <a:t>I</a:t>
            </a:r>
            <a:r>
              <a:rPr lang="zh-CN" altLang="zh-CN" sz="3200" dirty="0" smtClean="0">
                <a:solidFill>
                  <a:srgbClr val="FFC000"/>
                </a:solidFill>
              </a:rPr>
              <a:t>的非空区域</a:t>
            </a:r>
            <a:r>
              <a:rPr lang="en-US" altLang="zh-CN" sz="3200" dirty="0" smtClean="0">
                <a:solidFill>
                  <a:srgbClr val="FFC000"/>
                </a:solidFill>
              </a:rPr>
              <a:t>D</a:t>
            </a:r>
            <a:r>
              <a:rPr lang="zh-CN" altLang="zh-CN" sz="3200" dirty="0" smtClean="0">
                <a:solidFill>
                  <a:srgbClr val="FFC000"/>
                </a:solidFill>
              </a:rPr>
              <a:t>包含仅仅一个元素，则</a:t>
            </a:r>
            <a:r>
              <a:rPr lang="en-US" altLang="zh-CN" sz="3200" dirty="0" smtClean="0">
                <a:solidFill>
                  <a:srgbClr val="FFC000"/>
                </a:solidFill>
              </a:rPr>
              <a:t>G</a:t>
            </a:r>
            <a:r>
              <a:rPr lang="zh-CN" altLang="zh-CN" sz="3200" dirty="0" smtClean="0">
                <a:solidFill>
                  <a:srgbClr val="FFC000"/>
                </a:solidFill>
              </a:rPr>
              <a:t>在</a:t>
            </a:r>
            <a:r>
              <a:rPr lang="en-US" altLang="zh-CN" sz="3200" dirty="0" smtClean="0">
                <a:solidFill>
                  <a:srgbClr val="FFC000"/>
                </a:solidFill>
              </a:rPr>
              <a:t>I</a:t>
            </a:r>
            <a:r>
              <a:rPr lang="zh-CN" altLang="zh-CN" sz="3200" dirty="0" smtClean="0">
                <a:solidFill>
                  <a:srgbClr val="FFC000"/>
                </a:solidFill>
              </a:rPr>
              <a:t>下取</a:t>
            </a:r>
            <a:r>
              <a:rPr lang="en-US" altLang="zh-CN" sz="3200" dirty="0" smtClean="0">
                <a:solidFill>
                  <a:srgbClr val="FFC000"/>
                </a:solidFill>
              </a:rPr>
              <a:t>1</a:t>
            </a:r>
            <a:r>
              <a:rPr lang="zh-CN" altLang="zh-CN" sz="3200" dirty="0" smtClean="0">
                <a:solidFill>
                  <a:srgbClr val="FFC000"/>
                </a:solidFill>
              </a:rPr>
              <a:t>值。</a:t>
            </a:r>
            <a:r>
              <a:rPr lang="zh-CN" altLang="zh-CN" sz="3200" dirty="0" smtClean="0"/>
              <a:t/>
            </a:r>
            <a:br>
              <a:rPr lang="zh-CN" altLang="zh-CN" sz="3200" dirty="0" smtClean="0"/>
            </a:br>
            <a:r>
              <a:rPr lang="zh-CN" altLang="zh-CN" sz="3200" dirty="0" smtClean="0"/>
              <a:t>设</a:t>
            </a:r>
            <a:r>
              <a:rPr lang="en-US" altLang="zh-CN" sz="3200" dirty="0" smtClean="0"/>
              <a:t>D</a:t>
            </a:r>
            <a:r>
              <a:rPr lang="zh-CN" altLang="zh-CN" sz="3200" dirty="0" smtClean="0"/>
              <a:t>仅含的元素为</a:t>
            </a:r>
            <a:r>
              <a:rPr lang="en-US" altLang="zh-CN" sz="3200" dirty="0" smtClean="0"/>
              <a:t>a.    D={a}</a:t>
            </a:r>
          </a:p>
          <a:p>
            <a:pPr marL="0" indent="0">
              <a:defRPr/>
            </a:pPr>
            <a:r>
              <a:rPr lang="zh-CN" altLang="zh-CN" sz="3200" dirty="0" smtClean="0">
                <a:solidFill>
                  <a:schemeClr val="tx2"/>
                </a:solidFill>
              </a:rPr>
              <a:t>解</a:t>
            </a:r>
            <a:r>
              <a:rPr lang="zh-CN" altLang="en-US" sz="3200" dirty="0" smtClean="0">
                <a:solidFill>
                  <a:schemeClr val="tx2"/>
                </a:solidFill>
              </a:rPr>
              <a:t>法一</a:t>
            </a:r>
            <a:r>
              <a:rPr lang="zh-CN" altLang="zh-CN" sz="3200" dirty="0" smtClean="0"/>
              <a:t>： </a:t>
            </a:r>
            <a:endParaRPr lang="en-US" altLang="zh-CN" sz="32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TI(G)=TI(P(a)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P(a))=1      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（ √ ）</a:t>
            </a:r>
            <a:endParaRPr lang="en-US" altLang="zh-CN" sz="32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解法二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：</a:t>
            </a:r>
            <a:endParaRPr lang="en-US" altLang="zh-CN" sz="32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当  </a:t>
            </a:r>
            <a:r>
              <a:rPr lang="en-US" altLang="zh-CN" sz="3200" dirty="0" smtClean="0"/>
              <a:t>D={a} </a:t>
            </a:r>
            <a:r>
              <a:rPr lang="zh-CN" altLang="en-US" sz="3200" dirty="0" smtClean="0"/>
              <a:t>时，</a:t>
            </a:r>
            <a:endParaRPr lang="en-US" altLang="zh-CN" sz="320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ym typeface="Symbol" pitchFamily="18" charset="2"/>
              </a:rPr>
              <a:t>若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 (x)</a:t>
            </a:r>
            <a:r>
              <a:rPr lang="zh-CN" altLang="en-US" sz="3200" dirty="0" smtClean="0"/>
              <a:t>在</a:t>
            </a:r>
            <a:r>
              <a:rPr lang="en-US" altLang="zh-CN" sz="3200" dirty="0" smtClean="0"/>
              <a:t>I</a:t>
            </a:r>
            <a:r>
              <a:rPr lang="zh-CN" altLang="en-US" sz="3200" dirty="0" smtClean="0"/>
              <a:t>下为</a:t>
            </a:r>
            <a:r>
              <a:rPr lang="en-US" altLang="zh-CN" sz="3200" dirty="0" smtClean="0"/>
              <a:t>1,</a:t>
            </a:r>
            <a:r>
              <a:rPr lang="zh-CN" altLang="en-US" sz="3200" dirty="0" smtClean="0"/>
              <a:t>则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 I</a:t>
            </a:r>
            <a:r>
              <a:rPr lang="zh-CN" altLang="en-US" sz="3200" dirty="0" smtClean="0"/>
              <a:t>下为</a:t>
            </a:r>
            <a:r>
              <a:rPr lang="en-US" altLang="zh-CN" sz="3200" dirty="0" smtClean="0"/>
              <a:t>1,G</a:t>
            </a:r>
            <a:r>
              <a:rPr lang="zh-CN" altLang="en-US" sz="3200" dirty="0" smtClean="0"/>
              <a:t>在</a:t>
            </a:r>
            <a:r>
              <a:rPr lang="en-US" altLang="zh-CN" sz="3200" dirty="0" smtClean="0"/>
              <a:t>I</a:t>
            </a:r>
            <a:r>
              <a:rPr lang="zh-CN" altLang="en-US" sz="3200" dirty="0" smtClean="0"/>
              <a:t>下为</a:t>
            </a:r>
            <a:r>
              <a:rPr lang="en-US" altLang="zh-CN" sz="3200" dirty="0" smtClean="0"/>
              <a:t>1.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ym typeface="Symbol" pitchFamily="18" charset="2"/>
              </a:rPr>
              <a:t>若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 (x)</a:t>
            </a:r>
            <a:r>
              <a:rPr lang="zh-CN" altLang="en-US" sz="3200" dirty="0" smtClean="0"/>
              <a:t>在</a:t>
            </a:r>
            <a:r>
              <a:rPr lang="en-US" altLang="zh-CN" sz="3200" dirty="0" smtClean="0"/>
              <a:t>I</a:t>
            </a:r>
            <a:r>
              <a:rPr lang="zh-CN" altLang="en-US" sz="3200" dirty="0" smtClean="0"/>
              <a:t>下为</a:t>
            </a:r>
            <a:r>
              <a:rPr lang="en-US" altLang="zh-CN" sz="3200" dirty="0" smtClean="0"/>
              <a:t>0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在</a:t>
            </a:r>
            <a:r>
              <a:rPr lang="en-US" altLang="zh-CN" sz="3200" dirty="0" smtClean="0"/>
              <a:t>I</a:t>
            </a:r>
            <a:r>
              <a:rPr lang="zh-CN" altLang="en-US" sz="3200" dirty="0" smtClean="0"/>
              <a:t>下为</a:t>
            </a:r>
            <a:r>
              <a:rPr lang="en-US" altLang="zh-CN" sz="3200" dirty="0" smtClean="0"/>
              <a:t>1.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（ √ ）</a:t>
            </a:r>
            <a:endParaRPr lang="en-US" altLang="zh-CN" sz="32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dirty="0" smtClean="0"/>
              <a:t/>
            </a:r>
            <a:br>
              <a:rPr lang="zh-CN" altLang="zh-CN" dirty="0" smtClean="0"/>
            </a:b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2606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715000"/>
          </a:xfrm>
        </p:spPr>
        <p:txBody>
          <a:bodyPr/>
          <a:lstStyle/>
          <a:p>
            <a:pPr marL="0" indent="0">
              <a:defRPr/>
            </a:pPr>
            <a:r>
              <a:rPr lang="zh-CN" altLang="en-US" sz="3200" dirty="0" smtClean="0">
                <a:solidFill>
                  <a:srgbClr val="FFC000"/>
                </a:solidFill>
              </a:rPr>
              <a:t>习题</a:t>
            </a:r>
            <a:r>
              <a:rPr lang="en-US" altLang="zh-CN" sz="3200" dirty="0" smtClean="0">
                <a:solidFill>
                  <a:srgbClr val="FFC000"/>
                </a:solidFill>
              </a:rPr>
              <a:t>3.2-3</a:t>
            </a:r>
            <a:r>
              <a:rPr lang="zh-CN" altLang="zh-CN" sz="3200" dirty="0" smtClean="0">
                <a:solidFill>
                  <a:srgbClr val="FFC000"/>
                </a:solidFill>
              </a:rPr>
              <a:t>设</a:t>
            </a:r>
            <a:r>
              <a:rPr lang="en-US" altLang="zh-CN" sz="3200" dirty="0" smtClean="0">
                <a:solidFill>
                  <a:srgbClr val="FFC000"/>
                </a:solidFill>
              </a:rPr>
              <a:t>G=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xP</a:t>
            </a:r>
            <a:r>
              <a:rPr lang="en-US" altLang="zh-CN" sz="3200" dirty="0" smtClean="0">
                <a:solidFill>
                  <a:srgbClr val="FFC000"/>
                </a:solidFill>
              </a:rPr>
              <a:t> (x)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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xP</a:t>
            </a:r>
            <a:r>
              <a:rPr lang="en-US" altLang="zh-CN" sz="3200" dirty="0" smtClean="0">
                <a:solidFill>
                  <a:srgbClr val="FFC000"/>
                </a:solidFill>
              </a:rPr>
              <a:t>(x)</a:t>
            </a:r>
            <a:r>
              <a:rPr lang="zh-CN" altLang="zh-CN" sz="3200" dirty="0" smtClean="0">
                <a:solidFill>
                  <a:srgbClr val="FFC000"/>
                </a:solidFill>
              </a:rPr>
              <a:t>。</a:t>
            </a:r>
            <a:br>
              <a:rPr lang="zh-CN" altLang="zh-CN" sz="3200" dirty="0" smtClean="0">
                <a:solidFill>
                  <a:srgbClr val="FFC000"/>
                </a:solidFill>
              </a:rPr>
            </a:br>
            <a:r>
              <a:rPr lang="en-US" altLang="zh-CN" sz="3200" dirty="0" smtClean="0">
                <a:solidFill>
                  <a:srgbClr val="FFC000"/>
                </a:solidFill>
              </a:rPr>
              <a:t>(1)</a:t>
            </a:r>
            <a:r>
              <a:rPr lang="zh-CN" altLang="zh-CN" sz="3200" dirty="0" smtClean="0">
                <a:solidFill>
                  <a:srgbClr val="FFC000"/>
                </a:solidFill>
              </a:rPr>
              <a:t>若解释</a:t>
            </a:r>
            <a:r>
              <a:rPr lang="en-US" altLang="zh-CN" sz="3200" dirty="0" smtClean="0">
                <a:solidFill>
                  <a:srgbClr val="FFC000"/>
                </a:solidFill>
              </a:rPr>
              <a:t>I</a:t>
            </a:r>
            <a:r>
              <a:rPr lang="zh-CN" altLang="zh-CN" sz="3200" dirty="0" smtClean="0">
                <a:solidFill>
                  <a:srgbClr val="FFC000"/>
                </a:solidFill>
              </a:rPr>
              <a:t>的非空区域</a:t>
            </a:r>
            <a:r>
              <a:rPr lang="en-US" altLang="zh-CN" sz="3200" dirty="0" smtClean="0">
                <a:solidFill>
                  <a:srgbClr val="FFC000"/>
                </a:solidFill>
              </a:rPr>
              <a:t>D</a:t>
            </a:r>
            <a:r>
              <a:rPr lang="zh-CN" altLang="zh-CN" sz="3200" dirty="0" smtClean="0">
                <a:solidFill>
                  <a:srgbClr val="FFC000"/>
                </a:solidFill>
              </a:rPr>
              <a:t>包含仅仅一个元素，则</a:t>
            </a:r>
            <a:r>
              <a:rPr lang="en-US" altLang="zh-CN" sz="3200" dirty="0" smtClean="0">
                <a:solidFill>
                  <a:srgbClr val="FFC000"/>
                </a:solidFill>
              </a:rPr>
              <a:t>G</a:t>
            </a:r>
            <a:r>
              <a:rPr lang="zh-CN" altLang="zh-CN" sz="3200" dirty="0" smtClean="0">
                <a:solidFill>
                  <a:srgbClr val="FFC000"/>
                </a:solidFill>
              </a:rPr>
              <a:t>在</a:t>
            </a:r>
            <a:r>
              <a:rPr lang="en-US" altLang="zh-CN" sz="3200" dirty="0" smtClean="0">
                <a:solidFill>
                  <a:srgbClr val="FFC000"/>
                </a:solidFill>
              </a:rPr>
              <a:t>I</a:t>
            </a:r>
            <a:r>
              <a:rPr lang="zh-CN" altLang="zh-CN" sz="3200" dirty="0" smtClean="0">
                <a:solidFill>
                  <a:srgbClr val="FFC000"/>
                </a:solidFill>
              </a:rPr>
              <a:t>下取</a:t>
            </a:r>
            <a:r>
              <a:rPr lang="en-US" altLang="zh-CN" sz="3200" dirty="0" smtClean="0">
                <a:solidFill>
                  <a:srgbClr val="FFC000"/>
                </a:solidFill>
              </a:rPr>
              <a:t>1</a:t>
            </a:r>
            <a:r>
              <a:rPr lang="zh-CN" altLang="zh-CN" sz="3200" dirty="0" smtClean="0">
                <a:solidFill>
                  <a:srgbClr val="FFC000"/>
                </a:solidFill>
              </a:rPr>
              <a:t>值。</a:t>
            </a:r>
            <a:endParaRPr lang="en-US" altLang="zh-CN" sz="3200" dirty="0" smtClean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解法三  ：</a:t>
            </a:r>
            <a:r>
              <a:rPr lang="en-US" altLang="zh-CN" sz="3200" dirty="0" smtClean="0"/>
              <a:t>G=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 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 (x)</a:t>
            </a:r>
            <a:r>
              <a:rPr lang="en-US" altLang="zh-CN" sz="3200" dirty="0" smtClean="0">
                <a:sym typeface="Symbol" pitchFamily="18" charset="2"/>
              </a:rPr>
              <a:t>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         =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 (x)</a:t>
            </a:r>
            <a:r>
              <a:rPr lang="en-US" altLang="zh-CN" sz="3200" dirty="0" smtClean="0">
                <a:sym typeface="Symbol" pitchFamily="18" charset="2"/>
              </a:rPr>
              <a:t> 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         =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P(x))</a:t>
            </a:r>
            <a:r>
              <a:rPr lang="en-US" altLang="zh-CN" sz="3200" dirty="0" smtClean="0">
                <a:sym typeface="Symbol" pitchFamily="18" charset="2"/>
              </a:rPr>
              <a:t> 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（ √ ）</a:t>
            </a:r>
            <a:endParaRPr lang="en-US" altLang="zh-CN" sz="32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         </a:t>
            </a:r>
            <a:r>
              <a:rPr lang="en-US" altLang="zh-CN" sz="3200" dirty="0" smtClean="0">
                <a:solidFill>
                  <a:srgbClr val="FFFF00"/>
                </a:solidFill>
              </a:rPr>
              <a:t>=</a:t>
            </a:r>
            <a:r>
              <a:rPr lang="en-US" altLang="zh-CN" sz="3200" dirty="0" smtClean="0">
                <a:solidFill>
                  <a:srgbClr val="FFFF00"/>
                </a:solidFill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FF00"/>
                </a:solidFill>
              </a:rPr>
              <a:t>x(</a:t>
            </a:r>
            <a:r>
              <a:rPr lang="zh-CN" altLang="en-US" sz="3200" dirty="0" smtClean="0">
                <a:solidFill>
                  <a:srgbClr val="FFFF00"/>
                </a:solidFill>
                <a:sym typeface="Symbol" pitchFamily="18" charset="2"/>
              </a:rPr>
              <a:t></a:t>
            </a:r>
            <a:r>
              <a:rPr lang="en-US" altLang="zh-CN" sz="3200" dirty="0" smtClean="0">
                <a:solidFill>
                  <a:srgbClr val="FFFF00"/>
                </a:solidFill>
              </a:rPr>
              <a:t>P(x))</a:t>
            </a:r>
            <a:r>
              <a:rPr lang="en-US" altLang="zh-CN" sz="3200" dirty="0" smtClean="0">
                <a:solidFill>
                  <a:srgbClr val="FFFF00"/>
                </a:solidFill>
                <a:sym typeface="Symbol" pitchFamily="18" charset="2"/>
              </a:rPr>
              <a:t> </a:t>
            </a:r>
            <a:r>
              <a:rPr lang="en-US" altLang="zh-CN" sz="3200" dirty="0" smtClean="0">
                <a:solidFill>
                  <a:srgbClr val="FFFF00"/>
                </a:solidFill>
              </a:rPr>
              <a:t>P(x))    </a:t>
            </a:r>
            <a:r>
              <a:rPr lang="zh-CN" alt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 </a:t>
            </a:r>
            <a:r>
              <a:rPr lang="en-US" altLang="zh-CN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×</a:t>
            </a:r>
            <a:r>
              <a:rPr lang="zh-CN" alt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）</a:t>
            </a:r>
            <a:endParaRPr lang="en-US" altLang="zh-CN" sz="3200" dirty="0" smtClean="0">
              <a:solidFill>
                <a:srgbClr val="FFFF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         </a:t>
            </a:r>
            <a:r>
              <a:rPr lang="en-US" altLang="zh-CN" sz="3200" dirty="0" smtClean="0">
                <a:solidFill>
                  <a:srgbClr val="FFFF00"/>
                </a:solidFill>
              </a:rPr>
              <a:t>=1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         TI(G)=TI(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P(x))</a:t>
            </a:r>
            <a:r>
              <a:rPr lang="en-US" altLang="zh-CN" sz="3200" dirty="0" smtClean="0">
                <a:sym typeface="Symbol" pitchFamily="18" charset="2"/>
              </a:rPr>
              <a:t> 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3200" dirty="0" smtClean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                        =TI(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P(a)</a:t>
            </a:r>
            <a:r>
              <a:rPr lang="en-US" altLang="zh-CN" sz="3200" dirty="0" smtClean="0">
                <a:sym typeface="Symbol" pitchFamily="18" charset="2"/>
              </a:rPr>
              <a:t> </a:t>
            </a:r>
            <a:r>
              <a:rPr lang="en-US" altLang="zh-CN" sz="3200" dirty="0" smtClean="0"/>
              <a:t> P(a))=1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 smtClean="0"/>
          </a:p>
        </p:txBody>
      </p:sp>
      <p:sp>
        <p:nvSpPr>
          <p:cNvPr id="21507" name="左弧形箭头 25"/>
          <p:cNvSpPr>
            <a:spLocks noChangeArrowheads="1"/>
          </p:cNvSpPr>
          <p:nvPr/>
        </p:nvSpPr>
        <p:spPr bwMode="auto">
          <a:xfrm>
            <a:off x="1524000" y="3352800"/>
            <a:ext cx="990600" cy="19812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73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609600" y="304800"/>
            <a:ext cx="8077200" cy="5638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200" smtClean="0">
                <a:solidFill>
                  <a:srgbClr val="FFC000"/>
                </a:solidFill>
              </a:rPr>
              <a:t>习题</a:t>
            </a:r>
            <a:r>
              <a:rPr lang="en-US" altLang="zh-CN" sz="3200" smtClean="0">
                <a:solidFill>
                  <a:srgbClr val="FFC000"/>
                </a:solidFill>
              </a:rPr>
              <a:t>3.2-3</a:t>
            </a:r>
            <a:r>
              <a:rPr lang="zh-CN" altLang="zh-CN" sz="3200" smtClean="0">
                <a:solidFill>
                  <a:srgbClr val="FFC000"/>
                </a:solidFill>
              </a:rPr>
              <a:t>设</a:t>
            </a:r>
            <a:r>
              <a:rPr lang="en-US" altLang="zh-CN" sz="3200" smtClean="0">
                <a:solidFill>
                  <a:srgbClr val="FFC000"/>
                </a:solidFill>
              </a:rPr>
              <a:t>G=</a:t>
            </a:r>
            <a:r>
              <a:rPr lang="en-US" altLang="zh-CN" sz="3200" smtClean="0">
                <a:solidFill>
                  <a:srgbClr val="FFC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3200" smtClean="0">
                <a:solidFill>
                  <a:srgbClr val="FFC000"/>
                </a:solidFill>
              </a:rPr>
              <a:t>xP (x)</a:t>
            </a:r>
            <a:r>
              <a:rPr lang="en-US" altLang="zh-CN" sz="3200" smtClean="0">
                <a:solidFill>
                  <a:srgbClr val="FFC000"/>
                </a:solidFill>
                <a:sym typeface="Symbol" panose="05050102010706020507" pitchFamily="18" charset="2"/>
              </a:rPr>
              <a:t></a:t>
            </a:r>
            <a:r>
              <a:rPr lang="en-US" altLang="zh-CN" sz="3200" smtClean="0">
                <a:solidFill>
                  <a:srgbClr val="FFC000"/>
                </a:solidFill>
              </a:rPr>
              <a:t>xP(x)</a:t>
            </a:r>
            <a:r>
              <a:rPr lang="zh-CN" altLang="zh-CN" sz="3200" smtClean="0">
                <a:solidFill>
                  <a:srgbClr val="FFC000"/>
                </a:solidFill>
              </a:rPr>
              <a:t>。</a:t>
            </a:r>
            <a:endParaRPr lang="en-US" altLang="zh-CN" sz="3200" smtClean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smtClean="0">
                <a:solidFill>
                  <a:srgbClr val="FFC000"/>
                </a:solidFill>
              </a:rPr>
              <a:t>(2)</a:t>
            </a:r>
            <a:r>
              <a:rPr lang="zh-CN" altLang="zh-CN" sz="3200" smtClean="0">
                <a:solidFill>
                  <a:srgbClr val="FFC000"/>
                </a:solidFill>
              </a:rPr>
              <a:t>设</a:t>
            </a:r>
            <a:r>
              <a:rPr lang="en-US" altLang="zh-CN" sz="3200" smtClean="0">
                <a:solidFill>
                  <a:srgbClr val="FFC000"/>
                </a:solidFill>
              </a:rPr>
              <a:t>D={a</a:t>
            </a:r>
            <a:r>
              <a:rPr lang="zh-CN" altLang="zh-CN" sz="3200" smtClean="0">
                <a:solidFill>
                  <a:srgbClr val="FFC000"/>
                </a:solidFill>
              </a:rPr>
              <a:t>，</a:t>
            </a:r>
            <a:r>
              <a:rPr lang="en-US" altLang="zh-CN" sz="3200" smtClean="0">
                <a:solidFill>
                  <a:srgbClr val="FFC000"/>
                </a:solidFill>
              </a:rPr>
              <a:t>b}</a:t>
            </a:r>
            <a:r>
              <a:rPr lang="zh-CN" altLang="zh-CN" sz="3200" smtClean="0">
                <a:solidFill>
                  <a:srgbClr val="FFC000"/>
                </a:solidFill>
              </a:rPr>
              <a:t>，试找出一个</a:t>
            </a:r>
            <a:r>
              <a:rPr lang="en-US" altLang="zh-CN" sz="3200" smtClean="0">
                <a:solidFill>
                  <a:srgbClr val="FFC000"/>
                </a:solidFill>
              </a:rPr>
              <a:t>D</a:t>
            </a:r>
            <a:r>
              <a:rPr lang="zh-CN" altLang="zh-CN" sz="3200" smtClean="0">
                <a:solidFill>
                  <a:srgbClr val="FFC000"/>
                </a:solidFill>
              </a:rPr>
              <a:t>上的解释</a:t>
            </a:r>
            <a:r>
              <a:rPr lang="en-US" altLang="zh-CN" sz="3200" smtClean="0">
                <a:solidFill>
                  <a:srgbClr val="FFC000"/>
                </a:solidFill>
              </a:rPr>
              <a:t>I</a:t>
            </a:r>
            <a:r>
              <a:rPr lang="zh-CN" altLang="zh-CN" sz="3200" smtClean="0">
                <a:solidFill>
                  <a:srgbClr val="FFC000"/>
                </a:solidFill>
              </a:rPr>
              <a:t>，使</a:t>
            </a:r>
            <a:r>
              <a:rPr lang="en-US" altLang="zh-CN" sz="3200" smtClean="0">
                <a:solidFill>
                  <a:srgbClr val="FFC000"/>
                </a:solidFill>
              </a:rPr>
              <a:t>G</a:t>
            </a:r>
            <a:r>
              <a:rPr lang="zh-CN" altLang="zh-CN" sz="3200" smtClean="0">
                <a:solidFill>
                  <a:srgbClr val="FFC000"/>
                </a:solidFill>
              </a:rPr>
              <a:t>在</a:t>
            </a:r>
            <a:r>
              <a:rPr lang="en-US" altLang="zh-CN" sz="3200" smtClean="0">
                <a:solidFill>
                  <a:srgbClr val="FFC000"/>
                </a:solidFill>
              </a:rPr>
              <a:t>I</a:t>
            </a:r>
            <a:r>
              <a:rPr lang="zh-CN" altLang="zh-CN" sz="3200" smtClean="0">
                <a:solidFill>
                  <a:srgbClr val="FFC000"/>
                </a:solidFill>
              </a:rPr>
              <a:t>下取</a:t>
            </a:r>
            <a:r>
              <a:rPr lang="en-US" altLang="zh-CN" sz="3200" smtClean="0">
                <a:solidFill>
                  <a:srgbClr val="FFC000"/>
                </a:solidFill>
              </a:rPr>
              <a:t>0</a:t>
            </a:r>
            <a:r>
              <a:rPr lang="zh-CN" altLang="zh-CN" sz="3200" smtClean="0">
                <a:solidFill>
                  <a:srgbClr val="FFC000"/>
                </a:solidFill>
              </a:rPr>
              <a:t>值。</a:t>
            </a:r>
            <a:endParaRPr lang="en-US" altLang="zh-CN" sz="3200" smtClean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u="sng" smtClean="0"/>
              <a:t>P(a)   P(b)  </a:t>
            </a:r>
            <a:r>
              <a:rPr lang="en-US" altLang="zh-CN" smtClean="0"/>
              <a:t> </a:t>
            </a:r>
            <a:r>
              <a:rPr lang="zh-CN" altLang="en-US" smtClean="0"/>
              <a:t>或    </a:t>
            </a:r>
            <a:r>
              <a:rPr lang="en-US" altLang="zh-CN" u="sng" smtClean="0"/>
              <a:t> P(a)   P(b) </a:t>
            </a:r>
            <a:endParaRPr lang="en-US" altLang="zh-CN" smtClean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   1        0                0         1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T</a:t>
            </a:r>
            <a:r>
              <a:rPr lang="en-US" altLang="zh-CN" sz="2400" smtClean="0"/>
              <a:t>I</a:t>
            </a:r>
            <a:r>
              <a:rPr lang="en-US" altLang="zh-CN" smtClean="0"/>
              <a:t>(G)=T</a:t>
            </a:r>
            <a:r>
              <a:rPr lang="en-US" altLang="zh-CN" sz="2400" smtClean="0"/>
              <a:t>I</a:t>
            </a:r>
            <a:r>
              <a:rPr lang="en-US" altLang="zh-CN" smtClean="0"/>
              <a:t> (</a:t>
            </a:r>
            <a:r>
              <a:rPr lang="en-US" altLang="zh-CN" smtClean="0">
                <a:sym typeface="Symbol" panose="05050102010706020507" pitchFamily="18" charset="2"/>
              </a:rPr>
              <a:t></a:t>
            </a:r>
            <a:r>
              <a:rPr lang="en-US" altLang="zh-CN" smtClean="0"/>
              <a:t>xP (x)</a:t>
            </a:r>
            <a:r>
              <a:rPr lang="en-US" altLang="zh-CN" smtClean="0">
                <a:sym typeface="Symbol" panose="05050102010706020507" pitchFamily="18" charset="2"/>
              </a:rPr>
              <a:t></a:t>
            </a:r>
            <a:r>
              <a:rPr lang="en-US" altLang="zh-CN" smtClean="0"/>
              <a:t>xP(x))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/>
              <a:t>        =T</a:t>
            </a:r>
            <a:r>
              <a:rPr lang="en-US" altLang="zh-CN" sz="2400" smtClean="0"/>
              <a:t>I</a:t>
            </a:r>
            <a:r>
              <a:rPr lang="en-US" altLang="zh-CN" smtClean="0"/>
              <a:t>((P(a)</a:t>
            </a:r>
            <a:r>
              <a:rPr lang="en-US" altLang="zh-CN" smtClean="0">
                <a:sym typeface="Symbol" panose="05050102010706020507" pitchFamily="18" charset="2"/>
              </a:rPr>
              <a:t> </a:t>
            </a:r>
            <a:r>
              <a:rPr lang="en-US" altLang="zh-CN" smtClean="0"/>
              <a:t>P(b))</a:t>
            </a:r>
            <a:r>
              <a:rPr lang="en-US" altLang="zh-CN" smtClean="0">
                <a:sym typeface="Symbol" panose="05050102010706020507" pitchFamily="18" charset="2"/>
              </a:rPr>
              <a:t> </a:t>
            </a:r>
            <a:r>
              <a:rPr lang="en-US" altLang="zh-CN" smtClean="0"/>
              <a:t>(P(a)</a:t>
            </a:r>
            <a:r>
              <a:rPr lang="en-US" altLang="zh-CN" smtClean="0">
                <a:sym typeface="Symbol" panose="05050102010706020507" pitchFamily="18" charset="2"/>
              </a:rPr>
              <a:t> ∧</a:t>
            </a:r>
            <a:r>
              <a:rPr lang="en-US" altLang="zh-CN" smtClean="0"/>
              <a:t>P(b))</a:t>
            </a:r>
            <a:r>
              <a:rPr lang="en-US" altLang="zh-CN" smtClean="0">
                <a:sym typeface="Symbol" panose="05050102010706020507" pitchFamily="18" charset="2"/>
              </a:rPr>
              <a:t>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sym typeface="Symbol" panose="05050102010706020507" pitchFamily="18" charset="2"/>
              </a:rPr>
              <a:t>         =(10) (1∧0)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sym typeface="Symbol" panose="05050102010706020507" pitchFamily="18" charset="2"/>
              </a:rPr>
              <a:t>         =0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20044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304800"/>
            <a:ext cx="8305800" cy="5673725"/>
          </a:xfrm>
        </p:spPr>
        <p:txBody>
          <a:bodyPr/>
          <a:lstStyle/>
          <a:p>
            <a:pPr>
              <a:defRPr/>
            </a:pPr>
            <a:r>
              <a:rPr lang="zh-CN" altLang="en-US" sz="3300" b="1" dirty="0" smtClean="0">
                <a:solidFill>
                  <a:srgbClr val="FFC000"/>
                </a:solidFill>
                <a:latin typeface="Times New Roman" pitchFamily="18" charset="0"/>
              </a:rPr>
              <a:t>习题</a:t>
            </a:r>
            <a:r>
              <a:rPr lang="en-US" altLang="zh-CN" sz="3300" b="1" dirty="0" smtClean="0">
                <a:solidFill>
                  <a:srgbClr val="FFC000"/>
                </a:solidFill>
                <a:latin typeface="Times New Roman" pitchFamily="18" charset="0"/>
              </a:rPr>
              <a:t>3.2-5</a:t>
            </a:r>
            <a:endParaRPr lang="en-US" altLang="zh-CN" sz="3300" b="1" dirty="0" smtClean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zh-CN" sz="3300" b="1" dirty="0" smtClean="0">
                <a:solidFill>
                  <a:srgbClr val="FFC000"/>
                </a:solidFill>
              </a:rPr>
              <a:t>设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G</a:t>
            </a:r>
            <a:r>
              <a:rPr lang="en-US" altLang="zh-CN" sz="3300" b="1" baseline="-25000" dirty="0" smtClean="0">
                <a:solidFill>
                  <a:srgbClr val="FFC000"/>
                </a:solidFill>
              </a:rPr>
              <a:t>1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=</a:t>
            </a:r>
            <a:r>
              <a:rPr lang="en-US" altLang="zh-CN" sz="3300" b="1" dirty="0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x(P(x)</a:t>
            </a:r>
            <a:r>
              <a:rPr lang="en-US" altLang="zh-CN" sz="3300" b="1" dirty="0" smtClean="0">
                <a:solidFill>
                  <a:srgbClr val="FFC000"/>
                </a:solidFill>
                <a:sym typeface="Symbol"/>
              </a:rPr>
              <a:t>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Q(x))</a:t>
            </a:r>
            <a:r>
              <a:rPr lang="zh-CN" altLang="zh-CN" sz="3300" b="1" dirty="0" smtClean="0">
                <a:solidFill>
                  <a:srgbClr val="FFC000"/>
                </a:solidFill>
              </a:rPr>
              <a:t>，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G</a:t>
            </a:r>
            <a:r>
              <a:rPr lang="en-US" altLang="zh-CN" sz="3300" b="1" baseline="-25000" dirty="0" smtClean="0">
                <a:solidFill>
                  <a:srgbClr val="FFC000"/>
                </a:solidFill>
              </a:rPr>
              <a:t>2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=</a:t>
            </a:r>
            <a:r>
              <a:rPr lang="en-US" altLang="zh-CN" sz="3300" b="1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Q(a)</a:t>
            </a:r>
            <a:r>
              <a:rPr lang="zh-CN" altLang="zh-CN" sz="3300" b="1" dirty="0" smtClean="0">
                <a:solidFill>
                  <a:srgbClr val="FFC000"/>
                </a:solidFill>
              </a:rPr>
              <a:t>，证</a:t>
            </a:r>
            <a:r>
              <a:rPr lang="zh-CN" altLang="en-US" sz="3300" b="1" dirty="0" smtClean="0">
                <a:solidFill>
                  <a:srgbClr val="FFC000"/>
                </a:solidFill>
              </a:rPr>
              <a:t>明：</a:t>
            </a:r>
            <a:r>
              <a:rPr lang="en-US" altLang="zh-CN" sz="3300" b="1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P(a)</a:t>
            </a:r>
            <a:r>
              <a:rPr lang="zh-CN" altLang="zh-CN" sz="3300" b="1" dirty="0" smtClean="0">
                <a:solidFill>
                  <a:srgbClr val="FFC000"/>
                </a:solidFill>
              </a:rPr>
              <a:t>是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G</a:t>
            </a:r>
            <a:r>
              <a:rPr lang="en-US" altLang="zh-CN" sz="3300" b="1" baseline="-25000" dirty="0" smtClean="0">
                <a:solidFill>
                  <a:srgbClr val="FFC000"/>
                </a:solidFill>
              </a:rPr>
              <a:t>1</a:t>
            </a:r>
            <a:r>
              <a:rPr lang="zh-CN" altLang="zh-CN" sz="3300" b="1" dirty="0" smtClean="0">
                <a:solidFill>
                  <a:srgbClr val="FFC000"/>
                </a:solidFill>
              </a:rPr>
              <a:t>和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G</a:t>
            </a:r>
            <a:r>
              <a:rPr lang="en-US" altLang="zh-CN" sz="3300" b="1" baseline="-25000" dirty="0" smtClean="0">
                <a:solidFill>
                  <a:srgbClr val="FFC000"/>
                </a:solidFill>
              </a:rPr>
              <a:t>2</a:t>
            </a:r>
            <a:r>
              <a:rPr lang="zh-CN" altLang="zh-CN" sz="3300" b="1" dirty="0" smtClean="0">
                <a:solidFill>
                  <a:srgbClr val="FFC000"/>
                </a:solidFill>
              </a:rPr>
              <a:t>的逻辑结果。</a:t>
            </a:r>
          </a:p>
          <a:p>
            <a:pPr>
              <a:defRPr/>
            </a:pPr>
            <a:r>
              <a:rPr lang="zh-CN" altLang="zh-CN" sz="3300" b="1" dirty="0" smtClean="0"/>
              <a:t>证明：</a:t>
            </a:r>
            <a:endParaRPr lang="en-US" altLang="zh-CN" sz="3300" b="1" dirty="0" smtClean="0"/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b="1" dirty="0" smtClean="0"/>
              <a:t>  </a:t>
            </a:r>
            <a:r>
              <a:rPr lang="zh-CN" altLang="zh-CN" sz="3300" b="1" dirty="0" smtClean="0"/>
              <a:t>反证法：若解释</a:t>
            </a:r>
            <a:r>
              <a:rPr lang="en-US" altLang="zh-CN" sz="3300" b="1" dirty="0" smtClean="0"/>
              <a:t>I</a:t>
            </a:r>
            <a:r>
              <a:rPr lang="zh-CN" altLang="zh-CN" sz="3300" b="1" dirty="0" smtClean="0"/>
              <a:t>满足</a:t>
            </a:r>
            <a:r>
              <a:rPr lang="en-US" altLang="zh-CN" sz="3300" b="1" dirty="0" smtClean="0"/>
              <a:t>G</a:t>
            </a:r>
            <a:r>
              <a:rPr lang="en-US" altLang="zh-CN" sz="3300" b="1" baseline="-25000" dirty="0" smtClean="0"/>
              <a:t>1</a:t>
            </a:r>
            <a:r>
              <a:rPr lang="en-US" altLang="zh-CN" sz="3300" b="1" dirty="0" smtClean="0"/>
              <a:t> </a:t>
            </a:r>
            <a:r>
              <a:rPr lang="en-US" altLang="zh-CN" sz="3300" b="1" dirty="0" smtClean="0">
                <a:sym typeface="Symbol"/>
              </a:rPr>
              <a:t></a:t>
            </a:r>
            <a:r>
              <a:rPr lang="en-US" altLang="zh-CN" sz="3300" b="1" dirty="0" smtClean="0"/>
              <a:t>G</a:t>
            </a:r>
            <a:r>
              <a:rPr lang="en-US" altLang="zh-CN" sz="3300" b="1" baseline="-25000" dirty="0" smtClean="0"/>
              <a:t>2</a:t>
            </a:r>
            <a:r>
              <a:rPr lang="zh-CN" altLang="zh-CN" sz="3300" b="1" dirty="0" smtClean="0"/>
              <a:t>，而弄假</a:t>
            </a:r>
            <a:r>
              <a:rPr lang="en-US" altLang="zh-CN" sz="3300" b="1" dirty="0" smtClean="0">
                <a:sym typeface="Symbol"/>
              </a:rPr>
              <a:t></a:t>
            </a:r>
            <a:r>
              <a:rPr lang="en-US" altLang="zh-CN" sz="3300" b="1" dirty="0" smtClean="0"/>
              <a:t>P(a)</a:t>
            </a:r>
            <a:r>
              <a:rPr lang="zh-CN" altLang="zh-CN" sz="3300" b="1" dirty="0" smtClean="0"/>
              <a:t>，则在解释</a:t>
            </a:r>
            <a:r>
              <a:rPr lang="en-US" altLang="zh-CN" sz="3300" b="1" dirty="0" smtClean="0"/>
              <a:t>I</a:t>
            </a:r>
            <a:r>
              <a:rPr lang="zh-CN" altLang="zh-CN" sz="3300" b="1" dirty="0" smtClean="0"/>
              <a:t>下，</a:t>
            </a:r>
            <a:r>
              <a:rPr lang="en-US" altLang="zh-CN" sz="3300" b="1" dirty="0" smtClean="0"/>
              <a:t>P(a)</a:t>
            </a:r>
            <a:r>
              <a:rPr lang="zh-CN" altLang="zh-CN" sz="3300" b="1" dirty="0" smtClean="0"/>
              <a:t>为真</a:t>
            </a:r>
            <a:r>
              <a:rPr lang="zh-CN" altLang="en-US" sz="3300" b="1" dirty="0" smtClean="0"/>
              <a:t>；而</a:t>
            </a:r>
            <a:r>
              <a:rPr lang="en-US" altLang="zh-CN" sz="3300" b="1" dirty="0" smtClean="0"/>
              <a:t>G</a:t>
            </a:r>
            <a:r>
              <a:rPr lang="en-US" altLang="zh-CN" sz="3300" b="1" baseline="-25000" dirty="0" smtClean="0"/>
              <a:t>2</a:t>
            </a:r>
            <a:r>
              <a:rPr lang="zh-CN" altLang="en-US" sz="3300" b="1" dirty="0" smtClean="0"/>
              <a:t>在</a:t>
            </a:r>
            <a:r>
              <a:rPr lang="en-US" altLang="zh-CN" sz="3300" b="1" dirty="0" smtClean="0"/>
              <a:t>I</a:t>
            </a:r>
            <a:r>
              <a:rPr lang="zh-CN" altLang="en-US" sz="3300" b="1" dirty="0" smtClean="0"/>
              <a:t>下</a:t>
            </a:r>
            <a:r>
              <a:rPr lang="zh-CN" altLang="zh-CN" sz="3300" b="1" dirty="0" smtClean="0"/>
              <a:t>为真，所以</a:t>
            </a:r>
            <a:r>
              <a:rPr lang="en-US" altLang="zh-CN" sz="3300" b="1" dirty="0" smtClean="0"/>
              <a:t>Q(a)</a:t>
            </a:r>
            <a:r>
              <a:rPr lang="zh-CN" altLang="zh-CN" sz="3300" b="1" dirty="0" smtClean="0"/>
              <a:t>为假。故</a:t>
            </a:r>
            <a:r>
              <a:rPr lang="en-US" altLang="zh-CN" sz="3300" b="1" dirty="0" smtClean="0"/>
              <a:t>P(a)</a:t>
            </a:r>
            <a:r>
              <a:rPr lang="en-US" altLang="zh-CN" sz="3300" b="1" dirty="0" smtClean="0">
                <a:sym typeface="Symbol"/>
              </a:rPr>
              <a:t></a:t>
            </a:r>
            <a:r>
              <a:rPr lang="en-US" altLang="zh-CN" sz="3300" b="1" dirty="0" smtClean="0"/>
              <a:t>Q(a</a:t>
            </a:r>
            <a:r>
              <a:rPr lang="en-US" altLang="zh-CN" sz="3300" b="1" dirty="0" smtClean="0">
                <a:solidFill>
                  <a:srgbClr val="FFC000"/>
                </a:solidFill>
              </a:rPr>
              <a:t>)</a:t>
            </a:r>
            <a:r>
              <a:rPr lang="zh-CN" altLang="zh-CN" sz="3300" b="1" dirty="0" smtClean="0"/>
              <a:t>为假，</a:t>
            </a:r>
            <a:r>
              <a:rPr lang="zh-CN" altLang="en-US" sz="3300" b="1" dirty="0" smtClean="0"/>
              <a:t>即</a:t>
            </a:r>
            <a:r>
              <a:rPr lang="en-US" altLang="zh-CN" sz="3300" b="1" dirty="0" smtClean="0">
                <a:sym typeface="Symbol"/>
              </a:rPr>
              <a:t></a:t>
            </a:r>
            <a:r>
              <a:rPr lang="en-US" altLang="zh-CN" sz="3300" b="1" dirty="0" smtClean="0"/>
              <a:t>x(P(x)</a:t>
            </a:r>
            <a:r>
              <a:rPr lang="en-US" altLang="zh-CN" sz="3300" b="1" dirty="0" smtClean="0">
                <a:sym typeface="Symbol"/>
              </a:rPr>
              <a:t></a:t>
            </a:r>
            <a:r>
              <a:rPr lang="en-US" altLang="zh-CN" sz="3300" b="1" dirty="0" smtClean="0"/>
              <a:t>Q(x))</a:t>
            </a:r>
            <a:r>
              <a:rPr lang="zh-CN" altLang="en-US" sz="3300" b="1" dirty="0" smtClean="0"/>
              <a:t>为假，即</a:t>
            </a:r>
            <a:r>
              <a:rPr lang="en-US" altLang="zh-CN" sz="3300" b="1" dirty="0" smtClean="0"/>
              <a:t>G</a:t>
            </a:r>
            <a:r>
              <a:rPr lang="en-US" altLang="zh-CN" sz="3300" b="1" baseline="-25000" dirty="0" smtClean="0"/>
              <a:t>1</a:t>
            </a:r>
            <a:r>
              <a:rPr lang="zh-CN" altLang="zh-CN" sz="3300" b="1" dirty="0" smtClean="0"/>
              <a:t>为假，这与解释</a:t>
            </a:r>
            <a:r>
              <a:rPr lang="en-US" altLang="zh-CN" sz="3300" b="1" dirty="0" smtClean="0"/>
              <a:t>I</a:t>
            </a:r>
            <a:r>
              <a:rPr lang="zh-CN" altLang="zh-CN" sz="3300" b="1" dirty="0" smtClean="0"/>
              <a:t>满足</a:t>
            </a:r>
            <a:r>
              <a:rPr lang="en-US" altLang="zh-CN" sz="3300" b="1" dirty="0" smtClean="0"/>
              <a:t>G</a:t>
            </a:r>
            <a:r>
              <a:rPr lang="en-US" altLang="zh-CN" sz="3300" b="1" baseline="-25000" dirty="0" smtClean="0"/>
              <a:t>1</a:t>
            </a:r>
            <a:r>
              <a:rPr lang="zh-CN" altLang="zh-CN" sz="3300" b="1" dirty="0" smtClean="0"/>
              <a:t>矛盾。从而结论得证。</a:t>
            </a:r>
          </a:p>
          <a:p>
            <a:pPr>
              <a:defRPr/>
            </a:pPr>
            <a:endParaRPr lang="en-US" altLang="zh-CN" sz="3200" dirty="0" smtClean="0"/>
          </a:p>
          <a:p>
            <a:pPr>
              <a:defRPr/>
            </a:pPr>
            <a:endParaRPr lang="zh-CN" altLang="en-US" sz="32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2B60D2-E49B-43EE-8E3A-7AD241C58ECA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55911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107" y="179615"/>
            <a:ext cx="8768443" cy="630282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zh-CN" altLang="en-US" sz="3000" dirty="0" smtClean="0">
                <a:solidFill>
                  <a:srgbClr val="FFC000"/>
                </a:solidFill>
              </a:rPr>
              <a:t>习题</a:t>
            </a:r>
            <a:r>
              <a:rPr lang="en-US" altLang="zh-CN" sz="3000" dirty="0" smtClean="0">
                <a:solidFill>
                  <a:srgbClr val="FFC000"/>
                </a:solidFill>
              </a:rPr>
              <a:t>3.2-6 </a:t>
            </a:r>
            <a:r>
              <a:rPr lang="zh-CN" altLang="zh-CN" sz="3000" kern="1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试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证明下列等价式或蕴涵式，其中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A(x)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B(x)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表示含自由变量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的公式，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表示不含变量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不论是自由的还是约束的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的公式。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</a:rPr>
              <a:t>(6) (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effectLst/>
              </a:rPr>
              <a:t>xA</a:t>
            </a:r>
            <a:r>
              <a:rPr lang="en-US" altLang="zh-CN" sz="2800" dirty="0">
                <a:effectLst/>
              </a:rPr>
              <a:t>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</a:t>
            </a:r>
            <a:r>
              <a:rPr lang="en-US" altLang="zh-CN" sz="2800" dirty="0" err="1">
                <a:effectLst/>
              </a:rPr>
              <a:t>xB</a:t>
            </a:r>
            <a:r>
              <a:rPr lang="en-US" altLang="zh-CN" sz="2800" dirty="0">
                <a:effectLst/>
              </a:rPr>
              <a:t>(x))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</a:t>
            </a:r>
            <a:r>
              <a:rPr lang="en-US" altLang="zh-CN" sz="2800" dirty="0">
                <a:effectLst/>
              </a:rPr>
              <a:t>x(A(x)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effectLst/>
              </a:rPr>
              <a:t>B(x))</a:t>
            </a:r>
            <a:r>
              <a:rPr lang="zh-CN" altLang="zh-CN" sz="2800" dirty="0">
                <a:effectLst/>
              </a:rPr>
              <a:t>；</a:t>
            </a:r>
          </a:p>
          <a:p>
            <a:pPr marL="0" indent="0">
              <a:buNone/>
            </a:pPr>
            <a:r>
              <a:rPr lang="zh-CN" altLang="zh-CN" sz="2800" dirty="0">
                <a:effectLst/>
              </a:rPr>
              <a:t>证明：</a:t>
            </a:r>
          </a:p>
          <a:p>
            <a:pPr marL="0" indent="0">
              <a:buNone/>
            </a:pPr>
            <a:r>
              <a:rPr lang="zh-CN" altLang="zh-CN" sz="2800" dirty="0">
                <a:effectLst/>
              </a:rPr>
              <a:t>若解释</a:t>
            </a:r>
            <a:r>
              <a:rPr lang="en-US" altLang="zh-CN" sz="2800" dirty="0">
                <a:effectLst/>
              </a:rPr>
              <a:t>I</a:t>
            </a:r>
            <a:r>
              <a:rPr lang="zh-CN" altLang="zh-CN" sz="2800" dirty="0">
                <a:effectLst/>
              </a:rPr>
              <a:t>满足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effectLst/>
              </a:rPr>
              <a:t>xA</a:t>
            </a:r>
            <a:r>
              <a:rPr lang="en-US" altLang="zh-CN" sz="2800" dirty="0">
                <a:effectLst/>
              </a:rPr>
              <a:t>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</a:t>
            </a:r>
            <a:r>
              <a:rPr lang="en-US" altLang="zh-CN" sz="2800" dirty="0" err="1">
                <a:effectLst/>
              </a:rPr>
              <a:t>xB</a:t>
            </a:r>
            <a:r>
              <a:rPr lang="en-US" altLang="zh-CN" sz="2800" dirty="0">
                <a:effectLst/>
              </a:rPr>
              <a:t>(x)</a:t>
            </a:r>
            <a:r>
              <a:rPr lang="zh-CN" altLang="zh-CN" sz="2800" dirty="0">
                <a:effectLst/>
              </a:rPr>
              <a:t>，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  <a:sym typeface="Wingdings 2" panose="05020102010507070707" pitchFamily="18" charset="2"/>
              </a:rPr>
              <a:t></a:t>
            </a:r>
            <a:r>
              <a:rPr lang="zh-CN" altLang="zh-CN" sz="2800" dirty="0">
                <a:effectLst/>
              </a:rPr>
              <a:t>若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2800" dirty="0" err="1">
                <a:effectLst/>
              </a:rPr>
              <a:t>xB</a:t>
            </a:r>
            <a:r>
              <a:rPr lang="en-US" altLang="zh-CN" sz="2800" dirty="0">
                <a:effectLst/>
              </a:rPr>
              <a:t>(x)</a:t>
            </a:r>
            <a:r>
              <a:rPr lang="zh-CN" altLang="zh-CN" sz="2800" dirty="0">
                <a:effectLst/>
              </a:rPr>
              <a:t>为真；即对任意的</a:t>
            </a:r>
            <a:r>
              <a:rPr lang="en-US" altLang="zh-CN" sz="2800" dirty="0" err="1">
                <a:effectLst/>
              </a:rPr>
              <a:t>x</a:t>
            </a:r>
            <a:r>
              <a:rPr lang="en-US" altLang="zh-CN" sz="2800" dirty="0" err="1">
                <a:effectLst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effectLst/>
              </a:rPr>
              <a:t>D</a:t>
            </a:r>
            <a:r>
              <a:rPr lang="zh-CN" altLang="zh-CN" sz="2800" dirty="0">
                <a:effectLst/>
              </a:rPr>
              <a:t>，</a:t>
            </a:r>
            <a:r>
              <a:rPr lang="en-US" altLang="zh-CN" sz="2800" dirty="0">
                <a:effectLst/>
              </a:rPr>
              <a:t>B(x)</a:t>
            </a:r>
            <a:r>
              <a:rPr lang="zh-CN" altLang="zh-CN" sz="2800" dirty="0">
                <a:effectLst/>
              </a:rPr>
              <a:t>为真，则对任意的</a:t>
            </a:r>
            <a:r>
              <a:rPr lang="en-US" altLang="zh-CN" sz="2800" dirty="0" err="1">
                <a:effectLst/>
              </a:rPr>
              <a:t>x</a:t>
            </a:r>
            <a:r>
              <a:rPr lang="en-US" altLang="zh-CN" sz="2800" dirty="0" err="1">
                <a:effectLst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effectLst/>
              </a:rPr>
              <a:t>D</a:t>
            </a:r>
            <a:r>
              <a:rPr lang="zh-CN" altLang="zh-CN" sz="2800" dirty="0">
                <a:effectLst/>
              </a:rPr>
              <a:t>，无论</a:t>
            </a:r>
            <a:r>
              <a:rPr lang="en-US" altLang="zh-CN" sz="2800" dirty="0">
                <a:effectLst/>
              </a:rPr>
              <a:t>A(x)</a:t>
            </a:r>
            <a:r>
              <a:rPr lang="zh-CN" altLang="zh-CN" sz="2800" dirty="0">
                <a:effectLst/>
              </a:rPr>
              <a:t>为何值，都有</a:t>
            </a:r>
            <a:r>
              <a:rPr lang="en-US" altLang="zh-CN" sz="2800" dirty="0">
                <a:effectLst/>
              </a:rPr>
              <a:t>A(x)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effectLst/>
              </a:rPr>
              <a:t>B(x)</a:t>
            </a:r>
            <a:r>
              <a:rPr lang="zh-CN" altLang="zh-CN" sz="2800" dirty="0">
                <a:effectLst/>
              </a:rPr>
              <a:t>为真，所以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effectLst/>
              </a:rPr>
              <a:t>x (A(x)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effectLst/>
              </a:rPr>
              <a:t>B(x))</a:t>
            </a:r>
            <a:r>
              <a:rPr lang="zh-CN" altLang="zh-CN" sz="2800" dirty="0">
                <a:effectLst/>
              </a:rPr>
              <a:t>为真；</a:t>
            </a:r>
          </a:p>
          <a:p>
            <a:pPr marL="0" indent="0">
              <a:buNone/>
            </a:pPr>
            <a:r>
              <a:rPr lang="en-US" altLang="zh-CN" sz="2800" dirty="0">
                <a:effectLst/>
                <a:sym typeface="Wingdings 2" panose="05020102010507070707" pitchFamily="18" charset="2"/>
              </a:rPr>
              <a:t></a:t>
            </a:r>
            <a:r>
              <a:rPr lang="zh-CN" altLang="zh-CN" sz="2800" dirty="0">
                <a:effectLst/>
              </a:rPr>
              <a:t>若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effectLst/>
              </a:rPr>
              <a:t>xA</a:t>
            </a:r>
            <a:r>
              <a:rPr lang="en-US" altLang="zh-CN" sz="2800" dirty="0">
                <a:effectLst/>
              </a:rPr>
              <a:t>(x)</a:t>
            </a:r>
            <a:r>
              <a:rPr lang="zh-CN" altLang="zh-CN" sz="2800" dirty="0">
                <a:effectLst/>
              </a:rPr>
              <a:t>为假，则对任意的</a:t>
            </a:r>
            <a:r>
              <a:rPr lang="en-US" altLang="zh-CN" sz="2800" dirty="0" err="1">
                <a:effectLst/>
              </a:rPr>
              <a:t>x</a:t>
            </a:r>
            <a:r>
              <a:rPr lang="en-US" altLang="zh-CN" sz="2800" dirty="0" err="1">
                <a:effectLst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effectLst/>
              </a:rPr>
              <a:t>D</a:t>
            </a:r>
            <a:r>
              <a:rPr lang="zh-CN" altLang="zh-CN" sz="2800" dirty="0">
                <a:effectLst/>
              </a:rPr>
              <a:t>，</a:t>
            </a:r>
            <a:r>
              <a:rPr lang="en-US" altLang="zh-CN" sz="2800" dirty="0">
                <a:effectLst/>
              </a:rPr>
              <a:t>A (x)</a:t>
            </a:r>
            <a:r>
              <a:rPr lang="zh-CN" altLang="zh-CN" sz="2800" dirty="0">
                <a:effectLst/>
              </a:rPr>
              <a:t>为假，则对任意的</a:t>
            </a:r>
            <a:r>
              <a:rPr lang="en-US" altLang="zh-CN" sz="2800" dirty="0" err="1">
                <a:effectLst/>
              </a:rPr>
              <a:t>x</a:t>
            </a:r>
            <a:r>
              <a:rPr lang="en-US" altLang="zh-CN" sz="2800" dirty="0" err="1">
                <a:effectLst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effectLst/>
              </a:rPr>
              <a:t>D</a:t>
            </a:r>
            <a:r>
              <a:rPr lang="zh-CN" altLang="zh-CN" sz="2800" dirty="0">
                <a:effectLst/>
              </a:rPr>
              <a:t>，无论</a:t>
            </a:r>
            <a:r>
              <a:rPr lang="en-US" altLang="zh-CN" sz="2800" dirty="0">
                <a:effectLst/>
              </a:rPr>
              <a:t>B (x)</a:t>
            </a:r>
            <a:r>
              <a:rPr lang="zh-CN" altLang="zh-CN" sz="2800" dirty="0">
                <a:effectLst/>
              </a:rPr>
              <a:t>为何值，都有</a:t>
            </a:r>
            <a:r>
              <a:rPr lang="en-US" altLang="zh-CN" sz="2800" dirty="0">
                <a:effectLst/>
              </a:rPr>
              <a:t>A(x)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effectLst/>
              </a:rPr>
              <a:t>B(x)</a:t>
            </a:r>
            <a:r>
              <a:rPr lang="zh-CN" altLang="zh-CN" sz="2800" dirty="0">
                <a:effectLst/>
              </a:rPr>
              <a:t>为真，所以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</a:t>
            </a:r>
            <a:r>
              <a:rPr lang="en-US" altLang="zh-CN" sz="2800" dirty="0">
                <a:effectLst/>
              </a:rPr>
              <a:t>x (A(x)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effectLst/>
              </a:rPr>
              <a:t>B(x))</a:t>
            </a:r>
            <a:r>
              <a:rPr lang="zh-CN" altLang="zh-CN" sz="2800" dirty="0">
                <a:effectLst/>
              </a:rPr>
              <a:t>为真。</a:t>
            </a:r>
          </a:p>
          <a:p>
            <a:pPr marL="0" indent="0">
              <a:buNone/>
            </a:pPr>
            <a:r>
              <a:rPr lang="zh-CN" altLang="zh-CN" sz="2800" dirty="0">
                <a:effectLst/>
              </a:rPr>
              <a:t>因此，</a:t>
            </a:r>
            <a:r>
              <a:rPr lang="en-US" altLang="zh-CN" sz="2800" dirty="0">
                <a:effectLst/>
              </a:rPr>
              <a:t>(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effectLst/>
              </a:rPr>
              <a:t>xA</a:t>
            </a:r>
            <a:r>
              <a:rPr lang="en-US" altLang="zh-CN" sz="2800" dirty="0">
                <a:effectLst/>
              </a:rPr>
              <a:t>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</a:t>
            </a:r>
            <a:r>
              <a:rPr lang="en-US" altLang="zh-CN" sz="2800" dirty="0" err="1">
                <a:effectLst/>
              </a:rPr>
              <a:t>xB</a:t>
            </a:r>
            <a:r>
              <a:rPr lang="en-US" altLang="zh-CN" sz="2800" dirty="0">
                <a:effectLst/>
              </a:rPr>
              <a:t>(x))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</a:t>
            </a:r>
            <a:r>
              <a:rPr lang="en-US" altLang="zh-CN" sz="2800" dirty="0">
                <a:effectLst/>
              </a:rPr>
              <a:t>x(A(x)</a:t>
            </a:r>
            <a:r>
              <a:rPr lang="en-US" altLang="zh-CN" sz="28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effectLst/>
              </a:rPr>
              <a:t>B(x))</a:t>
            </a:r>
            <a:r>
              <a:rPr lang="zh-CN" altLang="zh-CN" sz="2800" dirty="0">
                <a:effectLst/>
              </a:rPr>
              <a:t>。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7F9898-006D-468F-97FC-D77146EB2289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558166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1257" y="310244"/>
            <a:ext cx="8572500" cy="5820682"/>
          </a:xfrm>
        </p:spPr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86D1EC"/>
              </a:buClr>
            </a:pPr>
            <a:r>
              <a:rPr lang="zh-CN" altLang="en-US" sz="3000" dirty="0">
                <a:solidFill>
                  <a:srgbClr val="FFC000"/>
                </a:solidFill>
              </a:rPr>
              <a:t>习题</a:t>
            </a:r>
            <a:r>
              <a:rPr lang="en-US" altLang="zh-CN" sz="3000" dirty="0">
                <a:solidFill>
                  <a:srgbClr val="FFC000"/>
                </a:solidFill>
              </a:rPr>
              <a:t>3.2-6 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试证明下列等价式或蕴涵式，其中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A(x)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B(x)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表示含自由变量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的公式，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表示不含变量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不论是自由的还是约束的</a:t>
            </a:r>
            <a:r>
              <a:rPr lang="en-US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3000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的公式。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7) 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xA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xB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x(A(x)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B(x))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证明：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若解释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满足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xA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xB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，则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xA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xB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至少有一个为真，不妨设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 A(x)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为真，则对任意的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 (x)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为真，则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A(x)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B(x) 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为真，所以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 (A(x)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B(x))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为真；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因此，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xA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xB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(x))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x(A(x)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B(x))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endParaRPr lang="zh-CN" altLang="en-US" sz="3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7F9898-006D-468F-97FC-D77146EB2289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192950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81000"/>
            <a:ext cx="8839200" cy="5749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solidFill>
                  <a:srgbClr val="FFC000"/>
                </a:solidFill>
                <a:latin typeface="Times New Roman" pitchFamily="18" charset="0"/>
              </a:rPr>
              <a:t>习题</a:t>
            </a:r>
            <a:r>
              <a:rPr lang="en-US" altLang="zh-CN" b="1" dirty="0" smtClean="0">
                <a:solidFill>
                  <a:srgbClr val="FFC000"/>
                </a:solidFill>
                <a:latin typeface="Times New Roman" pitchFamily="18" charset="0"/>
              </a:rPr>
              <a:t>3.2-7  </a:t>
            </a:r>
          </a:p>
          <a:p>
            <a:pPr marL="0" indent="0" eaLnBrk="1" hangingPunct="1">
              <a:buNone/>
              <a:defRPr/>
            </a:pPr>
            <a:r>
              <a:rPr lang="zh-CN" altLang="zh-CN" sz="3200" dirty="0" smtClean="0">
                <a:solidFill>
                  <a:srgbClr val="FFC000"/>
                </a:solidFill>
              </a:rPr>
              <a:t>若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</a:rPr>
              <a:t>x(P(x)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</a:t>
            </a:r>
            <a:r>
              <a:rPr lang="en-US" altLang="zh-CN" sz="3200" dirty="0" smtClean="0">
                <a:solidFill>
                  <a:srgbClr val="FFC000"/>
                </a:solidFill>
              </a:rPr>
              <a:t>Q(x))</a:t>
            </a:r>
            <a:r>
              <a:rPr lang="zh-CN" altLang="zh-CN" sz="3200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</a:rPr>
              <a:t>y(P(y)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</a:t>
            </a:r>
            <a:r>
              <a:rPr lang="en-US" altLang="zh-CN" sz="3200" dirty="0" smtClean="0">
                <a:solidFill>
                  <a:srgbClr val="FFC000"/>
                </a:solidFill>
              </a:rPr>
              <a:t>R(y))</a:t>
            </a:r>
            <a:r>
              <a:rPr lang="zh-CN" altLang="zh-CN" sz="3200" dirty="0" smtClean="0">
                <a:solidFill>
                  <a:srgbClr val="FFC000"/>
                </a:solidFill>
              </a:rPr>
              <a:t>在某解释</a:t>
            </a:r>
            <a:r>
              <a:rPr lang="en-US" altLang="zh-CN" sz="3200" dirty="0" smtClean="0">
                <a:solidFill>
                  <a:srgbClr val="FFC000"/>
                </a:solidFill>
              </a:rPr>
              <a:t>I</a:t>
            </a:r>
            <a:r>
              <a:rPr lang="zh-CN" altLang="zh-CN" sz="3200" dirty="0" smtClean="0">
                <a:solidFill>
                  <a:srgbClr val="FFC000"/>
                </a:solidFill>
              </a:rPr>
              <a:t>下取</a:t>
            </a:r>
            <a:r>
              <a:rPr lang="en-US" altLang="zh-CN" sz="3200" dirty="0" smtClean="0">
                <a:solidFill>
                  <a:srgbClr val="FFC000"/>
                </a:solidFill>
              </a:rPr>
              <a:t>1</a:t>
            </a:r>
            <a:r>
              <a:rPr lang="zh-CN" altLang="zh-CN" sz="3200" dirty="0" smtClean="0">
                <a:solidFill>
                  <a:srgbClr val="FFC000"/>
                </a:solidFill>
              </a:rPr>
              <a:t>值，</a:t>
            </a:r>
            <a:endParaRPr lang="en-US" altLang="zh-CN" sz="3200" dirty="0" smtClean="0">
              <a:solidFill>
                <a:srgbClr val="FFC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3200" dirty="0" smtClean="0">
                <a:solidFill>
                  <a:srgbClr val="FFC000"/>
                </a:solidFill>
              </a:rPr>
              <a:t>(1)</a:t>
            </a:r>
            <a:r>
              <a:rPr lang="zh-CN" altLang="zh-CN" sz="3200" dirty="0" smtClean="0">
                <a:solidFill>
                  <a:srgbClr val="FFC000"/>
                </a:solidFill>
              </a:rPr>
              <a:t>则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</a:rPr>
              <a:t>z(Q(z)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</a:t>
            </a:r>
            <a:r>
              <a:rPr lang="en-US" altLang="zh-CN" sz="3200" dirty="0" smtClean="0">
                <a:solidFill>
                  <a:srgbClr val="FFC000"/>
                </a:solidFill>
              </a:rPr>
              <a:t>R(z))</a:t>
            </a:r>
            <a:r>
              <a:rPr lang="zh-CN" altLang="zh-CN" sz="3200" dirty="0" smtClean="0">
                <a:solidFill>
                  <a:srgbClr val="FFC000"/>
                </a:solidFill>
              </a:rPr>
              <a:t>是否在</a:t>
            </a:r>
            <a:r>
              <a:rPr lang="en-US" altLang="zh-CN" sz="3200" dirty="0" smtClean="0">
                <a:solidFill>
                  <a:srgbClr val="FFC000"/>
                </a:solidFill>
              </a:rPr>
              <a:t>I</a:t>
            </a:r>
            <a:r>
              <a:rPr lang="zh-CN" altLang="zh-CN" sz="3200" dirty="0" smtClean="0">
                <a:solidFill>
                  <a:srgbClr val="FFC000"/>
                </a:solidFill>
              </a:rPr>
              <a:t>下取</a:t>
            </a:r>
            <a:r>
              <a:rPr lang="en-US" altLang="zh-CN" sz="3200" dirty="0" smtClean="0">
                <a:solidFill>
                  <a:srgbClr val="FFC000"/>
                </a:solidFill>
              </a:rPr>
              <a:t>1</a:t>
            </a:r>
            <a:r>
              <a:rPr lang="zh-CN" altLang="zh-CN" sz="3200" dirty="0" smtClean="0">
                <a:solidFill>
                  <a:srgbClr val="FFC000"/>
                </a:solidFill>
              </a:rPr>
              <a:t>值？其中</a:t>
            </a:r>
            <a:r>
              <a:rPr lang="en-US" altLang="zh-CN" sz="3200" dirty="0" smtClean="0">
                <a:solidFill>
                  <a:srgbClr val="FFC000"/>
                </a:solidFill>
              </a:rPr>
              <a:t>P</a:t>
            </a:r>
            <a:r>
              <a:rPr lang="zh-CN" altLang="zh-CN" sz="3200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</a:rPr>
              <a:t>Q</a:t>
            </a:r>
            <a:r>
              <a:rPr lang="zh-CN" altLang="zh-CN" sz="3200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</a:rPr>
              <a:t>R</a:t>
            </a:r>
            <a:r>
              <a:rPr lang="zh-CN" altLang="zh-CN" sz="3200" dirty="0" smtClean="0">
                <a:solidFill>
                  <a:srgbClr val="FFC000"/>
                </a:solidFill>
              </a:rPr>
              <a:t>的定义域中有两个元素。</a:t>
            </a:r>
            <a:endParaRPr lang="en-US" altLang="zh-CN" sz="3200" dirty="0" smtClean="0">
              <a:solidFill>
                <a:srgbClr val="FFC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3200" dirty="0" smtClean="0">
                <a:solidFill>
                  <a:srgbClr val="FFC000"/>
                </a:solidFill>
              </a:rPr>
              <a:t>(2) </a:t>
            </a:r>
            <a:r>
              <a:rPr lang="zh-CN" altLang="zh-CN" sz="3200" dirty="0" smtClean="0">
                <a:solidFill>
                  <a:srgbClr val="FFC000"/>
                </a:solidFill>
              </a:rPr>
              <a:t>若将存在量词都换为全称量词，结果</a:t>
            </a:r>
            <a:r>
              <a:rPr lang="zh-CN" altLang="zh-CN" dirty="0" smtClean="0">
                <a:solidFill>
                  <a:srgbClr val="FFC000"/>
                </a:solidFill>
              </a:rPr>
              <a:t>怎样？</a:t>
            </a:r>
          </a:p>
          <a:p>
            <a:pPr eaLnBrk="1" hangingPunct="1">
              <a:defRPr/>
            </a:pPr>
            <a:endParaRPr lang="en-US" altLang="zh-CN" dirty="0" smtClean="0">
              <a:latin typeface="Times New Roman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8335CB-C600-4199-B5FC-A1E0DBF1C371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611447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52438"/>
            <a:ext cx="9144000" cy="6248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dirty="0" smtClean="0"/>
              <a:t>(1)</a:t>
            </a:r>
            <a:r>
              <a:rPr lang="zh-CN" altLang="zh-CN" sz="3000" dirty="0" smtClean="0"/>
              <a:t>若</a:t>
            </a:r>
            <a:r>
              <a:rPr lang="en-US" altLang="zh-CN" sz="3000" dirty="0" smtClean="0">
                <a:sym typeface="Symbol"/>
              </a:rPr>
              <a:t></a:t>
            </a:r>
            <a:r>
              <a:rPr lang="en-US" altLang="zh-CN" sz="3000" dirty="0" smtClean="0"/>
              <a:t>x(P(x)</a:t>
            </a:r>
            <a:r>
              <a:rPr lang="en-US" altLang="zh-CN" sz="3000" dirty="0" smtClean="0">
                <a:sym typeface="Symbol"/>
              </a:rPr>
              <a:t></a:t>
            </a:r>
            <a:r>
              <a:rPr lang="en-US" altLang="zh-CN" sz="3000" dirty="0" smtClean="0"/>
              <a:t>Q(x))</a:t>
            </a:r>
            <a:r>
              <a:rPr lang="zh-CN" altLang="zh-CN" sz="3000" dirty="0" smtClean="0"/>
              <a:t>，</a:t>
            </a:r>
            <a:r>
              <a:rPr lang="en-US" altLang="zh-CN" sz="3000" dirty="0" smtClean="0">
                <a:sym typeface="Symbol"/>
              </a:rPr>
              <a:t></a:t>
            </a:r>
            <a:r>
              <a:rPr lang="en-US" altLang="zh-CN" sz="3000" dirty="0" smtClean="0"/>
              <a:t>y(P(y)</a:t>
            </a:r>
            <a:r>
              <a:rPr lang="en-US" altLang="zh-CN" sz="3000" dirty="0" smtClean="0">
                <a:sym typeface="Symbol"/>
              </a:rPr>
              <a:t></a:t>
            </a:r>
            <a:r>
              <a:rPr lang="en-US" altLang="zh-CN" sz="3000" dirty="0" smtClean="0"/>
              <a:t>R(y))</a:t>
            </a:r>
            <a:r>
              <a:rPr lang="zh-CN" altLang="zh-CN" sz="3000" dirty="0" smtClean="0"/>
              <a:t>在某解释</a:t>
            </a:r>
            <a:r>
              <a:rPr lang="en-US" altLang="zh-CN" sz="3000" dirty="0" smtClean="0"/>
              <a:t>I</a:t>
            </a:r>
            <a:r>
              <a:rPr lang="zh-CN" altLang="zh-CN" sz="3000" dirty="0" smtClean="0"/>
              <a:t>下取</a:t>
            </a:r>
            <a:r>
              <a:rPr lang="en-US" altLang="zh-CN" sz="3000" dirty="0" smtClean="0"/>
              <a:t>1</a:t>
            </a:r>
            <a:r>
              <a:rPr lang="zh-CN" altLang="zh-CN" sz="3000" dirty="0" smtClean="0"/>
              <a:t>值，则</a:t>
            </a:r>
            <a:r>
              <a:rPr lang="en-US" altLang="zh-CN" sz="3000" dirty="0" smtClean="0">
                <a:sym typeface="Symbol"/>
              </a:rPr>
              <a:t></a:t>
            </a:r>
            <a:r>
              <a:rPr lang="en-US" altLang="zh-CN" sz="3000" dirty="0" smtClean="0"/>
              <a:t>z(Q(z)</a:t>
            </a:r>
            <a:r>
              <a:rPr lang="en-US" altLang="zh-CN" sz="3000" dirty="0" smtClean="0">
                <a:sym typeface="Symbol"/>
              </a:rPr>
              <a:t></a:t>
            </a:r>
            <a:r>
              <a:rPr lang="en-US" altLang="zh-CN" sz="3000" dirty="0" smtClean="0"/>
              <a:t>R(z))</a:t>
            </a:r>
            <a:r>
              <a:rPr lang="zh-CN" altLang="zh-CN" sz="3000" dirty="0" smtClean="0"/>
              <a:t>是否在</a:t>
            </a:r>
            <a:r>
              <a:rPr lang="en-US" altLang="zh-CN" sz="3000" dirty="0" smtClean="0"/>
              <a:t>I</a:t>
            </a:r>
            <a:r>
              <a:rPr lang="zh-CN" altLang="zh-CN" sz="3000" dirty="0" smtClean="0"/>
              <a:t>下取</a:t>
            </a:r>
            <a:r>
              <a:rPr lang="en-US" altLang="zh-CN" sz="3000" dirty="0" smtClean="0"/>
              <a:t>1</a:t>
            </a:r>
            <a:r>
              <a:rPr lang="zh-CN" altLang="zh-CN" sz="3000" dirty="0" smtClean="0"/>
              <a:t>值？其中</a:t>
            </a:r>
            <a:r>
              <a:rPr lang="en-US" altLang="zh-CN" sz="3000" dirty="0" smtClean="0"/>
              <a:t>P</a:t>
            </a:r>
            <a:r>
              <a:rPr lang="zh-CN" altLang="zh-CN" sz="3000" dirty="0" smtClean="0"/>
              <a:t>，</a:t>
            </a:r>
            <a:r>
              <a:rPr lang="en-US" altLang="zh-CN" sz="3000" dirty="0" smtClean="0"/>
              <a:t>Q</a:t>
            </a:r>
            <a:r>
              <a:rPr lang="zh-CN" altLang="zh-CN" sz="3000" dirty="0" smtClean="0"/>
              <a:t>，</a:t>
            </a:r>
            <a:r>
              <a:rPr lang="en-US" altLang="zh-CN" sz="3000" dirty="0" smtClean="0"/>
              <a:t>R</a:t>
            </a:r>
            <a:r>
              <a:rPr lang="zh-CN" altLang="zh-CN" sz="3000" dirty="0" smtClean="0"/>
              <a:t>的定义域中有两个元素。若将存在量词都换为全称量词，结果怎样？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3000" dirty="0" smtClean="0"/>
              <a:t>答：不一定。例如：解释</a:t>
            </a:r>
            <a:r>
              <a:rPr lang="en-US" altLang="zh-CN" sz="3000" dirty="0" smtClean="0"/>
              <a:t>I</a:t>
            </a:r>
            <a:r>
              <a:rPr lang="en-US" altLang="zh-CN" sz="3000" baseline="-25000" dirty="0" smtClean="0"/>
              <a:t>1</a:t>
            </a:r>
            <a:r>
              <a:rPr lang="zh-CN" altLang="zh-CN" sz="3000" dirty="0" smtClean="0"/>
              <a:t>为：</a:t>
            </a:r>
            <a:r>
              <a:rPr lang="en-US" altLang="zh-CN" sz="3000" dirty="0" smtClean="0"/>
              <a:t>D={a</a:t>
            </a:r>
            <a:r>
              <a:rPr lang="zh-CN" altLang="zh-CN" sz="3000" dirty="0" smtClean="0"/>
              <a:t>，</a:t>
            </a:r>
            <a:r>
              <a:rPr lang="en-US" altLang="zh-CN" sz="3000" dirty="0" smtClean="0"/>
              <a:t>b}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zh-CN" sz="3000" dirty="0" smtClean="0"/>
          </a:p>
          <a:p>
            <a:pPr eaLnBrk="1" hangingPunct="1">
              <a:defRPr/>
            </a:pPr>
            <a:endParaRPr lang="en-US" altLang="zh-CN" sz="3000" dirty="0" smtClean="0"/>
          </a:p>
          <a:p>
            <a:pPr eaLnBrk="1" hangingPunct="1">
              <a:defRPr/>
            </a:pPr>
            <a:r>
              <a:rPr lang="zh-CN" altLang="zh-CN" sz="3000" dirty="0" smtClean="0"/>
              <a:t>解释</a:t>
            </a:r>
            <a:r>
              <a:rPr lang="en-US" altLang="zh-CN" sz="3000" dirty="0" smtClean="0"/>
              <a:t>I</a:t>
            </a:r>
            <a:r>
              <a:rPr lang="en-US" altLang="zh-CN" sz="3000" baseline="-25000" dirty="0" smtClean="0"/>
              <a:t>2</a:t>
            </a:r>
            <a:r>
              <a:rPr lang="zh-CN" altLang="zh-CN" sz="3000" dirty="0" smtClean="0"/>
              <a:t>为：</a:t>
            </a:r>
            <a:r>
              <a:rPr lang="en-US" altLang="zh-CN" sz="3000" dirty="0" smtClean="0"/>
              <a:t>D={a</a:t>
            </a:r>
            <a:r>
              <a:rPr lang="zh-CN" altLang="zh-CN" sz="3000" dirty="0" smtClean="0"/>
              <a:t>，</a:t>
            </a:r>
            <a:r>
              <a:rPr lang="en-US" altLang="zh-CN" sz="3000" dirty="0" smtClean="0"/>
              <a:t>b}</a:t>
            </a:r>
          </a:p>
          <a:p>
            <a:pPr eaLnBrk="1" hangingPunct="1">
              <a:defRPr/>
            </a:pPr>
            <a:endParaRPr lang="en-US" altLang="zh-CN" sz="3000" dirty="0" smtClean="0"/>
          </a:p>
          <a:p>
            <a:pPr eaLnBrk="1" hangingPunct="1">
              <a:defRPr/>
            </a:pPr>
            <a:endParaRPr lang="en-US" altLang="zh-CN" sz="3000" dirty="0" smtClean="0"/>
          </a:p>
          <a:p>
            <a:pPr eaLnBrk="1" hangingPunct="1">
              <a:defRPr/>
            </a:pPr>
            <a:r>
              <a:rPr lang="en-US" altLang="zh-CN" sz="3000" dirty="0" smtClean="0">
                <a:sym typeface="Symbol"/>
              </a:rPr>
              <a:t></a:t>
            </a:r>
            <a:r>
              <a:rPr lang="en-US" altLang="zh-CN" sz="3000" dirty="0" smtClean="0"/>
              <a:t>z(Q(z)</a:t>
            </a:r>
            <a:r>
              <a:rPr lang="en-US" altLang="zh-CN" sz="3000" dirty="0" smtClean="0">
                <a:sym typeface="Symbol"/>
              </a:rPr>
              <a:t></a:t>
            </a:r>
            <a:r>
              <a:rPr lang="en-US" altLang="zh-CN" sz="3000" dirty="0" smtClean="0"/>
              <a:t>R(z)) </a:t>
            </a:r>
            <a:r>
              <a:rPr lang="zh-CN" altLang="zh-CN" sz="3000" dirty="0" smtClean="0"/>
              <a:t>在</a:t>
            </a:r>
            <a:r>
              <a:rPr lang="en-US" altLang="zh-CN" sz="3000" dirty="0" smtClean="0"/>
              <a:t>I</a:t>
            </a:r>
            <a:r>
              <a:rPr lang="en-US" altLang="zh-CN" sz="3000" baseline="-25000" dirty="0" smtClean="0"/>
              <a:t>1</a:t>
            </a:r>
            <a:r>
              <a:rPr lang="zh-CN" altLang="zh-CN" sz="3000" dirty="0" smtClean="0"/>
              <a:t>下取</a:t>
            </a:r>
            <a:r>
              <a:rPr lang="en-US" altLang="zh-CN" sz="3000" dirty="0" smtClean="0"/>
              <a:t>0</a:t>
            </a:r>
            <a:r>
              <a:rPr lang="zh-CN" altLang="zh-CN" sz="3000" dirty="0" smtClean="0"/>
              <a:t>值</a:t>
            </a:r>
            <a:r>
              <a:rPr lang="en-US" altLang="zh-CN" sz="3000" dirty="0" smtClean="0"/>
              <a:t>,</a:t>
            </a:r>
            <a:r>
              <a:rPr lang="zh-CN" altLang="zh-CN" sz="3000" dirty="0" smtClean="0"/>
              <a:t>在</a:t>
            </a:r>
            <a:r>
              <a:rPr lang="en-US" altLang="zh-CN" sz="3000" dirty="0" smtClean="0"/>
              <a:t>I</a:t>
            </a:r>
            <a:r>
              <a:rPr lang="en-US" altLang="zh-CN" sz="3000" baseline="-25000" dirty="0" smtClean="0"/>
              <a:t>2</a:t>
            </a:r>
            <a:r>
              <a:rPr lang="zh-CN" altLang="zh-CN" sz="3000" dirty="0" smtClean="0"/>
              <a:t>下取</a:t>
            </a:r>
            <a:r>
              <a:rPr lang="en-US" altLang="zh-CN" sz="3000" dirty="0" smtClean="0"/>
              <a:t>1</a:t>
            </a:r>
            <a:r>
              <a:rPr lang="zh-CN" altLang="zh-CN" sz="3000" dirty="0" smtClean="0"/>
              <a:t>值</a:t>
            </a:r>
            <a:r>
              <a:rPr lang="en-US" altLang="zh-CN" sz="3000" dirty="0" smtClean="0"/>
              <a:t> .</a:t>
            </a:r>
            <a:endParaRPr lang="zh-CN" altLang="en-US" sz="30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288309"/>
              </p:ext>
            </p:extLst>
          </p:nvPr>
        </p:nvGraphicFramePr>
        <p:xfrm>
          <a:off x="870858" y="2905466"/>
          <a:ext cx="6096000" cy="115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609966"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P(a)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000" dirty="0" smtClean="0"/>
                        <a:t>P(b)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Q(a)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Q(b)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R(a)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R(b)</a:t>
                      </a:r>
                      <a:endParaRPr lang="zh-CN" altLang="en-US" sz="3000" dirty="0"/>
                    </a:p>
                  </a:txBody>
                  <a:tcPr marT="45717" marB="45717"/>
                </a:tc>
              </a:tr>
              <a:tr h="548909"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0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0</a:t>
                      </a:r>
                      <a:endParaRPr lang="zh-CN" altLang="en-US" sz="30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717" marB="45717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797298"/>
              </p:ext>
            </p:extLst>
          </p:nvPr>
        </p:nvGraphicFramePr>
        <p:xfrm>
          <a:off x="870858" y="4544333"/>
          <a:ext cx="6096000" cy="1097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548482"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P(a)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P(b)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Q(a)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Q(b)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R(a)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R(b)</a:t>
                      </a:r>
                      <a:endParaRPr lang="zh-CN" altLang="en-US" sz="3000" dirty="0"/>
                    </a:p>
                  </a:txBody>
                  <a:tcPr marT="45669" marB="45669"/>
                </a:tc>
              </a:tr>
              <a:tr h="548482"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altLang="zh-CN" sz="3000" dirty="0" smtClean="0"/>
                        <a:t>1</a:t>
                      </a:r>
                      <a:endParaRPr lang="zh-CN" altLang="en-US" sz="3000" dirty="0"/>
                    </a:p>
                  </a:txBody>
                  <a:tcPr marT="45669" marB="45669"/>
                </a:tc>
              </a:tr>
            </a:tbl>
          </a:graphicData>
        </a:graphic>
      </p:graphicFrame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32585-A954-4CD0-86B2-92E89B0CE504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139758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58261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(2)</a:t>
            </a:r>
            <a:r>
              <a:rPr lang="zh-CN" altLang="zh-CN" dirty="0" smtClean="0"/>
              <a:t>若将存在量词都换为全称量词，则</a:t>
            </a:r>
            <a:r>
              <a:rPr lang="en-US" altLang="zh-CN" dirty="0" smtClean="0">
                <a:sym typeface="Symbol"/>
              </a:rPr>
              <a:t></a:t>
            </a:r>
            <a:r>
              <a:rPr lang="en-US" altLang="zh-CN" dirty="0" smtClean="0"/>
              <a:t>z(Q(z)</a:t>
            </a:r>
            <a:r>
              <a:rPr lang="en-US" altLang="zh-CN" dirty="0" smtClean="0">
                <a:sym typeface="Symbol"/>
              </a:rPr>
              <a:t></a:t>
            </a:r>
            <a:r>
              <a:rPr lang="en-US" altLang="zh-CN" dirty="0" smtClean="0"/>
              <a:t>R(z)) </a:t>
            </a:r>
            <a:r>
              <a:rPr lang="zh-CN" altLang="zh-CN" dirty="0" smtClean="0"/>
              <a:t>在</a:t>
            </a:r>
            <a:r>
              <a:rPr lang="en-US" altLang="zh-CN" dirty="0" smtClean="0"/>
              <a:t>I</a:t>
            </a:r>
            <a:r>
              <a:rPr lang="zh-CN" altLang="zh-CN" dirty="0" smtClean="0"/>
              <a:t>下必取</a:t>
            </a:r>
            <a:r>
              <a:rPr lang="en-US" altLang="zh-CN" dirty="0" smtClean="0"/>
              <a:t>1</a:t>
            </a:r>
            <a:r>
              <a:rPr lang="zh-CN" altLang="zh-CN" dirty="0" smtClean="0"/>
              <a:t>值。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dirty="0" smtClean="0"/>
              <a:t>证明：若</a:t>
            </a:r>
            <a:r>
              <a:rPr lang="en-US" altLang="zh-CN" dirty="0" smtClean="0">
                <a:sym typeface="Symbol"/>
              </a:rPr>
              <a:t></a:t>
            </a:r>
            <a:r>
              <a:rPr lang="en-US" altLang="zh-CN" dirty="0" smtClean="0"/>
              <a:t>x(P(x)</a:t>
            </a:r>
            <a:r>
              <a:rPr lang="en-US" altLang="zh-CN" dirty="0" smtClean="0">
                <a:sym typeface="Symbol"/>
              </a:rPr>
              <a:t></a:t>
            </a:r>
            <a:r>
              <a:rPr lang="en-US" altLang="zh-CN" dirty="0" smtClean="0"/>
              <a:t>Q(x))</a:t>
            </a:r>
            <a:r>
              <a:rPr lang="zh-CN" altLang="zh-CN" dirty="0" smtClean="0"/>
              <a:t>，</a:t>
            </a:r>
            <a:r>
              <a:rPr lang="en-US" altLang="zh-CN" dirty="0" smtClean="0">
                <a:sym typeface="Symbol"/>
              </a:rPr>
              <a:t></a:t>
            </a:r>
            <a:r>
              <a:rPr lang="en-US" altLang="zh-CN" dirty="0" smtClean="0"/>
              <a:t>y(P(y)</a:t>
            </a:r>
            <a:r>
              <a:rPr lang="en-US" altLang="zh-CN" dirty="0" smtClean="0">
                <a:sym typeface="Symbol"/>
              </a:rPr>
              <a:t></a:t>
            </a:r>
            <a:r>
              <a:rPr lang="en-US" altLang="zh-CN" dirty="0" smtClean="0"/>
              <a:t>R(y))</a:t>
            </a:r>
            <a:r>
              <a:rPr lang="zh-CN" altLang="zh-CN" dirty="0" smtClean="0"/>
              <a:t>在某解释</a:t>
            </a:r>
            <a:r>
              <a:rPr lang="en-US" altLang="zh-CN" dirty="0" smtClean="0"/>
              <a:t>I</a:t>
            </a:r>
            <a:r>
              <a:rPr lang="zh-CN" altLang="zh-CN" dirty="0" smtClean="0"/>
              <a:t>下取</a:t>
            </a:r>
            <a:r>
              <a:rPr lang="en-US" altLang="zh-CN" dirty="0" smtClean="0"/>
              <a:t>1</a:t>
            </a:r>
            <a:r>
              <a:rPr lang="zh-CN" altLang="zh-CN" dirty="0" smtClean="0"/>
              <a:t>值，则对于任意的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/>
              </a:rPr>
              <a:t></a:t>
            </a:r>
            <a:r>
              <a:rPr lang="en-US" altLang="zh-CN" dirty="0" err="1" smtClean="0"/>
              <a:t>D</a:t>
            </a:r>
            <a:r>
              <a:rPr lang="zh-CN" altLang="zh-CN" dirty="0" smtClean="0"/>
              <a:t>，</a:t>
            </a:r>
            <a:r>
              <a:rPr lang="en-US" altLang="zh-CN" dirty="0" smtClean="0"/>
              <a:t>P(x)</a:t>
            </a:r>
            <a:r>
              <a:rPr lang="en-US" altLang="zh-CN" dirty="0" smtClean="0">
                <a:sym typeface="Symbol"/>
              </a:rPr>
              <a:t></a:t>
            </a:r>
            <a:r>
              <a:rPr lang="en-US" altLang="zh-CN" dirty="0" smtClean="0"/>
              <a:t>Q(x)</a:t>
            </a:r>
            <a:r>
              <a:rPr lang="zh-CN" altLang="zh-CN" dirty="0" smtClean="0"/>
              <a:t>为真，则</a:t>
            </a:r>
            <a:r>
              <a:rPr lang="en-US" altLang="zh-CN" dirty="0" smtClean="0"/>
              <a:t>P(x)</a:t>
            </a:r>
            <a:r>
              <a:rPr lang="zh-CN" altLang="zh-CN" dirty="0" smtClean="0"/>
              <a:t>，</a:t>
            </a:r>
            <a:r>
              <a:rPr lang="en-US" altLang="zh-CN" dirty="0" smtClean="0"/>
              <a:t>Q(x)</a:t>
            </a:r>
            <a:r>
              <a:rPr lang="zh-CN" altLang="zh-CN" dirty="0" smtClean="0"/>
              <a:t>同时为真，即对于任意的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/>
              </a:rPr>
              <a:t></a:t>
            </a:r>
            <a:r>
              <a:rPr lang="en-US" altLang="zh-CN" dirty="0" err="1" smtClean="0"/>
              <a:t>D</a:t>
            </a:r>
            <a:r>
              <a:rPr lang="zh-CN" altLang="zh-CN" dirty="0" smtClean="0"/>
              <a:t>，</a:t>
            </a:r>
            <a:r>
              <a:rPr lang="en-US" altLang="zh-CN" dirty="0" smtClean="0"/>
              <a:t>Q(x)</a:t>
            </a:r>
            <a:r>
              <a:rPr lang="zh-CN" altLang="zh-CN" dirty="0" smtClean="0"/>
              <a:t>为真，同理，对于任意的</a:t>
            </a:r>
            <a:r>
              <a:rPr lang="en-US" altLang="zh-CN" dirty="0" err="1" smtClean="0"/>
              <a:t>y</a:t>
            </a:r>
            <a:r>
              <a:rPr lang="en-US" altLang="zh-CN" dirty="0" err="1" smtClean="0">
                <a:sym typeface="Symbol"/>
              </a:rPr>
              <a:t></a:t>
            </a:r>
            <a:r>
              <a:rPr lang="en-US" altLang="zh-CN" dirty="0" err="1" smtClean="0"/>
              <a:t>D</a:t>
            </a:r>
            <a:r>
              <a:rPr lang="zh-CN" altLang="zh-CN" dirty="0" smtClean="0"/>
              <a:t>，</a:t>
            </a:r>
            <a:r>
              <a:rPr lang="en-US" altLang="zh-CN" dirty="0" smtClean="0"/>
              <a:t>R (y)</a:t>
            </a:r>
            <a:r>
              <a:rPr lang="zh-CN" altLang="zh-CN" dirty="0" smtClean="0"/>
              <a:t>为真，所以对于任意的</a:t>
            </a:r>
            <a:r>
              <a:rPr lang="en-US" altLang="zh-CN" dirty="0" smtClean="0"/>
              <a:t>z </a:t>
            </a:r>
            <a:r>
              <a:rPr lang="en-US" altLang="zh-CN" dirty="0" smtClean="0">
                <a:sym typeface="Symbol"/>
              </a:rPr>
              <a:t></a:t>
            </a:r>
            <a:r>
              <a:rPr lang="en-US" altLang="zh-CN" dirty="0" smtClean="0"/>
              <a:t>D</a:t>
            </a:r>
            <a:r>
              <a:rPr lang="zh-CN" altLang="zh-CN" dirty="0" smtClean="0"/>
              <a:t>，</a:t>
            </a:r>
            <a:r>
              <a:rPr lang="en-US" altLang="zh-CN" dirty="0" smtClean="0"/>
              <a:t>Q(z)</a:t>
            </a:r>
            <a:r>
              <a:rPr lang="en-US" altLang="zh-CN" dirty="0" smtClean="0">
                <a:sym typeface="Symbol"/>
              </a:rPr>
              <a:t></a:t>
            </a:r>
            <a:r>
              <a:rPr lang="en-US" altLang="zh-CN" dirty="0" smtClean="0"/>
              <a:t>R(z)</a:t>
            </a:r>
            <a:r>
              <a:rPr lang="zh-CN" altLang="zh-CN" dirty="0" smtClean="0"/>
              <a:t>为真，因此</a:t>
            </a:r>
            <a:r>
              <a:rPr lang="en-US" altLang="zh-CN" dirty="0" smtClean="0">
                <a:sym typeface="Symbol"/>
              </a:rPr>
              <a:t></a:t>
            </a:r>
            <a:r>
              <a:rPr lang="en-US" altLang="zh-CN" dirty="0" smtClean="0"/>
              <a:t>z(Q(z)</a:t>
            </a:r>
            <a:r>
              <a:rPr lang="en-US" altLang="zh-CN" dirty="0" smtClean="0">
                <a:sym typeface="Symbol"/>
              </a:rPr>
              <a:t></a:t>
            </a:r>
            <a:r>
              <a:rPr lang="en-US" altLang="zh-CN" dirty="0" smtClean="0"/>
              <a:t>R(z)) </a:t>
            </a:r>
            <a:r>
              <a:rPr lang="zh-CN" altLang="zh-CN" dirty="0" smtClean="0"/>
              <a:t>为真，即</a:t>
            </a:r>
            <a:r>
              <a:rPr lang="en-US" altLang="zh-CN" dirty="0" smtClean="0">
                <a:sym typeface="Symbol"/>
              </a:rPr>
              <a:t></a:t>
            </a:r>
            <a:r>
              <a:rPr lang="en-US" altLang="zh-CN" dirty="0" smtClean="0"/>
              <a:t>z(Q(z)</a:t>
            </a:r>
            <a:r>
              <a:rPr lang="en-US" altLang="zh-CN" dirty="0" smtClean="0">
                <a:sym typeface="Symbol"/>
              </a:rPr>
              <a:t></a:t>
            </a:r>
            <a:r>
              <a:rPr lang="en-US" altLang="zh-CN" dirty="0" smtClean="0"/>
              <a:t>R(z)) </a:t>
            </a:r>
            <a:r>
              <a:rPr lang="zh-CN" altLang="zh-CN" dirty="0" smtClean="0"/>
              <a:t>在</a:t>
            </a:r>
            <a:r>
              <a:rPr lang="en-US" altLang="zh-CN" dirty="0" smtClean="0"/>
              <a:t>I</a:t>
            </a:r>
            <a:r>
              <a:rPr lang="zh-CN" altLang="zh-CN" dirty="0" smtClean="0"/>
              <a:t>下取</a:t>
            </a:r>
            <a:r>
              <a:rPr lang="en-US" altLang="zh-CN" dirty="0" smtClean="0"/>
              <a:t>1</a:t>
            </a:r>
            <a:r>
              <a:rPr lang="zh-CN" altLang="zh-CN" dirty="0" smtClean="0"/>
              <a:t>值。</a:t>
            </a:r>
          </a:p>
          <a:p>
            <a:pPr eaLnBrk="1" hangingPunct="1">
              <a:defRPr/>
            </a:pPr>
            <a:endParaRPr lang="zh-CN" altLang="en-US" dirty="0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AD7B6-F50A-4F66-897B-0F5D0C9A55C4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610269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5944"/>
            <a:ext cx="8229600" cy="5934982"/>
          </a:xfrm>
        </p:spPr>
        <p:txBody>
          <a:bodyPr/>
          <a:lstStyle/>
          <a:p>
            <a:pPr marL="0" lvl="0" indent="0">
              <a:spcAft>
                <a:spcPts val="0"/>
              </a:spcAft>
              <a:buSzPts val="900"/>
              <a:buNone/>
            </a:pPr>
            <a:r>
              <a:rPr lang="zh-CN" altLang="en-US" sz="3000" b="1" kern="1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3000" b="1" kern="1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3.2-8 </a:t>
            </a:r>
            <a:r>
              <a:rPr lang="zh-CN" altLang="zh-CN" sz="3000" b="1" kern="1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试</a:t>
            </a:r>
            <a:r>
              <a:rPr lang="zh-CN" altLang="zh-CN" sz="3000" b="1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将下列公式化成等价的前束范式：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yP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y))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zQ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(z)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R(x)))</a:t>
            </a:r>
            <a:r>
              <a:rPr lang="zh-CN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yP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zQ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(z))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R(x)))</a:t>
            </a:r>
            <a:endParaRPr lang="zh-CN" altLang="zh-CN" sz="3000" kern="1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yP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zQ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(z))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R(x)))</a:t>
            </a:r>
            <a:endParaRPr lang="zh-CN" altLang="zh-CN" sz="3000" kern="1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yP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 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Q(z))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R(x)))</a:t>
            </a:r>
            <a:endParaRPr lang="zh-CN" altLang="zh-CN" sz="3000" kern="1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(P(x</a:t>
            </a:r>
            <a:r>
              <a:rPr lang="zh-CN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 (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Q(z))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R(x)))</a:t>
            </a:r>
            <a:endParaRPr lang="zh-CN" altLang="zh-CN" sz="3000" kern="1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(P(x</a:t>
            </a:r>
            <a:r>
              <a:rPr lang="zh-CN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Q(z) 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R(x) )</a:t>
            </a:r>
            <a:endParaRPr lang="zh-CN" altLang="zh-CN" sz="3000" kern="1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000" dirty="0">
              <a:solidFill>
                <a:schemeClr val="tx2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7F9898-006D-468F-97FC-D77146EB2289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6636879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6571" y="308656"/>
            <a:ext cx="8605157" cy="5934982"/>
          </a:xfrm>
        </p:spPr>
        <p:txBody>
          <a:bodyPr/>
          <a:lstStyle/>
          <a:p>
            <a:pPr marL="0" lvl="0" indent="0">
              <a:spcAft>
                <a:spcPts val="0"/>
              </a:spcAft>
              <a:buSzPts val="900"/>
              <a:buNone/>
            </a:pPr>
            <a:r>
              <a:rPr lang="zh-CN" altLang="en-US" sz="3000" b="1" kern="1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习题</a:t>
            </a:r>
            <a:r>
              <a:rPr lang="en-US" altLang="zh-CN" sz="3000" b="1" kern="1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3.2-8 </a:t>
            </a:r>
            <a:r>
              <a:rPr lang="zh-CN" altLang="zh-CN" sz="3000" b="1" kern="100" dirty="0" smtClea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试</a:t>
            </a:r>
            <a:r>
              <a:rPr lang="zh-CN" altLang="zh-CN" sz="3000" b="1" kern="1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将下列公式化成等价的前束范式：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zP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uQ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u)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vQ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30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)))</a:t>
            </a:r>
            <a:endParaRPr lang="zh-CN" altLang="zh-CN" sz="3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(P(x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uQ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u))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vQ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v)))</a:t>
            </a:r>
            <a:endParaRPr lang="zh-CN" altLang="zh-CN" sz="3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(P(x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u))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vQ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v)))</a:t>
            </a:r>
            <a:endParaRPr lang="zh-CN" altLang="zh-CN" sz="3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(P(x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 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Q(y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v)))</a:t>
            </a:r>
            <a:endParaRPr lang="zh-CN" altLang="zh-CN" sz="3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Q(x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u) 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Q(y</a:t>
            </a:r>
            <a:r>
              <a:rPr lang="zh-CN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v)))</a:t>
            </a:r>
            <a:endParaRPr lang="zh-CN" altLang="zh-CN" sz="3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000" dirty="0">
              <a:solidFill>
                <a:schemeClr val="tx2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7F9898-006D-468F-97FC-D77146EB2289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8786685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715000"/>
          </a:xfrm>
        </p:spPr>
        <p:txBody>
          <a:bodyPr/>
          <a:lstStyle/>
          <a:p>
            <a:r>
              <a:rPr lang="zh-CN" altLang="en-US" sz="3200" dirty="0" smtClean="0">
                <a:solidFill>
                  <a:schemeClr val="tx2"/>
                </a:solidFill>
              </a:rPr>
              <a:t>习题</a:t>
            </a:r>
            <a:r>
              <a:rPr lang="en-US" altLang="zh-CN" sz="3200" dirty="0" smtClean="0">
                <a:solidFill>
                  <a:schemeClr val="tx2"/>
                </a:solidFill>
              </a:rPr>
              <a:t>3.2-9</a:t>
            </a:r>
            <a:r>
              <a:rPr lang="zh-CN" altLang="zh-CN" sz="3200" dirty="0" smtClean="0">
                <a:solidFill>
                  <a:schemeClr val="tx2"/>
                </a:solidFill>
              </a:rPr>
              <a:t>找出下面公式的</a:t>
            </a:r>
            <a:r>
              <a:rPr lang="en-US" altLang="zh-CN" sz="3200" dirty="0" err="1" smtClean="0">
                <a:solidFill>
                  <a:schemeClr val="tx2"/>
                </a:solidFill>
              </a:rPr>
              <a:t>Skolem</a:t>
            </a:r>
            <a:r>
              <a:rPr lang="zh-CN" altLang="zh-CN" sz="3200" dirty="0" smtClean="0">
                <a:solidFill>
                  <a:schemeClr val="tx2"/>
                </a:solidFill>
              </a:rPr>
              <a:t>范式：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(1)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en-US" altLang="zh-CN" sz="3200" dirty="0" smtClean="0">
                <a:sym typeface="Symbol" panose="05050102010706020507" pitchFamily="18" charset="2"/>
              </a:rPr>
              <a:t></a:t>
            </a:r>
            <a:r>
              <a:rPr lang="en-US" altLang="zh-CN" sz="3200" dirty="0" err="1" smtClean="0"/>
              <a:t>y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zQ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</a:t>
            </a:r>
            <a:r>
              <a:rPr lang="zh-CN" altLang="zh-CN" sz="3200" dirty="0" smtClean="0"/>
              <a:t>；</a:t>
            </a:r>
            <a:r>
              <a:rPr lang="zh-CN" altLang="en-US" sz="3200" dirty="0" smtClean="0"/>
              <a:t>（方法一）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(x)) </a:t>
            </a:r>
            <a:r>
              <a:rPr lang="en-US" altLang="zh-CN" sz="3200" dirty="0" smtClean="0">
                <a:sym typeface="Symbol" panose="05050102010706020507" pitchFamily="18" charset="2"/>
              </a:rPr>
              <a:t></a:t>
            </a:r>
            <a:r>
              <a:rPr lang="en-US" altLang="zh-CN" sz="3200" dirty="0" err="1" smtClean="0"/>
              <a:t>y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zQ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 </a:t>
            </a:r>
            <a:r>
              <a:rPr lang="en-US" altLang="zh-CN" sz="3200" dirty="0" smtClean="0">
                <a:sym typeface="Symbol" panose="05050102010706020507" pitchFamily="18" charset="2"/>
              </a:rPr>
              <a:t></a:t>
            </a:r>
            <a:r>
              <a:rPr lang="en-US" altLang="zh-CN" sz="3200" dirty="0" smtClean="0">
                <a:solidFill>
                  <a:srgbClr val="FFC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</a:t>
            </a:r>
            <a:r>
              <a:rPr lang="en-US" altLang="zh-CN" sz="3200" dirty="0" err="1" smtClean="0"/>
              <a:t>y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zQ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smtClean="0"/>
              <a:t>x(P(x) </a:t>
            </a:r>
            <a:r>
              <a:rPr lang="en-US" altLang="zh-CN" sz="3200" dirty="0" smtClean="0">
                <a:sym typeface="Symbol" panose="05050102010706020507" pitchFamily="18" charset="2"/>
              </a:rPr>
              <a:t>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smtClean="0"/>
              <a:t>y</a:t>
            </a:r>
            <a:r>
              <a:rPr lang="en-US" altLang="zh-CN" sz="3200" dirty="0" smtClean="0">
                <a:solidFill>
                  <a:srgbClr val="FFC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zQ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z)))</a:t>
            </a:r>
          </a:p>
          <a:p>
            <a:pPr lvl="0">
              <a:buClr>
                <a:srgbClr val="FFCC00"/>
              </a:buClr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smtClean="0"/>
              <a:t>x</a:t>
            </a:r>
            <a:r>
              <a:rPr lang="en-US" altLang="zh-CN" sz="3200" dirty="0" smtClean="0">
                <a:solidFill>
                  <a:srgbClr val="FFFFFF"/>
                </a:solidFill>
              </a:rPr>
              <a:t>(P(x</a:t>
            </a:r>
            <a:r>
              <a:rPr lang="en-US" altLang="zh-CN" sz="3200" dirty="0">
                <a:solidFill>
                  <a:srgbClr val="FFFFFF"/>
                </a:solidFill>
              </a:rPr>
              <a:t>) </a:t>
            </a:r>
            <a:r>
              <a:rPr lang="en-US" altLang="zh-CN" sz="3200" dirty="0">
                <a:solidFill>
                  <a:srgbClr val="FFFFFF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solidFill>
                  <a:srgbClr val="FFFFFF"/>
                </a:solidFill>
              </a:rPr>
              <a:t> </a:t>
            </a:r>
            <a:r>
              <a:rPr lang="en-US" altLang="zh-CN" sz="3200" dirty="0">
                <a:solidFill>
                  <a:srgbClr val="FFFFFF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FFFF"/>
                </a:solidFill>
              </a:rPr>
              <a:t>y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</a:t>
            </a:r>
            <a:r>
              <a:rPr lang="en-US" altLang="zh-CN" sz="3200" dirty="0" err="1" smtClean="0">
                <a:solidFill>
                  <a:srgbClr val="FFFFFF"/>
                </a:solidFill>
              </a:rPr>
              <a:t>z</a:t>
            </a:r>
            <a:r>
              <a:rPr lang="en-US" altLang="zh-CN" sz="3200" dirty="0" smtClean="0">
                <a:solidFill>
                  <a:srgbClr val="FFFFFF"/>
                </a:solidFill>
              </a:rPr>
              <a:t>(Q</a:t>
            </a:r>
            <a:r>
              <a:rPr lang="en-US" altLang="zh-CN" sz="3200" dirty="0" smtClean="0">
                <a:solidFill>
                  <a:srgbClr val="FFC000"/>
                </a:solidFill>
                <a:sym typeface="Symbol" panose="05050102010706020507" pitchFamily="18" charset="2"/>
              </a:rPr>
              <a:t> </a:t>
            </a:r>
            <a:r>
              <a:rPr lang="en-US" altLang="zh-CN" sz="3200" dirty="0" smtClean="0">
                <a:solidFill>
                  <a:srgbClr val="FFFFFF"/>
                </a:solidFill>
              </a:rPr>
              <a:t>(</a:t>
            </a:r>
            <a:r>
              <a:rPr lang="en-US" altLang="zh-CN" sz="3200" dirty="0">
                <a:solidFill>
                  <a:srgbClr val="FFFFFF"/>
                </a:solidFill>
              </a:rPr>
              <a:t>y</a:t>
            </a:r>
            <a:r>
              <a:rPr lang="zh-CN" altLang="zh-CN" sz="3200" dirty="0">
                <a:solidFill>
                  <a:srgbClr val="FFFFFF"/>
                </a:solidFill>
              </a:rPr>
              <a:t>，</a:t>
            </a:r>
            <a:r>
              <a:rPr lang="en-US" altLang="zh-CN" sz="3200" dirty="0">
                <a:solidFill>
                  <a:srgbClr val="FFFFFF"/>
                </a:solidFill>
              </a:rPr>
              <a:t>z)))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 (P(x) </a:t>
            </a:r>
            <a:r>
              <a:rPr lang="en-US" altLang="zh-CN" sz="3200" dirty="0" smtClean="0">
                <a:sym typeface="Symbol" panose="05050102010706020507" pitchFamily="18" charset="2"/>
              </a:rPr>
              <a:t>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anose="05050102010706020507" pitchFamily="18" charset="2"/>
              </a:rPr>
              <a:t></a:t>
            </a:r>
            <a:r>
              <a:rPr lang="en-US" altLang="zh-CN" sz="3200" dirty="0" smtClean="0"/>
              <a:t>z(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Q(y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anose="05050102010706020507" pitchFamily="18" charset="2"/>
              </a:rPr>
              <a:t></a:t>
            </a:r>
            <a:r>
              <a:rPr lang="en-US" altLang="zh-CN" sz="3200" dirty="0" smtClean="0"/>
              <a:t>z (P(x) </a:t>
            </a:r>
            <a:r>
              <a:rPr lang="en-US" altLang="zh-CN" sz="3200" dirty="0" smtClean="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Q(y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3200" dirty="0" smtClean="0"/>
              <a:t>用</a:t>
            </a:r>
            <a:r>
              <a:rPr lang="en-US" altLang="zh-CN" sz="3200" dirty="0" smtClean="0">
                <a:solidFill>
                  <a:schemeClr val="tx2"/>
                </a:solidFill>
              </a:rPr>
              <a:t>f(x</a:t>
            </a:r>
            <a:r>
              <a:rPr lang="zh-CN" altLang="zh-CN" sz="3200" dirty="0" smtClean="0">
                <a:solidFill>
                  <a:schemeClr val="tx2"/>
                </a:solidFill>
              </a:rPr>
              <a:t>，</a:t>
            </a:r>
            <a:r>
              <a:rPr lang="en-US" altLang="zh-CN" sz="3200" dirty="0" smtClean="0">
                <a:solidFill>
                  <a:schemeClr val="tx2"/>
                </a:solidFill>
              </a:rPr>
              <a:t>y)</a:t>
            </a:r>
            <a:r>
              <a:rPr lang="zh-CN" altLang="zh-CN" sz="3200" dirty="0" smtClean="0"/>
              <a:t>代替</a:t>
            </a:r>
            <a:r>
              <a:rPr lang="en-US" altLang="zh-CN" sz="3200" dirty="0" smtClean="0"/>
              <a:t>z</a:t>
            </a:r>
            <a:r>
              <a:rPr lang="zh-CN" altLang="zh-CN" sz="3200" dirty="0" smtClean="0">
                <a:solidFill>
                  <a:schemeClr val="tx2"/>
                </a:solidFill>
              </a:rPr>
              <a:t>得</a:t>
            </a:r>
            <a:r>
              <a:rPr lang="en-US" altLang="zh-CN" sz="3200" dirty="0" err="1" smtClean="0">
                <a:solidFill>
                  <a:schemeClr val="tx2"/>
                </a:solidFill>
              </a:rPr>
              <a:t>Skolem</a:t>
            </a:r>
            <a:r>
              <a:rPr lang="zh-CN" altLang="zh-CN" sz="3200" dirty="0" smtClean="0">
                <a:solidFill>
                  <a:schemeClr val="tx2"/>
                </a:solidFill>
              </a:rPr>
              <a:t>范式</a:t>
            </a:r>
            <a:r>
              <a:rPr lang="en-US" altLang="zh-CN" sz="3200" dirty="0" smtClean="0"/>
              <a:t>: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(P(x) </a:t>
            </a:r>
            <a:r>
              <a:rPr lang="en-US" altLang="zh-CN" sz="3200" dirty="0" smtClean="0">
                <a:sym typeface="Symbol" panose="05050102010706020507" pitchFamily="18" charset="2"/>
              </a:rPr>
              <a:t></a:t>
            </a:r>
            <a:r>
              <a:rPr lang="en-US" altLang="zh-CN" sz="3200" dirty="0" smtClean="0"/>
              <a:t>Q(y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f(x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y)))</a:t>
            </a:r>
            <a:endParaRPr lang="zh-CN" altLang="zh-CN" sz="3200" dirty="0" smtClean="0"/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1003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r>
              <a:rPr lang="zh-CN" altLang="zh-CN" sz="3200" smtClean="0"/>
              <a:t>找出下面公式的</a:t>
            </a:r>
            <a:r>
              <a:rPr lang="en-US" altLang="zh-CN" sz="3200" smtClean="0"/>
              <a:t>Skolem</a:t>
            </a:r>
            <a:r>
              <a:rPr lang="zh-CN" altLang="zh-CN" sz="3200" smtClean="0"/>
              <a:t>范式：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smtClean="0"/>
              <a:t>(1)</a:t>
            </a:r>
            <a:r>
              <a:rPr lang="en-US" altLang="zh-CN" sz="3200" smtClean="0">
                <a:sym typeface="Symbol" panose="05050102010706020507" pitchFamily="18" charset="2"/>
              </a:rPr>
              <a:t></a:t>
            </a:r>
            <a:r>
              <a:rPr lang="en-US" altLang="zh-CN" sz="3200" smtClean="0"/>
              <a:t>(</a:t>
            </a:r>
            <a:r>
              <a:rPr lang="en-US" altLang="zh-CN" sz="3200" smtClean="0">
                <a:sym typeface="Symbol" panose="05050102010706020507" pitchFamily="18" charset="2"/>
              </a:rPr>
              <a:t></a:t>
            </a:r>
            <a:r>
              <a:rPr lang="en-US" altLang="zh-CN" sz="3200" smtClean="0"/>
              <a:t>xP(x)</a:t>
            </a:r>
            <a:r>
              <a:rPr lang="en-US" altLang="zh-CN" sz="3200" smtClean="0">
                <a:sym typeface="Symbol" panose="05050102010706020507" pitchFamily="18" charset="2"/>
              </a:rPr>
              <a:t></a:t>
            </a:r>
            <a:r>
              <a:rPr lang="en-US" altLang="zh-CN" sz="3200" smtClean="0"/>
              <a:t>y</a:t>
            </a:r>
            <a:r>
              <a:rPr lang="en-US" altLang="zh-CN" sz="3200" smtClean="0">
                <a:sym typeface="Symbol" panose="05050102010706020507" pitchFamily="18" charset="2"/>
              </a:rPr>
              <a:t></a:t>
            </a:r>
            <a:r>
              <a:rPr lang="en-US" altLang="zh-CN" sz="3200" smtClean="0"/>
              <a:t>zQ(y</a:t>
            </a:r>
            <a:r>
              <a:rPr lang="zh-CN" altLang="zh-CN" sz="3200" smtClean="0"/>
              <a:t>，</a:t>
            </a:r>
            <a:r>
              <a:rPr lang="en-US" altLang="zh-CN" sz="3200" smtClean="0"/>
              <a:t>z))</a:t>
            </a:r>
            <a:r>
              <a:rPr lang="zh-CN" altLang="zh-CN" sz="3200" smtClean="0"/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smtClean="0"/>
              <a:t>=</a:t>
            </a:r>
            <a:r>
              <a:rPr lang="en-US" altLang="zh-CN" sz="3200" smtClean="0">
                <a:sym typeface="Symbol" panose="05050102010706020507" pitchFamily="18" charset="2"/>
              </a:rPr>
              <a:t></a:t>
            </a:r>
            <a:r>
              <a:rPr lang="en-US" altLang="zh-CN" sz="3200" smtClean="0"/>
              <a:t>x</a:t>
            </a:r>
            <a:r>
              <a:rPr lang="en-US" altLang="zh-CN" sz="3200" smtClean="0">
                <a:sym typeface="Symbol" panose="05050102010706020507" pitchFamily="18" charset="2"/>
              </a:rPr>
              <a:t></a:t>
            </a:r>
            <a:r>
              <a:rPr lang="en-US" altLang="zh-CN" sz="3200" smtClean="0"/>
              <a:t>y </a:t>
            </a:r>
            <a:r>
              <a:rPr lang="en-US" altLang="zh-CN" sz="3200" smtClean="0">
                <a:sym typeface="Symbol" panose="05050102010706020507" pitchFamily="18" charset="2"/>
              </a:rPr>
              <a:t></a:t>
            </a:r>
            <a:r>
              <a:rPr lang="en-US" altLang="zh-CN" sz="3200" smtClean="0"/>
              <a:t>z (P(x) </a:t>
            </a:r>
            <a:r>
              <a:rPr lang="en-US" altLang="zh-CN" sz="3200" smtClean="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smtClean="0">
                <a:sym typeface="Symbol" panose="05050102010706020507" pitchFamily="18" charset="2"/>
              </a:rPr>
              <a:t></a:t>
            </a:r>
            <a:r>
              <a:rPr lang="en-US" altLang="zh-CN" sz="3200" smtClean="0"/>
              <a:t>Q(y</a:t>
            </a:r>
            <a:r>
              <a:rPr lang="zh-CN" altLang="zh-CN" sz="3200" smtClean="0"/>
              <a:t>，</a:t>
            </a:r>
            <a:r>
              <a:rPr lang="en-US" altLang="zh-CN" sz="3200" smtClean="0"/>
              <a:t>z))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20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smtClean="0">
                <a:solidFill>
                  <a:schemeClr val="tx2"/>
                </a:solidFill>
              </a:rPr>
              <a:t>●</a:t>
            </a:r>
            <a:r>
              <a:rPr lang="zh-CN" altLang="en-US" sz="3000" smtClean="0"/>
              <a:t>错误</a:t>
            </a:r>
            <a:r>
              <a:rPr lang="en-US" altLang="zh-CN" sz="3000" smtClean="0"/>
              <a:t>1:</a:t>
            </a:r>
            <a:r>
              <a:rPr lang="zh-CN" altLang="en-US" sz="3000" smtClean="0"/>
              <a:t>化成前束范式</a:t>
            </a:r>
            <a:r>
              <a:rPr lang="en-US" altLang="zh-CN" sz="3000" smtClean="0">
                <a:sym typeface="Symbol" panose="05050102010706020507" pitchFamily="18" charset="2"/>
              </a:rPr>
              <a:t></a:t>
            </a:r>
            <a:r>
              <a:rPr lang="en-US" altLang="zh-CN" sz="3000" smtClean="0"/>
              <a:t>x</a:t>
            </a:r>
            <a:r>
              <a:rPr lang="en-US" altLang="zh-CN" sz="3000" smtClean="0">
                <a:sym typeface="Symbol" panose="05050102010706020507" pitchFamily="18" charset="2"/>
              </a:rPr>
              <a:t></a:t>
            </a:r>
            <a:r>
              <a:rPr lang="en-US" altLang="zh-CN" sz="3000" smtClean="0"/>
              <a:t>y </a:t>
            </a:r>
            <a:r>
              <a:rPr lang="en-US" altLang="zh-CN" sz="3000" smtClean="0">
                <a:sym typeface="Symbol" panose="05050102010706020507" pitchFamily="18" charset="2"/>
              </a:rPr>
              <a:t></a:t>
            </a:r>
            <a:r>
              <a:rPr lang="en-US" altLang="zh-CN" sz="3000" smtClean="0"/>
              <a:t>z P(x) </a:t>
            </a:r>
            <a:r>
              <a:rPr lang="en-US" altLang="zh-CN" sz="3000" smtClean="0">
                <a:sym typeface="Symbol" panose="05050102010706020507" pitchFamily="18" charset="2"/>
              </a:rPr>
              <a:t></a:t>
            </a:r>
            <a:r>
              <a:rPr lang="en-US" altLang="zh-CN" sz="3000" smtClean="0"/>
              <a:t>Q(y</a:t>
            </a:r>
            <a:r>
              <a:rPr lang="zh-CN" altLang="zh-CN" sz="3000" smtClean="0"/>
              <a:t>，</a:t>
            </a:r>
            <a:r>
              <a:rPr lang="en-US" altLang="zh-CN" sz="3000" smtClean="0"/>
              <a:t>z)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smtClean="0"/>
              <a:t>     </a:t>
            </a:r>
            <a:r>
              <a:rPr lang="zh-CN" altLang="en-US" sz="3000" smtClean="0"/>
              <a:t>应该是</a:t>
            </a:r>
            <a:r>
              <a:rPr lang="en-US" altLang="zh-CN" sz="3000" smtClean="0">
                <a:sym typeface="Symbol" panose="05050102010706020507" pitchFamily="18" charset="2"/>
              </a:rPr>
              <a:t></a:t>
            </a:r>
            <a:r>
              <a:rPr lang="en-US" altLang="zh-CN" sz="3000" smtClean="0"/>
              <a:t>x</a:t>
            </a:r>
            <a:r>
              <a:rPr lang="en-US" altLang="zh-CN" sz="3000" smtClean="0">
                <a:sym typeface="Symbol" panose="05050102010706020507" pitchFamily="18" charset="2"/>
              </a:rPr>
              <a:t></a:t>
            </a:r>
            <a:r>
              <a:rPr lang="en-US" altLang="zh-CN" sz="3000" smtClean="0"/>
              <a:t>y </a:t>
            </a:r>
            <a:r>
              <a:rPr lang="en-US" altLang="zh-CN" sz="3000" smtClean="0">
                <a:sym typeface="Symbol" panose="05050102010706020507" pitchFamily="18" charset="2"/>
              </a:rPr>
              <a:t></a:t>
            </a:r>
            <a:r>
              <a:rPr lang="en-US" altLang="zh-CN" sz="3000" smtClean="0"/>
              <a:t>z </a:t>
            </a:r>
            <a:r>
              <a:rPr lang="en-US" altLang="zh-CN" sz="3000" smtClean="0">
                <a:solidFill>
                  <a:schemeClr val="tx2"/>
                </a:solidFill>
              </a:rPr>
              <a:t>(</a:t>
            </a:r>
            <a:r>
              <a:rPr lang="en-US" altLang="zh-CN" sz="3000" smtClean="0"/>
              <a:t> P(x) </a:t>
            </a:r>
            <a:r>
              <a:rPr lang="en-US" altLang="zh-CN" sz="3000" smtClean="0">
                <a:sym typeface="Symbol" panose="05050102010706020507" pitchFamily="18" charset="2"/>
              </a:rPr>
              <a:t></a:t>
            </a:r>
            <a:r>
              <a:rPr lang="en-US" altLang="zh-CN" sz="3000" smtClean="0"/>
              <a:t>Q(y</a:t>
            </a:r>
            <a:r>
              <a:rPr lang="zh-CN" altLang="zh-CN" sz="3000" smtClean="0"/>
              <a:t>，</a:t>
            </a:r>
            <a:r>
              <a:rPr lang="en-US" altLang="zh-CN" sz="3000" smtClean="0"/>
              <a:t>z) </a:t>
            </a:r>
            <a:r>
              <a:rPr lang="en-US" altLang="zh-CN" sz="3000" smtClean="0">
                <a:solidFill>
                  <a:schemeClr val="tx2"/>
                </a:solidFill>
              </a:rPr>
              <a:t>)</a:t>
            </a:r>
            <a:endParaRPr lang="zh-CN" altLang="zh-CN" sz="3000" smtClean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500" smtClean="0">
                <a:solidFill>
                  <a:schemeClr val="tx2"/>
                </a:solidFill>
              </a:rPr>
              <a:t>●</a:t>
            </a:r>
            <a:r>
              <a:rPr lang="zh-CN" altLang="en-US" sz="3000" smtClean="0"/>
              <a:t>错误</a:t>
            </a:r>
            <a:r>
              <a:rPr lang="en-US" altLang="zh-CN" sz="3000" smtClean="0"/>
              <a:t>2</a:t>
            </a:r>
            <a:r>
              <a:rPr lang="zh-CN" altLang="en-US" sz="3000" smtClean="0"/>
              <a:t>：</a:t>
            </a:r>
            <a:r>
              <a:rPr lang="en-US" altLang="zh-CN" sz="3000" smtClean="0">
                <a:solidFill>
                  <a:schemeClr val="tx2"/>
                </a:solidFill>
              </a:rPr>
              <a:t>=</a:t>
            </a:r>
            <a:r>
              <a:rPr lang="en-US" altLang="zh-CN" sz="3000" smtClean="0">
                <a:sym typeface="Symbol" panose="05050102010706020507" pitchFamily="18" charset="2"/>
              </a:rPr>
              <a:t></a:t>
            </a:r>
            <a:r>
              <a:rPr lang="en-US" altLang="zh-CN" sz="3000" smtClean="0"/>
              <a:t>x</a:t>
            </a:r>
            <a:r>
              <a:rPr lang="en-US" altLang="zh-CN" sz="3000" smtClean="0">
                <a:sym typeface="Symbol" panose="05050102010706020507" pitchFamily="18" charset="2"/>
              </a:rPr>
              <a:t></a:t>
            </a:r>
            <a:r>
              <a:rPr lang="en-US" altLang="zh-CN" sz="3000" smtClean="0"/>
              <a:t>y(P(x) </a:t>
            </a:r>
            <a:r>
              <a:rPr lang="en-US" altLang="zh-CN" sz="3000" smtClean="0">
                <a:sym typeface="Symbol" panose="05050102010706020507" pitchFamily="18" charset="2"/>
              </a:rPr>
              <a:t></a:t>
            </a:r>
            <a:r>
              <a:rPr lang="en-US" altLang="zh-CN" sz="3000" smtClean="0"/>
              <a:t>Q(y</a:t>
            </a:r>
            <a:r>
              <a:rPr lang="zh-CN" altLang="zh-CN" sz="3000" smtClean="0"/>
              <a:t>，</a:t>
            </a:r>
            <a:r>
              <a:rPr lang="en-US" altLang="zh-CN" sz="3000" smtClean="0"/>
              <a:t>f(x</a:t>
            </a:r>
            <a:r>
              <a:rPr lang="zh-CN" altLang="zh-CN" sz="3000" smtClean="0"/>
              <a:t>，</a:t>
            </a:r>
            <a:r>
              <a:rPr lang="en-US" altLang="zh-CN" sz="3000" smtClean="0"/>
              <a:t>y)))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smtClean="0"/>
              <a:t>    G</a:t>
            </a:r>
            <a:r>
              <a:rPr lang="zh-CN" altLang="en-US" sz="3000" smtClean="0"/>
              <a:t>与</a:t>
            </a:r>
            <a:r>
              <a:rPr lang="en-US" altLang="zh-CN" sz="3000" smtClean="0"/>
              <a:t>S</a:t>
            </a:r>
            <a:r>
              <a:rPr lang="zh-CN" altLang="en-US" sz="3000" smtClean="0"/>
              <a:t>不等价，不能直接写等号</a:t>
            </a:r>
            <a:endParaRPr lang="en-US" altLang="zh-CN" sz="300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smtClean="0">
                <a:solidFill>
                  <a:schemeClr val="tx2"/>
                </a:solidFill>
              </a:rPr>
              <a:t>●</a:t>
            </a:r>
            <a:r>
              <a:rPr lang="zh-CN" altLang="en-US" sz="3000" smtClean="0"/>
              <a:t>错误</a:t>
            </a:r>
            <a:r>
              <a:rPr lang="en-US" altLang="zh-CN" sz="3000" smtClean="0"/>
              <a:t>3</a:t>
            </a:r>
            <a:r>
              <a:rPr lang="zh-CN" altLang="en-US" sz="3000" smtClean="0"/>
              <a:t>：不写</a:t>
            </a:r>
            <a:r>
              <a:rPr lang="en-US" altLang="zh-CN" sz="3000" smtClean="0"/>
              <a:t>skolem</a:t>
            </a:r>
            <a:r>
              <a:rPr lang="zh-CN" altLang="en-US" sz="3000" smtClean="0"/>
              <a:t>函数</a:t>
            </a:r>
            <a:endParaRPr lang="en-US" altLang="zh-CN" sz="300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smtClean="0">
                <a:solidFill>
                  <a:schemeClr val="tx2"/>
                </a:solidFill>
              </a:rPr>
              <a:t>●</a:t>
            </a:r>
            <a:r>
              <a:rPr lang="zh-CN" altLang="en-US" sz="3000" smtClean="0"/>
              <a:t>错误</a:t>
            </a:r>
            <a:r>
              <a:rPr lang="en-US" altLang="zh-CN" sz="3000" smtClean="0"/>
              <a:t>4</a:t>
            </a:r>
            <a:r>
              <a:rPr lang="zh-CN" altLang="en-US" sz="3000" smtClean="0"/>
              <a:t>：函数写错</a:t>
            </a:r>
            <a:r>
              <a:rPr lang="en-US" altLang="zh-CN" sz="3000" smtClean="0"/>
              <a:t>, </a:t>
            </a:r>
            <a:r>
              <a:rPr lang="zh-CN" altLang="en-US" sz="3000" smtClean="0"/>
              <a:t>写用</a:t>
            </a:r>
            <a:r>
              <a:rPr lang="en-US" altLang="zh-CN" sz="3000" smtClean="0"/>
              <a:t>a</a:t>
            </a:r>
            <a:r>
              <a:rPr lang="zh-CN" altLang="en-US" sz="3000" smtClean="0"/>
              <a:t>代替</a:t>
            </a:r>
            <a:r>
              <a:rPr lang="en-US" altLang="zh-CN" sz="3000" smtClean="0"/>
              <a:t>Z</a:t>
            </a:r>
            <a:endParaRPr lang="zh-CN" altLang="en-US" sz="3000" smtClean="0"/>
          </a:p>
        </p:txBody>
      </p:sp>
    </p:spTree>
    <p:extLst>
      <p:ext uri="{BB962C8B-B14F-4D97-AF65-F5344CB8AC3E}">
        <p14:creationId xmlns:p14="http://schemas.microsoft.com/office/powerpoint/2010/main" val="346129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46957"/>
            <a:ext cx="8839200" cy="5949043"/>
          </a:xfrm>
        </p:spPr>
        <p:txBody>
          <a:bodyPr/>
          <a:lstStyle/>
          <a:p>
            <a:pPr lvl="0">
              <a:buClr>
                <a:srgbClr val="FFCC00"/>
              </a:buClr>
            </a:pPr>
            <a:r>
              <a:rPr lang="zh-CN" altLang="en-US" sz="2800" dirty="0">
                <a:solidFill>
                  <a:schemeClr val="tx2"/>
                </a:solidFill>
              </a:rPr>
              <a:t>习题</a:t>
            </a:r>
            <a:r>
              <a:rPr lang="en-US" altLang="zh-CN" sz="2800" dirty="0">
                <a:solidFill>
                  <a:schemeClr val="tx2"/>
                </a:solidFill>
              </a:rPr>
              <a:t>3.2-9</a:t>
            </a:r>
            <a:r>
              <a:rPr lang="zh-CN" altLang="zh-CN" sz="2800" dirty="0">
                <a:solidFill>
                  <a:schemeClr val="tx2"/>
                </a:solidFill>
              </a:rPr>
              <a:t>找出下面公式的</a:t>
            </a:r>
            <a:r>
              <a:rPr lang="en-US" altLang="zh-CN" sz="2800" dirty="0" err="1">
                <a:solidFill>
                  <a:schemeClr val="tx2"/>
                </a:solidFill>
              </a:rPr>
              <a:t>Skolem</a:t>
            </a:r>
            <a:r>
              <a:rPr lang="zh-CN" altLang="zh-CN" sz="2800" dirty="0">
                <a:solidFill>
                  <a:schemeClr val="tx2"/>
                </a:solidFill>
              </a:rPr>
              <a:t>范式：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E(x</a:t>
            </a: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y(E(y</a:t>
            </a: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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z(E(z</a:t>
            </a: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E(y</a:t>
            </a: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z)))))</a:t>
            </a:r>
            <a:endParaRPr lang="zh-CN" altLang="zh-CN" sz="2500" kern="1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E(x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y(E(y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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z(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E(z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E(y</a:t>
            </a: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)))))</a:t>
            </a:r>
            <a:endParaRPr lang="zh-CN" altLang="zh-CN" sz="2500" kern="1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x(E(x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y(E(y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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z(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E(z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)))))</a:t>
            </a:r>
            <a:endParaRPr lang="zh-CN" altLang="zh-CN" sz="2500" kern="1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(E(x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(E(y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E(z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))))</a:t>
            </a:r>
            <a:endParaRPr lang="zh-CN" altLang="zh-CN" sz="2500" kern="1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((E(x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E(y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 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(E(x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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E(z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5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)))</a:t>
            </a:r>
            <a:endParaRPr lang="zh-CN" altLang="zh-CN" sz="2500" kern="1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f(x)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代替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得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Skolem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范式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zh-CN" sz="2600" kern="1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Skolem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范式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600" kern="100" dirty="0" err="1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((E(x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E( f(x)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(E(x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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E(z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g(x)) 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E( f(x)</a:t>
            </a:r>
            <a:r>
              <a:rPr lang="zh-CN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z)))</a:t>
            </a:r>
            <a:endParaRPr lang="zh-CN" altLang="zh-CN" sz="2600" kern="100" dirty="0" smtClean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12264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00" y="152400"/>
            <a:ext cx="8763000" cy="6091238"/>
          </a:xfrm>
        </p:spPr>
        <p:txBody>
          <a:bodyPr/>
          <a:lstStyle/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 smtClean="0">
                <a:solidFill>
                  <a:srgbClr val="FFC000"/>
                </a:solidFill>
              </a:rPr>
              <a:t>习题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3.2-10   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假设</a:t>
            </a:r>
            <a:r>
              <a:rPr lang="en-US" altLang="zh-CN" sz="3200" b="1" dirty="0" smtClean="0">
                <a:solidFill>
                  <a:srgbClr val="FFC000"/>
                </a:solidFill>
                <a:sym typeface="Symbol"/>
              </a:rPr>
              <a:t></a:t>
            </a:r>
            <a:r>
              <a:rPr lang="en-US" altLang="zh-CN" sz="3200" b="1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3200" b="1" dirty="0" err="1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3200" b="1" dirty="0" err="1" smtClean="0">
                <a:solidFill>
                  <a:srgbClr val="FFC000"/>
                </a:solidFill>
              </a:rPr>
              <a:t>yM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(x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y)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是公式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G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的前束范式，其中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M(x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y)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是仅仅包含变量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x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y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的母式。设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f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是不出现在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M(x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y)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中的函数符号，证明：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G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是恒真的当且仅当</a:t>
            </a:r>
            <a:r>
              <a:rPr lang="en-US" altLang="zh-CN" sz="3200" b="1" dirty="0" smtClean="0">
                <a:solidFill>
                  <a:srgbClr val="FFC000"/>
                </a:solidFill>
                <a:sym typeface="Symbol"/>
              </a:rPr>
              <a:t></a:t>
            </a:r>
            <a:r>
              <a:rPr lang="en-US" altLang="zh-CN" sz="3200" b="1" dirty="0" err="1" smtClean="0">
                <a:solidFill>
                  <a:srgbClr val="FFC000"/>
                </a:solidFill>
              </a:rPr>
              <a:t>xM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(x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b="1" dirty="0" smtClean="0">
                <a:solidFill>
                  <a:srgbClr val="FFC000"/>
                </a:solidFill>
              </a:rPr>
              <a:t>f(x))</a:t>
            </a:r>
            <a:r>
              <a:rPr lang="zh-CN" altLang="zh-CN" sz="3200" b="1" dirty="0" smtClean="0">
                <a:solidFill>
                  <a:srgbClr val="FFC000"/>
                </a:solidFill>
              </a:rPr>
              <a:t>是恒真的</a:t>
            </a:r>
            <a:r>
              <a:rPr lang="zh-CN" altLang="en-US" sz="3200" b="1" dirty="0" smtClean="0">
                <a:solidFill>
                  <a:srgbClr val="FFC000"/>
                </a:solidFill>
              </a:rPr>
              <a:t>。</a:t>
            </a:r>
            <a:endParaRPr lang="en-US" altLang="zh-CN" sz="3200" b="1" dirty="0" smtClean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100" dirty="0" smtClean="0"/>
              <a:t>分析：要证</a:t>
            </a:r>
            <a:r>
              <a:rPr lang="en-US" altLang="zh-CN" sz="3100" dirty="0" smtClean="0"/>
              <a:t>G</a:t>
            </a:r>
            <a:r>
              <a:rPr lang="zh-CN" altLang="zh-CN" sz="3100" dirty="0" smtClean="0"/>
              <a:t>恒真当且仅当</a:t>
            </a:r>
            <a:r>
              <a:rPr lang="en-US" altLang="zh-CN" sz="3100" dirty="0" smtClean="0">
                <a:sym typeface="Symbol"/>
              </a:rPr>
              <a:t></a:t>
            </a:r>
            <a:r>
              <a:rPr lang="en-US" altLang="zh-CN" sz="3100" dirty="0" err="1" smtClean="0"/>
              <a:t>xM</a:t>
            </a:r>
            <a:r>
              <a:rPr lang="en-US" altLang="zh-CN" sz="3100" dirty="0" smtClean="0"/>
              <a:t>(x</a:t>
            </a:r>
            <a:r>
              <a:rPr lang="zh-CN" altLang="zh-CN" sz="3100" dirty="0" smtClean="0"/>
              <a:t>，</a:t>
            </a:r>
            <a:r>
              <a:rPr lang="en-US" altLang="zh-CN" sz="3100" dirty="0" smtClean="0"/>
              <a:t>f(x))</a:t>
            </a:r>
            <a:r>
              <a:rPr lang="zh-CN" altLang="zh-CN" sz="3100" dirty="0" smtClean="0"/>
              <a:t> 恒真</a:t>
            </a:r>
            <a:r>
              <a:rPr lang="zh-CN" altLang="en-US" sz="3100" dirty="0" smtClean="0"/>
              <a:t>，转而证明</a:t>
            </a:r>
            <a:r>
              <a:rPr lang="en-US" altLang="zh-CN" sz="3100" b="1" dirty="0" smtClean="0">
                <a:sym typeface="Symbol"/>
              </a:rPr>
              <a:t> </a:t>
            </a:r>
            <a:r>
              <a:rPr lang="en-US" altLang="zh-CN" sz="3100" b="1" dirty="0" smtClean="0"/>
              <a:t>G</a:t>
            </a:r>
            <a:r>
              <a:rPr lang="zh-CN" altLang="zh-CN" sz="3100" dirty="0" smtClean="0"/>
              <a:t>恒</a:t>
            </a:r>
            <a:r>
              <a:rPr lang="zh-CN" altLang="en-US" sz="3100" dirty="0" smtClean="0"/>
              <a:t>假</a:t>
            </a:r>
            <a:r>
              <a:rPr lang="zh-CN" altLang="zh-CN" sz="3100" dirty="0" smtClean="0"/>
              <a:t>当且仅当</a:t>
            </a:r>
            <a:r>
              <a:rPr lang="en-US" altLang="zh-CN" sz="3100" b="1" dirty="0" smtClean="0">
                <a:sym typeface="Symbol"/>
              </a:rPr>
              <a:t> </a:t>
            </a:r>
            <a:r>
              <a:rPr lang="en-US" altLang="zh-CN" sz="3100" b="1" dirty="0" err="1" smtClean="0"/>
              <a:t>xM</a:t>
            </a:r>
            <a:r>
              <a:rPr lang="en-US" altLang="zh-CN" sz="3100" b="1" dirty="0" smtClean="0"/>
              <a:t>(x</a:t>
            </a:r>
            <a:r>
              <a:rPr lang="zh-CN" altLang="zh-CN" sz="3100" b="1" dirty="0" smtClean="0"/>
              <a:t>，</a:t>
            </a:r>
            <a:r>
              <a:rPr lang="en-US" altLang="zh-CN" sz="3100" b="1" dirty="0" smtClean="0"/>
              <a:t>f(x))</a:t>
            </a:r>
            <a:r>
              <a:rPr lang="zh-CN" altLang="zh-CN" sz="3100" b="1" dirty="0" smtClean="0"/>
              <a:t> </a:t>
            </a:r>
            <a:r>
              <a:rPr lang="zh-CN" altLang="zh-CN" sz="3100" dirty="0" smtClean="0"/>
              <a:t>恒</a:t>
            </a:r>
            <a:r>
              <a:rPr lang="zh-CN" altLang="en-US" sz="3100" dirty="0" smtClean="0"/>
              <a:t>假</a:t>
            </a:r>
            <a:r>
              <a:rPr lang="en-US" altLang="zh-CN" sz="3100" dirty="0" smtClean="0"/>
              <a:t>.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证：因</a:t>
            </a:r>
            <a:r>
              <a:rPr lang="en-US" altLang="zh-CN" sz="3200" b="1" dirty="0" smtClean="0">
                <a:sym typeface="Symbol"/>
              </a:rPr>
              <a:t> </a:t>
            </a:r>
            <a:r>
              <a:rPr lang="en-US" altLang="zh-CN" sz="3200" b="1" dirty="0" smtClean="0"/>
              <a:t>G</a:t>
            </a: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/>
              </a:rPr>
              <a:t>(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/>
              </a:rPr>
              <a:t></a:t>
            </a:r>
            <a:r>
              <a:rPr lang="en-US" altLang="zh-CN" sz="3200" dirty="0" err="1" smtClean="0"/>
              <a:t>yM</a:t>
            </a:r>
            <a:r>
              <a:rPr lang="en-US" altLang="zh-CN" sz="3200" dirty="0" smtClean="0"/>
              <a:t>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y))=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3200" dirty="0" err="1" smtClean="0">
                <a:solidFill>
                  <a:srgbClr val="FFC000"/>
                </a:solidFill>
                <a:sym typeface="Symbol"/>
              </a:rPr>
              <a:t>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y</a:t>
            </a:r>
            <a:r>
              <a:rPr lang="en-US" altLang="zh-CN" sz="3200" dirty="0" smtClean="0">
                <a:solidFill>
                  <a:srgbClr val="FFC000"/>
                </a:solidFill>
              </a:rPr>
              <a:t>(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</a:rPr>
              <a:t>M(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x,y</a:t>
            </a:r>
            <a:r>
              <a:rPr lang="en-US" altLang="zh-CN" sz="3200" dirty="0" smtClean="0">
                <a:solidFill>
                  <a:srgbClr val="FFC000"/>
                </a:solidFill>
              </a:rPr>
              <a:t>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ym typeface="Symbol"/>
              </a:rPr>
              <a:t>而</a:t>
            </a:r>
            <a:r>
              <a:rPr lang="en-US" altLang="zh-CN" sz="3200" b="1" dirty="0" smtClean="0">
                <a:sym typeface="Symbol"/>
              </a:rPr>
              <a:t> </a:t>
            </a:r>
            <a:r>
              <a:rPr lang="en-US" altLang="zh-CN" sz="3200" b="1" dirty="0" err="1" smtClean="0"/>
              <a:t>xM</a:t>
            </a:r>
            <a:r>
              <a:rPr lang="en-US" altLang="zh-CN" sz="3200" b="1" dirty="0" smtClean="0"/>
              <a:t>(x</a:t>
            </a:r>
            <a:r>
              <a:rPr lang="zh-CN" altLang="zh-CN" sz="3200" b="1" dirty="0" smtClean="0"/>
              <a:t>，</a:t>
            </a:r>
            <a:r>
              <a:rPr lang="en-US" altLang="zh-CN" sz="3200" b="1" dirty="0" smtClean="0"/>
              <a:t>f(x))</a:t>
            </a:r>
            <a:r>
              <a:rPr lang="zh-CN" altLang="zh-CN" sz="3200" b="1" dirty="0" smtClean="0"/>
              <a:t> </a:t>
            </a:r>
            <a:r>
              <a:rPr lang="en-US" altLang="zh-CN" sz="3200" dirty="0" smtClean="0"/>
              <a:t>=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</a:rPr>
              <a:t>x(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</a:rPr>
              <a:t>M(x</a:t>
            </a:r>
            <a:r>
              <a:rPr lang="zh-CN" altLang="zh-CN" sz="3200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</a:rPr>
              <a:t>f(x)) 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又</a:t>
            </a:r>
            <a:r>
              <a:rPr lang="en-US" altLang="zh-CN" sz="3200" dirty="0" smtClean="0">
                <a:sym typeface="Symbol"/>
              </a:rPr>
              <a:t></a:t>
            </a:r>
            <a:r>
              <a:rPr lang="en-US" altLang="zh-CN" sz="3200" dirty="0" smtClean="0"/>
              <a:t>x(</a:t>
            </a:r>
            <a:r>
              <a:rPr lang="en-US" altLang="zh-CN" sz="3200" dirty="0" smtClean="0">
                <a:sym typeface="Symbol"/>
              </a:rPr>
              <a:t></a:t>
            </a:r>
            <a:r>
              <a:rPr lang="en-US" altLang="zh-CN" sz="3200" dirty="0" smtClean="0"/>
              <a:t>M(x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f(x)) </a:t>
            </a:r>
            <a:r>
              <a:rPr lang="zh-CN" altLang="en-US" sz="3200" dirty="0" smtClean="0"/>
              <a:t>为</a:t>
            </a:r>
            <a:r>
              <a:rPr lang="en-US" altLang="zh-CN" sz="3200" dirty="0" smtClean="0">
                <a:sym typeface="Symbol"/>
              </a:rPr>
              <a:t> 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的</a:t>
            </a:r>
            <a:r>
              <a:rPr lang="en-US" altLang="zh-CN" sz="3200" dirty="0" err="1" smtClean="0"/>
              <a:t>Skolem</a:t>
            </a:r>
            <a:r>
              <a:rPr lang="zh-CN" altLang="en-US" sz="3200" dirty="0" smtClean="0"/>
              <a:t>范式，因此，二者恒假性等价。</a:t>
            </a:r>
            <a:endParaRPr lang="en-US" altLang="zh-CN" sz="3200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所以，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和</a:t>
            </a:r>
            <a:r>
              <a:rPr lang="en-US" altLang="zh-CN" sz="3200" dirty="0" smtClean="0">
                <a:sym typeface="Symbol"/>
              </a:rPr>
              <a:t></a:t>
            </a:r>
            <a:r>
              <a:rPr lang="en-US" altLang="zh-CN" sz="3200" dirty="0" err="1" smtClean="0"/>
              <a:t>xM</a:t>
            </a:r>
            <a:r>
              <a:rPr lang="en-US" altLang="zh-CN" sz="3200" dirty="0" smtClean="0"/>
              <a:t>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f(x))</a:t>
            </a:r>
            <a:r>
              <a:rPr lang="zh-CN" altLang="en-US" sz="3200" dirty="0" smtClean="0"/>
              <a:t>恒真性等价。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88FD50-AF5A-4FD6-A048-DBD95A3B8393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626261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88900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2365</Words>
  <Application>Microsoft Office PowerPoint</Application>
  <PresentationFormat>全屏显示(4:3)</PresentationFormat>
  <Paragraphs>169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宋体</vt:lpstr>
      <vt:lpstr>Arial</vt:lpstr>
      <vt:lpstr>Arial Black</vt:lpstr>
      <vt:lpstr>Symbol</vt:lpstr>
      <vt:lpstr>Times New Roman</vt:lpstr>
      <vt:lpstr>Wingdings</vt:lpstr>
      <vt:lpstr>Wingdings 2</vt:lpstr>
      <vt:lpstr>Beam</vt:lpstr>
      <vt:lpstr>1_Beam</vt:lpstr>
      <vt:lpstr>2_Beam</vt:lpstr>
      <vt:lpstr>Network Blitz</vt:lpstr>
      <vt:lpstr>1_Network Blitz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14</cp:revision>
  <dcterms:created xsi:type="dcterms:W3CDTF">2022-05-01T05:14:09Z</dcterms:created>
  <dcterms:modified xsi:type="dcterms:W3CDTF">2022-05-01T10:09:42Z</dcterms:modified>
</cp:coreProperties>
</file>