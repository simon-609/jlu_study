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559" r:id="rId5"/>
    <p:sldId id="560" r:id="rId6"/>
    <p:sldId id="561" r:id="rId7"/>
    <p:sldId id="562" r:id="rId8"/>
    <p:sldId id="563" r:id="rId9"/>
    <p:sldId id="564" r:id="rId10"/>
    <p:sldId id="565" r:id="rId11"/>
    <p:sldId id="566" r:id="rId12"/>
    <p:sldId id="567" r:id="rId13"/>
    <p:sldId id="568" r:id="rId14"/>
    <p:sldId id="569" r:id="rId15"/>
    <p:sldId id="570" r:id="rId16"/>
    <p:sldId id="571" r:id="rId17"/>
    <p:sldId id="572" r:id="rId18"/>
    <p:sldId id="574" r:id="rId19"/>
    <p:sldId id="576" r:id="rId20"/>
    <p:sldId id="577" r:id="rId21"/>
    <p:sldId id="615" r:id="rId22"/>
    <p:sldId id="578" r:id="rId23"/>
    <p:sldId id="579" r:id="rId24"/>
    <p:sldId id="580" r:id="rId25"/>
    <p:sldId id="581" r:id="rId26"/>
    <p:sldId id="582" r:id="rId27"/>
    <p:sldId id="621" r:id="rId28"/>
    <p:sldId id="622" r:id="rId29"/>
    <p:sldId id="623" r:id="rId30"/>
    <p:sldId id="624" r:id="rId31"/>
    <p:sldId id="625" r:id="rId32"/>
    <p:sldId id="626" r:id="rId33"/>
  </p:sldIdLst>
  <p:sldSz cx="12192000" cy="6858000"/>
  <p:notesSz cx="6858000" cy="9144000"/>
  <p:custDataLst>
    <p:tags r:id="rId37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A4A3A4"/>
          </p15:clr>
        </p15:guide>
        <p15:guide id="2" pos="38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E716EA"/>
    <a:srgbClr val="00FFFF"/>
    <a:srgbClr val="FF0066"/>
    <a:srgbClr val="FF0000"/>
    <a:srgbClr val="084574"/>
    <a:srgbClr val="FFE705"/>
    <a:srgbClr val="9C1489"/>
    <a:srgbClr val="00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86343"/>
  </p:normalViewPr>
  <p:slideViewPr>
    <p:cSldViewPr showGuides="1">
      <p:cViewPr varScale="1">
        <p:scale>
          <a:sx n="75" d="100"/>
          <a:sy n="75" d="100"/>
        </p:scale>
        <p:origin x="946" y="72"/>
      </p:cViewPr>
      <p:guideLst>
        <p:guide orient="horz" pos="2191"/>
        <p:guide pos="3862"/>
      </p:guideLst>
    </p:cSldViewPr>
  </p:slideViewPr>
  <p:outlineViewPr>
    <p:cViewPr>
      <p:scale>
        <a:sx n="33" d="100"/>
        <a:sy n="33" d="100"/>
      </p:scale>
      <p:origin x="0" y="-22584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430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gs" Target="tags/tag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Rectangle 4"/>
          <p:cNvSpPr>
            <a:spLocks noRo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AAAC4DD-812B-4103-A8D8-3FECD29B75B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本题：后判断条件的循环</a:t>
            </a:r>
            <a:endParaRPr lang="zh-CN" altLang="en-US" dirty="0"/>
          </a:p>
          <a:p>
            <a:pPr lvl="0"/>
            <a:r>
              <a:rPr lang="zh-CN" altLang="en-US" dirty="0"/>
              <a:t>思考</a:t>
            </a:r>
            <a:r>
              <a:rPr lang="en-US" altLang="zh-CN" dirty="0"/>
              <a:t>1</a:t>
            </a:r>
            <a:r>
              <a:rPr lang="zh-CN" altLang="en-US" dirty="0"/>
              <a:t>：死循环概念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思考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：计数器的使用，修改程序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45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969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3993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4301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301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利用前一项的结果；避免运算过程中的数据溢出</a:t>
            </a:r>
            <a:endParaRPr lang="zh-CN" altLang="en-US" dirty="0"/>
          </a:p>
        </p:txBody>
      </p:sp>
      <p:sp>
        <p:nvSpPr>
          <p:cNvPr id="471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017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35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662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969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80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0C99BF-71D7-45FC-82BF-5FA087016D9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4BB0DA-FB8D-4A34-AE9A-3C42D2BDA87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11D724-8FF6-47AF-B341-4B392A260AD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E7C0F8-9029-48DA-8E24-1B2201B4F84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4B725BF-6F2E-48D7-828A-8B319DF5892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E58BB0-D30B-4CB8-A678-E4B88892FD7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DE293E-ADFD-4AA9-A486-240E6F8DF90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82B3F9-1D37-4466-BBD7-668F4DD7AF5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ADA7E0-FB05-4B02-8BC3-C26B9088785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4CBE93-357B-4B83-807C-B49A3039F23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DF0C58-F277-45D1-AC1E-4A0FC3A8AC7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D82420-B22D-48B4-8FED-2D38AEFAD27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243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94A36D-9E87-4A29-BDE0-6E80811985F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42585B8-E465-4E99-83FD-3D8EA953946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4D03724-F50E-44E5-91A8-F12E4D6DEA8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3621D9F-725D-40F9-A774-408501AA801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1_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0664CA3-FFFD-4A27-8DFC-33B7E290DBE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BE93D9-8291-4332-B0A2-E4C809E81E0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.jpe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BE93D9-8291-4332-B0A2-E4C809E81E0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2.xml"/><Relationship Id="rId7" Type="http://schemas.openxmlformats.org/officeDocument/2006/relationships/slide" Target="slide22.xml"/><Relationship Id="rId6" Type="http://schemas.openxmlformats.org/officeDocument/2006/relationships/slide" Target="slide17.xml"/><Relationship Id="rId5" Type="http://schemas.openxmlformats.org/officeDocument/2006/relationships/slide" Target="slide16.xml"/><Relationship Id="rId4" Type="http://schemas.openxmlformats.org/officeDocument/2006/relationships/slide" Target="slide14.xml"/><Relationship Id="rId3" Type="http://schemas.openxmlformats.org/officeDocument/2006/relationships/slide" Target="slide11.xml"/><Relationship Id="rId2" Type="http://schemas.openxmlformats.org/officeDocument/2006/relationships/slide" Target="slide9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2.bin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hyperlink" Target="&#20363;&#39064;&#31243;&#24207;201409/ch04/ch04_07/Debug/ch04_07.exe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3D794DB-8A31-450B-AD0C-460BAF6F0DA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30163"/>
            <a:ext cx="109728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第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4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章 循环程序设计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1066800"/>
            <a:ext cx="7390130" cy="503047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Tahoma" panose="020B0604030504040204" pitchFamily="34" charset="0"/>
                <a:hlinkClick r:id="rId1" action="ppaction://hlinksldjump"/>
              </a:rPr>
              <a:t>§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4.1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循环程序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 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  <a:hlinkClick r:id="rId1" action="ppaction://hlinksldjump"/>
            </a:endParaRPr>
          </a:p>
          <a:p>
            <a:pPr marL="34290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" action="ppaction://hlinkshowjump?jump=lastslide"/>
              </a:rPr>
              <a:t>§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" action="ppaction://hlinkshowjump?jump=lastslide"/>
              </a:rPr>
              <a:t>4.1.1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" action="ppaction://hlinkshowjump?jump=lastslide"/>
              </a:rPr>
              <a:t>后判断条件的循环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257300" marR="0" lvl="2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【例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4.1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】求某学生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n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门课程的平均成绩</a:t>
            </a:r>
            <a:endParaRPr kumimoji="0" lang="zh-CN" altLang="en-US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257300" marR="0" lvl="2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2" action="ppaction://hlinksldjump"/>
              </a:rPr>
              <a:t>【例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2" action="ppaction://hlinksldjump"/>
              </a:rPr>
              <a:t>4.2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2" action="ppaction://hlinksldjump"/>
              </a:rPr>
              <a:t>】求数列前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2" action="ppaction://hlinksldjump"/>
              </a:rPr>
              <a:t>n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2" action="ppaction://hlinksldjump"/>
              </a:rPr>
              <a:t>项和</a:t>
            </a:r>
            <a:endParaRPr kumimoji="0" lang="zh-CN" altLang="en-US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257300" marR="0" lvl="2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100" b="1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【</a:t>
            </a:r>
            <a:r>
              <a:rPr lang="zh-CN" altLang="en-US" sz="2100" b="1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  <a:hlinkClick r:id="rId3" action="ppaction://hlinksldjump"/>
              </a:rPr>
              <a:t>例</a:t>
            </a:r>
            <a:r>
              <a:rPr lang="en-US" altLang="zh-CN" sz="2100" b="1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  <a:hlinkClick r:id="rId3" action="ppaction://hlinksldjump"/>
              </a:rPr>
              <a:t>4.3】</a:t>
            </a:r>
            <a:r>
              <a:rPr lang="zh-CN" altLang="en-US" sz="2100" b="1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  <a:hlinkClick r:id="rId3" action="ppaction://hlinksldjump"/>
              </a:rPr>
              <a:t>求某年以后的 </a:t>
            </a:r>
            <a:r>
              <a:rPr lang="en-US" altLang="zh-CN" sz="2100" b="1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  <a:hlinkClick r:id="rId3" action="ppaction://hlinksldjump"/>
              </a:rPr>
              <a:t>n </a:t>
            </a:r>
            <a:r>
              <a:rPr lang="zh-CN" altLang="en-US" sz="2100" b="1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  <a:hlinkClick r:id="rId3" action="ppaction://hlinksldjump"/>
              </a:rPr>
              <a:t>个闰年</a:t>
            </a:r>
            <a:endParaRPr lang="zh-CN" altLang="en-US" sz="2100" b="1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sym typeface="+mn-ea"/>
            </a:endParaRPr>
          </a:p>
          <a:p>
            <a:pPr marL="34290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450" b="1" noProof="0" dirty="0">
                <a:ln>
                  <a:noFill/>
                </a:ln>
                <a:uLnTx/>
                <a:uFillTx/>
                <a:sym typeface="+mn-ea"/>
                <a:hlinkClick r:id="rId4" action="ppaction://hlinksldjump"/>
              </a:rPr>
              <a:t>§</a:t>
            </a:r>
            <a:r>
              <a:rPr lang="en-US" altLang="zh-CN" sz="2450" b="1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  <a:hlinkClick r:id="rId4" action="ppaction://hlinksldjump"/>
              </a:rPr>
              <a:t>4.1.2</a:t>
            </a:r>
            <a:r>
              <a:rPr lang="zh-CN" altLang="en-US" sz="2450" b="1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  <a:hlinkClick r:id="rId4" action="ppaction://hlinksldjump"/>
              </a:rPr>
              <a:t>先判断条件的循环</a:t>
            </a:r>
            <a:endParaRPr lang="zh-CN" altLang="en-US" sz="2450" b="1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sym typeface="+mn-ea"/>
            </a:endParaRPr>
          </a:p>
          <a:p>
            <a:pPr marL="1257300" marR="0" lvl="2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100" b="1" dirty="0">
                <a:solidFill>
                  <a:schemeClr val="hlink"/>
                </a:solidFill>
                <a:latin typeface="宋体" panose="02010600030101010101" pitchFamily="2" charset="-122"/>
                <a:sym typeface="+mn-ea"/>
                <a:hlinkClick r:id="rId5" action="ppaction://hlinksldjump"/>
              </a:rPr>
              <a:t>【</a:t>
            </a:r>
            <a:r>
              <a:rPr lang="zh-CN" altLang="en-US" sz="2100" b="1" dirty="0">
                <a:solidFill>
                  <a:schemeClr val="hlink"/>
                </a:solidFill>
                <a:latin typeface="宋体" panose="02010600030101010101" pitchFamily="2" charset="-122"/>
                <a:sym typeface="+mn-ea"/>
                <a:hlinkClick r:id="rId5" action="ppaction://hlinksldjump"/>
              </a:rPr>
              <a:t>例</a:t>
            </a:r>
            <a:r>
              <a:rPr lang="en-US" altLang="zh-CN" sz="2100" b="1" dirty="0">
                <a:solidFill>
                  <a:schemeClr val="hlink"/>
                </a:solidFill>
                <a:latin typeface="宋体" panose="02010600030101010101" pitchFamily="2" charset="-122"/>
                <a:sym typeface="+mn-ea"/>
                <a:hlinkClick r:id="rId5" action="ppaction://hlinksldjump"/>
              </a:rPr>
              <a:t>4.4】</a:t>
            </a:r>
            <a:r>
              <a:rPr lang="zh-CN" altLang="en-US" sz="2100" b="1" dirty="0">
                <a:solidFill>
                  <a:schemeClr val="hlink"/>
                </a:solidFill>
                <a:latin typeface="宋体" panose="02010600030101010101" pitchFamily="2" charset="-122"/>
                <a:sym typeface="+mn-ea"/>
                <a:hlinkClick r:id="rId5" action="ppaction://hlinksldjump"/>
              </a:rPr>
              <a:t>用先判断条件的循环重写</a:t>
            </a:r>
            <a:r>
              <a:rPr lang="en-US" altLang="zh-CN" sz="2100" b="1" dirty="0">
                <a:solidFill>
                  <a:schemeClr val="hlink"/>
                </a:solidFill>
                <a:latin typeface="宋体" panose="02010600030101010101" pitchFamily="2" charset="-122"/>
                <a:sym typeface="+mn-ea"/>
                <a:hlinkClick r:id="rId5" action="ppaction://hlinksldjump"/>
              </a:rPr>
              <a:t>【</a:t>
            </a:r>
            <a:r>
              <a:rPr lang="zh-CN" altLang="en-US" sz="2100" b="1" dirty="0">
                <a:solidFill>
                  <a:schemeClr val="hlink"/>
                </a:solidFill>
                <a:latin typeface="宋体" panose="02010600030101010101" pitchFamily="2" charset="-122"/>
                <a:sym typeface="+mn-ea"/>
                <a:hlinkClick r:id="rId5" action="ppaction://hlinksldjump"/>
              </a:rPr>
              <a:t>例</a:t>
            </a:r>
            <a:r>
              <a:rPr lang="en-US" altLang="zh-CN" sz="2100" b="1" dirty="0">
                <a:solidFill>
                  <a:schemeClr val="hlink"/>
                </a:solidFill>
                <a:latin typeface="宋体" panose="02010600030101010101" pitchFamily="2" charset="-122"/>
                <a:sym typeface="+mn-ea"/>
                <a:hlinkClick r:id="rId5" action="ppaction://hlinksldjump"/>
              </a:rPr>
              <a:t>4.1】</a:t>
            </a:r>
            <a:endParaRPr lang="en-US" altLang="zh-CN" sz="2100" b="1" dirty="0">
              <a:solidFill>
                <a:schemeClr val="hlink"/>
              </a:solidFill>
              <a:latin typeface="宋体" panose="02010600030101010101" pitchFamily="2" charset="-122"/>
              <a:sym typeface="+mn-ea"/>
            </a:endParaRPr>
          </a:p>
          <a:p>
            <a:pPr marL="1257300" marR="0" lvl="2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6" action="ppaction://hlinksldjump"/>
              </a:rPr>
              <a:t>【例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6" action="ppaction://hlinksldjump"/>
              </a:rPr>
              <a:t>4.5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6" action="ppaction://hlinksldjump"/>
              </a:rPr>
              <a:t>】求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6" action="ppaction://hlinksldjump"/>
              </a:rPr>
              <a:t>e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6" action="ppaction://hlinksldjump"/>
              </a:rPr>
              <a:t>近似值</a:t>
            </a:r>
            <a:endParaRPr kumimoji="0" lang="zh-CN" altLang="en-US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25730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100" b="1" noProof="0" dirty="0">
                <a:ln>
                  <a:noFill/>
                </a:ln>
                <a:solidFill>
                  <a:schemeClr val="hlink"/>
                </a:solidFill>
                <a:uLnTx/>
                <a:uFillTx/>
                <a:sym typeface="+mn-ea"/>
                <a:hlinkClick r:id="rId7" action="ppaction://hlinksldjump"/>
              </a:rPr>
              <a:t>【</a:t>
            </a:r>
            <a:r>
              <a:rPr lang="zh-CN" altLang="en-US" sz="2100" b="1" noProof="0" dirty="0">
                <a:ln>
                  <a:noFill/>
                </a:ln>
                <a:solidFill>
                  <a:schemeClr val="hlink"/>
                </a:solidFill>
                <a:uLnTx/>
                <a:uFillTx/>
                <a:sym typeface="+mn-ea"/>
                <a:hlinkClick r:id="rId7" action="ppaction://hlinksldjump"/>
              </a:rPr>
              <a:t>例</a:t>
            </a:r>
            <a:r>
              <a:rPr lang="en-US" altLang="zh-CN" sz="2100" b="1" noProof="0" dirty="0">
                <a:ln>
                  <a:noFill/>
                </a:ln>
                <a:solidFill>
                  <a:schemeClr val="hlink"/>
                </a:solidFill>
                <a:uLnTx/>
                <a:uFillTx/>
                <a:sym typeface="+mn-ea"/>
                <a:hlinkClick r:id="rId7" action="ppaction://hlinksldjump"/>
              </a:rPr>
              <a:t>4.6】</a:t>
            </a:r>
            <a:r>
              <a:rPr lang="zh-CN" altLang="en-US" sz="2100" b="1" noProof="0" dirty="0">
                <a:ln>
                  <a:noFill/>
                </a:ln>
                <a:solidFill>
                  <a:schemeClr val="hlink"/>
                </a:solidFill>
                <a:uLnTx/>
                <a:uFillTx/>
                <a:sym typeface="+mn-ea"/>
                <a:hlinkClick r:id="rId7" action="ppaction://hlinksldjump"/>
              </a:rPr>
              <a:t>统计整数出现次数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Tahoma" panose="020B0604030504040204" pitchFamily="34" charset="0"/>
              <a:hlinkClick r:id="" action="ppaction://noaction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Tahoma" panose="020B0604030504040204" pitchFamily="34" charset="0"/>
                <a:hlinkClick r:id="" action="ppaction://noaction"/>
              </a:rPr>
              <a:t>§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" action="ppaction://noaction"/>
              </a:rPr>
              <a:t>4.2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" action="ppaction://noaction"/>
              </a:rPr>
              <a:t>多重循环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Tahoma" panose="020B0604030504040204" pitchFamily="34" charset="0"/>
                <a:hlinkClick r:id="" action="ppaction://noaction"/>
              </a:rPr>
              <a:t>§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" action="ppaction://noaction"/>
              </a:rPr>
              <a:t>4.3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" action="ppaction://noaction"/>
              </a:rPr>
              <a:t>程序设计实例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  <a:hlinkClick r:id="" action="ppaction://noaction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" action="ppaction://noaction"/>
              </a:rPr>
              <a:t>本章小结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  <a:hlinkClick r:id="" action="ppaction://noaction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9009063" y="3341688"/>
            <a:ext cx="3162300" cy="3505200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隶书" pitchFamily="2" charset="-122"/>
                <a:cs typeface="+mn-cs"/>
              </a:rPr>
              <a:t>算法的组成：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教材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p4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隶书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隶书" pitchFamily="2" charset="-122"/>
                <a:cs typeface="+mn-cs"/>
              </a:rPr>
              <a:t>基本操作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隶书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读（输入）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表达式及给变量赋值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写（输出）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隶书" pitchFamily="2" charset="-122"/>
                <a:cs typeface="+mn-cs"/>
              </a:rPr>
              <a:t>基本控制结构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隶书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顺序控制结构√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Tahoma" panose="020B060403050404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分支控制结构√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循环控制结构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函数调用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函数返回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53975" y="3752850"/>
            <a:ext cx="7742238" cy="19812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15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9413875" y="6362700"/>
            <a:ext cx="21336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C46B7D-49EF-400F-95FC-088D7049182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054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763"/>
            <a:ext cx="109728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Tahoma" panose="020B0604030504040204" pitchFamily="34" charset="0"/>
              </a:rPr>
              <a:t>§4.1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计算平均成绩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j-ea"/>
                <a:cs typeface="+mj-cs"/>
              </a:rPr>
              <a:t>—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循环程序 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2054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87425"/>
            <a:ext cx="11887200" cy="15430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4.1】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教材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P85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编程序，从终端输入某学生本学期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门课程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的成绩，计算并输出他的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平均成绩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 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" name="Group 7"/>
          <p:cNvGrpSpPr/>
          <p:nvPr/>
        </p:nvGrpSpPr>
        <p:grpSpPr>
          <a:xfrm>
            <a:off x="152400" y="3884613"/>
            <a:ext cx="4114800" cy="460375"/>
            <a:chOff x="288" y="2772"/>
            <a:chExt cx="2592" cy="290"/>
          </a:xfrm>
        </p:grpSpPr>
        <p:sp>
          <p:nvSpPr>
            <p:cNvPr id="22563" name="Text Box 4"/>
            <p:cNvSpPr txBox="1"/>
            <p:nvPr/>
          </p:nvSpPr>
          <p:spPr>
            <a:xfrm>
              <a:off x="288" y="2772"/>
              <a:ext cx="200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当前输入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的成绩：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m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22564" name="Rectangle 6"/>
            <p:cNvSpPr/>
            <p:nvPr/>
          </p:nvSpPr>
          <p:spPr>
            <a:xfrm>
              <a:off x="2290" y="2772"/>
              <a:ext cx="590" cy="288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endParaRPr>
            </a:p>
          </p:txBody>
        </p:sp>
      </p:grpSp>
      <p:grpSp>
        <p:nvGrpSpPr>
          <p:cNvPr id="4" name="Group 8"/>
          <p:cNvGrpSpPr/>
          <p:nvPr/>
        </p:nvGrpSpPr>
        <p:grpSpPr>
          <a:xfrm>
            <a:off x="152400" y="4521200"/>
            <a:ext cx="4114800" cy="460375"/>
            <a:chOff x="288" y="2772"/>
            <a:chExt cx="2592" cy="290"/>
          </a:xfrm>
        </p:grpSpPr>
        <p:sp>
          <p:nvSpPr>
            <p:cNvPr id="22561" name="Text Box 9"/>
            <p:cNvSpPr txBox="1"/>
            <p:nvPr/>
          </p:nvSpPr>
          <p:spPr>
            <a:xfrm>
              <a:off x="288" y="2772"/>
              <a:ext cx="200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总成绩：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   sum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22562" name="Rectangle 10"/>
            <p:cNvSpPr/>
            <p:nvPr/>
          </p:nvSpPr>
          <p:spPr>
            <a:xfrm>
              <a:off x="2290" y="2772"/>
              <a:ext cx="590" cy="288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+mn-ea"/>
                </a:rPr>
                <a:t>0</a:t>
              </a:r>
              <a:endParaRPr lang="en-US" altLang="zh-CN" sz="2400" b="1" dirty="0">
                <a:latin typeface="+mn-ea"/>
              </a:endParaRPr>
            </a:p>
          </p:txBody>
        </p:sp>
      </p:grpSp>
      <p:grpSp>
        <p:nvGrpSpPr>
          <p:cNvPr id="5" name="Group 11"/>
          <p:cNvGrpSpPr/>
          <p:nvPr/>
        </p:nvGrpSpPr>
        <p:grpSpPr>
          <a:xfrm>
            <a:off x="222250" y="3201035"/>
            <a:ext cx="4032250" cy="476250"/>
            <a:chOff x="332" y="2343"/>
            <a:chExt cx="2540" cy="300"/>
          </a:xfrm>
        </p:grpSpPr>
        <p:sp>
          <p:nvSpPr>
            <p:cNvPr id="22559" name="Text Box 12"/>
            <p:cNvSpPr txBox="1"/>
            <p:nvPr/>
          </p:nvSpPr>
          <p:spPr>
            <a:xfrm>
              <a:off x="332" y="2355"/>
              <a:ext cx="20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计数器：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k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22560" name="Rectangle 13"/>
            <p:cNvSpPr/>
            <p:nvPr/>
          </p:nvSpPr>
          <p:spPr>
            <a:xfrm>
              <a:off x="2282" y="2343"/>
              <a:ext cx="590" cy="288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1" dirty="0">
                <a:latin typeface="Monotype Corsiva" pitchFamily="66" charset="0"/>
                <a:ea typeface="华文彩云" pitchFamily="2" charset="-122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618038" y="3275013"/>
            <a:ext cx="54133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+mn-ea"/>
              </a:rPr>
              <a:t>1</a:t>
            </a:r>
            <a:endParaRPr lang="en-US" altLang="zh-CN" sz="2400" b="1" dirty="0">
              <a:solidFill>
                <a:schemeClr val="hlink"/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3905" y="3879850"/>
            <a:ext cx="74739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+mn-ea"/>
              </a:rPr>
              <a:t>80</a:t>
            </a:r>
            <a:endParaRPr lang="zh-CN" altLang="en-US" sz="2400" b="1" dirty="0">
              <a:solidFill>
                <a:schemeClr val="hlink"/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635" y="4484370"/>
            <a:ext cx="7175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ea"/>
              </a:rPr>
              <a:t>80</a:t>
            </a:r>
            <a:endParaRPr lang="en-US" altLang="zh-CN" sz="2400" b="1" dirty="0">
              <a:solidFill>
                <a:schemeClr val="accent2">
                  <a:lumMod val="60000"/>
                  <a:lumOff val="40000"/>
                </a:schemeClr>
              </a:solidFill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562283" y="3263900"/>
            <a:ext cx="5397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+mn-ea"/>
              </a:rPr>
              <a:t>2</a:t>
            </a:r>
            <a:endParaRPr lang="en-US" altLang="zh-CN" sz="2400" b="1" dirty="0">
              <a:solidFill>
                <a:schemeClr val="hlink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61000" y="3891280"/>
            <a:ext cx="6781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+mn-ea"/>
              </a:rPr>
              <a:t>90</a:t>
            </a:r>
            <a:endParaRPr lang="zh-CN" altLang="en-US" sz="2400" b="1" dirty="0">
              <a:solidFill>
                <a:schemeClr val="hlink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63515" y="4515485"/>
            <a:ext cx="113855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ea"/>
              </a:rPr>
              <a:t>170</a:t>
            </a:r>
            <a:endParaRPr lang="en-US" altLang="zh-CN" sz="2400" b="1" dirty="0">
              <a:solidFill>
                <a:schemeClr val="accent2">
                  <a:lumMod val="60000"/>
                  <a:lumOff val="40000"/>
                </a:schemeClr>
              </a:solidFill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17298" y="3265488"/>
            <a:ext cx="54133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+mn-ea"/>
              </a:rPr>
              <a:t>3</a:t>
            </a:r>
            <a:endParaRPr lang="zh-CN" altLang="en-US" sz="2400" b="1" dirty="0">
              <a:solidFill>
                <a:schemeClr val="hlink"/>
              </a:solidFill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19800" y="3872865"/>
            <a:ext cx="117729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+mj-ea"/>
                <a:ea typeface="+mj-ea"/>
              </a:rPr>
              <a:t>100</a:t>
            </a:r>
            <a:endParaRPr lang="en-US" altLang="zh-CN" sz="2400" b="1" dirty="0">
              <a:solidFill>
                <a:schemeClr val="hlink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96635" y="4481830"/>
            <a:ext cx="103949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270</a:t>
            </a:r>
            <a:endParaRPr lang="en-US" altLang="zh-CN" sz="2400" b="1" dirty="0">
              <a:solidFill>
                <a:schemeClr val="accent2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267200" y="5379085"/>
            <a:ext cx="11747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n-ea"/>
                <a:ea typeface="+mn-ea"/>
                <a:cs typeface="+mn-cs"/>
              </a:rPr>
              <a:t>修改</a:t>
            </a:r>
            <a:r>
              <a:rPr kumimoji="0" lang="en-US" altLang="zh-CN" sz="2000" kern="1200" cap="none" spc="0" normalizeH="0" baseline="0" noProof="0" dirty="0">
                <a:latin typeface="+mn-ea"/>
                <a:ea typeface="+mn-ea"/>
                <a:cs typeface="+mn-cs"/>
              </a:rPr>
              <a:t>k</a:t>
            </a:r>
            <a:endParaRPr kumimoji="0" lang="zh-CN" altLang="en-US" sz="20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257800" y="5408930"/>
            <a:ext cx="11747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n-ea"/>
                <a:ea typeface="+mn-ea"/>
                <a:cs typeface="+mn-cs"/>
              </a:rPr>
              <a:t>修改</a:t>
            </a:r>
            <a:r>
              <a:rPr kumimoji="0" lang="en-US" altLang="zh-CN" sz="2000" kern="1200" cap="none" spc="0" normalizeH="0" baseline="0" noProof="0" dirty="0">
                <a:latin typeface="+mn-ea"/>
                <a:ea typeface="+mn-ea"/>
                <a:cs typeface="+mn-cs"/>
              </a:rPr>
              <a:t>k</a:t>
            </a:r>
            <a:endParaRPr kumimoji="0" lang="zh-CN" altLang="en-US" sz="20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02350" y="5416550"/>
            <a:ext cx="11747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n-ea"/>
                <a:ea typeface="+mn-ea"/>
                <a:cs typeface="+mn-cs"/>
              </a:rPr>
              <a:t>修改</a:t>
            </a:r>
            <a:r>
              <a:rPr kumimoji="0" lang="en-US" altLang="zh-CN" sz="2000" kern="1200" cap="none" spc="0" normalizeH="0" baseline="0" noProof="0" dirty="0">
                <a:latin typeface="+mn-ea"/>
                <a:ea typeface="+mn-ea"/>
                <a:cs typeface="+mn-cs"/>
              </a:rPr>
              <a:t>k</a:t>
            </a:r>
            <a:endParaRPr kumimoji="0" lang="zh-CN" altLang="en-US" sz="20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71360" y="3230245"/>
            <a:ext cx="5397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+mn-ea"/>
              </a:rPr>
              <a:t>4</a:t>
            </a:r>
            <a:endParaRPr lang="zh-CN" altLang="en-US" sz="2400" b="1" dirty="0">
              <a:solidFill>
                <a:schemeClr val="hlink"/>
              </a:solidFill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975" y="5894705"/>
            <a:ext cx="352171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hlink"/>
                </a:solidFill>
                <a:latin typeface="+mn-ea"/>
                <a:cs typeface="+mn-ea"/>
              </a:rPr>
              <a:t>平均分</a:t>
            </a:r>
            <a:r>
              <a:rPr lang="en-US" altLang="zh-CN" b="1" dirty="0">
                <a:solidFill>
                  <a:schemeClr val="hlink"/>
                </a:solidFill>
                <a:latin typeface="+mn-ea"/>
                <a:cs typeface="+mn-ea"/>
              </a:rPr>
              <a:t>: sum/N</a:t>
            </a:r>
            <a:endParaRPr lang="zh-CN" altLang="en-US" b="1" dirty="0">
              <a:solidFill>
                <a:schemeClr val="hlink"/>
              </a:solidFill>
              <a:latin typeface="+mn-ea"/>
              <a:cs typeface="+mn-ea"/>
            </a:endParaRPr>
          </a:p>
        </p:txBody>
      </p:sp>
      <p:pic>
        <p:nvPicPr>
          <p:cNvPr id="5149" name="Picture 29"/>
          <p:cNvPicPr>
            <a:picLocks noChangeAspect="1"/>
          </p:cNvPicPr>
          <p:nvPr/>
        </p:nvPicPr>
        <p:blipFill>
          <a:blip r:embed="rId1"/>
          <a:srcRect b="86163"/>
          <a:stretch>
            <a:fillRect/>
          </a:stretch>
        </p:blipFill>
        <p:spPr>
          <a:xfrm>
            <a:off x="7780338" y="2030413"/>
            <a:ext cx="4327525" cy="4810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"/>
          <a:srcRect t="71666"/>
          <a:stretch>
            <a:fillRect/>
          </a:stretch>
        </p:blipFill>
        <p:spPr>
          <a:xfrm>
            <a:off x="7796213" y="4833938"/>
            <a:ext cx="4303712" cy="9826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" name="Picture 29"/>
          <p:cNvPicPr>
            <a:picLocks noChangeAspect="1"/>
          </p:cNvPicPr>
          <p:nvPr/>
        </p:nvPicPr>
        <p:blipFill>
          <a:blip r:embed="rId1"/>
          <a:srcRect t="12564" b="74860"/>
          <a:stretch>
            <a:fillRect/>
          </a:stretch>
        </p:blipFill>
        <p:spPr>
          <a:xfrm>
            <a:off x="7780338" y="2525713"/>
            <a:ext cx="4316412" cy="4365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" name="Picture 29"/>
          <p:cNvPicPr>
            <a:picLocks noChangeAspect="1"/>
          </p:cNvPicPr>
          <p:nvPr/>
        </p:nvPicPr>
        <p:blipFill>
          <a:blip r:embed="rId1"/>
          <a:srcRect t="36670" b="50000"/>
          <a:stretch>
            <a:fillRect/>
          </a:stretch>
        </p:blipFill>
        <p:spPr>
          <a:xfrm>
            <a:off x="7780338" y="3398838"/>
            <a:ext cx="4311650" cy="4619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" name="Picture 29"/>
          <p:cNvPicPr>
            <a:picLocks noChangeAspect="1"/>
          </p:cNvPicPr>
          <p:nvPr/>
        </p:nvPicPr>
        <p:blipFill>
          <a:blip r:embed="rId1"/>
          <a:srcRect t="61360" b="26210"/>
          <a:stretch>
            <a:fillRect/>
          </a:stretch>
        </p:blipFill>
        <p:spPr>
          <a:xfrm>
            <a:off x="7796213" y="4352925"/>
            <a:ext cx="4275137" cy="428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" name="Picture 29"/>
          <p:cNvPicPr>
            <a:picLocks noChangeAspect="1"/>
          </p:cNvPicPr>
          <p:nvPr/>
        </p:nvPicPr>
        <p:blipFill>
          <a:blip r:embed="rId1"/>
          <a:srcRect t="1620" b="86163"/>
          <a:stretch>
            <a:fillRect/>
          </a:stretch>
        </p:blipFill>
        <p:spPr>
          <a:xfrm>
            <a:off x="7780338" y="2987675"/>
            <a:ext cx="4316412" cy="4238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" name="Picture 29"/>
          <p:cNvPicPr>
            <a:picLocks noChangeAspect="1"/>
          </p:cNvPicPr>
          <p:nvPr/>
        </p:nvPicPr>
        <p:blipFill>
          <a:blip r:embed="rId1"/>
          <a:srcRect t="604" b="86163"/>
          <a:stretch>
            <a:fillRect/>
          </a:stretch>
        </p:blipFill>
        <p:spPr>
          <a:xfrm>
            <a:off x="7780338" y="3867150"/>
            <a:ext cx="4305300" cy="4587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" name="矩形 39"/>
          <p:cNvSpPr/>
          <p:nvPr/>
        </p:nvSpPr>
        <p:spPr>
          <a:xfrm>
            <a:off x="1002348" y="2847975"/>
            <a:ext cx="2573337" cy="4095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+mn-ea"/>
              </a:rPr>
              <a:t>#define  N  3</a:t>
            </a:r>
            <a:endParaRPr lang="zh-CN" altLang="en-US" sz="2400" b="1" dirty="0">
              <a:solidFill>
                <a:schemeClr val="hlink"/>
              </a:solidFill>
              <a:latin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37710" y="5989955"/>
            <a:ext cx="7654290" cy="891540"/>
          </a:xfrm>
          <a:prstGeom prst="rect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p>
            <a:r>
              <a:rPr lang="en-US" altLang="zh-CN" sz="2400"/>
              <a:t>P63 </a:t>
            </a:r>
            <a:r>
              <a:rPr lang="zh-CN" altLang="en-US" sz="2400"/>
              <a:t>例</a:t>
            </a:r>
            <a:r>
              <a:rPr lang="en-US" altLang="zh-CN" sz="2400"/>
              <a:t>2.3 </a:t>
            </a:r>
            <a:r>
              <a:rPr lang="en-US" altLang="zh-CN" sz="2800"/>
              <a:t>scanf(</a:t>
            </a:r>
            <a:r>
              <a:rPr lang="en-US" altLang="zh-CN" sz="2800">
                <a:sym typeface="+mn-ea"/>
              </a:rPr>
              <a:t>”</a:t>
            </a:r>
            <a:r>
              <a:rPr lang="en-US" altLang="zh-CN" sz="2800"/>
              <a:t>%f%f%f”,&amp;prog,&amp;math,&amp;phy);</a:t>
            </a:r>
            <a:endParaRPr lang="en-US" altLang="zh-CN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/>
      <p:bldP spid="16" grpId="0"/>
      <p:bldP spid="17" grpId="0"/>
      <p:bldP spid="24" grpId="0"/>
      <p:bldP spid="25" grpId="0"/>
      <p:bldP spid="26" grpId="0"/>
      <p:bldP spid="27" grpId="0"/>
      <p:bldP spid="28" grpId="0"/>
      <p:bldP spid="29" grpId="0"/>
      <p:bldP spid="34" grpId="0"/>
      <p:bldP spid="35" grpId="0"/>
      <p:bldP spid="36" grpId="0"/>
      <p:bldP spid="37" grpId="0"/>
      <p:bldP spid="7" grpId="0"/>
      <p:bldP spid="40" grpId="0"/>
      <p:bldP spid="8" grpId="0" animBg="1"/>
      <p:bldP spid="8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2601" name="Rectangle 9"/>
          <p:cNvSpPr>
            <a:spLocks noGrp="1" noChangeArrowheads="1"/>
          </p:cNvSpPr>
          <p:nvPr>
            <p:ph type="body" sz="half" idx="2"/>
          </p:nvPr>
        </p:nvSpPr>
        <p:spPr>
          <a:xfrm>
            <a:off x="3983038" y="913765"/>
            <a:ext cx="7062788" cy="5827713"/>
          </a:xfrm>
          <a:ln w="25400">
            <a:solidFill>
              <a:srgbClr val="FFFF00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#define  N  3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main(){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float  sum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k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, m;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k=1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计数器初值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sum=0</a:t>
            </a:r>
            <a:r>
              <a:rPr lang="en-US" altLang="zh-CN" sz="2400" b="1" noProof="0" dirty="0">
                <a:ln>
                  <a:noFill/>
                </a:ln>
                <a:solidFill>
                  <a:srgbClr val="FF00FF"/>
                </a:solidFill>
                <a:uLnTx/>
                <a:uFillTx/>
                <a:sym typeface="+mn-ea"/>
              </a:rPr>
              <a:t>;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求和单元初值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do {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(“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请输入单科成绩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:");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d",&amp;m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sum+=m;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k++ ;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 while (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 &lt;= N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(“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平均成绩为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%5.2f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 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sum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 0;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灯片编号占位符 6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37600" y="6323965"/>
            <a:ext cx="2844800" cy="457200"/>
          </a:xfrm>
        </p:spPr>
        <p:txBody>
          <a:bodyPr vert="horz"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81E65B1-58C4-43E3-B540-BBA72A8D2EF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3556" name="Group 10"/>
          <p:cNvGrpSpPr/>
          <p:nvPr/>
        </p:nvGrpSpPr>
        <p:grpSpPr>
          <a:xfrm>
            <a:off x="441325" y="291465"/>
            <a:ext cx="3241675" cy="6426200"/>
            <a:chOff x="355" y="6"/>
            <a:chExt cx="2194" cy="4195"/>
          </a:xfrm>
        </p:grpSpPr>
        <p:sp>
          <p:nvSpPr>
            <p:cNvPr id="23561" name="Rectangle 11"/>
            <p:cNvSpPr/>
            <p:nvPr/>
          </p:nvSpPr>
          <p:spPr>
            <a:xfrm>
              <a:off x="1021" y="550"/>
              <a:ext cx="1035" cy="5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rgbClr val="FF00FF"/>
                  </a:solidFill>
                </a:rPr>
                <a:t>sum=0;</a:t>
              </a:r>
              <a:endParaRPr lang="en-US" altLang="zh-CN" sz="2000" b="1" dirty="0">
                <a:solidFill>
                  <a:srgbClr val="FF00FF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</a:rPr>
                <a:t>k=1;</a:t>
              </a:r>
              <a:endParaRPr lang="en-US" altLang="zh-CN" sz="2000" b="1" dirty="0">
                <a:solidFill>
                  <a:schemeClr val="hlink"/>
                </a:solidFill>
              </a:endParaRPr>
            </a:p>
          </p:txBody>
        </p:sp>
        <p:sp>
          <p:nvSpPr>
            <p:cNvPr id="23562" name="Rectangle 12"/>
            <p:cNvSpPr/>
            <p:nvPr/>
          </p:nvSpPr>
          <p:spPr>
            <a:xfrm>
              <a:off x="676" y="1278"/>
              <a:ext cx="1694" cy="50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①</a:t>
              </a:r>
              <a:r>
                <a:rPr lang="zh-CN" altLang="en-US" sz="2000" b="1" dirty="0"/>
                <a:t>读入一科成绩 → </a:t>
              </a:r>
              <a:r>
                <a:rPr lang="en-US" altLang="zh-CN" sz="2000" b="1" dirty="0"/>
                <a:t>m</a:t>
              </a:r>
              <a:endParaRPr lang="en-US" altLang="zh-CN" sz="2000" b="1" dirty="0"/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②</a:t>
              </a:r>
              <a:r>
                <a:rPr lang="en-US" altLang="zh-CN" sz="2000" b="1" dirty="0">
                  <a:solidFill>
                    <a:srgbClr val="FF00FF"/>
                  </a:solidFill>
                </a:rPr>
                <a:t>sum=sum+m;</a:t>
              </a:r>
              <a:endParaRPr lang="en-US" altLang="zh-CN" sz="2000" b="1" dirty="0">
                <a:solidFill>
                  <a:srgbClr val="FF00FF"/>
                </a:solidFill>
              </a:endParaRPr>
            </a:p>
          </p:txBody>
        </p:sp>
        <p:sp>
          <p:nvSpPr>
            <p:cNvPr id="23563" name="Rectangle 13"/>
            <p:cNvSpPr/>
            <p:nvPr/>
          </p:nvSpPr>
          <p:spPr>
            <a:xfrm>
              <a:off x="697" y="1974"/>
              <a:ext cx="1673" cy="335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③</a:t>
              </a:r>
              <a:r>
                <a:rPr lang="en-US" altLang="zh-CN" sz="2000" b="1" dirty="0">
                  <a:solidFill>
                    <a:schemeClr val="hlink"/>
                  </a:solidFill>
                </a:rPr>
                <a:t>k = k+1 ; </a:t>
              </a:r>
              <a:endParaRPr lang="en-US" altLang="zh-CN" sz="2000" b="1" dirty="0">
                <a:solidFill>
                  <a:schemeClr val="hlink"/>
                </a:solidFill>
              </a:endParaRPr>
            </a:p>
          </p:txBody>
        </p:sp>
        <p:grpSp>
          <p:nvGrpSpPr>
            <p:cNvPr id="23564" name="Group 14"/>
            <p:cNvGrpSpPr/>
            <p:nvPr/>
          </p:nvGrpSpPr>
          <p:grpSpPr>
            <a:xfrm>
              <a:off x="1131" y="6"/>
              <a:ext cx="842" cy="509"/>
              <a:chOff x="5467" y="3421"/>
              <a:chExt cx="763" cy="435"/>
            </a:xfrm>
          </p:grpSpPr>
          <p:sp>
            <p:nvSpPr>
              <p:cNvPr id="23584" name="Rectangle 15"/>
              <p:cNvSpPr/>
              <p:nvPr/>
            </p:nvSpPr>
            <p:spPr>
              <a:xfrm>
                <a:off x="5467" y="3421"/>
                <a:ext cx="763" cy="24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/>
                  <a:t>开始</a:t>
                </a:r>
                <a:endParaRPr lang="zh-CN" altLang="en-US" sz="2000" b="1" dirty="0"/>
              </a:p>
            </p:txBody>
          </p:sp>
          <p:sp>
            <p:nvSpPr>
              <p:cNvPr id="23585" name="Line 16"/>
              <p:cNvSpPr/>
              <p:nvPr/>
            </p:nvSpPr>
            <p:spPr>
              <a:xfrm>
                <a:off x="5848" y="3681"/>
                <a:ext cx="1" cy="17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triangle" w="sm" len="sm"/>
              </a:ln>
            </p:spPr>
          </p:sp>
        </p:grpSp>
        <p:sp>
          <p:nvSpPr>
            <p:cNvPr id="23565" name="Line 17"/>
            <p:cNvSpPr/>
            <p:nvPr/>
          </p:nvSpPr>
          <p:spPr>
            <a:xfrm>
              <a:off x="1535" y="1071"/>
              <a:ext cx="2" cy="20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23566" name="Line 18"/>
            <p:cNvSpPr/>
            <p:nvPr/>
          </p:nvSpPr>
          <p:spPr>
            <a:xfrm>
              <a:off x="1564" y="2371"/>
              <a:ext cx="1" cy="2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grpSp>
          <p:nvGrpSpPr>
            <p:cNvPr id="23567" name="Group 19"/>
            <p:cNvGrpSpPr/>
            <p:nvPr/>
          </p:nvGrpSpPr>
          <p:grpSpPr>
            <a:xfrm>
              <a:off x="616" y="2556"/>
              <a:ext cx="1933" cy="523"/>
              <a:chOff x="2824" y="5941"/>
              <a:chExt cx="2550" cy="553"/>
            </a:xfrm>
          </p:grpSpPr>
          <p:sp>
            <p:nvSpPr>
              <p:cNvPr id="23576" name="Rectangle 20"/>
              <p:cNvSpPr/>
              <p:nvPr/>
            </p:nvSpPr>
            <p:spPr>
              <a:xfrm>
                <a:off x="3104" y="6061"/>
                <a:ext cx="2069" cy="30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hlink"/>
                    </a:solidFill>
                  </a:rPr>
                  <a:t>k &lt;= N</a:t>
                </a:r>
                <a:endParaRPr lang="en-US" altLang="zh-CN" sz="2000" b="1" dirty="0">
                  <a:solidFill>
                    <a:schemeClr val="hlink"/>
                  </a:solidFill>
                </a:endParaRPr>
              </a:p>
            </p:txBody>
          </p:sp>
          <p:grpSp>
            <p:nvGrpSpPr>
              <p:cNvPr id="23577" name="Group 21"/>
              <p:cNvGrpSpPr/>
              <p:nvPr/>
            </p:nvGrpSpPr>
            <p:grpSpPr>
              <a:xfrm>
                <a:off x="2824" y="5941"/>
                <a:ext cx="2550" cy="553"/>
                <a:chOff x="0" y="5"/>
                <a:chExt cx="20000" cy="19996"/>
              </a:xfrm>
            </p:grpSpPr>
            <p:grpSp>
              <p:nvGrpSpPr>
                <p:cNvPr id="23578" name="Group 22"/>
                <p:cNvGrpSpPr/>
                <p:nvPr/>
              </p:nvGrpSpPr>
              <p:grpSpPr>
                <a:xfrm>
                  <a:off x="0" y="5"/>
                  <a:ext cx="10151" cy="19996"/>
                  <a:chOff x="0" y="0"/>
                  <a:chExt cx="20000" cy="20000"/>
                </a:xfrm>
              </p:grpSpPr>
              <p:sp>
                <p:nvSpPr>
                  <p:cNvPr id="23582" name="Line 23"/>
                  <p:cNvSpPr/>
                  <p:nvPr/>
                </p:nvSpPr>
                <p:spPr>
                  <a:xfrm flipV="1">
                    <a:off x="0" y="0"/>
                    <a:ext cx="20000" cy="969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23583" name="Line 24"/>
                  <p:cNvSpPr/>
                  <p:nvPr/>
                </p:nvSpPr>
                <p:spPr>
                  <a:xfrm>
                    <a:off x="0" y="10302"/>
                    <a:ext cx="20000" cy="969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  <p:grpSp>
              <p:nvGrpSpPr>
                <p:cNvPr id="23579" name="Group 25"/>
                <p:cNvGrpSpPr/>
                <p:nvPr/>
              </p:nvGrpSpPr>
              <p:grpSpPr>
                <a:xfrm>
                  <a:off x="9849" y="5"/>
                  <a:ext cx="10151" cy="19996"/>
                  <a:chOff x="0" y="0"/>
                  <a:chExt cx="20000" cy="20000"/>
                </a:xfrm>
              </p:grpSpPr>
              <p:sp>
                <p:nvSpPr>
                  <p:cNvPr id="23580" name="Line 26"/>
                  <p:cNvSpPr/>
                  <p:nvPr/>
                </p:nvSpPr>
                <p:spPr>
                  <a:xfrm flipH="1" flipV="1">
                    <a:off x="0" y="0"/>
                    <a:ext cx="20000" cy="969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23581" name="Line 27"/>
                  <p:cNvSpPr/>
                  <p:nvPr/>
                </p:nvSpPr>
                <p:spPr>
                  <a:xfrm flipH="1">
                    <a:off x="0" y="10302"/>
                    <a:ext cx="20000" cy="969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</p:grpSp>
        </p:grpSp>
        <p:sp>
          <p:nvSpPr>
            <p:cNvPr id="23568" name="Rectangle 28"/>
            <p:cNvSpPr/>
            <p:nvPr/>
          </p:nvSpPr>
          <p:spPr>
            <a:xfrm>
              <a:off x="949" y="3937"/>
              <a:ext cx="1316" cy="264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/>
                <a:t>结束</a:t>
              </a:r>
              <a:endParaRPr lang="zh-CN" altLang="en-US" sz="2000" b="1" dirty="0"/>
            </a:p>
          </p:txBody>
        </p:sp>
        <p:sp>
          <p:nvSpPr>
            <p:cNvPr id="23569" name="Line 29"/>
            <p:cNvSpPr/>
            <p:nvPr/>
          </p:nvSpPr>
          <p:spPr>
            <a:xfrm>
              <a:off x="1592" y="3110"/>
              <a:ext cx="1" cy="20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23570" name="Rectangle 30"/>
            <p:cNvSpPr/>
            <p:nvPr/>
          </p:nvSpPr>
          <p:spPr>
            <a:xfrm>
              <a:off x="1722" y="3034"/>
              <a:ext cx="283" cy="415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F</a:t>
              </a:r>
              <a:endParaRPr lang="en-US" altLang="zh-CN" sz="2000" b="1" dirty="0"/>
            </a:p>
          </p:txBody>
        </p:sp>
        <p:sp>
          <p:nvSpPr>
            <p:cNvPr id="23571" name="Rectangle 31"/>
            <p:cNvSpPr/>
            <p:nvPr/>
          </p:nvSpPr>
          <p:spPr>
            <a:xfrm>
              <a:off x="496" y="2575"/>
              <a:ext cx="282" cy="369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T</a:t>
              </a:r>
              <a:endParaRPr lang="en-US" altLang="zh-CN" sz="2000" b="1" dirty="0"/>
            </a:p>
          </p:txBody>
        </p:sp>
        <p:sp>
          <p:nvSpPr>
            <p:cNvPr id="23572" name="Line 32"/>
            <p:cNvSpPr/>
            <p:nvPr/>
          </p:nvSpPr>
          <p:spPr>
            <a:xfrm>
              <a:off x="1556" y="1780"/>
              <a:ext cx="2" cy="2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23573" name="Rectangle 33"/>
            <p:cNvSpPr/>
            <p:nvPr/>
          </p:nvSpPr>
          <p:spPr>
            <a:xfrm>
              <a:off x="828" y="3331"/>
              <a:ext cx="1543" cy="36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/>
                <a:t>输出 </a:t>
              </a:r>
              <a:r>
                <a:rPr lang="en-US" altLang="zh-CN" sz="2000" b="1" dirty="0"/>
                <a:t>sum / N</a:t>
              </a:r>
              <a:endParaRPr lang="en-US" altLang="zh-CN" sz="2000" b="1" dirty="0"/>
            </a:p>
          </p:txBody>
        </p:sp>
        <p:sp>
          <p:nvSpPr>
            <p:cNvPr id="23574" name="Line 34"/>
            <p:cNvSpPr/>
            <p:nvPr/>
          </p:nvSpPr>
          <p:spPr>
            <a:xfrm>
              <a:off x="1601" y="3713"/>
              <a:ext cx="2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23575" name="Freeform 35"/>
            <p:cNvSpPr/>
            <p:nvPr/>
          </p:nvSpPr>
          <p:spPr>
            <a:xfrm>
              <a:off x="355" y="1176"/>
              <a:ext cx="1080" cy="1644"/>
            </a:xfrm>
            <a:custGeom>
              <a:avLst/>
              <a:gdLst>
                <a:gd name="txL" fmla="*/ 0 w 1600"/>
                <a:gd name="txT" fmla="*/ 0 h 1740"/>
                <a:gd name="txR" fmla="*/ 1600 w 1600"/>
                <a:gd name="txB" fmla="*/ 1740 h 1740"/>
              </a:gdLst>
              <a:ahLst/>
              <a:cxnLst>
                <a:cxn ang="0">
                  <a:pos x="1" y="27"/>
                </a:cxn>
                <a:cxn ang="0">
                  <a:pos x="0" y="27"/>
                </a:cxn>
                <a:cxn ang="0">
                  <a:pos x="0" y="0"/>
                </a:cxn>
                <a:cxn ang="0">
                  <a:pos x="1" y="0"/>
                </a:cxn>
              </a:cxnLst>
              <a:rect l="txL" t="txT" r="txR" b="txB"/>
              <a:pathLst>
                <a:path w="1600" h="1740">
                  <a:moveTo>
                    <a:pt x="520" y="1740"/>
                  </a:moveTo>
                  <a:lnTo>
                    <a:pt x="0" y="1740"/>
                  </a:lnTo>
                  <a:lnTo>
                    <a:pt x="0" y="0"/>
                  </a:lnTo>
                  <a:lnTo>
                    <a:pt x="1600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22630" name="Rectangle 38"/>
          <p:cNvSpPr>
            <a:spLocks noChangeArrowheads="1"/>
          </p:cNvSpPr>
          <p:nvPr/>
        </p:nvSpPr>
        <p:spPr bwMode="auto">
          <a:xfrm>
            <a:off x="7315200" y="687388"/>
            <a:ext cx="4841875" cy="1200150"/>
          </a:xfrm>
          <a:prstGeom prst="rect">
            <a:avLst/>
          </a:prstGeom>
          <a:solidFill>
            <a:schemeClr val="accent5">
              <a:lumMod val="25000"/>
            </a:schemeClr>
          </a:solidFill>
          <a:ln w="25400" algn="ctr">
            <a:noFill/>
            <a:miter lim="800000"/>
          </a:ln>
          <a:effectLst/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tabLst>
                <a:tab pos="5334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tabLst>
                <a:tab pos="5334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5334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5334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5334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5334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5334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5334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5334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571500" marR="0" lvl="0" indent="-57150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533400" algn="l"/>
              </a:tabLst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华文新魏" pitchFamily="2" charset="-122"/>
                <a:cs typeface="+mn-cs"/>
              </a:rPr>
              <a:t>先判断条件的循环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华文新魏" pitchFamily="2" charset="-122"/>
              <a:cs typeface="+mn-cs"/>
            </a:endParaRPr>
          </a:p>
          <a:p>
            <a:pPr marL="571500" marR="0" lvl="0" indent="-57150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533400" algn="l"/>
              </a:tabLst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华文新魏" pitchFamily="2" charset="-122"/>
                <a:cs typeface="+mn-cs"/>
              </a:rPr>
              <a:t>后判断条件的循环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华文新魏" pitchFamily="2" charset="-122"/>
              <a:cs typeface="+mn-cs"/>
            </a:endParaRPr>
          </a:p>
        </p:txBody>
      </p:sp>
      <p:sp>
        <p:nvSpPr>
          <p:cNvPr id="622629" name="Rectangle 37"/>
          <p:cNvSpPr>
            <a:spLocks noChangeArrowheads="1"/>
          </p:cNvSpPr>
          <p:nvPr/>
        </p:nvSpPr>
        <p:spPr bwMode="auto">
          <a:xfrm>
            <a:off x="7315200" y="36513"/>
            <a:ext cx="4841875" cy="646113"/>
          </a:xfrm>
          <a:prstGeom prst="rect">
            <a:avLst/>
          </a:prstGeom>
          <a:solidFill>
            <a:schemeClr val="accent5">
              <a:lumMod val="25000"/>
            </a:schemeClr>
          </a:solidFill>
          <a:ln w="25400" algn="ctr">
            <a:noFill/>
            <a:miter lim="800000"/>
          </a:ln>
          <a:effectLst/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tabLst>
                <a:tab pos="5334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tabLst>
                <a:tab pos="5334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5334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5334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5334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5334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5334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5334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5334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3400" algn="l"/>
              </a:tabLst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华文新魏" pitchFamily="2" charset="-122"/>
                <a:cs typeface="+mn-cs"/>
              </a:rPr>
              <a:t>这就是循环程序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华文新魏" pitchFamily="2" charset="-122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027805" y="1266190"/>
            <a:ext cx="5130165" cy="1213485"/>
            <a:chOff x="6343" y="1994"/>
            <a:chExt cx="8079" cy="1911"/>
          </a:xfrm>
        </p:grpSpPr>
        <p:sp>
          <p:nvSpPr>
            <p:cNvPr id="2" name="矩形 1"/>
            <p:cNvSpPr/>
            <p:nvPr/>
          </p:nvSpPr>
          <p:spPr>
            <a:xfrm>
              <a:off x="6343" y="1994"/>
              <a:ext cx="4052" cy="645"/>
            </a:xfrm>
            <a:prstGeom prst="rect">
              <a:avLst/>
            </a:prstGeom>
            <a:solidFill>
              <a:srgbClr val="084574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Monotype Corsiva" pitchFamily="66" charset="0"/>
                  <a:ea typeface="华文彩云" pitchFamily="2" charset="-122"/>
                </a:rPr>
                <a:t>#define  N  40</a:t>
              </a:r>
              <a:endPara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endParaRPr>
            </a:p>
          </p:txBody>
        </p:sp>
        <p:sp>
          <p:nvSpPr>
            <p:cNvPr id="3" name="矩形标注 2"/>
            <p:cNvSpPr/>
            <p:nvPr/>
          </p:nvSpPr>
          <p:spPr>
            <a:xfrm>
              <a:off x="10560" y="3119"/>
              <a:ext cx="3863" cy="786"/>
            </a:xfrm>
            <a:prstGeom prst="wedgeRectCallout">
              <a:avLst>
                <a:gd name="adj1" fmla="val -80637"/>
                <a:gd name="adj2" fmla="val -152777"/>
              </a:avLst>
            </a:prstGeom>
            <a:solidFill>
              <a:schemeClr val="accent1"/>
            </a:solidFill>
          </p:spPr>
          <p:txBody>
            <a:bodyPr wrap="square" lIns="0" rIns="0">
              <a:noAutofit/>
            </a:bodyPr>
            <a:p>
              <a:pPr eaLnBrk="1" hangingPunct="1">
                <a:buNone/>
              </a:pPr>
              <a:r>
                <a:rPr lang="zh-CN" altLang="en-US" sz="3200" dirty="0">
                  <a:latin typeface="Arial" panose="020B0604020202020204" pitchFamily="34" charset="0"/>
                </a:rPr>
                <a:t>【调试</a:t>
              </a:r>
              <a:r>
                <a:rPr lang="zh-CN" altLang="en-US" sz="3200" dirty="0">
                  <a:latin typeface="Arial" panose="020B0604020202020204" pitchFamily="34" charset="0"/>
                </a:rPr>
                <a:t>技巧】</a:t>
              </a:r>
              <a:endParaRPr lang="zh-CN" altLang="en-US" sz="3200" dirty="0">
                <a:latin typeface="Arial" panose="020B0604020202020204" pitchFamily="34" charset="0"/>
              </a:endParaRPr>
            </a:p>
          </p:txBody>
        </p:sp>
      </p:grpSp>
      <p:sp>
        <p:nvSpPr>
          <p:cNvPr id="4" name="对话气泡: 椭圆形 38"/>
          <p:cNvSpPr/>
          <p:nvPr/>
        </p:nvSpPr>
        <p:spPr bwMode="auto">
          <a:xfrm>
            <a:off x="2968625" y="3919220"/>
            <a:ext cx="1352550" cy="568325"/>
          </a:xfrm>
          <a:prstGeom prst="wedgeEllipseCallout">
            <a:avLst>
              <a:gd name="adj1" fmla="val -43938"/>
              <a:gd name="adj2" fmla="val -80048"/>
            </a:avLst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思考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2601" grpId="0" animBg="1" uiExpand="1" build="p"/>
      <p:bldP spid="622601" grpId="1" animBg="1" build="p"/>
      <p:bldP spid="622629" grpId="0" animBg="1"/>
      <p:bldP spid="622630" grpId="0" animBg="1"/>
      <p:bldP spid="622629" grpId="1" animBg="1"/>
      <p:bldP spid="622630" grpId="1" animBg="1"/>
      <p:bldP spid="4" grpId="0" animBg="1"/>
      <p:bldP spid="4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D47F72B-9CF6-4499-92B5-11B2A360A04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5603" name="Group 64"/>
          <p:cNvGrpSpPr/>
          <p:nvPr/>
        </p:nvGrpSpPr>
        <p:grpSpPr>
          <a:xfrm>
            <a:off x="5868988" y="206375"/>
            <a:ext cx="5668962" cy="5702300"/>
            <a:chOff x="2426" y="533"/>
            <a:chExt cx="3322" cy="3481"/>
          </a:xfrm>
        </p:grpSpPr>
        <p:sp>
          <p:nvSpPr>
            <p:cNvPr id="25632" name="Rectangle 34"/>
            <p:cNvSpPr/>
            <p:nvPr/>
          </p:nvSpPr>
          <p:spPr>
            <a:xfrm>
              <a:off x="3016" y="1157"/>
              <a:ext cx="1110" cy="46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sum=0;</a:t>
              </a:r>
              <a:endParaRPr lang="en-US" altLang="zh-CN" sz="2400" b="1" dirty="0"/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k=1;</a:t>
              </a:r>
              <a:endParaRPr lang="en-US" altLang="zh-CN" sz="2400" b="1" dirty="0"/>
            </a:p>
          </p:txBody>
        </p:sp>
        <p:sp>
          <p:nvSpPr>
            <p:cNvPr id="25633" name="Rectangle 35"/>
            <p:cNvSpPr/>
            <p:nvPr/>
          </p:nvSpPr>
          <p:spPr>
            <a:xfrm>
              <a:off x="2768" y="2689"/>
              <a:ext cx="1654" cy="533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读入一科成绩 → </a:t>
              </a:r>
              <a:r>
                <a:rPr lang="en-US" altLang="zh-CN" sz="2400" b="1" dirty="0"/>
                <a:t>m</a:t>
              </a:r>
              <a:endParaRPr lang="en-US" altLang="zh-CN" sz="2400" b="1" dirty="0"/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sum =sum+m;</a:t>
              </a:r>
              <a:endParaRPr lang="en-US" altLang="zh-CN" sz="2400" b="1" dirty="0"/>
            </a:p>
          </p:txBody>
        </p:sp>
        <p:sp>
          <p:nvSpPr>
            <p:cNvPr id="25634" name="Rectangle 36"/>
            <p:cNvSpPr/>
            <p:nvPr/>
          </p:nvSpPr>
          <p:spPr>
            <a:xfrm>
              <a:off x="2695" y="3509"/>
              <a:ext cx="1861" cy="273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k = k+1 ; </a:t>
              </a:r>
              <a:endPara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5635" name="Rectangle 38"/>
            <p:cNvSpPr/>
            <p:nvPr/>
          </p:nvSpPr>
          <p:spPr>
            <a:xfrm>
              <a:off x="3136" y="533"/>
              <a:ext cx="900" cy="263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开始</a:t>
              </a:r>
              <a:endParaRPr lang="zh-CN" altLang="en-US" sz="2400" b="1" dirty="0"/>
            </a:p>
          </p:txBody>
        </p:sp>
        <p:sp>
          <p:nvSpPr>
            <p:cNvPr id="25636" name="Line 39"/>
            <p:cNvSpPr/>
            <p:nvPr/>
          </p:nvSpPr>
          <p:spPr>
            <a:xfrm>
              <a:off x="3585" y="881"/>
              <a:ext cx="2" cy="24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25637" name="Line 40"/>
            <p:cNvSpPr/>
            <p:nvPr/>
          </p:nvSpPr>
          <p:spPr>
            <a:xfrm>
              <a:off x="3591" y="2414"/>
              <a:ext cx="2" cy="24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25638" name="Line 41"/>
            <p:cNvSpPr/>
            <p:nvPr/>
          </p:nvSpPr>
          <p:spPr>
            <a:xfrm>
              <a:off x="3573" y="1626"/>
              <a:ext cx="4" cy="24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grpSp>
          <p:nvGrpSpPr>
            <p:cNvPr id="25639" name="Group 42"/>
            <p:cNvGrpSpPr/>
            <p:nvPr/>
          </p:nvGrpSpPr>
          <p:grpSpPr>
            <a:xfrm>
              <a:off x="2551" y="1872"/>
              <a:ext cx="2070" cy="496"/>
              <a:chOff x="2824" y="5941"/>
              <a:chExt cx="2550" cy="553"/>
            </a:xfrm>
          </p:grpSpPr>
          <p:sp>
            <p:nvSpPr>
              <p:cNvPr id="25648" name="Rectangle 43"/>
              <p:cNvSpPr/>
              <p:nvPr/>
            </p:nvSpPr>
            <p:spPr>
              <a:xfrm>
                <a:off x="3104" y="6061"/>
                <a:ext cx="2069" cy="30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k &lt;= N</a:t>
                </a:r>
                <a:endParaRPr lang="en-US" altLang="zh-CN" sz="24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  <p:grpSp>
            <p:nvGrpSpPr>
              <p:cNvPr id="25649" name="Group 44"/>
              <p:cNvGrpSpPr/>
              <p:nvPr/>
            </p:nvGrpSpPr>
            <p:grpSpPr>
              <a:xfrm>
                <a:off x="2824" y="5941"/>
                <a:ext cx="2550" cy="553"/>
                <a:chOff x="0" y="5"/>
                <a:chExt cx="20000" cy="19996"/>
              </a:xfrm>
            </p:grpSpPr>
            <p:grpSp>
              <p:nvGrpSpPr>
                <p:cNvPr id="25650" name="Group 45"/>
                <p:cNvGrpSpPr/>
                <p:nvPr/>
              </p:nvGrpSpPr>
              <p:grpSpPr>
                <a:xfrm>
                  <a:off x="0" y="5"/>
                  <a:ext cx="10151" cy="19996"/>
                  <a:chOff x="0" y="0"/>
                  <a:chExt cx="20000" cy="20000"/>
                </a:xfrm>
              </p:grpSpPr>
              <p:sp>
                <p:nvSpPr>
                  <p:cNvPr id="25654" name="Line 46"/>
                  <p:cNvSpPr/>
                  <p:nvPr/>
                </p:nvSpPr>
                <p:spPr>
                  <a:xfrm flipV="1">
                    <a:off x="0" y="0"/>
                    <a:ext cx="20000" cy="969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25655" name="Line 47"/>
                  <p:cNvSpPr/>
                  <p:nvPr/>
                </p:nvSpPr>
                <p:spPr>
                  <a:xfrm>
                    <a:off x="0" y="10302"/>
                    <a:ext cx="20000" cy="969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  <p:grpSp>
              <p:nvGrpSpPr>
                <p:cNvPr id="25651" name="Group 48"/>
                <p:cNvGrpSpPr/>
                <p:nvPr/>
              </p:nvGrpSpPr>
              <p:grpSpPr>
                <a:xfrm>
                  <a:off x="9849" y="5"/>
                  <a:ext cx="10151" cy="19996"/>
                  <a:chOff x="0" y="0"/>
                  <a:chExt cx="20000" cy="20000"/>
                </a:xfrm>
              </p:grpSpPr>
              <p:sp>
                <p:nvSpPr>
                  <p:cNvPr id="25652" name="Line 49"/>
                  <p:cNvSpPr/>
                  <p:nvPr/>
                </p:nvSpPr>
                <p:spPr>
                  <a:xfrm flipH="1" flipV="1">
                    <a:off x="0" y="0"/>
                    <a:ext cx="20000" cy="969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25653" name="Line 50"/>
                  <p:cNvSpPr/>
                  <p:nvPr/>
                </p:nvSpPr>
                <p:spPr>
                  <a:xfrm flipH="1">
                    <a:off x="0" y="10302"/>
                    <a:ext cx="20000" cy="969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</p:grpSp>
        </p:grpSp>
        <p:sp>
          <p:nvSpPr>
            <p:cNvPr id="25640" name="Rectangle 51"/>
            <p:cNvSpPr/>
            <p:nvPr/>
          </p:nvSpPr>
          <p:spPr>
            <a:xfrm>
              <a:off x="4743" y="3491"/>
              <a:ext cx="764" cy="291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结束</a:t>
              </a:r>
              <a:endParaRPr lang="zh-CN" altLang="en-US" sz="2400" b="1" dirty="0"/>
            </a:p>
          </p:txBody>
        </p:sp>
        <p:sp>
          <p:nvSpPr>
            <p:cNvPr id="25641" name="Line 52"/>
            <p:cNvSpPr/>
            <p:nvPr/>
          </p:nvSpPr>
          <p:spPr>
            <a:xfrm>
              <a:off x="5117" y="3122"/>
              <a:ext cx="2" cy="24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25642" name="Rectangle 53"/>
            <p:cNvSpPr/>
            <p:nvPr/>
          </p:nvSpPr>
          <p:spPr>
            <a:xfrm>
              <a:off x="4808" y="1704"/>
              <a:ext cx="303" cy="501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F</a:t>
              </a:r>
              <a:endParaRPr lang="en-US" altLang="zh-CN" sz="2400" b="1" dirty="0"/>
            </a:p>
          </p:txBody>
        </p:sp>
        <p:sp>
          <p:nvSpPr>
            <p:cNvPr id="25643" name="Rectangle 54"/>
            <p:cNvSpPr/>
            <p:nvPr/>
          </p:nvSpPr>
          <p:spPr>
            <a:xfrm>
              <a:off x="3638" y="2357"/>
              <a:ext cx="303" cy="446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T</a:t>
              </a:r>
              <a:endParaRPr lang="en-US" altLang="zh-CN" sz="2400" b="1" dirty="0"/>
            </a:p>
          </p:txBody>
        </p:sp>
        <p:sp>
          <p:nvSpPr>
            <p:cNvPr id="25644" name="Line 55"/>
            <p:cNvSpPr/>
            <p:nvPr/>
          </p:nvSpPr>
          <p:spPr>
            <a:xfrm>
              <a:off x="3593" y="3245"/>
              <a:ext cx="2" cy="24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25645" name="Rectangle 57"/>
            <p:cNvSpPr/>
            <p:nvPr/>
          </p:nvSpPr>
          <p:spPr>
            <a:xfrm>
              <a:off x="4513" y="2689"/>
              <a:ext cx="1235" cy="375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输出 </a:t>
              </a:r>
              <a:r>
                <a:rPr lang="en-US" altLang="zh-CN" sz="2400" b="1" dirty="0"/>
                <a:t>sum / N</a:t>
              </a:r>
              <a:endParaRPr lang="en-US" altLang="zh-CN" sz="2400" b="1" dirty="0"/>
            </a:p>
          </p:txBody>
        </p:sp>
        <p:sp>
          <p:nvSpPr>
            <p:cNvPr id="25646" name="Freeform 58"/>
            <p:cNvSpPr/>
            <p:nvPr/>
          </p:nvSpPr>
          <p:spPr>
            <a:xfrm>
              <a:off x="2426" y="1780"/>
              <a:ext cx="1200" cy="2234"/>
            </a:xfrm>
            <a:custGeom>
              <a:avLst/>
              <a:gdLst>
                <a:gd name="txL" fmla="*/ 0 w 1640"/>
                <a:gd name="txT" fmla="*/ 0 h 2280"/>
                <a:gd name="txR" fmla="*/ 1640 w 1640"/>
                <a:gd name="txB" fmla="*/ 2280 h 2280"/>
              </a:gdLst>
              <a:ahLst/>
              <a:cxnLst>
                <a:cxn ang="0">
                  <a:pos x="1" y="470"/>
                </a:cxn>
                <a:cxn ang="0">
                  <a:pos x="1" y="514"/>
                </a:cxn>
                <a:cxn ang="0">
                  <a:pos x="1" y="514"/>
                </a:cxn>
                <a:cxn ang="0">
                  <a:pos x="0" y="0"/>
                </a:cxn>
                <a:cxn ang="0">
                  <a:pos x="1" y="0"/>
                </a:cxn>
              </a:cxnLst>
              <a:rect l="txL" t="txT" r="txR" b="txB"/>
              <a:pathLst>
                <a:path w="1640" h="2280">
                  <a:moveTo>
                    <a:pt x="1640" y="2080"/>
                  </a:moveTo>
                  <a:lnTo>
                    <a:pt x="1640" y="2280"/>
                  </a:lnTo>
                  <a:lnTo>
                    <a:pt x="20" y="2280"/>
                  </a:lnTo>
                  <a:lnTo>
                    <a:pt x="0" y="0"/>
                  </a:lnTo>
                  <a:lnTo>
                    <a:pt x="1420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47" name="Freeform 59"/>
            <p:cNvSpPr/>
            <p:nvPr/>
          </p:nvSpPr>
          <p:spPr>
            <a:xfrm>
              <a:off x="4629" y="2127"/>
              <a:ext cx="502" cy="536"/>
            </a:xfrm>
            <a:custGeom>
              <a:avLst/>
              <a:gdLst>
                <a:gd name="txL" fmla="*/ 0 w 580"/>
                <a:gd name="txT" fmla="*/ 0 h 520"/>
                <a:gd name="txR" fmla="*/ 580 w 580"/>
                <a:gd name="txB" fmla="*/ 520 h 520"/>
              </a:gdLst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4741"/>
                </a:cxn>
              </a:cxnLst>
              <a:rect l="txL" t="txT" r="txR" b="txB"/>
              <a:pathLst>
                <a:path w="580" h="520">
                  <a:moveTo>
                    <a:pt x="0" y="0"/>
                  </a:moveTo>
                  <a:lnTo>
                    <a:pt x="580" y="0"/>
                  </a:lnTo>
                  <a:lnTo>
                    <a:pt x="580" y="52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5604" name="Group 65"/>
          <p:cNvGrpSpPr/>
          <p:nvPr/>
        </p:nvGrpSpPr>
        <p:grpSpPr>
          <a:xfrm>
            <a:off x="444500" y="-3175"/>
            <a:ext cx="3241675" cy="6435725"/>
            <a:chOff x="355" y="0"/>
            <a:chExt cx="2194" cy="4201"/>
          </a:xfrm>
        </p:grpSpPr>
        <p:sp>
          <p:nvSpPr>
            <p:cNvPr id="25607" name="Rectangle 66"/>
            <p:cNvSpPr/>
            <p:nvPr/>
          </p:nvSpPr>
          <p:spPr>
            <a:xfrm>
              <a:off x="1021" y="550"/>
              <a:ext cx="1035" cy="5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sum=0;</a:t>
              </a:r>
              <a:endParaRPr lang="en-US" altLang="zh-CN" sz="2000" b="1" dirty="0"/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k=1;</a:t>
              </a:r>
              <a:endParaRPr lang="en-US" altLang="zh-CN" sz="2000" b="1" dirty="0"/>
            </a:p>
          </p:txBody>
        </p:sp>
        <p:sp>
          <p:nvSpPr>
            <p:cNvPr id="25608" name="Rectangle 67"/>
            <p:cNvSpPr/>
            <p:nvPr/>
          </p:nvSpPr>
          <p:spPr>
            <a:xfrm>
              <a:off x="676" y="1278"/>
              <a:ext cx="1694" cy="50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/>
                <a:t>读入一科成绩 → </a:t>
              </a:r>
              <a:r>
                <a:rPr lang="en-US" altLang="zh-CN" sz="2000" b="1" dirty="0"/>
                <a:t>m</a:t>
              </a:r>
              <a:endParaRPr lang="en-US" altLang="zh-CN" sz="2000" b="1" dirty="0"/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sum =sum+m;</a:t>
              </a:r>
              <a:endParaRPr lang="en-US" altLang="zh-CN" sz="2000" b="1" dirty="0"/>
            </a:p>
          </p:txBody>
        </p:sp>
        <p:sp>
          <p:nvSpPr>
            <p:cNvPr id="25609" name="Rectangle 68"/>
            <p:cNvSpPr/>
            <p:nvPr/>
          </p:nvSpPr>
          <p:spPr>
            <a:xfrm>
              <a:off x="697" y="1974"/>
              <a:ext cx="1673" cy="335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k = k+1 ; </a:t>
              </a:r>
              <a:endParaRPr lang="en-US" altLang="zh-CN" sz="20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grpSp>
          <p:nvGrpSpPr>
            <p:cNvPr id="25610" name="Group 69"/>
            <p:cNvGrpSpPr/>
            <p:nvPr/>
          </p:nvGrpSpPr>
          <p:grpSpPr>
            <a:xfrm>
              <a:off x="1131" y="0"/>
              <a:ext cx="842" cy="514"/>
              <a:chOff x="5467" y="3421"/>
              <a:chExt cx="763" cy="440"/>
            </a:xfrm>
          </p:grpSpPr>
          <p:sp>
            <p:nvSpPr>
              <p:cNvPr id="25630" name="Rectangle 70"/>
              <p:cNvSpPr/>
              <p:nvPr/>
            </p:nvSpPr>
            <p:spPr>
              <a:xfrm>
                <a:off x="5467" y="3421"/>
                <a:ext cx="763" cy="24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/>
                  <a:t>开始</a:t>
                </a:r>
                <a:endParaRPr lang="zh-CN" altLang="en-US" sz="2000" b="1" dirty="0"/>
              </a:p>
            </p:txBody>
          </p:sp>
          <p:sp>
            <p:nvSpPr>
              <p:cNvPr id="25631" name="Line 71"/>
              <p:cNvSpPr/>
              <p:nvPr/>
            </p:nvSpPr>
            <p:spPr>
              <a:xfrm>
                <a:off x="5848" y="3686"/>
                <a:ext cx="1" cy="17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triangle" w="sm" len="sm"/>
              </a:ln>
            </p:spPr>
          </p:sp>
        </p:grpSp>
        <p:sp>
          <p:nvSpPr>
            <p:cNvPr id="25611" name="Line 72"/>
            <p:cNvSpPr/>
            <p:nvPr/>
          </p:nvSpPr>
          <p:spPr>
            <a:xfrm>
              <a:off x="1535" y="1071"/>
              <a:ext cx="2" cy="20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25612" name="Line 73"/>
            <p:cNvSpPr/>
            <p:nvPr/>
          </p:nvSpPr>
          <p:spPr>
            <a:xfrm>
              <a:off x="1564" y="2371"/>
              <a:ext cx="1" cy="2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grpSp>
          <p:nvGrpSpPr>
            <p:cNvPr id="25613" name="Group 74"/>
            <p:cNvGrpSpPr/>
            <p:nvPr/>
          </p:nvGrpSpPr>
          <p:grpSpPr>
            <a:xfrm>
              <a:off x="616" y="2556"/>
              <a:ext cx="1933" cy="523"/>
              <a:chOff x="2824" y="5941"/>
              <a:chExt cx="2550" cy="553"/>
            </a:xfrm>
          </p:grpSpPr>
          <p:sp>
            <p:nvSpPr>
              <p:cNvPr id="25622" name="Rectangle 75"/>
              <p:cNvSpPr/>
              <p:nvPr/>
            </p:nvSpPr>
            <p:spPr>
              <a:xfrm>
                <a:off x="3104" y="6061"/>
                <a:ext cx="2069" cy="30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k &lt;= N</a:t>
                </a:r>
                <a:endParaRPr lang="en-US" altLang="zh-CN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  <p:grpSp>
            <p:nvGrpSpPr>
              <p:cNvPr id="25623" name="Group 76"/>
              <p:cNvGrpSpPr/>
              <p:nvPr/>
            </p:nvGrpSpPr>
            <p:grpSpPr>
              <a:xfrm>
                <a:off x="2824" y="5941"/>
                <a:ext cx="2550" cy="553"/>
                <a:chOff x="0" y="5"/>
                <a:chExt cx="20000" cy="19996"/>
              </a:xfrm>
            </p:grpSpPr>
            <p:grpSp>
              <p:nvGrpSpPr>
                <p:cNvPr id="25624" name="Group 77"/>
                <p:cNvGrpSpPr/>
                <p:nvPr/>
              </p:nvGrpSpPr>
              <p:grpSpPr>
                <a:xfrm>
                  <a:off x="0" y="5"/>
                  <a:ext cx="10151" cy="19996"/>
                  <a:chOff x="0" y="0"/>
                  <a:chExt cx="20000" cy="20000"/>
                </a:xfrm>
              </p:grpSpPr>
              <p:sp>
                <p:nvSpPr>
                  <p:cNvPr id="25628" name="Line 78"/>
                  <p:cNvSpPr/>
                  <p:nvPr/>
                </p:nvSpPr>
                <p:spPr>
                  <a:xfrm flipV="1">
                    <a:off x="0" y="0"/>
                    <a:ext cx="20000" cy="969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25629" name="Line 79"/>
                  <p:cNvSpPr/>
                  <p:nvPr/>
                </p:nvSpPr>
                <p:spPr>
                  <a:xfrm>
                    <a:off x="0" y="10302"/>
                    <a:ext cx="20000" cy="969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  <p:grpSp>
              <p:nvGrpSpPr>
                <p:cNvPr id="25625" name="Group 80"/>
                <p:cNvGrpSpPr/>
                <p:nvPr/>
              </p:nvGrpSpPr>
              <p:grpSpPr>
                <a:xfrm>
                  <a:off x="9849" y="5"/>
                  <a:ext cx="10151" cy="19996"/>
                  <a:chOff x="0" y="0"/>
                  <a:chExt cx="20000" cy="20000"/>
                </a:xfrm>
              </p:grpSpPr>
              <p:sp>
                <p:nvSpPr>
                  <p:cNvPr id="25626" name="Line 81"/>
                  <p:cNvSpPr/>
                  <p:nvPr/>
                </p:nvSpPr>
                <p:spPr>
                  <a:xfrm flipH="1" flipV="1">
                    <a:off x="0" y="0"/>
                    <a:ext cx="20000" cy="969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25627" name="Line 82"/>
                  <p:cNvSpPr/>
                  <p:nvPr/>
                </p:nvSpPr>
                <p:spPr>
                  <a:xfrm flipH="1">
                    <a:off x="0" y="10302"/>
                    <a:ext cx="20000" cy="969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</p:grpSp>
        </p:grpSp>
        <p:sp>
          <p:nvSpPr>
            <p:cNvPr id="25614" name="Rectangle 83"/>
            <p:cNvSpPr/>
            <p:nvPr/>
          </p:nvSpPr>
          <p:spPr>
            <a:xfrm>
              <a:off x="949" y="3937"/>
              <a:ext cx="1316" cy="264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/>
                <a:t>结束</a:t>
              </a:r>
              <a:endParaRPr lang="zh-CN" altLang="en-US" sz="2000" b="1" dirty="0"/>
            </a:p>
          </p:txBody>
        </p:sp>
        <p:sp>
          <p:nvSpPr>
            <p:cNvPr id="25615" name="Line 84"/>
            <p:cNvSpPr/>
            <p:nvPr/>
          </p:nvSpPr>
          <p:spPr>
            <a:xfrm>
              <a:off x="1592" y="3110"/>
              <a:ext cx="1" cy="20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25616" name="Rectangle 85"/>
            <p:cNvSpPr/>
            <p:nvPr/>
          </p:nvSpPr>
          <p:spPr>
            <a:xfrm>
              <a:off x="1722" y="3034"/>
              <a:ext cx="283" cy="415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F</a:t>
              </a:r>
              <a:endParaRPr lang="en-US" altLang="zh-CN" sz="2000" b="1" dirty="0"/>
            </a:p>
          </p:txBody>
        </p:sp>
        <p:sp>
          <p:nvSpPr>
            <p:cNvPr id="25617" name="Rectangle 86"/>
            <p:cNvSpPr/>
            <p:nvPr/>
          </p:nvSpPr>
          <p:spPr>
            <a:xfrm>
              <a:off x="496" y="2575"/>
              <a:ext cx="282" cy="369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T</a:t>
              </a:r>
              <a:endParaRPr lang="en-US" altLang="zh-CN" sz="2000" b="1" dirty="0"/>
            </a:p>
          </p:txBody>
        </p:sp>
        <p:sp>
          <p:nvSpPr>
            <p:cNvPr id="25618" name="Line 87"/>
            <p:cNvSpPr/>
            <p:nvPr/>
          </p:nvSpPr>
          <p:spPr>
            <a:xfrm>
              <a:off x="1556" y="1780"/>
              <a:ext cx="2" cy="2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25619" name="Rectangle 88"/>
            <p:cNvSpPr/>
            <p:nvPr/>
          </p:nvSpPr>
          <p:spPr>
            <a:xfrm>
              <a:off x="828" y="3331"/>
              <a:ext cx="1543" cy="36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/>
                <a:t>输出 </a:t>
              </a:r>
              <a:r>
                <a:rPr lang="en-US" altLang="zh-CN" sz="2000" b="1" dirty="0"/>
                <a:t>sum / N</a:t>
              </a:r>
              <a:endParaRPr lang="en-US" altLang="zh-CN" sz="2000" b="1" dirty="0"/>
            </a:p>
          </p:txBody>
        </p:sp>
        <p:sp>
          <p:nvSpPr>
            <p:cNvPr id="25620" name="Line 89"/>
            <p:cNvSpPr/>
            <p:nvPr/>
          </p:nvSpPr>
          <p:spPr>
            <a:xfrm>
              <a:off x="1601" y="3713"/>
              <a:ext cx="2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25621" name="Freeform 90"/>
            <p:cNvSpPr/>
            <p:nvPr/>
          </p:nvSpPr>
          <p:spPr>
            <a:xfrm>
              <a:off x="355" y="1176"/>
              <a:ext cx="1080" cy="1644"/>
            </a:xfrm>
            <a:custGeom>
              <a:avLst/>
              <a:gdLst>
                <a:gd name="txL" fmla="*/ 0 w 1600"/>
                <a:gd name="txT" fmla="*/ 0 h 1740"/>
                <a:gd name="txR" fmla="*/ 1600 w 1600"/>
                <a:gd name="txB" fmla="*/ 1740 h 1740"/>
              </a:gdLst>
              <a:ahLst/>
              <a:cxnLst>
                <a:cxn ang="0">
                  <a:pos x="1" y="27"/>
                </a:cxn>
                <a:cxn ang="0">
                  <a:pos x="0" y="27"/>
                </a:cxn>
                <a:cxn ang="0">
                  <a:pos x="0" y="0"/>
                </a:cxn>
                <a:cxn ang="0">
                  <a:pos x="1" y="0"/>
                </a:cxn>
              </a:cxnLst>
              <a:rect l="txL" t="txT" r="txR" b="txB"/>
              <a:pathLst>
                <a:path w="1600" h="1740">
                  <a:moveTo>
                    <a:pt x="520" y="1740"/>
                  </a:moveTo>
                  <a:lnTo>
                    <a:pt x="0" y="1740"/>
                  </a:lnTo>
                  <a:lnTo>
                    <a:pt x="0" y="0"/>
                  </a:lnTo>
                  <a:lnTo>
                    <a:pt x="1600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5605" name="Text Box 91"/>
          <p:cNvSpPr txBox="1"/>
          <p:nvPr/>
        </p:nvSpPr>
        <p:spPr>
          <a:xfrm>
            <a:off x="1069975" y="6342063"/>
            <a:ext cx="30432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Monotype Corsiva" pitchFamily="66" charset="0"/>
                <a:ea typeface="华文彩云" pitchFamily="2" charset="-122"/>
              </a:rPr>
              <a:t>后判断条件的循环</a:t>
            </a:r>
            <a:endParaRPr lang="zh-CN" altLang="en-US" sz="2400" b="1" dirty="0"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25606" name="Text Box 92"/>
          <p:cNvSpPr txBox="1"/>
          <p:nvPr/>
        </p:nvSpPr>
        <p:spPr>
          <a:xfrm>
            <a:off x="6891338" y="6294438"/>
            <a:ext cx="30432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rPr>
              <a:t>先判断条件的循环</a:t>
            </a: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863E66-FBC7-424D-9DA3-6F5673A8C01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7" name="Rectangle 3"/>
          <p:cNvSpPr>
            <a:spLocks noGrp="1"/>
          </p:cNvSpPr>
          <p:nvPr>
            <p:ph idx="1"/>
          </p:nvPr>
        </p:nvSpPr>
        <p:spPr>
          <a:xfrm>
            <a:off x="1992313" y="692150"/>
            <a:ext cx="8229600" cy="58324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C 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有三种不同的重复性语句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, 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它们是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do-while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 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语句── 后判断条件的循环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while 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语句── 先判断条件的循环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  <a:spcAft>
                <a:spcPct val="20000"/>
              </a:spcAft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for 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语句── 先判断条件的循环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需要弄清楚的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+mn-ea"/>
              </a:rPr>
              <a:t>循环体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是什么？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+mn-ea"/>
              </a:rPr>
              <a:t>循环条件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是什么？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+mn-ea"/>
              </a:rPr>
              <a:t>循环控制方式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是什么？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endParaRPr lang="zh-CN" altLang="en-US" b="1" dirty="0"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charRg st="87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charRg st="87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charRg st="95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7107">
                                            <p:txEl>
                                              <p:charRg st="95" end="1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charRg st="104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7107">
                                            <p:txEl>
                                              <p:charRg st="104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8682" name="Rectangle 28"/>
          <p:cNvSpPr>
            <a:spLocks noChangeArrowheads="1"/>
          </p:cNvSpPr>
          <p:nvPr/>
        </p:nvSpPr>
        <p:spPr bwMode="auto">
          <a:xfrm>
            <a:off x="0" y="1784350"/>
            <a:ext cx="8620125" cy="1477963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tabLst>
                <a:tab pos="5334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tx1"/>
              </a:buClr>
              <a:buChar char="–"/>
              <a:tabLst>
                <a:tab pos="5334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5334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5334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5334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5334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5334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5334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5334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3400" algn="l"/>
              </a:tabLst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其含义是：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34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1)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执行语句列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34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2)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计算条件表达式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，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34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3)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若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的值为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true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，转向步骤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）再次执行语句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；否则转向步骤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）结束循环。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34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循环结束，向后执行其后继操作。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7FDF0E-3133-452F-9AC4-7F5E17B40E5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0"/>
            <a:ext cx="82296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Tahoma" panose="020B0604030504040204" pitchFamily="34" charset="0"/>
              </a:rPr>
              <a:t>§4.1.1  </a:t>
            </a: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后判断条件的循环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28677" name="Line 13"/>
          <p:cNvSpPr/>
          <p:nvPr/>
        </p:nvSpPr>
        <p:spPr>
          <a:xfrm flipH="1">
            <a:off x="2049463" y="3648075"/>
            <a:ext cx="0" cy="9652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arrow" w="med" len="med"/>
          </a:ln>
        </p:spPr>
      </p:sp>
      <p:grpSp>
        <p:nvGrpSpPr>
          <p:cNvPr id="28678" name="Group 34"/>
          <p:cNvGrpSpPr/>
          <p:nvPr/>
        </p:nvGrpSpPr>
        <p:grpSpPr>
          <a:xfrm>
            <a:off x="361950" y="4070350"/>
            <a:ext cx="2663825" cy="1914525"/>
            <a:chOff x="385" y="2544"/>
            <a:chExt cx="1678" cy="1206"/>
          </a:xfrm>
        </p:grpSpPr>
        <p:grpSp>
          <p:nvGrpSpPr>
            <p:cNvPr id="28690" name="Group 5"/>
            <p:cNvGrpSpPr/>
            <p:nvPr/>
          </p:nvGrpSpPr>
          <p:grpSpPr>
            <a:xfrm>
              <a:off x="783" y="3425"/>
              <a:ext cx="1280" cy="286"/>
              <a:chOff x="0" y="0"/>
              <a:chExt cx="19997" cy="19993"/>
            </a:xfrm>
          </p:grpSpPr>
          <p:grpSp>
            <p:nvGrpSpPr>
              <p:cNvPr id="28697" name="Group 6"/>
              <p:cNvGrpSpPr/>
              <p:nvPr/>
            </p:nvGrpSpPr>
            <p:grpSpPr>
              <a:xfrm>
                <a:off x="0" y="0"/>
                <a:ext cx="9843" cy="19993"/>
                <a:chOff x="0" y="0"/>
                <a:chExt cx="20000" cy="19993"/>
              </a:xfrm>
            </p:grpSpPr>
            <p:sp>
              <p:nvSpPr>
                <p:cNvPr id="28701" name="Line 7"/>
                <p:cNvSpPr/>
                <p:nvPr/>
              </p:nvSpPr>
              <p:spPr>
                <a:xfrm flipH="1">
                  <a:off x="0" y="0"/>
                  <a:ext cx="20000" cy="9609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28702" name="Line 8"/>
                <p:cNvSpPr/>
                <p:nvPr/>
              </p:nvSpPr>
              <p:spPr>
                <a:xfrm flipH="1" flipV="1">
                  <a:off x="0" y="10384"/>
                  <a:ext cx="20000" cy="9609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  <p:grpSp>
            <p:nvGrpSpPr>
              <p:cNvPr id="28698" name="Group 9"/>
              <p:cNvGrpSpPr/>
              <p:nvPr/>
            </p:nvGrpSpPr>
            <p:grpSpPr>
              <a:xfrm>
                <a:off x="10154" y="0"/>
                <a:ext cx="9843" cy="19993"/>
                <a:chOff x="0" y="0"/>
                <a:chExt cx="20000" cy="19999"/>
              </a:xfrm>
            </p:grpSpPr>
            <p:sp>
              <p:nvSpPr>
                <p:cNvPr id="28699" name="Line 10"/>
                <p:cNvSpPr/>
                <p:nvPr/>
              </p:nvSpPr>
              <p:spPr>
                <a:xfrm>
                  <a:off x="0" y="0"/>
                  <a:ext cx="20000" cy="9612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28700" name="Line 11"/>
                <p:cNvSpPr/>
                <p:nvPr/>
              </p:nvSpPr>
              <p:spPr>
                <a:xfrm flipV="1">
                  <a:off x="0" y="10387"/>
                  <a:ext cx="20000" cy="9612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</p:grpSp>
        <p:sp>
          <p:nvSpPr>
            <p:cNvPr id="28691" name="Rectangle 12"/>
            <p:cNvSpPr/>
            <p:nvPr/>
          </p:nvSpPr>
          <p:spPr>
            <a:xfrm>
              <a:off x="867" y="2927"/>
              <a:ext cx="1091" cy="30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S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8692" name="Line 14"/>
            <p:cNvSpPr/>
            <p:nvPr/>
          </p:nvSpPr>
          <p:spPr>
            <a:xfrm>
              <a:off x="1433" y="3226"/>
              <a:ext cx="0" cy="1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arrow" w="med" len="med"/>
            </a:ln>
          </p:spPr>
        </p:sp>
        <p:sp>
          <p:nvSpPr>
            <p:cNvPr id="28693" name="Rectangle 15"/>
            <p:cNvSpPr/>
            <p:nvPr/>
          </p:nvSpPr>
          <p:spPr>
            <a:xfrm>
              <a:off x="1262" y="3425"/>
              <a:ext cx="357" cy="32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e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8694" name="Rectangle 16"/>
            <p:cNvSpPr/>
            <p:nvPr/>
          </p:nvSpPr>
          <p:spPr>
            <a:xfrm>
              <a:off x="574" y="3326"/>
              <a:ext cx="273" cy="280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T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8695" name="Rectangle 17"/>
            <p:cNvSpPr/>
            <p:nvPr/>
          </p:nvSpPr>
          <p:spPr>
            <a:xfrm>
              <a:off x="1057" y="2599"/>
              <a:ext cx="735" cy="222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8696" name="Freeform 18"/>
            <p:cNvSpPr/>
            <p:nvPr/>
          </p:nvSpPr>
          <p:spPr>
            <a:xfrm>
              <a:off x="385" y="2544"/>
              <a:ext cx="1063" cy="1028"/>
            </a:xfrm>
            <a:custGeom>
              <a:avLst/>
              <a:gdLst>
                <a:gd name="txL" fmla="*/ 0 w 20000"/>
                <a:gd name="txT" fmla="*/ 0 h 20000"/>
                <a:gd name="txR" fmla="*/ 20000 w 20000"/>
                <a:gd name="txB" fmla="*/ 20000 h 200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0000" h="20000">
                  <a:moveTo>
                    <a:pt x="9037" y="19986"/>
                  </a:moveTo>
                  <a:lnTo>
                    <a:pt x="0" y="19986"/>
                  </a:lnTo>
                  <a:lnTo>
                    <a:pt x="0" y="0"/>
                  </a:lnTo>
                  <a:lnTo>
                    <a:pt x="19976" y="0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sm"/>
              <a:tailEnd type="arrow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8679" name="Line 19"/>
          <p:cNvSpPr/>
          <p:nvPr/>
        </p:nvSpPr>
        <p:spPr>
          <a:xfrm>
            <a:off x="2025650" y="5943600"/>
            <a:ext cx="0" cy="3190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arrow" w="med" len="med"/>
          </a:ln>
        </p:spPr>
      </p:sp>
      <p:grpSp>
        <p:nvGrpSpPr>
          <p:cNvPr id="28680" name="Group 20"/>
          <p:cNvGrpSpPr/>
          <p:nvPr/>
        </p:nvGrpSpPr>
        <p:grpSpPr>
          <a:xfrm>
            <a:off x="6689725" y="4883150"/>
            <a:ext cx="4392613" cy="819150"/>
            <a:chOff x="2789" y="2931"/>
            <a:chExt cx="2767" cy="1179"/>
          </a:xfrm>
        </p:grpSpPr>
        <p:sp>
          <p:nvSpPr>
            <p:cNvPr id="28685" name="Line 21"/>
            <p:cNvSpPr/>
            <p:nvPr/>
          </p:nvSpPr>
          <p:spPr>
            <a:xfrm>
              <a:off x="2789" y="2931"/>
              <a:ext cx="0" cy="117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686" name="Rectangle 22"/>
            <p:cNvSpPr/>
            <p:nvPr/>
          </p:nvSpPr>
          <p:spPr>
            <a:xfrm>
              <a:off x="2789" y="3131"/>
              <a:ext cx="1249" cy="798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do-while e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8687" name="Line 23"/>
            <p:cNvSpPr/>
            <p:nvPr/>
          </p:nvSpPr>
          <p:spPr>
            <a:xfrm flipH="1">
              <a:off x="3923" y="3131"/>
              <a:ext cx="9" cy="798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688" name="Line 24"/>
            <p:cNvSpPr/>
            <p:nvPr/>
          </p:nvSpPr>
          <p:spPr>
            <a:xfrm>
              <a:off x="4059" y="3566"/>
              <a:ext cx="40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689" name="Rectangle 25"/>
            <p:cNvSpPr/>
            <p:nvPr/>
          </p:nvSpPr>
          <p:spPr>
            <a:xfrm>
              <a:off x="4468" y="3158"/>
              <a:ext cx="1088" cy="77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S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729114" name="Rectangle 26"/>
          <p:cNvSpPr>
            <a:spLocks noGrp="1" noChangeArrowheads="1"/>
          </p:cNvSpPr>
          <p:nvPr>
            <p:ph idx="1"/>
          </p:nvPr>
        </p:nvSpPr>
        <p:spPr>
          <a:xfrm>
            <a:off x="0" y="1143000"/>
            <a:ext cx="9982200" cy="6080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4.1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程序是后判断条件的循环程序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 Box 30"/>
          <p:cNvSpPr txBox="1"/>
          <p:nvPr/>
        </p:nvSpPr>
        <p:spPr>
          <a:xfrm>
            <a:off x="207963" y="6262688"/>
            <a:ext cx="47625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图</a:t>
            </a:r>
            <a:r>
              <a:rPr lang="en-US" altLang="zh-CN" sz="2400" b="1" dirty="0">
                <a:latin typeface="宋体" panose="02010600030101010101" pitchFamily="2" charset="-122"/>
              </a:rPr>
              <a:t>4.3</a:t>
            </a:r>
            <a:r>
              <a:rPr lang="zh-CN" altLang="en-US" sz="2400" b="1" dirty="0">
                <a:latin typeface="宋体" panose="02010600030101010101" pitchFamily="2" charset="-122"/>
              </a:rPr>
              <a:t>后判断条件循环的流程图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28683" name="Text Box 31"/>
          <p:cNvSpPr txBox="1"/>
          <p:nvPr/>
        </p:nvSpPr>
        <p:spPr>
          <a:xfrm>
            <a:off x="6821488" y="5756275"/>
            <a:ext cx="441801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图</a:t>
            </a:r>
            <a:r>
              <a:rPr lang="en-US" altLang="zh-CN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4.4</a:t>
            </a:r>
            <a:r>
              <a:rPr lang="zh-CN" altLang="en-US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后判断条件循环的</a:t>
            </a:r>
            <a:r>
              <a:rPr lang="en-US" altLang="zh-CN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PAD</a:t>
            </a:r>
            <a:r>
              <a:rPr lang="zh-CN" altLang="en-US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图</a:t>
            </a:r>
            <a:endParaRPr lang="zh-CN" altLang="en-US" sz="2400" b="1" dirty="0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sp>
        <p:nvSpPr>
          <p:cNvPr id="28684" name="Rectangle 33"/>
          <p:cNvSpPr/>
          <p:nvPr/>
        </p:nvSpPr>
        <p:spPr>
          <a:xfrm>
            <a:off x="2252663" y="5932488"/>
            <a:ext cx="433387" cy="444500"/>
          </a:xfrm>
          <a:prstGeom prst="rect">
            <a:avLst/>
          </a:prstGeom>
          <a:noFill/>
          <a:ln w="38100">
            <a:noFill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F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561002-CC52-4515-8D6C-DE3D2C49D8C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0723" name="Group 25"/>
          <p:cNvGrpSpPr/>
          <p:nvPr/>
        </p:nvGrpSpPr>
        <p:grpSpPr>
          <a:xfrm>
            <a:off x="5446713" y="1573213"/>
            <a:ext cx="6100762" cy="3578225"/>
            <a:chOff x="1730" y="898"/>
            <a:chExt cx="3843" cy="2254"/>
          </a:xfrm>
        </p:grpSpPr>
        <p:sp>
          <p:nvSpPr>
            <p:cNvPr id="30751" name="Line 5"/>
            <p:cNvSpPr/>
            <p:nvPr/>
          </p:nvSpPr>
          <p:spPr>
            <a:xfrm>
              <a:off x="2157" y="1224"/>
              <a:ext cx="0" cy="162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30752" name="Group 6"/>
            <p:cNvGrpSpPr/>
            <p:nvPr/>
          </p:nvGrpSpPr>
          <p:grpSpPr>
            <a:xfrm>
              <a:off x="2157" y="2011"/>
              <a:ext cx="1770" cy="267"/>
              <a:chOff x="3570" y="10181"/>
              <a:chExt cx="2254" cy="329"/>
            </a:xfrm>
          </p:grpSpPr>
          <p:sp>
            <p:nvSpPr>
              <p:cNvPr id="30766" name="Rectangle 7"/>
              <p:cNvSpPr/>
              <p:nvPr/>
            </p:nvSpPr>
            <p:spPr>
              <a:xfrm>
                <a:off x="3570" y="10181"/>
                <a:ext cx="2254" cy="32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do-while  k&lt;=n</a:t>
                </a:r>
                <a:endParaRPr lang="en-US" altLang="zh-CN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30767" name="Line 8"/>
              <p:cNvSpPr/>
              <p:nvPr/>
            </p:nvSpPr>
            <p:spPr>
              <a:xfrm>
                <a:off x="5644" y="10181"/>
                <a:ext cx="1" cy="329"/>
              </a:xfrm>
              <a:prstGeom prst="line">
                <a:avLst/>
              </a:prstGeom>
              <a:ln w="28575" cap="flat" cmpd="sng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30753" name="Line 9"/>
            <p:cNvSpPr/>
            <p:nvPr/>
          </p:nvSpPr>
          <p:spPr>
            <a:xfrm>
              <a:off x="3943" y="2132"/>
              <a:ext cx="138" cy="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754" name="Rectangle 12"/>
            <p:cNvSpPr/>
            <p:nvPr/>
          </p:nvSpPr>
          <p:spPr>
            <a:xfrm>
              <a:off x="2157" y="1378"/>
              <a:ext cx="1248" cy="505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sum=0;</a:t>
              </a:r>
              <a:endParaRPr lang="en-US" altLang="zh-CN" sz="2000" b="1" dirty="0"/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k=1;</a:t>
              </a:r>
              <a:endParaRPr lang="en-US" altLang="zh-CN" sz="2000" b="1" dirty="0"/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 b="1" dirty="0"/>
            </a:p>
          </p:txBody>
        </p:sp>
        <p:grpSp>
          <p:nvGrpSpPr>
            <p:cNvPr id="30755" name="Group 13"/>
            <p:cNvGrpSpPr/>
            <p:nvPr/>
          </p:nvGrpSpPr>
          <p:grpSpPr>
            <a:xfrm>
              <a:off x="4085" y="1630"/>
              <a:ext cx="1488" cy="908"/>
              <a:chOff x="6144" y="10081"/>
              <a:chExt cx="2120" cy="1120"/>
            </a:xfrm>
          </p:grpSpPr>
          <p:sp>
            <p:nvSpPr>
              <p:cNvPr id="30763" name="Rectangle 14"/>
              <p:cNvSpPr/>
              <p:nvPr/>
            </p:nvSpPr>
            <p:spPr>
              <a:xfrm>
                <a:off x="6144" y="10081"/>
                <a:ext cx="2120" cy="62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/>
                  <a:t>读入一科成绩 → </a:t>
                </a:r>
                <a:r>
                  <a:rPr lang="en-US" altLang="zh-CN" sz="2000" b="1" dirty="0"/>
                  <a:t>m</a:t>
                </a:r>
                <a:endParaRPr lang="en-US" altLang="zh-CN" sz="2000" b="1" dirty="0"/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/>
                  <a:t>sum =sum+m;</a:t>
                </a:r>
                <a:endParaRPr lang="en-US" altLang="zh-CN" sz="2000" b="1" dirty="0"/>
              </a:p>
            </p:txBody>
          </p:sp>
          <p:sp>
            <p:nvSpPr>
              <p:cNvPr id="30764" name="Rectangle 15"/>
              <p:cNvSpPr/>
              <p:nvPr/>
            </p:nvSpPr>
            <p:spPr>
              <a:xfrm>
                <a:off x="6144" y="10841"/>
                <a:ext cx="1480" cy="36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k = k+1 ; </a:t>
                </a:r>
                <a:endParaRPr lang="en-US" altLang="zh-CN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30765" name="Line 16"/>
              <p:cNvSpPr/>
              <p:nvPr/>
            </p:nvSpPr>
            <p:spPr>
              <a:xfrm>
                <a:off x="6144" y="10461"/>
                <a:ext cx="1" cy="6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30756" name="Rectangle 17"/>
            <p:cNvSpPr/>
            <p:nvPr/>
          </p:nvSpPr>
          <p:spPr>
            <a:xfrm>
              <a:off x="2157" y="2392"/>
              <a:ext cx="1248" cy="259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/>
                <a:t>输出 </a:t>
              </a:r>
              <a:r>
                <a:rPr lang="en-US" altLang="zh-CN" sz="2000" b="1" dirty="0"/>
                <a:t>sum / N</a:t>
              </a:r>
              <a:endParaRPr lang="en-US" altLang="zh-CN" sz="2000" b="1" dirty="0"/>
            </a:p>
          </p:txBody>
        </p:sp>
        <p:grpSp>
          <p:nvGrpSpPr>
            <p:cNvPr id="30757" name="Group 18"/>
            <p:cNvGrpSpPr/>
            <p:nvPr/>
          </p:nvGrpSpPr>
          <p:grpSpPr>
            <a:xfrm>
              <a:off x="1730" y="898"/>
              <a:ext cx="853" cy="308"/>
              <a:chOff x="3084" y="9821"/>
              <a:chExt cx="1080" cy="380"/>
            </a:xfrm>
          </p:grpSpPr>
          <p:sp>
            <p:nvSpPr>
              <p:cNvPr id="30761" name="Rectangle 19"/>
              <p:cNvSpPr/>
              <p:nvPr/>
            </p:nvSpPr>
            <p:spPr>
              <a:xfrm>
                <a:off x="3084" y="9861"/>
                <a:ext cx="1080" cy="34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/>
                  <a:t>开始</a:t>
                </a:r>
                <a:endParaRPr lang="zh-CN" altLang="en-US" sz="2000" b="1" dirty="0"/>
              </a:p>
            </p:txBody>
          </p:sp>
          <p:sp>
            <p:nvSpPr>
              <p:cNvPr id="30762" name="Oval 20"/>
              <p:cNvSpPr/>
              <p:nvPr/>
            </p:nvSpPr>
            <p:spPr>
              <a:xfrm>
                <a:off x="3224" y="9821"/>
                <a:ext cx="800" cy="380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 b="1" dirty="0">
                  <a:solidFill>
                    <a:schemeClr val="hlink"/>
                  </a:solidFill>
                  <a:latin typeface="Monotype Corsiva" pitchFamily="66" charset="0"/>
                  <a:ea typeface="华文彩云" pitchFamily="2" charset="-122"/>
                </a:endParaRPr>
              </a:p>
            </p:txBody>
          </p:sp>
        </p:grpSp>
        <p:grpSp>
          <p:nvGrpSpPr>
            <p:cNvPr id="30758" name="Group 21"/>
            <p:cNvGrpSpPr/>
            <p:nvPr/>
          </p:nvGrpSpPr>
          <p:grpSpPr>
            <a:xfrm>
              <a:off x="1730" y="2844"/>
              <a:ext cx="853" cy="308"/>
              <a:chOff x="3084" y="9821"/>
              <a:chExt cx="1080" cy="380"/>
            </a:xfrm>
          </p:grpSpPr>
          <p:sp>
            <p:nvSpPr>
              <p:cNvPr id="30759" name="Rectangle 22"/>
              <p:cNvSpPr/>
              <p:nvPr/>
            </p:nvSpPr>
            <p:spPr>
              <a:xfrm>
                <a:off x="3084" y="9861"/>
                <a:ext cx="1080" cy="34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/>
                  <a:t>结束</a:t>
                </a:r>
                <a:endParaRPr lang="zh-CN" altLang="en-US" sz="2000" b="1" dirty="0"/>
              </a:p>
            </p:txBody>
          </p:sp>
          <p:sp>
            <p:nvSpPr>
              <p:cNvPr id="30760" name="Oval 23"/>
              <p:cNvSpPr/>
              <p:nvPr/>
            </p:nvSpPr>
            <p:spPr>
              <a:xfrm>
                <a:off x="3224" y="9821"/>
                <a:ext cx="800" cy="380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 b="1" dirty="0">
                  <a:solidFill>
                    <a:schemeClr val="hlink"/>
                  </a:solidFill>
                  <a:latin typeface="Monotype Corsiva" pitchFamily="66" charset="0"/>
                  <a:ea typeface="华文彩云" pitchFamily="2" charset="-122"/>
                </a:endParaRPr>
              </a:p>
            </p:txBody>
          </p:sp>
        </p:grpSp>
      </p:grpSp>
      <p:grpSp>
        <p:nvGrpSpPr>
          <p:cNvPr id="30724" name="Group 52"/>
          <p:cNvGrpSpPr/>
          <p:nvPr/>
        </p:nvGrpSpPr>
        <p:grpSpPr>
          <a:xfrm>
            <a:off x="493713" y="41275"/>
            <a:ext cx="3033712" cy="6300788"/>
            <a:chOff x="148" y="232"/>
            <a:chExt cx="1911" cy="3969"/>
          </a:xfrm>
        </p:grpSpPr>
        <p:sp>
          <p:nvSpPr>
            <p:cNvPr id="30727" name="Rectangle 27"/>
            <p:cNvSpPr/>
            <p:nvPr/>
          </p:nvSpPr>
          <p:spPr>
            <a:xfrm>
              <a:off x="637" y="678"/>
              <a:ext cx="963" cy="4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sum=0;</a:t>
              </a:r>
              <a:endParaRPr lang="en-US" altLang="zh-CN" sz="2000" b="1" dirty="0"/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k=1;</a:t>
              </a:r>
              <a:endParaRPr lang="en-US" altLang="zh-CN" sz="2000" b="1" dirty="0"/>
            </a:p>
          </p:txBody>
        </p:sp>
        <p:sp>
          <p:nvSpPr>
            <p:cNvPr id="30728" name="Rectangle 28"/>
            <p:cNvSpPr/>
            <p:nvPr/>
          </p:nvSpPr>
          <p:spPr>
            <a:xfrm>
              <a:off x="316" y="1380"/>
              <a:ext cx="1576" cy="485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/>
                <a:t>读入一科成绩 → </a:t>
              </a:r>
              <a:r>
                <a:rPr lang="en-US" altLang="zh-CN" sz="2000" b="1" dirty="0"/>
                <a:t>m</a:t>
              </a:r>
              <a:endParaRPr lang="en-US" altLang="zh-CN" sz="2000" b="1" dirty="0"/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sum =sum+m;</a:t>
              </a:r>
              <a:endParaRPr lang="en-US" altLang="zh-CN" sz="2000" b="1" dirty="0"/>
            </a:p>
          </p:txBody>
        </p:sp>
        <p:sp>
          <p:nvSpPr>
            <p:cNvPr id="30729" name="Rectangle 29"/>
            <p:cNvSpPr/>
            <p:nvPr/>
          </p:nvSpPr>
          <p:spPr>
            <a:xfrm>
              <a:off x="335" y="2052"/>
              <a:ext cx="1557" cy="323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k = k+1 ; </a:t>
              </a:r>
              <a:endParaRPr lang="en-US" altLang="zh-CN" sz="2000" b="1" dirty="0"/>
            </a:p>
          </p:txBody>
        </p:sp>
        <p:sp>
          <p:nvSpPr>
            <p:cNvPr id="30730" name="Rectangle 31"/>
            <p:cNvSpPr/>
            <p:nvPr/>
          </p:nvSpPr>
          <p:spPr>
            <a:xfrm>
              <a:off x="739" y="232"/>
              <a:ext cx="784" cy="278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/>
                <a:t>开始</a:t>
              </a:r>
              <a:endParaRPr lang="zh-CN" altLang="en-US" sz="2000" b="1" dirty="0"/>
            </a:p>
          </p:txBody>
        </p:sp>
        <p:sp>
          <p:nvSpPr>
            <p:cNvPr id="30731" name="Line 32"/>
            <p:cNvSpPr/>
            <p:nvPr/>
          </p:nvSpPr>
          <p:spPr>
            <a:xfrm>
              <a:off x="1130" y="446"/>
              <a:ext cx="2" cy="19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30732" name="Line 33"/>
            <p:cNvSpPr/>
            <p:nvPr/>
          </p:nvSpPr>
          <p:spPr>
            <a:xfrm>
              <a:off x="1115" y="1181"/>
              <a:ext cx="2" cy="19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30733" name="Line 34"/>
            <p:cNvSpPr/>
            <p:nvPr/>
          </p:nvSpPr>
          <p:spPr>
            <a:xfrm>
              <a:off x="1142" y="2435"/>
              <a:ext cx="1" cy="19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grpSp>
          <p:nvGrpSpPr>
            <p:cNvPr id="30734" name="Group 35"/>
            <p:cNvGrpSpPr/>
            <p:nvPr/>
          </p:nvGrpSpPr>
          <p:grpSpPr>
            <a:xfrm>
              <a:off x="260" y="2614"/>
              <a:ext cx="1799" cy="504"/>
              <a:chOff x="2824" y="5941"/>
              <a:chExt cx="2550" cy="553"/>
            </a:xfrm>
          </p:grpSpPr>
          <p:sp>
            <p:nvSpPr>
              <p:cNvPr id="30743" name="Rectangle 36"/>
              <p:cNvSpPr/>
              <p:nvPr/>
            </p:nvSpPr>
            <p:spPr>
              <a:xfrm>
                <a:off x="3104" y="6061"/>
                <a:ext cx="2069" cy="30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/>
                  <a:t>k &lt;= N</a:t>
                </a:r>
                <a:endParaRPr lang="en-US" altLang="zh-CN" sz="2000" b="1" dirty="0"/>
              </a:p>
            </p:txBody>
          </p:sp>
          <p:grpSp>
            <p:nvGrpSpPr>
              <p:cNvPr id="30744" name="Group 37"/>
              <p:cNvGrpSpPr/>
              <p:nvPr/>
            </p:nvGrpSpPr>
            <p:grpSpPr>
              <a:xfrm>
                <a:off x="2824" y="5941"/>
                <a:ext cx="2550" cy="553"/>
                <a:chOff x="0" y="5"/>
                <a:chExt cx="20000" cy="19996"/>
              </a:xfrm>
            </p:grpSpPr>
            <p:grpSp>
              <p:nvGrpSpPr>
                <p:cNvPr id="30745" name="Group 38"/>
                <p:cNvGrpSpPr/>
                <p:nvPr/>
              </p:nvGrpSpPr>
              <p:grpSpPr>
                <a:xfrm>
                  <a:off x="0" y="5"/>
                  <a:ext cx="10151" cy="19996"/>
                  <a:chOff x="0" y="0"/>
                  <a:chExt cx="20000" cy="20000"/>
                </a:xfrm>
              </p:grpSpPr>
              <p:sp>
                <p:nvSpPr>
                  <p:cNvPr id="30749" name="Line 39"/>
                  <p:cNvSpPr/>
                  <p:nvPr/>
                </p:nvSpPr>
                <p:spPr>
                  <a:xfrm flipV="1">
                    <a:off x="0" y="0"/>
                    <a:ext cx="20000" cy="969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30750" name="Line 40"/>
                  <p:cNvSpPr/>
                  <p:nvPr/>
                </p:nvSpPr>
                <p:spPr>
                  <a:xfrm>
                    <a:off x="0" y="10302"/>
                    <a:ext cx="20000" cy="969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  <p:grpSp>
              <p:nvGrpSpPr>
                <p:cNvPr id="30746" name="Group 41"/>
                <p:cNvGrpSpPr/>
                <p:nvPr/>
              </p:nvGrpSpPr>
              <p:grpSpPr>
                <a:xfrm>
                  <a:off x="9849" y="5"/>
                  <a:ext cx="10151" cy="19996"/>
                  <a:chOff x="0" y="0"/>
                  <a:chExt cx="20000" cy="20000"/>
                </a:xfrm>
              </p:grpSpPr>
              <p:sp>
                <p:nvSpPr>
                  <p:cNvPr id="30747" name="Line 42"/>
                  <p:cNvSpPr/>
                  <p:nvPr/>
                </p:nvSpPr>
                <p:spPr>
                  <a:xfrm flipH="1" flipV="1">
                    <a:off x="0" y="0"/>
                    <a:ext cx="20000" cy="969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30748" name="Line 43"/>
                  <p:cNvSpPr/>
                  <p:nvPr/>
                </p:nvSpPr>
                <p:spPr>
                  <a:xfrm flipH="1">
                    <a:off x="0" y="10302"/>
                    <a:ext cx="20000" cy="969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</p:grpSp>
        </p:grpSp>
        <p:sp>
          <p:nvSpPr>
            <p:cNvPr id="30735" name="Rectangle 44"/>
            <p:cNvSpPr/>
            <p:nvPr/>
          </p:nvSpPr>
          <p:spPr>
            <a:xfrm>
              <a:off x="570" y="3946"/>
              <a:ext cx="1225" cy="255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/>
                <a:t>结束</a:t>
              </a:r>
              <a:endParaRPr lang="zh-CN" altLang="en-US" sz="2000" b="1" dirty="0"/>
            </a:p>
          </p:txBody>
        </p:sp>
        <p:sp>
          <p:nvSpPr>
            <p:cNvPr id="30736" name="Line 45"/>
            <p:cNvSpPr/>
            <p:nvPr/>
          </p:nvSpPr>
          <p:spPr>
            <a:xfrm>
              <a:off x="1168" y="3148"/>
              <a:ext cx="1" cy="19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30737" name="Rectangle 46"/>
            <p:cNvSpPr/>
            <p:nvPr/>
          </p:nvSpPr>
          <p:spPr>
            <a:xfrm>
              <a:off x="1289" y="3075"/>
              <a:ext cx="264" cy="400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F</a:t>
              </a:r>
              <a:endParaRPr lang="en-US" altLang="zh-CN" sz="2000" b="1" dirty="0"/>
            </a:p>
          </p:txBody>
        </p:sp>
        <p:sp>
          <p:nvSpPr>
            <p:cNvPr id="30738" name="Rectangle 47"/>
            <p:cNvSpPr/>
            <p:nvPr/>
          </p:nvSpPr>
          <p:spPr>
            <a:xfrm>
              <a:off x="203" y="2632"/>
              <a:ext cx="263" cy="356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T</a:t>
              </a:r>
              <a:endParaRPr lang="en-US" altLang="zh-CN" sz="2000" b="1" dirty="0"/>
            </a:p>
          </p:txBody>
        </p:sp>
        <p:sp>
          <p:nvSpPr>
            <p:cNvPr id="30739" name="Line 48"/>
            <p:cNvSpPr/>
            <p:nvPr/>
          </p:nvSpPr>
          <p:spPr>
            <a:xfrm>
              <a:off x="1135" y="1865"/>
              <a:ext cx="2" cy="19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30740" name="Rectangle 49"/>
            <p:cNvSpPr/>
            <p:nvPr/>
          </p:nvSpPr>
          <p:spPr>
            <a:xfrm>
              <a:off x="457" y="3361"/>
              <a:ext cx="1436" cy="34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/>
                <a:t>输出 </a:t>
              </a:r>
              <a:r>
                <a:rPr lang="en-US" altLang="zh-CN" sz="2000" b="1" dirty="0"/>
                <a:t>sum / N</a:t>
              </a:r>
              <a:endParaRPr lang="en-US" altLang="zh-CN" sz="2000" b="1" dirty="0"/>
            </a:p>
          </p:txBody>
        </p:sp>
        <p:sp>
          <p:nvSpPr>
            <p:cNvPr id="30741" name="Line 50"/>
            <p:cNvSpPr/>
            <p:nvPr/>
          </p:nvSpPr>
          <p:spPr>
            <a:xfrm>
              <a:off x="1177" y="3730"/>
              <a:ext cx="2" cy="1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30742" name="Freeform 51"/>
            <p:cNvSpPr/>
            <p:nvPr/>
          </p:nvSpPr>
          <p:spPr>
            <a:xfrm>
              <a:off x="148" y="1282"/>
              <a:ext cx="874" cy="1586"/>
            </a:xfrm>
            <a:custGeom>
              <a:avLst/>
              <a:gdLst>
                <a:gd name="txL" fmla="*/ 0 w 874"/>
                <a:gd name="txT" fmla="*/ 0 h 1586"/>
                <a:gd name="txR" fmla="*/ 874 w 874"/>
                <a:gd name="txB" fmla="*/ 1586 h 1586"/>
              </a:gdLst>
              <a:ahLst/>
              <a:cxnLst>
                <a:cxn ang="0">
                  <a:pos x="117" y="1580"/>
                </a:cxn>
                <a:cxn ang="0">
                  <a:pos x="0" y="1586"/>
                </a:cxn>
                <a:cxn ang="0">
                  <a:pos x="0" y="0"/>
                </a:cxn>
                <a:cxn ang="0">
                  <a:pos x="874" y="0"/>
                </a:cxn>
              </a:cxnLst>
              <a:rect l="txL" t="txT" r="txR" b="txB"/>
              <a:pathLst>
                <a:path w="874" h="1586">
                  <a:moveTo>
                    <a:pt x="117" y="1580"/>
                  </a:moveTo>
                  <a:lnTo>
                    <a:pt x="0" y="1586"/>
                  </a:lnTo>
                  <a:lnTo>
                    <a:pt x="0" y="0"/>
                  </a:lnTo>
                  <a:lnTo>
                    <a:pt x="874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0725" name="Text Box 53"/>
          <p:cNvSpPr txBox="1"/>
          <p:nvPr/>
        </p:nvSpPr>
        <p:spPr>
          <a:xfrm>
            <a:off x="69850" y="6286500"/>
            <a:ext cx="41021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图</a:t>
            </a:r>
            <a:r>
              <a:rPr lang="en-US" altLang="zh-CN" sz="2400" b="1" dirty="0">
                <a:latin typeface="宋体" panose="02010600030101010101" pitchFamily="2" charset="-122"/>
              </a:rPr>
              <a:t>4.1 </a:t>
            </a:r>
            <a:r>
              <a:rPr lang="zh-CN" altLang="en-US" sz="2400" b="1" dirty="0">
                <a:latin typeface="宋体" panose="02010600030101010101" pitchFamily="2" charset="-122"/>
              </a:rPr>
              <a:t>计算平均成绩流程图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0726" name="Text Box 54"/>
          <p:cNvSpPr txBox="1"/>
          <p:nvPr/>
        </p:nvSpPr>
        <p:spPr>
          <a:xfrm>
            <a:off x="7505700" y="5168900"/>
            <a:ext cx="40417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图</a:t>
            </a:r>
            <a:r>
              <a:rPr lang="en-US" altLang="zh-CN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4.5 </a:t>
            </a:r>
            <a:r>
              <a:rPr lang="zh-CN" altLang="en-US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计算平均成绩</a:t>
            </a:r>
            <a:r>
              <a:rPr lang="en-US" altLang="zh-CN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PAD</a:t>
            </a:r>
            <a:endParaRPr lang="en-US" altLang="zh-CN" sz="2400" b="1" dirty="0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sp>
        <p:nvSpPr>
          <p:cNvPr id="729090" name="Rectangle 2"/>
          <p:cNvSpPr>
            <a:spLocks noGrp="1" noChangeArrowheads="1"/>
          </p:cNvSpPr>
          <p:nvPr/>
        </p:nvSpPr>
        <p:spPr>
          <a:xfrm>
            <a:off x="3962083" y="-40640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Tahoma" panose="020B0604030504040204" pitchFamily="34" charset="0"/>
              </a:rPr>
              <a:t>§4.1.1  </a:t>
            </a: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后判断条件的循环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8721725" y="4478020"/>
            <a:ext cx="1833880" cy="389255"/>
          </a:xfrm>
          <a:prstGeom prst="wedgeRectCallout">
            <a:avLst>
              <a:gd name="adj1" fmla="val -50545"/>
              <a:gd name="adj2" fmla="val -244094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后判断条件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3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29B300-8D11-432D-82E1-972AC07719C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56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50863"/>
            <a:ext cx="8821738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后判断条件循环用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do-while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语句描述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31748" name="Rectangle 3"/>
          <p:cNvSpPr>
            <a:spLocks noGrp="1"/>
          </p:cNvSpPr>
          <p:nvPr>
            <p:ph idx="1"/>
          </p:nvPr>
        </p:nvSpPr>
        <p:spPr>
          <a:xfrm>
            <a:off x="457200" y="2259013"/>
            <a:ext cx="4248150" cy="2339975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800" b="1" dirty="0">
                <a:effectLst/>
                <a:latin typeface="Arial" panose="020B0604020202020204" pitchFamily="34" charset="0"/>
              </a:rPr>
              <a:t>一般形式	</a:t>
            </a:r>
            <a:br>
              <a:rPr lang="zh-CN" altLang="en-US" sz="2800" b="1" dirty="0">
                <a:effectLst/>
                <a:latin typeface="Arial" panose="020B0604020202020204" pitchFamily="34" charset="0"/>
              </a:rPr>
            </a:br>
            <a:r>
              <a:rPr lang="zh-CN" altLang="en-US" sz="2800" b="1" dirty="0">
                <a:effectLst/>
                <a:latin typeface="Arial" panose="020B0604020202020204" pitchFamily="34" charset="0"/>
              </a:rPr>
              <a:t>		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do 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              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lvl="4" eaLnBrk="1" hangingPunct="1"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	    S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lvl="4" eaLnBrk="1" hangingPunct="1">
              <a:buNone/>
            </a:pP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while (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 e 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;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	</a:t>
            </a:r>
            <a:endParaRPr lang="en-US" altLang="zh-CN" sz="2800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749" name="Rectangle 28"/>
          <p:cNvSpPr/>
          <p:nvPr/>
        </p:nvSpPr>
        <p:spPr>
          <a:xfrm>
            <a:off x="5257800" y="2246313"/>
            <a:ext cx="4751388" cy="2881312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30000"/>
              </a:lnSpc>
            </a:pPr>
            <a:r>
              <a:rPr lang="zh-CN" altLang="en-US" b="1" dirty="0">
                <a:latin typeface="Arial" panose="020B0604020202020204" pitchFamily="34" charset="0"/>
              </a:rPr>
              <a:t>需要弄清楚的</a:t>
            </a:r>
            <a:endParaRPr lang="zh-CN" altLang="en-US" b="1" dirty="0">
              <a:latin typeface="Arial" panose="020B0604020202020204" pitchFamily="34" charset="0"/>
            </a:endParaRPr>
          </a:p>
          <a:p>
            <a:pPr marL="742950" lvl="1" indent="-285750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</a:rPr>
              <a:t>循环体</a:t>
            </a:r>
            <a:r>
              <a:rPr lang="zh-CN" altLang="en-US" b="1" dirty="0">
                <a:latin typeface="Arial" panose="020B0604020202020204" pitchFamily="34" charset="0"/>
              </a:rPr>
              <a:t>是什么？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742950" lvl="1" indent="-285750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</a:rPr>
              <a:t>循环条件</a:t>
            </a:r>
            <a:r>
              <a:rPr lang="zh-CN" altLang="en-US" b="1" dirty="0">
                <a:latin typeface="Arial" panose="020B0604020202020204" pitchFamily="34" charset="0"/>
              </a:rPr>
              <a:t>是什么？</a:t>
            </a:r>
            <a:endParaRPr lang="zh-CN" altLang="en-US" b="1" dirty="0">
              <a:latin typeface="Arial" panose="020B0604020202020204" pitchFamily="34" charset="0"/>
            </a:endParaRPr>
          </a:p>
          <a:p>
            <a:pPr marL="742950" lvl="1" indent="-285750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</a:rPr>
              <a:t>循环控制方式</a:t>
            </a:r>
            <a:r>
              <a:rPr lang="zh-CN" altLang="en-US" b="1" dirty="0">
                <a:latin typeface="Arial" panose="020B0604020202020204" pitchFamily="34" charset="0"/>
              </a:rPr>
              <a:t>是什么？</a:t>
            </a:r>
            <a:endParaRPr lang="zh-CN" altLang="en-US" b="1" dirty="0">
              <a:latin typeface="Arial" panose="020B0604020202020204" pitchFamily="34" charset="0"/>
            </a:endParaRPr>
          </a:p>
          <a:p>
            <a:pPr marL="742950" lvl="1" indent="-285750" eaLnBrk="1" hangingPunct="1">
              <a:lnSpc>
                <a:spcPct val="130000"/>
              </a:lnSpc>
            </a:pPr>
            <a:endParaRPr lang="zh-CN" altLang="en-US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700D3D-7B2B-4B2B-B4EC-EF9F130960D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9219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301625"/>
            <a:ext cx="9144000" cy="11207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4.2】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ea typeface="+mn-ea"/>
                <a:cs typeface="+mn-cs"/>
              </a:rPr>
              <a:t>教材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ea typeface="+mn-ea"/>
                <a:cs typeface="+mn-cs"/>
              </a:rPr>
              <a:t>P88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计算数列的</a:t>
            </a:r>
            <a:r>
              <a:rPr kumimoji="0" lang="en-US" altLang="zh-CN" sz="31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3100" b="1" i="0" u="none" strike="noStrike" kern="0" cap="none" spc="0" normalizeH="0" baseline="-2500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=1/(k*(k+1)) </a:t>
            </a:r>
            <a:r>
              <a:rPr kumimoji="0" lang="zh-CN" altLang="en-US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的前 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 </a:t>
            </a:r>
            <a:r>
              <a:rPr kumimoji="0" lang="zh-CN" altLang="en-US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项和。</a:t>
            </a:r>
            <a:endParaRPr kumimoji="0" lang="en-US" altLang="zh-CN" sz="31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299" name="Picture 25"/>
          <p:cNvPicPr>
            <a:picLocks noChangeAspect="1"/>
          </p:cNvPicPr>
          <p:nvPr/>
        </p:nvPicPr>
        <p:blipFill>
          <a:blip r:embed="rId1"/>
          <a:srcRect b="5592"/>
          <a:stretch>
            <a:fillRect/>
          </a:stretch>
        </p:blipFill>
        <p:spPr>
          <a:xfrm>
            <a:off x="152400" y="1600200"/>
            <a:ext cx="6675120" cy="1504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2BFB22-7F7F-4EF6-88D0-8F33052754A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78"/>
          <p:cNvGrpSpPr/>
          <p:nvPr/>
        </p:nvGrpSpPr>
        <p:grpSpPr>
          <a:xfrm>
            <a:off x="381000" y="1084263"/>
            <a:ext cx="4398963" cy="3911600"/>
            <a:chOff x="0" y="972"/>
            <a:chExt cx="2771" cy="2464"/>
          </a:xfrm>
        </p:grpSpPr>
        <p:sp>
          <p:nvSpPr>
            <p:cNvPr id="34824" name="Rectangle 6"/>
            <p:cNvSpPr>
              <a:spLocks noChangeAspect="1"/>
            </p:cNvSpPr>
            <p:nvPr/>
          </p:nvSpPr>
          <p:spPr>
            <a:xfrm>
              <a:off x="130" y="1450"/>
              <a:ext cx="918" cy="54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900" b="1" dirty="0">
                  <a:latin typeface="Arial" panose="020B0604020202020204" pitchFamily="34" charset="0"/>
                  <a:cs typeface="Times New Roman" panose="02020603050405020304" pitchFamily="18" charset="0"/>
                </a:rPr>
                <a:t>  </a:t>
              </a:r>
              <a:r>
                <a:rPr lang="zh-CN" altLang="en-US" sz="1900" b="1" dirty="0">
                  <a:latin typeface="Arial" panose="020B0604020202020204" pitchFamily="34" charset="0"/>
                  <a:cs typeface="Times New Roman" panose="02020603050405020304" pitchFamily="18" charset="0"/>
                </a:rPr>
                <a:t>输入</a:t>
              </a:r>
              <a:r>
                <a:rPr lang="en-US" altLang="zh-CN" sz="1900" b="1" dirty="0">
                  <a:latin typeface="Arial" panose="020B0604020202020204" pitchFamily="34" charset="0"/>
                  <a:cs typeface="Times New Roman" panose="02020603050405020304" pitchFamily="18" charset="0"/>
                </a:rPr>
                <a:t>n;</a:t>
              </a:r>
              <a:endParaRPr lang="en-US" altLang="zh-CN" sz="1900" b="1" dirty="0">
                <a:latin typeface="Arial" panose="020B0604020202020204" pitchFamily="34" charset="0"/>
                <a:cs typeface="Times New Roman" panose="02020603050405020304" pitchFamily="18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900" b="1" dirty="0">
                  <a:solidFill>
                    <a:srgbClr val="FF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19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sum = 0 ;</a:t>
              </a:r>
              <a:endParaRPr lang="en-US" altLang="zh-CN" sz="19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Times New Roman" panose="02020603050405020304" pitchFamily="18" charset="0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900" b="1" dirty="0">
                  <a:latin typeface="Arial" panose="020B0604020202020204" pitchFamily="34" charset="0"/>
                  <a:cs typeface="Times New Roman" panose="02020603050405020304" pitchFamily="18" charset="0"/>
                </a:rPr>
                <a:t>  k = 1 ;</a:t>
              </a:r>
              <a:endParaRPr lang="en-US" altLang="zh-CN" sz="1900" b="1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4825" name="Rectangle 7"/>
            <p:cNvSpPr>
              <a:spLocks noChangeAspect="1"/>
            </p:cNvSpPr>
            <p:nvPr/>
          </p:nvSpPr>
          <p:spPr>
            <a:xfrm>
              <a:off x="130" y="2130"/>
              <a:ext cx="1009" cy="52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Arial" panose="020B0604020202020204" pitchFamily="34" charset="0"/>
                  <a:cs typeface="Times New Roman" panose="02020603050405020304" pitchFamily="18" charset="0"/>
                </a:rPr>
                <a:t> do-while </a:t>
              </a:r>
              <a:endParaRPr lang="en-US" altLang="zh-CN" sz="2000" b="1" dirty="0">
                <a:latin typeface="Arial" panose="020B0604020202020204" pitchFamily="34" charset="0"/>
                <a:cs typeface="Times New Roman" panose="02020603050405020304" pitchFamily="18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Arial" panose="020B0604020202020204" pitchFamily="34" charset="0"/>
                  <a:cs typeface="Times New Roman" panose="02020603050405020304" pitchFamily="18" charset="0"/>
                </a:rPr>
                <a:t>  k&lt;= n</a:t>
              </a:r>
              <a:endParaRPr lang="en-US" altLang="zh-CN" sz="2000" b="1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4826" name="Line 8"/>
            <p:cNvSpPr>
              <a:spLocks noChangeAspect="1"/>
            </p:cNvSpPr>
            <p:nvPr/>
          </p:nvSpPr>
          <p:spPr>
            <a:xfrm>
              <a:off x="1043" y="2130"/>
              <a:ext cx="5" cy="499"/>
            </a:xfrm>
            <a:prstGeom prst="line">
              <a:avLst/>
            </a:prstGeom>
            <a:ln w="38100" cap="flat" cmpd="sng">
              <a:solidFill>
                <a:schemeClr val="accent2">
                  <a:lumMod val="60000"/>
                  <a:lumOff val="40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34827" name="Group 9"/>
            <p:cNvGrpSpPr>
              <a:grpSpLocks noChangeAspect="1"/>
            </p:cNvGrpSpPr>
            <p:nvPr/>
          </p:nvGrpSpPr>
          <p:grpSpPr>
            <a:xfrm>
              <a:off x="0" y="3094"/>
              <a:ext cx="985" cy="342"/>
              <a:chOff x="0" y="0"/>
              <a:chExt cx="20000" cy="20000"/>
            </a:xfrm>
          </p:grpSpPr>
          <p:sp>
            <p:nvSpPr>
              <p:cNvPr id="34837" name="Rectangle 10"/>
              <p:cNvSpPr>
                <a:spLocks noChangeAspect="1"/>
              </p:cNvSpPr>
              <p:nvPr/>
            </p:nvSpPr>
            <p:spPr>
              <a:xfrm>
                <a:off x="0" y="3163"/>
                <a:ext cx="20000" cy="1683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结束</a:t>
                </a:r>
                <a:endParaRPr lang="zh-CN" altLang="en-US" sz="2000" b="1" dirty="0"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4838" name="Oval 11"/>
              <p:cNvSpPr>
                <a:spLocks noChangeAspect="1"/>
              </p:cNvSpPr>
              <p:nvPr/>
            </p:nvSpPr>
            <p:spPr>
              <a:xfrm>
                <a:off x="0" y="0"/>
                <a:ext cx="20000" cy="16017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 b="1" dirty="0">
                  <a:solidFill>
                    <a:schemeClr val="hlink"/>
                  </a:solidFill>
                  <a:latin typeface="Monotype Corsiva" pitchFamily="66" charset="0"/>
                  <a:ea typeface="华文彩云" pitchFamily="2" charset="-122"/>
                </a:endParaRPr>
              </a:p>
            </p:txBody>
          </p:sp>
        </p:grpSp>
        <p:grpSp>
          <p:nvGrpSpPr>
            <p:cNvPr id="34828" name="Group 12"/>
            <p:cNvGrpSpPr/>
            <p:nvPr/>
          </p:nvGrpSpPr>
          <p:grpSpPr>
            <a:xfrm>
              <a:off x="0" y="972"/>
              <a:ext cx="1159" cy="296"/>
              <a:chOff x="5701" y="1643"/>
              <a:chExt cx="469" cy="278"/>
            </a:xfrm>
          </p:grpSpPr>
          <p:sp>
            <p:nvSpPr>
              <p:cNvPr id="34835" name="Rectangle 13"/>
              <p:cNvSpPr>
                <a:spLocks noChangeAspect="1"/>
              </p:cNvSpPr>
              <p:nvPr/>
            </p:nvSpPr>
            <p:spPr>
              <a:xfrm>
                <a:off x="5792" y="1684"/>
                <a:ext cx="378" cy="20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开始</a:t>
                </a:r>
                <a:endParaRPr lang="zh-CN" altLang="en-US" sz="2000" b="1" dirty="0"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4836" name="Oval 14"/>
              <p:cNvSpPr>
                <a:spLocks noChangeAspect="1"/>
              </p:cNvSpPr>
              <p:nvPr/>
            </p:nvSpPr>
            <p:spPr>
              <a:xfrm>
                <a:off x="5701" y="1643"/>
                <a:ext cx="417" cy="278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 b="1" dirty="0">
                  <a:solidFill>
                    <a:schemeClr val="hlink"/>
                  </a:solidFill>
                  <a:latin typeface="Monotype Corsiva" pitchFamily="66" charset="0"/>
                  <a:ea typeface="华文彩云" pitchFamily="2" charset="-122"/>
                </a:endParaRPr>
              </a:p>
            </p:txBody>
          </p:sp>
        </p:grpSp>
        <p:sp>
          <p:nvSpPr>
            <p:cNvPr id="34829" name="Rectangle 15"/>
            <p:cNvSpPr>
              <a:spLocks noChangeAspect="1"/>
            </p:cNvSpPr>
            <p:nvPr/>
          </p:nvSpPr>
          <p:spPr>
            <a:xfrm>
              <a:off x="130" y="2765"/>
              <a:ext cx="1426" cy="27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输出  </a:t>
              </a:r>
              <a:r>
                <a:rPr lang="en-US" altLang="zh-CN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sum</a:t>
              </a:r>
              <a:endParaRPr lang="en-US" altLang="zh-CN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30" name="Line 16"/>
            <p:cNvSpPr>
              <a:spLocks noChangeAspect="1"/>
            </p:cNvSpPr>
            <p:nvPr/>
          </p:nvSpPr>
          <p:spPr>
            <a:xfrm>
              <a:off x="1139" y="2357"/>
              <a:ext cx="129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4831" name="Rectangle 17"/>
            <p:cNvSpPr>
              <a:spLocks noChangeAspect="1"/>
            </p:cNvSpPr>
            <p:nvPr/>
          </p:nvSpPr>
          <p:spPr>
            <a:xfrm>
              <a:off x="1268" y="1949"/>
              <a:ext cx="1503" cy="27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sum+=</a:t>
              </a:r>
              <a:r>
                <a:rPr lang="en-US" altLang="zh-CN" sz="2000" b="1" dirty="0">
                  <a:latin typeface="Arial" panose="020B0604020202020204" pitchFamily="34" charset="0"/>
                  <a:cs typeface="Times New Roman" panose="02020603050405020304" pitchFamily="18" charset="0"/>
                </a:rPr>
                <a:t>1.0/(k*(k+1));</a:t>
              </a:r>
              <a:endParaRPr lang="en-US" altLang="zh-CN" sz="2000" b="1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4832" name="Rectangle 18"/>
            <p:cNvSpPr>
              <a:spLocks noChangeAspect="1"/>
            </p:cNvSpPr>
            <p:nvPr/>
          </p:nvSpPr>
          <p:spPr>
            <a:xfrm>
              <a:off x="1268" y="2402"/>
              <a:ext cx="1176" cy="27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Arial" panose="020B0604020202020204" pitchFamily="34" charset="0"/>
                  <a:cs typeface="Times New Roman" panose="02020603050405020304" pitchFamily="18" charset="0"/>
                </a:rPr>
                <a:t>k = k+1</a:t>
              </a:r>
              <a:endParaRPr lang="en-US" altLang="zh-CN" sz="2000" b="1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4833" name="Line 19"/>
            <p:cNvSpPr>
              <a:spLocks noChangeAspect="1"/>
            </p:cNvSpPr>
            <p:nvPr/>
          </p:nvSpPr>
          <p:spPr>
            <a:xfrm rot="-5400000">
              <a:off x="907" y="2310"/>
              <a:ext cx="725" cy="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4834" name="Line 20"/>
            <p:cNvSpPr/>
            <p:nvPr/>
          </p:nvSpPr>
          <p:spPr>
            <a:xfrm>
              <a:off x="130" y="1268"/>
              <a:ext cx="0" cy="186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49293" name="Rectangle 77"/>
          <p:cNvSpPr/>
          <p:nvPr/>
        </p:nvSpPr>
        <p:spPr>
          <a:xfrm>
            <a:off x="6126163" y="1073150"/>
            <a:ext cx="5842000" cy="570484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#include &lt;stdio.h&gt;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int </a:t>
            </a:r>
            <a:r>
              <a:rPr lang="en-US" altLang="zh-CN" sz="2400" b="1" dirty="0"/>
              <a:t>main ( ){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 	int n,k 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 	float sum 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 	printf ("please input n :");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 	scanf("%d",&amp;n);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 	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sum = 0 ;</a:t>
            </a:r>
            <a:endParaRPr lang="en-US" altLang="zh-CN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   </a:t>
            </a:r>
            <a:r>
              <a:rPr lang="en-US" altLang="zh-CN" sz="2400" b="1" dirty="0">
                <a:solidFill>
                  <a:schemeClr val="tx1"/>
                </a:solidFill>
              </a:rPr>
              <a:t>	k = 1 ;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 	</a:t>
            </a:r>
            <a:r>
              <a:rPr lang="en-US" altLang="zh-CN" sz="2400" b="1" dirty="0">
                <a:solidFill>
                  <a:schemeClr val="hlink"/>
                </a:solidFill>
              </a:rPr>
              <a:t>do {</a:t>
            </a:r>
            <a:endParaRPr lang="en-US" altLang="zh-CN" sz="2400" b="1" dirty="0">
              <a:solidFill>
                <a:schemeClr val="hlink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        		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sum +=</a:t>
            </a:r>
            <a:r>
              <a:rPr lang="en-US" altLang="zh-CN" sz="2400" b="1" dirty="0">
                <a:solidFill>
                  <a:schemeClr val="hlink"/>
                </a:solidFill>
              </a:rPr>
              <a:t> </a:t>
            </a:r>
            <a:r>
              <a:rPr lang="en-US" altLang="zh-CN" sz="2400" b="1" dirty="0">
                <a:solidFill>
                  <a:srgbClr val="FF00FF"/>
                </a:solidFill>
              </a:rPr>
              <a:t>1.0</a:t>
            </a:r>
            <a:r>
              <a:rPr lang="en-US" altLang="zh-CN" sz="2400" b="1" dirty="0"/>
              <a:t>/(k*(k+1));</a:t>
            </a:r>
            <a:endParaRPr lang="en-US" altLang="zh-CN" sz="2400" b="1" dirty="0">
              <a:solidFill>
                <a:schemeClr val="hlink"/>
              </a:solidFill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FF"/>
                </a:solidFill>
              </a:rPr>
              <a:t>        		</a:t>
            </a:r>
            <a:r>
              <a:rPr lang="en-US" altLang="zh-CN" sz="2400" b="1" dirty="0"/>
              <a:t>k++ 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   </a:t>
            </a:r>
            <a:r>
              <a:rPr lang="en-US" altLang="zh-CN" sz="2400" b="1" dirty="0">
                <a:solidFill>
                  <a:srgbClr val="FFFF00"/>
                </a:solidFill>
              </a:rPr>
              <a:t> 	} while (</a:t>
            </a:r>
            <a:r>
              <a:rPr lang="en-US" altLang="zh-CN" sz="2400" b="1" dirty="0"/>
              <a:t> k&lt;=n</a:t>
            </a:r>
            <a:r>
              <a:rPr lang="en-US" altLang="zh-CN" sz="2400" b="1" dirty="0">
                <a:solidFill>
                  <a:srgbClr val="FF00FF"/>
                </a:solidFill>
              </a:rPr>
              <a:t> </a:t>
            </a:r>
            <a:r>
              <a:rPr lang="en-US" altLang="zh-CN" sz="2400" b="1" dirty="0">
                <a:solidFill>
                  <a:schemeClr val="hlink"/>
                </a:solidFill>
              </a:rPr>
              <a:t>);</a:t>
            </a:r>
            <a:endParaRPr lang="en-US" altLang="zh-CN" sz="2400" b="1" dirty="0">
              <a:solidFill>
                <a:schemeClr val="hlink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	printf("sum=%f\n",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sum</a:t>
            </a:r>
            <a:r>
              <a:rPr lang="en-US" altLang="zh-CN" sz="2400" b="1" dirty="0"/>
              <a:t>);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	return 0;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}</a:t>
            </a:r>
            <a:endParaRPr lang="en-US" altLang="zh-CN" sz="2400" b="1" dirty="0"/>
          </a:p>
        </p:txBody>
      </p:sp>
      <p:sp>
        <p:nvSpPr>
          <p:cNvPr id="34821" name="Rectangle 88"/>
          <p:cNvSpPr/>
          <p:nvPr/>
        </p:nvSpPr>
        <p:spPr>
          <a:xfrm>
            <a:off x="2266950" y="636588"/>
            <a:ext cx="3759200" cy="12255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</a:pPr>
            <a:r>
              <a:rPr lang="zh-CN" altLang="en-US" sz="2000" b="1" dirty="0">
                <a:latin typeface="Arial" panose="020B0604020202020204" pitchFamily="34" charset="0"/>
              </a:rPr>
              <a:t>循环需要弄清楚的</a:t>
            </a:r>
            <a:endParaRPr lang="zh-CN" altLang="en-US" sz="2000" b="1" dirty="0">
              <a:latin typeface="Arial" panose="020B0604020202020204" pitchFamily="34" charset="0"/>
            </a:endParaRPr>
          </a:p>
          <a:p>
            <a:pPr marL="742950" lvl="1" indent="-285750" eaLnBrk="1" hangingPunct="1">
              <a:spcBef>
                <a:spcPct val="0"/>
              </a:spcBef>
            </a:pPr>
            <a:r>
              <a:rPr lang="zh-CN" altLang="en-US" sz="2000" b="1" dirty="0">
                <a:solidFill>
                  <a:schemeClr val="hlink"/>
                </a:solidFill>
                <a:latin typeface="Arial" panose="020B0604020202020204" pitchFamily="34" charset="0"/>
              </a:rPr>
              <a:t>循环条件</a:t>
            </a:r>
            <a:r>
              <a:rPr lang="zh-CN" altLang="en-US" sz="2000" b="1" dirty="0">
                <a:latin typeface="Arial" panose="020B0604020202020204" pitchFamily="34" charset="0"/>
              </a:rPr>
              <a:t>是什么？</a:t>
            </a:r>
            <a:endParaRPr lang="zh-CN" altLang="en-US" sz="2000" b="1" dirty="0">
              <a:latin typeface="Arial" panose="020B0604020202020204" pitchFamily="34" charset="0"/>
            </a:endParaRPr>
          </a:p>
          <a:p>
            <a:pPr marL="742950" lvl="1" indent="-285750" eaLnBrk="1" hangingPunct="1">
              <a:spcBef>
                <a:spcPct val="0"/>
              </a:spcBef>
            </a:pPr>
            <a:r>
              <a:rPr lang="zh-CN" altLang="en-US" sz="2000" b="1" dirty="0">
                <a:solidFill>
                  <a:schemeClr val="hlink"/>
                </a:solidFill>
                <a:latin typeface="Arial" panose="020B0604020202020204" pitchFamily="34" charset="0"/>
              </a:rPr>
              <a:t>循环体</a:t>
            </a:r>
            <a:r>
              <a:rPr lang="zh-CN" altLang="en-US" sz="2000" b="1" dirty="0">
                <a:latin typeface="Arial" panose="020B0604020202020204" pitchFamily="34" charset="0"/>
              </a:rPr>
              <a:t>是什么？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742950" lvl="1" indent="-285750" eaLnBrk="1" hangingPunct="1">
              <a:spcBef>
                <a:spcPct val="0"/>
              </a:spcBef>
            </a:pPr>
            <a:r>
              <a:rPr lang="zh-CN" altLang="en-US" sz="2000" b="1" dirty="0">
                <a:solidFill>
                  <a:schemeClr val="hlink"/>
                </a:solidFill>
                <a:latin typeface="Arial" panose="020B0604020202020204" pitchFamily="34" charset="0"/>
              </a:rPr>
              <a:t>循环控制方式</a:t>
            </a:r>
            <a:r>
              <a:rPr lang="zh-CN" altLang="en-US" sz="2000" b="1" dirty="0">
                <a:latin typeface="Arial" panose="020B0604020202020204" pitchFamily="34" charset="0"/>
              </a:rPr>
              <a:t>是什么？</a:t>
            </a:r>
            <a:endParaRPr lang="zh-CN" altLang="en-US" sz="2000" b="1" dirty="0">
              <a:latin typeface="Arial" panose="020B0604020202020204" pitchFamily="34" charset="0"/>
            </a:endParaRP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-161925" y="17463"/>
            <a:ext cx="11015663" cy="6842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4.2】</a:t>
            </a:r>
            <a:r>
              <a:rPr kumimoji="0" lang="en-US" altLang="zh-CN" sz="2400" b="1" i="0" u="none" strike="noStrike" kern="1200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ea typeface="+mn-ea"/>
                <a:cs typeface="+mn-cs"/>
              </a:rPr>
              <a:t>教材P88</a:t>
            </a:r>
            <a:r>
              <a:rPr kumimoji="0" lang="zh-CN" altLang="en-US" sz="31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计算数列的</a:t>
            </a:r>
            <a:r>
              <a:rPr kumimoji="0" lang="en-US" altLang="zh-CN" sz="31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31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=1/(k*(k+1)) </a:t>
            </a:r>
            <a:r>
              <a:rPr kumimoji="0" lang="zh-CN" altLang="en-US" sz="31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的前 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 </a:t>
            </a:r>
            <a:r>
              <a:rPr kumimoji="0" lang="zh-CN" altLang="en-US" sz="31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项和。</a:t>
            </a:r>
            <a:endParaRPr kumimoji="0" lang="en-US" altLang="zh-CN" sz="31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49302" name="Rectangle 86"/>
          <p:cNvSpPr/>
          <p:nvPr/>
        </p:nvSpPr>
        <p:spPr>
          <a:xfrm>
            <a:off x="0" y="5227003"/>
            <a:ext cx="5846763" cy="1630045"/>
          </a:xfrm>
          <a:prstGeom prst="rect">
            <a:avLst/>
          </a:prstGeom>
          <a:solidFill>
            <a:schemeClr val="accent1"/>
          </a:solidFill>
          <a:ln w="571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defTabSz="914400" eaLnBrk="1" hangingPunct="1">
              <a:spcBef>
                <a:spcPct val="0"/>
              </a:spcBef>
              <a:buClrTx/>
              <a:buSzTx/>
              <a:buFontTx/>
              <a:buNone/>
              <a:tabLst>
                <a:tab pos="533400" algn="l"/>
              </a:tabLst>
            </a:pPr>
            <a:r>
              <a:rPr lang="zh-CN" altLang="en-US" sz="2000" b="1" dirty="0">
                <a:latin typeface="宋体" panose="02010600030101010101" pitchFamily="2" charset="-122"/>
              </a:rPr>
              <a:t>本章有多个求和的程序，所有计算和的程序都使用一个和单元，有类似本题目的</a:t>
            </a:r>
            <a:r>
              <a:rPr lang="zh-CN" altLang="en-US" sz="2000" b="1" dirty="0">
                <a:solidFill>
                  <a:schemeClr val="folHlink"/>
                </a:solidFill>
                <a:latin typeface="宋体" panose="02010600030101010101" pitchFamily="2" charset="-122"/>
              </a:rPr>
              <a:t>模式</a:t>
            </a:r>
            <a:r>
              <a:rPr lang="zh-CN" altLang="en-US" sz="2000" b="1" dirty="0">
                <a:latin typeface="宋体" panose="02010600030101010101" pitchFamily="2" charset="-122"/>
              </a:rPr>
              <a:t>。其中：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marL="0" lvl="0" indent="0" defTabSz="914400" eaLnBrk="1" hangingPunct="1">
              <a:spcBef>
                <a:spcPct val="0"/>
              </a:spcBef>
              <a:buClrTx/>
              <a:buSzTx/>
              <a:buFontTx/>
              <a:buChar char="•"/>
              <a:tabLst>
                <a:tab pos="533400" algn="l"/>
              </a:tabLst>
            </a:pPr>
            <a:r>
              <a:rPr lang="en-US" altLang="zh-CN" sz="2000" b="1" dirty="0">
                <a:latin typeface="宋体" panose="02010600030101010101" pitchFamily="2" charset="-122"/>
              </a:rPr>
              <a:t>S</a:t>
            </a:r>
            <a:r>
              <a:rPr lang="zh-CN" altLang="en-US" sz="2000" b="1" dirty="0">
                <a:latin typeface="宋体" panose="02010600030101010101" pitchFamily="2" charset="-122"/>
              </a:rPr>
              <a:t>是和单元；开始进入循环之前，和单元</a:t>
            </a:r>
            <a:r>
              <a:rPr lang="en-US" altLang="zh-CN" sz="2000" b="1" dirty="0">
                <a:latin typeface="宋体" panose="02010600030101010101" pitchFamily="2" charset="-122"/>
              </a:rPr>
              <a:t>S</a:t>
            </a:r>
            <a:r>
              <a:rPr lang="zh-CN" altLang="en-US" sz="2000" b="1" dirty="0">
                <a:latin typeface="宋体" panose="02010600030101010101" pitchFamily="2" charset="-122"/>
              </a:rPr>
              <a:t>必须清</a:t>
            </a:r>
            <a:r>
              <a:rPr lang="en-US" altLang="zh-CN" sz="2000" b="1" dirty="0">
                <a:latin typeface="宋体" panose="02010600030101010101" pitchFamily="2" charset="-122"/>
              </a:rPr>
              <a:t>0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marL="0" lvl="0" indent="0" defTabSz="914400" eaLnBrk="1" hangingPunct="1">
              <a:spcBef>
                <a:spcPct val="0"/>
              </a:spcBef>
              <a:buClrTx/>
              <a:buSzTx/>
              <a:buFontTx/>
              <a:buChar char="•"/>
              <a:tabLst>
                <a:tab pos="533400" algn="l"/>
              </a:tabLst>
            </a:pPr>
            <a:r>
              <a:rPr lang="zh-CN" altLang="en-US" sz="2000" b="1" dirty="0">
                <a:latin typeface="宋体" panose="02010600030101010101" pitchFamily="2" charset="-122"/>
              </a:rPr>
              <a:t>在循环体内，每循环一次给</a:t>
            </a:r>
            <a:r>
              <a:rPr lang="en-US" altLang="zh-CN" sz="2000" b="1" dirty="0">
                <a:latin typeface="宋体" panose="02010600030101010101" pitchFamily="2" charset="-122"/>
              </a:rPr>
              <a:t>S</a:t>
            </a:r>
            <a:r>
              <a:rPr lang="zh-CN" altLang="en-US" sz="2000" b="1" dirty="0">
                <a:latin typeface="宋体" panose="02010600030101010101" pitchFamily="2" charset="-122"/>
              </a:rPr>
              <a:t>加上一项；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marL="0" lvl="0" indent="0" defTabSz="914400" eaLnBrk="1" hangingPunct="1">
              <a:spcBef>
                <a:spcPct val="0"/>
              </a:spcBef>
              <a:buClrTx/>
              <a:buSzTx/>
              <a:buFontTx/>
              <a:buChar char="•"/>
              <a:tabLst>
                <a:tab pos="533400" algn="l"/>
              </a:tabLst>
            </a:pPr>
            <a:r>
              <a:rPr lang="zh-CN" altLang="en-US" sz="2000" b="1" dirty="0">
                <a:latin typeface="宋体" panose="02010600030101010101" pitchFamily="2" charset="-122"/>
              </a:rPr>
              <a:t>最后循环结束，</a:t>
            </a:r>
            <a:r>
              <a:rPr lang="en-US" altLang="zh-CN" sz="2000" b="1" dirty="0">
                <a:latin typeface="宋体" panose="02010600030101010101" pitchFamily="2" charset="-122"/>
              </a:rPr>
              <a:t>S</a:t>
            </a:r>
            <a:r>
              <a:rPr lang="zh-CN" altLang="en-US" sz="2000" b="1" dirty="0">
                <a:latin typeface="宋体" panose="02010600030101010101" pitchFamily="2" charset="-122"/>
              </a:rPr>
              <a:t>中的值即为所求之和。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3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3">
                                            <p:txEl>
                                              <p:charRg st="19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3">
                                            <p:txEl>
                                              <p:charRg st="33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3">
                                            <p:txEl>
                                              <p:charRg st="48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3">
                                            <p:txEl>
                                              <p:charRg st="65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3">
                                            <p:txEl>
                                              <p:charRg st="99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3">
                                            <p:txEl>
                                              <p:charRg st="120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3">
                                            <p:txEl>
                                              <p:charRg st="135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3">
                                            <p:txEl>
                                              <p:charRg st="229" end="2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3">
                                            <p:txEl>
                                              <p:charRg st="257" end="2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3">
                                            <p:txEl>
                                              <p:charRg st="268" end="2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3">
                                            <p:txEl>
                                              <p:charRg st="148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3">
                                            <p:txEl>
                                              <p:charRg st="206" end="2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3">
                                            <p:txEl>
                                              <p:charRg st="158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3">
                                            <p:txEl>
                                              <p:charRg st="190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9293" grpId="0" bldLvl="0" animBg="1"/>
      <p:bldP spid="64930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1267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609600"/>
            <a:ext cx="11993245" cy="68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4.3】</a:t>
            </a:r>
            <a:r>
              <a:rPr kumimoji="0" lang="en-US" altLang="zh-CN" sz="2400" b="1" i="0" u="none" strike="noStrike" kern="1200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教材P89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编程序，输入一个年份，输出该年以后的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个闰年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339" name="Picture 48"/>
          <p:cNvPicPr>
            <a:picLocks noChangeAspect="1"/>
          </p:cNvPicPr>
          <p:nvPr/>
        </p:nvPicPr>
        <p:blipFill>
          <a:blip r:embed="rId1"/>
          <a:srcRect t="1781" b="91026"/>
          <a:stretch>
            <a:fillRect/>
          </a:stretch>
        </p:blipFill>
        <p:spPr>
          <a:xfrm>
            <a:off x="1636713" y="1679575"/>
            <a:ext cx="8818562" cy="3952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Picture 48"/>
          <p:cNvPicPr>
            <a:picLocks noChangeAspect="1"/>
          </p:cNvPicPr>
          <p:nvPr/>
        </p:nvPicPr>
        <p:blipFill>
          <a:blip r:embed="rId1"/>
          <a:srcRect t="15671" b="9135"/>
          <a:stretch>
            <a:fillRect/>
          </a:stretch>
        </p:blipFill>
        <p:spPr>
          <a:xfrm>
            <a:off x="1631950" y="2528888"/>
            <a:ext cx="8818563" cy="4141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Picture 48"/>
          <p:cNvPicPr>
            <a:picLocks noChangeAspect="1"/>
          </p:cNvPicPr>
          <p:nvPr/>
        </p:nvPicPr>
        <p:blipFill>
          <a:blip r:embed="rId1"/>
          <a:srcRect t="8237" b="83527"/>
          <a:stretch>
            <a:fillRect/>
          </a:stretch>
        </p:blipFill>
        <p:spPr>
          <a:xfrm>
            <a:off x="1635125" y="2074863"/>
            <a:ext cx="8818563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51628C-9E83-48DB-9F02-CCF1AD36730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DF1881-8E79-487E-9A27-D8AC541B38F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2517775" y="3489325"/>
            <a:ext cx="8135938" cy="3111500"/>
            <a:chOff x="249" y="1480"/>
            <a:chExt cx="5125" cy="1960"/>
          </a:xfrm>
        </p:grpSpPr>
        <p:sp>
          <p:nvSpPr>
            <p:cNvPr id="37915" name="Line 5"/>
            <p:cNvSpPr/>
            <p:nvPr/>
          </p:nvSpPr>
          <p:spPr>
            <a:xfrm>
              <a:off x="651" y="1904"/>
              <a:ext cx="1" cy="11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7916" name="Rectangle 6"/>
            <p:cNvSpPr/>
            <p:nvPr/>
          </p:nvSpPr>
          <p:spPr>
            <a:xfrm>
              <a:off x="651" y="1945"/>
              <a:ext cx="2362" cy="28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Arial" panose="020B0604020202020204" pitchFamily="34" charset="0"/>
                </a:rPr>
                <a:t>输入：年</a:t>
              </a:r>
              <a:r>
                <a:rPr lang="en-US" altLang="zh-CN" sz="2400" b="1" dirty="0">
                  <a:latin typeface="Arial" panose="020B0604020202020204" pitchFamily="34" charset="0"/>
                </a:rPr>
                <a:t>(yy) , </a:t>
              </a:r>
              <a:r>
                <a:rPr lang="zh-CN" altLang="en-US" sz="2400" b="1" dirty="0">
                  <a:latin typeface="Arial" panose="020B0604020202020204" pitchFamily="34" charset="0"/>
                </a:rPr>
                <a:t>闰年数</a:t>
              </a:r>
              <a:r>
                <a:rPr lang="en-US" altLang="zh-CN" sz="2400" b="1" dirty="0">
                  <a:latin typeface="Arial" panose="020B0604020202020204" pitchFamily="34" charset="0"/>
                </a:rPr>
                <a:t>(n)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7917" name="Rectangle 7"/>
            <p:cNvSpPr/>
            <p:nvPr/>
          </p:nvSpPr>
          <p:spPr>
            <a:xfrm>
              <a:off x="651" y="2631"/>
              <a:ext cx="1893" cy="32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do-while </a:t>
              </a: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n &gt; 0</a:t>
              </a:r>
              <a:endPara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18" name="Line 8"/>
            <p:cNvSpPr/>
            <p:nvPr/>
          </p:nvSpPr>
          <p:spPr>
            <a:xfrm flipH="1">
              <a:off x="2426" y="2614"/>
              <a:ext cx="7" cy="34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7919" name="Line 9"/>
            <p:cNvSpPr/>
            <p:nvPr/>
          </p:nvSpPr>
          <p:spPr>
            <a:xfrm>
              <a:off x="2543" y="2793"/>
              <a:ext cx="689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7920" name="Rectangle 10"/>
            <p:cNvSpPr/>
            <p:nvPr/>
          </p:nvSpPr>
          <p:spPr>
            <a:xfrm>
              <a:off x="3231" y="2712"/>
              <a:ext cx="1048" cy="30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yy = yy+4;</a:t>
              </a:r>
              <a:endPara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21" name="Rectangle 11"/>
            <p:cNvSpPr/>
            <p:nvPr/>
          </p:nvSpPr>
          <p:spPr>
            <a:xfrm>
              <a:off x="431" y="1570"/>
              <a:ext cx="454" cy="236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Arial" panose="020B0604020202020204" pitchFamily="34" charset="0"/>
                </a:rPr>
                <a:t>开始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7922" name="Rectangle 12"/>
            <p:cNvSpPr/>
            <p:nvPr/>
          </p:nvSpPr>
          <p:spPr>
            <a:xfrm>
              <a:off x="431" y="3113"/>
              <a:ext cx="501" cy="261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Arial" panose="020B0604020202020204" pitchFamily="34" charset="0"/>
                </a:rPr>
                <a:t>结束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7923" name="Oval 13"/>
            <p:cNvSpPr/>
            <p:nvPr/>
          </p:nvSpPr>
          <p:spPr>
            <a:xfrm>
              <a:off x="249" y="3035"/>
              <a:ext cx="862" cy="405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endParaRPr>
            </a:p>
          </p:txBody>
        </p:sp>
        <p:sp>
          <p:nvSpPr>
            <p:cNvPr id="37924" name="Oval 14"/>
            <p:cNvSpPr/>
            <p:nvPr/>
          </p:nvSpPr>
          <p:spPr>
            <a:xfrm>
              <a:off x="295" y="1480"/>
              <a:ext cx="755" cy="405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endParaRPr>
            </a:p>
          </p:txBody>
        </p:sp>
        <p:sp>
          <p:nvSpPr>
            <p:cNvPr id="37925" name="Rectangle 15"/>
            <p:cNvSpPr/>
            <p:nvPr/>
          </p:nvSpPr>
          <p:spPr>
            <a:xfrm>
              <a:off x="651" y="2288"/>
              <a:ext cx="2362" cy="28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求 yy 后第一个可能的闰年</a:t>
              </a:r>
              <a:endPara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26" name="Line 16"/>
            <p:cNvSpPr/>
            <p:nvPr/>
          </p:nvSpPr>
          <p:spPr>
            <a:xfrm>
              <a:off x="3231" y="2147"/>
              <a:ext cx="1" cy="8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7927" name="Line 17"/>
            <p:cNvSpPr/>
            <p:nvPr/>
          </p:nvSpPr>
          <p:spPr>
            <a:xfrm>
              <a:off x="3231" y="2147"/>
              <a:ext cx="1283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7928" name="Rectangle 18"/>
            <p:cNvSpPr/>
            <p:nvPr/>
          </p:nvSpPr>
          <p:spPr>
            <a:xfrm>
              <a:off x="3243" y="2205"/>
              <a:ext cx="923" cy="284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yy </a:t>
              </a:r>
              <a:r>
                <a:rPr lang="zh-CN" altLang="en-US" sz="2400" b="1" dirty="0">
                  <a:latin typeface="Arial" panose="020B0604020202020204" pitchFamily="34" charset="0"/>
                </a:rPr>
                <a:t>是闰年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7929" name="Line 19"/>
            <p:cNvSpPr/>
            <p:nvPr/>
          </p:nvSpPr>
          <p:spPr>
            <a:xfrm flipH="1">
              <a:off x="4169" y="2147"/>
              <a:ext cx="157" cy="22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7930" name="Line 20"/>
            <p:cNvSpPr/>
            <p:nvPr/>
          </p:nvSpPr>
          <p:spPr>
            <a:xfrm>
              <a:off x="3231" y="2571"/>
              <a:ext cx="1095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7931" name="Line 21"/>
            <p:cNvSpPr/>
            <p:nvPr/>
          </p:nvSpPr>
          <p:spPr>
            <a:xfrm flipH="1" flipV="1">
              <a:off x="4169" y="2349"/>
              <a:ext cx="157" cy="22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7932" name="Line 22"/>
            <p:cNvSpPr/>
            <p:nvPr/>
          </p:nvSpPr>
          <p:spPr>
            <a:xfrm>
              <a:off x="4513" y="1752"/>
              <a:ext cx="0" cy="72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7933" name="Rectangle 23"/>
            <p:cNvSpPr/>
            <p:nvPr/>
          </p:nvSpPr>
          <p:spPr>
            <a:xfrm>
              <a:off x="4513" y="1743"/>
              <a:ext cx="845" cy="34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11160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Arial" panose="020B0604020202020204" pitchFamily="34" charset="0"/>
                </a:rPr>
                <a:t>输出</a:t>
              </a:r>
              <a:r>
                <a:rPr lang="en-US" altLang="zh-CN" sz="2400" b="1" dirty="0">
                  <a:latin typeface="Arial" panose="020B0604020202020204" pitchFamily="34" charset="0"/>
                </a:rPr>
                <a:t>yy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7934" name="Rectangle 24"/>
            <p:cNvSpPr/>
            <p:nvPr/>
          </p:nvSpPr>
          <p:spPr>
            <a:xfrm>
              <a:off x="4513" y="2160"/>
              <a:ext cx="861" cy="30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n--;</a:t>
              </a:r>
              <a:endPara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7892" name="组合 1"/>
          <p:cNvGrpSpPr/>
          <p:nvPr/>
        </p:nvGrpSpPr>
        <p:grpSpPr>
          <a:xfrm>
            <a:off x="381000" y="646113"/>
            <a:ext cx="8135938" cy="3111500"/>
            <a:chOff x="114300" y="635000"/>
            <a:chExt cx="8135938" cy="3111500"/>
          </a:xfrm>
        </p:grpSpPr>
        <p:grpSp>
          <p:nvGrpSpPr>
            <p:cNvPr id="37894" name="Group 48"/>
            <p:cNvGrpSpPr/>
            <p:nvPr/>
          </p:nvGrpSpPr>
          <p:grpSpPr>
            <a:xfrm>
              <a:off x="114300" y="635000"/>
              <a:ext cx="8135938" cy="3111500"/>
              <a:chOff x="72" y="400"/>
              <a:chExt cx="5125" cy="1960"/>
            </a:xfrm>
          </p:grpSpPr>
          <p:sp>
            <p:nvSpPr>
              <p:cNvPr id="37896" name="Line 27"/>
              <p:cNvSpPr/>
              <p:nvPr/>
            </p:nvSpPr>
            <p:spPr>
              <a:xfrm>
                <a:off x="474" y="824"/>
                <a:ext cx="1" cy="113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37897" name="Rectangle 28"/>
              <p:cNvSpPr/>
              <p:nvPr/>
            </p:nvSpPr>
            <p:spPr>
              <a:xfrm>
                <a:off x="475" y="824"/>
                <a:ext cx="2362" cy="283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latin typeface="Arial" panose="020B0604020202020204" pitchFamily="34" charset="0"/>
                  </a:rPr>
                  <a:t>输入：年</a:t>
                </a:r>
                <a:r>
                  <a:rPr lang="en-US" altLang="zh-CN" sz="2400" b="1" dirty="0">
                    <a:latin typeface="Arial" panose="020B0604020202020204" pitchFamily="34" charset="0"/>
                  </a:rPr>
                  <a:t>(yy) , </a:t>
                </a:r>
                <a:r>
                  <a:rPr lang="zh-CN" altLang="en-US" sz="2400" b="1" dirty="0">
                    <a:latin typeface="Arial" panose="020B0604020202020204" pitchFamily="34" charset="0"/>
                  </a:rPr>
                  <a:t>闰年数</a:t>
                </a:r>
                <a:r>
                  <a:rPr lang="en-US" altLang="zh-CN" sz="2400" b="1" dirty="0">
                    <a:latin typeface="Arial" panose="020B0604020202020204" pitchFamily="34" charset="0"/>
                  </a:rPr>
                  <a:t>(n)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898" name="Rectangle 29"/>
              <p:cNvSpPr/>
              <p:nvPr/>
            </p:nvSpPr>
            <p:spPr>
              <a:xfrm>
                <a:off x="474" y="1551"/>
                <a:ext cx="1893" cy="32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do-while </a:t>
                </a:r>
                <a:r>
                  <a:rPr lang="en-US" altLang="zh-CN" sz="2400" b="1" dirty="0">
                    <a:solidFill>
                      <a:schemeClr val="hlink"/>
                    </a:solidFill>
                    <a:latin typeface="Arial" panose="020B0604020202020204" pitchFamily="34" charset="0"/>
                  </a:rPr>
                  <a:t>n &gt; 0</a:t>
                </a:r>
                <a:endPara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7899" name="Line 30"/>
              <p:cNvSpPr/>
              <p:nvPr/>
            </p:nvSpPr>
            <p:spPr>
              <a:xfrm flipH="1">
                <a:off x="2249" y="1534"/>
                <a:ext cx="7" cy="34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37900" name="Line 31"/>
              <p:cNvSpPr/>
              <p:nvPr/>
            </p:nvSpPr>
            <p:spPr>
              <a:xfrm>
                <a:off x="2366" y="1713"/>
                <a:ext cx="689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37901" name="Rectangle 32"/>
              <p:cNvSpPr/>
              <p:nvPr/>
            </p:nvSpPr>
            <p:spPr>
              <a:xfrm>
                <a:off x="3054" y="1632"/>
                <a:ext cx="1048" cy="30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algn="ctr" eaLnBrk="1" hangingPunct="1"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</a:rPr>
                  <a:t>yy++;</a:t>
                </a:r>
                <a:endParaRPr lang="en-US" altLang="zh-CN" sz="24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7902" name="Rectangle 33"/>
              <p:cNvSpPr/>
              <p:nvPr/>
            </p:nvSpPr>
            <p:spPr>
              <a:xfrm>
                <a:off x="254" y="490"/>
                <a:ext cx="454" cy="23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latin typeface="Arial" panose="020B0604020202020204" pitchFamily="34" charset="0"/>
                  </a:rPr>
                  <a:t>开始</a:t>
                </a:r>
                <a:endParaRPr lang="zh-CN" altLang="en-US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903" name="Rectangle 34"/>
              <p:cNvSpPr/>
              <p:nvPr/>
            </p:nvSpPr>
            <p:spPr>
              <a:xfrm>
                <a:off x="254" y="2033"/>
                <a:ext cx="501" cy="26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latin typeface="Arial" panose="020B0604020202020204" pitchFamily="34" charset="0"/>
                  </a:rPr>
                  <a:t>结束</a:t>
                </a:r>
                <a:endParaRPr lang="zh-CN" altLang="en-US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904" name="Oval 35"/>
              <p:cNvSpPr/>
              <p:nvPr/>
            </p:nvSpPr>
            <p:spPr>
              <a:xfrm>
                <a:off x="72" y="1955"/>
                <a:ext cx="862" cy="405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 b="1" dirty="0">
                  <a:solidFill>
                    <a:schemeClr val="hlink"/>
                  </a:solidFill>
                  <a:latin typeface="Monotype Corsiva" pitchFamily="66" charset="0"/>
                  <a:ea typeface="华文彩云" pitchFamily="2" charset="-122"/>
                </a:endParaRPr>
              </a:p>
            </p:txBody>
          </p:sp>
          <p:sp>
            <p:nvSpPr>
              <p:cNvPr id="37905" name="Oval 36"/>
              <p:cNvSpPr/>
              <p:nvPr/>
            </p:nvSpPr>
            <p:spPr>
              <a:xfrm>
                <a:off x="118" y="400"/>
                <a:ext cx="755" cy="405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 b="1" dirty="0">
                  <a:solidFill>
                    <a:schemeClr val="hlink"/>
                  </a:solidFill>
                  <a:latin typeface="Monotype Corsiva" pitchFamily="66" charset="0"/>
                  <a:ea typeface="华文彩云" pitchFamily="2" charset="-122"/>
                </a:endParaRPr>
              </a:p>
            </p:txBody>
          </p:sp>
          <p:sp>
            <p:nvSpPr>
              <p:cNvPr id="37906" name="Line 38"/>
              <p:cNvSpPr/>
              <p:nvPr/>
            </p:nvSpPr>
            <p:spPr>
              <a:xfrm>
                <a:off x="3054" y="1067"/>
                <a:ext cx="1" cy="88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37907" name="Line 39"/>
              <p:cNvSpPr/>
              <p:nvPr/>
            </p:nvSpPr>
            <p:spPr>
              <a:xfrm>
                <a:off x="3054" y="1067"/>
                <a:ext cx="1283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37908" name="Rectangle 40"/>
              <p:cNvSpPr/>
              <p:nvPr/>
            </p:nvSpPr>
            <p:spPr>
              <a:xfrm>
                <a:off x="3066" y="1125"/>
                <a:ext cx="923" cy="28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yy </a:t>
                </a:r>
                <a:r>
                  <a:rPr lang="zh-CN" altLang="en-US" sz="2400" b="1" dirty="0">
                    <a:latin typeface="Arial" panose="020B0604020202020204" pitchFamily="34" charset="0"/>
                  </a:rPr>
                  <a:t>是闰年</a:t>
                </a:r>
                <a:endParaRPr lang="zh-CN" altLang="en-US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909" name="Line 41"/>
              <p:cNvSpPr/>
              <p:nvPr/>
            </p:nvSpPr>
            <p:spPr>
              <a:xfrm flipH="1">
                <a:off x="3992" y="1067"/>
                <a:ext cx="157" cy="22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37910" name="Line 42"/>
              <p:cNvSpPr/>
              <p:nvPr/>
            </p:nvSpPr>
            <p:spPr>
              <a:xfrm>
                <a:off x="3054" y="1491"/>
                <a:ext cx="1095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37911" name="Line 43"/>
              <p:cNvSpPr/>
              <p:nvPr/>
            </p:nvSpPr>
            <p:spPr>
              <a:xfrm flipH="1" flipV="1">
                <a:off x="3992" y="1269"/>
                <a:ext cx="157" cy="22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37912" name="Line 44"/>
              <p:cNvSpPr/>
              <p:nvPr/>
            </p:nvSpPr>
            <p:spPr>
              <a:xfrm>
                <a:off x="4336" y="672"/>
                <a:ext cx="0" cy="72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37913" name="Rectangle 45"/>
              <p:cNvSpPr/>
              <p:nvPr/>
            </p:nvSpPr>
            <p:spPr>
              <a:xfrm>
                <a:off x="4336" y="663"/>
                <a:ext cx="845" cy="34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11160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3000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latin typeface="Arial" panose="020B0604020202020204" pitchFamily="34" charset="0"/>
                  </a:rPr>
                  <a:t>输出</a:t>
                </a:r>
                <a:r>
                  <a:rPr lang="en-US" altLang="zh-CN" sz="2400" b="1" dirty="0">
                    <a:latin typeface="Arial" panose="020B0604020202020204" pitchFamily="34" charset="0"/>
                  </a:rPr>
                  <a:t>yy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914" name="Rectangle 46"/>
              <p:cNvSpPr/>
              <p:nvPr/>
            </p:nvSpPr>
            <p:spPr>
              <a:xfrm>
                <a:off x="4336" y="1080"/>
                <a:ext cx="861" cy="30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  <a:latin typeface="Arial" panose="020B0604020202020204" pitchFamily="34" charset="0"/>
                  </a:rPr>
                  <a:t>n--;</a:t>
                </a:r>
                <a:endPara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7895" name="Rectangle 28"/>
            <p:cNvSpPr/>
            <p:nvPr/>
          </p:nvSpPr>
          <p:spPr>
            <a:xfrm>
              <a:off x="744062" y="1880553"/>
              <a:ext cx="3013551" cy="44926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yy++;</a:t>
              </a:r>
              <a:endPara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9" name="Rectangle 3"/>
          <p:cNvSpPr txBox="1">
            <a:spLocks noChangeArrowheads="1"/>
          </p:cNvSpPr>
          <p:nvPr/>
        </p:nvSpPr>
        <p:spPr bwMode="auto">
          <a:xfrm>
            <a:off x="152400" y="23813"/>
            <a:ext cx="1096645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4.3】</a:t>
            </a:r>
            <a:r>
              <a:rPr kumimoji="0" lang="en-US" altLang="zh-CN" sz="2400" b="1" i="0" u="none" strike="noStrike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教材P89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编程序，输入一个年份，求该年以后的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个闰年。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97DCEAF-6ABB-4C95-811C-D2451B1892D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15" name="Rectangle 2"/>
          <p:cNvSpPr/>
          <p:nvPr/>
        </p:nvSpPr>
        <p:spPr>
          <a:xfrm>
            <a:off x="38100" y="584835"/>
            <a:ext cx="10121900" cy="62471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dirty="0">
                <a:latin typeface="Arial" panose="020B0604020202020204" pitchFamily="34" charset="0"/>
              </a:rPr>
              <a:t>#include &lt;stdio.h&gt;</a:t>
            </a:r>
            <a:endParaRPr lang="en-US" altLang="zh-CN" sz="2500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dirty="0">
                <a:latin typeface="Arial" panose="020B0604020202020204" pitchFamily="34" charset="0"/>
              </a:rPr>
              <a:t>int main(){</a:t>
            </a:r>
            <a:endParaRPr lang="en-US" altLang="zh-CN" sz="2500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dirty="0">
                <a:latin typeface="Arial" panose="020B0604020202020204" pitchFamily="34" charset="0"/>
              </a:rPr>
              <a:t>	int yy,</a:t>
            </a:r>
            <a:r>
              <a:rPr lang="en-US" altLang="zh-CN" sz="2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n</a:t>
            </a:r>
            <a:r>
              <a:rPr lang="en-US" altLang="zh-CN" sz="2500" b="1" dirty="0">
                <a:latin typeface="Arial" panose="020B0604020202020204" pitchFamily="34" charset="0"/>
              </a:rPr>
              <a:t>;</a:t>
            </a:r>
            <a:endParaRPr lang="en-US" altLang="zh-CN" sz="2500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dirty="0">
                <a:latin typeface="Arial" panose="020B0604020202020204" pitchFamily="34" charset="0"/>
              </a:rPr>
              <a:t>	printf("please input begin year:");</a:t>
            </a:r>
            <a:endParaRPr lang="en-US" altLang="zh-CN" sz="2500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dirty="0">
                <a:latin typeface="Arial" panose="020B0604020202020204" pitchFamily="34" charset="0"/>
              </a:rPr>
              <a:t>	scanf("%d",&amp;yy);</a:t>
            </a:r>
            <a:endParaRPr lang="en-US" altLang="zh-CN" sz="2500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dirty="0">
                <a:latin typeface="Arial" panose="020B0604020202020204" pitchFamily="34" charset="0"/>
              </a:rPr>
              <a:t>	printf("please input the number of the leap year:");</a:t>
            </a:r>
            <a:endParaRPr lang="en-US" altLang="zh-CN" sz="2500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dirty="0">
                <a:latin typeface="Arial" panose="020B0604020202020204" pitchFamily="34" charset="0"/>
              </a:rPr>
              <a:t>	</a:t>
            </a:r>
            <a:r>
              <a:rPr lang="en-US" altLang="zh-CN" sz="2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scanf("%d",&amp;n);</a:t>
            </a:r>
            <a:endParaRPr lang="en-US" altLang="zh-CN" sz="25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dirty="0">
                <a:latin typeface="Arial" panose="020B0604020202020204" pitchFamily="34" charset="0"/>
              </a:rPr>
              <a:t>	</a:t>
            </a:r>
            <a:r>
              <a:rPr lang="en-US" altLang="zh-CN" sz="2500" b="1" dirty="0">
                <a:solidFill>
                  <a:srgbClr val="FFFF00"/>
                </a:solidFill>
                <a:latin typeface="Arial" panose="020B0604020202020204" pitchFamily="34" charset="0"/>
              </a:rPr>
              <a:t>yy=(yy/4+1)*4;//</a:t>
            </a:r>
            <a:r>
              <a:rPr lang="zh-CN" altLang="en-US" sz="2500" b="1" dirty="0">
                <a:solidFill>
                  <a:srgbClr val="FFFF00"/>
                </a:solidFill>
                <a:latin typeface="Arial" panose="020B0604020202020204" pitchFamily="34" charset="0"/>
              </a:rPr>
              <a:t>找到第一个可能的闰年</a:t>
            </a:r>
            <a:endParaRPr lang="zh-CN" altLang="en-US" sz="25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500" b="1" dirty="0">
                <a:solidFill>
                  <a:schemeClr val="hlink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do{</a:t>
            </a:r>
            <a:r>
              <a:rPr lang="en-US" altLang="zh-CN" sz="2500" b="1" dirty="0">
                <a:solidFill>
                  <a:srgbClr val="FF0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500" b="1" dirty="0">
                <a:solidFill>
                  <a:schemeClr val="hlink"/>
                </a:solidFill>
                <a:latin typeface="Arial" panose="020B0604020202020204" pitchFamily="34" charset="0"/>
              </a:rPr>
              <a:t>if(</a:t>
            </a:r>
            <a:r>
              <a:rPr lang="en-US" altLang="zh-CN" sz="2500" b="1" dirty="0">
                <a:latin typeface="Arial" panose="020B0604020202020204" pitchFamily="34" charset="0"/>
              </a:rPr>
              <a:t>(yy%4==0&amp;&amp;yy%100!=0)||(yy%400==0)</a:t>
            </a:r>
            <a:r>
              <a:rPr lang="en-US" altLang="zh-CN" sz="2500" b="1" dirty="0">
                <a:solidFill>
                  <a:schemeClr val="hlink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500" b="1" dirty="0">
                <a:solidFill>
                  <a:srgbClr val="FFFF00"/>
                </a:solidFill>
                <a:latin typeface="Arial" panose="020B0604020202020204" pitchFamily="34" charset="0"/>
              </a:rPr>
              <a:t>{</a:t>
            </a:r>
            <a:endParaRPr lang="en-US" altLang="zh-CN" sz="25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dirty="0">
                <a:solidFill>
                  <a:schemeClr val="hlink"/>
                </a:solidFill>
                <a:latin typeface="Arial" panose="020B0604020202020204" pitchFamily="34" charset="0"/>
              </a:rPr>
              <a:t>			</a:t>
            </a:r>
            <a:r>
              <a:rPr lang="en-US" altLang="zh-CN" sz="2500" b="1" dirty="0">
                <a:latin typeface="Arial" panose="020B0604020202020204" pitchFamily="34" charset="0"/>
              </a:rPr>
              <a:t>printf("year %d\n",yy);</a:t>
            </a:r>
            <a:endParaRPr lang="en-US" altLang="zh-CN" sz="2500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dirty="0">
                <a:solidFill>
                  <a:schemeClr val="hlink"/>
                </a:solidFill>
                <a:latin typeface="Arial" panose="020B0604020202020204" pitchFamily="34" charset="0"/>
              </a:rPr>
              <a:t>			</a:t>
            </a:r>
            <a:r>
              <a:rPr lang="en-US" altLang="zh-CN" sz="2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n--;</a:t>
            </a:r>
            <a:endParaRPr lang="en-US" altLang="zh-CN" sz="25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dirty="0">
                <a:solidFill>
                  <a:schemeClr val="hlink"/>
                </a:solidFill>
                <a:latin typeface="Arial" panose="020B0604020202020204" pitchFamily="34" charset="0"/>
              </a:rPr>
              <a:t>		</a:t>
            </a:r>
            <a:r>
              <a:rPr lang="en-US" altLang="zh-CN" sz="2500" b="1" dirty="0">
                <a:solidFill>
                  <a:srgbClr val="FFFF00"/>
                </a:solidFill>
                <a:latin typeface="Arial" panose="020B0604020202020204" pitchFamily="34" charset="0"/>
              </a:rPr>
              <a:t>}</a:t>
            </a:r>
            <a:endParaRPr lang="en-US" altLang="zh-CN" sz="25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dirty="0">
                <a:solidFill>
                  <a:schemeClr val="hlink"/>
                </a:solidFill>
                <a:latin typeface="Arial" panose="020B0604020202020204" pitchFamily="34" charset="0"/>
              </a:rPr>
              <a:t>		yy=yy+4;</a:t>
            </a:r>
            <a:endParaRPr lang="en-US" altLang="zh-CN" sz="25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dirty="0">
                <a:solidFill>
                  <a:schemeClr val="hlink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}while(n&gt;0);</a:t>
            </a:r>
            <a:endParaRPr lang="en-US" altLang="zh-CN" sz="25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dirty="0">
                <a:solidFill>
                  <a:srgbClr val="FF0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500" dirty="0">
                <a:latin typeface="Arial" panose="020B0604020202020204" pitchFamily="34" charset="0"/>
              </a:rPr>
              <a:t>return 0;</a:t>
            </a:r>
            <a:endParaRPr lang="en-US" altLang="zh-CN" sz="2500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dirty="0">
                <a:latin typeface="Arial" panose="020B0604020202020204" pitchFamily="34" charset="0"/>
              </a:rPr>
              <a:t>}</a:t>
            </a:r>
            <a:endParaRPr lang="en-US" altLang="zh-CN" sz="2500" b="1" dirty="0">
              <a:latin typeface="Arial" panose="020B0604020202020204" pitchFamily="34" charset="0"/>
            </a:endParaRPr>
          </a:p>
        </p:txBody>
      </p:sp>
      <p:sp>
        <p:nvSpPr>
          <p:cNvPr id="633862" name="Rectangle 6"/>
          <p:cNvSpPr/>
          <p:nvPr/>
        </p:nvSpPr>
        <p:spPr>
          <a:xfrm>
            <a:off x="1905000" y="5249863"/>
            <a:ext cx="1584325" cy="431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yy++;</a:t>
            </a:r>
            <a:endParaRPr lang="en-US" altLang="zh-CN" sz="2400" b="1" dirty="0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sp>
        <p:nvSpPr>
          <p:cNvPr id="633863" name="Rectangle 7"/>
          <p:cNvSpPr/>
          <p:nvPr/>
        </p:nvSpPr>
        <p:spPr>
          <a:xfrm>
            <a:off x="990600" y="3276600"/>
            <a:ext cx="5616575" cy="431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yy++;</a:t>
            </a:r>
            <a:endParaRPr lang="zh-CN" altLang="zh-CN" sz="2400" b="1" dirty="0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TextBox 47"/>
          <p:cNvSpPr txBox="1"/>
          <p:nvPr/>
        </p:nvSpPr>
        <p:spPr>
          <a:xfrm>
            <a:off x="7086600" y="6308725"/>
            <a:ext cx="4095750" cy="52387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C000"/>
                </a:solidFill>
                <a:latin typeface="宋体" panose="02010600030101010101" pitchFamily="2" charset="-122"/>
              </a:rPr>
              <a:t>【</a:t>
            </a:r>
            <a:r>
              <a:rPr lang="zh-CN" altLang="en-US" sz="2800" b="1" dirty="0">
                <a:solidFill>
                  <a:srgbClr val="FFC000"/>
                </a:solidFill>
                <a:latin typeface="宋体" panose="02010600030101010101" pitchFamily="2" charset="-122"/>
              </a:rPr>
              <a:t>课后实践</a:t>
            </a:r>
            <a:r>
              <a:rPr lang="en-US" altLang="zh-CN" sz="2800" b="1" dirty="0">
                <a:solidFill>
                  <a:srgbClr val="FFC000"/>
                </a:solidFill>
                <a:latin typeface="宋体" panose="02010600030101010101" pitchFamily="2" charset="-122"/>
              </a:rPr>
              <a:t>】</a:t>
            </a:r>
            <a:r>
              <a:rPr lang="en-US" altLang="zh-CN" sz="2800" b="1" dirty="0">
                <a:latin typeface="宋体" panose="02010600030101010101" pitchFamily="2" charset="-122"/>
              </a:rPr>
              <a:t>P113:4.9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6553200" y="2514600"/>
            <a:ext cx="2561590" cy="762000"/>
          </a:xfrm>
          <a:prstGeom prst="wedgeRoundRectCallout">
            <a:avLst>
              <a:gd name="adj1" fmla="val -54513"/>
              <a:gd name="adj2" fmla="val 86083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2018/4--&gt;504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338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6338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3862" grpId="0" animBg="1"/>
      <p:bldP spid="633863" grpId="0" animBg="1"/>
      <p:bldP spid="8" grpId="0" animBg="1"/>
      <p:bldP spid="2" grpId="0" animBg="1"/>
      <p:bldP spid="2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721455-C548-408D-8BE5-39D1AA62F0A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2187" name="Rectangle 27"/>
          <p:cNvSpPr>
            <a:spLocks noChangeArrowheads="1"/>
          </p:cNvSpPr>
          <p:nvPr/>
        </p:nvSpPr>
        <p:spPr bwMode="auto">
          <a:xfrm>
            <a:off x="-979487" y="63500"/>
            <a:ext cx="82296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§4.1.2  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先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判断条件的循环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964" name="Group 28"/>
          <p:cNvGrpSpPr/>
          <p:nvPr/>
        </p:nvGrpSpPr>
        <p:grpSpPr>
          <a:xfrm>
            <a:off x="177800" y="571500"/>
            <a:ext cx="3241675" cy="5868988"/>
            <a:chOff x="355" y="0"/>
            <a:chExt cx="2194" cy="4201"/>
          </a:xfrm>
        </p:grpSpPr>
        <p:sp>
          <p:nvSpPr>
            <p:cNvPr id="40994" name="Rectangle 29"/>
            <p:cNvSpPr/>
            <p:nvPr/>
          </p:nvSpPr>
          <p:spPr>
            <a:xfrm>
              <a:off x="1021" y="550"/>
              <a:ext cx="1035" cy="5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sum=0;</a:t>
              </a:r>
              <a:endParaRPr lang="en-US" altLang="zh-CN" sz="2000" b="1" dirty="0"/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k=1;</a:t>
              </a:r>
              <a:endParaRPr lang="en-US" altLang="zh-CN" sz="2000" b="1" dirty="0"/>
            </a:p>
          </p:txBody>
        </p:sp>
        <p:sp>
          <p:nvSpPr>
            <p:cNvPr id="40995" name="Rectangle 30"/>
            <p:cNvSpPr/>
            <p:nvPr/>
          </p:nvSpPr>
          <p:spPr>
            <a:xfrm>
              <a:off x="676" y="1278"/>
              <a:ext cx="1694" cy="50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/>
                <a:t>读入一科成绩 → </a:t>
              </a:r>
              <a:r>
                <a:rPr lang="en-US" altLang="zh-CN" sz="2000" b="1" dirty="0"/>
                <a:t>m</a:t>
              </a:r>
              <a:endParaRPr lang="en-US" altLang="zh-CN" sz="2000" b="1" dirty="0"/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sum =sum+m;</a:t>
              </a:r>
              <a:endParaRPr lang="en-US" altLang="zh-CN" sz="2000" b="1" dirty="0"/>
            </a:p>
          </p:txBody>
        </p:sp>
        <p:sp>
          <p:nvSpPr>
            <p:cNvPr id="40996" name="Rectangle 31"/>
            <p:cNvSpPr/>
            <p:nvPr/>
          </p:nvSpPr>
          <p:spPr>
            <a:xfrm>
              <a:off x="697" y="1974"/>
              <a:ext cx="1673" cy="335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k = k+1 ; </a:t>
              </a:r>
              <a:endParaRPr lang="en-US" altLang="zh-CN" sz="2000" b="1" dirty="0"/>
            </a:p>
          </p:txBody>
        </p:sp>
        <p:grpSp>
          <p:nvGrpSpPr>
            <p:cNvPr id="40997" name="Group 32"/>
            <p:cNvGrpSpPr/>
            <p:nvPr/>
          </p:nvGrpSpPr>
          <p:grpSpPr>
            <a:xfrm>
              <a:off x="1131" y="0"/>
              <a:ext cx="842" cy="514"/>
              <a:chOff x="5467" y="3421"/>
              <a:chExt cx="763" cy="440"/>
            </a:xfrm>
          </p:grpSpPr>
          <p:sp>
            <p:nvSpPr>
              <p:cNvPr id="41017" name="Rectangle 33"/>
              <p:cNvSpPr/>
              <p:nvPr/>
            </p:nvSpPr>
            <p:spPr>
              <a:xfrm>
                <a:off x="5467" y="3421"/>
                <a:ext cx="763" cy="24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/>
                  <a:t>开始</a:t>
                </a:r>
                <a:endParaRPr lang="zh-CN" altLang="en-US" sz="2000" b="1" dirty="0"/>
              </a:p>
            </p:txBody>
          </p:sp>
          <p:sp>
            <p:nvSpPr>
              <p:cNvPr id="41018" name="Line 34"/>
              <p:cNvSpPr/>
              <p:nvPr/>
            </p:nvSpPr>
            <p:spPr>
              <a:xfrm>
                <a:off x="5848" y="3686"/>
                <a:ext cx="1" cy="17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triangle" w="sm" len="sm"/>
              </a:ln>
            </p:spPr>
          </p:sp>
        </p:grpSp>
        <p:sp>
          <p:nvSpPr>
            <p:cNvPr id="40998" name="Line 35"/>
            <p:cNvSpPr/>
            <p:nvPr/>
          </p:nvSpPr>
          <p:spPr>
            <a:xfrm>
              <a:off x="1535" y="1071"/>
              <a:ext cx="2" cy="20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40999" name="Line 36"/>
            <p:cNvSpPr/>
            <p:nvPr/>
          </p:nvSpPr>
          <p:spPr>
            <a:xfrm>
              <a:off x="1564" y="2371"/>
              <a:ext cx="1" cy="2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grpSp>
          <p:nvGrpSpPr>
            <p:cNvPr id="41000" name="Group 37"/>
            <p:cNvGrpSpPr/>
            <p:nvPr/>
          </p:nvGrpSpPr>
          <p:grpSpPr>
            <a:xfrm>
              <a:off x="616" y="2556"/>
              <a:ext cx="1933" cy="523"/>
              <a:chOff x="2824" y="5941"/>
              <a:chExt cx="2550" cy="553"/>
            </a:xfrm>
          </p:grpSpPr>
          <p:sp>
            <p:nvSpPr>
              <p:cNvPr id="41009" name="Rectangle 38"/>
              <p:cNvSpPr/>
              <p:nvPr/>
            </p:nvSpPr>
            <p:spPr>
              <a:xfrm>
                <a:off x="3104" y="6061"/>
                <a:ext cx="2069" cy="30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k &lt;= N</a:t>
                </a:r>
                <a:endParaRPr lang="en-US" altLang="zh-CN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  <p:grpSp>
            <p:nvGrpSpPr>
              <p:cNvPr id="41010" name="Group 39"/>
              <p:cNvGrpSpPr/>
              <p:nvPr/>
            </p:nvGrpSpPr>
            <p:grpSpPr>
              <a:xfrm>
                <a:off x="2824" y="5941"/>
                <a:ext cx="2550" cy="553"/>
                <a:chOff x="0" y="5"/>
                <a:chExt cx="20000" cy="19996"/>
              </a:xfrm>
            </p:grpSpPr>
            <p:grpSp>
              <p:nvGrpSpPr>
                <p:cNvPr id="41011" name="Group 40"/>
                <p:cNvGrpSpPr/>
                <p:nvPr/>
              </p:nvGrpSpPr>
              <p:grpSpPr>
                <a:xfrm>
                  <a:off x="0" y="5"/>
                  <a:ext cx="10151" cy="19996"/>
                  <a:chOff x="0" y="0"/>
                  <a:chExt cx="20000" cy="20000"/>
                </a:xfrm>
              </p:grpSpPr>
              <p:sp>
                <p:nvSpPr>
                  <p:cNvPr id="41015" name="Line 41"/>
                  <p:cNvSpPr/>
                  <p:nvPr/>
                </p:nvSpPr>
                <p:spPr>
                  <a:xfrm flipV="1">
                    <a:off x="0" y="0"/>
                    <a:ext cx="20000" cy="969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41016" name="Line 42"/>
                  <p:cNvSpPr/>
                  <p:nvPr/>
                </p:nvSpPr>
                <p:spPr>
                  <a:xfrm>
                    <a:off x="0" y="10302"/>
                    <a:ext cx="20000" cy="969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  <p:grpSp>
              <p:nvGrpSpPr>
                <p:cNvPr id="41012" name="Group 43"/>
                <p:cNvGrpSpPr/>
                <p:nvPr/>
              </p:nvGrpSpPr>
              <p:grpSpPr>
                <a:xfrm>
                  <a:off x="9849" y="5"/>
                  <a:ext cx="10151" cy="19996"/>
                  <a:chOff x="0" y="0"/>
                  <a:chExt cx="20000" cy="20000"/>
                </a:xfrm>
              </p:grpSpPr>
              <p:sp>
                <p:nvSpPr>
                  <p:cNvPr id="41013" name="Line 44"/>
                  <p:cNvSpPr/>
                  <p:nvPr/>
                </p:nvSpPr>
                <p:spPr>
                  <a:xfrm flipH="1" flipV="1">
                    <a:off x="0" y="0"/>
                    <a:ext cx="20000" cy="969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41014" name="Line 45"/>
                  <p:cNvSpPr/>
                  <p:nvPr/>
                </p:nvSpPr>
                <p:spPr>
                  <a:xfrm flipH="1">
                    <a:off x="0" y="10302"/>
                    <a:ext cx="20000" cy="969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</p:grpSp>
        </p:grpSp>
        <p:sp>
          <p:nvSpPr>
            <p:cNvPr id="41001" name="Rectangle 46"/>
            <p:cNvSpPr/>
            <p:nvPr/>
          </p:nvSpPr>
          <p:spPr>
            <a:xfrm>
              <a:off x="949" y="3937"/>
              <a:ext cx="1316" cy="264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/>
                <a:t>结束</a:t>
              </a:r>
              <a:endParaRPr lang="zh-CN" altLang="en-US" sz="2000" b="1" dirty="0"/>
            </a:p>
          </p:txBody>
        </p:sp>
        <p:sp>
          <p:nvSpPr>
            <p:cNvPr id="41002" name="Line 47"/>
            <p:cNvSpPr/>
            <p:nvPr/>
          </p:nvSpPr>
          <p:spPr>
            <a:xfrm>
              <a:off x="1592" y="3110"/>
              <a:ext cx="1" cy="20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41003" name="Rectangle 48"/>
            <p:cNvSpPr/>
            <p:nvPr/>
          </p:nvSpPr>
          <p:spPr>
            <a:xfrm>
              <a:off x="1722" y="3034"/>
              <a:ext cx="283" cy="415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F</a:t>
              </a:r>
              <a:endParaRPr lang="en-US" altLang="zh-CN" sz="2000" b="1" dirty="0"/>
            </a:p>
          </p:txBody>
        </p:sp>
        <p:sp>
          <p:nvSpPr>
            <p:cNvPr id="41004" name="Rectangle 49"/>
            <p:cNvSpPr/>
            <p:nvPr/>
          </p:nvSpPr>
          <p:spPr>
            <a:xfrm>
              <a:off x="496" y="2575"/>
              <a:ext cx="282" cy="369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T</a:t>
              </a:r>
              <a:endParaRPr lang="en-US" altLang="zh-CN" sz="2000" b="1" dirty="0"/>
            </a:p>
          </p:txBody>
        </p:sp>
        <p:sp>
          <p:nvSpPr>
            <p:cNvPr id="41005" name="Line 50"/>
            <p:cNvSpPr/>
            <p:nvPr/>
          </p:nvSpPr>
          <p:spPr>
            <a:xfrm>
              <a:off x="1556" y="1780"/>
              <a:ext cx="2" cy="2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41006" name="Rectangle 51"/>
            <p:cNvSpPr/>
            <p:nvPr/>
          </p:nvSpPr>
          <p:spPr>
            <a:xfrm>
              <a:off x="828" y="3331"/>
              <a:ext cx="1543" cy="36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/>
                <a:t>输出 </a:t>
              </a:r>
              <a:r>
                <a:rPr lang="en-US" altLang="zh-CN" sz="2000" b="1" dirty="0"/>
                <a:t>sum / N</a:t>
              </a:r>
              <a:endParaRPr lang="en-US" altLang="zh-CN" sz="2000" b="1" dirty="0"/>
            </a:p>
          </p:txBody>
        </p:sp>
        <p:sp>
          <p:nvSpPr>
            <p:cNvPr id="41007" name="Line 52"/>
            <p:cNvSpPr/>
            <p:nvPr/>
          </p:nvSpPr>
          <p:spPr>
            <a:xfrm>
              <a:off x="1601" y="3713"/>
              <a:ext cx="2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41008" name="Freeform 53"/>
            <p:cNvSpPr/>
            <p:nvPr/>
          </p:nvSpPr>
          <p:spPr>
            <a:xfrm>
              <a:off x="355" y="1176"/>
              <a:ext cx="1080" cy="1644"/>
            </a:xfrm>
            <a:custGeom>
              <a:avLst/>
              <a:gdLst>
                <a:gd name="txL" fmla="*/ 0 w 1600"/>
                <a:gd name="txT" fmla="*/ 0 h 1740"/>
                <a:gd name="txR" fmla="*/ 1600 w 1600"/>
                <a:gd name="txB" fmla="*/ 1740 h 1740"/>
              </a:gdLst>
              <a:ahLst/>
              <a:cxnLst>
                <a:cxn ang="0">
                  <a:pos x="1" y="27"/>
                </a:cxn>
                <a:cxn ang="0">
                  <a:pos x="0" y="27"/>
                </a:cxn>
                <a:cxn ang="0">
                  <a:pos x="0" y="0"/>
                </a:cxn>
                <a:cxn ang="0">
                  <a:pos x="1" y="0"/>
                </a:cxn>
              </a:cxnLst>
              <a:rect l="txL" t="txT" r="txR" b="txB"/>
              <a:pathLst>
                <a:path w="1600" h="1740">
                  <a:moveTo>
                    <a:pt x="520" y="1740"/>
                  </a:moveTo>
                  <a:lnTo>
                    <a:pt x="0" y="1740"/>
                  </a:lnTo>
                  <a:lnTo>
                    <a:pt x="0" y="0"/>
                  </a:lnTo>
                  <a:lnTo>
                    <a:pt x="1600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40965" name="Rectangle 55"/>
          <p:cNvSpPr/>
          <p:nvPr/>
        </p:nvSpPr>
        <p:spPr>
          <a:xfrm>
            <a:off x="6540500" y="1885950"/>
            <a:ext cx="1528763" cy="7747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700" tIns="12700" rIns="12700" bIns="127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sum=0;</a:t>
            </a:r>
            <a:endParaRPr lang="en-US" altLang="zh-CN" sz="2000" b="1" dirty="0"/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k=1;</a:t>
            </a:r>
            <a:endParaRPr lang="en-US" altLang="zh-CN" sz="2000" b="1" dirty="0"/>
          </a:p>
        </p:txBody>
      </p:sp>
      <p:sp>
        <p:nvSpPr>
          <p:cNvPr id="40966" name="Rectangle 56"/>
          <p:cNvSpPr/>
          <p:nvPr/>
        </p:nvSpPr>
        <p:spPr>
          <a:xfrm>
            <a:off x="6115050" y="4189413"/>
            <a:ext cx="2501900" cy="769937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700" tIns="12700" rIns="12700" bIns="127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/>
              <a:t>读入一科成绩 → </a:t>
            </a:r>
            <a:r>
              <a:rPr lang="en-US" altLang="zh-CN" sz="2000" b="1" dirty="0"/>
              <a:t>m</a:t>
            </a:r>
            <a:endParaRPr lang="en-US" altLang="zh-CN" sz="2000" b="1" dirty="0"/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sum =sum+m;</a:t>
            </a:r>
            <a:endParaRPr lang="en-US" altLang="zh-CN" sz="2000" b="1" dirty="0"/>
          </a:p>
        </p:txBody>
      </p:sp>
      <p:sp>
        <p:nvSpPr>
          <p:cNvPr id="40967" name="Rectangle 57"/>
          <p:cNvSpPr/>
          <p:nvPr/>
        </p:nvSpPr>
        <p:spPr>
          <a:xfrm>
            <a:off x="6146800" y="5292725"/>
            <a:ext cx="2471738" cy="512763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700" tIns="12700" rIns="12700" bIns="127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k = k+1 ; </a:t>
            </a:r>
            <a:endParaRPr lang="en-US" altLang="zh-CN" sz="2000" b="1" dirty="0"/>
          </a:p>
        </p:txBody>
      </p:sp>
      <p:grpSp>
        <p:nvGrpSpPr>
          <p:cNvPr id="40968" name="Group 58"/>
          <p:cNvGrpSpPr/>
          <p:nvPr/>
        </p:nvGrpSpPr>
        <p:grpSpPr>
          <a:xfrm>
            <a:off x="6702425" y="1042988"/>
            <a:ext cx="1244600" cy="787400"/>
            <a:chOff x="5467" y="3421"/>
            <a:chExt cx="763" cy="440"/>
          </a:xfrm>
        </p:grpSpPr>
        <p:sp>
          <p:nvSpPr>
            <p:cNvPr id="40992" name="Rectangle 59"/>
            <p:cNvSpPr/>
            <p:nvPr/>
          </p:nvSpPr>
          <p:spPr>
            <a:xfrm>
              <a:off x="5467" y="3421"/>
              <a:ext cx="763" cy="24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/>
                <a:t>开始</a:t>
              </a:r>
              <a:endParaRPr lang="zh-CN" altLang="en-US" sz="2000" b="1" dirty="0"/>
            </a:p>
          </p:txBody>
        </p:sp>
        <p:sp>
          <p:nvSpPr>
            <p:cNvPr id="40993" name="Line 60"/>
            <p:cNvSpPr/>
            <p:nvPr/>
          </p:nvSpPr>
          <p:spPr>
            <a:xfrm>
              <a:off x="5848" y="3686"/>
              <a:ext cx="1" cy="17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</p:grpSp>
      <p:sp>
        <p:nvSpPr>
          <p:cNvPr id="40969" name="Line 61"/>
          <p:cNvSpPr/>
          <p:nvPr/>
        </p:nvSpPr>
        <p:spPr>
          <a:xfrm>
            <a:off x="7299325" y="2684463"/>
            <a:ext cx="3175" cy="3127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40970" name="Line 62"/>
          <p:cNvSpPr/>
          <p:nvPr/>
        </p:nvSpPr>
        <p:spPr>
          <a:xfrm>
            <a:off x="7342188" y="4953000"/>
            <a:ext cx="1587" cy="31273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</p:sp>
      <p:grpSp>
        <p:nvGrpSpPr>
          <p:cNvPr id="40971" name="Group 63"/>
          <p:cNvGrpSpPr/>
          <p:nvPr/>
        </p:nvGrpSpPr>
        <p:grpSpPr>
          <a:xfrm>
            <a:off x="5870575" y="2997200"/>
            <a:ext cx="2855913" cy="800100"/>
            <a:chOff x="2824" y="5941"/>
            <a:chExt cx="2550" cy="553"/>
          </a:xfrm>
        </p:grpSpPr>
        <p:sp>
          <p:nvSpPr>
            <p:cNvPr id="40984" name="Rectangle 64"/>
            <p:cNvSpPr/>
            <p:nvPr/>
          </p:nvSpPr>
          <p:spPr>
            <a:xfrm>
              <a:off x="3104" y="6061"/>
              <a:ext cx="2069" cy="304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k &lt;= N</a:t>
              </a:r>
              <a:endParaRPr lang="en-US" altLang="zh-CN" sz="20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grpSp>
          <p:nvGrpSpPr>
            <p:cNvPr id="40985" name="Group 65"/>
            <p:cNvGrpSpPr/>
            <p:nvPr/>
          </p:nvGrpSpPr>
          <p:grpSpPr>
            <a:xfrm>
              <a:off x="2824" y="5941"/>
              <a:ext cx="2550" cy="553"/>
              <a:chOff x="0" y="5"/>
              <a:chExt cx="20000" cy="19996"/>
            </a:xfrm>
          </p:grpSpPr>
          <p:grpSp>
            <p:nvGrpSpPr>
              <p:cNvPr id="40986" name="Group 66"/>
              <p:cNvGrpSpPr/>
              <p:nvPr/>
            </p:nvGrpSpPr>
            <p:grpSpPr>
              <a:xfrm>
                <a:off x="0" y="5"/>
                <a:ext cx="10151" cy="19996"/>
                <a:chOff x="0" y="0"/>
                <a:chExt cx="20000" cy="20000"/>
              </a:xfrm>
            </p:grpSpPr>
            <p:sp>
              <p:nvSpPr>
                <p:cNvPr id="40990" name="Line 67"/>
                <p:cNvSpPr/>
                <p:nvPr/>
              </p:nvSpPr>
              <p:spPr>
                <a:xfrm flipV="1">
                  <a:off x="0" y="0"/>
                  <a:ext cx="20000" cy="969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40991" name="Line 68"/>
                <p:cNvSpPr/>
                <p:nvPr/>
              </p:nvSpPr>
              <p:spPr>
                <a:xfrm>
                  <a:off x="0" y="10302"/>
                  <a:ext cx="20000" cy="969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  <p:grpSp>
            <p:nvGrpSpPr>
              <p:cNvPr id="40987" name="Group 69"/>
              <p:cNvGrpSpPr/>
              <p:nvPr/>
            </p:nvGrpSpPr>
            <p:grpSpPr>
              <a:xfrm>
                <a:off x="9849" y="5"/>
                <a:ext cx="10151" cy="19996"/>
                <a:chOff x="0" y="0"/>
                <a:chExt cx="20000" cy="20000"/>
              </a:xfrm>
            </p:grpSpPr>
            <p:sp>
              <p:nvSpPr>
                <p:cNvPr id="40988" name="Line 70"/>
                <p:cNvSpPr/>
                <p:nvPr/>
              </p:nvSpPr>
              <p:spPr>
                <a:xfrm flipH="1" flipV="1">
                  <a:off x="0" y="0"/>
                  <a:ext cx="20000" cy="969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40989" name="Line 71"/>
                <p:cNvSpPr/>
                <p:nvPr/>
              </p:nvSpPr>
              <p:spPr>
                <a:xfrm flipH="1">
                  <a:off x="0" y="10302"/>
                  <a:ext cx="20000" cy="969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</p:grpSp>
      </p:grpSp>
      <p:sp>
        <p:nvSpPr>
          <p:cNvPr id="40972" name="Rectangle 72"/>
          <p:cNvSpPr/>
          <p:nvPr/>
        </p:nvSpPr>
        <p:spPr>
          <a:xfrm>
            <a:off x="8759825" y="5049838"/>
            <a:ext cx="1944688" cy="404812"/>
          </a:xfrm>
          <a:prstGeom prst="rect">
            <a:avLst/>
          </a:prstGeom>
          <a:noFill/>
          <a:ln w="28575">
            <a:noFill/>
          </a:ln>
        </p:spPr>
        <p:txBody>
          <a:bodyPr lIns="12700" tIns="12700" rIns="12700" bIns="127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/>
              <a:t>结束</a:t>
            </a:r>
            <a:endParaRPr lang="zh-CN" altLang="en-US" sz="2000" b="1" dirty="0"/>
          </a:p>
        </p:txBody>
      </p:sp>
      <p:sp>
        <p:nvSpPr>
          <p:cNvPr id="40973" name="Line 73"/>
          <p:cNvSpPr/>
          <p:nvPr/>
        </p:nvSpPr>
        <p:spPr>
          <a:xfrm>
            <a:off x="7383463" y="5807075"/>
            <a:ext cx="1587" cy="3143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40974" name="Rectangle 74"/>
          <p:cNvSpPr/>
          <p:nvPr/>
        </p:nvSpPr>
        <p:spPr>
          <a:xfrm>
            <a:off x="8975725" y="2928938"/>
            <a:ext cx="419100" cy="635000"/>
          </a:xfrm>
          <a:prstGeom prst="rect">
            <a:avLst/>
          </a:prstGeom>
          <a:noFill/>
          <a:ln w="28575">
            <a:noFill/>
          </a:ln>
        </p:spPr>
        <p:txBody>
          <a:bodyPr lIns="12700" tIns="12700" rIns="12700" bIns="127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F</a:t>
            </a:r>
            <a:endParaRPr lang="en-US" altLang="zh-CN" sz="2000" b="1" dirty="0"/>
          </a:p>
        </p:txBody>
      </p:sp>
      <p:sp>
        <p:nvSpPr>
          <p:cNvPr id="40975" name="Rectangle 75"/>
          <p:cNvSpPr/>
          <p:nvPr/>
        </p:nvSpPr>
        <p:spPr>
          <a:xfrm>
            <a:off x="7529513" y="3770313"/>
            <a:ext cx="417512" cy="565150"/>
          </a:xfrm>
          <a:prstGeom prst="rect">
            <a:avLst/>
          </a:prstGeom>
          <a:noFill/>
          <a:ln w="28575">
            <a:noFill/>
          </a:ln>
        </p:spPr>
        <p:txBody>
          <a:bodyPr lIns="12700" tIns="12700" rIns="12700" bIns="127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T</a:t>
            </a:r>
            <a:endParaRPr lang="en-US" altLang="zh-CN" sz="2000" b="1" dirty="0"/>
          </a:p>
        </p:txBody>
      </p:sp>
      <p:sp>
        <p:nvSpPr>
          <p:cNvPr id="40976" name="Line 76"/>
          <p:cNvSpPr/>
          <p:nvPr/>
        </p:nvSpPr>
        <p:spPr>
          <a:xfrm>
            <a:off x="7331075" y="3800475"/>
            <a:ext cx="3175" cy="31273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40977" name="Rectangle 77"/>
          <p:cNvSpPr/>
          <p:nvPr/>
        </p:nvSpPr>
        <p:spPr>
          <a:xfrm>
            <a:off x="8867775" y="4113213"/>
            <a:ext cx="1804988" cy="55245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700" tIns="12700" rIns="12700" bIns="127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/>
              <a:t>输出 </a:t>
            </a:r>
            <a:r>
              <a:rPr lang="en-US" altLang="zh-CN" sz="2000" b="1" dirty="0"/>
              <a:t>sum / N</a:t>
            </a:r>
            <a:endParaRPr lang="en-US" altLang="zh-CN" sz="2000" b="1" dirty="0"/>
          </a:p>
        </p:txBody>
      </p:sp>
      <p:sp>
        <p:nvSpPr>
          <p:cNvPr id="40978" name="Line 78"/>
          <p:cNvSpPr/>
          <p:nvPr/>
        </p:nvSpPr>
        <p:spPr>
          <a:xfrm>
            <a:off x="9732963" y="4643438"/>
            <a:ext cx="3175" cy="31591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40979" name="Freeform 79"/>
          <p:cNvSpPr/>
          <p:nvPr/>
        </p:nvSpPr>
        <p:spPr>
          <a:xfrm>
            <a:off x="5556250" y="2844800"/>
            <a:ext cx="1595438" cy="3276600"/>
          </a:xfrm>
          <a:custGeom>
            <a:avLst/>
            <a:gdLst>
              <a:gd name="txL" fmla="*/ 0 w 1600"/>
              <a:gd name="txT" fmla="*/ 0 h 1740"/>
              <a:gd name="txR" fmla="*/ 1600 w 1600"/>
              <a:gd name="txB" fmla="*/ 1740 h 1740"/>
            </a:gdLst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rect l="txL" t="txT" r="txR" b="txB"/>
            <a:pathLst>
              <a:path w="1600" h="1740">
                <a:moveTo>
                  <a:pt x="520" y="1740"/>
                </a:moveTo>
                <a:lnTo>
                  <a:pt x="0" y="1740"/>
                </a:lnTo>
                <a:lnTo>
                  <a:pt x="0" y="0"/>
                </a:lnTo>
                <a:lnTo>
                  <a:pt x="1600" y="0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0980" name="Line 80"/>
          <p:cNvSpPr/>
          <p:nvPr/>
        </p:nvSpPr>
        <p:spPr>
          <a:xfrm flipV="1">
            <a:off x="6024563" y="6121400"/>
            <a:ext cx="1373187" cy="793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81" name="Freeform 81"/>
          <p:cNvSpPr/>
          <p:nvPr/>
        </p:nvSpPr>
        <p:spPr>
          <a:xfrm>
            <a:off x="8688388" y="3392488"/>
            <a:ext cx="1044575" cy="720725"/>
          </a:xfrm>
          <a:custGeom>
            <a:avLst/>
            <a:gdLst>
              <a:gd name="txL" fmla="*/ 0 w 612"/>
              <a:gd name="txT" fmla="*/ 0 h 454"/>
              <a:gd name="txR" fmla="*/ 612 w 612"/>
              <a:gd name="txB" fmla="*/ 454 h 454"/>
            </a:gdLst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</a:cxnLst>
            <a:rect l="txL" t="txT" r="txR" b="txB"/>
            <a:pathLst>
              <a:path w="612" h="454">
                <a:moveTo>
                  <a:pt x="0" y="0"/>
                </a:moveTo>
                <a:lnTo>
                  <a:pt x="612" y="0"/>
                </a:lnTo>
                <a:lnTo>
                  <a:pt x="612" y="454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0982" name="Text Box 82"/>
          <p:cNvSpPr txBox="1"/>
          <p:nvPr/>
        </p:nvSpPr>
        <p:spPr>
          <a:xfrm>
            <a:off x="498475" y="6486525"/>
            <a:ext cx="2855913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latin typeface="Monotype Corsiva" pitchFamily="66" charset="0"/>
              </a:rPr>
              <a:t>后判断条件流程图</a:t>
            </a:r>
            <a:endParaRPr lang="zh-CN" altLang="en-US" sz="1400" b="1" dirty="0">
              <a:latin typeface="Monotype Corsiva" pitchFamily="66" charset="0"/>
            </a:endParaRPr>
          </a:p>
        </p:txBody>
      </p:sp>
      <p:sp>
        <p:nvSpPr>
          <p:cNvPr id="40983" name="Text Box 83"/>
          <p:cNvSpPr txBox="1"/>
          <p:nvPr/>
        </p:nvSpPr>
        <p:spPr>
          <a:xfrm>
            <a:off x="6192838" y="6437313"/>
            <a:ext cx="2855912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Monotype Corsiva" pitchFamily="66" charset="0"/>
              </a:rPr>
              <a:t>先判断条件流程图</a:t>
            </a:r>
            <a:endParaRPr lang="zh-CN" altLang="en-US" sz="1400" b="1" dirty="0">
              <a:solidFill>
                <a:schemeClr val="tx1"/>
              </a:solidFill>
              <a:latin typeface="Monotype Corsiva" pitchFamily="66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TextBox 28"/>
          <p:cNvSpPr txBox="1"/>
          <p:nvPr/>
        </p:nvSpPr>
        <p:spPr>
          <a:xfrm>
            <a:off x="971550" y="3630613"/>
            <a:ext cx="13684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Monotype Corsiva" pitchFamily="66" charset="0"/>
                <a:ea typeface="华文彩云" pitchFamily="2" charset="-122"/>
              </a:rPr>
              <a:t>流程图</a:t>
            </a:r>
            <a:endParaRPr lang="zh-CN" altLang="en-US" sz="2400" b="1" dirty="0"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41987" name="TextBox 1"/>
          <p:cNvSpPr txBox="1"/>
          <p:nvPr/>
        </p:nvSpPr>
        <p:spPr>
          <a:xfrm>
            <a:off x="5105400" y="3048000"/>
            <a:ext cx="13684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+mn-ea"/>
                <a:cs typeface="+mn-ea"/>
              </a:rPr>
              <a:t>PAD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  <a:cs typeface="+mn-ea"/>
              </a:rPr>
              <a:t>图</a:t>
            </a:r>
            <a:endParaRPr lang="zh-CN" altLang="en-US" sz="2400" b="1" dirty="0">
              <a:solidFill>
                <a:schemeClr val="hlink"/>
              </a:solidFill>
              <a:latin typeface="+mn-ea"/>
              <a:cs typeface="+mn-ea"/>
            </a:endParaRPr>
          </a:p>
        </p:txBody>
      </p:sp>
      <p:sp>
        <p:nvSpPr>
          <p:cNvPr id="2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349197-3C81-4469-A578-45D19E63566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44450"/>
            <a:ext cx="8229600" cy="7461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先判断条件的循环程序模式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grpSp>
        <p:nvGrpSpPr>
          <p:cNvPr id="41990" name="Group 27"/>
          <p:cNvGrpSpPr/>
          <p:nvPr/>
        </p:nvGrpSpPr>
        <p:grpSpPr>
          <a:xfrm>
            <a:off x="909638" y="893763"/>
            <a:ext cx="2879725" cy="2520950"/>
            <a:chOff x="1066" y="2568"/>
            <a:chExt cx="1315" cy="1180"/>
          </a:xfrm>
        </p:grpSpPr>
        <p:grpSp>
          <p:nvGrpSpPr>
            <p:cNvPr id="42000" name="Group 6"/>
            <p:cNvGrpSpPr/>
            <p:nvPr/>
          </p:nvGrpSpPr>
          <p:grpSpPr>
            <a:xfrm>
              <a:off x="1258" y="2807"/>
              <a:ext cx="835" cy="331"/>
              <a:chOff x="0" y="0"/>
              <a:chExt cx="20003" cy="20001"/>
            </a:xfrm>
          </p:grpSpPr>
          <p:grpSp>
            <p:nvGrpSpPr>
              <p:cNvPr id="42008" name="Group 7"/>
              <p:cNvGrpSpPr/>
              <p:nvPr/>
            </p:nvGrpSpPr>
            <p:grpSpPr>
              <a:xfrm>
                <a:off x="0" y="0"/>
                <a:ext cx="9845" cy="20001"/>
                <a:chOff x="0" y="0"/>
                <a:chExt cx="20000" cy="20001"/>
              </a:xfrm>
            </p:grpSpPr>
            <p:sp>
              <p:nvSpPr>
                <p:cNvPr id="42012" name="Line 8"/>
                <p:cNvSpPr/>
                <p:nvPr/>
              </p:nvSpPr>
              <p:spPr>
                <a:xfrm flipH="1">
                  <a:off x="0" y="0"/>
                  <a:ext cx="20000" cy="960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42013" name="Line 9"/>
                <p:cNvSpPr/>
                <p:nvPr/>
              </p:nvSpPr>
              <p:spPr>
                <a:xfrm flipH="1" flipV="1">
                  <a:off x="0" y="10397"/>
                  <a:ext cx="20000" cy="960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  <p:grpSp>
            <p:nvGrpSpPr>
              <p:cNvPr id="42009" name="Group 10"/>
              <p:cNvGrpSpPr/>
              <p:nvPr/>
            </p:nvGrpSpPr>
            <p:grpSpPr>
              <a:xfrm>
                <a:off x="10158" y="0"/>
                <a:ext cx="9845" cy="20001"/>
                <a:chOff x="0" y="0"/>
                <a:chExt cx="20000" cy="20001"/>
              </a:xfrm>
            </p:grpSpPr>
            <p:sp>
              <p:nvSpPr>
                <p:cNvPr id="42010" name="Line 11"/>
                <p:cNvSpPr/>
                <p:nvPr/>
              </p:nvSpPr>
              <p:spPr>
                <a:xfrm>
                  <a:off x="0" y="0"/>
                  <a:ext cx="20000" cy="960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42011" name="Line 12"/>
                <p:cNvSpPr/>
                <p:nvPr/>
              </p:nvSpPr>
              <p:spPr>
                <a:xfrm flipV="1">
                  <a:off x="0" y="10397"/>
                  <a:ext cx="20000" cy="960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</p:grpSp>
        <p:sp>
          <p:nvSpPr>
            <p:cNvPr id="42001" name="Rectangle 13"/>
            <p:cNvSpPr/>
            <p:nvPr/>
          </p:nvSpPr>
          <p:spPr>
            <a:xfrm>
              <a:off x="1354" y="3324"/>
              <a:ext cx="712" cy="27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  <a:cs typeface="Times New Roman" panose="02020603050405020304" pitchFamily="18" charset="0"/>
                </a:rPr>
                <a:t>S</a:t>
              </a:r>
              <a:endParaRPr lang="en-US" altLang="zh-CN" sz="2400" b="1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42002" name="Line 14"/>
            <p:cNvSpPr/>
            <p:nvPr/>
          </p:nvSpPr>
          <p:spPr>
            <a:xfrm>
              <a:off x="1682" y="2568"/>
              <a:ext cx="1" cy="21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arrow" w="med" len="med"/>
            </a:ln>
          </p:spPr>
        </p:sp>
        <p:sp>
          <p:nvSpPr>
            <p:cNvPr id="42003" name="Line 15"/>
            <p:cNvSpPr/>
            <p:nvPr/>
          </p:nvSpPr>
          <p:spPr>
            <a:xfrm>
              <a:off x="1668" y="3178"/>
              <a:ext cx="1" cy="12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arrow" w="med" len="med"/>
            </a:ln>
          </p:spPr>
        </p:sp>
        <p:sp>
          <p:nvSpPr>
            <p:cNvPr id="42004" name="Freeform 16"/>
            <p:cNvSpPr/>
            <p:nvPr/>
          </p:nvSpPr>
          <p:spPr>
            <a:xfrm>
              <a:off x="1066" y="2741"/>
              <a:ext cx="617" cy="1007"/>
            </a:xfrm>
            <a:custGeom>
              <a:avLst/>
              <a:gdLst>
                <a:gd name="txL" fmla="*/ 0 w 20000"/>
                <a:gd name="txT" fmla="*/ 0 h 20000"/>
                <a:gd name="txR" fmla="*/ 20000 w 20000"/>
                <a:gd name="txB" fmla="*/ 20000 h 200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0000" h="20000">
                  <a:moveTo>
                    <a:pt x="19978" y="17097"/>
                  </a:moveTo>
                  <a:lnTo>
                    <a:pt x="19978" y="19985"/>
                  </a:lnTo>
                  <a:lnTo>
                    <a:pt x="0" y="19985"/>
                  </a:lnTo>
                  <a:lnTo>
                    <a:pt x="0" y="0"/>
                  </a:lnTo>
                  <a:lnTo>
                    <a:pt x="15538" y="0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sm"/>
              <a:tailEnd type="arrow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2005" name="Freeform 17"/>
            <p:cNvSpPr/>
            <p:nvPr/>
          </p:nvSpPr>
          <p:spPr>
            <a:xfrm>
              <a:off x="2106" y="2978"/>
              <a:ext cx="261" cy="200"/>
            </a:xfrm>
            <a:custGeom>
              <a:avLst/>
              <a:gdLst>
                <a:gd name="txL" fmla="*/ 0 w 20000"/>
                <a:gd name="txT" fmla="*/ 0 h 20000"/>
                <a:gd name="txR" fmla="*/ 20000 w 20000"/>
                <a:gd name="txB" fmla="*/ 20000 h 200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0000" h="20000">
                  <a:moveTo>
                    <a:pt x="0" y="0"/>
                  </a:moveTo>
                  <a:lnTo>
                    <a:pt x="19948" y="0"/>
                  </a:lnTo>
                  <a:lnTo>
                    <a:pt x="19948" y="19927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sm"/>
              <a:tailEnd type="arrow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2006" name="Rectangle 18"/>
            <p:cNvSpPr/>
            <p:nvPr/>
          </p:nvSpPr>
          <p:spPr>
            <a:xfrm>
              <a:off x="1573" y="2840"/>
              <a:ext cx="218" cy="193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  <a:cs typeface="Times New Roman" panose="02020603050405020304" pitchFamily="18" charset="0"/>
                </a:rPr>
                <a:t>e</a:t>
              </a:r>
              <a:endParaRPr lang="en-US" altLang="zh-CN" sz="2400" b="1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42007" name="Rectangle 19"/>
            <p:cNvSpPr/>
            <p:nvPr/>
          </p:nvSpPr>
          <p:spPr>
            <a:xfrm>
              <a:off x="2202" y="2807"/>
              <a:ext cx="179" cy="18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  <a:cs typeface="Times New Roman" panose="02020603050405020304" pitchFamily="18" charset="0"/>
                </a:rPr>
                <a:t>F</a:t>
              </a:r>
              <a:endParaRPr lang="en-US" altLang="zh-CN" sz="2400" b="1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41991" name="Group 26"/>
          <p:cNvGrpSpPr/>
          <p:nvPr/>
        </p:nvGrpSpPr>
        <p:grpSpPr>
          <a:xfrm>
            <a:off x="4646613" y="1316038"/>
            <a:ext cx="4248150" cy="1873250"/>
            <a:chOff x="2971" y="2750"/>
            <a:chExt cx="2002" cy="449"/>
          </a:xfrm>
        </p:grpSpPr>
        <p:sp>
          <p:nvSpPr>
            <p:cNvPr id="41995" name="Line 21"/>
            <p:cNvSpPr/>
            <p:nvPr/>
          </p:nvSpPr>
          <p:spPr>
            <a:xfrm>
              <a:off x="2971" y="2750"/>
              <a:ext cx="1" cy="44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1996" name="Rectangle 22"/>
            <p:cNvSpPr/>
            <p:nvPr/>
          </p:nvSpPr>
          <p:spPr>
            <a:xfrm>
              <a:off x="2971" y="2840"/>
              <a:ext cx="952" cy="27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1" dirty="0">
                <a:latin typeface="Arial" panose="020B0604020202020204" pitchFamily="34" charset="0"/>
                <a:cs typeface="Times New Roman" panose="02020603050405020304" pitchFamily="18" charset="0"/>
              </a:endParaRP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  <a:cs typeface="Times New Roman" panose="02020603050405020304" pitchFamily="18" charset="0"/>
                </a:rPr>
                <a:t>while e</a:t>
              </a:r>
              <a:endParaRPr lang="en-US" altLang="zh-CN" sz="2400" b="1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41997" name="Line 23"/>
            <p:cNvSpPr/>
            <p:nvPr/>
          </p:nvSpPr>
          <p:spPr>
            <a:xfrm>
              <a:off x="3061" y="2840"/>
              <a:ext cx="0" cy="273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1998" name="Line 24"/>
            <p:cNvSpPr/>
            <p:nvPr/>
          </p:nvSpPr>
          <p:spPr>
            <a:xfrm>
              <a:off x="3923" y="2976"/>
              <a:ext cx="14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1999" name="Rectangle 25"/>
            <p:cNvSpPr/>
            <p:nvPr/>
          </p:nvSpPr>
          <p:spPr>
            <a:xfrm>
              <a:off x="4059" y="2840"/>
              <a:ext cx="914" cy="27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1" dirty="0">
                <a:latin typeface="Arial" panose="020B0604020202020204" pitchFamily="34" charset="0"/>
                <a:cs typeface="Times New Roman" panose="02020603050405020304" pitchFamily="18" charset="0"/>
              </a:endParaRP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  <a:cs typeface="Times New Roman" panose="02020603050405020304" pitchFamily="18" charset="0"/>
                </a:rPr>
                <a:t>S</a:t>
              </a:r>
              <a:endParaRPr lang="en-US" altLang="zh-CN" sz="2400" b="1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41992" name="Rectangle 31"/>
          <p:cNvSpPr/>
          <p:nvPr/>
        </p:nvSpPr>
        <p:spPr>
          <a:xfrm>
            <a:off x="9053513" y="1081088"/>
            <a:ext cx="2913062" cy="2308225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defTabSz="914400" eaLnBrk="1" hangingPunct="1">
              <a:spcBef>
                <a:spcPct val="0"/>
              </a:spcBef>
              <a:buClrTx/>
              <a:buSzTx/>
              <a:buFontTx/>
              <a:buNone/>
              <a:tabLst>
                <a:tab pos="533400" algn="l"/>
              </a:tabLst>
            </a:pPr>
            <a:r>
              <a:rPr lang="zh-CN" altLang="en-US" sz="1600" dirty="0"/>
              <a:t>其含义是：</a:t>
            </a:r>
            <a:endParaRPr lang="zh-CN" altLang="en-US" sz="1600" dirty="0"/>
          </a:p>
          <a:p>
            <a:pPr marL="457200" lvl="1" indent="0" defTabSz="914400" eaLnBrk="1" hangingPunct="1">
              <a:spcBef>
                <a:spcPct val="0"/>
              </a:spcBef>
              <a:buClrTx/>
              <a:buNone/>
              <a:tabLst>
                <a:tab pos="533400" algn="l"/>
              </a:tabLst>
            </a:pPr>
            <a:r>
              <a:rPr lang="en-US" altLang="zh-CN" sz="1600" dirty="0"/>
              <a:t>1) </a:t>
            </a:r>
            <a:r>
              <a:rPr lang="zh-CN" altLang="en-US" sz="1600" dirty="0"/>
              <a:t>计算条件表达式</a:t>
            </a:r>
            <a:r>
              <a:rPr lang="en-US" altLang="zh-CN" sz="1600" dirty="0"/>
              <a:t>e</a:t>
            </a:r>
            <a:r>
              <a:rPr lang="zh-CN" altLang="en-US" sz="1600" dirty="0"/>
              <a:t>，</a:t>
            </a:r>
            <a:endParaRPr lang="zh-CN" altLang="en-US" sz="1600" dirty="0"/>
          </a:p>
          <a:p>
            <a:pPr marL="457200" lvl="1" indent="0" defTabSz="914400" eaLnBrk="1" hangingPunct="1">
              <a:spcBef>
                <a:spcPct val="0"/>
              </a:spcBef>
              <a:buClrTx/>
              <a:buNone/>
              <a:tabLst>
                <a:tab pos="533400" algn="l"/>
              </a:tabLst>
            </a:pPr>
            <a:r>
              <a:rPr lang="en-US" altLang="zh-CN" sz="1600" dirty="0"/>
              <a:t>2) </a:t>
            </a:r>
            <a:r>
              <a:rPr lang="zh-CN" altLang="en-US" sz="1600" dirty="0"/>
              <a:t>若</a:t>
            </a:r>
            <a:r>
              <a:rPr lang="en-US" altLang="zh-CN" sz="1600" dirty="0"/>
              <a:t>e</a:t>
            </a:r>
            <a:r>
              <a:rPr lang="zh-CN" altLang="en-US" sz="1600" dirty="0"/>
              <a:t>的值为</a:t>
            </a:r>
            <a:r>
              <a:rPr lang="en-US" altLang="zh-CN" sz="1600" dirty="0"/>
              <a:t>true</a:t>
            </a:r>
            <a:r>
              <a:rPr lang="zh-CN" altLang="en-US" sz="1600" dirty="0"/>
              <a:t>，转向步骤</a:t>
            </a:r>
            <a:r>
              <a:rPr lang="en-US" altLang="zh-CN" sz="1600" dirty="0"/>
              <a:t>3</a:t>
            </a:r>
            <a:r>
              <a:rPr lang="zh-CN" altLang="en-US" sz="1600" dirty="0"/>
              <a:t>）继续循环；否则转向步骤</a:t>
            </a:r>
            <a:r>
              <a:rPr lang="en-US" altLang="zh-CN" sz="1600" dirty="0"/>
              <a:t>5</a:t>
            </a:r>
            <a:r>
              <a:rPr lang="zh-CN" altLang="en-US" sz="1600" dirty="0"/>
              <a:t>）结束循环。</a:t>
            </a:r>
            <a:endParaRPr lang="zh-CN" altLang="en-US" sz="1600" dirty="0"/>
          </a:p>
          <a:p>
            <a:pPr marL="457200" lvl="1" indent="0" defTabSz="914400" eaLnBrk="1" hangingPunct="1">
              <a:spcBef>
                <a:spcPct val="0"/>
              </a:spcBef>
              <a:buClrTx/>
              <a:buNone/>
              <a:tabLst>
                <a:tab pos="533400" algn="l"/>
              </a:tabLst>
            </a:pPr>
            <a:r>
              <a:rPr lang="en-US" altLang="zh-CN" sz="1600" dirty="0"/>
              <a:t>3) </a:t>
            </a:r>
            <a:r>
              <a:rPr lang="zh-CN" altLang="en-US" sz="1600" dirty="0"/>
              <a:t>执行语句</a:t>
            </a:r>
            <a:r>
              <a:rPr lang="en-US" altLang="zh-CN" sz="1600" dirty="0"/>
              <a:t>S</a:t>
            </a:r>
            <a:endParaRPr lang="en-US" altLang="zh-CN" sz="1600" dirty="0"/>
          </a:p>
          <a:p>
            <a:pPr marL="457200" lvl="1" indent="0" defTabSz="914400" eaLnBrk="1" hangingPunct="1">
              <a:spcBef>
                <a:spcPct val="0"/>
              </a:spcBef>
              <a:buClrTx/>
              <a:buNone/>
              <a:tabLst>
                <a:tab pos="533400" algn="l"/>
              </a:tabLst>
            </a:pPr>
            <a:r>
              <a:rPr lang="en-US" altLang="zh-CN" sz="1600" dirty="0"/>
              <a:t>4</a:t>
            </a:r>
            <a:r>
              <a:rPr lang="zh-CN" altLang="en-US" sz="1600" dirty="0"/>
              <a:t>）转向步骤</a:t>
            </a:r>
            <a:r>
              <a:rPr lang="en-US" altLang="zh-CN" sz="1600" dirty="0"/>
              <a:t>1</a:t>
            </a:r>
            <a:r>
              <a:rPr lang="zh-CN" altLang="en-US" sz="1600" dirty="0"/>
              <a:t>）</a:t>
            </a:r>
            <a:endParaRPr lang="zh-CN" altLang="en-US" sz="1600" dirty="0"/>
          </a:p>
          <a:p>
            <a:pPr marL="457200" lvl="1" indent="0" defTabSz="914400" eaLnBrk="1" hangingPunct="1">
              <a:spcBef>
                <a:spcPct val="0"/>
              </a:spcBef>
              <a:buClrTx/>
              <a:buNone/>
              <a:tabLst>
                <a:tab pos="533400" algn="l"/>
              </a:tabLst>
            </a:pPr>
            <a:r>
              <a:rPr lang="en-US" altLang="zh-CN" sz="1600" dirty="0"/>
              <a:t>5</a:t>
            </a:r>
            <a:r>
              <a:rPr lang="zh-CN" altLang="en-US" sz="1600" dirty="0"/>
              <a:t>）</a:t>
            </a:r>
            <a:r>
              <a:rPr lang="zh-CN" altLang="en-US" sz="1600" dirty="0">
                <a:latin typeface="Arial" panose="020B0604020202020204" pitchFamily="34" charset="0"/>
              </a:rPr>
              <a:t>循环结束，向后执行其后继操作。</a:t>
            </a:r>
            <a:endParaRPr lang="zh-CN" altLang="en-US" sz="1600" dirty="0">
              <a:latin typeface="Arial" panose="020B0604020202020204" pitchFamily="34" charset="0"/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4583113" y="4579938"/>
            <a:ext cx="3389313" cy="1363663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3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while (</a:t>
            </a:r>
            <a:r>
              <a:rPr kumimoji="0" lang="en-US" altLang="zh-CN" sz="3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e </a:t>
            </a:r>
            <a:r>
              <a:rPr kumimoji="0" lang="en-US" altLang="zh-CN" sz="33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 </a:t>
            </a:r>
            <a:endParaRPr kumimoji="0" lang="en-US" altLang="zh-CN" sz="33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S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81600" y="6107113"/>
            <a:ext cx="1281113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语句形式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灯片编号占位符 3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0744200" y="6477000"/>
            <a:ext cx="551180" cy="314325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D644BA-6102-4C38-BE46-B66799CF17D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4035" name="Group 2"/>
          <p:cNvGrpSpPr/>
          <p:nvPr/>
        </p:nvGrpSpPr>
        <p:grpSpPr>
          <a:xfrm>
            <a:off x="-228600" y="1295400"/>
            <a:ext cx="5873750" cy="4570413"/>
            <a:chOff x="0" y="694"/>
            <a:chExt cx="2953" cy="2308"/>
          </a:xfrm>
        </p:grpSpPr>
        <p:sp>
          <p:nvSpPr>
            <p:cNvPr id="44039" name="Line 3"/>
            <p:cNvSpPr/>
            <p:nvPr/>
          </p:nvSpPr>
          <p:spPr>
            <a:xfrm>
              <a:off x="187" y="966"/>
              <a:ext cx="0" cy="175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40" name="Rectangle 4"/>
            <p:cNvSpPr/>
            <p:nvPr/>
          </p:nvSpPr>
          <p:spPr>
            <a:xfrm>
              <a:off x="191" y="1813"/>
              <a:ext cx="1303" cy="281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algn="ctr" eaLnBrk="1" hangingPunct="1">
                <a:buClrTx/>
                <a:buSzTx/>
                <a:buFontTx/>
                <a:buNone/>
              </a:pPr>
              <a:r>
                <a:rPr lang="en-US" altLang="zh-CN" sz="2000" b="1" dirty="0"/>
                <a:t> </a:t>
              </a:r>
              <a:r>
                <a:rPr lang="en-US" altLang="zh-CN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while  k&lt;=N</a:t>
              </a:r>
              <a:endParaRPr lang="en-US" altLang="zh-CN" sz="20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 b="1" dirty="0"/>
            </a:p>
          </p:txBody>
        </p:sp>
        <p:sp>
          <p:nvSpPr>
            <p:cNvPr id="44041" name="Line 5"/>
            <p:cNvSpPr/>
            <p:nvPr/>
          </p:nvSpPr>
          <p:spPr>
            <a:xfrm>
              <a:off x="346" y="1811"/>
              <a:ext cx="0" cy="288"/>
            </a:xfrm>
            <a:prstGeom prst="line">
              <a:avLst/>
            </a:prstGeom>
            <a:ln w="28575" cap="flat" cmpd="sng">
              <a:solidFill>
                <a:schemeClr val="accent2">
                  <a:lumMod val="60000"/>
                  <a:lumOff val="40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42" name="Line 6"/>
            <p:cNvSpPr/>
            <p:nvPr/>
          </p:nvSpPr>
          <p:spPr>
            <a:xfrm>
              <a:off x="1503" y="1917"/>
              <a:ext cx="145" cy="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43" name="Rectangle 7"/>
            <p:cNvSpPr/>
            <p:nvPr/>
          </p:nvSpPr>
          <p:spPr>
            <a:xfrm>
              <a:off x="187" y="1253"/>
              <a:ext cx="1307" cy="42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/>
                <a:t>sum=0;</a:t>
              </a:r>
              <a:endParaRPr lang="en-US" altLang="zh-CN" sz="2000" b="1" dirty="0"/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k=1;</a:t>
              </a:r>
              <a:endParaRPr lang="en-US" altLang="zh-CN" sz="20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grpSp>
          <p:nvGrpSpPr>
            <p:cNvPr id="44044" name="Group 8"/>
            <p:cNvGrpSpPr/>
            <p:nvPr/>
          </p:nvGrpSpPr>
          <p:grpSpPr>
            <a:xfrm>
              <a:off x="1652" y="1480"/>
              <a:ext cx="1301" cy="874"/>
              <a:chOff x="6144" y="10081"/>
              <a:chExt cx="1860" cy="1120"/>
            </a:xfrm>
          </p:grpSpPr>
          <p:sp>
            <p:nvSpPr>
              <p:cNvPr id="44052" name="Rectangle 9"/>
              <p:cNvSpPr/>
              <p:nvPr/>
            </p:nvSpPr>
            <p:spPr>
              <a:xfrm>
                <a:off x="6144" y="10081"/>
                <a:ext cx="1860" cy="62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/>
                  <a:t>读入一科成绩 → </a:t>
                </a:r>
                <a:r>
                  <a:rPr lang="en-US" altLang="zh-CN" sz="2000" b="1" dirty="0"/>
                  <a:t>m</a:t>
                </a:r>
                <a:endParaRPr lang="en-US" altLang="zh-CN" sz="2000" b="1" dirty="0"/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/>
                  <a:t>sum =sum+m;</a:t>
                </a:r>
                <a:endParaRPr lang="en-US" altLang="zh-CN" sz="2000" b="1" dirty="0"/>
              </a:p>
            </p:txBody>
          </p:sp>
          <p:sp>
            <p:nvSpPr>
              <p:cNvPr id="44053" name="Rectangle 10"/>
              <p:cNvSpPr/>
              <p:nvPr/>
            </p:nvSpPr>
            <p:spPr>
              <a:xfrm>
                <a:off x="6144" y="10841"/>
                <a:ext cx="1480" cy="36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k = k+1 ; </a:t>
                </a:r>
                <a:endParaRPr lang="en-US" altLang="zh-CN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44054" name="Line 11"/>
              <p:cNvSpPr/>
              <p:nvPr/>
            </p:nvSpPr>
            <p:spPr>
              <a:xfrm>
                <a:off x="6144" y="10461"/>
                <a:ext cx="1" cy="6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44045" name="Rectangle 12"/>
            <p:cNvSpPr/>
            <p:nvPr/>
          </p:nvSpPr>
          <p:spPr>
            <a:xfrm>
              <a:off x="187" y="2223"/>
              <a:ext cx="1307" cy="279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/>
                <a:t>输出 </a:t>
              </a:r>
              <a:r>
                <a:rPr lang="en-US" altLang="zh-CN" sz="2000" b="1" dirty="0"/>
                <a:t>sum / N</a:t>
              </a:r>
              <a:endParaRPr lang="en-US" altLang="zh-CN" sz="2000" b="1" dirty="0"/>
            </a:p>
          </p:txBody>
        </p:sp>
        <p:grpSp>
          <p:nvGrpSpPr>
            <p:cNvPr id="44046" name="Group 13"/>
            <p:cNvGrpSpPr/>
            <p:nvPr/>
          </p:nvGrpSpPr>
          <p:grpSpPr>
            <a:xfrm>
              <a:off x="0" y="694"/>
              <a:ext cx="894" cy="332"/>
              <a:chOff x="3084" y="9821"/>
              <a:chExt cx="1080" cy="380"/>
            </a:xfrm>
          </p:grpSpPr>
          <p:sp>
            <p:nvSpPr>
              <p:cNvPr id="44050" name="Rectangle 14"/>
              <p:cNvSpPr/>
              <p:nvPr/>
            </p:nvSpPr>
            <p:spPr>
              <a:xfrm>
                <a:off x="3084" y="9861"/>
                <a:ext cx="1080" cy="34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/>
                  <a:t>开始</a:t>
                </a:r>
                <a:endParaRPr lang="zh-CN" altLang="en-US" sz="2000" b="1" dirty="0"/>
              </a:p>
            </p:txBody>
          </p:sp>
          <p:sp>
            <p:nvSpPr>
              <p:cNvPr id="44051" name="Oval 15"/>
              <p:cNvSpPr/>
              <p:nvPr/>
            </p:nvSpPr>
            <p:spPr>
              <a:xfrm>
                <a:off x="3224" y="9821"/>
                <a:ext cx="800" cy="380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 b="1" dirty="0">
                  <a:solidFill>
                    <a:schemeClr val="hlink"/>
                  </a:solidFill>
                  <a:latin typeface="Monotype Corsiva" pitchFamily="66" charset="0"/>
                  <a:ea typeface="华文彩云" pitchFamily="2" charset="-122"/>
                </a:endParaRPr>
              </a:p>
            </p:txBody>
          </p:sp>
        </p:grpSp>
        <p:grpSp>
          <p:nvGrpSpPr>
            <p:cNvPr id="44047" name="Group 16"/>
            <p:cNvGrpSpPr/>
            <p:nvPr/>
          </p:nvGrpSpPr>
          <p:grpSpPr>
            <a:xfrm>
              <a:off x="2" y="2670"/>
              <a:ext cx="894" cy="332"/>
              <a:chOff x="3084" y="9821"/>
              <a:chExt cx="1080" cy="380"/>
            </a:xfrm>
          </p:grpSpPr>
          <p:sp>
            <p:nvSpPr>
              <p:cNvPr id="44048" name="Rectangle 17"/>
              <p:cNvSpPr/>
              <p:nvPr/>
            </p:nvSpPr>
            <p:spPr>
              <a:xfrm>
                <a:off x="3084" y="9861"/>
                <a:ext cx="1080" cy="34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/>
                  <a:t>结束</a:t>
                </a:r>
                <a:endParaRPr lang="zh-CN" altLang="en-US" sz="2000" b="1" dirty="0"/>
              </a:p>
            </p:txBody>
          </p:sp>
          <p:sp>
            <p:nvSpPr>
              <p:cNvPr id="44049" name="Oval 18"/>
              <p:cNvSpPr/>
              <p:nvPr/>
            </p:nvSpPr>
            <p:spPr>
              <a:xfrm>
                <a:off x="3224" y="9821"/>
                <a:ext cx="800" cy="380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 b="1" dirty="0">
                  <a:solidFill>
                    <a:schemeClr val="hlink"/>
                  </a:solidFill>
                  <a:latin typeface="Monotype Corsiva" pitchFamily="66" charset="0"/>
                  <a:ea typeface="华文彩云" pitchFamily="2" charset="-122"/>
                </a:endParaRPr>
              </a:p>
            </p:txBody>
          </p:sp>
        </p:grpSp>
      </p:grpSp>
      <p:sp>
        <p:nvSpPr>
          <p:cNvPr id="44036" name="Text Box 21"/>
          <p:cNvSpPr txBox="1"/>
          <p:nvPr/>
        </p:nvSpPr>
        <p:spPr>
          <a:xfrm>
            <a:off x="23813" y="-55562"/>
            <a:ext cx="1143635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hlink"/>
                </a:solidFill>
                <a:latin typeface="宋体" panose="02010600030101010101" pitchFamily="2" charset="-122"/>
              </a:rPr>
              <a:t>【</a:t>
            </a:r>
            <a:r>
              <a:rPr lang="zh-CN" altLang="en-US" b="1" dirty="0">
                <a:solidFill>
                  <a:schemeClr val="hlink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chemeClr val="hlink"/>
                </a:solidFill>
                <a:latin typeface="宋体" panose="02010600030101010101" pitchFamily="2" charset="-122"/>
              </a:rPr>
              <a:t>4.4】</a:t>
            </a:r>
            <a:r>
              <a:rPr lang="en-US" altLang="zh-CN" sz="2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教材P90</a:t>
            </a:r>
            <a:r>
              <a:rPr lang="zh-CN" altLang="en-US" b="1" dirty="0">
                <a:solidFill>
                  <a:schemeClr val="hlink"/>
                </a:solidFill>
                <a:latin typeface="宋体" panose="02010600030101010101" pitchFamily="2" charset="-122"/>
              </a:rPr>
              <a:t>用先判断条件的循环重写</a:t>
            </a:r>
            <a:r>
              <a:rPr lang="en-US" altLang="zh-CN" b="1" dirty="0">
                <a:solidFill>
                  <a:schemeClr val="hlink"/>
                </a:solidFill>
                <a:latin typeface="宋体" panose="02010600030101010101" pitchFamily="2" charset="-122"/>
              </a:rPr>
              <a:t>【</a:t>
            </a:r>
            <a:r>
              <a:rPr lang="zh-CN" altLang="en-US" b="1" dirty="0">
                <a:solidFill>
                  <a:schemeClr val="hlink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chemeClr val="hlink"/>
                </a:solidFill>
                <a:latin typeface="宋体" panose="02010600030101010101" pitchFamily="2" charset="-122"/>
              </a:rPr>
              <a:t>4.1】</a:t>
            </a:r>
            <a:r>
              <a:rPr lang="zh-CN" altLang="en-US" b="1" dirty="0">
                <a:solidFill>
                  <a:schemeClr val="hlink"/>
                </a:solidFill>
                <a:latin typeface="宋体" panose="02010600030101010101" pitchFamily="2" charset="-122"/>
              </a:rPr>
              <a:t>的程序。</a:t>
            </a:r>
            <a:endParaRPr lang="en-US" altLang="zh-CN" b="1" dirty="0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pic>
        <p:nvPicPr>
          <p:cNvPr id="44037" name="Picture 23"/>
          <p:cNvPicPr>
            <a:picLocks noChangeAspect="1"/>
          </p:cNvPicPr>
          <p:nvPr/>
        </p:nvPicPr>
        <p:blipFill>
          <a:blip r:embed="rId1"/>
          <a:srcRect t="17343" b="13017"/>
          <a:stretch>
            <a:fillRect/>
          </a:stretch>
        </p:blipFill>
        <p:spPr>
          <a:xfrm>
            <a:off x="3049588" y="4843463"/>
            <a:ext cx="2673350" cy="19161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Rectangle 19"/>
          <p:cNvSpPr/>
          <p:nvPr/>
        </p:nvSpPr>
        <p:spPr>
          <a:xfrm>
            <a:off x="5789613" y="764223"/>
            <a:ext cx="6278562" cy="563118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#include &lt;stdio.h&gt;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#define  N  40</a:t>
            </a:r>
            <a:endParaRPr lang="en-US" altLang="zh-CN" sz="28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int main(){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   float  sum ; int  k , m;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   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k=1</a:t>
            </a:r>
            <a:r>
              <a:rPr lang="zh-CN" alt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；</a:t>
            </a:r>
            <a:r>
              <a:rPr lang="en-US" altLang="zh-CN" sz="2800" b="1" dirty="0">
                <a:latin typeface="Arial" panose="020B0604020202020204" pitchFamily="34" charset="0"/>
              </a:rPr>
              <a:t>sum=0</a:t>
            </a:r>
            <a:r>
              <a:rPr lang="zh-CN" altLang="en-US" sz="2800" b="1" dirty="0">
                <a:latin typeface="Arial" panose="020B0604020202020204" pitchFamily="34" charset="0"/>
              </a:rPr>
              <a:t>；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    </a:t>
            </a:r>
            <a:r>
              <a: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</a:rPr>
              <a:t>while  (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k&lt;=N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</a:rPr>
              <a:t>) {</a:t>
            </a:r>
            <a:endParaRPr lang="en-US" altLang="zh-CN" sz="2800" b="1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          printf(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  <a:sym typeface="+mn-ea"/>
              </a:rPr>
              <a:t>"</a:t>
            </a:r>
            <a:r>
              <a:rPr lang="zh-CN" altLang="en-US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请输入单科成绩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:");</a:t>
            </a:r>
            <a:endParaRPr lang="en-US" altLang="zh-CN" sz="28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          scanf("%d",&amp;m );</a:t>
            </a:r>
            <a:endParaRPr lang="en-US" altLang="zh-CN" sz="28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          sum = sum + m;</a:t>
            </a:r>
            <a:endParaRPr lang="en-US" altLang="zh-CN" sz="28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         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k = k+1 ; </a:t>
            </a:r>
            <a:endParaRPr lang="en-US" altLang="zh-CN" sz="28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     </a:t>
            </a:r>
            <a:r>
              <a: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</a:rPr>
              <a:t> }</a:t>
            </a:r>
            <a:endParaRPr lang="en-US" altLang="zh-CN" sz="2800" b="1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printf(</a:t>
            </a: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2000" b="1" dirty="0">
                <a:latin typeface="Arial" panose="020B0604020202020204" pitchFamily="34" charset="0"/>
              </a:rPr>
              <a:t>平均成绩为: </a:t>
            </a:r>
            <a:r>
              <a:rPr lang="en-US" altLang="zh-CN" sz="2800" b="1" dirty="0">
                <a:latin typeface="Arial" panose="020B0604020202020204" pitchFamily="34" charset="0"/>
              </a:rPr>
              <a:t>%5.2f\n" ,</a:t>
            </a:r>
            <a:r>
              <a:rPr lang="en-US" altLang="zh-CN" sz="1800" b="1" dirty="0">
                <a:latin typeface="Arial" panose="020B0604020202020204" pitchFamily="34" charset="0"/>
              </a:rPr>
              <a:t> </a:t>
            </a:r>
            <a:r>
              <a:rPr lang="en-US" altLang="zh-CN" sz="2800" b="1" dirty="0">
                <a:latin typeface="Arial" panose="020B0604020202020204" pitchFamily="34" charset="0"/>
              </a:rPr>
              <a:t>sum/N );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  </a:t>
            </a:r>
            <a:r>
              <a:rPr lang="en-US" altLang="zh-CN" sz="2000" b="1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return 0;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}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8534400" y="6323965"/>
            <a:ext cx="28448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BDE941-D4FF-4CB0-8D23-998A40E0591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59" name="Rectangle 5"/>
          <p:cNvSpPr/>
          <p:nvPr/>
        </p:nvSpPr>
        <p:spPr>
          <a:xfrm>
            <a:off x="5913438" y="4508500"/>
            <a:ext cx="18415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pic>
        <p:nvPicPr>
          <p:cNvPr id="45060" name="Picture 18"/>
          <p:cNvPicPr>
            <a:picLocks noChangeAspect="1"/>
          </p:cNvPicPr>
          <p:nvPr/>
        </p:nvPicPr>
        <p:blipFill>
          <a:blip r:embed="rId1"/>
          <a:srcRect t="50000" b="15182"/>
          <a:stretch>
            <a:fillRect/>
          </a:stretch>
        </p:blipFill>
        <p:spPr>
          <a:xfrm>
            <a:off x="5714683" y="5840413"/>
            <a:ext cx="4594225" cy="841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5714683" y="5410200"/>
            <a:ext cx="295275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运行结果：</a:t>
            </a:r>
            <a:endParaRPr kumimoji="0" lang="zh-CN" altLang="en-US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45062" name="文本框 2"/>
          <p:cNvSpPr txBox="1"/>
          <p:nvPr/>
        </p:nvSpPr>
        <p:spPr>
          <a:xfrm>
            <a:off x="11113" y="79375"/>
            <a:ext cx="12257087" cy="1383665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C000"/>
                </a:solidFill>
              </a:rPr>
              <a:t>【</a:t>
            </a:r>
            <a:r>
              <a:rPr lang="zh-CN" altLang="en-US" sz="2800" b="1" dirty="0">
                <a:solidFill>
                  <a:srgbClr val="FFC000"/>
                </a:solidFill>
              </a:rPr>
              <a:t>累加求和</a:t>
            </a:r>
            <a:r>
              <a:rPr lang="en-US" altLang="zh-CN" sz="2800" b="1" dirty="0">
                <a:solidFill>
                  <a:srgbClr val="FFC000"/>
                </a:solidFill>
              </a:rPr>
              <a:t>】</a:t>
            </a:r>
            <a:endParaRPr lang="en-US" altLang="zh-CN" sz="2800" b="1" dirty="0">
              <a:solidFill>
                <a:srgbClr val="FFC0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1.</a:t>
            </a:r>
            <a:r>
              <a:rPr lang="zh-CN" altLang="en-US" sz="2800" b="1" dirty="0"/>
              <a:t>循环次数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已知</a:t>
            </a:r>
            <a:r>
              <a:rPr lang="zh-CN" altLang="en-US" sz="2800" b="1" dirty="0"/>
              <a:t>：</a:t>
            </a:r>
            <a:r>
              <a:rPr lang="en-US" altLang="zh-CN" sz="2800" b="1" dirty="0"/>
              <a:t>P88 </a:t>
            </a:r>
            <a:r>
              <a:rPr lang="zh-CN" altLang="en-US" sz="2800" b="1" dirty="0"/>
              <a:t>例</a:t>
            </a:r>
            <a:r>
              <a:rPr lang="en-US" altLang="zh-CN" sz="2800" b="1" dirty="0"/>
              <a:t>4.2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【</a:t>
            </a:r>
            <a:r>
              <a:rPr lang="zh-CN" altLang="en-US" sz="2800" b="1" dirty="0"/>
              <a:t>课后实践</a:t>
            </a:r>
            <a:r>
              <a:rPr lang="en-US" altLang="zh-CN" sz="2800" b="1" dirty="0"/>
              <a:t>】P112 4.2 </a:t>
            </a:r>
            <a:r>
              <a:rPr lang="zh-CN" altLang="en-US" sz="2800" b="1" dirty="0"/>
              <a:t>计算到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前100项</a:t>
            </a:r>
            <a:endParaRPr lang="en-US" altLang="zh-CN" sz="28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2.</a:t>
            </a:r>
            <a:r>
              <a:rPr lang="zh-CN" altLang="en-US" sz="2800" b="1" dirty="0"/>
              <a:t>循环次数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未知</a:t>
            </a:r>
            <a:r>
              <a:rPr lang="zh-CN" altLang="en-US" sz="2800" b="1" dirty="0"/>
              <a:t>：</a:t>
            </a:r>
            <a:r>
              <a:rPr lang="en-US" altLang="zh-CN" sz="2800" b="1" dirty="0"/>
              <a:t>P92 </a:t>
            </a:r>
            <a:r>
              <a:rPr lang="zh-CN" altLang="en-US" sz="2800" b="1" dirty="0"/>
              <a:t>例</a:t>
            </a:r>
            <a:r>
              <a:rPr lang="en-US" altLang="zh-CN" sz="2800" b="1" dirty="0"/>
              <a:t>4.5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【</a:t>
            </a:r>
            <a:r>
              <a:rPr lang="zh-CN" altLang="en-US" sz="2800" b="1" dirty="0"/>
              <a:t>课后实践</a:t>
            </a:r>
            <a:r>
              <a:rPr lang="en-US" altLang="zh-CN" sz="2800" b="1" dirty="0"/>
              <a:t>】P112 4.2 </a:t>
            </a:r>
            <a:r>
              <a:rPr lang="zh-CN" altLang="en-US" sz="2800" b="1" dirty="0"/>
              <a:t>计算到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余项小于10-8</a:t>
            </a:r>
            <a:endParaRPr lang="en-US" altLang="zh-CN" sz="28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5063" name="对象 1"/>
          <p:cNvGraphicFramePr>
            <a:graphicFrameLocks noChangeAspect="1"/>
          </p:cNvGraphicFramePr>
          <p:nvPr/>
        </p:nvGraphicFramePr>
        <p:xfrm>
          <a:off x="1905000" y="4343400"/>
          <a:ext cx="3551238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2" imgW="850265" imgH="431800" progId="Equation.DSMT4">
                  <p:embed/>
                </p:oleObj>
              </mc:Choice>
              <mc:Fallback>
                <p:oleObj name="" r:id="rId2" imgW="850265" imgH="4318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05000" y="4343400"/>
                        <a:ext cx="3551238" cy="1514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-17649" y="2964865"/>
            <a:ext cx="11752301" cy="1268680"/>
          </a:xfrm>
          <a:prstGeom prst="rect">
            <a:avLst/>
          </a:prstGeom>
          <a:blipFill>
            <a:blip r:embed="rId4" cstate="print"/>
            <a:stretch>
              <a:fillRect l="-1556" t="-8173" b="-11058"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noFill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 dirty="0">
              <a:noFill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013642-E7B3-4C9E-9AED-D6DF6654408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3" name="Rectangle 5"/>
          <p:cNvSpPr/>
          <p:nvPr/>
        </p:nvSpPr>
        <p:spPr>
          <a:xfrm>
            <a:off x="6003925" y="3017838"/>
            <a:ext cx="18415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655375" name="Rectangle 15"/>
          <p:cNvSpPr/>
          <p:nvPr/>
        </p:nvSpPr>
        <p:spPr>
          <a:xfrm>
            <a:off x="2743200" y="3935413"/>
            <a:ext cx="3586163" cy="6842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即 </a:t>
            </a:r>
            <a:r>
              <a:rPr lang="en-US" altLang="zh-CN" b="1" dirty="0">
                <a:latin typeface="宋体" panose="02010600030101010101" pitchFamily="2" charset="-122"/>
              </a:rPr>
              <a:t>1/3! </a:t>
            </a:r>
            <a:r>
              <a:rPr lang="en-US" altLang="zh-CN" b="1" dirty="0">
                <a:latin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(</a:t>
            </a: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1/2!)</a:t>
            </a:r>
            <a:r>
              <a:rPr lang="en-US" altLang="zh-CN" b="1" dirty="0">
                <a:latin typeface="宋体" panose="02010600030101010101" pitchFamily="2" charset="-122"/>
              </a:rPr>
              <a:t>/3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655374" name="Rectangle 14"/>
          <p:cNvSpPr/>
          <p:nvPr/>
        </p:nvSpPr>
        <p:spPr>
          <a:xfrm>
            <a:off x="3302000" y="2430463"/>
            <a:ext cx="3573463" cy="12938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1/2! </a:t>
            </a:r>
            <a:r>
              <a:rPr lang="en-US" altLang="zh-CN" b="1" dirty="0">
                <a:latin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b="1" dirty="0">
                <a:latin typeface="宋体" panose="02010600030101010101" pitchFamily="2" charset="-122"/>
              </a:rPr>
              <a:t>1/(1*2)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FF00"/>
                </a:solidFill>
                <a:latin typeface="宋体" panose="02010600030101010101" pitchFamily="2" charset="-122"/>
              </a:rPr>
              <a:t>1/3! </a:t>
            </a:r>
            <a:r>
              <a:rPr lang="en-US" altLang="zh-CN" b="1" dirty="0">
                <a:solidFill>
                  <a:srgbClr val="FFFF00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b="1" dirty="0">
                <a:solidFill>
                  <a:srgbClr val="FFFF00"/>
                </a:solidFill>
                <a:latin typeface="宋体" panose="02010600030101010101" pitchFamily="2" charset="-122"/>
              </a:rPr>
              <a:t>1/(1*2*3)</a:t>
            </a:r>
            <a:endParaRPr lang="en-US" altLang="zh-CN" b="1" dirty="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sp>
        <p:nvSpPr>
          <p:cNvPr id="3" name="文本框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775077" y="299955"/>
            <a:ext cx="7650162" cy="714682"/>
          </a:xfrm>
          <a:prstGeom prst="rect">
            <a:avLst/>
          </a:prstGeom>
          <a:blipFill>
            <a:blip r:embed="rId1"/>
            <a:stretch>
              <a:fillRect l="-1594" r="-1195" b="-5983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noFill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 dirty="0">
              <a:noFill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7" name="矩形 3"/>
          <p:cNvSpPr/>
          <p:nvPr/>
        </p:nvSpPr>
        <p:spPr>
          <a:xfrm>
            <a:off x="9448800" y="33338"/>
            <a:ext cx="2720975" cy="138430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循环体？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循环条件？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循环控制方式？</a:t>
            </a:r>
            <a:endParaRPr lang="en-US" altLang="zh-CN" sz="2800" b="1" dirty="0"/>
          </a:p>
        </p:txBody>
      </p:sp>
      <p:sp>
        <p:nvSpPr>
          <p:cNvPr id="8" name="矩形 7"/>
          <p:cNvSpPr/>
          <p:nvPr/>
        </p:nvSpPr>
        <p:spPr>
          <a:xfrm>
            <a:off x="7011035" y="2311400"/>
            <a:ext cx="5123815" cy="1724025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txBody>
          <a:bodyPr lIns="0" rIns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思考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】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为什么要递推？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宋体" panose="02010600030101010101" pitchFamily="2" charset="-122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AutoNum type="arabicPeriod"/>
              <a:defRPr/>
            </a:pPr>
            <a:r>
              <a:rPr kumimoji="0" lang="en-US" altLang="zh-CN" sz="3200" b="1" i="0" u="none" strike="noStrike" kern="1200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重复计算</a:t>
            </a:r>
            <a:endParaRPr kumimoji="0" lang="en-US" altLang="zh-CN" sz="3200" b="1" i="0" u="none" strike="noStrike" kern="1200" cap="none" spc="0" normalizeH="0" baseline="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AutoNum type="arabicPeriod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计算过程中产生的溢出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+mn-e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939925" y="4856163"/>
            <a:ext cx="4191000" cy="585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FF00"/>
                </a:solidFill>
              </a:rPr>
              <a:t>递推关系：</a:t>
            </a:r>
            <a:r>
              <a:rPr lang="en-US" altLang="zh-CN" b="1" dirty="0">
                <a:solidFill>
                  <a:srgbClr val="FFFF00"/>
                </a:solidFill>
              </a:rPr>
              <a:t>r</a:t>
            </a:r>
            <a:r>
              <a:rPr lang="en-US" altLang="zh-CN" b="1" baseline="-25000" dirty="0">
                <a:solidFill>
                  <a:srgbClr val="FFFF00"/>
                </a:solidFill>
              </a:rPr>
              <a:t>i </a:t>
            </a:r>
            <a:r>
              <a:rPr lang="en-US" altLang="zh-CN" b="1" dirty="0">
                <a:solidFill>
                  <a:srgbClr val="FFFF00"/>
                </a:solidFill>
                <a:sym typeface="Wingdings" panose="05000000000000000000" pitchFamily="2" charset="2"/>
              </a:rPr>
              <a:t></a:t>
            </a:r>
            <a:r>
              <a:rPr lang="en-US" altLang="zh-CN" b="1" dirty="0">
                <a:solidFill>
                  <a:srgbClr val="FFFF00"/>
                </a:solidFill>
              </a:rPr>
              <a:t> r</a:t>
            </a:r>
            <a:r>
              <a:rPr lang="en-US" altLang="zh-CN" b="1" baseline="-25000" dirty="0">
                <a:solidFill>
                  <a:srgbClr val="FFFF00"/>
                </a:solidFill>
              </a:rPr>
              <a:t>i-1 </a:t>
            </a:r>
            <a:r>
              <a:rPr lang="en-US" altLang="zh-CN" b="1" dirty="0">
                <a:solidFill>
                  <a:srgbClr val="FFFF00"/>
                </a:solidFill>
              </a:rPr>
              <a:t>/ i</a:t>
            </a:r>
            <a:endParaRPr lang="en-US" altLang="zh-CN" b="1" dirty="0">
              <a:solidFill>
                <a:srgbClr val="FFFF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774700" y="1755775"/>
            <a:ext cx="575310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余项计算可利用前后项之间的递推关系：</a:t>
            </a:r>
            <a:endParaRPr lang="zh-CN" altLang="en-US" sz="24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5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4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4">
                                            <p:txEl>
                                              <p:charRg st="14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13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75" grpId="0"/>
      <p:bldP spid="655374" grpId="0"/>
      <p:bldP spid="8" grpId="0" bldLvl="0" animBg="1"/>
      <p:bldP spid="9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8130" name="图片 3"/>
          <p:cNvPicPr>
            <a:picLocks noChangeAspect="1"/>
          </p:cNvPicPr>
          <p:nvPr/>
        </p:nvPicPr>
        <p:blipFill>
          <a:blip r:embed="rId1"/>
          <a:srcRect r="34206"/>
          <a:stretch>
            <a:fillRect/>
          </a:stretch>
        </p:blipFill>
        <p:spPr>
          <a:xfrm>
            <a:off x="8829675" y="-317"/>
            <a:ext cx="3362325" cy="678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457200" y="1524000"/>
            <a:ext cx="4686300" cy="2054860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txBody>
          <a:bodyPr lIns="0" rIns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思考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】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为什么要递推？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ea"/>
              <a:ea typeface="宋体" panose="02010600030101010101" pitchFamily="2" charset="-122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AutoNum type="arabicPeriod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重复计算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+mn-ea"/>
              <a:ea typeface="宋体" panose="02010600030101010101" pitchFamily="2" charset="-122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AutoNum type="arabicPeriod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计算过程中的溢出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e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2" name="Rectangle 15"/>
          <p:cNvSpPr/>
          <p:nvPr/>
        </p:nvSpPr>
        <p:spPr>
          <a:xfrm>
            <a:off x="295275" y="3906520"/>
            <a:ext cx="4343400" cy="6842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1/r! </a:t>
            </a:r>
            <a:r>
              <a:rPr lang="en-US" altLang="zh-CN" b="1" dirty="0">
                <a:latin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b="1" dirty="0">
                <a:latin typeface="宋体" panose="02010600030101010101" pitchFamily="2" charset="-122"/>
              </a:rPr>
              <a:t>1/(</a:t>
            </a: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1*2*……</a:t>
            </a:r>
            <a:r>
              <a:rPr lang="zh-CN" alt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r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4800" y="4739958"/>
            <a:ext cx="4191000" cy="585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FF00"/>
                </a:solidFill>
              </a:rPr>
              <a:t>递推关系：</a:t>
            </a:r>
            <a:r>
              <a:rPr lang="en-US" altLang="zh-CN" b="1" dirty="0">
                <a:solidFill>
                  <a:srgbClr val="FFFF00"/>
                </a:solidFill>
              </a:rPr>
              <a:t>r</a:t>
            </a:r>
            <a:r>
              <a:rPr lang="en-US" altLang="zh-CN" b="1" baseline="-25000" dirty="0">
                <a:solidFill>
                  <a:srgbClr val="FFFF00"/>
                </a:solidFill>
              </a:rPr>
              <a:t>i </a:t>
            </a:r>
            <a:r>
              <a:rPr lang="en-US" altLang="zh-CN" b="1" dirty="0">
                <a:solidFill>
                  <a:srgbClr val="FFFF00"/>
                </a:solidFill>
                <a:sym typeface="Wingdings" panose="05000000000000000000" pitchFamily="2" charset="2"/>
              </a:rPr>
              <a:t></a:t>
            </a:r>
            <a:r>
              <a:rPr lang="en-US" altLang="zh-CN" b="1" dirty="0">
                <a:solidFill>
                  <a:srgbClr val="FFFF00"/>
                </a:solidFill>
              </a:rPr>
              <a:t> r</a:t>
            </a:r>
            <a:r>
              <a:rPr lang="en-US" altLang="zh-CN" b="1" baseline="-25000" dirty="0">
                <a:solidFill>
                  <a:srgbClr val="FFFF00"/>
                </a:solidFill>
              </a:rPr>
              <a:t>i-1 </a:t>
            </a:r>
            <a:r>
              <a:rPr lang="en-US" altLang="zh-CN" b="1" dirty="0">
                <a:solidFill>
                  <a:srgbClr val="FFFF00"/>
                </a:solidFill>
              </a:rPr>
              <a:t>/ i</a:t>
            </a:r>
            <a:endParaRPr lang="en-US" altLang="zh-CN" b="1" dirty="0">
              <a:solidFill>
                <a:srgbClr val="FFFF00"/>
              </a:solidFill>
            </a:endParaRPr>
          </a:p>
        </p:txBody>
      </p:sp>
      <p:sp>
        <p:nvSpPr>
          <p:cNvPr id="2" name="文本框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775077" y="299955"/>
            <a:ext cx="7650162" cy="714682"/>
          </a:xfrm>
          <a:prstGeom prst="rect">
            <a:avLst/>
          </a:prstGeom>
          <a:blipFill>
            <a:blip r:embed="rId2"/>
            <a:stretch>
              <a:fillRect l="-1594" r="-1195" b="-5983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noFill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 dirty="0">
              <a:noFill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584ED7-46E9-47B8-A090-F9C74945CDA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9155" name="Group 48"/>
          <p:cNvGrpSpPr/>
          <p:nvPr/>
        </p:nvGrpSpPr>
        <p:grpSpPr>
          <a:xfrm>
            <a:off x="576263" y="838200"/>
            <a:ext cx="6281737" cy="3352800"/>
            <a:chOff x="1965" y="1284"/>
            <a:chExt cx="3228" cy="1752"/>
          </a:xfrm>
        </p:grpSpPr>
        <p:sp>
          <p:nvSpPr>
            <p:cNvPr id="49158" name="Line 35"/>
            <p:cNvSpPr/>
            <p:nvPr/>
          </p:nvSpPr>
          <p:spPr>
            <a:xfrm>
              <a:off x="2381" y="1596"/>
              <a:ext cx="1" cy="99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9159" name="Rectangle 36"/>
            <p:cNvSpPr/>
            <p:nvPr/>
          </p:nvSpPr>
          <p:spPr>
            <a:xfrm>
              <a:off x="2381" y="1732"/>
              <a:ext cx="1497" cy="27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cs typeface="Times New Roman" panose="02020603050405020304" pitchFamily="18" charset="0"/>
                </a:rPr>
                <a:t>e=1 ;</a:t>
              </a:r>
              <a:r>
                <a:rPr lang="en-US" altLang="zh-CN" sz="24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solidFill>
                    <a:schemeClr val="hlink"/>
                  </a:solidFill>
                  <a:cs typeface="Times New Roman" panose="02020603050405020304" pitchFamily="18" charset="0"/>
                </a:rPr>
                <a:t>i=1; r=1 ;</a:t>
              </a:r>
              <a:endParaRPr lang="en-US" altLang="zh-CN" sz="2400" b="1" dirty="0">
                <a:solidFill>
                  <a:schemeClr val="hlink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49160" name="Rectangle 37"/>
            <p:cNvSpPr/>
            <p:nvPr/>
          </p:nvSpPr>
          <p:spPr>
            <a:xfrm>
              <a:off x="2381" y="2160"/>
              <a:ext cx="1511" cy="318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cs typeface="Times New Roman" panose="02020603050405020304" pitchFamily="18" charset="0"/>
                </a:rPr>
                <a:t>    while r &gt; EPS</a:t>
              </a:r>
              <a:endParaRPr lang="en-US" altLang="zh-CN" sz="2400" b="1" dirty="0">
                <a:ea typeface="Times New Roman" panose="02020603050405020304" pitchFamily="18" charset="0"/>
              </a:endParaRPr>
            </a:p>
          </p:txBody>
        </p:sp>
        <p:sp>
          <p:nvSpPr>
            <p:cNvPr id="49161" name="Line 38"/>
            <p:cNvSpPr/>
            <p:nvPr/>
          </p:nvSpPr>
          <p:spPr>
            <a:xfrm>
              <a:off x="2510" y="2160"/>
              <a:ext cx="1" cy="3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9162" name="Line 39"/>
            <p:cNvSpPr/>
            <p:nvPr/>
          </p:nvSpPr>
          <p:spPr>
            <a:xfrm>
              <a:off x="3892" y="2310"/>
              <a:ext cx="18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9163" name="Rectangle 40"/>
            <p:cNvSpPr/>
            <p:nvPr/>
          </p:nvSpPr>
          <p:spPr>
            <a:xfrm>
              <a:off x="4059" y="1752"/>
              <a:ext cx="1134" cy="31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cs typeface="Times New Roman" panose="02020603050405020304" pitchFamily="18" charset="0"/>
                </a:rPr>
                <a:t>e=e+r ; </a:t>
              </a:r>
              <a:endParaRPr lang="en-US" altLang="zh-CN" sz="2400" b="1" dirty="0">
                <a:ea typeface="Times New Roman" panose="02020603050405020304" pitchFamily="18" charset="0"/>
              </a:endParaRPr>
            </a:p>
          </p:txBody>
        </p:sp>
        <p:sp>
          <p:nvSpPr>
            <p:cNvPr id="49164" name="Rectangle 41"/>
            <p:cNvSpPr/>
            <p:nvPr/>
          </p:nvSpPr>
          <p:spPr>
            <a:xfrm>
              <a:off x="2145" y="1323"/>
              <a:ext cx="746" cy="293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cs typeface="Times New Roman" panose="02020603050405020304" pitchFamily="18" charset="0"/>
                </a:rPr>
                <a:t>开始</a:t>
              </a:r>
              <a:endParaRPr lang="zh-CN" altLang="en-US" sz="2400" b="1" dirty="0">
                <a:ea typeface="Times New Roman" panose="02020603050405020304" pitchFamily="18" charset="0"/>
              </a:endParaRPr>
            </a:p>
          </p:txBody>
        </p:sp>
        <p:sp>
          <p:nvSpPr>
            <p:cNvPr id="49165" name="Rectangle 42"/>
            <p:cNvSpPr/>
            <p:nvPr/>
          </p:nvSpPr>
          <p:spPr>
            <a:xfrm>
              <a:off x="2119" y="2626"/>
              <a:ext cx="823" cy="410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cs typeface="Times New Roman" panose="02020603050405020304" pitchFamily="18" charset="0"/>
                </a:rPr>
                <a:t>结束</a:t>
              </a:r>
              <a:endParaRPr lang="zh-CN" altLang="en-US" sz="2400" b="1" dirty="0">
                <a:ea typeface="Times New Roman" panose="02020603050405020304" pitchFamily="18" charset="0"/>
              </a:endParaRPr>
            </a:p>
          </p:txBody>
        </p:sp>
        <p:sp>
          <p:nvSpPr>
            <p:cNvPr id="49166" name="Oval 43"/>
            <p:cNvSpPr/>
            <p:nvPr/>
          </p:nvSpPr>
          <p:spPr>
            <a:xfrm>
              <a:off x="1965" y="2588"/>
              <a:ext cx="823" cy="29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endParaRPr>
            </a:p>
          </p:txBody>
        </p:sp>
        <p:sp>
          <p:nvSpPr>
            <p:cNvPr id="49167" name="Oval 44"/>
            <p:cNvSpPr/>
            <p:nvPr/>
          </p:nvSpPr>
          <p:spPr>
            <a:xfrm>
              <a:off x="1965" y="1284"/>
              <a:ext cx="823" cy="33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endParaRPr>
            </a:p>
          </p:txBody>
        </p:sp>
        <p:sp>
          <p:nvSpPr>
            <p:cNvPr id="49168" name="Rectangle 45"/>
            <p:cNvSpPr/>
            <p:nvPr/>
          </p:nvSpPr>
          <p:spPr>
            <a:xfrm>
              <a:off x="4059" y="2568"/>
              <a:ext cx="1134" cy="31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r=r/i ;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49169" name="Rectangle 46"/>
            <p:cNvSpPr/>
            <p:nvPr/>
          </p:nvSpPr>
          <p:spPr>
            <a:xfrm>
              <a:off x="4059" y="2160"/>
              <a:ext cx="1134" cy="31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i++;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49170" name="Line 47"/>
            <p:cNvSpPr/>
            <p:nvPr/>
          </p:nvSpPr>
          <p:spPr>
            <a:xfrm>
              <a:off x="4059" y="1752"/>
              <a:ext cx="0" cy="113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49156" name="Text Box 49"/>
          <p:cNvSpPr txBox="1"/>
          <p:nvPr/>
        </p:nvSpPr>
        <p:spPr>
          <a:xfrm>
            <a:off x="1636713" y="4956175"/>
            <a:ext cx="40767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hlink"/>
                </a:solidFill>
                <a:latin typeface="Monotype Corsiva" pitchFamily="66" charset="0"/>
              </a:rPr>
              <a:t>图</a:t>
            </a:r>
            <a:r>
              <a:rPr lang="en-US" altLang="zh-CN" sz="2000" b="1" dirty="0">
                <a:solidFill>
                  <a:schemeClr val="hlink"/>
                </a:solidFill>
                <a:latin typeface="Monotype Corsiva" pitchFamily="66" charset="0"/>
              </a:rPr>
              <a:t>4.11 </a:t>
            </a:r>
            <a:r>
              <a:rPr lang="zh-CN" altLang="en-US" sz="2000" b="1" dirty="0">
                <a:solidFill>
                  <a:schemeClr val="hlink"/>
                </a:solidFill>
                <a:latin typeface="Monotype Corsiva" pitchFamily="66" charset="0"/>
              </a:rPr>
              <a:t>计算</a:t>
            </a:r>
            <a:r>
              <a:rPr lang="en-US" altLang="zh-CN" sz="2000" b="1" dirty="0">
                <a:solidFill>
                  <a:schemeClr val="hlink"/>
                </a:solidFill>
                <a:latin typeface="Monotype Corsiva" pitchFamily="66" charset="0"/>
              </a:rPr>
              <a:t>e</a:t>
            </a:r>
            <a:r>
              <a:rPr lang="zh-CN" altLang="en-US" sz="2000" b="1" dirty="0">
                <a:solidFill>
                  <a:schemeClr val="hlink"/>
                </a:solidFill>
                <a:latin typeface="Monotype Corsiva" pitchFamily="66" charset="0"/>
              </a:rPr>
              <a:t>的近似值</a:t>
            </a:r>
            <a:endParaRPr lang="zh-CN" altLang="en-US" sz="2000" b="1" dirty="0">
              <a:solidFill>
                <a:schemeClr val="hlink"/>
              </a:solidFill>
              <a:latin typeface="Monotype Corsiva" pitchFamily="66" charset="0"/>
            </a:endParaRPr>
          </a:p>
        </p:txBody>
      </p:sp>
      <p:graphicFrame>
        <p:nvGraphicFramePr>
          <p:cNvPr id="49157" name="对象 1"/>
          <p:cNvGraphicFramePr>
            <a:graphicFrameLocks noChangeAspect="1"/>
          </p:cNvGraphicFramePr>
          <p:nvPr/>
        </p:nvGraphicFramePr>
        <p:xfrm>
          <a:off x="9031288" y="636588"/>
          <a:ext cx="2609850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850265" imgH="431800" progId="Equation.DSMT4">
                  <p:embed/>
                </p:oleObj>
              </mc:Choice>
              <mc:Fallback>
                <p:oleObj name="" r:id="rId1" imgW="850265" imgH="431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31288" y="636588"/>
                        <a:ext cx="2609850" cy="1112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851AF0-2060-445E-95E9-D1F9CBD300C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Rectangle 15"/>
          <p:cNvSpPr>
            <a:spLocks noChangeArrowheads="1"/>
          </p:cNvSpPr>
          <p:nvPr/>
        </p:nvSpPr>
        <p:spPr bwMode="auto">
          <a:xfrm>
            <a:off x="34925" y="-23653"/>
            <a:ext cx="5451475" cy="6516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tabLst>
                <a:tab pos="45339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tabLst>
                <a:tab pos="45339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45339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339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45339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45339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45339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45339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45339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339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#include &lt;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stdio.h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339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#define EPS 1e-5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339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main( )  {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339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int 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339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float 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e,r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339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e=1.0;   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=1;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r=1.0;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339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while (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r&gt;EPS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) 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339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e=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e+r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//FLAG2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339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i=i+1;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339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r=r/i;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339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//FLAG1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339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339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de-DE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de-DE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printf (" e=%f\n",e) ;</a:t>
            </a:r>
            <a:r>
              <a:rPr kumimoji="0" lang="de-DE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339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return 0;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339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6929" name="Rectangle 17"/>
          <p:cNvSpPr>
            <a:spLocks noGrp="1"/>
          </p:cNvSpPr>
          <p:nvPr>
            <p:ph idx="1"/>
          </p:nvPr>
        </p:nvSpPr>
        <p:spPr>
          <a:xfrm>
            <a:off x="4724400" y="3008313"/>
            <a:ext cx="5616575" cy="2230437"/>
          </a:xfrm>
          <a:ln w="25400">
            <a:solidFill>
              <a:srgbClr val="FFFF00">
                <a:alpha val="100000"/>
              </a:srgbClr>
            </a:solidFill>
            <a:miter/>
          </a:ln>
        </p:spPr>
        <p:txBody>
          <a:bodyPr vert="horz" wrap="square" lIns="91440" tIns="45720" rIns="91440" bIns="45720" anchor="t" anchorCtr="0"/>
          <a:p>
            <a:pPr marL="609600" indent="-609600" eaLnBrk="1" hangingPunct="1"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400" b="1" dirty="0">
                <a:effectLst/>
              </a:rPr>
              <a:t>初值</a:t>
            </a:r>
            <a:r>
              <a:rPr lang="en-US" altLang="zh-CN" sz="2400" b="1" dirty="0">
                <a:effectLst/>
              </a:rPr>
              <a:t>:</a:t>
            </a:r>
            <a:r>
              <a:rPr lang="en-US" altLang="zh-CN" sz="2000" b="1" dirty="0">
                <a:effectLst/>
              </a:rPr>
              <a:t>	 e=1.0;        i=1;        r=1.0;</a:t>
            </a:r>
            <a:endParaRPr lang="en-US" altLang="zh-CN" sz="2000" b="1" dirty="0">
              <a:effectLst/>
            </a:endParaRPr>
          </a:p>
          <a:p>
            <a:pPr marL="1009650" lvl="1" indent="-609600" eaLnBrk="1" hangingPunct="1">
              <a:buClr>
                <a:schemeClr val="tx1"/>
              </a:buClr>
              <a:buSzTx/>
              <a:buFont typeface="Wingdings" panose="05000000000000000000" pitchFamily="2" charset="2"/>
              <a:buAutoNum type="circleNumDbPlain"/>
            </a:pPr>
            <a:r>
              <a:rPr lang="en-US" altLang="zh-CN" sz="2000" b="1" dirty="0">
                <a:effectLst/>
              </a:rPr>
              <a:t>e=2.0;        i=2;        r=0.5;</a:t>
            </a:r>
            <a:endParaRPr lang="en-US" altLang="zh-CN" sz="2000" b="1" dirty="0">
              <a:effectLst/>
            </a:endParaRPr>
          </a:p>
          <a:p>
            <a:pPr marL="1009650" lvl="1" indent="-609600" eaLnBrk="1" hangingPunct="1">
              <a:buClr>
                <a:schemeClr val="tx1"/>
              </a:buClr>
              <a:buSzTx/>
              <a:buFont typeface="Wingdings" panose="05000000000000000000" pitchFamily="2" charset="2"/>
              <a:buAutoNum type="circleNumDbPlain"/>
            </a:pPr>
            <a:r>
              <a:rPr lang="en-US" altLang="zh-CN" sz="2000" b="1" dirty="0">
                <a:effectLst/>
              </a:rPr>
              <a:t>e=2.5;        i=3;        r=0.1667;</a:t>
            </a:r>
            <a:endParaRPr lang="en-US" altLang="zh-CN" sz="2000" b="1" dirty="0">
              <a:effectLst/>
            </a:endParaRPr>
          </a:p>
          <a:p>
            <a:pPr marL="1009650" lvl="1" indent="-609600" eaLnBrk="1" hangingPunct="1">
              <a:buClr>
                <a:schemeClr val="tx1"/>
              </a:buClr>
              <a:buSzTx/>
              <a:buFont typeface="Wingdings" panose="05000000000000000000" pitchFamily="2" charset="2"/>
              <a:buAutoNum type="circleNumDbPlain"/>
            </a:pPr>
            <a:r>
              <a:rPr lang="en-US" altLang="zh-CN" sz="2000" b="1" dirty="0">
                <a:effectLst/>
              </a:rPr>
              <a:t>e=2.6667;  i=4;        r=0.0417;</a:t>
            </a:r>
            <a:endParaRPr lang="en-US" altLang="zh-CN" sz="2000" b="1" dirty="0">
              <a:effectLst/>
            </a:endParaRPr>
          </a:p>
          <a:p>
            <a:pPr marL="1009650" lvl="1" indent="-609600" eaLnBrk="1" hangingPunct="1">
              <a:buClr>
                <a:schemeClr val="tx1"/>
              </a:buClr>
              <a:buSzTx/>
              <a:buFont typeface="Wingdings" panose="05000000000000000000" pitchFamily="2" charset="2"/>
              <a:buAutoNum type="circleNumDbPlain"/>
            </a:pPr>
            <a:r>
              <a:rPr lang="en-US" altLang="zh-CN" sz="2000" b="1" dirty="0">
                <a:effectLst/>
                <a:latin typeface="Arial" panose="020B0604020202020204" pitchFamily="34" charset="0"/>
              </a:rPr>
              <a:t>……</a:t>
            </a:r>
            <a:r>
              <a:rPr lang="en-US" altLang="zh-CN" sz="2000" b="1" dirty="0">
                <a:effectLst/>
              </a:rPr>
              <a:t>..</a:t>
            </a:r>
            <a:endParaRPr lang="en-US" altLang="zh-CN" sz="2000" b="1" dirty="0">
              <a:effectLst/>
            </a:endParaRPr>
          </a:p>
        </p:txBody>
      </p:sp>
      <p:pic>
        <p:nvPicPr>
          <p:cNvPr id="51205" name="Picture 18"/>
          <p:cNvPicPr>
            <a:picLocks noChangeAspect="1"/>
          </p:cNvPicPr>
          <p:nvPr/>
        </p:nvPicPr>
        <p:blipFill>
          <a:blip r:embed="rId1"/>
          <a:srcRect t="50000"/>
          <a:stretch>
            <a:fillRect/>
          </a:stretch>
        </p:blipFill>
        <p:spPr>
          <a:xfrm>
            <a:off x="2014538" y="6007100"/>
            <a:ext cx="2879725" cy="758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对话气泡: 椭圆形 1"/>
          <p:cNvSpPr/>
          <p:nvPr/>
        </p:nvSpPr>
        <p:spPr bwMode="auto">
          <a:xfrm>
            <a:off x="5257800" y="5364163"/>
            <a:ext cx="6149975" cy="1401763"/>
          </a:xfrm>
          <a:prstGeom prst="wedgeEllipseCallout">
            <a:avLst>
              <a:gd name="adj1" fmla="val -33786"/>
              <a:gd name="adj2" fmla="val -84383"/>
            </a:avLst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思考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】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如何知道一共计算了多少项？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aphicFrame>
        <p:nvGraphicFramePr>
          <p:cNvPr id="51207" name="对象 1"/>
          <p:cNvGraphicFramePr>
            <a:graphicFrameLocks noChangeAspect="1"/>
          </p:cNvGraphicFramePr>
          <p:nvPr/>
        </p:nvGraphicFramePr>
        <p:xfrm>
          <a:off x="5410200" y="1905000"/>
          <a:ext cx="2609850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2" imgW="850265" imgH="431800" progId="Equation.DSMT4">
                  <p:embed/>
                </p:oleObj>
              </mc:Choice>
              <mc:Fallback>
                <p:oleObj name="" r:id="rId2" imgW="850265" imgH="4318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10200" y="1905000"/>
                        <a:ext cx="2609850" cy="1112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383915" y="-1270"/>
            <a:ext cx="8811895" cy="193802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solidFill>
                  <a:srgbClr val="FFC000"/>
                </a:solidFill>
              </a:rPr>
              <a:t>【</a:t>
            </a:r>
            <a:r>
              <a:rPr lang="zh-CN" altLang="en-US" sz="2400" b="1" dirty="0">
                <a:solidFill>
                  <a:srgbClr val="FFC000"/>
                </a:solidFill>
              </a:rPr>
              <a:t>课后实践</a:t>
            </a:r>
            <a:r>
              <a:rPr lang="en-US" altLang="zh-CN" sz="2400" b="1" dirty="0">
                <a:solidFill>
                  <a:srgbClr val="FFC000"/>
                </a:solidFill>
              </a:rPr>
              <a:t>1】</a:t>
            </a:r>
            <a:r>
              <a:rPr lang="zh-CN" altLang="en-US" sz="2400" b="1" dirty="0"/>
              <a:t>在</a:t>
            </a:r>
            <a:r>
              <a:rPr lang="en-US" altLang="zh-CN" sz="2400" b="1" dirty="0"/>
              <a:t>FLAG1</a:t>
            </a:r>
            <a:r>
              <a:rPr lang="zh-CN" altLang="en-US" sz="2400" b="1" dirty="0"/>
              <a:t>行增加</a:t>
            </a:r>
            <a:r>
              <a:rPr lang="en-US" altLang="zh-CN" sz="2400" b="1" dirty="0"/>
              <a:t>printf</a:t>
            </a:r>
            <a:r>
              <a:rPr lang="zh-CN" altLang="en-US" sz="2400" b="1" dirty="0"/>
              <a:t>，输出每次循环中</a:t>
            </a:r>
            <a:r>
              <a:rPr lang="en-US" altLang="zh-CN" sz="2400" b="1" dirty="0"/>
              <a:t>e,i,r</a:t>
            </a:r>
            <a:r>
              <a:rPr lang="zh-CN" altLang="en-US" sz="2400" b="1" dirty="0"/>
              <a:t>，观察循环过程中</a:t>
            </a:r>
            <a:r>
              <a:rPr lang="en-US" altLang="zh-CN" sz="2400" b="1" dirty="0"/>
              <a:t>e,i,r</a:t>
            </a:r>
            <a:r>
              <a:rPr lang="zh-CN" altLang="en-US" sz="2400" b="1" dirty="0"/>
              <a:t>的变化情况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C000"/>
                </a:solidFill>
              </a:rPr>
              <a:t>【</a:t>
            </a:r>
            <a:r>
              <a:rPr lang="zh-CN" altLang="en-US" sz="2400" b="1" dirty="0">
                <a:solidFill>
                  <a:srgbClr val="FFC000"/>
                </a:solidFill>
              </a:rPr>
              <a:t>课后实践</a:t>
            </a:r>
            <a:r>
              <a:rPr lang="en-US" altLang="zh-CN" sz="2400" b="1" dirty="0">
                <a:solidFill>
                  <a:srgbClr val="FFC000"/>
                </a:solidFill>
              </a:rPr>
              <a:t>2】</a:t>
            </a:r>
            <a:r>
              <a:rPr lang="zh-CN" altLang="en-US" sz="2400" b="1" dirty="0"/>
              <a:t>在</a:t>
            </a:r>
            <a:r>
              <a:rPr lang="en-US" altLang="zh-CN" sz="2400" b="1" dirty="0"/>
              <a:t>FLAG2</a:t>
            </a:r>
            <a:r>
              <a:rPr lang="zh-CN" altLang="en-US" sz="2400" b="1" dirty="0"/>
              <a:t>行设置断点，</a:t>
            </a:r>
            <a:r>
              <a:rPr lang="zh-CN" altLang="zh-CN" sz="2400" b="1" dirty="0"/>
              <a:t>用单步调试工具观察</a:t>
            </a:r>
            <a:r>
              <a:rPr lang="en-US" altLang="zh-CN" sz="2400" b="1" dirty="0"/>
              <a:t>e,i,r </a:t>
            </a:r>
            <a:r>
              <a:rPr lang="zh-CN" altLang="en-US" sz="2400" b="1" dirty="0"/>
              <a:t>的</a:t>
            </a:r>
            <a:r>
              <a:rPr lang="zh-CN" altLang="zh-CN" sz="2400" b="1" dirty="0"/>
              <a:t>变化情况，熟练掌握单步调试操作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C000"/>
                </a:solidFill>
              </a:rPr>
              <a:t>【</a:t>
            </a:r>
            <a:r>
              <a:rPr lang="zh-CN" altLang="en-US" sz="2400" b="1" dirty="0">
                <a:solidFill>
                  <a:srgbClr val="FFC000"/>
                </a:solidFill>
              </a:rPr>
              <a:t>课后实践</a:t>
            </a:r>
            <a:r>
              <a:rPr lang="en-US" altLang="zh-CN" sz="2400" b="1" dirty="0">
                <a:solidFill>
                  <a:srgbClr val="FFC000"/>
                </a:solidFill>
              </a:rPr>
              <a:t>3】</a:t>
            </a:r>
            <a:r>
              <a:rPr lang="zh-CN" altLang="en-US" sz="2400" b="1" dirty="0"/>
              <a:t>修改输出，使</a:t>
            </a:r>
            <a:r>
              <a:rPr lang="zh-CN" altLang="en-US" sz="2400" b="1" dirty="0"/>
              <a:t>程序输出总共计算了多少项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9">
                                            <p:txEl>
                                              <p:charRg st="38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6929">
                                            <p:txEl>
                                              <p:charRg st="38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9">
                                            <p:txEl>
                                              <p:charRg st="71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6929">
                                            <p:txEl>
                                              <p:charRg st="71" end="1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9">
                                            <p:txEl>
                                              <p:charRg st="107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6929">
                                            <p:txEl>
                                              <p:charRg st="107" end="1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9">
                                            <p:txEl>
                                              <p:charRg st="140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6929">
                                            <p:txEl>
                                              <p:charRg st="140" end="1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8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02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29" grpId="0" build="p"/>
      <p:bldP spid="2" grpId="0" animBg="1"/>
      <p:bldP spid="3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820" name="Picture 2"/>
          <p:cNvPicPr>
            <a:picLocks noChangeAspect="1"/>
          </p:cNvPicPr>
          <p:nvPr/>
        </p:nvPicPr>
        <p:blipFill>
          <a:blip r:embed="rId1"/>
          <a:srcRect t="12589" b="25809"/>
          <a:stretch>
            <a:fillRect/>
          </a:stretch>
        </p:blipFill>
        <p:spPr>
          <a:xfrm>
            <a:off x="312738" y="2117725"/>
            <a:ext cx="4822825" cy="2720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1pPr>
            <a:lvl2pPr marL="742950" indent="-28575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2pPr>
            <a:lvl3pPr marL="11430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3pPr>
            <a:lvl4pPr marL="16002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4pPr>
            <a:lvl5pPr marL="20574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771DDD-11C6-4865-A9D1-35342DD272E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9459" name="Rectangle 3"/>
          <p:cNvSpPr>
            <a:spLocks noGrp="1" noChangeArrowheads="1"/>
          </p:cNvSpPr>
          <p:nvPr>
            <p:ph idx="1"/>
          </p:nvPr>
        </p:nvSpPr>
        <p:spPr>
          <a:xfrm>
            <a:off x="31750" y="38100"/>
            <a:ext cx="11201400" cy="1981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4.6】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教材P90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编程序，统计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以100为结束符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的整数输入流中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-1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+1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的出现次数并输出。 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Picture 2"/>
          <p:cNvPicPr>
            <a:picLocks noChangeAspect="1"/>
          </p:cNvPicPr>
          <p:nvPr/>
        </p:nvPicPr>
        <p:blipFill>
          <a:blip r:embed="rId1"/>
          <a:srcRect t="72540"/>
          <a:stretch>
            <a:fillRect/>
          </a:stretch>
        </p:blipFill>
        <p:spPr>
          <a:xfrm>
            <a:off x="312738" y="4838700"/>
            <a:ext cx="4838700" cy="1217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5257800" y="4141788"/>
            <a:ext cx="6934200" cy="2678113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FFC000"/>
                </a:solidFill>
                <a:latin typeface="+mn-ea"/>
                <a:ea typeface="+mn-ea"/>
                <a:cs typeface="+mn-cs"/>
              </a:rPr>
              <a:t>【</a:t>
            </a:r>
            <a:r>
              <a:rPr kumimoji="0" lang="zh-CN" altLang="en-US" sz="2800" kern="1200" cap="none" spc="0" normalizeH="0" baseline="0" noProof="0" dirty="0">
                <a:solidFill>
                  <a:srgbClr val="FFC000"/>
                </a:solidFill>
                <a:latin typeface="+mn-ea"/>
                <a:ea typeface="+mn-ea"/>
                <a:cs typeface="+mn-cs"/>
              </a:rPr>
              <a:t>课后实践</a:t>
            </a:r>
            <a:r>
              <a:rPr kumimoji="0" lang="en-US" altLang="zh-CN" sz="2800" kern="1200" cap="none" spc="0" normalizeH="0" baseline="0" noProof="0" dirty="0">
                <a:solidFill>
                  <a:srgbClr val="FFC000"/>
                </a:solidFill>
                <a:latin typeface="+mn-ea"/>
                <a:ea typeface="+mn-ea"/>
                <a:cs typeface="+mn-cs"/>
              </a:rPr>
              <a:t>】</a:t>
            </a:r>
            <a:r>
              <a:rPr kumimoji="0" lang="zh-CN" altLang="en-US" sz="2800" kern="1200" cap="none" spc="0" normalizeH="0" baseline="0" noProof="0" dirty="0">
                <a:solidFill>
                  <a:srgbClr val="FFC000"/>
                </a:solidFill>
                <a:latin typeface="+mn-ea"/>
                <a:ea typeface="+mn-ea"/>
                <a:cs typeface="+mn-cs"/>
              </a:rPr>
              <a:t>输入一个数学表达式，输入</a:t>
            </a:r>
            <a:r>
              <a:rPr kumimoji="0" lang="en-US" altLang="zh-CN" sz="2800" kern="1200" cap="none" spc="0" normalizeH="0" baseline="0" noProof="0" dirty="0">
                <a:solidFill>
                  <a:srgbClr val="FFC000"/>
                </a:solidFill>
                <a:latin typeface="+mn-ea"/>
                <a:ea typeface="+mn-ea"/>
                <a:cs typeface="+mn-cs"/>
              </a:rPr>
              <a:t>#</a:t>
            </a:r>
            <a:r>
              <a:rPr kumimoji="0" lang="zh-CN" altLang="en-US" sz="2800" kern="1200" cap="none" spc="0" normalizeH="0" baseline="0" noProof="0" dirty="0">
                <a:solidFill>
                  <a:srgbClr val="FFC000"/>
                </a:solidFill>
                <a:latin typeface="+mn-ea"/>
                <a:ea typeface="+mn-ea"/>
                <a:cs typeface="+mn-cs"/>
              </a:rPr>
              <a:t>时结束输入，编程判断括号个数匹配情况</a:t>
            </a:r>
            <a:endParaRPr kumimoji="0" lang="en-US" altLang="zh-CN" sz="2800" kern="1200" cap="none" spc="0" normalizeH="0" baseline="0" noProof="0" dirty="0">
              <a:solidFill>
                <a:srgbClr val="FFC000"/>
              </a:solidFill>
              <a:latin typeface="+mn-ea"/>
              <a:ea typeface="+mn-ea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 dirty="0">
                <a:latin typeface="+mn-ea"/>
                <a:ea typeface="+mn-ea"/>
                <a:cs typeface="+mn-cs"/>
              </a:rPr>
              <a:t>输入：</a:t>
            </a:r>
            <a:r>
              <a:rPr kumimoji="0" lang="en-US" altLang="zh-CN" sz="2800" kern="1200" cap="none" spc="0" normalizeH="0" baseline="0" noProof="0" dirty="0">
                <a:latin typeface="+mn-ea"/>
                <a:ea typeface="+mn-ea"/>
                <a:cs typeface="+mn-cs"/>
              </a:rPr>
              <a:t>{[(a1+b2</a:t>
            </a:r>
            <a:r>
              <a:rPr kumimoji="0" lang="zh-CN" altLang="en-US" sz="2800" kern="1200" cap="none" spc="0" normalizeH="0" baseline="0" noProof="0" dirty="0"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sz="2800" kern="1200" cap="none" spc="0" normalizeH="0" baseline="0" noProof="0" dirty="0">
                <a:latin typeface="+mn-ea"/>
                <a:ea typeface="+mn-ea"/>
                <a:cs typeface="+mn-cs"/>
              </a:rPr>
              <a:t>*c]+d}%b}#</a:t>
            </a:r>
            <a:endParaRPr kumimoji="0" lang="en-US" altLang="zh-CN" sz="2800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 dirty="0">
                <a:latin typeface="+mn-ea"/>
                <a:ea typeface="+mn-ea"/>
                <a:cs typeface="+mn-cs"/>
              </a:rPr>
              <a:t>输出：</a:t>
            </a:r>
            <a:r>
              <a:rPr kumimoji="0" lang="en-US" altLang="zh-CN" sz="2800" kern="1200" cap="none" spc="0" normalizeH="0" baseline="0" noProof="0" dirty="0">
                <a:latin typeface="+mn-ea"/>
                <a:ea typeface="+mn-ea"/>
                <a:cs typeface="+mn-cs"/>
              </a:rPr>
              <a:t>(</a:t>
            </a:r>
            <a:r>
              <a:rPr kumimoji="0" lang="zh-CN" altLang="en-US" sz="2800" kern="1200" cap="none" spc="0" normalizeH="0" baseline="0" noProof="0" dirty="0">
                <a:latin typeface="+mn-ea"/>
                <a:ea typeface="+mn-ea"/>
                <a:cs typeface="+mn-cs"/>
              </a:rPr>
              <a:t>和</a:t>
            </a:r>
            <a:r>
              <a:rPr kumimoji="0" lang="en-US" altLang="zh-CN" sz="2800" kern="1200" cap="none" spc="0" normalizeH="0" baseline="0" noProof="0" dirty="0">
                <a:latin typeface="+mn-ea"/>
                <a:ea typeface="+mn-ea"/>
                <a:cs typeface="+mn-cs"/>
              </a:rPr>
              <a:t>)</a:t>
            </a:r>
            <a:r>
              <a:rPr kumimoji="0" lang="zh-CN" altLang="en-US" sz="2800" kern="1200" cap="none" spc="0" normalizeH="0" baseline="0" noProof="0" dirty="0">
                <a:latin typeface="+mn-ea"/>
                <a:ea typeface="+mn-ea"/>
                <a:cs typeface="+mn-cs"/>
              </a:rPr>
              <a:t>个数匹配</a:t>
            </a:r>
            <a:endParaRPr kumimoji="0" lang="en-US" altLang="zh-CN" sz="2800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latin typeface="+mn-ea"/>
                <a:ea typeface="+mn-ea"/>
                <a:cs typeface="+mn-cs"/>
              </a:rPr>
              <a:t>       [</a:t>
            </a:r>
            <a:r>
              <a:rPr kumimoji="0" lang="zh-CN" altLang="en-US" sz="2800" kern="1200" cap="none" spc="0" normalizeH="0" baseline="0" noProof="0" dirty="0">
                <a:latin typeface="+mn-ea"/>
                <a:ea typeface="+mn-ea"/>
                <a:cs typeface="+mn-cs"/>
              </a:rPr>
              <a:t>和</a:t>
            </a:r>
            <a:r>
              <a:rPr kumimoji="0" lang="en-US" altLang="zh-CN" sz="2800" kern="1200" cap="none" spc="0" normalizeH="0" baseline="0" noProof="0" dirty="0">
                <a:latin typeface="+mn-ea"/>
                <a:ea typeface="+mn-ea"/>
                <a:cs typeface="+mn-cs"/>
              </a:rPr>
              <a:t>]</a:t>
            </a:r>
            <a:r>
              <a:rPr kumimoji="0" lang="zh-CN" altLang="en-US" sz="2800" kern="1200" cap="none" spc="0" normalizeH="0" baseline="0" noProof="0" dirty="0">
                <a:latin typeface="+mn-ea"/>
                <a:ea typeface="+mn-ea"/>
                <a:cs typeface="+mn-cs"/>
              </a:rPr>
              <a:t>个数匹配</a:t>
            </a:r>
            <a:endParaRPr kumimoji="0" lang="en-US" altLang="zh-CN" sz="2800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latin typeface="+mn-ea"/>
                <a:ea typeface="+mn-ea"/>
                <a:cs typeface="+mn-cs"/>
              </a:rPr>
              <a:t>	 {</a:t>
            </a:r>
            <a:r>
              <a:rPr kumimoji="0" lang="zh-CN" altLang="en-US" sz="2800" kern="1200" cap="none" spc="0" normalizeH="0" baseline="0" noProof="0" dirty="0">
                <a:latin typeface="+mn-ea"/>
                <a:ea typeface="+mn-ea"/>
                <a:cs typeface="+mn-cs"/>
              </a:rPr>
              <a:t>和</a:t>
            </a:r>
            <a:r>
              <a:rPr kumimoji="0" lang="en-US" altLang="zh-CN" sz="2800" kern="1200" cap="none" spc="0" normalizeH="0" baseline="0" noProof="0" dirty="0">
                <a:latin typeface="+mn-ea"/>
                <a:ea typeface="+mn-ea"/>
                <a:cs typeface="+mn-cs"/>
              </a:rPr>
              <a:t>}</a:t>
            </a:r>
            <a:r>
              <a:rPr kumimoji="0" lang="zh-CN" altLang="en-US" sz="2800" kern="1200" cap="none" spc="0" normalizeH="0" baseline="0" noProof="0" dirty="0">
                <a:latin typeface="+mn-ea"/>
                <a:ea typeface="+mn-ea"/>
                <a:cs typeface="+mn-cs"/>
              </a:rPr>
              <a:t>个数不匹配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38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61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72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87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1pPr>
            <a:lvl2pPr marL="742950" indent="-28575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2pPr>
            <a:lvl3pPr marL="11430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3pPr>
            <a:lvl4pPr marL="16002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4pPr>
            <a:lvl5pPr marL="20574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06B098E-54F5-43E4-AA1C-19CE9CC9435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59496" name="Group 40"/>
          <p:cNvGrpSpPr/>
          <p:nvPr/>
        </p:nvGrpSpPr>
        <p:grpSpPr>
          <a:xfrm>
            <a:off x="762000" y="2019300"/>
            <a:ext cx="7643813" cy="4770438"/>
            <a:chOff x="288" y="1168"/>
            <a:chExt cx="4815" cy="2693"/>
          </a:xfrm>
        </p:grpSpPr>
        <p:sp>
          <p:nvSpPr>
            <p:cNvPr id="54279" name="Line 5"/>
            <p:cNvSpPr/>
            <p:nvPr/>
          </p:nvSpPr>
          <p:spPr>
            <a:xfrm>
              <a:off x="795" y="1532"/>
              <a:ext cx="0" cy="196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4280" name="Rectangle 6"/>
            <p:cNvSpPr/>
            <p:nvPr/>
          </p:nvSpPr>
          <p:spPr>
            <a:xfrm>
              <a:off x="796" y="2589"/>
              <a:ext cx="2025" cy="291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  while  num != 100</a:t>
              </a:r>
              <a:endParaRPr lang="en-US" altLang="zh-CN" sz="2400" b="1" dirty="0"/>
            </a:p>
          </p:txBody>
        </p:sp>
        <p:sp>
          <p:nvSpPr>
            <p:cNvPr id="54281" name="Line 7"/>
            <p:cNvSpPr/>
            <p:nvPr/>
          </p:nvSpPr>
          <p:spPr>
            <a:xfrm>
              <a:off x="924" y="2587"/>
              <a:ext cx="0" cy="29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4282" name="Line 8"/>
            <p:cNvSpPr/>
            <p:nvPr/>
          </p:nvSpPr>
          <p:spPr>
            <a:xfrm>
              <a:off x="2823" y="2725"/>
              <a:ext cx="16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4283" name="Rectangle 10"/>
            <p:cNvSpPr/>
            <p:nvPr/>
          </p:nvSpPr>
          <p:spPr>
            <a:xfrm>
              <a:off x="795" y="1728"/>
              <a:ext cx="2026" cy="321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i=0; j=0; k=0;</a:t>
              </a:r>
              <a:endPara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4284" name="Rectangle 11"/>
            <p:cNvSpPr/>
            <p:nvPr/>
          </p:nvSpPr>
          <p:spPr>
            <a:xfrm>
              <a:off x="795" y="3014"/>
              <a:ext cx="1482" cy="289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输出 </a:t>
              </a:r>
              <a:r>
                <a:rPr lang="en-US" altLang="zh-CN" sz="2400" b="1" dirty="0"/>
                <a:t>i,j,k</a:t>
              </a:r>
              <a:endParaRPr lang="en-US" altLang="zh-CN" sz="2400" b="1" dirty="0"/>
            </a:p>
          </p:txBody>
        </p:sp>
        <p:grpSp>
          <p:nvGrpSpPr>
            <p:cNvPr id="54285" name="Group 12"/>
            <p:cNvGrpSpPr/>
            <p:nvPr/>
          </p:nvGrpSpPr>
          <p:grpSpPr>
            <a:xfrm>
              <a:off x="288" y="1168"/>
              <a:ext cx="1013" cy="343"/>
              <a:chOff x="3084" y="9821"/>
              <a:chExt cx="1080" cy="380"/>
            </a:xfrm>
          </p:grpSpPr>
          <p:sp>
            <p:nvSpPr>
              <p:cNvPr id="54308" name="Rectangle 13"/>
              <p:cNvSpPr/>
              <p:nvPr/>
            </p:nvSpPr>
            <p:spPr>
              <a:xfrm>
                <a:off x="3084" y="9861"/>
                <a:ext cx="1080" cy="34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/>
                  <a:t>开始</a:t>
                </a:r>
                <a:endParaRPr lang="zh-CN" altLang="en-US" sz="2400" b="1" dirty="0"/>
              </a:p>
            </p:txBody>
          </p:sp>
          <p:sp>
            <p:nvSpPr>
              <p:cNvPr id="54309" name="Oval 14"/>
              <p:cNvSpPr/>
              <p:nvPr/>
            </p:nvSpPr>
            <p:spPr>
              <a:xfrm>
                <a:off x="3224" y="9821"/>
                <a:ext cx="800" cy="380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 b="1" dirty="0">
                  <a:solidFill>
                    <a:schemeClr val="hlink"/>
                  </a:solidFill>
                  <a:latin typeface="Monotype Corsiva" pitchFamily="66" charset="0"/>
                  <a:ea typeface="华文彩云" pitchFamily="2" charset="-122"/>
                </a:endParaRPr>
              </a:p>
            </p:txBody>
          </p:sp>
        </p:grpSp>
        <p:grpSp>
          <p:nvGrpSpPr>
            <p:cNvPr id="54286" name="Group 15"/>
            <p:cNvGrpSpPr/>
            <p:nvPr/>
          </p:nvGrpSpPr>
          <p:grpSpPr>
            <a:xfrm>
              <a:off x="288" y="3518"/>
              <a:ext cx="1013" cy="343"/>
              <a:chOff x="3084" y="9821"/>
              <a:chExt cx="1080" cy="380"/>
            </a:xfrm>
          </p:grpSpPr>
          <p:sp>
            <p:nvSpPr>
              <p:cNvPr id="54306" name="Rectangle 16"/>
              <p:cNvSpPr/>
              <p:nvPr/>
            </p:nvSpPr>
            <p:spPr>
              <a:xfrm>
                <a:off x="3084" y="9861"/>
                <a:ext cx="1080" cy="34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/>
                  <a:t>结束</a:t>
                </a:r>
                <a:endParaRPr lang="zh-CN" altLang="en-US" sz="2400" b="1" dirty="0"/>
              </a:p>
            </p:txBody>
          </p:sp>
          <p:sp>
            <p:nvSpPr>
              <p:cNvPr id="54307" name="Oval 17"/>
              <p:cNvSpPr/>
              <p:nvPr/>
            </p:nvSpPr>
            <p:spPr>
              <a:xfrm>
                <a:off x="3224" y="9821"/>
                <a:ext cx="800" cy="380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 b="1" dirty="0">
                  <a:solidFill>
                    <a:schemeClr val="hlink"/>
                  </a:solidFill>
                  <a:latin typeface="Monotype Corsiva" pitchFamily="66" charset="0"/>
                  <a:ea typeface="华文彩云" pitchFamily="2" charset="-122"/>
                </a:endParaRPr>
              </a:p>
            </p:txBody>
          </p:sp>
        </p:grpSp>
        <p:sp>
          <p:nvSpPr>
            <p:cNvPr id="54287" name="Rectangle 18"/>
            <p:cNvSpPr/>
            <p:nvPr/>
          </p:nvSpPr>
          <p:spPr>
            <a:xfrm>
              <a:off x="795" y="2180"/>
              <a:ext cx="2026" cy="30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3960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hlink"/>
                  </a:solidFill>
                </a:rPr>
                <a:t>输入一个数 → </a:t>
              </a:r>
              <a:r>
                <a:rPr lang="en-US" altLang="zh-CN" sz="2400" b="1" dirty="0">
                  <a:solidFill>
                    <a:schemeClr val="hlink"/>
                  </a:solidFill>
                </a:rPr>
                <a:t>num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4288" name="Line 19"/>
            <p:cNvSpPr/>
            <p:nvPr/>
          </p:nvSpPr>
          <p:spPr>
            <a:xfrm>
              <a:off x="2996" y="2083"/>
              <a:ext cx="0" cy="12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4289" name="Rectangle 21"/>
            <p:cNvSpPr/>
            <p:nvPr/>
          </p:nvSpPr>
          <p:spPr>
            <a:xfrm>
              <a:off x="4239" y="1984"/>
              <a:ext cx="847" cy="23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i++</a:t>
              </a:r>
              <a:endParaRPr lang="en-US" altLang="zh-CN" sz="2400" b="1" dirty="0"/>
            </a:p>
          </p:txBody>
        </p:sp>
        <p:sp>
          <p:nvSpPr>
            <p:cNvPr id="54290" name="Rectangle 22"/>
            <p:cNvSpPr/>
            <p:nvPr/>
          </p:nvSpPr>
          <p:spPr>
            <a:xfrm>
              <a:off x="4239" y="2311"/>
              <a:ext cx="864" cy="23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j++</a:t>
              </a:r>
              <a:endParaRPr lang="en-US" altLang="zh-CN" sz="2400" b="1" dirty="0"/>
            </a:p>
          </p:txBody>
        </p:sp>
        <p:sp>
          <p:nvSpPr>
            <p:cNvPr id="54291" name="Rectangle 23"/>
            <p:cNvSpPr/>
            <p:nvPr/>
          </p:nvSpPr>
          <p:spPr>
            <a:xfrm>
              <a:off x="4255" y="2655"/>
              <a:ext cx="848" cy="23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k++</a:t>
              </a:r>
              <a:endParaRPr lang="en-US" altLang="zh-CN" sz="2400" b="1" dirty="0"/>
            </a:p>
          </p:txBody>
        </p:sp>
        <p:sp>
          <p:nvSpPr>
            <p:cNvPr id="54292" name="Line 24"/>
            <p:cNvSpPr/>
            <p:nvPr/>
          </p:nvSpPr>
          <p:spPr>
            <a:xfrm flipH="1">
              <a:off x="2993" y="2091"/>
              <a:ext cx="1232" cy="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4293" name="Line 25"/>
            <p:cNvSpPr/>
            <p:nvPr/>
          </p:nvSpPr>
          <p:spPr>
            <a:xfrm flipH="1" flipV="1">
              <a:off x="2996" y="2781"/>
              <a:ext cx="1265" cy="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4294" name="Line 26"/>
            <p:cNvSpPr/>
            <p:nvPr/>
          </p:nvSpPr>
          <p:spPr>
            <a:xfrm flipH="1">
              <a:off x="3713" y="2441"/>
              <a:ext cx="523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54295" name="Group 27"/>
            <p:cNvGrpSpPr/>
            <p:nvPr/>
          </p:nvGrpSpPr>
          <p:grpSpPr>
            <a:xfrm>
              <a:off x="3536" y="2110"/>
              <a:ext cx="190" cy="334"/>
              <a:chOff x="0" y="0"/>
              <a:chExt cx="20000" cy="20000"/>
            </a:xfrm>
          </p:grpSpPr>
          <p:sp>
            <p:nvSpPr>
              <p:cNvPr id="54304" name="Line 28"/>
              <p:cNvSpPr/>
              <p:nvPr/>
            </p:nvSpPr>
            <p:spPr>
              <a:xfrm flipH="1" flipV="1">
                <a:off x="0" y="9951"/>
                <a:ext cx="20000" cy="10049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54305" name="Line 29"/>
              <p:cNvSpPr/>
              <p:nvPr/>
            </p:nvSpPr>
            <p:spPr>
              <a:xfrm flipH="1">
                <a:off x="0" y="0"/>
                <a:ext cx="20000" cy="10049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54296" name="Group 30"/>
            <p:cNvGrpSpPr/>
            <p:nvPr/>
          </p:nvGrpSpPr>
          <p:grpSpPr>
            <a:xfrm>
              <a:off x="3547" y="2442"/>
              <a:ext cx="179" cy="335"/>
              <a:chOff x="0" y="0"/>
              <a:chExt cx="20000" cy="20000"/>
            </a:xfrm>
          </p:grpSpPr>
          <p:sp>
            <p:nvSpPr>
              <p:cNvPr id="54302" name="Line 31"/>
              <p:cNvSpPr/>
              <p:nvPr/>
            </p:nvSpPr>
            <p:spPr>
              <a:xfrm flipH="1" flipV="1">
                <a:off x="0" y="9948"/>
                <a:ext cx="20000" cy="1005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54303" name="Line 32"/>
              <p:cNvSpPr/>
              <p:nvPr/>
            </p:nvSpPr>
            <p:spPr>
              <a:xfrm flipH="1">
                <a:off x="0" y="0"/>
                <a:ext cx="20000" cy="1004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54297" name="Rectangle 33"/>
            <p:cNvSpPr/>
            <p:nvPr/>
          </p:nvSpPr>
          <p:spPr>
            <a:xfrm>
              <a:off x="3053" y="2302"/>
              <a:ext cx="507" cy="253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num</a:t>
              </a:r>
              <a:endParaRPr lang="en-US" altLang="zh-CN" sz="2400" b="1" dirty="0"/>
            </a:p>
          </p:txBody>
        </p:sp>
        <p:sp>
          <p:nvSpPr>
            <p:cNvPr id="54298" name="Rectangle 34"/>
            <p:cNvSpPr/>
            <p:nvPr/>
          </p:nvSpPr>
          <p:spPr>
            <a:xfrm>
              <a:off x="3674" y="1820"/>
              <a:ext cx="461" cy="215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-1</a:t>
              </a:r>
              <a:endParaRPr lang="en-US" altLang="zh-CN" sz="2400" b="1" dirty="0"/>
            </a:p>
          </p:txBody>
        </p:sp>
        <p:sp>
          <p:nvSpPr>
            <p:cNvPr id="54299" name="Rectangle 35"/>
            <p:cNvSpPr/>
            <p:nvPr/>
          </p:nvSpPr>
          <p:spPr>
            <a:xfrm>
              <a:off x="3787" y="2249"/>
              <a:ext cx="348" cy="184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0</a:t>
              </a:r>
              <a:endParaRPr lang="en-US" altLang="zh-CN" sz="2400" b="1" dirty="0"/>
            </a:p>
          </p:txBody>
        </p:sp>
        <p:sp>
          <p:nvSpPr>
            <p:cNvPr id="54300" name="Rectangle 36"/>
            <p:cNvSpPr/>
            <p:nvPr/>
          </p:nvSpPr>
          <p:spPr>
            <a:xfrm>
              <a:off x="3760" y="2585"/>
              <a:ext cx="406" cy="216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1</a:t>
              </a:r>
              <a:endParaRPr lang="en-US" altLang="zh-CN" sz="2400" b="1" dirty="0"/>
            </a:p>
          </p:txBody>
        </p:sp>
        <p:sp>
          <p:nvSpPr>
            <p:cNvPr id="54301" name="Rectangle 37"/>
            <p:cNvSpPr/>
            <p:nvPr/>
          </p:nvSpPr>
          <p:spPr>
            <a:xfrm>
              <a:off x="2996" y="3030"/>
              <a:ext cx="2026" cy="30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3960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hlink"/>
                  </a:solidFill>
                </a:rPr>
                <a:t>输入一个数 → </a:t>
              </a:r>
              <a:r>
                <a:rPr lang="en-US" altLang="zh-CN" sz="2400" b="1" dirty="0">
                  <a:solidFill>
                    <a:schemeClr val="hlink"/>
                  </a:solidFill>
                </a:rPr>
                <a:t>num</a:t>
              </a:r>
              <a:endParaRPr lang="en-US" altLang="zh-CN" sz="2400" b="1" dirty="0">
                <a:solidFill>
                  <a:schemeClr val="hlink"/>
                </a:solidFill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</p:grpSp>
      <p:sp>
        <p:nvSpPr>
          <p:cNvPr id="54276" name="Text Box 41"/>
          <p:cNvSpPr txBox="1"/>
          <p:nvPr/>
        </p:nvSpPr>
        <p:spPr>
          <a:xfrm>
            <a:off x="9556750" y="1346200"/>
            <a:ext cx="2281238" cy="120015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循环体？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循环条件？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循环控制方式？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0820400" y="673100"/>
            <a:ext cx="1000125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教材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P90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0" name="Rectangle 3"/>
          <p:cNvSpPr txBox="1">
            <a:spLocks noChangeArrowheads="1"/>
          </p:cNvSpPr>
          <p:nvPr/>
        </p:nvSpPr>
        <p:spPr bwMode="auto">
          <a:xfrm>
            <a:off x="31750" y="38100"/>
            <a:ext cx="11201400" cy="1981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4.6】</a:t>
            </a:r>
            <a:r>
              <a:rPr kumimoji="0" lang="en-US" altLang="zh-CN" sz="2400" i="0" u="none" strike="noStrike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教材P90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编程序，统计</a:t>
            </a:r>
            <a:r>
              <a:rPr kumimoji="0" lang="en-US" altLang="zh-CN" sz="2800" b="1" i="0" u="none" strike="noStrike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以100为结束符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的整数输入流中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-1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+1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的出现次数并输出。 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1pPr>
            <a:lvl2pPr marL="742950" indent="-28575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2pPr>
            <a:lvl3pPr marL="11430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3pPr>
            <a:lvl4pPr marL="16002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4pPr>
            <a:lvl5pPr marL="20574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6AE7AE-E1F0-4511-826C-68D10E18ACB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0483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0"/>
            <a:ext cx="7640638" cy="6858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#define  N  100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main(){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	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i , j , k , 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num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;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E716EA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i=0;  j=0;   k=0;//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E716EA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计数器清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E716EA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E716EA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("please input a integer :");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lang="en-US" altLang="zh-CN" sz="2200" b="1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sym typeface="+mn-ea"/>
              </a:rPr>
              <a:t>"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</a:t>
            </a:r>
            <a:r>
              <a:rPr lang="en-US" altLang="zh-CN" sz="2200" b="1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sym typeface="+mn-ea"/>
              </a:rPr>
              <a:t>"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,&amp;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num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);//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输入整数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while  (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num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!= N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{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switch (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num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{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case -1 :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E716EA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i++;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break;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case 0  :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E716EA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j++;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break;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case 1  :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E716EA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k++;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E716EA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("please input a integer :");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("%d",&amp;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num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);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("number of  -1 : %d\n" ,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E716EA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);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("number of  0  : %d\n" ,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E716EA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("number of  1  : %d\n" ,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E716EA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);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 0;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 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5300" name="AutoShape 4"/>
          <p:cNvSpPr/>
          <p:nvPr/>
        </p:nvSpPr>
        <p:spPr>
          <a:xfrm>
            <a:off x="8442325" y="74613"/>
            <a:ext cx="2133600" cy="685800"/>
          </a:xfrm>
          <a:prstGeom prst="actionButtonBlank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hlinkClick r:id="rId1" action="ppaction://hlinkfile"/>
              </a:rPr>
              <a:t>运行结果演示</a:t>
            </a: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pic>
        <p:nvPicPr>
          <p:cNvPr id="55301" name="Picture 5"/>
          <p:cNvPicPr>
            <a:picLocks noChangeAspect="1"/>
          </p:cNvPicPr>
          <p:nvPr/>
        </p:nvPicPr>
        <p:blipFill>
          <a:blip r:embed="rId2"/>
          <a:srcRect t="14175"/>
          <a:stretch>
            <a:fillRect/>
          </a:stretch>
        </p:blipFill>
        <p:spPr>
          <a:xfrm>
            <a:off x="8154988" y="3175"/>
            <a:ext cx="4010025" cy="3929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457200" y="1600835"/>
            <a:ext cx="4800600" cy="68580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dash"/>
            <a:miter/>
            <a:headEnd type="none" w="med" len="med"/>
            <a:tailEnd type="none" w="med" len="med"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90600" y="4192905"/>
            <a:ext cx="4800600" cy="68580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dash"/>
            <a:miter/>
            <a:headEnd type="none" w="med" len="med"/>
            <a:tailEnd type="none" w="med" len="med"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60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6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6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60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604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604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8" grpId="0" animBg="1"/>
      <p:bldP spid="8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1pPr>
            <a:lvl2pPr marL="742950" indent="-28575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2pPr>
            <a:lvl3pPr marL="11430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3pPr>
            <a:lvl4pPr marL="16002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4pPr>
            <a:lvl5pPr marL="20574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8CE387-8220-4218-93FE-19DF85333C5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9324975" cy="9572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后判断条件循环</a:t>
            </a:r>
            <a:r>
              <a:rPr kumimoji="0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 </a:t>
            </a: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 </a:t>
            </a:r>
            <a:r>
              <a:rPr kumimoji="0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VS </a:t>
            </a: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先判断条件循环</a:t>
            </a:r>
            <a:endParaRPr kumimoji="0" lang="en-US" altLang="zh-CN" sz="4400" b="1" i="0" u="none" strike="noStrike" kern="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22532" name="Rectangle 14"/>
          <p:cNvSpPr/>
          <p:nvPr/>
        </p:nvSpPr>
        <p:spPr>
          <a:xfrm>
            <a:off x="1979613" y="2603500"/>
            <a:ext cx="566737" cy="515938"/>
          </a:xfrm>
          <a:prstGeom prst="rect">
            <a:avLst/>
          </a:prstGeom>
          <a:noFill/>
          <a:ln w="38100">
            <a:noFill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e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grpSp>
        <p:nvGrpSpPr>
          <p:cNvPr id="22533" name="组合 2"/>
          <p:cNvGrpSpPr/>
          <p:nvPr/>
        </p:nvGrpSpPr>
        <p:grpSpPr>
          <a:xfrm>
            <a:off x="7694613" y="1092200"/>
            <a:ext cx="3933825" cy="5795963"/>
            <a:chOff x="7694468" y="1092201"/>
            <a:chExt cx="3933824" cy="5796288"/>
          </a:xfrm>
        </p:grpSpPr>
        <p:sp>
          <p:nvSpPr>
            <p:cNvPr id="22561" name="Line 48"/>
            <p:cNvSpPr/>
            <p:nvPr/>
          </p:nvSpPr>
          <p:spPr>
            <a:xfrm>
              <a:off x="9321656" y="2081214"/>
              <a:ext cx="3175" cy="19843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arrow" w="med" len="med"/>
            </a:ln>
          </p:spPr>
        </p:sp>
        <p:grpSp>
          <p:nvGrpSpPr>
            <p:cNvPr id="22562" name="Group 53"/>
            <p:cNvGrpSpPr/>
            <p:nvPr/>
          </p:nvGrpSpPr>
          <p:grpSpPr>
            <a:xfrm>
              <a:off x="7811942" y="4010026"/>
              <a:ext cx="3816350" cy="862013"/>
              <a:chOff x="2971" y="2750"/>
              <a:chExt cx="2002" cy="449"/>
            </a:xfrm>
          </p:grpSpPr>
          <p:sp>
            <p:nvSpPr>
              <p:cNvPr id="22579" name="Line 54"/>
              <p:cNvSpPr/>
              <p:nvPr/>
            </p:nvSpPr>
            <p:spPr>
              <a:xfrm>
                <a:off x="2971" y="2750"/>
                <a:ext cx="1" cy="44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2580" name="Rectangle 55"/>
              <p:cNvSpPr/>
              <p:nvPr/>
            </p:nvSpPr>
            <p:spPr>
              <a:xfrm>
                <a:off x="2971" y="2840"/>
                <a:ext cx="952" cy="273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while e</a:t>
                </a:r>
                <a:endParaRPr lang="en-US" altLang="zh-CN" sz="2400" b="1" dirty="0"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2581" name="Line 56"/>
              <p:cNvSpPr/>
              <p:nvPr/>
            </p:nvSpPr>
            <p:spPr>
              <a:xfrm>
                <a:off x="3061" y="2840"/>
                <a:ext cx="0" cy="273"/>
              </a:xfrm>
              <a:prstGeom prst="line">
                <a:avLst/>
              </a:prstGeom>
              <a:ln w="38100" cap="flat" cmpd="sng">
                <a:solidFill>
                  <a:schemeClr val="hlink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2582" name="Line 57"/>
              <p:cNvSpPr/>
              <p:nvPr/>
            </p:nvSpPr>
            <p:spPr>
              <a:xfrm>
                <a:off x="3923" y="2976"/>
                <a:ext cx="14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2583" name="Rectangle 58"/>
              <p:cNvSpPr/>
              <p:nvPr/>
            </p:nvSpPr>
            <p:spPr>
              <a:xfrm>
                <a:off x="4059" y="2840"/>
                <a:ext cx="914" cy="27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S</a:t>
                </a:r>
                <a:endParaRPr lang="en-US" altLang="zh-CN" sz="2400" b="1" dirty="0"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</p:txBody>
          </p:sp>
        </p:grpSp>
        <p:grpSp>
          <p:nvGrpSpPr>
            <p:cNvPr id="22563" name="Group 61"/>
            <p:cNvGrpSpPr/>
            <p:nvPr/>
          </p:nvGrpSpPr>
          <p:grpSpPr>
            <a:xfrm>
              <a:off x="8002443" y="1092201"/>
              <a:ext cx="2879725" cy="1941513"/>
              <a:chOff x="3204" y="633"/>
              <a:chExt cx="1814" cy="1223"/>
            </a:xfrm>
          </p:grpSpPr>
          <p:grpSp>
            <p:nvGrpSpPr>
              <p:cNvPr id="22565" name="Group 39"/>
              <p:cNvGrpSpPr/>
              <p:nvPr/>
            </p:nvGrpSpPr>
            <p:grpSpPr>
              <a:xfrm>
                <a:off x="3469" y="881"/>
                <a:ext cx="1152" cy="343"/>
                <a:chOff x="0" y="0"/>
                <a:chExt cx="20003" cy="20001"/>
              </a:xfrm>
            </p:grpSpPr>
            <p:grpSp>
              <p:nvGrpSpPr>
                <p:cNvPr id="22573" name="Group 40"/>
                <p:cNvGrpSpPr/>
                <p:nvPr/>
              </p:nvGrpSpPr>
              <p:grpSpPr>
                <a:xfrm>
                  <a:off x="0" y="0"/>
                  <a:ext cx="9845" cy="20001"/>
                  <a:chOff x="0" y="0"/>
                  <a:chExt cx="20000" cy="20001"/>
                </a:xfrm>
              </p:grpSpPr>
              <p:sp>
                <p:nvSpPr>
                  <p:cNvPr id="22577" name="Line 41"/>
                  <p:cNvSpPr/>
                  <p:nvPr/>
                </p:nvSpPr>
                <p:spPr>
                  <a:xfrm flipH="1">
                    <a:off x="0" y="0"/>
                    <a:ext cx="20000" cy="960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22578" name="Line 42"/>
                  <p:cNvSpPr/>
                  <p:nvPr/>
                </p:nvSpPr>
                <p:spPr>
                  <a:xfrm flipH="1" flipV="1">
                    <a:off x="0" y="10397"/>
                    <a:ext cx="20000" cy="960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  <p:grpSp>
              <p:nvGrpSpPr>
                <p:cNvPr id="22574" name="Group 43"/>
                <p:cNvGrpSpPr/>
                <p:nvPr/>
              </p:nvGrpSpPr>
              <p:grpSpPr>
                <a:xfrm>
                  <a:off x="10158" y="0"/>
                  <a:ext cx="9845" cy="20001"/>
                  <a:chOff x="0" y="0"/>
                  <a:chExt cx="20000" cy="20001"/>
                </a:xfrm>
              </p:grpSpPr>
              <p:sp>
                <p:nvSpPr>
                  <p:cNvPr id="22575" name="Line 44"/>
                  <p:cNvSpPr/>
                  <p:nvPr/>
                </p:nvSpPr>
                <p:spPr>
                  <a:xfrm>
                    <a:off x="0" y="0"/>
                    <a:ext cx="20000" cy="960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22576" name="Line 45"/>
                  <p:cNvSpPr/>
                  <p:nvPr/>
                </p:nvSpPr>
                <p:spPr>
                  <a:xfrm flipV="1">
                    <a:off x="0" y="10397"/>
                    <a:ext cx="20000" cy="960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</p:grpSp>
          <p:sp>
            <p:nvSpPr>
              <p:cNvPr id="22566" name="Rectangle 46"/>
              <p:cNvSpPr/>
              <p:nvPr/>
            </p:nvSpPr>
            <p:spPr>
              <a:xfrm>
                <a:off x="3601" y="1417"/>
                <a:ext cx="982" cy="289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S</a:t>
                </a:r>
                <a:endParaRPr lang="en-US" altLang="zh-CN" sz="2400" b="1" dirty="0"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2567" name="Line 47"/>
              <p:cNvSpPr/>
              <p:nvPr/>
            </p:nvSpPr>
            <p:spPr>
              <a:xfrm>
                <a:off x="4054" y="633"/>
                <a:ext cx="1" cy="22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arrow" w="med" len="med"/>
              </a:ln>
            </p:spPr>
          </p:sp>
          <p:sp>
            <p:nvSpPr>
              <p:cNvPr id="22568" name="Freeform 49"/>
              <p:cNvSpPr/>
              <p:nvPr/>
            </p:nvSpPr>
            <p:spPr>
              <a:xfrm>
                <a:off x="3204" y="812"/>
                <a:ext cx="851" cy="104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0000" h="20000">
                    <a:moveTo>
                      <a:pt x="19978" y="17097"/>
                    </a:moveTo>
                    <a:lnTo>
                      <a:pt x="19978" y="19985"/>
                    </a:lnTo>
                    <a:lnTo>
                      <a:pt x="0" y="19985"/>
                    </a:lnTo>
                    <a:lnTo>
                      <a:pt x="0" y="0"/>
                    </a:lnTo>
                    <a:lnTo>
                      <a:pt x="15538" y="0"/>
                    </a:lnTo>
                  </a:path>
                </a:pathLst>
              </a:custGeom>
              <a:noFill/>
              <a:ln w="381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arrow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69" name="Freeform 50"/>
              <p:cNvSpPr/>
              <p:nvPr/>
            </p:nvSpPr>
            <p:spPr>
              <a:xfrm>
                <a:off x="4639" y="1058"/>
                <a:ext cx="360" cy="2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0000" h="20000">
                    <a:moveTo>
                      <a:pt x="0" y="0"/>
                    </a:moveTo>
                    <a:lnTo>
                      <a:pt x="19948" y="0"/>
                    </a:lnTo>
                    <a:lnTo>
                      <a:pt x="19948" y="19927"/>
                    </a:lnTo>
                  </a:path>
                </a:pathLst>
              </a:custGeom>
              <a:noFill/>
              <a:ln w="381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arrow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70" name="Rectangle 51"/>
              <p:cNvSpPr/>
              <p:nvPr/>
            </p:nvSpPr>
            <p:spPr>
              <a:xfrm>
                <a:off x="3903" y="915"/>
                <a:ext cx="301" cy="20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e</a:t>
                </a:r>
                <a:endParaRPr lang="en-US" altLang="zh-CN" sz="2400" b="1" dirty="0"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2571" name="Rectangle 52"/>
              <p:cNvSpPr/>
              <p:nvPr/>
            </p:nvSpPr>
            <p:spPr>
              <a:xfrm>
                <a:off x="4771" y="881"/>
                <a:ext cx="247" cy="19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F</a:t>
                </a:r>
                <a:endParaRPr lang="en-US" altLang="zh-CN" sz="2400" b="1" dirty="0"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2572" name="Text Box 59"/>
              <p:cNvSpPr txBox="1"/>
              <p:nvPr/>
            </p:nvSpPr>
            <p:spPr>
              <a:xfrm>
                <a:off x="4053" y="1129"/>
                <a:ext cx="30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宋体" panose="02010600030101010101" pitchFamily="2" charset="-122"/>
                  </a:rPr>
                  <a:t>T</a:t>
                </a:r>
                <a:endParaRPr lang="en-US" altLang="zh-CN" sz="2800" b="1" dirty="0"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22564" name="Rectangle 60"/>
            <p:cNvSpPr/>
            <p:nvPr/>
          </p:nvSpPr>
          <p:spPr>
            <a:xfrm>
              <a:off x="7694468" y="5593089"/>
              <a:ext cx="2557463" cy="12954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lnSpc>
                  <a:spcPct val="90000"/>
                </a:lnSpc>
                <a:buNone/>
              </a:pPr>
              <a:r>
                <a:rPr lang="en-US" altLang="zh-CN" b="1" dirty="0">
                  <a:solidFill>
                    <a:schemeClr val="folHlink"/>
                  </a:solidFill>
                </a:rPr>
                <a:t>while (</a:t>
              </a:r>
              <a:r>
                <a:rPr lang="en-US" altLang="zh-CN" b="1" dirty="0"/>
                <a:t> e </a:t>
              </a:r>
              <a:r>
                <a:rPr lang="en-US" altLang="zh-CN" b="1" dirty="0">
                  <a:solidFill>
                    <a:schemeClr val="folHlink"/>
                  </a:solidFill>
                </a:rPr>
                <a:t>)</a:t>
              </a:r>
              <a:endParaRPr lang="en-US" altLang="zh-CN" b="1" dirty="0">
                <a:solidFill>
                  <a:schemeClr val="folHlink"/>
                </a:solidFill>
              </a:endParaRPr>
            </a:p>
            <a:p>
              <a:pPr marL="342900" lvl="0" indent="-342900" eaLnBrk="1" hangingPunct="1">
                <a:lnSpc>
                  <a:spcPct val="90000"/>
                </a:lnSpc>
                <a:buNone/>
              </a:pPr>
              <a:r>
                <a:rPr lang="en-US" altLang="zh-CN" b="1" dirty="0"/>
                <a:t>     S</a:t>
              </a:r>
              <a:endParaRPr lang="en-US" altLang="zh-CN" b="1" dirty="0"/>
            </a:p>
          </p:txBody>
        </p:sp>
      </p:grpSp>
      <p:sp>
        <p:nvSpPr>
          <p:cNvPr id="22534" name="Text Box 70"/>
          <p:cNvSpPr txBox="1"/>
          <p:nvPr/>
        </p:nvSpPr>
        <p:spPr>
          <a:xfrm>
            <a:off x="4821238" y="2122488"/>
            <a:ext cx="19796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rPr>
              <a:t>流程图</a:t>
            </a: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22535" name="Text Box 71"/>
          <p:cNvSpPr txBox="1"/>
          <p:nvPr/>
        </p:nvSpPr>
        <p:spPr>
          <a:xfrm>
            <a:off x="5156200" y="4117975"/>
            <a:ext cx="12303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rPr>
              <a:t>PAD</a:t>
            </a:r>
            <a:r>
              <a: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rPr>
              <a:t>图</a:t>
            </a: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22536" name="Text Box 72"/>
          <p:cNvSpPr txBox="1"/>
          <p:nvPr/>
        </p:nvSpPr>
        <p:spPr>
          <a:xfrm>
            <a:off x="5156200" y="5954713"/>
            <a:ext cx="12303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rPr>
              <a:t>C</a:t>
            </a:r>
            <a:r>
              <a: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rPr>
              <a:t>语句</a:t>
            </a: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grpSp>
        <p:nvGrpSpPr>
          <p:cNvPr id="22537" name="组合 1"/>
          <p:cNvGrpSpPr/>
          <p:nvPr/>
        </p:nvGrpSpPr>
        <p:grpSpPr>
          <a:xfrm>
            <a:off x="284163" y="873125"/>
            <a:ext cx="4135437" cy="5797550"/>
            <a:chOff x="1558925" y="692150"/>
            <a:chExt cx="4135438" cy="5797551"/>
          </a:xfrm>
        </p:grpSpPr>
        <p:sp>
          <p:nvSpPr>
            <p:cNvPr id="22538" name="Line 3"/>
            <p:cNvSpPr/>
            <p:nvPr/>
          </p:nvSpPr>
          <p:spPr>
            <a:xfrm flipH="1">
              <a:off x="3611563" y="692150"/>
              <a:ext cx="0" cy="9652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arrow" w="med" len="med"/>
            </a:ln>
          </p:spPr>
        </p:sp>
        <p:sp>
          <p:nvSpPr>
            <p:cNvPr id="22539" name="Line 18"/>
            <p:cNvSpPr/>
            <p:nvPr/>
          </p:nvSpPr>
          <p:spPr>
            <a:xfrm>
              <a:off x="3614738" y="2889250"/>
              <a:ext cx="0" cy="3190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arrow" w="med" len="med"/>
            </a:ln>
          </p:spPr>
        </p:sp>
        <p:grpSp>
          <p:nvGrpSpPr>
            <p:cNvPr id="22540" name="Group 19"/>
            <p:cNvGrpSpPr/>
            <p:nvPr/>
          </p:nvGrpSpPr>
          <p:grpSpPr>
            <a:xfrm>
              <a:off x="1558925" y="3797300"/>
              <a:ext cx="4135438" cy="819150"/>
              <a:chOff x="2789" y="2931"/>
              <a:chExt cx="2767" cy="1179"/>
            </a:xfrm>
          </p:grpSpPr>
          <p:sp>
            <p:nvSpPr>
              <p:cNvPr id="22556" name="Line 20"/>
              <p:cNvSpPr/>
              <p:nvPr/>
            </p:nvSpPr>
            <p:spPr>
              <a:xfrm>
                <a:off x="2789" y="2931"/>
                <a:ext cx="0" cy="117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2557" name="Rectangle 21"/>
              <p:cNvSpPr/>
              <p:nvPr/>
            </p:nvSpPr>
            <p:spPr>
              <a:xfrm>
                <a:off x="2789" y="3131"/>
                <a:ext cx="1249" cy="798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do-while e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2558" name="Line 22"/>
              <p:cNvSpPr/>
              <p:nvPr/>
            </p:nvSpPr>
            <p:spPr>
              <a:xfrm flipH="1">
                <a:off x="3923" y="3131"/>
                <a:ext cx="9" cy="798"/>
              </a:xfrm>
              <a:prstGeom prst="line">
                <a:avLst/>
              </a:prstGeom>
              <a:ln w="38100" cap="flat" cmpd="sng">
                <a:solidFill>
                  <a:schemeClr val="hlink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2559" name="Line 23"/>
              <p:cNvSpPr/>
              <p:nvPr/>
            </p:nvSpPr>
            <p:spPr>
              <a:xfrm>
                <a:off x="4059" y="3566"/>
                <a:ext cx="409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2560" name="Rectangle 24"/>
              <p:cNvSpPr/>
              <p:nvPr/>
            </p:nvSpPr>
            <p:spPr>
              <a:xfrm>
                <a:off x="4468" y="3158"/>
                <a:ext cx="1088" cy="77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S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2541" name="Group 34"/>
            <p:cNvGrpSpPr/>
            <p:nvPr/>
          </p:nvGrpSpPr>
          <p:grpSpPr>
            <a:xfrm>
              <a:off x="1955801" y="1004888"/>
              <a:ext cx="2663825" cy="2297112"/>
              <a:chOff x="385" y="1412"/>
              <a:chExt cx="1678" cy="1447"/>
            </a:xfrm>
          </p:grpSpPr>
          <p:grpSp>
            <p:nvGrpSpPr>
              <p:cNvPr id="22543" name="Group 5"/>
              <p:cNvGrpSpPr/>
              <p:nvPr/>
            </p:nvGrpSpPr>
            <p:grpSpPr>
              <a:xfrm>
                <a:off x="783" y="2293"/>
                <a:ext cx="1280" cy="286"/>
                <a:chOff x="0" y="0"/>
                <a:chExt cx="19997" cy="19993"/>
              </a:xfrm>
            </p:grpSpPr>
            <p:grpSp>
              <p:nvGrpSpPr>
                <p:cNvPr id="22550" name="Group 6"/>
                <p:cNvGrpSpPr/>
                <p:nvPr/>
              </p:nvGrpSpPr>
              <p:grpSpPr>
                <a:xfrm>
                  <a:off x="0" y="0"/>
                  <a:ext cx="9843" cy="19993"/>
                  <a:chOff x="0" y="0"/>
                  <a:chExt cx="20000" cy="19993"/>
                </a:xfrm>
              </p:grpSpPr>
              <p:sp>
                <p:nvSpPr>
                  <p:cNvPr id="22554" name="Line 7"/>
                  <p:cNvSpPr/>
                  <p:nvPr/>
                </p:nvSpPr>
                <p:spPr>
                  <a:xfrm flipH="1">
                    <a:off x="0" y="0"/>
                    <a:ext cx="20000" cy="9609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22555" name="Line 8"/>
                  <p:cNvSpPr/>
                  <p:nvPr/>
                </p:nvSpPr>
                <p:spPr>
                  <a:xfrm flipH="1" flipV="1">
                    <a:off x="0" y="10384"/>
                    <a:ext cx="20000" cy="9609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  <p:grpSp>
              <p:nvGrpSpPr>
                <p:cNvPr id="22551" name="Group 9"/>
                <p:cNvGrpSpPr/>
                <p:nvPr/>
              </p:nvGrpSpPr>
              <p:grpSpPr>
                <a:xfrm>
                  <a:off x="10154" y="0"/>
                  <a:ext cx="9843" cy="19993"/>
                  <a:chOff x="0" y="0"/>
                  <a:chExt cx="20000" cy="19999"/>
                </a:xfrm>
              </p:grpSpPr>
              <p:sp>
                <p:nvSpPr>
                  <p:cNvPr id="22552" name="Line 10"/>
                  <p:cNvSpPr/>
                  <p:nvPr/>
                </p:nvSpPr>
                <p:spPr>
                  <a:xfrm>
                    <a:off x="0" y="0"/>
                    <a:ext cx="20000" cy="9612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22553" name="Line 11"/>
                  <p:cNvSpPr/>
                  <p:nvPr/>
                </p:nvSpPr>
                <p:spPr>
                  <a:xfrm flipV="1">
                    <a:off x="0" y="10387"/>
                    <a:ext cx="20000" cy="9612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</p:grpSp>
          <p:sp>
            <p:nvSpPr>
              <p:cNvPr id="22544" name="Rectangle 12"/>
              <p:cNvSpPr/>
              <p:nvPr/>
            </p:nvSpPr>
            <p:spPr>
              <a:xfrm>
                <a:off x="867" y="1795"/>
                <a:ext cx="1091" cy="3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S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2545" name="Line 13"/>
              <p:cNvSpPr/>
              <p:nvPr/>
            </p:nvSpPr>
            <p:spPr>
              <a:xfrm>
                <a:off x="1433" y="2094"/>
                <a:ext cx="0" cy="18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arrow" w="med" len="med"/>
              </a:ln>
            </p:spPr>
          </p:sp>
          <p:sp>
            <p:nvSpPr>
              <p:cNvPr id="22546" name="Rectangle 15"/>
              <p:cNvSpPr/>
              <p:nvPr/>
            </p:nvSpPr>
            <p:spPr>
              <a:xfrm>
                <a:off x="574" y="2194"/>
                <a:ext cx="273" cy="28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T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2547" name="Rectangle 16"/>
              <p:cNvSpPr/>
              <p:nvPr/>
            </p:nvSpPr>
            <p:spPr>
              <a:xfrm>
                <a:off x="1057" y="1467"/>
                <a:ext cx="735" cy="22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2548" name="Freeform 17"/>
              <p:cNvSpPr/>
              <p:nvPr/>
            </p:nvSpPr>
            <p:spPr>
              <a:xfrm>
                <a:off x="385" y="1412"/>
                <a:ext cx="1063" cy="102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0000" h="20000">
                    <a:moveTo>
                      <a:pt x="9037" y="19986"/>
                    </a:moveTo>
                    <a:lnTo>
                      <a:pt x="0" y="19986"/>
                    </a:lnTo>
                    <a:lnTo>
                      <a:pt x="0" y="0"/>
                    </a:lnTo>
                    <a:lnTo>
                      <a:pt x="19976" y="0"/>
                    </a:lnTo>
                  </a:path>
                </a:pathLst>
              </a:custGeom>
              <a:noFill/>
              <a:ln w="381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arrow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49" name="Rectangle 30"/>
              <p:cNvSpPr/>
              <p:nvPr/>
            </p:nvSpPr>
            <p:spPr>
              <a:xfrm>
                <a:off x="1193" y="2579"/>
                <a:ext cx="273" cy="28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F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542" name="Rectangle 74"/>
            <p:cNvSpPr/>
            <p:nvPr/>
          </p:nvSpPr>
          <p:spPr>
            <a:xfrm>
              <a:off x="1974851" y="4937126"/>
              <a:ext cx="2644775" cy="155257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lnSpc>
                  <a:spcPct val="90000"/>
                </a:lnSpc>
                <a:buNone/>
              </a:pPr>
              <a:r>
                <a:rPr lang="en-US" altLang="zh-CN" b="1" dirty="0">
                  <a:solidFill>
                    <a:schemeClr val="folHlink"/>
                  </a:solidFill>
                </a:rPr>
                <a:t>do</a:t>
              </a:r>
              <a:endParaRPr lang="en-US" altLang="zh-CN" b="1" dirty="0">
                <a:solidFill>
                  <a:schemeClr val="folHlink"/>
                </a:solidFill>
              </a:endParaRPr>
            </a:p>
            <a:p>
              <a:pPr marL="342900" lvl="0" indent="-342900" eaLnBrk="1" hangingPunct="1">
                <a:lnSpc>
                  <a:spcPct val="90000"/>
                </a:lnSpc>
                <a:buNone/>
              </a:pPr>
              <a:r>
                <a:rPr lang="en-US" altLang="zh-CN" b="1" dirty="0">
                  <a:solidFill>
                    <a:schemeClr val="folHlink"/>
                  </a:solidFill>
                </a:rPr>
                <a:t>    </a:t>
              </a:r>
              <a:r>
                <a:rPr lang="en-US" altLang="zh-CN" b="1" dirty="0"/>
                <a:t>S</a:t>
              </a:r>
              <a:endParaRPr lang="en-US" altLang="zh-CN" b="1" dirty="0"/>
            </a:p>
            <a:p>
              <a:pPr marL="342900" lvl="0" indent="-342900" eaLnBrk="1" hangingPunct="1">
                <a:lnSpc>
                  <a:spcPct val="90000"/>
                </a:lnSpc>
                <a:buNone/>
              </a:pPr>
              <a:r>
                <a:rPr lang="en-US" altLang="zh-CN" b="1" dirty="0">
                  <a:solidFill>
                    <a:schemeClr val="folHlink"/>
                  </a:solidFill>
                </a:rPr>
                <a:t>while (</a:t>
              </a:r>
              <a:r>
                <a:rPr lang="en-US" altLang="zh-CN" b="1" dirty="0"/>
                <a:t> e </a:t>
              </a:r>
              <a:r>
                <a:rPr lang="en-US" altLang="zh-CN" b="1" dirty="0">
                  <a:solidFill>
                    <a:schemeClr val="folHlink"/>
                  </a:solidFill>
                </a:rPr>
                <a:t>) </a:t>
              </a:r>
              <a:r>
                <a:rPr lang="en-US" altLang="zh-CN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;</a:t>
              </a:r>
              <a:endPara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1pPr>
            <a:lvl2pPr marL="742950" indent="-28575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2pPr>
            <a:lvl3pPr marL="11430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3pPr>
            <a:lvl4pPr marL="16002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4pPr>
            <a:lvl5pPr marL="20574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A43672-5340-4F24-8B45-FBA3D5A668C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Text Box 5"/>
          <p:cNvSpPr txBox="1"/>
          <p:nvPr/>
        </p:nvSpPr>
        <p:spPr>
          <a:xfrm>
            <a:off x="2063750" y="404813"/>
            <a:ext cx="39608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24580" name="Rectangle 8"/>
          <p:cNvSpPr/>
          <p:nvPr/>
        </p:nvSpPr>
        <p:spPr>
          <a:xfrm>
            <a:off x="228600" y="152400"/>
            <a:ext cx="5540375" cy="5508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华文彩云" pitchFamily="2" charset="-122"/>
              </a:rPr>
              <a:t>#include&lt;stdio.h&gt;</a:t>
            </a:r>
            <a:endParaRPr lang="en-US" altLang="zh-CN" b="1" dirty="0">
              <a:ea typeface="华文彩云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华文彩云" pitchFamily="2" charset="-122"/>
              </a:rPr>
              <a:t>int main()</a:t>
            </a:r>
            <a:endParaRPr lang="en-US" altLang="zh-CN" b="1" dirty="0">
              <a:ea typeface="华文彩云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华文彩云" pitchFamily="2" charset="-122"/>
              </a:rPr>
              <a:t>{       </a:t>
            </a:r>
            <a:endParaRPr lang="en-US" altLang="zh-CN" b="1" dirty="0">
              <a:ea typeface="华文彩云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华文彩云" pitchFamily="2" charset="-122"/>
              </a:rPr>
              <a:t>	int i=1;</a:t>
            </a:r>
            <a:endParaRPr lang="en-US" altLang="zh-CN" b="1" dirty="0">
              <a:ea typeface="华文彩云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华文彩云" pitchFamily="2" charset="-122"/>
              </a:rPr>
              <a:t>        </a:t>
            </a:r>
            <a:r>
              <a:rPr lang="en-US" altLang="zh-CN" b="1" dirty="0">
                <a:solidFill>
                  <a:schemeClr val="hlink"/>
                </a:solidFill>
                <a:ea typeface="华文彩云" pitchFamily="2" charset="-122"/>
              </a:rPr>
              <a:t>do</a:t>
            </a:r>
            <a:endParaRPr lang="en-US" altLang="zh-CN" b="1" dirty="0">
              <a:solidFill>
                <a:schemeClr val="hlink"/>
              </a:solidFill>
              <a:ea typeface="华文彩云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华文彩云" pitchFamily="2" charset="-122"/>
              </a:rPr>
              <a:t>        {</a:t>
            </a:r>
            <a:endParaRPr lang="en-US" altLang="zh-CN" b="1" dirty="0">
              <a:ea typeface="华文彩云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华文彩云" pitchFamily="2" charset="-122"/>
              </a:rPr>
              <a:t>	     i++;</a:t>
            </a:r>
            <a:endParaRPr lang="en-US" altLang="zh-CN" b="1" dirty="0">
              <a:ea typeface="华文彩云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华文彩云" pitchFamily="2" charset="-122"/>
              </a:rPr>
              <a:t>	}</a:t>
            </a:r>
            <a:r>
              <a:rPr lang="en-US" altLang="zh-CN" b="1" dirty="0">
                <a:solidFill>
                  <a:schemeClr val="hlink"/>
                </a:solidFill>
                <a:ea typeface="华文彩云" pitchFamily="2" charset="-122"/>
              </a:rPr>
              <a:t>while(i&lt;1);</a:t>
            </a:r>
            <a:r>
              <a:rPr lang="en-US" altLang="zh-CN" b="1" dirty="0">
                <a:ea typeface="华文彩云" pitchFamily="2" charset="-122"/>
              </a:rPr>
              <a:t>           	printf("i=%d\n",i);</a:t>
            </a:r>
            <a:endParaRPr lang="en-US" altLang="zh-CN" b="1" dirty="0">
              <a:ea typeface="华文彩云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华文彩云" pitchFamily="2" charset="-122"/>
              </a:rPr>
              <a:t>	return 0;</a:t>
            </a:r>
            <a:endParaRPr lang="en-US" altLang="zh-CN" b="1" dirty="0">
              <a:ea typeface="华文彩云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华文彩云" pitchFamily="2" charset="-122"/>
              </a:rPr>
              <a:t>}</a:t>
            </a:r>
            <a:endParaRPr lang="en-US" altLang="zh-CN" b="1" dirty="0">
              <a:ea typeface="华文彩云" pitchFamily="2" charset="-122"/>
            </a:endParaRPr>
          </a:p>
        </p:txBody>
      </p:sp>
      <p:sp>
        <p:nvSpPr>
          <p:cNvPr id="24581" name="Rectangle 9"/>
          <p:cNvSpPr/>
          <p:nvPr/>
        </p:nvSpPr>
        <p:spPr>
          <a:xfrm>
            <a:off x="161925" y="5468938"/>
            <a:ext cx="1871663" cy="155892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C000"/>
                </a:solidFill>
                <a:latin typeface="宋体" panose="02010600030101010101" pitchFamily="2" charset="-122"/>
              </a:rPr>
              <a:t>运行结果：</a:t>
            </a:r>
            <a:endParaRPr lang="zh-CN" altLang="en-US" sz="2800" b="1" dirty="0">
              <a:solidFill>
                <a:srgbClr val="FFC000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i=2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  <p:sp>
        <p:nvSpPr>
          <p:cNvPr id="24582" name="Rectangle 10"/>
          <p:cNvSpPr/>
          <p:nvPr/>
        </p:nvSpPr>
        <p:spPr>
          <a:xfrm>
            <a:off x="6378575" y="152400"/>
            <a:ext cx="5105400" cy="5508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华文彩云" pitchFamily="2" charset="-122"/>
              </a:rPr>
              <a:t>#include&lt;stdio.h&gt;</a:t>
            </a:r>
            <a:endParaRPr lang="en-US" altLang="zh-CN" b="1" dirty="0">
              <a:ea typeface="华文彩云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华文彩云" pitchFamily="2" charset="-122"/>
              </a:rPr>
              <a:t>int main()</a:t>
            </a:r>
            <a:endParaRPr lang="en-US" altLang="zh-CN" b="1" dirty="0">
              <a:ea typeface="华文彩云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华文彩云" pitchFamily="2" charset="-122"/>
              </a:rPr>
              <a:t>{  </a:t>
            </a:r>
            <a:endParaRPr lang="en-US" altLang="zh-CN" b="1" dirty="0">
              <a:ea typeface="华文彩云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华文彩云" pitchFamily="2" charset="-122"/>
              </a:rPr>
              <a:t>	int i=1;</a:t>
            </a:r>
            <a:endParaRPr lang="en-US" altLang="zh-CN" b="1" dirty="0">
              <a:ea typeface="华文彩云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华文彩云" pitchFamily="2" charset="-122"/>
              </a:rPr>
              <a:t>    	</a:t>
            </a:r>
            <a:r>
              <a:rPr lang="en-US" altLang="zh-CN" b="1" dirty="0">
                <a:solidFill>
                  <a:schemeClr val="hlink"/>
                </a:solidFill>
                <a:ea typeface="华文彩云" pitchFamily="2" charset="-122"/>
              </a:rPr>
              <a:t>while(i&lt;1)</a:t>
            </a:r>
            <a:endParaRPr lang="en-US" altLang="zh-CN" b="1" dirty="0">
              <a:solidFill>
                <a:schemeClr val="hlink"/>
              </a:solidFill>
              <a:ea typeface="华文彩云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华文彩云" pitchFamily="2" charset="-122"/>
              </a:rPr>
              <a:t>    	{</a:t>
            </a:r>
            <a:endParaRPr lang="en-US" altLang="zh-CN" b="1" dirty="0">
              <a:ea typeface="华文彩云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华文彩云" pitchFamily="2" charset="-122"/>
              </a:rPr>
              <a:t>		i++;</a:t>
            </a:r>
            <a:endParaRPr lang="en-US" altLang="zh-CN" b="1" dirty="0">
              <a:ea typeface="华文彩云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华文彩云" pitchFamily="2" charset="-122"/>
              </a:rPr>
              <a:t>     	}</a:t>
            </a:r>
            <a:endParaRPr lang="en-US" altLang="zh-CN" b="1" dirty="0">
              <a:ea typeface="华文彩云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华文彩云" pitchFamily="2" charset="-122"/>
              </a:rPr>
              <a:t>      	printf("i=%d\n",i);</a:t>
            </a:r>
            <a:endParaRPr lang="en-US" altLang="zh-CN" b="1" dirty="0">
              <a:ea typeface="华文彩云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华文彩云" pitchFamily="2" charset="-122"/>
              </a:rPr>
              <a:t>	return 0;</a:t>
            </a:r>
            <a:endParaRPr lang="en-US" altLang="zh-CN" b="1" dirty="0">
              <a:ea typeface="华文彩云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华文彩云" pitchFamily="2" charset="-122"/>
              </a:rPr>
              <a:t>}</a:t>
            </a:r>
            <a:endParaRPr lang="en-US" altLang="zh-CN" b="1" dirty="0">
              <a:ea typeface="华文彩云" pitchFamily="2" charset="-122"/>
            </a:endParaRPr>
          </a:p>
        </p:txBody>
      </p:sp>
      <p:sp>
        <p:nvSpPr>
          <p:cNvPr id="24583" name="Rectangle 11"/>
          <p:cNvSpPr/>
          <p:nvPr/>
        </p:nvSpPr>
        <p:spPr>
          <a:xfrm>
            <a:off x="6378575" y="5468938"/>
            <a:ext cx="1871663" cy="15589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ClrTx/>
              <a:buSzTx/>
              <a:buNone/>
            </a:pPr>
            <a:r>
              <a:rPr lang="zh-CN" altLang="en-US" sz="2800" b="1" dirty="0">
                <a:solidFill>
                  <a:srgbClr val="FFC000"/>
                </a:solidFill>
                <a:latin typeface="宋体" panose="02010600030101010101" pitchFamily="2" charset="-122"/>
              </a:rPr>
              <a:t>运行结果：</a:t>
            </a:r>
            <a:endParaRPr lang="zh-CN" altLang="en-US" sz="2800" b="1" dirty="0">
              <a:solidFill>
                <a:srgbClr val="FFC000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buClrTx/>
              <a:buSz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i=1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1pPr>
            <a:lvl2pPr marL="742950" indent="-28575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2pPr>
            <a:lvl3pPr marL="11430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3pPr>
            <a:lvl4pPr marL="16002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4pPr>
            <a:lvl5pPr marL="20574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666FC50-A7CF-4B64-8C9B-75FDF7357E6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133350" y="1019175"/>
            <a:ext cx="8604250" cy="49688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一般形式	   </a:t>
            </a:r>
            <a:b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        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for (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e1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e2 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e3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	                     S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e1——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初值表达式</a:t>
            </a:r>
            <a:b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          用于设置该循环开始的一些初值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e2——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终值表达式</a:t>
            </a:r>
            <a:b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          用于控制循环结束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e3——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增量表达式</a:t>
            </a:r>
            <a:b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          用于每次循环体执行后对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控制条件的修正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Tahoma" panose="020B0604030504040204" pitchFamily="34" charset="0"/>
              </a:rPr>
              <a:t>S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——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语句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762"/>
            <a:ext cx="48006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Tahoma" panose="020B0604030504040204" pitchFamily="34" charset="0"/>
              </a:rPr>
              <a:t>§4.1.3   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for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语句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175" y="6213475"/>
            <a:ext cx="8864600" cy="6445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语句最经常被用于描述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循环次数已知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的循环 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1845925" y="4560888"/>
            <a:ext cx="33655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1pPr>
            <a:lvl2pPr marL="742950" indent="-28575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2pPr>
            <a:lvl3pPr marL="11430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3pPr>
            <a:lvl4pPr marL="16002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4pPr>
            <a:lvl5pPr marL="20574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D06A811-7C8F-4B3A-A462-60EB29810F5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-163512" y="991235"/>
            <a:ext cx="5256213" cy="2922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9875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程序片段：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教材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P88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sum = 0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k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 1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while( k&lt;=n ) {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sum=sum+1.0/(k*(k+1))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k++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9701" name="Rectangle 5"/>
          <p:cNvSpPr>
            <a:spLocks noChangeArrowheads="1"/>
          </p:cNvSpPr>
          <p:nvPr/>
        </p:nvSpPr>
        <p:spPr bwMode="auto">
          <a:xfrm>
            <a:off x="5084763" y="223361"/>
            <a:ext cx="6989763" cy="1383665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9875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sum = 0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for 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k=1 ; k&lt;=n; k++)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sum=sum+1.0/(k*(k+1))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9702" name="Rectangle 6"/>
          <p:cNvSpPr>
            <a:spLocks noChangeArrowheads="1"/>
          </p:cNvSpPr>
          <p:nvPr/>
        </p:nvSpPr>
        <p:spPr bwMode="auto">
          <a:xfrm>
            <a:off x="5084763" y="3425508"/>
            <a:ext cx="7005638" cy="953135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9875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for 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sum=0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k=1 ; k&lt;=n; k++)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sum=sum+1.0/(k*(k+1))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5076825" y="1613535"/>
            <a:ext cx="7005638" cy="1814830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9875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sum = 0 ;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k=1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for (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 k&lt;=n; k++)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sum=sum+1.0/(k*(k+1))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9525" y="68263"/>
            <a:ext cx="5256213" cy="11874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4.2】</a:t>
            </a:r>
            <a:r>
              <a:rPr kumimoji="0" lang="zh-CN" altLang="en-US" sz="31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计算数列的</a:t>
            </a:r>
            <a:endParaRPr kumimoji="0" lang="en-US" altLang="zh-CN" sz="31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1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31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=1/(k*(k+1)) </a:t>
            </a:r>
            <a:r>
              <a:rPr kumimoji="0" lang="zh-CN" altLang="en-US" sz="31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前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31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项和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zh-CN" sz="31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对话气泡: 椭圆形 10"/>
          <p:cNvSpPr/>
          <p:nvPr/>
        </p:nvSpPr>
        <p:spPr>
          <a:xfrm>
            <a:off x="3105150" y="1103313"/>
            <a:ext cx="1870075" cy="719137"/>
          </a:xfrm>
          <a:prstGeom prst="wedgeEllipseCallout">
            <a:avLst>
              <a:gd name="adj1" fmla="val 126398"/>
              <a:gd name="adj2" fmla="val -54764"/>
            </a:avLst>
          </a:prstGeom>
          <a:solidFill>
            <a:srgbClr val="00B0F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初值表达式</a:t>
            </a:r>
            <a:endParaRPr lang="zh-CN" altLang="en-US" sz="2400" b="1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对话气泡: 椭圆形 11"/>
          <p:cNvSpPr/>
          <p:nvPr/>
        </p:nvSpPr>
        <p:spPr>
          <a:xfrm>
            <a:off x="7391400" y="-57150"/>
            <a:ext cx="1870075" cy="719138"/>
          </a:xfrm>
          <a:prstGeom prst="wedgeEllipseCallout">
            <a:avLst>
              <a:gd name="adj1" fmla="val -40292"/>
              <a:gd name="adj2" fmla="val 78366"/>
            </a:avLst>
          </a:prstGeom>
          <a:solidFill>
            <a:srgbClr val="00B0F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终值表达式</a:t>
            </a:r>
            <a:endParaRPr lang="zh-CN" altLang="en-US" sz="2400" b="1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对话气泡: 椭圆形 12"/>
          <p:cNvSpPr/>
          <p:nvPr/>
        </p:nvSpPr>
        <p:spPr>
          <a:xfrm>
            <a:off x="9677400" y="38100"/>
            <a:ext cx="1870075" cy="719138"/>
          </a:xfrm>
          <a:prstGeom prst="wedgeEllipseCallout">
            <a:avLst>
              <a:gd name="adj1" fmla="val -83315"/>
              <a:gd name="adj2" fmla="val 62505"/>
            </a:avLst>
          </a:prstGeom>
          <a:solidFill>
            <a:srgbClr val="00B0F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增量表达式</a:t>
            </a:r>
            <a:endParaRPr lang="zh-CN" altLang="en-US" sz="2400" b="1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对话气泡: 椭圆形 13"/>
          <p:cNvSpPr/>
          <p:nvPr/>
        </p:nvSpPr>
        <p:spPr>
          <a:xfrm>
            <a:off x="10515600" y="1711325"/>
            <a:ext cx="1871663" cy="719138"/>
          </a:xfrm>
          <a:prstGeom prst="wedgeEllipseCallout">
            <a:avLst>
              <a:gd name="adj1" fmla="val -51296"/>
              <a:gd name="adj2" fmla="val -80394"/>
            </a:avLst>
          </a:prstGeom>
          <a:solidFill>
            <a:srgbClr val="00B0F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循环体</a:t>
            </a:r>
            <a:endParaRPr lang="zh-CN" altLang="en-US" sz="2400" b="1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5076825" y="4365943"/>
            <a:ext cx="7005638" cy="2491740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9875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sum=0;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k=1;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for 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;;k++)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{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if(k&gt;n) 	break;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sum=sum+1.0/(k*(k+1))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55" y="3873659"/>
            <a:ext cx="5076825" cy="2984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indent="269875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sum = 0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k = 1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while(1) {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if(k&gt;n) break;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sum=sum+1.0/(k*(k+1))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k++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9701" grpId="0" bldLvl="0" animBg="1"/>
      <p:bldP spid="669702" grpId="0" bldLvl="0" animBg="1"/>
      <p:bldP spid="8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1pPr>
            <a:lvl2pPr marL="742950" indent="-28575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2pPr>
            <a:lvl3pPr marL="11430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3pPr>
            <a:lvl4pPr marL="16002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4pPr>
            <a:lvl5pPr marL="20574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02F176-47B8-430C-9AFE-4C568DB5547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958850" y="609600"/>
            <a:ext cx="3598863" cy="5762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执行与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PAD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28676" name="Group 31"/>
          <p:cNvGrpSpPr/>
          <p:nvPr/>
        </p:nvGrpSpPr>
        <p:grpSpPr>
          <a:xfrm>
            <a:off x="5951538" y="2276475"/>
            <a:ext cx="4248150" cy="2232025"/>
            <a:chOff x="0" y="0"/>
            <a:chExt cx="20000" cy="20001"/>
          </a:xfrm>
        </p:grpSpPr>
        <p:sp>
          <p:nvSpPr>
            <p:cNvPr id="28701" name="Rectangle 32"/>
            <p:cNvSpPr/>
            <p:nvPr/>
          </p:nvSpPr>
          <p:spPr>
            <a:xfrm>
              <a:off x="0" y="4659"/>
              <a:ext cx="14119" cy="1001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1" dirty="0">
                <a:latin typeface="Arial" panose="020B0604020202020204" pitchFamily="34" charset="0"/>
                <a:cs typeface="Times New Roman" panose="02020603050405020304" pitchFamily="18" charset="0"/>
              </a:endParaRP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  <a:cs typeface="Times New Roman" panose="02020603050405020304" pitchFamily="18" charset="0"/>
                </a:rPr>
                <a:t>for ( e1 ; e2 ;e3 )</a:t>
              </a:r>
              <a:endParaRPr lang="en-US" altLang="zh-CN" sz="2400" b="1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28702" name="Line 33"/>
            <p:cNvSpPr/>
            <p:nvPr/>
          </p:nvSpPr>
          <p:spPr>
            <a:xfrm>
              <a:off x="1046" y="4659"/>
              <a:ext cx="5" cy="10017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703" name="Line 34"/>
            <p:cNvSpPr/>
            <p:nvPr/>
          </p:nvSpPr>
          <p:spPr>
            <a:xfrm>
              <a:off x="0" y="0"/>
              <a:ext cx="7" cy="2000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704" name="Rectangle 35"/>
            <p:cNvSpPr/>
            <p:nvPr/>
          </p:nvSpPr>
          <p:spPr>
            <a:xfrm>
              <a:off x="15549" y="1997"/>
              <a:ext cx="4451" cy="1600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1" dirty="0">
                <a:latin typeface="Arial" panose="020B0604020202020204" pitchFamily="34" charset="0"/>
                <a:cs typeface="Times New Roman" panose="02020603050405020304" pitchFamily="18" charset="0"/>
              </a:endParaRP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1" dirty="0">
                <a:latin typeface="Arial" panose="020B0604020202020204" pitchFamily="34" charset="0"/>
                <a:cs typeface="Times New Roman" panose="02020603050405020304" pitchFamily="18" charset="0"/>
              </a:endParaRP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  <a:cs typeface="Times New Roman" panose="02020603050405020304" pitchFamily="18" charset="0"/>
                </a:rPr>
                <a:t>S</a:t>
              </a:r>
              <a:endParaRPr lang="en-US" altLang="zh-CN" sz="2400" b="1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28705" name="Line 36"/>
            <p:cNvSpPr/>
            <p:nvPr/>
          </p:nvSpPr>
          <p:spPr>
            <a:xfrm>
              <a:off x="14243" y="9318"/>
              <a:ext cx="1314" cy="3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28677" name="Group 39"/>
          <p:cNvGrpSpPr/>
          <p:nvPr/>
        </p:nvGrpSpPr>
        <p:grpSpPr>
          <a:xfrm>
            <a:off x="839788" y="1524000"/>
            <a:ext cx="3240087" cy="4248150"/>
            <a:chOff x="295" y="709"/>
            <a:chExt cx="2041" cy="2676"/>
          </a:xfrm>
        </p:grpSpPr>
        <p:sp>
          <p:nvSpPr>
            <p:cNvPr id="28680" name="Rectangle 11"/>
            <p:cNvSpPr/>
            <p:nvPr/>
          </p:nvSpPr>
          <p:spPr>
            <a:xfrm>
              <a:off x="794" y="981"/>
              <a:ext cx="771" cy="27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  <a:cs typeface="Times New Roman" panose="02020603050405020304" pitchFamily="18" charset="0"/>
                </a:rPr>
                <a:t>e1</a:t>
              </a:r>
              <a:endParaRPr lang="en-US" altLang="zh-CN" sz="2400" b="1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28681" name="Group 12"/>
            <p:cNvGrpSpPr/>
            <p:nvPr/>
          </p:nvGrpSpPr>
          <p:grpSpPr>
            <a:xfrm>
              <a:off x="606" y="1593"/>
              <a:ext cx="1090" cy="439"/>
              <a:chOff x="5" y="0"/>
              <a:chExt cx="19996" cy="20000"/>
            </a:xfrm>
          </p:grpSpPr>
          <p:sp>
            <p:nvSpPr>
              <p:cNvPr id="28693" name="Rectangle 13"/>
              <p:cNvSpPr/>
              <p:nvPr/>
            </p:nvSpPr>
            <p:spPr>
              <a:xfrm>
                <a:off x="5709" y="3802"/>
                <a:ext cx="9532" cy="1240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e2</a:t>
                </a:r>
                <a:endParaRPr lang="en-US" altLang="zh-CN" sz="2400" b="1" dirty="0">
                  <a:solidFill>
                    <a:schemeClr val="tx1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8694" name="Group 14"/>
              <p:cNvGrpSpPr/>
              <p:nvPr/>
            </p:nvGrpSpPr>
            <p:grpSpPr>
              <a:xfrm>
                <a:off x="5" y="0"/>
                <a:ext cx="19996" cy="20000"/>
                <a:chOff x="5" y="-6"/>
                <a:chExt cx="19996" cy="20006"/>
              </a:xfrm>
            </p:grpSpPr>
            <p:grpSp>
              <p:nvGrpSpPr>
                <p:cNvPr id="28695" name="Group 15"/>
                <p:cNvGrpSpPr/>
                <p:nvPr/>
              </p:nvGrpSpPr>
              <p:grpSpPr>
                <a:xfrm>
                  <a:off x="5" y="-6"/>
                  <a:ext cx="10160" cy="20006"/>
                  <a:chOff x="10" y="0"/>
                  <a:chExt cx="19990" cy="20000"/>
                </a:xfrm>
              </p:grpSpPr>
              <p:sp>
                <p:nvSpPr>
                  <p:cNvPr id="28699" name="Line 16"/>
                  <p:cNvSpPr/>
                  <p:nvPr/>
                </p:nvSpPr>
                <p:spPr>
                  <a:xfrm flipH="1">
                    <a:off x="630" y="0"/>
                    <a:ext cx="19370" cy="1031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28700" name="Line 17"/>
                  <p:cNvSpPr/>
                  <p:nvPr/>
                </p:nvSpPr>
                <p:spPr>
                  <a:xfrm flipH="1" flipV="1">
                    <a:off x="10" y="9696"/>
                    <a:ext cx="19370" cy="1030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  <p:grpSp>
              <p:nvGrpSpPr>
                <p:cNvPr id="28696" name="Group 18"/>
                <p:cNvGrpSpPr/>
                <p:nvPr/>
              </p:nvGrpSpPr>
              <p:grpSpPr>
                <a:xfrm>
                  <a:off x="9835" y="-6"/>
                  <a:ext cx="10166" cy="20006"/>
                  <a:chOff x="0" y="0"/>
                  <a:chExt cx="20000" cy="20000"/>
                </a:xfrm>
              </p:grpSpPr>
              <p:sp>
                <p:nvSpPr>
                  <p:cNvPr id="28697" name="Line 19"/>
                  <p:cNvSpPr/>
                  <p:nvPr/>
                </p:nvSpPr>
                <p:spPr>
                  <a:xfrm>
                    <a:off x="0" y="0"/>
                    <a:ext cx="19380" cy="1031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28698" name="Line 20"/>
                  <p:cNvSpPr/>
                  <p:nvPr/>
                </p:nvSpPr>
                <p:spPr>
                  <a:xfrm flipV="1">
                    <a:off x="630" y="9690"/>
                    <a:ext cx="19370" cy="1031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</p:grpSp>
        </p:grpSp>
        <p:sp>
          <p:nvSpPr>
            <p:cNvPr id="28682" name="Rectangle 21"/>
            <p:cNvSpPr/>
            <p:nvPr/>
          </p:nvSpPr>
          <p:spPr>
            <a:xfrm>
              <a:off x="658" y="2296"/>
              <a:ext cx="951" cy="28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S</a:t>
              </a:r>
              <a:endPara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28683" name="Rectangle 22"/>
            <p:cNvSpPr/>
            <p:nvPr/>
          </p:nvSpPr>
          <p:spPr>
            <a:xfrm>
              <a:off x="537" y="2926"/>
              <a:ext cx="1211" cy="31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tx1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e3</a:t>
              </a:r>
              <a:endPara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684" name="Line 23"/>
            <p:cNvSpPr/>
            <p:nvPr/>
          </p:nvSpPr>
          <p:spPr>
            <a:xfrm>
              <a:off x="1157" y="709"/>
              <a:ext cx="0" cy="2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arrow" w="med" len="med"/>
            </a:ln>
          </p:spPr>
        </p:sp>
        <p:sp>
          <p:nvSpPr>
            <p:cNvPr id="28685" name="Line 24"/>
            <p:cNvSpPr/>
            <p:nvPr/>
          </p:nvSpPr>
          <p:spPr>
            <a:xfrm>
              <a:off x="1157" y="1253"/>
              <a:ext cx="4" cy="3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arrow" w="med" len="med"/>
            </a:ln>
          </p:spPr>
        </p:sp>
        <p:sp>
          <p:nvSpPr>
            <p:cNvPr id="28686" name="Line 25"/>
            <p:cNvSpPr/>
            <p:nvPr/>
          </p:nvSpPr>
          <p:spPr>
            <a:xfrm>
              <a:off x="1142" y="2072"/>
              <a:ext cx="15" cy="2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arrow" w="med" len="med"/>
            </a:ln>
          </p:spPr>
        </p:sp>
        <p:sp>
          <p:nvSpPr>
            <p:cNvPr id="28687" name="Line 26"/>
            <p:cNvSpPr/>
            <p:nvPr/>
          </p:nvSpPr>
          <p:spPr>
            <a:xfrm flipH="1">
              <a:off x="1143" y="2568"/>
              <a:ext cx="14" cy="33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arrow" w="med" len="med"/>
            </a:ln>
          </p:spPr>
        </p:sp>
        <p:sp>
          <p:nvSpPr>
            <p:cNvPr id="28688" name="Freeform 27"/>
            <p:cNvSpPr/>
            <p:nvPr/>
          </p:nvSpPr>
          <p:spPr>
            <a:xfrm>
              <a:off x="295" y="1552"/>
              <a:ext cx="831" cy="183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0000" h="20000">
                  <a:moveTo>
                    <a:pt x="19979" y="18399"/>
                  </a:moveTo>
                  <a:lnTo>
                    <a:pt x="19979" y="19989"/>
                  </a:lnTo>
                  <a:lnTo>
                    <a:pt x="0" y="19989"/>
                  </a:lnTo>
                  <a:lnTo>
                    <a:pt x="0" y="0"/>
                  </a:lnTo>
                  <a:lnTo>
                    <a:pt x="15817" y="0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sm"/>
              <a:tailEnd type="arrow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89" name="Freeform 28"/>
            <p:cNvSpPr/>
            <p:nvPr/>
          </p:nvSpPr>
          <p:spPr>
            <a:xfrm>
              <a:off x="1695" y="1823"/>
              <a:ext cx="382" cy="3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0000" h="20000">
                  <a:moveTo>
                    <a:pt x="0" y="0"/>
                  </a:moveTo>
                  <a:lnTo>
                    <a:pt x="19955" y="0"/>
                  </a:lnTo>
                  <a:lnTo>
                    <a:pt x="19955" y="19938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sm"/>
              <a:tailEnd type="arrow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90" name="Rectangle 29"/>
            <p:cNvSpPr/>
            <p:nvPr/>
          </p:nvSpPr>
          <p:spPr>
            <a:xfrm>
              <a:off x="1851" y="1531"/>
              <a:ext cx="260" cy="251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  <a:cs typeface="Times New Roman" panose="02020603050405020304" pitchFamily="18" charset="0"/>
                </a:rPr>
                <a:t>F</a:t>
              </a:r>
              <a:endParaRPr lang="en-US" altLang="zh-CN" sz="2400" b="1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28691" name="Rectangle 30"/>
            <p:cNvSpPr/>
            <p:nvPr/>
          </p:nvSpPr>
          <p:spPr>
            <a:xfrm>
              <a:off x="1886" y="2156"/>
              <a:ext cx="450" cy="37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Arial" panose="020B0604020202020204" pitchFamily="34" charset="0"/>
                  <a:cs typeface="Times New Roman" panose="02020603050405020304" pitchFamily="18" charset="0"/>
                </a:rPr>
                <a:t>结束</a:t>
              </a:r>
              <a:endParaRPr lang="zh-CN" altLang="en-US" sz="2400" b="1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28692" name="Rectangle 38"/>
            <p:cNvSpPr/>
            <p:nvPr/>
          </p:nvSpPr>
          <p:spPr>
            <a:xfrm>
              <a:off x="1177" y="2030"/>
              <a:ext cx="260" cy="251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  <a:cs typeface="Times New Roman" panose="02020603050405020304" pitchFamily="18" charset="0"/>
                </a:rPr>
                <a:t>T</a:t>
              </a:r>
              <a:endParaRPr lang="en-US" altLang="zh-CN" sz="2400" b="1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28678" name="Rectangle 40"/>
          <p:cNvSpPr/>
          <p:nvPr/>
        </p:nvSpPr>
        <p:spPr>
          <a:xfrm>
            <a:off x="5029200" y="533400"/>
            <a:ext cx="6019165" cy="15894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15000"/>
              </a:lnSpc>
              <a:spcAft>
                <a:spcPct val="20000"/>
              </a:spcAft>
              <a:buNone/>
            </a:pPr>
            <a:r>
              <a:rPr lang="en-US" altLang="zh-CN" sz="3600" b="1" dirty="0">
                <a:latin typeface="+mn-ea"/>
              </a:rPr>
              <a:t>for ( e1</a:t>
            </a:r>
            <a:r>
              <a:rPr lang="en-US" altLang="zh-CN" sz="3600" b="1" dirty="0">
                <a:solidFill>
                  <a:schemeClr val="tx1"/>
                </a:solidFill>
                <a:latin typeface="+mn-ea"/>
              </a:rPr>
              <a:t>;</a:t>
            </a:r>
            <a:r>
              <a:rPr lang="en-US" altLang="zh-CN" sz="3600" b="1" dirty="0">
                <a:solidFill>
                  <a:schemeClr val="tx1"/>
                </a:solidFill>
                <a:latin typeface="+mn-ea"/>
              </a:rPr>
              <a:t> e2 ; e3</a:t>
            </a:r>
            <a:r>
              <a:rPr lang="en-US" altLang="zh-CN" sz="3600" b="1" dirty="0">
                <a:latin typeface="+mn-ea"/>
              </a:rPr>
              <a:t>)</a:t>
            </a:r>
            <a:endParaRPr lang="en-US" altLang="zh-CN" sz="3600" b="1" dirty="0">
              <a:latin typeface="+mn-ea"/>
            </a:endParaRPr>
          </a:p>
          <a:p>
            <a:pPr marL="0" lvl="0" indent="0" algn="ctr" eaLnBrk="1" hangingPunct="1">
              <a:lnSpc>
                <a:spcPct val="115000"/>
              </a:lnSpc>
              <a:spcAft>
                <a:spcPct val="20000"/>
              </a:spcAft>
              <a:buNone/>
            </a:pPr>
            <a:r>
              <a:rPr lang="en-US" altLang="zh-CN" sz="3600" b="1" dirty="0">
                <a:solidFill>
                  <a:schemeClr val="hlink"/>
                </a:solidFill>
                <a:latin typeface="+mn-ea"/>
              </a:rPr>
              <a:t>S</a:t>
            </a:r>
            <a:endParaRPr lang="en-US" altLang="zh-CN" sz="3600" b="1" dirty="0">
              <a:solidFill>
                <a:schemeClr val="hlink"/>
              </a:solidFill>
              <a:latin typeface="+mn-ea"/>
            </a:endParaRPr>
          </a:p>
        </p:txBody>
      </p:sp>
      <p:sp>
        <p:nvSpPr>
          <p:cNvPr id="70697" name="Rectangle 41"/>
          <p:cNvSpPr>
            <a:spLocks noChangeArrowheads="1"/>
          </p:cNvSpPr>
          <p:nvPr/>
        </p:nvSpPr>
        <p:spPr bwMode="auto">
          <a:xfrm>
            <a:off x="5761038" y="4872038"/>
            <a:ext cx="4860925" cy="18002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】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4.1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种实现方法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: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隶书" pitchFamily="2" charset="-122"/>
              <a:ea typeface="华文隶书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do while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隶书" pitchFamily="2" charset="-122"/>
              <a:ea typeface="华文隶书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while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隶书" pitchFamily="2" charset="-122"/>
              <a:ea typeface="华文隶书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for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隶书" pitchFamily="2" charset="-122"/>
              <a:ea typeface="华文隶书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6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11058525" y="6248400"/>
            <a:ext cx="523875" cy="457200"/>
          </a:xfrm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1pPr>
            <a:lvl2pPr marL="742950" indent="-28575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2pPr>
            <a:lvl3pPr marL="11430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3pPr>
            <a:lvl4pPr marL="16002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4pPr>
            <a:lvl5pPr marL="20574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2E156F-D91D-44B9-A4C8-AEBD3034019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384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-6350" y="30163"/>
            <a:ext cx="4500563" cy="66690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一、后判断条件循环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隶书" pitchFamily="2" charset="-122"/>
              <a:ea typeface="华文隶书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（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do while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）：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#define  N  40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main(){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float  sum 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k , m;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sum = 0;//sum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的初值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k=1;//k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的初值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do {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("please input m :");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d",&amp;m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);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sum = sum + m;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k++; 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 while (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k &lt;= 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) ;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("%5.2f \n" ,  sum/N );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return 0;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03875" name="Rectangle 35"/>
          <p:cNvSpPr>
            <a:spLocks noChangeArrowheads="1"/>
          </p:cNvSpPr>
          <p:nvPr/>
        </p:nvSpPr>
        <p:spPr bwMode="auto">
          <a:xfrm>
            <a:off x="3714750" y="223838"/>
            <a:ext cx="4643438" cy="6073775"/>
          </a:xfrm>
          <a:prstGeom prst="rect">
            <a:avLst/>
          </a:prstGeom>
          <a:noFill/>
          <a:ln>
            <a:solidFill>
              <a:srgbClr val="FFFF00"/>
            </a:solidFill>
          </a:ln>
          <a:effectLst/>
        </p:spPr>
        <p:txBody>
          <a:bodyPr anchor="ctr">
            <a:spAutoFit/>
          </a:bodyPr>
          <a:lstStyle/>
          <a:p>
            <a:pPr marL="0" marR="0" lvl="0" indent="2762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二、先判断条件循环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隶书" pitchFamily="2" charset="-122"/>
              <a:ea typeface="华文隶书" pitchFamily="2" charset="-122"/>
              <a:cs typeface="+mn-cs"/>
            </a:endParaRPr>
          </a:p>
          <a:p>
            <a:pPr marL="0" marR="0" lvl="0" indent="2762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while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）：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隶书" pitchFamily="2" charset="-122"/>
              <a:ea typeface="华文隶书" pitchFamily="2" charset="-122"/>
              <a:cs typeface="+mn-cs"/>
            </a:endParaRPr>
          </a:p>
          <a:p>
            <a:pPr marL="0" marR="0" lvl="0" indent="2762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#include &lt;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stdio.h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762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#define  N  40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762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main(){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762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float  sum ;   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k , m;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762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sum = 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；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762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k=1;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while  (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k&lt;=N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) {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2762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("please input m :");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762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("%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d",&amp;m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);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762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sum = sum + m;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762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k++;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2762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("%5.2f\n" , sum/N );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762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return 0; 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762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5" name="矩形 1"/>
          <p:cNvSpPr/>
          <p:nvPr/>
        </p:nvSpPr>
        <p:spPr>
          <a:xfrm>
            <a:off x="160020" y="2965450"/>
            <a:ext cx="3535680" cy="2696845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lgDashDot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30726" name="矩形 7"/>
          <p:cNvSpPr/>
          <p:nvPr/>
        </p:nvSpPr>
        <p:spPr>
          <a:xfrm>
            <a:off x="4017645" y="2859405"/>
            <a:ext cx="4172585" cy="2465705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lgDashDot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30727" name="Rectangle 6"/>
          <p:cNvSpPr/>
          <p:nvPr/>
        </p:nvSpPr>
        <p:spPr>
          <a:xfrm>
            <a:off x="8186738" y="218917"/>
            <a:ext cx="3978275" cy="629475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华文隶书" pitchFamily="2" charset="-122"/>
                <a:ea typeface="华文隶书" pitchFamily="2" charset="-122"/>
              </a:rPr>
              <a:t>三、先判断条件循环（</a:t>
            </a:r>
            <a:r>
              <a:rPr lang="en-US" altLang="zh-CN" sz="2400" b="1" dirty="0">
                <a:solidFill>
                  <a:schemeClr val="hlink"/>
                </a:solidFill>
                <a:latin typeface="华文隶书" pitchFamily="2" charset="-122"/>
                <a:ea typeface="华文隶书" pitchFamily="2" charset="-122"/>
              </a:rPr>
              <a:t>for</a:t>
            </a:r>
            <a:r>
              <a:rPr lang="zh-CN" altLang="en-US" sz="2400" b="1" dirty="0">
                <a:solidFill>
                  <a:schemeClr val="hlink"/>
                </a:solidFill>
                <a:latin typeface="华文隶书" pitchFamily="2" charset="-122"/>
                <a:ea typeface="华文隶书" pitchFamily="2" charset="-122"/>
              </a:rPr>
              <a:t>）：</a:t>
            </a:r>
            <a:r>
              <a:rPr lang="zh-CN" altLang="en-US" sz="2400" b="1" dirty="0">
                <a:latin typeface="Arial" panose="020B0604020202020204" pitchFamily="34" charset="0"/>
              </a:rPr>
              <a:t>  </a:t>
            </a:r>
            <a:endParaRPr lang="zh-CN" altLang="en-US" sz="2400" b="1" dirty="0"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#include &lt;stdio.h&gt;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#define  N  40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int main(){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float  sum;    int  k,m;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    </a:t>
            </a:r>
            <a:r>
              <a:rPr lang="en-US" altLang="zh-CN" sz="2400" b="1" dirty="0">
                <a:latin typeface="Arial" panose="020B0604020202020204" pitchFamily="34" charset="0"/>
              </a:rPr>
              <a:t>sum=0;</a:t>
            </a:r>
            <a:endParaRPr lang="zh-CN" altLang="en-US" sz="2400" b="1" dirty="0">
              <a:latin typeface="Arial" panose="020B0604020202020204" pitchFamily="34" charset="0"/>
            </a:endParaRPr>
          </a:p>
          <a:p>
            <a:pPr lvl="0" algn="l" eaLnBrk="1" hangingPunct="1">
              <a:lnSpc>
                <a:spcPct val="90000"/>
              </a:lnSpc>
              <a:spcBef>
                <a:spcPct val="20000"/>
              </a:spcBef>
              <a:buNone/>
              <a:defRPr/>
            </a:pPr>
            <a:r>
              <a:rPr lang="zh-CN" altLang="en-US" sz="2400" b="1" kern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for(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k=1</a:t>
            </a:r>
            <a:r>
              <a:rPr lang="zh-CN" altLang="en-US" sz="2400" b="1" kern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; 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k&lt;=N </a:t>
            </a:r>
            <a:r>
              <a:rPr lang="zh-CN" altLang="en-US" sz="2400" b="1" kern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; 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k++ </a:t>
            </a:r>
            <a:r>
              <a:rPr lang="zh-CN" altLang="en-US" sz="2400" b="1" kern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)</a:t>
            </a:r>
            <a:endParaRPr lang="zh-CN" altLang="en-US" sz="2400" b="1" kern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  <a:p>
            <a:pPr lvl="0" algn="l" eaLnBrk="1" hangingPunct="1">
              <a:lnSpc>
                <a:spcPct val="90000"/>
              </a:lnSpc>
              <a:spcBef>
                <a:spcPct val="20000"/>
              </a:spcBef>
              <a:buNone/>
              <a:defRPr/>
            </a:pPr>
            <a:r>
              <a:rPr lang="zh-CN" altLang="en-US" sz="2400" b="1" kern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{</a:t>
            </a:r>
            <a:endParaRPr lang="zh-CN" altLang="en-US" sz="2400" b="1" kern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     </a:t>
            </a:r>
            <a:r>
              <a:rPr lang="en-US" altLang="zh-CN" sz="1800" b="1" dirty="0">
                <a:latin typeface="Arial" panose="020B0604020202020204" pitchFamily="34" charset="0"/>
              </a:rPr>
              <a:t>printf("please input m :");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      scanf("%d",&amp;m );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      sum = sum + m;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algn="l" eaLnBrk="1" hangingPunct="1">
              <a:lnSpc>
                <a:spcPct val="90000"/>
              </a:lnSpc>
              <a:spcBef>
                <a:spcPct val="20000"/>
              </a:spcBef>
              <a:buNone/>
              <a:defRPr/>
            </a:pPr>
            <a:r>
              <a:rPr lang="zh-CN" altLang="en-US" sz="2400" b="1" kern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}</a:t>
            </a:r>
            <a:endParaRPr lang="zh-CN" altLang="en-US" sz="2400" b="1" kern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</a:t>
            </a:r>
            <a:r>
              <a:rPr lang="en-US" altLang="zh-CN" sz="1800" b="1" dirty="0">
                <a:latin typeface="Arial" panose="020B0604020202020204" pitchFamily="34" charset="0"/>
              </a:rPr>
              <a:t>printf("%5.2f\n" , sum/N );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/>
              <a:t>   return 0;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27622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}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30728" name="矩形 5"/>
          <p:cNvSpPr/>
          <p:nvPr/>
        </p:nvSpPr>
        <p:spPr>
          <a:xfrm>
            <a:off x="8359140" y="3171825"/>
            <a:ext cx="3723640" cy="2238375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lgDashDot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mNmMTFlYTU3YjU5NDNlMjFjNGE1NDM0ZWI5YjNhZDUifQ=="/>
</p:tagLst>
</file>

<file path=ppt/theme/theme1.xml><?xml version="1.0" encoding="utf-8"?>
<a:theme xmlns:a="http://schemas.openxmlformats.org/drawingml/2006/main" name="1_Slit">
  <a:themeElements>
    <a:clrScheme name="Slit 6">
      <a:dk1>
        <a:srgbClr val="0000AC"/>
      </a:dk1>
      <a:lt1>
        <a:srgbClr val="FFFFFF"/>
      </a:lt1>
      <a:dk2>
        <a:srgbClr val="000086"/>
      </a:dk2>
      <a:lt2>
        <a:srgbClr val="CCFFFF"/>
      </a:lt2>
      <a:accent1>
        <a:srgbClr val="0099FF"/>
      </a:accent1>
      <a:accent2>
        <a:srgbClr val="00B000"/>
      </a:accent2>
      <a:accent3>
        <a:srgbClr val="AAAAC3"/>
      </a:accent3>
      <a:accent4>
        <a:srgbClr val="DADADA"/>
      </a:accent4>
      <a:accent5>
        <a:srgbClr val="AACAFF"/>
      </a:accent5>
      <a:accent6>
        <a:srgbClr val="009F00"/>
      </a:accent6>
      <a:hlink>
        <a:srgbClr val="FFE701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lIns="0" rIns="0">
        <a:noAutofit/>
      </a:bodyPr>
      <a:lstStyle>
        <a:defPPr eaLnBrk="1" hangingPunct="1">
          <a:buNone/>
          <a:defRPr sz="3200" dirty="0"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6774</Words>
  <Application>WPS 演示</Application>
  <PresentationFormat>宽屏</PresentationFormat>
  <Paragraphs>901</Paragraphs>
  <Slides>30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30</vt:i4>
      </vt:variant>
    </vt:vector>
  </HeadingPairs>
  <TitlesOfParts>
    <vt:vector size="48" baseType="lpstr">
      <vt:lpstr>Arial</vt:lpstr>
      <vt:lpstr>宋体</vt:lpstr>
      <vt:lpstr>Wingdings</vt:lpstr>
      <vt:lpstr>Tahoma</vt:lpstr>
      <vt:lpstr>华文隶书</vt:lpstr>
      <vt:lpstr>微软雅黑</vt:lpstr>
      <vt:lpstr>Monotype Corsiva</vt:lpstr>
      <vt:lpstr>华文彩云</vt:lpstr>
      <vt:lpstr>Arial</vt:lpstr>
      <vt:lpstr>华文新魏</vt:lpstr>
      <vt:lpstr>Segoe Print</vt:lpstr>
      <vt:lpstr>Times New Roman</vt:lpstr>
      <vt:lpstr>Arial Unicode MS</vt:lpstr>
      <vt:lpstr>黑体</vt:lpstr>
      <vt:lpstr>1_Slit</vt:lpstr>
      <vt:lpstr>Equation.DSMT4</vt:lpstr>
      <vt:lpstr>Equation.DSMT4</vt:lpstr>
      <vt:lpstr>Equation.DSMT4</vt:lpstr>
      <vt:lpstr>第4章 循环程序设计</vt:lpstr>
      <vt:lpstr> §4.1 计算平均成绩—循环程序 </vt:lpstr>
      <vt:lpstr>PowerPoint 演示文稿</vt:lpstr>
      <vt:lpstr>PowerPoint 演示文稿</vt:lpstr>
      <vt:lpstr>PowerPoint 演示文稿</vt:lpstr>
      <vt:lpstr>§4.1.1  后判断条件的循环</vt:lpstr>
      <vt:lpstr>PowerPoint 演示文稿</vt:lpstr>
      <vt:lpstr>后判断条件循环用do-while语句描述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先判断条件的循环程序模式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后判断条件循环  VS 先判断条件循环</vt:lpstr>
      <vt:lpstr>PowerPoint 演示文稿</vt:lpstr>
      <vt:lpstr>§4.1.3   for 语句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chunyan deng</dc:creator>
  <cp:lastModifiedBy>DENGCY</cp:lastModifiedBy>
  <cp:revision>735</cp:revision>
  <dcterms:created xsi:type="dcterms:W3CDTF">2019-09-21T08:05:00Z</dcterms:created>
  <dcterms:modified xsi:type="dcterms:W3CDTF">2025-09-25T03:36:58Z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2052-12.1.0.22529</vt:lpwstr>
  </property>
  <property fmtid="{D5CDD505-2E9C-101B-9397-08002B2CF9AE}" pid="4" name="ICV">
    <vt:lpwstr>F8942EF59A524909AE4FEE5E59BD6CCD_13</vt:lpwstr>
  </property>
</Properties>
</file>