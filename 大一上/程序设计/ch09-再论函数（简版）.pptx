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758" r:id="rId5"/>
    <p:sldId id="760" r:id="rId6"/>
    <p:sldId id="526" r:id="rId7"/>
    <p:sldId id="525" r:id="rId8"/>
    <p:sldId id="498" r:id="rId9"/>
    <p:sldId id="503" r:id="rId10"/>
    <p:sldId id="504" r:id="rId11"/>
    <p:sldId id="505" r:id="rId12"/>
    <p:sldId id="501" r:id="rId13"/>
    <p:sldId id="506" r:id="rId14"/>
    <p:sldId id="508" r:id="rId15"/>
    <p:sldId id="507" r:id="rId16"/>
    <p:sldId id="509" r:id="rId17"/>
    <p:sldId id="513" r:id="rId18"/>
    <p:sldId id="514" r:id="rId19"/>
    <p:sldId id="767" r:id="rId20"/>
    <p:sldId id="764" r:id="rId21"/>
    <p:sldId id="529" r:id="rId22"/>
    <p:sldId id="766" r:id="rId23"/>
    <p:sldId id="516" r:id="rId24"/>
    <p:sldId id="537" r:id="rId25"/>
    <p:sldId id="517" r:id="rId26"/>
    <p:sldId id="518" r:id="rId27"/>
    <p:sldId id="453" r:id="rId28"/>
    <p:sldId id="454" r:id="rId29"/>
    <p:sldId id="455" r:id="rId30"/>
    <p:sldId id="456" r:id="rId31"/>
    <p:sldId id="492" r:id="rId32"/>
    <p:sldId id="463" r:id="rId33"/>
    <p:sldId id="742" r:id="rId34"/>
    <p:sldId id="754" r:id="rId35"/>
    <p:sldId id="753" r:id="rId36"/>
    <p:sldId id="743" r:id="rId37"/>
    <p:sldId id="755" r:id="rId38"/>
    <p:sldId id="756" r:id="rId39"/>
    <p:sldId id="527" r:id="rId40"/>
  </p:sldIdLst>
  <p:sldSz cx="12192000" cy="6858000"/>
  <p:notesSz cx="6858000" cy="9144000"/>
  <p:custDataLst>
    <p:tags r:id="rId44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4" userDrawn="1">
          <p15:clr>
            <a:srgbClr val="A4A3A4"/>
          </p15:clr>
        </p15:guide>
        <p15:guide id="2" pos="38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FF0000"/>
    <a:srgbClr val="F507F7"/>
    <a:srgbClr val="FFE705"/>
    <a:srgbClr val="9C1489"/>
    <a:srgbClr val="00FFFF"/>
    <a:srgbClr val="000000"/>
    <a:srgbClr val="FF0066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86343"/>
  </p:normalViewPr>
  <p:slideViewPr>
    <p:cSldViewPr showGuides="1">
      <p:cViewPr varScale="1">
        <p:scale>
          <a:sx n="65" d="100"/>
          <a:sy n="65" d="100"/>
        </p:scale>
        <p:origin x="96" y="283"/>
      </p:cViewPr>
      <p:guideLst>
        <p:guide orient="horz" pos="2224"/>
        <p:guide pos="3834"/>
      </p:guideLst>
    </p:cSldViewPr>
  </p:slideViewPr>
  <p:outlineViewPr>
    <p:cViewPr>
      <p:scale>
        <a:sx n="33" d="100"/>
        <a:sy n="33" d="100"/>
      </p:scale>
      <p:origin x="0" y="-22584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8430"/>
    </p:cViewPr>
  </p:sorterViewPr>
  <p:gridSpacing cx="76199" cy="76199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4" Type="http://schemas.openxmlformats.org/officeDocument/2006/relationships/tags" Target="tags/tag1.xml"/><Relationship Id="rId43" Type="http://schemas.openxmlformats.org/officeDocument/2006/relationships/tableStyles" Target="tableStyles.xml"/><Relationship Id="rId42" Type="http://schemas.openxmlformats.org/officeDocument/2006/relationships/viewProps" Target="viewProps.xml"/><Relationship Id="rId41" Type="http://schemas.openxmlformats.org/officeDocument/2006/relationships/presProps" Target="presProps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460" name="Rectangle 4"/>
          <p:cNvSpPr>
            <a:spLocks noRo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15E200E-21DE-487A-8581-828E266B119A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2150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2150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2560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2560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44035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4403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48131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4813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55299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5530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5734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5734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59395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5939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144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6144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9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349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6349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553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zh-CN" dirty="0"/>
              <a:t>返回值是指针类型的函数只允许返回全局量指针、静态量指针或堆内指针，不允许把函数内部声明的局部指针作为返回值。</a:t>
            </a:r>
            <a:endParaRPr lang="zh-CN" altLang="en-US" sz="1600" b="1" dirty="0"/>
          </a:p>
          <a:p>
            <a:pPr lvl="0"/>
            <a:endParaRPr lang="zh-CN" altLang="en-US" dirty="0"/>
          </a:p>
        </p:txBody>
      </p:sp>
      <p:sp>
        <p:nvSpPr>
          <p:cNvPr id="6554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6758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6758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63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963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 dirty="0"/>
              <a:t>内存：栈、堆</a:t>
            </a:r>
            <a:endParaRPr lang="zh-CN" altLang="en-US" dirty="0"/>
          </a:p>
        </p:txBody>
      </p:sp>
      <p:sp>
        <p:nvSpPr>
          <p:cNvPr id="6963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475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74755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7475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680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7680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7680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397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83971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8397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601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86019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8602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806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8806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8806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011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90115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9011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31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9318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9318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r>
              <a:rPr lang="zh-CN" altLang="en-US" b="1" dirty="0">
                <a:ea typeface="隶书" pitchFamily="49" charset="-122"/>
              </a:rPr>
              <a:t>从变量的作用域（即从空间）角度来分</a:t>
            </a:r>
            <a:endParaRPr lang="zh-CN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269" name="Rectangle 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11273" name="Rectangle 9"/>
          <p:cNvSpPr>
            <a:spLocks noGrp="1" noChangeArrowheads="1"/>
          </p:cNvSpPr>
          <p:nvPr>
            <p:ph type="ctrTitle" sz="quarter"/>
          </p:nvPr>
        </p:nvSpPr>
        <p:spPr>
          <a:xfrm>
            <a:off x="914400" y="1768480"/>
            <a:ext cx="10363200" cy="1736725"/>
          </a:xfrm>
        </p:spPr>
        <p:txBody>
          <a:bodyPr anchor="b" anchorCtr="1"/>
          <a:lstStyle>
            <a:lvl1pPr>
              <a:defRPr sz="54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02F4B54-191D-4A52-B508-F47F44601DE9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9096ACB-66F7-4560-808F-A59543BFC6F6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D559BD-35BC-47A4-944E-F11D48286FA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156F4C0-38F5-4E6C-A6FF-6A53D72B8939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1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606D352-990C-40E1-A652-7E77F934B3C1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0793816-B14F-456B-8061-AEDDB0DA7462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63A0EDA-B0FD-4F4E-B761-252479FDAF56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52B64FE-A190-4BBA-9885-167CEECB26C4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BCD09BF-17B5-422A-A345-691247D8F5F5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标题和竖排文字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5522EDC-3410-43AC-B2C0-8F1D9F9042B2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文本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21362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21362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2D1E4A9-56AA-4EA9-B3F2-90C6BE6D7E88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 showMasterSp="0">
  <p:cSld name="标题，文本与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495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495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5326E2-2FF3-473C-975F-5C07732D6E7D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 showMasterSp="0">
  <p:cSld name="标题和文本在内容之上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10972800" cy="21717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3924300"/>
            <a:ext cx="10972800" cy="21717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6F3709-64AD-4C03-A3A1-E4053DBE7036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 showMasterSp="0">
  <p:cSld name="标题，文本与两项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495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717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24300"/>
            <a:ext cx="5384800" cy="21717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DBEB78D-F55E-4BCD-A7A4-7E69A4AE1691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 showMasterSp="0">
  <p:cSld name="标题和表格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09600" y="1600200"/>
            <a:ext cx="10972800" cy="4495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2100E4D-5F65-4937-ABD3-8D72CF568CD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 showMasterSp="0">
  <p:cSld name="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274638"/>
            <a:ext cx="10972800" cy="582136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917DE40-3AB4-46A2-BF20-EE14BDD37291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 showMasterSp="0">
  <p:cSld name="1_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274638"/>
            <a:ext cx="10972800" cy="582136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1F05346-F33F-48CE-9B3A-882783356039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slide" Target="../slides/slide1.xml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8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45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495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8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200" b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9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AAD6072-4BDA-422D-9B6F-8C60686D21B0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AutoShape 5">
            <a:hlinkClick r:id="rId19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2.xml"/><Relationship Id="rId6" Type="http://schemas.openxmlformats.org/officeDocument/2006/relationships/slide" Target="slide30.xml"/><Relationship Id="rId5" Type="http://schemas.openxmlformats.org/officeDocument/2006/relationships/slide" Target="slide25.xml"/><Relationship Id="rId4" Type="http://schemas.openxmlformats.org/officeDocument/2006/relationships/slide" Target="slide23.xml"/><Relationship Id="rId3" Type="http://schemas.openxmlformats.org/officeDocument/2006/relationships/slide" Target="slide14.xml"/><Relationship Id="rId2" Type="http://schemas.openxmlformats.org/officeDocument/2006/relationships/slide" Target="slide3.xml"/><Relationship Id="rId1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3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0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3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780497B-D2F1-41F9-9206-67A1501003C6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title"/>
          </p:nvPr>
        </p:nvSpPr>
        <p:spPr>
          <a:xfrm>
            <a:off x="1847850" y="0"/>
            <a:ext cx="8351838" cy="5492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第</a:t>
            </a: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9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章 再论函数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076" name="Rectangle 5"/>
          <p:cNvSpPr>
            <a:spLocks noGrp="1" noChangeArrowheads="1"/>
          </p:cNvSpPr>
          <p:nvPr>
            <p:ph idx="1"/>
          </p:nvPr>
        </p:nvSpPr>
        <p:spPr>
          <a:xfrm>
            <a:off x="533400" y="838200"/>
            <a:ext cx="7164705" cy="563689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  <a:cs typeface="+mn-cs"/>
                <a:hlinkClick r:id="" action="ppaction://noaction"/>
              </a:rPr>
              <a:t>§9.1 </a:t>
            </a:r>
            <a:r>
              <a:rPr kumimoji="0" lang="zh-CN" altLang="en-US" sz="3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  <a:cs typeface="+mn-cs"/>
                <a:hlinkClick r:id="" action="ppaction://noaction"/>
              </a:rPr>
              <a:t>函数参数</a:t>
            </a:r>
            <a:endParaRPr kumimoji="0" lang="zh-CN" altLang="en-US" sz="3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itchFamily="49" charset="-122"/>
              <a:ea typeface="隶书" pitchFamily="49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  <a:hlinkClick r:id="rId1" action="ppaction://hlinksldjump"/>
              </a:rPr>
              <a:t>C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  <a:hlinkClick r:id="rId1" action="ppaction://hlinksldjump"/>
              </a:rPr>
              <a:t>语言参数传递规则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itchFamily="49" charset="-122"/>
              <a:ea typeface="隶书" pitchFamily="49" charset="-122"/>
              <a:hlinkClick r:id="rId1" action="ppaction://hlinksldjump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  <a:hlinkClick r:id="rId2" action="ppaction://hlinksldjump"/>
              </a:rPr>
              <a:t>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  <a:hlinkClick r:id="rId2" action="ppaction://hlinksldjump"/>
              </a:rPr>
              <a:t>指针、数组、结构体作参数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itchFamily="49" charset="-122"/>
              <a:ea typeface="隶书" pitchFamily="49" charset="-122"/>
              <a:hlinkClick r:id="rId2" action="ppaction://hlinksldjump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  <a:cs typeface="+mn-cs"/>
                <a:hlinkClick r:id="rId3" action="ppaction://hlinksldjump"/>
              </a:rPr>
              <a:t>§9.2 </a:t>
            </a:r>
            <a:r>
              <a:rPr kumimoji="0" lang="zh-CN" altLang="en-US" sz="3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  <a:cs typeface="+mn-cs"/>
                <a:hlinkClick r:id="rId3" action="ppaction://hlinksldjump"/>
              </a:rPr>
              <a:t>函数返回值</a:t>
            </a:r>
            <a:endParaRPr kumimoji="0" lang="zh-CN" altLang="en-US" sz="3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itchFamily="49" charset="-122"/>
              <a:ea typeface="隶书" pitchFamily="49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  <a:hlinkClick r:id="rId3" action="ppaction://hlinksldjump"/>
              </a:rPr>
              <a:t>§9.2.1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  <a:hlinkClick r:id="rId3" action="ppaction://hlinksldjump"/>
              </a:rPr>
              <a:t>返回指针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75000"/>
                </a:schemeClr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  <a:hlinkClick r:id="rId4" action="ppaction://hlinksldjump"/>
              </a:rPr>
              <a:t>§9.2.2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  <a:hlinkClick r:id="rId4" action="ppaction://hlinksldjump"/>
              </a:rPr>
              <a:t>返回结构体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itchFamily="49" charset="-122"/>
              <a:ea typeface="隶书" pitchFamily="49" charset="-122"/>
              <a:hlinkClick r:id="rId4" action="ppaction://hlinksldjump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  <a:cs typeface="+mn-cs"/>
                <a:hlinkClick r:id="rId5" action="ppaction://hlinksldjump"/>
              </a:rPr>
              <a:t>§9.3 </a:t>
            </a:r>
            <a:r>
              <a:rPr kumimoji="0" lang="zh-CN" altLang="en-US" sz="3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  <a:cs typeface="+mn-cs"/>
                <a:hlinkClick r:id="rId5" action="ppaction://hlinksldjump"/>
              </a:rPr>
              <a:t>作用域</a:t>
            </a:r>
            <a:endParaRPr kumimoji="0" lang="zh-CN" altLang="en-US" sz="3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itchFamily="49" charset="-122"/>
              <a:ea typeface="隶书" pitchFamily="49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  <a:hlinkClick r:id="rId5" action="ppaction://hlinksldjump"/>
              </a:rPr>
              <a:t>§9.3.1 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  <a:hlinkClick r:id="rId5" action="ppaction://hlinksldjump"/>
              </a:rPr>
              <a:t>作用域</a:t>
            </a:r>
            <a:endParaRPr kumimoji="0" lang="zh-CN" altLang="en-US" sz="3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  <a:hlinkClick r:id="rId6" action="ppaction://hlinksldjump"/>
              </a:rPr>
              <a:t>§9.3.2 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  <a:hlinkClick r:id="rId6" action="ppaction://hlinksldjump"/>
              </a:rPr>
              <a:t>局部量和全局量</a:t>
            </a:r>
            <a:endParaRPr kumimoji="0" lang="zh-CN" altLang="en-US" sz="3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  <a:cs typeface="+mn-cs"/>
                <a:hlinkClick r:id="" action="ppaction://noaction"/>
              </a:rPr>
              <a:t>本章小结</a:t>
            </a:r>
            <a:endParaRPr kumimoji="0" lang="zh-CN" altLang="en-US" sz="3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itchFamily="49" charset="-122"/>
              <a:ea typeface="隶书" pitchFamily="49" charset="-122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30BCC92-F1A5-4C50-A116-3E9E90FCC45C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532" name="Rectangle 35"/>
          <p:cNvSpPr txBox="1"/>
          <p:nvPr/>
        </p:nvSpPr>
        <p:spPr>
          <a:xfrm>
            <a:off x="28575" y="82550"/>
            <a:ext cx="4840605" cy="48133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000" b="1" dirty="0">
                <a:solidFill>
                  <a:srgbClr val="FFC000"/>
                </a:solidFill>
                <a:latin typeface="宋体" panose="02010600030101010101" pitchFamily="2" charset="-122"/>
              </a:rPr>
              <a:t>§9.1 </a:t>
            </a:r>
            <a:r>
              <a:rPr lang="zh-CN" altLang="en-US" sz="4000" b="1" dirty="0">
                <a:solidFill>
                  <a:srgbClr val="FFC000"/>
                </a:solidFill>
                <a:latin typeface="宋体" panose="02010600030101010101" pitchFamily="2" charset="-122"/>
              </a:rPr>
              <a:t>函数</a:t>
            </a:r>
            <a:r>
              <a:rPr lang="zh-CN" altLang="en-US" sz="4000" b="1" dirty="0">
                <a:solidFill>
                  <a:srgbClr val="FFC000"/>
                </a:solidFill>
                <a:latin typeface="Arial" panose="020B0604020202020204" pitchFamily="34" charset="0"/>
              </a:rPr>
              <a:t>参数</a:t>
            </a:r>
            <a:endParaRPr lang="zh-CN" altLang="en-US" sz="4000" b="1" dirty="0">
              <a:solidFill>
                <a:srgbClr val="FFC000"/>
              </a:solidFill>
              <a:latin typeface="Arial" panose="020B0604020202020204" pitchFamily="34" charset="0"/>
            </a:endParaRPr>
          </a:p>
        </p:txBody>
      </p:sp>
      <p:sp>
        <p:nvSpPr>
          <p:cNvPr id="7" name="标题 6"/>
          <p:cNvSpPr txBox="1"/>
          <p:nvPr/>
        </p:nvSpPr>
        <p:spPr bwMode="auto">
          <a:xfrm>
            <a:off x="168275" y="563563"/>
            <a:ext cx="6048375" cy="52705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§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9.1.1  C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语言参数传递规则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2534" name="矩形 1"/>
          <p:cNvSpPr/>
          <p:nvPr/>
        </p:nvSpPr>
        <p:spPr>
          <a:xfrm>
            <a:off x="533083" y="2438400"/>
            <a:ext cx="5761037" cy="26765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Arial" panose="020B0604020202020204" pitchFamily="34" charset="0"/>
              </a:rPr>
              <a:t>函数定义：</a:t>
            </a:r>
            <a:r>
              <a:rPr lang="en-US" altLang="zh-CN" sz="2800" b="1" dirty="0">
                <a:latin typeface="Arial" panose="020B0604020202020204" pitchFamily="34" charset="0"/>
              </a:rPr>
              <a:t>double sqrt(</a:t>
            </a:r>
            <a:r>
              <a:rPr lang="en-US" altLang="zh-CN" sz="2800" b="1" dirty="0">
                <a:solidFill>
                  <a:srgbClr val="F507F7"/>
                </a:solidFill>
                <a:latin typeface="Arial" panose="020B0604020202020204" pitchFamily="34" charset="0"/>
              </a:rPr>
              <a:t>double a</a:t>
            </a:r>
            <a:r>
              <a:rPr lang="en-US" altLang="zh-CN" sz="2800" b="1" dirty="0">
                <a:latin typeface="Arial" panose="020B0604020202020204" pitchFamily="34" charset="0"/>
              </a:rPr>
              <a:t>)</a:t>
            </a:r>
            <a:endParaRPr lang="en-US" altLang="zh-CN" sz="2800" b="1" dirty="0">
              <a:latin typeface="Arial" panose="020B0604020202020204" pitchFamily="34" charset="0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Arial" panose="020B0604020202020204" pitchFamily="34" charset="0"/>
              </a:rPr>
              <a:t>		{    ……    </a:t>
            </a:r>
            <a:endParaRPr lang="en-US" altLang="zh-CN" sz="2800" b="1" dirty="0">
              <a:latin typeface="Arial" panose="020B0604020202020204" pitchFamily="34" charset="0"/>
            </a:endParaRPr>
          </a:p>
          <a:p>
            <a:pPr marL="1371600" lvl="3" indent="4572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Arial" panose="020B0604020202020204" pitchFamily="34" charset="0"/>
              </a:rPr>
              <a:t>}  </a:t>
            </a:r>
            <a:endParaRPr lang="en-US" altLang="zh-CN" sz="2800" b="1" dirty="0">
              <a:latin typeface="Arial" panose="020B0604020202020204" pitchFamily="34" charset="0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800" b="1" dirty="0">
              <a:latin typeface="Arial" panose="020B0604020202020204" pitchFamily="34" charset="0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800" b="1" dirty="0">
              <a:latin typeface="Arial" panose="020B0604020202020204" pitchFamily="34" charset="0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Arial" panose="020B0604020202020204" pitchFamily="34" charset="0"/>
              </a:rPr>
              <a:t>函数调用：</a:t>
            </a:r>
            <a:r>
              <a:rPr lang="en-US" altLang="zh-CN" sz="2800" b="1" dirty="0">
                <a:latin typeface="Arial" panose="020B0604020202020204" pitchFamily="34" charset="0"/>
              </a:rPr>
              <a:t>y=sqrt(</a:t>
            </a:r>
            <a:r>
              <a:rPr lang="en-US" altLang="zh-CN" sz="2800" b="1" dirty="0">
                <a:solidFill>
                  <a:srgbClr val="FFFF00"/>
                </a:solidFill>
                <a:latin typeface="Arial" panose="020B0604020202020204" pitchFamily="34" charset="0"/>
              </a:rPr>
              <a:t>x</a:t>
            </a:r>
            <a:r>
              <a:rPr lang="en-US" altLang="zh-CN" sz="2800" b="1" dirty="0">
                <a:latin typeface="Arial" panose="020B0604020202020204" pitchFamily="34" charset="0"/>
              </a:rPr>
              <a:t>);</a:t>
            </a:r>
            <a:endParaRPr lang="zh-CN" altLang="en-US" sz="2800" b="1" dirty="0">
              <a:latin typeface="Arial" panose="020B0604020202020204" pitchFamily="34" charset="0"/>
            </a:endParaRPr>
          </a:p>
        </p:txBody>
      </p:sp>
      <p:sp>
        <p:nvSpPr>
          <p:cNvPr id="22535" name="Line 52"/>
          <p:cNvSpPr/>
          <p:nvPr/>
        </p:nvSpPr>
        <p:spPr>
          <a:xfrm flipV="1">
            <a:off x="3778885" y="2842260"/>
            <a:ext cx="2036445" cy="1826260"/>
          </a:xfrm>
          <a:prstGeom prst="line">
            <a:avLst/>
          </a:prstGeom>
          <a:ln w="38100" cap="flat" cmpd="sng">
            <a:solidFill>
              <a:srgbClr val="FFE705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91171" name="Rectangle 3"/>
          <p:cNvSpPr>
            <a:spLocks noGrp="1" noChangeArrowheads="1"/>
          </p:cNvSpPr>
          <p:nvPr>
            <p:ph idx="1"/>
          </p:nvPr>
        </p:nvSpPr>
        <p:spPr>
          <a:xfrm>
            <a:off x="7162483" y="1066483"/>
            <a:ext cx="4070350" cy="5616575"/>
          </a:xfrm>
        </p:spPr>
        <p:txBody>
          <a:bodyPr vert="horz" wrap="square" lIns="91440" tIns="45720" rIns="91440" bIns="45720" numCol="1" anchor="t" anchorCtr="0" compatLnSpc="1"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#include&lt;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stdio.h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lang="en-US" altLang="zh-CN" sz="2400" b="1" kern="1200" noProof="0" dirty="0">
                <a:ln>
                  <a:noFill/>
                </a:ln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sym typeface="+mn-ea"/>
              </a:rPr>
              <a:t>void</a:t>
            </a:r>
            <a:r>
              <a:rPr lang="en-US" altLang="zh-CN" sz="2400" b="1" kern="120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sym typeface="+mn-ea"/>
              </a:rPr>
              <a:t> swap(</a:t>
            </a:r>
            <a:r>
              <a:rPr lang="en-US" altLang="zh-CN" sz="2800" b="1" kern="1200" dirty="0">
                <a:solidFill>
                  <a:srgbClr val="F507F7"/>
                </a:solidFill>
                <a:effectLst/>
                <a:latin typeface="Arial" panose="020B0604020202020204" pitchFamily="34" charset="0"/>
                <a:sym typeface="+mn-ea"/>
              </a:rPr>
              <a:t> int a,int b</a:t>
            </a:r>
            <a:r>
              <a:rPr lang="en-US" altLang="zh-CN" sz="2400" b="1" kern="1200" noProof="0" dirty="0">
                <a:ln>
                  <a:noFill/>
                </a:ln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sym typeface="+mn-ea"/>
              </a:rPr>
              <a:t> )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lang="en-US" altLang="zh-CN" sz="2400" b="1" kern="120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sym typeface="+mn-ea"/>
              </a:rPr>
              <a:t>{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lang="en-US" altLang="zh-CN" sz="2400" b="1" kern="1200" noProof="0" dirty="0">
                <a:ln>
                  <a:noFill/>
                </a:ln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sym typeface="+mn-ea"/>
              </a:rPr>
              <a:t>	int c;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lang="en-US" altLang="zh-CN" sz="2400" b="1" kern="1200" noProof="0" dirty="0">
                <a:ln>
                  <a:noFill/>
                </a:ln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sym typeface="+mn-ea"/>
              </a:rPr>
              <a:t>	c=a;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lang="en-US" altLang="zh-CN" sz="2400" b="1" kern="1200" noProof="0" dirty="0">
                <a:ln>
                  <a:noFill/>
                </a:ln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sym typeface="+mn-ea"/>
              </a:rPr>
              <a:t>	a=b;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lang="en-US" altLang="zh-CN" sz="2400" b="1" kern="1200" noProof="0" dirty="0">
                <a:ln>
                  <a:noFill/>
                </a:ln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sym typeface="+mn-ea"/>
              </a:rPr>
              <a:t>	b=c;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lang="en-US" altLang="zh-CN" sz="2400" b="1" kern="120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sym typeface="+mn-ea"/>
              </a:rPr>
              <a:t>}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 main()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int m=10,n=11;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swap(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m,n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("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交换后：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m=%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d,n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=%d\n",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m,n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return 0;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Line 52"/>
          <p:cNvSpPr/>
          <p:nvPr/>
        </p:nvSpPr>
        <p:spPr>
          <a:xfrm flipV="1">
            <a:off x="8686800" y="1752600"/>
            <a:ext cx="984250" cy="3411855"/>
          </a:xfrm>
          <a:prstGeom prst="line">
            <a:avLst/>
          </a:prstGeom>
          <a:ln w="38100" cap="flat" cmpd="sng">
            <a:solidFill>
              <a:srgbClr val="FFE705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" name="Line 52"/>
          <p:cNvSpPr/>
          <p:nvPr/>
        </p:nvSpPr>
        <p:spPr>
          <a:xfrm flipV="1">
            <a:off x="9057640" y="1752600"/>
            <a:ext cx="1299210" cy="3456940"/>
          </a:xfrm>
          <a:prstGeom prst="line">
            <a:avLst/>
          </a:prstGeom>
          <a:ln w="38100" cap="flat" cmpd="sng">
            <a:solidFill>
              <a:srgbClr val="FFE705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2673176-D7F7-4F74-8F9D-48D44BACC8A1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581" name="Rectangle 36"/>
          <p:cNvSpPr/>
          <p:nvPr/>
        </p:nvSpPr>
        <p:spPr>
          <a:xfrm>
            <a:off x="452438" y="381000"/>
            <a:ext cx="6696075" cy="5762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solidFill>
                  <a:schemeClr val="tx2"/>
                </a:solidFill>
                <a:latin typeface="宋体" panose="02010600030101010101" pitchFamily="2" charset="-122"/>
              </a:rPr>
              <a:t>§</a:t>
            </a:r>
            <a:r>
              <a:rPr lang="en-US" altLang="zh-CN" b="1" dirty="0">
                <a:solidFill>
                  <a:schemeClr val="tx2"/>
                </a:solidFill>
              </a:rPr>
              <a:t>9.1.2  </a:t>
            </a:r>
            <a:r>
              <a:rPr lang="zh-CN" altLang="en-US" b="1" dirty="0">
                <a:solidFill>
                  <a:schemeClr val="tx2"/>
                </a:solidFill>
              </a:rPr>
              <a:t>指针作参数</a:t>
            </a:r>
            <a:endParaRPr lang="zh-CN" altLang="en-US" b="1" dirty="0">
              <a:solidFill>
                <a:schemeClr val="tx2"/>
              </a:solidFill>
            </a:endParaRPr>
          </a:p>
        </p:txBody>
      </p:sp>
      <p:sp>
        <p:nvSpPr>
          <p:cNvPr id="26627" name="Rectangle 2"/>
          <p:cNvSpPr/>
          <p:nvPr/>
        </p:nvSpPr>
        <p:spPr>
          <a:xfrm>
            <a:off x="5181600" y="1295400"/>
            <a:ext cx="4356100" cy="51904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0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void  </a:t>
            </a:r>
            <a:r>
              <a:rPr lang="en-US" altLang="zh-CN" sz="2400" b="1" dirty="0">
                <a:solidFill>
                  <a:srgbClr val="FFFF00"/>
                </a:solidFill>
                <a:latin typeface="Arial" panose="020B0604020202020204" pitchFamily="34" charset="0"/>
              </a:rPr>
              <a:t>swap(int *p1, int *p2)</a:t>
            </a:r>
            <a:r>
              <a:rPr lang="en-US" altLang="zh-CN" sz="2400" b="1" dirty="0">
                <a:latin typeface="Arial" panose="020B0604020202020204" pitchFamily="34" charset="0"/>
              </a:rPr>
              <a:t>{   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914400" lvl="2" indent="0" eaLnBrk="1" hangingPunct="1">
              <a:lnSpc>
                <a:spcPct val="10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b="1" dirty="0">
                <a:latin typeface="Arial" panose="020B0604020202020204" pitchFamily="34" charset="0"/>
              </a:rPr>
              <a:t>    int temp;             </a:t>
            </a:r>
            <a:endParaRPr lang="en-US" altLang="zh-CN" b="1" dirty="0">
              <a:latin typeface="Arial" panose="020B0604020202020204" pitchFamily="34" charset="0"/>
            </a:endParaRPr>
          </a:p>
          <a:p>
            <a:pPr marL="914400" lvl="2" indent="0" eaLnBrk="1" hangingPunct="1">
              <a:lnSpc>
                <a:spcPct val="10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b="1" dirty="0">
                <a:latin typeface="Arial" panose="020B0604020202020204" pitchFamily="34" charset="0"/>
              </a:rPr>
              <a:t>    temp=</a:t>
            </a:r>
            <a:r>
              <a:rPr lang="en-US" altLang="zh-CN" b="1" dirty="0">
                <a:solidFill>
                  <a:srgbClr val="FFFF00"/>
                </a:solidFill>
                <a:latin typeface="Arial" panose="020B0604020202020204" pitchFamily="34" charset="0"/>
              </a:rPr>
              <a:t>*p1</a:t>
            </a:r>
            <a:r>
              <a:rPr lang="en-US" altLang="zh-CN" b="1" dirty="0">
                <a:latin typeface="Arial" panose="020B0604020202020204" pitchFamily="34" charset="0"/>
              </a:rPr>
              <a:t>; </a:t>
            </a:r>
            <a:endParaRPr lang="en-US" altLang="zh-CN" b="1" dirty="0">
              <a:latin typeface="Arial" panose="020B0604020202020204" pitchFamily="34" charset="0"/>
            </a:endParaRPr>
          </a:p>
          <a:p>
            <a:pPr marL="914400" lvl="2" indent="0" eaLnBrk="1" hangingPunct="1">
              <a:lnSpc>
                <a:spcPct val="10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b="1" dirty="0">
                <a:latin typeface="Arial" panose="020B0604020202020204" pitchFamily="34" charset="0"/>
              </a:rPr>
              <a:t>    *p1=*p2;</a:t>
            </a:r>
            <a:endParaRPr lang="en-US" altLang="zh-CN" b="1" dirty="0">
              <a:latin typeface="Arial" panose="020B0604020202020204" pitchFamily="34" charset="0"/>
            </a:endParaRPr>
          </a:p>
          <a:p>
            <a:pPr marL="914400" lvl="2" indent="0" eaLnBrk="1" hangingPunct="1">
              <a:lnSpc>
                <a:spcPct val="10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b="1" dirty="0">
                <a:latin typeface="Arial" panose="020B0604020202020204" pitchFamily="34" charset="0"/>
              </a:rPr>
              <a:t>    </a:t>
            </a:r>
            <a:r>
              <a:rPr lang="en-US" altLang="zh-CN" b="1" dirty="0">
                <a:solidFill>
                  <a:srgbClr val="FFFF00"/>
                </a:solidFill>
                <a:latin typeface="Arial" panose="020B0604020202020204" pitchFamily="34" charset="0"/>
              </a:rPr>
              <a:t>*p2</a:t>
            </a:r>
            <a:r>
              <a:rPr lang="en-US" altLang="zh-CN" b="1" dirty="0">
                <a:latin typeface="Arial" panose="020B0604020202020204" pitchFamily="34" charset="0"/>
              </a:rPr>
              <a:t>=temp;                  </a:t>
            </a:r>
            <a:endParaRPr lang="en-US" altLang="zh-CN" b="1" dirty="0">
              <a:latin typeface="Arial" panose="020B0604020202020204" pitchFamily="34" charset="0"/>
            </a:endParaRPr>
          </a:p>
          <a:p>
            <a:pPr marL="0" lvl="0" indent="0" eaLnBrk="1" hangingPunct="1">
              <a:lnSpc>
                <a:spcPct val="10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}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0" lvl="0" indent="0" eaLnBrk="1" hangingPunct="1">
              <a:lnSpc>
                <a:spcPct val="10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int main(){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0" lvl="0" indent="0" eaLnBrk="1" hangingPunct="1">
              <a:lnSpc>
                <a:spcPct val="10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    int x,y;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0" lvl="0" indent="0" eaLnBrk="1" hangingPunct="1">
              <a:lnSpc>
                <a:spcPct val="10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    scanf("%d %d", &amp;x,&amp;y);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0" lvl="0" indent="0" eaLnBrk="1" hangingPunct="1">
              <a:lnSpc>
                <a:spcPct val="10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    //</a:t>
            </a:r>
            <a:r>
              <a:rPr lang="en-US" altLang="zh-CN" sz="2800" b="1" dirty="0">
                <a:solidFill>
                  <a:srgbClr val="F507F7"/>
                </a:solidFill>
                <a:latin typeface="Arial" panose="020B0604020202020204" pitchFamily="34" charset="0"/>
              </a:rPr>
              <a:t>此处</a:t>
            </a:r>
            <a:r>
              <a:rPr lang="en-US" altLang="zh-CN" sz="2800" b="1" dirty="0">
                <a:solidFill>
                  <a:srgbClr val="F507F7"/>
                </a:solidFill>
                <a:latin typeface="Arial" panose="020B0604020202020204" pitchFamily="34" charset="0"/>
                <a:sym typeface="+mn-ea"/>
              </a:rPr>
              <a:t>调用</a:t>
            </a:r>
            <a:r>
              <a:rPr lang="en-US" altLang="zh-CN" sz="2800" b="1" dirty="0">
                <a:solidFill>
                  <a:srgbClr val="F507F7"/>
                </a:solidFill>
                <a:latin typeface="Arial" panose="020B0604020202020204" pitchFamily="34" charset="0"/>
              </a:rPr>
              <a:t>函数</a:t>
            </a:r>
            <a:endParaRPr lang="en-US" altLang="zh-CN" sz="2400" b="1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lnSpc>
                <a:spcPct val="10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    printf("%d  %d",x,y); 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0" lvl="0" indent="0" eaLnBrk="1" hangingPunct="1">
              <a:lnSpc>
                <a:spcPct val="10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    return 0;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0" lvl="0" indent="0" eaLnBrk="1" hangingPunct="1">
              <a:lnSpc>
                <a:spcPct val="10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}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6" name="圆角矩形标注 5"/>
          <p:cNvSpPr/>
          <p:nvPr/>
        </p:nvSpPr>
        <p:spPr>
          <a:xfrm>
            <a:off x="9389745" y="4613275"/>
            <a:ext cx="2829560" cy="685800"/>
          </a:xfrm>
          <a:prstGeom prst="wedgeRoundRectCallout">
            <a:avLst>
              <a:gd name="adj1" fmla="val -107001"/>
              <a:gd name="adj2" fmla="val -8888"/>
              <a:gd name="adj3" fmla="val 16667"/>
            </a:avLst>
          </a:prstGeom>
          <a:solidFill>
            <a:schemeClr val="accent1"/>
          </a:solidFill>
        </p:spPr>
        <p:txBody>
          <a:bodyPr wrap="square" lIns="0" rIns="0">
            <a:noAutofit/>
          </a:bodyPr>
          <a:p>
            <a:pPr eaLnBrk="1" hangingPunct="1">
              <a:buNone/>
            </a:pPr>
            <a:r>
              <a:rPr lang="en-US" altLang="zh-CN" sz="3200" dirty="0">
                <a:solidFill>
                  <a:schemeClr val="hlink"/>
                </a:solidFill>
                <a:latin typeface="Arial" panose="020B0604020202020204" pitchFamily="34" charset="0"/>
                <a:sym typeface="+mn-ea"/>
              </a:rPr>
              <a:t>swap(&amp;x,&amp;y);</a:t>
            </a:r>
            <a:endParaRPr lang="en-US" altLang="zh-CN" sz="3200" b="1" dirty="0">
              <a:solidFill>
                <a:schemeClr val="hlink"/>
              </a:solidFill>
              <a:latin typeface="Arial" panose="020B0604020202020204" pitchFamily="34" charset="0"/>
            </a:endParaRPr>
          </a:p>
          <a:p>
            <a:pPr eaLnBrk="1" hangingPunct="1">
              <a:buNone/>
            </a:pPr>
            <a:endParaRPr lang="zh-CN" altLang="en-US" sz="3200" dirty="0">
              <a:latin typeface="Arial" panose="020B0604020202020204" pitchFamily="34" charset="0"/>
            </a:endParaRPr>
          </a:p>
        </p:txBody>
      </p:sp>
      <p:sp>
        <p:nvSpPr>
          <p:cNvPr id="7" name="圆角矩形标注 6"/>
          <p:cNvSpPr/>
          <p:nvPr/>
        </p:nvSpPr>
        <p:spPr>
          <a:xfrm>
            <a:off x="8206105" y="5603875"/>
            <a:ext cx="4013200" cy="1174115"/>
          </a:xfrm>
          <a:prstGeom prst="wedgeRoundRectCallout">
            <a:avLst>
              <a:gd name="adj1" fmla="val -64043"/>
              <a:gd name="adj2" fmla="val -104515"/>
              <a:gd name="adj3" fmla="val 16667"/>
            </a:avLst>
          </a:prstGeom>
          <a:solidFill>
            <a:schemeClr val="accent1"/>
          </a:solidFill>
        </p:spPr>
        <p:txBody>
          <a:bodyPr wrap="square" lIns="0" rIns="0">
            <a:noAutofit/>
          </a:bodyPr>
          <a:p>
            <a:pPr marL="0" lvl="0" indent="0" eaLnBrk="1" hangingPunct="1">
              <a:lnSpc>
                <a:spcPct val="10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dirty="0">
                <a:latin typeface="Arial" panose="020B0604020202020204" pitchFamily="34" charset="0"/>
                <a:sym typeface="+mn-ea"/>
              </a:rPr>
              <a:t> </a:t>
            </a:r>
            <a:r>
              <a:rPr lang="en-US" altLang="zh-CN" sz="3200" dirty="0">
                <a:solidFill>
                  <a:schemeClr val="hlink"/>
                </a:solidFill>
                <a:latin typeface="Arial" panose="020B0604020202020204" pitchFamily="34" charset="0"/>
                <a:sym typeface="+mn-ea"/>
              </a:rPr>
              <a:t>int *px=&amp;x,*py=</a:t>
            </a:r>
            <a:r>
              <a:rPr lang="en-US" altLang="zh-CN" sz="3200" dirty="0">
                <a:solidFill>
                  <a:schemeClr val="hlink"/>
                </a:solidFill>
                <a:latin typeface="Arial" panose="020B0604020202020204" pitchFamily="34" charset="0"/>
                <a:sym typeface="+mn-ea"/>
              </a:rPr>
              <a:t>&amp;y;</a:t>
            </a:r>
            <a:endParaRPr lang="en-US" altLang="zh-CN" sz="3200" b="1" dirty="0">
              <a:solidFill>
                <a:schemeClr val="hlink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lnSpc>
                <a:spcPct val="10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dirty="0">
                <a:solidFill>
                  <a:schemeClr val="hlink"/>
                </a:solidFill>
                <a:latin typeface="Arial" panose="020B0604020202020204" pitchFamily="34" charset="0"/>
                <a:sym typeface="+mn-ea"/>
              </a:rPr>
              <a:t> swap(px,py);</a:t>
            </a:r>
            <a:endParaRPr lang="en-US" altLang="zh-CN" sz="3200" b="1" dirty="0">
              <a:solidFill>
                <a:schemeClr val="hlink"/>
              </a:solidFill>
              <a:latin typeface="Arial" panose="020B0604020202020204" pitchFamily="34" charset="0"/>
            </a:endParaRPr>
          </a:p>
          <a:p>
            <a:pPr eaLnBrk="1" hangingPunct="1">
              <a:buNone/>
            </a:pPr>
            <a:endParaRPr lang="zh-CN" altLang="en-US" sz="3200" dirty="0">
              <a:latin typeface="Arial" panose="020B0604020202020204" pitchFamily="34" charset="0"/>
            </a:endParaRPr>
          </a:p>
        </p:txBody>
      </p:sp>
      <p:sp>
        <p:nvSpPr>
          <p:cNvPr id="391171" name="Rectangle 3"/>
          <p:cNvSpPr>
            <a:spLocks noGrp="1" noChangeArrowheads="1"/>
          </p:cNvSpPr>
          <p:nvPr>
            <p:ph idx="1"/>
          </p:nvPr>
        </p:nvSpPr>
        <p:spPr>
          <a:xfrm>
            <a:off x="380683" y="1142683"/>
            <a:ext cx="4070350" cy="5616575"/>
          </a:xfrm>
        </p:spPr>
        <p:txBody>
          <a:bodyPr vert="horz" wrap="square" lIns="91440" tIns="45720" rIns="91440" bIns="45720" numCol="1" anchor="t" anchorCtr="0" compatLnSpc="1"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#include&lt;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stdio.h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lang="en-US" altLang="zh-CN" sz="2400" b="1" kern="1200" noProof="0" dirty="0">
                <a:ln>
                  <a:noFill/>
                </a:ln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sym typeface="+mn-ea"/>
              </a:rPr>
              <a:t>void </a:t>
            </a:r>
            <a:r>
              <a:rPr lang="en-US" altLang="zh-CN" sz="2400" b="1" kern="1200" noProof="0" dirty="0">
                <a:ln>
                  <a:noFill/>
                </a:ln>
                <a:solidFill>
                  <a:srgbClr val="FFFF00"/>
                </a:solidFill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sym typeface="+mn-ea"/>
              </a:rPr>
              <a:t>swap(</a:t>
            </a:r>
            <a:r>
              <a:rPr lang="en-US" altLang="zh-CN" sz="2400" b="1" kern="1200" noProof="0" dirty="0">
                <a:ln>
                  <a:noFill/>
                </a:ln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sz="2400" b="1" kern="1200" noProof="0" dirty="0">
                <a:ln>
                  <a:noFill/>
                </a:ln>
                <a:solidFill>
                  <a:schemeClr val="hlink"/>
                </a:solidFill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sym typeface="+mn-ea"/>
              </a:rPr>
              <a:t>int </a:t>
            </a:r>
            <a:r>
              <a:rPr lang="en-US" altLang="zh-CN" sz="2400" b="1" kern="1200" noProof="0" dirty="0" err="1">
                <a:ln>
                  <a:noFill/>
                </a:ln>
                <a:solidFill>
                  <a:schemeClr val="hlink"/>
                </a:solidFill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sym typeface="+mn-ea"/>
              </a:rPr>
              <a:t>a,int</a:t>
            </a:r>
            <a:r>
              <a:rPr lang="en-US" altLang="zh-CN" sz="2400" b="1" kern="1200" noProof="0" dirty="0">
                <a:ln>
                  <a:noFill/>
                </a:ln>
                <a:solidFill>
                  <a:schemeClr val="hlink"/>
                </a:solidFill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sym typeface="+mn-ea"/>
              </a:rPr>
              <a:t> b</a:t>
            </a:r>
            <a:r>
              <a:rPr lang="en-US" altLang="zh-CN" sz="2400" b="1" kern="1200" noProof="0" dirty="0">
                <a:ln>
                  <a:noFill/>
                </a:ln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sym typeface="+mn-ea"/>
              </a:rPr>
              <a:t> )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lang="en-US" altLang="zh-CN" sz="2400" b="1" kern="120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sym typeface="+mn-ea"/>
              </a:rPr>
              <a:t>{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lang="en-US" altLang="zh-CN" sz="2400" b="1" kern="1200" noProof="0" dirty="0">
                <a:ln>
                  <a:noFill/>
                </a:ln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sym typeface="+mn-ea"/>
              </a:rPr>
              <a:t>	int c;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lang="en-US" altLang="zh-CN" sz="2400" b="1" kern="1200" noProof="0" dirty="0">
                <a:ln>
                  <a:noFill/>
                </a:ln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sym typeface="+mn-ea"/>
              </a:rPr>
              <a:t>	c=a;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lang="en-US" altLang="zh-CN" sz="2400" b="1" kern="1200" noProof="0" dirty="0">
                <a:ln>
                  <a:noFill/>
                </a:ln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sym typeface="+mn-ea"/>
              </a:rPr>
              <a:t>	a=b;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lang="en-US" altLang="zh-CN" sz="2400" b="1" kern="1200" noProof="0" dirty="0">
                <a:ln>
                  <a:noFill/>
                </a:ln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sym typeface="+mn-ea"/>
              </a:rPr>
              <a:t>	b=c;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lang="en-US" altLang="zh-CN" sz="2400" b="1" kern="120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sym typeface="+mn-ea"/>
              </a:rPr>
              <a:t>}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 main()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int m=10,n=11;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swap(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m,n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("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交换后：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m=%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d,n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=%d\n",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m,n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return 0;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Line 52"/>
          <p:cNvSpPr/>
          <p:nvPr/>
        </p:nvSpPr>
        <p:spPr>
          <a:xfrm flipV="1">
            <a:off x="1905000" y="1797685"/>
            <a:ext cx="984250" cy="3411855"/>
          </a:xfrm>
          <a:prstGeom prst="line">
            <a:avLst/>
          </a:prstGeom>
          <a:ln w="38100" cap="flat" cmpd="sng">
            <a:solidFill>
              <a:srgbClr val="FFE705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" name="Line 52"/>
          <p:cNvSpPr/>
          <p:nvPr/>
        </p:nvSpPr>
        <p:spPr>
          <a:xfrm flipV="1">
            <a:off x="2275840" y="1797685"/>
            <a:ext cx="1299210" cy="3456940"/>
          </a:xfrm>
          <a:prstGeom prst="line">
            <a:avLst/>
          </a:prstGeom>
          <a:ln w="38100" cap="flat" cmpd="sng">
            <a:solidFill>
              <a:srgbClr val="FFE705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9" name="组合 8"/>
          <p:cNvGrpSpPr/>
          <p:nvPr/>
        </p:nvGrpSpPr>
        <p:grpSpPr>
          <a:xfrm>
            <a:off x="7620000" y="1676400"/>
            <a:ext cx="3770630" cy="3213100"/>
            <a:chOff x="12000" y="2640"/>
            <a:chExt cx="5938" cy="5060"/>
          </a:xfrm>
        </p:grpSpPr>
        <p:sp>
          <p:nvSpPr>
            <p:cNvPr id="4" name="Line 52"/>
            <p:cNvSpPr/>
            <p:nvPr/>
          </p:nvSpPr>
          <p:spPr>
            <a:xfrm flipH="1" flipV="1">
              <a:off x="12000" y="2640"/>
              <a:ext cx="4900" cy="5060"/>
            </a:xfrm>
            <a:prstGeom prst="line">
              <a:avLst/>
            </a:prstGeom>
            <a:ln w="38100" cap="flat" cmpd="sng">
              <a:solidFill>
                <a:srgbClr val="FFE705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" name="Line 52"/>
            <p:cNvSpPr/>
            <p:nvPr/>
          </p:nvSpPr>
          <p:spPr>
            <a:xfrm flipH="1" flipV="1">
              <a:off x="13768" y="2725"/>
              <a:ext cx="4171" cy="4975"/>
            </a:xfrm>
            <a:prstGeom prst="line">
              <a:avLst/>
            </a:prstGeom>
            <a:ln w="38100" cap="flat" cmpd="sng">
              <a:solidFill>
                <a:srgbClr val="FFE705"/>
              </a:solidFill>
              <a:prstDash val="solid"/>
              <a:headEnd type="none" w="med" len="med"/>
              <a:tailEnd type="triangl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7" grpId="1"/>
      <p:bldP spid="6" grpId="0" bldLvl="0" animBg="1"/>
      <p:bldP spid="6" grpId="1" animBg="1"/>
      <p:bldP spid="7" grpId="0" bldLvl="0" animBg="1"/>
      <p:bldP spid="7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3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32CD433-631C-4B30-B54E-A549FA0A8162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144463" y="1067594"/>
            <a:ext cx="11734800" cy="2676525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itchFamily="18" charset="2"/>
              <a:buChar char=""/>
              <a:defRPr sz="2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itchFamily="18" charset="2"/>
              <a:buChar char=""/>
              <a:defRPr sz="23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itchFamily="18" charset="2"/>
              <a:buChar char="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ts val="400"/>
              </a:spcBef>
              <a:buClr>
                <a:srgbClr val="3C74BA"/>
              </a:buClr>
              <a:buSzPct val="70000"/>
              <a:buFont typeface="Wingdings" panose="05000000000000000000" pitchFamily="2" charset="2"/>
              <a:buChar char="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float a;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float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lines(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fl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oat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xr,float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yr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float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xs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float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ys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float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xt,float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yt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)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求中线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… … … … … …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a=(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yr-yu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)/(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xr-xu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);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return 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yr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-a*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xr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2772" name="矩形 8"/>
          <p:cNvSpPr/>
          <p:nvPr/>
        </p:nvSpPr>
        <p:spPr>
          <a:xfrm>
            <a:off x="546100" y="2620963"/>
            <a:ext cx="3024188" cy="360362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1" dirty="0">
              <a:latin typeface="Arial" panose="020B0604020202020204" pitchFamily="34" charset="0"/>
            </a:endParaRPr>
          </a:p>
        </p:txBody>
      </p:sp>
      <p:sp>
        <p:nvSpPr>
          <p:cNvPr id="13" name="矩形标注 12"/>
          <p:cNvSpPr/>
          <p:nvPr/>
        </p:nvSpPr>
        <p:spPr>
          <a:xfrm>
            <a:off x="4724400" y="2044700"/>
            <a:ext cx="5593080" cy="1152525"/>
          </a:xfrm>
          <a:prstGeom prst="wedgeRectCallout">
            <a:avLst>
              <a:gd name="adj1" fmla="val -78530"/>
              <a:gd name="adj2" fmla="val -1353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函数不能把多个计算结果带回调用处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用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全局变量 a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传递斜率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用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函数返回值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带回截距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标题 1"/>
          <p:cNvSpPr>
            <a:spLocks noGrp="1"/>
          </p:cNvSpPr>
          <p:nvPr>
            <p:ph type="title"/>
          </p:nvPr>
        </p:nvSpPr>
        <p:spPr>
          <a:xfrm>
            <a:off x="171450" y="128588"/>
            <a:ext cx="8229600" cy="62071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【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例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9.3】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改写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【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例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5.1】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求三角形重心程序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3657600" y="3429000"/>
            <a:ext cx="7704138" cy="341503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int main( ) {     … … … … …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b1=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lines(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xa,ya,xb,yb,xc,yc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);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//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截距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a1=a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;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//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斜率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			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b2=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lines(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xb,yb,xa,ya,xc,yc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);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a2=a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;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			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xo= -(b2-b1)/(a1-a2);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yo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=a1*xo+b1;		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printf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(“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重心坐标：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x=%10.3f  y=%10.3f \n”,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xo,yo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);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}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776" name="矩形 16"/>
          <p:cNvSpPr/>
          <p:nvPr/>
        </p:nvSpPr>
        <p:spPr>
          <a:xfrm>
            <a:off x="531813" y="2981325"/>
            <a:ext cx="3024187" cy="360363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77788" y="653098"/>
            <a:ext cx="11712575" cy="3723005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void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lines(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float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xr,float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yr,float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xs,float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ys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   float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xt,float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yt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float *a, float *b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)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float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xu,yu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	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xu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=(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xs+xt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)/2;</a:t>
            </a:r>
            <a:endParaRPr kumimoji="0" lang="zh-C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	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yu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=(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ys+yt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)/2;</a:t>
            </a:r>
            <a:endParaRPr kumimoji="0" lang="zh-C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	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*a=(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yr-yu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)/(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xr-xu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);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	*b=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yr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-*a*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xr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2773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90E2DCE-55F4-43F0-89A7-D5D0B2B19329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502275" y="1205230"/>
            <a:ext cx="3483610" cy="464185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1" dirty="0">
              <a:latin typeface="Arial" panose="020B0604020202020204" pitchFamily="34" charset="0"/>
            </a:endParaRPr>
          </a:p>
        </p:txBody>
      </p:sp>
      <p:sp>
        <p:nvSpPr>
          <p:cNvPr id="11" name="矩形标注 10"/>
          <p:cNvSpPr/>
          <p:nvPr/>
        </p:nvSpPr>
        <p:spPr>
          <a:xfrm>
            <a:off x="5934075" y="1925638"/>
            <a:ext cx="6029325" cy="588963"/>
          </a:xfrm>
          <a:prstGeom prst="wedgeRectCallout">
            <a:avLst>
              <a:gd name="adj1" fmla="val -39873"/>
              <a:gd name="adj2" fmla="val -101303"/>
            </a:avLst>
          </a:prstGeom>
          <a:solidFill>
            <a:schemeClr val="accent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指针作参数，替代了原来的全局量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和函数返回值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122738" y="3687763"/>
            <a:ext cx="6621462" cy="3169285"/>
          </a:xfrm>
          <a:prstGeom prst="rect">
            <a:avLst/>
          </a:prstGeom>
          <a:noFill/>
          <a:ln w="9525" cap="flat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Arial" panose="020B0604020202020204" pitchFamily="34" charset="0"/>
              </a:rPr>
              <a:t>int  main() {    … … … … </a:t>
            </a:r>
            <a:endParaRPr lang="en-US" altLang="zh-CN" sz="24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Arial" panose="020B0604020202020204" pitchFamily="34" charset="0"/>
              </a:rPr>
              <a:t>     float a1,b1,a2,b2;</a:t>
            </a:r>
            <a:endParaRPr lang="en-US" altLang="zh-CN" sz="24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tx1"/>
                </a:solidFill>
                <a:latin typeface="Arial" panose="020B0604020202020204" pitchFamily="34" charset="0"/>
              </a:rPr>
              <a:t>    lines( xa,ya,xb,yb,xc,yc, </a:t>
            </a:r>
            <a:r>
              <a:rPr lang="en-US" altLang="zh-CN" sz="2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&amp;a1,&amp;b1</a:t>
            </a:r>
            <a:r>
              <a:rPr lang="en-US" altLang="zh-CN" sz="28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altLang="zh-CN" sz="2800" b="1" dirty="0">
                <a:solidFill>
                  <a:schemeClr val="tx1"/>
                </a:solidFill>
                <a:latin typeface="Arial" panose="020B0604020202020204" pitchFamily="34" charset="0"/>
              </a:rPr>
              <a:t>);</a:t>
            </a:r>
            <a:endParaRPr lang="en-US" altLang="zh-CN" sz="28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tx1"/>
                </a:solidFill>
                <a:latin typeface="Arial" panose="020B0604020202020204" pitchFamily="34" charset="0"/>
              </a:rPr>
              <a:t>    lines( xb,yb,xa,ya,xc,yc, </a:t>
            </a:r>
            <a:r>
              <a:rPr lang="en-US" altLang="zh-CN" sz="2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&amp;a2,&amp;b2 </a:t>
            </a:r>
            <a:r>
              <a:rPr lang="en-US" altLang="zh-CN" sz="28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);</a:t>
            </a:r>
            <a:endParaRPr lang="en-US" altLang="zh-CN" sz="28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tx1"/>
                </a:solidFill>
                <a:latin typeface="Arial" panose="020B0604020202020204" pitchFamily="34" charset="0"/>
              </a:rPr>
              <a:t>    xo= (</a:t>
            </a:r>
            <a:r>
              <a:rPr lang="en-US" altLang="zh-CN" sz="2400" b="1" dirty="0">
                <a:solidFill>
                  <a:schemeClr val="tx1"/>
                </a:solidFill>
                <a:latin typeface="Arial" panose="020B0604020202020204" pitchFamily="34" charset="0"/>
              </a:rPr>
              <a:t>b2</a:t>
            </a:r>
            <a:r>
              <a:rPr lang="en-US" altLang="zh-CN" sz="2800" b="1" dirty="0">
                <a:solidFill>
                  <a:schemeClr val="tx1"/>
                </a:solidFill>
                <a:latin typeface="Arial" panose="020B0604020202020204" pitchFamily="34" charset="0"/>
              </a:rPr>
              <a:t>-</a:t>
            </a:r>
            <a:r>
              <a:rPr lang="en-US" altLang="zh-CN" sz="2400" b="1" dirty="0">
                <a:solidFill>
                  <a:schemeClr val="tx1"/>
                </a:solidFill>
                <a:latin typeface="Arial" panose="020B0604020202020204" pitchFamily="34" charset="0"/>
              </a:rPr>
              <a:t>b1</a:t>
            </a:r>
            <a:r>
              <a:rPr lang="en-US" altLang="zh-CN" sz="2800" b="1" dirty="0">
                <a:solidFill>
                  <a:schemeClr val="tx1"/>
                </a:solidFill>
                <a:latin typeface="Arial" panose="020B0604020202020204" pitchFamily="34" charset="0"/>
              </a:rPr>
              <a:t>)/(</a:t>
            </a:r>
            <a:r>
              <a:rPr lang="en-US" altLang="zh-CN" sz="2400" b="1" dirty="0">
                <a:solidFill>
                  <a:schemeClr val="tx1"/>
                </a:solidFill>
                <a:latin typeface="Arial" panose="020B0604020202020204" pitchFamily="34" charset="0"/>
              </a:rPr>
              <a:t>a1</a:t>
            </a:r>
            <a:r>
              <a:rPr lang="en-US" altLang="zh-CN" sz="2800" b="1" dirty="0">
                <a:solidFill>
                  <a:schemeClr val="tx1"/>
                </a:solidFill>
                <a:latin typeface="Arial" panose="020B0604020202020204" pitchFamily="34" charset="0"/>
              </a:rPr>
              <a:t>-</a:t>
            </a:r>
            <a:r>
              <a:rPr lang="en-US" altLang="zh-CN" sz="2400" b="1" dirty="0">
                <a:solidFill>
                  <a:schemeClr val="tx1"/>
                </a:solidFill>
                <a:latin typeface="Arial" panose="020B0604020202020204" pitchFamily="34" charset="0"/>
              </a:rPr>
              <a:t>a2</a:t>
            </a:r>
            <a:r>
              <a:rPr lang="en-US" altLang="zh-CN" sz="2800" b="1" dirty="0">
                <a:solidFill>
                  <a:schemeClr val="tx1"/>
                </a:solidFill>
                <a:latin typeface="Arial" panose="020B0604020202020204" pitchFamily="34" charset="0"/>
              </a:rPr>
              <a:t>) ;</a:t>
            </a:r>
            <a:endParaRPr lang="en-US" altLang="zh-CN" sz="28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tx1"/>
                </a:solidFill>
                <a:latin typeface="Arial" panose="020B0604020202020204" pitchFamily="34" charset="0"/>
              </a:rPr>
              <a:t>    yo= </a:t>
            </a:r>
            <a:r>
              <a:rPr lang="en-US" altLang="zh-CN" sz="2400" b="1" dirty="0">
                <a:solidFill>
                  <a:schemeClr val="tx1"/>
                </a:solidFill>
                <a:latin typeface="Arial" panose="020B0604020202020204" pitchFamily="34" charset="0"/>
              </a:rPr>
              <a:t>a1*</a:t>
            </a:r>
            <a:r>
              <a:rPr lang="en-US" altLang="zh-CN" sz="2800" b="1" dirty="0">
                <a:solidFill>
                  <a:schemeClr val="tx1"/>
                </a:solidFill>
                <a:latin typeface="Arial" panose="020B0604020202020204" pitchFamily="34" charset="0"/>
              </a:rPr>
              <a:t>xo+</a:t>
            </a:r>
            <a:r>
              <a:rPr lang="en-US" altLang="zh-CN" sz="2400" b="1" dirty="0">
                <a:solidFill>
                  <a:schemeClr val="tx1"/>
                </a:solidFill>
                <a:latin typeface="Arial" panose="020B0604020202020204" pitchFamily="34" charset="0"/>
              </a:rPr>
              <a:t>b1</a:t>
            </a:r>
            <a:r>
              <a:rPr lang="en-US" altLang="zh-CN" sz="2800" b="1" dirty="0">
                <a:solidFill>
                  <a:schemeClr val="tx1"/>
                </a:solidFill>
                <a:latin typeface="Arial" panose="020B0604020202020204" pitchFamily="34" charset="0"/>
              </a:rPr>
              <a:t>;</a:t>
            </a:r>
            <a:endParaRPr lang="en-US" altLang="zh-CN" sz="28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1"/>
                </a:solidFill>
                <a:latin typeface="Arial" panose="020B0604020202020204" pitchFamily="34" charset="0"/>
              </a:rPr>
              <a:t>      printf(“</a:t>
            </a:r>
            <a:r>
              <a:rPr lang="zh-CN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重心坐标：</a:t>
            </a:r>
            <a:r>
              <a:rPr lang="en-US" altLang="zh-CN" sz="2000" b="1" dirty="0">
                <a:solidFill>
                  <a:schemeClr val="tx1"/>
                </a:solidFill>
                <a:latin typeface="Arial" panose="020B0604020202020204" pitchFamily="34" charset="0"/>
              </a:rPr>
              <a:t>x=%10.3f  y=%10.3f \n”,xo,yo);</a:t>
            </a:r>
            <a:endParaRPr lang="en-US" altLang="zh-CN" sz="20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1"/>
                </a:solidFill>
                <a:latin typeface="Arial" panose="020B0604020202020204" pitchFamily="34" charset="0"/>
              </a:rPr>
              <a:t>}</a:t>
            </a:r>
            <a:endParaRPr lang="en-US" altLang="zh-CN" sz="2000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688388" y="4913313"/>
            <a:ext cx="1476375" cy="360362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1" dirty="0">
              <a:latin typeface="Arial" panose="020B0604020202020204" pitchFamily="34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688388" y="4478338"/>
            <a:ext cx="1476375" cy="360362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1" dirty="0">
              <a:latin typeface="Arial" panose="020B0604020202020204" pitchFamily="34" charset="0"/>
            </a:endParaRPr>
          </a:p>
        </p:txBody>
      </p:sp>
      <p:sp>
        <p:nvSpPr>
          <p:cNvPr id="14" name="标题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229600" cy="62071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【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例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9.3】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改写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【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例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5.1】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求三角形重心程序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1" grpId="0" bldLvl="0" animBg="1"/>
      <p:bldP spid="2" grpId="0" bldLvl="0" animBg="1"/>
      <p:bldP spid="12" grpId="0" bldLvl="0" animBg="1"/>
      <p:bldP spid="13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5C1959D-345D-4710-8D7A-0A83E38269E0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16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6988"/>
            <a:ext cx="8229600" cy="61912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【</a:t>
            </a: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超星实验</a:t>
            </a:r>
            <a:r>
              <a:rPr kumimoji="0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j-ea"/>
                <a:cs typeface="+mj-cs"/>
              </a:rPr>
              <a:t>】</a:t>
            </a: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指针作参数</a:t>
            </a:r>
            <a:endParaRPr kumimoji="0" lang="zh-CN" altLang="en-US" sz="40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4820" name="矩形 1"/>
          <p:cNvSpPr/>
          <p:nvPr/>
        </p:nvSpPr>
        <p:spPr>
          <a:xfrm>
            <a:off x="-317" y="2362200"/>
            <a:ext cx="11914187" cy="425831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Arial" panose="020B0604020202020204" pitchFamily="34" charset="0"/>
              </a:rPr>
              <a:t>void count</a:t>
            </a:r>
            <a:r>
              <a:rPr lang="zh-CN" altLang="en-US" sz="26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(char* str,</a:t>
            </a:r>
            <a:r>
              <a:rPr lang="zh-CN" altLang="en-US" sz="2600" b="1" dirty="0">
                <a:solidFill>
                  <a:srgbClr val="F507F7"/>
                </a:solidFill>
                <a:latin typeface="Arial" panose="020B0604020202020204" pitchFamily="34" charset="0"/>
              </a:rPr>
              <a:t> </a:t>
            </a:r>
            <a:r>
              <a:rPr lang="zh-CN" altLang="en-US" sz="2600" b="1" dirty="0">
                <a:solidFill>
                  <a:srgbClr val="FFFF00"/>
                </a:solidFill>
                <a:latin typeface="Arial" panose="020B0604020202020204" pitchFamily="34" charset="0"/>
              </a:rPr>
              <a:t>int* upper, int* lower, int* space, int* num, int* other</a:t>
            </a:r>
            <a:r>
              <a:rPr lang="zh-CN" altLang="en-US" sz="26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) </a:t>
            </a:r>
            <a:r>
              <a:rPr lang="zh-CN" altLang="en-US" sz="2600" b="1" dirty="0">
                <a:latin typeface="Arial" panose="020B0604020202020204" pitchFamily="34" charset="0"/>
              </a:rPr>
              <a:t>{</a:t>
            </a:r>
            <a:endParaRPr lang="zh-CN" altLang="en-US" sz="2600" b="1" dirty="0">
              <a:latin typeface="Arial" panose="020B0604020202020204" pitchFamily="34" charset="0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FFFF00"/>
                </a:solidFill>
                <a:latin typeface="Arial" panose="020B0604020202020204" pitchFamily="34" charset="0"/>
              </a:rPr>
              <a:t> </a:t>
            </a:r>
            <a:r>
              <a:rPr lang="zh-CN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zh-CN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  //扫描str指向的字符串</a:t>
            </a:r>
            <a:endParaRPr lang="en-US" altLang="zh-CN" sz="24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Arial" panose="020B0604020202020204" pitchFamily="34" charset="0"/>
              </a:rPr>
              <a:t>   </a:t>
            </a:r>
            <a:r>
              <a:rPr lang="zh-CN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 //同时修正</a:t>
            </a:r>
            <a:r>
              <a:rPr lang="zh-CN" altLang="en-US" sz="2400" b="1" dirty="0">
                <a:solidFill>
                  <a:srgbClr val="FFFF00"/>
                </a:solidFill>
                <a:latin typeface="Arial" panose="020B0604020202020204" pitchFamily="34" charset="0"/>
              </a:rPr>
              <a:t>*upper ， *lower ， *space ，*num ， *other</a:t>
            </a:r>
            <a:endParaRPr lang="zh-CN" altLang="en-US" sz="2400" b="1" dirty="0">
              <a:solidFill>
                <a:srgbClr val="FFFF00"/>
              </a:solidFill>
              <a:latin typeface="Arial" panose="020B0604020202020204" pitchFamily="34" charset="0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Arial" panose="020B0604020202020204" pitchFamily="34" charset="0"/>
              </a:rPr>
              <a:t>}</a:t>
            </a:r>
            <a:endParaRPr lang="zh-CN" altLang="en-US" sz="2000" b="1" dirty="0">
              <a:latin typeface="Arial" panose="020B0604020202020204" pitchFamily="34" charset="0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latin typeface="Arial" panose="020B0604020202020204" pitchFamily="34" charset="0"/>
              </a:rPr>
              <a:t>int main( ) {</a:t>
            </a:r>
            <a:endParaRPr lang="zh-CN" altLang="en-US" sz="2000" b="1" dirty="0">
              <a:latin typeface="Arial" panose="020B0604020202020204" pitchFamily="34" charset="0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Arial" panose="020B0604020202020204" pitchFamily="34" charset="0"/>
              </a:rPr>
              <a:t>	</a:t>
            </a:r>
            <a:r>
              <a:rPr lang="en-US" altLang="zh-CN" sz="2400" b="1" dirty="0">
                <a:latin typeface="Arial" panose="020B0604020202020204" pitchFamily="34" charset="0"/>
              </a:rPr>
              <a:t> //</a:t>
            </a:r>
            <a:r>
              <a:rPr lang="zh-CN" altLang="en-US" sz="2400" b="1" dirty="0">
                <a:latin typeface="Arial" panose="020B0604020202020204" pitchFamily="34" charset="0"/>
              </a:rPr>
              <a:t>输入</a:t>
            </a:r>
            <a:r>
              <a:rPr lang="en-US" altLang="zh-CN" sz="2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char s[N];</a:t>
            </a:r>
            <a:endParaRPr lang="zh-CN" altLang="en-US" sz="2400" b="1" dirty="0">
              <a:solidFill>
                <a:schemeClr val="accent2">
                  <a:lumMod val="60000"/>
                  <a:lumOff val="40000"/>
                </a:schemeClr>
              </a:solidFill>
              <a:latin typeface="Arial" panose="020B0604020202020204" pitchFamily="34" charset="0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Arial" panose="020B0604020202020204" pitchFamily="34" charset="0"/>
              </a:rPr>
              <a:t>	</a:t>
            </a:r>
            <a:r>
              <a:rPr lang="en-US" altLang="zh-CN" sz="2400" b="1" dirty="0">
                <a:latin typeface="Arial" panose="020B0604020202020204" pitchFamily="34" charset="0"/>
              </a:rPr>
              <a:t>//</a:t>
            </a:r>
            <a:r>
              <a:rPr lang="zh-CN" altLang="en-US" sz="2400" b="1" dirty="0">
                <a:latin typeface="Arial" panose="020B0604020202020204" pitchFamily="34" charset="0"/>
              </a:rPr>
              <a:t>计数器</a:t>
            </a:r>
            <a:r>
              <a:rPr lang="en-US" altLang="zh-CN" sz="2400" b="1" dirty="0">
                <a:latin typeface="Arial" panose="020B0604020202020204" pitchFamily="34" charset="0"/>
              </a:rPr>
              <a:t> c1~c5</a:t>
            </a:r>
            <a:r>
              <a:rPr lang="zh-CN" altLang="en-US" sz="2400" b="1" dirty="0">
                <a:latin typeface="Arial" panose="020B0604020202020204" pitchFamily="34" charset="0"/>
              </a:rPr>
              <a:t>清零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	</a:t>
            </a:r>
            <a:r>
              <a:rPr lang="en-US" altLang="zh-CN" sz="2800" b="1" dirty="0">
                <a:latin typeface="Arial" panose="020B0604020202020204" pitchFamily="34" charset="0"/>
              </a:rPr>
              <a:t>//</a:t>
            </a:r>
            <a:r>
              <a:rPr lang="zh-CN" altLang="en-US" sz="2800" b="1" dirty="0">
                <a:latin typeface="Arial" panose="020B0604020202020204" pitchFamily="34" charset="0"/>
              </a:rPr>
              <a:t>调用函数count(  </a:t>
            </a:r>
            <a:r>
              <a:rPr lang="zh-CN" altLang="en-US" sz="28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 s,</a:t>
            </a:r>
            <a:r>
              <a:rPr lang="zh-CN" altLang="en-US" sz="2800" b="1" dirty="0">
                <a:latin typeface="Arial" panose="020B0604020202020204" pitchFamily="34" charset="0"/>
              </a:rPr>
              <a:t> </a:t>
            </a:r>
            <a:r>
              <a:rPr lang="zh-CN" altLang="en-US" sz="2800" b="1" dirty="0">
                <a:solidFill>
                  <a:srgbClr val="FFFF00"/>
                </a:solidFill>
                <a:latin typeface="Arial" panose="020B0604020202020204" pitchFamily="34" charset="0"/>
              </a:rPr>
              <a:t>&amp;</a:t>
            </a:r>
            <a:r>
              <a:rPr lang="en-US" altLang="zh-CN" sz="2800" b="1" dirty="0">
                <a:solidFill>
                  <a:srgbClr val="FFFF00"/>
                </a:solidFill>
                <a:latin typeface="Arial" panose="020B0604020202020204" pitchFamily="34" charset="0"/>
              </a:rPr>
              <a:t>c1</a:t>
            </a:r>
            <a:r>
              <a:rPr lang="zh-CN" altLang="en-US" sz="2800" b="1" dirty="0">
                <a:solidFill>
                  <a:srgbClr val="FFFF00"/>
                </a:solidFill>
                <a:latin typeface="Arial" panose="020B0604020202020204" pitchFamily="34" charset="0"/>
              </a:rPr>
              <a:t>, &amp;</a:t>
            </a:r>
            <a:r>
              <a:rPr lang="en-US" altLang="zh-CN" sz="2800" b="1" dirty="0">
                <a:solidFill>
                  <a:srgbClr val="FFFF00"/>
                </a:solidFill>
                <a:latin typeface="Arial" panose="020B0604020202020204" pitchFamily="34" charset="0"/>
              </a:rPr>
              <a:t>c2</a:t>
            </a:r>
            <a:r>
              <a:rPr lang="zh-CN" altLang="en-US" sz="2800" b="1" dirty="0">
                <a:solidFill>
                  <a:srgbClr val="FFFF00"/>
                </a:solidFill>
                <a:latin typeface="Arial" panose="020B0604020202020204" pitchFamily="34" charset="0"/>
              </a:rPr>
              <a:t>, &amp;</a:t>
            </a:r>
            <a:r>
              <a:rPr lang="en-US" altLang="zh-CN" sz="2800" b="1" dirty="0">
                <a:solidFill>
                  <a:srgbClr val="FFFF00"/>
                </a:solidFill>
                <a:latin typeface="Arial" panose="020B0604020202020204" pitchFamily="34" charset="0"/>
              </a:rPr>
              <a:t>c3</a:t>
            </a:r>
            <a:r>
              <a:rPr lang="zh-CN" altLang="en-US" sz="2800" b="1" dirty="0">
                <a:solidFill>
                  <a:srgbClr val="FFFF00"/>
                </a:solidFill>
                <a:latin typeface="Arial" panose="020B0604020202020204" pitchFamily="34" charset="0"/>
              </a:rPr>
              <a:t>, &amp;</a:t>
            </a:r>
            <a:r>
              <a:rPr lang="en-US" altLang="zh-CN" sz="2800" b="1" dirty="0">
                <a:solidFill>
                  <a:srgbClr val="FFFF00"/>
                </a:solidFill>
                <a:latin typeface="Arial" panose="020B0604020202020204" pitchFamily="34" charset="0"/>
              </a:rPr>
              <a:t>c4</a:t>
            </a:r>
            <a:r>
              <a:rPr lang="zh-CN" altLang="en-US" sz="2800" b="1" dirty="0">
                <a:solidFill>
                  <a:srgbClr val="FFFF00"/>
                </a:solidFill>
                <a:latin typeface="Arial" panose="020B0604020202020204" pitchFamily="34" charset="0"/>
              </a:rPr>
              <a:t>, &amp;</a:t>
            </a:r>
            <a:r>
              <a:rPr lang="en-US" altLang="zh-CN" sz="2800" b="1" dirty="0">
                <a:solidFill>
                  <a:srgbClr val="FFFF00"/>
                </a:solidFill>
                <a:latin typeface="Arial" panose="020B0604020202020204" pitchFamily="34" charset="0"/>
              </a:rPr>
              <a:t>c5  </a:t>
            </a:r>
            <a:r>
              <a:rPr lang="zh-CN" altLang="en-US" sz="2800" b="1" dirty="0">
                <a:latin typeface="Arial" panose="020B0604020202020204" pitchFamily="34" charset="0"/>
              </a:rPr>
              <a:t>);</a:t>
            </a:r>
            <a:endParaRPr lang="zh-CN" altLang="en-US" sz="2800" b="1" dirty="0">
              <a:latin typeface="Arial" panose="020B0604020202020204" pitchFamily="34" charset="0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Arial" panose="020B0604020202020204" pitchFamily="34" charset="0"/>
              </a:rPr>
              <a:t>	//输出 计数器</a:t>
            </a:r>
            <a:r>
              <a:rPr lang="en-US" altLang="zh-CN" sz="2400" b="1" dirty="0">
                <a:latin typeface="Arial" panose="020B0604020202020204" pitchFamily="34" charset="0"/>
              </a:rPr>
              <a:t>c1~c5</a:t>
            </a:r>
            <a:r>
              <a:rPr lang="zh-CN" altLang="en-US" sz="2400" b="1" dirty="0">
                <a:latin typeface="Arial" panose="020B0604020202020204" pitchFamily="34" charset="0"/>
              </a:rPr>
              <a:t>	</a:t>
            </a:r>
            <a:endParaRPr lang="zh-CN" altLang="en-US" sz="2400" b="1" dirty="0">
              <a:latin typeface="Arial" panose="020B0604020202020204" pitchFamily="34" charset="0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latin typeface="Arial" panose="020B0604020202020204" pitchFamily="34" charset="0"/>
              </a:rPr>
              <a:t>}</a:t>
            </a:r>
            <a:endParaRPr lang="zh-CN" altLang="en-US" sz="2000" b="1" dirty="0">
              <a:latin typeface="Arial" panose="020B0604020202020204" pitchFamily="34" charset="0"/>
            </a:endParaRPr>
          </a:p>
        </p:txBody>
      </p:sp>
      <p:pic>
        <p:nvPicPr>
          <p:cNvPr id="34821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46113"/>
            <a:ext cx="9144000" cy="1787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Line 52"/>
          <p:cNvSpPr/>
          <p:nvPr/>
        </p:nvSpPr>
        <p:spPr>
          <a:xfrm flipH="1" flipV="1">
            <a:off x="4648200" y="2819400"/>
            <a:ext cx="13335" cy="2673985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" name="Line 52"/>
          <p:cNvSpPr/>
          <p:nvPr/>
        </p:nvSpPr>
        <p:spPr>
          <a:xfrm flipV="1">
            <a:off x="5633085" y="2747645"/>
            <a:ext cx="529590" cy="2775585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" name="Line 52"/>
          <p:cNvSpPr/>
          <p:nvPr/>
        </p:nvSpPr>
        <p:spPr>
          <a:xfrm flipV="1">
            <a:off x="6389370" y="2819400"/>
            <a:ext cx="1409700" cy="2613025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0" name="Line 52"/>
          <p:cNvSpPr/>
          <p:nvPr/>
        </p:nvSpPr>
        <p:spPr>
          <a:xfrm flipV="1">
            <a:off x="7328535" y="2895600"/>
            <a:ext cx="2044065" cy="254254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1" name="Line 52"/>
          <p:cNvSpPr/>
          <p:nvPr/>
        </p:nvSpPr>
        <p:spPr>
          <a:xfrm flipV="1">
            <a:off x="8322945" y="2924175"/>
            <a:ext cx="2954655" cy="256413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2" name="Line 52"/>
          <p:cNvSpPr/>
          <p:nvPr/>
        </p:nvSpPr>
        <p:spPr>
          <a:xfrm flipH="1" flipV="1">
            <a:off x="2971800" y="2844165"/>
            <a:ext cx="1000760" cy="2679065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charRg st="201" end="2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charRg st="246" end="2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charRg st="82" end="10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charRg st="100" end="1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AEA1572-0088-4AE1-98AF-774859177B5A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39" name="Rectangle 2"/>
          <p:cNvSpPr>
            <a:spLocks noGrp="1"/>
          </p:cNvSpPr>
          <p:nvPr>
            <p:ph type="title"/>
          </p:nvPr>
        </p:nvSpPr>
        <p:spPr>
          <a:xfrm>
            <a:off x="0" y="0"/>
            <a:ext cx="7475855" cy="521970"/>
          </a:xfrm>
          <a:solidFill>
            <a:schemeClr val="accent1">
              <a:alpha val="100000"/>
            </a:schemeClr>
          </a:solidFill>
        </p:spPr>
        <p:txBody>
          <a:bodyPr vert="horz" wrap="square" lIns="91440" tIns="45720" rIns="91440" bIns="45720" anchor="t" anchorCtr="0">
            <a:spAutoFit/>
          </a:bodyPr>
          <a:p>
            <a:pPr algn="l" eaLnBrk="1" hangingPunct="1"/>
            <a:r>
              <a:rPr lang="en-US" altLang="zh-CN" sz="2800" b="1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【</a:t>
            </a:r>
            <a:r>
              <a:rPr lang="zh-CN" altLang="en-US" sz="2800" b="1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例</a:t>
            </a:r>
            <a:r>
              <a:rPr lang="en-US" altLang="zh-CN" sz="2800" b="1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9.6a】 </a:t>
            </a:r>
            <a:r>
              <a:rPr lang="zh-CN" altLang="en-US" sz="2800" b="1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编函数，从</a:t>
            </a:r>
            <a:r>
              <a:rPr lang="en-US" altLang="zh-CN" sz="2800" b="1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</a:t>
            </a:r>
            <a:r>
              <a:rPr lang="zh-CN" altLang="en-US" sz="2800" b="1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个整数中找出最大数。</a:t>
            </a:r>
            <a:endParaRPr lang="zh-CN" altLang="en-US" sz="2800" b="1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30435" name="Rectangle 3"/>
          <p:cNvSpPr>
            <a:spLocks noGrp="1" noChangeArrowheads="1"/>
          </p:cNvSpPr>
          <p:nvPr>
            <p:ph idx="1"/>
          </p:nvPr>
        </p:nvSpPr>
        <p:spPr>
          <a:xfrm>
            <a:off x="0" y="838200"/>
            <a:ext cx="6504940" cy="601853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#include&lt;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stdio.h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max_value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507F7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int x[]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 int n ){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 max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,*p;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max=x[0];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for( p=x+1; p&lt;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x+n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 p++ ){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if (*p &gt; max)	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	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max =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*p;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}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return max;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 main()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	int a[10]={3,1,28,98,1,5,-9},m;   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m=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max_value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(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507F7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,10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("max=%d\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n",m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5843" name="Rectangle 2"/>
          <p:cNvSpPr>
            <a:spLocks noGrp="1"/>
          </p:cNvSpPr>
          <p:nvPr/>
        </p:nvSpPr>
        <p:spPr>
          <a:xfrm>
            <a:off x="7765415" y="0"/>
            <a:ext cx="4416425" cy="66103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sz="3200" b="1" dirty="0">
                <a:solidFill>
                  <a:srgbClr val="FFC000"/>
                </a:solidFill>
                <a:effectLst/>
                <a:latin typeface="宋体" panose="02010600030101010101" pitchFamily="2" charset="-122"/>
              </a:rPr>
              <a:t>§9.1.3  </a:t>
            </a:r>
            <a:r>
              <a:rPr lang="zh-CN" altLang="en-US" sz="3200" b="1" dirty="0">
                <a:solidFill>
                  <a:srgbClr val="FFC000"/>
                </a:solidFill>
                <a:effectLst/>
              </a:rPr>
              <a:t>数组作参数</a:t>
            </a:r>
            <a:endParaRPr lang="zh-CN" altLang="en-US" sz="3200" b="1" dirty="0">
              <a:solidFill>
                <a:srgbClr val="FFC000"/>
              </a:solidFill>
              <a:effectLst/>
            </a:endParaRPr>
          </a:p>
        </p:txBody>
      </p:sp>
      <p:sp>
        <p:nvSpPr>
          <p:cNvPr id="403462" name="Rectangle 6"/>
          <p:cNvSpPr/>
          <p:nvPr/>
        </p:nvSpPr>
        <p:spPr>
          <a:xfrm>
            <a:off x="8075930" y="609600"/>
            <a:ext cx="4152265" cy="924560"/>
          </a:xfrm>
          <a:prstGeom prst="rect">
            <a:avLst/>
          </a:prstGeom>
          <a:noFill/>
          <a:ln w="9525" cap="flat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u="sng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一维数组</a:t>
            </a:r>
            <a:r>
              <a:rPr lang="en-US" altLang="zh-CN" sz="2400" b="1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zh-CN" altLang="en-US" sz="2400" b="1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或</a:t>
            </a:r>
            <a:r>
              <a:rPr lang="en-US" altLang="zh-CN" sz="2400" b="1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zh-CN" altLang="en-US" sz="2400" b="1" u="sng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指针</a:t>
            </a:r>
            <a:r>
              <a:rPr lang="en-US" altLang="zh-CN" sz="2400" b="1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zh-CN" altLang="en-US" sz="2400" b="1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作形参：</a:t>
            </a:r>
            <a:endParaRPr lang="zh-CN" altLang="en-US" sz="2400" b="1" dirty="0">
              <a:solidFill>
                <a:schemeClr val="tx1">
                  <a:lumMod val="65000"/>
                </a:schemeClr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实参可以是</a:t>
            </a:r>
            <a:r>
              <a:rPr lang="zh-CN" altLang="en-US" sz="2400" b="1" u="sng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数组名</a:t>
            </a:r>
            <a:r>
              <a:rPr lang="zh-CN" altLang="en-US" sz="2400" b="1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或</a:t>
            </a:r>
            <a:r>
              <a:rPr lang="zh-CN" altLang="en-US" sz="2400" b="1" u="sng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指针</a:t>
            </a:r>
            <a:endParaRPr lang="zh-CN" altLang="en-US" sz="2400" b="1" u="sng" dirty="0">
              <a:solidFill>
                <a:schemeClr val="tx1">
                  <a:lumMod val="6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2" name="矩形标注 1"/>
          <p:cNvSpPr/>
          <p:nvPr/>
        </p:nvSpPr>
        <p:spPr>
          <a:xfrm>
            <a:off x="3733800" y="609600"/>
            <a:ext cx="1078865" cy="431800"/>
          </a:xfrm>
          <a:prstGeom prst="wedgeRectCallout">
            <a:avLst>
              <a:gd name="adj1" fmla="val -66213"/>
              <a:gd name="adj2" fmla="val 96527"/>
            </a:avLst>
          </a:prstGeom>
          <a:solidFill>
            <a:schemeClr val="accent1"/>
          </a:solidFill>
        </p:spPr>
        <p:txBody>
          <a:bodyPr wrap="square" lIns="0" rIns="0">
            <a:noAutofit/>
          </a:bodyPr>
          <a:p>
            <a:pPr eaLnBrk="1" hangingPunct="1">
              <a:buNone/>
            </a:pPr>
            <a:r>
              <a:rPr lang="en-US" altLang="zh-CN" sz="2800" dirty="0">
                <a:solidFill>
                  <a:srgbClr val="F507F7"/>
                </a:solidFill>
                <a:latin typeface="Arial" panose="020B0604020202020204" pitchFamily="34" charset="0"/>
              </a:rPr>
              <a:t> int *x</a:t>
            </a:r>
            <a:endParaRPr lang="en-US" altLang="zh-CN" sz="2800" dirty="0">
              <a:solidFill>
                <a:srgbClr val="F507F7"/>
              </a:solidFill>
              <a:latin typeface="Arial" panose="020B0604020202020204" pitchFamily="34" charset="0"/>
            </a:endParaRPr>
          </a:p>
        </p:txBody>
      </p:sp>
      <p:sp>
        <p:nvSpPr>
          <p:cNvPr id="3" name="矩形标注 2"/>
          <p:cNvSpPr/>
          <p:nvPr/>
        </p:nvSpPr>
        <p:spPr>
          <a:xfrm>
            <a:off x="5334000" y="3733800"/>
            <a:ext cx="5175250" cy="1835150"/>
          </a:xfrm>
          <a:prstGeom prst="wedgeRectCallout">
            <a:avLst>
              <a:gd name="adj1" fmla="val -56907"/>
              <a:gd name="adj2" fmla="val 67508"/>
            </a:avLst>
          </a:prstGeom>
          <a:solidFill>
            <a:schemeClr val="accent1"/>
          </a:solidFill>
        </p:spPr>
        <p:txBody>
          <a:bodyPr wrap="square" lIns="0" rIns="0">
            <a:noAutofit/>
          </a:bodyPr>
          <a:p>
            <a:pPr lvl="0" indent="26670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kern="0" noProof="0" dirty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sym typeface="+mn-ea"/>
              </a:rPr>
              <a:t>m=</a:t>
            </a:r>
            <a:r>
              <a:rPr lang="en-US" altLang="zh-CN" sz="2800" kern="0" noProof="0" dirty="0" err="1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sym typeface="+mn-ea"/>
              </a:rPr>
              <a:t>max_value</a:t>
            </a:r>
            <a:r>
              <a:rPr lang="en-US" altLang="zh-CN" sz="2800" kern="0" noProof="0" dirty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sym typeface="+mn-ea"/>
              </a:rPr>
              <a:t> (</a:t>
            </a:r>
            <a:r>
              <a:rPr lang="en-US" altLang="zh-CN" sz="2800" kern="0" noProof="0" dirty="0">
                <a:ln>
                  <a:noFill/>
                </a:ln>
                <a:solidFill>
                  <a:srgbClr val="F507F7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sym typeface="+mn-ea"/>
              </a:rPr>
              <a:t>&amp;</a:t>
            </a:r>
            <a:r>
              <a:rPr lang="en-US" altLang="zh-CN" sz="2800" noProof="0" dirty="0">
                <a:ln>
                  <a:noFill/>
                </a:ln>
                <a:solidFill>
                  <a:srgbClr val="F507F7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sym typeface="+mn-ea"/>
              </a:rPr>
              <a:t>a[0]</a:t>
            </a:r>
            <a:r>
              <a:rPr lang="en-US" altLang="zh-CN" sz="2800" kern="0" noProof="0" dirty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sym typeface="+mn-ea"/>
              </a:rPr>
              <a:t>,10);</a:t>
            </a:r>
            <a:endParaRPr lang="en-US" altLang="zh-CN" sz="2800" kern="0" noProof="0" dirty="0">
              <a:ln>
                <a:noFill/>
              </a:ln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sym typeface="+mn-ea"/>
            </a:endParaRPr>
          </a:p>
          <a:p>
            <a:pPr lvl="0" indent="26670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kern="0" noProof="0" dirty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sym typeface="+mn-ea"/>
              </a:rPr>
              <a:t>或</a:t>
            </a:r>
            <a:r>
              <a:rPr lang="en-US" altLang="zh-CN" sz="2800" kern="0" noProof="0" dirty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sym typeface="+mn-ea"/>
              </a:rPr>
              <a:t>  </a:t>
            </a:r>
            <a:endParaRPr lang="en-US" altLang="zh-CN" sz="2800" kern="0" noProof="0" dirty="0">
              <a:ln>
                <a:noFill/>
              </a:ln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sym typeface="+mn-ea"/>
            </a:endParaRPr>
          </a:p>
          <a:p>
            <a:pPr lvl="0" indent="26670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latin typeface="Arial" panose="020B0604020202020204" pitchFamily="34" charset="0"/>
                <a:sym typeface="+mn-ea"/>
              </a:rPr>
              <a:t>int  *p=a; </a:t>
            </a:r>
            <a:endParaRPr lang="en-US" altLang="zh-CN" sz="2800" b="1" dirty="0">
              <a:latin typeface="Arial" panose="020B0604020202020204" pitchFamily="34" charset="0"/>
            </a:endParaRPr>
          </a:p>
          <a:p>
            <a:pPr lvl="0" indent="26670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kern="0" noProof="0" dirty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sym typeface="+mn-ea"/>
              </a:rPr>
              <a:t>m=</a:t>
            </a:r>
            <a:r>
              <a:rPr lang="en-US" altLang="zh-CN" sz="2800" kern="0" noProof="0" dirty="0" err="1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sym typeface="+mn-ea"/>
              </a:rPr>
              <a:t>max_value</a:t>
            </a:r>
            <a:r>
              <a:rPr lang="en-US" altLang="zh-CN" sz="2800" kern="0" noProof="0" dirty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sym typeface="+mn-ea"/>
              </a:rPr>
              <a:t> (</a:t>
            </a:r>
            <a:r>
              <a:rPr lang="en-US" altLang="zh-CN" sz="2800" kern="0" noProof="0" dirty="0">
                <a:ln>
                  <a:noFill/>
                </a:ln>
                <a:solidFill>
                  <a:srgbClr val="F507F7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sym typeface="+mn-ea"/>
              </a:rPr>
              <a:t>p</a:t>
            </a:r>
            <a:r>
              <a:rPr lang="en-US" altLang="zh-CN" sz="2800" kern="0" noProof="0" dirty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sym typeface="+mn-ea"/>
              </a:rPr>
              <a:t>,10);</a:t>
            </a:r>
            <a:endParaRPr lang="en-US" altLang="zh-CN" sz="2800" b="1" dirty="0">
              <a:latin typeface="Arial" panose="020B0604020202020204" pitchFamily="34" charset="0"/>
            </a:endParaRPr>
          </a:p>
          <a:p>
            <a:pPr eaLnBrk="1" hangingPunct="1">
              <a:buNone/>
            </a:pPr>
            <a:endParaRPr lang="en-US" altLang="zh-CN" sz="2800" dirty="0">
              <a:solidFill>
                <a:srgbClr val="F507F7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3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400061F-ED04-4BFD-928C-090021846127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6530" name="Rectangle 2"/>
          <p:cNvSpPr>
            <a:spLocks noChangeArrowheads="1"/>
          </p:cNvSpPr>
          <p:nvPr/>
        </p:nvSpPr>
        <p:spPr bwMode="auto">
          <a:xfrm>
            <a:off x="0" y="1164908"/>
            <a:ext cx="10876915" cy="569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#include&lt;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stdio.h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&gt;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507F7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宋体" panose="02010600030101010101" pitchFamily="2" charset="-122"/>
                <a:cs typeface="+mn-cs"/>
              </a:rPr>
              <a:t>void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max_min_value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int x[ ] ,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int n ,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507F7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宋体" panose="02010600030101010101" pitchFamily="2" charset="-122"/>
                <a:cs typeface="+mn-cs"/>
              </a:rPr>
              <a:t>int  *max , int  *min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)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{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	int *p;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507F7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宋体" panose="02010600030101010101" pitchFamily="2" charset="-122"/>
                <a:cs typeface="+mn-cs"/>
              </a:rPr>
              <a:t>*max = *min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=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*x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;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//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把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x[0]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送入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max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min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所指变量中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for(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p=x+1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; p&lt;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x+n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; p++ )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// p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从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x[1]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开始到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x[n-1]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循环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{	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		if (*p &gt; *max)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//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求极大值，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指向当前数组元素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			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507F7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宋体" panose="02010600030101010101" pitchFamily="2" charset="-122"/>
                <a:cs typeface="+mn-cs"/>
              </a:rPr>
              <a:t>*max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= *p; 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// max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指向极大值单元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		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if (*p &lt; *min)	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//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求极小值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			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507F7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宋体" panose="02010600030101010101" pitchFamily="2" charset="-122"/>
                <a:cs typeface="+mn-cs"/>
              </a:rPr>
              <a:t>*min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= *p;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	}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}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964" name="Rectangle 4"/>
          <p:cNvSpPr/>
          <p:nvPr/>
        </p:nvSpPr>
        <p:spPr>
          <a:xfrm>
            <a:off x="8827770" y="5638800"/>
            <a:ext cx="3364230" cy="119888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P235【</a:t>
            </a:r>
            <a:r>
              <a:rPr lang="zh-CN" altLang="en-US" sz="2400" b="1" dirty="0">
                <a:latin typeface="Arial" panose="020B0604020202020204" pitchFamily="34" charset="0"/>
              </a:rPr>
              <a:t>例</a:t>
            </a:r>
            <a:r>
              <a:rPr lang="en-US" altLang="zh-CN" sz="2400" b="1" dirty="0">
                <a:latin typeface="Arial" panose="020B0604020202020204" pitchFamily="34" charset="0"/>
              </a:rPr>
              <a:t>9.6 】 </a:t>
            </a:r>
            <a:r>
              <a:rPr lang="zh-CN" altLang="en-US" sz="2400" b="1" dirty="0">
                <a:solidFill>
                  <a:schemeClr val="hlink"/>
                </a:solidFill>
                <a:latin typeface="Arial" panose="020B0604020202020204" pitchFamily="34" charset="0"/>
              </a:rPr>
              <a:t>编函数</a:t>
            </a:r>
            <a:r>
              <a:rPr lang="zh-CN" altLang="en-US" sz="2400" b="1" dirty="0">
                <a:latin typeface="Arial" panose="020B0604020202020204" pitchFamily="34" charset="0"/>
              </a:rPr>
              <a:t>，从</a:t>
            </a:r>
            <a:r>
              <a:rPr lang="en-US" altLang="zh-CN" sz="2400" b="1" dirty="0">
                <a:latin typeface="Arial" panose="020B0604020202020204" pitchFamily="34" charset="0"/>
              </a:rPr>
              <a:t>n</a:t>
            </a:r>
            <a:r>
              <a:rPr lang="zh-CN" altLang="en-US" sz="2400" b="1" dirty="0">
                <a:latin typeface="Arial" panose="020B0604020202020204" pitchFamily="34" charset="0"/>
              </a:rPr>
              <a:t>个整数中找出</a:t>
            </a:r>
            <a:r>
              <a:rPr lang="zh-CN" altLang="en-US" sz="2400" b="1" dirty="0">
                <a:solidFill>
                  <a:srgbClr val="FFFF00"/>
                </a:solidFill>
                <a:latin typeface="Arial" panose="020B0604020202020204" pitchFamily="34" charset="0"/>
              </a:rPr>
              <a:t>最大数和最小数</a:t>
            </a:r>
            <a:endParaRPr lang="zh-CN" altLang="en-US" sz="2400" b="1" dirty="0">
              <a:solidFill>
                <a:srgbClr val="FFFF00"/>
              </a:solidFill>
              <a:latin typeface="Arial" panose="020B0604020202020204" pitchFamily="34" charset="0"/>
            </a:endParaRPr>
          </a:p>
        </p:txBody>
      </p:sp>
      <p:sp>
        <p:nvSpPr>
          <p:cNvPr id="5" name="圆角矩形标注 5"/>
          <p:cNvSpPr/>
          <p:nvPr/>
        </p:nvSpPr>
        <p:spPr>
          <a:xfrm>
            <a:off x="3581400" y="2209800"/>
            <a:ext cx="3124200" cy="533400"/>
          </a:xfrm>
          <a:prstGeom prst="wedgeRoundRectCallout">
            <a:avLst>
              <a:gd name="adj1" fmla="val -92426"/>
              <a:gd name="adj2" fmla="val 91741"/>
              <a:gd name="adj3" fmla="val 16667"/>
            </a:avLst>
          </a:prstGeom>
          <a:solidFill>
            <a:schemeClr val="accent1"/>
          </a:solidFill>
          <a:ln w="9525">
            <a:noFill/>
          </a:ln>
        </p:spPr>
        <p:txBody>
          <a:bodyPr lIns="0" rIns="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*max=*min=x[0];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7" name="圆角矩形标注 5"/>
          <p:cNvSpPr/>
          <p:nvPr/>
        </p:nvSpPr>
        <p:spPr>
          <a:xfrm>
            <a:off x="3352800" y="1066483"/>
            <a:ext cx="1371600" cy="533400"/>
          </a:xfrm>
          <a:prstGeom prst="wedgeRoundRectCallout">
            <a:avLst>
              <a:gd name="adj1" fmla="val 34722"/>
              <a:gd name="adj2" fmla="val 77559"/>
              <a:gd name="adj3" fmla="val 16667"/>
            </a:avLst>
          </a:prstGeom>
          <a:solidFill>
            <a:schemeClr val="accent1"/>
          </a:solidFill>
          <a:ln w="9525">
            <a:noFill/>
          </a:ln>
        </p:spPr>
        <p:txBody>
          <a:bodyPr lIns="0" rIns="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int *x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2" name="圆角矩形标注 1"/>
          <p:cNvSpPr/>
          <p:nvPr/>
        </p:nvSpPr>
        <p:spPr>
          <a:xfrm>
            <a:off x="152400" y="4266883"/>
            <a:ext cx="1676400" cy="533400"/>
          </a:xfrm>
          <a:prstGeom prst="wedgeRoundRectCallout">
            <a:avLst>
              <a:gd name="adj1" fmla="val 43409"/>
              <a:gd name="adj2" fmla="val -121845"/>
              <a:gd name="adj3" fmla="val 16667"/>
            </a:avLst>
          </a:prstGeom>
          <a:solidFill>
            <a:schemeClr val="accent1"/>
          </a:solidFill>
          <a:ln w="9525">
            <a:noFill/>
          </a:ln>
        </p:spPr>
        <p:txBody>
          <a:bodyPr lIns="0" rIns="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p=&amp;x[1]; 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8" name="圆角矩形标注 5"/>
          <p:cNvSpPr/>
          <p:nvPr/>
        </p:nvSpPr>
        <p:spPr>
          <a:xfrm>
            <a:off x="4267200" y="3809683"/>
            <a:ext cx="2324100" cy="487362"/>
          </a:xfrm>
          <a:prstGeom prst="wedgeRoundRectCallout">
            <a:avLst>
              <a:gd name="adj1" fmla="val -97377"/>
              <a:gd name="adj2" fmla="val -76775"/>
              <a:gd name="adj3" fmla="val 16667"/>
            </a:avLst>
          </a:prstGeom>
          <a:solidFill>
            <a:schemeClr val="accent1"/>
          </a:solidFill>
          <a:ln w="9525">
            <a:noFill/>
          </a:ln>
        </p:spPr>
        <p:txBody>
          <a:bodyPr lIns="0" rIns="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p&lt;=&amp;x[n-1]; 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534530" name="Rectangle 2"/>
          <p:cNvSpPr/>
          <p:nvPr/>
        </p:nvSpPr>
        <p:spPr>
          <a:xfrm>
            <a:off x="4114800" y="0"/>
            <a:ext cx="8059420" cy="89154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squar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26670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b="1" dirty="0">
                <a:latin typeface="Arial" panose="020B0604020202020204" pitchFamily="34" charset="0"/>
              </a:rPr>
              <a:t>主调函数：</a:t>
            </a:r>
            <a:endParaRPr lang="zh-CN" altLang="en-US" sz="2600" b="1" dirty="0">
              <a:latin typeface="Arial" panose="020B0604020202020204" pitchFamily="34" charset="0"/>
            </a:endParaRPr>
          </a:p>
          <a:p>
            <a:pPr marL="0" lvl="0" indent="26670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solidFill>
                  <a:schemeClr val="hlink"/>
                </a:solidFill>
                <a:latin typeface="Arial" panose="020B0604020202020204" pitchFamily="34" charset="0"/>
              </a:rPr>
              <a:t>max_min_value (</a:t>
            </a:r>
            <a:r>
              <a:rPr lang="en-US" altLang="zh-CN" sz="2600" b="1" dirty="0">
                <a:solidFill>
                  <a:srgbClr val="FF0000"/>
                </a:solidFill>
                <a:latin typeface="Arial" panose="020B0604020202020204" pitchFamily="34" charset="0"/>
              </a:rPr>
              <a:t>a</a:t>
            </a:r>
            <a:r>
              <a:rPr lang="en-US" altLang="zh-CN" sz="2600" b="1" dirty="0">
                <a:latin typeface="Arial" panose="020B0604020202020204" pitchFamily="34" charset="0"/>
              </a:rPr>
              <a:t>,10, </a:t>
            </a:r>
            <a:r>
              <a:rPr lang="en-US" altLang="zh-CN" sz="2600" b="1" dirty="0">
                <a:solidFill>
                  <a:srgbClr val="FF0000"/>
                </a:solidFill>
                <a:latin typeface="Arial" panose="020B0604020202020204" pitchFamily="34" charset="0"/>
              </a:rPr>
              <a:t>&amp;max_value,&amp;min_value</a:t>
            </a:r>
            <a:r>
              <a:rPr lang="en-US" altLang="zh-CN" sz="2600" b="1" dirty="0">
                <a:solidFill>
                  <a:schemeClr val="hlink"/>
                </a:solidFill>
                <a:latin typeface="Arial" panose="020B0604020202020204" pitchFamily="34" charset="0"/>
              </a:rPr>
              <a:t>);</a:t>
            </a:r>
            <a:endParaRPr lang="en-US" altLang="zh-CN" sz="2600" b="1" dirty="0">
              <a:latin typeface="Arial" panose="020B0604020202020204" pitchFamily="34" charset="0"/>
            </a:endParaRPr>
          </a:p>
        </p:txBody>
      </p:sp>
      <p:sp>
        <p:nvSpPr>
          <p:cNvPr id="534535" name="Line 7"/>
          <p:cNvSpPr/>
          <p:nvPr/>
        </p:nvSpPr>
        <p:spPr>
          <a:xfrm flipH="1">
            <a:off x="7258050" y="868045"/>
            <a:ext cx="1593850" cy="892810"/>
          </a:xfrm>
          <a:prstGeom prst="line">
            <a:avLst/>
          </a:prstGeom>
          <a:ln w="38100" cap="flat" cmpd="sng">
            <a:solidFill>
              <a:srgbClr val="F507F7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34536" name="Line 8"/>
          <p:cNvSpPr/>
          <p:nvPr/>
        </p:nvSpPr>
        <p:spPr>
          <a:xfrm flipH="1">
            <a:off x="9144000" y="891540"/>
            <a:ext cx="1811020" cy="895350"/>
          </a:xfrm>
          <a:prstGeom prst="line">
            <a:avLst/>
          </a:prstGeom>
          <a:ln w="38100" cap="flat" cmpd="sng">
            <a:solidFill>
              <a:srgbClr val="F507F7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34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34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0">
                                            <p:txEl>
                                              <p:charRg st="92" end="1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06530">
                                            <p:txEl>
                                              <p:charRg st="92" end="13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0">
                                            <p:txEl>
                                              <p:charRg st="83" end="9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406530">
                                            <p:txEl>
                                              <p:charRg st="83" end="9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0">
                                            <p:txEl>
                                              <p:charRg st="134" end="1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406530">
                                            <p:txEl>
                                              <p:charRg st="134" end="18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0">
                                            <p:txEl>
                                              <p:charRg st="182" end="18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406530">
                                            <p:txEl>
                                              <p:charRg st="182" end="18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7" grpId="0" bldLvl="0" animBg="1"/>
      <p:bldP spid="2" grpId="0" bldLvl="0" animBg="1"/>
      <p:bldP spid="8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灯片编号占位符 3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8763000" y="6389688"/>
            <a:ext cx="2844800" cy="457200"/>
          </a:xfrm>
        </p:spPr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4BB39C2-F22E-4330-AA08-4908D4BA2D13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34530" name="Rectangle 2"/>
          <p:cNvSpPr/>
          <p:nvPr/>
        </p:nvSpPr>
        <p:spPr>
          <a:xfrm>
            <a:off x="152400" y="1906"/>
            <a:ext cx="9144000" cy="249174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26670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Arial" panose="020B0604020202020204" pitchFamily="34" charset="0"/>
              </a:rPr>
              <a:t>int main()</a:t>
            </a:r>
            <a:endParaRPr lang="en-US" altLang="zh-CN" sz="2600" b="1" dirty="0">
              <a:latin typeface="Arial" panose="020B0604020202020204" pitchFamily="34" charset="0"/>
            </a:endParaRPr>
          </a:p>
          <a:p>
            <a:pPr marL="0" lvl="0" indent="26670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Arial" panose="020B0604020202020204" pitchFamily="34" charset="0"/>
              </a:rPr>
              <a:t>{</a:t>
            </a:r>
            <a:endParaRPr lang="en-US" altLang="zh-CN" sz="2600" b="1" dirty="0">
              <a:latin typeface="Arial" panose="020B0604020202020204" pitchFamily="34" charset="0"/>
            </a:endParaRPr>
          </a:p>
          <a:p>
            <a:pPr marL="0" lvl="0" indent="26670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Arial" panose="020B0604020202020204" pitchFamily="34" charset="0"/>
              </a:rPr>
              <a:t>	int a[10]={3,1,28,98,1,5,-9},</a:t>
            </a:r>
            <a:r>
              <a:rPr lang="en-US" altLang="zh-CN" sz="2600" b="1" dirty="0">
                <a:solidFill>
                  <a:schemeClr val="hlink"/>
                </a:solidFill>
                <a:latin typeface="Arial" panose="020B0604020202020204" pitchFamily="34" charset="0"/>
              </a:rPr>
              <a:t>max_value</a:t>
            </a:r>
            <a:r>
              <a:rPr lang="en-US" altLang="zh-CN" sz="2600" b="1" dirty="0">
                <a:latin typeface="Arial" panose="020B0604020202020204" pitchFamily="34" charset="0"/>
              </a:rPr>
              <a:t>,</a:t>
            </a:r>
            <a:r>
              <a:rPr lang="en-US" altLang="zh-CN" sz="2600" b="1" dirty="0">
                <a:solidFill>
                  <a:schemeClr val="hlink"/>
                </a:solidFill>
                <a:latin typeface="Arial" panose="020B0604020202020204" pitchFamily="34" charset="0"/>
              </a:rPr>
              <a:t>min_value</a:t>
            </a:r>
            <a:r>
              <a:rPr lang="en-US" altLang="zh-CN" sz="2600" b="1" dirty="0">
                <a:latin typeface="Arial" panose="020B0604020202020204" pitchFamily="34" charset="0"/>
              </a:rPr>
              <a:t>;   </a:t>
            </a:r>
            <a:endParaRPr lang="en-US" altLang="zh-CN" sz="2600" b="1" dirty="0">
              <a:latin typeface="Arial" panose="020B0604020202020204" pitchFamily="34" charset="0"/>
            </a:endParaRPr>
          </a:p>
          <a:p>
            <a:pPr marL="0" lvl="0" indent="26670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Arial" panose="020B0604020202020204" pitchFamily="34" charset="0"/>
              </a:rPr>
              <a:t>	</a:t>
            </a:r>
            <a:r>
              <a:rPr lang="en-US" altLang="zh-CN" sz="2600" b="1" dirty="0">
                <a:solidFill>
                  <a:schemeClr val="hlink"/>
                </a:solidFill>
                <a:latin typeface="Arial" panose="020B0604020202020204" pitchFamily="34" charset="0"/>
              </a:rPr>
              <a:t>max_min_value (</a:t>
            </a:r>
            <a:r>
              <a:rPr lang="en-US" altLang="zh-CN" sz="2600" b="1" dirty="0">
                <a:solidFill>
                  <a:srgbClr val="F507F7"/>
                </a:solidFill>
                <a:latin typeface="Arial" panose="020B0604020202020204" pitchFamily="34" charset="0"/>
              </a:rPr>
              <a:t>a</a:t>
            </a:r>
            <a:r>
              <a:rPr lang="en-US" altLang="zh-CN" sz="2600" b="1" dirty="0">
                <a:latin typeface="Arial" panose="020B0604020202020204" pitchFamily="34" charset="0"/>
              </a:rPr>
              <a:t>,10, </a:t>
            </a:r>
            <a:r>
              <a:rPr lang="en-US" altLang="zh-CN" sz="2600" b="1" dirty="0">
                <a:solidFill>
                  <a:srgbClr val="F507F7"/>
                </a:solidFill>
                <a:latin typeface="Arial" panose="020B0604020202020204" pitchFamily="34" charset="0"/>
              </a:rPr>
              <a:t>&amp;max_value,&amp;min_value</a:t>
            </a:r>
            <a:r>
              <a:rPr lang="en-US" altLang="zh-CN" sz="2600" b="1" dirty="0">
                <a:solidFill>
                  <a:schemeClr val="hlink"/>
                </a:solidFill>
                <a:latin typeface="Arial" panose="020B0604020202020204" pitchFamily="34" charset="0"/>
              </a:rPr>
              <a:t>);</a:t>
            </a:r>
            <a:endParaRPr lang="en-US" altLang="zh-CN" sz="2600" b="1" dirty="0">
              <a:solidFill>
                <a:schemeClr val="hlink"/>
              </a:solidFill>
              <a:latin typeface="Arial" panose="020B0604020202020204" pitchFamily="34" charset="0"/>
            </a:endParaRPr>
          </a:p>
          <a:p>
            <a:pPr marL="0" lvl="0" indent="26670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Arial" panose="020B0604020202020204" pitchFamily="34" charset="0"/>
              </a:rPr>
              <a:t>	printf("max=%d,min=%d\n",</a:t>
            </a:r>
            <a:r>
              <a:rPr lang="en-US" altLang="zh-CN" sz="2600" b="1" dirty="0">
                <a:solidFill>
                  <a:schemeClr val="hlink"/>
                </a:solidFill>
                <a:latin typeface="Arial" panose="020B0604020202020204" pitchFamily="34" charset="0"/>
              </a:rPr>
              <a:t>max_value</a:t>
            </a:r>
            <a:r>
              <a:rPr lang="en-US" altLang="zh-CN" sz="2600" b="1" dirty="0">
                <a:latin typeface="Arial" panose="020B0604020202020204" pitchFamily="34" charset="0"/>
              </a:rPr>
              <a:t>,</a:t>
            </a:r>
            <a:r>
              <a:rPr lang="en-US" altLang="zh-CN" sz="2600" b="1" dirty="0">
                <a:solidFill>
                  <a:schemeClr val="hlink"/>
                </a:solidFill>
                <a:latin typeface="Arial" panose="020B0604020202020204" pitchFamily="34" charset="0"/>
              </a:rPr>
              <a:t>min_value</a:t>
            </a:r>
            <a:r>
              <a:rPr lang="en-US" altLang="zh-CN" sz="2600" b="1" dirty="0">
                <a:latin typeface="Arial" panose="020B0604020202020204" pitchFamily="34" charset="0"/>
              </a:rPr>
              <a:t>);</a:t>
            </a:r>
            <a:endParaRPr lang="en-US" altLang="zh-CN" sz="2600" b="1" dirty="0">
              <a:latin typeface="Arial" panose="020B0604020202020204" pitchFamily="34" charset="0"/>
            </a:endParaRPr>
          </a:p>
          <a:p>
            <a:pPr marL="0" lvl="0" indent="26670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Arial" panose="020B0604020202020204" pitchFamily="34" charset="0"/>
              </a:rPr>
              <a:t>}</a:t>
            </a:r>
            <a:endParaRPr lang="en-US" altLang="zh-CN" sz="2600" b="1" dirty="0">
              <a:latin typeface="Arial" panose="020B0604020202020204" pitchFamily="34" charset="0"/>
            </a:endParaRPr>
          </a:p>
        </p:txBody>
      </p:sp>
      <p:sp>
        <p:nvSpPr>
          <p:cNvPr id="534531" name="Rectangle 3"/>
          <p:cNvSpPr/>
          <p:nvPr/>
        </p:nvSpPr>
        <p:spPr>
          <a:xfrm>
            <a:off x="152400" y="4005263"/>
            <a:ext cx="9753600" cy="2676525"/>
          </a:xfrm>
          <a:prstGeom prst="rect">
            <a:avLst/>
          </a:prstGeom>
          <a:noFill/>
          <a:ln w="31750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hlink"/>
                </a:solidFill>
                <a:latin typeface="Arial" panose="020B0604020202020204" pitchFamily="34" charset="0"/>
              </a:rPr>
              <a:t>调用</a:t>
            </a:r>
            <a:r>
              <a:rPr lang="en-US" altLang="zh-CN" sz="2800" b="1" dirty="0">
                <a:solidFill>
                  <a:schemeClr val="hlink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:</a:t>
            </a:r>
            <a:endParaRPr lang="en-US" altLang="zh-CN" sz="2800" b="1" dirty="0">
              <a:solidFill>
                <a:schemeClr val="hlink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Arial" panose="020B0604020202020204" pitchFamily="34" charset="0"/>
              </a:rPr>
              <a:t>(1) int a[10],max_value,min_value;   </a:t>
            </a:r>
            <a:endParaRPr lang="en-US" altLang="zh-CN" sz="2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Arial" panose="020B0604020202020204" pitchFamily="34" charset="0"/>
              </a:rPr>
              <a:t>     max_min_value (</a:t>
            </a:r>
            <a:r>
              <a:rPr lang="en-US" altLang="zh-CN" sz="2600" b="1" dirty="0">
                <a:solidFill>
                  <a:srgbClr val="F507F7"/>
                </a:solidFill>
                <a:latin typeface="Arial" panose="020B0604020202020204" pitchFamily="34" charset="0"/>
              </a:rPr>
              <a:t>a</a:t>
            </a:r>
            <a:r>
              <a:rPr lang="en-US" altLang="zh-CN" sz="2800" b="1" dirty="0">
                <a:latin typeface="Arial" panose="020B0604020202020204" pitchFamily="34" charset="0"/>
              </a:rPr>
              <a:t>,10, </a:t>
            </a:r>
            <a:r>
              <a:rPr lang="en-US" altLang="zh-CN" sz="2800" b="1" dirty="0">
                <a:solidFill>
                  <a:schemeClr val="hlink"/>
                </a:solidFill>
                <a:latin typeface="Arial" panose="020B0604020202020204" pitchFamily="34" charset="0"/>
              </a:rPr>
              <a:t>&amp;max_value,&amp;min_value</a:t>
            </a:r>
            <a:r>
              <a:rPr lang="en-US" altLang="zh-CN" sz="2800" b="1" dirty="0">
                <a:latin typeface="Arial" panose="020B0604020202020204" pitchFamily="34" charset="0"/>
              </a:rPr>
              <a:t>); </a:t>
            </a:r>
            <a:endParaRPr lang="en-US" altLang="zh-CN" sz="2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800" b="1" dirty="0">
                <a:latin typeface="Arial" panose="020B0604020202020204" pitchFamily="34" charset="0"/>
                <a:sym typeface="Wingdings" panose="05000000000000000000" pitchFamily="2" charset="2"/>
              </a:rPr>
              <a:t>(2) </a:t>
            </a:r>
            <a:r>
              <a:rPr lang="en-US" altLang="zh-CN" sz="2800" b="1" dirty="0">
                <a:latin typeface="Arial" panose="020B0604020202020204" pitchFamily="34" charset="0"/>
              </a:rPr>
              <a:t>max_min_value (</a:t>
            </a:r>
            <a:r>
              <a:rPr lang="en-US" altLang="zh-CN" sz="2600" b="1" dirty="0">
                <a:solidFill>
                  <a:srgbClr val="F507F7"/>
                </a:solidFill>
                <a:latin typeface="Arial" panose="020B0604020202020204" pitchFamily="34" charset="0"/>
              </a:rPr>
              <a:t>&amp;a[0]</a:t>
            </a:r>
            <a:r>
              <a:rPr lang="en-US" altLang="zh-CN" sz="2800" b="1" dirty="0">
                <a:latin typeface="Arial" panose="020B0604020202020204" pitchFamily="34" charset="0"/>
              </a:rPr>
              <a:t>,10, </a:t>
            </a:r>
            <a:r>
              <a:rPr lang="en-US" altLang="zh-CN" sz="2800" b="1" dirty="0">
                <a:solidFill>
                  <a:schemeClr val="hlink"/>
                </a:solidFill>
                <a:latin typeface="Arial" panose="020B0604020202020204" pitchFamily="34" charset="0"/>
              </a:rPr>
              <a:t>&amp;</a:t>
            </a:r>
            <a:r>
              <a:rPr lang="en-US" altLang="zh-CN" sz="2400" b="1" dirty="0">
                <a:solidFill>
                  <a:schemeClr val="hlink"/>
                </a:solidFill>
                <a:latin typeface="Arial" panose="020B0604020202020204" pitchFamily="34" charset="0"/>
              </a:rPr>
              <a:t>max_value</a:t>
            </a:r>
            <a:r>
              <a:rPr lang="en-US" altLang="zh-CN" sz="2800" b="1" dirty="0">
                <a:solidFill>
                  <a:schemeClr val="hlink"/>
                </a:solidFill>
                <a:latin typeface="Arial" panose="020B0604020202020204" pitchFamily="34" charset="0"/>
              </a:rPr>
              <a:t>,&amp;</a:t>
            </a:r>
            <a:r>
              <a:rPr lang="en-US" altLang="zh-CN" sz="2400" b="1" dirty="0">
                <a:solidFill>
                  <a:schemeClr val="hlink"/>
                </a:solidFill>
                <a:latin typeface="Arial" panose="020B0604020202020204" pitchFamily="34" charset="0"/>
              </a:rPr>
              <a:t>min_value</a:t>
            </a:r>
            <a:r>
              <a:rPr lang="en-US" altLang="zh-CN" sz="2800" b="1" dirty="0">
                <a:latin typeface="Arial" panose="020B0604020202020204" pitchFamily="34" charset="0"/>
              </a:rPr>
              <a:t>);</a:t>
            </a:r>
            <a:endParaRPr lang="en-US" altLang="zh-CN" sz="2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Arial" panose="020B0604020202020204" pitchFamily="34" charset="0"/>
                <a:sym typeface="Wingdings" panose="05000000000000000000" pitchFamily="2" charset="2"/>
              </a:rPr>
              <a:t>(3) </a:t>
            </a:r>
            <a:r>
              <a:rPr lang="en-US" altLang="zh-CN" sz="2800" b="1" dirty="0">
                <a:latin typeface="Arial" panose="020B0604020202020204" pitchFamily="34" charset="0"/>
              </a:rPr>
              <a:t>int *</a:t>
            </a:r>
            <a:r>
              <a:rPr lang="en-US" altLang="zh-CN" sz="2600" b="1" dirty="0">
                <a:solidFill>
                  <a:srgbClr val="F507F7"/>
                </a:solidFill>
                <a:latin typeface="Arial" panose="020B0604020202020204" pitchFamily="34" charset="0"/>
              </a:rPr>
              <a:t>p=a;</a:t>
            </a:r>
            <a:endParaRPr lang="en-US" altLang="zh-CN" sz="2600" b="1" dirty="0">
              <a:solidFill>
                <a:srgbClr val="F507F7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Arial" panose="020B0604020202020204" pitchFamily="34" charset="0"/>
              </a:rPr>
              <a:t>     max_min_value (</a:t>
            </a:r>
            <a:r>
              <a:rPr lang="en-US" altLang="zh-CN" sz="2600" b="1" dirty="0">
                <a:solidFill>
                  <a:srgbClr val="F507F7"/>
                </a:solidFill>
                <a:latin typeface="Arial" panose="020B0604020202020204" pitchFamily="34" charset="0"/>
              </a:rPr>
              <a:t>p</a:t>
            </a:r>
            <a:r>
              <a:rPr lang="en-US" altLang="zh-CN" sz="2800" b="1" dirty="0">
                <a:latin typeface="Arial" panose="020B0604020202020204" pitchFamily="34" charset="0"/>
              </a:rPr>
              <a:t>,10, </a:t>
            </a:r>
            <a:r>
              <a:rPr lang="en-US" altLang="zh-CN" sz="2800" b="1" dirty="0">
                <a:solidFill>
                  <a:schemeClr val="hlink"/>
                </a:solidFill>
                <a:latin typeface="Arial" panose="020B0604020202020204" pitchFamily="34" charset="0"/>
              </a:rPr>
              <a:t>&amp;max_value,&amp;min_value</a:t>
            </a:r>
            <a:r>
              <a:rPr lang="en-US" altLang="zh-CN" sz="2800" b="1" dirty="0">
                <a:latin typeface="Arial" panose="020B0604020202020204" pitchFamily="34" charset="0"/>
              </a:rPr>
              <a:t>);</a:t>
            </a:r>
            <a:endParaRPr lang="en-US" altLang="zh-CN" sz="2800" b="1" dirty="0">
              <a:latin typeface="Arial" panose="020B0604020202020204" pitchFamily="34" charset="0"/>
            </a:endParaRPr>
          </a:p>
        </p:txBody>
      </p:sp>
      <p:sp>
        <p:nvSpPr>
          <p:cNvPr id="41989" name="Rectangle 4"/>
          <p:cNvSpPr/>
          <p:nvPr/>
        </p:nvSpPr>
        <p:spPr>
          <a:xfrm>
            <a:off x="2463800" y="2767013"/>
            <a:ext cx="9144000" cy="88582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b="1" dirty="0">
                <a:solidFill>
                  <a:schemeClr val="hlink"/>
                </a:solidFill>
                <a:latin typeface="Arial" panose="020B0604020202020204" pitchFamily="34" charset="0"/>
                <a:ea typeface="隶书" pitchFamily="49" charset="-122"/>
              </a:rPr>
              <a:t>函数原型：</a:t>
            </a:r>
            <a:endParaRPr lang="zh-CN" altLang="en-US" sz="2600" b="1" dirty="0">
              <a:solidFill>
                <a:schemeClr val="hlink"/>
              </a:solidFill>
              <a:latin typeface="Arial" panose="020B0604020202020204" pitchFamily="34" charset="0"/>
              <a:ea typeface="隶书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Arial" panose="020B0604020202020204" pitchFamily="34" charset="0"/>
              </a:rPr>
              <a:t>void  max_min_value( </a:t>
            </a:r>
            <a:r>
              <a:rPr lang="en-US" altLang="zh-CN" sz="2600" b="1" dirty="0">
                <a:solidFill>
                  <a:schemeClr val="hlink"/>
                </a:solidFill>
                <a:latin typeface="Arial" panose="020B0604020202020204" pitchFamily="34" charset="0"/>
              </a:rPr>
              <a:t>int x[ ] , int n , int  *max , int  *min</a:t>
            </a:r>
            <a:r>
              <a:rPr lang="en-US" altLang="zh-CN" sz="2600" b="1" dirty="0">
                <a:latin typeface="Arial" panose="020B0604020202020204" pitchFamily="34" charset="0"/>
              </a:rPr>
              <a:t>);</a:t>
            </a:r>
            <a:endParaRPr lang="en-US" altLang="zh-CN" sz="2600" b="1" dirty="0">
              <a:latin typeface="Arial" panose="020B0604020202020204" pitchFamily="34" charset="0"/>
            </a:endParaRPr>
          </a:p>
        </p:txBody>
      </p:sp>
      <p:sp>
        <p:nvSpPr>
          <p:cNvPr id="534533" name="Line 5"/>
          <p:cNvSpPr/>
          <p:nvPr/>
        </p:nvSpPr>
        <p:spPr>
          <a:xfrm>
            <a:off x="6164263" y="1639888"/>
            <a:ext cx="2903537" cy="1584325"/>
          </a:xfrm>
          <a:prstGeom prst="line">
            <a:avLst/>
          </a:prstGeom>
          <a:ln w="38100" cap="flat" cmpd="sng">
            <a:solidFill>
              <a:srgbClr val="F507F7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34534" name="Line 6"/>
          <p:cNvSpPr/>
          <p:nvPr/>
        </p:nvSpPr>
        <p:spPr>
          <a:xfrm>
            <a:off x="7964488" y="1568450"/>
            <a:ext cx="2627312" cy="1584325"/>
          </a:xfrm>
          <a:prstGeom prst="line">
            <a:avLst/>
          </a:prstGeom>
          <a:ln w="38100" cap="flat" cmpd="sng">
            <a:solidFill>
              <a:srgbClr val="F507F7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34535" name="Line 7"/>
          <p:cNvSpPr/>
          <p:nvPr/>
        </p:nvSpPr>
        <p:spPr>
          <a:xfrm>
            <a:off x="3933825" y="1639888"/>
            <a:ext cx="2735263" cy="1655762"/>
          </a:xfrm>
          <a:prstGeom prst="line">
            <a:avLst/>
          </a:prstGeom>
          <a:ln w="38100" cap="flat" cmpd="sng">
            <a:solidFill>
              <a:srgbClr val="F507F7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34536" name="Line 8"/>
          <p:cNvSpPr/>
          <p:nvPr/>
        </p:nvSpPr>
        <p:spPr>
          <a:xfrm>
            <a:off x="4495800" y="1568450"/>
            <a:ext cx="3403600" cy="1655763"/>
          </a:xfrm>
          <a:prstGeom prst="line">
            <a:avLst/>
          </a:prstGeom>
          <a:ln w="38100" cap="flat" cmpd="sng">
            <a:solidFill>
              <a:srgbClr val="F507F7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0">
                                            <p:txEl>
                                              <p:charRg st="67" end="1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34530">
                                            <p:txEl>
                                              <p:charRg st="67" end="1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34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34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34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534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0">
                                            <p:txEl>
                                              <p:charRg st="113" end="1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534530">
                                            <p:txEl>
                                              <p:charRg st="113" end="16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1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534531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1">
                                            <p:txEl>
                                              <p:charRg st="4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534531">
                                            <p:txEl>
                                              <p:charRg st="4" end="4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1">
                                            <p:txEl>
                                              <p:charRg st="42" end="9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34531">
                                            <p:txEl>
                                              <p:charRg st="42" end="9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1">
                                            <p:txEl>
                                              <p:charRg st="93" end="1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34531">
                                            <p:txEl>
                                              <p:charRg st="93" end="14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1">
                                            <p:txEl>
                                              <p:charRg st="146" end="1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534531">
                                            <p:txEl>
                                              <p:charRg st="146" end="16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1">
                                            <p:txEl>
                                              <p:charRg st="162" end="2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534531">
                                            <p:txEl>
                                              <p:charRg st="162" end="2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056D6D-204F-49F7-9834-EE5B5A098A57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8915" name="Rectangle 2"/>
          <p:cNvSpPr/>
          <p:nvPr/>
        </p:nvSpPr>
        <p:spPr>
          <a:xfrm>
            <a:off x="228600" y="228600"/>
            <a:ext cx="10052685" cy="60198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355600" lvl="0" indent="-355600" eaLnBrk="1" hangingPunct="1">
              <a:lnSpc>
                <a:spcPct val="105000"/>
              </a:lnSpc>
              <a:spcAft>
                <a:spcPct val="10000"/>
              </a:spcAft>
              <a:buSzTx/>
            </a:pPr>
            <a:r>
              <a:rPr lang="zh-CN" altLang="en-US" b="1" dirty="0">
                <a:solidFill>
                  <a:srgbClr val="F507F7"/>
                </a:solidFill>
                <a:latin typeface="Arial" panose="020B0604020202020204" pitchFamily="34" charset="0"/>
              </a:rPr>
              <a:t>数组作形参时</a:t>
            </a:r>
            <a:r>
              <a:rPr lang="zh-CN" altLang="en-US" b="1" dirty="0">
                <a:latin typeface="Arial" panose="020B0604020202020204" pitchFamily="34" charset="0"/>
              </a:rPr>
              <a:t>，可省略数组形式参数</a:t>
            </a:r>
            <a:r>
              <a:rPr lang="zh-CN" altLang="en-US" b="1" dirty="0">
                <a:solidFill>
                  <a:srgbClr val="F507F7"/>
                </a:solidFill>
                <a:latin typeface="Arial" panose="020B0604020202020204" pitchFamily="34" charset="0"/>
              </a:rPr>
              <a:t>最外层</a:t>
            </a:r>
            <a:r>
              <a:rPr lang="zh-CN" altLang="en-US" b="1" dirty="0">
                <a:latin typeface="Arial" panose="020B0604020202020204" pitchFamily="34" charset="0"/>
              </a:rPr>
              <a:t>的尺寸</a:t>
            </a:r>
            <a:endParaRPr lang="zh-CN" altLang="en-US" b="1" dirty="0">
              <a:latin typeface="Arial" panose="020B0604020202020204" pitchFamily="34" charset="0"/>
            </a:endParaRPr>
          </a:p>
          <a:p>
            <a:pPr marL="0" lvl="0" indent="457200" eaLnBrk="1" hangingPunct="1">
              <a:lnSpc>
                <a:spcPct val="105000"/>
              </a:lnSpc>
              <a:spcAft>
                <a:spcPct val="10000"/>
              </a:spcAft>
              <a:buSzTx/>
              <a:buNone/>
            </a:pPr>
            <a:r>
              <a:rPr lang="en-US" altLang="zh-CN" b="1" dirty="0">
                <a:latin typeface="Arial" panose="020B0604020202020204" pitchFamily="34" charset="0"/>
              </a:rPr>
              <a:t>void sort1(int a1[],int n);</a:t>
            </a:r>
            <a:endParaRPr lang="en-US" altLang="zh-CN" b="1" dirty="0">
              <a:latin typeface="Arial" panose="020B0604020202020204" pitchFamily="34" charset="0"/>
            </a:endParaRPr>
          </a:p>
          <a:p>
            <a:pPr marL="0" lvl="0" indent="457200" eaLnBrk="1" hangingPunct="1">
              <a:lnSpc>
                <a:spcPct val="105000"/>
              </a:lnSpc>
              <a:spcAft>
                <a:spcPct val="10000"/>
              </a:spcAft>
              <a:buSzTx/>
              <a:buNone/>
            </a:pPr>
            <a:r>
              <a:rPr lang="en-US" altLang="zh-CN" b="1" dirty="0">
                <a:latin typeface="Arial" panose="020B0604020202020204" pitchFamily="34" charset="0"/>
              </a:rPr>
              <a:t>void sort2(int a2[][20],int m,int n);</a:t>
            </a:r>
            <a:endParaRPr lang="en-US" altLang="zh-CN" b="1" dirty="0">
              <a:latin typeface="Arial" panose="020B0604020202020204" pitchFamily="34" charset="0"/>
            </a:endParaRPr>
          </a:p>
          <a:p>
            <a:pPr marL="0" lvl="0" indent="457200" eaLnBrk="1" hangingPunct="1">
              <a:lnSpc>
                <a:spcPct val="105000"/>
              </a:lnSpc>
              <a:spcAft>
                <a:spcPct val="10000"/>
              </a:spcAft>
              <a:buSzTx/>
              <a:buNone/>
            </a:pPr>
            <a:endParaRPr lang="zh-CN" altLang="en-US" b="1" dirty="0">
              <a:latin typeface="Arial" panose="020B0604020202020204" pitchFamily="34" charset="0"/>
            </a:endParaRPr>
          </a:p>
          <a:p>
            <a:pPr marL="355600" lvl="0" indent="-355600" eaLnBrk="1" hangingPunct="1">
              <a:lnSpc>
                <a:spcPct val="105000"/>
              </a:lnSpc>
              <a:spcAft>
                <a:spcPct val="10000"/>
              </a:spcAft>
              <a:buSzTx/>
            </a:pPr>
            <a:r>
              <a:rPr lang="zh-CN" altLang="en-US" b="1" dirty="0"/>
              <a:t>与</a:t>
            </a:r>
            <a:r>
              <a:rPr lang="zh-CN" altLang="en-US" b="1" dirty="0">
                <a:solidFill>
                  <a:srgbClr val="F507F7"/>
                </a:solidFill>
                <a:latin typeface="Arial" panose="020B0604020202020204" pitchFamily="34" charset="0"/>
              </a:rPr>
              <a:t>数组初值</a:t>
            </a:r>
            <a:r>
              <a:rPr lang="zh-CN" altLang="en-US" b="1" dirty="0"/>
              <a:t>一样，省略尺寸的只能是最外层</a:t>
            </a:r>
            <a:endParaRPr lang="zh-CN" altLang="en-US" b="1" dirty="0"/>
          </a:p>
          <a:p>
            <a:pPr marL="812800" lvl="1" indent="-355600" eaLnBrk="1" hangingPunct="1">
              <a:lnSpc>
                <a:spcPct val="105000"/>
              </a:lnSpc>
              <a:spcAft>
                <a:spcPct val="10000"/>
              </a:spcAft>
              <a:buSzTx/>
            </a:pPr>
            <a:r>
              <a:rPr lang="zh-CN" altLang="en-US" b="1" dirty="0"/>
              <a:t>下述函数定义说明符都是错误的</a:t>
            </a:r>
            <a:endParaRPr lang="zh-CN" altLang="en-US" b="1" dirty="0"/>
          </a:p>
          <a:p>
            <a:pPr marL="355600" lvl="0" indent="-355600" eaLnBrk="1" hangingPunct="1">
              <a:buNone/>
            </a:pPr>
            <a:r>
              <a:rPr lang="zh-CN" altLang="en-US" b="1" dirty="0"/>
              <a:t>            </a:t>
            </a:r>
            <a:r>
              <a:rPr lang="en-US" altLang="zh-CN" b="1" dirty="0"/>
              <a:t>int  r ( float z[ ][ ] )</a:t>
            </a:r>
            <a:endParaRPr lang="en-US" altLang="zh-CN" b="1" dirty="0"/>
          </a:p>
          <a:p>
            <a:pPr marL="355600" lvl="0" indent="-355600" eaLnBrk="1" hangingPunct="1">
              <a:buNone/>
            </a:pPr>
            <a:r>
              <a:rPr lang="en-US" altLang="zh-CN" b="1" dirty="0"/>
              <a:t>            int  s ( float z[10][ ] )</a:t>
            </a:r>
            <a:endParaRPr lang="en-US" altLang="zh-CN" b="1" dirty="0"/>
          </a:p>
          <a:p>
            <a:pPr marL="355600" lvl="0" indent="-355600" eaLnBrk="1" hangingPunct="1">
              <a:buNone/>
            </a:pPr>
            <a:r>
              <a:rPr lang="en-US" altLang="zh-CN" b="1" dirty="0"/>
              <a:t>            int  t ( float z[10][ ][20] ) </a:t>
            </a:r>
            <a:endParaRPr lang="en-US" altLang="zh-CN" b="1" dirty="0"/>
          </a:p>
          <a:p>
            <a:pPr marL="355600" lvl="0" indent="-355600" eaLnBrk="1" hangingPunct="1">
              <a:lnSpc>
                <a:spcPct val="105000"/>
              </a:lnSpc>
              <a:spcAft>
                <a:spcPct val="10000"/>
              </a:spcAft>
              <a:buSzTx/>
              <a:buNone/>
            </a:pPr>
            <a:endParaRPr lang="en-US" altLang="zh-CN" sz="3500" b="1" dirty="0">
              <a:latin typeface="Arial" panose="020B0604020202020204" pitchFamily="34" charset="0"/>
            </a:endParaRPr>
          </a:p>
        </p:txBody>
      </p:sp>
      <p:grpSp>
        <p:nvGrpSpPr>
          <p:cNvPr id="38916" name="Group 3"/>
          <p:cNvGrpSpPr/>
          <p:nvPr/>
        </p:nvGrpSpPr>
        <p:grpSpPr>
          <a:xfrm>
            <a:off x="7391400" y="4343400"/>
            <a:ext cx="840740" cy="1437005"/>
            <a:chOff x="975" y="1207"/>
            <a:chExt cx="1315" cy="681"/>
          </a:xfrm>
        </p:grpSpPr>
        <p:sp>
          <p:nvSpPr>
            <p:cNvPr id="38917" name="Line 4"/>
            <p:cNvSpPr/>
            <p:nvPr/>
          </p:nvSpPr>
          <p:spPr>
            <a:xfrm>
              <a:off x="975" y="1298"/>
              <a:ext cx="1315" cy="590"/>
            </a:xfrm>
            <a:prstGeom prst="line">
              <a:avLst/>
            </a:prstGeom>
            <a:ln w="57150" cap="flat" cmpd="sng">
              <a:solidFill>
                <a:srgbClr val="F507F7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18" name="Line 5"/>
            <p:cNvSpPr/>
            <p:nvPr/>
          </p:nvSpPr>
          <p:spPr>
            <a:xfrm flipH="1">
              <a:off x="975" y="1207"/>
              <a:ext cx="1225" cy="681"/>
            </a:xfrm>
            <a:prstGeom prst="line">
              <a:avLst/>
            </a:prstGeom>
            <a:ln w="57150" cap="flat" cmpd="sng">
              <a:solidFill>
                <a:srgbClr val="F507F7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1D3E219-5B3B-42B3-967C-896DD9172823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7554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0" y="609283"/>
            <a:ext cx="8229600" cy="11430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§9.1.4   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+mj-cs"/>
              </a:rPr>
              <a:t>结构体作参数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+mj-cs"/>
            </a:endParaRPr>
          </a:p>
        </p:txBody>
      </p:sp>
      <p:sp>
        <p:nvSpPr>
          <p:cNvPr id="43012" name="Rectangle 3"/>
          <p:cNvSpPr>
            <a:spLocks noGrp="1"/>
          </p:cNvSpPr>
          <p:nvPr>
            <p:ph idx="1"/>
          </p:nvPr>
        </p:nvSpPr>
        <p:spPr>
          <a:xfrm>
            <a:off x="228600" y="2285683"/>
            <a:ext cx="10461625" cy="2592387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10000"/>
              </a:lnSpc>
            </a:pPr>
            <a:r>
              <a:rPr lang="zh-CN" altLang="en-US" b="1" dirty="0">
                <a:effectLst/>
                <a:latin typeface="Arial" panose="020B0604020202020204" pitchFamily="34" charset="0"/>
              </a:rPr>
              <a:t>在函数之间，通过参数传递</a:t>
            </a:r>
            <a:r>
              <a:rPr lang="en-US" altLang="zh-CN" b="1" dirty="0">
                <a:effectLst/>
                <a:latin typeface="Arial" panose="020B0604020202020204" pitchFamily="34" charset="0"/>
              </a:rPr>
              <a:t> </a:t>
            </a:r>
            <a:r>
              <a:rPr lang="zh-CN" altLang="en-US" b="1" dirty="0">
                <a:effectLst/>
                <a:latin typeface="Arial" panose="020B0604020202020204" pitchFamily="34" charset="0"/>
              </a:rPr>
              <a:t>结构体值</a:t>
            </a:r>
            <a:r>
              <a:rPr lang="en-US" altLang="zh-CN" b="1" dirty="0">
                <a:effectLst/>
                <a:latin typeface="Arial" panose="020B0604020202020204" pitchFamily="34" charset="0"/>
              </a:rPr>
              <a:t> </a:t>
            </a:r>
            <a:r>
              <a:rPr lang="zh-CN" altLang="en-US" b="1" dirty="0">
                <a:effectLst/>
                <a:latin typeface="Arial" panose="020B0604020202020204" pitchFamily="34" charset="0"/>
              </a:rPr>
              <a:t>也有两种方法</a:t>
            </a:r>
            <a:endParaRPr lang="zh-CN" altLang="en-US" b="1" dirty="0">
              <a:effectLst/>
              <a:latin typeface="Arial" panose="020B0604020202020204" pitchFamily="34" charset="0"/>
            </a:endParaRPr>
          </a:p>
          <a:p>
            <a:pPr marL="0" lvl="1" eaLnBrk="1" hangingPunct="1">
              <a:lnSpc>
                <a:spcPct val="110000"/>
              </a:lnSpc>
              <a:buNone/>
            </a:pPr>
            <a:r>
              <a:rPr lang="zh-CN" altLang="en-US" sz="3200" b="1" dirty="0">
                <a:solidFill>
                  <a:schemeClr val="hlink"/>
                </a:solidFill>
                <a:effectLst/>
                <a:latin typeface="Calibri" panose="020F0502020204030204" charset="0"/>
              </a:rPr>
              <a:t>①</a:t>
            </a:r>
            <a:r>
              <a:rPr lang="zh-CN" altLang="en-US" sz="3200" b="1" dirty="0">
                <a:effectLst/>
                <a:latin typeface="Arial" panose="020B0604020202020204" pitchFamily="34" charset="0"/>
              </a:rPr>
              <a:t>结构体</a:t>
            </a:r>
            <a:r>
              <a:rPr lang="zh-CN" altLang="en-US" sz="32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指针</a:t>
            </a:r>
            <a:r>
              <a:rPr lang="zh-CN" altLang="en-US" sz="3200" b="1" dirty="0">
                <a:effectLst/>
                <a:latin typeface="Arial" panose="020B0604020202020204" pitchFamily="34" charset="0"/>
              </a:rPr>
              <a:t>作参数</a:t>
            </a:r>
            <a:endParaRPr lang="zh-CN" altLang="en-US" sz="3200" b="1" dirty="0">
              <a:effectLst/>
              <a:latin typeface="Arial" panose="020B0604020202020204" pitchFamily="34" charset="0"/>
            </a:endParaRPr>
          </a:p>
          <a:p>
            <a:pPr marL="0" lvl="1" eaLnBrk="1" hangingPunct="1">
              <a:lnSpc>
                <a:spcPct val="110000"/>
              </a:lnSpc>
              <a:buNone/>
            </a:pPr>
            <a:r>
              <a:rPr lang="zh-CN" altLang="en-US" sz="3200" b="1" dirty="0">
                <a:solidFill>
                  <a:schemeClr val="hlink"/>
                </a:solidFill>
                <a:effectLst/>
                <a:latin typeface="Calibri" panose="020F0502020204030204" charset="0"/>
                <a:sym typeface="+mn-ea"/>
              </a:rPr>
              <a:t>②</a:t>
            </a:r>
            <a:r>
              <a:rPr lang="zh-CN" altLang="en-US" sz="3200" b="1" dirty="0">
                <a:effectLst/>
                <a:latin typeface="Arial" panose="020B0604020202020204" pitchFamily="34" charset="0"/>
                <a:sym typeface="+mn-ea"/>
              </a:rPr>
              <a:t>结构体</a:t>
            </a:r>
            <a:r>
              <a:rPr lang="zh-CN" altLang="en-US" sz="3200" b="1" dirty="0">
                <a:solidFill>
                  <a:schemeClr val="hlink"/>
                </a:solidFill>
                <a:effectLst/>
                <a:latin typeface="Arial" panose="020B0604020202020204" pitchFamily="34" charset="0"/>
                <a:sym typeface="+mn-ea"/>
              </a:rPr>
              <a:t>变量</a:t>
            </a:r>
            <a:r>
              <a:rPr lang="zh-CN" altLang="en-US" sz="3200" b="1" dirty="0">
                <a:effectLst/>
                <a:latin typeface="Arial" panose="020B0604020202020204" pitchFamily="34" charset="0"/>
                <a:sym typeface="+mn-ea"/>
              </a:rPr>
              <a:t>作参数</a:t>
            </a:r>
            <a:endParaRPr lang="zh-CN" altLang="en-US" sz="3200" b="1" dirty="0">
              <a:effectLst/>
              <a:latin typeface="Arial" panose="020B0604020202020204" pitchFamily="34" charset="0"/>
            </a:endParaRPr>
          </a:p>
          <a:p>
            <a:pPr lvl="1" eaLnBrk="1" hangingPunct="1">
              <a:lnSpc>
                <a:spcPct val="110000"/>
              </a:lnSpc>
              <a:buNone/>
            </a:pPr>
            <a:endParaRPr lang="zh-CN" altLang="en-US" sz="3200" b="1" dirty="0"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灯片编号占位符 3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78AEDDC-EF89-4750-A812-129B633ECA18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2722" name="Rectangle 2"/>
          <p:cNvSpPr>
            <a:spLocks noChangeArrowheads="1"/>
          </p:cNvSpPr>
          <p:nvPr/>
        </p:nvSpPr>
        <p:spPr bwMode="auto">
          <a:xfrm>
            <a:off x="152400" y="3276600"/>
            <a:ext cx="10742930" cy="267652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函数原型：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void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input_achievement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( </a:t>
            </a:r>
            <a:r>
              <a:rPr kumimoji="0" lang="en-US" altLang="zh-CN" sz="2800" b="1" i="0" u="none" strike="noStrike" kern="1200" cap="none" spc="0" normalizeH="0" baseline="0" dirty="0">
                <a:solidFill>
                  <a:srgbClr val="FFFF00"/>
                </a:solidFill>
                <a:effectLst/>
                <a:latin typeface="+mn-lt"/>
                <a:ea typeface="+mn-ea"/>
                <a:cs typeface="+mn-cs"/>
              </a:rPr>
              <a:t>struct achievement *p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, int i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)</a:t>
            </a:r>
            <a:r>
              <a:rPr lang="en-US" altLang="zh-CN" sz="2800" dirty="0">
                <a:solidFill>
                  <a:schemeClr val="hlink"/>
                </a:solidFill>
                <a:sym typeface="+mn-ea"/>
              </a:rPr>
              <a:t>;</a:t>
            </a:r>
            <a:endParaRPr lang="en-US" altLang="zh-CN" sz="2800" b="1" dirty="0">
              <a:solidFill>
                <a:schemeClr val="hlink"/>
              </a:solidFill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函数调用：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宋体" panose="02010600030101010101" pitchFamily="2" charset="-122"/>
                <a:cs typeface="+mn-cs"/>
              </a:rPr>
              <a:t>for ( i=0;i&lt;N;i++ )	</a:t>
            </a:r>
            <a:endParaRPr kumimoji="0" lang="en-US" altLang="zh-CN" sz="28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宋体" panose="02010600030101010101" pitchFamily="2" charset="-122"/>
                <a:cs typeface="+mn-cs"/>
              </a:rPr>
              <a:t>  input_achievement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507F7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dirty="0">
                <a:solidFill>
                  <a:srgbClr val="F507F7"/>
                </a:solidFill>
                <a:effectLst/>
                <a:latin typeface="+mn-lt"/>
                <a:ea typeface="+mn-ea"/>
                <a:cs typeface="+mn-cs"/>
              </a:rPr>
              <a:t>&amp;</a:t>
            </a:r>
            <a:r>
              <a:rPr kumimoji="0" lang="en-US" altLang="zh-CN" sz="2800" b="1" i="0" u="none" strike="noStrike" kern="1200" cap="none" spc="0" normalizeH="0" baseline="0" dirty="0">
                <a:solidFill>
                  <a:srgbClr val="FFFF00"/>
                </a:solidFill>
                <a:effectLst/>
                <a:latin typeface="+mn-lt"/>
                <a:ea typeface="+mn-ea"/>
                <a:cs typeface="+mn-cs"/>
              </a:rPr>
              <a:t>tab_achievement[i]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lang="en-US" altLang="zh-CN" sz="2800" noProof="0" dirty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sym typeface="+mn-ea"/>
              </a:rPr>
              <a:t>,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宋体" panose="02010600030101010101" pitchFamily="2" charset="-122"/>
                <a:cs typeface="+mn-cs"/>
              </a:rPr>
              <a:t>) </a:t>
            </a:r>
            <a:r>
              <a:rPr lang="en-US" altLang="zh-CN" sz="280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sym typeface="+mn-ea"/>
              </a:rPr>
              <a:t>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2724" name="Rectangle 4"/>
          <p:cNvSpPr/>
          <p:nvPr/>
        </p:nvSpPr>
        <p:spPr>
          <a:xfrm>
            <a:off x="381000" y="609600"/>
            <a:ext cx="5658485" cy="20275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  <a:buClr>
                <a:schemeClr val="tx1"/>
              </a:buClr>
              <a:buSzTx/>
              <a:buFontTx/>
              <a:buNone/>
            </a:pPr>
            <a:r>
              <a:rPr lang="en-US" altLang="zh-CN" sz="2800" b="1" dirty="0">
                <a:solidFill>
                  <a:schemeClr val="tx1"/>
                </a:solidFill>
              </a:rPr>
              <a:t>struct achievement{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  <a:buClr>
                <a:schemeClr val="tx1"/>
              </a:buClr>
              <a:buSzTx/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</a:rPr>
              <a:t>	</a:t>
            </a:r>
            <a:r>
              <a:rPr lang="en-US" altLang="zh-CN" sz="2800" b="1" dirty="0">
                <a:solidFill>
                  <a:schemeClr val="tx1"/>
                </a:solidFill>
              </a:rPr>
              <a:t>int number ;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  <a:buClr>
                <a:schemeClr val="tx1"/>
              </a:buClr>
              <a:buSzTx/>
              <a:buFontTx/>
              <a:buNone/>
            </a:pPr>
            <a:r>
              <a:rPr lang="en-US" altLang="zh-CN" sz="2800" b="1" dirty="0">
                <a:solidFill>
                  <a:schemeClr val="tx1"/>
                </a:solidFill>
              </a:rPr>
              <a:t>	char   name[L];	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  <a:buClr>
                <a:schemeClr val="tx1"/>
              </a:buClr>
              <a:buSzTx/>
              <a:buFontTx/>
              <a:buNone/>
            </a:pPr>
            <a:r>
              <a:rPr lang="en-US" altLang="zh-CN" sz="2800" b="1" dirty="0">
                <a:solidFill>
                  <a:schemeClr val="tx1"/>
                </a:solidFill>
              </a:rPr>
              <a:t>	int achieve ;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  <a:buClr>
                <a:schemeClr val="tx1"/>
              </a:buClr>
              <a:buSzTx/>
              <a:buFontTx/>
              <a:buNone/>
            </a:pPr>
            <a:r>
              <a:rPr lang="en-US" altLang="zh-CN" sz="2800" b="1" dirty="0">
                <a:solidFill>
                  <a:schemeClr val="tx1"/>
                </a:solidFill>
              </a:rPr>
              <a:t>}</a:t>
            </a:r>
            <a:r>
              <a:rPr lang="en-US" altLang="zh-CN" sz="2800" b="1" dirty="0">
                <a:solidFill>
                  <a:schemeClr val="folHlink"/>
                </a:solidFill>
                <a:sym typeface="+mn-ea"/>
              </a:rPr>
              <a:t> </a:t>
            </a:r>
            <a:r>
              <a:rPr lang="en-US" altLang="zh-CN" sz="2800" b="1" dirty="0">
                <a:solidFill>
                  <a:schemeClr val="hlink"/>
                </a:solidFill>
                <a:sym typeface="+mn-ea"/>
              </a:rPr>
              <a:t>tab_achievement [N]</a:t>
            </a:r>
            <a:r>
              <a:rPr lang="en-US" altLang="zh-CN" sz="2800" b="1" dirty="0">
                <a:solidFill>
                  <a:schemeClr val="tx1"/>
                </a:solidFill>
              </a:rPr>
              <a:t>;</a:t>
            </a:r>
            <a:endParaRPr lang="en-US" altLang="zh-CN" sz="2800" b="1" dirty="0">
              <a:solidFill>
                <a:schemeClr val="hlink"/>
              </a:solidFill>
            </a:endParaRPr>
          </a:p>
        </p:txBody>
      </p:sp>
      <p:sp>
        <p:nvSpPr>
          <p:cNvPr id="46085" name="Rectangle 5"/>
          <p:cNvSpPr/>
          <p:nvPr/>
        </p:nvSpPr>
        <p:spPr>
          <a:xfrm>
            <a:off x="0" y="12700"/>
            <a:ext cx="297751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hlink"/>
                </a:solidFill>
                <a:latin typeface="Calibri" panose="020F0502020204030204" charset="0"/>
              </a:rPr>
              <a:t>①</a:t>
            </a:r>
            <a:r>
              <a:rPr lang="zh-CN" altLang="en-US" sz="2400" b="1" dirty="0">
                <a:latin typeface="Arial" panose="020B0604020202020204" pitchFamily="34" charset="0"/>
              </a:rPr>
              <a:t>结构体</a:t>
            </a:r>
            <a:r>
              <a:rPr lang="zh-CN" altLang="en-US" sz="2400" b="1" dirty="0">
                <a:solidFill>
                  <a:schemeClr val="hlink"/>
                </a:solidFill>
                <a:latin typeface="Arial" panose="020B0604020202020204" pitchFamily="34" charset="0"/>
              </a:rPr>
              <a:t>指针</a:t>
            </a:r>
            <a:r>
              <a:rPr lang="zh-CN" altLang="en-US" sz="2400" b="1" dirty="0">
                <a:latin typeface="Arial" panose="020B0604020202020204" pitchFamily="34" charset="0"/>
              </a:rPr>
              <a:t>作参数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971800" y="12700"/>
            <a:ext cx="320294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【例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8.1】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教材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p215 </a:t>
            </a:r>
            <a:endParaRPr lang="en-US" altLang="zh-CN" sz="24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灯片编号占位符 3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0A2D55D-AA18-48DD-BDC0-3184252F3757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3746" name="Rectangle 2"/>
          <p:cNvSpPr>
            <a:spLocks noChangeArrowheads="1"/>
          </p:cNvSpPr>
          <p:nvPr/>
        </p:nvSpPr>
        <p:spPr bwMode="auto">
          <a:xfrm>
            <a:off x="152400" y="3192780"/>
            <a:ext cx="9591040" cy="177101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函数原型：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void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output_achievement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( </a:t>
            </a:r>
            <a:r>
              <a:rPr kumimoji="0" lang="en-US" altLang="zh-CN" sz="2800" b="1" i="0" u="none" strike="noStrike" kern="1200" cap="none" spc="0" normalizeH="0" baseline="0" dirty="0">
                <a:solidFill>
                  <a:srgbClr val="FFFF00"/>
                </a:solidFill>
                <a:effectLst/>
                <a:latin typeface="+mn-lt"/>
                <a:ea typeface="+mn-ea"/>
                <a:cs typeface="+mn-cs"/>
              </a:rPr>
              <a:t>struct achievement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lang="en-US" altLang="zh-CN" sz="2800" dirty="0">
                <a:solidFill>
                  <a:srgbClr val="FFFF00"/>
                </a:solidFill>
                <a:effectLst/>
                <a:latin typeface="+mn-lt"/>
                <a:ea typeface="+mn-ea"/>
                <a:sym typeface="+mn-ea"/>
              </a:rPr>
              <a:t>stu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)</a:t>
            </a:r>
            <a:r>
              <a:rPr lang="en-US" altLang="zh-CN" sz="2800" dirty="0">
                <a:solidFill>
                  <a:schemeClr val="hlink"/>
                </a:solidFill>
                <a:sym typeface="+mn-ea"/>
              </a:rPr>
              <a:t>;</a:t>
            </a:r>
            <a:endParaRPr lang="en-US" altLang="zh-CN" sz="2800" b="1" dirty="0">
              <a:solidFill>
                <a:schemeClr val="hlink"/>
              </a:solidFill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函数调用：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5061" name="Rectangle 5"/>
          <p:cNvSpPr/>
          <p:nvPr/>
        </p:nvSpPr>
        <p:spPr>
          <a:xfrm>
            <a:off x="152400" y="44450"/>
            <a:ext cx="374459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hlink"/>
                </a:solidFill>
                <a:latin typeface="Calibri" panose="020F0502020204030204" charset="0"/>
              </a:rPr>
              <a:t>②</a:t>
            </a:r>
            <a:r>
              <a:rPr lang="zh-CN" altLang="en-US" sz="2400" b="1" dirty="0">
                <a:solidFill>
                  <a:schemeClr val="hlink"/>
                </a:solidFill>
                <a:latin typeface="Arial" panose="020B0604020202020204" pitchFamily="34" charset="0"/>
              </a:rPr>
              <a:t>结构体变量</a:t>
            </a:r>
            <a:r>
              <a:rPr lang="zh-CN" altLang="en-US" sz="2400" b="1" dirty="0">
                <a:latin typeface="Arial" panose="020B0604020202020204" pitchFamily="34" charset="0"/>
              </a:rPr>
              <a:t>作参数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543750" name="Text Box 6"/>
          <p:cNvSpPr txBox="1"/>
          <p:nvPr/>
        </p:nvSpPr>
        <p:spPr>
          <a:xfrm>
            <a:off x="152400" y="4953000"/>
            <a:ext cx="9867900" cy="1383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algn="l" eaLnBrk="1" hangingPunct="1">
              <a:buClrTx/>
              <a:buSzTx/>
              <a:buFontTx/>
              <a:buNone/>
              <a:defRPr/>
            </a:pPr>
            <a:r>
              <a:rPr lang="en-US" altLang="zh-CN" sz="2800" b="1" noProof="0" dirty="0" err="1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rPr>
              <a:t>output_achievement(</a:t>
            </a:r>
            <a:r>
              <a:rPr lang="en-US" altLang="zh-CN" sz="2800" b="1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rPr>
              <a:t>stu1</a:t>
            </a:r>
            <a:r>
              <a:rPr lang="en-US" altLang="zh-CN" sz="2800" b="1" noProof="0" dirty="0" err="1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rPr>
              <a:t>); </a:t>
            </a:r>
            <a:r>
              <a:rPr lang="zh-CN" altLang="en-US" sz="2800" b="1" noProof="0" dirty="0" err="1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rPr>
              <a:t>或</a:t>
            </a:r>
            <a:endParaRPr lang="en-US" altLang="zh-CN" sz="2800" b="1" noProof="0" dirty="0" err="1">
              <a:ln>
                <a:noFill/>
              </a:ln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ea typeface="宋体" panose="02010600030101010101" pitchFamily="2" charset="-122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 b="1" noProof="0" dirty="0" err="1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宋体" panose="02010600030101010101" pitchFamily="2" charset="-122"/>
                <a:sym typeface="+mn-ea"/>
              </a:rPr>
              <a:t>for ( i=0;i&lt;N;i++ )	</a:t>
            </a:r>
            <a:endParaRPr kumimoji="0" lang="en-US" altLang="zh-CN" sz="28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      </a:t>
            </a:r>
            <a:r>
              <a:rPr lang="en-US" altLang="zh-CN" sz="2800" b="1" noProof="0" dirty="0" err="1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宋体" panose="02010600030101010101" pitchFamily="2" charset="-122"/>
                <a:sym typeface="+mn-ea"/>
              </a:rPr>
              <a:t>  input_achievement</a:t>
            </a:r>
            <a:r>
              <a:rPr lang="en-US" altLang="zh-CN" sz="2800" b="1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宋体" panose="02010600030101010101" pitchFamily="2" charset="-122"/>
                <a:sym typeface="+mn-ea"/>
              </a:rPr>
              <a:t>(</a:t>
            </a:r>
            <a:r>
              <a:rPr lang="en-US" altLang="zh-CN" sz="2800" b="1" dirty="0">
                <a:solidFill>
                  <a:srgbClr val="FFFF00"/>
                </a:solidFill>
                <a:sym typeface="+mn-ea"/>
              </a:rPr>
              <a:t>tab_achievement[i]</a:t>
            </a:r>
            <a:r>
              <a:rPr lang="en-US" altLang="zh-CN" sz="2800" b="1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宋体" panose="02010600030101010101" pitchFamily="2" charset="-122"/>
                <a:sym typeface="+mn-ea"/>
              </a:rPr>
              <a:t>) </a:t>
            </a:r>
            <a:r>
              <a:rPr lang="en-US" altLang="zh-CN" sz="2800" b="1" noProof="0" dirty="0" err="1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sym typeface="+mn-ea"/>
              </a:rPr>
              <a:t>;</a:t>
            </a:r>
            <a:endParaRPr lang="en-US" altLang="zh-CN" sz="2800" b="1" noProof="0" dirty="0" err="1">
              <a:ln>
                <a:noFill/>
              </a:ln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42724" name="Rectangle 4"/>
          <p:cNvSpPr/>
          <p:nvPr/>
        </p:nvSpPr>
        <p:spPr>
          <a:xfrm>
            <a:off x="381000" y="609600"/>
            <a:ext cx="4180205" cy="20275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  <a:buClr>
                <a:schemeClr val="tx1"/>
              </a:buClr>
              <a:buSzTx/>
              <a:buFontTx/>
              <a:buNone/>
            </a:pPr>
            <a:r>
              <a:rPr lang="en-US" altLang="zh-CN" sz="2800" b="1" dirty="0">
                <a:solidFill>
                  <a:schemeClr val="tx1"/>
                </a:solidFill>
              </a:rPr>
              <a:t>struct achievement{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  <a:buClr>
                <a:schemeClr val="tx1"/>
              </a:buClr>
              <a:buSzTx/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</a:rPr>
              <a:t>	</a:t>
            </a:r>
            <a:r>
              <a:rPr lang="en-US" altLang="zh-CN" sz="2800" b="1" dirty="0">
                <a:solidFill>
                  <a:schemeClr val="tx1"/>
                </a:solidFill>
              </a:rPr>
              <a:t>int number ;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  <a:buClr>
                <a:schemeClr val="tx1"/>
              </a:buClr>
              <a:buSzTx/>
              <a:buFontTx/>
              <a:buNone/>
            </a:pPr>
            <a:r>
              <a:rPr lang="en-US" altLang="zh-CN" sz="2800" b="1" dirty="0">
                <a:solidFill>
                  <a:schemeClr val="tx1"/>
                </a:solidFill>
              </a:rPr>
              <a:t>	char   name[L];	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  <a:buClr>
                <a:schemeClr val="tx1"/>
              </a:buClr>
              <a:buSzTx/>
              <a:buFontTx/>
              <a:buNone/>
            </a:pPr>
            <a:r>
              <a:rPr lang="en-US" altLang="zh-CN" sz="2800" b="1" dirty="0">
                <a:solidFill>
                  <a:schemeClr val="tx1"/>
                </a:solidFill>
              </a:rPr>
              <a:t>	int achieve ;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  <a:buClr>
                <a:schemeClr val="tx1"/>
              </a:buClr>
              <a:buSzTx/>
              <a:buFontTx/>
              <a:buNone/>
            </a:pPr>
            <a:r>
              <a:rPr lang="en-US" altLang="zh-CN" sz="2800" b="1" dirty="0">
                <a:solidFill>
                  <a:schemeClr val="tx1"/>
                </a:solidFill>
              </a:rPr>
              <a:t>}</a:t>
            </a:r>
            <a:r>
              <a:rPr lang="en-US" altLang="zh-CN" sz="2800" b="1" dirty="0">
                <a:solidFill>
                  <a:schemeClr val="hlink"/>
                </a:solidFill>
                <a:sym typeface="+mn-ea"/>
              </a:rPr>
              <a:t>stu1</a:t>
            </a:r>
            <a:r>
              <a:rPr lang="en-US" altLang="zh-CN" sz="2800" b="1" dirty="0">
                <a:solidFill>
                  <a:schemeClr val="tx1"/>
                </a:solidFill>
              </a:rPr>
              <a:t>;</a:t>
            </a:r>
            <a:endParaRPr lang="en-US" altLang="zh-CN" sz="2800" b="1" dirty="0">
              <a:solidFill>
                <a:schemeClr val="hlin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370EDF5-AD7E-4294-B063-07ADBB6740D1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107" name="Rectangle 2"/>
          <p:cNvSpPr>
            <a:spLocks noGrp="1"/>
          </p:cNvSpPr>
          <p:nvPr>
            <p:ph type="title"/>
          </p:nvPr>
        </p:nvSpPr>
        <p:spPr>
          <a:xfrm>
            <a:off x="76200" y="0"/>
            <a:ext cx="3912235" cy="69215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b="1" dirty="0">
                <a:solidFill>
                  <a:srgbClr val="FFC000"/>
                </a:solidFill>
                <a:effectLst/>
                <a:latin typeface="宋体" panose="02010600030101010101" pitchFamily="2" charset="-122"/>
              </a:rPr>
              <a:t>§9.2  </a:t>
            </a:r>
            <a:r>
              <a:rPr lang="zh-CN" altLang="en-US" b="1" dirty="0">
                <a:solidFill>
                  <a:srgbClr val="FFC000"/>
                </a:solidFill>
                <a:effectLst/>
                <a:latin typeface="宋体" panose="02010600030101010101" pitchFamily="2" charset="-122"/>
              </a:rPr>
              <a:t>函数值</a:t>
            </a:r>
            <a:endParaRPr lang="zh-CN" altLang="en-US" b="1" dirty="0">
              <a:solidFill>
                <a:srgbClr val="FFC000"/>
              </a:solidFill>
              <a:effectLst/>
              <a:latin typeface="宋体" panose="02010600030101010101" pitchFamily="2" charset="-122"/>
            </a:endParaRPr>
          </a:p>
        </p:txBody>
      </p:sp>
      <p:sp>
        <p:nvSpPr>
          <p:cNvPr id="16388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524000"/>
            <a:ext cx="5637530" cy="12319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函数原型：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类型名  *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函数名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形参列表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7109" name="Rectangle 4"/>
          <p:cNvSpPr/>
          <p:nvPr/>
        </p:nvSpPr>
        <p:spPr>
          <a:xfrm>
            <a:off x="152400" y="762000"/>
            <a:ext cx="423037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buNone/>
            </a:pPr>
            <a:r>
              <a:rPr lang="en-US" altLang="zh-CN" b="1" dirty="0">
                <a:latin typeface="隶书" pitchFamily="49" charset="-122"/>
                <a:ea typeface="隶书" pitchFamily="49" charset="-122"/>
              </a:rPr>
              <a:t>9.2.1 </a:t>
            </a:r>
            <a:r>
              <a:rPr lang="zh-CN" altLang="en-US" b="1" dirty="0">
                <a:latin typeface="隶书" pitchFamily="49" charset="-122"/>
                <a:ea typeface="隶书" pitchFamily="49" charset="-122"/>
              </a:rPr>
              <a:t>返回指针的函数</a:t>
            </a:r>
            <a:endParaRPr lang="zh-CN" altLang="en-US" b="1" dirty="0"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2" name="Rectangle 2"/>
          <p:cNvSpPr>
            <a:spLocks noGrp="1"/>
          </p:cNvSpPr>
          <p:nvPr/>
        </p:nvSpPr>
        <p:spPr>
          <a:xfrm>
            <a:off x="228600" y="2895600"/>
            <a:ext cx="6414135" cy="30048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zh-CN" sz="3100" b="1" dirty="0">
                <a:solidFill>
                  <a:schemeClr val="hlink"/>
                </a:solidFill>
                <a:effectLst/>
              </a:rPr>
              <a:t>float   *</a:t>
            </a:r>
            <a:r>
              <a:rPr lang="en-US" altLang="zh-CN" sz="3100" b="1" dirty="0">
                <a:effectLst/>
              </a:rPr>
              <a:t>f ( int x , int y )</a:t>
            </a:r>
            <a:endParaRPr lang="en-US" altLang="zh-CN" sz="3100" b="1" dirty="0">
              <a:effectLst/>
            </a:endParaRPr>
          </a:p>
          <a:p>
            <a:pPr eaLnBrk="1" hangingPunct="1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zh-CN" sz="3100" b="1" dirty="0">
                <a:effectLst/>
              </a:rPr>
              <a:t>{</a:t>
            </a:r>
            <a:r>
              <a:rPr lang="zh-CN" altLang="en-US" sz="3100" b="1" dirty="0">
                <a:effectLst/>
              </a:rPr>
              <a:t>	  </a:t>
            </a:r>
            <a:r>
              <a:rPr lang="en-US" altLang="zh-CN" sz="3100" b="1" dirty="0">
                <a:effectLst/>
              </a:rPr>
              <a:t>	</a:t>
            </a:r>
            <a:r>
              <a:rPr lang="en-US" altLang="zh-CN" sz="3100" b="1" dirty="0">
                <a:solidFill>
                  <a:schemeClr val="tx1"/>
                </a:solidFill>
                <a:effectLst/>
              </a:rPr>
              <a:t>float  u , *p=&amp;u;</a:t>
            </a:r>
            <a:endParaRPr lang="en-US" altLang="zh-CN" sz="3100" b="1" dirty="0">
              <a:solidFill>
                <a:schemeClr val="tx1"/>
              </a:solidFill>
              <a:effectLst/>
            </a:endParaRPr>
          </a:p>
          <a:p>
            <a:pPr lvl="2" eaLnBrk="1" hangingPunct="1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zh-CN" sz="3100" b="1" dirty="0">
                <a:solidFill>
                  <a:schemeClr val="tx1"/>
                </a:solidFill>
                <a:effectLst/>
              </a:rPr>
              <a:t>//……</a:t>
            </a:r>
            <a:endParaRPr lang="en-US" altLang="zh-CN" sz="3100" b="1" dirty="0">
              <a:solidFill>
                <a:schemeClr val="tx1"/>
              </a:solidFill>
              <a:effectLst/>
            </a:endParaRPr>
          </a:p>
          <a:p>
            <a:pPr marL="457200" lvl="3" indent="457200" algn="l" defTabSz="914400" eaLnBrk="1" hangingPunct="1">
              <a:spcAft>
                <a:spcPts val="600"/>
              </a:spcAft>
              <a:buSzTx/>
              <a:buNone/>
              <a:defRPr/>
            </a:pPr>
            <a:r>
              <a:rPr lang="en-US" altLang="zh-CN" sz="3100" b="1" dirty="0">
                <a:solidFill>
                  <a:schemeClr val="tx1"/>
                </a:solidFill>
                <a:effectLst/>
              </a:rPr>
              <a:t>return  p; </a:t>
            </a:r>
            <a:endParaRPr lang="en-US" altLang="zh-CN" sz="3100" b="1" dirty="0">
              <a:solidFill>
                <a:schemeClr val="tx1"/>
              </a:solidFill>
              <a:effectLst/>
            </a:endParaRPr>
          </a:p>
          <a:p>
            <a:pPr marL="0" lvl="2" indent="0" algn="l" defTabSz="914400" eaLnBrk="1" hangingPunct="1">
              <a:spcAft>
                <a:spcPts val="600"/>
              </a:spcAft>
              <a:buSzTx/>
              <a:buNone/>
              <a:defRPr/>
            </a:pPr>
            <a:r>
              <a:rPr lang="en-US" altLang="zh-CN" sz="3100" b="1" dirty="0">
                <a:solidFill>
                  <a:schemeClr val="hlink"/>
                </a:solidFill>
                <a:effectLst/>
              </a:rPr>
              <a:t> </a:t>
            </a:r>
            <a:r>
              <a:rPr lang="en-US" altLang="zh-CN" sz="3100" b="1" dirty="0">
                <a:effectLst/>
              </a:rPr>
              <a:t>}</a:t>
            </a:r>
            <a:r>
              <a:rPr lang="en-US" altLang="zh-CN" sz="3100" dirty="0">
                <a:solidFill>
                  <a:schemeClr val="hlink"/>
                </a:solidFill>
                <a:effectLst/>
                <a:sym typeface="+mn-ea"/>
              </a:rPr>
              <a:t> </a:t>
            </a:r>
            <a:endParaRPr lang="en-US" altLang="zh-CN" sz="3100" dirty="0">
              <a:solidFill>
                <a:schemeClr val="hlink"/>
              </a:solidFill>
              <a:effectLst/>
              <a:sym typeface="+mn-ea"/>
            </a:endParaRPr>
          </a:p>
          <a:p>
            <a:pPr eaLnBrk="1" hangingPunct="1">
              <a:spcBef>
                <a:spcPct val="0"/>
              </a:spcBef>
              <a:spcAft>
                <a:spcPts val="600"/>
              </a:spcAft>
              <a:buNone/>
            </a:pPr>
            <a:endParaRPr lang="en-US" altLang="zh-CN" sz="3100" b="1" kern="1200" dirty="0">
              <a:solidFill>
                <a:srgbClr val="FFFF00"/>
              </a:solidFill>
              <a:effectLst/>
              <a:cs typeface="+mn-cs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6705600" y="2819400"/>
            <a:ext cx="4953000" cy="271907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1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float   </a:t>
            </a:r>
            <a:r>
              <a:rPr kumimoji="0" lang="en-US" altLang="zh-CN" sz="3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 ( int x , int y )</a:t>
            </a:r>
            <a:endParaRPr kumimoji="0" lang="en-US" altLang="zh-CN" sz="31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</a:t>
            </a:r>
            <a:r>
              <a:rPr kumimoji="0" lang="zh-CN" altLang="en-US" sz="3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  </a:t>
            </a:r>
            <a:r>
              <a:rPr kumimoji="0" lang="en-US" altLang="zh-CN" sz="3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float  sum  ;</a:t>
            </a:r>
            <a:endParaRPr kumimoji="0" lang="en-US" altLang="zh-CN" sz="31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//……</a:t>
            </a:r>
            <a:endParaRPr kumimoji="0" lang="en-US" altLang="zh-CN" sz="31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return  sum;</a:t>
            </a:r>
            <a:r>
              <a:rPr kumimoji="0" lang="en-US" altLang="zh-CN" sz="1800" b="1" i="0" u="none" strike="noStrike" cap="none" spc="0" normalizeH="0" baseline="0" dirty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rPr>
              <a:t>//正确</a:t>
            </a:r>
            <a:endParaRPr kumimoji="0" lang="en-US" altLang="zh-CN" sz="3100" b="1" i="0" u="none" strike="noStrike" cap="none" spc="0" normalizeH="0" baseline="0" dirty="0">
              <a:solidFill>
                <a:srgbClr val="FFFF00"/>
              </a:solidFill>
              <a:effectLst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zh-CN" altLang="en-US" sz="31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矩形标注 2"/>
          <p:cNvSpPr/>
          <p:nvPr/>
        </p:nvSpPr>
        <p:spPr>
          <a:xfrm>
            <a:off x="3124200" y="5681980"/>
            <a:ext cx="5184140" cy="873760"/>
          </a:xfrm>
          <a:prstGeom prst="wedgeRectCallout">
            <a:avLst>
              <a:gd name="adj1" fmla="val -42926"/>
              <a:gd name="adj2" fmla="val -93928"/>
            </a:avLst>
          </a:prstGeom>
          <a:solidFill>
            <a:schemeClr val="accent1"/>
          </a:solidFill>
        </p:spPr>
        <p:txBody>
          <a:bodyPr wrap="square" lIns="0" rIns="0">
            <a:noAutofit/>
          </a:bodyPr>
          <a:p>
            <a:pPr eaLnBrk="1" hangingPunct="1">
              <a:buNone/>
            </a:pPr>
            <a:r>
              <a:rPr lang="zh-CN" altLang="en-US" sz="2400" dirty="0">
                <a:solidFill>
                  <a:srgbClr val="FF0000"/>
                </a:solidFill>
                <a:effectLst/>
                <a:sym typeface="+mn-ea"/>
              </a:rPr>
              <a:t>【思考】</a:t>
            </a:r>
            <a:endParaRPr lang="zh-CN" altLang="en-US" sz="2400" dirty="0">
              <a:solidFill>
                <a:srgbClr val="FF0000"/>
              </a:solidFill>
              <a:effectLst/>
              <a:sym typeface="+mn-ea"/>
            </a:endParaRPr>
          </a:p>
          <a:p>
            <a:pPr eaLnBrk="1" hangingPunct="1">
              <a:buNone/>
            </a:pPr>
            <a:r>
              <a:rPr lang="en-US" altLang="zh-CN" sz="2400" dirty="0">
                <a:solidFill>
                  <a:srgbClr val="FF0000"/>
                </a:solidFill>
                <a:effectLst/>
                <a:sym typeface="+mn-ea"/>
              </a:rPr>
              <a:t>return  p; </a:t>
            </a:r>
            <a:r>
              <a:rPr lang="zh-CN" altLang="en-US" sz="2400" dirty="0">
                <a:solidFill>
                  <a:srgbClr val="FF0000"/>
                </a:solidFill>
                <a:effectLst/>
                <a:sym typeface="+mn-ea"/>
              </a:rPr>
              <a:t>或</a:t>
            </a:r>
            <a:r>
              <a:rPr lang="en-US" altLang="zh-CN" sz="2400" dirty="0">
                <a:solidFill>
                  <a:srgbClr val="FF0000"/>
                </a:solidFill>
                <a:effectLst/>
                <a:sym typeface="+mn-ea"/>
              </a:rPr>
              <a:t> return  &amp;u;都是错误</a:t>
            </a:r>
            <a:r>
              <a:rPr lang="zh-CN" altLang="en-US" sz="2400" dirty="0">
                <a:solidFill>
                  <a:srgbClr val="FF0000"/>
                </a:solidFill>
                <a:effectLst/>
                <a:sym typeface="+mn-ea"/>
              </a:rPr>
              <a:t>的</a:t>
            </a:r>
            <a:endParaRPr lang="zh-CN" altLang="en-US" sz="2400" dirty="0">
              <a:solidFill>
                <a:srgbClr val="FF0000"/>
              </a:solidFill>
              <a:effectLst/>
              <a:latin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293BCB6-03A0-4563-AA75-D14E700AD407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23266" name="Rectangle 2"/>
          <p:cNvSpPr>
            <a:spLocks noGrp="1" noChangeArrowheads="1"/>
          </p:cNvSpPr>
          <p:nvPr>
            <p:ph idx="1"/>
          </p:nvPr>
        </p:nvSpPr>
        <p:spPr>
          <a:xfrm>
            <a:off x="79375" y="69850"/>
            <a:ext cx="6286500" cy="67881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#include&lt;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stdio.h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dirty="0">
                <a:solidFill>
                  <a:srgbClr val="F507F7"/>
                </a:solidFill>
                <a:effectLst/>
                <a:latin typeface="+mn-lt"/>
                <a:ea typeface="+mn-ea"/>
                <a:cs typeface="+mn-cs"/>
              </a:rPr>
              <a:t>int *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max(int a[],int n)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 	int *p,*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pmax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=a 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		for(p=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a+1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;p&lt;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a+n;p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++)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		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if(*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pmax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&lt;*p)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  		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pmax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=p 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		</a:t>
            </a:r>
            <a:r>
              <a:rPr kumimoji="0" lang="en-US" altLang="zh-CN" b="1" i="0" u="none" strike="noStrike" kern="1200" cap="none" spc="0" normalizeH="0" baseline="0" dirty="0">
                <a:solidFill>
                  <a:srgbClr val="F507F7"/>
                </a:solidFill>
                <a:effectLst/>
                <a:latin typeface="+mn-lt"/>
                <a:ea typeface="+mn-ea"/>
                <a:cs typeface="+mn-cs"/>
              </a:rPr>
              <a:t>return pmax ;</a:t>
            </a:r>
            <a:endParaRPr kumimoji="0" lang="en-US" altLang="zh-CN" b="1" i="0" u="none" strike="noStrike" kern="1200" cap="none" spc="0" normalizeH="0" baseline="0" dirty="0">
              <a:solidFill>
                <a:srgbClr val="F507F7"/>
              </a:solidFill>
              <a:effectLst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main( ) { 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	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 b[10], *p;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	for(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507F7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p=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;p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&lt;b+10;p++)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  	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scanf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("%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d",p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	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507F7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p=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max(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,10) 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	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("max:%d\n",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507F7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*p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return 0;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23267" name="Rectangle 3"/>
          <p:cNvSpPr>
            <a:spLocks noGrp="1" noChangeArrowheads="1"/>
          </p:cNvSpPr>
          <p:nvPr>
            <p:ph type="title"/>
          </p:nvPr>
        </p:nvSpPr>
        <p:spPr>
          <a:xfrm>
            <a:off x="6553200" y="0"/>
            <a:ext cx="5638800" cy="1362075"/>
          </a:xfrm>
          <a:noFill/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+mj-ea"/>
                <a:cs typeface="+mj-cs"/>
              </a:rPr>
              <a:t>①</a:t>
            </a:r>
            <a:r>
              <a:rPr kumimoji="0" lang="zh-CN" altLang="en-US" sz="3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返回</a:t>
            </a:r>
            <a:r>
              <a:rPr kumimoji="0" lang="en-US" altLang="zh-CN" sz="3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int*</a:t>
            </a:r>
            <a:br>
              <a:rPr kumimoji="0" lang="en-US" altLang="zh-CN" sz="3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【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例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2】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编函数求数组中的最大数，</a:t>
            </a:r>
            <a:b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返回该元素的指针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54277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4600" y="5776913"/>
            <a:ext cx="4427538" cy="7921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矩形 1"/>
          <p:cNvSpPr/>
          <p:nvPr/>
        </p:nvSpPr>
        <p:spPr>
          <a:xfrm>
            <a:off x="4114800" y="5790565"/>
            <a:ext cx="509270" cy="421640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ysDash"/>
          </a:ln>
        </p:spPr>
        <p:txBody>
          <a:bodyPr wrap="square" lIns="0" rIns="0">
            <a:noAutofit/>
          </a:bodyPr>
          <a:p>
            <a:pPr eaLnBrk="1" hangingPunct="1">
              <a:buNone/>
            </a:pPr>
            <a:endParaRPr lang="zh-CN" altLang="en-US" sz="3200" dirty="0">
              <a:latin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895600" y="2209800"/>
            <a:ext cx="1619885" cy="379095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ysDash"/>
          </a:ln>
        </p:spPr>
        <p:txBody>
          <a:bodyPr wrap="square" lIns="0" rIns="0">
            <a:noAutofit/>
          </a:bodyPr>
          <a:p>
            <a:pPr eaLnBrk="1" hangingPunct="1">
              <a:buNone/>
            </a:pPr>
            <a:endParaRPr lang="zh-CN" altLang="en-US" sz="3200" dirty="0">
              <a:latin typeface="Arial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880235" y="953135"/>
            <a:ext cx="1540510" cy="408940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ysDash"/>
          </a:ln>
        </p:spPr>
        <p:txBody>
          <a:bodyPr wrap="square" lIns="0" rIns="0">
            <a:noAutofit/>
          </a:bodyPr>
          <a:p>
            <a:pPr eaLnBrk="1" hangingPunct="1">
              <a:buNone/>
            </a:pPr>
            <a:endParaRPr lang="zh-CN" altLang="en-US" sz="3200" dirty="0">
              <a:latin typeface="Arial" panose="020B060402020202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5409565"/>
            <a:ext cx="2612390" cy="421640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ysDash"/>
          </a:ln>
        </p:spPr>
        <p:txBody>
          <a:bodyPr wrap="square" lIns="0" rIns="0">
            <a:noAutofit/>
          </a:bodyPr>
          <a:p>
            <a:pPr eaLnBrk="1" hangingPunct="1"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</a:t>
            </a:r>
            <a:endParaRPr lang="en-US" altLang="zh-CN" sz="3200" dirty="0">
              <a:latin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66800" y="2667000"/>
            <a:ext cx="2612390" cy="421640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ysDash"/>
          </a:ln>
        </p:spPr>
        <p:txBody>
          <a:bodyPr wrap="square" lIns="0" rIns="0">
            <a:noAutofit/>
          </a:bodyPr>
          <a:p>
            <a:pPr eaLnBrk="1" hangingPunct="1">
              <a:buNone/>
            </a:pPr>
            <a:endParaRPr lang="zh-CN" altLang="en-US" sz="3200" dirty="0">
              <a:latin typeface="Arial" panose="020B0604020202020204" pitchFamily="34" charset="0"/>
            </a:endParaRPr>
          </a:p>
        </p:txBody>
      </p:sp>
      <p:sp>
        <p:nvSpPr>
          <p:cNvPr id="7" name="矩形标注 6"/>
          <p:cNvSpPr/>
          <p:nvPr/>
        </p:nvSpPr>
        <p:spPr>
          <a:xfrm>
            <a:off x="4953000" y="3352800"/>
            <a:ext cx="2793365" cy="499745"/>
          </a:xfrm>
          <a:prstGeom prst="wedgeRectCallout">
            <a:avLst>
              <a:gd name="adj1" fmla="val -95555"/>
              <a:gd name="adj2" fmla="val -104637"/>
            </a:avLst>
          </a:prstGeom>
          <a:solidFill>
            <a:schemeClr val="accent1"/>
          </a:solidFill>
        </p:spPr>
        <p:txBody>
          <a:bodyPr wrap="square" lIns="0" rIns="0">
            <a:noAutofit/>
          </a:bodyPr>
          <a:p>
            <a:pPr eaLnBrk="1" hangingPunct="1">
              <a:buNone/>
            </a:pPr>
            <a:r>
              <a:rPr lang="zh-CN" altLang="en-US" sz="2400" dirty="0">
                <a:solidFill>
                  <a:srgbClr val="FF0000"/>
                </a:solidFill>
                <a:effectLst/>
                <a:sym typeface="+mn-ea"/>
              </a:rPr>
              <a:t>【思考】为何正确？</a:t>
            </a:r>
            <a:endParaRPr lang="zh-CN" altLang="en-US" sz="2400" dirty="0">
              <a:solidFill>
                <a:srgbClr val="FF0000"/>
              </a:solidFill>
              <a:effectLst/>
              <a:latin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E0B051E-8822-4DB8-A543-F013541B9A72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5746" name="Rectangle 2"/>
          <p:cNvSpPr>
            <a:spLocks noGrp="1" noChangeArrowheads="1"/>
          </p:cNvSpPr>
          <p:nvPr>
            <p:ph type="title"/>
          </p:nvPr>
        </p:nvSpPr>
        <p:spPr>
          <a:xfrm>
            <a:off x="3175" y="20955"/>
            <a:ext cx="12207875" cy="583565"/>
          </a:xfrm>
          <a:noFill/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alibri" panose="020F0502020204030204" charset="0"/>
                <a:ea typeface="+mj-ea"/>
                <a:cs typeface="+mj-cs"/>
              </a:rPr>
              <a:t>②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返回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char*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P236【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例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9.7】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编程序，读入月份数，输出该月份英文名称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+mj-cs"/>
            </a:endParaRPr>
          </a:p>
        </p:txBody>
      </p:sp>
      <p:sp>
        <p:nvSpPr>
          <p:cNvPr id="415747" name="Rectangle 3"/>
          <p:cNvSpPr>
            <a:spLocks noChangeArrowheads="1"/>
          </p:cNvSpPr>
          <p:nvPr/>
        </p:nvSpPr>
        <p:spPr bwMode="auto">
          <a:xfrm>
            <a:off x="76200" y="782003"/>
            <a:ext cx="8018463" cy="56311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#include&lt;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stdio.h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&gt;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char *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name[ ]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={ "iIlegal month", "Jan",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507F7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……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, "Dec" };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char *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month_name(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int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//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函数原型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int main() {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int  n;    char  *p;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scanf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("%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d",&amp;n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);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 =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month_name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 n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)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printf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("It is %s\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n",p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);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return 0;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}</a:t>
            </a:r>
            <a:endParaRPr kumimoji="0" lang="en-US" altLang="zh-CN" sz="24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char *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month_name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(int m)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{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if (m&lt;1 || m&gt;12)  	return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name[0]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else 		return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name[m]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}</a:t>
            </a:r>
            <a:endParaRPr kumimoji="0" lang="en-US" altLang="zh-CN" sz="24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5748" name="Rectangle 4"/>
          <p:cNvSpPr/>
          <p:nvPr/>
        </p:nvSpPr>
        <p:spPr>
          <a:xfrm>
            <a:off x="7969250" y="4195763"/>
            <a:ext cx="4211638" cy="11988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folHlink"/>
                </a:solidFill>
                <a:latin typeface="Arial" panose="020B0604020202020204" pitchFamily="34" charset="0"/>
              </a:rPr>
              <a:t>程序运行结果</a:t>
            </a:r>
            <a:r>
              <a:rPr lang="en-US" altLang="zh-CN" sz="2400" b="1" dirty="0">
                <a:solidFill>
                  <a:schemeClr val="folHlink"/>
                </a:solidFill>
                <a:latin typeface="Arial" panose="020B0604020202020204" pitchFamily="34" charset="0"/>
              </a:rPr>
              <a:t>:</a:t>
            </a:r>
            <a:endParaRPr lang="en-US" altLang="zh-CN" sz="2400" b="1" dirty="0">
              <a:solidFill>
                <a:schemeClr val="folHlink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2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It  is  Feb 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grpSp>
        <p:nvGrpSpPr>
          <p:cNvPr id="2" name="Group 8"/>
          <p:cNvGrpSpPr/>
          <p:nvPr/>
        </p:nvGrpSpPr>
        <p:grpSpPr>
          <a:xfrm>
            <a:off x="7969250" y="1466850"/>
            <a:ext cx="4205288" cy="2735263"/>
            <a:chOff x="2789" y="164"/>
            <a:chExt cx="2649" cy="1723"/>
          </a:xfrm>
        </p:grpSpPr>
        <p:sp>
          <p:nvSpPr>
            <p:cNvPr id="56328" name="Rectangle 9"/>
            <p:cNvSpPr/>
            <p:nvPr/>
          </p:nvSpPr>
          <p:spPr>
            <a:xfrm>
              <a:off x="2789" y="164"/>
              <a:ext cx="2631" cy="1723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b="1" dirty="0">
                <a:latin typeface="Arial" panose="020B0604020202020204" pitchFamily="34" charset="0"/>
              </a:endParaRPr>
            </a:p>
          </p:txBody>
        </p:sp>
        <p:sp>
          <p:nvSpPr>
            <p:cNvPr id="56329" name="Rectangle 10"/>
            <p:cNvSpPr/>
            <p:nvPr/>
          </p:nvSpPr>
          <p:spPr>
            <a:xfrm>
              <a:off x="4377" y="527"/>
              <a:ext cx="1061" cy="227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Arial" panose="020B0604020202020204" pitchFamily="34" charset="0"/>
                </a:rPr>
                <a:t>il</a:t>
              </a:r>
              <a:r>
                <a:rPr lang="en-US" altLang="zh-CN" sz="1600" b="1" dirty="0">
                  <a:latin typeface="Arial" panose="020B0604020202020204" pitchFamily="34" charset="0"/>
                </a:rPr>
                <a:t>legal  month\0</a:t>
              </a:r>
              <a:endParaRPr lang="en-US" altLang="zh-CN" sz="1600" b="1" dirty="0">
                <a:latin typeface="Arial" panose="020B0604020202020204" pitchFamily="34" charset="0"/>
              </a:endParaRPr>
            </a:p>
          </p:txBody>
        </p:sp>
        <p:sp>
          <p:nvSpPr>
            <p:cNvPr id="56330" name="Rectangle 11"/>
            <p:cNvSpPr/>
            <p:nvPr/>
          </p:nvSpPr>
          <p:spPr>
            <a:xfrm>
              <a:off x="4377" y="754"/>
              <a:ext cx="453" cy="227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Arial" panose="020B0604020202020204" pitchFamily="34" charset="0"/>
                </a:rPr>
                <a:t>Jan\0</a:t>
              </a:r>
              <a:endParaRPr lang="en-US" altLang="zh-CN" sz="1800" b="1" dirty="0">
                <a:latin typeface="Arial" panose="020B0604020202020204" pitchFamily="34" charset="0"/>
              </a:endParaRPr>
            </a:p>
          </p:txBody>
        </p:sp>
        <p:sp>
          <p:nvSpPr>
            <p:cNvPr id="56331" name="Rectangle 12"/>
            <p:cNvSpPr/>
            <p:nvPr/>
          </p:nvSpPr>
          <p:spPr>
            <a:xfrm>
              <a:off x="4377" y="981"/>
              <a:ext cx="998" cy="16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Arial" panose="020B0604020202020204" pitchFamily="34" charset="0"/>
                </a:rPr>
                <a:t>Feb\0</a:t>
              </a:r>
              <a:endParaRPr lang="en-US" altLang="zh-CN" sz="1800" b="1" dirty="0">
                <a:latin typeface="Arial" panose="020B0604020202020204" pitchFamily="34" charset="0"/>
              </a:endParaRPr>
            </a:p>
          </p:txBody>
        </p:sp>
        <p:sp>
          <p:nvSpPr>
            <p:cNvPr id="56332" name="Rectangle 13"/>
            <p:cNvSpPr/>
            <p:nvPr/>
          </p:nvSpPr>
          <p:spPr>
            <a:xfrm>
              <a:off x="4377" y="1208"/>
              <a:ext cx="453" cy="136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Arial" panose="020B0604020202020204" pitchFamily="34" charset="0"/>
                </a:rPr>
                <a:t>……</a:t>
              </a:r>
              <a:endParaRPr lang="en-US" altLang="zh-CN" sz="1800" b="1" dirty="0">
                <a:latin typeface="Arial" panose="020B0604020202020204" pitchFamily="34" charset="0"/>
              </a:endParaRPr>
            </a:p>
          </p:txBody>
        </p:sp>
        <p:sp>
          <p:nvSpPr>
            <p:cNvPr id="56333" name="Rectangle 14"/>
            <p:cNvSpPr/>
            <p:nvPr/>
          </p:nvSpPr>
          <p:spPr>
            <a:xfrm>
              <a:off x="4377" y="1434"/>
              <a:ext cx="499" cy="227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Arial" panose="020B0604020202020204" pitchFamily="34" charset="0"/>
                </a:rPr>
                <a:t>Dec\0</a:t>
              </a:r>
              <a:endParaRPr lang="en-US" altLang="zh-CN" sz="1800" b="1" dirty="0">
                <a:latin typeface="Arial" panose="020B0604020202020204" pitchFamily="34" charset="0"/>
              </a:endParaRPr>
            </a:p>
          </p:txBody>
        </p:sp>
        <p:sp>
          <p:nvSpPr>
            <p:cNvPr id="56334" name="Rectangle 15"/>
            <p:cNvSpPr/>
            <p:nvPr/>
          </p:nvSpPr>
          <p:spPr>
            <a:xfrm>
              <a:off x="3470" y="527"/>
              <a:ext cx="499" cy="1134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b="1" dirty="0">
                <a:latin typeface="Arial" panose="020B0604020202020204" pitchFamily="34" charset="0"/>
              </a:endParaRPr>
            </a:p>
          </p:txBody>
        </p:sp>
        <p:sp>
          <p:nvSpPr>
            <p:cNvPr id="56335" name="Line 16"/>
            <p:cNvSpPr/>
            <p:nvPr/>
          </p:nvSpPr>
          <p:spPr>
            <a:xfrm>
              <a:off x="3470" y="754"/>
              <a:ext cx="49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36" name="Line 17"/>
            <p:cNvSpPr/>
            <p:nvPr/>
          </p:nvSpPr>
          <p:spPr>
            <a:xfrm>
              <a:off x="3470" y="981"/>
              <a:ext cx="49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37" name="Line 18"/>
            <p:cNvSpPr/>
            <p:nvPr/>
          </p:nvSpPr>
          <p:spPr>
            <a:xfrm>
              <a:off x="3470" y="1207"/>
              <a:ext cx="49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38" name="Line 19"/>
            <p:cNvSpPr/>
            <p:nvPr/>
          </p:nvSpPr>
          <p:spPr>
            <a:xfrm>
              <a:off x="3470" y="1434"/>
              <a:ext cx="49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39" name="Text Box 20"/>
            <p:cNvSpPr txBox="1"/>
            <p:nvPr/>
          </p:nvSpPr>
          <p:spPr>
            <a:xfrm>
              <a:off x="3424" y="255"/>
              <a:ext cx="681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chemeClr val="folHlink"/>
                  </a:solidFill>
                  <a:latin typeface="Arial" panose="020B0604020202020204" pitchFamily="34" charset="0"/>
                </a:rPr>
                <a:t>name:</a:t>
              </a:r>
              <a:endParaRPr lang="en-US" altLang="zh-CN" sz="1800" b="1" dirty="0">
                <a:solidFill>
                  <a:schemeClr val="fol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6340" name="Line 21"/>
            <p:cNvSpPr/>
            <p:nvPr/>
          </p:nvSpPr>
          <p:spPr>
            <a:xfrm>
              <a:off x="3969" y="618"/>
              <a:ext cx="40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6341" name="Line 22"/>
            <p:cNvSpPr/>
            <p:nvPr/>
          </p:nvSpPr>
          <p:spPr>
            <a:xfrm>
              <a:off x="3969" y="845"/>
              <a:ext cx="40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6342" name="Line 23"/>
            <p:cNvSpPr/>
            <p:nvPr/>
          </p:nvSpPr>
          <p:spPr>
            <a:xfrm>
              <a:off x="3969" y="1071"/>
              <a:ext cx="40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6343" name="Line 24"/>
            <p:cNvSpPr/>
            <p:nvPr/>
          </p:nvSpPr>
          <p:spPr>
            <a:xfrm>
              <a:off x="3969" y="1525"/>
              <a:ext cx="40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6344" name="Text Box 25"/>
            <p:cNvSpPr txBox="1"/>
            <p:nvPr/>
          </p:nvSpPr>
          <p:spPr>
            <a:xfrm>
              <a:off x="3515" y="1162"/>
              <a:ext cx="409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Arial" panose="020B0604020202020204" pitchFamily="34" charset="0"/>
                </a:rPr>
                <a:t>……</a:t>
              </a:r>
              <a:endParaRPr lang="en-US" altLang="zh-CN" sz="1800" b="1" dirty="0">
                <a:latin typeface="Arial" panose="020B0604020202020204" pitchFamily="34" charset="0"/>
              </a:endParaRPr>
            </a:p>
          </p:txBody>
        </p:sp>
        <p:sp>
          <p:nvSpPr>
            <p:cNvPr id="56345" name="Text Box 26"/>
            <p:cNvSpPr txBox="1"/>
            <p:nvPr/>
          </p:nvSpPr>
          <p:spPr>
            <a:xfrm>
              <a:off x="2789" y="527"/>
              <a:ext cx="68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chemeClr val="folHlink"/>
                  </a:solidFill>
                  <a:latin typeface="Arial" panose="020B0604020202020204" pitchFamily="34" charset="0"/>
                </a:rPr>
                <a:t>name[0]</a:t>
              </a:r>
              <a:endParaRPr lang="en-US" altLang="zh-CN" sz="1800" b="1" dirty="0">
                <a:solidFill>
                  <a:schemeClr val="fol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6346" name="Text Box 27"/>
            <p:cNvSpPr txBox="1"/>
            <p:nvPr/>
          </p:nvSpPr>
          <p:spPr>
            <a:xfrm>
              <a:off x="2789" y="754"/>
              <a:ext cx="68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chemeClr val="folHlink"/>
                  </a:solidFill>
                  <a:latin typeface="Arial" panose="020B0604020202020204" pitchFamily="34" charset="0"/>
                </a:rPr>
                <a:t>name[1]</a:t>
              </a:r>
              <a:endParaRPr lang="en-US" altLang="zh-CN" sz="1800" b="1" dirty="0">
                <a:solidFill>
                  <a:schemeClr val="fol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6347" name="Text Box 28"/>
            <p:cNvSpPr txBox="1"/>
            <p:nvPr/>
          </p:nvSpPr>
          <p:spPr>
            <a:xfrm>
              <a:off x="2789" y="1434"/>
              <a:ext cx="72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chemeClr val="folHlink"/>
                  </a:solidFill>
                  <a:latin typeface="Arial" panose="020B0604020202020204" pitchFamily="34" charset="0"/>
                </a:rPr>
                <a:t>name[12]</a:t>
              </a:r>
              <a:endParaRPr lang="en-US" altLang="zh-CN" sz="1800" b="1" dirty="0">
                <a:solidFill>
                  <a:schemeClr val="fol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6348" name="Text Box 29"/>
            <p:cNvSpPr txBox="1"/>
            <p:nvPr/>
          </p:nvSpPr>
          <p:spPr>
            <a:xfrm>
              <a:off x="2789" y="981"/>
              <a:ext cx="68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chemeClr val="folHlink"/>
                  </a:solidFill>
                  <a:latin typeface="Arial" panose="020B0604020202020204" pitchFamily="34" charset="0"/>
                </a:rPr>
                <a:t>name[2]</a:t>
              </a:r>
              <a:endParaRPr lang="en-US" altLang="zh-CN" sz="1800" b="1" dirty="0">
                <a:solidFill>
                  <a:schemeClr val="fol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6349" name="Text Box 30"/>
            <p:cNvSpPr txBox="1"/>
            <p:nvPr/>
          </p:nvSpPr>
          <p:spPr>
            <a:xfrm>
              <a:off x="2925" y="1162"/>
              <a:ext cx="409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chemeClr val="folHlink"/>
                  </a:solidFill>
                  <a:latin typeface="Arial" panose="020B0604020202020204" pitchFamily="34" charset="0"/>
                </a:rPr>
                <a:t>……</a:t>
              </a:r>
              <a:endParaRPr lang="en-US" altLang="zh-CN" sz="1800" b="1" dirty="0">
                <a:solidFill>
                  <a:schemeClr val="folHlink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5" name="矩形 4"/>
          <p:cNvSpPr/>
          <p:nvPr/>
        </p:nvSpPr>
        <p:spPr>
          <a:xfrm>
            <a:off x="457200" y="3418205"/>
            <a:ext cx="3199130" cy="330200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ysDash"/>
          </a:ln>
        </p:spPr>
        <p:txBody>
          <a:bodyPr wrap="square" lIns="0" rIns="0">
            <a:noAutofit/>
          </a:bodyPr>
          <a:p>
            <a:pPr eaLnBrk="1" hangingPunct="1"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</a:t>
            </a:r>
            <a:endParaRPr lang="en-US" altLang="zh-CN" sz="3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82A3977-75F7-4EDF-BA91-8A36B7E290B0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574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572453"/>
            <a:ext cx="9974263" cy="953135"/>
          </a:xfrm>
          <a:noFill/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【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思考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】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 char *name[ ] =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{ </a:t>
            </a:r>
            <a:r>
              <a:rPr lang="en-US" altLang="zh-CN" sz="2800" b="1" kern="12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"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illegal month</a:t>
            </a:r>
            <a:r>
              <a:rPr lang="en-US" altLang="zh-CN" sz="2800" b="1" kern="12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"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,</a:t>
            </a:r>
            <a:r>
              <a:rPr lang="en-US" altLang="zh-CN" sz="2800" noProof="0" dirty="0">
                <a:ln>
                  <a:noFill/>
                </a:ln>
                <a:solidFill>
                  <a:srgbClr val="FF0000"/>
                </a:solidFill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sym typeface="+mn-ea"/>
              </a:rPr>
              <a:t>……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};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和</a:t>
            </a:r>
            <a:b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</a:b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	     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char name[ ][50] =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{</a:t>
            </a:r>
            <a:r>
              <a:rPr lang="en-US" altLang="zh-CN" sz="2800" b="1" kern="12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"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illegal month</a:t>
            </a:r>
            <a:r>
              <a:rPr lang="en-US" altLang="zh-CN" sz="2800" b="1" kern="12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"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,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……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};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的区别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j-cs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6477000" y="2133600"/>
            <a:ext cx="2471738" cy="2565400"/>
            <a:chOff x="7553159" y="1600248"/>
            <a:chExt cx="2473120" cy="2565394"/>
          </a:xfrm>
        </p:grpSpPr>
        <p:sp>
          <p:nvSpPr>
            <p:cNvPr id="58398" name="Rectangle 9"/>
            <p:cNvSpPr/>
            <p:nvPr/>
          </p:nvSpPr>
          <p:spPr>
            <a:xfrm>
              <a:off x="7619960" y="1600248"/>
              <a:ext cx="2406319" cy="2565394"/>
            </a:xfrm>
            <a:prstGeom prst="rect">
              <a:avLst/>
            </a:prstGeom>
            <a:noFill/>
            <a:ln w="9525" cap="flat" cmpd="sng">
              <a:noFill/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b="1" dirty="0">
                <a:latin typeface="Arial" panose="020B0604020202020204" pitchFamily="34" charset="0"/>
              </a:endParaRPr>
            </a:p>
          </p:txBody>
        </p:sp>
        <p:sp>
          <p:nvSpPr>
            <p:cNvPr id="58399" name="Rectangle 10"/>
            <p:cNvSpPr/>
            <p:nvPr/>
          </p:nvSpPr>
          <p:spPr>
            <a:xfrm>
              <a:off x="7929979" y="2166985"/>
              <a:ext cx="2005856" cy="36036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Arial" panose="020B0604020202020204" pitchFamily="34" charset="0"/>
                </a:rPr>
                <a:t>illegal  month\0</a:t>
              </a:r>
              <a:endParaRPr lang="en-US" altLang="zh-CN" sz="1800" b="1" dirty="0">
                <a:latin typeface="Arial" panose="020B0604020202020204" pitchFamily="34" charset="0"/>
              </a:endParaRPr>
            </a:p>
          </p:txBody>
        </p:sp>
        <p:sp>
          <p:nvSpPr>
            <p:cNvPr id="58400" name="Rectangle 11"/>
            <p:cNvSpPr/>
            <p:nvPr/>
          </p:nvSpPr>
          <p:spPr>
            <a:xfrm>
              <a:off x="7929979" y="2536872"/>
              <a:ext cx="2005856" cy="36036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Arial" panose="020B0604020202020204" pitchFamily="34" charset="0"/>
                </a:rPr>
                <a:t>Jan\0</a:t>
              </a:r>
              <a:endParaRPr lang="en-US" altLang="zh-CN" sz="1800" b="1" dirty="0">
                <a:latin typeface="Arial" panose="020B0604020202020204" pitchFamily="34" charset="0"/>
              </a:endParaRPr>
            </a:p>
          </p:txBody>
        </p:sp>
        <p:sp>
          <p:nvSpPr>
            <p:cNvPr id="58401" name="Rectangle 12"/>
            <p:cNvSpPr/>
            <p:nvPr/>
          </p:nvSpPr>
          <p:spPr>
            <a:xfrm>
              <a:off x="7929979" y="2897235"/>
              <a:ext cx="2005856" cy="35083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Arial" panose="020B0604020202020204" pitchFamily="34" charset="0"/>
                </a:rPr>
                <a:t>Feb\0</a:t>
              </a:r>
              <a:endParaRPr lang="en-US" altLang="zh-CN" sz="1800" b="1" dirty="0">
                <a:latin typeface="Arial" panose="020B0604020202020204" pitchFamily="34" charset="0"/>
              </a:endParaRPr>
            </a:p>
          </p:txBody>
        </p:sp>
        <p:sp>
          <p:nvSpPr>
            <p:cNvPr id="58402" name="Rectangle 13"/>
            <p:cNvSpPr/>
            <p:nvPr/>
          </p:nvSpPr>
          <p:spPr>
            <a:xfrm>
              <a:off x="7929925" y="3257594"/>
              <a:ext cx="2005816" cy="340994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Arial" panose="020B0604020202020204" pitchFamily="34" charset="0"/>
                </a:rPr>
                <a:t>……</a:t>
              </a:r>
              <a:endParaRPr lang="en-US" altLang="zh-CN" sz="1800" b="1" dirty="0">
                <a:latin typeface="Arial" panose="020B0604020202020204" pitchFamily="34" charset="0"/>
              </a:endParaRPr>
            </a:p>
          </p:txBody>
        </p:sp>
        <p:sp>
          <p:nvSpPr>
            <p:cNvPr id="58403" name="Rectangle 14"/>
            <p:cNvSpPr/>
            <p:nvPr/>
          </p:nvSpPr>
          <p:spPr>
            <a:xfrm>
              <a:off x="7929979" y="3616372"/>
              <a:ext cx="2005856" cy="36036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Arial" panose="020B0604020202020204" pitchFamily="34" charset="0"/>
                </a:rPr>
                <a:t>Dec\0</a:t>
              </a:r>
              <a:endParaRPr lang="en-US" altLang="zh-CN" sz="1800" b="1" dirty="0">
                <a:latin typeface="Arial" panose="020B0604020202020204" pitchFamily="34" charset="0"/>
              </a:endParaRPr>
            </a:p>
          </p:txBody>
        </p:sp>
        <p:sp>
          <p:nvSpPr>
            <p:cNvPr id="58404" name="Text Box 20"/>
            <p:cNvSpPr txBox="1"/>
            <p:nvPr/>
          </p:nvSpPr>
          <p:spPr>
            <a:xfrm>
              <a:off x="7553159" y="1684385"/>
              <a:ext cx="2199778" cy="3693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chemeClr val="tx1"/>
                  </a:solidFill>
                  <a:latin typeface="Arial" panose="020B0604020202020204" pitchFamily="34" charset="0"/>
                </a:rPr>
                <a:t>char name[13][50]</a:t>
              </a:r>
              <a:endParaRPr lang="en-US" altLang="zh-CN" sz="1800" b="1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30" name="Group 8"/>
          <p:cNvGrpSpPr/>
          <p:nvPr/>
        </p:nvGrpSpPr>
        <p:grpSpPr>
          <a:xfrm>
            <a:off x="1142683" y="2133283"/>
            <a:ext cx="4176712" cy="2735262"/>
            <a:chOff x="2789" y="164"/>
            <a:chExt cx="2631" cy="1723"/>
          </a:xfrm>
        </p:grpSpPr>
        <p:sp>
          <p:nvSpPr>
            <p:cNvPr id="58376" name="Rectangle 9"/>
            <p:cNvSpPr/>
            <p:nvPr/>
          </p:nvSpPr>
          <p:spPr>
            <a:xfrm>
              <a:off x="2789" y="164"/>
              <a:ext cx="2631" cy="1723"/>
            </a:xfrm>
            <a:prstGeom prst="rect">
              <a:avLst/>
            </a:prstGeom>
            <a:noFill/>
            <a:ln w="9525" cap="flat" cmpd="sng">
              <a:noFill/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b="1" dirty="0">
                <a:latin typeface="Arial" panose="020B0604020202020204" pitchFamily="34" charset="0"/>
              </a:endParaRPr>
            </a:p>
          </p:txBody>
        </p:sp>
        <p:sp>
          <p:nvSpPr>
            <p:cNvPr id="58377" name="Rectangle 10"/>
            <p:cNvSpPr/>
            <p:nvPr/>
          </p:nvSpPr>
          <p:spPr>
            <a:xfrm>
              <a:off x="4377" y="527"/>
              <a:ext cx="998" cy="227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Arial" panose="020B0604020202020204" pitchFamily="34" charset="0"/>
                </a:rPr>
                <a:t>illegl  month\0</a:t>
              </a:r>
              <a:endParaRPr lang="en-US" altLang="zh-CN" sz="1800" b="1" dirty="0">
                <a:latin typeface="Arial" panose="020B0604020202020204" pitchFamily="34" charset="0"/>
              </a:endParaRPr>
            </a:p>
          </p:txBody>
        </p:sp>
        <p:sp>
          <p:nvSpPr>
            <p:cNvPr id="58378" name="Rectangle 11"/>
            <p:cNvSpPr/>
            <p:nvPr/>
          </p:nvSpPr>
          <p:spPr>
            <a:xfrm>
              <a:off x="4377" y="754"/>
              <a:ext cx="998" cy="227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Arial" panose="020B0604020202020204" pitchFamily="34" charset="0"/>
                </a:rPr>
                <a:t>Jan\0</a:t>
              </a:r>
              <a:endParaRPr lang="en-US" altLang="zh-CN" sz="1800" b="1" dirty="0">
                <a:latin typeface="Arial" panose="020B0604020202020204" pitchFamily="34" charset="0"/>
              </a:endParaRPr>
            </a:p>
          </p:txBody>
        </p:sp>
        <p:sp>
          <p:nvSpPr>
            <p:cNvPr id="58379" name="Rectangle 12"/>
            <p:cNvSpPr/>
            <p:nvPr/>
          </p:nvSpPr>
          <p:spPr>
            <a:xfrm>
              <a:off x="4377" y="981"/>
              <a:ext cx="998" cy="185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Arial" panose="020B0604020202020204" pitchFamily="34" charset="0"/>
                </a:rPr>
                <a:t>Feb\0</a:t>
              </a:r>
              <a:endParaRPr lang="en-US" altLang="zh-CN" sz="1800" b="1" dirty="0">
                <a:latin typeface="Arial" panose="020B0604020202020204" pitchFamily="34" charset="0"/>
              </a:endParaRPr>
            </a:p>
          </p:txBody>
        </p:sp>
        <p:sp>
          <p:nvSpPr>
            <p:cNvPr id="58380" name="Rectangle 13"/>
            <p:cNvSpPr/>
            <p:nvPr/>
          </p:nvSpPr>
          <p:spPr>
            <a:xfrm>
              <a:off x="4377" y="1182"/>
              <a:ext cx="1001" cy="235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Arial" panose="020B0604020202020204" pitchFamily="34" charset="0"/>
                </a:rPr>
                <a:t>……</a:t>
              </a:r>
              <a:endParaRPr lang="en-US" altLang="zh-CN" sz="1800" b="1" dirty="0">
                <a:latin typeface="Arial" panose="020B0604020202020204" pitchFamily="34" charset="0"/>
              </a:endParaRPr>
            </a:p>
          </p:txBody>
        </p:sp>
        <p:sp>
          <p:nvSpPr>
            <p:cNvPr id="58381" name="Rectangle 14"/>
            <p:cNvSpPr/>
            <p:nvPr/>
          </p:nvSpPr>
          <p:spPr>
            <a:xfrm>
              <a:off x="4377" y="1434"/>
              <a:ext cx="998" cy="227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Arial" panose="020B0604020202020204" pitchFamily="34" charset="0"/>
                </a:rPr>
                <a:t>Dec\0</a:t>
              </a:r>
              <a:endParaRPr lang="en-US" altLang="zh-CN" sz="1800" b="1" dirty="0">
                <a:latin typeface="Arial" panose="020B0604020202020204" pitchFamily="34" charset="0"/>
              </a:endParaRPr>
            </a:p>
          </p:txBody>
        </p:sp>
        <p:sp>
          <p:nvSpPr>
            <p:cNvPr id="58382" name="Rectangle 15"/>
            <p:cNvSpPr/>
            <p:nvPr/>
          </p:nvSpPr>
          <p:spPr>
            <a:xfrm>
              <a:off x="3470" y="527"/>
              <a:ext cx="499" cy="1134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b="1" dirty="0">
                <a:latin typeface="Arial" panose="020B0604020202020204" pitchFamily="34" charset="0"/>
              </a:endParaRPr>
            </a:p>
          </p:txBody>
        </p:sp>
        <p:sp>
          <p:nvSpPr>
            <p:cNvPr id="58383" name="Line 16"/>
            <p:cNvSpPr/>
            <p:nvPr/>
          </p:nvSpPr>
          <p:spPr>
            <a:xfrm>
              <a:off x="3470" y="754"/>
              <a:ext cx="49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384" name="Line 17"/>
            <p:cNvSpPr/>
            <p:nvPr/>
          </p:nvSpPr>
          <p:spPr>
            <a:xfrm>
              <a:off x="3470" y="981"/>
              <a:ext cx="49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385" name="Line 18"/>
            <p:cNvSpPr/>
            <p:nvPr/>
          </p:nvSpPr>
          <p:spPr>
            <a:xfrm>
              <a:off x="3470" y="1207"/>
              <a:ext cx="49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386" name="Line 19"/>
            <p:cNvSpPr/>
            <p:nvPr/>
          </p:nvSpPr>
          <p:spPr>
            <a:xfrm>
              <a:off x="3470" y="1434"/>
              <a:ext cx="49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387" name="Text Box 20"/>
            <p:cNvSpPr txBox="1"/>
            <p:nvPr/>
          </p:nvSpPr>
          <p:spPr>
            <a:xfrm>
              <a:off x="2789" y="212"/>
              <a:ext cx="129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chemeClr val="tx1"/>
                  </a:solidFill>
                  <a:latin typeface="Arial" panose="020B0604020202020204" pitchFamily="34" charset="0"/>
                </a:rPr>
                <a:t>char *name[13]</a:t>
              </a:r>
              <a:endParaRPr lang="en-US" altLang="zh-CN" sz="1800" b="1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8388" name="Line 21"/>
            <p:cNvSpPr/>
            <p:nvPr/>
          </p:nvSpPr>
          <p:spPr>
            <a:xfrm>
              <a:off x="3969" y="618"/>
              <a:ext cx="40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8389" name="Line 22"/>
            <p:cNvSpPr/>
            <p:nvPr/>
          </p:nvSpPr>
          <p:spPr>
            <a:xfrm>
              <a:off x="3969" y="845"/>
              <a:ext cx="40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8390" name="Line 23"/>
            <p:cNvSpPr/>
            <p:nvPr/>
          </p:nvSpPr>
          <p:spPr>
            <a:xfrm>
              <a:off x="3969" y="1071"/>
              <a:ext cx="40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8391" name="Line 24"/>
            <p:cNvSpPr/>
            <p:nvPr/>
          </p:nvSpPr>
          <p:spPr>
            <a:xfrm>
              <a:off x="3969" y="1525"/>
              <a:ext cx="40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8392" name="Text Box 25"/>
            <p:cNvSpPr txBox="1"/>
            <p:nvPr/>
          </p:nvSpPr>
          <p:spPr>
            <a:xfrm>
              <a:off x="3515" y="1162"/>
              <a:ext cx="409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Arial" panose="020B0604020202020204" pitchFamily="34" charset="0"/>
                </a:rPr>
                <a:t>……</a:t>
              </a:r>
              <a:endParaRPr lang="en-US" altLang="zh-CN" sz="1800" b="1" dirty="0">
                <a:latin typeface="Arial" panose="020B0604020202020204" pitchFamily="34" charset="0"/>
              </a:endParaRPr>
            </a:p>
          </p:txBody>
        </p:sp>
        <p:sp>
          <p:nvSpPr>
            <p:cNvPr id="58393" name="Text Box 26"/>
            <p:cNvSpPr txBox="1"/>
            <p:nvPr/>
          </p:nvSpPr>
          <p:spPr>
            <a:xfrm>
              <a:off x="2789" y="527"/>
              <a:ext cx="68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chemeClr val="folHlink"/>
                  </a:solidFill>
                  <a:latin typeface="Arial" panose="020B0604020202020204" pitchFamily="34" charset="0"/>
                </a:rPr>
                <a:t>name[0]</a:t>
              </a:r>
              <a:endParaRPr lang="en-US" altLang="zh-CN" sz="1800" b="1" dirty="0">
                <a:solidFill>
                  <a:schemeClr val="fol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8394" name="Text Box 27"/>
            <p:cNvSpPr txBox="1"/>
            <p:nvPr/>
          </p:nvSpPr>
          <p:spPr>
            <a:xfrm>
              <a:off x="2789" y="754"/>
              <a:ext cx="68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chemeClr val="folHlink"/>
                  </a:solidFill>
                  <a:latin typeface="Arial" panose="020B0604020202020204" pitchFamily="34" charset="0"/>
                </a:rPr>
                <a:t>name[1]</a:t>
              </a:r>
              <a:endParaRPr lang="en-US" altLang="zh-CN" sz="1800" b="1" dirty="0">
                <a:solidFill>
                  <a:schemeClr val="fol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8395" name="Text Box 28"/>
            <p:cNvSpPr txBox="1"/>
            <p:nvPr/>
          </p:nvSpPr>
          <p:spPr>
            <a:xfrm>
              <a:off x="2789" y="1434"/>
              <a:ext cx="72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chemeClr val="folHlink"/>
                  </a:solidFill>
                  <a:latin typeface="Arial" panose="020B0604020202020204" pitchFamily="34" charset="0"/>
                </a:rPr>
                <a:t>name[12]</a:t>
              </a:r>
              <a:endParaRPr lang="en-US" altLang="zh-CN" sz="1800" b="1" dirty="0">
                <a:solidFill>
                  <a:schemeClr val="fol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8396" name="Text Box 29"/>
            <p:cNvSpPr txBox="1"/>
            <p:nvPr/>
          </p:nvSpPr>
          <p:spPr>
            <a:xfrm>
              <a:off x="2789" y="981"/>
              <a:ext cx="68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chemeClr val="folHlink"/>
                  </a:solidFill>
                  <a:latin typeface="Arial" panose="020B0604020202020204" pitchFamily="34" charset="0"/>
                </a:rPr>
                <a:t>name[2]</a:t>
              </a:r>
              <a:endParaRPr lang="en-US" altLang="zh-CN" sz="1800" b="1" dirty="0">
                <a:solidFill>
                  <a:schemeClr val="fol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8397" name="Text Box 30"/>
            <p:cNvSpPr txBox="1"/>
            <p:nvPr/>
          </p:nvSpPr>
          <p:spPr>
            <a:xfrm>
              <a:off x="2925" y="1162"/>
              <a:ext cx="409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chemeClr val="folHlink"/>
                  </a:solidFill>
                  <a:latin typeface="Arial" panose="020B0604020202020204" pitchFamily="34" charset="0"/>
                </a:rPr>
                <a:t>……</a:t>
              </a:r>
              <a:endParaRPr lang="en-US" altLang="zh-CN" sz="1800" b="1" dirty="0">
                <a:solidFill>
                  <a:schemeClr val="folHlink"/>
                </a:solidFill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8E6B2A2-5AEA-45CF-B63B-757ED758C2C0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0419" name="矩形 5"/>
          <p:cNvSpPr>
            <a:spLocks noChangeArrowheads="1"/>
          </p:cNvSpPr>
          <p:nvPr/>
        </p:nvSpPr>
        <p:spPr bwMode="auto">
          <a:xfrm>
            <a:off x="0" y="141605"/>
            <a:ext cx="7423150" cy="6616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【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课后实践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】【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对比实验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】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程序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1—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正确，分析原因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#include&lt;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stdio.h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&gt;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char *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month_name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 int );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//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函数原型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char name[][50] ={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"illegal month", "Jan",</a:t>
            </a:r>
            <a:r>
              <a:rPr lang="en-US" altLang="zh-CN" sz="2400" kern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+mj-ea"/>
                <a:cs typeface="+mj-cs"/>
                <a:sym typeface="+mn-ea"/>
              </a:rPr>
              <a:t>……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};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int main() {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int  n;    char  *p;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printf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("Input a number of a month:\n");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scanf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("%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d",&amp;n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);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= month_name(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n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)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printf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("It is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%s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\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n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",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)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return 0;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}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char *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month_name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(int m)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{  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if (m&lt;1 || m&gt;12)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return  name[0]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else 	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return  name[m] ;</a:t>
            </a:r>
            <a:endParaRPr kumimoji="0" lang="en-US" altLang="zh-CN" sz="2800" b="1" i="0" u="none" strike="noStrike" kern="1200" cap="none" spc="0" normalizeH="0" baseline="0" noProof="0" dirty="0" err="1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}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60420" name="图片 1"/>
          <p:cNvPicPr>
            <a:picLocks noChangeAspect="1"/>
          </p:cNvPicPr>
          <p:nvPr/>
        </p:nvPicPr>
        <p:blipFill>
          <a:blip r:embed="rId1"/>
          <a:srcRect l="1511" t="3295"/>
          <a:stretch>
            <a:fillRect/>
          </a:stretch>
        </p:blipFill>
        <p:spPr>
          <a:xfrm>
            <a:off x="7162800" y="5180965"/>
            <a:ext cx="4962525" cy="167703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矩形 4"/>
          <p:cNvSpPr/>
          <p:nvPr/>
        </p:nvSpPr>
        <p:spPr>
          <a:xfrm>
            <a:off x="76200" y="1186815"/>
            <a:ext cx="7003415" cy="422910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ysDash"/>
          </a:ln>
        </p:spPr>
        <p:txBody>
          <a:bodyPr wrap="square" lIns="0" rIns="0">
            <a:noAutofit/>
          </a:bodyPr>
          <a:p>
            <a:pPr eaLnBrk="1" hangingPunct="1"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</a:t>
            </a:r>
            <a:endParaRPr lang="en-US" altLang="zh-CN" sz="3200" dirty="0">
              <a:latin typeface="Arial" panose="020B0604020202020204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04800" y="3124200"/>
            <a:ext cx="4008755" cy="422910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ysDash"/>
          </a:ln>
        </p:spPr>
        <p:txBody>
          <a:bodyPr wrap="square" lIns="0" rIns="0">
            <a:noAutofit/>
          </a:bodyPr>
          <a:p>
            <a:pPr eaLnBrk="1" hangingPunct="1"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</a:t>
            </a:r>
            <a:endParaRPr lang="en-US" altLang="zh-CN" sz="3200" dirty="0">
              <a:latin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6200" y="4572000"/>
            <a:ext cx="1101725" cy="422910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ysDash"/>
          </a:ln>
        </p:spPr>
        <p:txBody>
          <a:bodyPr wrap="square" lIns="0" rIns="0">
            <a:noAutofit/>
          </a:bodyPr>
          <a:p>
            <a:pPr eaLnBrk="1" hangingPunct="1"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</a:t>
            </a:r>
            <a:endParaRPr lang="en-US" altLang="zh-CN" sz="3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3F9643-CAD5-40E1-9E74-51F3F08F3DD6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2467" name="矩形 5"/>
          <p:cNvSpPr>
            <a:spLocks noChangeArrowheads="1"/>
          </p:cNvSpPr>
          <p:nvPr/>
        </p:nvSpPr>
        <p:spPr bwMode="auto">
          <a:xfrm>
            <a:off x="0" y="-317"/>
            <a:ext cx="9753600" cy="68319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【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课后实践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】【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对比实验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】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程序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2—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执行结果错误，分析原因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#include&lt;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stdio.h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&gt;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char *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month_name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 int );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//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函数原型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int main() {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int  n;    char  *p;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printf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("Input a number of a month:\n");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scanf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("%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d",&amp;n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);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 =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month_name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 n );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printf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("It is %s\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n",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);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return 0;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}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char *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month_name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(int m)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{  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char name[][50] ={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"illegal month", "Jan", </a:t>
            </a:r>
            <a:r>
              <a:rPr lang="en-US" altLang="zh-CN" sz="2800" kern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+mj-ea"/>
                <a:cs typeface="+mj-cs"/>
                <a:sym typeface="+mn-ea"/>
              </a:rPr>
              <a:t>……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};</a:t>
            </a:r>
            <a:endParaRPr kumimoji="0" lang="en-US" altLang="zh-CN" sz="28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if (m&lt;1 || m&gt;12)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return  name[0]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;</a:t>
            </a:r>
            <a:endParaRPr kumimoji="0" lang="en-US" altLang="zh-CN" sz="28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else 		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return  name[m]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;</a:t>
            </a:r>
            <a:endParaRPr kumimoji="0" lang="en-US" altLang="zh-CN" sz="28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}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62468" name="图片 1"/>
          <p:cNvPicPr>
            <a:picLocks noChangeAspect="1"/>
          </p:cNvPicPr>
          <p:nvPr/>
        </p:nvPicPr>
        <p:blipFill>
          <a:blip r:embed="rId1"/>
          <a:srcRect t="22928"/>
          <a:stretch>
            <a:fillRect/>
          </a:stretch>
        </p:blipFill>
        <p:spPr>
          <a:xfrm>
            <a:off x="5715000" y="2743200"/>
            <a:ext cx="4915535" cy="155321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矩形 4"/>
          <p:cNvSpPr/>
          <p:nvPr/>
        </p:nvSpPr>
        <p:spPr>
          <a:xfrm>
            <a:off x="457200" y="4982210"/>
            <a:ext cx="8223885" cy="488950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ysDash"/>
          </a:ln>
        </p:spPr>
        <p:txBody>
          <a:bodyPr wrap="square" lIns="0" rIns="0">
            <a:noAutofit/>
          </a:bodyPr>
          <a:p>
            <a:pPr eaLnBrk="1" hangingPunct="1"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</a:t>
            </a:r>
            <a:endParaRPr lang="en-US" altLang="zh-CN" sz="3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B148F98-409A-4C2A-A574-CED82CD60D3F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64515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22238"/>
            <a:ext cx="9964738" cy="3276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451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" y="3459163"/>
            <a:ext cx="9936163" cy="33051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31C0980-988D-4A72-BBFE-C3E9064D084B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25314" name="Text Box 2"/>
          <p:cNvSpPr txBox="1">
            <a:spLocks noChangeArrowheads="1"/>
          </p:cNvSpPr>
          <p:nvPr/>
        </p:nvSpPr>
        <p:spPr bwMode="auto">
          <a:xfrm>
            <a:off x="1143000" y="1557655"/>
            <a:ext cx="9857105" cy="452310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32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函数原型：</a:t>
            </a:r>
            <a:r>
              <a:rPr kumimoji="0" lang="en-US" altLang="zh-CN" sz="3200" kern="1200" cap="none" spc="0" normalizeH="0" baseline="0" noProof="0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void * </a:t>
            </a:r>
            <a:r>
              <a:rPr kumimoji="0" lang="en-US" altLang="zh-CN" sz="3200" kern="1200" cap="none" spc="0" normalizeH="0" baseline="0" noProof="0" dirty="0" err="1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malloc</a:t>
            </a:r>
            <a:r>
              <a:rPr kumimoji="0" lang="en-US" altLang="zh-CN" sz="3200" kern="1200" cap="none" spc="0" normalizeH="0" baseline="0" noProof="0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(unsigned size)</a:t>
            </a:r>
            <a:endParaRPr kumimoji="0" lang="en-US" altLang="zh-CN" sz="3200" kern="1200" cap="none" spc="0" normalizeH="0" baseline="0" noProof="0" dirty="0">
              <a:solidFill>
                <a:schemeClr val="folHlink"/>
              </a:solidFill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endParaRPr kumimoji="0" lang="en-US" altLang="zh-CN" sz="3200" kern="1200" cap="none" spc="0" normalizeH="0" baseline="0" noProof="0" dirty="0">
              <a:solidFill>
                <a:schemeClr val="folHlink"/>
              </a:solidFill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32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如</a:t>
            </a:r>
            <a:r>
              <a:rPr kumimoji="0" lang="en-US" altLang="zh-CN" sz="32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: </a:t>
            </a:r>
            <a:r>
              <a:rPr kumimoji="0" lang="en-US" altLang="zh-CN" sz="3200" kern="1200" cap="none" spc="0" normalizeH="0" baseline="0" noProof="0" dirty="0"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/*</a:t>
            </a:r>
            <a:r>
              <a:rPr kumimoji="0" lang="zh-CN" altLang="en-US" sz="3200" kern="1200" cap="none" spc="0" normalizeH="0" baseline="0" noProof="0" dirty="0"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动态分配</a:t>
            </a:r>
            <a:r>
              <a:rPr kumimoji="0" lang="en-US" altLang="zh-CN" sz="3200" kern="1200" cap="none" spc="0" normalizeH="0" baseline="0" noProof="0" dirty="0"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n</a:t>
            </a:r>
            <a:r>
              <a:rPr kumimoji="0" lang="zh-CN" altLang="en-US" sz="3200" kern="1200" cap="none" spc="0" normalizeH="0" baseline="0" noProof="0" dirty="0"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个整数类型大小的空间*</a:t>
            </a:r>
            <a:r>
              <a:rPr kumimoji="0" lang="en-US" altLang="zh-CN" sz="3200" kern="1200" cap="none" spc="0" normalizeH="0" baseline="0" noProof="0" dirty="0"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/</a:t>
            </a:r>
            <a:endParaRPr kumimoji="0" lang="en-US" altLang="zh-CN" sz="3200" kern="1200" cap="none" spc="0" normalizeH="0" baseline="0" noProof="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32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if</a:t>
            </a:r>
            <a:r>
              <a:rPr kumimoji="0" lang="en-US" altLang="zh-CN" sz="3200" kern="1200" cap="none" spc="0" normalizeH="0" baseline="0" noProof="0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 </a:t>
            </a:r>
            <a:r>
              <a:rPr kumimoji="0" lang="en-US" altLang="zh-CN" sz="3200" kern="1200" cap="none" spc="0" normalizeH="0" baseline="0" noProof="0" dirty="0">
                <a:solidFill>
                  <a:srgbClr val="F507F7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 </a:t>
            </a:r>
            <a:r>
              <a:rPr kumimoji="0" lang="en-US" altLang="zh-CN" sz="32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p=  (int*)  </a:t>
            </a:r>
            <a:r>
              <a:rPr kumimoji="0" lang="en-US" altLang="zh-CN" sz="3200" kern="1200" cap="none" spc="0" normalizeH="0" baseline="0" noProof="0" dirty="0" err="1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malloc</a:t>
            </a:r>
            <a:r>
              <a:rPr kumimoji="0" lang="en-US" altLang="zh-CN" sz="32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 </a:t>
            </a:r>
            <a:r>
              <a:rPr kumimoji="0" lang="en-US" altLang="zh-CN" sz="3200" kern="1200" cap="none" spc="0" normalizeH="0" baseline="0" noProof="0" dirty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n*</a:t>
            </a:r>
            <a:r>
              <a:rPr kumimoji="0" lang="en-US" altLang="zh-CN" sz="3200" kern="1200" cap="none" spc="0" normalizeH="0" baseline="0" noProof="0" dirty="0" err="1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sizeof</a:t>
            </a:r>
            <a:r>
              <a:rPr kumimoji="0" lang="en-US" altLang="zh-CN" sz="3200" kern="1200" cap="none" spc="0" normalizeH="0" baseline="0" noProof="0" dirty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(int) </a:t>
            </a:r>
            <a:r>
              <a:rPr kumimoji="0" lang="en-US" altLang="zh-CN" sz="32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) </a:t>
            </a:r>
            <a:r>
              <a:rPr kumimoji="0" lang="en-US" altLang="zh-CN" sz="3200" kern="1200" cap="none" spc="0" normalizeH="0" baseline="0" noProof="0" dirty="0">
                <a:solidFill>
                  <a:srgbClr val="F507F7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) </a:t>
            </a:r>
            <a:r>
              <a:rPr kumimoji="0" lang="en-US" altLang="zh-CN" sz="32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== NULL</a:t>
            </a:r>
            <a:r>
              <a:rPr kumimoji="0" lang="en-US" altLang="zh-CN" sz="3200" kern="1200" cap="none" spc="0" normalizeH="0" baseline="0" noProof="0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)</a:t>
            </a:r>
            <a:endParaRPr kumimoji="0" lang="en-US" altLang="zh-CN" sz="3200" kern="1200" cap="none" spc="0" normalizeH="0" baseline="0" noProof="0" dirty="0"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32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{</a:t>
            </a:r>
            <a:endParaRPr kumimoji="0" lang="en-US" altLang="zh-CN" sz="3200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32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3200" kern="1200" cap="none" spc="0" normalizeH="0" baseline="0" noProof="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printf</a:t>
            </a:r>
            <a:r>
              <a:rPr kumimoji="0" lang="en-US" altLang="zh-CN" sz="32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("Not able to allocate memory.\n");</a:t>
            </a:r>
            <a:endParaRPr kumimoji="0" lang="en-US" altLang="zh-CN" sz="3200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32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3200" kern="1200" cap="none" spc="0" normalizeH="0" baseline="0" noProof="0" dirty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exit(1);</a:t>
            </a:r>
            <a:endParaRPr kumimoji="0" lang="en-US" altLang="zh-CN" sz="3200" kern="1200" cap="none" spc="0" normalizeH="0" baseline="0" noProof="0" dirty="0"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32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}	</a:t>
            </a:r>
            <a:endParaRPr kumimoji="0" lang="en-US" altLang="zh-CN" sz="3200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25316" name="Rectangle 4"/>
          <p:cNvSpPr>
            <a:spLocks noChangeArrowheads="1"/>
          </p:cNvSpPr>
          <p:nvPr/>
        </p:nvSpPr>
        <p:spPr bwMode="auto">
          <a:xfrm>
            <a:off x="28575" y="0"/>
            <a:ext cx="6659563" cy="95313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③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返回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void*</a:t>
            </a:r>
            <a:b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b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【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例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3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】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动态存储分配函数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malloc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()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514600" y="3581400"/>
            <a:ext cx="1172845" cy="455930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ysDash"/>
          </a:ln>
        </p:spPr>
        <p:txBody>
          <a:bodyPr wrap="square" lIns="0" rIns="0">
            <a:noAutofit/>
          </a:bodyPr>
          <a:p>
            <a:pPr eaLnBrk="1" hangingPunct="1"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</a:t>
            </a:r>
            <a:endParaRPr lang="en-US" altLang="zh-CN" sz="3200" dirty="0">
              <a:latin typeface="Arial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334000" y="3581400"/>
            <a:ext cx="2449830" cy="549910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ysDash"/>
          </a:ln>
        </p:spPr>
        <p:txBody>
          <a:bodyPr wrap="square" lIns="0" rIns="0">
            <a:noAutofit/>
          </a:bodyPr>
          <a:p>
            <a:pPr eaLnBrk="1" hangingPunct="1"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</a:t>
            </a:r>
            <a:endParaRPr lang="en-US" altLang="zh-CN" sz="3200" dirty="0">
              <a:latin typeface="Arial" panose="020B060402020202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676400" y="3505200"/>
            <a:ext cx="6632575" cy="648970"/>
          </a:xfrm>
          <a:prstGeom prst="rect">
            <a:avLst/>
          </a:prstGeom>
          <a:noFill/>
          <a:ln w="28575" cmpd="sng">
            <a:solidFill>
              <a:srgbClr val="F507F7"/>
            </a:solidFill>
            <a:prstDash val="sysDash"/>
          </a:ln>
        </p:spPr>
        <p:txBody>
          <a:bodyPr wrap="square" lIns="0" rIns="0">
            <a:noAutofit/>
          </a:bodyPr>
          <a:p>
            <a:pPr eaLnBrk="1" hangingPunct="1"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</a:t>
            </a:r>
            <a:endParaRPr lang="en-US" altLang="zh-CN" sz="3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" grpId="0" animBg="1"/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9AF743D-BA53-4412-82D5-8FEBB15CD5F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5" name="Text Box 4"/>
          <p:cNvSpPr txBox="1">
            <a:spLocks noChangeArrowheads="1"/>
          </p:cNvSpPr>
          <p:nvPr/>
        </p:nvSpPr>
        <p:spPr bwMode="auto">
          <a:xfrm>
            <a:off x="1062038" y="1154113"/>
            <a:ext cx="4611688" cy="2062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int m;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scanf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("%d",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&amp;m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);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printf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("%</a:t>
            </a:r>
            <a:r>
              <a:rPr kumimoji="0" lang="en-US" altLang="zh-CN" sz="32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d",</a:t>
            </a:r>
            <a:r>
              <a:rPr kumimoji="0" lang="en-US" altLang="zh-CN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m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);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又如：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int data[N];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6327" name="Rectangle 7"/>
          <p:cNvSpPr>
            <a:spLocks noChangeArrowheads="1"/>
          </p:cNvSpPr>
          <p:nvPr/>
        </p:nvSpPr>
        <p:spPr bwMode="auto">
          <a:xfrm>
            <a:off x="117475" y="649288"/>
            <a:ext cx="43402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）由编译系统分配内存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8197" name="Group 24"/>
          <p:cNvGrpSpPr/>
          <p:nvPr/>
        </p:nvGrpSpPr>
        <p:grpSpPr>
          <a:xfrm>
            <a:off x="6415088" y="884238"/>
            <a:ext cx="1547812" cy="1236662"/>
            <a:chOff x="4355" y="-209"/>
            <a:chExt cx="975" cy="779"/>
          </a:xfrm>
        </p:grpSpPr>
        <p:sp>
          <p:nvSpPr>
            <p:cNvPr id="68652" name="Text Box 8"/>
            <p:cNvSpPr txBox="1"/>
            <p:nvPr/>
          </p:nvSpPr>
          <p:spPr>
            <a:xfrm>
              <a:off x="4355" y="-209"/>
              <a:ext cx="454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342900" lvl="0" indent="-342900" eaLnBrk="1" hangingPunct="1">
                <a:spcBef>
                  <a:spcPct val="50000"/>
                </a:spcBef>
                <a:buNone/>
              </a:pPr>
              <a:r>
                <a:rPr lang="en-US" altLang="zh-CN" b="1" dirty="0"/>
                <a:t>m</a:t>
              </a:r>
              <a:endParaRPr lang="en-US" altLang="zh-CN" b="1" dirty="0"/>
            </a:p>
          </p:txBody>
        </p:sp>
        <p:sp>
          <p:nvSpPr>
            <p:cNvPr id="68653" name="Rectangle 9"/>
            <p:cNvSpPr/>
            <p:nvPr/>
          </p:nvSpPr>
          <p:spPr>
            <a:xfrm>
              <a:off x="4423" y="116"/>
              <a:ext cx="907" cy="454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342900" lvl="0" indent="-342900" algn="ctr" eaLnBrk="1" hangingPunct="1">
                <a:buNone/>
              </a:pPr>
              <a:r>
                <a:rPr lang="en-US" altLang="zh-CN" b="1" dirty="0">
                  <a:solidFill>
                    <a:schemeClr val="hlink"/>
                  </a:solidFill>
                </a:rPr>
                <a:t>98</a:t>
              </a:r>
              <a:endParaRPr lang="en-US" altLang="zh-CN" b="1" dirty="0">
                <a:solidFill>
                  <a:schemeClr val="hlink"/>
                </a:solidFill>
              </a:endParaRPr>
            </a:p>
          </p:txBody>
        </p:sp>
      </p:grpSp>
      <p:sp>
        <p:nvSpPr>
          <p:cNvPr id="696330" name="Rectangle 10"/>
          <p:cNvSpPr>
            <a:spLocks noChangeArrowheads="1"/>
          </p:cNvSpPr>
          <p:nvPr/>
        </p:nvSpPr>
        <p:spPr bwMode="auto">
          <a:xfrm>
            <a:off x="57150" y="3124200"/>
            <a:ext cx="896461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）用内存动态分配方式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存储要求在写程序时无法确定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）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6331" name="Text Box 11"/>
          <p:cNvSpPr txBox="1"/>
          <p:nvPr/>
        </p:nvSpPr>
        <p:spPr>
          <a:xfrm>
            <a:off x="982663" y="3713163"/>
            <a:ext cx="6481762" cy="304609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zh-CN" b="1" dirty="0"/>
              <a:t>int *p; </a:t>
            </a:r>
            <a:endParaRPr lang="en-US" altLang="zh-CN" b="1" dirty="0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zh-CN" b="1" dirty="0"/>
              <a:t>p=(int *) </a:t>
            </a:r>
            <a:r>
              <a:rPr lang="en-US" altLang="zh-CN" b="1" dirty="0">
                <a:solidFill>
                  <a:schemeClr val="hlink"/>
                </a:solidFill>
              </a:rPr>
              <a:t>malloc(</a:t>
            </a:r>
            <a:r>
              <a:rPr lang="en-US" altLang="zh-CN" b="1" dirty="0"/>
              <a:t> sizeof(int) </a:t>
            </a:r>
            <a:r>
              <a:rPr lang="en-US" altLang="zh-CN" b="1" dirty="0">
                <a:solidFill>
                  <a:schemeClr val="hlink"/>
                </a:solidFill>
              </a:rPr>
              <a:t>) </a:t>
            </a:r>
            <a:r>
              <a:rPr lang="en-US" altLang="zh-CN" b="1" dirty="0"/>
              <a:t>;</a:t>
            </a:r>
            <a:endParaRPr lang="en-US" altLang="zh-CN" b="1" dirty="0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zh-CN" b="1" dirty="0"/>
              <a:t>scanf(</a:t>
            </a:r>
            <a:r>
              <a:rPr lang="en-US" altLang="zh-CN" b="1" noProof="0" dirty="0">
                <a:ln>
                  <a:noFill/>
                </a:ln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sym typeface="+mn-ea"/>
              </a:rPr>
              <a:t>"</a:t>
            </a:r>
            <a:r>
              <a:rPr lang="en-US" altLang="zh-CN" b="1" dirty="0"/>
              <a:t>%d</a:t>
            </a:r>
            <a:r>
              <a:rPr lang="en-US" altLang="zh-CN" b="1" noProof="0" dirty="0">
                <a:ln>
                  <a:noFill/>
                </a:ln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sym typeface="+mn-ea"/>
              </a:rPr>
              <a:t>"</a:t>
            </a:r>
            <a:r>
              <a:rPr lang="en-US" altLang="zh-CN" b="1" dirty="0"/>
              <a:t>, </a:t>
            </a:r>
            <a:r>
              <a:rPr lang="en-US" altLang="zh-CN" b="1" dirty="0">
                <a:solidFill>
                  <a:srgbClr val="FF00FF"/>
                </a:solidFill>
              </a:rPr>
              <a:t>p</a:t>
            </a:r>
            <a:r>
              <a:rPr lang="en-US" altLang="zh-CN" b="1" dirty="0"/>
              <a:t>); </a:t>
            </a:r>
            <a:endParaRPr lang="en-US" altLang="zh-CN" b="1" dirty="0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zh-CN" b="1" dirty="0"/>
              <a:t>printf(</a:t>
            </a:r>
            <a:r>
              <a:rPr lang="en-US" altLang="zh-CN" b="1" noProof="0" dirty="0">
                <a:ln>
                  <a:noFill/>
                </a:ln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sym typeface="+mn-ea"/>
              </a:rPr>
              <a:t>"</a:t>
            </a:r>
            <a:r>
              <a:rPr lang="en-US" altLang="zh-CN" b="1" dirty="0"/>
              <a:t>%d</a:t>
            </a:r>
            <a:r>
              <a:rPr lang="en-US" altLang="zh-CN" b="1" noProof="0" dirty="0">
                <a:ln>
                  <a:noFill/>
                </a:ln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sym typeface="+mn-ea"/>
              </a:rPr>
              <a:t>"</a:t>
            </a:r>
            <a:r>
              <a:rPr lang="en-US" altLang="zh-CN" b="1" dirty="0"/>
              <a:t>, </a:t>
            </a:r>
            <a:r>
              <a:rPr lang="en-US" altLang="zh-CN" b="1" dirty="0">
                <a:solidFill>
                  <a:srgbClr val="FF00FF"/>
                </a:solidFill>
              </a:rPr>
              <a:t>*p</a:t>
            </a:r>
            <a:r>
              <a:rPr lang="en-US" altLang="zh-CN" b="1" dirty="0"/>
              <a:t> );</a:t>
            </a:r>
            <a:endParaRPr lang="en-US" altLang="zh-CN" b="1" dirty="0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hlink"/>
                </a:solidFill>
              </a:rPr>
              <a:t>free(</a:t>
            </a:r>
            <a:r>
              <a:rPr lang="en-US" altLang="zh-CN" b="1" dirty="0"/>
              <a:t>p</a:t>
            </a:r>
            <a:r>
              <a:rPr lang="en-US" altLang="zh-CN" b="1" dirty="0">
                <a:solidFill>
                  <a:schemeClr val="hlink"/>
                </a:solidFill>
              </a:rPr>
              <a:t>)</a:t>
            </a:r>
            <a:r>
              <a:rPr lang="en-US" altLang="zh-CN" b="1" dirty="0"/>
              <a:t>;</a:t>
            </a:r>
            <a:endParaRPr lang="en-US" altLang="zh-CN" b="1" dirty="0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507F7"/>
                </a:solidFill>
              </a:rPr>
              <a:t>p=NULL;</a:t>
            </a:r>
            <a:endParaRPr lang="en-US" altLang="zh-CN" b="1" dirty="0">
              <a:solidFill>
                <a:srgbClr val="F507F7"/>
              </a:solidFill>
            </a:endParaRPr>
          </a:p>
        </p:txBody>
      </p:sp>
      <p:sp>
        <p:nvSpPr>
          <p:cNvPr id="696333" name="Text Box 13"/>
          <p:cNvSpPr txBox="1"/>
          <p:nvPr/>
        </p:nvSpPr>
        <p:spPr>
          <a:xfrm>
            <a:off x="8975725" y="3716338"/>
            <a:ext cx="1368425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spcBef>
                <a:spcPct val="50000"/>
              </a:spcBef>
              <a:buNone/>
            </a:pPr>
            <a:r>
              <a:rPr lang="zh-CN" altLang="en-US" sz="1800" b="1" dirty="0"/>
              <a:t>没有名字</a:t>
            </a:r>
            <a:endParaRPr lang="zh-CN" altLang="en-US" sz="1800" b="1" dirty="0"/>
          </a:p>
        </p:txBody>
      </p:sp>
      <p:sp>
        <p:nvSpPr>
          <p:cNvPr id="696334" name="Rectangle 14"/>
          <p:cNvSpPr/>
          <p:nvPr/>
        </p:nvSpPr>
        <p:spPr>
          <a:xfrm>
            <a:off x="9048750" y="4076700"/>
            <a:ext cx="1439863" cy="720725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342900" lvl="0" indent="-342900" algn="ctr" eaLnBrk="1" hangingPunct="1">
              <a:buNone/>
            </a:pPr>
            <a:endParaRPr lang="zh-CN" altLang="zh-CN" b="1" dirty="0">
              <a:solidFill>
                <a:schemeClr val="hlink"/>
              </a:solidFill>
            </a:endParaRPr>
          </a:p>
        </p:txBody>
      </p:sp>
      <p:grpSp>
        <p:nvGrpSpPr>
          <p:cNvPr id="696345" name="Group 25"/>
          <p:cNvGrpSpPr/>
          <p:nvPr/>
        </p:nvGrpSpPr>
        <p:grpSpPr>
          <a:xfrm>
            <a:off x="8543925" y="5300663"/>
            <a:ext cx="1944688" cy="865187"/>
            <a:chOff x="4422" y="3339"/>
            <a:chExt cx="1225" cy="545"/>
          </a:xfrm>
        </p:grpSpPr>
        <p:sp>
          <p:nvSpPr>
            <p:cNvPr id="68650" name="Text Box 17"/>
            <p:cNvSpPr txBox="1"/>
            <p:nvPr/>
          </p:nvSpPr>
          <p:spPr>
            <a:xfrm>
              <a:off x="4422" y="3519"/>
              <a:ext cx="454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342900" lvl="0" indent="-342900" eaLnBrk="1" hangingPunct="1">
                <a:spcBef>
                  <a:spcPct val="50000"/>
                </a:spcBef>
                <a:buNone/>
              </a:pPr>
              <a:r>
                <a:rPr lang="en-US" altLang="zh-CN" b="1" dirty="0"/>
                <a:t>p</a:t>
              </a:r>
              <a:endParaRPr lang="en-US" altLang="zh-CN" b="1" dirty="0"/>
            </a:p>
          </p:txBody>
        </p:sp>
        <p:sp>
          <p:nvSpPr>
            <p:cNvPr id="68651" name="Rectangle 18"/>
            <p:cNvSpPr/>
            <p:nvPr/>
          </p:nvSpPr>
          <p:spPr>
            <a:xfrm>
              <a:off x="4740" y="3339"/>
              <a:ext cx="907" cy="454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342900" lvl="0" indent="-342900" algn="ctr" eaLnBrk="1" hangingPunct="1">
                <a:buNone/>
              </a:pPr>
              <a:endParaRPr lang="zh-CN" altLang="zh-CN" sz="2400" b="1" dirty="0"/>
            </a:p>
          </p:txBody>
        </p:sp>
      </p:grpSp>
      <p:sp>
        <p:nvSpPr>
          <p:cNvPr id="696339" name="Text Box 19"/>
          <p:cNvSpPr txBox="1"/>
          <p:nvPr/>
        </p:nvSpPr>
        <p:spPr>
          <a:xfrm>
            <a:off x="8470900" y="4149725"/>
            <a:ext cx="720725" cy="2746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spcBef>
                <a:spcPct val="50000"/>
              </a:spcBef>
              <a:buNone/>
            </a:pPr>
            <a:r>
              <a:rPr lang="en-US" altLang="zh-CN" sz="1200" b="1" dirty="0"/>
              <a:t>A00F</a:t>
            </a:r>
            <a:endParaRPr lang="en-US" altLang="zh-CN" sz="1200" b="1" dirty="0"/>
          </a:p>
        </p:txBody>
      </p:sp>
      <p:grpSp>
        <p:nvGrpSpPr>
          <p:cNvPr id="696343" name="Group 23"/>
          <p:cNvGrpSpPr/>
          <p:nvPr/>
        </p:nvGrpSpPr>
        <p:grpSpPr>
          <a:xfrm>
            <a:off x="8215313" y="4437063"/>
            <a:ext cx="833437" cy="1223962"/>
            <a:chOff x="4014" y="2795"/>
            <a:chExt cx="726" cy="771"/>
          </a:xfrm>
        </p:grpSpPr>
        <p:sp>
          <p:nvSpPr>
            <p:cNvPr id="68647" name="Line 20"/>
            <p:cNvSpPr/>
            <p:nvPr/>
          </p:nvSpPr>
          <p:spPr>
            <a:xfrm flipH="1">
              <a:off x="4014" y="3566"/>
              <a:ext cx="726" cy="0"/>
            </a:xfrm>
            <a:prstGeom prst="line">
              <a:avLst/>
            </a:prstGeom>
            <a:ln w="38100" cap="flat" cmpd="sng">
              <a:solidFill>
                <a:srgbClr val="F507F7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8648" name="Line 21"/>
            <p:cNvSpPr/>
            <p:nvPr/>
          </p:nvSpPr>
          <p:spPr>
            <a:xfrm flipV="1">
              <a:off x="4014" y="2795"/>
              <a:ext cx="0" cy="771"/>
            </a:xfrm>
            <a:prstGeom prst="line">
              <a:avLst/>
            </a:prstGeom>
            <a:ln w="38100" cap="flat" cmpd="sng">
              <a:solidFill>
                <a:srgbClr val="F507F7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8649" name="Line 22"/>
            <p:cNvSpPr/>
            <p:nvPr/>
          </p:nvSpPr>
          <p:spPr>
            <a:xfrm>
              <a:off x="4014" y="2795"/>
              <a:ext cx="726" cy="0"/>
            </a:xfrm>
            <a:prstGeom prst="line">
              <a:avLst/>
            </a:prstGeom>
            <a:ln w="38100" cap="flat" cmpd="sng">
              <a:solidFill>
                <a:srgbClr val="F507F7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696346" name="Text Box 26"/>
          <p:cNvSpPr txBox="1"/>
          <p:nvPr/>
        </p:nvSpPr>
        <p:spPr>
          <a:xfrm>
            <a:off x="9191625" y="5445125"/>
            <a:ext cx="11525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spcBef>
                <a:spcPct val="50000"/>
              </a:spcBef>
              <a:buNone/>
            </a:pPr>
            <a:r>
              <a:rPr lang="en-US" altLang="zh-CN" sz="2400" b="1" dirty="0"/>
              <a:t>A00F</a:t>
            </a:r>
            <a:endParaRPr lang="en-US" altLang="zh-CN" sz="2400" b="1" dirty="0"/>
          </a:p>
        </p:txBody>
      </p:sp>
      <p:sp>
        <p:nvSpPr>
          <p:cNvPr id="696347" name="Text Box 27"/>
          <p:cNvSpPr txBox="1"/>
          <p:nvPr/>
        </p:nvSpPr>
        <p:spPr>
          <a:xfrm>
            <a:off x="9551988" y="4221163"/>
            <a:ext cx="649287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chemeClr val="hlink"/>
                </a:solidFill>
              </a:rPr>
              <a:t>98</a:t>
            </a:r>
            <a:endParaRPr lang="en-US" altLang="zh-CN" sz="2400" b="1" dirty="0">
              <a:solidFill>
                <a:schemeClr val="hlink"/>
              </a:solidFill>
            </a:endParaRPr>
          </a:p>
        </p:txBody>
      </p:sp>
      <p:sp>
        <p:nvSpPr>
          <p:cNvPr id="696348" name="Rectangle 28"/>
          <p:cNvSpPr/>
          <p:nvPr/>
        </p:nvSpPr>
        <p:spPr>
          <a:xfrm>
            <a:off x="3033713" y="4281488"/>
            <a:ext cx="4154487" cy="457200"/>
          </a:xfrm>
          <a:prstGeom prst="rect">
            <a:avLst/>
          </a:prstGeom>
          <a:noFill/>
          <a:ln w="38100" cap="flat" cmpd="sng">
            <a:solidFill>
              <a:srgbClr val="F507F7"/>
            </a:solidFill>
            <a:prstDash val="dash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/>
            <a:endParaRPr lang="zh-CN" altLang="en-US" b="1" dirty="0"/>
          </a:p>
        </p:txBody>
      </p:sp>
      <p:sp>
        <p:nvSpPr>
          <p:cNvPr id="2" name="矩形 1"/>
          <p:cNvSpPr/>
          <p:nvPr/>
        </p:nvSpPr>
        <p:spPr>
          <a:xfrm>
            <a:off x="5257800" y="6324600"/>
            <a:ext cx="6926263" cy="523875"/>
          </a:xfrm>
          <a:prstGeom prst="rect">
            <a:avLst/>
          </a:prstGeom>
          <a:solidFill>
            <a:srgbClr val="00B0F0"/>
          </a:solidFill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动态存储管理：使用时申请，用完就释放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Text Box 5"/>
          <p:cNvSpPr txBox="1">
            <a:spLocks noChangeArrowheads="1"/>
          </p:cNvSpPr>
          <p:nvPr/>
        </p:nvSpPr>
        <p:spPr bwMode="auto">
          <a:xfrm>
            <a:off x="112713" y="85725"/>
            <a:ext cx="641032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Tahoma" panose="020B0604030504040204" pitchFamily="34" charset="0"/>
              </a:rPr>
              <a:t>§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C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语言中，使用内存的两种方法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9767888" y="85725"/>
          <a:ext cx="815975" cy="29622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5975"/>
              </a:tblGrid>
              <a:tr h="370920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65" marR="91465" marT="45730" marB="45730"/>
                </a:tc>
              </a:tr>
              <a:tr h="370920"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91465" marR="91465" marT="45730" marB="45730"/>
                </a:tc>
              </a:tr>
              <a:tr h="370920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65" marR="91465" marT="45730" marB="45730"/>
                </a:tc>
              </a:tr>
              <a:tr h="365838"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91465" marR="91465" marT="45730" marB="45730"/>
                </a:tc>
              </a:tr>
              <a:tr h="370920"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91465" marR="91465" marT="45730" marB="45730"/>
                </a:tc>
              </a:tr>
              <a:tr h="370920"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91465" marR="91465" marT="45730" marB="45730"/>
                </a:tc>
              </a:tr>
              <a:tr h="370920"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91465" marR="91465" marT="45730" marB="45730"/>
                </a:tc>
              </a:tr>
              <a:tr h="370920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65" marR="91465" marT="45730" marB="45730"/>
                </a:tc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8631238" y="-39687"/>
            <a:ext cx="1192212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None/>
            </a:pPr>
            <a:r>
              <a:rPr lang="en-US" altLang="zh-CN" b="1" dirty="0"/>
              <a:t>data</a:t>
            </a:r>
            <a:endParaRPr lang="en-US" altLang="zh-CN" b="1" dirty="0"/>
          </a:p>
        </p:txBody>
      </p:sp>
      <p:sp>
        <p:nvSpPr>
          <p:cNvPr id="3" name="Text Box 26"/>
          <p:cNvSpPr txBox="1"/>
          <p:nvPr/>
        </p:nvSpPr>
        <p:spPr>
          <a:xfrm>
            <a:off x="9191625" y="5441950"/>
            <a:ext cx="1152525" cy="460375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NULL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charRg st="40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31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96331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31">
                                            <p:txEl>
                                              <p:charRg st="9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696331">
                                            <p:txEl>
                                              <p:charRg st="9" end="4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31">
                                            <p:txEl>
                                              <p:charRg st="43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96331">
                                            <p:txEl>
                                              <p:charRg st="43" end="6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31">
                                            <p:txEl>
                                              <p:charRg st="60" end="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696331">
                                            <p:txEl>
                                              <p:charRg st="60" end="7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31">
                                            <p:txEl>
                                              <p:charRg st="79" end="8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696331">
                                            <p:txEl>
                                              <p:charRg st="79" end="8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31">
                                            <p:txEl>
                                              <p:char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696331">
                                            <p:txEl>
                                              <p:char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696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696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696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696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696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696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696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696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8" dur="500"/>
                                        <p:tgtEl>
                                          <p:spTgt spid="6963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6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1" dur="500"/>
                                        <p:tgtEl>
                                          <p:spTgt spid="6963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6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4" dur="500"/>
                                        <p:tgtEl>
                                          <p:spTgt spid="6963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6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7" dur="500"/>
                                        <p:tgtEl>
                                          <p:spTgt spid="6963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6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0" dur="500"/>
                                        <p:tgtEl>
                                          <p:spTgt spid="6963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6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3" dur="500"/>
                                        <p:tgtEl>
                                          <p:spTgt spid="6963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6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33" grpId="0"/>
      <p:bldP spid="696333" grpId="1"/>
      <p:bldP spid="696334" grpId="0" animBg="1"/>
      <p:bldP spid="696334" grpId="1" animBg="1"/>
      <p:bldP spid="696339" grpId="0"/>
      <p:bldP spid="696339" grpId="1"/>
      <p:bldP spid="696346" grpId="0"/>
      <p:bldP spid="696347" grpId="0"/>
      <p:bldP spid="696347" grpId="1"/>
      <p:bldP spid="696348" grpId="0" bldLvl="0" animBg="1"/>
      <p:bldP spid="2" grpId="0" bldLvl="0" animBg="1"/>
      <p:bldP spid="5" grpId="0"/>
      <p:bldP spid="3" grpId="0" bldLvl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7DC64E6-9E49-4ADD-A769-C5D13D8663A6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9842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0"/>
            <a:ext cx="8229600" cy="11430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§9.2.2  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返回结构体的函数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9700" name="Rectangle 3"/>
          <p:cNvSpPr>
            <a:spLocks noGrp="1" noChangeArrowheads="1"/>
          </p:cNvSpPr>
          <p:nvPr>
            <p:ph idx="1"/>
          </p:nvPr>
        </p:nvSpPr>
        <p:spPr>
          <a:xfrm>
            <a:off x="0" y="1143000"/>
            <a:ext cx="12115800" cy="39624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15000"/>
              </a:lnSpc>
              <a:spcBef>
                <a:spcPct val="1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函数的计算结果可能是一个结构体值。在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中，有两种途径能够把该结构体值通过函数名字带回到主调函数。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ct val="1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ct val="1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Calibri" panose="020F0502020204030204" charset="0"/>
                <a:ea typeface="+mn-ea"/>
                <a:cs typeface="+mn-cs"/>
              </a:rPr>
              <a:t>①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返回结构体值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5000"/>
              </a:lnSpc>
              <a:spcBef>
                <a:spcPct val="1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  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		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函数结果类型是</a:t>
            </a:r>
            <a:r>
              <a:rPr kumimoji="0" lang="zh-CN" altLang="en-US" b="1" i="0" u="sng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结构体类型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，直接把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</a:rPr>
              <a:t>结构体值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带回调用函数的主程序</a:t>
            </a: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5000"/>
              </a:lnSpc>
              <a:spcBef>
                <a:spcPct val="1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Calibri" panose="020F0502020204030204" charset="0"/>
                <a:ea typeface="+mn-ea"/>
                <a:cs typeface="+mn-cs"/>
              </a:rPr>
              <a:t>②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返回结构体指针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5000"/>
              </a:lnSpc>
              <a:spcBef>
                <a:spcPct val="1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		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函数结果类型是</a:t>
            </a:r>
            <a:r>
              <a:rPr kumimoji="0" lang="zh-CN" altLang="en-US" sz="2800" b="1" i="0" u="sng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指向结构体类型变量的</a:t>
            </a:r>
            <a:r>
              <a:rPr kumimoji="0" lang="zh-CN" altLang="en-US" sz="2800" b="1" i="0" u="sng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</a:rPr>
              <a:t>指针类型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5000"/>
              </a:lnSpc>
              <a:spcBef>
                <a:spcPct val="1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1657965" y="6400800"/>
            <a:ext cx="501015" cy="457200"/>
          </a:xfrm>
        </p:spPr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E9C9C94-7722-4EEB-8EEB-62371918FFB2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23938" name="Rectangle 2"/>
          <p:cNvSpPr>
            <a:spLocks noGrp="1" noChangeArrowheads="1"/>
          </p:cNvSpPr>
          <p:nvPr>
            <p:ph idx="1"/>
          </p:nvPr>
        </p:nvSpPr>
        <p:spPr>
          <a:xfrm>
            <a:off x="14605" y="533400"/>
            <a:ext cx="8890635" cy="28956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函数原型：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600" b="1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struct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achievement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6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input_achievement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(int </a:t>
            </a:r>
            <a:r>
              <a:rPr kumimoji="0" lang="en-US" altLang="zh-CN" sz="26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en-US" altLang="zh-CN" sz="2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 	     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struct achievement stu1;</a:t>
            </a: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800100" marR="0" lvl="1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stu1.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number = </a:t>
            </a:r>
            <a:r>
              <a:rPr kumimoji="0" lang="en-US" altLang="zh-CN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; 		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 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学号赋值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800100" marR="0" lvl="1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scanf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("%s%d",stu1.name,&amp;stu1.achieve);</a:t>
            </a: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800100" marR="0" lvl="1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return stu1;</a:t>
            </a: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5781" name="Rectangle 4"/>
          <p:cNvSpPr/>
          <p:nvPr/>
        </p:nvSpPr>
        <p:spPr>
          <a:xfrm>
            <a:off x="14288" y="-317"/>
            <a:ext cx="268541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Calibri" panose="020F0502020204030204" charset="0"/>
              </a:rPr>
              <a:t>①</a:t>
            </a:r>
            <a:r>
              <a:rPr lang="zh-CN" altLang="en-US" sz="2800" b="1" dirty="0">
                <a:latin typeface="Arial" panose="020B0604020202020204" pitchFamily="34" charset="0"/>
              </a:rPr>
              <a:t>返回结构体值</a:t>
            </a:r>
            <a:endParaRPr lang="zh-CN" altLang="en-US" sz="2800" b="1" dirty="0">
              <a:latin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6200" y="3502025"/>
            <a:ext cx="9164320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sz="2800" kern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sym typeface="+mn-ea"/>
              </a:rPr>
              <a:t>函数调用：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lang="en-US" altLang="zh-CN" sz="2800" noProof="0" dirty="0">
                <a:ln>
                  <a:noFill/>
                </a:ln>
                <a:effectLst/>
                <a:uLnTx/>
                <a:uFillTx/>
                <a:sym typeface="+mn-ea"/>
              </a:rPr>
              <a:t>for(</a:t>
            </a:r>
            <a:r>
              <a:rPr lang="en-US" altLang="zh-CN" sz="2800" noProof="0" dirty="0" err="1">
                <a:ln>
                  <a:noFill/>
                </a:ln>
                <a:effectLst/>
                <a:uLnTx/>
                <a:uFillTx/>
                <a:sym typeface="+mn-ea"/>
              </a:rPr>
              <a:t>i</a:t>
            </a:r>
            <a:r>
              <a:rPr lang="en-US" altLang="zh-CN" sz="2800" noProof="0" dirty="0">
                <a:ln>
                  <a:noFill/>
                </a:ln>
                <a:effectLst/>
                <a:uLnTx/>
                <a:uFillTx/>
                <a:sym typeface="+mn-ea"/>
              </a:rPr>
              <a:t>=0;i&lt;</a:t>
            </a:r>
            <a:r>
              <a:rPr lang="en-US" altLang="zh-CN" sz="2800" noProof="0" dirty="0" err="1">
                <a:ln>
                  <a:noFill/>
                </a:ln>
                <a:effectLst/>
                <a:uLnTx/>
                <a:uFillTx/>
                <a:sym typeface="+mn-ea"/>
              </a:rPr>
              <a:t>N;i</a:t>
            </a:r>
            <a:r>
              <a:rPr lang="en-US" altLang="zh-CN" sz="2800" noProof="0" dirty="0">
                <a:ln>
                  <a:noFill/>
                </a:ln>
                <a:effectLst/>
                <a:uLnTx/>
                <a:uFillTx/>
                <a:sym typeface="+mn-ea"/>
              </a:rPr>
              <a:t>++)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lang="en-US" altLang="zh-CN" sz="280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sym typeface="+mn-ea"/>
              </a:rPr>
              <a:t>		</a:t>
            </a:r>
            <a:r>
              <a:rPr lang="en-US" altLang="zh-CN" sz="2800" kern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sym typeface="+mn-ea"/>
              </a:rPr>
              <a:t>tab_achievement[i] </a:t>
            </a:r>
            <a:r>
              <a:rPr lang="en-US" altLang="zh-CN" sz="2800" noProof="0" dirty="0">
                <a:ln>
                  <a:noFill/>
                </a:ln>
                <a:effectLst/>
                <a:uLnTx/>
                <a:uFillTx/>
                <a:sym typeface="+mn-ea"/>
              </a:rPr>
              <a:t>= </a:t>
            </a:r>
            <a:r>
              <a:rPr lang="en-US" altLang="zh-CN" sz="2800" noProof="0" dirty="0" err="1">
                <a:ln>
                  <a:noFill/>
                </a:ln>
                <a:effectLst/>
                <a:uLnTx/>
                <a:uFillTx/>
                <a:sym typeface="+mn-ea"/>
              </a:rPr>
              <a:t>i</a:t>
            </a:r>
            <a:r>
              <a:rPr lang="en-US" altLang="zh-CN" sz="2800" noProof="0" dirty="0" err="1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sym typeface="+mn-ea"/>
              </a:rPr>
              <a:t>nput_achievement</a:t>
            </a:r>
            <a:r>
              <a:rPr lang="en-US" altLang="zh-CN" sz="28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sym typeface="+mn-ea"/>
              </a:rPr>
              <a:t>(</a:t>
            </a:r>
            <a:r>
              <a:rPr lang="en-US" altLang="zh-CN" sz="28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sym typeface="+mn-ea"/>
              </a:rPr>
              <a:t>i</a:t>
            </a:r>
            <a:r>
              <a:rPr lang="en-US" altLang="zh-CN" sz="28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sym typeface="+mn-ea"/>
              </a:rPr>
              <a:t>)</a:t>
            </a:r>
            <a:r>
              <a:rPr lang="en-US" altLang="zh-CN" sz="2800" noProof="0" dirty="0">
                <a:ln>
                  <a:noFill/>
                </a:ln>
                <a:effectLst/>
                <a:uLnTx/>
                <a:uFillTx/>
                <a:sym typeface="+mn-ea"/>
              </a:rPr>
              <a:t> ; </a:t>
            </a:r>
            <a:endParaRPr lang="en-US" altLang="zh-CN" sz="2800" noProof="0" dirty="0">
              <a:ln>
                <a:noFill/>
              </a:ln>
              <a:effectLst/>
              <a:uLnTx/>
              <a:uFillTx/>
              <a:sym typeface="+mn-ea"/>
            </a:endParaRPr>
          </a:p>
        </p:txBody>
      </p:sp>
      <p:sp>
        <p:nvSpPr>
          <p:cNvPr id="80899" name="Rectangle 2"/>
          <p:cNvSpPr>
            <a:spLocks noGrp="1"/>
          </p:cNvSpPr>
          <p:nvPr/>
        </p:nvSpPr>
        <p:spPr>
          <a:xfrm>
            <a:off x="76200" y="5791200"/>
            <a:ext cx="11872595" cy="6076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25000"/>
              </a:lnSpc>
              <a:buNone/>
            </a:pPr>
            <a:r>
              <a:rPr lang="zh-CN" altLang="en-US" sz="2800" b="1" dirty="0">
                <a:effectLst/>
                <a:latin typeface="Arial" panose="020B0604020202020204" pitchFamily="34" charset="0"/>
              </a:rPr>
              <a:t>就是返回指针的函数</a:t>
            </a:r>
            <a:r>
              <a:rPr lang="en-US" altLang="zh-CN" sz="2800" b="1" dirty="0">
                <a:effectLst/>
                <a:latin typeface="Arial" panose="020B0604020202020204" pitchFamily="34" charset="0"/>
              </a:rPr>
              <a:t>,</a:t>
            </a:r>
            <a:r>
              <a:rPr lang="zh-CN" altLang="en-US" sz="2800" b="1" dirty="0">
                <a:effectLst/>
                <a:latin typeface="Arial" panose="020B0604020202020204" pitchFamily="34" charset="0"/>
              </a:rPr>
              <a:t>与返回</a:t>
            </a:r>
            <a:r>
              <a:rPr lang="zh-CN" altLang="en-US" sz="2800" dirty="0">
                <a:effectLst/>
                <a:latin typeface="Arial" panose="020B0604020202020204" pitchFamily="34" charset="0"/>
                <a:sym typeface="+mn-ea"/>
              </a:rPr>
              <a:t>其它类型</a:t>
            </a:r>
            <a:r>
              <a:rPr lang="zh-CN" altLang="en-US" sz="2800" b="1" dirty="0">
                <a:effectLst/>
                <a:latin typeface="Arial" panose="020B0604020202020204" pitchFamily="34" charset="0"/>
              </a:rPr>
              <a:t>指针的函数没有任何区别，不再赘述</a:t>
            </a:r>
            <a:endParaRPr lang="zh-CN" altLang="en-US" sz="2800" b="1" dirty="0">
              <a:solidFill>
                <a:schemeClr val="hlink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0900" name="Rectangle 3"/>
          <p:cNvSpPr/>
          <p:nvPr/>
        </p:nvSpPr>
        <p:spPr>
          <a:xfrm>
            <a:off x="76200" y="5181600"/>
            <a:ext cx="3042920" cy="6299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25000"/>
              </a:lnSpc>
              <a:buNone/>
            </a:pPr>
            <a:r>
              <a:rPr lang="en-US" altLang="zh-CN" sz="2800" b="1" dirty="0">
                <a:latin typeface="Calibri" panose="020F0502020204030204" charset="0"/>
              </a:rPr>
              <a:t>②</a:t>
            </a:r>
            <a:r>
              <a:rPr lang="zh-CN" altLang="en-US" sz="2800" b="1" dirty="0">
                <a:latin typeface="Arial" panose="020B0604020202020204" pitchFamily="34" charset="0"/>
              </a:rPr>
              <a:t>返回结构体指针</a:t>
            </a:r>
            <a:endParaRPr lang="zh-CN" altLang="en-US" sz="28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F9319FC-0C7A-4F5B-8BD8-ABE407DB3871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2947" name="Rectangle 2"/>
          <p:cNvSpPr>
            <a:spLocks noGrp="1"/>
          </p:cNvSpPr>
          <p:nvPr>
            <p:ph type="title"/>
          </p:nvPr>
        </p:nvSpPr>
        <p:spPr>
          <a:xfrm>
            <a:off x="3733800" y="0"/>
            <a:ext cx="5155565" cy="6223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b="1" dirty="0">
                <a:solidFill>
                  <a:srgbClr val="FFC000"/>
                </a:solidFill>
                <a:effectLst/>
                <a:latin typeface="宋体" panose="02010600030101010101" pitchFamily="2" charset="-122"/>
              </a:rPr>
              <a:t>§9.3  </a:t>
            </a:r>
            <a:r>
              <a:rPr lang="zh-CN" altLang="en-US" b="1" dirty="0">
                <a:solidFill>
                  <a:srgbClr val="FFC000"/>
                </a:solidFill>
                <a:effectLst/>
              </a:rPr>
              <a:t>作用域</a:t>
            </a:r>
            <a:endParaRPr lang="zh-CN" altLang="en-US" b="1" dirty="0">
              <a:solidFill>
                <a:srgbClr val="FFC000"/>
              </a:solidFill>
              <a:effectLst/>
            </a:endParaRPr>
          </a:p>
        </p:txBody>
      </p:sp>
      <p:sp>
        <p:nvSpPr>
          <p:cNvPr id="34820" name="Rectangle 3"/>
          <p:cNvSpPr>
            <a:spLocks noGrp="1" noChangeArrowheads="1"/>
          </p:cNvSpPr>
          <p:nvPr>
            <p:ph idx="1"/>
          </p:nvPr>
        </p:nvSpPr>
        <p:spPr>
          <a:xfrm>
            <a:off x="-34925" y="406400"/>
            <a:ext cx="7924800" cy="23336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§9.3.1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作用域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   就是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</a:rPr>
              <a:t>标识符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</a:rPr>
              <a:t>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</a:rPr>
              <a:t>有定义的区域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在该标识符的作用域内，使用它是合法的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且所使用的就是相应声明的标识符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2225" y="3149600"/>
            <a:ext cx="5523230" cy="2676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C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程序中，每个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800100" marR="0" lvl="1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源程序编译单位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800100" marR="0" lvl="1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函数定义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800100" marR="0" lvl="1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函数原型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800100" marR="0" lvl="1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复合语句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都各自构成一个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作用域区域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rcRect l="1488" r="37204"/>
          <a:stretch>
            <a:fillRect/>
          </a:stretch>
        </p:blipFill>
        <p:spPr>
          <a:xfrm>
            <a:off x="6370320" y="1614805"/>
            <a:ext cx="5801995" cy="524319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47B4D1A-578D-4FDB-B2A1-AB331EB5C5A5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28034" name="Rectangle 2"/>
          <p:cNvSpPr>
            <a:spLocks noGrp="1" noChangeArrowheads="1"/>
          </p:cNvSpPr>
          <p:nvPr>
            <p:ph idx="1"/>
          </p:nvPr>
        </p:nvSpPr>
        <p:spPr>
          <a:xfrm>
            <a:off x="-9525" y="0"/>
            <a:ext cx="12344400" cy="3124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声明点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C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程序中出现的每一个标识符都有一个声明点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即“包含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相应标识符词法记号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的声明符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的结尾处”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	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int  x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/*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此处为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x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的声明点 *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/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	float u[10][20]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/*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此处为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u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的声明点*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/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;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</a:endParaRPr>
          </a:p>
        </p:txBody>
      </p:sp>
      <p:pic>
        <p:nvPicPr>
          <p:cNvPr id="8499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68395" y="2149475"/>
            <a:ext cx="8519160" cy="47085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4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CAA572-73D0-49E9-A595-E206596201DA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0117" name="Rectangle 37"/>
          <p:cNvSpPr>
            <a:spLocks noChangeArrowheads="1"/>
          </p:cNvSpPr>
          <p:nvPr/>
        </p:nvSpPr>
        <p:spPr bwMode="auto">
          <a:xfrm>
            <a:off x="381000" y="685800"/>
            <a:ext cx="10282238" cy="4895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局部变量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在函数内定义的变量（包括形参）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作用范围：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本函数内部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定义在复合语句内的变量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作用范围：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复合语句内部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全局变量	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在函数以外定义的变量，不从属于任一函数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作用范围：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从声明点到源文件结束</a:t>
            </a: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（包括各函数）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BD5DE77-F260-43BD-B27F-468ED8BB0CFB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9091" name="Rectangle 2"/>
          <p:cNvSpPr>
            <a:spLocks noChangeArrowheads="1"/>
          </p:cNvSpPr>
          <p:nvPr/>
        </p:nvSpPr>
        <p:spPr bwMode="auto">
          <a:xfrm>
            <a:off x="152400" y="533400"/>
            <a:ext cx="5575300" cy="3291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179705" indent="1841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C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语言规定：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179705" marR="0" lvl="1" indent="1841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  <a:cs typeface="+mn-cs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在嵌套结构中：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179705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外层标识符的作用域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F507F7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不包括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179705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里层同名标识符的作用域区域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179705" marR="0" lvl="1" indent="1841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179705" marR="0" lvl="1" indent="1841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在同一作用域区域内：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179705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不得重复声明同名标识符 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89092" name="Rectangle 3"/>
          <p:cNvSpPr/>
          <p:nvPr/>
        </p:nvSpPr>
        <p:spPr>
          <a:xfrm>
            <a:off x="6705600" y="76200"/>
            <a:ext cx="5477510" cy="536829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#include&lt;stdio.h&gt;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0" lvl="0" indent="0"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hlink"/>
                </a:solidFill>
                <a:latin typeface="Arial" panose="020B0604020202020204" pitchFamily="34" charset="0"/>
                <a:sym typeface="+mn-ea"/>
              </a:rPr>
              <a:t>int m=10;</a:t>
            </a:r>
            <a:endParaRPr lang="en-US" altLang="zh-CN" sz="2400" b="1" dirty="0">
              <a:solidFill>
                <a:schemeClr val="hlink"/>
              </a:solidFill>
              <a:latin typeface="Arial" panose="020B0604020202020204" pitchFamily="34" charset="0"/>
            </a:endParaRPr>
          </a:p>
          <a:p>
            <a:pPr marL="0" lvl="0" indent="0" algn="l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b="1" dirty="0">
              <a:latin typeface="Arial" panose="020B0604020202020204" pitchFamily="34" charset="0"/>
            </a:endParaRPr>
          </a:p>
          <a:p>
            <a:pPr marL="0" lvl="0" indent="0"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int main()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0" lvl="0" indent="0"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{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0" lvl="0" indent="0"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	int flag=1;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0" lvl="0" indent="0"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	if(flag)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0" lvl="0" indent="0"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	{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0" lvl="0" indent="0"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		</a:t>
            </a:r>
            <a:r>
              <a:rPr lang="en-US" altLang="zh-CN" sz="2400" b="1" dirty="0">
                <a:solidFill>
                  <a:schemeClr val="hlink"/>
                </a:solidFill>
                <a:latin typeface="Arial" panose="020B0604020202020204" pitchFamily="34" charset="0"/>
              </a:rPr>
              <a:t>int m=20;</a:t>
            </a:r>
            <a:endParaRPr lang="en-US" altLang="zh-CN" sz="2400" b="1" dirty="0">
              <a:solidFill>
                <a:schemeClr val="hlink"/>
              </a:solidFill>
              <a:latin typeface="Arial" panose="020B0604020202020204" pitchFamily="34" charset="0"/>
            </a:endParaRPr>
          </a:p>
          <a:p>
            <a:pPr marL="0" lvl="0" indent="0"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		</a:t>
            </a:r>
            <a:r>
              <a:rPr lang="en-US" altLang="zh-CN" sz="2800" b="1" kern="0" noProof="0" dirty="0" err="1">
                <a:ln>
                  <a:noFill/>
                </a:ln>
                <a:solidFill>
                  <a:srgbClr val="F507F7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printf("%d\n",m);</a:t>
            </a:r>
            <a:endParaRPr lang="en-US" altLang="zh-CN" sz="2800" b="1" kern="0" noProof="0" dirty="0" err="1">
              <a:ln>
                <a:noFill/>
              </a:ln>
              <a:solidFill>
                <a:srgbClr val="F507F7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</a:endParaRPr>
          </a:p>
          <a:p>
            <a:pPr marL="0" lvl="0" indent="0"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	}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0" lvl="0" indent="0"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	</a:t>
            </a:r>
            <a:r>
              <a:rPr lang="en-US" altLang="zh-CN" sz="2800" b="1" kern="0" noProof="0" dirty="0" err="1">
                <a:ln>
                  <a:noFill/>
                </a:ln>
                <a:solidFill>
                  <a:srgbClr val="F507F7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printf("%d\n",m);</a:t>
            </a:r>
            <a:endParaRPr lang="en-US" altLang="zh-CN" sz="2800" b="1" kern="0" noProof="0" dirty="0" err="1">
              <a:ln>
                <a:noFill/>
              </a:ln>
              <a:solidFill>
                <a:srgbClr val="F507F7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</a:endParaRPr>
          </a:p>
          <a:p>
            <a:pPr marL="0" lvl="0" indent="0"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</a:rPr>
              <a:t>	</a:t>
            </a:r>
            <a:r>
              <a:rPr lang="en-US" altLang="zh-CN" sz="2400" b="1" dirty="0">
                <a:latin typeface="Arial" panose="020B0604020202020204" pitchFamily="34" charset="0"/>
              </a:rPr>
              <a:t>return 0;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0" lvl="0" indent="0"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}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89093" name="Rectangle 4"/>
          <p:cNvSpPr/>
          <p:nvPr/>
        </p:nvSpPr>
        <p:spPr>
          <a:xfrm>
            <a:off x="6705600" y="5485448"/>
            <a:ext cx="4787900" cy="1163637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Arial" panose="020B0604020202020204" pitchFamily="34" charset="0"/>
              </a:rPr>
              <a:t>运行结果：</a:t>
            </a:r>
            <a:endParaRPr lang="zh-CN" altLang="en-US" sz="24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20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10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F03E690-B57A-43EC-B031-74A257DA91C0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9172" name="Rectangle 4"/>
          <p:cNvSpPr>
            <a:spLocks noGrp="1" noChangeArrowheads="1"/>
          </p:cNvSpPr>
          <p:nvPr>
            <p:ph type="title"/>
          </p:nvPr>
        </p:nvSpPr>
        <p:spPr>
          <a:xfrm>
            <a:off x="3733800" y="93345"/>
            <a:ext cx="5226050" cy="47625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变量作用范围举例</a:t>
            </a:r>
            <a:endParaRPr kumimoji="0" lang="zh-CN" altLang="en-US" sz="4400" b="1" i="0" u="none" strike="noStrike" kern="0" cap="none" spc="0" normalizeH="0" baseline="0" noProof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19173" name="Rectangle 5"/>
          <p:cNvSpPr>
            <a:spLocks noGrp="1" noChangeArrowheads="1"/>
          </p:cNvSpPr>
          <p:nvPr>
            <p:ph idx="1"/>
          </p:nvPr>
        </p:nvSpPr>
        <p:spPr>
          <a:xfrm>
            <a:off x="609600" y="17463"/>
            <a:ext cx="2663825" cy="68580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rgbClr val="F507F7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 x=1;</a:t>
            </a:r>
            <a:endParaRPr kumimoji="0" lang="en-US" altLang="zh-CN" sz="2600" b="1" i="0" u="none" strike="noStrike" kern="0" cap="none" spc="0" normalizeH="0" baseline="0" noProof="0" dirty="0">
              <a:ln>
                <a:noFill/>
              </a:ln>
              <a:solidFill>
                <a:srgbClr val="F507F7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 main( )</a:t>
            </a:r>
            <a:endParaRPr kumimoji="0" lang="en-US" altLang="zh-CN" sz="2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  </a:t>
            </a:r>
            <a:r>
              <a:rPr kumimoji="0" lang="en-US" altLang="zh-CN" sz="2600" b="1" i="0" u="none" strike="noStrike" kern="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a=2;</a:t>
            </a:r>
            <a:endParaRPr kumimoji="0" lang="en-US" altLang="zh-CN" sz="26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  <a:cs typeface="+mn-cs"/>
              </a:rPr>
              <a:t>……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..</a:t>
            </a:r>
            <a:endParaRPr kumimoji="0" lang="en-US" altLang="zh-CN" sz="2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{</a:t>
            </a:r>
            <a:endParaRPr kumimoji="0" lang="en-US" altLang="zh-CN" sz="2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  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 b=3;</a:t>
            </a:r>
            <a:endParaRPr kumimoji="0" lang="en-US" altLang="zh-CN" sz="2600" b="1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  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  <a:cs typeface="+mn-cs"/>
              </a:rPr>
              <a:t>…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..</a:t>
            </a:r>
            <a:endParaRPr kumimoji="0" lang="en-US" altLang="zh-CN" sz="2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 }</a:t>
            </a:r>
            <a:endParaRPr kumimoji="0" lang="en-US" altLang="zh-CN" sz="2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f( );</a:t>
            </a:r>
            <a:endParaRPr kumimoji="0" lang="en-US" altLang="zh-CN" sz="2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  <a:cs typeface="+mn-cs"/>
              </a:rPr>
              <a:t>………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..</a:t>
            </a:r>
            <a:endParaRPr kumimoji="0" lang="en-US" altLang="zh-CN" sz="2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}</a:t>
            </a:r>
            <a:endParaRPr kumimoji="0" lang="en-US" altLang="zh-CN" sz="2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600" b="1" i="0" u="none" strike="noStrike" kern="0" cap="none" spc="0" normalizeH="0" baseline="0" noProof="0" dirty="0" err="1">
                <a:ln>
                  <a:noFill/>
                </a:ln>
                <a:solidFill>
                  <a:srgbClr val="F507F7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rgbClr val="F507F7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t=4 ;</a:t>
            </a:r>
            <a:endParaRPr kumimoji="0" lang="en-US" altLang="zh-CN" sz="2600" b="1" i="0" u="none" strike="noStrike" kern="0" cap="none" spc="0" normalizeH="0" baseline="0" noProof="0" dirty="0">
              <a:ln>
                <a:noFill/>
              </a:ln>
              <a:solidFill>
                <a:srgbClr val="F507F7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void f( )</a:t>
            </a:r>
            <a:endParaRPr kumimoji="0" lang="en-US" altLang="zh-CN" sz="2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 </a:t>
            </a:r>
            <a:r>
              <a:rPr kumimoji="0" lang="en-US" altLang="zh-CN" sz="2600" b="1" i="0" u="none" strike="noStrike" kern="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x=5, b=6;</a:t>
            </a:r>
            <a:endParaRPr kumimoji="0" lang="en-US" altLang="zh-CN" sz="26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  <a:cs typeface="+mn-cs"/>
              </a:rPr>
              <a:t>……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.</a:t>
            </a:r>
            <a:endParaRPr kumimoji="0" lang="en-US" altLang="zh-CN" sz="2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}</a:t>
            </a:r>
            <a:endParaRPr kumimoji="0" lang="en-US" altLang="zh-CN" sz="2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rgbClr val="F507F7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 m=7;</a:t>
            </a:r>
            <a:endParaRPr kumimoji="0" lang="en-US" altLang="zh-CN" sz="2600" b="1" i="0" u="none" strike="noStrike" kern="0" cap="none" spc="0" normalizeH="0" baseline="0" noProof="0" dirty="0">
              <a:ln>
                <a:noFill/>
              </a:ln>
              <a:solidFill>
                <a:srgbClr val="F507F7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19174" name="Text Box 6"/>
          <p:cNvSpPr txBox="1"/>
          <p:nvPr/>
        </p:nvSpPr>
        <p:spPr>
          <a:xfrm>
            <a:off x="3562350" y="2509838"/>
            <a:ext cx="2663825" cy="4572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zh-CN" sz="2400" b="1" dirty="0">
                <a:solidFill>
                  <a:schemeClr val="hlink"/>
                </a:solidFill>
                <a:latin typeface="Arial" panose="020B0604020202020204" pitchFamily="34" charset="0"/>
                <a:ea typeface="仿宋_GB2312" pitchFamily="49" charset="-122"/>
              </a:rPr>
              <a:t> </a:t>
            </a:r>
            <a:r>
              <a:rPr lang="en-US" altLang="zh-CN" sz="2400" b="1" dirty="0">
                <a:solidFill>
                  <a:schemeClr val="hlink"/>
                </a:solidFill>
                <a:latin typeface="Arial" panose="020B0604020202020204" pitchFamily="34" charset="0"/>
                <a:ea typeface="仿宋_GB2312" pitchFamily="49" charset="-122"/>
              </a:rPr>
              <a:t>x=?  a=?  b=?</a:t>
            </a:r>
            <a:endParaRPr lang="en-US" altLang="zh-CN" sz="2400" b="1" dirty="0">
              <a:solidFill>
                <a:schemeClr val="hlink"/>
              </a:solidFill>
              <a:latin typeface="Arial" panose="020B0604020202020204" pitchFamily="34" charset="0"/>
              <a:ea typeface="仿宋_GB2312" pitchFamily="49" charset="-122"/>
            </a:endParaRPr>
          </a:p>
        </p:txBody>
      </p:sp>
      <p:sp>
        <p:nvSpPr>
          <p:cNvPr id="519175" name="Text Box 7"/>
          <p:cNvSpPr txBox="1"/>
          <p:nvPr/>
        </p:nvSpPr>
        <p:spPr>
          <a:xfrm>
            <a:off x="3562350" y="3662363"/>
            <a:ext cx="762000" cy="4572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hlink"/>
                </a:solidFill>
                <a:latin typeface="Arial" panose="020B0604020202020204" pitchFamily="34" charset="0"/>
              </a:rPr>
              <a:t>b=?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 </a:t>
            </a:r>
            <a:endParaRPr lang="en-US" altLang="zh-CN" sz="2400" b="1" dirty="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9176" name="Text Box 8"/>
          <p:cNvSpPr txBox="1"/>
          <p:nvPr/>
        </p:nvSpPr>
        <p:spPr>
          <a:xfrm>
            <a:off x="3375025" y="6038850"/>
            <a:ext cx="2490788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zh-CN" sz="2400" b="1" dirty="0">
                <a:solidFill>
                  <a:schemeClr val="hlink"/>
                </a:solidFill>
                <a:latin typeface="Arial" panose="020B0604020202020204" pitchFamily="34" charset="0"/>
                <a:ea typeface="仿宋_GB2312" pitchFamily="49" charset="-122"/>
              </a:rPr>
              <a:t> </a:t>
            </a:r>
            <a:r>
              <a:rPr lang="en-US" altLang="zh-CN" sz="2400" b="1" dirty="0">
                <a:solidFill>
                  <a:schemeClr val="hlink"/>
                </a:solidFill>
                <a:latin typeface="Arial" panose="020B0604020202020204" pitchFamily="34" charset="0"/>
                <a:ea typeface="仿宋_GB2312" pitchFamily="49" charset="-122"/>
              </a:rPr>
              <a:t>x=5  b=6  t=4  a</a:t>
            </a:r>
            <a:endParaRPr lang="zh-CN" altLang="en-US" sz="2400" b="1" dirty="0">
              <a:solidFill>
                <a:schemeClr val="hlink"/>
              </a:solidFill>
              <a:latin typeface="Arial" panose="020B0604020202020204" pitchFamily="34" charset="0"/>
              <a:ea typeface="仿宋_GB2312" pitchFamily="49" charset="-122"/>
            </a:endParaRPr>
          </a:p>
        </p:txBody>
      </p:sp>
      <p:sp>
        <p:nvSpPr>
          <p:cNvPr id="519183" name="Text Box 15"/>
          <p:cNvSpPr txBox="1"/>
          <p:nvPr/>
        </p:nvSpPr>
        <p:spPr>
          <a:xfrm>
            <a:off x="3417888" y="5607050"/>
            <a:ext cx="2808287" cy="4572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zh-CN" sz="2400" b="1" dirty="0">
                <a:solidFill>
                  <a:schemeClr val="hlink"/>
                </a:solidFill>
                <a:latin typeface="Arial" panose="020B0604020202020204" pitchFamily="34" charset="0"/>
                <a:ea typeface="仿宋_GB2312" pitchFamily="49" charset="-122"/>
              </a:rPr>
              <a:t> </a:t>
            </a:r>
            <a:r>
              <a:rPr lang="en-US" altLang="zh-CN" sz="2400" b="1" dirty="0">
                <a:solidFill>
                  <a:schemeClr val="hlink"/>
                </a:solidFill>
                <a:latin typeface="Arial" panose="020B0604020202020204" pitchFamily="34" charset="0"/>
                <a:ea typeface="仿宋_GB2312" pitchFamily="49" charset="-122"/>
              </a:rPr>
              <a:t>x=?  b=?  t=? a=?</a:t>
            </a:r>
            <a:endParaRPr lang="en-US" altLang="zh-CN" sz="2400" b="1" dirty="0">
              <a:solidFill>
                <a:schemeClr val="hlink"/>
              </a:solidFill>
              <a:latin typeface="Arial" panose="020B0604020202020204" pitchFamily="34" charset="0"/>
              <a:ea typeface="仿宋_GB2312" pitchFamily="49" charset="-122"/>
            </a:endParaRPr>
          </a:p>
        </p:txBody>
      </p:sp>
      <p:sp>
        <p:nvSpPr>
          <p:cNvPr id="519184" name="Line 16"/>
          <p:cNvSpPr/>
          <p:nvPr/>
        </p:nvSpPr>
        <p:spPr>
          <a:xfrm>
            <a:off x="322263" y="277813"/>
            <a:ext cx="0" cy="6597650"/>
          </a:xfrm>
          <a:prstGeom prst="line">
            <a:avLst/>
          </a:prstGeom>
          <a:ln w="38100" cap="flat" cmpd="sng">
            <a:solidFill>
              <a:srgbClr val="F507F7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19185" name="Line 17"/>
          <p:cNvSpPr/>
          <p:nvPr/>
        </p:nvSpPr>
        <p:spPr>
          <a:xfrm>
            <a:off x="969963" y="998538"/>
            <a:ext cx="0" cy="3240087"/>
          </a:xfrm>
          <a:prstGeom prst="line">
            <a:avLst/>
          </a:prstGeom>
          <a:ln w="3810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19186" name="Line 18"/>
          <p:cNvSpPr/>
          <p:nvPr/>
        </p:nvSpPr>
        <p:spPr>
          <a:xfrm>
            <a:off x="1401763" y="2222500"/>
            <a:ext cx="0" cy="863600"/>
          </a:xfrm>
          <a:prstGeom prst="line">
            <a:avLst/>
          </a:prstGeom>
          <a:ln w="38100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19187" name="Line 19"/>
          <p:cNvSpPr/>
          <p:nvPr/>
        </p:nvSpPr>
        <p:spPr>
          <a:xfrm>
            <a:off x="969963" y="5391150"/>
            <a:ext cx="0" cy="863600"/>
          </a:xfrm>
          <a:prstGeom prst="line">
            <a:avLst/>
          </a:prstGeom>
          <a:ln w="3810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19188" name="Line 20"/>
          <p:cNvSpPr/>
          <p:nvPr/>
        </p:nvSpPr>
        <p:spPr>
          <a:xfrm>
            <a:off x="609600" y="6499225"/>
            <a:ext cx="0" cy="331788"/>
          </a:xfrm>
          <a:prstGeom prst="line">
            <a:avLst/>
          </a:prstGeom>
          <a:ln w="38100" cap="flat" cmpd="sng">
            <a:solidFill>
              <a:srgbClr val="F507F7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19189" name="Line 21"/>
          <p:cNvSpPr/>
          <p:nvPr/>
        </p:nvSpPr>
        <p:spPr>
          <a:xfrm>
            <a:off x="465138" y="4598988"/>
            <a:ext cx="0" cy="2276475"/>
          </a:xfrm>
          <a:prstGeom prst="line">
            <a:avLst/>
          </a:prstGeom>
          <a:ln w="38100" cap="flat" cmpd="sng">
            <a:solidFill>
              <a:srgbClr val="F507F7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4375" y="6135688"/>
            <a:ext cx="2293938" cy="2936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9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19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19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19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19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19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19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19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19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519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9174" grpId="0" animBg="1"/>
      <p:bldP spid="519175" grpId="0" animBg="1"/>
      <p:bldP spid="519176" grpId="0"/>
      <p:bldP spid="51918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97BCAE1-B8CC-431D-A07F-C9A0CEE976BC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163" name="Rectangle 3"/>
          <p:cNvSpPr>
            <a:spLocks noGrp="1"/>
          </p:cNvSpPr>
          <p:nvPr>
            <p:ph idx="1"/>
          </p:nvPr>
        </p:nvSpPr>
        <p:spPr>
          <a:xfrm>
            <a:off x="168275" y="1009650"/>
            <a:ext cx="8569325" cy="1584325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90000"/>
              </a:lnSpc>
            </a:pPr>
            <a:r>
              <a:rPr lang="zh-CN" altLang="en-US" b="1" dirty="0">
                <a:solidFill>
                  <a:schemeClr val="hlink"/>
                </a:solidFill>
                <a:effectLst/>
              </a:rPr>
              <a:t>全局量</a:t>
            </a:r>
            <a:r>
              <a:rPr lang="zh-CN" altLang="en-US" b="1" dirty="0">
                <a:effectLst/>
              </a:rPr>
              <a:t>和</a:t>
            </a:r>
            <a:r>
              <a:rPr lang="zh-CN" altLang="en-US" b="1" dirty="0">
                <a:solidFill>
                  <a:schemeClr val="hlink"/>
                </a:solidFill>
                <a:effectLst/>
              </a:rPr>
              <a:t>局部量</a:t>
            </a:r>
            <a:r>
              <a:rPr lang="zh-CN" altLang="en-US" b="1" dirty="0">
                <a:effectLst/>
              </a:rPr>
              <a:t>是一个相对概念</a:t>
            </a:r>
            <a:endParaRPr lang="zh-CN" altLang="en-US" b="1" dirty="0">
              <a:effectLst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b="1" dirty="0">
                <a:effectLst/>
              </a:rPr>
              <a:t>全局量在内层具有外层同样的意义</a:t>
            </a:r>
            <a:endParaRPr lang="zh-CN" altLang="en-US" b="1" dirty="0">
              <a:effectLst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b="1" dirty="0">
                <a:effectLst/>
              </a:rPr>
              <a:t>在内层对全局量的操作直接反应在外层程序中</a:t>
            </a:r>
            <a:endParaRPr lang="zh-CN" altLang="en-US" b="1" dirty="0">
              <a:effectLst/>
            </a:endParaRPr>
          </a:p>
        </p:txBody>
      </p:sp>
      <p:sp>
        <p:nvSpPr>
          <p:cNvPr id="445444" name="Rectangle 4"/>
          <p:cNvSpPr/>
          <p:nvPr/>
        </p:nvSpPr>
        <p:spPr>
          <a:xfrm>
            <a:off x="4691063" y="2636838"/>
            <a:ext cx="5976937" cy="4221162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457200" lvl="1" indent="0" eaLnBrk="1" hangingPunct="1">
              <a:lnSpc>
                <a:spcPct val="80000"/>
              </a:lnSpc>
              <a:spcBef>
                <a:spcPct val="0"/>
              </a:spcBef>
              <a:buClrTx/>
              <a:buNone/>
            </a:pPr>
            <a:r>
              <a:rPr lang="en-US" altLang="zh-CN" b="1" dirty="0">
                <a:latin typeface="Arial" panose="020B0604020202020204" pitchFamily="34" charset="0"/>
              </a:rPr>
              <a:t>int i;</a:t>
            </a:r>
            <a:endParaRPr lang="en-US" altLang="zh-CN" b="1" dirty="0">
              <a:latin typeface="Arial" panose="020B0604020202020204" pitchFamily="34" charset="0"/>
            </a:endParaRPr>
          </a:p>
          <a:p>
            <a:pPr marL="457200" lvl="1" indent="0" eaLnBrk="1" hangingPunct="1">
              <a:lnSpc>
                <a:spcPct val="80000"/>
              </a:lnSpc>
              <a:spcBef>
                <a:spcPct val="0"/>
              </a:spcBef>
              <a:buClrTx/>
              <a:buNone/>
            </a:pPr>
            <a:r>
              <a:rPr lang="en-US" altLang="zh-CN" b="1" dirty="0">
                <a:solidFill>
                  <a:schemeClr val="hlink"/>
                </a:solidFill>
                <a:latin typeface="Arial" panose="020B0604020202020204" pitchFamily="34" charset="0"/>
              </a:rPr>
              <a:t>int main()</a:t>
            </a:r>
            <a:endParaRPr lang="en-US" altLang="zh-CN" b="1" dirty="0">
              <a:solidFill>
                <a:schemeClr val="hlink"/>
              </a:solidFill>
              <a:latin typeface="Arial" panose="020B0604020202020204" pitchFamily="34" charset="0"/>
            </a:endParaRPr>
          </a:p>
          <a:p>
            <a:pPr marL="457200" lvl="1" indent="0" eaLnBrk="1" hangingPunct="1">
              <a:lnSpc>
                <a:spcPct val="80000"/>
              </a:lnSpc>
              <a:spcBef>
                <a:spcPct val="0"/>
              </a:spcBef>
              <a:buClrTx/>
              <a:buNone/>
            </a:pPr>
            <a:r>
              <a:rPr lang="en-US" altLang="zh-CN" b="1" dirty="0">
                <a:solidFill>
                  <a:schemeClr val="hlink"/>
                </a:solidFill>
                <a:latin typeface="Arial" panose="020B0604020202020204" pitchFamily="34" charset="0"/>
              </a:rPr>
              <a:t>{</a:t>
            </a:r>
            <a:r>
              <a:rPr lang="en-US" altLang="zh-CN" b="1" dirty="0">
                <a:latin typeface="Arial" panose="020B0604020202020204" pitchFamily="34" charset="0"/>
              </a:rPr>
              <a:t>	int j;</a:t>
            </a:r>
            <a:endParaRPr lang="en-US" altLang="zh-CN" b="1" dirty="0">
              <a:latin typeface="Arial" panose="020B0604020202020204" pitchFamily="34" charset="0"/>
            </a:endParaRPr>
          </a:p>
          <a:p>
            <a:pPr marL="457200" lvl="1" indent="0" eaLnBrk="1" hangingPunct="1">
              <a:lnSpc>
                <a:spcPct val="80000"/>
              </a:lnSpc>
              <a:spcBef>
                <a:spcPct val="0"/>
              </a:spcBef>
              <a:buClrTx/>
              <a:buNone/>
            </a:pPr>
            <a:r>
              <a:rPr lang="en-US" altLang="zh-CN" b="1" dirty="0">
                <a:latin typeface="Arial" panose="020B0604020202020204" pitchFamily="34" charset="0"/>
              </a:rPr>
              <a:t>       ……</a:t>
            </a:r>
            <a:endParaRPr lang="en-US" altLang="zh-CN" b="1" dirty="0">
              <a:latin typeface="Arial" panose="020B0604020202020204" pitchFamily="34" charset="0"/>
            </a:endParaRPr>
          </a:p>
          <a:p>
            <a:pPr marL="457200" lvl="1" indent="0" eaLnBrk="1" hangingPunct="1">
              <a:lnSpc>
                <a:spcPct val="80000"/>
              </a:lnSpc>
              <a:spcBef>
                <a:spcPct val="0"/>
              </a:spcBef>
              <a:buClrTx/>
              <a:buNone/>
            </a:pPr>
            <a:r>
              <a:rPr lang="en-US" altLang="zh-CN" b="1" dirty="0">
                <a:latin typeface="Arial" panose="020B0604020202020204" pitchFamily="34" charset="0"/>
              </a:rPr>
              <a:t>		if(……)</a:t>
            </a:r>
            <a:endParaRPr lang="en-US" altLang="zh-CN" b="1" dirty="0">
              <a:latin typeface="Arial" panose="020B0604020202020204" pitchFamily="34" charset="0"/>
            </a:endParaRPr>
          </a:p>
          <a:p>
            <a:pPr marL="914400" lvl="2" indent="0"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b="1" dirty="0">
                <a:latin typeface="Arial" panose="020B0604020202020204" pitchFamily="34" charset="0"/>
              </a:rPr>
              <a:t>	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</a:rPr>
              <a:t>{  </a:t>
            </a:r>
            <a:r>
              <a:rPr lang="en-US" altLang="zh-CN" sz="2800" b="1" dirty="0">
                <a:latin typeface="Arial" panose="020B0604020202020204" pitchFamily="34" charset="0"/>
              </a:rPr>
              <a:t>      ……</a:t>
            </a:r>
            <a:endParaRPr lang="en-US" altLang="zh-CN" sz="2800" b="1" dirty="0">
              <a:latin typeface="Arial" panose="020B0604020202020204" pitchFamily="34" charset="0"/>
            </a:endParaRPr>
          </a:p>
          <a:p>
            <a:pPr marL="914400" lvl="2" indent="0"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b="1" dirty="0">
                <a:latin typeface="Arial" panose="020B0604020202020204" pitchFamily="34" charset="0"/>
              </a:rPr>
              <a:t>		int k;</a:t>
            </a:r>
            <a:endParaRPr lang="en-US" altLang="zh-CN" sz="2800" b="1" dirty="0">
              <a:latin typeface="Arial" panose="020B0604020202020204" pitchFamily="34" charset="0"/>
            </a:endParaRPr>
          </a:p>
          <a:p>
            <a:pPr marL="1828800" lvl="4" indent="0"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b="1" dirty="0">
                <a:latin typeface="Arial" panose="020B0604020202020204" pitchFamily="34" charset="0"/>
              </a:rPr>
              <a:t>		</a:t>
            </a:r>
            <a:r>
              <a:rPr lang="en-US" altLang="zh-CN" sz="2800" b="1" dirty="0">
                <a:solidFill>
                  <a:schemeClr val="folHlink"/>
                </a:solidFill>
                <a:latin typeface="Arial" panose="020B0604020202020204" pitchFamily="34" charset="0"/>
              </a:rPr>
              <a:t>{ </a:t>
            </a:r>
            <a:r>
              <a:rPr lang="en-US" altLang="zh-CN" sz="2800" b="1" dirty="0">
                <a:latin typeface="Arial" panose="020B0604020202020204" pitchFamily="34" charset="0"/>
              </a:rPr>
              <a:t>       …..</a:t>
            </a:r>
            <a:endParaRPr lang="en-US" altLang="zh-CN" sz="2800" b="1" dirty="0">
              <a:latin typeface="Arial" panose="020B0604020202020204" pitchFamily="34" charset="0"/>
            </a:endParaRPr>
          </a:p>
          <a:p>
            <a:pPr marL="1828800" lvl="4" indent="0"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b="1" dirty="0">
                <a:latin typeface="Arial" panose="020B0604020202020204" pitchFamily="34" charset="0"/>
              </a:rPr>
              <a:t>			int  l;</a:t>
            </a:r>
            <a:endParaRPr lang="en-US" altLang="zh-CN" sz="2800" b="1" dirty="0">
              <a:latin typeface="Arial" panose="020B0604020202020204" pitchFamily="34" charset="0"/>
            </a:endParaRPr>
          </a:p>
          <a:p>
            <a:pPr marL="1828800" lvl="4" indent="0"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b="1" dirty="0">
                <a:latin typeface="Arial" panose="020B0604020202020204" pitchFamily="34" charset="0"/>
              </a:rPr>
              <a:t>		</a:t>
            </a:r>
            <a:r>
              <a:rPr lang="en-US" altLang="zh-CN" sz="2800" b="1" dirty="0">
                <a:solidFill>
                  <a:schemeClr val="folHlink"/>
                </a:solidFill>
                <a:latin typeface="Arial" panose="020B0604020202020204" pitchFamily="34" charset="0"/>
              </a:rPr>
              <a:t>}</a:t>
            </a:r>
            <a:endParaRPr lang="en-US" altLang="zh-CN" sz="2800" b="1" dirty="0">
              <a:solidFill>
                <a:schemeClr val="folHlink"/>
              </a:solidFill>
              <a:latin typeface="Arial" panose="020B0604020202020204" pitchFamily="34" charset="0"/>
            </a:endParaRPr>
          </a:p>
          <a:p>
            <a:pPr marL="914400" lvl="2" indent="0"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b="1" dirty="0">
                <a:latin typeface="Arial" panose="020B0604020202020204" pitchFamily="34" charset="0"/>
              </a:rPr>
              <a:t>	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</a:rPr>
              <a:t>}</a:t>
            </a:r>
            <a:endParaRPr lang="en-US" altLang="zh-CN" sz="2800" b="1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457200" lvl="1" indent="0" eaLnBrk="1" hangingPunct="1">
              <a:lnSpc>
                <a:spcPct val="80000"/>
              </a:lnSpc>
              <a:spcBef>
                <a:spcPct val="0"/>
              </a:spcBef>
              <a:buClrTx/>
              <a:buNone/>
            </a:pPr>
            <a:r>
              <a:rPr lang="en-US" altLang="zh-CN" b="1" dirty="0">
                <a:solidFill>
                  <a:schemeClr val="hlink"/>
                </a:solidFill>
                <a:latin typeface="Arial" panose="020B0604020202020204" pitchFamily="34" charset="0"/>
              </a:rPr>
              <a:t>}</a:t>
            </a:r>
            <a:endParaRPr lang="en-US" altLang="zh-CN" b="1" dirty="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  <p:sp>
        <p:nvSpPr>
          <p:cNvPr id="92165" name="Text Box 5"/>
          <p:cNvSpPr txBox="1"/>
          <p:nvPr/>
        </p:nvSpPr>
        <p:spPr>
          <a:xfrm>
            <a:off x="0" y="192088"/>
            <a:ext cx="9144000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b="1" dirty="0">
                <a:solidFill>
                  <a:schemeClr val="hlink"/>
                </a:solidFill>
                <a:latin typeface="Arial" panose="020B0604020202020204" pitchFamily="34" charset="0"/>
                <a:ea typeface="隶书" pitchFamily="49" charset="-122"/>
              </a:rPr>
              <a:t>§9.3.2</a:t>
            </a:r>
            <a:r>
              <a:rPr lang="zh-CN" altLang="en-US" b="1" dirty="0">
                <a:solidFill>
                  <a:schemeClr val="hlink"/>
                </a:solidFill>
                <a:latin typeface="Arial" panose="020B0604020202020204" pitchFamily="34" charset="0"/>
                <a:ea typeface="隶书" pitchFamily="49" charset="-122"/>
              </a:rPr>
              <a:t>局部量和全局量</a:t>
            </a:r>
            <a:endParaRPr lang="zh-CN" altLang="en-US" b="1" dirty="0">
              <a:latin typeface="Arial" panose="020B0604020202020204" pitchFamily="34" charset="0"/>
              <a:ea typeface="隶书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45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544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10" name="标题 1"/>
          <p:cNvSpPr>
            <a:spLocks noGrp="1"/>
          </p:cNvSpPr>
          <p:nvPr>
            <p:ph type="title"/>
          </p:nvPr>
        </p:nvSpPr>
        <p:spPr>
          <a:xfrm>
            <a:off x="152400" y="95250"/>
            <a:ext cx="8928100" cy="73025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【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例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9.9】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计算调和级数前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N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项和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8611" name="内容占位符 2"/>
          <p:cNvSpPr>
            <a:spLocks noGrp="1"/>
          </p:cNvSpPr>
          <p:nvPr>
            <p:ph idx="1"/>
          </p:nvPr>
        </p:nvSpPr>
        <p:spPr>
          <a:xfrm>
            <a:off x="-57150" y="790575"/>
            <a:ext cx="12192000" cy="6524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编程序，计算调合级数前Ｎ项和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要求结果是一个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507F7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准确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507F7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分数形式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F507F7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8614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5ED83FD-F4C7-4E81-B60A-32D2CCEAB999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" name="组合 2"/>
          <p:cNvGrpSpPr/>
          <p:nvPr/>
        </p:nvGrpSpPr>
        <p:grpSpPr>
          <a:xfrm>
            <a:off x="222250" y="3500438"/>
            <a:ext cx="7246938" cy="2952750"/>
            <a:chOff x="-130672" y="3372306"/>
            <a:chExt cx="7879090" cy="3225046"/>
          </a:xfrm>
        </p:grpSpPr>
        <p:grpSp>
          <p:nvGrpSpPr>
            <p:cNvPr id="94216" name="Group 6"/>
            <p:cNvGrpSpPr/>
            <p:nvPr/>
          </p:nvGrpSpPr>
          <p:grpSpPr>
            <a:xfrm>
              <a:off x="-62793" y="3372306"/>
              <a:ext cx="1261785" cy="712347"/>
              <a:chOff x="3398" y="0"/>
              <a:chExt cx="10294" cy="19994"/>
            </a:xfrm>
          </p:grpSpPr>
          <p:sp>
            <p:nvSpPr>
              <p:cNvPr id="22" name="Rectangle 7"/>
              <p:cNvSpPr>
                <a:spLocks noChangeArrowheads="1"/>
              </p:cNvSpPr>
              <p:nvPr/>
            </p:nvSpPr>
            <p:spPr bwMode="auto">
              <a:xfrm>
                <a:off x="3393" y="4429"/>
                <a:ext cx="10293" cy="13529"/>
              </a:xfrm>
              <a:prstGeom prst="rect">
                <a:avLst/>
              </a:prstGeom>
              <a:noFill/>
              <a:ln w="38100">
                <a:noFill/>
                <a:miter lim="800000"/>
              </a:ln>
              <a:effectLst/>
            </p:spPr>
            <p:txBody>
              <a:bodyPr lIns="12700" tIns="12700" rIns="12700" bIns="12700" anchor="ctr"/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itchFamily="18" charset="2"/>
                  <a:buChar char="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 sz="2300">
                    <a:solidFill>
                      <a:schemeClr val="tx2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itchFamily="18" charset="2"/>
                  <a:buChar char="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3C74BA"/>
                  </a:buClr>
                  <a:buSzPct val="70000"/>
                  <a:buFont typeface="Wingdings" panose="05000000000000000000" pitchFamily="2" charset="2"/>
                  <a:buChar char="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开始</a:t>
                </a:r>
                <a:endPara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3" name="Oval 8"/>
              <p:cNvSpPr>
                <a:spLocks noChangeArrowheads="1"/>
              </p:cNvSpPr>
              <p:nvPr/>
            </p:nvSpPr>
            <p:spPr bwMode="auto">
              <a:xfrm>
                <a:off x="3393" y="0"/>
                <a:ext cx="10293" cy="20002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</p:spPr>
            <p:txBody>
              <a:bodyPr anchor="ctr"/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itchFamily="18" charset="2"/>
                  <a:buChar char="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 sz="2300">
                    <a:solidFill>
                      <a:schemeClr val="tx2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itchFamily="18" charset="2"/>
                  <a:buChar char="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3C74BA"/>
                  </a:buClr>
                  <a:buSzPct val="70000"/>
                  <a:buFont typeface="Wingdings" panose="05000000000000000000" pitchFamily="2" charset="2"/>
                  <a:buChar char="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94217" name="Group 9"/>
            <p:cNvGrpSpPr/>
            <p:nvPr/>
          </p:nvGrpSpPr>
          <p:grpSpPr>
            <a:xfrm>
              <a:off x="-130672" y="5980342"/>
              <a:ext cx="1261657" cy="617010"/>
              <a:chOff x="3694" y="-13436"/>
              <a:chExt cx="11038" cy="16846"/>
            </a:xfrm>
          </p:grpSpPr>
          <p:sp>
            <p:nvSpPr>
              <p:cNvPr id="20" name="Rectangle 10"/>
              <p:cNvSpPr>
                <a:spLocks noChangeArrowheads="1"/>
              </p:cNvSpPr>
              <p:nvPr/>
            </p:nvSpPr>
            <p:spPr bwMode="auto">
              <a:xfrm>
                <a:off x="3679" y="-11265"/>
                <a:ext cx="11038" cy="11456"/>
              </a:xfrm>
              <a:prstGeom prst="rect">
                <a:avLst/>
              </a:prstGeom>
              <a:noFill/>
              <a:ln w="38100">
                <a:noFill/>
                <a:miter lim="800000"/>
              </a:ln>
              <a:effectLst/>
            </p:spPr>
            <p:txBody>
              <a:bodyPr lIns="12700" tIns="12700" rIns="12700" bIns="12700" anchor="ctr"/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itchFamily="18" charset="2"/>
                  <a:buChar char="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 sz="2300">
                    <a:solidFill>
                      <a:schemeClr val="tx2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itchFamily="18" charset="2"/>
                  <a:buChar char="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3C74BA"/>
                  </a:buClr>
                  <a:buSzPct val="70000"/>
                  <a:buFont typeface="Wingdings" panose="05000000000000000000" pitchFamily="2" charset="2"/>
                  <a:buChar char="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结束</a:t>
                </a:r>
                <a:endPara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1" name="Oval 11"/>
              <p:cNvSpPr>
                <a:spLocks noChangeArrowheads="1"/>
              </p:cNvSpPr>
              <p:nvPr/>
            </p:nvSpPr>
            <p:spPr bwMode="auto">
              <a:xfrm>
                <a:off x="3679" y="-13443"/>
                <a:ext cx="11038" cy="16853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</p:spPr>
            <p:txBody>
              <a:bodyPr anchor="ctr"/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itchFamily="18" charset="2"/>
                  <a:buChar char="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 sz="2300">
                    <a:solidFill>
                      <a:schemeClr val="tx2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itchFamily="18" charset="2"/>
                  <a:buChar char="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3C74BA"/>
                  </a:buClr>
                  <a:buSzPct val="70000"/>
                  <a:buFont typeface="Wingdings" panose="05000000000000000000" pitchFamily="2" charset="2"/>
                  <a:buChar char="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11" name="Rectangle 12"/>
            <p:cNvSpPr>
              <a:spLocks noChangeArrowheads="1"/>
            </p:cNvSpPr>
            <p:nvPr/>
          </p:nvSpPr>
          <p:spPr bwMode="auto">
            <a:xfrm>
              <a:off x="499311" y="4367562"/>
              <a:ext cx="985533" cy="454281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2700" tIns="12700" rIns="12700" bIns="12700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itchFamily="18" charset="2"/>
                <a:buChar char="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itchFamily="18" charset="2"/>
                <a:buChar char=""/>
                <a:defRPr sz="2300">
                  <a:solidFill>
                    <a:schemeClr val="tx2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itchFamily="18" charset="2"/>
                <a:buChar char="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3C74BA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F507F7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+mn-lt"/>
                  <a:ea typeface="+mn-ea"/>
                  <a:cs typeface="+mn-cs"/>
                </a:rPr>
                <a:t>h=0</a:t>
              </a:r>
              <a:endPara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Rectangle 13"/>
            <p:cNvSpPr>
              <a:spLocks noChangeArrowheads="1"/>
            </p:cNvSpPr>
            <p:nvPr/>
          </p:nvSpPr>
          <p:spPr bwMode="auto">
            <a:xfrm>
              <a:off x="499311" y="4964022"/>
              <a:ext cx="94928" cy="56004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itchFamily="18" charset="2"/>
                <a:buChar char="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itchFamily="18" charset="2"/>
                <a:buChar char=""/>
                <a:defRPr sz="2300">
                  <a:solidFill>
                    <a:schemeClr val="tx2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itchFamily="18" charset="2"/>
                <a:buChar char="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3C74BA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Rectangle 14"/>
            <p:cNvSpPr>
              <a:spLocks noChangeArrowheads="1"/>
            </p:cNvSpPr>
            <p:nvPr/>
          </p:nvSpPr>
          <p:spPr bwMode="auto">
            <a:xfrm>
              <a:off x="592513" y="4964022"/>
              <a:ext cx="4116457" cy="56004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2700" tIns="12700" rIns="12700" bIns="12700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itchFamily="18" charset="2"/>
                <a:buChar char="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itchFamily="18" charset="2"/>
                <a:buChar char=""/>
                <a:defRPr sz="2300">
                  <a:solidFill>
                    <a:schemeClr val="tx2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itchFamily="18" charset="2"/>
                <a:buChar char="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3C74BA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for(</a:t>
              </a:r>
              <a:r>
                <a:rPr kumimoji="0" lang="en-US" altLang="zh-CN" sz="32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i</a:t>
              </a:r>
              <a:r>
                <a:rPr kumimoji="0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=1;i&lt;=</a:t>
              </a:r>
              <a:r>
                <a:rPr kumimoji="0" lang="en-US" altLang="zh-CN" sz="32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n;i</a:t>
              </a:r>
              <a:r>
                <a:rPr kumimoji="0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++)</a:t>
              </a:r>
              <a:endPara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5"/>
            <p:cNvSpPr>
              <a:spLocks noChangeArrowheads="1"/>
            </p:cNvSpPr>
            <p:nvPr/>
          </p:nvSpPr>
          <p:spPr bwMode="auto">
            <a:xfrm>
              <a:off x="4931622" y="4322481"/>
              <a:ext cx="2816796" cy="58085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2700" tIns="12700" rIns="12700" bIns="12700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itchFamily="18" charset="2"/>
                <a:buChar char="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itchFamily="18" charset="2"/>
                <a:buChar char=""/>
                <a:defRPr sz="2300">
                  <a:solidFill>
                    <a:schemeClr val="tx2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itchFamily="18" charset="2"/>
                <a:buChar char="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3C74BA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F507F7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+mn-lt"/>
                  <a:ea typeface="+mn-ea"/>
                  <a:cs typeface="+mn-cs"/>
                </a:rPr>
                <a:t>h</a:t>
              </a:r>
              <a:r>
                <a:rPr kumimoji="0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=</a:t>
              </a:r>
              <a:r>
                <a:rPr kumimoji="0" lang="zh-CN" altLang="en-US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F507F7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+mn-lt"/>
                  <a:ea typeface="+mn-ea"/>
                  <a:cs typeface="+mn-cs"/>
                </a:rPr>
                <a:t>h</a:t>
              </a:r>
              <a:r>
                <a:rPr kumimoji="0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+1/</a:t>
              </a:r>
              <a:r>
                <a:rPr kumimoji="0" lang="en-US" altLang="zh-CN" sz="32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i</a:t>
              </a:r>
              <a:endPara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Rectangle 16"/>
            <p:cNvSpPr>
              <a:spLocks noChangeArrowheads="1"/>
            </p:cNvSpPr>
            <p:nvPr/>
          </p:nvSpPr>
          <p:spPr bwMode="auto">
            <a:xfrm>
              <a:off x="4924718" y="5678387"/>
              <a:ext cx="2815070" cy="59819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2700" tIns="12700" rIns="12700" bIns="12700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itchFamily="18" charset="2"/>
                <a:buChar char="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itchFamily="18" charset="2"/>
                <a:buChar char=""/>
                <a:defRPr sz="2300">
                  <a:solidFill>
                    <a:schemeClr val="tx2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itchFamily="18" charset="2"/>
                <a:buChar char="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3C74BA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约分</a:t>
              </a:r>
              <a:r>
                <a:rPr kumimoji="0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 </a:t>
              </a: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Line 17"/>
            <p:cNvSpPr>
              <a:spLocks noChangeShapeType="1"/>
            </p:cNvSpPr>
            <p:nvPr/>
          </p:nvSpPr>
          <p:spPr bwMode="auto">
            <a:xfrm>
              <a:off x="494132" y="4084937"/>
              <a:ext cx="5178" cy="189514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Line 18"/>
            <p:cNvSpPr>
              <a:spLocks noChangeShapeType="1"/>
            </p:cNvSpPr>
            <p:nvPr/>
          </p:nvSpPr>
          <p:spPr bwMode="auto">
            <a:xfrm>
              <a:off x="4708970" y="5213703"/>
              <a:ext cx="21574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Line 19"/>
            <p:cNvSpPr>
              <a:spLocks noChangeShapeType="1"/>
            </p:cNvSpPr>
            <p:nvPr/>
          </p:nvSpPr>
          <p:spPr bwMode="auto">
            <a:xfrm flipH="1">
              <a:off x="4919540" y="4322481"/>
              <a:ext cx="0" cy="189514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pic>
        <p:nvPicPr>
          <p:cNvPr id="94214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828800"/>
            <a:ext cx="4537075" cy="15065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文本框 5"/>
          <p:cNvSpPr txBox="1"/>
          <p:nvPr/>
        </p:nvSpPr>
        <p:spPr>
          <a:xfrm>
            <a:off x="7162800" y="1630363"/>
            <a:ext cx="3594100" cy="2554288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32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运行界面：</a:t>
            </a:r>
            <a:endParaRPr kumimoji="0" lang="en-US" altLang="zh-CN" sz="3200" kern="1200" cap="none" spc="0" normalizeH="0" baseline="0" noProof="0" dirty="0"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32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Input   n</a:t>
            </a:r>
            <a:r>
              <a:rPr kumimoji="0" lang="zh-CN" altLang="en-US" sz="32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：</a:t>
            </a:r>
            <a:r>
              <a:rPr kumimoji="0" lang="en-US" altLang="zh-CN" sz="32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4</a:t>
            </a:r>
            <a:endParaRPr kumimoji="0" lang="en-US" altLang="zh-CN" sz="3200" kern="1200" cap="none" spc="0" normalizeH="0" baseline="0" noProof="0" dirty="0"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32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            25</a:t>
            </a:r>
            <a:endParaRPr kumimoji="0" lang="en-US" altLang="zh-CN" sz="3200" kern="1200" cap="none" spc="0" normalizeH="0" baseline="0" noProof="0" dirty="0"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32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</a:t>
            </a:r>
            <a:r>
              <a:rPr kumimoji="0" lang="en-US" altLang="zh-CN" sz="3200" kern="1200" cap="none" spc="0" normalizeH="0" baseline="0" noProof="0" dirty="0" err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Hn</a:t>
            </a:r>
            <a:r>
              <a:rPr kumimoji="0" lang="en-US" altLang="zh-CN" sz="32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=      ----</a:t>
            </a:r>
            <a:endParaRPr kumimoji="0" lang="en-US" altLang="zh-CN" sz="3200" kern="1200" cap="none" spc="0" normalizeH="0" baseline="0" noProof="0" dirty="0"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32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            12 </a:t>
            </a:r>
            <a:endParaRPr kumimoji="0" lang="zh-CN" altLang="en-US" sz="3200" kern="1200" cap="none" spc="0" normalizeH="0" baseline="0" noProof="0" dirty="0"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11" name="内容占位符 2"/>
          <p:cNvSpPr>
            <a:spLocks noGrp="1"/>
          </p:cNvSpPr>
          <p:nvPr>
            <p:ph idx="1"/>
          </p:nvPr>
        </p:nvSpPr>
        <p:spPr>
          <a:xfrm>
            <a:off x="147638" y="714375"/>
            <a:ext cx="8929688" cy="5016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编程序，计算调合级数前Ｎ项和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要求结果是一个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507F7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准确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507F7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分数形式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8614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A4BD09D-21EE-41E6-A393-E10184902BA3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95236" name="组合 2"/>
          <p:cNvGrpSpPr/>
          <p:nvPr/>
        </p:nvGrpSpPr>
        <p:grpSpPr>
          <a:xfrm>
            <a:off x="5880100" y="1158875"/>
            <a:ext cx="4643438" cy="1516063"/>
            <a:chOff x="-130672" y="3372306"/>
            <a:chExt cx="7879090" cy="3225046"/>
          </a:xfrm>
        </p:grpSpPr>
        <p:grpSp>
          <p:nvGrpSpPr>
            <p:cNvPr id="95247" name="Group 6"/>
            <p:cNvGrpSpPr/>
            <p:nvPr/>
          </p:nvGrpSpPr>
          <p:grpSpPr>
            <a:xfrm>
              <a:off x="-62793" y="3372306"/>
              <a:ext cx="1261785" cy="712347"/>
              <a:chOff x="3398" y="0"/>
              <a:chExt cx="10294" cy="19994"/>
            </a:xfrm>
          </p:grpSpPr>
          <p:sp>
            <p:nvSpPr>
              <p:cNvPr id="22" name="Rectangle 7"/>
              <p:cNvSpPr>
                <a:spLocks noChangeArrowheads="1"/>
              </p:cNvSpPr>
              <p:nvPr/>
            </p:nvSpPr>
            <p:spPr bwMode="auto">
              <a:xfrm>
                <a:off x="3394" y="4455"/>
                <a:ext cx="10307" cy="13460"/>
              </a:xfrm>
              <a:prstGeom prst="rect">
                <a:avLst/>
              </a:prstGeom>
              <a:noFill/>
              <a:ln w="38100">
                <a:noFill/>
                <a:miter lim="800000"/>
              </a:ln>
              <a:effectLst/>
            </p:spPr>
            <p:txBody>
              <a:bodyPr lIns="12700" tIns="12700" rIns="12700" bIns="12700" anchor="ctr"/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itchFamily="18" charset="2"/>
                  <a:buChar char="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 sz="2300">
                    <a:solidFill>
                      <a:schemeClr val="tx2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itchFamily="18" charset="2"/>
                  <a:buChar char="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3C74BA"/>
                  </a:buClr>
                  <a:buSzPct val="70000"/>
                  <a:buFont typeface="Wingdings" panose="05000000000000000000" pitchFamily="2" charset="2"/>
                  <a:buChar char="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开始</a:t>
                </a:r>
                <a:endPara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3" name="Oval 8"/>
              <p:cNvSpPr>
                <a:spLocks noChangeArrowheads="1"/>
              </p:cNvSpPr>
              <p:nvPr/>
            </p:nvSpPr>
            <p:spPr bwMode="auto">
              <a:xfrm>
                <a:off x="3394" y="0"/>
                <a:ext cx="10307" cy="2000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</p:spPr>
            <p:txBody>
              <a:bodyPr anchor="ctr"/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itchFamily="18" charset="2"/>
                  <a:buChar char="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 sz="2300">
                    <a:solidFill>
                      <a:schemeClr val="tx2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itchFamily="18" charset="2"/>
                  <a:buChar char="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3C74BA"/>
                  </a:buClr>
                  <a:buSzPct val="70000"/>
                  <a:buFont typeface="Wingdings" panose="05000000000000000000" pitchFamily="2" charset="2"/>
                  <a:buChar char="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95248" name="Group 9"/>
            <p:cNvGrpSpPr/>
            <p:nvPr/>
          </p:nvGrpSpPr>
          <p:grpSpPr>
            <a:xfrm>
              <a:off x="-130672" y="5980342"/>
              <a:ext cx="1261657" cy="617010"/>
              <a:chOff x="3694" y="-13436"/>
              <a:chExt cx="11038" cy="16846"/>
            </a:xfrm>
          </p:grpSpPr>
          <p:sp>
            <p:nvSpPr>
              <p:cNvPr id="20" name="Rectangle 10"/>
              <p:cNvSpPr>
                <a:spLocks noChangeArrowheads="1"/>
              </p:cNvSpPr>
              <p:nvPr/>
            </p:nvSpPr>
            <p:spPr bwMode="auto">
              <a:xfrm>
                <a:off x="3694" y="-11250"/>
                <a:ext cx="11029" cy="11433"/>
              </a:xfrm>
              <a:prstGeom prst="rect">
                <a:avLst/>
              </a:prstGeom>
              <a:noFill/>
              <a:ln w="38100">
                <a:noFill/>
                <a:miter lim="800000"/>
              </a:ln>
              <a:effectLst/>
            </p:spPr>
            <p:txBody>
              <a:bodyPr lIns="12700" tIns="12700" rIns="12700" bIns="12700" anchor="ctr"/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itchFamily="18" charset="2"/>
                  <a:buChar char="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 sz="2300">
                    <a:solidFill>
                      <a:schemeClr val="tx2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itchFamily="18" charset="2"/>
                  <a:buChar char="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3C74BA"/>
                  </a:buClr>
                  <a:buSzPct val="70000"/>
                  <a:buFont typeface="Wingdings" panose="05000000000000000000" pitchFamily="2" charset="2"/>
                  <a:buChar char="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结束</a:t>
                </a:r>
                <a:endPara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1" name="Oval 11"/>
              <p:cNvSpPr>
                <a:spLocks noChangeArrowheads="1"/>
              </p:cNvSpPr>
              <p:nvPr/>
            </p:nvSpPr>
            <p:spPr bwMode="auto">
              <a:xfrm>
                <a:off x="3694" y="-13463"/>
                <a:ext cx="11029" cy="16873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</p:spPr>
            <p:txBody>
              <a:bodyPr anchor="ctr"/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itchFamily="18" charset="2"/>
                  <a:buChar char="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 sz="2300">
                    <a:solidFill>
                      <a:schemeClr val="tx2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itchFamily="18" charset="2"/>
                  <a:buChar char="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3C74BA"/>
                  </a:buClr>
                  <a:buSzPct val="70000"/>
                  <a:buFont typeface="Wingdings" panose="05000000000000000000" pitchFamily="2" charset="2"/>
                  <a:buChar char="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11" name="Rectangle 12"/>
            <p:cNvSpPr>
              <a:spLocks noChangeArrowheads="1"/>
            </p:cNvSpPr>
            <p:nvPr/>
          </p:nvSpPr>
          <p:spPr bwMode="auto">
            <a:xfrm>
              <a:off x="499655" y="4368525"/>
              <a:ext cx="985896" cy="452519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2700" tIns="12700" rIns="12700" bIns="12700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itchFamily="18" charset="2"/>
                <a:buChar char="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itchFamily="18" charset="2"/>
                <a:buChar char=""/>
                <a:defRPr sz="2300">
                  <a:solidFill>
                    <a:schemeClr val="tx2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itchFamily="18" charset="2"/>
                <a:buChar char="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3C74BA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dirty="0">
                  <a:solidFill>
                    <a:srgbClr val="F507F7"/>
                  </a:solidFill>
                  <a:effectLst/>
                  <a:ea typeface="+mn-ea"/>
                  <a:cs typeface="+mn-cs"/>
                </a:rPr>
                <a:t>h=0</a:t>
              </a:r>
              <a:endParaRPr kumimoji="0" lang="en-US" altLang="zh-CN" sz="2400" b="1" i="0" u="none" strike="noStrike" kern="1200" cap="none" spc="0" normalizeH="0" baseline="0" dirty="0">
                <a:solidFill>
                  <a:srgbClr val="F507F7"/>
                </a:solidFill>
                <a:effectLst/>
                <a:ea typeface="+mn-ea"/>
                <a:cs typeface="+mn-cs"/>
              </a:endParaRPr>
            </a:p>
          </p:txBody>
        </p:sp>
        <p:sp>
          <p:nvSpPr>
            <p:cNvPr id="12" name="Rectangle 13"/>
            <p:cNvSpPr>
              <a:spLocks noChangeArrowheads="1"/>
            </p:cNvSpPr>
            <p:nvPr/>
          </p:nvSpPr>
          <p:spPr bwMode="auto">
            <a:xfrm>
              <a:off x="499655" y="4962879"/>
              <a:ext cx="94281" cy="56058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itchFamily="18" charset="2"/>
                <a:buChar char="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itchFamily="18" charset="2"/>
                <a:buChar char=""/>
                <a:defRPr sz="2300">
                  <a:solidFill>
                    <a:schemeClr val="tx2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itchFamily="18" charset="2"/>
                <a:buChar char="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3C74BA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Rectangle 14"/>
            <p:cNvSpPr>
              <a:spLocks noChangeArrowheads="1"/>
            </p:cNvSpPr>
            <p:nvPr/>
          </p:nvSpPr>
          <p:spPr bwMode="auto">
            <a:xfrm>
              <a:off x="593936" y="4962879"/>
              <a:ext cx="4115982" cy="56058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2700" tIns="12700" rIns="12700" bIns="12700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itchFamily="18" charset="2"/>
                <a:buChar char="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itchFamily="18" charset="2"/>
                <a:buChar char=""/>
                <a:defRPr sz="2300">
                  <a:solidFill>
                    <a:schemeClr val="tx2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itchFamily="18" charset="2"/>
                <a:buChar char="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3C74BA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for(</a:t>
              </a:r>
              <a:r>
                <a:rPr kumimoji="0" lang="en-US" altLang="zh-CN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i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=1;i&lt;=</a:t>
              </a:r>
              <a:r>
                <a:rPr kumimoji="0" lang="en-US" altLang="zh-CN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n;i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++)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5"/>
            <p:cNvSpPr>
              <a:spLocks noChangeArrowheads="1"/>
            </p:cNvSpPr>
            <p:nvPr/>
          </p:nvSpPr>
          <p:spPr bwMode="auto">
            <a:xfrm>
              <a:off x="4930802" y="4324623"/>
              <a:ext cx="2817616" cy="57747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2700" tIns="12700" rIns="12700" bIns="12700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itchFamily="18" charset="2"/>
                <a:buChar char="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itchFamily="18" charset="2"/>
                <a:buChar char=""/>
                <a:defRPr sz="2300">
                  <a:solidFill>
                    <a:schemeClr val="tx2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itchFamily="18" charset="2"/>
                <a:buChar char="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3C74BA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dirty="0">
                  <a:solidFill>
                    <a:srgbClr val="F507F7"/>
                  </a:solidFill>
                  <a:effectLst/>
                  <a:ea typeface="+mn-ea"/>
                  <a:cs typeface="+mn-cs"/>
                </a:rPr>
                <a:t>h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=</a:t>
              </a:r>
              <a:r>
                <a:rPr kumimoji="0" lang="en-US" altLang="zh-CN" sz="2400" b="1" i="0" u="none" strike="noStrike" kern="1200" cap="none" spc="0" normalizeH="0" baseline="0" dirty="0">
                  <a:solidFill>
                    <a:srgbClr val="F507F7"/>
                  </a:solidFill>
                  <a:effectLst/>
                  <a:ea typeface="+mn-ea"/>
                  <a:cs typeface="+mn-cs"/>
                </a:rPr>
                <a:t>h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+1/</a:t>
              </a:r>
              <a:r>
                <a:rPr kumimoji="0" lang="en-US" altLang="zh-CN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i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Rectangle 16"/>
            <p:cNvSpPr>
              <a:spLocks noChangeArrowheads="1"/>
            </p:cNvSpPr>
            <p:nvPr/>
          </p:nvSpPr>
          <p:spPr bwMode="auto">
            <a:xfrm>
              <a:off x="4922720" y="5678805"/>
              <a:ext cx="2817616" cy="59773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2700" tIns="12700" rIns="12700" bIns="12700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itchFamily="18" charset="2"/>
                <a:buChar char="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itchFamily="18" charset="2"/>
                <a:buChar char=""/>
                <a:defRPr sz="2300">
                  <a:solidFill>
                    <a:schemeClr val="tx2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itchFamily="18" charset="2"/>
                <a:buChar char="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3C74BA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约分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 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Line 17"/>
            <p:cNvSpPr>
              <a:spLocks noChangeShapeType="1"/>
            </p:cNvSpPr>
            <p:nvPr/>
          </p:nvSpPr>
          <p:spPr bwMode="auto">
            <a:xfrm>
              <a:off x="494268" y="4084856"/>
              <a:ext cx="5387" cy="189450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Line 18"/>
            <p:cNvSpPr>
              <a:spLocks noChangeShapeType="1"/>
            </p:cNvSpPr>
            <p:nvPr/>
          </p:nvSpPr>
          <p:spPr bwMode="auto">
            <a:xfrm>
              <a:off x="4709918" y="5212778"/>
              <a:ext cx="21280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Line 19"/>
            <p:cNvSpPr>
              <a:spLocks noChangeShapeType="1"/>
            </p:cNvSpPr>
            <p:nvPr/>
          </p:nvSpPr>
          <p:spPr bwMode="auto">
            <a:xfrm flipH="1">
              <a:off x="4920027" y="4324623"/>
              <a:ext cx="0" cy="189450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pic>
        <p:nvPicPr>
          <p:cNvPr id="95237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888" y="1520825"/>
            <a:ext cx="3649662" cy="7667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165100" y="2749550"/>
            <a:ext cx="5621338" cy="3969385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FFFF00"/>
                </a:solidFill>
                <a:latin typeface="Arial" panose="020B0604020202020204" pitchFamily="34" charset="0"/>
              </a:rPr>
              <a:t>【</a:t>
            </a:r>
            <a:r>
              <a:rPr lang="zh-CN" altLang="en-US" sz="2800" b="1" dirty="0">
                <a:solidFill>
                  <a:srgbClr val="FFFF00"/>
                </a:solidFill>
                <a:latin typeface="Arial" panose="020B0604020202020204" pitchFamily="34" charset="0"/>
              </a:rPr>
              <a:t>计算过程</a:t>
            </a:r>
            <a:r>
              <a:rPr lang="en-US" altLang="zh-CN" sz="2800" b="1" dirty="0">
                <a:solidFill>
                  <a:srgbClr val="FFFF00"/>
                </a:solidFill>
                <a:latin typeface="Arial" panose="020B0604020202020204" pitchFamily="34" charset="0"/>
              </a:rPr>
              <a:t>】</a:t>
            </a:r>
            <a:endParaRPr lang="en-US" altLang="zh-CN" sz="2800" b="1" dirty="0">
              <a:solidFill>
                <a:srgbClr val="FFFF00"/>
              </a:solidFill>
              <a:latin typeface="Arial" panose="020B0604020202020204" pitchFamily="34" charset="0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F507F7"/>
                </a:solidFill>
                <a:latin typeface="Arial" panose="020B0604020202020204" pitchFamily="34" charset="0"/>
              </a:rPr>
              <a:t>h=0</a:t>
            </a:r>
            <a:endParaRPr lang="en-US" altLang="zh-CN" sz="2800" b="1" dirty="0">
              <a:solidFill>
                <a:srgbClr val="F507F7"/>
              </a:solidFill>
              <a:latin typeface="Arial" panose="020B0604020202020204" pitchFamily="34" charset="0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Arial" panose="020B0604020202020204" pitchFamily="34" charset="0"/>
              </a:rPr>
              <a:t>i=1</a:t>
            </a:r>
            <a:r>
              <a:rPr lang="zh-CN" altLang="en-US" sz="2800" b="1" dirty="0">
                <a:latin typeface="Arial" panose="020B0604020202020204" pitchFamily="34" charset="0"/>
              </a:rPr>
              <a:t>时，</a:t>
            </a:r>
            <a:r>
              <a:rPr lang="en-US" altLang="zh-CN" sz="2800" b="1" dirty="0">
                <a:latin typeface="Arial" panose="020B0604020202020204" pitchFamily="34" charset="0"/>
              </a:rPr>
              <a:t>h=0</a:t>
            </a:r>
            <a:r>
              <a:rPr lang="en-US" altLang="zh-CN" sz="2800" b="1" dirty="0">
                <a:solidFill>
                  <a:srgbClr val="F507F7"/>
                </a:solidFill>
                <a:latin typeface="Arial" panose="020B0604020202020204" pitchFamily="34" charset="0"/>
              </a:rPr>
              <a:t>+1/1</a:t>
            </a:r>
            <a:r>
              <a:rPr lang="en-US" altLang="zh-CN" sz="2800" b="1" dirty="0">
                <a:latin typeface="Arial" panose="020B0604020202020204" pitchFamily="34" charset="0"/>
              </a:rPr>
              <a:t>=1/1</a:t>
            </a:r>
            <a:endParaRPr lang="en-US" altLang="zh-CN" sz="2800" b="1" dirty="0">
              <a:latin typeface="Arial" panose="020B0604020202020204" pitchFamily="34" charset="0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Arial" panose="020B0604020202020204" pitchFamily="34" charset="0"/>
              </a:rPr>
              <a:t>i=2</a:t>
            </a:r>
            <a:r>
              <a:rPr lang="zh-CN" altLang="en-US" sz="2800" b="1" dirty="0">
                <a:latin typeface="Arial" panose="020B0604020202020204" pitchFamily="34" charset="0"/>
              </a:rPr>
              <a:t>时，</a:t>
            </a:r>
            <a:r>
              <a:rPr lang="en-US" altLang="zh-CN" sz="2800" b="1" dirty="0">
                <a:latin typeface="Arial" panose="020B0604020202020204" pitchFamily="34" charset="0"/>
              </a:rPr>
              <a:t>h=1/1</a:t>
            </a:r>
            <a:r>
              <a:rPr lang="en-US" altLang="zh-CN" sz="2800" b="1" dirty="0">
                <a:solidFill>
                  <a:srgbClr val="F507F7"/>
                </a:solidFill>
                <a:latin typeface="Arial" panose="020B0604020202020204" pitchFamily="34" charset="0"/>
              </a:rPr>
              <a:t>+1/2</a:t>
            </a:r>
            <a:r>
              <a:rPr lang="en-US" altLang="zh-CN" sz="2800" b="1" dirty="0">
                <a:latin typeface="Arial" panose="020B0604020202020204" pitchFamily="34" charset="0"/>
              </a:rPr>
              <a:t>=3/2</a:t>
            </a:r>
            <a:endParaRPr lang="en-US" altLang="zh-CN" sz="2800" b="1" dirty="0">
              <a:latin typeface="Arial" panose="020B0604020202020204" pitchFamily="34" charset="0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Arial" panose="020B0604020202020204" pitchFamily="34" charset="0"/>
              </a:rPr>
              <a:t>i=3</a:t>
            </a:r>
            <a:r>
              <a:rPr lang="zh-CN" altLang="en-US" sz="2800" b="1" dirty="0">
                <a:latin typeface="Arial" panose="020B0604020202020204" pitchFamily="34" charset="0"/>
              </a:rPr>
              <a:t>时，</a:t>
            </a:r>
            <a:r>
              <a:rPr lang="en-US" altLang="zh-CN" sz="2800" b="1" dirty="0">
                <a:latin typeface="Arial" panose="020B0604020202020204" pitchFamily="34" charset="0"/>
              </a:rPr>
              <a:t>h=3/2</a:t>
            </a:r>
            <a:r>
              <a:rPr lang="en-US" altLang="zh-CN" sz="2800" b="1" dirty="0">
                <a:solidFill>
                  <a:srgbClr val="F507F7"/>
                </a:solidFill>
                <a:latin typeface="Arial" panose="020B0604020202020204" pitchFamily="34" charset="0"/>
              </a:rPr>
              <a:t>+1/3</a:t>
            </a:r>
            <a:r>
              <a:rPr lang="en-US" altLang="zh-CN" sz="2800" b="1" dirty="0">
                <a:latin typeface="Arial" panose="020B0604020202020204" pitchFamily="34" charset="0"/>
              </a:rPr>
              <a:t>=11/6</a:t>
            </a:r>
            <a:endParaRPr lang="en-US" altLang="zh-CN" sz="2800" b="1" dirty="0">
              <a:latin typeface="Arial" panose="020B0604020202020204" pitchFamily="34" charset="0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Arial" panose="020B0604020202020204" pitchFamily="34" charset="0"/>
              </a:rPr>
              <a:t>i=4</a:t>
            </a:r>
            <a:r>
              <a:rPr lang="zh-CN" altLang="en-US" sz="2800" b="1" dirty="0">
                <a:latin typeface="Arial" panose="020B0604020202020204" pitchFamily="34" charset="0"/>
              </a:rPr>
              <a:t>时，</a:t>
            </a:r>
            <a:r>
              <a:rPr lang="en-US" altLang="zh-CN" sz="2800" b="1" dirty="0">
                <a:latin typeface="Arial" panose="020B0604020202020204" pitchFamily="34" charset="0"/>
              </a:rPr>
              <a:t>h=11/6</a:t>
            </a:r>
            <a:r>
              <a:rPr lang="en-US" altLang="zh-CN" sz="2800" b="1" dirty="0">
                <a:solidFill>
                  <a:srgbClr val="F507F7"/>
                </a:solidFill>
                <a:latin typeface="Arial" panose="020B0604020202020204" pitchFamily="34" charset="0"/>
              </a:rPr>
              <a:t>+1/4</a:t>
            </a:r>
            <a:r>
              <a:rPr lang="en-US" altLang="zh-CN" sz="2800" b="1" dirty="0">
                <a:latin typeface="Arial" panose="020B0604020202020204" pitchFamily="34" charset="0"/>
              </a:rPr>
              <a:t>=50/24 </a:t>
            </a:r>
            <a:r>
              <a:rPr lang="en-US" altLang="zh-CN" sz="2800" b="1" dirty="0">
                <a:solidFill>
                  <a:srgbClr val="FFFF00"/>
                </a:solidFill>
                <a:latin typeface="Arial" panose="020B0604020202020204" pitchFamily="34" charset="0"/>
              </a:rPr>
              <a:t>=25/12</a:t>
            </a:r>
            <a:endParaRPr lang="en-US" altLang="zh-CN" sz="2800" b="1" dirty="0">
              <a:solidFill>
                <a:srgbClr val="FFFF00"/>
              </a:solidFill>
              <a:latin typeface="Arial" panose="020B0604020202020204" pitchFamily="34" charset="0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Arial" panose="020B0604020202020204" pitchFamily="34" charset="0"/>
              </a:rPr>
              <a:t>i=5</a:t>
            </a:r>
            <a:r>
              <a:rPr lang="zh-CN" altLang="en-US" sz="2800" b="1" dirty="0">
                <a:latin typeface="Arial" panose="020B0604020202020204" pitchFamily="34" charset="0"/>
              </a:rPr>
              <a:t>时，</a:t>
            </a:r>
            <a:r>
              <a:rPr lang="en-US" altLang="zh-CN" sz="2800" b="1" dirty="0">
                <a:latin typeface="Arial" panose="020B0604020202020204" pitchFamily="34" charset="0"/>
              </a:rPr>
              <a:t>h=25/12</a:t>
            </a:r>
            <a:r>
              <a:rPr lang="en-US" altLang="zh-CN" sz="2800" b="1" dirty="0">
                <a:solidFill>
                  <a:srgbClr val="F507F7"/>
                </a:solidFill>
                <a:latin typeface="Arial" panose="020B0604020202020204" pitchFamily="34" charset="0"/>
              </a:rPr>
              <a:t>+1/5</a:t>
            </a:r>
            <a:r>
              <a:rPr lang="en-US" altLang="zh-CN" sz="2800" b="1" dirty="0">
                <a:latin typeface="Arial" panose="020B0604020202020204" pitchFamily="34" charset="0"/>
              </a:rPr>
              <a:t> =137/60</a:t>
            </a:r>
            <a:endParaRPr lang="en-US" altLang="zh-CN" sz="2800" b="1" dirty="0">
              <a:latin typeface="Arial" panose="020B0604020202020204" pitchFamily="34" charset="0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Arial" panose="020B0604020202020204" pitchFamily="34" charset="0"/>
              </a:rPr>
              <a:t>……</a:t>
            </a:r>
            <a:endParaRPr lang="en-US" altLang="zh-CN" sz="2800" b="1" dirty="0">
              <a:latin typeface="Arial" panose="020B0604020202020204" pitchFamily="34" charset="0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Arial" panose="020B0604020202020204" pitchFamily="34" charset="0"/>
              </a:rPr>
              <a:t>i=n</a:t>
            </a:r>
            <a:r>
              <a:rPr lang="zh-CN" altLang="en-US" sz="2800" b="1" dirty="0">
                <a:latin typeface="Arial" panose="020B0604020202020204" pitchFamily="34" charset="0"/>
              </a:rPr>
              <a:t>时，</a:t>
            </a:r>
            <a:r>
              <a:rPr lang="en-US" altLang="zh-CN" sz="2800" b="1" dirty="0">
                <a:latin typeface="Arial" panose="020B0604020202020204" pitchFamily="34" charset="0"/>
              </a:rPr>
              <a:t>h=h</a:t>
            </a:r>
            <a:r>
              <a:rPr lang="en-US" altLang="zh-CN" sz="2800" b="1" dirty="0">
                <a:solidFill>
                  <a:srgbClr val="F507F7"/>
                </a:solidFill>
                <a:latin typeface="Arial" panose="020B0604020202020204" pitchFamily="34" charset="0"/>
              </a:rPr>
              <a:t>+1/n</a:t>
            </a:r>
            <a:r>
              <a:rPr lang="en-US" altLang="zh-CN" sz="2800" b="1" dirty="0">
                <a:latin typeface="Arial" panose="020B0604020202020204" pitchFamily="34" charset="0"/>
              </a:rPr>
              <a:t> = ……</a:t>
            </a:r>
            <a:endParaRPr lang="zh-CN" altLang="en-US" sz="2800" b="1" dirty="0">
              <a:latin typeface="Arial" panose="020B0604020202020204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1363" y="3319463"/>
            <a:ext cx="3960812" cy="6175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1363" y="3957638"/>
            <a:ext cx="3128962" cy="7445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1363" y="4733925"/>
            <a:ext cx="3540125" cy="7778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2788" y="5518150"/>
            <a:ext cx="4605337" cy="788988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26" name="直接箭头连接符 25"/>
          <p:cNvCxnSpPr/>
          <p:nvPr/>
        </p:nvCxnSpPr>
        <p:spPr>
          <a:xfrm flipV="1">
            <a:off x="3886200" y="3629025"/>
            <a:ext cx="1900238" cy="544513"/>
          </a:xfrm>
          <a:prstGeom prst="straightConnector1">
            <a:avLst/>
          </a:prstGeom>
          <a:ln w="38100" cap="flat" cmpd="sng">
            <a:solidFill>
              <a:srgbClr val="F507F7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36" name="直接箭头连接符 35"/>
          <p:cNvCxnSpPr/>
          <p:nvPr/>
        </p:nvCxnSpPr>
        <p:spPr>
          <a:xfrm flipV="1">
            <a:off x="3962400" y="4330700"/>
            <a:ext cx="1824038" cy="350838"/>
          </a:xfrm>
          <a:prstGeom prst="straightConnector1">
            <a:avLst/>
          </a:prstGeom>
          <a:ln w="38100" cap="flat" cmpd="sng">
            <a:solidFill>
              <a:srgbClr val="F507F7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39" name="直接箭头连接符 38"/>
          <p:cNvCxnSpPr/>
          <p:nvPr/>
        </p:nvCxnSpPr>
        <p:spPr>
          <a:xfrm flipV="1">
            <a:off x="5583238" y="5122863"/>
            <a:ext cx="238125" cy="23812"/>
          </a:xfrm>
          <a:prstGeom prst="straightConnector1">
            <a:avLst/>
          </a:prstGeom>
          <a:ln w="38100" cap="flat" cmpd="sng">
            <a:solidFill>
              <a:srgbClr val="F507F7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31" name="标题 1"/>
          <p:cNvSpPr>
            <a:spLocks noGrp="1"/>
          </p:cNvSpPr>
          <p:nvPr>
            <p:ph type="title"/>
          </p:nvPr>
        </p:nvSpPr>
        <p:spPr>
          <a:xfrm>
            <a:off x="74613" y="82550"/>
            <a:ext cx="8928100" cy="73025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【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例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9.9】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计算调和级数前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N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项和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11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28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47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67" end="9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96" end="1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121" end="1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124" end="1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11" name="内容占位符 2"/>
          <p:cNvSpPr>
            <a:spLocks noGrp="1"/>
          </p:cNvSpPr>
          <p:nvPr>
            <p:ph idx="1"/>
          </p:nvPr>
        </p:nvSpPr>
        <p:spPr>
          <a:xfrm>
            <a:off x="293688" y="822325"/>
            <a:ext cx="8942388" cy="5238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编程序计算调合级数前Ｎ项和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要求结果是一个准确的分数形式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8614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481E544-7CF8-4152-8DE9-65B4AEF0A9F8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" name="Group 19"/>
          <p:cNvGrpSpPr/>
          <p:nvPr/>
        </p:nvGrpSpPr>
        <p:grpSpPr>
          <a:xfrm>
            <a:off x="385763" y="3135313"/>
            <a:ext cx="4210050" cy="3573462"/>
            <a:chOff x="334" y="479"/>
            <a:chExt cx="1477" cy="1821"/>
          </a:xfrm>
        </p:grpSpPr>
        <p:sp>
          <p:nvSpPr>
            <p:cNvPr id="25" name="Rectangle 6"/>
            <p:cNvSpPr>
              <a:spLocks noChangeArrowheads="1"/>
            </p:cNvSpPr>
            <p:nvPr/>
          </p:nvSpPr>
          <p:spPr bwMode="auto">
            <a:xfrm>
              <a:off x="334" y="481"/>
              <a:ext cx="816" cy="337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lIns="12700" tIns="12700" rIns="12700" bIns="12700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itchFamily="18" charset="2"/>
                <a:buChar char="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itchFamily="18" charset="2"/>
                <a:buChar char=""/>
                <a:defRPr sz="2300">
                  <a:solidFill>
                    <a:schemeClr val="tx2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itchFamily="18" charset="2"/>
                <a:buChar char="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3C74BA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计算 </a:t>
              </a:r>
              <a:r>
                <a:rPr kumimoji="0" lang="en-US" altLang="zh-CN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a/b</a:t>
              </a:r>
              <a:r>
                <a:rPr kumimoji="0" lang="en-US" altLang="zh-CN" sz="2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+1/</a:t>
              </a:r>
              <a:r>
                <a:rPr kumimoji="0" lang="en-US" altLang="zh-CN" sz="26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i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Oval 7"/>
            <p:cNvSpPr>
              <a:spLocks noChangeArrowheads="1"/>
            </p:cNvSpPr>
            <p:nvPr/>
          </p:nvSpPr>
          <p:spPr bwMode="auto">
            <a:xfrm>
              <a:off x="351" y="479"/>
              <a:ext cx="816" cy="3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itchFamily="18" charset="2"/>
                <a:buChar char="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itchFamily="18" charset="2"/>
                <a:buChar char=""/>
                <a:defRPr sz="2300">
                  <a:solidFill>
                    <a:schemeClr val="tx2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itchFamily="18" charset="2"/>
                <a:buChar char="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3C74BA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Rectangle 9"/>
            <p:cNvSpPr>
              <a:spLocks noChangeArrowheads="1"/>
            </p:cNvSpPr>
            <p:nvPr/>
          </p:nvSpPr>
          <p:spPr bwMode="auto">
            <a:xfrm>
              <a:off x="438" y="1986"/>
              <a:ext cx="565" cy="279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lIns="12700" tIns="12700" rIns="12700" bIns="12700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itchFamily="18" charset="2"/>
                <a:buChar char="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itchFamily="18" charset="2"/>
                <a:buChar char=""/>
                <a:defRPr sz="2300">
                  <a:solidFill>
                    <a:schemeClr val="tx2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itchFamily="18" charset="2"/>
                <a:buChar char="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3C74BA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结束</a:t>
              </a:r>
              <a:endPara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Oval 10"/>
            <p:cNvSpPr>
              <a:spLocks noChangeArrowheads="1"/>
            </p:cNvSpPr>
            <p:nvPr/>
          </p:nvSpPr>
          <p:spPr bwMode="auto">
            <a:xfrm>
              <a:off x="438" y="1936"/>
              <a:ext cx="565" cy="36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itchFamily="18" charset="2"/>
                <a:buChar char="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itchFamily="18" charset="2"/>
                <a:buChar char=""/>
                <a:defRPr sz="2300">
                  <a:solidFill>
                    <a:schemeClr val="tx2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itchFamily="18" charset="2"/>
                <a:buChar char="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3C74BA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Rectangle 11"/>
            <p:cNvSpPr>
              <a:spLocks noChangeArrowheads="1"/>
            </p:cNvSpPr>
            <p:nvPr/>
          </p:nvSpPr>
          <p:spPr bwMode="auto">
            <a:xfrm>
              <a:off x="760" y="959"/>
              <a:ext cx="1048" cy="37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2700" tIns="12700" rIns="12700" bIns="12700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itchFamily="18" charset="2"/>
                <a:buChar char="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itchFamily="18" charset="2"/>
                <a:buChar char=""/>
                <a:defRPr sz="2300">
                  <a:solidFill>
                    <a:schemeClr val="tx2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itchFamily="18" charset="2"/>
                <a:buChar char="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3C74BA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计算分子：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 = </a:t>
              </a:r>
              <a:r>
                <a:rPr kumimoji="0" lang="en-US" altLang="zh-CN" sz="2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 * </a:t>
              </a:r>
              <a:r>
                <a:rPr kumimoji="0" lang="en-US" altLang="zh-CN" sz="26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i</a:t>
              </a:r>
              <a:r>
                <a:rPr kumimoji="0" lang="en-US" altLang="zh-CN" sz="2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+ b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Rectangle 13"/>
            <p:cNvSpPr>
              <a:spLocks noChangeArrowheads="1"/>
            </p:cNvSpPr>
            <p:nvPr/>
          </p:nvSpPr>
          <p:spPr bwMode="auto">
            <a:xfrm>
              <a:off x="763" y="1452"/>
              <a:ext cx="1048" cy="349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2700" tIns="12700" rIns="12700" bIns="12700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itchFamily="18" charset="2"/>
                <a:buChar char="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itchFamily="18" charset="2"/>
                <a:buChar char=""/>
                <a:defRPr sz="2300">
                  <a:solidFill>
                    <a:schemeClr val="tx2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itchFamily="18" charset="2"/>
                <a:buChar char="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3C74BA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计算分母：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b = </a:t>
              </a:r>
              <a:r>
                <a:rPr kumimoji="0" lang="en-US" altLang="zh-CN" sz="2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b * </a:t>
              </a:r>
              <a:r>
                <a:rPr kumimoji="0" lang="en-US" altLang="zh-CN" sz="26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i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Line 16"/>
            <p:cNvSpPr>
              <a:spLocks noChangeShapeType="1"/>
            </p:cNvSpPr>
            <p:nvPr/>
          </p:nvSpPr>
          <p:spPr bwMode="auto">
            <a:xfrm>
              <a:off x="762" y="848"/>
              <a:ext cx="1" cy="108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" name="Group 28"/>
          <p:cNvGrpSpPr/>
          <p:nvPr/>
        </p:nvGrpSpPr>
        <p:grpSpPr>
          <a:xfrm>
            <a:off x="6016625" y="3422650"/>
            <a:ext cx="4527550" cy="3003550"/>
            <a:chOff x="2780" y="192"/>
            <a:chExt cx="3408" cy="2138"/>
          </a:xfrm>
        </p:grpSpPr>
        <p:sp>
          <p:nvSpPr>
            <p:cNvPr id="33" name="Rectangle 21"/>
            <p:cNvSpPr>
              <a:spLocks noChangeArrowheads="1"/>
            </p:cNvSpPr>
            <p:nvPr/>
          </p:nvSpPr>
          <p:spPr bwMode="auto">
            <a:xfrm>
              <a:off x="2780" y="232"/>
              <a:ext cx="1110" cy="289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lIns="12700" tIns="12700" rIns="12700" bIns="12700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itchFamily="18" charset="2"/>
                <a:buChar char="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itchFamily="18" charset="2"/>
                <a:buChar char=""/>
                <a:defRPr sz="2300">
                  <a:solidFill>
                    <a:schemeClr val="tx2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itchFamily="18" charset="2"/>
                <a:buChar char="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3C74BA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约分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Oval 22"/>
            <p:cNvSpPr>
              <a:spLocks noChangeArrowheads="1"/>
            </p:cNvSpPr>
            <p:nvPr/>
          </p:nvSpPr>
          <p:spPr bwMode="auto">
            <a:xfrm>
              <a:off x="2780" y="192"/>
              <a:ext cx="1110" cy="3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itchFamily="18" charset="2"/>
                <a:buChar char="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itchFamily="18" charset="2"/>
                <a:buChar char=""/>
                <a:defRPr sz="2300">
                  <a:solidFill>
                    <a:schemeClr val="tx2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itchFamily="18" charset="2"/>
                <a:buChar char="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3C74BA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Rectangle 23"/>
            <p:cNvSpPr>
              <a:spLocks noChangeArrowheads="1"/>
            </p:cNvSpPr>
            <p:nvPr/>
          </p:nvSpPr>
          <p:spPr bwMode="auto">
            <a:xfrm>
              <a:off x="2780" y="1999"/>
              <a:ext cx="963" cy="331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lIns="12700" tIns="12700" rIns="12700" bIns="12700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itchFamily="18" charset="2"/>
                <a:buChar char="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itchFamily="18" charset="2"/>
                <a:buChar char=""/>
                <a:defRPr sz="2300">
                  <a:solidFill>
                    <a:schemeClr val="tx2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itchFamily="18" charset="2"/>
                <a:buChar char="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3C74BA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 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结束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Oval 24"/>
            <p:cNvSpPr>
              <a:spLocks noChangeArrowheads="1"/>
            </p:cNvSpPr>
            <p:nvPr/>
          </p:nvSpPr>
          <p:spPr bwMode="auto">
            <a:xfrm>
              <a:off x="2780" y="1954"/>
              <a:ext cx="963" cy="37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itchFamily="18" charset="2"/>
                <a:buChar char="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itchFamily="18" charset="2"/>
                <a:buChar char=""/>
                <a:defRPr sz="2300">
                  <a:solidFill>
                    <a:schemeClr val="tx2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itchFamily="18" charset="2"/>
                <a:buChar char="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3C74BA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Rectangle 25"/>
            <p:cNvSpPr>
              <a:spLocks noChangeArrowheads="1"/>
            </p:cNvSpPr>
            <p:nvPr/>
          </p:nvSpPr>
          <p:spPr bwMode="auto">
            <a:xfrm>
              <a:off x="3268" y="613"/>
              <a:ext cx="2920" cy="48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2700" tIns="12700" rIns="12700" bIns="12700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itchFamily="18" charset="2"/>
                <a:buChar char="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itchFamily="18" charset="2"/>
                <a:buChar char=""/>
                <a:defRPr sz="2300">
                  <a:solidFill>
                    <a:schemeClr val="tx2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itchFamily="18" charset="2"/>
                <a:buChar char="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3C74BA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507F7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求</a:t>
              </a: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、</a:t>
              </a: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b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最大公约数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507F7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g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Rectangle 26"/>
            <p:cNvSpPr>
              <a:spLocks noChangeArrowheads="1"/>
            </p:cNvSpPr>
            <p:nvPr/>
          </p:nvSpPr>
          <p:spPr bwMode="auto">
            <a:xfrm>
              <a:off x="3263" y="1343"/>
              <a:ext cx="2925" cy="34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2700" tIns="12700" rIns="12700" bIns="12700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itchFamily="18" charset="2"/>
                <a:buChar char="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itchFamily="18" charset="2"/>
                <a:buChar char=""/>
                <a:defRPr sz="2300">
                  <a:solidFill>
                    <a:schemeClr val="tx2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itchFamily="18" charset="2"/>
                <a:buChar char="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3C74BA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a=</a:t>
              </a: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507F7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/g</a:t>
              </a: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;    </a:t>
              </a: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b=</a:t>
              </a: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b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507F7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/g</a:t>
              </a: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Line 27"/>
            <p:cNvSpPr>
              <a:spLocks noChangeShapeType="1"/>
            </p:cNvSpPr>
            <p:nvPr/>
          </p:nvSpPr>
          <p:spPr bwMode="auto">
            <a:xfrm>
              <a:off x="3268" y="575"/>
              <a:ext cx="0" cy="141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pic>
        <p:nvPicPr>
          <p:cNvPr id="9626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6900" y="1323975"/>
            <a:ext cx="3055938" cy="10445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6263" name="箭头: 右 2"/>
          <p:cNvSpPr/>
          <p:nvPr/>
        </p:nvSpPr>
        <p:spPr>
          <a:xfrm>
            <a:off x="3709988" y="1719263"/>
            <a:ext cx="542925" cy="276225"/>
          </a:xfrm>
          <a:prstGeom prst="rightArrow">
            <a:avLst>
              <a:gd name="adj1" fmla="val 50000"/>
              <a:gd name="adj2" fmla="val 50193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1" dirty="0">
              <a:latin typeface="Arial" panose="020B0604020202020204" pitchFamily="34" charset="0"/>
            </a:endParaRPr>
          </a:p>
        </p:txBody>
      </p:sp>
      <p:pic>
        <p:nvPicPr>
          <p:cNvPr id="96264" name="图片 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5163" y="1371600"/>
            <a:ext cx="4605337" cy="9604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0" name="标题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928100" cy="73025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【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例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9.9】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计算调和级数前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N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项和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641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54CFC58-4718-44B2-864C-9E03D9FA68C3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163" name="矩形 6"/>
          <p:cNvSpPr>
            <a:spLocks noChangeArrowheads="1"/>
          </p:cNvSpPr>
          <p:nvPr/>
        </p:nvSpPr>
        <p:spPr bwMode="auto">
          <a:xfrm>
            <a:off x="457200" y="1817688"/>
            <a:ext cx="403225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#include  &lt;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stdio.h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&gt;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//int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a,b,n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;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7284" name="文本框 3"/>
          <p:cNvSpPr txBox="1"/>
          <p:nvPr/>
        </p:nvSpPr>
        <p:spPr>
          <a:xfrm>
            <a:off x="401638" y="1227138"/>
            <a:ext cx="2232025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FFC000"/>
                </a:solidFill>
                <a:latin typeface="Arial" panose="020B0604020202020204" pitchFamily="34" charset="0"/>
              </a:rPr>
              <a:t>源程序：</a:t>
            </a:r>
            <a:endParaRPr lang="zh-CN" altLang="en-US" sz="2400" b="1" dirty="0">
              <a:solidFill>
                <a:srgbClr val="FFC000"/>
              </a:solidFill>
              <a:latin typeface="Arial" panose="020B0604020202020204" pitchFamily="34" charset="0"/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7600" y="3505200"/>
            <a:ext cx="4605338" cy="9588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2166" name="矩形 6"/>
          <p:cNvSpPr>
            <a:spLocks noChangeArrowheads="1"/>
          </p:cNvSpPr>
          <p:nvPr/>
        </p:nvSpPr>
        <p:spPr bwMode="auto">
          <a:xfrm>
            <a:off x="436563" y="3124200"/>
            <a:ext cx="6324600" cy="2245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//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计算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a/b+1/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void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507F7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add (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int ii,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507F7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 *aa, int *bb )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{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	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507F7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*aa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=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507F7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*aa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* ii +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507F7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*bb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; 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	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507F7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*bb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=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507F7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*bb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* ii ;   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}                             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228600" y="201613"/>
            <a:ext cx="8928100" cy="73025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【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例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9.9】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计算调和级数前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N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项和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641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8A5AB01-52CE-45B1-A2DA-0309B2F095B7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343400" y="3511550"/>
            <a:ext cx="6200775" cy="31076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//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约分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a/b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void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507F7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reduce (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int  *x , int *y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507F7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){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   int  g  ;     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   g =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507F7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gcd(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*x, *y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507F7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)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;   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   *x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=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(*x)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/ g;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 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*y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=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(*y)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/ g 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507F7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}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507F7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8308" name="矩形 6"/>
          <p:cNvSpPr/>
          <p:nvPr/>
        </p:nvSpPr>
        <p:spPr>
          <a:xfrm>
            <a:off x="246063" y="346075"/>
            <a:ext cx="3970337" cy="439991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Arial" panose="020B0604020202020204" pitchFamily="34" charset="0"/>
              </a:rPr>
              <a:t>int  </a:t>
            </a:r>
            <a:r>
              <a:rPr lang="en-US" altLang="zh-CN" sz="2800" b="1" dirty="0">
                <a:solidFill>
                  <a:srgbClr val="F507F7"/>
                </a:solidFill>
                <a:latin typeface="Arial" panose="020B0604020202020204" pitchFamily="34" charset="0"/>
              </a:rPr>
              <a:t>gcd ( int u , int v ){  </a:t>
            </a:r>
            <a:endParaRPr lang="en-US" altLang="zh-CN" sz="2800" b="1" dirty="0">
              <a:solidFill>
                <a:srgbClr val="F507F7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Arial" panose="020B0604020202020204" pitchFamily="34" charset="0"/>
              </a:rPr>
              <a:t>    </a:t>
            </a:r>
            <a:r>
              <a:rPr lang="pt-BR" altLang="zh-CN" sz="2800" b="1" dirty="0">
                <a:latin typeface="Arial" panose="020B0604020202020204" pitchFamily="34" charset="0"/>
              </a:rPr>
              <a:t>int  r</a:t>
            </a:r>
            <a:r>
              <a:rPr lang="en-US" altLang="zh-CN" sz="2800" b="1" dirty="0">
                <a:latin typeface="Arial" panose="020B0604020202020204" pitchFamily="34" charset="0"/>
              </a:rPr>
              <a:t>;</a:t>
            </a:r>
            <a:endParaRPr lang="en-US" altLang="zh-CN" sz="2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Arial" panose="020B0604020202020204" pitchFamily="34" charset="0"/>
              </a:rPr>
              <a:t>    r</a:t>
            </a:r>
            <a:r>
              <a:rPr lang="pt-BR" altLang="zh-CN" sz="2800" b="1" dirty="0">
                <a:latin typeface="Arial" panose="020B0604020202020204" pitchFamily="34" charset="0"/>
              </a:rPr>
              <a:t>=</a:t>
            </a:r>
            <a:r>
              <a:rPr lang="en-US" altLang="zh-CN" sz="2800" b="1" dirty="0">
                <a:latin typeface="Arial" panose="020B0604020202020204" pitchFamily="34" charset="0"/>
              </a:rPr>
              <a:t>v</a:t>
            </a:r>
            <a:r>
              <a:rPr lang="pt-BR" altLang="zh-CN" sz="2800" b="1" dirty="0">
                <a:latin typeface="Arial" panose="020B0604020202020204" pitchFamily="34" charset="0"/>
              </a:rPr>
              <a:t>; </a:t>
            </a:r>
            <a:endParaRPr lang="pt-BR" altLang="zh-CN" sz="2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800" b="1" dirty="0">
                <a:latin typeface="Arial" panose="020B0604020202020204" pitchFamily="34" charset="0"/>
              </a:rPr>
              <a:t>    while ( r!=0 ) {   </a:t>
            </a:r>
            <a:endParaRPr lang="pt-BR" altLang="zh-CN" sz="2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800" b="1" dirty="0">
                <a:latin typeface="Arial" panose="020B0604020202020204" pitchFamily="34" charset="0"/>
              </a:rPr>
              <a:t>        r = u % v ;     </a:t>
            </a:r>
            <a:endParaRPr lang="pt-BR" altLang="zh-CN" sz="2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800" b="1" dirty="0">
                <a:latin typeface="Arial" panose="020B0604020202020204" pitchFamily="34" charset="0"/>
              </a:rPr>
              <a:t>        u = v ;         </a:t>
            </a:r>
            <a:endParaRPr lang="pt-BR" altLang="zh-CN" sz="2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800" b="1" dirty="0">
                <a:latin typeface="Arial" panose="020B0604020202020204" pitchFamily="34" charset="0"/>
              </a:rPr>
              <a:t>        v = r ;        </a:t>
            </a:r>
            <a:endParaRPr lang="pt-BR" altLang="zh-CN" sz="2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800" b="1" dirty="0">
                <a:latin typeface="Arial" panose="020B0604020202020204" pitchFamily="34" charset="0"/>
              </a:rPr>
              <a:t>    }  </a:t>
            </a:r>
            <a:endParaRPr lang="pt-BR" altLang="zh-CN" sz="2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800" b="1" dirty="0">
                <a:latin typeface="Arial" panose="020B0604020202020204" pitchFamily="34" charset="0"/>
              </a:rPr>
              <a:t>    return u ;    </a:t>
            </a:r>
            <a:endParaRPr lang="en-US" altLang="zh-CN" sz="2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F507F7"/>
                </a:solidFill>
                <a:latin typeface="Arial" panose="020B0604020202020204" pitchFamily="34" charset="0"/>
              </a:rPr>
              <a:t>} </a:t>
            </a:r>
            <a:r>
              <a:rPr lang="en-US" altLang="zh-CN" sz="2800" b="1" dirty="0">
                <a:latin typeface="Arial" panose="020B0604020202020204" pitchFamily="34" charset="0"/>
              </a:rPr>
              <a:t>      </a:t>
            </a:r>
            <a:endParaRPr lang="en-US" altLang="zh-CN" sz="2800" b="1" dirty="0">
              <a:latin typeface="Arial" panose="020B0604020202020204" pitchFamily="34" charset="0"/>
            </a:endParaRPr>
          </a:p>
        </p:txBody>
      </p:sp>
      <p:pic>
        <p:nvPicPr>
          <p:cNvPr id="98309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19738" y="2060575"/>
            <a:ext cx="4440237" cy="9747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641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917911A-D9FF-48AD-8921-724EF172FB8F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643" name="矩形 16"/>
          <p:cNvSpPr>
            <a:spLocks noChangeArrowheads="1"/>
          </p:cNvSpPr>
          <p:nvPr/>
        </p:nvSpPr>
        <p:spPr bwMode="auto">
          <a:xfrm>
            <a:off x="152400" y="382588"/>
            <a:ext cx="7924800" cy="612394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507F7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int main( ){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int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a,b,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n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;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//a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保存分子，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保存分母，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n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为项数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printf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("input  n:"); 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scanf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("%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d",&amp;n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);  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a=0;  b=1;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//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构造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0/1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，使算法统一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    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for (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=1 ;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&lt;=n ;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++ ) {  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507F7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add(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,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&amp;a, &amp;b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507F7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);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507F7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reduce(</a:t>
            </a:r>
            <a:r>
              <a:rPr kumimoji="0" lang="pt-BR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pt-BR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&amp;a, &amp;b</a:t>
            </a:r>
            <a:r>
              <a:rPr kumimoji="0" lang="pt-BR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507F7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)</a:t>
            </a:r>
            <a:r>
              <a:rPr kumimoji="0" lang="pt-BR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;</a:t>
            </a:r>
            <a:endParaRPr kumimoji="0" lang="pt-BR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pt-BR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}                   </a:t>
            </a:r>
            <a:endParaRPr kumimoji="0" lang="pt-BR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pt-BR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printf("          %d\n", a ) ;  </a:t>
            </a:r>
            <a:endParaRPr kumimoji="0" lang="pt-BR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pt-BR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printf("  Hn =──\n");   </a:t>
            </a:r>
            <a:endParaRPr kumimoji="0" lang="pt-BR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pt-BR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printf("          %d\n", b ) ; </a:t>
            </a:r>
            <a:endParaRPr kumimoji="0" lang="pt-BR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pt-BR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return 0; </a:t>
            </a:r>
            <a:endParaRPr kumimoji="0" lang="pt-BR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507F7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}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507F7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9188" y="3208338"/>
            <a:ext cx="3959225" cy="6175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9188" y="3887788"/>
            <a:ext cx="3128962" cy="7445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9188" y="4700588"/>
            <a:ext cx="3540125" cy="7762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9188" y="5524500"/>
            <a:ext cx="4605337" cy="9604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0775" y="2525713"/>
            <a:ext cx="1409700" cy="6175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9874" name="标题 1"/>
          <p:cNvSpPr>
            <a:spLocks noGrp="1"/>
          </p:cNvSpPr>
          <p:nvPr>
            <p:ph type="title"/>
          </p:nvPr>
        </p:nvSpPr>
        <p:spPr>
          <a:xfrm>
            <a:off x="3124200" y="134938"/>
            <a:ext cx="5181600" cy="71596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本章小结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4300" y="736600"/>
            <a:ext cx="11421745" cy="598678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语言函数参数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参数传递规则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简单变量作参数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（结构体变量作参数同理）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800" b="1" i="0" u="none" strike="noStrike" cap="none" spc="0" normalizeH="0" baseline="0" noProof="0" dirty="0">
                <a:ln>
                  <a:noFill/>
                </a:ln>
                <a:solidFill>
                  <a:srgbClr val="FFFF00"/>
                </a:solidFill>
                <a:uLnTx/>
                <a:uFillTx/>
                <a:cs typeface="+mn-ea"/>
              </a:rPr>
              <a:t>指针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作参数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（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数组作参数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结构体指针和结构体数组作参数同理）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语言函数返回值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返回简单变量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（返回结构体变量同理）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返回指针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（返回结构体指针同理）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作用域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作用域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局部量和全局量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重点掌握 函数的参数 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9878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4066AE0-607A-4B02-BF76-32244102007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32" end="1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charRg st="132" end="14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commondata" val="eyJoZGlkIjoiNmNmMTFlYTU3YjU5NDNlMjFjNGE1NDM0ZWI5YjNhZDUifQ=="/>
</p:tagLst>
</file>

<file path=ppt/theme/theme1.xml><?xml version="1.0" encoding="utf-8"?>
<a:theme xmlns:a="http://schemas.openxmlformats.org/drawingml/2006/main" name="1_Slit">
  <a:themeElements>
    <a:clrScheme name="Slit 6">
      <a:dk1>
        <a:srgbClr val="0000AC"/>
      </a:dk1>
      <a:lt1>
        <a:srgbClr val="FFFFFF"/>
      </a:lt1>
      <a:dk2>
        <a:srgbClr val="000086"/>
      </a:dk2>
      <a:lt2>
        <a:srgbClr val="CCFFFF"/>
      </a:lt2>
      <a:accent1>
        <a:srgbClr val="0099FF"/>
      </a:accent1>
      <a:accent2>
        <a:srgbClr val="00B000"/>
      </a:accent2>
      <a:accent3>
        <a:srgbClr val="AAAAC3"/>
      </a:accent3>
      <a:accent4>
        <a:srgbClr val="DADADA"/>
      </a:accent4>
      <a:accent5>
        <a:srgbClr val="AACAFF"/>
      </a:accent5>
      <a:accent6>
        <a:srgbClr val="009F00"/>
      </a:accent6>
      <a:hlink>
        <a:srgbClr val="FFE701"/>
      </a:hlink>
      <a:folHlink>
        <a:srgbClr val="FF9900"/>
      </a:folHlink>
    </a:clrScheme>
    <a:fontScheme name="Sli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</a:spPr>
      <a:bodyPr wrap="square" lIns="0" rIns="0">
        <a:noAutofit/>
      </a:bodyPr>
      <a:lstStyle>
        <a:defPPr eaLnBrk="1" hangingPunct="1">
          <a:buNone/>
          <a:defRPr sz="3200" dirty="0"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Slit 1">
        <a:dk1>
          <a:srgbClr val="8C0000"/>
        </a:dk1>
        <a:lt1>
          <a:srgbClr val="FFFFFF"/>
        </a:lt1>
        <a:dk2>
          <a:srgbClr val="720000"/>
        </a:dk2>
        <a:lt2>
          <a:srgbClr val="FFFFCC"/>
        </a:lt2>
        <a:accent1>
          <a:srgbClr val="FF3300"/>
        </a:accent1>
        <a:accent2>
          <a:srgbClr val="BE7960"/>
        </a:accent2>
        <a:accent3>
          <a:srgbClr val="BCAAAA"/>
        </a:accent3>
        <a:accent4>
          <a:srgbClr val="DADADA"/>
        </a:accent4>
        <a:accent5>
          <a:srgbClr val="FFADAA"/>
        </a:accent5>
        <a:accent6>
          <a:srgbClr val="AC6D56"/>
        </a:accent6>
        <a:hlink>
          <a:srgbClr val="FFCC66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2">
        <a:dk1>
          <a:srgbClr val="674E2F"/>
        </a:dk1>
        <a:lt1>
          <a:srgbClr val="FFFFFF"/>
        </a:lt1>
        <a:dk2>
          <a:srgbClr val="533F27"/>
        </a:dk2>
        <a:lt2>
          <a:srgbClr val="D8B274"/>
        </a:lt2>
        <a:accent1>
          <a:srgbClr val="CC990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E2CAAA"/>
        </a:accent5>
        <a:accent6>
          <a:srgbClr val="81552A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3">
        <a:dk1>
          <a:srgbClr val="646464"/>
        </a:dk1>
        <a:lt1>
          <a:srgbClr val="FFFFFF"/>
        </a:lt1>
        <a:dk2>
          <a:srgbClr val="545454"/>
        </a:dk2>
        <a:lt2>
          <a:srgbClr val="D4D4CE"/>
        </a:lt2>
        <a:accent1>
          <a:srgbClr val="49747D"/>
        </a:accent1>
        <a:accent2>
          <a:srgbClr val="8F9699"/>
        </a:accent2>
        <a:accent3>
          <a:srgbClr val="B3B3B3"/>
        </a:accent3>
        <a:accent4>
          <a:srgbClr val="DADADA"/>
        </a:accent4>
        <a:accent5>
          <a:srgbClr val="B1BCBF"/>
        </a:accent5>
        <a:accent6>
          <a:srgbClr val="81878A"/>
        </a:accent6>
        <a:hlink>
          <a:srgbClr val="8DC4D7"/>
        </a:hlink>
        <a:folHlink>
          <a:srgbClr val="7FB97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4">
        <a:dk1>
          <a:srgbClr val="3A7400"/>
        </a:dk1>
        <a:lt1>
          <a:srgbClr val="FFFFFF"/>
        </a:lt1>
        <a:dk2>
          <a:srgbClr val="2E5C00"/>
        </a:dk2>
        <a:lt2>
          <a:srgbClr val="FFFFFF"/>
        </a:lt2>
        <a:accent1>
          <a:srgbClr val="79CA02"/>
        </a:accent1>
        <a:accent2>
          <a:srgbClr val="008080"/>
        </a:accent2>
        <a:accent3>
          <a:srgbClr val="ADB5AA"/>
        </a:accent3>
        <a:accent4>
          <a:srgbClr val="DADADA"/>
        </a:accent4>
        <a:accent5>
          <a:srgbClr val="BEE1AA"/>
        </a:accent5>
        <a:accent6>
          <a:srgbClr val="007373"/>
        </a:accent6>
        <a:hlink>
          <a:srgbClr val="A8DE0E"/>
        </a:hlink>
        <a:folHlink>
          <a:srgbClr val="00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5">
        <a:dk1>
          <a:srgbClr val="008885"/>
        </a:dk1>
        <a:lt1>
          <a:srgbClr val="FFFFFF"/>
        </a:lt1>
        <a:dk2>
          <a:srgbClr val="007572"/>
        </a:dk2>
        <a:lt2>
          <a:srgbClr val="FFFF99"/>
        </a:lt2>
        <a:accent1>
          <a:srgbClr val="33CCCC"/>
        </a:accent1>
        <a:accent2>
          <a:srgbClr val="6D6FC7"/>
        </a:accent2>
        <a:accent3>
          <a:srgbClr val="AABDBC"/>
        </a:accent3>
        <a:accent4>
          <a:srgbClr val="DADADA"/>
        </a:accent4>
        <a:accent5>
          <a:srgbClr val="ADE2E2"/>
        </a:accent5>
        <a:accent6>
          <a:srgbClr val="6264B4"/>
        </a:accent6>
        <a:hlink>
          <a:srgbClr val="FFFFCC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6">
        <a:dk1>
          <a:srgbClr val="0000AC"/>
        </a:dk1>
        <a:lt1>
          <a:srgbClr val="FFFFFF"/>
        </a:lt1>
        <a:dk2>
          <a:srgbClr val="000086"/>
        </a:dk2>
        <a:lt2>
          <a:srgbClr val="CCFFFF"/>
        </a:lt2>
        <a:accent1>
          <a:srgbClr val="0099FF"/>
        </a:accent1>
        <a:accent2>
          <a:srgbClr val="00B000"/>
        </a:accent2>
        <a:accent3>
          <a:srgbClr val="AAAAC3"/>
        </a:accent3>
        <a:accent4>
          <a:srgbClr val="DADADA"/>
        </a:accent4>
        <a:accent5>
          <a:srgbClr val="AACAFF"/>
        </a:accent5>
        <a:accent6>
          <a:srgbClr val="009F00"/>
        </a:accent6>
        <a:hlink>
          <a:srgbClr val="FFE701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7">
        <a:dk1>
          <a:srgbClr val="7474A2"/>
        </a:dk1>
        <a:lt1>
          <a:srgbClr val="FFFFFF"/>
        </a:lt1>
        <a:dk2>
          <a:srgbClr val="5E5E8E"/>
        </a:dk2>
        <a:lt2>
          <a:srgbClr val="D1D1DF"/>
        </a:lt2>
        <a:accent1>
          <a:srgbClr val="CC66FF"/>
        </a:accent1>
        <a:accent2>
          <a:srgbClr val="6666FF"/>
        </a:accent2>
        <a:accent3>
          <a:srgbClr val="B6B6C6"/>
        </a:accent3>
        <a:accent4>
          <a:srgbClr val="DADADA"/>
        </a:accent4>
        <a:accent5>
          <a:srgbClr val="E2B8FF"/>
        </a:accent5>
        <a:accent6>
          <a:srgbClr val="5C5CE7"/>
        </a:accent6>
        <a:hlink>
          <a:srgbClr val="FFCC99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8">
        <a:dk1>
          <a:srgbClr val="000000"/>
        </a:dk1>
        <a:lt1>
          <a:srgbClr val="D0DAE2"/>
        </a:lt1>
        <a:dk2>
          <a:srgbClr val="000000"/>
        </a:dk2>
        <a:lt2>
          <a:srgbClr val="E7EDF1"/>
        </a:lt2>
        <a:accent1>
          <a:srgbClr val="33CCCC"/>
        </a:accent1>
        <a:accent2>
          <a:srgbClr val="0099CC"/>
        </a:accent2>
        <a:accent3>
          <a:srgbClr val="E4EAEE"/>
        </a:accent3>
        <a:accent4>
          <a:srgbClr val="000000"/>
        </a:accent4>
        <a:accent5>
          <a:srgbClr val="ADE2E2"/>
        </a:accent5>
        <a:accent6>
          <a:srgbClr val="008AB9"/>
        </a:accent6>
        <a:hlink>
          <a:srgbClr val="3333CC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t 9">
        <a:dk1>
          <a:srgbClr val="000000"/>
        </a:dk1>
        <a:lt1>
          <a:srgbClr val="FFFFFF"/>
        </a:lt1>
        <a:dk2>
          <a:srgbClr val="000000"/>
        </a:dk2>
        <a:lt2>
          <a:srgbClr val="E6E6E6"/>
        </a:lt2>
        <a:accent1>
          <a:srgbClr val="66CC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B8E2FF"/>
        </a:accent5>
        <a:accent6>
          <a:srgbClr val="8A8AE7"/>
        </a:accent6>
        <a:hlink>
          <a:srgbClr val="3333CC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9066</Words>
  <Application>WPS 演示</Application>
  <PresentationFormat>宽屏</PresentationFormat>
  <Paragraphs>836</Paragraphs>
  <Slides>37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55" baseType="lpstr">
      <vt:lpstr>Arial</vt:lpstr>
      <vt:lpstr>宋体</vt:lpstr>
      <vt:lpstr>Wingdings</vt:lpstr>
      <vt:lpstr>Tahoma</vt:lpstr>
      <vt:lpstr>隶书</vt:lpstr>
      <vt:lpstr>微软雅黑</vt:lpstr>
      <vt:lpstr>Wingdings 3</vt:lpstr>
      <vt:lpstr>Symbol</vt:lpstr>
      <vt:lpstr>黑体</vt:lpstr>
      <vt:lpstr>Arial</vt:lpstr>
      <vt:lpstr>Arial Unicode MS</vt:lpstr>
      <vt:lpstr>Times New Roman</vt:lpstr>
      <vt:lpstr>Calibri</vt:lpstr>
      <vt:lpstr>仿宋_GB2312</vt:lpstr>
      <vt:lpstr>仿宋</vt:lpstr>
      <vt:lpstr>menlo</vt:lpstr>
      <vt:lpstr>Segoe Print</vt:lpstr>
      <vt:lpstr>1_Slit</vt:lpstr>
      <vt:lpstr>第9章 再论函数</vt:lpstr>
      <vt:lpstr>PowerPoint 演示文稿</vt:lpstr>
      <vt:lpstr>PowerPoint 演示文稿</vt:lpstr>
      <vt:lpstr>【例9.3】改写【例5.1】求三角形重心程序</vt:lpstr>
      <vt:lpstr>【例9.3】改写【例5.1】求三角形重心程序</vt:lpstr>
      <vt:lpstr>【超星实验】指针作参数</vt:lpstr>
      <vt:lpstr>【例9.6a】 编函数，从n个整数中找出最大数。</vt:lpstr>
      <vt:lpstr>PowerPoint 演示文稿</vt:lpstr>
      <vt:lpstr>PowerPoint 演示文稿</vt:lpstr>
      <vt:lpstr>PowerPoint 演示文稿</vt:lpstr>
      <vt:lpstr>§9.1.4   结构体作参数</vt:lpstr>
      <vt:lpstr>PowerPoint 演示文稿</vt:lpstr>
      <vt:lpstr>PowerPoint 演示文稿</vt:lpstr>
      <vt:lpstr>§9.2  函数值</vt:lpstr>
      <vt:lpstr>①返回int* 【例2】编函数求数组中的最大数， 返回该元素的指针</vt:lpstr>
      <vt:lpstr>②返回char* P236【例9.7】编程序，读入月份数，输出该月份英文名称</vt:lpstr>
      <vt:lpstr>【思考】 char *name[ ] ={ "illegal month",……};和 	      char name[ ][50] ={"illegal month",……};的区别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§9.2.2  返回结构体的函数</vt:lpstr>
      <vt:lpstr>PowerPoint 演示文稿</vt:lpstr>
      <vt:lpstr>§9.3  作用域</vt:lpstr>
      <vt:lpstr>PowerPoint 演示文稿</vt:lpstr>
      <vt:lpstr>PowerPoint 演示文稿</vt:lpstr>
      <vt:lpstr>PowerPoint 演示文稿</vt:lpstr>
      <vt:lpstr>变量作用范围举例</vt:lpstr>
      <vt:lpstr>PowerPoint 演示文稿</vt:lpstr>
      <vt:lpstr>【例9.9】计算调和级数前N项和</vt:lpstr>
      <vt:lpstr>【例9.9】计算调和级数前N项和</vt:lpstr>
      <vt:lpstr>【例9.9】计算调和级数前N项和</vt:lpstr>
      <vt:lpstr>【例9.9】计算调和级数前N项和</vt:lpstr>
      <vt:lpstr>PowerPoint 演示文稿</vt:lpstr>
      <vt:lpstr>PowerPoint 演示文稿</vt:lpstr>
      <vt:lpstr>本章小结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chunyan deng</dc:creator>
  <cp:lastModifiedBy>DENGCY</cp:lastModifiedBy>
  <cp:revision>765</cp:revision>
  <dcterms:created xsi:type="dcterms:W3CDTF">2019-09-21T08:05:00Z</dcterms:created>
  <dcterms:modified xsi:type="dcterms:W3CDTF">2025-11-06T09:36:22Z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2052-12.1.0.23125</vt:lpwstr>
  </property>
  <property fmtid="{D5CDD505-2E9C-101B-9397-08002B2CF9AE}" pid="4" name="ICV">
    <vt:lpwstr>F3E66B988AD440CAB744E2784A2755C1_13</vt:lpwstr>
  </property>
</Properties>
</file>