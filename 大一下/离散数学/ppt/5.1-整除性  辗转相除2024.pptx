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gif" ContentType="image/gif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347" r:id="rId3"/>
    <p:sldId id="348" r:id="rId4"/>
    <p:sldId id="349" r:id="rId5"/>
    <p:sldId id="261" r:id="rId6"/>
    <p:sldId id="316" r:id="rId8"/>
    <p:sldId id="317" r:id="rId9"/>
    <p:sldId id="354" r:id="rId10"/>
    <p:sldId id="355" r:id="rId11"/>
    <p:sldId id="356" r:id="rId12"/>
    <p:sldId id="357" r:id="rId13"/>
    <p:sldId id="361" r:id="rId14"/>
    <p:sldId id="358" r:id="rId15"/>
    <p:sldId id="359" r:id="rId16"/>
    <p:sldId id="360" r:id="rId17"/>
    <p:sldId id="362" r:id="rId18"/>
    <p:sldId id="363" r:id="rId19"/>
    <p:sldId id="364" r:id="rId20"/>
    <p:sldId id="366" r:id="rId21"/>
    <p:sldId id="367" r:id="rId22"/>
    <p:sldId id="368" r:id="rId23"/>
    <p:sldId id="365" r:id="rId24"/>
    <p:sldId id="328" r:id="rId25"/>
    <p:sldId id="329" r:id="rId26"/>
    <p:sldId id="330" r:id="rId27"/>
    <p:sldId id="331" r:id="rId28"/>
    <p:sldId id="332" r:id="rId29"/>
    <p:sldId id="333" r:id="rId30"/>
    <p:sldId id="370" r:id="rId31"/>
    <p:sldId id="336" r:id="rId32"/>
    <p:sldId id="335" r:id="rId33"/>
    <p:sldId id="337" r:id="rId34"/>
    <p:sldId id="338" r:id="rId35"/>
    <p:sldId id="374" r:id="rId36"/>
    <p:sldId id="301" r:id="rId37"/>
    <p:sldId id="339" r:id="rId3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579" autoAdjust="0"/>
    <p:restoredTop sz="87782" autoAdjust="0"/>
  </p:normalViewPr>
  <p:slideViewPr>
    <p:cSldViewPr showGuides="1">
      <p:cViewPr varScale="1">
        <p:scale>
          <a:sx n="122" d="100"/>
          <a:sy n="122" d="100"/>
        </p:scale>
        <p:origin x="120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4.emf"/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D216B3C-37AE-C844-A32E-D55F62DB9FD1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A0C4A7B-D7F8-CC47-9AB8-A1A34701E12B}" type="slidenum">
              <a:rPr lang="zh-CN" altLang="en-US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b(q+1)&gt;a, 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则</a:t>
            </a:r>
            <a:r>
              <a:rPr lang="en-US" altLang="zh-CN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bq+b</a:t>
            </a: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&gt;a, 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则</a:t>
            </a: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a-</a:t>
            </a:r>
            <a:r>
              <a:rPr lang="en-US" altLang="zh-CN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bq</a:t>
            </a: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&lt;b.</a:t>
            </a:r>
            <a:endParaRPr lang="en-US" altLang="zh-CN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AAE6437-28FC-484A-A613-38898C4A9945}" type="slidenum">
              <a:rPr lang="zh-CN" altLang="en-US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>
              <a:defRPr/>
            </a:pPr>
            <a:endParaRPr lang="zh-CN" altLang="en-US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CC931E9-B851-4541-9B15-5A5DE1EBBAD4}" type="slidenum">
              <a:rPr lang="zh-CN" altLang="en-US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>
              <a:defRPr/>
            </a:pPr>
            <a:endParaRPr lang="zh-CN" altLang="en-US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6681DB2-D4CE-5B48-A026-46EB818AAC42}" type="slidenum">
              <a:rPr lang="zh-CN" altLang="en-US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为</a:t>
            </a:r>
            <a:r>
              <a:rPr lang="en-US" altLang="zh-CN" dirty="0">
                <a:latin typeface="Arial" panose="020B0604020202020204" pitchFamily="34" charset="0"/>
              </a:rPr>
              <a:t>0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不为</a:t>
            </a:r>
            <a:r>
              <a:rPr lang="en-US" altLang="zh-CN" dirty="0">
                <a:latin typeface="Arial" panose="020B0604020202020204" pitchFamily="34" charset="0"/>
              </a:rPr>
              <a:t>0</a:t>
            </a:r>
            <a:r>
              <a:rPr lang="zh-CN" altLang="en-US" dirty="0">
                <a:latin typeface="Arial" panose="020B0604020202020204" pitchFamily="34" charset="0"/>
              </a:rPr>
              <a:t>，不可能，因为</a:t>
            </a:r>
            <a:r>
              <a:rPr lang="en-US" altLang="zh-CN" dirty="0" err="1">
                <a:latin typeface="Arial" panose="020B0604020202020204" pitchFamily="34" charset="0"/>
              </a:rPr>
              <a:t>a|b</a:t>
            </a:r>
            <a:r>
              <a:rPr lang="zh-CN" altLang="en-US" dirty="0">
                <a:latin typeface="Arial" panose="020B0604020202020204" pitchFamily="34" charset="0"/>
              </a:rPr>
              <a:t>不可能；反过来</a:t>
            </a:r>
            <a:r>
              <a:rPr lang="en-US" altLang="zh-CN" dirty="0" err="1">
                <a:latin typeface="Arial" panose="020B0604020202020204" pitchFamily="34" charset="0"/>
              </a:rPr>
              <a:t>b|a</a:t>
            </a:r>
            <a:r>
              <a:rPr lang="zh-CN" altLang="en-US" dirty="0">
                <a:latin typeface="Arial" panose="020B0604020202020204" pitchFamily="34" charset="0"/>
              </a:rPr>
              <a:t>不可能。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83A8ABC-C205-494D-A010-CB9872AE762E}" type="slidenum">
              <a:rPr lang="zh-CN" altLang="en-US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z="1400" dirty="0">
                <a:latin typeface="Times New Roman" panose="02020603050405020304" pitchFamily="18" charset="0"/>
              </a:rPr>
              <a:t>(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</a:rPr>
              <a:t>若在一等式中，除某项外，其余各项都是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</a:rPr>
              <a:t>的倍数，则此项也是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</a:rPr>
              <a:t>的倍数</a:t>
            </a:r>
            <a:r>
              <a:rPr lang="en-US" altLang="zh-CN" sz="1400" dirty="0">
                <a:latin typeface="Times New Roman" panose="02020603050405020304" pitchFamily="18" charset="0"/>
              </a:rPr>
              <a:t>)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CC418D1-9008-964F-B35D-A6ED956D3E64}" type="slidenum">
              <a:rPr lang="zh-CN" altLang="en-US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1B26459-0032-F54B-BCD6-09C8AAE52357}" type="slidenum">
              <a:rPr lang="zh-CN" altLang="en-US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</a:rPr>
              <a:t>因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en-US" altLang="zh-CN" baseline="-30000" dirty="0">
                <a:latin typeface="Arial" panose="020B0604020202020204" pitchFamily="34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en-US" altLang="zh-CN" baseline="-30000" dirty="0">
                <a:latin typeface="Arial" panose="020B0604020202020204" pitchFamily="34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，…，</a:t>
            </a:r>
            <a:r>
              <a:rPr lang="en-US" altLang="zh-CN" dirty="0" err="1">
                <a:latin typeface="Arial" panose="020B0604020202020204" pitchFamily="34" charset="0"/>
              </a:rPr>
              <a:t>r</a:t>
            </a:r>
            <a:r>
              <a:rPr lang="en-US" altLang="zh-CN" baseline="-30000" dirty="0" err="1">
                <a:latin typeface="Arial" panose="020B0604020202020204" pitchFamily="34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，…</a:t>
            </a:r>
            <a:r>
              <a:rPr lang="zh-CN" altLang="en-US" dirty="0">
                <a:latin typeface="Times New Roman" panose="02020603050405020304" pitchFamily="18" charset="0"/>
              </a:rPr>
              <a:t>逐渐减少，所以一直作下去必然减到</a:t>
            </a:r>
            <a:r>
              <a:rPr lang="zh-CN" altLang="en-US" dirty="0">
                <a:latin typeface="Arial" panose="020B0604020202020204" pitchFamily="34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，如（</a:t>
            </a:r>
            <a:r>
              <a:rPr lang="zh-CN" altLang="en-US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）的最后一式所示。由性质</a:t>
            </a:r>
            <a:r>
              <a:rPr lang="zh-CN" altLang="en-US" dirty="0">
                <a:latin typeface="Arial" panose="020B0604020202020204" pitchFamily="34" charset="0"/>
              </a:rPr>
              <a:t>7</a:t>
            </a:r>
            <a:r>
              <a:rPr lang="zh-CN" altLang="en-US" dirty="0">
                <a:latin typeface="Times New Roman" panose="02020603050405020304" pitchFamily="18" charset="0"/>
              </a:rPr>
              <a:t>及（</a:t>
            </a:r>
            <a:r>
              <a:rPr lang="zh-CN" altLang="en-US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）的第一式，</a:t>
            </a:r>
            <a:r>
              <a:rPr lang="en-US" altLang="zh-CN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，</a:t>
            </a:r>
            <a:r>
              <a:rPr lang="en-US" altLang="zh-CN" dirty="0" err="1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的公因数和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en-US" altLang="zh-CN" baseline="-30000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的公因数完全相同。由性质</a:t>
            </a:r>
            <a:r>
              <a:rPr lang="zh-CN" altLang="en-US" dirty="0">
                <a:latin typeface="Arial" panose="020B0604020202020204" pitchFamily="34" charset="0"/>
              </a:rPr>
              <a:t>7</a:t>
            </a:r>
            <a:r>
              <a:rPr lang="zh-CN" altLang="en-US" dirty="0">
                <a:latin typeface="Times New Roman" panose="02020603050405020304" pitchFamily="18" charset="0"/>
              </a:rPr>
              <a:t>及（</a:t>
            </a:r>
            <a:r>
              <a:rPr lang="zh-CN" altLang="en-US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）的第二式，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en-US" altLang="zh-CN" baseline="-30000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的公因数和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en-US" altLang="zh-CN" baseline="-30000" dirty="0">
                <a:latin typeface="Arial" panose="020B0604020202020204" pitchFamily="34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en-US" altLang="zh-CN" baseline="-30000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的公因数完全相同。如此类推，知</a:t>
            </a:r>
            <a:r>
              <a:rPr lang="en-US" altLang="zh-CN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，</a:t>
            </a:r>
            <a:r>
              <a:rPr lang="en-US" altLang="zh-CN" dirty="0" err="1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的公因数和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en-US" altLang="zh-CN" baseline="-30000" dirty="0">
                <a:latin typeface="Arial" panose="020B0604020202020204" pitchFamily="34" charset="0"/>
              </a:rPr>
              <a:t>n-1</a:t>
            </a:r>
            <a:r>
              <a:rPr lang="en-US" altLang="zh-CN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en-US" altLang="zh-CN" baseline="-30000" dirty="0">
                <a:latin typeface="Arial" panose="020B0604020202020204" pitchFamily="34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的公因数完全相同。但由（</a:t>
            </a:r>
            <a:r>
              <a:rPr lang="zh-CN" altLang="en-US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）的最末一式，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en-US" altLang="zh-CN" baseline="-30000" dirty="0">
                <a:latin typeface="Arial" panose="020B0604020202020204" pitchFamily="34" charset="0"/>
              </a:rPr>
              <a:t>n</a:t>
            </a:r>
            <a:r>
              <a:rPr lang="en-US" altLang="zh-CN" dirty="0">
                <a:latin typeface="Arial" panose="020B0604020202020204" pitchFamily="34" charset="0"/>
              </a:rPr>
              <a:t>|r</a:t>
            </a:r>
            <a:r>
              <a:rPr lang="en-US" altLang="zh-CN" baseline="-30000" dirty="0">
                <a:latin typeface="Arial" panose="020B0604020202020204" pitchFamily="34" charset="0"/>
              </a:rPr>
              <a:t>n-1</a:t>
            </a:r>
            <a:r>
              <a:rPr lang="en-US" altLang="zh-CN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</a:rPr>
              <a:t>故</a:t>
            </a:r>
            <a:r>
              <a:rPr lang="en-US" altLang="zh-CN" dirty="0" err="1">
                <a:latin typeface="Arial" panose="020B0604020202020204" pitchFamily="34" charset="0"/>
              </a:rPr>
              <a:t>r</a:t>
            </a:r>
            <a:r>
              <a:rPr lang="en-US" altLang="zh-CN" baseline="-30000" dirty="0" err="1">
                <a:latin typeface="Arial" panose="020B0604020202020204" pitchFamily="34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en-US" altLang="zh-CN" baseline="-30000" dirty="0">
                <a:latin typeface="Arial" panose="020B0604020202020204" pitchFamily="34" charset="0"/>
              </a:rPr>
              <a:t>n-1</a:t>
            </a:r>
            <a:r>
              <a:rPr lang="en-US" altLang="zh-CN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en-US" altLang="zh-CN" baseline="-30000" dirty="0">
                <a:latin typeface="Arial" panose="020B0604020202020204" pitchFamily="34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的最高公因数，因而也是</a:t>
            </a:r>
            <a:r>
              <a:rPr lang="en-US" altLang="zh-CN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，</a:t>
            </a:r>
            <a:r>
              <a:rPr lang="en-US" altLang="zh-CN" dirty="0" err="1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的最高公因数。这样，我们就证明了：</a:t>
            </a:r>
            <a:endParaRPr lang="zh-CN" altLang="en-US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b="1" dirty="0">
                <a:latin typeface="宋体" panose="02010600030101010101" pitchFamily="2" charset="-122"/>
              </a:rPr>
              <a:t>定理</a:t>
            </a:r>
            <a:r>
              <a:rPr lang="zh-CN" altLang="en-US" b="1" dirty="0">
                <a:latin typeface="Arial" panose="020B0604020202020204" pitchFamily="34" charset="0"/>
              </a:rPr>
              <a:t>5.1.2</a:t>
            </a:r>
            <a:r>
              <a:rPr lang="zh-CN" altLang="en-US" dirty="0">
                <a:latin typeface="Arial" panose="020B0604020202020204" pitchFamily="34" charset="0"/>
              </a:rPr>
              <a:t>  </a:t>
            </a:r>
            <a:r>
              <a:rPr lang="zh-CN" altLang="en-US" dirty="0">
                <a:latin typeface="宋体" panose="02010600030101010101" pitchFamily="2" charset="-122"/>
              </a:rPr>
              <a:t>任意二整数</a:t>
            </a:r>
            <a:r>
              <a:rPr lang="en-US" altLang="zh-CN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宋体" panose="02010600030101010101" pitchFamily="2" charset="-122"/>
              </a:rPr>
              <a:t>，</a:t>
            </a:r>
            <a:r>
              <a:rPr lang="en-US" altLang="zh-CN" dirty="0" err="1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宋体" panose="02010600030101010101" pitchFamily="2" charset="-122"/>
              </a:rPr>
              <a:t>有最高公因数。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0"/>
          <p:cNvGrpSpPr/>
          <p:nvPr/>
        </p:nvGrpSpPr>
        <p:grpSpPr bwMode="auto">
          <a:xfrm>
            <a:off x="0" y="-14288"/>
            <a:ext cx="9155113" cy="6884988"/>
            <a:chOff x="0" y="-9"/>
            <a:chExt cx="5767" cy="4337"/>
          </a:xfrm>
        </p:grpSpPr>
        <p:sp>
          <p:nvSpPr>
            <p:cNvPr id="3" name="Freeform 4"/>
            <p:cNvSpPr/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48 h 4320"/>
                <a:gd name="T2" fmla="*/ 1737 w 1737"/>
                <a:gd name="T3" fmla="*/ 435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4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Freeform 5"/>
            <p:cNvSpPr/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36 h 4320"/>
                <a:gd name="T2" fmla="*/ 1737 w 1737"/>
                <a:gd name="T3" fmla="*/ 4347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36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Freeform 6"/>
            <p:cNvSpPr/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151 h 4420"/>
                <a:gd name="T2" fmla="*/ 1739 w 1739"/>
                <a:gd name="T3" fmla="*/ 4156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151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296 h 4338"/>
                <a:gd name="T4" fmla="*/ 2080 w 2080"/>
                <a:gd name="T5" fmla="*/ 4296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Freeform 11"/>
            <p:cNvSpPr/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Freeform 12"/>
            <p:cNvSpPr/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Freeform 13"/>
            <p:cNvSpPr/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" name="Freeform 14"/>
            <p:cNvSpPr/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1" name="Freeform 15"/>
            <p:cNvSpPr/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2" name="Freeform 16"/>
            <p:cNvSpPr/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" name="Freeform 17"/>
            <p:cNvSpPr/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4" name="Rectangle 18"/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5" name="Freeform 20"/>
            <p:cNvSpPr/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 h 4320"/>
                <a:gd name="T2" fmla="*/ 1737 w 1737"/>
                <a:gd name="T3" fmla="*/ 3 h 4320"/>
                <a:gd name="T4" fmla="*/ 524 w 1737"/>
                <a:gd name="T5" fmla="*/ 0 h 4320"/>
                <a:gd name="T6" fmla="*/ 0 w 1737"/>
                <a:gd name="T7" fmla="*/ 0 h 4320"/>
                <a:gd name="T8" fmla="*/ 494 w 1737"/>
                <a:gd name="T9" fmla="*/ 3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Freeform 21"/>
            <p:cNvSpPr/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 h 4320"/>
                <a:gd name="T2" fmla="*/ 1737 w 1737"/>
                <a:gd name="T3" fmla="*/ 3 h 4320"/>
                <a:gd name="T4" fmla="*/ 524 w 1737"/>
                <a:gd name="T5" fmla="*/ 0 h 4320"/>
                <a:gd name="T6" fmla="*/ 0 w 1737"/>
                <a:gd name="T7" fmla="*/ 0 h 4320"/>
                <a:gd name="T8" fmla="*/ 494 w 1737"/>
                <a:gd name="T9" fmla="*/ 3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Freeform 22"/>
            <p:cNvSpPr/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 h 4420"/>
                <a:gd name="T2" fmla="*/ 1739 w 1739"/>
                <a:gd name="T3" fmla="*/ 3 h 4420"/>
                <a:gd name="T4" fmla="*/ 524 w 1739"/>
                <a:gd name="T5" fmla="*/ 0 h 4420"/>
                <a:gd name="T6" fmla="*/ 0 w 1739"/>
                <a:gd name="T7" fmla="*/ 0 h 4420"/>
                <a:gd name="T8" fmla="*/ 494 w 1739"/>
                <a:gd name="T9" fmla="*/ 3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Freeform 23"/>
            <p:cNvSpPr/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0 h 4338"/>
                <a:gd name="T2" fmla="*/ 1870 w 2080"/>
                <a:gd name="T3" fmla="*/ 3 h 4338"/>
                <a:gd name="T4" fmla="*/ 2080 w 2080"/>
                <a:gd name="T5" fmla="*/ 3 h 4338"/>
                <a:gd name="T6" fmla="*/ 1033 w 2080"/>
                <a:gd name="T7" fmla="*/ 0 h 4338"/>
                <a:gd name="T8" fmla="*/ 0 w 2080"/>
                <a:gd name="T9" fmla="*/ 0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Rectangle 27"/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0" name="Freeform 28"/>
            <p:cNvSpPr/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1" name="Freeform 29"/>
            <p:cNvSpPr/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2" name="Freeform 30"/>
            <p:cNvSpPr/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3" name="Freeform 31"/>
            <p:cNvSpPr/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4" name="Freeform 32"/>
            <p:cNvSpPr/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5" name="Freeform 33"/>
            <p:cNvSpPr/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6" name="Freeform 34"/>
            <p:cNvSpPr/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7" name="Freeform 35"/>
            <p:cNvSpPr/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8" name="Freeform 36"/>
            <p:cNvSpPr/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9" name="Rectangle 37"/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0" name="Rectangle 45"/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pic>
          <p:nvPicPr>
            <p:cNvPr id="32" name="Picture 43" descr="BTZBUL1A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230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1676400" y="1905000"/>
            <a:ext cx="7239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231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1676400" y="4572000"/>
            <a:ext cx="6400800" cy="1679575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3" name="Rectangle 40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" name="Rectangle 41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" name="Rectangle 42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724F5A6-F0B6-9246-8292-CBF2B373B78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87A5BE-20EB-464D-9440-AF613316F2F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7DF4-3E85-0A41-8FB9-F0019A682AD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183BF6-4D30-0E4C-8D6F-D4F7122B6FE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32169E-81B5-7D45-ACCF-28EF0DD9BA2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BD94B9-144F-6C47-8254-1189508B4BA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B3C27-964E-3240-A809-B9C3109C04C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E79A6C-3213-7543-AA8D-AB787583BDD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DAFEE7-4AAB-2B48-9022-206D922D6A8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335F59-9FFF-8E46-BC41-344E415E226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800100"/>
            <a:ext cx="1943100" cy="52959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800100"/>
            <a:ext cx="5676900" cy="52959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51B67E-38AA-6440-B8ED-A1CFBF3D65C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9"/>
          <p:cNvGrpSpPr/>
          <p:nvPr/>
        </p:nvGrpSpPr>
        <p:grpSpPr bwMode="auto">
          <a:xfrm>
            <a:off x="0" y="0"/>
            <a:ext cx="9144000" cy="7405688"/>
            <a:chOff x="0" y="-9"/>
            <a:chExt cx="5760" cy="4665"/>
          </a:xfrm>
        </p:grpSpPr>
        <p:sp>
          <p:nvSpPr>
            <p:cNvPr id="1032" name="Freeform 8"/>
            <p:cNvSpPr/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48 h 4320"/>
                <a:gd name="T2" fmla="*/ 1737 w 1737"/>
                <a:gd name="T3" fmla="*/ 435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4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3" name="Freeform 9"/>
            <p:cNvSpPr/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36 h 4320"/>
                <a:gd name="T2" fmla="*/ 1737 w 1737"/>
                <a:gd name="T3" fmla="*/ 4347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36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" name="Freeform 10"/>
            <p:cNvSpPr/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151 h 4420"/>
                <a:gd name="T2" fmla="*/ 1739 w 1739"/>
                <a:gd name="T3" fmla="*/ 4156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151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" name="Freeform 11"/>
            <p:cNvSpPr/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296 h 4338"/>
                <a:gd name="T4" fmla="*/ 2080 w 2080"/>
                <a:gd name="T5" fmla="*/ 4296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1" name="Freeform 17"/>
            <p:cNvSpPr/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2" name="Freeform 18"/>
            <p:cNvSpPr/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3" name="Freeform 19"/>
            <p:cNvSpPr/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4" name="Freeform 20"/>
            <p:cNvSpPr/>
            <p:nvPr userDrawn="1"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5" name="Freeform 21"/>
            <p:cNvSpPr/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6" name="Freeform 22"/>
            <p:cNvSpPr/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7" name="Freeform 23"/>
            <p:cNvSpPr/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" name="Rectangle 25"/>
            <p:cNvSpPr>
              <a:spLocks noChangeArrowheads="1"/>
            </p:cNvSpPr>
            <p:nvPr/>
          </p:nvSpPr>
          <p:spPr bwMode="hidden">
            <a:xfrm>
              <a:off x="0" y="3910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" name="Freeform 27"/>
            <p:cNvSpPr/>
            <p:nvPr/>
          </p:nvSpPr>
          <p:spPr bwMode="hidden">
            <a:xfrm>
              <a:off x="1632" y="3956"/>
              <a:ext cx="1737" cy="382"/>
            </a:xfrm>
            <a:custGeom>
              <a:avLst/>
              <a:gdLst>
                <a:gd name="T0" fmla="*/ 494 w 1737"/>
                <a:gd name="T1" fmla="*/ 3 h 4320"/>
                <a:gd name="T2" fmla="*/ 1737 w 1737"/>
                <a:gd name="T3" fmla="*/ 3 h 4320"/>
                <a:gd name="T4" fmla="*/ 524 w 1737"/>
                <a:gd name="T5" fmla="*/ 0 h 4320"/>
                <a:gd name="T6" fmla="*/ 0 w 1737"/>
                <a:gd name="T7" fmla="*/ 0 h 4320"/>
                <a:gd name="T8" fmla="*/ 494 w 1737"/>
                <a:gd name="T9" fmla="*/ 3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Freeform 28"/>
            <p:cNvSpPr/>
            <p:nvPr/>
          </p:nvSpPr>
          <p:spPr bwMode="hidden">
            <a:xfrm>
              <a:off x="0" y="3956"/>
              <a:ext cx="1737" cy="381"/>
            </a:xfrm>
            <a:custGeom>
              <a:avLst/>
              <a:gdLst>
                <a:gd name="T0" fmla="*/ 494 w 1737"/>
                <a:gd name="T1" fmla="*/ 3 h 4320"/>
                <a:gd name="T2" fmla="*/ 1737 w 1737"/>
                <a:gd name="T3" fmla="*/ 3 h 4320"/>
                <a:gd name="T4" fmla="*/ 524 w 1737"/>
                <a:gd name="T5" fmla="*/ 0 h 4320"/>
                <a:gd name="T6" fmla="*/ 0 w 1737"/>
                <a:gd name="T7" fmla="*/ 0 h 4320"/>
                <a:gd name="T8" fmla="*/ 494 w 1737"/>
                <a:gd name="T9" fmla="*/ 3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Freeform 29"/>
            <p:cNvSpPr/>
            <p:nvPr/>
          </p:nvSpPr>
          <p:spPr bwMode="hidden">
            <a:xfrm>
              <a:off x="3744" y="3956"/>
              <a:ext cx="1739" cy="382"/>
            </a:xfrm>
            <a:custGeom>
              <a:avLst/>
              <a:gdLst>
                <a:gd name="T0" fmla="*/ 494 w 1739"/>
                <a:gd name="T1" fmla="*/ 3 h 4420"/>
                <a:gd name="T2" fmla="*/ 1739 w 1739"/>
                <a:gd name="T3" fmla="*/ 3 h 4420"/>
                <a:gd name="T4" fmla="*/ 524 w 1739"/>
                <a:gd name="T5" fmla="*/ 0 h 4420"/>
                <a:gd name="T6" fmla="*/ 0 w 1739"/>
                <a:gd name="T7" fmla="*/ 0 h 4420"/>
                <a:gd name="T8" fmla="*/ 494 w 1739"/>
                <a:gd name="T9" fmla="*/ 3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Freeform 30"/>
            <p:cNvSpPr/>
            <p:nvPr/>
          </p:nvSpPr>
          <p:spPr bwMode="hidden">
            <a:xfrm>
              <a:off x="1920" y="3956"/>
              <a:ext cx="2080" cy="381"/>
            </a:xfrm>
            <a:custGeom>
              <a:avLst/>
              <a:gdLst>
                <a:gd name="T0" fmla="*/ 0 w 2080"/>
                <a:gd name="T1" fmla="*/ 0 h 4338"/>
                <a:gd name="T2" fmla="*/ 1870 w 2080"/>
                <a:gd name="T3" fmla="*/ 3 h 4338"/>
                <a:gd name="T4" fmla="*/ 2080 w 2080"/>
                <a:gd name="T5" fmla="*/ 3 h 4338"/>
                <a:gd name="T6" fmla="*/ 1033 w 2080"/>
                <a:gd name="T7" fmla="*/ 0 h 4338"/>
                <a:gd name="T8" fmla="*/ 0 w 2080"/>
                <a:gd name="T9" fmla="*/ 0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8" name="Rectangle 34"/>
            <p:cNvSpPr>
              <a:spLocks noChangeArrowheads="1"/>
            </p:cNvSpPr>
            <p:nvPr/>
          </p:nvSpPr>
          <p:spPr bwMode="hidden">
            <a:xfrm>
              <a:off x="0" y="3905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59" name="Freeform 35"/>
            <p:cNvSpPr/>
            <p:nvPr/>
          </p:nvSpPr>
          <p:spPr bwMode="hidden">
            <a:xfrm>
              <a:off x="2583" y="3918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60" name="Freeform 36"/>
            <p:cNvSpPr/>
            <p:nvPr/>
          </p:nvSpPr>
          <p:spPr bwMode="hidden">
            <a:xfrm rot="18897039" flipH="1">
              <a:off x="1486" y="3886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61" name="Freeform 37"/>
            <p:cNvSpPr/>
            <p:nvPr/>
          </p:nvSpPr>
          <p:spPr bwMode="hidden">
            <a:xfrm rot="18897039" flipH="1">
              <a:off x="766" y="3886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62" name="Freeform 38"/>
            <p:cNvSpPr/>
            <p:nvPr/>
          </p:nvSpPr>
          <p:spPr bwMode="hidden">
            <a:xfrm rot="18897039" flipH="1">
              <a:off x="31" y="3854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63" name="Freeform 39"/>
            <p:cNvSpPr/>
            <p:nvPr/>
          </p:nvSpPr>
          <p:spPr bwMode="hidden">
            <a:xfrm flipH="1" flipV="1">
              <a:off x="576" y="3910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64" name="Freeform 40"/>
            <p:cNvSpPr/>
            <p:nvPr/>
          </p:nvSpPr>
          <p:spPr bwMode="hidden">
            <a:xfrm flipH="1" flipV="1">
              <a:off x="240" y="3910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65" name="Freeform 41"/>
            <p:cNvSpPr/>
            <p:nvPr/>
          </p:nvSpPr>
          <p:spPr bwMode="hidden">
            <a:xfrm flipH="1" flipV="1">
              <a:off x="3036" y="3958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66" name="Freeform 42"/>
            <p:cNvSpPr/>
            <p:nvPr/>
          </p:nvSpPr>
          <p:spPr bwMode="hidden">
            <a:xfrm flipH="1" flipV="1">
              <a:off x="3984" y="3910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67" name="Freeform 43"/>
            <p:cNvSpPr/>
            <p:nvPr/>
          </p:nvSpPr>
          <p:spPr bwMode="hidden">
            <a:xfrm flipH="1" flipV="1">
              <a:off x="3456" y="3910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68" name="Rectangle 44"/>
            <p:cNvSpPr>
              <a:spLocks noChangeArrowheads="1"/>
            </p:cNvSpPr>
            <p:nvPr/>
          </p:nvSpPr>
          <p:spPr bwMode="hidden">
            <a:xfrm>
              <a:off x="0" y="3931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800100"/>
            <a:ext cx="7772400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2788" y="631348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51188" y="631348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0188" y="631348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4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4836964-CBA8-1740-A5BA-BD7D9E725E7F}" type="slidenum">
              <a:rPr lang="zh-CN" altLang="en-US"/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random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  <a:ea typeface="黑体" panose="0201060906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  <a:ea typeface="黑体" panose="0201060906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  <a:ea typeface="黑体" panose="0201060906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  <a:ea typeface="黑体" panose="0201060906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  <a:ea typeface="黑体" panose="0201060906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  <a:ea typeface="黑体" panose="0201060906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  <a:ea typeface="黑体" panose="0201060906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Ø"/>
        <a:defRPr kumimoji="1"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kumimoji="1"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l"/>
        <a:defRPr kumimoji="1"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l"/>
        <a:defRPr kumimoji="1"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l"/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l"/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l"/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l"/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e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5.emf"/><Relationship Id="rId1" Type="http://schemas.openxmlformats.org/officeDocument/2006/relationships/oleObject" Target="../embeddings/oleObject4.bin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e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7.emf"/><Relationship Id="rId1" Type="http://schemas.openxmlformats.org/officeDocument/2006/relationships/oleObject" Target="../embeddings/oleObject6.bin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e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9.emf"/><Relationship Id="rId1" Type="http://schemas.openxmlformats.org/officeDocument/2006/relationships/oleObject" Target="../embeddings/oleObject8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4.e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13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2.e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1.emf"/><Relationship Id="rId10" Type="http://schemas.openxmlformats.org/officeDocument/2006/relationships/vmlDrawing" Target="../drawings/vmlDrawing5.vml"/><Relationship Id="rId1" Type="http://schemas.openxmlformats.org/officeDocument/2006/relationships/oleObject" Target="../embeddings/oleObject10.bin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5.emf"/><Relationship Id="rId1" Type="http://schemas.openxmlformats.org/officeDocument/2006/relationships/oleObject" Target="../embeddings/oleObject14.bin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1" Type="http://schemas.openxmlformats.org/officeDocument/2006/relationships/oleObject" Target="../embeddings/oleObject16.bin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emf"/><Relationship Id="rId1" Type="http://schemas.openxmlformats.org/officeDocument/2006/relationships/oleObject" Target="../embeddings/oleObject17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emf"/><Relationship Id="rId1" Type="http://schemas.openxmlformats.org/officeDocument/2006/relationships/oleObject" Target="../embeddings/oleObject18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00200" y="1828800"/>
            <a:ext cx="6477000" cy="1905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6000">
                <a:latin typeface="Times New Roman" panose="02020603050405020304" pitchFamily="18" charset="0"/>
                <a:ea typeface="楷体_GB2312" pitchFamily="49" charset="-122"/>
              </a:rPr>
              <a:t>第五章  数论基础</a:t>
            </a:r>
            <a:r>
              <a:rPr lang="zh-CN" altLang="en-US" sz="6000">
                <a:latin typeface="黑体" panose="02010609060101010101" pitchFamily="2" charset="-122"/>
              </a:rPr>
              <a:t> </a:t>
            </a:r>
            <a:endParaRPr lang="zh-CN" altLang="en-US" sz="6000">
              <a:latin typeface="黑体" panose="0201060906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24F5A6-F0B6-9246-8292-CBF2B373B78E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50838"/>
            <a:ext cx="7772400" cy="823912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800">
                <a:latin typeface="宋体" panose="02010600030101010101" pitchFamily="2" charset="-122"/>
                <a:ea typeface="宋体" panose="02010600030101010101" pitchFamily="2" charset="-122"/>
              </a:rPr>
              <a:t>第五章</a:t>
            </a:r>
            <a:r>
              <a:rPr lang="zh-CN" altLang="en-US" sz="480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4800">
                <a:latin typeface="宋体" panose="02010600030101010101" pitchFamily="2" charset="-122"/>
                <a:ea typeface="宋体" panose="02010600030101010101" pitchFamily="2" charset="-122"/>
              </a:rPr>
              <a:t>数论基础</a:t>
            </a:r>
            <a:r>
              <a:rPr lang="zh-CN" altLang="en-US" sz="48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4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382000" cy="4267200"/>
          </a:xfrm>
        </p:spPr>
        <p:txBody>
          <a:bodyPr/>
          <a:lstStyle/>
          <a:p>
            <a:pPr eaLnBrk="1" hangingPunct="1"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 sz="4000">
                <a:latin typeface="宋体" panose="02010600030101010101" pitchFamily="2" charset="-122"/>
              </a:rPr>
              <a:t>§</a:t>
            </a:r>
            <a:r>
              <a:rPr lang="zh-CN" altLang="en-US" sz="4000">
                <a:latin typeface="Times New Roman" panose="02020603050405020304" pitchFamily="18" charset="0"/>
              </a:rPr>
              <a:t>5.1  </a:t>
            </a:r>
            <a:r>
              <a:rPr lang="zh-CN" altLang="en-US" sz="4000">
                <a:latin typeface="宋体" panose="02010600030101010101" pitchFamily="2" charset="-122"/>
              </a:rPr>
              <a:t>整除性</a:t>
            </a:r>
            <a:r>
              <a:rPr lang="zh-CN" altLang="en-US" sz="4000">
                <a:latin typeface="Times New Roman" panose="02020603050405020304" pitchFamily="18" charset="0"/>
              </a:rPr>
              <a:t>   </a:t>
            </a:r>
            <a:r>
              <a:rPr lang="zh-CN" altLang="en-US" sz="4000">
                <a:latin typeface="宋体" panose="02010600030101010101" pitchFamily="2" charset="-122"/>
              </a:rPr>
              <a:t>辗转相除</a:t>
            </a:r>
            <a:r>
              <a:rPr lang="zh-CN" altLang="en-US" sz="4000">
                <a:latin typeface="Times New Roman" panose="02020603050405020304" pitchFamily="18" charset="0"/>
              </a:rPr>
              <a:t> </a:t>
            </a:r>
            <a:endParaRPr lang="zh-CN" altLang="en-US" sz="4000">
              <a:latin typeface="Times New Roman" panose="02020603050405020304" pitchFamily="18" charset="0"/>
            </a:endParaRPr>
          </a:p>
          <a:p>
            <a:pPr eaLnBrk="1" hangingPunct="1"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 sz="4000">
                <a:latin typeface="宋体" panose="02010600030101010101" pitchFamily="2" charset="-122"/>
              </a:rPr>
              <a:t>§</a:t>
            </a:r>
            <a:r>
              <a:rPr lang="zh-CN" altLang="en-US" sz="4000">
                <a:latin typeface="Times New Roman" panose="02020603050405020304" pitchFamily="18" charset="0"/>
              </a:rPr>
              <a:t>5.2 </a:t>
            </a:r>
            <a:r>
              <a:rPr lang="zh-CN" altLang="en-US" sz="4000">
                <a:latin typeface="宋体" panose="02010600030101010101" pitchFamily="2" charset="-122"/>
              </a:rPr>
              <a:t>互质</a:t>
            </a:r>
            <a:r>
              <a:rPr lang="zh-CN" altLang="en-US" sz="4000">
                <a:latin typeface="Times New Roman" panose="02020603050405020304" pitchFamily="18" charset="0"/>
              </a:rPr>
              <a:t>   </a:t>
            </a:r>
            <a:r>
              <a:rPr lang="zh-CN" altLang="en-US" sz="4000">
                <a:latin typeface="宋体" panose="02010600030101010101" pitchFamily="2" charset="-122"/>
              </a:rPr>
              <a:t>质因数分解</a:t>
            </a:r>
            <a:r>
              <a:rPr lang="zh-CN" altLang="en-US" sz="4000">
                <a:latin typeface="Times New Roman" panose="02020603050405020304" pitchFamily="18" charset="0"/>
              </a:rPr>
              <a:t> </a:t>
            </a:r>
            <a:endParaRPr lang="zh-CN" altLang="en-US" sz="4000">
              <a:latin typeface="Times New Roman" panose="02020603050405020304" pitchFamily="18" charset="0"/>
            </a:endParaRPr>
          </a:p>
          <a:p>
            <a:pPr eaLnBrk="1" hangingPunct="1"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 sz="4000">
                <a:latin typeface="宋体" panose="02010600030101010101" pitchFamily="2" charset="-122"/>
              </a:rPr>
              <a:t>§</a:t>
            </a:r>
            <a:r>
              <a:rPr lang="zh-CN" altLang="en-US" sz="4000">
                <a:latin typeface="Times New Roman" panose="02020603050405020304" pitchFamily="18" charset="0"/>
              </a:rPr>
              <a:t>5.3 </a:t>
            </a:r>
            <a:r>
              <a:rPr lang="zh-CN" altLang="en-US" sz="4000">
                <a:latin typeface="宋体" panose="02010600030101010101" pitchFamily="2" charset="-122"/>
              </a:rPr>
              <a:t>合同</a:t>
            </a:r>
            <a:r>
              <a:rPr lang="zh-CN" altLang="en-US" sz="4000">
                <a:latin typeface="Times New Roman" panose="02020603050405020304" pitchFamily="18" charset="0"/>
              </a:rPr>
              <a:t>    </a:t>
            </a:r>
            <a:r>
              <a:rPr lang="zh-CN" altLang="en-US" sz="4000">
                <a:latin typeface="宋体" panose="02010600030101010101" pitchFamily="2" charset="-122"/>
              </a:rPr>
              <a:t>一次同余式</a:t>
            </a:r>
            <a:endParaRPr lang="en-US" altLang="zh-CN" sz="4000">
              <a:latin typeface="Times New Roman" panose="02020603050405020304" pitchFamily="18" charset="0"/>
            </a:endParaRPr>
          </a:p>
          <a:p>
            <a:pPr eaLnBrk="1" hangingPunct="1"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 sz="4000">
                <a:latin typeface="宋体" panose="02010600030101010101" pitchFamily="2" charset="-122"/>
              </a:rPr>
              <a:t>§</a:t>
            </a:r>
            <a:r>
              <a:rPr lang="zh-CN" altLang="en-US" sz="4000">
                <a:latin typeface="Times New Roman" panose="02020603050405020304" pitchFamily="18" charset="0"/>
              </a:rPr>
              <a:t>5.4 </a:t>
            </a:r>
            <a:r>
              <a:rPr lang="zh-CN" altLang="en-US" sz="4000">
                <a:latin typeface="宋体" panose="02010600030101010101" pitchFamily="2" charset="-122"/>
              </a:rPr>
              <a:t>秦九韶定理</a:t>
            </a:r>
            <a:r>
              <a:rPr lang="zh-CN" altLang="en-US" sz="4000">
                <a:latin typeface="Times New Roman" panose="02020603050405020304" pitchFamily="18" charset="0"/>
              </a:rPr>
              <a:t>    </a:t>
            </a:r>
            <a:r>
              <a:rPr lang="en-US" altLang="zh-CN" sz="4000">
                <a:latin typeface="Times New Roman" panose="02020603050405020304" pitchFamily="18" charset="0"/>
              </a:rPr>
              <a:t>Euler</a:t>
            </a:r>
            <a:r>
              <a:rPr lang="zh-CN" altLang="en-US" sz="4000">
                <a:latin typeface="宋体" panose="02010600030101010101" pitchFamily="2" charset="-122"/>
              </a:rPr>
              <a:t>函数</a:t>
            </a:r>
            <a:endParaRPr lang="en-US" altLang="zh-CN" sz="40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4000">
                <a:latin typeface="宋体" panose="02010600030101010101" pitchFamily="2" charset="-122"/>
              </a:rPr>
              <a:t>  §</a:t>
            </a:r>
            <a:r>
              <a:rPr lang="zh-CN" altLang="en-US" sz="4000">
                <a:latin typeface="Times New Roman" panose="02020603050405020304" pitchFamily="18" charset="0"/>
              </a:rPr>
              <a:t>5.5 </a:t>
            </a:r>
            <a:r>
              <a:rPr lang="zh-CN" altLang="en-US" sz="4000">
                <a:latin typeface="宋体" panose="02010600030101010101" pitchFamily="2" charset="-122"/>
              </a:rPr>
              <a:t>一元高次同余式</a:t>
            </a:r>
            <a:r>
              <a:rPr lang="zh-CN" altLang="en-US" sz="4000">
                <a:latin typeface="Times New Roman" panose="02020603050405020304" pitchFamily="18" charset="0"/>
              </a:rPr>
              <a:t>  </a:t>
            </a:r>
            <a:r>
              <a:rPr lang="zh-CN" altLang="en-US" sz="4000">
                <a:latin typeface="宋体" panose="02010600030101010101" pitchFamily="2" charset="-122"/>
              </a:rPr>
              <a:t>二次剩余</a:t>
            </a:r>
            <a:r>
              <a:rPr lang="zh-CN" altLang="en-US" sz="4000">
                <a:latin typeface="Times New Roman" panose="02020603050405020304" pitchFamily="18" charset="0"/>
              </a:rPr>
              <a:t> </a:t>
            </a:r>
            <a:endParaRPr lang="zh-CN" altLang="en-US" sz="4000"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409575"/>
            <a:ext cx="7772400" cy="706438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000">
                <a:latin typeface="Times New Roman" panose="02020603050405020304" pitchFamily="18" charset="0"/>
                <a:ea typeface="宋体" panose="02010600030101010101" pitchFamily="2" charset="-122"/>
              </a:rPr>
              <a:t>§</a:t>
            </a:r>
            <a:r>
              <a:rPr lang="zh-CN" altLang="en-US" sz="4000">
                <a:latin typeface="Times New Roman" panose="02020603050405020304" pitchFamily="18" charset="0"/>
              </a:rPr>
              <a:t>5.1.1  </a:t>
            </a:r>
            <a:r>
              <a:rPr lang="zh-CN" altLang="en-US" sz="4000">
                <a:latin typeface="宋体" panose="02010600030101010101" pitchFamily="2" charset="-122"/>
              </a:rPr>
              <a:t>整除及其性质</a:t>
            </a:r>
            <a:r>
              <a:rPr lang="zh-CN" altLang="en-US" sz="4000">
                <a:latin typeface="Times New Roman" panose="02020603050405020304" pitchFamily="18" charset="0"/>
              </a:rPr>
              <a:t> </a:t>
            </a:r>
            <a:endParaRPr lang="zh-CN" altLang="en-US" sz="4000">
              <a:latin typeface="Times New Roman" panose="02020603050405020304" pitchFamily="18" charset="0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763000" cy="5181600"/>
          </a:xfrm>
        </p:spPr>
        <p:txBody>
          <a:bodyPr/>
          <a:lstStyle/>
          <a:p>
            <a:pPr marL="0" indent="0"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sz="3600" dirty="0">
                <a:solidFill>
                  <a:schemeClr val="tx2"/>
                </a:solidFill>
                <a:latin typeface="Times New Roman" panose="02020603050405020304" pitchFamily="18" charset="0"/>
              </a:rPr>
              <a:t>定义5.1.1  </a:t>
            </a:r>
            <a:r>
              <a:rPr lang="zh-CN" altLang="en-US" sz="3600" dirty="0">
                <a:latin typeface="Times New Roman" panose="02020603050405020304" pitchFamily="18" charset="0"/>
              </a:rPr>
              <a:t>设</a:t>
            </a:r>
            <a:r>
              <a:rPr lang="en-US" altLang="zh-CN" sz="3600" dirty="0">
                <a:latin typeface="Times New Roman" panose="02020603050405020304" pitchFamily="18" charset="0"/>
              </a:rPr>
              <a:t>a</a:t>
            </a:r>
            <a:r>
              <a:rPr lang="zh-CN" altLang="en-US" sz="3600" dirty="0">
                <a:latin typeface="Times New Roman" panose="02020603050405020304" pitchFamily="18" charset="0"/>
              </a:rPr>
              <a:t>和</a:t>
            </a:r>
            <a:r>
              <a:rPr lang="en-US" altLang="zh-CN" sz="3600" dirty="0">
                <a:latin typeface="Times New Roman" panose="02020603050405020304" pitchFamily="18" charset="0"/>
              </a:rPr>
              <a:t>b</a:t>
            </a:r>
            <a:r>
              <a:rPr lang="zh-CN" altLang="en-US" sz="3600" dirty="0">
                <a:latin typeface="Times New Roman" panose="02020603050405020304" pitchFamily="18" charset="0"/>
              </a:rPr>
              <a:t>是任意整数，若存在整数</a:t>
            </a:r>
            <a:r>
              <a:rPr lang="en-US" altLang="zh-CN" sz="3600" dirty="0">
                <a:latin typeface="Times New Roman" panose="02020603050405020304" pitchFamily="18" charset="0"/>
              </a:rPr>
              <a:t>c，</a:t>
            </a:r>
            <a:r>
              <a:rPr lang="zh-CN" altLang="en-US" sz="3600" dirty="0">
                <a:latin typeface="Times New Roman" panose="02020603050405020304" pitchFamily="18" charset="0"/>
              </a:rPr>
              <a:t>使得</a:t>
            </a:r>
            <a:r>
              <a:rPr lang="en-US" altLang="zh-CN" sz="3600" dirty="0">
                <a:latin typeface="Times New Roman" panose="02020603050405020304" pitchFamily="18" charset="0"/>
              </a:rPr>
              <a:t>a=</a:t>
            </a:r>
            <a:r>
              <a:rPr lang="en-US" altLang="zh-CN" sz="3600" dirty="0" err="1">
                <a:latin typeface="Times New Roman" panose="02020603050405020304" pitchFamily="18" charset="0"/>
              </a:rPr>
              <a:t>bc</a:t>
            </a:r>
            <a:r>
              <a:rPr lang="en-US" altLang="zh-CN" sz="3600" dirty="0">
                <a:latin typeface="Times New Roman" panose="02020603050405020304" pitchFamily="18" charset="0"/>
              </a:rPr>
              <a:t>，</a:t>
            </a:r>
            <a:r>
              <a:rPr lang="zh-CN" altLang="en-US" sz="3600" dirty="0">
                <a:latin typeface="Times New Roman" panose="02020603050405020304" pitchFamily="18" charset="0"/>
              </a:rPr>
              <a:t>则称</a:t>
            </a:r>
            <a:r>
              <a:rPr lang="en-US" altLang="zh-CN" sz="3600" dirty="0">
                <a:latin typeface="Times New Roman" panose="02020603050405020304" pitchFamily="18" charset="0"/>
              </a:rPr>
              <a:t>a</a:t>
            </a:r>
            <a:r>
              <a:rPr lang="zh-CN" altLang="en-US" sz="3600" dirty="0">
                <a:latin typeface="Times New Roman" panose="02020603050405020304" pitchFamily="18" charset="0"/>
              </a:rPr>
              <a:t>是</a:t>
            </a:r>
            <a:r>
              <a:rPr lang="en-US" altLang="zh-CN" sz="3600" dirty="0">
                <a:latin typeface="Times New Roman" panose="02020603050405020304" pitchFamily="18" charset="0"/>
              </a:rPr>
              <a:t>b</a:t>
            </a:r>
            <a:r>
              <a:rPr lang="zh-CN" altLang="en-US" sz="3600" dirty="0">
                <a:latin typeface="Times New Roman" panose="02020603050405020304" pitchFamily="18" charset="0"/>
              </a:rPr>
              <a:t>的倍数，</a:t>
            </a:r>
            <a:r>
              <a:rPr lang="en-US" altLang="zh-CN" sz="3600" dirty="0">
                <a:latin typeface="Times New Roman" panose="02020603050405020304" pitchFamily="18" charset="0"/>
              </a:rPr>
              <a:t>b</a:t>
            </a:r>
            <a:r>
              <a:rPr lang="zh-CN" altLang="en-US" sz="3600" dirty="0">
                <a:latin typeface="Times New Roman" panose="02020603050405020304" pitchFamily="18" charset="0"/>
              </a:rPr>
              <a:t>是</a:t>
            </a:r>
            <a:r>
              <a:rPr lang="en-US" altLang="zh-CN" sz="3600" dirty="0">
                <a:latin typeface="Times New Roman" panose="02020603050405020304" pitchFamily="18" charset="0"/>
              </a:rPr>
              <a:t>a</a:t>
            </a:r>
            <a:r>
              <a:rPr lang="zh-CN" altLang="en-US" sz="3600" dirty="0">
                <a:latin typeface="Times New Roman" panose="02020603050405020304" pitchFamily="18" charset="0"/>
              </a:rPr>
              <a:t>的因数。或者称</a:t>
            </a:r>
            <a:r>
              <a:rPr lang="en-US" altLang="zh-CN" sz="3600" dirty="0">
                <a:latin typeface="Times New Roman" panose="02020603050405020304" pitchFamily="18" charset="0"/>
              </a:rPr>
              <a:t>a</a:t>
            </a:r>
            <a:r>
              <a:rPr lang="zh-CN" altLang="en-US" sz="3600" dirty="0">
                <a:latin typeface="Times New Roman" panose="02020603050405020304" pitchFamily="18" charset="0"/>
              </a:rPr>
              <a:t>被</a:t>
            </a:r>
            <a:r>
              <a:rPr lang="en-US" altLang="zh-CN" sz="3600" dirty="0">
                <a:latin typeface="Times New Roman" panose="02020603050405020304" pitchFamily="18" charset="0"/>
              </a:rPr>
              <a:t>b</a:t>
            </a:r>
            <a:r>
              <a:rPr lang="zh-CN" altLang="en-US" sz="3600" dirty="0">
                <a:latin typeface="Times New Roman" panose="02020603050405020304" pitchFamily="18" charset="0"/>
              </a:rPr>
              <a:t>整除，而</a:t>
            </a:r>
            <a:r>
              <a:rPr lang="en-US" altLang="zh-CN" sz="3600" dirty="0">
                <a:latin typeface="Times New Roman" panose="02020603050405020304" pitchFamily="18" charset="0"/>
              </a:rPr>
              <a:t>b</a:t>
            </a:r>
            <a:r>
              <a:rPr lang="zh-CN" altLang="en-US" sz="3600" dirty="0">
                <a:latin typeface="Times New Roman" panose="02020603050405020304" pitchFamily="18" charset="0"/>
              </a:rPr>
              <a:t>整除</a:t>
            </a:r>
            <a:r>
              <a:rPr lang="en-US" altLang="zh-CN" sz="3600" dirty="0">
                <a:latin typeface="Times New Roman" panose="02020603050405020304" pitchFamily="18" charset="0"/>
              </a:rPr>
              <a:t>a。</a:t>
            </a:r>
            <a:r>
              <a:rPr lang="zh-CN" altLang="en-US" sz="3600" dirty="0">
                <a:latin typeface="Times New Roman" panose="02020603050405020304" pitchFamily="18" charset="0"/>
              </a:rPr>
              <a:t>记为</a:t>
            </a:r>
            <a:r>
              <a:rPr lang="en-US" altLang="zh-CN" sz="3600" dirty="0" err="1">
                <a:latin typeface="Times New Roman" panose="02020603050405020304" pitchFamily="18" charset="0"/>
              </a:rPr>
              <a:t>b|a</a:t>
            </a:r>
            <a:r>
              <a:rPr lang="en-US" altLang="zh-CN" sz="3600" dirty="0">
                <a:latin typeface="Times New Roman" panose="02020603050405020304" pitchFamily="18" charset="0"/>
              </a:rPr>
              <a:t>。</a:t>
            </a:r>
            <a:endParaRPr lang="en-US" altLang="zh-CN" sz="3600" dirty="0">
              <a:latin typeface="Times New Roman" panose="02020603050405020304" pitchFamily="18" charset="0"/>
            </a:endParaRPr>
          </a:p>
          <a:p>
            <a:pPr marL="0" indent="0" algn="just" eaLnBrk="1" hangingPunct="1"/>
            <a:r>
              <a:rPr lang="zh-CN" altLang="en-US" sz="3600" dirty="0">
                <a:latin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</a:rPr>
              <a:t>Note:</a:t>
            </a:r>
            <a:endParaRPr lang="en-US" altLang="zh-CN" sz="36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en-US" altLang="zh-CN" sz="3600" dirty="0">
                <a:latin typeface="Times New Roman" panose="02020603050405020304" pitchFamily="18" charset="0"/>
              </a:rPr>
              <a:t>1</a:t>
            </a:r>
            <a:r>
              <a:rPr lang="zh-CN" altLang="en-US" sz="3600" dirty="0">
                <a:latin typeface="Times New Roman" panose="02020603050405020304" pitchFamily="18" charset="0"/>
              </a:rPr>
              <a:t>、任意整数整除0 ，特别0|0；</a:t>
            </a:r>
            <a:endParaRPr lang="zh-CN" altLang="en-US" sz="3600" dirty="0">
              <a:latin typeface="Times New Roman" panose="02020603050405020304" pitchFamily="18" charset="0"/>
            </a:endParaRPr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zh-CN" altLang="en-US" sz="3600" dirty="0">
                <a:latin typeface="Times New Roman" panose="02020603050405020304" pitchFamily="18" charset="0"/>
              </a:rPr>
              <a:t>   　但</a:t>
            </a:r>
            <a:r>
              <a:rPr lang="en-US" altLang="zh-CN" sz="3600" dirty="0">
                <a:latin typeface="Times New Roman" panose="02020603050405020304" pitchFamily="18" charset="0"/>
              </a:rPr>
              <a:t>0</a:t>
            </a:r>
            <a:r>
              <a:rPr lang="zh-CN" altLang="en-US" sz="3600" dirty="0">
                <a:latin typeface="Times New Roman" panose="02020603050405020304" pitchFamily="18" charset="0"/>
              </a:rPr>
              <a:t>不能整除任意非零整数。</a:t>
            </a:r>
            <a:endParaRPr lang="zh-CN" altLang="en-US" sz="3600" dirty="0">
              <a:latin typeface="Times New Roman" panose="02020603050405020304" pitchFamily="18" charset="0"/>
            </a:endParaRPr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en-US" altLang="zh-CN" sz="3600" dirty="0">
                <a:latin typeface="Times New Roman" panose="02020603050405020304" pitchFamily="18" charset="0"/>
              </a:rPr>
              <a:t>2</a:t>
            </a:r>
            <a:r>
              <a:rPr lang="zh-CN" altLang="en-US" sz="3600" dirty="0">
                <a:latin typeface="Times New Roman" panose="02020603050405020304" pitchFamily="18" charset="0"/>
              </a:rPr>
              <a:t>、</a:t>
            </a:r>
            <a:r>
              <a:rPr lang="en-US" altLang="zh-CN" sz="3600" dirty="0">
                <a:latin typeface="Times New Roman" panose="02020603050405020304" pitchFamily="18" charset="0"/>
              </a:rPr>
              <a:t>1</a:t>
            </a:r>
            <a:r>
              <a:rPr lang="zh-CN" altLang="en-US" sz="3600" dirty="0">
                <a:latin typeface="Times New Roman" panose="02020603050405020304" pitchFamily="18" charset="0"/>
              </a:rPr>
              <a:t>（-1）整除任意整数。 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823DD6E-AD80-1641-B213-FC3FECC2C530}" type="slidenum">
              <a:rPr kumimoji="0" lang="zh-CN" altLang="en-US" sz="1400" b="0"/>
            </a:fld>
            <a:endParaRPr kumimoji="0" lang="en-US" altLang="zh-CN" sz="1400" b="0"/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77724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定理5.1.1（带余除法定理）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8458200" cy="5486400"/>
          </a:xfrm>
        </p:spPr>
        <p:txBody>
          <a:bodyPr/>
          <a:lstStyle/>
          <a:p>
            <a:pPr marL="352425" indent="-352425" eaLnBrk="1" hangingPunct="1"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</a:rPr>
              <a:t>对任意整数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宋体" panose="02010600030101010101" pitchFamily="2" charset="-122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2" charset="2"/>
              </a:rPr>
              <a:t>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宋体" panose="02010600030101010101" pitchFamily="2" charset="-122"/>
              </a:rPr>
              <a:t>，</a:t>
            </a:r>
            <a:r>
              <a:rPr lang="zh-CN" altLang="en-US" dirty="0">
                <a:latin typeface="宋体" panose="02010600030101010101" pitchFamily="2" charset="-122"/>
              </a:rPr>
              <a:t>唯一存在一对整数</a:t>
            </a:r>
            <a:r>
              <a:rPr lang="en-US" altLang="zh-CN" dirty="0">
                <a:latin typeface="Times New Roman" panose="02020603050405020304" pitchFamily="18" charset="0"/>
              </a:rPr>
              <a:t>q</a:t>
            </a:r>
            <a:r>
              <a:rPr lang="zh-CN" altLang="en-US" dirty="0">
                <a:latin typeface="宋体" panose="02010600030101010101" pitchFamily="2" charset="-122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宋体" panose="02010600030101010101" pitchFamily="2" charset="-122"/>
              </a:rPr>
              <a:t>，</a:t>
            </a:r>
            <a:r>
              <a:rPr lang="zh-CN" altLang="en-US" dirty="0">
                <a:latin typeface="宋体" panose="02010600030101010101" pitchFamily="2" charset="-122"/>
              </a:rPr>
              <a:t>使得</a:t>
            </a:r>
            <a:r>
              <a:rPr lang="zh-CN" altLang="en-US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宋体" panose="02010600030101010101" pitchFamily="2" charset="-122"/>
              </a:rPr>
              <a:t>≤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宋体" panose="02010600030101010101" pitchFamily="2" charset="-122"/>
              </a:rPr>
              <a:t>＜</a:t>
            </a:r>
            <a:r>
              <a:rPr lang="en-US" altLang="zh-CN" dirty="0">
                <a:latin typeface="Times New Roman" panose="02020603050405020304" pitchFamily="18" charset="0"/>
              </a:rPr>
              <a:t>|b|</a:t>
            </a:r>
            <a:r>
              <a:rPr lang="en-US" altLang="zh-CN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a=</a:t>
            </a:r>
            <a:r>
              <a:rPr lang="en-US" altLang="zh-CN" dirty="0" err="1">
                <a:latin typeface="Times New Roman" panose="02020603050405020304" pitchFamily="18" charset="0"/>
              </a:rPr>
              <a:t>qb+r</a:t>
            </a:r>
            <a:r>
              <a:rPr lang="en-US" altLang="zh-CN" dirty="0" err="1">
                <a:latin typeface="宋体" panose="02010600030101010101" pitchFamily="2" charset="-122"/>
              </a:rPr>
              <a:t>。</a:t>
            </a:r>
            <a:r>
              <a:rPr lang="en-US" altLang="zh-CN" dirty="0" err="1">
                <a:latin typeface="Times New Roman" panose="02020603050405020304" pitchFamily="18" charset="0"/>
              </a:rPr>
              <a:t>q</a:t>
            </a:r>
            <a:r>
              <a:rPr lang="zh-CN" altLang="en-US" dirty="0">
                <a:latin typeface="宋体" panose="02010600030101010101" pitchFamily="2" charset="-122"/>
              </a:rPr>
              <a:t>称为(不完全)商数，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宋体" panose="02010600030101010101" pitchFamily="2" charset="-122"/>
              </a:rPr>
              <a:t>称为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宋体" panose="02010600030101010101" pitchFamily="2" charset="-122"/>
              </a:rPr>
              <a:t>被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宋体" panose="02010600030101010101" pitchFamily="2" charset="-122"/>
              </a:rPr>
              <a:t>除的余数。</a:t>
            </a:r>
            <a:endParaRPr lang="zh-CN" altLang="en-US" dirty="0">
              <a:latin typeface="宋体" panose="02010600030101010101" pitchFamily="2" charset="-122"/>
            </a:endParaRPr>
          </a:p>
          <a:p>
            <a:pPr marL="352425" indent="-352425" eaLnBrk="1" hangingPunct="1">
              <a:spcBef>
                <a:spcPct val="0"/>
              </a:spcBef>
            </a:pPr>
            <a:endParaRPr lang="zh-CN" altLang="en-US" dirty="0">
              <a:latin typeface="宋体" panose="02010600030101010101" pitchFamily="2" charset="-122"/>
            </a:endParaRPr>
          </a:p>
          <a:p>
            <a:pPr marL="352425" indent="-352425" algn="just" eaLnBrk="1" hangingPunct="1">
              <a:spcBef>
                <a:spcPct val="0"/>
              </a:spcBef>
            </a:pPr>
            <a:r>
              <a:rPr lang="zh-CN" altLang="en-US" dirty="0">
                <a:solidFill>
                  <a:srgbClr val="FFFF00"/>
                </a:solidFill>
                <a:latin typeface="Times New Roman" panose="02020603050405020304" pitchFamily="18" charset="0"/>
              </a:rPr>
              <a:t>证明</a:t>
            </a: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1)</a:t>
            </a:r>
            <a:r>
              <a:rPr lang="zh-CN" altLang="en-US" u="sng" dirty="0">
                <a:latin typeface="Times New Roman" panose="02020603050405020304" pitchFamily="18" charset="0"/>
              </a:rPr>
              <a:t>当</a:t>
            </a:r>
            <a:r>
              <a:rPr lang="en-US" altLang="zh-CN" u="sng" dirty="0">
                <a:latin typeface="Times New Roman" panose="02020603050405020304" pitchFamily="18" charset="0"/>
              </a:rPr>
              <a:t>b＞0</a:t>
            </a:r>
            <a:r>
              <a:rPr lang="zh-CN" altLang="en-US" u="sng" dirty="0">
                <a:latin typeface="Times New Roman" panose="02020603050405020304" pitchFamily="18" charset="0"/>
              </a:rPr>
              <a:t>时，存在性成立。</a:t>
            </a:r>
            <a:endParaRPr lang="zh-CN" altLang="en-US" u="sng" dirty="0">
              <a:latin typeface="Times New Roman" panose="02020603050405020304" pitchFamily="18" charset="0"/>
            </a:endParaRPr>
          </a:p>
          <a:p>
            <a:pPr marL="352425" indent="-352425"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	看函数 </a:t>
            </a:r>
            <a:r>
              <a:rPr lang="en-US" altLang="zh-CN" dirty="0">
                <a:latin typeface="Times New Roman" panose="02020603050405020304" pitchFamily="18" charset="0"/>
              </a:rPr>
              <a:t>y=bx, </a:t>
            </a:r>
            <a:r>
              <a:rPr lang="en-US" altLang="zh-CN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2" charset="2"/>
              </a:rPr>
              <a:t></a:t>
            </a:r>
            <a:r>
              <a:rPr lang="en-US" altLang="zh-CN" dirty="0" err="1">
                <a:latin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</a:rPr>
              <a:t>。</a:t>
            </a:r>
            <a:r>
              <a:rPr lang="zh-CN" altLang="en-US" dirty="0">
                <a:latin typeface="Times New Roman" panose="02020603050405020304" pitchFamily="18" charset="0"/>
              </a:rPr>
              <a:t>因为</a:t>
            </a:r>
            <a:r>
              <a:rPr lang="en-US" altLang="zh-CN" dirty="0">
                <a:latin typeface="Times New Roman" panose="02020603050405020304" pitchFamily="18" charset="0"/>
              </a:rPr>
              <a:t>b＞0，</a:t>
            </a:r>
            <a:r>
              <a:rPr lang="zh-CN" altLang="en-US" dirty="0">
                <a:latin typeface="Times New Roman" panose="02020603050405020304" pitchFamily="18" charset="0"/>
              </a:rPr>
              <a:t>所以</a:t>
            </a:r>
            <a:r>
              <a:rPr lang="en-US" altLang="zh-CN" dirty="0">
                <a:latin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</a:rPr>
              <a:t>的单调递增函数，且当</a:t>
            </a:r>
            <a:r>
              <a:rPr lang="en-US" altLang="zh-CN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2" charset="2"/>
              </a:rPr>
              <a:t></a:t>
            </a:r>
            <a:r>
              <a:rPr lang="en-US" altLang="zh-CN" dirty="0">
                <a:latin typeface="Times New Roman" panose="02020603050405020304" pitchFamily="18" charset="0"/>
              </a:rPr>
              <a:t>+∞</a:t>
            </a:r>
            <a:r>
              <a:rPr lang="zh-CN" altLang="en-US" dirty="0">
                <a:latin typeface="Times New Roman" panose="02020603050405020304" pitchFamily="18" charset="0"/>
              </a:rPr>
              <a:t>时，</a:t>
            </a:r>
            <a:r>
              <a:rPr lang="en-US" altLang="zh-CN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2" charset="2"/>
              </a:rPr>
              <a:t></a:t>
            </a:r>
            <a:r>
              <a:rPr lang="en-US" altLang="zh-CN" dirty="0">
                <a:latin typeface="Times New Roman" panose="02020603050405020304" pitchFamily="18" charset="0"/>
              </a:rPr>
              <a:t>+∞；</a:t>
            </a:r>
            <a:r>
              <a:rPr lang="zh-CN" altLang="en-US" dirty="0">
                <a:latin typeface="Times New Roman" panose="02020603050405020304" pitchFamily="18" charset="0"/>
              </a:rPr>
              <a:t>当</a:t>
            </a:r>
            <a:r>
              <a:rPr lang="en-US" altLang="zh-CN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2" charset="2"/>
              </a:rPr>
              <a:t></a:t>
            </a:r>
            <a:r>
              <a:rPr lang="en-US" altLang="zh-CN" dirty="0">
                <a:latin typeface="Times New Roman" panose="02020603050405020304" pitchFamily="18" charset="0"/>
              </a:rPr>
              <a:t>-∞</a:t>
            </a:r>
            <a:r>
              <a:rPr lang="zh-CN" altLang="en-US" dirty="0">
                <a:latin typeface="Times New Roman" panose="02020603050405020304" pitchFamily="18" charset="0"/>
              </a:rPr>
              <a:t>时，</a:t>
            </a:r>
            <a:r>
              <a:rPr lang="en-US" altLang="zh-CN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2" charset="2"/>
              </a:rPr>
              <a:t></a:t>
            </a:r>
            <a:r>
              <a:rPr lang="en-US" altLang="zh-CN" dirty="0">
                <a:latin typeface="Times New Roman" panose="02020603050405020304" pitchFamily="18" charset="0"/>
              </a:rPr>
              <a:t>-∞</a:t>
            </a:r>
            <a:r>
              <a:rPr lang="zh-CN" altLang="en-US" dirty="0">
                <a:latin typeface="Times New Roman" panose="02020603050405020304" pitchFamily="18" charset="0"/>
              </a:rPr>
              <a:t>，从而存在</a:t>
            </a:r>
            <a:r>
              <a:rPr lang="en-US" altLang="zh-CN" dirty="0">
                <a:latin typeface="Times New Roman" panose="02020603050405020304" pitchFamily="18" charset="0"/>
              </a:rPr>
              <a:t>q，</a:t>
            </a:r>
            <a:r>
              <a:rPr lang="zh-CN" altLang="en-US" dirty="0">
                <a:latin typeface="Times New Roman" panose="02020603050405020304" pitchFamily="18" charset="0"/>
              </a:rPr>
              <a:t>使得</a:t>
            </a:r>
            <a:r>
              <a:rPr lang="en-US" altLang="zh-CN" dirty="0">
                <a:latin typeface="Times New Roman" panose="02020603050405020304" pitchFamily="18" charset="0"/>
              </a:rPr>
              <a:t>x=q</a:t>
            </a:r>
            <a:r>
              <a:rPr lang="zh-CN" altLang="en-US" dirty="0">
                <a:latin typeface="Times New Roman" panose="02020603050405020304" pitchFamily="18" charset="0"/>
              </a:rPr>
              <a:t>时，</a:t>
            </a:r>
            <a:r>
              <a:rPr lang="en-US" altLang="zh-CN" dirty="0" err="1">
                <a:latin typeface="Times New Roman" panose="02020603050405020304" pitchFamily="18" charset="0"/>
              </a:rPr>
              <a:t>y≤a；x</a:t>
            </a:r>
            <a:r>
              <a:rPr lang="en-US" altLang="zh-CN" dirty="0">
                <a:latin typeface="Times New Roman" panose="02020603050405020304" pitchFamily="18" charset="0"/>
              </a:rPr>
              <a:t>=q+1</a:t>
            </a:r>
            <a:r>
              <a:rPr lang="zh-CN" altLang="en-US" dirty="0">
                <a:latin typeface="Times New Roman" panose="02020603050405020304" pitchFamily="18" charset="0"/>
              </a:rPr>
              <a:t>时</a:t>
            </a:r>
            <a:r>
              <a:rPr lang="en-US" altLang="zh-CN" dirty="0" err="1">
                <a:latin typeface="Times New Roman" panose="02020603050405020304" pitchFamily="18" charset="0"/>
              </a:rPr>
              <a:t>y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2" charset="2"/>
              </a:rPr>
              <a:t></a:t>
            </a:r>
            <a:r>
              <a:rPr lang="en-US" altLang="zh-CN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。</a:t>
            </a:r>
            <a:r>
              <a:rPr lang="zh-CN" altLang="en-US" dirty="0">
                <a:latin typeface="Times New Roman" panose="02020603050405020304" pitchFamily="18" charset="0"/>
              </a:rPr>
              <a:t>即 </a:t>
            </a:r>
            <a:r>
              <a:rPr lang="en-US" altLang="zh-CN" dirty="0" err="1">
                <a:latin typeface="Times New Roman" panose="02020603050405020304" pitchFamily="18" charset="0"/>
              </a:rPr>
              <a:t>bq≤a，b</a:t>
            </a:r>
            <a:r>
              <a:rPr lang="en-US" altLang="zh-CN" dirty="0">
                <a:latin typeface="Times New Roman" panose="02020603050405020304" pitchFamily="18" charset="0"/>
              </a:rPr>
              <a:t>(q+1)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2" charset="2"/>
              </a:rPr>
              <a:t> </a:t>
            </a:r>
            <a:r>
              <a:rPr lang="en-US" altLang="zh-CN" dirty="0">
                <a:latin typeface="Times New Roman" panose="02020603050405020304" pitchFamily="18" charset="0"/>
              </a:rPr>
              <a:t>a。</a:t>
            </a:r>
            <a:r>
              <a:rPr lang="zh-CN" altLang="en-US" dirty="0">
                <a:latin typeface="Times New Roman" panose="02020603050405020304" pitchFamily="18" charset="0"/>
              </a:rPr>
              <a:t>令</a:t>
            </a:r>
            <a:r>
              <a:rPr lang="en-US" altLang="zh-CN" dirty="0">
                <a:latin typeface="Times New Roman" panose="02020603050405020304" pitchFamily="18" charset="0"/>
              </a:rPr>
              <a:t>r=a-</a:t>
            </a:r>
            <a:r>
              <a:rPr lang="en-US" altLang="zh-CN" dirty="0" err="1">
                <a:latin typeface="Times New Roman" panose="02020603050405020304" pitchFamily="18" charset="0"/>
              </a:rPr>
              <a:t>bq</a:t>
            </a:r>
            <a:r>
              <a:rPr lang="en-US" altLang="zh-CN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宋体" panose="02010600030101010101" pitchFamily="2" charset="-122"/>
                <a:sym typeface="Symbol" panose="05050102010706020507" pitchFamily="2" charset="2"/>
              </a:rPr>
              <a:t>≥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en-US" altLang="zh-CN" dirty="0" err="1">
                <a:latin typeface="Times New Roman" panose="02020603050405020304" pitchFamily="18" charset="0"/>
              </a:rPr>
              <a:t>r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2" charset="2"/>
              </a:rPr>
              <a:t></a:t>
            </a:r>
            <a:r>
              <a:rPr lang="en-US" altLang="zh-CN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。</a:t>
            </a:r>
            <a:r>
              <a:rPr lang="zh-CN" altLang="en-US" dirty="0">
                <a:latin typeface="Times New Roman" panose="02020603050405020304" pitchFamily="18" charset="0"/>
              </a:rPr>
              <a:t>于是  </a:t>
            </a:r>
            <a:r>
              <a:rPr lang="en-US" altLang="zh-CN" dirty="0">
                <a:latin typeface="Times New Roman" panose="02020603050405020304" pitchFamily="18" charset="0"/>
              </a:rPr>
              <a:t>a=</a:t>
            </a:r>
            <a:r>
              <a:rPr lang="en-US" altLang="zh-CN" dirty="0" err="1">
                <a:latin typeface="Times New Roman" panose="02020603050405020304" pitchFamily="18" charset="0"/>
              </a:rPr>
              <a:t>qb+r</a:t>
            </a:r>
            <a:r>
              <a:rPr lang="en-US" altLang="zh-CN" dirty="0">
                <a:latin typeface="Times New Roman" panose="02020603050405020304" pitchFamily="18" charset="0"/>
              </a:rPr>
              <a:t>, 0≤r＜b。 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autoUpdateAnimBg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9F16D81-AE3C-9C43-8B13-3941406431CB}" type="slidenum">
              <a:rPr kumimoji="0" lang="zh-CN" altLang="en-US" sz="1400" b="0"/>
            </a:fld>
            <a:endParaRPr kumimoji="0" lang="en-US" altLang="zh-CN" sz="1400" b="0"/>
          </a:p>
        </p:txBody>
      </p:sp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7772400" cy="7620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定理5.1.1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371600"/>
            <a:ext cx="8610600" cy="4876800"/>
          </a:xfrm>
        </p:spPr>
        <p:txBody>
          <a:bodyPr/>
          <a:lstStyle/>
          <a:p>
            <a:pPr marL="444500" indent="-444500" eaLnBrk="1" hangingPunct="1">
              <a:buFont typeface="Wingdings" panose="05000000000000000000" pitchFamily="2" charset="2"/>
              <a:buNone/>
            </a:pPr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</a:rPr>
              <a:t>(2)</a:t>
            </a:r>
            <a:r>
              <a:rPr lang="zh-CN" altLang="en-US" sz="3600" u="sng" dirty="0">
                <a:latin typeface="Times New Roman" panose="02020603050405020304" pitchFamily="18" charset="0"/>
              </a:rPr>
              <a:t>当</a:t>
            </a:r>
            <a:r>
              <a:rPr lang="en-US" altLang="zh-CN" sz="3600" u="sng" dirty="0">
                <a:latin typeface="Times New Roman" panose="02020603050405020304" pitchFamily="18" charset="0"/>
              </a:rPr>
              <a:t>b=-b</a:t>
            </a:r>
            <a:r>
              <a:rPr lang="en-US" altLang="zh-CN" sz="3600" u="sng" dirty="0"/>
              <a:t>’</a:t>
            </a:r>
            <a:r>
              <a:rPr lang="en-US" altLang="zh-CN" sz="3600" u="sng" dirty="0">
                <a:latin typeface="Times New Roman" panose="02020603050405020304" pitchFamily="18" charset="0"/>
                <a:sym typeface="Symbol" panose="05050102010706020507" pitchFamily="2" charset="2"/>
              </a:rPr>
              <a:t></a:t>
            </a:r>
            <a:r>
              <a:rPr lang="en-US" altLang="zh-CN" sz="3600" u="sng" dirty="0">
                <a:latin typeface="Times New Roman" panose="02020603050405020304" pitchFamily="18" charset="0"/>
              </a:rPr>
              <a:t> 0</a:t>
            </a:r>
            <a:r>
              <a:rPr lang="zh-CN" altLang="en-US" sz="3600" u="sng" dirty="0">
                <a:latin typeface="Times New Roman" panose="02020603050405020304" pitchFamily="18" charset="0"/>
              </a:rPr>
              <a:t>时，存在性成立。</a:t>
            </a:r>
            <a:endParaRPr lang="zh-CN" altLang="en-US" sz="3600" u="sng" dirty="0">
              <a:latin typeface="Times New Roman" panose="02020603050405020304" pitchFamily="18" charset="0"/>
            </a:endParaRPr>
          </a:p>
          <a:p>
            <a:pPr marL="444500" indent="-444500" eaLnBrk="1" hangingPunct="1"/>
            <a:r>
              <a:rPr lang="zh-CN" altLang="en-US" sz="3600" dirty="0">
                <a:latin typeface="宋体" panose="02010600030101010101" pitchFamily="2" charset="-122"/>
              </a:rPr>
              <a:t>由(</a:t>
            </a:r>
            <a:r>
              <a:rPr lang="zh-CN" altLang="en-US" sz="3600" dirty="0">
                <a:latin typeface="Times New Roman" panose="02020603050405020304" pitchFamily="18" charset="0"/>
              </a:rPr>
              <a:t>1</a:t>
            </a:r>
            <a:r>
              <a:rPr lang="zh-CN" altLang="en-US" sz="3600" dirty="0">
                <a:latin typeface="宋体" panose="02010600030101010101" pitchFamily="2" charset="-122"/>
              </a:rPr>
              <a:t>)知，存在</a:t>
            </a:r>
            <a:r>
              <a:rPr lang="en-US" altLang="zh-CN" sz="3600" dirty="0" err="1">
                <a:latin typeface="Times New Roman" panose="02020603050405020304" pitchFamily="18" charset="0"/>
              </a:rPr>
              <a:t>q</a:t>
            </a:r>
            <a:r>
              <a:rPr lang="en-US" altLang="zh-CN" sz="3600" dirty="0" err="1"/>
              <a:t>’</a:t>
            </a:r>
            <a:r>
              <a:rPr lang="en-US" altLang="zh-CN" sz="3600" dirty="0" err="1">
                <a:latin typeface="宋体" panose="02010600030101010101" pitchFamily="2" charset="-122"/>
              </a:rPr>
              <a:t>，</a:t>
            </a:r>
            <a:r>
              <a:rPr lang="en-US" altLang="zh-CN" sz="3600" dirty="0" err="1">
                <a:latin typeface="Times New Roman" panose="02020603050405020304" pitchFamily="18" charset="0"/>
              </a:rPr>
              <a:t>r</a:t>
            </a:r>
            <a:r>
              <a:rPr lang="en-US" altLang="zh-CN" sz="3600" dirty="0"/>
              <a:t>’</a:t>
            </a:r>
            <a:r>
              <a:rPr lang="en-US" altLang="zh-CN" sz="3600" dirty="0">
                <a:latin typeface="宋体" panose="02010600030101010101" pitchFamily="2" charset="-122"/>
              </a:rPr>
              <a:t>，</a:t>
            </a:r>
            <a:r>
              <a:rPr lang="zh-CN" altLang="en-US" sz="3600" dirty="0">
                <a:latin typeface="宋体" panose="02010600030101010101" pitchFamily="2" charset="-122"/>
              </a:rPr>
              <a:t>使得</a:t>
            </a:r>
            <a:r>
              <a:rPr lang="en-US" altLang="zh-CN" sz="3600" dirty="0">
                <a:latin typeface="Times New Roman" panose="02020603050405020304" pitchFamily="18" charset="0"/>
              </a:rPr>
              <a:t>a=q</a:t>
            </a:r>
            <a:r>
              <a:rPr lang="en-US" altLang="zh-CN" sz="3600" dirty="0"/>
              <a:t>’</a:t>
            </a:r>
            <a:r>
              <a:rPr lang="en-US" altLang="zh-CN" sz="3600" dirty="0">
                <a:latin typeface="Times New Roman" panose="02020603050405020304" pitchFamily="18" charset="0"/>
              </a:rPr>
              <a:t>b</a:t>
            </a:r>
            <a:r>
              <a:rPr lang="en-US" altLang="zh-CN" sz="3600" dirty="0"/>
              <a:t>’</a:t>
            </a:r>
            <a:r>
              <a:rPr lang="en-US" altLang="zh-CN" sz="3600" dirty="0">
                <a:latin typeface="Times New Roman" panose="02020603050405020304" pitchFamily="18" charset="0"/>
              </a:rPr>
              <a:t>+r</a:t>
            </a:r>
            <a:r>
              <a:rPr lang="en-US" altLang="zh-CN" sz="3600" dirty="0"/>
              <a:t>’</a:t>
            </a:r>
            <a:r>
              <a:rPr lang="en-US" altLang="zh-CN" sz="3600" dirty="0">
                <a:latin typeface="宋体" panose="02010600030101010101" pitchFamily="2" charset="-122"/>
              </a:rPr>
              <a:t>，</a:t>
            </a:r>
            <a:r>
              <a:rPr lang="en-US" altLang="zh-CN" sz="3600" dirty="0">
                <a:latin typeface="Times New Roman" panose="02020603050405020304" pitchFamily="18" charset="0"/>
              </a:rPr>
              <a:t>0≤r</a:t>
            </a:r>
            <a:r>
              <a:rPr lang="en-US" altLang="zh-CN" sz="3600" dirty="0"/>
              <a:t>’</a:t>
            </a:r>
            <a:r>
              <a:rPr lang="en-US" altLang="zh-CN" sz="3600" dirty="0">
                <a:latin typeface="Times New Roman" panose="02020603050405020304" pitchFamily="18" charset="0"/>
                <a:sym typeface="Symbol" panose="05050102010706020507" pitchFamily="2" charset="2"/>
              </a:rPr>
              <a:t></a:t>
            </a:r>
            <a:r>
              <a:rPr lang="en-US" altLang="zh-CN" sz="3600" dirty="0">
                <a:latin typeface="Times New Roman" panose="02020603050405020304" pitchFamily="18" charset="0"/>
              </a:rPr>
              <a:t>b</a:t>
            </a:r>
            <a:r>
              <a:rPr lang="en-US" altLang="zh-CN" sz="3600" dirty="0"/>
              <a:t>’</a:t>
            </a:r>
            <a:r>
              <a:rPr lang="en-US" altLang="zh-CN" sz="3600" dirty="0">
                <a:latin typeface="宋体" panose="02010600030101010101" pitchFamily="2" charset="-122"/>
              </a:rPr>
              <a:t>。</a:t>
            </a:r>
            <a:r>
              <a:rPr lang="zh-CN" altLang="en-US" sz="3600" dirty="0">
                <a:latin typeface="宋体" panose="02010600030101010101" pitchFamily="2" charset="-122"/>
              </a:rPr>
              <a:t>取</a:t>
            </a:r>
            <a:r>
              <a:rPr lang="en-US" altLang="zh-CN" sz="3600" dirty="0">
                <a:latin typeface="Times New Roman" panose="02020603050405020304" pitchFamily="18" charset="0"/>
              </a:rPr>
              <a:t>q=-</a:t>
            </a:r>
            <a:r>
              <a:rPr lang="en-US" altLang="zh-CN" sz="3600" dirty="0" err="1">
                <a:latin typeface="Times New Roman" panose="02020603050405020304" pitchFamily="18" charset="0"/>
              </a:rPr>
              <a:t>q</a:t>
            </a:r>
            <a:r>
              <a:rPr lang="en-US" altLang="zh-CN" sz="3600" dirty="0" err="1"/>
              <a:t>’</a:t>
            </a:r>
            <a:r>
              <a:rPr lang="en-US" altLang="zh-CN" sz="3600" dirty="0" err="1">
                <a:latin typeface="宋体" panose="02010600030101010101" pitchFamily="2" charset="-122"/>
              </a:rPr>
              <a:t>，</a:t>
            </a:r>
            <a:r>
              <a:rPr lang="en-US" altLang="zh-CN" sz="3600" dirty="0" err="1">
                <a:latin typeface="Times New Roman" panose="02020603050405020304" pitchFamily="18" charset="0"/>
              </a:rPr>
              <a:t>r</a:t>
            </a:r>
            <a:r>
              <a:rPr lang="en-US" altLang="zh-CN" sz="3600" dirty="0">
                <a:latin typeface="Times New Roman" panose="02020603050405020304" pitchFamily="18" charset="0"/>
              </a:rPr>
              <a:t>=r</a:t>
            </a:r>
            <a:r>
              <a:rPr lang="en-US" altLang="zh-CN" sz="3600" dirty="0"/>
              <a:t>’</a:t>
            </a:r>
            <a:r>
              <a:rPr lang="en-US" altLang="zh-CN" sz="3600" dirty="0">
                <a:latin typeface="宋体" panose="02010600030101010101" pitchFamily="2" charset="-122"/>
              </a:rPr>
              <a:t>，</a:t>
            </a:r>
            <a:r>
              <a:rPr lang="zh-CN" altLang="en-US" sz="3600" dirty="0">
                <a:latin typeface="宋体" panose="02010600030101010101" pitchFamily="2" charset="-122"/>
              </a:rPr>
              <a:t>则得</a:t>
            </a:r>
            <a:r>
              <a:rPr lang="en-US" altLang="zh-CN" sz="3600" dirty="0">
                <a:latin typeface="Times New Roman" panose="02020603050405020304" pitchFamily="18" charset="0"/>
              </a:rPr>
              <a:t>a=-</a:t>
            </a:r>
            <a:r>
              <a:rPr lang="en-US" altLang="zh-CN" sz="3600" dirty="0" err="1">
                <a:latin typeface="Times New Roman" panose="02020603050405020304" pitchFamily="18" charset="0"/>
              </a:rPr>
              <a:t>qb</a:t>
            </a:r>
            <a:r>
              <a:rPr lang="en-US" altLang="zh-CN" sz="3600" dirty="0"/>
              <a:t>’</a:t>
            </a:r>
            <a:r>
              <a:rPr lang="en-US" altLang="zh-CN" sz="3600" dirty="0">
                <a:latin typeface="Times New Roman" panose="02020603050405020304" pitchFamily="18" charset="0"/>
              </a:rPr>
              <a:t>+r =qb+r</a:t>
            </a:r>
            <a:r>
              <a:rPr lang="en-US" altLang="zh-CN" sz="3600" dirty="0">
                <a:latin typeface="宋体" panose="02010600030101010101" pitchFamily="2" charset="-122"/>
              </a:rPr>
              <a:t>，</a:t>
            </a:r>
            <a:r>
              <a:rPr lang="en-US" altLang="zh-CN" sz="3600" dirty="0">
                <a:latin typeface="Times New Roman" panose="02020603050405020304" pitchFamily="18" charset="0"/>
              </a:rPr>
              <a:t>0≤r</a:t>
            </a:r>
            <a:r>
              <a:rPr lang="en-US" altLang="zh-CN" sz="3600" dirty="0">
                <a:latin typeface="Times New Roman" panose="02020603050405020304" pitchFamily="18" charset="0"/>
                <a:sym typeface="Symbol" panose="05050102010706020507" pitchFamily="2" charset="2"/>
              </a:rPr>
              <a:t></a:t>
            </a:r>
            <a:r>
              <a:rPr lang="en-US" altLang="zh-CN" sz="3600" dirty="0">
                <a:latin typeface="Times New Roman" panose="02020603050405020304" pitchFamily="18" charset="0"/>
              </a:rPr>
              <a:t>-b</a:t>
            </a:r>
            <a:r>
              <a:rPr lang="en-US" altLang="zh-CN" sz="3600" dirty="0">
                <a:latin typeface="宋体" panose="02010600030101010101" pitchFamily="2" charset="-122"/>
              </a:rPr>
              <a:t>。</a:t>
            </a:r>
            <a:r>
              <a:rPr lang="en-US" altLang="zh-CN" sz="3600" dirty="0">
                <a:latin typeface="Times New Roman" panose="02020603050405020304" pitchFamily="18" charset="0"/>
              </a:rPr>
              <a:t> </a:t>
            </a:r>
            <a:br>
              <a:rPr lang="en-US" altLang="zh-CN" sz="3600" dirty="0">
                <a:latin typeface="Times New Roman" panose="02020603050405020304" pitchFamily="18" charset="0"/>
              </a:rPr>
            </a:br>
            <a:endParaRPr lang="zh-CN" altLang="en-US" sz="3600" dirty="0">
              <a:latin typeface="Times New Roman" panose="02020603050405020304" pitchFamily="18" charset="0"/>
            </a:endParaRPr>
          </a:p>
          <a:p>
            <a:pPr marL="444500" indent="-444500" eaLnBrk="1" hangingPunct="1"/>
            <a:r>
              <a:rPr lang="zh-CN" altLang="en-US" sz="3600" dirty="0">
                <a:latin typeface="Times New Roman" panose="02020603050405020304" pitchFamily="18" charset="0"/>
              </a:rPr>
              <a:t>综合</a:t>
            </a:r>
            <a:r>
              <a:rPr lang="zh-CN" altLang="en-US" sz="3600" dirty="0">
                <a:latin typeface="宋体" panose="02010600030101010101" pitchFamily="2" charset="-122"/>
              </a:rPr>
              <a:t>(</a:t>
            </a:r>
            <a:r>
              <a:rPr lang="zh-CN" altLang="en-US" sz="3600" dirty="0">
                <a:latin typeface="Times New Roman" panose="02020603050405020304" pitchFamily="18" charset="0"/>
              </a:rPr>
              <a:t>1</a:t>
            </a:r>
            <a:r>
              <a:rPr lang="zh-CN" altLang="en-US" sz="3600" dirty="0">
                <a:latin typeface="宋体" panose="02010600030101010101" pitchFamily="2" charset="-122"/>
              </a:rPr>
              <a:t>)</a:t>
            </a:r>
            <a:r>
              <a:rPr lang="zh-CN" altLang="en-US" sz="3600" dirty="0">
                <a:latin typeface="Times New Roman" panose="02020603050405020304" pitchFamily="18" charset="0"/>
              </a:rPr>
              <a:t>，</a:t>
            </a:r>
            <a:r>
              <a:rPr lang="zh-CN" altLang="en-US" sz="3600" dirty="0">
                <a:latin typeface="宋体" panose="02010600030101010101" pitchFamily="2" charset="-122"/>
              </a:rPr>
              <a:t>(</a:t>
            </a:r>
            <a:r>
              <a:rPr lang="zh-CN" altLang="en-US" sz="3600" dirty="0">
                <a:latin typeface="Times New Roman" panose="02020603050405020304" pitchFamily="18" charset="0"/>
              </a:rPr>
              <a:t>2</a:t>
            </a:r>
            <a:r>
              <a:rPr lang="zh-CN" altLang="en-US" sz="3600" dirty="0">
                <a:latin typeface="宋体" panose="02010600030101010101" pitchFamily="2" charset="-122"/>
              </a:rPr>
              <a:t>)</a:t>
            </a:r>
            <a:r>
              <a:rPr lang="zh-CN" altLang="en-US" sz="3600" dirty="0">
                <a:latin typeface="Times New Roman" panose="02020603050405020304" pitchFamily="18" charset="0"/>
              </a:rPr>
              <a:t>对任意</a:t>
            </a:r>
            <a:r>
              <a:rPr lang="en-US" altLang="zh-CN" sz="3600" dirty="0">
                <a:latin typeface="Times New Roman" panose="02020603050405020304" pitchFamily="18" charset="0"/>
              </a:rPr>
              <a:t>b (b</a:t>
            </a:r>
            <a:r>
              <a:rPr lang="en-US" altLang="zh-CN" sz="3600" dirty="0">
                <a:latin typeface="Times New Roman" panose="02020603050405020304" pitchFamily="18" charset="0"/>
                <a:sym typeface="Symbol" panose="05050102010706020507" pitchFamily="2" charset="2"/>
              </a:rPr>
              <a:t></a:t>
            </a:r>
            <a:r>
              <a:rPr lang="en-US" altLang="zh-CN" sz="3600" dirty="0">
                <a:latin typeface="Times New Roman" panose="02020603050405020304" pitchFamily="18" charset="0"/>
              </a:rPr>
              <a:t>0)，</a:t>
            </a:r>
            <a:r>
              <a:rPr lang="zh-CN" altLang="en-US" sz="3600" dirty="0">
                <a:latin typeface="Times New Roman" panose="02020603050405020304" pitchFamily="18" charset="0"/>
              </a:rPr>
              <a:t>都有</a:t>
            </a:r>
            <a:r>
              <a:rPr lang="en-US" altLang="zh-CN" sz="3600" dirty="0" err="1">
                <a:latin typeface="Times New Roman" panose="02020603050405020304" pitchFamily="18" charset="0"/>
              </a:rPr>
              <a:t>q，r</a:t>
            </a:r>
            <a:r>
              <a:rPr lang="en-US" altLang="zh-CN" sz="3600" dirty="0">
                <a:latin typeface="Times New Roman" panose="02020603050405020304" pitchFamily="18" charset="0"/>
              </a:rPr>
              <a:t>，</a:t>
            </a:r>
            <a:r>
              <a:rPr lang="zh-CN" altLang="en-US" sz="3600" dirty="0">
                <a:latin typeface="Times New Roman" panose="02020603050405020304" pitchFamily="18" charset="0"/>
              </a:rPr>
              <a:t>使得</a:t>
            </a:r>
            <a:br>
              <a:rPr lang="zh-CN" altLang="en-US" sz="3600" dirty="0">
                <a:latin typeface="Times New Roman" panose="02020603050405020304" pitchFamily="18" charset="0"/>
              </a:rPr>
            </a:br>
            <a:r>
              <a:rPr lang="en-US" altLang="zh-CN" sz="3600" dirty="0">
                <a:latin typeface="Times New Roman" panose="02020603050405020304" pitchFamily="18" charset="0"/>
              </a:rPr>
              <a:t>a=</a:t>
            </a:r>
            <a:r>
              <a:rPr lang="en-US" altLang="zh-CN" sz="3600" dirty="0" err="1">
                <a:latin typeface="Times New Roman" panose="02020603050405020304" pitchFamily="18" charset="0"/>
              </a:rPr>
              <a:t>qb+r</a:t>
            </a:r>
            <a:r>
              <a:rPr lang="en-US" altLang="zh-CN" sz="3600" dirty="0">
                <a:latin typeface="Times New Roman" panose="02020603050405020304" pitchFamily="18" charset="0"/>
              </a:rPr>
              <a:t>   0≤r</a:t>
            </a:r>
            <a:r>
              <a:rPr lang="en-US" altLang="zh-CN" sz="3600" dirty="0">
                <a:latin typeface="Times New Roman" panose="02020603050405020304" pitchFamily="18" charset="0"/>
                <a:sym typeface="Symbol" panose="05050102010706020507" pitchFamily="2" charset="2"/>
              </a:rPr>
              <a:t></a:t>
            </a:r>
            <a:r>
              <a:rPr lang="en-US" altLang="zh-CN" sz="3600" dirty="0">
                <a:latin typeface="Times New Roman" panose="02020603050405020304" pitchFamily="18" charset="0"/>
              </a:rPr>
              <a:t> |b|   </a:t>
            </a:r>
            <a:r>
              <a:rPr lang="en-US" altLang="zh-CN" sz="3600" dirty="0">
                <a:sym typeface="Symbol" panose="05050102010706020507" pitchFamily="2" charset="2"/>
              </a:rPr>
              <a:t>……</a:t>
            </a:r>
            <a:r>
              <a:rPr lang="en-US" altLang="zh-CN" sz="3600" dirty="0">
                <a:cs typeface="Times New Roman" panose="02020603050405020304" pitchFamily="18" charset="0"/>
                <a:sym typeface="Symbol" panose="05050102010706020507" pitchFamily="2" charset="2"/>
              </a:rPr>
              <a:t>……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(</a:t>
            </a:r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2" charset="2"/>
              </a:rPr>
              <a:t></a:t>
            </a:r>
            <a:r>
              <a:rPr lang="en-US" altLang="zh-CN" sz="3600" dirty="0">
                <a:latin typeface="Times New Roman" panose="02020603050405020304" pitchFamily="18" charset="0"/>
              </a:rPr>
              <a:t>)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autoUpdateAnimBg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8C528EF-2F66-844B-BF8E-3CAD81AC09EA}" type="slidenum">
              <a:rPr kumimoji="0" lang="zh-CN" altLang="en-US" sz="1400" b="0"/>
            </a:fld>
            <a:endParaRPr kumimoji="0" lang="en-US" altLang="zh-CN" sz="1400" b="0"/>
          </a:p>
        </p:txBody>
      </p:sp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381000"/>
            <a:ext cx="7772400" cy="7620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定理5.1.1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371600"/>
            <a:ext cx="8305800" cy="5105400"/>
          </a:xfrm>
        </p:spPr>
        <p:txBody>
          <a:bodyPr/>
          <a:lstStyle/>
          <a:p>
            <a:pPr marL="352425" indent="-352425" eaLnBrk="1" hangingPunct="1">
              <a:buFont typeface="Wingdings" panose="05000000000000000000" pitchFamily="2" charset="2"/>
              <a:buNone/>
            </a:pPr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</a:rPr>
              <a:t>(3)</a:t>
            </a:r>
            <a:r>
              <a:rPr lang="en-US" altLang="zh-CN" sz="3600" u="sng" dirty="0">
                <a:latin typeface="Times New Roman" panose="02020603050405020304" pitchFamily="18" charset="0"/>
              </a:rPr>
              <a:t>q</a:t>
            </a:r>
            <a:r>
              <a:rPr lang="zh-CN" altLang="en-US" sz="3600" u="sng" dirty="0">
                <a:latin typeface="Times New Roman" panose="02020603050405020304" pitchFamily="18" charset="0"/>
              </a:rPr>
              <a:t>和</a:t>
            </a:r>
            <a:r>
              <a:rPr lang="en-US" altLang="zh-CN" sz="3600" u="sng" dirty="0">
                <a:latin typeface="Times New Roman" panose="02020603050405020304" pitchFamily="18" charset="0"/>
              </a:rPr>
              <a:t>r</a:t>
            </a:r>
            <a:r>
              <a:rPr lang="zh-CN" altLang="en-US" sz="3600" u="sng" dirty="0">
                <a:latin typeface="Times New Roman" panose="02020603050405020304" pitchFamily="18" charset="0"/>
              </a:rPr>
              <a:t>的唯一性。</a:t>
            </a:r>
            <a:endParaRPr lang="zh-CN" altLang="en-US" sz="3600" u="sng" dirty="0">
              <a:latin typeface="Times New Roman" panose="02020603050405020304" pitchFamily="18" charset="0"/>
            </a:endParaRPr>
          </a:p>
          <a:p>
            <a:pPr marL="352425" indent="-352425" algn="just" eaLnBrk="1" hangingPunct="1"/>
            <a:r>
              <a:rPr lang="zh-CN" altLang="en-US" sz="3600" dirty="0">
                <a:latin typeface="Times New Roman" panose="02020603050405020304" pitchFamily="18" charset="0"/>
              </a:rPr>
              <a:t>设另有一对</a:t>
            </a:r>
            <a:r>
              <a:rPr lang="en-US" altLang="zh-CN" sz="3600" dirty="0">
                <a:latin typeface="Times New Roman" panose="02020603050405020304" pitchFamily="18" charset="0"/>
              </a:rPr>
              <a:t>q</a:t>
            </a:r>
            <a:r>
              <a:rPr lang="en-US" altLang="zh-CN" sz="3600" dirty="0"/>
              <a:t>’</a:t>
            </a:r>
            <a:r>
              <a:rPr lang="zh-CN" altLang="en-US" sz="3600" dirty="0">
                <a:latin typeface="Times New Roman" panose="02020603050405020304" pitchFamily="18" charset="0"/>
              </a:rPr>
              <a:t>和</a:t>
            </a:r>
            <a:r>
              <a:rPr lang="en-US" altLang="zh-CN" sz="3600" dirty="0">
                <a:latin typeface="Times New Roman" panose="02020603050405020304" pitchFamily="18" charset="0"/>
              </a:rPr>
              <a:t>r</a:t>
            </a:r>
            <a:r>
              <a:rPr lang="en-US" altLang="zh-CN" sz="3600" dirty="0"/>
              <a:t>’</a:t>
            </a:r>
            <a:r>
              <a:rPr lang="zh-CN" altLang="en-US" sz="3600" dirty="0">
                <a:latin typeface="Times New Roman" panose="02020603050405020304" pitchFamily="18" charset="0"/>
              </a:rPr>
              <a:t>满足</a:t>
            </a:r>
            <a:endParaRPr lang="zh-CN" altLang="en-US" sz="3600" dirty="0">
              <a:latin typeface="Times New Roman" panose="02020603050405020304" pitchFamily="18" charset="0"/>
            </a:endParaRPr>
          </a:p>
          <a:p>
            <a:pPr marL="352425" indent="-352425" algn="just" eaLnBrk="1" hangingPunct="1">
              <a:buNone/>
            </a:pPr>
            <a:r>
              <a:rPr lang="zh-CN" altLang="en-US" sz="3600" dirty="0">
                <a:latin typeface="Times New Roman" panose="02020603050405020304" pitchFamily="18" charset="0"/>
              </a:rPr>
              <a:t>    </a:t>
            </a:r>
            <a:r>
              <a:rPr lang="en-US" altLang="zh-CN" sz="3600" dirty="0">
                <a:latin typeface="Times New Roman" panose="02020603050405020304" pitchFamily="18" charset="0"/>
              </a:rPr>
              <a:t>a=</a:t>
            </a:r>
            <a:r>
              <a:rPr lang="en-US" altLang="zh-CN" sz="3600" dirty="0" err="1">
                <a:latin typeface="Times New Roman" panose="02020603050405020304" pitchFamily="18" charset="0"/>
              </a:rPr>
              <a:t>q</a:t>
            </a:r>
            <a:r>
              <a:rPr lang="en-US" altLang="zh-CN" sz="3600" dirty="0" err="1"/>
              <a:t>’</a:t>
            </a:r>
            <a:r>
              <a:rPr lang="en-US" altLang="zh-CN" sz="3600" dirty="0" err="1">
                <a:latin typeface="Times New Roman" panose="02020603050405020304" pitchFamily="18" charset="0"/>
              </a:rPr>
              <a:t>b+r</a:t>
            </a:r>
            <a:r>
              <a:rPr lang="en-US" altLang="zh-CN" sz="3600" dirty="0"/>
              <a:t>’</a:t>
            </a:r>
            <a:r>
              <a:rPr lang="en-US" altLang="zh-CN" sz="3600" dirty="0">
                <a:latin typeface="Times New Roman" panose="02020603050405020304" pitchFamily="18" charset="0"/>
              </a:rPr>
              <a:t>  0</a:t>
            </a:r>
            <a:r>
              <a:rPr lang="en-US" altLang="zh-CN" sz="3600" dirty="0">
                <a:latin typeface="Times New Roman" panose="02020603050405020304" pitchFamily="18" charset="0"/>
                <a:sym typeface="Symbol" panose="05050102010706020507" pitchFamily="2" charset="2"/>
              </a:rPr>
              <a:t></a:t>
            </a:r>
            <a:r>
              <a:rPr lang="en-US" altLang="zh-CN" sz="3600" dirty="0">
                <a:latin typeface="Times New Roman" panose="02020603050405020304" pitchFamily="18" charset="0"/>
              </a:rPr>
              <a:t> r</a:t>
            </a:r>
            <a:r>
              <a:rPr lang="en-US" altLang="zh-CN" sz="3600" dirty="0"/>
              <a:t>’</a:t>
            </a:r>
            <a:r>
              <a:rPr lang="en-US" altLang="zh-CN" sz="3600" dirty="0">
                <a:latin typeface="Times New Roman" panose="02020603050405020304" pitchFamily="18" charset="0"/>
                <a:sym typeface="Symbol" panose="05050102010706020507" pitchFamily="2" charset="2"/>
              </a:rPr>
              <a:t></a:t>
            </a:r>
            <a:r>
              <a:rPr lang="en-US" altLang="zh-CN" sz="3600" dirty="0">
                <a:latin typeface="Times New Roman" panose="02020603050405020304" pitchFamily="18" charset="0"/>
              </a:rPr>
              <a:t> |b| </a:t>
            </a:r>
            <a:r>
              <a:rPr lang="en-US" altLang="zh-CN" sz="3600" dirty="0">
                <a:sym typeface="Symbol" panose="05050102010706020507" pitchFamily="2" charset="2"/>
              </a:rPr>
              <a:t>……</a:t>
            </a:r>
            <a:r>
              <a:rPr lang="en-US" altLang="zh-CN" sz="3600" dirty="0">
                <a:cs typeface="Times New Roman" panose="02020603050405020304" pitchFamily="18" charset="0"/>
                <a:sym typeface="Symbol" panose="05050102010706020507" pitchFamily="2" charset="2"/>
              </a:rPr>
              <a:t>……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(</a:t>
            </a:r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2" charset="2"/>
              </a:rPr>
              <a:t></a:t>
            </a:r>
            <a:r>
              <a:rPr lang="en-US" altLang="zh-CN" sz="3600" dirty="0">
                <a:latin typeface="Times New Roman" panose="02020603050405020304" pitchFamily="18" charset="0"/>
              </a:rPr>
              <a:t>)</a:t>
            </a:r>
            <a:endParaRPr lang="en-US" altLang="zh-CN" sz="3600" dirty="0">
              <a:latin typeface="Times New Roman" panose="02020603050405020304" pitchFamily="18" charset="0"/>
            </a:endParaRPr>
          </a:p>
          <a:p>
            <a:pPr marL="352425" indent="-352425" eaLnBrk="1" hangingPunct="1"/>
            <a:r>
              <a:rPr lang="zh-CN" altLang="en-US" sz="3600" dirty="0">
                <a:latin typeface="宋体" panose="02010600030101010101" pitchFamily="2" charset="-122"/>
              </a:rPr>
              <a:t>则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(</a:t>
            </a:r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2" charset="2"/>
              </a:rPr>
              <a:t></a:t>
            </a:r>
            <a:r>
              <a:rPr lang="en-US" altLang="zh-CN" sz="3600" dirty="0">
                <a:latin typeface="Times New Roman" panose="02020603050405020304" pitchFamily="18" charset="0"/>
              </a:rPr>
              <a:t>) -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(</a:t>
            </a:r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2" charset="2"/>
              </a:rPr>
              <a:t></a:t>
            </a:r>
            <a:r>
              <a:rPr lang="en-US" altLang="zh-CN" sz="3600" dirty="0">
                <a:latin typeface="Times New Roman" panose="02020603050405020304" pitchFamily="18" charset="0"/>
              </a:rPr>
              <a:t>)</a:t>
            </a:r>
            <a:r>
              <a:rPr lang="zh-CN" altLang="en-US" sz="3600" dirty="0">
                <a:latin typeface="宋体" panose="02010600030101010101" pitchFamily="2" charset="-122"/>
              </a:rPr>
              <a:t>得</a:t>
            </a:r>
            <a:r>
              <a:rPr lang="zh-CN" altLang="en-US" sz="3600" dirty="0">
                <a:latin typeface="Times New Roman" panose="02020603050405020304" pitchFamily="18" charset="0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</a:rPr>
              <a:t>r</a:t>
            </a:r>
            <a:r>
              <a:rPr lang="en-US" altLang="zh-CN" sz="3600" dirty="0"/>
              <a:t>’</a:t>
            </a:r>
            <a:r>
              <a:rPr lang="en-US" altLang="zh-CN" sz="3600" dirty="0">
                <a:latin typeface="Times New Roman" panose="02020603050405020304" pitchFamily="18" charset="0"/>
              </a:rPr>
              <a:t>-r=(q-q</a:t>
            </a:r>
            <a:r>
              <a:rPr lang="en-US" altLang="zh-CN" sz="3600" dirty="0"/>
              <a:t>’</a:t>
            </a:r>
            <a:r>
              <a:rPr lang="en-US" altLang="zh-CN" sz="3600" dirty="0">
                <a:latin typeface="Times New Roman" panose="02020603050405020304" pitchFamily="18" charset="0"/>
              </a:rPr>
              <a:t>)b</a:t>
            </a:r>
            <a:r>
              <a:rPr lang="en-US" altLang="zh-CN" sz="3600" dirty="0">
                <a:latin typeface="宋体" panose="02010600030101010101" pitchFamily="2" charset="-122"/>
              </a:rPr>
              <a:t>，</a:t>
            </a:r>
            <a:r>
              <a:rPr lang="zh-CN" altLang="en-US" sz="3600" dirty="0">
                <a:latin typeface="宋体" panose="02010600030101010101" pitchFamily="2" charset="-122"/>
              </a:rPr>
              <a:t>从而有</a:t>
            </a:r>
            <a:r>
              <a:rPr lang="zh-CN" altLang="en-US" sz="3600" dirty="0">
                <a:latin typeface="Times New Roman" panose="02020603050405020304" pitchFamily="18" charset="0"/>
              </a:rPr>
              <a:t> </a:t>
            </a:r>
            <a:br>
              <a:rPr lang="zh-CN" altLang="en-US" sz="3600" dirty="0">
                <a:latin typeface="Times New Roman" panose="02020603050405020304" pitchFamily="18" charset="0"/>
              </a:rPr>
            </a:br>
            <a:r>
              <a:rPr lang="zh-CN" altLang="en-US" sz="3600" dirty="0">
                <a:latin typeface="Times New Roman" panose="02020603050405020304" pitchFamily="18" charset="0"/>
              </a:rPr>
              <a:t>|</a:t>
            </a:r>
            <a:r>
              <a:rPr lang="en-US" altLang="zh-CN" sz="3600" dirty="0">
                <a:latin typeface="Times New Roman" panose="02020603050405020304" pitchFamily="18" charset="0"/>
              </a:rPr>
              <a:t>r</a:t>
            </a:r>
            <a:r>
              <a:rPr lang="en-US" altLang="zh-CN" sz="3600" dirty="0"/>
              <a:t>’</a:t>
            </a:r>
            <a:r>
              <a:rPr lang="en-US" altLang="zh-CN" sz="3600" dirty="0">
                <a:latin typeface="Times New Roman" panose="02020603050405020304" pitchFamily="18" charset="0"/>
              </a:rPr>
              <a:t>-r|=|q-q</a:t>
            </a:r>
            <a:r>
              <a:rPr lang="en-US" altLang="zh-CN" sz="3600" dirty="0"/>
              <a:t>’</a:t>
            </a:r>
            <a:r>
              <a:rPr lang="en-US" altLang="zh-CN" sz="3600" dirty="0">
                <a:latin typeface="Times New Roman" panose="02020603050405020304" pitchFamily="18" charset="0"/>
              </a:rPr>
              <a:t>||b|</a:t>
            </a:r>
            <a:r>
              <a:rPr lang="en-US" altLang="zh-CN" sz="3600" dirty="0">
                <a:latin typeface="宋体" panose="02010600030101010101" pitchFamily="2" charset="-122"/>
              </a:rPr>
              <a:t>。</a:t>
            </a:r>
            <a:r>
              <a:rPr lang="zh-CN" altLang="en-US" sz="3600" dirty="0">
                <a:latin typeface="宋体" panose="02010600030101010101" pitchFamily="2" charset="-122"/>
              </a:rPr>
              <a:t>注意到</a:t>
            </a:r>
            <a:r>
              <a:rPr lang="zh-CN" altLang="en-US" sz="3600" dirty="0">
                <a:latin typeface="Times New Roman" panose="02020603050405020304" pitchFamily="18" charset="0"/>
              </a:rPr>
              <a:t> |</a:t>
            </a:r>
            <a:r>
              <a:rPr lang="en-US" altLang="zh-CN" sz="3600" dirty="0">
                <a:latin typeface="Times New Roman" panose="02020603050405020304" pitchFamily="18" charset="0"/>
              </a:rPr>
              <a:t>r</a:t>
            </a:r>
            <a:r>
              <a:rPr lang="en-US" altLang="zh-CN" sz="3600" dirty="0"/>
              <a:t>’</a:t>
            </a:r>
            <a:r>
              <a:rPr lang="en-US" altLang="zh-CN" sz="3600" dirty="0">
                <a:latin typeface="Times New Roman" panose="02020603050405020304" pitchFamily="18" charset="0"/>
              </a:rPr>
              <a:t>-r|</a:t>
            </a:r>
            <a:r>
              <a:rPr lang="en-US" altLang="zh-CN" sz="3600" dirty="0">
                <a:latin typeface="Times New Roman" panose="02020603050405020304" pitchFamily="18" charset="0"/>
                <a:sym typeface="Symbol" panose="05050102010706020507" pitchFamily="2" charset="2"/>
              </a:rPr>
              <a:t></a:t>
            </a:r>
            <a:r>
              <a:rPr lang="en-US" altLang="zh-CN" sz="3600" dirty="0">
                <a:latin typeface="Times New Roman" panose="02020603050405020304" pitchFamily="18" charset="0"/>
              </a:rPr>
              <a:t>|b| </a:t>
            </a:r>
            <a:r>
              <a:rPr lang="en-US" altLang="zh-CN" sz="3600" dirty="0">
                <a:latin typeface="宋体" panose="02010600030101010101" pitchFamily="2" charset="-122"/>
              </a:rPr>
              <a:t>，</a:t>
            </a:r>
            <a:r>
              <a:rPr lang="zh-CN" altLang="en-US" sz="3600" dirty="0">
                <a:latin typeface="宋体" panose="02010600030101010101" pitchFamily="2" charset="-122"/>
              </a:rPr>
              <a:t>而</a:t>
            </a:r>
            <a:br>
              <a:rPr lang="zh-CN" altLang="en-US" sz="3600" dirty="0">
                <a:latin typeface="宋体" panose="02010600030101010101" pitchFamily="2" charset="-122"/>
              </a:rPr>
            </a:br>
            <a:r>
              <a:rPr lang="zh-CN" altLang="en-US" sz="3600" dirty="0">
                <a:latin typeface="Times New Roman" panose="02020603050405020304" pitchFamily="18" charset="0"/>
              </a:rPr>
              <a:t>|</a:t>
            </a:r>
            <a:r>
              <a:rPr lang="en-US" altLang="zh-CN" sz="3600" dirty="0">
                <a:latin typeface="Times New Roman" panose="02020603050405020304" pitchFamily="18" charset="0"/>
              </a:rPr>
              <a:t>q-q</a:t>
            </a:r>
            <a:r>
              <a:rPr lang="en-US" altLang="zh-CN" sz="3600" dirty="0"/>
              <a:t>’</a:t>
            </a:r>
            <a:r>
              <a:rPr lang="en-US" altLang="zh-CN" sz="3600" dirty="0">
                <a:latin typeface="Times New Roman" panose="02020603050405020304" pitchFamily="18" charset="0"/>
              </a:rPr>
              <a:t>|</a:t>
            </a:r>
            <a:r>
              <a:rPr lang="en-US" altLang="zh-CN" sz="3600" dirty="0">
                <a:latin typeface="Times New Roman" panose="02020603050405020304" pitchFamily="18" charset="0"/>
                <a:sym typeface="Symbol" panose="05050102010706020507" pitchFamily="2" charset="2"/>
              </a:rPr>
              <a:t></a:t>
            </a:r>
            <a:r>
              <a:rPr lang="en-US" altLang="zh-CN" sz="3600" dirty="0">
                <a:latin typeface="Times New Roman" panose="02020603050405020304" pitchFamily="18" charset="0"/>
              </a:rPr>
              <a:t>0</a:t>
            </a:r>
            <a:r>
              <a:rPr lang="zh-CN" altLang="en-US" sz="3600" dirty="0">
                <a:latin typeface="宋体" panose="02010600030101010101" pitchFamily="2" charset="-122"/>
              </a:rPr>
              <a:t>为整数，所以必有</a:t>
            </a:r>
            <a:r>
              <a:rPr lang="zh-CN" altLang="en-US" sz="3600" dirty="0">
                <a:latin typeface="Times New Roman" panose="02020603050405020304" pitchFamily="18" charset="0"/>
              </a:rPr>
              <a:t>|</a:t>
            </a:r>
            <a:r>
              <a:rPr lang="en-US" altLang="zh-CN" sz="3600" dirty="0">
                <a:latin typeface="Times New Roman" panose="02020603050405020304" pitchFamily="18" charset="0"/>
              </a:rPr>
              <a:t>q-q</a:t>
            </a:r>
            <a:r>
              <a:rPr lang="en-US" altLang="zh-CN" sz="3600" dirty="0"/>
              <a:t>’</a:t>
            </a:r>
            <a:r>
              <a:rPr lang="en-US" altLang="zh-CN" sz="3600" dirty="0">
                <a:latin typeface="Times New Roman" panose="02020603050405020304" pitchFamily="18" charset="0"/>
              </a:rPr>
              <a:t>|=0</a:t>
            </a:r>
            <a:r>
              <a:rPr lang="en-US" altLang="zh-CN" sz="3600" dirty="0">
                <a:latin typeface="宋体" panose="02010600030101010101" pitchFamily="2" charset="-122"/>
              </a:rPr>
              <a:t>，</a:t>
            </a:r>
            <a:r>
              <a:rPr lang="zh-CN" altLang="en-US" sz="3600" dirty="0">
                <a:latin typeface="宋体" panose="02010600030101010101" pitchFamily="2" charset="-122"/>
              </a:rPr>
              <a:t>从而</a:t>
            </a:r>
            <a:r>
              <a:rPr lang="zh-CN" altLang="en-US" sz="3600" dirty="0">
                <a:latin typeface="Times New Roman" panose="02020603050405020304" pitchFamily="18" charset="0"/>
              </a:rPr>
              <a:t> |</a:t>
            </a:r>
            <a:r>
              <a:rPr lang="en-US" altLang="zh-CN" sz="3600" dirty="0">
                <a:latin typeface="Times New Roman" panose="02020603050405020304" pitchFamily="18" charset="0"/>
              </a:rPr>
              <a:t>r</a:t>
            </a:r>
            <a:r>
              <a:rPr lang="en-US" altLang="zh-CN" sz="3600" dirty="0"/>
              <a:t>’</a:t>
            </a:r>
            <a:r>
              <a:rPr lang="en-US" altLang="zh-CN" sz="3600" dirty="0">
                <a:latin typeface="Times New Roman" panose="02020603050405020304" pitchFamily="18" charset="0"/>
              </a:rPr>
              <a:t>-r|=0</a:t>
            </a:r>
            <a:r>
              <a:rPr lang="en-US" altLang="zh-CN" sz="3600" dirty="0">
                <a:latin typeface="宋体" panose="02010600030101010101" pitchFamily="2" charset="-122"/>
              </a:rPr>
              <a:t>。</a:t>
            </a:r>
            <a:r>
              <a:rPr lang="zh-CN" altLang="en-US" sz="3600" dirty="0">
                <a:latin typeface="宋体" panose="02010600030101010101" pitchFamily="2" charset="-122"/>
              </a:rPr>
              <a:t>即</a:t>
            </a:r>
            <a:r>
              <a:rPr lang="zh-CN" altLang="en-US" sz="3600" dirty="0">
                <a:latin typeface="Times New Roman" panose="02020603050405020304" pitchFamily="18" charset="0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</a:rPr>
              <a:t>q=</a:t>
            </a:r>
            <a:r>
              <a:rPr lang="en-US" altLang="zh-CN" sz="3600" dirty="0" err="1">
                <a:latin typeface="Times New Roman" panose="02020603050405020304" pitchFamily="18" charset="0"/>
              </a:rPr>
              <a:t>q</a:t>
            </a:r>
            <a:r>
              <a:rPr lang="en-US" altLang="zh-CN" sz="3600" dirty="0" err="1"/>
              <a:t>’</a:t>
            </a:r>
            <a:r>
              <a:rPr lang="en-US" altLang="zh-CN" sz="3600" dirty="0" err="1">
                <a:latin typeface="宋体" panose="02010600030101010101" pitchFamily="2" charset="-122"/>
              </a:rPr>
              <a:t>，</a:t>
            </a:r>
            <a:r>
              <a:rPr lang="en-US" altLang="zh-CN" sz="3600" dirty="0" err="1">
                <a:latin typeface="Times New Roman" panose="02020603050405020304" pitchFamily="18" charset="0"/>
              </a:rPr>
              <a:t>r</a:t>
            </a:r>
            <a:r>
              <a:rPr lang="en-US" altLang="zh-CN" sz="3600" dirty="0">
                <a:latin typeface="Times New Roman" panose="02020603050405020304" pitchFamily="18" charset="0"/>
              </a:rPr>
              <a:t>=r</a:t>
            </a:r>
            <a:r>
              <a:rPr lang="en-US" altLang="zh-CN" sz="3600" dirty="0"/>
              <a:t>’</a:t>
            </a:r>
            <a:r>
              <a:rPr lang="en-US" altLang="zh-CN" sz="3600" dirty="0">
                <a:latin typeface="宋体" panose="02010600030101010101" pitchFamily="2" charset="-122"/>
              </a:rPr>
              <a:t>。</a:t>
            </a:r>
            <a:br>
              <a:rPr lang="en-US" altLang="zh-CN" sz="3600" dirty="0">
                <a:latin typeface="宋体" panose="02010600030101010101" pitchFamily="2" charset="-122"/>
              </a:rPr>
            </a:br>
            <a:r>
              <a:rPr lang="zh-CN" altLang="en-US" sz="3600" dirty="0">
                <a:latin typeface="宋体" panose="02010600030101010101" pitchFamily="2" charset="-122"/>
              </a:rPr>
              <a:t>所以，唯一性成立。</a:t>
            </a:r>
            <a:r>
              <a:rPr lang="zh-CN" altLang="en-US" sz="3600" dirty="0">
                <a:latin typeface="Times New Roman" panose="02020603050405020304" pitchFamily="18" charset="0"/>
              </a:rPr>
              <a:t> 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autoUpdateAnimBg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7630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600" dirty="0">
                <a:latin typeface="Times New Roman" panose="02020603050405020304" pitchFamily="18" charset="0"/>
              </a:rPr>
              <a:t>由整除的定义，易得如下推论：</a:t>
            </a:r>
            <a:endParaRPr lang="zh-CN" altLang="en-US" sz="36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600" dirty="0" err="1">
                <a:latin typeface="Times New Roman" panose="02020603050405020304" pitchFamily="18" charset="0"/>
              </a:rPr>
              <a:t>b|a</a:t>
            </a:r>
            <a:r>
              <a:rPr lang="en-US" altLang="zh-CN" sz="3600" dirty="0">
                <a:latin typeface="宋体" panose="02010600030101010101" pitchFamily="2" charset="-122"/>
              </a:rPr>
              <a:t>，</a:t>
            </a:r>
            <a:r>
              <a:rPr lang="en-US" altLang="zh-CN" sz="3600" dirty="0">
                <a:latin typeface="Times New Roman" panose="02020603050405020304" pitchFamily="18" charset="0"/>
              </a:rPr>
              <a:t>(b</a:t>
            </a:r>
            <a:r>
              <a:rPr lang="en-US" altLang="zh-CN" sz="3600" dirty="0">
                <a:latin typeface="Times New Roman" panose="02020603050405020304" pitchFamily="18" charset="0"/>
                <a:sym typeface="Symbol" panose="05050102010706020507" pitchFamily="2" charset="2"/>
              </a:rPr>
              <a:t></a:t>
            </a:r>
            <a:r>
              <a:rPr lang="en-US" altLang="zh-CN" sz="3600" dirty="0">
                <a:latin typeface="Times New Roman" panose="02020603050405020304" pitchFamily="18" charset="0"/>
              </a:rPr>
              <a:t>0) </a:t>
            </a:r>
            <a:r>
              <a:rPr lang="zh-CN" altLang="en-US" sz="3600" dirty="0">
                <a:latin typeface="宋体" panose="02010600030101010101" pitchFamily="2" charset="-122"/>
              </a:rPr>
              <a:t>当且仅当</a:t>
            </a:r>
            <a:r>
              <a:rPr lang="en-US" altLang="zh-CN" sz="3600" dirty="0">
                <a:latin typeface="Times New Roman" panose="02020603050405020304" pitchFamily="18" charset="0"/>
              </a:rPr>
              <a:t>a</a:t>
            </a:r>
            <a:r>
              <a:rPr lang="zh-CN" altLang="en-US" sz="3600" dirty="0">
                <a:latin typeface="宋体" panose="02010600030101010101" pitchFamily="2" charset="-122"/>
              </a:rPr>
              <a:t>被</a:t>
            </a:r>
            <a:r>
              <a:rPr lang="en-US" altLang="zh-CN" sz="3600" dirty="0">
                <a:latin typeface="Times New Roman" panose="02020603050405020304" pitchFamily="18" charset="0"/>
              </a:rPr>
              <a:t>b</a:t>
            </a:r>
            <a:r>
              <a:rPr lang="zh-CN" altLang="en-US" sz="3600" dirty="0">
                <a:latin typeface="宋体" panose="02010600030101010101" pitchFamily="2" charset="-122"/>
              </a:rPr>
              <a:t>除（</a:t>
            </a:r>
            <a:r>
              <a:rPr lang="zh-CN" altLang="en-US" sz="3600" dirty="0">
                <a:latin typeface="Times New Roman" panose="02020603050405020304" pitchFamily="18" charset="0"/>
              </a:rPr>
              <a:t>或者</a:t>
            </a:r>
            <a:r>
              <a:rPr lang="en-US" altLang="zh-CN" sz="3600" dirty="0">
                <a:latin typeface="Times New Roman" panose="02020603050405020304" pitchFamily="18" charset="0"/>
              </a:rPr>
              <a:t>a</a:t>
            </a:r>
            <a:r>
              <a:rPr lang="zh-CN" altLang="en-US" sz="3600" dirty="0">
                <a:latin typeface="Times New Roman" panose="02020603050405020304" pitchFamily="18" charset="0"/>
              </a:rPr>
              <a:t>除以</a:t>
            </a:r>
            <a:r>
              <a:rPr lang="en-US" altLang="zh-CN" sz="3600" dirty="0">
                <a:latin typeface="Times New Roman" panose="02020603050405020304" pitchFamily="18" charset="0"/>
              </a:rPr>
              <a:t>b,</a:t>
            </a:r>
            <a:endParaRPr lang="en-US" altLang="zh-CN" sz="36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600" dirty="0">
                <a:latin typeface="Times New Roman" panose="02020603050405020304" pitchFamily="18" charset="0"/>
              </a:rPr>
              <a:t>或者</a:t>
            </a:r>
            <a:r>
              <a:rPr lang="en-US" altLang="zh-CN" sz="3600" dirty="0">
                <a:latin typeface="Times New Roman" panose="02020603050405020304" pitchFamily="18" charset="0"/>
              </a:rPr>
              <a:t>b</a:t>
            </a:r>
            <a:r>
              <a:rPr lang="zh-CN" altLang="en-US" sz="3600" dirty="0">
                <a:latin typeface="Times New Roman" panose="02020603050405020304" pitchFamily="18" charset="0"/>
              </a:rPr>
              <a:t>除</a:t>
            </a:r>
            <a:r>
              <a:rPr lang="en-US" altLang="zh-CN" sz="3600" dirty="0">
                <a:latin typeface="Times New Roman" panose="02020603050405020304" pitchFamily="18" charset="0"/>
              </a:rPr>
              <a:t>a</a:t>
            </a:r>
            <a:r>
              <a:rPr lang="zh-CN" altLang="en-US" sz="3600" dirty="0">
                <a:latin typeface="Times New Roman" panose="02020603050405020304" pitchFamily="18" charset="0"/>
              </a:rPr>
              <a:t>）</a:t>
            </a:r>
            <a:r>
              <a:rPr lang="zh-CN" altLang="en-US" sz="3600" dirty="0">
                <a:latin typeface="宋体" panose="02010600030101010101" pitchFamily="2" charset="-122"/>
              </a:rPr>
              <a:t>的余数为</a:t>
            </a:r>
            <a:r>
              <a:rPr lang="zh-CN" altLang="en-US" sz="3600" dirty="0">
                <a:latin typeface="Times New Roman" panose="02020603050405020304" pitchFamily="18" charset="0"/>
              </a:rPr>
              <a:t>0</a:t>
            </a:r>
            <a:r>
              <a:rPr lang="zh-CN" altLang="en-US" sz="3600" dirty="0">
                <a:latin typeface="宋体" panose="02010600030101010101" pitchFamily="2" charset="-122"/>
              </a:rPr>
              <a:t>。</a:t>
            </a:r>
            <a:r>
              <a:rPr lang="zh-CN" altLang="en-US" sz="3600" dirty="0">
                <a:latin typeface="Times New Roman" panose="02020603050405020304" pitchFamily="18" charset="0"/>
              </a:rPr>
              <a:t> </a:t>
            </a:r>
            <a:endParaRPr lang="en-US" altLang="zh-CN" sz="36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sz="3600" dirty="0">
              <a:latin typeface="Times New Roman" panose="02020603050405020304" pitchFamily="18" charset="0"/>
            </a:endParaRPr>
          </a:p>
          <a:p>
            <a:pPr marL="446405" indent="-446405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600" dirty="0">
                <a:latin typeface="Times New Roman" panose="02020603050405020304" pitchFamily="18" charset="0"/>
              </a:rPr>
              <a:t>	整除的定义：	</a:t>
            </a:r>
            <a:r>
              <a:rPr lang="en-US" altLang="zh-CN" sz="3600" dirty="0">
                <a:latin typeface="Times New Roman" panose="02020603050405020304" pitchFamily="18" charset="0"/>
              </a:rPr>
              <a:t>a=</a:t>
            </a:r>
            <a:r>
              <a:rPr lang="en-US" altLang="zh-CN" sz="3600" dirty="0" err="1">
                <a:latin typeface="Times New Roman" panose="02020603050405020304" pitchFamily="18" charset="0"/>
              </a:rPr>
              <a:t>bc</a:t>
            </a:r>
            <a:endParaRPr lang="en-US" altLang="zh-CN" sz="3600" dirty="0">
              <a:latin typeface="Times New Roman" panose="02020603050405020304" pitchFamily="18" charset="0"/>
            </a:endParaRPr>
          </a:p>
          <a:p>
            <a:pPr marL="446405" indent="-446405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600" dirty="0">
                <a:latin typeface="Times New Roman" panose="02020603050405020304" pitchFamily="18" charset="0"/>
              </a:rPr>
              <a:t>	定理</a:t>
            </a:r>
            <a:r>
              <a:rPr lang="en-US" altLang="zh-CN" sz="3600" dirty="0">
                <a:latin typeface="Times New Roman" panose="02020603050405020304" pitchFamily="18" charset="0"/>
              </a:rPr>
              <a:t>5.1.1</a:t>
            </a:r>
            <a:r>
              <a:rPr lang="zh-CN" altLang="en-US" sz="3600" dirty="0">
                <a:latin typeface="Times New Roman" panose="02020603050405020304" pitchFamily="18" charset="0"/>
              </a:rPr>
              <a:t>：		</a:t>
            </a:r>
            <a:r>
              <a:rPr lang="en-US" altLang="zh-CN" sz="3600" dirty="0">
                <a:latin typeface="Times New Roman" panose="02020603050405020304" pitchFamily="18" charset="0"/>
              </a:rPr>
              <a:t>a=</a:t>
            </a:r>
            <a:r>
              <a:rPr lang="en-US" altLang="zh-CN" sz="3600" dirty="0" err="1">
                <a:latin typeface="Times New Roman" panose="02020603050405020304" pitchFamily="18" charset="0"/>
              </a:rPr>
              <a:t>qb+r</a:t>
            </a:r>
            <a:r>
              <a:rPr lang="en-US" altLang="zh-CN" sz="3600" dirty="0">
                <a:latin typeface="Times New Roman" panose="02020603050405020304" pitchFamily="18" charset="0"/>
              </a:rPr>
              <a:t> </a:t>
            </a:r>
            <a:endParaRPr lang="en-US" altLang="zh-CN" sz="36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7772400" cy="7620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/>
              <a:t>推论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87338"/>
            <a:ext cx="7772400" cy="706437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</a:rPr>
              <a:t>整除的基本性质</a:t>
            </a:r>
            <a:r>
              <a:rPr lang="zh-CN" altLang="en-US" sz="4000">
                <a:latin typeface="黑体" panose="02010609060101010101" pitchFamily="2" charset="-122"/>
              </a:rPr>
              <a:t> </a:t>
            </a:r>
            <a:endParaRPr lang="en-US" altLang="zh-CN" sz="4000">
              <a:latin typeface="黑体" panose="02010609060101010101" pitchFamily="2" charset="-122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763000" cy="5029200"/>
          </a:xfrm>
        </p:spPr>
        <p:txBody>
          <a:bodyPr/>
          <a:lstStyle/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3300" dirty="0">
                <a:solidFill>
                  <a:schemeClr val="tx2"/>
                </a:solidFill>
                <a:latin typeface="Times New Roman" panose="02020603050405020304" pitchFamily="18" charset="0"/>
              </a:rPr>
              <a:t>性质1</a:t>
            </a:r>
            <a:r>
              <a:rPr lang="zh-CN" altLang="en-US" sz="3300" dirty="0">
                <a:latin typeface="Times New Roman" panose="02020603050405020304" pitchFamily="18" charset="0"/>
              </a:rPr>
              <a:t>  </a:t>
            </a:r>
            <a:r>
              <a:rPr lang="zh-CN" altLang="en-US" sz="3300" u="sng" dirty="0">
                <a:latin typeface="Times New Roman" panose="02020603050405020304" pitchFamily="18" charset="0"/>
              </a:rPr>
              <a:t>若</a:t>
            </a:r>
            <a:r>
              <a:rPr lang="en-US" altLang="zh-CN" sz="3300" u="sng" dirty="0" err="1">
                <a:latin typeface="Times New Roman" panose="02020603050405020304" pitchFamily="18" charset="0"/>
              </a:rPr>
              <a:t>a|b，b|c</a:t>
            </a:r>
            <a:r>
              <a:rPr lang="en-US" altLang="zh-CN" sz="3300" u="sng" dirty="0">
                <a:latin typeface="Times New Roman" panose="02020603050405020304" pitchFamily="18" charset="0"/>
              </a:rPr>
              <a:t>，</a:t>
            </a:r>
            <a:r>
              <a:rPr lang="zh-CN" altLang="en-US" sz="3300" u="sng" dirty="0">
                <a:latin typeface="Times New Roman" panose="02020603050405020304" pitchFamily="18" charset="0"/>
              </a:rPr>
              <a:t>则</a:t>
            </a:r>
            <a:r>
              <a:rPr lang="en-US" altLang="zh-CN" sz="3300" u="sng" dirty="0" err="1">
                <a:latin typeface="Times New Roman" panose="02020603050405020304" pitchFamily="18" charset="0"/>
              </a:rPr>
              <a:t>a|c</a:t>
            </a:r>
            <a:endParaRPr lang="en-US" altLang="zh-CN" sz="3300" u="sng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3300" dirty="0">
                <a:latin typeface="Times New Roman" panose="02020603050405020304" pitchFamily="18" charset="0"/>
              </a:rPr>
              <a:t>证明：因为</a:t>
            </a:r>
            <a:r>
              <a:rPr lang="en-US" altLang="zh-CN" sz="3300" dirty="0" err="1">
                <a:latin typeface="Times New Roman" panose="02020603050405020304" pitchFamily="18" charset="0"/>
              </a:rPr>
              <a:t>a|b，b|c</a:t>
            </a:r>
            <a:r>
              <a:rPr lang="en-US" altLang="zh-CN" sz="3300" dirty="0">
                <a:latin typeface="Times New Roman" panose="02020603050405020304" pitchFamily="18" charset="0"/>
              </a:rPr>
              <a:t>，</a:t>
            </a:r>
            <a:r>
              <a:rPr lang="zh-CN" altLang="en-US" sz="3300" dirty="0">
                <a:latin typeface="Times New Roman" panose="02020603050405020304" pitchFamily="18" charset="0"/>
              </a:rPr>
              <a:t>故有整数</a:t>
            </a:r>
            <a:r>
              <a:rPr lang="en-US" altLang="zh-CN" sz="3300" dirty="0" err="1">
                <a:latin typeface="Times New Roman" panose="02020603050405020304" pitchFamily="18" charset="0"/>
              </a:rPr>
              <a:t>d，e</a:t>
            </a:r>
            <a:r>
              <a:rPr lang="zh-CN" altLang="en-US" sz="3300" dirty="0">
                <a:latin typeface="Times New Roman" panose="02020603050405020304" pitchFamily="18" charset="0"/>
              </a:rPr>
              <a:t>使</a:t>
            </a:r>
            <a:r>
              <a:rPr lang="en-US" altLang="zh-CN" sz="3300" dirty="0">
                <a:latin typeface="Times New Roman" panose="02020603050405020304" pitchFamily="18" charset="0"/>
              </a:rPr>
              <a:t>b=</a:t>
            </a:r>
            <a:r>
              <a:rPr lang="en-US" altLang="zh-CN" sz="3300" dirty="0" err="1">
                <a:latin typeface="Times New Roman" panose="02020603050405020304" pitchFamily="18" charset="0"/>
              </a:rPr>
              <a:t>ad，c</a:t>
            </a:r>
            <a:r>
              <a:rPr lang="en-US" altLang="zh-CN" sz="3300" dirty="0">
                <a:latin typeface="Times New Roman" panose="02020603050405020304" pitchFamily="18" charset="0"/>
              </a:rPr>
              <a:t>=be，</a:t>
            </a:r>
            <a:r>
              <a:rPr lang="zh-CN" altLang="en-US" sz="3300" dirty="0">
                <a:latin typeface="Times New Roman" panose="02020603050405020304" pitchFamily="18" charset="0"/>
              </a:rPr>
              <a:t>因之，</a:t>
            </a:r>
            <a:r>
              <a:rPr lang="en-US" altLang="zh-CN" sz="3300" dirty="0">
                <a:latin typeface="Times New Roman" panose="02020603050405020304" pitchFamily="18" charset="0"/>
              </a:rPr>
              <a:t>c=a(de)。</a:t>
            </a:r>
            <a:r>
              <a:rPr lang="zh-CN" altLang="en-US" sz="3300" dirty="0">
                <a:latin typeface="Times New Roman" panose="02020603050405020304" pitchFamily="18" charset="0"/>
              </a:rPr>
              <a:t>而</a:t>
            </a:r>
            <a:r>
              <a:rPr lang="en-US" altLang="zh-CN" sz="3300" dirty="0">
                <a:latin typeface="Times New Roman" panose="02020603050405020304" pitchFamily="18" charset="0"/>
              </a:rPr>
              <a:t>de</a:t>
            </a:r>
            <a:r>
              <a:rPr lang="zh-CN" altLang="en-US" sz="3300" dirty="0">
                <a:latin typeface="Times New Roman" panose="02020603050405020304" pitchFamily="18" charset="0"/>
              </a:rPr>
              <a:t>是整数，所以</a:t>
            </a:r>
            <a:r>
              <a:rPr lang="en-US" altLang="zh-CN" sz="3300" dirty="0" err="1">
                <a:latin typeface="Times New Roman" panose="02020603050405020304" pitchFamily="18" charset="0"/>
              </a:rPr>
              <a:t>a|c</a:t>
            </a:r>
            <a:r>
              <a:rPr lang="en-US" altLang="zh-CN" sz="3300" dirty="0">
                <a:latin typeface="Times New Roman" panose="02020603050405020304" pitchFamily="18" charset="0"/>
              </a:rPr>
              <a:t>。</a:t>
            </a:r>
            <a:endParaRPr lang="en-US" altLang="zh-CN" sz="33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3300" dirty="0">
                <a:solidFill>
                  <a:schemeClr val="tx2"/>
                </a:solidFill>
                <a:latin typeface="宋体" panose="02010600030101010101" pitchFamily="2" charset="-122"/>
              </a:rPr>
              <a:t>性质</a:t>
            </a:r>
            <a:r>
              <a:rPr lang="zh-CN" altLang="en-US" sz="3300" dirty="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300" dirty="0">
                <a:latin typeface="Times New Roman" panose="02020603050405020304" pitchFamily="18" charset="0"/>
              </a:rPr>
              <a:t>  </a:t>
            </a:r>
            <a:r>
              <a:rPr lang="zh-CN" altLang="en-US" sz="3300" u="sng" dirty="0">
                <a:latin typeface="宋体" panose="02010600030101010101" pitchFamily="2" charset="-122"/>
              </a:rPr>
              <a:t>若</a:t>
            </a:r>
            <a:r>
              <a:rPr lang="en-US" altLang="zh-CN" sz="3300" u="sng" dirty="0" err="1">
                <a:latin typeface="Times New Roman" panose="02020603050405020304" pitchFamily="18" charset="0"/>
              </a:rPr>
              <a:t>a|b</a:t>
            </a:r>
            <a:r>
              <a:rPr lang="en-US" altLang="zh-CN" sz="3300" u="sng" dirty="0">
                <a:latin typeface="宋体" panose="02010600030101010101" pitchFamily="2" charset="-122"/>
              </a:rPr>
              <a:t>，</a:t>
            </a:r>
            <a:r>
              <a:rPr lang="zh-CN" altLang="en-US" sz="3300" u="sng" dirty="0">
                <a:latin typeface="宋体" panose="02010600030101010101" pitchFamily="2" charset="-122"/>
              </a:rPr>
              <a:t>则</a:t>
            </a:r>
            <a:r>
              <a:rPr lang="en-US" altLang="zh-CN" sz="3300" u="sng" dirty="0" err="1">
                <a:latin typeface="Times New Roman" panose="02020603050405020304" pitchFamily="18" charset="0"/>
              </a:rPr>
              <a:t>a|bc</a:t>
            </a:r>
            <a:endParaRPr lang="en-US" altLang="zh-CN" sz="3300" u="sng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3300" dirty="0">
                <a:latin typeface="宋体" panose="02010600030101010101" pitchFamily="2" charset="-122"/>
              </a:rPr>
              <a:t>证明：由定义知，</a:t>
            </a:r>
            <a:r>
              <a:rPr lang="en-US" altLang="zh-CN" sz="3300" dirty="0" err="1">
                <a:latin typeface="Times New Roman" panose="02020603050405020304" pitchFamily="18" charset="0"/>
              </a:rPr>
              <a:t>b|bc</a:t>
            </a:r>
            <a:r>
              <a:rPr lang="en-US" altLang="zh-CN" sz="3300" dirty="0">
                <a:latin typeface="宋体" panose="02010600030101010101" pitchFamily="2" charset="-122"/>
              </a:rPr>
              <a:t>。</a:t>
            </a:r>
            <a:r>
              <a:rPr lang="zh-CN" altLang="en-US" sz="3300" dirty="0">
                <a:latin typeface="宋体" panose="02010600030101010101" pitchFamily="2" charset="-122"/>
              </a:rPr>
              <a:t>今</a:t>
            </a:r>
            <a:r>
              <a:rPr lang="en-US" altLang="zh-CN" sz="3300" dirty="0" err="1">
                <a:latin typeface="Times New Roman" panose="02020603050405020304" pitchFamily="18" charset="0"/>
              </a:rPr>
              <a:t>a|b</a:t>
            </a:r>
            <a:r>
              <a:rPr lang="en-US" altLang="zh-CN" sz="3300" dirty="0">
                <a:latin typeface="宋体" panose="02010600030101010101" pitchFamily="2" charset="-122"/>
              </a:rPr>
              <a:t>，</a:t>
            </a:r>
            <a:endParaRPr lang="en-US" altLang="zh-CN" sz="3300" dirty="0"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3300" dirty="0">
                <a:latin typeface="宋体" panose="02010600030101010101" pitchFamily="2" charset="-122"/>
              </a:rPr>
              <a:t>      故由性质</a:t>
            </a:r>
            <a:r>
              <a:rPr lang="zh-CN" altLang="en-US" sz="3300" dirty="0">
                <a:latin typeface="Times New Roman" panose="02020603050405020304" pitchFamily="18" charset="0"/>
              </a:rPr>
              <a:t>1</a:t>
            </a:r>
            <a:r>
              <a:rPr lang="zh-CN" altLang="en-US" sz="3300" dirty="0">
                <a:latin typeface="宋体" panose="02010600030101010101" pitchFamily="2" charset="-122"/>
              </a:rPr>
              <a:t>，</a:t>
            </a:r>
            <a:r>
              <a:rPr lang="en-US" altLang="zh-CN" sz="3300" dirty="0" err="1">
                <a:latin typeface="Times New Roman" panose="02020603050405020304" pitchFamily="18" charset="0"/>
              </a:rPr>
              <a:t>a|bc</a:t>
            </a:r>
            <a:endParaRPr lang="zh-CN" altLang="en-US" sz="3300" u="sng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-17463"/>
            <a:ext cx="7772400" cy="706438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</a:rPr>
              <a:t>整除的基本性质</a:t>
            </a:r>
            <a:r>
              <a:rPr lang="zh-CN" altLang="en-US" sz="4000">
                <a:latin typeface="黑体" panose="02010609060101010101" pitchFamily="2" charset="-122"/>
              </a:rPr>
              <a:t> </a:t>
            </a:r>
            <a:endParaRPr lang="en-US" altLang="zh-CN" sz="4000">
              <a:latin typeface="黑体" panose="02010609060101010101" pitchFamily="2" charset="-122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762000"/>
            <a:ext cx="8763000" cy="60960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</a:rPr>
              <a:t>性质3  </a:t>
            </a:r>
            <a:r>
              <a:rPr lang="zh-CN" altLang="en-US" u="sng">
                <a:latin typeface="Times New Roman" panose="02020603050405020304" pitchFamily="18" charset="0"/>
              </a:rPr>
              <a:t>若</a:t>
            </a:r>
            <a:r>
              <a:rPr lang="en-US" altLang="zh-CN" u="sng">
                <a:latin typeface="Times New Roman" panose="02020603050405020304" pitchFamily="18" charset="0"/>
              </a:rPr>
              <a:t>a|b，a|c，</a:t>
            </a:r>
            <a:r>
              <a:rPr lang="zh-CN" altLang="en-US" u="sng">
                <a:latin typeface="Times New Roman" panose="02020603050405020304" pitchFamily="18" charset="0"/>
              </a:rPr>
              <a:t>则</a:t>
            </a:r>
            <a:r>
              <a:rPr lang="en-US" altLang="zh-CN" u="sng">
                <a:latin typeface="Times New Roman" panose="02020603050405020304" pitchFamily="18" charset="0"/>
              </a:rPr>
              <a:t>a|b</a:t>
            </a:r>
            <a:r>
              <a:rPr lang="en-US" altLang="zh-CN" u="sng">
                <a:latin typeface="Times New Roman" panose="02020603050405020304" pitchFamily="18" charset="0"/>
                <a:sym typeface="Symbol" panose="05050102010706020507" pitchFamily="2" charset="2"/>
              </a:rPr>
              <a:t></a:t>
            </a:r>
            <a:r>
              <a:rPr lang="en-US" altLang="zh-CN" u="sng">
                <a:latin typeface="Times New Roman" panose="02020603050405020304" pitchFamily="18" charset="0"/>
              </a:rPr>
              <a:t>c。</a:t>
            </a:r>
            <a:endParaRPr lang="en-US" altLang="zh-CN" u="sng">
              <a:latin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证明：因为</a:t>
            </a:r>
            <a:r>
              <a:rPr lang="en-US" altLang="zh-CN">
                <a:latin typeface="Times New Roman" panose="02020603050405020304" pitchFamily="18" charset="0"/>
              </a:rPr>
              <a:t>a|b，a|c，</a:t>
            </a:r>
            <a:r>
              <a:rPr lang="zh-CN" altLang="en-US">
                <a:latin typeface="Times New Roman" panose="02020603050405020304" pitchFamily="18" charset="0"/>
              </a:rPr>
              <a:t>故有整数</a:t>
            </a:r>
            <a:r>
              <a:rPr lang="en-US" altLang="zh-CN">
                <a:latin typeface="Times New Roman" panose="02020603050405020304" pitchFamily="18" charset="0"/>
              </a:rPr>
              <a:t>d，e</a:t>
            </a:r>
            <a:r>
              <a:rPr lang="zh-CN" altLang="en-US">
                <a:latin typeface="Times New Roman" panose="02020603050405020304" pitchFamily="18" charset="0"/>
              </a:rPr>
              <a:t>使</a:t>
            </a:r>
            <a:r>
              <a:rPr lang="en-US" altLang="zh-CN">
                <a:latin typeface="Times New Roman" panose="02020603050405020304" pitchFamily="18" charset="0"/>
              </a:rPr>
              <a:t>b=ad，c=ae。</a:t>
            </a:r>
            <a:r>
              <a:rPr lang="zh-CN" altLang="en-US">
                <a:latin typeface="Times New Roman" panose="02020603050405020304" pitchFamily="18" charset="0"/>
              </a:rPr>
              <a:t>因之，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2" charset="2"/>
              </a:rPr>
              <a:t></a:t>
            </a:r>
            <a:r>
              <a:rPr lang="en-US" altLang="zh-CN">
                <a:latin typeface="Times New Roman" panose="02020603050405020304" pitchFamily="18" charset="0"/>
              </a:rPr>
              <a:t>c=a(d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2" charset="2"/>
              </a:rPr>
              <a:t></a:t>
            </a:r>
            <a:r>
              <a:rPr lang="en-US" altLang="zh-CN">
                <a:latin typeface="Times New Roman" panose="02020603050405020304" pitchFamily="18" charset="0"/>
              </a:rPr>
              <a:t>e)。</a:t>
            </a:r>
            <a:r>
              <a:rPr lang="zh-CN" altLang="en-US">
                <a:latin typeface="Times New Roman" panose="02020603050405020304" pitchFamily="18" charset="0"/>
              </a:rPr>
              <a:t>而</a:t>
            </a:r>
            <a:r>
              <a:rPr lang="en-US" altLang="zh-CN">
                <a:latin typeface="Times New Roman" panose="02020603050405020304" pitchFamily="18" charset="0"/>
              </a:rPr>
              <a:t>d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2" charset="2"/>
              </a:rPr>
              <a:t></a:t>
            </a:r>
            <a:r>
              <a:rPr lang="en-US" altLang="zh-CN">
                <a:latin typeface="Times New Roman" panose="02020603050405020304" pitchFamily="18" charset="0"/>
              </a:rPr>
              <a:t>e</a:t>
            </a:r>
            <a:r>
              <a:rPr lang="zh-CN" altLang="en-US">
                <a:latin typeface="Times New Roman" panose="02020603050405020304" pitchFamily="18" charset="0"/>
              </a:rPr>
              <a:t>为整数，所以</a:t>
            </a:r>
            <a:r>
              <a:rPr lang="en-US" altLang="zh-CN">
                <a:latin typeface="Times New Roman" panose="02020603050405020304" pitchFamily="18" charset="0"/>
              </a:rPr>
              <a:t>a|b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2" charset="2"/>
              </a:rPr>
              <a:t></a:t>
            </a:r>
            <a:r>
              <a:rPr lang="en-US" altLang="zh-CN">
                <a:latin typeface="Times New Roman" panose="02020603050405020304" pitchFamily="18" charset="0"/>
              </a:rPr>
              <a:t>c。</a:t>
            </a:r>
            <a:endParaRPr lang="en-US" altLang="zh-CN">
              <a:latin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</a:rPr>
              <a:t>性质4</a:t>
            </a:r>
            <a:r>
              <a:rPr lang="zh-CN" altLang="en-US">
                <a:latin typeface="Times New Roman" panose="02020603050405020304" pitchFamily="18" charset="0"/>
              </a:rPr>
              <a:t>  若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整除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en-US" altLang="zh-CN" baseline="-30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,…,b</a:t>
            </a:r>
            <a:r>
              <a:rPr lang="en-US" altLang="zh-CN" baseline="-30000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则</a:t>
            </a:r>
            <a:r>
              <a:rPr lang="en-US" altLang="zh-CN">
                <a:latin typeface="Times New Roman" panose="02020603050405020304" pitchFamily="18" charset="0"/>
              </a:rPr>
              <a:t>a|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2" charset="2"/>
              </a:rPr>
              <a:t></a:t>
            </a:r>
            <a:r>
              <a:rPr lang="en-US" altLang="zh-CN" baseline="-30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en-US" altLang="zh-CN" baseline="-30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+…+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2" charset="2"/>
              </a:rPr>
              <a:t></a:t>
            </a:r>
            <a:r>
              <a:rPr lang="en-US" altLang="zh-CN" baseline="-30000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en-US" altLang="zh-CN" baseline="-30000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，</a:t>
            </a:r>
            <a:endParaRPr lang="en-US" altLang="zh-CN">
              <a:latin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            其中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2" charset="2"/>
              </a:rPr>
              <a:t></a:t>
            </a:r>
            <a:r>
              <a:rPr lang="en-US" altLang="zh-CN" baseline="-30000">
                <a:latin typeface="Times New Roman" panose="02020603050405020304" pitchFamily="18" charset="0"/>
              </a:rPr>
              <a:t>i</a:t>
            </a:r>
            <a:r>
              <a:rPr lang="zh-CN" altLang="en-US">
                <a:latin typeface="Times New Roman" panose="02020603050405020304" pitchFamily="18" charset="0"/>
              </a:rPr>
              <a:t>为任意整数。</a:t>
            </a:r>
            <a:endParaRPr lang="zh-CN" altLang="en-US">
              <a:latin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证明：因为</a:t>
            </a:r>
            <a:r>
              <a:rPr lang="en-US" altLang="zh-CN">
                <a:latin typeface="Times New Roman" panose="02020603050405020304" pitchFamily="18" charset="0"/>
              </a:rPr>
              <a:t>a|b</a:t>
            </a:r>
            <a:r>
              <a:rPr lang="en-US" altLang="zh-CN" baseline="-30000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，</a:t>
            </a:r>
            <a:r>
              <a:rPr lang="zh-CN" altLang="en-US">
                <a:latin typeface="Times New Roman" panose="02020603050405020304" pitchFamily="18" charset="0"/>
              </a:rPr>
              <a:t>故由性质2，</a:t>
            </a:r>
            <a:r>
              <a:rPr lang="en-US" altLang="zh-CN">
                <a:latin typeface="Times New Roman" panose="02020603050405020304" pitchFamily="18" charset="0"/>
              </a:rPr>
              <a:t>a|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2" charset="2"/>
              </a:rPr>
              <a:t></a:t>
            </a:r>
            <a:r>
              <a:rPr lang="en-US" altLang="zh-CN" baseline="-30000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en-US" altLang="zh-CN" baseline="-30000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。</a:t>
            </a:r>
            <a:r>
              <a:rPr lang="zh-CN" altLang="en-US">
                <a:latin typeface="Times New Roman" panose="02020603050405020304" pitchFamily="18" charset="0"/>
              </a:rPr>
              <a:t>因为</a:t>
            </a:r>
            <a:r>
              <a:rPr lang="en-US" altLang="zh-CN">
                <a:latin typeface="Times New Roman" panose="02020603050405020304" pitchFamily="18" charset="0"/>
              </a:rPr>
              <a:t>a|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2" charset="2"/>
              </a:rPr>
              <a:t></a:t>
            </a:r>
            <a:r>
              <a:rPr lang="en-US" altLang="zh-CN" baseline="-30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en-US" altLang="zh-CN" baseline="-30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，a|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2" charset="2"/>
              </a:rPr>
              <a:t></a:t>
            </a:r>
            <a:r>
              <a:rPr lang="en-US" altLang="zh-CN" baseline="-30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en-US" altLang="zh-CN" baseline="-30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，</a:t>
            </a:r>
            <a:r>
              <a:rPr lang="zh-CN" altLang="en-US">
                <a:latin typeface="Times New Roman" panose="02020603050405020304" pitchFamily="18" charset="0"/>
              </a:rPr>
              <a:t>故由性质3，</a:t>
            </a:r>
            <a:r>
              <a:rPr lang="en-US" altLang="zh-CN">
                <a:latin typeface="Times New Roman" panose="02020603050405020304" pitchFamily="18" charset="0"/>
              </a:rPr>
              <a:t>a|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2" charset="2"/>
              </a:rPr>
              <a:t></a:t>
            </a:r>
            <a:r>
              <a:rPr lang="en-US" altLang="zh-CN" baseline="-30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en-US" altLang="zh-CN" baseline="-30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2" charset="2"/>
              </a:rPr>
              <a:t></a:t>
            </a:r>
            <a:r>
              <a:rPr lang="en-US" altLang="zh-CN" baseline="-30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en-US" altLang="zh-CN" baseline="-30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。</a:t>
            </a:r>
            <a:r>
              <a:rPr lang="zh-CN" altLang="en-US">
                <a:latin typeface="Times New Roman" panose="02020603050405020304" pitchFamily="18" charset="0"/>
              </a:rPr>
              <a:t>由此及</a:t>
            </a:r>
            <a:r>
              <a:rPr lang="en-US" altLang="zh-CN">
                <a:latin typeface="Times New Roman" panose="02020603050405020304" pitchFamily="18" charset="0"/>
              </a:rPr>
              <a:t>a|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2" charset="2"/>
              </a:rPr>
              <a:t></a:t>
            </a:r>
            <a:r>
              <a:rPr lang="en-US" altLang="zh-CN" baseline="-30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en-US" altLang="zh-CN" baseline="-30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，</a:t>
            </a:r>
            <a:r>
              <a:rPr lang="zh-CN" altLang="en-US">
                <a:latin typeface="Times New Roman" panose="02020603050405020304" pitchFamily="18" charset="0"/>
              </a:rPr>
              <a:t>又有</a:t>
            </a:r>
            <a:r>
              <a:rPr lang="en-US" altLang="zh-CN">
                <a:latin typeface="Times New Roman" panose="02020603050405020304" pitchFamily="18" charset="0"/>
              </a:rPr>
              <a:t>a|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2" charset="2"/>
              </a:rPr>
              <a:t></a:t>
            </a:r>
            <a:r>
              <a:rPr lang="en-US" altLang="zh-CN" baseline="-30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en-US" altLang="zh-CN" baseline="-30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2" charset="2"/>
              </a:rPr>
              <a:t></a:t>
            </a:r>
            <a:r>
              <a:rPr lang="en-US" altLang="zh-CN" baseline="-30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en-US" altLang="zh-CN" baseline="-30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2" charset="2"/>
              </a:rPr>
              <a:t></a:t>
            </a:r>
            <a:r>
              <a:rPr lang="en-US" altLang="zh-CN" baseline="-30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en-US" altLang="zh-CN" baseline="-30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。</a:t>
            </a:r>
            <a:r>
              <a:rPr lang="zh-CN" altLang="en-US">
                <a:latin typeface="Times New Roman" panose="02020603050405020304" pitchFamily="18" charset="0"/>
              </a:rPr>
              <a:t>如此类推归纳证明了</a:t>
            </a:r>
            <a:r>
              <a:rPr lang="en-US" altLang="zh-CN">
                <a:latin typeface="Times New Roman" panose="02020603050405020304" pitchFamily="18" charset="0"/>
              </a:rPr>
              <a:t>a|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2" charset="2"/>
              </a:rPr>
              <a:t></a:t>
            </a:r>
            <a:r>
              <a:rPr lang="en-US" altLang="zh-CN" baseline="-30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en-US" altLang="zh-CN" baseline="-30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+…+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2" charset="2"/>
              </a:rPr>
              <a:t></a:t>
            </a:r>
            <a:r>
              <a:rPr lang="en-US" altLang="zh-CN" baseline="-30000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en-US" altLang="zh-CN" baseline="-30000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。 </a:t>
            </a:r>
            <a:r>
              <a:rPr lang="zh-CN" altLang="en-US">
                <a:latin typeface="Times New Roman" panose="02020603050405020304" pitchFamily="18" charset="0"/>
              </a:rPr>
              <a:t>（也可用数学归纳法）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87338"/>
            <a:ext cx="7772400" cy="706437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</a:rPr>
              <a:t>整除的基本性质</a:t>
            </a:r>
            <a:r>
              <a:rPr lang="zh-CN" altLang="en-US" sz="4000">
                <a:latin typeface="黑体" panose="02010609060101010101" pitchFamily="2" charset="-122"/>
              </a:rPr>
              <a:t> </a:t>
            </a:r>
            <a:endParaRPr lang="en-US" altLang="zh-CN" sz="4000">
              <a:latin typeface="黑体" panose="02010609060101010101" pitchFamily="2" charset="-122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763000" cy="533400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300">
                <a:solidFill>
                  <a:schemeClr val="tx2"/>
                </a:solidFill>
                <a:latin typeface="Times New Roman" panose="02020603050405020304" pitchFamily="18" charset="0"/>
              </a:rPr>
              <a:t>性质5  </a:t>
            </a:r>
            <a:r>
              <a:rPr lang="zh-CN" altLang="en-US" sz="3300" u="sng">
                <a:latin typeface="Times New Roman" panose="02020603050405020304" pitchFamily="18" charset="0"/>
              </a:rPr>
              <a:t>若在一等式中，除某项外，其余各项都是</a:t>
            </a:r>
            <a:r>
              <a:rPr lang="en-US" altLang="zh-CN" sz="3300" u="sng">
                <a:latin typeface="Times New Roman" panose="02020603050405020304" pitchFamily="18" charset="0"/>
              </a:rPr>
              <a:t>a</a:t>
            </a:r>
            <a:r>
              <a:rPr lang="zh-CN" altLang="en-US" sz="3300" u="sng">
                <a:latin typeface="Times New Roman" panose="02020603050405020304" pitchFamily="18" charset="0"/>
              </a:rPr>
              <a:t>的倍数，则此项也是</a:t>
            </a:r>
            <a:r>
              <a:rPr lang="en-US" altLang="zh-CN" sz="3300" u="sng">
                <a:latin typeface="Times New Roman" panose="02020603050405020304" pitchFamily="18" charset="0"/>
              </a:rPr>
              <a:t>a</a:t>
            </a:r>
            <a:r>
              <a:rPr lang="zh-CN" altLang="en-US" sz="3300" u="sng">
                <a:latin typeface="Times New Roman" panose="02020603050405020304" pitchFamily="18" charset="0"/>
              </a:rPr>
              <a:t>的倍数</a:t>
            </a:r>
            <a:r>
              <a:rPr lang="zh-CN" altLang="en-US" sz="3300">
                <a:latin typeface="Times New Roman" panose="02020603050405020304" pitchFamily="18" charset="0"/>
              </a:rPr>
              <a:t>。</a:t>
            </a:r>
            <a:endParaRPr lang="zh-CN" altLang="en-US" sz="330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300">
                <a:latin typeface="Times New Roman" panose="02020603050405020304" pitchFamily="18" charset="0"/>
              </a:rPr>
              <a:t>证明：这是性质4的直接推论。</a:t>
            </a:r>
            <a:endParaRPr lang="zh-CN" altLang="en-US" sz="330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300">
                <a:solidFill>
                  <a:schemeClr val="tx2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3300">
                <a:solidFill>
                  <a:schemeClr val="tx2"/>
                </a:solidFill>
                <a:latin typeface="宋体" panose="02010600030101010101" pitchFamily="2" charset="-122"/>
              </a:rPr>
              <a:t>.</a:t>
            </a:r>
            <a:r>
              <a:rPr lang="zh-CN" altLang="en-US" sz="3300">
                <a:latin typeface="宋体" panose="02010600030101010101" pitchFamily="2" charset="-122"/>
              </a:rPr>
              <a:t>在等式</a:t>
            </a:r>
            <a:r>
              <a:rPr lang="en-US" altLang="zh-CN" sz="3300">
                <a:latin typeface="Times New Roman" panose="02020603050405020304" pitchFamily="18" charset="0"/>
              </a:rPr>
              <a:t>b-c=-d+e+f</a:t>
            </a:r>
            <a:r>
              <a:rPr lang="zh-CN" altLang="en-US" sz="3300">
                <a:latin typeface="宋体" panose="02010600030101010101" pitchFamily="2" charset="-122"/>
              </a:rPr>
              <a:t>中，设</a:t>
            </a:r>
            <a:r>
              <a:rPr lang="en-US" altLang="zh-CN" sz="3300">
                <a:latin typeface="Times New Roman" panose="02020603050405020304" pitchFamily="18" charset="0"/>
              </a:rPr>
              <a:t>b</a:t>
            </a:r>
            <a:r>
              <a:rPr lang="en-US" altLang="zh-CN" sz="3300">
                <a:latin typeface="宋体" panose="02010600030101010101" pitchFamily="2" charset="-122"/>
              </a:rPr>
              <a:t>，</a:t>
            </a:r>
            <a:r>
              <a:rPr lang="en-US" altLang="zh-CN" sz="3300">
                <a:latin typeface="Times New Roman" panose="02020603050405020304" pitchFamily="18" charset="0"/>
              </a:rPr>
              <a:t>c</a:t>
            </a:r>
            <a:r>
              <a:rPr lang="en-US" altLang="zh-CN" sz="3300">
                <a:latin typeface="宋体" panose="02010600030101010101" pitchFamily="2" charset="-122"/>
              </a:rPr>
              <a:t>，</a:t>
            </a:r>
            <a:r>
              <a:rPr lang="en-US" altLang="zh-CN" sz="3300">
                <a:latin typeface="Times New Roman" panose="02020603050405020304" pitchFamily="18" charset="0"/>
              </a:rPr>
              <a:t>d</a:t>
            </a:r>
            <a:r>
              <a:rPr lang="en-US" altLang="zh-CN" sz="3300">
                <a:latin typeface="宋体" panose="02010600030101010101" pitchFamily="2" charset="-122"/>
              </a:rPr>
              <a:t>，</a:t>
            </a:r>
            <a:r>
              <a:rPr lang="en-US" altLang="zh-CN" sz="3300">
                <a:latin typeface="Times New Roman" panose="02020603050405020304" pitchFamily="18" charset="0"/>
              </a:rPr>
              <a:t>f</a:t>
            </a:r>
            <a:r>
              <a:rPr lang="zh-CN" altLang="en-US" sz="3300">
                <a:latin typeface="宋体" panose="02010600030101010101" pitchFamily="2" charset="-122"/>
              </a:rPr>
              <a:t>都是</a:t>
            </a:r>
            <a:r>
              <a:rPr lang="en-US" altLang="zh-CN" sz="3300">
                <a:latin typeface="Times New Roman" panose="02020603050405020304" pitchFamily="18" charset="0"/>
              </a:rPr>
              <a:t>a</a:t>
            </a:r>
            <a:r>
              <a:rPr lang="zh-CN" altLang="en-US" sz="3300">
                <a:latin typeface="宋体" panose="02010600030101010101" pitchFamily="2" charset="-122"/>
              </a:rPr>
              <a:t>的倍数，求证</a:t>
            </a:r>
            <a:r>
              <a:rPr lang="en-US" altLang="zh-CN" sz="3300">
                <a:latin typeface="Times New Roman" panose="02020603050405020304" pitchFamily="18" charset="0"/>
              </a:rPr>
              <a:t>e</a:t>
            </a:r>
            <a:r>
              <a:rPr lang="zh-CN" altLang="en-US" sz="3300">
                <a:latin typeface="宋体" panose="02010600030101010101" pitchFamily="2" charset="-122"/>
              </a:rPr>
              <a:t>也是</a:t>
            </a:r>
            <a:r>
              <a:rPr lang="en-US" altLang="zh-CN" sz="3300">
                <a:latin typeface="Times New Roman" panose="02020603050405020304" pitchFamily="18" charset="0"/>
              </a:rPr>
              <a:t>a</a:t>
            </a:r>
            <a:r>
              <a:rPr lang="zh-CN" altLang="en-US" sz="3300">
                <a:latin typeface="宋体" panose="02010600030101010101" pitchFamily="2" charset="-122"/>
              </a:rPr>
              <a:t>的倍数。</a:t>
            </a:r>
            <a:endParaRPr lang="zh-CN" altLang="en-US" sz="3300"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300">
                <a:latin typeface="宋体" panose="02010600030101010101" pitchFamily="2" charset="-122"/>
              </a:rPr>
              <a:t>解出</a:t>
            </a:r>
            <a:r>
              <a:rPr lang="en-US" altLang="zh-CN" sz="3300">
                <a:latin typeface="Times New Roman" panose="02020603050405020304" pitchFamily="18" charset="0"/>
              </a:rPr>
              <a:t>e</a:t>
            </a:r>
            <a:r>
              <a:rPr lang="zh-CN" altLang="en-US" sz="3300">
                <a:latin typeface="宋体" panose="02010600030101010101" pitchFamily="2" charset="-122"/>
              </a:rPr>
              <a:t>得</a:t>
            </a:r>
            <a:r>
              <a:rPr lang="en-US" altLang="zh-CN" sz="3300">
                <a:latin typeface="Times New Roman" panose="02020603050405020304" pitchFamily="18" charset="0"/>
              </a:rPr>
              <a:t>e=b-c+d-f</a:t>
            </a:r>
            <a:r>
              <a:rPr lang="en-US" altLang="zh-CN" sz="3300">
                <a:latin typeface="宋体" panose="02010600030101010101" pitchFamily="2" charset="-122"/>
              </a:rPr>
              <a:t>。</a:t>
            </a:r>
            <a:r>
              <a:rPr lang="zh-CN" altLang="en-US" sz="3300">
                <a:latin typeface="宋体" panose="02010600030101010101" pitchFamily="2" charset="-122"/>
              </a:rPr>
              <a:t>由性质</a:t>
            </a:r>
            <a:r>
              <a:rPr lang="zh-CN" altLang="en-US" sz="3300">
                <a:latin typeface="Times New Roman" panose="02020603050405020304" pitchFamily="18" charset="0"/>
              </a:rPr>
              <a:t>4</a:t>
            </a:r>
            <a:r>
              <a:rPr lang="zh-CN" altLang="en-US" sz="3300">
                <a:latin typeface="宋体" panose="02010600030101010101" pitchFamily="2" charset="-122"/>
              </a:rPr>
              <a:t>，此式右边是</a:t>
            </a:r>
            <a:r>
              <a:rPr lang="en-US" altLang="zh-CN" sz="3300">
                <a:latin typeface="Times New Roman" panose="02020603050405020304" pitchFamily="18" charset="0"/>
              </a:rPr>
              <a:t>a</a:t>
            </a:r>
            <a:r>
              <a:rPr lang="zh-CN" altLang="en-US" sz="3300">
                <a:latin typeface="宋体" panose="02010600030101010101" pitchFamily="2" charset="-122"/>
              </a:rPr>
              <a:t>的倍数，故</a:t>
            </a:r>
            <a:r>
              <a:rPr lang="en-US" altLang="zh-CN" sz="3300">
                <a:latin typeface="Times New Roman" panose="02020603050405020304" pitchFamily="18" charset="0"/>
              </a:rPr>
              <a:t>e</a:t>
            </a:r>
            <a:r>
              <a:rPr lang="zh-CN" altLang="en-US" sz="3300">
                <a:latin typeface="宋体" panose="02010600030101010101" pitchFamily="2" charset="-122"/>
              </a:rPr>
              <a:t>是</a:t>
            </a:r>
            <a:r>
              <a:rPr lang="en-US" altLang="zh-CN" sz="3300">
                <a:latin typeface="Times New Roman" panose="02020603050405020304" pitchFamily="18" charset="0"/>
              </a:rPr>
              <a:t>a</a:t>
            </a:r>
            <a:r>
              <a:rPr lang="zh-CN" altLang="en-US" sz="3300">
                <a:latin typeface="宋体" panose="02010600030101010101" pitchFamily="2" charset="-122"/>
              </a:rPr>
              <a:t>的倍数</a:t>
            </a:r>
            <a:r>
              <a:rPr lang="zh-CN" altLang="en-US" sz="3600">
                <a:latin typeface="宋体" panose="02010600030101010101" pitchFamily="2" charset="-122"/>
              </a:rPr>
              <a:t>。</a:t>
            </a:r>
            <a:r>
              <a:rPr lang="zh-CN" altLang="en-US" sz="3600">
                <a:latin typeface="Times New Roman" panose="02020603050405020304" pitchFamily="18" charset="0"/>
              </a:rPr>
              <a:t> 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58763"/>
            <a:ext cx="7772400" cy="701675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000" dirty="0">
                <a:latin typeface="Times New Roman" panose="02020603050405020304" pitchFamily="18" charset="0"/>
              </a:rPr>
              <a:t>例</a:t>
            </a:r>
            <a:r>
              <a:rPr lang="en-US" altLang="zh-CN" sz="4000" dirty="0">
                <a:latin typeface="Times New Roman" panose="02020603050405020304" pitchFamily="18" charset="0"/>
              </a:rPr>
              <a:t>5.1.1</a:t>
            </a:r>
            <a:endParaRPr lang="en-US" altLang="zh-CN" sz="4000" dirty="0">
              <a:latin typeface="Times New Roman" panose="02020603050405020304" pitchFamily="18" charset="0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763000" cy="54102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sym typeface="+mn-ea"/>
              </a:rPr>
              <a:t>若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5|(a+b)</a:t>
            </a:r>
            <a:r>
              <a:rPr lang="zh-CN" altLang="en-US">
                <a:latin typeface="Times New Roman" panose="02020603050405020304" pitchFamily="18" charset="0"/>
                <a:sym typeface="+mn-ea"/>
              </a:rPr>
              <a:t>，则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25|(a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5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+b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5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)</a:t>
            </a:r>
            <a:r>
              <a:rPr lang="en-US" altLang="zh-CN">
                <a:solidFill>
                  <a:srgbClr val="FFFF00"/>
                </a:solidFill>
                <a:latin typeface="Times New Roman" panose="02020603050405020304" pitchFamily="18" charset="0"/>
                <a:sym typeface="+mn-ea"/>
              </a:rPr>
              <a:t>.</a:t>
            </a:r>
            <a:endParaRPr lang="en-US" altLang="zh-CN">
              <a:solidFill>
                <a:srgbClr val="FFFF0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  <a:sym typeface="+mn-ea"/>
              </a:rPr>
              <a:t>证明：因为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(a+b)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5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=a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5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+5a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4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b+10a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3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b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+10a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b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3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+5ab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4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+b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5</a:t>
            </a:r>
            <a:endParaRPr lang="en-US" altLang="zh-CN" baseline="300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  <a:sym typeface="+mn-ea"/>
              </a:rPr>
              <a:t>	         = (a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5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+b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5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)+(5a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4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b+5ab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4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)+(10a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3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b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+10a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b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3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)</a:t>
            </a:r>
            <a:endParaRPr lang="en-US" altLang="zh-CN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  <a:sym typeface="+mn-ea"/>
              </a:rPr>
              <a:t>            =(a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5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+b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5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)+5ab(a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3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+b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3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)+10a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b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(a+b)</a:t>
            </a:r>
            <a:endParaRPr lang="en-US" altLang="zh-CN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  <a:sym typeface="+mn-ea"/>
              </a:rPr>
              <a:t>            =(a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5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+b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5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)+</a:t>
            </a:r>
            <a:r>
              <a:rPr lang="en-US" altLang="zh-CN">
                <a:solidFill>
                  <a:srgbClr val="FFFF00"/>
                </a:solidFill>
                <a:latin typeface="Times New Roman" panose="02020603050405020304" pitchFamily="18" charset="0"/>
                <a:sym typeface="+mn-ea"/>
              </a:rPr>
              <a:t>5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ab(</a:t>
            </a:r>
            <a:r>
              <a:rPr lang="en-US" altLang="zh-CN">
                <a:solidFill>
                  <a:srgbClr val="FFFF00"/>
                </a:solidFill>
                <a:latin typeface="Times New Roman" panose="02020603050405020304" pitchFamily="18" charset="0"/>
                <a:sym typeface="+mn-ea"/>
              </a:rPr>
              <a:t>a+b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)(a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-ab+b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)+</a:t>
            </a:r>
            <a:r>
              <a:rPr lang="en-US" altLang="zh-CN">
                <a:solidFill>
                  <a:srgbClr val="FFFF00"/>
                </a:solidFill>
                <a:latin typeface="Times New Roman" panose="02020603050405020304" pitchFamily="18" charset="0"/>
                <a:sym typeface="+mn-ea"/>
              </a:rPr>
              <a:t>10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b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(</a:t>
            </a:r>
            <a:r>
              <a:rPr lang="en-US" altLang="zh-CN">
                <a:solidFill>
                  <a:srgbClr val="FFFF00"/>
                </a:solidFill>
                <a:latin typeface="Times New Roman" panose="02020603050405020304" pitchFamily="18" charset="0"/>
                <a:sym typeface="+mn-ea"/>
              </a:rPr>
              <a:t>a+b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)</a:t>
            </a:r>
            <a:endParaRPr lang="en-US" altLang="zh-CN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  <a:sym typeface="+mn-ea"/>
              </a:rPr>
              <a:t>    </a:t>
            </a:r>
            <a:r>
              <a:rPr lang="zh-CN" altLang="en-US">
                <a:latin typeface="Times New Roman" panose="02020603050405020304" pitchFamily="18" charset="0"/>
                <a:sym typeface="+mn-ea"/>
              </a:rPr>
              <a:t>由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5|(a+b)</a:t>
            </a:r>
            <a:r>
              <a:rPr lang="zh-CN" altLang="en-US">
                <a:latin typeface="Times New Roman" panose="02020603050405020304" pitchFamily="18" charset="0"/>
                <a:sym typeface="+mn-ea"/>
              </a:rPr>
              <a:t>，则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25|(a+b)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5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, </a:t>
            </a:r>
            <a:endParaRPr lang="en-US" altLang="zh-CN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  <a:sym typeface="+mn-ea"/>
              </a:rPr>
              <a:t>25|5ab(a+b)(a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-ab+b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)</a:t>
            </a:r>
            <a:r>
              <a:rPr lang="zh-CN" altLang="en-US">
                <a:latin typeface="Times New Roman" panose="02020603050405020304" pitchFamily="18" charset="0"/>
                <a:sym typeface="+mn-ea"/>
              </a:rPr>
              <a:t>，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25| 10a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b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(a+b),</a:t>
            </a:r>
            <a:r>
              <a:rPr lang="zh-CN" altLang="en-US">
                <a:latin typeface="Times New Roman" panose="02020603050405020304" pitchFamily="18" charset="0"/>
                <a:sym typeface="+mn-ea"/>
              </a:rPr>
              <a:t>则：</a:t>
            </a:r>
            <a:endParaRPr lang="zh-CN" altLang="en-US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  <a:sym typeface="+mn-ea"/>
              </a:rPr>
              <a:t> 25|(a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5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+b</a:t>
            </a:r>
            <a:r>
              <a:rPr lang="en-US" altLang="zh-CN" baseline="30000">
                <a:latin typeface="Times New Roman" panose="02020603050405020304" pitchFamily="18" charset="0"/>
                <a:sym typeface="+mn-ea"/>
              </a:rPr>
              <a:t>5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).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7772400" cy="706438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</a:rPr>
              <a:t>整除的基本性质</a:t>
            </a:r>
            <a:r>
              <a:rPr lang="zh-CN" altLang="en-US" sz="4000">
                <a:latin typeface="黑体" panose="02010609060101010101" pitchFamily="2" charset="-122"/>
              </a:rPr>
              <a:t> </a:t>
            </a:r>
            <a:endParaRPr lang="en-US" altLang="zh-CN" sz="4000">
              <a:latin typeface="黑体" panose="02010609060101010101" pitchFamily="2" charset="-122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763000" cy="533400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性质6  </a:t>
            </a:r>
            <a:r>
              <a:rPr lang="zh-CN" altLang="en-US" u="sng" dirty="0">
                <a:latin typeface="Times New Roman" panose="02020603050405020304" pitchFamily="18" charset="0"/>
              </a:rPr>
              <a:t>若</a:t>
            </a:r>
            <a:r>
              <a:rPr lang="en-US" altLang="zh-CN" u="sng" dirty="0" err="1">
                <a:latin typeface="Times New Roman" panose="02020603050405020304" pitchFamily="18" charset="0"/>
              </a:rPr>
              <a:t>a|b，b|a</a:t>
            </a:r>
            <a:r>
              <a:rPr lang="en-US" altLang="zh-CN" u="sng" dirty="0">
                <a:latin typeface="Times New Roman" panose="02020603050405020304" pitchFamily="18" charset="0"/>
              </a:rPr>
              <a:t>，</a:t>
            </a:r>
            <a:r>
              <a:rPr lang="zh-CN" altLang="en-US" u="sng" dirty="0">
                <a:latin typeface="Times New Roman" panose="02020603050405020304" pitchFamily="18" charset="0"/>
              </a:rPr>
              <a:t>则</a:t>
            </a:r>
            <a:r>
              <a:rPr lang="en-US" altLang="zh-CN" u="sng" dirty="0">
                <a:latin typeface="Times New Roman" panose="02020603050405020304" pitchFamily="18" charset="0"/>
              </a:rPr>
              <a:t>b=</a:t>
            </a:r>
            <a:r>
              <a:rPr lang="en-US" altLang="zh-CN" u="sng" dirty="0">
                <a:latin typeface="Times New Roman" panose="02020603050405020304" pitchFamily="18" charset="0"/>
                <a:sym typeface="Symbol" panose="05050102010706020507" pitchFamily="2" charset="2"/>
              </a:rPr>
              <a:t></a:t>
            </a:r>
            <a:r>
              <a:rPr lang="en-US" altLang="zh-CN" u="sng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宋体" panose="02010600030101010101" pitchFamily="2" charset="-122"/>
              </a:rPr>
              <a:t>证明：由条件知，或者</a:t>
            </a:r>
            <a:r>
              <a:rPr lang="en-US" altLang="zh-CN" dirty="0">
                <a:latin typeface="Times New Roman" panose="02020603050405020304" pitchFamily="18" charset="0"/>
              </a:rPr>
              <a:t>a=b=0</a:t>
            </a:r>
            <a:r>
              <a:rPr lang="en-US" altLang="zh-CN" dirty="0">
                <a:latin typeface="宋体" panose="02010600030101010101" pitchFamily="2" charset="-122"/>
              </a:rPr>
              <a:t>，</a:t>
            </a:r>
            <a:r>
              <a:rPr lang="zh-CN" altLang="en-US" dirty="0">
                <a:latin typeface="宋体" panose="02010600030101010101" pitchFamily="2" charset="-122"/>
              </a:rPr>
              <a:t>或者</a:t>
            </a:r>
            <a:r>
              <a:rPr lang="en-US" altLang="zh-CN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宋体" panose="02010600030101010101" pitchFamily="2" charset="-122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宋体" panose="02010600030101010101" pitchFamily="2" charset="-122"/>
              </a:rPr>
              <a:t>都不为</a:t>
            </a:r>
            <a:r>
              <a:rPr lang="zh-CN" altLang="en-US" dirty="0">
                <a:latin typeface="Times New Roman" panose="02020603050405020304" pitchFamily="18" charset="0"/>
              </a:rPr>
              <a:t>0 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宋体" panose="02010600030101010101" pitchFamily="2" charset="-122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</a:rPr>
              <a:t>a=b=0</a:t>
            </a:r>
            <a:r>
              <a:rPr lang="en-US" altLang="zh-CN" dirty="0">
                <a:latin typeface="宋体" panose="02010600030101010101" pitchFamily="2" charset="-122"/>
              </a:rPr>
              <a:t>，</a:t>
            </a:r>
            <a:r>
              <a:rPr lang="zh-CN" altLang="en-US" dirty="0">
                <a:latin typeface="宋体" panose="02010600030101010101" pitchFamily="2" charset="-122"/>
              </a:rPr>
              <a:t>则</a:t>
            </a:r>
            <a:r>
              <a:rPr lang="en-US" altLang="zh-CN" dirty="0">
                <a:latin typeface="Times New Roman" panose="02020603050405020304" pitchFamily="18" charset="0"/>
              </a:rPr>
              <a:t>b=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2" charset="2"/>
              </a:rPr>
              <a:t>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宋体" panose="02010600030101010101" pitchFamily="2" charset="-122"/>
              </a:rPr>
              <a:t>自然是对的。</a:t>
            </a:r>
            <a:endParaRPr lang="zh-CN" altLang="en-US" dirty="0"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宋体" panose="02010600030101010101" pitchFamily="2" charset="-122"/>
              </a:rPr>
              <a:t>若</a:t>
            </a:r>
            <a:r>
              <a:rPr lang="en-US" altLang="zh-CN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宋体" panose="02010600030101010101" pitchFamily="2" charset="-122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宋体" panose="02010600030101010101" pitchFamily="2" charset="-122"/>
              </a:rPr>
              <a:t>都不是</a:t>
            </a:r>
            <a:r>
              <a:rPr lang="zh-CN" altLang="en-US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宋体" panose="02010600030101010101" pitchFamily="2" charset="-122"/>
              </a:rPr>
              <a:t>。因为</a:t>
            </a:r>
            <a:r>
              <a:rPr lang="en-US" altLang="zh-CN" dirty="0" err="1">
                <a:latin typeface="Times New Roman" panose="02020603050405020304" pitchFamily="18" charset="0"/>
              </a:rPr>
              <a:t>a|b</a:t>
            </a:r>
            <a:r>
              <a:rPr lang="en-US" altLang="zh-CN" dirty="0" err="1">
                <a:latin typeface="宋体" panose="02010600030101010101" pitchFamily="2" charset="-122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</a:rPr>
              <a:t>b|a</a:t>
            </a:r>
            <a:r>
              <a:rPr lang="en-US" altLang="zh-CN" dirty="0">
                <a:latin typeface="宋体" panose="02010600030101010101" pitchFamily="2" charset="-122"/>
              </a:rPr>
              <a:t>，</a:t>
            </a:r>
            <a:r>
              <a:rPr lang="zh-CN" altLang="en-US" dirty="0">
                <a:latin typeface="宋体" panose="02010600030101010101" pitchFamily="2" charset="-122"/>
              </a:rPr>
              <a:t>故有整数</a:t>
            </a:r>
            <a:r>
              <a:rPr lang="en-US" altLang="zh-CN" dirty="0" err="1">
                <a:latin typeface="Times New Roman" panose="02020603050405020304" pitchFamily="18" charset="0"/>
              </a:rPr>
              <a:t>d</a:t>
            </a:r>
            <a:r>
              <a:rPr lang="en-US" altLang="zh-CN" dirty="0" err="1">
                <a:latin typeface="宋体" panose="02010600030101010101" pitchFamily="2" charset="-122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宋体" panose="02010600030101010101" pitchFamily="2" charset="-122"/>
              </a:rPr>
              <a:t>使</a:t>
            </a:r>
            <a:r>
              <a:rPr lang="en-US" altLang="zh-CN" dirty="0">
                <a:latin typeface="Times New Roman" panose="02020603050405020304" pitchFamily="18" charset="0"/>
              </a:rPr>
              <a:t>b=</a:t>
            </a:r>
            <a:r>
              <a:rPr lang="en-US" altLang="zh-CN" dirty="0" err="1">
                <a:latin typeface="Times New Roman" panose="02020603050405020304" pitchFamily="18" charset="0"/>
              </a:rPr>
              <a:t>ad</a:t>
            </a:r>
            <a:r>
              <a:rPr lang="en-US" altLang="zh-CN" dirty="0" err="1">
                <a:latin typeface="宋体" panose="02010600030101010101" pitchFamily="2" charset="-122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=be</a:t>
            </a:r>
            <a:r>
              <a:rPr lang="en-US" altLang="zh-CN" dirty="0">
                <a:latin typeface="宋体" panose="02010600030101010101" pitchFamily="2" charset="-122"/>
              </a:rPr>
              <a:t>，</a:t>
            </a:r>
            <a:r>
              <a:rPr lang="zh-CN" altLang="en-US" dirty="0">
                <a:latin typeface="宋体" panose="02010600030101010101" pitchFamily="2" charset="-122"/>
              </a:rPr>
              <a:t>从而</a:t>
            </a:r>
            <a:r>
              <a:rPr lang="en-US" altLang="zh-CN" dirty="0">
                <a:latin typeface="Times New Roman" panose="02020603050405020304" pitchFamily="18" charset="0"/>
              </a:rPr>
              <a:t>a=</a:t>
            </a:r>
            <a:r>
              <a:rPr lang="en-US" altLang="zh-CN" dirty="0" err="1">
                <a:latin typeface="Times New Roman" panose="02020603050405020304" pitchFamily="18" charset="0"/>
              </a:rPr>
              <a:t>ade</a:t>
            </a:r>
            <a:r>
              <a:rPr lang="en-US" altLang="zh-CN" dirty="0">
                <a:latin typeface="宋体" panose="02010600030101010101" pitchFamily="2" charset="-122"/>
              </a:rPr>
              <a:t>。</a:t>
            </a:r>
            <a:r>
              <a:rPr lang="zh-CN" altLang="en-US" dirty="0">
                <a:latin typeface="宋体" panose="02010600030101010101" pitchFamily="2" charset="-122"/>
              </a:rPr>
              <a:t>消去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宋体" panose="02010600030101010101" pitchFamily="2" charset="-122"/>
              </a:rPr>
              <a:t>得</a:t>
            </a:r>
            <a:r>
              <a:rPr lang="zh-CN" altLang="en-US" dirty="0">
                <a:latin typeface="Times New Roman" panose="02020603050405020304" pitchFamily="18" charset="0"/>
              </a:rPr>
              <a:t>1=</a:t>
            </a:r>
            <a:r>
              <a:rPr lang="en-US" altLang="zh-CN" dirty="0">
                <a:latin typeface="Times New Roman" panose="02020603050405020304" pitchFamily="18" charset="0"/>
              </a:rPr>
              <a:t>de</a:t>
            </a:r>
            <a:r>
              <a:rPr lang="en-US" altLang="zh-CN" dirty="0">
                <a:latin typeface="宋体" panose="02010600030101010101" pitchFamily="2" charset="-122"/>
              </a:rPr>
              <a:t>。</a:t>
            </a:r>
            <a:r>
              <a:rPr lang="zh-CN" altLang="en-US" dirty="0">
                <a:latin typeface="宋体" panose="02010600030101010101" pitchFamily="2" charset="-122"/>
              </a:rPr>
              <a:t>今</a:t>
            </a:r>
            <a:r>
              <a:rPr lang="en-US" altLang="zh-CN" dirty="0" err="1">
                <a:latin typeface="Times New Roman" panose="02020603050405020304" pitchFamily="18" charset="0"/>
              </a:rPr>
              <a:t>d</a:t>
            </a:r>
            <a:r>
              <a:rPr lang="en-US" altLang="zh-CN" dirty="0" err="1">
                <a:latin typeface="宋体" panose="02010600030101010101" pitchFamily="2" charset="-122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宋体" panose="02010600030101010101" pitchFamily="2" charset="-122"/>
              </a:rPr>
              <a:t>是整数而相乘得</a:t>
            </a:r>
            <a:r>
              <a:rPr lang="zh-CN" altLang="en-US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宋体" panose="02010600030101010101" pitchFamily="2" charset="-122"/>
              </a:rPr>
              <a:t>，故此二数必然都是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2" charset="2"/>
              </a:rPr>
              <a:t></a:t>
            </a:r>
            <a:r>
              <a:rPr lang="zh-CN" altLang="en-US" dirty="0">
                <a:latin typeface="Times New Roman" panose="02020603050405020304" pitchFamily="18" charset="0"/>
              </a:rPr>
              <a:t>1（同时为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或者同时为</a:t>
            </a:r>
            <a:r>
              <a:rPr lang="en-US" altLang="zh-CN" dirty="0">
                <a:latin typeface="Times New Roman" panose="02020603050405020304" pitchFamily="18" charset="0"/>
              </a:rPr>
              <a:t>-1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  <a:r>
              <a:rPr lang="zh-CN" altLang="en-US" dirty="0">
                <a:latin typeface="宋体" panose="02010600030101010101" pitchFamily="2" charset="-122"/>
              </a:rPr>
              <a:t>，因而</a:t>
            </a:r>
            <a:r>
              <a:rPr lang="en-US" altLang="zh-CN" dirty="0">
                <a:latin typeface="Times New Roman" panose="02020603050405020304" pitchFamily="18" charset="0"/>
              </a:rPr>
              <a:t>b=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2" charset="2"/>
              </a:rPr>
              <a:t>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宋体" panose="02010600030101010101" pitchFamily="2" charset="-122"/>
              </a:rPr>
              <a:t>。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7772400" cy="708025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</a:rPr>
              <a:t>整除的基本性质</a:t>
            </a:r>
            <a:r>
              <a:rPr lang="zh-CN" altLang="en-US" sz="4000">
                <a:latin typeface="黑体" panose="02010609060101010101" pitchFamily="2" charset="-122"/>
              </a:rPr>
              <a:t> </a:t>
            </a:r>
            <a:endParaRPr lang="en-US" altLang="zh-CN" sz="4000">
              <a:latin typeface="黑体" panose="02010609060101010101" pitchFamily="2" charset="-122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762000"/>
            <a:ext cx="8763000" cy="5334000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</a:rPr>
              <a:t>定义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5.1.2</a:t>
            </a:r>
            <a:r>
              <a:rPr lang="zh-CN" altLang="en-US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宋体" panose="02010600030101010101" pitchFamily="2" charset="-122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宋体" panose="02010600030101010101" pitchFamily="2" charset="-122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宋体" panose="02010600030101010101" pitchFamily="2" charset="-122"/>
              </a:rPr>
              <a:t>的因数也是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宋体" panose="02010600030101010101" pitchFamily="2" charset="-122"/>
              </a:rPr>
              <a:t>的因数，则称</a:t>
            </a:r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宋体" panose="02010600030101010101" pitchFamily="2" charset="-122"/>
              </a:rPr>
              <a:t>为</a:t>
            </a:r>
            <a:r>
              <a:rPr lang="en-US" altLang="zh-CN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宋体" panose="02010600030101010101" pitchFamily="2" charset="-122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</a:rPr>
              <a:t>公因数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宋体" panose="02010600030101010101" pitchFamily="2" charset="-122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宋体" panose="02010600030101010101" pitchFamily="2" charset="-122"/>
              </a:rPr>
              <a:t>是</a:t>
            </a:r>
            <a:r>
              <a:rPr lang="en-US" altLang="zh-CN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宋体" panose="02010600030101010101" pitchFamily="2" charset="-122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宋体" panose="02010600030101010101" pitchFamily="2" charset="-122"/>
              </a:rPr>
              <a:t>的公因数，而</a:t>
            </a:r>
            <a:r>
              <a:rPr lang="en-US" altLang="zh-CN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宋体" panose="02010600030101010101" pitchFamily="2" charset="-122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宋体" panose="02010600030101010101" pitchFamily="2" charset="-122"/>
              </a:rPr>
              <a:t>的任意公因数整除</a:t>
            </a:r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宋体" panose="02010600030101010101" pitchFamily="2" charset="-122"/>
              </a:rPr>
              <a:t>，</a:t>
            </a:r>
            <a:r>
              <a:rPr lang="zh-CN" altLang="en-US" dirty="0">
                <a:latin typeface="宋体" panose="02010600030101010101" pitchFamily="2" charset="-122"/>
              </a:rPr>
              <a:t>则称</a:t>
            </a:r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宋体" panose="02010600030101010101" pitchFamily="2" charset="-122"/>
              </a:rPr>
              <a:t>为</a:t>
            </a:r>
            <a:r>
              <a:rPr lang="en-US" altLang="zh-CN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宋体" panose="02010600030101010101" pitchFamily="2" charset="-122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</a:rPr>
              <a:t>最高公因数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r>
              <a:rPr lang="en-US" altLang="zh-CN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宋体" panose="02010600030101010101" pitchFamily="2" charset="-122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宋体" panose="02010600030101010101" pitchFamily="2" charset="-122"/>
              </a:rPr>
              <a:t>的最高公因数通常记为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d=(</a:t>
            </a:r>
            <a:r>
              <a:rPr lang="en-US" altLang="zh-CN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a,b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</a:rPr>
              <a:t>。</a:t>
            </a:r>
            <a:endParaRPr lang="en-US" altLang="zh-CN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. </a:t>
            </a:r>
            <a:r>
              <a:rPr lang="en-US" altLang="zh-CN" dirty="0">
                <a:latin typeface="Times New Roman" panose="02020603050405020304" pitchFamily="18" charset="0"/>
              </a:rPr>
              <a:t>8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12</a:t>
            </a:r>
            <a:r>
              <a:rPr lang="zh-CN" altLang="en-US" dirty="0">
                <a:latin typeface="Times New Roman" panose="02020603050405020304" pitchFamily="18" charset="0"/>
              </a:rPr>
              <a:t>有公因数：</a:t>
            </a:r>
            <a:r>
              <a:rPr lang="en-US" altLang="zh-CN" dirty="0">
                <a:latin typeface="宋体" panose="02010600030101010101" pitchFamily="2" charset="-122"/>
              </a:rPr>
              <a:t>±</a:t>
            </a:r>
            <a:r>
              <a:rPr lang="en-US" altLang="zh-CN" dirty="0">
                <a:latin typeface="Times New Roman" panose="02020603050405020304" pitchFamily="18" charset="0"/>
              </a:rPr>
              <a:t>1, </a:t>
            </a:r>
            <a:r>
              <a:rPr lang="en-US" altLang="zh-CN" dirty="0">
                <a:latin typeface="宋体" panose="02010600030101010101" pitchFamily="2" charset="-122"/>
              </a:rPr>
              <a:t>±</a:t>
            </a:r>
            <a:r>
              <a:rPr lang="en-US" altLang="zh-CN" dirty="0">
                <a:latin typeface="Times New Roman" panose="02020603050405020304" pitchFamily="18" charset="0"/>
              </a:rPr>
              <a:t>2, </a:t>
            </a:r>
            <a:r>
              <a:rPr lang="en-US" altLang="zh-CN" dirty="0">
                <a:latin typeface="宋体" panose="02010600030101010101" pitchFamily="2" charset="-122"/>
              </a:rPr>
              <a:t>±</a:t>
            </a:r>
            <a:r>
              <a:rPr lang="en-US" altLang="zh-CN" dirty="0">
                <a:latin typeface="Times New Roman" panose="02020603050405020304" pitchFamily="18" charset="0"/>
              </a:rPr>
              <a:t>4, </a:t>
            </a:r>
            <a:r>
              <a:rPr lang="zh-CN" altLang="en-US" dirty="0">
                <a:latin typeface="Times New Roman" panose="02020603050405020304" pitchFamily="18" charset="0"/>
              </a:rPr>
              <a:t>其中， </a:t>
            </a:r>
            <a:r>
              <a:rPr lang="en-US" altLang="zh-CN" dirty="0">
                <a:latin typeface="宋体" panose="02010600030101010101" pitchFamily="2" charset="-122"/>
              </a:rPr>
              <a:t>±</a:t>
            </a:r>
            <a:r>
              <a:rPr lang="en-US" altLang="zh-CN" dirty="0">
                <a:latin typeface="Times New Roman" panose="02020603050405020304" pitchFamily="18" charset="0"/>
              </a:rPr>
              <a:t>1|4, </a:t>
            </a:r>
            <a:r>
              <a:rPr lang="en-US" altLang="zh-CN" dirty="0">
                <a:latin typeface="宋体" panose="02010600030101010101" pitchFamily="2" charset="-122"/>
              </a:rPr>
              <a:t>±</a:t>
            </a:r>
            <a:r>
              <a:rPr lang="en-US" altLang="zh-CN" dirty="0">
                <a:latin typeface="Times New Roman" panose="02020603050405020304" pitchFamily="18" charset="0"/>
              </a:rPr>
              <a:t>2|4, </a:t>
            </a:r>
            <a:r>
              <a:rPr lang="en-US" altLang="zh-CN" dirty="0">
                <a:latin typeface="宋体" panose="02010600030101010101" pitchFamily="2" charset="-122"/>
              </a:rPr>
              <a:t>±</a:t>
            </a:r>
            <a:r>
              <a:rPr lang="en-US" altLang="zh-CN" dirty="0">
                <a:latin typeface="Times New Roman" panose="02020603050405020304" pitchFamily="18" charset="0"/>
              </a:rPr>
              <a:t>4|4</a:t>
            </a:r>
            <a:r>
              <a:rPr lang="zh-CN" altLang="en-US" dirty="0">
                <a:latin typeface="Times New Roman" panose="02020603050405020304" pitchFamily="18" charset="0"/>
              </a:rPr>
              <a:t>，则</a:t>
            </a:r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8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12</a:t>
            </a:r>
            <a:r>
              <a:rPr lang="zh-CN" altLang="en-US" dirty="0">
                <a:latin typeface="Times New Roman" panose="02020603050405020304" pitchFamily="18" charset="0"/>
              </a:rPr>
              <a:t>的最高公因数，</a:t>
            </a:r>
            <a:r>
              <a:rPr lang="zh-CN" altLang="en-US" dirty="0">
                <a:latin typeface="宋体" panose="02010600030101010101" pitchFamily="2" charset="-122"/>
              </a:rPr>
              <a:t>记为</a:t>
            </a:r>
            <a:r>
              <a:rPr lang="en-US" altLang="zh-CN" dirty="0">
                <a:latin typeface="Times New Roman" panose="02020603050405020304" pitchFamily="18" charset="0"/>
              </a:rPr>
              <a:t>4=(8, 12)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dirty="0" err="1">
                <a:latin typeface="Times New Roman" panose="02020603050405020304" pitchFamily="18" charset="0"/>
              </a:rPr>
              <a:t>a|b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  ，则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最高公因数是</a:t>
            </a:r>
            <a:r>
              <a:rPr lang="en-US" altLang="zh-CN" dirty="0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708025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</a:rPr>
              <a:t>整除的基本性质</a:t>
            </a:r>
            <a:r>
              <a:rPr lang="zh-CN" altLang="en-US" sz="4000">
                <a:latin typeface="黑体" panose="02010609060101010101" pitchFamily="2" charset="-122"/>
              </a:rPr>
              <a:t> </a:t>
            </a:r>
            <a:endParaRPr lang="en-US" altLang="zh-CN" sz="4000">
              <a:latin typeface="黑体" panose="02010609060101010101" pitchFamily="2" charset="-122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838200"/>
            <a:ext cx="8763000" cy="533400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性质7  设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a=</a:t>
            </a:r>
            <a:r>
              <a:rPr lang="en-US" altLang="zh-CN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qb+c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则</a:t>
            </a:r>
            <a:r>
              <a:rPr lang="en-US" altLang="zh-CN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a，b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的公因数与</a:t>
            </a:r>
            <a:r>
              <a:rPr lang="en-US" altLang="zh-CN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b，c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的公因数是完全相同的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宋体" panose="02010600030101010101" pitchFamily="2" charset="-122"/>
              </a:rPr>
              <a:t>证明：</a:t>
            </a:r>
            <a:r>
              <a:rPr lang="zh-CN" altLang="en-US" dirty="0"/>
              <a:t>①</a:t>
            </a:r>
            <a:r>
              <a:rPr lang="zh-CN" altLang="en-US" dirty="0">
                <a:latin typeface="宋体" panose="02010600030101010101" pitchFamily="2" charset="-122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宋体" panose="02010600030101010101" pitchFamily="2" charset="-122"/>
              </a:rPr>
              <a:t>是</a:t>
            </a:r>
            <a:r>
              <a:rPr lang="en-US" altLang="zh-CN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宋体" panose="02010600030101010101" pitchFamily="2" charset="-122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宋体" panose="02010600030101010101" pitchFamily="2" charset="-122"/>
              </a:rPr>
              <a:t>的公因数，则由上式及性质</a:t>
            </a:r>
            <a:r>
              <a:rPr lang="zh-CN" altLang="en-US" dirty="0"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宋体" panose="02010600030101010101" pitchFamily="2" charset="-122"/>
              </a:rPr>
              <a:t>也是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宋体" panose="02010600030101010101" pitchFamily="2" charset="-122"/>
              </a:rPr>
              <a:t>的因数，因而是</a:t>
            </a:r>
            <a:r>
              <a:rPr lang="en-US" altLang="zh-CN" dirty="0" err="1">
                <a:latin typeface="Times New Roman" panose="02020603050405020304" pitchFamily="18" charset="0"/>
              </a:rPr>
              <a:t>a,b</a:t>
            </a:r>
            <a:r>
              <a:rPr lang="zh-CN" altLang="en-US" dirty="0">
                <a:latin typeface="宋体" panose="02010600030101010101" pitchFamily="2" charset="-122"/>
              </a:rPr>
              <a:t>的公因数。</a:t>
            </a:r>
            <a:endParaRPr lang="zh-CN" altLang="en-US" dirty="0"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zh-CN" dirty="0"/>
              <a:t>②</a:t>
            </a:r>
            <a:r>
              <a:rPr lang="zh-CN" altLang="en-US" dirty="0">
                <a:latin typeface="宋体" panose="02010600030101010101" pitchFamily="2" charset="-122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宋体" panose="02010600030101010101" pitchFamily="2" charset="-122"/>
              </a:rPr>
              <a:t>是</a:t>
            </a:r>
            <a:r>
              <a:rPr lang="en-US" altLang="zh-CN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宋体" panose="02010600030101010101" pitchFamily="2" charset="-122"/>
              </a:rPr>
              <a:t>,</a:t>
            </a:r>
            <a:r>
              <a:rPr lang="en-US" altLang="zh-CN" dirty="0" err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宋体" panose="02010600030101010101" pitchFamily="2" charset="-122"/>
              </a:rPr>
              <a:t>的公因数，则由上式及性质</a:t>
            </a:r>
            <a:r>
              <a:rPr lang="zh-CN" altLang="en-US" dirty="0"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宋体" panose="02010600030101010101" pitchFamily="2" charset="-122"/>
              </a:rPr>
              <a:t>也是</a:t>
            </a:r>
            <a:r>
              <a:rPr lang="en-US" altLang="zh-CN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宋体" panose="02010600030101010101" pitchFamily="2" charset="-122"/>
              </a:rPr>
              <a:t>的因数，因而是</a:t>
            </a:r>
            <a:r>
              <a:rPr lang="en-US" altLang="zh-CN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宋体" panose="02010600030101010101" pitchFamily="2" charset="-122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宋体" panose="02010600030101010101" pitchFamily="2" charset="-122"/>
              </a:rPr>
              <a:t>的公因数。</a:t>
            </a:r>
            <a:endParaRPr lang="en-US" altLang="zh-CN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8763000" cy="632460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最高公因数的定义只是说，如果有那样的</a:t>
            </a:r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宋体" panose="02010600030101010101" pitchFamily="2" charset="-122"/>
              </a:rPr>
              <a:t>，</a:t>
            </a:r>
            <a:r>
              <a:rPr lang="zh-CN" altLang="en-US" dirty="0">
                <a:latin typeface="宋体" panose="02010600030101010101" pitchFamily="2" charset="-122"/>
              </a:rPr>
              <a:t>则</a:t>
            </a:r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宋体" panose="02010600030101010101" pitchFamily="2" charset="-122"/>
              </a:rPr>
              <a:t>叫做</a:t>
            </a:r>
            <a:r>
              <a:rPr lang="en-US" altLang="zh-CN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宋体" panose="02010600030101010101" pitchFamily="2" charset="-122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宋体" panose="02010600030101010101" pitchFamily="2" charset="-122"/>
              </a:rPr>
              <a:t>的最高公因数。对于任意的</a:t>
            </a:r>
            <a:r>
              <a:rPr lang="en-US" altLang="zh-CN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宋体" panose="02010600030101010101" pitchFamily="2" charset="-122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宋体" panose="02010600030101010101" pitchFamily="2" charset="-122"/>
              </a:rPr>
              <a:t>是否</a:t>
            </a: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</a:rPr>
              <a:t>有</a:t>
            </a:r>
            <a:r>
              <a:rPr lang="zh-CN" altLang="en-US" dirty="0">
                <a:latin typeface="宋体" panose="02010600030101010101" pitchFamily="2" charset="-122"/>
              </a:rPr>
              <a:t>那样的</a:t>
            </a:r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宋体" panose="02010600030101010101" pitchFamily="2" charset="-122"/>
              </a:rPr>
              <a:t>呢？现在还不知道，等下面再回答这个问题。不过，有一点是容易说明的：</a:t>
            </a:r>
            <a:endParaRPr lang="zh-CN" altLang="en-US" dirty="0"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宋体" panose="02010600030101010101" pitchFamily="2" charset="-122"/>
              </a:rPr>
              <a:t>  如果</a:t>
            </a:r>
            <a:r>
              <a:rPr lang="en-US" altLang="zh-CN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宋体" panose="02010600030101010101" pitchFamily="2" charset="-122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宋体" panose="02010600030101010101" pitchFamily="2" charset="-122"/>
              </a:rPr>
              <a:t>有最高公因数，则最高公因数除符号外唯一确定。</a:t>
            </a:r>
            <a:endParaRPr lang="zh-CN" altLang="en-US" dirty="0"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宋体" panose="02010600030101010101" pitchFamily="2" charset="-122"/>
              </a:rPr>
              <a:t>  证明：若</a:t>
            </a:r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宋体" panose="02010600030101010101" pitchFamily="2" charset="-122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d'</a:t>
            </a:r>
            <a:r>
              <a:rPr lang="zh-CN" altLang="en-US" dirty="0">
                <a:latin typeface="宋体" panose="02010600030101010101" pitchFamily="2" charset="-122"/>
              </a:rPr>
              <a:t>都是</a:t>
            </a:r>
            <a:r>
              <a:rPr lang="en-US" altLang="zh-CN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宋体" panose="02010600030101010101" pitchFamily="2" charset="-122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宋体" panose="02010600030101010101" pitchFamily="2" charset="-122"/>
              </a:rPr>
              <a:t>的最高公因数，则</a:t>
            </a:r>
            <a:r>
              <a:rPr lang="en-US" altLang="zh-CN" dirty="0" err="1">
                <a:latin typeface="Times New Roman" panose="02020603050405020304" pitchFamily="18" charset="0"/>
              </a:rPr>
              <a:t>d|d</a:t>
            </a:r>
            <a:r>
              <a:rPr lang="en-US" altLang="zh-CN" dirty="0">
                <a:latin typeface="Times New Roman" panose="02020603050405020304" pitchFamily="18" charset="0"/>
              </a:rPr>
              <a:t>'</a:t>
            </a:r>
            <a:r>
              <a:rPr lang="en-US" altLang="zh-CN" dirty="0">
                <a:latin typeface="宋体" panose="02010600030101010101" pitchFamily="2" charset="-122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</a:rPr>
              <a:t>d'|d</a:t>
            </a:r>
            <a:r>
              <a:rPr lang="en-US" altLang="zh-CN" dirty="0">
                <a:latin typeface="宋体" panose="02010600030101010101" pitchFamily="2" charset="-122"/>
              </a:rPr>
              <a:t>，</a:t>
            </a:r>
            <a:r>
              <a:rPr lang="zh-CN" altLang="en-US" dirty="0">
                <a:latin typeface="宋体" panose="02010600030101010101" pitchFamily="2" charset="-122"/>
              </a:rPr>
              <a:t>因而由性质</a:t>
            </a:r>
            <a:r>
              <a:rPr lang="zh-CN" altLang="en-US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宋体" panose="02010600030101010101" pitchFamily="2" charset="-122"/>
              </a:rPr>
              <a:t>知，</a:t>
            </a:r>
            <a:r>
              <a:rPr lang="en-US" altLang="zh-CN" dirty="0">
                <a:latin typeface="Times New Roman" panose="02020603050405020304" pitchFamily="18" charset="0"/>
              </a:rPr>
              <a:t>d'=</a:t>
            </a:r>
            <a:r>
              <a:rPr lang="en-US" altLang="zh-CN" dirty="0">
                <a:latin typeface="宋体" panose="02010600030101010101" pitchFamily="2" charset="-122"/>
              </a:rPr>
              <a:t>±</a:t>
            </a:r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en-US" altLang="zh-CN" sz="3600" dirty="0">
                <a:latin typeface="宋体" panose="02010600030101010101" pitchFamily="2" charset="-122"/>
              </a:rPr>
              <a:t>。</a:t>
            </a:r>
            <a:r>
              <a:rPr lang="en-US" altLang="zh-CN" sz="3600" dirty="0">
                <a:latin typeface="Times New Roman" panose="02020603050405020304" pitchFamily="18" charset="0"/>
              </a:rPr>
              <a:t> 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763000" cy="22860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现在我们来看，是否任意</a:t>
            </a:r>
            <a:r>
              <a:rPr lang="en-US" altLang="zh-CN" dirty="0" err="1">
                <a:latin typeface="Times New Roman" panose="02020603050405020304" pitchFamily="18" charset="0"/>
              </a:rPr>
              <a:t>a，b</a:t>
            </a:r>
            <a:r>
              <a:rPr lang="zh-CN" altLang="en-US" dirty="0">
                <a:latin typeface="Times New Roman" panose="02020603050405020304" pitchFamily="18" charset="0"/>
              </a:rPr>
              <a:t>有最高公因数？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若</a:t>
            </a:r>
            <a:r>
              <a:rPr lang="en-US" altLang="zh-CN" dirty="0" err="1">
                <a:latin typeface="Times New Roman" panose="02020603050405020304" pitchFamily="18" charset="0"/>
              </a:rPr>
              <a:t>b|a</a:t>
            </a:r>
            <a:r>
              <a:rPr lang="en-US" altLang="zh-CN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</a:rPr>
              <a:t>则由定义易见，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就是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的最高公因数。同样，若</a:t>
            </a:r>
            <a:r>
              <a:rPr lang="en-US" altLang="zh-CN" dirty="0" err="1">
                <a:latin typeface="Times New Roman" panose="02020603050405020304" pitchFamily="18" charset="0"/>
              </a:rPr>
              <a:t>a|b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就是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的最高公因数。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287338"/>
            <a:ext cx="7772400" cy="706437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4000">
                <a:latin typeface="Times New Roman" panose="02020603050405020304" pitchFamily="18" charset="0"/>
                <a:ea typeface="宋体" panose="02010600030101010101" pitchFamily="2" charset="-122"/>
              </a:rPr>
              <a:t>5.1.2  </a:t>
            </a:r>
            <a:r>
              <a:rPr lang="zh-CN" altLang="en-US" sz="4000">
                <a:latin typeface="Times New Roman" panose="02020603050405020304" pitchFamily="18" charset="0"/>
                <a:ea typeface="宋体" panose="02010600030101010101" pitchFamily="2" charset="-122"/>
              </a:rPr>
              <a:t>辗转相除</a:t>
            </a:r>
            <a:r>
              <a:rPr lang="zh-CN" altLang="en-US" sz="4000">
                <a:latin typeface="Times New Roman" panose="02020603050405020304" pitchFamily="18" charset="0"/>
              </a:rPr>
              <a:t> </a:t>
            </a:r>
            <a:endParaRPr lang="en-US" altLang="zh-CN" sz="4000">
              <a:latin typeface="Times New Roman" panose="02020603050405020304" pitchFamily="18" charset="0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152400" y="3276600"/>
            <a:ext cx="8763000" cy="2362200"/>
            <a:chOff x="96" y="2064"/>
            <a:chExt cx="5520" cy="1488"/>
          </a:xfrm>
        </p:grpSpPr>
        <p:sp>
          <p:nvSpPr>
            <p:cNvPr id="35844" name="Rectangle 5"/>
            <p:cNvSpPr>
              <a:spLocks noChangeArrowheads="1"/>
            </p:cNvSpPr>
            <p:nvPr/>
          </p:nvSpPr>
          <p:spPr bwMode="auto">
            <a:xfrm>
              <a:off x="96" y="2064"/>
              <a:ext cx="5520" cy="1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Ø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Font typeface="Wingdings" panose="05000000000000000000" pitchFamily="2" charset="2"/>
                <a:buNone/>
              </a:pPr>
              <a:r>
                <a:rPr lang="zh-CN" altLang="en-US" dirty="0">
                  <a:latin typeface="宋体" panose="02010600030101010101" pitchFamily="2" charset="-122"/>
                </a:rPr>
                <a:t>今设</a:t>
              </a:r>
              <a:r>
                <a:rPr lang="en-US" altLang="zh-CN" sz="3600" dirty="0" err="1">
                  <a:latin typeface="Times New Roman" panose="02020603050405020304" pitchFamily="18" charset="0"/>
                </a:rPr>
                <a:t>a|b</a:t>
              </a:r>
              <a:r>
                <a:rPr lang="en-US" altLang="zh-CN" sz="3600" dirty="0" err="1">
                  <a:latin typeface="宋体" panose="02010600030101010101" pitchFamily="2" charset="-122"/>
                </a:rPr>
                <a:t>，</a:t>
              </a:r>
              <a:r>
                <a:rPr lang="en-US" altLang="zh-CN" sz="3600" dirty="0" err="1">
                  <a:latin typeface="Times New Roman" panose="02020603050405020304" pitchFamily="18" charset="0"/>
                </a:rPr>
                <a:t>b|a</a:t>
              </a:r>
              <a:r>
                <a:rPr lang="en-US" altLang="zh-CN" sz="3600" dirty="0">
                  <a:latin typeface="宋体" panose="02010600030101010101" pitchFamily="2" charset="-122"/>
                </a:rPr>
                <a:t>。</a:t>
              </a:r>
              <a:r>
                <a:rPr lang="zh-CN" altLang="en-US" dirty="0">
                  <a:latin typeface="宋体" panose="02010600030101010101" pitchFamily="2" charset="-122"/>
                </a:rPr>
                <a:t>因为任意数整除</a:t>
              </a:r>
              <a:r>
                <a:rPr lang="zh-CN" altLang="en-US" dirty="0">
                  <a:latin typeface="Times New Roman" panose="02020603050405020304" pitchFamily="18" charset="0"/>
                </a:rPr>
                <a:t>0</a:t>
              </a:r>
              <a:r>
                <a:rPr lang="zh-CN" altLang="en-US" dirty="0">
                  <a:latin typeface="宋体" panose="02010600030101010101" pitchFamily="2" charset="-122"/>
                </a:rPr>
                <a:t>，所以</a:t>
              </a:r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r>
                <a:rPr lang="en-US" altLang="zh-CN" dirty="0">
                  <a:latin typeface="Times New Roman" panose="02020603050405020304" pitchFamily="18" charset="0"/>
                  <a:sym typeface="Symbol" panose="05050102010706020507" pitchFamily="2" charset="2"/>
                </a:rPr>
                <a:t></a:t>
              </a: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r>
                <a:rPr lang="en-US" altLang="zh-CN" dirty="0">
                  <a:latin typeface="宋体" panose="02010600030101010101" pitchFamily="2" charset="-122"/>
                </a:rPr>
                <a:t>，</a:t>
              </a:r>
              <a:r>
                <a:rPr lang="en-US" altLang="zh-CN" dirty="0">
                  <a:latin typeface="Times New Roman" panose="02020603050405020304" pitchFamily="18" charset="0"/>
                </a:rPr>
                <a:t>b</a:t>
              </a:r>
              <a:r>
                <a:rPr lang="en-US" altLang="zh-CN" dirty="0">
                  <a:latin typeface="Times New Roman" panose="02020603050405020304" pitchFamily="18" charset="0"/>
                  <a:sym typeface="Symbol" panose="05050102010706020507" pitchFamily="2" charset="2"/>
                </a:rPr>
                <a:t></a:t>
              </a: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r>
                <a:rPr lang="en-US" altLang="zh-CN" dirty="0">
                  <a:latin typeface="宋体" panose="02010600030101010101" pitchFamily="2" charset="-122"/>
                </a:rPr>
                <a:t>。</a:t>
              </a:r>
              <a:r>
                <a:rPr lang="zh-CN" altLang="en-US" dirty="0">
                  <a:latin typeface="宋体" panose="02010600030101010101" pitchFamily="2" charset="-122"/>
                </a:rPr>
                <a:t>以</a:t>
              </a:r>
              <a:r>
                <a:rPr lang="en-US" altLang="zh-CN" dirty="0">
                  <a:latin typeface="Times New Roman" panose="02020603050405020304" pitchFamily="18" charset="0"/>
                </a:rPr>
                <a:t>b</a:t>
              </a:r>
              <a:r>
                <a:rPr lang="zh-CN" altLang="en-US" dirty="0">
                  <a:latin typeface="宋体" panose="02010600030101010101" pitchFamily="2" charset="-122"/>
                </a:rPr>
                <a:t>除</a:t>
              </a:r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r>
                <a:rPr lang="zh-CN" altLang="en-US" dirty="0">
                  <a:latin typeface="宋体" panose="02010600030101010101" pitchFamily="2" charset="-122"/>
                </a:rPr>
                <a:t>得商</a:t>
              </a:r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-30000" dirty="0">
                  <a:latin typeface="Times New Roman" panose="02020603050405020304" pitchFamily="18" charset="0"/>
                </a:rPr>
                <a:t>1</a:t>
              </a:r>
              <a:r>
                <a:rPr lang="zh-CN" altLang="en-US" dirty="0">
                  <a:latin typeface="宋体" panose="02010600030101010101" pitchFamily="2" charset="-122"/>
                </a:rPr>
                <a:t>余数</a:t>
              </a:r>
              <a:r>
                <a:rPr lang="en-US" altLang="zh-CN" dirty="0">
                  <a:latin typeface="Times New Roman" panose="02020603050405020304" pitchFamily="18" charset="0"/>
                </a:rPr>
                <a:t>r</a:t>
              </a:r>
              <a:r>
                <a:rPr lang="en-US" altLang="zh-CN" baseline="-30000" dirty="0">
                  <a:latin typeface="Times New Roman" panose="02020603050405020304" pitchFamily="18" charset="0"/>
                </a:rPr>
                <a:t>1</a:t>
              </a:r>
              <a:r>
                <a:rPr lang="en-US" altLang="zh-CN" dirty="0">
                  <a:latin typeface="宋体" panose="02010600030101010101" pitchFamily="2" charset="-122"/>
                </a:rPr>
                <a:t>，</a:t>
              </a:r>
              <a:r>
                <a:rPr lang="zh-CN" altLang="en-US" dirty="0">
                  <a:latin typeface="宋体" panose="02010600030101010101" pitchFamily="2" charset="-122"/>
                </a:rPr>
                <a:t>以</a:t>
              </a:r>
              <a:r>
                <a:rPr lang="en-US" altLang="zh-CN" dirty="0">
                  <a:latin typeface="Times New Roman" panose="02020603050405020304" pitchFamily="18" charset="0"/>
                </a:rPr>
                <a:t>r</a:t>
              </a:r>
              <a:r>
                <a:rPr lang="en-US" altLang="zh-CN" baseline="-30000" dirty="0">
                  <a:latin typeface="Times New Roman" panose="02020603050405020304" pitchFamily="18" charset="0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宋体" panose="02010600030101010101" pitchFamily="2" charset="-122"/>
                </a:rPr>
                <a:t>除</a:t>
              </a:r>
              <a:r>
                <a:rPr lang="en-US" altLang="zh-CN" dirty="0">
                  <a:latin typeface="Times New Roman" panose="02020603050405020304" pitchFamily="18" charset="0"/>
                </a:rPr>
                <a:t>b</a:t>
              </a:r>
              <a:r>
                <a:rPr lang="zh-CN" altLang="en-US" dirty="0">
                  <a:latin typeface="宋体" panose="02010600030101010101" pitchFamily="2" charset="-122"/>
                </a:rPr>
                <a:t>得商</a:t>
              </a:r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-30000" dirty="0">
                  <a:latin typeface="Times New Roman" panose="02020603050405020304" pitchFamily="18" charset="0"/>
                </a:rPr>
                <a:t>2</a:t>
              </a:r>
              <a:r>
                <a:rPr lang="zh-CN" altLang="en-US" dirty="0">
                  <a:latin typeface="宋体" panose="02010600030101010101" pitchFamily="2" charset="-122"/>
                </a:rPr>
                <a:t>余数</a:t>
              </a:r>
              <a:r>
                <a:rPr lang="en-US" altLang="zh-CN" dirty="0">
                  <a:latin typeface="Times New Roman" panose="02020603050405020304" pitchFamily="18" charset="0"/>
                </a:rPr>
                <a:t>r</a:t>
              </a:r>
              <a:r>
                <a:rPr lang="en-US" altLang="zh-CN" baseline="-30000" dirty="0">
                  <a:latin typeface="Times New Roman" panose="02020603050405020304" pitchFamily="18" charset="0"/>
                </a:rPr>
                <a:t>2</a:t>
              </a:r>
              <a:r>
                <a:rPr lang="en-US" altLang="zh-CN" dirty="0">
                  <a:latin typeface="宋体" panose="02010600030101010101" pitchFamily="2" charset="-122"/>
                </a:rPr>
                <a:t>，</a:t>
              </a:r>
              <a:r>
                <a:rPr lang="zh-CN" altLang="en-US" dirty="0">
                  <a:latin typeface="宋体" panose="02010600030101010101" pitchFamily="2" charset="-122"/>
                </a:rPr>
                <a:t>以</a:t>
              </a:r>
              <a:r>
                <a:rPr lang="en-US" altLang="zh-CN" dirty="0">
                  <a:latin typeface="Times New Roman" panose="02020603050405020304" pitchFamily="18" charset="0"/>
                </a:rPr>
                <a:t>r</a:t>
              </a:r>
              <a:r>
                <a:rPr lang="en-US" altLang="zh-CN" baseline="-30000" dirty="0">
                  <a:latin typeface="Times New Roman" panose="02020603050405020304" pitchFamily="18" charset="0"/>
                </a:rPr>
                <a:t>2</a:t>
              </a:r>
              <a:r>
                <a:rPr lang="zh-CN" altLang="en-US" dirty="0">
                  <a:latin typeface="宋体" panose="02010600030101010101" pitchFamily="2" charset="-122"/>
                </a:rPr>
                <a:t>除</a:t>
              </a:r>
              <a:r>
                <a:rPr lang="en-US" altLang="zh-CN" dirty="0">
                  <a:latin typeface="Times New Roman" panose="02020603050405020304" pitchFamily="18" charset="0"/>
                </a:rPr>
                <a:t>r</a:t>
              </a:r>
              <a:r>
                <a:rPr lang="en-US" altLang="zh-CN" baseline="-30000" dirty="0">
                  <a:latin typeface="Times New Roman" panose="02020603050405020304" pitchFamily="18" charset="0"/>
                </a:rPr>
                <a:t>1</a:t>
              </a:r>
              <a:r>
                <a:rPr lang="zh-CN" altLang="en-US" dirty="0">
                  <a:latin typeface="宋体" panose="02010600030101010101" pitchFamily="2" charset="-122"/>
                </a:rPr>
                <a:t>得商</a:t>
              </a:r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-30000" dirty="0">
                  <a:latin typeface="Times New Roman" panose="02020603050405020304" pitchFamily="18" charset="0"/>
                </a:rPr>
                <a:t>3</a:t>
              </a:r>
              <a:r>
                <a:rPr lang="zh-CN" altLang="en-US" dirty="0">
                  <a:latin typeface="宋体" panose="02010600030101010101" pitchFamily="2" charset="-122"/>
                </a:rPr>
                <a:t>余数</a:t>
              </a:r>
              <a:r>
                <a:rPr lang="en-US" altLang="zh-CN" dirty="0">
                  <a:latin typeface="Times New Roman" panose="02020603050405020304" pitchFamily="18" charset="0"/>
                </a:rPr>
                <a:t>r</a:t>
              </a:r>
              <a:r>
                <a:rPr lang="en-US" altLang="zh-CN" baseline="-30000" dirty="0">
                  <a:latin typeface="Times New Roman" panose="02020603050405020304" pitchFamily="18" charset="0"/>
                </a:rPr>
                <a:t>3</a:t>
              </a:r>
              <a:r>
                <a:rPr lang="en-US" altLang="zh-CN" dirty="0">
                  <a:latin typeface="宋体" panose="02010600030101010101" pitchFamily="2" charset="-122"/>
                </a:rPr>
                <a:t>。</a:t>
              </a:r>
              <a:r>
                <a:rPr lang="zh-CN" altLang="en-US" dirty="0">
                  <a:latin typeface="宋体" panose="02010600030101010101" pitchFamily="2" charset="-122"/>
                </a:rPr>
                <a:t>如此类推有下列各式：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845" name="Line 6"/>
            <p:cNvSpPr>
              <a:spLocks noChangeShapeType="1"/>
            </p:cNvSpPr>
            <p:nvPr/>
          </p:nvSpPr>
          <p:spPr bwMode="auto">
            <a:xfrm>
              <a:off x="816" y="2256"/>
              <a:ext cx="96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5846" name="Line 7"/>
            <p:cNvSpPr>
              <a:spLocks noChangeShapeType="1"/>
            </p:cNvSpPr>
            <p:nvPr/>
          </p:nvSpPr>
          <p:spPr bwMode="auto">
            <a:xfrm>
              <a:off x="1488" y="2256"/>
              <a:ext cx="96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ChangeArrowheads="1"/>
          </p:cNvSpPr>
          <p:nvPr/>
        </p:nvSpPr>
        <p:spPr bwMode="auto">
          <a:xfrm>
            <a:off x="1143000" y="1219200"/>
            <a:ext cx="48006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Ø"/>
              <a:tabLst>
                <a:tab pos="1428750" algn="l"/>
              </a:tabLst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tabLst>
                <a:tab pos="1428750" algn="l"/>
              </a:tabLst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tabLst>
                <a:tab pos="1428750" algn="l"/>
              </a:tabLs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tabLst>
                <a:tab pos="1428750" algn="l"/>
              </a:tabLs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tabLst>
                <a:tab pos="1428750" algn="l"/>
              </a:tabLs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tabLst>
                <a:tab pos="1428750" algn="l"/>
              </a:tabLs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tabLst>
                <a:tab pos="1428750" algn="l"/>
              </a:tabLs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tabLst>
                <a:tab pos="1428750" algn="l"/>
              </a:tabLs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tabLst>
                <a:tab pos="1428750" algn="l"/>
              </a:tabLs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3600">
                <a:latin typeface="Times New Roman" panose="02020603050405020304" pitchFamily="18" charset="0"/>
              </a:rPr>
              <a:t>	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600">
                <a:latin typeface="Times New Roman" panose="02020603050405020304" pitchFamily="18" charset="0"/>
              </a:rPr>
              <a:t>=q</a:t>
            </a:r>
            <a:r>
              <a:rPr lang="en-US" altLang="zh-CN" sz="3600" baseline="-30000">
                <a:latin typeface="Times New Roman" panose="02020603050405020304" pitchFamily="18" charset="0"/>
              </a:rPr>
              <a:t>1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3600">
                <a:latin typeface="Times New Roman" panose="02020603050405020304" pitchFamily="18" charset="0"/>
              </a:rPr>
              <a:t>+r</a:t>
            </a:r>
            <a:r>
              <a:rPr lang="en-US" altLang="zh-CN" sz="3600" baseline="-30000">
                <a:latin typeface="Times New Roman" panose="02020603050405020304" pitchFamily="18" charset="0"/>
              </a:rPr>
              <a:t>1</a:t>
            </a:r>
            <a:endParaRPr lang="en-US" altLang="zh-CN" sz="36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3600">
                <a:latin typeface="Times New Roman" panose="02020603050405020304" pitchFamily="18" charset="0"/>
              </a:rPr>
              <a:t>	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3600">
                <a:latin typeface="Times New Roman" panose="02020603050405020304" pitchFamily="18" charset="0"/>
              </a:rPr>
              <a:t>=q</a:t>
            </a:r>
            <a:r>
              <a:rPr lang="en-US" altLang="zh-CN" sz="3600" baseline="-30000">
                <a:latin typeface="Times New Roman" panose="02020603050405020304" pitchFamily="18" charset="0"/>
              </a:rPr>
              <a:t>2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600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600">
                <a:latin typeface="Times New Roman" panose="02020603050405020304" pitchFamily="18" charset="0"/>
              </a:rPr>
              <a:t>+r</a:t>
            </a:r>
            <a:r>
              <a:rPr lang="en-US" altLang="zh-CN" sz="3600" baseline="-30000">
                <a:latin typeface="Times New Roman" panose="02020603050405020304" pitchFamily="18" charset="0"/>
              </a:rPr>
              <a:t>2</a:t>
            </a:r>
            <a:endParaRPr lang="en-US" altLang="zh-CN" sz="3600" baseline="-300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3600" baseline="-30000">
                <a:latin typeface="Times New Roman" panose="02020603050405020304" pitchFamily="18" charset="0"/>
              </a:rPr>
              <a:t>	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600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600">
                <a:latin typeface="Times New Roman" panose="02020603050405020304" pitchFamily="18" charset="0"/>
              </a:rPr>
              <a:t>=q</a:t>
            </a:r>
            <a:r>
              <a:rPr lang="en-US" altLang="zh-CN" sz="3600" baseline="-30000">
                <a:latin typeface="Times New Roman" panose="02020603050405020304" pitchFamily="18" charset="0"/>
              </a:rPr>
              <a:t>3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600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600">
                <a:latin typeface="Times New Roman" panose="02020603050405020304" pitchFamily="18" charset="0"/>
              </a:rPr>
              <a:t>+r</a:t>
            </a:r>
            <a:r>
              <a:rPr lang="en-US" altLang="zh-CN" sz="3600" baseline="-30000">
                <a:latin typeface="Times New Roman" panose="02020603050405020304" pitchFamily="18" charset="0"/>
              </a:rPr>
              <a:t>3</a:t>
            </a:r>
            <a:endParaRPr lang="en-US" altLang="zh-CN" sz="36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3600">
                <a:latin typeface="Times New Roman" panose="02020603050405020304" pitchFamily="18" charset="0"/>
              </a:rPr>
              <a:t>	……… </a:t>
            </a:r>
            <a:br>
              <a:rPr lang="en-US" altLang="zh-CN" sz="3600">
                <a:latin typeface="Times New Roman" panose="02020603050405020304" pitchFamily="18" charset="0"/>
              </a:rPr>
            </a:br>
            <a:r>
              <a:rPr lang="en-US" altLang="zh-CN" sz="3600">
                <a:latin typeface="Times New Roman" panose="02020603050405020304" pitchFamily="18" charset="0"/>
              </a:rPr>
              <a:t>	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600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k-2</a:t>
            </a:r>
            <a:r>
              <a:rPr lang="en-US" altLang="zh-CN" sz="3600">
                <a:latin typeface="Times New Roman" panose="02020603050405020304" pitchFamily="18" charset="0"/>
              </a:rPr>
              <a:t>=q</a:t>
            </a:r>
            <a:r>
              <a:rPr lang="en-US" altLang="zh-CN" sz="3600" baseline="-30000">
                <a:latin typeface="Times New Roman" panose="02020603050405020304" pitchFamily="18" charset="0"/>
              </a:rPr>
              <a:t>k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600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k-1</a:t>
            </a:r>
            <a:r>
              <a:rPr lang="en-US" altLang="zh-CN" sz="3600">
                <a:latin typeface="Times New Roman" panose="02020603050405020304" pitchFamily="18" charset="0"/>
              </a:rPr>
              <a:t>+r</a:t>
            </a:r>
            <a:r>
              <a:rPr lang="en-US" altLang="zh-CN" sz="3600" baseline="-30000">
                <a:latin typeface="Times New Roman" panose="02020603050405020304" pitchFamily="18" charset="0"/>
              </a:rPr>
              <a:t>k</a:t>
            </a:r>
            <a:endParaRPr lang="en-US" altLang="zh-CN" sz="36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3600">
                <a:latin typeface="Times New Roman" panose="02020603050405020304" pitchFamily="18" charset="0"/>
              </a:rPr>
              <a:t>	……… </a:t>
            </a:r>
            <a:br>
              <a:rPr lang="en-US" altLang="zh-CN" sz="3600">
                <a:latin typeface="Times New Roman" panose="02020603050405020304" pitchFamily="18" charset="0"/>
              </a:rPr>
            </a:br>
            <a:r>
              <a:rPr lang="en-US" altLang="zh-CN" sz="3600">
                <a:latin typeface="Times New Roman" panose="02020603050405020304" pitchFamily="18" charset="0"/>
              </a:rPr>
              <a:t>	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600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n-2</a:t>
            </a:r>
            <a:r>
              <a:rPr lang="en-US" altLang="zh-CN" sz="3600">
                <a:latin typeface="Times New Roman" panose="02020603050405020304" pitchFamily="18" charset="0"/>
              </a:rPr>
              <a:t>=q</a:t>
            </a:r>
            <a:r>
              <a:rPr lang="en-US" altLang="zh-CN" sz="3600" baseline="-30000">
                <a:latin typeface="Times New Roman" panose="02020603050405020304" pitchFamily="18" charset="0"/>
              </a:rPr>
              <a:t>n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600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n-1</a:t>
            </a:r>
            <a:r>
              <a:rPr lang="en-US" altLang="zh-CN" sz="3600">
                <a:latin typeface="Times New Roman" panose="02020603050405020304" pitchFamily="18" charset="0"/>
              </a:rPr>
              <a:t>+r</a:t>
            </a:r>
            <a:r>
              <a:rPr lang="en-US" altLang="zh-CN" sz="3600" baseline="-30000">
                <a:latin typeface="Times New Roman" panose="02020603050405020304" pitchFamily="18" charset="0"/>
              </a:rPr>
              <a:t>n</a:t>
            </a:r>
            <a:br>
              <a:rPr lang="en-US" altLang="zh-CN" sz="3600" baseline="-30000">
                <a:latin typeface="Times New Roman" panose="02020603050405020304" pitchFamily="18" charset="0"/>
              </a:rPr>
            </a:br>
            <a:r>
              <a:rPr lang="en-US" altLang="zh-CN" sz="3600" baseline="-30000">
                <a:latin typeface="Times New Roman" panose="02020603050405020304" pitchFamily="18" charset="0"/>
              </a:rPr>
              <a:t>	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600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n-1</a:t>
            </a:r>
            <a:r>
              <a:rPr lang="en-US" altLang="zh-CN" sz="3600">
                <a:latin typeface="Times New Roman" panose="02020603050405020304" pitchFamily="18" charset="0"/>
              </a:rPr>
              <a:t>=q</a:t>
            </a:r>
            <a:r>
              <a:rPr lang="en-US" altLang="zh-CN" sz="3600" baseline="-30000">
                <a:latin typeface="Times New Roman" panose="02020603050405020304" pitchFamily="18" charset="0"/>
              </a:rPr>
              <a:t>n+1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600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3600">
                <a:latin typeface="宋体" panose="02010600030101010101" pitchFamily="2" charset="-122"/>
              </a:rPr>
              <a:t>。</a:t>
            </a:r>
            <a:r>
              <a:rPr lang="en-US" altLang="zh-CN" sz="3600">
                <a:latin typeface="Times New Roman" panose="02020603050405020304" pitchFamily="18" charset="0"/>
              </a:rPr>
              <a:t> 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287338"/>
            <a:ext cx="7772400" cy="706437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4000">
                <a:latin typeface="Times New Roman" panose="02020603050405020304" pitchFamily="18" charset="0"/>
                <a:ea typeface="宋体" panose="02010600030101010101" pitchFamily="2" charset="-122"/>
              </a:rPr>
              <a:t>5.1.2  </a:t>
            </a:r>
            <a:r>
              <a:rPr lang="zh-CN" altLang="en-US" sz="4000">
                <a:latin typeface="Times New Roman" panose="02020603050405020304" pitchFamily="18" charset="0"/>
                <a:ea typeface="宋体" panose="02010600030101010101" pitchFamily="2" charset="-122"/>
              </a:rPr>
              <a:t>辗转相除</a:t>
            </a:r>
            <a:r>
              <a:rPr lang="zh-CN" altLang="en-US" sz="4000">
                <a:latin typeface="Times New Roman" panose="02020603050405020304" pitchFamily="18" charset="0"/>
              </a:rPr>
              <a:t> </a:t>
            </a:r>
            <a:endParaRPr lang="en-US" altLang="zh-CN" sz="4000">
              <a:latin typeface="Times New Roman" panose="02020603050405020304" pitchFamily="18" charset="0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5867400" y="1676400"/>
            <a:ext cx="1463675" cy="4191000"/>
            <a:chOff x="4070" y="1008"/>
            <a:chExt cx="922" cy="2640"/>
          </a:xfrm>
        </p:grpSpPr>
        <p:sp>
          <p:nvSpPr>
            <p:cNvPr id="36870" name="AutoShape 5"/>
            <p:cNvSpPr/>
            <p:nvPr/>
          </p:nvSpPr>
          <p:spPr bwMode="auto">
            <a:xfrm>
              <a:off x="4070" y="1008"/>
              <a:ext cx="384" cy="2640"/>
            </a:xfrm>
            <a:prstGeom prst="rightBrace">
              <a:avLst>
                <a:gd name="adj1" fmla="val 57292"/>
                <a:gd name="adj2" fmla="val 50000"/>
              </a:avLst>
            </a:prstGeom>
            <a:noFill/>
            <a:ln w="381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Ø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36871" name="Text Box 6"/>
            <p:cNvSpPr txBox="1">
              <a:spLocks noChangeArrowheads="1"/>
            </p:cNvSpPr>
            <p:nvPr/>
          </p:nvSpPr>
          <p:spPr bwMode="auto">
            <a:xfrm>
              <a:off x="4550" y="2092"/>
              <a:ext cx="44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Ø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3600">
                  <a:solidFill>
                    <a:schemeClr val="tx2"/>
                  </a:solidFill>
                  <a:latin typeface="Times New Roman" panose="02020603050405020304" pitchFamily="18" charset="0"/>
                </a:rPr>
                <a:t>(1)</a:t>
              </a:r>
              <a:endParaRPr lang="zh-CN" altLang="en-US" sz="36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80231" name="Text Box 7"/>
          <p:cNvSpPr txBox="1">
            <a:spLocks noChangeArrowheads="1"/>
          </p:cNvSpPr>
          <p:nvPr/>
        </p:nvSpPr>
        <p:spPr bwMode="auto">
          <a:xfrm>
            <a:off x="6324600" y="4572000"/>
            <a:ext cx="2667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600">
                <a:latin typeface="Times New Roman" panose="02020603050405020304" pitchFamily="18" charset="0"/>
              </a:rPr>
              <a:t>r</a:t>
            </a:r>
            <a:r>
              <a:rPr lang="en-US" altLang="zh-CN" sz="3600" baseline="-25000">
                <a:latin typeface="Times New Roman" panose="02020603050405020304" pitchFamily="18" charset="0"/>
              </a:rPr>
              <a:t>n</a:t>
            </a:r>
            <a:r>
              <a:rPr lang="zh-CN" altLang="en-US" sz="3600">
                <a:latin typeface="Times New Roman" panose="02020603050405020304" pitchFamily="18" charset="0"/>
              </a:rPr>
              <a:t>是最后一个非</a:t>
            </a:r>
            <a:r>
              <a:rPr lang="en-US" altLang="zh-CN" sz="3600">
                <a:latin typeface="Times New Roman" panose="02020603050405020304" pitchFamily="18" charset="0"/>
              </a:rPr>
              <a:t>0</a:t>
            </a:r>
            <a:r>
              <a:rPr lang="zh-CN" altLang="en-US" sz="3600">
                <a:latin typeface="Times New Roman" panose="02020603050405020304" pitchFamily="18" charset="0"/>
              </a:rPr>
              <a:t>余项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180232" name="Line 8"/>
          <p:cNvSpPr>
            <a:spLocks noChangeShapeType="1"/>
          </p:cNvSpPr>
          <p:nvPr/>
        </p:nvSpPr>
        <p:spPr bwMode="auto">
          <a:xfrm flipH="1">
            <a:off x="5334000" y="5181600"/>
            <a:ext cx="11430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0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0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0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0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0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6" grpId="0" autoUpdateAnimBg="0" build="p"/>
      <p:bldP spid="1802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763000" cy="5334000"/>
          </a:xfrm>
        </p:spPr>
        <p:txBody>
          <a:bodyPr/>
          <a:lstStyle/>
          <a:p>
            <a:pPr marL="0" indent="0" eaLnBrk="1" hangingPunct="1">
              <a:lnSpc>
                <a:spcPct val="125000"/>
              </a:lnSpc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</a:rPr>
              <a:t>任意二整数</a:t>
            </a:r>
            <a:r>
              <a:rPr lang="en-US" altLang="zh-CN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chemeClr val="tx2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</a:rPr>
              <a:t>有最高公因数。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latin typeface="宋体" panose="02010600030101010101" pitchFamily="2" charset="-122"/>
              </a:rPr>
              <a:t>上面求最高公因数的方法叫做辗转相除法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欧几里得算法</a:t>
            </a: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</a:rPr>
              <a:t>)</a:t>
            </a:r>
            <a:r>
              <a:rPr lang="zh-CN" altLang="en-US" dirty="0">
                <a:latin typeface="宋体" panose="02010600030101010101" pitchFamily="2" charset="-122"/>
              </a:rPr>
              <a:t>。对</a:t>
            </a:r>
            <a:r>
              <a:rPr lang="en-US" altLang="zh-CN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宋体" panose="02010600030101010101" pitchFamily="2" charset="-122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宋体" panose="02010600030101010101" pitchFamily="2" charset="-122"/>
              </a:rPr>
              <a:t>使用辗转相除得到的最后一个非</a:t>
            </a:r>
            <a:r>
              <a:rPr lang="zh-CN" altLang="en-US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宋体" panose="02010600030101010101" pitchFamily="2" charset="-122"/>
              </a:rPr>
              <a:t>余项</a:t>
            </a:r>
            <a:r>
              <a:rPr lang="zh-CN" altLang="en-US" dirty="0">
                <a:latin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</a:rPr>
              <a:t>r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宋体" panose="02010600030101010101" pitchFamily="2" charset="-122"/>
              </a:rPr>
              <a:t>即为</a:t>
            </a:r>
            <a:r>
              <a:rPr lang="en-US" altLang="zh-CN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宋体" panose="02010600030101010101" pitchFamily="2" charset="-122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宋体" panose="02010600030101010101" pitchFamily="2" charset="-122"/>
              </a:rPr>
              <a:t>的最高公因数。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115000"/>
              </a:lnSpc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zh-CN" altLang="en-US" sz="3600" dirty="0">
                <a:latin typeface="宋体" panose="02010600030101010101" pitchFamily="2" charset="-122"/>
              </a:rPr>
              <a:t>练习：</a:t>
            </a:r>
            <a:r>
              <a:rPr lang="zh-CN" altLang="en-US" sz="3600" dirty="0">
                <a:latin typeface="Times New Roman" panose="02020603050405020304" pitchFamily="18" charset="0"/>
              </a:rPr>
              <a:t>                                                        </a:t>
            </a:r>
            <a:endParaRPr lang="en-US" altLang="zh-CN" sz="36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15000"/>
              </a:lnSpc>
              <a:spcBef>
                <a:spcPct val="60000"/>
              </a:spcBef>
              <a:buFont typeface="Wingdings" panose="05000000000000000000" pitchFamily="2" charset="2"/>
              <a:buNone/>
            </a:pPr>
            <a:endParaRPr lang="zh-CN" altLang="en-US" sz="2000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287338"/>
            <a:ext cx="7772400" cy="706437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zh-CN" altLang="en-US" sz="4000" dirty="0">
                <a:latin typeface="Times New Roman" panose="02020603050405020304" pitchFamily="18" charset="0"/>
                <a:ea typeface="宋体" panose="02010600030101010101" pitchFamily="2" charset="-122"/>
              </a:rPr>
              <a:t>5.1.2 </a:t>
            </a:r>
            <a:endParaRPr lang="en-US" altLang="zh-CN" sz="4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762000"/>
            <a:ext cx="8763000" cy="5715000"/>
          </a:xfrm>
        </p:spPr>
        <p:txBody>
          <a:bodyPr/>
          <a:lstStyle/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任意二整数</a:t>
            </a:r>
            <a:r>
              <a:rPr lang="en-US" altLang="zh-CN" dirty="0" err="1">
                <a:latin typeface="Times New Roman" panose="02020603050405020304" pitchFamily="18" charset="0"/>
              </a:rPr>
              <a:t>a，b</a:t>
            </a:r>
            <a:r>
              <a:rPr lang="zh-CN" altLang="en-US" dirty="0">
                <a:latin typeface="Times New Roman" panose="02020603050405020304" pitchFamily="18" charset="0"/>
              </a:rPr>
              <a:t>的最高公因数</a:t>
            </a:r>
            <a:r>
              <a:rPr lang="en-US" altLang="zh-CN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</a:rPr>
              <a:t>可以表示为</a:t>
            </a:r>
            <a:r>
              <a:rPr lang="en-US" altLang="zh-CN" dirty="0" err="1">
                <a:latin typeface="Times New Roman" panose="02020603050405020304" pitchFamily="18" charset="0"/>
              </a:rPr>
              <a:t>a，b</a:t>
            </a:r>
            <a:r>
              <a:rPr lang="zh-CN" altLang="en-US" dirty="0">
                <a:latin typeface="Times New Roman" panose="02020603050405020304" pitchFamily="18" charset="0"/>
              </a:rPr>
              <a:t>的倍数和，即表为下面的形式：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			</a:t>
            </a:r>
            <a:r>
              <a:rPr lang="en-US" altLang="zh-CN" dirty="0">
                <a:latin typeface="Times New Roman" panose="02020603050405020304" pitchFamily="18" charset="0"/>
              </a:rPr>
              <a:t>d=</a:t>
            </a:r>
            <a:r>
              <a:rPr lang="en-US" altLang="zh-CN" dirty="0" err="1">
                <a:latin typeface="Times New Roman" panose="02020603050405020304" pitchFamily="18" charset="0"/>
              </a:rPr>
              <a:t>sa+tb</a:t>
            </a:r>
            <a:r>
              <a:rPr lang="en-US" altLang="zh-CN" dirty="0">
                <a:latin typeface="Times New Roman" panose="02020603050405020304" pitchFamily="18" charset="0"/>
              </a:rPr>
              <a:t>       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      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其中 </a:t>
            </a:r>
            <a:r>
              <a:rPr lang="en-US" altLang="zh-CN" dirty="0" err="1">
                <a:latin typeface="Times New Roman" panose="02020603050405020304" pitchFamily="18" charset="0"/>
              </a:rPr>
              <a:t>s，t</a:t>
            </a:r>
            <a:r>
              <a:rPr lang="zh-CN" altLang="en-US" dirty="0">
                <a:latin typeface="Times New Roman" panose="02020603050405020304" pitchFamily="18" charset="0"/>
              </a:rPr>
              <a:t>都是整数。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FFFF00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latin typeface="Times New Roman" panose="02020603050405020304" pitchFamily="18" charset="0"/>
              </a:rPr>
              <a:t>思考：反过来是否成立？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证明：(方法一）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由辗转相除法知</a:t>
            </a:r>
            <a:r>
              <a:rPr lang="en-US" altLang="zh-CN" dirty="0">
                <a:latin typeface="Times New Roman" panose="02020603050405020304" pitchFamily="18" charset="0"/>
              </a:rPr>
              <a:t>d=</a:t>
            </a:r>
            <a:r>
              <a:rPr lang="en-US" altLang="zh-CN" dirty="0" err="1">
                <a:latin typeface="Times New Roman" panose="02020603050405020304" pitchFamily="18" charset="0"/>
              </a:rPr>
              <a:t>r</a:t>
            </a:r>
            <a:r>
              <a:rPr lang="en-US" altLang="zh-CN" baseline="-30000" dirty="0" err="1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。</a:t>
            </a:r>
            <a:r>
              <a:rPr lang="zh-CN" altLang="en-US" dirty="0">
                <a:latin typeface="Times New Roman" panose="02020603050405020304" pitchFamily="18" charset="0"/>
              </a:rPr>
              <a:t>只需证明对每一个</a:t>
            </a:r>
            <a:r>
              <a:rPr lang="en-US" altLang="zh-CN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=1,…,n)，</a:t>
            </a:r>
            <a:r>
              <a:rPr lang="en-US" altLang="zh-CN" dirty="0" err="1">
                <a:latin typeface="Times New Roman" panose="02020603050405020304" pitchFamily="18" charset="0"/>
              </a:rPr>
              <a:t>r</a:t>
            </a:r>
            <a:r>
              <a:rPr lang="en-US" altLang="zh-CN" baseline="-30000" dirty="0" err="1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都可以表示成 </a:t>
            </a:r>
            <a:r>
              <a:rPr lang="en-US" altLang="zh-CN" dirty="0" err="1">
                <a:latin typeface="Times New Roman" panose="02020603050405020304" pitchFamily="18" charset="0"/>
              </a:rPr>
              <a:t>r</a:t>
            </a:r>
            <a:r>
              <a:rPr lang="en-US" altLang="zh-CN" baseline="-30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 err="1">
                <a:latin typeface="Times New Roman" panose="02020603050405020304" pitchFamily="18" charset="0"/>
              </a:rPr>
              <a:t>s’a+t’b</a:t>
            </a:r>
            <a:r>
              <a:rPr lang="zh-CN" altLang="en-US" dirty="0">
                <a:latin typeface="Times New Roman" panose="02020603050405020304" pitchFamily="18" charset="0"/>
              </a:rPr>
              <a:t>的形式。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53975"/>
            <a:ext cx="7772400" cy="708025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zh-CN" altLang="en-US" sz="4000" dirty="0">
                <a:latin typeface="Times New Roman" panose="02020603050405020304" pitchFamily="18" charset="0"/>
                <a:ea typeface="宋体" panose="02010600030101010101" pitchFamily="2" charset="-122"/>
              </a:rPr>
              <a:t>5.1.3 </a:t>
            </a:r>
            <a:endParaRPr lang="en-US" altLang="zh-CN" sz="4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762000"/>
            <a:ext cx="8763000" cy="56388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3000">
                <a:latin typeface="Times New Roman" panose="02020603050405020304" pitchFamily="18" charset="0"/>
              </a:rPr>
              <a:t>当</a:t>
            </a:r>
            <a:r>
              <a:rPr lang="en-US" altLang="zh-CN" sz="3000">
                <a:latin typeface="Times New Roman" panose="02020603050405020304" pitchFamily="18" charset="0"/>
              </a:rPr>
              <a:t>i=1</a:t>
            </a:r>
            <a:r>
              <a:rPr lang="zh-CN" altLang="en-US" sz="3000">
                <a:latin typeface="Times New Roman" panose="02020603050405020304" pitchFamily="18" charset="0"/>
              </a:rPr>
              <a:t>时，</a:t>
            </a:r>
            <a:r>
              <a:rPr lang="en-US" altLang="zh-CN" sz="3000">
                <a:latin typeface="Times New Roman" panose="02020603050405020304" pitchFamily="18" charset="0"/>
              </a:rPr>
              <a:t>r</a:t>
            </a:r>
            <a:r>
              <a:rPr lang="en-US" altLang="zh-CN" sz="3000" baseline="-30000">
                <a:latin typeface="Times New Roman" panose="02020603050405020304" pitchFamily="18" charset="0"/>
              </a:rPr>
              <a:t>1</a:t>
            </a:r>
            <a:r>
              <a:rPr lang="en-US" altLang="zh-CN" sz="3000">
                <a:latin typeface="Times New Roman" panose="02020603050405020304" pitchFamily="18" charset="0"/>
              </a:rPr>
              <a:t>=a-q</a:t>
            </a:r>
            <a:r>
              <a:rPr lang="en-US" altLang="zh-CN" sz="3000" baseline="-30000">
                <a:latin typeface="Times New Roman" panose="02020603050405020304" pitchFamily="18" charset="0"/>
              </a:rPr>
              <a:t>1</a:t>
            </a:r>
            <a:r>
              <a:rPr lang="en-US" altLang="zh-CN" sz="3000">
                <a:latin typeface="Times New Roman" panose="02020603050405020304" pitchFamily="18" charset="0"/>
              </a:rPr>
              <a:t>b。</a:t>
            </a:r>
            <a:endParaRPr lang="en-US" altLang="zh-CN" sz="3000">
              <a:latin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3000">
                <a:latin typeface="Times New Roman" panose="02020603050405020304" pitchFamily="18" charset="0"/>
              </a:rPr>
              <a:t>当</a:t>
            </a:r>
            <a:r>
              <a:rPr lang="en-US" altLang="zh-CN" sz="3000">
                <a:latin typeface="Times New Roman" panose="02020603050405020304" pitchFamily="18" charset="0"/>
              </a:rPr>
              <a:t>i=2</a:t>
            </a:r>
            <a:r>
              <a:rPr lang="zh-CN" altLang="en-US" sz="3000">
                <a:latin typeface="Times New Roman" panose="02020603050405020304" pitchFamily="18" charset="0"/>
              </a:rPr>
              <a:t>时，</a:t>
            </a:r>
            <a:endParaRPr lang="zh-CN" altLang="en-US" sz="3000">
              <a:latin typeface="Times New Roman" panose="02020603050405020304" pitchFamily="18" charset="0"/>
            </a:endParaRPr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r>
              <a:rPr lang="en-US" altLang="zh-CN" sz="3000">
                <a:latin typeface="Times New Roman" panose="02020603050405020304" pitchFamily="18" charset="0"/>
              </a:rPr>
              <a:t>r</a:t>
            </a:r>
            <a:r>
              <a:rPr lang="en-US" altLang="zh-CN" sz="3000" baseline="-30000">
                <a:latin typeface="Times New Roman" panose="02020603050405020304" pitchFamily="18" charset="0"/>
              </a:rPr>
              <a:t>2</a:t>
            </a:r>
            <a:r>
              <a:rPr lang="en-US" altLang="zh-CN" sz="3000">
                <a:latin typeface="Times New Roman" panose="02020603050405020304" pitchFamily="18" charset="0"/>
              </a:rPr>
              <a:t>=b-r</a:t>
            </a:r>
            <a:r>
              <a:rPr lang="en-US" altLang="zh-CN" sz="3000" baseline="-30000">
                <a:latin typeface="Times New Roman" panose="02020603050405020304" pitchFamily="18" charset="0"/>
              </a:rPr>
              <a:t>1</a:t>
            </a:r>
            <a:r>
              <a:rPr lang="en-US" altLang="zh-CN" sz="3000">
                <a:latin typeface="Times New Roman" panose="02020603050405020304" pitchFamily="18" charset="0"/>
              </a:rPr>
              <a:t>q</a:t>
            </a:r>
            <a:r>
              <a:rPr lang="en-US" altLang="zh-CN" sz="3000" baseline="-30000">
                <a:latin typeface="Times New Roman" panose="02020603050405020304" pitchFamily="18" charset="0"/>
              </a:rPr>
              <a:t>2</a:t>
            </a:r>
            <a:r>
              <a:rPr lang="en-US" altLang="zh-CN" sz="3000">
                <a:latin typeface="Times New Roman" panose="02020603050405020304" pitchFamily="18" charset="0"/>
              </a:rPr>
              <a:t>=b-(a-bq</a:t>
            </a:r>
            <a:r>
              <a:rPr lang="en-US" altLang="zh-CN" sz="3000" baseline="-30000">
                <a:latin typeface="Times New Roman" panose="02020603050405020304" pitchFamily="18" charset="0"/>
              </a:rPr>
              <a:t>1</a:t>
            </a:r>
            <a:r>
              <a:rPr lang="en-US" altLang="zh-CN" sz="3000">
                <a:latin typeface="Times New Roman" panose="02020603050405020304" pitchFamily="18" charset="0"/>
              </a:rPr>
              <a:t>)q</a:t>
            </a:r>
            <a:r>
              <a:rPr lang="en-US" altLang="zh-CN" sz="3000" baseline="-30000">
                <a:latin typeface="Times New Roman" panose="02020603050405020304" pitchFamily="18" charset="0"/>
              </a:rPr>
              <a:t>2</a:t>
            </a:r>
            <a:r>
              <a:rPr lang="en-US" altLang="zh-CN" sz="3000">
                <a:latin typeface="Times New Roman" panose="02020603050405020304" pitchFamily="18" charset="0"/>
              </a:rPr>
              <a:t>=-q</a:t>
            </a:r>
            <a:r>
              <a:rPr lang="en-US" altLang="zh-CN" sz="3000" baseline="-30000">
                <a:latin typeface="Times New Roman" panose="02020603050405020304" pitchFamily="18" charset="0"/>
              </a:rPr>
              <a:t>2</a:t>
            </a:r>
            <a:r>
              <a:rPr lang="en-US" altLang="zh-CN" sz="3000">
                <a:latin typeface="Times New Roman" panose="02020603050405020304" pitchFamily="18" charset="0"/>
              </a:rPr>
              <a:t>a+(1+q</a:t>
            </a:r>
            <a:r>
              <a:rPr lang="en-US" altLang="zh-CN" sz="3000" baseline="-30000">
                <a:latin typeface="Times New Roman" panose="02020603050405020304" pitchFamily="18" charset="0"/>
              </a:rPr>
              <a:t>1</a:t>
            </a:r>
            <a:r>
              <a:rPr lang="en-US" altLang="zh-CN" sz="3000">
                <a:latin typeface="Times New Roman" panose="02020603050405020304" pitchFamily="18" charset="0"/>
              </a:rPr>
              <a:t>q</a:t>
            </a:r>
            <a:r>
              <a:rPr lang="en-US" altLang="zh-CN" sz="3000" baseline="-30000">
                <a:latin typeface="Times New Roman" panose="02020603050405020304" pitchFamily="18" charset="0"/>
              </a:rPr>
              <a:t>2</a:t>
            </a:r>
            <a:r>
              <a:rPr lang="en-US" altLang="zh-CN" sz="3000">
                <a:latin typeface="Times New Roman" panose="02020603050405020304" pitchFamily="18" charset="0"/>
              </a:rPr>
              <a:t>)b。</a:t>
            </a:r>
            <a:endParaRPr lang="en-US" altLang="zh-CN" sz="3000">
              <a:latin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3000">
                <a:latin typeface="Times New Roman" panose="02020603050405020304" pitchFamily="18" charset="0"/>
              </a:rPr>
              <a:t>假设 </a:t>
            </a:r>
            <a:r>
              <a:rPr lang="en-US" altLang="zh-CN" sz="3000">
                <a:latin typeface="Times New Roman" panose="02020603050405020304" pitchFamily="18" charset="0"/>
              </a:rPr>
              <a:t>r</a:t>
            </a:r>
            <a:r>
              <a:rPr lang="en-US" altLang="zh-CN" sz="3000" baseline="-30000">
                <a:latin typeface="Times New Roman" panose="02020603050405020304" pitchFamily="18" charset="0"/>
              </a:rPr>
              <a:t>m-1</a:t>
            </a:r>
            <a:r>
              <a:rPr lang="en-US" altLang="zh-CN" sz="3000">
                <a:latin typeface="Times New Roman" panose="02020603050405020304" pitchFamily="18" charset="0"/>
              </a:rPr>
              <a:t>，r</a:t>
            </a:r>
            <a:r>
              <a:rPr lang="en-US" altLang="zh-CN" sz="3000" baseline="-30000">
                <a:latin typeface="Times New Roman" panose="02020603050405020304" pitchFamily="18" charset="0"/>
              </a:rPr>
              <a:t>m-2</a:t>
            </a:r>
            <a:r>
              <a:rPr lang="en-US" altLang="zh-CN" sz="3000">
                <a:latin typeface="Times New Roman" panose="02020603050405020304" pitchFamily="18" charset="0"/>
              </a:rPr>
              <a:t>，3</a:t>
            </a:r>
            <a:r>
              <a:rPr lang="en-US" altLang="zh-CN" sz="3000">
                <a:latin typeface="Times New Roman" panose="02020603050405020304" pitchFamily="18" charset="0"/>
                <a:sym typeface="Symbol" panose="05050102010706020507" pitchFamily="2" charset="2"/>
              </a:rPr>
              <a:t></a:t>
            </a:r>
            <a:r>
              <a:rPr lang="en-US" altLang="zh-CN" sz="3000">
                <a:latin typeface="Times New Roman" panose="02020603050405020304" pitchFamily="18" charset="0"/>
              </a:rPr>
              <a:t>m</a:t>
            </a:r>
            <a:r>
              <a:rPr lang="en-US" altLang="zh-CN" sz="3000">
                <a:latin typeface="Times New Roman" panose="02020603050405020304" pitchFamily="18" charset="0"/>
                <a:sym typeface="Symbol" panose="05050102010706020507" pitchFamily="2" charset="2"/>
              </a:rPr>
              <a:t></a:t>
            </a:r>
            <a:r>
              <a:rPr lang="en-US" altLang="zh-CN" sz="3000">
                <a:latin typeface="Times New Roman" panose="02020603050405020304" pitchFamily="18" charset="0"/>
              </a:rPr>
              <a:t>n，</a:t>
            </a:r>
            <a:r>
              <a:rPr lang="zh-CN" altLang="en-US" sz="3000">
                <a:latin typeface="Times New Roman" panose="02020603050405020304" pitchFamily="18" charset="0"/>
              </a:rPr>
              <a:t>分别有</a:t>
            </a:r>
            <a:r>
              <a:rPr lang="en-US" altLang="zh-CN" sz="3000">
                <a:latin typeface="Times New Roman" panose="02020603050405020304" pitchFamily="18" charset="0"/>
              </a:rPr>
              <a:t>s’，t’</a:t>
            </a:r>
            <a:r>
              <a:rPr lang="zh-CN" altLang="en-US" sz="3000">
                <a:latin typeface="Times New Roman" panose="02020603050405020304" pitchFamily="18" charset="0"/>
              </a:rPr>
              <a:t>及</a:t>
            </a:r>
            <a:r>
              <a:rPr lang="en-US" altLang="zh-CN" sz="3000">
                <a:latin typeface="Times New Roman" panose="02020603050405020304" pitchFamily="18" charset="0"/>
              </a:rPr>
              <a:t>s”，t”</a:t>
            </a:r>
            <a:r>
              <a:rPr lang="zh-CN" altLang="en-US" sz="3000">
                <a:latin typeface="Times New Roman" panose="02020603050405020304" pitchFamily="18" charset="0"/>
              </a:rPr>
              <a:t>使得</a:t>
            </a:r>
            <a:r>
              <a:rPr lang="en-US" altLang="zh-CN" sz="3000">
                <a:latin typeface="Times New Roman" panose="02020603050405020304" pitchFamily="18" charset="0"/>
              </a:rPr>
              <a:t>r</a:t>
            </a:r>
            <a:r>
              <a:rPr lang="en-US" altLang="zh-CN" sz="3000" baseline="-30000">
                <a:latin typeface="Times New Roman" panose="02020603050405020304" pitchFamily="18" charset="0"/>
              </a:rPr>
              <a:t>m-2</a:t>
            </a:r>
            <a:r>
              <a:rPr lang="en-US" altLang="zh-CN" sz="3000">
                <a:latin typeface="Times New Roman" panose="02020603050405020304" pitchFamily="18" charset="0"/>
              </a:rPr>
              <a:t>=s”a+t”b，r</a:t>
            </a:r>
            <a:r>
              <a:rPr lang="en-US" altLang="zh-CN" sz="3000" baseline="-30000">
                <a:latin typeface="Times New Roman" panose="02020603050405020304" pitchFamily="18" charset="0"/>
              </a:rPr>
              <a:t>m-1</a:t>
            </a:r>
            <a:r>
              <a:rPr lang="en-US" altLang="zh-CN" sz="3000">
                <a:latin typeface="Times New Roman" panose="02020603050405020304" pitchFamily="18" charset="0"/>
              </a:rPr>
              <a:t>=s’a+t’b，</a:t>
            </a:r>
            <a:endParaRPr lang="en-US" altLang="zh-CN" sz="3000">
              <a:latin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3000">
                <a:latin typeface="Times New Roman" panose="02020603050405020304" pitchFamily="18" charset="0"/>
              </a:rPr>
              <a:t>下面证明</a:t>
            </a:r>
            <a:r>
              <a:rPr lang="en-US" altLang="zh-CN" sz="3000">
                <a:latin typeface="Times New Roman" panose="02020603050405020304" pitchFamily="18" charset="0"/>
              </a:rPr>
              <a:t>r</a:t>
            </a:r>
            <a:r>
              <a:rPr lang="en-US" altLang="zh-CN" sz="3000" baseline="-30000">
                <a:latin typeface="Times New Roman" panose="02020603050405020304" pitchFamily="18" charset="0"/>
              </a:rPr>
              <a:t>m</a:t>
            </a:r>
            <a:r>
              <a:rPr lang="zh-CN" altLang="en-US" sz="3000">
                <a:latin typeface="Times New Roman" panose="02020603050405020304" pitchFamily="18" charset="0"/>
              </a:rPr>
              <a:t>也可以表示成这种形式。</a:t>
            </a:r>
            <a:endParaRPr lang="zh-CN" altLang="en-US" sz="3000">
              <a:latin typeface="Times New Roman" panose="02020603050405020304" pitchFamily="18" charset="0"/>
            </a:endParaRPr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en-US" altLang="zh-CN" sz="3000">
                <a:latin typeface="Times New Roman" panose="02020603050405020304" pitchFamily="18" charset="0"/>
              </a:rPr>
              <a:t>r</a:t>
            </a:r>
            <a:r>
              <a:rPr lang="en-US" altLang="zh-CN" sz="3000" baseline="-30000">
                <a:latin typeface="Times New Roman" panose="02020603050405020304" pitchFamily="18" charset="0"/>
              </a:rPr>
              <a:t>m</a:t>
            </a:r>
            <a:r>
              <a:rPr lang="en-US" altLang="zh-CN" sz="3000">
                <a:latin typeface="Times New Roman" panose="02020603050405020304" pitchFamily="18" charset="0"/>
              </a:rPr>
              <a:t>= -r</a:t>
            </a:r>
            <a:r>
              <a:rPr lang="en-US" altLang="zh-CN" sz="3000" baseline="-30000">
                <a:latin typeface="Times New Roman" panose="02020603050405020304" pitchFamily="18" charset="0"/>
              </a:rPr>
              <a:t>m-1</a:t>
            </a:r>
            <a:r>
              <a:rPr lang="en-US" altLang="zh-CN" sz="3000">
                <a:latin typeface="Times New Roman" panose="02020603050405020304" pitchFamily="18" charset="0"/>
              </a:rPr>
              <a:t>q</a:t>
            </a:r>
            <a:r>
              <a:rPr lang="en-US" altLang="zh-CN" sz="3000" baseline="-30000">
                <a:latin typeface="Times New Roman" panose="02020603050405020304" pitchFamily="18" charset="0"/>
              </a:rPr>
              <a:t>m</a:t>
            </a:r>
            <a:r>
              <a:rPr lang="en-US" altLang="zh-CN" sz="3000">
                <a:latin typeface="Times New Roman" panose="02020603050405020304" pitchFamily="18" charset="0"/>
              </a:rPr>
              <a:t>+r</a:t>
            </a:r>
            <a:r>
              <a:rPr lang="en-US" altLang="zh-CN" sz="3000" baseline="-30000">
                <a:latin typeface="Times New Roman" panose="02020603050405020304" pitchFamily="18" charset="0"/>
              </a:rPr>
              <a:t>m-2</a:t>
            </a:r>
            <a:endParaRPr lang="en-US" altLang="zh-CN" sz="3000">
              <a:latin typeface="Times New Roman" panose="02020603050405020304" pitchFamily="18" charset="0"/>
            </a:endParaRPr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en-US" altLang="zh-CN" sz="3000">
                <a:latin typeface="Times New Roman" panose="02020603050405020304" pitchFamily="18" charset="0"/>
              </a:rPr>
              <a:t>    =-(s’a+t’b)q</a:t>
            </a:r>
            <a:r>
              <a:rPr lang="en-US" altLang="zh-CN" sz="3000" baseline="-30000">
                <a:latin typeface="Times New Roman" panose="02020603050405020304" pitchFamily="18" charset="0"/>
              </a:rPr>
              <a:t>m</a:t>
            </a:r>
            <a:r>
              <a:rPr lang="en-US" altLang="zh-CN" sz="3000">
                <a:latin typeface="Times New Roman" panose="02020603050405020304" pitchFamily="18" charset="0"/>
              </a:rPr>
              <a:t>+s”a+t”b</a:t>
            </a:r>
            <a:endParaRPr lang="en-US" altLang="zh-CN" sz="3000">
              <a:latin typeface="Times New Roman" panose="02020603050405020304" pitchFamily="18" charset="0"/>
            </a:endParaRPr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en-US" altLang="zh-CN" sz="3000">
                <a:latin typeface="Times New Roman" panose="02020603050405020304" pitchFamily="18" charset="0"/>
              </a:rPr>
              <a:t>    =(s”-s’q</a:t>
            </a:r>
            <a:r>
              <a:rPr lang="en-US" altLang="zh-CN" sz="3000" baseline="-30000">
                <a:latin typeface="Times New Roman" panose="02020603050405020304" pitchFamily="18" charset="0"/>
              </a:rPr>
              <a:t>m</a:t>
            </a:r>
            <a:r>
              <a:rPr lang="en-US" altLang="zh-CN" sz="3000">
                <a:latin typeface="Times New Roman" panose="02020603050405020304" pitchFamily="18" charset="0"/>
              </a:rPr>
              <a:t>)a+(t”-t’q</a:t>
            </a:r>
            <a:r>
              <a:rPr lang="en-US" altLang="zh-CN" sz="3000" baseline="-30000">
                <a:latin typeface="Times New Roman" panose="02020603050405020304" pitchFamily="18" charset="0"/>
              </a:rPr>
              <a:t>m</a:t>
            </a:r>
            <a:r>
              <a:rPr lang="en-US" altLang="zh-CN" sz="3000">
                <a:latin typeface="Times New Roman" panose="02020603050405020304" pitchFamily="18" charset="0"/>
              </a:rPr>
              <a:t>)b </a:t>
            </a:r>
            <a:endParaRPr lang="en-US" altLang="zh-CN" sz="3000">
              <a:latin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3000">
                <a:latin typeface="Times New Roman" panose="02020603050405020304" pitchFamily="18" charset="0"/>
              </a:rPr>
              <a:t>因此对一切</a:t>
            </a:r>
            <a:r>
              <a:rPr lang="en-US" altLang="zh-CN" sz="3000">
                <a:latin typeface="Times New Roman" panose="02020603050405020304" pitchFamily="18" charset="0"/>
              </a:rPr>
              <a:t>i (i=1, … , n)</a:t>
            </a:r>
            <a:r>
              <a:rPr lang="zh-CN" altLang="en-US" sz="3000">
                <a:latin typeface="Times New Roman" panose="02020603050405020304" pitchFamily="18" charset="0"/>
              </a:rPr>
              <a:t>成立。 </a:t>
            </a:r>
            <a:endParaRPr lang="zh-CN" altLang="en-US" sz="3000">
              <a:latin typeface="Times New Roman" panose="02020603050405020304" pitchFamily="18" charset="0"/>
            </a:endParaRPr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1588"/>
            <a:ext cx="7772400" cy="701675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zh-CN" altLang="en-US" sz="4000" dirty="0">
                <a:latin typeface="Times New Roman" panose="02020603050405020304" pitchFamily="18" charset="0"/>
                <a:ea typeface="宋体" panose="02010600030101010101" pitchFamily="2" charset="-122"/>
              </a:rPr>
              <a:t>5.1.3 </a:t>
            </a:r>
            <a:endParaRPr lang="en-US" altLang="zh-CN" sz="4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8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8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8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8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58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58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8610600" cy="6705600"/>
          </a:xfrm>
        </p:spPr>
        <p:txBody>
          <a:bodyPr/>
          <a:lstStyle/>
          <a:p>
            <a:pPr algn="just" eaLnBrk="1" hangingPunct="1"/>
            <a:r>
              <a:rPr lang="zh-CN" altLang="en-US">
                <a:latin typeface="Times New Roman" panose="02020603050405020304" pitchFamily="18" charset="0"/>
              </a:rPr>
              <a:t>因</a:t>
            </a:r>
            <a:r>
              <a:rPr lang="en-US" altLang="zh-CN">
                <a:latin typeface="Times New Roman" panose="02020603050405020304" pitchFamily="18" charset="0"/>
              </a:rPr>
              <a:t>r</a:t>
            </a:r>
            <a:r>
              <a:rPr lang="en-US" altLang="zh-CN" baseline="-30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，r</a:t>
            </a:r>
            <a:r>
              <a:rPr lang="en-US" altLang="zh-CN" baseline="-30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，…，r</a:t>
            </a:r>
            <a:r>
              <a:rPr lang="en-US" altLang="zh-CN" baseline="-30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</a:rPr>
              <a:t>，…</a:t>
            </a:r>
            <a:r>
              <a:rPr lang="zh-CN" altLang="en-US">
                <a:latin typeface="Times New Roman" panose="02020603050405020304" pitchFamily="18" charset="0"/>
              </a:rPr>
              <a:t>逐渐减少，所以一直计算下去必然减到0，如（1）的最后一式所示。由性质7及（1）的第一式，</a:t>
            </a:r>
            <a:endParaRPr lang="zh-CN" altLang="en-US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   </a:t>
            </a: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</a:rPr>
              <a:t>＊</a:t>
            </a:r>
            <a:r>
              <a:rPr lang="en-US" altLang="zh-CN">
                <a:latin typeface="Times New Roman" panose="02020603050405020304" pitchFamily="18" charset="0"/>
              </a:rPr>
              <a:t>a，b</a:t>
            </a:r>
            <a:r>
              <a:rPr lang="zh-CN" altLang="en-US">
                <a:latin typeface="Times New Roman" panose="02020603050405020304" pitchFamily="18" charset="0"/>
              </a:rPr>
              <a:t>的公因数和</a:t>
            </a:r>
            <a:r>
              <a:rPr lang="en-US" altLang="zh-CN">
                <a:latin typeface="Times New Roman" panose="02020603050405020304" pitchFamily="18" charset="0"/>
              </a:rPr>
              <a:t>b，r</a:t>
            </a:r>
            <a:r>
              <a:rPr lang="en-US" altLang="zh-CN" baseline="-30000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的公因数完全相同。</a:t>
            </a:r>
            <a:endParaRPr lang="zh-CN" altLang="en-US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   由性质7及（1）的第二式，</a:t>
            </a:r>
            <a:endParaRPr lang="zh-CN" altLang="en-US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</a:rPr>
              <a:t>＊</a:t>
            </a:r>
            <a:r>
              <a:rPr lang="en-US" altLang="zh-CN">
                <a:latin typeface="Times New Roman" panose="02020603050405020304" pitchFamily="18" charset="0"/>
              </a:rPr>
              <a:t>b，r</a:t>
            </a:r>
            <a:r>
              <a:rPr lang="en-US" altLang="zh-CN" baseline="-30000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的公因数和</a:t>
            </a:r>
            <a:r>
              <a:rPr lang="en-US" altLang="zh-CN">
                <a:latin typeface="Times New Roman" panose="02020603050405020304" pitchFamily="18" charset="0"/>
              </a:rPr>
              <a:t>r</a:t>
            </a:r>
            <a:r>
              <a:rPr lang="en-US" altLang="zh-CN" baseline="-30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，r</a:t>
            </a:r>
            <a:r>
              <a:rPr lang="en-US" altLang="zh-CN" baseline="-30000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的公因数完全相同。如此类推，知</a:t>
            </a:r>
            <a:endParaRPr lang="zh-CN" altLang="en-US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</a:rPr>
              <a:t>＊</a:t>
            </a:r>
            <a:r>
              <a:rPr lang="en-US" altLang="zh-CN">
                <a:latin typeface="Times New Roman" panose="02020603050405020304" pitchFamily="18" charset="0"/>
              </a:rPr>
              <a:t>a，b</a:t>
            </a:r>
            <a:r>
              <a:rPr lang="zh-CN" altLang="en-US">
                <a:latin typeface="Times New Roman" panose="02020603050405020304" pitchFamily="18" charset="0"/>
              </a:rPr>
              <a:t>的公因数和</a:t>
            </a:r>
            <a:r>
              <a:rPr lang="en-US" altLang="zh-CN">
                <a:latin typeface="Times New Roman" panose="02020603050405020304" pitchFamily="18" charset="0"/>
              </a:rPr>
              <a:t>r</a:t>
            </a:r>
            <a:r>
              <a:rPr lang="en-US" altLang="zh-CN" baseline="-30000">
                <a:latin typeface="Times New Roman" panose="02020603050405020304" pitchFamily="18" charset="0"/>
              </a:rPr>
              <a:t>n-1</a:t>
            </a:r>
            <a:r>
              <a:rPr lang="en-US" altLang="zh-CN">
                <a:latin typeface="Times New Roman" panose="02020603050405020304" pitchFamily="18" charset="0"/>
              </a:rPr>
              <a:t>，r</a:t>
            </a:r>
            <a:r>
              <a:rPr lang="en-US" altLang="zh-CN" baseline="-30000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的公因数完全相同。但由（1）的最末一式，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|r</a:t>
            </a:r>
            <a:r>
              <a:rPr lang="en-US" altLang="zh-CN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n-1</a:t>
            </a:r>
            <a:r>
              <a:rPr lang="en-US" altLang="zh-CN">
                <a:latin typeface="Times New Roman" panose="02020603050405020304" pitchFamily="18" charset="0"/>
              </a:rPr>
              <a:t>，</a:t>
            </a:r>
            <a:r>
              <a:rPr lang="zh-CN" altLang="en-US">
                <a:latin typeface="Times New Roman" panose="02020603050405020304" pitchFamily="18" charset="0"/>
              </a:rPr>
              <a:t>故</a:t>
            </a:r>
            <a:endParaRPr lang="zh-CN" altLang="en-US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>
                <a:latin typeface="Times New Roman" panose="02020603050405020304" pitchFamily="18" charset="0"/>
              </a:rPr>
              <a:t>r</a:t>
            </a:r>
            <a:r>
              <a:rPr lang="en-US" altLang="zh-CN" baseline="-30000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是</a:t>
            </a:r>
            <a:r>
              <a:rPr lang="en-US" altLang="zh-CN">
                <a:latin typeface="Times New Roman" panose="02020603050405020304" pitchFamily="18" charset="0"/>
              </a:rPr>
              <a:t>r</a:t>
            </a:r>
            <a:r>
              <a:rPr lang="en-US" altLang="zh-CN" baseline="-30000">
                <a:latin typeface="Times New Roman" panose="02020603050405020304" pitchFamily="18" charset="0"/>
              </a:rPr>
              <a:t>n-1</a:t>
            </a:r>
            <a:r>
              <a:rPr lang="en-US" altLang="zh-CN">
                <a:latin typeface="Times New Roman" panose="02020603050405020304" pitchFamily="18" charset="0"/>
              </a:rPr>
              <a:t>，r</a:t>
            </a:r>
            <a:r>
              <a:rPr lang="en-US" altLang="zh-CN" baseline="-30000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的最高公因数，因而</a:t>
            </a:r>
            <a:endParaRPr lang="zh-CN" altLang="en-US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   </a:t>
            </a:r>
            <a:r>
              <a:rPr lang="en-US" altLang="zh-CN">
                <a:latin typeface="Times New Roman" panose="02020603050405020304" pitchFamily="18" charset="0"/>
              </a:rPr>
              <a:t>r</a:t>
            </a:r>
            <a:r>
              <a:rPr lang="en-US" altLang="zh-CN" baseline="-30000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也是</a:t>
            </a:r>
            <a:r>
              <a:rPr lang="en-US" altLang="zh-CN">
                <a:latin typeface="Times New Roman" panose="02020603050405020304" pitchFamily="18" charset="0"/>
              </a:rPr>
              <a:t>a，b</a:t>
            </a:r>
            <a:r>
              <a:rPr lang="zh-CN" altLang="en-US">
                <a:latin typeface="Times New Roman" panose="02020603050405020304" pitchFamily="18" charset="0"/>
              </a:rPr>
              <a:t>的最高公因数。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763000" cy="2362200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3300" dirty="0">
                <a:solidFill>
                  <a:schemeClr val="tx2"/>
                </a:solidFill>
                <a:latin typeface="Times New Roman" panose="02020603050405020304" pitchFamily="18" charset="0"/>
              </a:rPr>
              <a:t>证明：(方法二）</a:t>
            </a:r>
            <a:endParaRPr lang="zh-CN" altLang="en-US" sz="33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3300" dirty="0">
                <a:solidFill>
                  <a:schemeClr val="tx2"/>
                </a:solidFill>
                <a:latin typeface="Times New Roman" panose="02020603050405020304" pitchFamily="18" charset="0"/>
              </a:rPr>
              <a:t>    利用迭代的思想构造出递归公式。</a:t>
            </a:r>
            <a:endParaRPr lang="zh-CN" altLang="en-US" sz="33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3300" dirty="0">
                <a:latin typeface="Times New Roman" panose="02020603050405020304" pitchFamily="18" charset="0"/>
              </a:rPr>
              <a:t>若</a:t>
            </a:r>
            <a:r>
              <a:rPr lang="en-US" altLang="zh-CN" sz="3300" dirty="0" err="1">
                <a:latin typeface="Times New Roman" panose="02020603050405020304" pitchFamily="18" charset="0"/>
              </a:rPr>
              <a:t>a，b</a:t>
            </a:r>
            <a:r>
              <a:rPr lang="zh-CN" altLang="en-US" sz="3300" dirty="0">
                <a:latin typeface="Times New Roman" panose="02020603050405020304" pitchFamily="18" charset="0"/>
              </a:rPr>
              <a:t>中有一个整除另一个，不妨假设</a:t>
            </a:r>
            <a:r>
              <a:rPr lang="en-US" altLang="zh-CN" sz="3300" dirty="0" err="1">
                <a:latin typeface="Times New Roman" panose="02020603050405020304" pitchFamily="18" charset="0"/>
              </a:rPr>
              <a:t>b|a</a:t>
            </a:r>
            <a:r>
              <a:rPr lang="en-US" altLang="zh-CN" sz="3300" dirty="0">
                <a:latin typeface="Times New Roman" panose="02020603050405020304" pitchFamily="18" charset="0"/>
              </a:rPr>
              <a:t>，</a:t>
            </a:r>
            <a:r>
              <a:rPr lang="zh-CN" altLang="en-US" sz="3300" dirty="0">
                <a:latin typeface="Times New Roman" panose="02020603050405020304" pitchFamily="18" charset="0"/>
              </a:rPr>
              <a:t>则</a:t>
            </a:r>
            <a:r>
              <a:rPr lang="en-US" altLang="zh-CN" sz="3300" dirty="0">
                <a:latin typeface="Times New Roman" panose="02020603050405020304" pitchFamily="18" charset="0"/>
              </a:rPr>
              <a:t>d=b=0a+1b，</a:t>
            </a:r>
            <a:r>
              <a:rPr lang="zh-CN" altLang="en-US" sz="3300" dirty="0">
                <a:latin typeface="Times New Roman" panose="02020603050405020304" pitchFamily="18" charset="0"/>
              </a:rPr>
              <a:t>得证。 </a:t>
            </a:r>
            <a:endParaRPr lang="zh-CN" altLang="en-US" sz="3300" dirty="0">
              <a:latin typeface="Times New Roman" panose="02020603050405020304" pitchFamily="18" charset="0"/>
            </a:endParaRP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287338"/>
            <a:ext cx="7772400" cy="706437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zh-CN" altLang="en-US" sz="4000" dirty="0">
                <a:latin typeface="Times New Roman" panose="02020603050405020304" pitchFamily="18" charset="0"/>
                <a:ea typeface="宋体" panose="02010600030101010101" pitchFamily="2" charset="-122"/>
              </a:rPr>
              <a:t>5.1.3 </a:t>
            </a:r>
            <a:endParaRPr lang="en-US" altLang="zh-CN" sz="4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3011" name="Group 4"/>
          <p:cNvGrpSpPr/>
          <p:nvPr/>
        </p:nvGrpSpPr>
        <p:grpSpPr bwMode="auto">
          <a:xfrm>
            <a:off x="228600" y="3505200"/>
            <a:ext cx="8763000" cy="2362200"/>
            <a:chOff x="48" y="2592"/>
            <a:chExt cx="5520" cy="1488"/>
          </a:xfrm>
        </p:grpSpPr>
        <p:sp>
          <p:nvSpPr>
            <p:cNvPr id="43012" name="Rectangle 5"/>
            <p:cNvSpPr>
              <a:spLocks noChangeArrowheads="1"/>
            </p:cNvSpPr>
            <p:nvPr/>
          </p:nvSpPr>
          <p:spPr bwMode="auto">
            <a:xfrm>
              <a:off x="48" y="2592"/>
              <a:ext cx="5520" cy="1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Ø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Font typeface="Wingdings" panose="05000000000000000000" pitchFamily="2" charset="2"/>
                <a:buNone/>
              </a:pPr>
              <a:r>
                <a:rPr lang="zh-CN" altLang="en-US" sz="3600" dirty="0">
                  <a:latin typeface="Times New Roman" panose="02020603050405020304" pitchFamily="18" charset="0"/>
                </a:rPr>
                <a:t>现设</a:t>
              </a:r>
              <a:r>
                <a:rPr lang="en-US" altLang="zh-CN" sz="3600" dirty="0" err="1">
                  <a:latin typeface="Times New Roman" panose="02020603050405020304" pitchFamily="18" charset="0"/>
                </a:rPr>
                <a:t>a|b，b|a</a:t>
              </a:r>
              <a:r>
                <a:rPr lang="zh-CN" altLang="en-US" sz="3600" dirty="0">
                  <a:latin typeface="Times New Roman" panose="02020603050405020304" pitchFamily="18" charset="0"/>
                </a:rPr>
                <a:t>，则</a:t>
              </a:r>
              <a:r>
                <a:rPr lang="en-US" altLang="zh-CN" sz="3600" dirty="0">
                  <a:latin typeface="Times New Roman" panose="02020603050405020304" pitchFamily="18" charset="0"/>
                </a:rPr>
                <a:t>a</a:t>
              </a:r>
              <a:r>
                <a:rPr lang="zh-CN" altLang="en-US" sz="3600" dirty="0">
                  <a:latin typeface="Times New Roman" panose="02020603050405020304" pitchFamily="18" charset="0"/>
                </a:rPr>
                <a:t>≠</a:t>
              </a:r>
              <a:r>
                <a:rPr lang="en-US" altLang="zh-CN" sz="3600" dirty="0">
                  <a:latin typeface="Times New Roman" panose="02020603050405020304" pitchFamily="18" charset="0"/>
                </a:rPr>
                <a:t>0, b</a:t>
              </a:r>
              <a:r>
                <a:rPr lang="zh-CN" altLang="en-US" sz="3600" dirty="0">
                  <a:latin typeface="Times New Roman" panose="02020603050405020304" pitchFamily="18" charset="0"/>
                </a:rPr>
                <a:t>≠</a:t>
              </a:r>
              <a:r>
                <a:rPr lang="en-US" altLang="zh-CN" sz="3600" dirty="0">
                  <a:latin typeface="Times New Roman" panose="02020603050405020304" pitchFamily="18" charset="0"/>
                </a:rPr>
                <a:t>0</a:t>
              </a:r>
              <a:r>
                <a:rPr lang="zh-CN" altLang="en-US" sz="3600" dirty="0">
                  <a:latin typeface="Times New Roman" panose="02020603050405020304" pitchFamily="18" charset="0"/>
                </a:rPr>
                <a:t>。</a:t>
              </a:r>
              <a:r>
                <a:rPr lang="zh-CN" altLang="en-US" dirty="0">
                  <a:latin typeface="Times New Roman" panose="02020603050405020304" pitchFamily="18" charset="0"/>
                </a:rPr>
                <a:t>由辗转相除得(1)中各式。对(1)中各式各补充一个关于</a:t>
              </a:r>
              <a:r>
                <a:rPr lang="zh-CN" altLang="en-US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除数</a:t>
              </a:r>
              <a:r>
                <a:rPr lang="zh-CN" altLang="en-US" dirty="0">
                  <a:latin typeface="Times New Roman" panose="02020603050405020304" pitchFamily="18" charset="0"/>
                </a:rPr>
                <a:t>的恒等式，如第一式补上</a:t>
              </a:r>
              <a:r>
                <a:rPr lang="en-US" altLang="zh-CN" dirty="0">
                  <a:latin typeface="Times New Roman" panose="02020603050405020304" pitchFamily="18" charset="0"/>
                </a:rPr>
                <a:t>b=b，</a:t>
              </a:r>
              <a:r>
                <a:rPr lang="zh-CN" altLang="en-US" dirty="0">
                  <a:latin typeface="Times New Roman" panose="02020603050405020304" pitchFamily="18" charset="0"/>
                </a:rPr>
                <a:t>第二式补上</a:t>
              </a:r>
              <a:r>
                <a:rPr lang="en-US" altLang="zh-CN" dirty="0">
                  <a:latin typeface="Times New Roman" panose="02020603050405020304" pitchFamily="18" charset="0"/>
                </a:rPr>
                <a:t>r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</a:rPr>
                <a:t>=r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r>
                <a:rPr lang="zh-CN" altLang="en-US" dirty="0">
                  <a:latin typeface="Times New Roman" panose="02020603050405020304" pitchFamily="18" charset="0"/>
                </a:rPr>
                <a:t>，并表示成矩阵的形式。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3013" name="Line 6"/>
            <p:cNvSpPr>
              <a:spLocks noChangeShapeType="1"/>
            </p:cNvSpPr>
            <p:nvPr/>
          </p:nvSpPr>
          <p:spPr bwMode="auto">
            <a:xfrm>
              <a:off x="816" y="2736"/>
              <a:ext cx="96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014" name="Line 7"/>
            <p:cNvSpPr>
              <a:spLocks noChangeShapeType="1"/>
            </p:cNvSpPr>
            <p:nvPr/>
          </p:nvSpPr>
          <p:spPr bwMode="auto">
            <a:xfrm>
              <a:off x="1488" y="2736"/>
              <a:ext cx="96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3" name="Group 11"/>
          <p:cNvGrpSpPr/>
          <p:nvPr/>
        </p:nvGrpSpPr>
        <p:grpSpPr bwMode="auto">
          <a:xfrm>
            <a:off x="228600" y="-76200"/>
            <a:ext cx="5913438" cy="2057400"/>
            <a:chOff x="144" y="816"/>
            <a:chExt cx="3881" cy="1487"/>
          </a:xfrm>
        </p:grpSpPr>
        <p:graphicFrame>
          <p:nvGraphicFramePr>
            <p:cNvPr id="44039" name="Object 4"/>
            <p:cNvGraphicFramePr>
              <a:graphicFrameLocks noChangeAspect="1"/>
            </p:cNvGraphicFramePr>
            <p:nvPr/>
          </p:nvGraphicFramePr>
          <p:xfrm>
            <a:off x="1447" y="1249"/>
            <a:ext cx="2578" cy="10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1" imgW="1943100" imgH="787400" progId="Equation.DSMT4">
                    <p:embed/>
                  </p:oleObj>
                </mc:Choice>
                <mc:Fallback>
                  <p:oleObj name="Equation" r:id="rId1" imgW="1943100" imgH="7874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7" y="1249"/>
                          <a:ext cx="2578" cy="10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40" name="Rectangle 6"/>
            <p:cNvSpPr>
              <a:spLocks noChangeArrowheads="1"/>
            </p:cNvSpPr>
            <p:nvPr/>
          </p:nvSpPr>
          <p:spPr bwMode="auto">
            <a:xfrm>
              <a:off x="144" y="816"/>
              <a:ext cx="2543" cy="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Ø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>
                  <a:latin typeface="宋体" panose="02010600030101010101" pitchFamily="2" charset="-122"/>
                </a:rPr>
                <a:t>则由(</a:t>
              </a:r>
              <a:r>
                <a:rPr lang="zh-CN" altLang="en-US">
                  <a:latin typeface="Times New Roman" panose="02020603050405020304" pitchFamily="18" charset="0"/>
                </a:rPr>
                <a:t>1</a:t>
              </a:r>
              <a:r>
                <a:rPr lang="zh-CN" altLang="en-US">
                  <a:latin typeface="宋体" panose="02010600030101010101" pitchFamily="2" charset="-122"/>
                </a:rPr>
                <a:t>)的第一式知</a:t>
              </a:r>
              <a:r>
                <a:rPr lang="zh-CN" altLang="en-US">
                  <a:latin typeface="Times New Roman" panose="02020603050405020304" pitchFamily="18" charset="0"/>
                </a:rPr>
                <a:t> :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44034" name="Rectangle 7"/>
          <p:cNvSpPr>
            <a:spLocks noChangeArrowheads="1"/>
          </p:cNvSpPr>
          <p:nvPr/>
        </p:nvSpPr>
        <p:spPr bwMode="auto">
          <a:xfrm>
            <a:off x="228600" y="1981200"/>
            <a:ext cx="3468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由(</a:t>
            </a:r>
            <a:r>
              <a:rPr lang="zh-CN" altLang="en-US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宋体" panose="02010600030101010101" pitchFamily="2" charset="-122"/>
              </a:rPr>
              <a:t>)的第二式知</a:t>
            </a:r>
            <a:r>
              <a:rPr lang="zh-CN" altLang="en-US">
                <a:latin typeface="Times New Roman" panose="02020603050405020304" pitchFamily="18" charset="0"/>
              </a:rPr>
              <a:t> :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1026" name="Object 8"/>
          <p:cNvGraphicFramePr>
            <a:graphicFrameLocks noChangeAspect="1"/>
          </p:cNvGraphicFramePr>
          <p:nvPr/>
        </p:nvGraphicFramePr>
        <p:xfrm>
          <a:off x="2362200" y="2514600"/>
          <a:ext cx="3871913" cy="153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2006600" imgH="787400" progId="Equation.DSMT4">
                  <p:embed/>
                </p:oleObj>
              </mc:Choice>
              <mc:Fallback>
                <p:oleObj name="Equation" r:id="rId3" imgW="2006600" imgH="787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514600"/>
                        <a:ext cx="3871913" cy="153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6" name="Rectangle 14"/>
          <p:cNvSpPr>
            <a:spLocks noChangeArrowheads="1"/>
          </p:cNvSpPr>
          <p:nvPr/>
        </p:nvSpPr>
        <p:spPr bwMode="auto">
          <a:xfrm>
            <a:off x="4038600" y="3810000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………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1027" name="Object 19"/>
          <p:cNvGraphicFramePr>
            <a:graphicFrameLocks noChangeAspect="1"/>
          </p:cNvGraphicFramePr>
          <p:nvPr/>
        </p:nvGraphicFramePr>
        <p:xfrm>
          <a:off x="2133600" y="4343400"/>
          <a:ext cx="4630738" cy="155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2362200" imgH="787400" progId="Equation.DSMT4">
                  <p:embed/>
                </p:oleObj>
              </mc:Choice>
              <mc:Fallback>
                <p:oleObj name="Equation" r:id="rId5" imgW="2362200" imgH="7874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343400"/>
                        <a:ext cx="4630738" cy="155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7" name="Object 10"/>
          <p:cNvGraphicFramePr>
            <a:graphicFrameLocks noChangeAspect="1"/>
          </p:cNvGraphicFramePr>
          <p:nvPr/>
        </p:nvGraphicFramePr>
        <p:xfrm>
          <a:off x="304800" y="1447800"/>
          <a:ext cx="8382000" cy="160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4038600" imgH="762000" progId="Equation.3">
                  <p:embed/>
                </p:oleObj>
              </mc:Choice>
              <mc:Fallback>
                <p:oleObj name="" r:id="rId1" imgW="4038600" imgH="762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447800"/>
                        <a:ext cx="8382000" cy="160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058" name="Group 17"/>
          <p:cNvGrpSpPr/>
          <p:nvPr/>
        </p:nvGrpSpPr>
        <p:grpSpPr bwMode="auto">
          <a:xfrm>
            <a:off x="228600" y="3048000"/>
            <a:ext cx="7966075" cy="2263775"/>
            <a:chOff x="144" y="2380"/>
            <a:chExt cx="5018" cy="1426"/>
          </a:xfrm>
        </p:grpSpPr>
        <p:sp>
          <p:nvSpPr>
            <p:cNvPr id="45060" name="Rectangle 12"/>
            <p:cNvSpPr>
              <a:spLocks noChangeArrowheads="1"/>
            </p:cNvSpPr>
            <p:nvPr/>
          </p:nvSpPr>
          <p:spPr bwMode="auto">
            <a:xfrm>
              <a:off x="144" y="2380"/>
              <a:ext cx="477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Ø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3600">
                  <a:latin typeface="宋体" panose="02010600030101010101" pitchFamily="2" charset="-122"/>
                </a:rPr>
                <a:t>令</a:t>
              </a:r>
              <a:r>
                <a:rPr lang="zh-CN" altLang="en-US" sz="3600">
                  <a:latin typeface="Times New Roman" panose="02020603050405020304" pitchFamily="18" charset="0"/>
                </a:rPr>
                <a:t> </a:t>
              </a:r>
              <a:endParaRPr lang="zh-CN" altLang="en-US" sz="36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5061" name="Object 14"/>
            <p:cNvGraphicFramePr>
              <a:graphicFrameLocks noChangeAspect="1"/>
            </p:cNvGraphicFramePr>
            <p:nvPr/>
          </p:nvGraphicFramePr>
          <p:xfrm>
            <a:off x="357" y="2757"/>
            <a:ext cx="4805" cy="10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3" imgW="3644900" imgH="787400" progId="Equation.3">
                    <p:embed/>
                  </p:oleObj>
                </mc:Choice>
                <mc:Fallback>
                  <p:oleObj name="Equation" r:id="rId3" imgW="3644900" imgH="7874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" y="2757"/>
                          <a:ext cx="4805" cy="10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059" name="Text Box 23"/>
          <p:cNvSpPr txBox="1">
            <a:spLocks noChangeArrowheads="1"/>
          </p:cNvSpPr>
          <p:nvPr/>
        </p:nvSpPr>
        <p:spPr bwMode="auto">
          <a:xfrm>
            <a:off x="0" y="533400"/>
            <a:ext cx="5105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因此</a:t>
            </a:r>
            <a:endParaRPr lang="zh-CN" altLang="en-US" sz="36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88"/>
            <a:ext cx="7772400" cy="701675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zh-CN" altLang="en-US" sz="4000" dirty="0">
                <a:latin typeface="Times New Roman" panose="02020603050405020304" pitchFamily="18" charset="0"/>
                <a:ea typeface="宋体" panose="02010600030101010101" pitchFamily="2" charset="-122"/>
              </a:rPr>
              <a:t>5.1.3 </a:t>
            </a:r>
            <a:endParaRPr lang="en-US" altLang="zh-CN" sz="4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6082" name="Group 12"/>
          <p:cNvGrpSpPr/>
          <p:nvPr/>
        </p:nvGrpSpPr>
        <p:grpSpPr bwMode="auto">
          <a:xfrm>
            <a:off x="228600" y="3276600"/>
            <a:ext cx="7848600" cy="2317750"/>
            <a:chOff x="144" y="2380"/>
            <a:chExt cx="4944" cy="1460"/>
          </a:xfrm>
        </p:grpSpPr>
        <p:sp>
          <p:nvSpPr>
            <p:cNvPr id="46086" name="Rectangle 7"/>
            <p:cNvSpPr>
              <a:spLocks noChangeArrowheads="1"/>
            </p:cNvSpPr>
            <p:nvPr/>
          </p:nvSpPr>
          <p:spPr bwMode="auto">
            <a:xfrm>
              <a:off x="144" y="2380"/>
              <a:ext cx="477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Ø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3600">
                  <a:latin typeface="宋体" panose="02010600030101010101" pitchFamily="2" charset="-122"/>
                </a:rPr>
                <a:t>又</a:t>
              </a:r>
              <a:r>
                <a:rPr lang="zh-CN" altLang="en-US" sz="3600">
                  <a:latin typeface="Times New Roman" panose="02020603050405020304" pitchFamily="18" charset="0"/>
                </a:rPr>
                <a:t> </a:t>
              </a:r>
              <a:endParaRPr lang="zh-CN" altLang="en-US" sz="36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6087" name="Object 8"/>
            <p:cNvGraphicFramePr>
              <a:graphicFrameLocks noChangeAspect="1"/>
            </p:cNvGraphicFramePr>
            <p:nvPr/>
          </p:nvGraphicFramePr>
          <p:xfrm>
            <a:off x="339" y="2846"/>
            <a:ext cx="4749" cy="9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1" imgW="3441700" imgH="736600" progId="Equation.3">
                    <p:embed/>
                  </p:oleObj>
                </mc:Choice>
                <mc:Fallback>
                  <p:oleObj name="Equation" r:id="rId1" imgW="3441700" imgH="7366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" y="2846"/>
                          <a:ext cx="4749" cy="9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083" name="Group 11"/>
          <p:cNvGrpSpPr/>
          <p:nvPr/>
        </p:nvGrpSpPr>
        <p:grpSpPr bwMode="auto">
          <a:xfrm>
            <a:off x="228600" y="838200"/>
            <a:ext cx="7162800" cy="2387600"/>
            <a:chOff x="144" y="798"/>
            <a:chExt cx="4512" cy="1504"/>
          </a:xfrm>
        </p:grpSpPr>
        <p:sp>
          <p:nvSpPr>
            <p:cNvPr id="46084" name="Rectangle 4"/>
            <p:cNvSpPr>
              <a:spLocks noChangeArrowheads="1"/>
            </p:cNvSpPr>
            <p:nvPr/>
          </p:nvSpPr>
          <p:spPr bwMode="auto">
            <a:xfrm>
              <a:off x="144" y="798"/>
              <a:ext cx="40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Ø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3600">
                  <a:latin typeface="宋体" panose="02010600030101010101" pitchFamily="2" charset="-122"/>
                </a:rPr>
                <a:t>则</a:t>
              </a:r>
              <a:endParaRPr lang="zh-CN" altLang="en-US" sz="36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6085" name="Object 9"/>
            <p:cNvGraphicFramePr>
              <a:graphicFrameLocks noChangeAspect="1"/>
            </p:cNvGraphicFramePr>
            <p:nvPr/>
          </p:nvGraphicFramePr>
          <p:xfrm>
            <a:off x="816" y="1056"/>
            <a:ext cx="3840" cy="1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3" imgW="2362200" imgH="762000" progId="Equation.3">
                    <p:embed/>
                  </p:oleObj>
                </mc:Choice>
                <mc:Fallback>
                  <p:oleObj name="" r:id="rId3" imgW="2362200" imgH="7620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1056"/>
                          <a:ext cx="3840" cy="1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87338"/>
            <a:ext cx="7772400" cy="706437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zh-CN" altLang="en-US" sz="4000" dirty="0">
                <a:latin typeface="Times New Roman" panose="02020603050405020304" pitchFamily="18" charset="0"/>
                <a:ea typeface="宋体" panose="02010600030101010101" pitchFamily="2" charset="-122"/>
              </a:rPr>
              <a:t>5.1.3 </a:t>
            </a:r>
            <a:endParaRPr lang="en-US" altLang="zh-CN" sz="4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7106" name="Group 9"/>
          <p:cNvGrpSpPr/>
          <p:nvPr/>
        </p:nvGrpSpPr>
        <p:grpSpPr bwMode="auto">
          <a:xfrm>
            <a:off x="228600" y="1266825"/>
            <a:ext cx="6581775" cy="1693863"/>
            <a:chOff x="144" y="798"/>
            <a:chExt cx="4146" cy="1067"/>
          </a:xfrm>
        </p:grpSpPr>
        <p:sp>
          <p:nvSpPr>
            <p:cNvPr id="47110" name="Rectangle 3"/>
            <p:cNvSpPr>
              <a:spLocks noChangeArrowheads="1"/>
            </p:cNvSpPr>
            <p:nvPr/>
          </p:nvSpPr>
          <p:spPr bwMode="auto">
            <a:xfrm>
              <a:off x="144" y="798"/>
              <a:ext cx="40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Ø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3600">
                  <a:latin typeface="宋体" panose="02010600030101010101" pitchFamily="2" charset="-122"/>
                </a:rPr>
                <a:t>故</a:t>
              </a:r>
              <a:endParaRPr lang="zh-CN" altLang="en-US" sz="36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7111" name="Object 5"/>
            <p:cNvGraphicFramePr>
              <a:graphicFrameLocks noChangeAspect="1"/>
            </p:cNvGraphicFramePr>
            <p:nvPr/>
          </p:nvGraphicFramePr>
          <p:xfrm>
            <a:off x="1104" y="816"/>
            <a:ext cx="3186" cy="10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1" imgW="2298700" imgH="787400" progId="Equation.3">
                    <p:embed/>
                  </p:oleObj>
                </mc:Choice>
                <mc:Fallback>
                  <p:oleObj name="Equation" r:id="rId1" imgW="2298700" imgH="7874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816"/>
                          <a:ext cx="3186" cy="10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107" name="Group 11"/>
          <p:cNvGrpSpPr/>
          <p:nvPr/>
        </p:nvGrpSpPr>
        <p:grpSpPr bwMode="auto">
          <a:xfrm>
            <a:off x="228600" y="3048000"/>
            <a:ext cx="8782050" cy="3048000"/>
            <a:chOff x="144" y="1920"/>
            <a:chExt cx="5532" cy="1920"/>
          </a:xfrm>
        </p:grpSpPr>
        <p:sp>
          <p:nvSpPr>
            <p:cNvPr id="47108" name="Rectangle 4"/>
            <p:cNvSpPr>
              <a:spLocks noChangeArrowheads="1"/>
            </p:cNvSpPr>
            <p:nvPr/>
          </p:nvSpPr>
          <p:spPr bwMode="auto">
            <a:xfrm>
              <a:off x="144" y="1920"/>
              <a:ext cx="477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Ø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3600">
                  <a:latin typeface="宋体" panose="02010600030101010101" pitchFamily="2" charset="-122"/>
                </a:rPr>
                <a:t>又</a:t>
              </a:r>
              <a:r>
                <a:rPr lang="zh-CN" altLang="en-US" sz="3600">
                  <a:latin typeface="Times New Roman" panose="02020603050405020304" pitchFamily="18" charset="0"/>
                </a:rPr>
                <a:t> </a:t>
              </a:r>
              <a:endParaRPr lang="zh-CN" altLang="en-US" sz="36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7109" name="Object 7"/>
            <p:cNvGraphicFramePr>
              <a:graphicFrameLocks noChangeAspect="1"/>
            </p:cNvGraphicFramePr>
            <p:nvPr/>
          </p:nvGraphicFramePr>
          <p:xfrm>
            <a:off x="372" y="2112"/>
            <a:ext cx="5304" cy="17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3" imgW="3937000" imgH="1498600" progId="Equation.3">
                    <p:embed/>
                  </p:oleObj>
                </mc:Choice>
                <mc:Fallback>
                  <p:oleObj name="Equation" r:id="rId3" imgW="3937000" imgH="14986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" y="2112"/>
                          <a:ext cx="5304" cy="17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87338"/>
            <a:ext cx="7772400" cy="706437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zh-CN" altLang="en-US" sz="4000" dirty="0">
                <a:latin typeface="Times New Roman" panose="02020603050405020304" pitchFamily="18" charset="0"/>
                <a:ea typeface="宋体" panose="02010600030101010101" pitchFamily="2" charset="-122"/>
              </a:rPr>
              <a:t>5.1.3 </a:t>
            </a:r>
            <a:endParaRPr lang="en-US" altLang="zh-CN" sz="4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8130" name="Group 15"/>
          <p:cNvGrpSpPr/>
          <p:nvPr/>
        </p:nvGrpSpPr>
        <p:grpSpPr bwMode="auto">
          <a:xfrm>
            <a:off x="228600" y="1266825"/>
            <a:ext cx="4724400" cy="2009775"/>
            <a:chOff x="144" y="798"/>
            <a:chExt cx="2951" cy="1266"/>
          </a:xfrm>
        </p:grpSpPr>
        <p:graphicFrame>
          <p:nvGraphicFramePr>
            <p:cNvPr id="48134" name="Object 7"/>
            <p:cNvGraphicFramePr>
              <a:graphicFrameLocks noChangeAspect="1"/>
            </p:cNvGraphicFramePr>
            <p:nvPr/>
          </p:nvGraphicFramePr>
          <p:xfrm>
            <a:off x="240" y="1168"/>
            <a:ext cx="2855" cy="8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1" imgW="2565400" imgH="787400" progId="Equation.3">
                    <p:embed/>
                  </p:oleObj>
                </mc:Choice>
                <mc:Fallback>
                  <p:oleObj name="Equation" r:id="rId1" imgW="2565400" imgH="7874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1168"/>
                          <a:ext cx="2855" cy="8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35" name="Rectangle 3"/>
            <p:cNvSpPr>
              <a:spLocks noChangeArrowheads="1"/>
            </p:cNvSpPr>
            <p:nvPr/>
          </p:nvSpPr>
          <p:spPr bwMode="auto">
            <a:xfrm>
              <a:off x="144" y="798"/>
              <a:ext cx="40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Ø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3600">
                  <a:latin typeface="宋体" panose="02010600030101010101" pitchFamily="2" charset="-122"/>
                </a:rPr>
                <a:t>故</a:t>
              </a:r>
              <a:endParaRPr lang="zh-CN" altLang="en-US" sz="360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48131" name="Object 9"/>
          <p:cNvGraphicFramePr>
            <a:graphicFrameLocks noChangeAspect="1"/>
          </p:cNvGraphicFramePr>
          <p:nvPr/>
        </p:nvGraphicFramePr>
        <p:xfrm>
          <a:off x="4899025" y="1828800"/>
          <a:ext cx="3863975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2184400" imgH="787400" progId="Equation.3">
                  <p:embed/>
                </p:oleObj>
              </mc:Choice>
              <mc:Fallback>
                <p:oleObj name="Equation" r:id="rId3" imgW="2184400" imgH="787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9025" y="1828800"/>
                        <a:ext cx="3863975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2" name="Object 10"/>
          <p:cNvGraphicFramePr>
            <a:graphicFrameLocks noChangeAspect="1"/>
          </p:cNvGraphicFramePr>
          <p:nvPr/>
        </p:nvGraphicFramePr>
        <p:xfrm>
          <a:off x="4084638" y="4140200"/>
          <a:ext cx="4568825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公式" r:id="rId5" imgW="2578100" imgH="787400" progId="Equation.3">
                  <p:embed/>
                </p:oleObj>
              </mc:Choice>
              <mc:Fallback>
                <p:oleObj name="公式" r:id="rId5" imgW="2578100" imgH="787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4638" y="4140200"/>
                        <a:ext cx="4568825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12"/>
          <p:cNvGraphicFramePr>
            <a:graphicFrameLocks noChangeAspect="1"/>
          </p:cNvGraphicFramePr>
          <p:nvPr/>
        </p:nvGraphicFramePr>
        <p:xfrm>
          <a:off x="533400" y="3657600"/>
          <a:ext cx="3343275" cy="247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1879600" imgH="1371600" progId="Equation.3">
                  <p:embed/>
                </p:oleObj>
              </mc:Choice>
              <mc:Fallback>
                <p:oleObj name="Equation" r:id="rId7" imgW="1879600" imgH="137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657600"/>
                        <a:ext cx="3343275" cy="247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63538"/>
            <a:ext cx="7772400" cy="706437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zh-CN" altLang="en-US" sz="4000" dirty="0">
                <a:latin typeface="Times New Roman" panose="02020603050405020304" pitchFamily="18" charset="0"/>
                <a:ea typeface="宋体" panose="02010600030101010101" pitchFamily="2" charset="-122"/>
              </a:rPr>
              <a:t>5.1.3 </a:t>
            </a:r>
            <a:endParaRPr lang="en-US" altLang="zh-CN" sz="4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9154" name="Group 6"/>
          <p:cNvGrpSpPr/>
          <p:nvPr/>
        </p:nvGrpSpPr>
        <p:grpSpPr bwMode="auto">
          <a:xfrm>
            <a:off x="304800" y="3962400"/>
            <a:ext cx="7315200" cy="1676400"/>
            <a:chOff x="192" y="2496"/>
            <a:chExt cx="4512" cy="1040"/>
          </a:xfrm>
        </p:grpSpPr>
        <p:graphicFrame>
          <p:nvGraphicFramePr>
            <p:cNvPr id="49157" name="Object 7"/>
            <p:cNvGraphicFramePr>
              <a:graphicFrameLocks noChangeAspect="1"/>
            </p:cNvGraphicFramePr>
            <p:nvPr/>
          </p:nvGraphicFramePr>
          <p:xfrm>
            <a:off x="576" y="2976"/>
            <a:ext cx="4128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1" imgW="2794000" imgH="355600" progId="Equation.3">
                    <p:embed/>
                  </p:oleObj>
                </mc:Choice>
                <mc:Fallback>
                  <p:oleObj name="" r:id="rId1" imgW="2794000" imgH="3556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2976"/>
                          <a:ext cx="4128" cy="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58" name="Rectangle 8"/>
            <p:cNvSpPr>
              <a:spLocks noChangeArrowheads="1"/>
            </p:cNvSpPr>
            <p:nvPr/>
          </p:nvSpPr>
          <p:spPr bwMode="auto">
            <a:xfrm>
              <a:off x="192" y="2496"/>
              <a:ext cx="1850" cy="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Ø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3600">
                  <a:latin typeface="宋体" panose="02010600030101010101" pitchFamily="2" charset="-122"/>
                </a:rPr>
                <a:t>所以，我们有</a:t>
              </a:r>
              <a:endParaRPr lang="zh-CN" altLang="en-US" sz="3600">
                <a:latin typeface="Times New Roman" panose="02020603050405020304" pitchFamily="18" charset="0"/>
              </a:endParaRPr>
            </a:p>
          </p:txBody>
        </p:sp>
      </p:grpSp>
      <p:sp>
        <p:nvSpPr>
          <p:cNvPr id="49155" name="Text Box 9"/>
          <p:cNvSpPr txBox="1">
            <a:spLocks noChangeArrowheads="1"/>
          </p:cNvSpPr>
          <p:nvPr/>
        </p:nvSpPr>
        <p:spPr bwMode="auto">
          <a:xfrm>
            <a:off x="457200" y="1219200"/>
            <a:ext cx="2514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因此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graphicFrame>
        <p:nvGraphicFramePr>
          <p:cNvPr id="49156" name="Object 12"/>
          <p:cNvGraphicFramePr>
            <a:graphicFrameLocks noGrp="1" noChangeAspect="1"/>
          </p:cNvGraphicFramePr>
          <p:nvPr>
            <p:ph idx="1"/>
          </p:nvPr>
        </p:nvGraphicFramePr>
        <p:xfrm>
          <a:off x="228600" y="1981200"/>
          <a:ext cx="86868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72847200" imgH="11887200" progId="Equation.DSMT4">
                  <p:embed/>
                </p:oleObj>
              </mc:Choice>
              <mc:Fallback>
                <p:oleObj name="Equation" r:id="rId3" imgW="72847200" imgH="11887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981200"/>
                        <a:ext cx="86868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762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708025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zh-CN" altLang="en-US" sz="4000" dirty="0">
                <a:latin typeface="Times New Roman" panose="02020603050405020304" pitchFamily="18" charset="0"/>
                <a:ea typeface="宋体" panose="02010600030101010101" pitchFamily="2" charset="-122"/>
              </a:rPr>
              <a:t>5.1.3 </a:t>
            </a:r>
            <a:endParaRPr lang="en-US" altLang="zh-CN" sz="4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0178" name="Group 3"/>
          <p:cNvGrpSpPr/>
          <p:nvPr/>
        </p:nvGrpSpPr>
        <p:grpSpPr bwMode="auto">
          <a:xfrm>
            <a:off x="304800" y="914400"/>
            <a:ext cx="7023100" cy="1700213"/>
            <a:chOff x="192" y="576"/>
            <a:chExt cx="4424" cy="1071"/>
          </a:xfrm>
        </p:grpSpPr>
        <p:sp>
          <p:nvSpPr>
            <p:cNvPr id="50180" name="Rectangle 4"/>
            <p:cNvSpPr>
              <a:spLocks noChangeArrowheads="1"/>
            </p:cNvSpPr>
            <p:nvPr/>
          </p:nvSpPr>
          <p:spPr bwMode="auto">
            <a:xfrm>
              <a:off x="192" y="576"/>
              <a:ext cx="408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Ø"/>
                <a:defRPr kumimoji="1"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取</a:t>
              </a:r>
              <a:r>
                <a:rPr lang="en-US" altLang="zh-CN">
                  <a:latin typeface="Times New Roman" panose="02020603050405020304" pitchFamily="18" charset="0"/>
                </a:rPr>
                <a:t>k=n，</a:t>
              </a:r>
              <a:r>
                <a:rPr lang="zh-CN" altLang="en-US">
                  <a:latin typeface="Times New Roman" panose="02020603050405020304" pitchFamily="18" charset="0"/>
                </a:rPr>
                <a:t>则因</a:t>
              </a:r>
              <a:r>
                <a:rPr lang="en-US" altLang="zh-CN">
                  <a:latin typeface="Times New Roman" panose="02020603050405020304" pitchFamily="18" charset="0"/>
                </a:rPr>
                <a:t>r</a:t>
              </a:r>
              <a:r>
                <a:rPr lang="en-US" altLang="zh-CN" baseline="-30000">
                  <a:latin typeface="Times New Roman" panose="02020603050405020304" pitchFamily="18" charset="0"/>
                </a:rPr>
                <a:t>n</a:t>
              </a:r>
              <a:r>
                <a:rPr lang="zh-CN" altLang="en-US">
                  <a:latin typeface="Times New Roman" panose="02020603050405020304" pitchFamily="18" charset="0"/>
                </a:rPr>
                <a:t>即最高公因数</a:t>
              </a:r>
              <a:r>
                <a:rPr lang="en-US" altLang="zh-CN">
                  <a:latin typeface="Times New Roman" panose="02020603050405020304" pitchFamily="18" charset="0"/>
                </a:rPr>
                <a:t>d</a:t>
              </a:r>
              <a:r>
                <a:rPr lang="zh-CN" altLang="en-US">
                  <a:latin typeface="Times New Roman" panose="02020603050405020304" pitchFamily="18" charset="0"/>
                </a:rPr>
                <a:t>而得 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0181" name="Object 5"/>
            <p:cNvGraphicFramePr>
              <a:graphicFrameLocks noChangeAspect="1"/>
            </p:cNvGraphicFramePr>
            <p:nvPr/>
          </p:nvGraphicFramePr>
          <p:xfrm>
            <a:off x="768" y="1056"/>
            <a:ext cx="3848" cy="5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1" imgW="2603500" imgH="381000" progId="Equation.3">
                    <p:embed/>
                  </p:oleObj>
                </mc:Choice>
                <mc:Fallback>
                  <p:oleObj name="Equation" r:id="rId1" imgW="2603500" imgH="3810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1056"/>
                          <a:ext cx="3848" cy="5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179" name="Rectangle 6"/>
          <p:cNvSpPr>
            <a:spLocks noChangeArrowheads="1"/>
          </p:cNvSpPr>
          <p:nvPr/>
        </p:nvSpPr>
        <p:spPr bwMode="auto">
          <a:xfrm>
            <a:off x="228600" y="2651125"/>
            <a:ext cx="8610600" cy="268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即为所求的形式。</a:t>
            </a:r>
            <a:endParaRPr lang="zh-CN" altLang="en-US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这表明，任给两个数，都可将它们的最高公因表为它们的倍数和的形式。证毕。</a:t>
            </a:r>
            <a:endParaRPr lang="zh-CN" altLang="en-US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Note:</a:t>
            </a:r>
            <a:r>
              <a:rPr lang="zh-CN" altLang="en-US">
                <a:latin typeface="Times New Roman" panose="02020603050405020304" pitchFamily="18" charset="0"/>
              </a:rPr>
              <a:t>实际表示时需求出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n，S</a:t>
            </a:r>
            <a:r>
              <a:rPr lang="en-US" altLang="zh-CN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，T</a:t>
            </a:r>
            <a:r>
              <a:rPr lang="en-US" altLang="zh-CN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。 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3"/>
          <p:cNvSpPr>
            <a:spLocks noChangeArrowheads="1"/>
          </p:cNvSpPr>
          <p:nvPr/>
        </p:nvSpPr>
        <p:spPr bwMode="auto">
          <a:xfrm>
            <a:off x="228600" y="609600"/>
            <a:ext cx="8610600" cy="126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求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，T</a:t>
            </a:r>
            <a:r>
              <a:rPr lang="en-US" altLang="zh-CN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</a:rPr>
              <a:t>的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简便方法：</a:t>
            </a:r>
            <a:endParaRPr lang="zh-CN" altLang="en-US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看下面的等式：其中</a:t>
            </a:r>
            <a:r>
              <a:rPr lang="en-US" altLang="zh-CN" i="1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</a:rPr>
              <a:t>-1≥1</a:t>
            </a:r>
            <a:r>
              <a:rPr lang="zh-CN" altLang="en-US">
                <a:latin typeface="Times New Roman" panose="02020603050405020304" pitchFamily="18" charset="0"/>
              </a:rPr>
              <a:t>，即</a:t>
            </a:r>
            <a:r>
              <a:rPr lang="en-US" altLang="zh-CN" i="1">
                <a:solidFill>
                  <a:schemeClr val="tx2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 ≥2,</a:t>
            </a:r>
            <a:endParaRPr lang="en-US" altLang="zh-CN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1202" name="Object 9"/>
          <p:cNvGraphicFramePr>
            <a:graphicFrameLocks noChangeAspect="1"/>
          </p:cNvGraphicFramePr>
          <p:nvPr/>
        </p:nvGraphicFramePr>
        <p:xfrm>
          <a:off x="304800" y="2209800"/>
          <a:ext cx="84582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6134100" imgH="762000" progId="Equation.3">
                  <p:embed/>
                </p:oleObj>
              </mc:Choice>
              <mc:Fallback>
                <p:oleObj name="" r:id="rId1" imgW="6134100" imgH="762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209800"/>
                        <a:ext cx="84582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47" name="Rectangle 11"/>
          <p:cNvSpPr>
            <a:spLocks noChangeArrowheads="1"/>
          </p:cNvSpPr>
          <p:nvPr/>
        </p:nvSpPr>
        <p:spPr bwMode="auto">
          <a:xfrm>
            <a:off x="228600" y="4114800"/>
            <a:ext cx="8534400" cy="172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4000"/>
              </a:lnSpc>
              <a:defRPr/>
            </a:pPr>
            <a:r>
              <a:rPr lang="zh-CN" altLang="en-US" sz="3200" b="1"/>
              <a:t>比较最左最右两矩阵的第二列知:</a:t>
            </a:r>
            <a:br>
              <a:rPr lang="zh-CN" altLang="en-US" sz="3200" b="1"/>
            </a:br>
            <a:r>
              <a:rPr lang="zh-CN" altLang="en-US" sz="3200" b="1"/>
              <a:t>	    </a:t>
            </a:r>
            <a:r>
              <a:rPr lang="en-US" altLang="zh-CN" sz="3200" b="1"/>
              <a:t>U</a:t>
            </a:r>
            <a:r>
              <a:rPr lang="en-US" altLang="zh-CN" sz="3200" b="1" baseline="-30000"/>
              <a:t>k</a:t>
            </a:r>
            <a:r>
              <a:rPr lang="en-US" altLang="zh-CN" sz="3200" b="1"/>
              <a:t>=S</a:t>
            </a:r>
            <a:r>
              <a:rPr lang="en-US" altLang="zh-CN" sz="3200" b="1" baseline="-30000"/>
              <a:t>k-1</a:t>
            </a:r>
            <a:r>
              <a:rPr lang="en-US" altLang="zh-CN" sz="3200" b="1"/>
              <a:t>，V</a:t>
            </a:r>
            <a:r>
              <a:rPr lang="en-US" altLang="zh-CN" sz="3200" b="1" baseline="-30000"/>
              <a:t>k</a:t>
            </a:r>
            <a:r>
              <a:rPr lang="en-US" altLang="zh-CN" sz="3200" b="1"/>
              <a:t>=T</a:t>
            </a:r>
            <a:r>
              <a:rPr lang="en-US" altLang="zh-CN" sz="3200" b="1" baseline="-30000"/>
              <a:t>k-1 </a:t>
            </a:r>
            <a:r>
              <a:rPr lang="zh-CN" altLang="en-US" sz="3200" b="1"/>
              <a:t>，</a:t>
            </a:r>
            <a:r>
              <a:rPr lang="en-US" altLang="zh-CN" sz="3200" b="1" i="1">
                <a:solidFill>
                  <a:schemeClr val="tx2"/>
                </a:solidFill>
              </a:rPr>
              <a:t>k</a:t>
            </a:r>
            <a:r>
              <a:rPr lang="en-US" altLang="zh-CN" sz="3200" b="1">
                <a:solidFill>
                  <a:schemeClr val="tx2"/>
                </a:solidFill>
              </a:rPr>
              <a:t> ≥2</a:t>
            </a:r>
            <a:r>
              <a:rPr lang="en-US" altLang="zh-CN" sz="3200"/>
              <a:t> </a:t>
            </a:r>
            <a:r>
              <a:rPr lang="en-US" altLang="zh-CN" sz="3200" b="1"/>
              <a:t>。</a:t>
            </a:r>
            <a:endParaRPr lang="en-US" altLang="zh-CN" sz="3200" b="1"/>
          </a:p>
          <a:p>
            <a:pPr>
              <a:lnSpc>
                <a:spcPct val="114000"/>
              </a:lnSpc>
              <a:defRPr/>
            </a:pPr>
            <a:r>
              <a:rPr lang="zh-CN" altLang="en-US" sz="3200" b="1"/>
              <a:t>因而，</a:t>
            </a:r>
            <a:r>
              <a:rPr lang="en-US" altLang="zh-CN" sz="3200" b="1"/>
              <a:t>U</a:t>
            </a:r>
            <a:r>
              <a:rPr lang="en-US" altLang="zh-CN" sz="3200" b="1" baseline="-30000"/>
              <a:t>k-1</a:t>
            </a:r>
            <a:r>
              <a:rPr lang="en-US" altLang="zh-CN" sz="3200" b="1"/>
              <a:t>=S</a:t>
            </a:r>
            <a:r>
              <a:rPr lang="en-US" altLang="zh-CN" sz="3200" b="1" baseline="-30000"/>
              <a:t>k-2</a:t>
            </a:r>
            <a:r>
              <a:rPr lang="en-US" altLang="zh-CN" sz="3200" b="1"/>
              <a:t>，V</a:t>
            </a:r>
            <a:r>
              <a:rPr lang="en-US" altLang="zh-CN" sz="3200" b="1" baseline="-30000"/>
              <a:t>k-1</a:t>
            </a:r>
            <a:r>
              <a:rPr lang="en-US" altLang="zh-CN" sz="3200" b="1"/>
              <a:t>=T</a:t>
            </a:r>
            <a:r>
              <a:rPr lang="en-US" altLang="zh-CN" sz="3200" b="1" baseline="-30000"/>
              <a:t>k-2</a:t>
            </a:r>
            <a:r>
              <a:rPr lang="en-US" altLang="zh-CN" sz="3200" b="1"/>
              <a:t> </a:t>
            </a:r>
            <a:r>
              <a:rPr lang="en-US" altLang="zh-CN" sz="3200" b="1">
                <a:effectLst>
                  <a:outerShdw blurRad="38100" dist="38100" dir="2700000" algn="tl">
                    <a:srgbClr val="000000"/>
                  </a:outerShdw>
                </a:effectLst>
                <a:sym typeface="Symbol" panose="05050102010706020507" pitchFamily="2" charset="2"/>
              </a:rPr>
              <a:t>…</a:t>
            </a:r>
            <a:r>
              <a:rPr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  <a:sym typeface="Symbol" panose="05050102010706020507" pitchFamily="2" charset="2"/>
              </a:rPr>
              <a:t>(</a:t>
            </a:r>
            <a:r>
              <a:rPr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anose="05050102010706020507" pitchFamily="2" charset="2"/>
              </a:rPr>
              <a:t>4</a:t>
            </a:r>
            <a:r>
              <a:rPr lang="zh-CN" altLang="en-US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  <a:r>
              <a:rPr lang="zh-CN" altLang="en-US" sz="3200" b="1"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altLang="zh-CN" sz="3200" b="1" i="1">
                <a:solidFill>
                  <a:schemeClr val="tx2"/>
                </a:solidFill>
              </a:rPr>
              <a:t>k</a:t>
            </a:r>
            <a:r>
              <a:rPr lang="en-US" altLang="zh-CN" sz="3200" b="1">
                <a:solidFill>
                  <a:schemeClr val="tx2"/>
                </a:solidFill>
              </a:rPr>
              <a:t> ≥3</a:t>
            </a:r>
            <a:endParaRPr lang="zh-CN" altLang="en-US" sz="32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381000"/>
            <a:ext cx="8763000" cy="556260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/>
              <a:t>U</a:t>
            </a:r>
            <a:r>
              <a:rPr lang="en-US" altLang="zh-CN" baseline="-30000"/>
              <a:t>k-1</a:t>
            </a:r>
            <a:r>
              <a:rPr lang="en-US" altLang="zh-CN"/>
              <a:t>=S</a:t>
            </a:r>
            <a:r>
              <a:rPr lang="en-US" altLang="zh-CN" baseline="-30000"/>
              <a:t>k-2</a:t>
            </a:r>
            <a:r>
              <a:rPr lang="en-US" altLang="zh-CN"/>
              <a:t>，V</a:t>
            </a:r>
            <a:r>
              <a:rPr lang="en-US" altLang="zh-CN" baseline="-30000"/>
              <a:t>k-1</a:t>
            </a:r>
            <a:r>
              <a:rPr lang="en-US" altLang="zh-CN"/>
              <a:t>=T</a:t>
            </a:r>
            <a:r>
              <a:rPr lang="en-US" altLang="zh-CN" baseline="-30000"/>
              <a:t>k-2</a:t>
            </a:r>
            <a:r>
              <a:rPr lang="en-US" altLang="zh-CN"/>
              <a:t> 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2" charset="2"/>
              </a:rPr>
              <a:t>…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  <a:sym typeface="Symbol" panose="05050102010706020507" pitchFamily="2" charset="2"/>
              </a:rPr>
              <a:t>(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anose="05050102010706020507" pitchFamily="2" charset="2"/>
              </a:rPr>
              <a:t>4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  <a:endParaRPr lang="en-US" altLang="zh-CN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>
                <a:latin typeface="Times New Roman" panose="02020603050405020304" pitchFamily="18" charset="0"/>
              </a:rPr>
              <a:t>再比较这两个矩阵的第一列：</a:t>
            </a:r>
            <a:br>
              <a:rPr lang="zh-CN" altLang="en-US">
                <a:latin typeface="Times New Roman" panose="02020603050405020304" pitchFamily="18" charset="0"/>
              </a:rPr>
            </a:br>
            <a:r>
              <a:rPr lang="zh-CN" altLang="en-US">
                <a:latin typeface="Times New Roman" panose="02020603050405020304" pitchFamily="18" charset="0"/>
              </a:rPr>
              <a:t>		</a:t>
            </a:r>
            <a:r>
              <a:rPr lang="en-US" altLang="zh-CN">
                <a:latin typeface="Times New Roman" panose="02020603050405020304" pitchFamily="18" charset="0"/>
              </a:rPr>
              <a:t>S</a:t>
            </a:r>
            <a:r>
              <a:rPr lang="en-US" altLang="zh-CN" baseline="-30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</a:rPr>
              <a:t>=q</a:t>
            </a:r>
            <a:r>
              <a:rPr lang="en-US" altLang="zh-CN" baseline="-30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</a:rPr>
              <a:t>S</a:t>
            </a:r>
            <a:r>
              <a:rPr lang="en-US" altLang="zh-CN" baseline="-30000">
                <a:latin typeface="Times New Roman" panose="02020603050405020304" pitchFamily="18" charset="0"/>
              </a:rPr>
              <a:t>k-1</a:t>
            </a:r>
            <a:r>
              <a:rPr lang="en-US" altLang="zh-CN">
                <a:latin typeface="Times New Roman" panose="02020603050405020304" pitchFamily="18" charset="0"/>
              </a:rPr>
              <a:t>+U</a:t>
            </a:r>
            <a:r>
              <a:rPr lang="en-US" altLang="zh-CN" baseline="-30000">
                <a:latin typeface="Times New Roman" panose="02020603050405020304" pitchFamily="18" charset="0"/>
              </a:rPr>
              <a:t>k-1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br>
              <a:rPr lang="en-US" altLang="zh-CN">
                <a:latin typeface="Times New Roman" panose="02020603050405020304" pitchFamily="18" charset="0"/>
              </a:rPr>
            </a:br>
            <a:r>
              <a:rPr lang="en-US" altLang="zh-CN">
                <a:latin typeface="Times New Roman" panose="02020603050405020304" pitchFamily="18" charset="0"/>
              </a:rPr>
              <a:t>		T</a:t>
            </a:r>
            <a:r>
              <a:rPr lang="en-US" altLang="zh-CN" baseline="-30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</a:rPr>
              <a:t>=q</a:t>
            </a:r>
            <a:r>
              <a:rPr lang="en-US" altLang="zh-CN" baseline="-30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</a:rPr>
              <a:t>T</a:t>
            </a:r>
            <a:r>
              <a:rPr lang="en-US" altLang="zh-CN" baseline="-30000">
                <a:latin typeface="Times New Roman" panose="02020603050405020304" pitchFamily="18" charset="0"/>
              </a:rPr>
              <a:t>k-1</a:t>
            </a:r>
            <a:r>
              <a:rPr lang="en-US" altLang="zh-CN">
                <a:latin typeface="Times New Roman" panose="02020603050405020304" pitchFamily="18" charset="0"/>
              </a:rPr>
              <a:t>+V</a:t>
            </a:r>
            <a:r>
              <a:rPr lang="en-US" altLang="zh-CN" baseline="-30000">
                <a:latin typeface="Times New Roman" panose="02020603050405020304" pitchFamily="18" charset="0"/>
              </a:rPr>
              <a:t>k-1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2" charset="2"/>
              </a:rPr>
              <a:t>………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sym typeface="Symbol" panose="05050102010706020507" pitchFamily="2" charset="2"/>
              </a:rPr>
              <a:t> 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(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2" charset="2"/>
              </a:rPr>
              <a:t>5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) </a:t>
            </a:r>
            <a:r>
              <a:rPr lang="en-US" altLang="zh-CN" i="1">
                <a:solidFill>
                  <a:schemeClr val="tx2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 ≥2</a:t>
            </a:r>
            <a:endParaRPr lang="zh-CN" altLang="en-US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由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(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2" charset="2"/>
              </a:rPr>
              <a:t>4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2" charset="2"/>
              </a:rPr>
              <a:t>式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和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(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2" charset="2"/>
              </a:rPr>
              <a:t>5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2" charset="2"/>
              </a:rPr>
              <a:t>式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得：</a:t>
            </a:r>
            <a:b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</a:b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		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baseline="-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k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=q</a:t>
            </a:r>
            <a:r>
              <a:rPr lang="en-US" altLang="zh-CN" baseline="-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k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baseline="-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k-1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+S</a:t>
            </a:r>
            <a:r>
              <a:rPr lang="en-US" altLang="zh-CN" baseline="-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k-2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</a:t>
            </a:r>
            <a:b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</a:b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		T</a:t>
            </a:r>
            <a:r>
              <a:rPr lang="en-US" altLang="zh-CN" baseline="-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k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=q</a:t>
            </a:r>
            <a:r>
              <a:rPr lang="en-US" altLang="zh-CN" baseline="-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k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T</a:t>
            </a:r>
            <a:r>
              <a:rPr lang="en-US" altLang="zh-CN" baseline="-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k-1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+T</a:t>
            </a:r>
            <a:r>
              <a:rPr lang="en-US" altLang="zh-CN" baseline="-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k-2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2" charset="2"/>
              </a:rPr>
              <a:t>…………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(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2" charset="2"/>
              </a:rPr>
              <a:t>6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)</a:t>
            </a:r>
            <a:endParaRPr lang="zh-CN" altLang="en-US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2" charset="2"/>
              </a:rPr>
              <a:t>4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式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在 </a:t>
            </a:r>
            <a:r>
              <a:rPr lang="en-US" altLang="zh-CN" i="1">
                <a:solidFill>
                  <a:schemeClr val="tx2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≥3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时成立，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2" charset="2"/>
              </a:rPr>
              <a:t>5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式在 </a:t>
            </a:r>
            <a:r>
              <a:rPr lang="en-US" altLang="zh-CN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k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≥2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时成立，所以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2" charset="2"/>
              </a:rPr>
              <a:t>6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式在 </a:t>
            </a:r>
            <a:r>
              <a:rPr lang="en-US" altLang="zh-CN" i="1">
                <a:solidFill>
                  <a:schemeClr val="tx2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</a:rPr>
              <a:t>≥3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时成立。 </a:t>
            </a:r>
            <a:endParaRPr lang="zh-CN" altLang="en-US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8763000" cy="27432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6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  </a:t>
            </a:r>
            <a:r>
              <a:rPr lang="en-US" altLang="zh-CN"/>
              <a:t>U</a:t>
            </a:r>
            <a:r>
              <a:rPr lang="en-US" altLang="zh-CN" baseline="-30000"/>
              <a:t>k-1</a:t>
            </a:r>
            <a:r>
              <a:rPr lang="en-US" altLang="zh-CN"/>
              <a:t>=S</a:t>
            </a:r>
            <a:r>
              <a:rPr lang="en-US" altLang="zh-CN" baseline="-30000"/>
              <a:t>k-2</a:t>
            </a:r>
            <a:r>
              <a:rPr lang="en-US" altLang="zh-CN"/>
              <a:t>，V</a:t>
            </a:r>
            <a:r>
              <a:rPr lang="en-US" altLang="zh-CN" baseline="-30000"/>
              <a:t>k-1</a:t>
            </a:r>
            <a:r>
              <a:rPr lang="en-US" altLang="zh-CN"/>
              <a:t>=T</a:t>
            </a:r>
            <a:r>
              <a:rPr lang="en-US" altLang="zh-CN" baseline="-30000"/>
              <a:t>k-2 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(4)</a:t>
            </a:r>
            <a:endParaRPr lang="en-US" altLang="zh-CN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根据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(4)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式，若令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baseline="-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0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=U</a:t>
            </a:r>
            <a:r>
              <a:rPr lang="en-US" altLang="zh-CN" baseline="-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，T</a:t>
            </a:r>
            <a:r>
              <a:rPr lang="en-US" altLang="zh-CN" baseline="-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0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=V</a:t>
            </a:r>
            <a:r>
              <a:rPr lang="en-US" altLang="zh-CN" baseline="-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1 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2" charset="2"/>
              </a:rPr>
              <a:t>……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(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2" charset="2"/>
              </a:rPr>
              <a:t>7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)</a:t>
            </a:r>
            <a:endParaRPr lang="zh-CN" altLang="en-US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则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2" charset="2"/>
              </a:rPr>
              <a:t>4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式在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k=2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时也成立，即</a:t>
            </a:r>
            <a:r>
              <a:rPr lang="zh-CN" altLang="en-US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2" charset="2"/>
              </a:rPr>
              <a:t>6</a:t>
            </a:r>
            <a:r>
              <a:rPr lang="zh-CN" altLang="en-US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式在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k=2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时也成立。</a:t>
            </a:r>
            <a:endParaRPr lang="zh-CN" altLang="en-US"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145414" name="Rectangle 6"/>
          <p:cNvSpPr>
            <a:spLocks noChangeArrowheads="1"/>
          </p:cNvSpPr>
          <p:nvPr/>
        </p:nvSpPr>
        <p:spPr bwMode="auto">
          <a:xfrm>
            <a:off x="304800" y="4419600"/>
            <a:ext cx="8458200" cy="1739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b="1"/>
              <a:t>得</a:t>
            </a:r>
            <a:r>
              <a:rPr lang="en-US" altLang="zh-CN" sz="3600" b="1">
                <a:solidFill>
                  <a:schemeClr val="tx2"/>
                </a:solidFill>
              </a:rPr>
              <a:t>S</a:t>
            </a:r>
            <a:r>
              <a:rPr lang="en-US" altLang="zh-CN" sz="3600" b="1" baseline="-30000">
                <a:solidFill>
                  <a:schemeClr val="tx2"/>
                </a:solidFill>
              </a:rPr>
              <a:t>0</a:t>
            </a:r>
            <a:r>
              <a:rPr lang="en-US" altLang="zh-CN" sz="3600" b="1">
                <a:solidFill>
                  <a:schemeClr val="tx2"/>
                </a:solidFill>
              </a:rPr>
              <a:t>=</a:t>
            </a:r>
            <a:r>
              <a:rPr lang="en-US" altLang="zh-CN"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</a:t>
            </a:r>
            <a:r>
              <a:rPr lang="en-US" altLang="zh-CN" sz="3600" b="1" baseline="-30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sz="3600" b="1">
                <a:solidFill>
                  <a:schemeClr val="tx2"/>
                </a:solidFill>
              </a:rPr>
              <a:t>=0，S</a:t>
            </a:r>
            <a:r>
              <a:rPr lang="en-US" altLang="zh-CN" sz="3600" b="1" baseline="-30000">
                <a:solidFill>
                  <a:schemeClr val="tx2"/>
                </a:solidFill>
              </a:rPr>
              <a:t>1</a:t>
            </a:r>
            <a:r>
              <a:rPr lang="en-US" altLang="zh-CN" sz="3600" b="1">
                <a:solidFill>
                  <a:schemeClr val="tx2"/>
                </a:solidFill>
              </a:rPr>
              <a:t>=1，T</a:t>
            </a:r>
            <a:r>
              <a:rPr lang="en-US" altLang="zh-CN" sz="3600" b="1" baseline="-30000">
                <a:solidFill>
                  <a:schemeClr val="tx2"/>
                </a:solidFill>
              </a:rPr>
              <a:t>0</a:t>
            </a:r>
            <a:r>
              <a:rPr lang="en-US" altLang="zh-CN" sz="3600" b="1">
                <a:solidFill>
                  <a:schemeClr val="tx2"/>
                </a:solidFill>
              </a:rPr>
              <a:t>= </a:t>
            </a:r>
            <a:r>
              <a:rPr lang="en-US" altLang="zh-CN"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altLang="zh-CN" sz="3600" b="1" baseline="-30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sz="3600" b="1">
                <a:solidFill>
                  <a:schemeClr val="tx2"/>
                </a:solidFill>
              </a:rPr>
              <a:t> =1，T</a:t>
            </a:r>
            <a:r>
              <a:rPr lang="en-US" altLang="zh-CN" sz="3600" b="1" baseline="-30000">
                <a:solidFill>
                  <a:schemeClr val="tx2"/>
                </a:solidFill>
              </a:rPr>
              <a:t>1</a:t>
            </a:r>
            <a:r>
              <a:rPr lang="en-US" altLang="zh-CN" sz="3600" b="1">
                <a:solidFill>
                  <a:schemeClr val="tx2"/>
                </a:solidFill>
              </a:rPr>
              <a:t>=q</a:t>
            </a:r>
            <a:r>
              <a:rPr lang="en-US" altLang="zh-CN" sz="3600" b="1" baseline="-30000">
                <a:solidFill>
                  <a:schemeClr val="tx2"/>
                </a:solidFill>
              </a:rPr>
              <a:t>1</a:t>
            </a:r>
            <a:r>
              <a:rPr lang="en-US" altLang="zh-CN" sz="3600"/>
              <a:t> </a:t>
            </a:r>
            <a:endParaRPr lang="en-US" altLang="zh-CN" sz="3600"/>
          </a:p>
          <a:p>
            <a:pPr eaLnBrk="1" hangingPunct="1">
              <a:defRPr/>
            </a:pPr>
            <a:r>
              <a:rPr lang="zh-CN" altLang="en-US" sz="3600" b="1">
                <a:latin typeface="宋体" panose="02010600030101010101" pitchFamily="2" charset="-122"/>
              </a:rPr>
              <a:t>根据这个初值及</a:t>
            </a:r>
            <a:r>
              <a:rPr lang="zh-CN" altLang="en-US" sz="3600" b="1"/>
              <a:t>(</a:t>
            </a:r>
            <a:r>
              <a:rPr lang="en-US" altLang="zh-CN" sz="3600" b="1">
                <a:effectLst>
                  <a:outerShdw blurRad="38100" dist="38100" dir="2700000" algn="tl">
                    <a:srgbClr val="000000"/>
                  </a:outerShdw>
                </a:effectLst>
                <a:sym typeface="Symbol" panose="05050102010706020507" pitchFamily="2" charset="2"/>
              </a:rPr>
              <a:t>6</a:t>
            </a:r>
            <a:r>
              <a:rPr lang="zh-CN" altLang="en-US" sz="3600" b="1"/>
              <a:t>)</a:t>
            </a:r>
            <a:r>
              <a:rPr lang="zh-CN" altLang="en-US" sz="3600" b="1">
                <a:latin typeface="宋体" panose="02010600030101010101" pitchFamily="2" charset="-122"/>
              </a:rPr>
              <a:t>式，便可求出任意的</a:t>
            </a:r>
            <a:r>
              <a:rPr lang="en-US" altLang="zh-CN" sz="3600" b="1"/>
              <a:t>S</a:t>
            </a:r>
            <a:r>
              <a:rPr lang="en-US" altLang="zh-CN" sz="3600" b="1" baseline="-30000"/>
              <a:t>k</a:t>
            </a:r>
            <a:r>
              <a:rPr lang="en-US" altLang="zh-CN" sz="3600" b="1">
                <a:latin typeface="宋体" panose="02010600030101010101" pitchFamily="2" charset="-122"/>
              </a:rPr>
              <a:t>，</a:t>
            </a:r>
            <a:r>
              <a:rPr lang="en-US" altLang="zh-CN" sz="3600" b="1"/>
              <a:t>T</a:t>
            </a:r>
            <a:r>
              <a:rPr lang="en-US" altLang="zh-CN" sz="3600" b="1" baseline="-30000"/>
              <a:t>k</a:t>
            </a:r>
            <a:r>
              <a:rPr lang="en-US" altLang="zh-CN" sz="3600" b="1">
                <a:latin typeface="宋体" panose="02010600030101010101" pitchFamily="2" charset="-122"/>
              </a:rPr>
              <a:t>。</a:t>
            </a:r>
            <a:r>
              <a:rPr lang="en-US" altLang="zh-CN" sz="3600"/>
              <a:t> </a:t>
            </a:r>
            <a:endParaRPr lang="en-US" altLang="zh-CN" sz="3600"/>
          </a:p>
        </p:txBody>
      </p:sp>
      <p:graphicFrame>
        <p:nvGraphicFramePr>
          <p:cNvPr id="53251" name="Object 4"/>
          <p:cNvGraphicFramePr>
            <a:graphicFrameLocks noChangeAspect="1"/>
          </p:cNvGraphicFramePr>
          <p:nvPr/>
        </p:nvGraphicFramePr>
        <p:xfrm>
          <a:off x="1905000" y="2895600"/>
          <a:ext cx="4114800" cy="148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2133600" imgH="762000" progId="Equation.3">
                  <p:embed/>
                </p:oleObj>
              </mc:Choice>
              <mc:Fallback>
                <p:oleObj name="" r:id="rId1" imgW="2133600" imgH="762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895600"/>
                        <a:ext cx="4114800" cy="148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8610600" cy="5867400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</a:rPr>
              <a:t>小结：</a:t>
            </a:r>
            <a:r>
              <a:rPr lang="zh-CN" altLang="en-US">
                <a:latin typeface="Times New Roman" panose="02020603050405020304" pitchFamily="18" charset="0"/>
              </a:rPr>
              <a:t>使用辗转相除法求两个数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的最高公因数并表示为它们的倍数和，需要使用的主要公式如下：</a:t>
            </a:r>
            <a:endParaRPr lang="zh-CN" altLang="en-US">
              <a:latin typeface="Times New Roman" panose="02020603050405020304" pitchFamily="18" charset="0"/>
            </a:endParaRPr>
          </a:p>
          <a:p>
            <a:pPr marL="0" indent="0" algn="ctr" eaLnBrk="1" hangingPunct="1"/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3600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=0</a:t>
            </a:r>
            <a:r>
              <a:rPr lang="zh-CN" altLang="en-US" sz="3600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3600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=1</a:t>
            </a:r>
            <a:r>
              <a:rPr lang="zh-CN" altLang="en-US" sz="3600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3600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=1</a:t>
            </a:r>
            <a:r>
              <a:rPr lang="zh-CN" altLang="en-US" sz="3600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3600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=q</a:t>
            </a:r>
            <a:r>
              <a:rPr lang="en-US" altLang="zh-CN" sz="3600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3600">
                <a:solidFill>
                  <a:schemeClr val="tx2"/>
                </a:solidFill>
                <a:latin typeface="Times New Roman" panose="02020603050405020304" pitchFamily="18" charset="0"/>
              </a:rPr>
              <a:t>。</a:t>
            </a:r>
            <a:endParaRPr lang="zh-CN" altLang="en-US" sz="36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0" indent="0" algn="ctr" eaLnBrk="1" hangingPunct="1"/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3600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k 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= q</a:t>
            </a:r>
            <a:r>
              <a:rPr lang="en-US" altLang="zh-CN" sz="3600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3600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k-1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+S</a:t>
            </a:r>
            <a:r>
              <a:rPr lang="en-US" altLang="zh-CN" sz="3600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k-2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600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  <a:endParaRPr lang="zh-CN" altLang="en-US" sz="36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0" indent="0" algn="ctr" eaLnBrk="1" hangingPunct="1"/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3600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k 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= q</a:t>
            </a:r>
            <a:r>
              <a:rPr lang="en-US" altLang="zh-CN" sz="3600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3600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k-1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+T</a:t>
            </a:r>
            <a:r>
              <a:rPr lang="en-US" altLang="zh-CN" sz="3600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k-2</a:t>
            </a:r>
            <a:r>
              <a:rPr lang="zh-CN" altLang="en-US" sz="3600">
                <a:solidFill>
                  <a:schemeClr val="tx2"/>
                </a:solidFill>
                <a:latin typeface="Times New Roman" panose="02020603050405020304" pitchFamily="18" charset="0"/>
              </a:rPr>
              <a:t>。</a:t>
            </a:r>
            <a:endParaRPr lang="zh-CN" altLang="en-US" sz="36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若使用辗转相除法到某一步有</a:t>
            </a:r>
            <a:r>
              <a:rPr lang="en-US" altLang="zh-CN">
                <a:latin typeface="Times New Roman" panose="02020603050405020304" pitchFamily="18" charset="0"/>
              </a:rPr>
              <a:t>r</a:t>
            </a:r>
            <a:r>
              <a:rPr lang="en-US" altLang="zh-CN" baseline="-30000">
                <a:latin typeface="Times New Roman" panose="02020603050405020304" pitchFamily="18" charset="0"/>
              </a:rPr>
              <a:t>n-1</a:t>
            </a:r>
            <a:r>
              <a:rPr lang="en-US" altLang="zh-CN">
                <a:latin typeface="Times New Roman" panose="02020603050405020304" pitchFamily="18" charset="0"/>
              </a:rPr>
              <a:t>=q</a:t>
            </a:r>
            <a:r>
              <a:rPr lang="en-US" altLang="zh-CN" baseline="-30000">
                <a:latin typeface="Times New Roman" panose="02020603050405020304" pitchFamily="18" charset="0"/>
              </a:rPr>
              <a:t>n+1</a:t>
            </a:r>
            <a:r>
              <a:rPr lang="en-US" altLang="zh-CN">
                <a:latin typeface="Times New Roman" panose="02020603050405020304" pitchFamily="18" charset="0"/>
              </a:rPr>
              <a:t>r</a:t>
            </a:r>
            <a:r>
              <a:rPr lang="en-US" altLang="zh-CN" baseline="-30000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endParaRPr lang="zh-CN" altLang="en-US">
              <a:latin typeface="Times New Roman" panose="02020603050405020304" pitchFamily="18" charset="0"/>
            </a:endParaRPr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则</a:t>
            </a:r>
            <a:r>
              <a:rPr lang="en-US" altLang="zh-CN">
                <a:latin typeface="Times New Roman" panose="02020603050405020304" pitchFamily="18" charset="0"/>
              </a:rPr>
              <a:t>r</a:t>
            </a:r>
            <a:r>
              <a:rPr lang="en-US" altLang="zh-CN" baseline="-30000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即最高公因数</a:t>
            </a:r>
            <a:r>
              <a:rPr lang="en-US" altLang="zh-CN">
                <a:latin typeface="Times New Roman" panose="02020603050405020304" pitchFamily="18" charset="0"/>
              </a:rPr>
              <a:t>d</a:t>
            </a:r>
            <a:r>
              <a:rPr lang="zh-CN" altLang="en-US">
                <a:latin typeface="Times New Roman" panose="02020603050405020304" pitchFamily="18" charset="0"/>
              </a:rPr>
              <a:t>，且</a:t>
            </a:r>
            <a:endParaRPr lang="zh-CN" altLang="en-US">
              <a:latin typeface="Times New Roman" panose="02020603050405020304" pitchFamily="18" charset="0"/>
            </a:endParaRPr>
          </a:p>
          <a:p>
            <a:pPr marL="0" indent="0" algn="ctr" eaLnBrk="1" hangingPunct="1"/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d=(-1)</a:t>
            </a:r>
            <a:r>
              <a:rPr lang="en-US" altLang="zh-CN" sz="3600" baseline="30000">
                <a:solidFill>
                  <a:schemeClr val="tx2"/>
                </a:solidFill>
                <a:latin typeface="Times New Roman" panose="02020603050405020304" pitchFamily="18" charset="0"/>
              </a:rPr>
              <a:t>n-1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3600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a+(-1)</a:t>
            </a:r>
            <a:r>
              <a:rPr lang="en-US" altLang="zh-CN" sz="3600" baseline="3000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3600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360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3600">
                <a:solidFill>
                  <a:schemeClr val="tx2"/>
                </a:solidFill>
                <a:latin typeface="Times New Roman" panose="02020603050405020304" pitchFamily="18" charset="0"/>
              </a:rPr>
              <a:t>。</a:t>
            </a:r>
            <a:endParaRPr lang="zh-CN" altLang="en-US" sz="36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89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9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84163"/>
            <a:ext cx="8686800" cy="1106487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300">
                <a:latin typeface="宋体" panose="02010600030101010101" pitchFamily="2" charset="-122"/>
              </a:rPr>
              <a:t>例</a:t>
            </a:r>
            <a:r>
              <a:rPr lang="zh-CN" altLang="en-US" sz="3300">
                <a:latin typeface="Times New Roman" panose="02020603050405020304" pitchFamily="18" charset="0"/>
              </a:rPr>
              <a:t>5.1.2  </a:t>
            </a:r>
            <a:r>
              <a:rPr lang="zh-CN" altLang="en-US" sz="3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求301和133的最高公因数并表为</a:t>
            </a:r>
            <a:br>
              <a:rPr lang="zh-CN" altLang="en-US" sz="3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en-US" sz="3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它们的倍数和。</a:t>
            </a:r>
            <a:endParaRPr lang="en-US" altLang="zh-CN" sz="33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763000" cy="1371600"/>
          </a:xfrm>
        </p:spPr>
        <p:txBody>
          <a:bodyPr/>
          <a:lstStyle/>
          <a:p>
            <a:pPr marL="0" indent="0" eaLnBrk="1" hangingPunct="1">
              <a:lnSpc>
                <a:spcPct val="114000"/>
              </a:lnSpc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解：</a:t>
            </a:r>
            <a:r>
              <a:rPr lang="zh-CN" altLang="en-US">
                <a:latin typeface="宋体" panose="02010600030101010101" pitchFamily="2" charset="-122"/>
              </a:rPr>
              <a:t>用辗转相除法求最高公因数逐次得商及余数并计算</a:t>
            </a:r>
            <a:r>
              <a:rPr lang="en-US" altLang="zh-CN">
                <a:latin typeface="Times New Roman" panose="02020603050405020304" pitchFamily="18" charset="0"/>
              </a:rPr>
              <a:t>S</a:t>
            </a:r>
            <a:r>
              <a:rPr lang="en-US" altLang="zh-CN" baseline="-30000">
                <a:latin typeface="Times New Roman" panose="02020603050405020304" pitchFamily="18" charset="0"/>
              </a:rPr>
              <a:t>k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T</a:t>
            </a:r>
            <a:r>
              <a:rPr lang="en-US" altLang="zh-CN" baseline="-30000">
                <a:latin typeface="Times New Roman" panose="02020603050405020304" pitchFamily="18" charset="0"/>
              </a:rPr>
              <a:t>k</a:t>
            </a:r>
            <a:r>
              <a:rPr lang="zh-CN" altLang="en-US">
                <a:latin typeface="宋体" panose="02010600030101010101" pitchFamily="2" charset="-122"/>
              </a:rPr>
              <a:t>如下表所示： 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103624" name="Group 200"/>
          <p:cNvGraphicFramePr>
            <a:graphicFrameLocks noGrp="1"/>
          </p:cNvGraphicFramePr>
          <p:nvPr/>
        </p:nvGraphicFramePr>
        <p:xfrm>
          <a:off x="457200" y="2743200"/>
          <a:ext cx="7924800" cy="3201990"/>
        </p:xfrm>
        <a:graphic>
          <a:graphicData uri="http://schemas.openxmlformats.org/drawingml/2006/table">
            <a:tbl>
              <a:tblPr/>
              <a:tblGrid>
                <a:gridCol w="1320800"/>
                <a:gridCol w="1320800"/>
                <a:gridCol w="1320800"/>
                <a:gridCol w="1320800"/>
                <a:gridCol w="1320800"/>
                <a:gridCol w="1320800"/>
              </a:tblGrid>
              <a:tr h="64014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  <a:endParaRPr kumimoji="1" lang="en-US" altLang="zh-CN" sz="3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014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1" lang="en-US" altLang="zh-CN" sz="3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  <a:endParaRPr kumimoji="1" lang="en-US" altLang="zh-CN" sz="3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35</a:t>
                      </a:r>
                      <a:endParaRPr kumimoji="1" lang="en-US" altLang="zh-CN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28</a:t>
                      </a:r>
                      <a:endParaRPr kumimoji="1" lang="en-US" altLang="zh-CN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141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3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  <a:endParaRPr kumimoji="1" lang="en-US" altLang="zh-CN" sz="3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014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3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  <a:endParaRPr kumimoji="1" lang="en-US" altLang="zh-CN" sz="3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014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3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  <a:endParaRPr kumimoji="1" lang="en-US" altLang="zh-CN" sz="3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98450"/>
            <a:ext cx="8686800" cy="1077913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200">
                <a:latin typeface="Times New Roman" panose="02020603050405020304" pitchFamily="18" charset="0"/>
              </a:rPr>
              <a:t>例5.1.2  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求301和133的最高公因数并表为</a:t>
            </a:r>
            <a:br>
              <a:rPr lang="zh-CN" altLang="en-US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en-US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它们的倍数和。</a:t>
            </a:r>
            <a:endParaRPr lang="en-US" altLang="zh-CN" sz="3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752600"/>
            <a:ext cx="8382000" cy="4191000"/>
          </a:xfrm>
        </p:spPr>
        <p:txBody>
          <a:bodyPr/>
          <a:lstStyle/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因此，最高公因数为7，表为原二数的倍数和如下：</a:t>
            </a:r>
            <a:endParaRPr lang="zh-CN" altLang="en-US"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7=(-1)</a:t>
            </a:r>
            <a:r>
              <a:rPr lang="zh-CN" altLang="en-US" baseline="30000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zh-CN" altLang="en-US">
                <a:latin typeface="Times New Roman" panose="02020603050405020304" pitchFamily="18" charset="0"/>
              </a:rPr>
              <a:t>4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zh-CN" altLang="en-US">
                <a:latin typeface="Times New Roman" panose="02020603050405020304" pitchFamily="18" charset="0"/>
              </a:rPr>
              <a:t>301+(-1)</a:t>
            </a:r>
            <a:r>
              <a:rPr lang="zh-CN" altLang="en-US" baseline="30000">
                <a:latin typeface="Times New Roman" panose="02020603050405020304" pitchFamily="18" charset="0"/>
              </a:rPr>
              <a:t>3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zh-CN" altLang="en-US">
                <a:latin typeface="Times New Roman" panose="02020603050405020304" pitchFamily="18" charset="0"/>
              </a:rPr>
              <a:t>9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zh-CN" altLang="en-US">
                <a:latin typeface="Times New Roman" panose="02020603050405020304" pitchFamily="18" charset="0"/>
              </a:rPr>
              <a:t>133</a:t>
            </a:r>
            <a:endParaRPr lang="zh-CN" altLang="en-US"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</a:rPr>
              <a:t>=4</a:t>
            </a: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</a:rPr>
              <a:t>301+(-9)</a:t>
            </a: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</a:rPr>
              <a:t>133</a:t>
            </a:r>
            <a:endParaRPr lang="zh-CN" altLang="en-US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 1204 – 1197 = 7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A5BE-20EB-464D-9440-AF613316F2F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Network Blitz">
  <a:themeElements>
    <a:clrScheme name="Network Blitz 1">
      <a:dk1>
        <a:srgbClr val="000044"/>
      </a:dk1>
      <a:lt1>
        <a:srgbClr val="FFFFFF"/>
      </a:lt1>
      <a:dk2>
        <a:srgbClr val="000066"/>
      </a:dk2>
      <a:lt2>
        <a:srgbClr val="FFCC00"/>
      </a:lt2>
      <a:accent1>
        <a:srgbClr val="9CE157"/>
      </a:accent1>
      <a:accent2>
        <a:srgbClr val="2663A0"/>
      </a:accent2>
      <a:accent3>
        <a:srgbClr val="AAAAB8"/>
      </a:accent3>
      <a:accent4>
        <a:srgbClr val="DADADA"/>
      </a:accent4>
      <a:accent5>
        <a:srgbClr val="CBEEB4"/>
      </a:accent5>
      <a:accent6>
        <a:srgbClr val="215991"/>
      </a:accent6>
      <a:hlink>
        <a:srgbClr val="F98D43"/>
      </a:hlink>
      <a:folHlink>
        <a:srgbClr val="CC3300"/>
      </a:folHlink>
    </a:clrScheme>
    <a:fontScheme name="Network Blitz">
      <a:majorFont>
        <a:latin typeface="Arial Black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6200" cap="flat" cmpd="sng" algn="ctr">
          <a:solidFill>
            <a:schemeClr val="accent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6200" cap="flat" cmpd="sng" algn="ctr">
          <a:solidFill>
            <a:schemeClr val="accent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Network Blitz 1">
        <a:dk1>
          <a:srgbClr val="000044"/>
        </a:dk1>
        <a:lt1>
          <a:srgbClr val="FFFFFF"/>
        </a:lt1>
        <a:dk2>
          <a:srgbClr val="000066"/>
        </a:dk2>
        <a:lt2>
          <a:srgbClr val="FFCC00"/>
        </a:lt2>
        <a:accent1>
          <a:srgbClr val="9CE157"/>
        </a:accent1>
        <a:accent2>
          <a:srgbClr val="2663A0"/>
        </a:accent2>
        <a:accent3>
          <a:srgbClr val="AAAAB8"/>
        </a:accent3>
        <a:accent4>
          <a:srgbClr val="DADADA"/>
        </a:accent4>
        <a:accent5>
          <a:srgbClr val="CBEEB4"/>
        </a:accent5>
        <a:accent6>
          <a:srgbClr val="215991"/>
        </a:accent6>
        <a:hlink>
          <a:srgbClr val="F98D4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2">
        <a:dk1>
          <a:srgbClr val="000066"/>
        </a:dk1>
        <a:lt1>
          <a:srgbClr val="9CC2E8"/>
        </a:lt1>
        <a:dk2>
          <a:srgbClr val="4D4D4D"/>
        </a:dk2>
        <a:lt2>
          <a:srgbClr val="7DAFE1"/>
        </a:lt2>
        <a:accent1>
          <a:srgbClr val="26D2E4"/>
        </a:accent1>
        <a:accent2>
          <a:srgbClr val="D0E2F4"/>
        </a:accent2>
        <a:accent3>
          <a:srgbClr val="CBDDF2"/>
        </a:accent3>
        <a:accent4>
          <a:srgbClr val="000056"/>
        </a:accent4>
        <a:accent5>
          <a:srgbClr val="ACE5EF"/>
        </a:accent5>
        <a:accent6>
          <a:srgbClr val="BCCDDD"/>
        </a:accent6>
        <a:hlink>
          <a:srgbClr val="0033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Blitz 3">
        <a:dk1>
          <a:srgbClr val="000000"/>
        </a:dk1>
        <a:lt1>
          <a:srgbClr val="EAEAEA"/>
        </a:lt1>
        <a:dk2>
          <a:srgbClr val="333333"/>
        </a:dk2>
        <a:lt2>
          <a:srgbClr val="DDDDDD"/>
        </a:lt2>
        <a:accent1>
          <a:srgbClr val="C0C0C0"/>
        </a:accent1>
        <a:accent2>
          <a:srgbClr val="FFFFFF"/>
        </a:accent2>
        <a:accent3>
          <a:srgbClr val="F3F3F3"/>
        </a:accent3>
        <a:accent4>
          <a:srgbClr val="000000"/>
        </a:accent4>
        <a:accent5>
          <a:srgbClr val="DCDCDC"/>
        </a:accent5>
        <a:accent6>
          <a:srgbClr val="E7E7E7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Blitz 4">
        <a:dk1>
          <a:srgbClr val="002E2D"/>
        </a:dk1>
        <a:lt1>
          <a:srgbClr val="FFFFFF"/>
        </a:lt1>
        <a:dk2>
          <a:srgbClr val="005250"/>
        </a:dk2>
        <a:lt2>
          <a:srgbClr val="FFCC00"/>
        </a:lt2>
        <a:accent1>
          <a:srgbClr val="9CE157"/>
        </a:accent1>
        <a:accent2>
          <a:srgbClr val="00817E"/>
        </a:accent2>
        <a:accent3>
          <a:srgbClr val="AAB3B3"/>
        </a:accent3>
        <a:accent4>
          <a:srgbClr val="DADADA"/>
        </a:accent4>
        <a:accent5>
          <a:srgbClr val="CBEEB4"/>
        </a:accent5>
        <a:accent6>
          <a:srgbClr val="007472"/>
        </a:accent6>
        <a:hlink>
          <a:srgbClr val="FFFF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5">
        <a:dk1>
          <a:srgbClr val="291A4C"/>
        </a:dk1>
        <a:lt1>
          <a:srgbClr val="FFFFFF"/>
        </a:lt1>
        <a:dk2>
          <a:srgbClr val="3B256B"/>
        </a:dk2>
        <a:lt2>
          <a:srgbClr val="FFCC00"/>
        </a:lt2>
        <a:accent1>
          <a:srgbClr val="6EBFCA"/>
        </a:accent1>
        <a:accent2>
          <a:srgbClr val="56369C"/>
        </a:accent2>
        <a:accent3>
          <a:srgbClr val="AFACBA"/>
        </a:accent3>
        <a:accent4>
          <a:srgbClr val="DADADA"/>
        </a:accent4>
        <a:accent5>
          <a:srgbClr val="BADCE1"/>
        </a:accent5>
        <a:accent6>
          <a:srgbClr val="4D308D"/>
        </a:accent6>
        <a:hlink>
          <a:srgbClr val="CCCCFF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6">
        <a:dk1>
          <a:srgbClr val="511D30"/>
        </a:dk1>
        <a:lt1>
          <a:srgbClr val="FFFFFF"/>
        </a:lt1>
        <a:dk2>
          <a:srgbClr val="6D2740"/>
        </a:dk2>
        <a:lt2>
          <a:srgbClr val="FDD409"/>
        </a:lt2>
        <a:accent1>
          <a:srgbClr val="FDB83B"/>
        </a:accent1>
        <a:accent2>
          <a:srgbClr val="9D395D"/>
        </a:accent2>
        <a:accent3>
          <a:srgbClr val="BAACAF"/>
        </a:accent3>
        <a:accent4>
          <a:srgbClr val="DADADA"/>
        </a:accent4>
        <a:accent5>
          <a:srgbClr val="FED8AF"/>
        </a:accent5>
        <a:accent6>
          <a:srgbClr val="8E3353"/>
        </a:accent6>
        <a:hlink>
          <a:srgbClr val="FF99CC"/>
        </a:hlink>
        <a:folHlink>
          <a:srgbClr val="D6009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Designs\Network Blitz.pot</Template>
  <TotalTime>0</TotalTime>
  <Words>4643</Words>
  <Application>WPS 演示</Application>
  <PresentationFormat>全屏显示(4:3)</PresentationFormat>
  <Paragraphs>368</Paragraphs>
  <Slides>35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18</vt:i4>
      </vt:variant>
      <vt:variant>
        <vt:lpstr>幻灯片标题</vt:lpstr>
      </vt:variant>
      <vt:variant>
        <vt:i4>35</vt:i4>
      </vt:variant>
    </vt:vector>
  </HeadingPairs>
  <TitlesOfParts>
    <vt:vector size="68" baseType="lpstr">
      <vt:lpstr>Arial</vt:lpstr>
      <vt:lpstr>宋体</vt:lpstr>
      <vt:lpstr>Wingdings</vt:lpstr>
      <vt:lpstr>Times New Roman</vt:lpstr>
      <vt:lpstr>Arial Black</vt:lpstr>
      <vt:lpstr>黑体</vt:lpstr>
      <vt:lpstr>楷体_GB2312</vt:lpstr>
      <vt:lpstr>新宋体</vt:lpstr>
      <vt:lpstr>Symbol</vt:lpstr>
      <vt:lpstr>微软雅黑</vt:lpstr>
      <vt:lpstr>Arial Unicode MS</vt:lpstr>
      <vt:lpstr>Symbol</vt:lpstr>
      <vt:lpstr>Wingdings</vt:lpstr>
      <vt:lpstr>楷体_GB2312</vt:lpstr>
      <vt:lpstr>Network Blitz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第五章  数论基础 </vt:lpstr>
      <vt:lpstr>第五章    数论基础 </vt:lpstr>
      <vt:lpstr>§5.1.1  整除及其性质 </vt:lpstr>
      <vt:lpstr>定理5.1.1（带余除法定理） </vt:lpstr>
      <vt:lpstr>定理5.1.1 </vt:lpstr>
      <vt:lpstr>定理5.1.1 </vt:lpstr>
      <vt:lpstr>推论</vt:lpstr>
      <vt:lpstr>整除的基本性质 </vt:lpstr>
      <vt:lpstr>整除的基本性质 </vt:lpstr>
      <vt:lpstr>整除的基本性质 </vt:lpstr>
      <vt:lpstr>例5.1.1</vt:lpstr>
      <vt:lpstr>整除的基本性质 </vt:lpstr>
      <vt:lpstr>整除的基本性质 </vt:lpstr>
      <vt:lpstr>整除的基本性质 </vt:lpstr>
      <vt:lpstr>PowerPoint 演示文稿</vt:lpstr>
      <vt:lpstr>5.1.2  辗转相除 </vt:lpstr>
      <vt:lpstr>5.1.2  辗转相除 </vt:lpstr>
      <vt:lpstr>定理5.1.2 </vt:lpstr>
      <vt:lpstr>定理5.1.3 </vt:lpstr>
      <vt:lpstr>定理5.1.3 </vt:lpstr>
      <vt:lpstr>PowerPoint 演示文稿</vt:lpstr>
      <vt:lpstr>定理5.1.3 </vt:lpstr>
      <vt:lpstr>PowerPoint 演示文稿</vt:lpstr>
      <vt:lpstr>PowerPoint 演示文稿</vt:lpstr>
      <vt:lpstr>定理5.1.3 </vt:lpstr>
      <vt:lpstr>定理5.1.3 </vt:lpstr>
      <vt:lpstr>定理5.1.3 </vt:lpstr>
      <vt:lpstr>定理5.1.3 </vt:lpstr>
      <vt:lpstr>定理5.1.3 </vt:lpstr>
      <vt:lpstr>PowerPoint 演示文稿</vt:lpstr>
      <vt:lpstr>PowerPoint 演示文稿</vt:lpstr>
      <vt:lpstr>PowerPoint 演示文稿</vt:lpstr>
      <vt:lpstr>PowerPoint 演示文稿</vt:lpstr>
      <vt:lpstr>例5.1.2  求301和133的最高公因数并表为                 它们的倍数和。</vt:lpstr>
      <vt:lpstr>例5.1.2  求301和133的最高公因数并表为                 它们的倍数和。</vt:lpstr>
    </vt:vector>
  </TitlesOfParts>
  <Company>jlu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  图与网络 </dc:title>
  <dc:creator>ouyang</dc:creator>
  <cp:lastModifiedBy>小鱼儿</cp:lastModifiedBy>
  <cp:revision>467</cp:revision>
  <cp:lastPrinted>2113-01-01T00:00:00Z</cp:lastPrinted>
  <dcterms:created xsi:type="dcterms:W3CDTF">2002-08-29T00:33:00Z</dcterms:created>
  <dcterms:modified xsi:type="dcterms:W3CDTF">2026-06-19T10:36:30Z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96EF6485901B4AEDAEEE62FC36982E5E_12</vt:lpwstr>
  </property>
</Properties>
</file>