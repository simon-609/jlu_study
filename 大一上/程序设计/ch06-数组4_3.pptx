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886" r:id="rId3"/>
    <p:sldId id="887" r:id="rId5"/>
    <p:sldId id="888" r:id="rId6"/>
    <p:sldId id="816" r:id="rId7"/>
    <p:sldId id="817" r:id="rId8"/>
    <p:sldId id="818" r:id="rId9"/>
    <p:sldId id="819" r:id="rId10"/>
    <p:sldId id="820" r:id="rId11"/>
    <p:sldId id="821" r:id="rId12"/>
    <p:sldId id="822" r:id="rId13"/>
    <p:sldId id="770" r:id="rId14"/>
    <p:sldId id="771" r:id="rId15"/>
    <p:sldId id="772" r:id="rId16"/>
    <p:sldId id="773" r:id="rId17"/>
    <p:sldId id="774" r:id="rId18"/>
    <p:sldId id="775" r:id="rId19"/>
    <p:sldId id="776" r:id="rId20"/>
    <p:sldId id="777" r:id="rId21"/>
    <p:sldId id="778" r:id="rId22"/>
    <p:sldId id="779" r:id="rId23"/>
    <p:sldId id="780" r:id="rId24"/>
    <p:sldId id="654" r:id="rId25"/>
    <p:sldId id="679" r:id="rId26"/>
    <p:sldId id="656" r:id="rId27"/>
    <p:sldId id="657" r:id="rId28"/>
    <p:sldId id="747" r:id="rId29"/>
    <p:sldId id="825" r:id="rId30"/>
    <p:sldId id="862" r:id="rId31"/>
    <p:sldId id="865" r:id="rId32"/>
    <p:sldId id="868" r:id="rId33"/>
    <p:sldId id="869" r:id="rId34"/>
    <p:sldId id="872" r:id="rId35"/>
    <p:sldId id="873" r:id="rId36"/>
    <p:sldId id="874" r:id="rId37"/>
    <p:sldId id="876" r:id="rId38"/>
    <p:sldId id="877" r:id="rId39"/>
    <p:sldId id="878" r:id="rId40"/>
    <p:sldId id="879" r:id="rId41"/>
    <p:sldId id="880" r:id="rId42"/>
    <p:sldId id="881" r:id="rId43"/>
    <p:sldId id="885" r:id="rId44"/>
    <p:sldId id="884" r:id="rId45"/>
  </p:sldIdLst>
  <p:sldSz cx="12192000" cy="6858000"/>
  <p:notesSz cx="6858000" cy="9144000"/>
  <p:custDataLst>
    <p:tags r:id="rId4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C3AF5"/>
    <a:srgbClr val="00FFFF"/>
    <a:srgbClr val="FF0066"/>
    <a:srgbClr val="FFE705"/>
    <a:srgbClr val="08578F"/>
    <a:srgbClr val="9C1489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343"/>
  </p:normalViewPr>
  <p:slideViewPr>
    <p:cSldViewPr showGuides="1">
      <p:cViewPr varScale="1">
        <p:scale>
          <a:sx n="74" d="100"/>
          <a:sy n="74" d="100"/>
        </p:scale>
        <p:origin x="1013" y="86"/>
      </p:cViewPr>
      <p:guideLst>
        <p:guide orient="horz" pos="2136"/>
        <p:guide pos="3862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36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A815D-FD29-4FEF-8791-29CCA60E638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用例子走一遍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用例子走一遍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45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06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27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47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68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用例子演示 </a:t>
            </a:r>
            <a:r>
              <a:rPr lang="en-US" altLang="zh-CN" dirty="0"/>
              <a:t>4 1 3 2 3</a:t>
            </a:r>
            <a:endParaRPr lang="en-US" altLang="zh-CN" dirty="0"/>
          </a:p>
          <a:p>
            <a:pPr lvl="0" eaLnBrk="1" hangingPunct="1"/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49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70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90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11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52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72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83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E2E639-971B-4DF9-A6B3-8BA76EE30E7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D90409-F58A-4552-BA37-9BDFF672036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C92A76-1A9D-4558-A947-A3F1E769913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EF7766-483C-4ABA-9553-F7017AD3C88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2B392-FAD9-47D0-816D-AF648ECFCDE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DAA5B3-68EC-47C7-80E8-04B5492B439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F80A45-8D85-474B-888B-6DEE101BD7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18FDB7-B7D7-49F3-A035-621ED6F665F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30DF6C-AC71-48D8-AA00-F579707BDEE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DF42BA-A88E-4DC1-A3F7-5696A268FD0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13712C-923F-47D9-AA82-22312AF1515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F2806D-AE6A-4F66-B0DA-AAF300252A9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C70B68-FAF5-4481-88B7-DAD40EC90EC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1A3767-7E3C-45DA-B808-A15EAFF501D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D365E9-276D-4050-84A5-A652CA8A7C3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8BD5D0-5DE1-4387-848E-40954E77936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5E52A6-A32D-4064-BD11-FA9727151C9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59450D-50BA-4359-8762-3C7BFC05C72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hyperlink" Target="&#20363;&#39064;&#31243;&#24207;201409\ch06\ch06_12\ch06_12.exe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slide" Target="slide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4434" name="Rectangle 2"/>
          <p:cNvSpPr>
            <a:spLocks noChangeArrowheads="1"/>
          </p:cNvSpPr>
          <p:nvPr/>
        </p:nvSpPr>
        <p:spPr bwMode="auto">
          <a:xfrm>
            <a:off x="193675" y="698500"/>
            <a:ext cx="6084888" cy="553910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已有函数定义：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void </a:t>
            </a:r>
            <a:r>
              <a:rPr lang="en-US" altLang="zh-CN" sz="28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sortofup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 (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 s[5]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,int n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{……}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调用形式：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data[5]={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90,87,76,69,50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数组名作为实参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&amp;data[0]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5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/*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            数组的起始地址作为实参*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Line 39"/>
          <p:cNvSpPr/>
          <p:nvPr/>
        </p:nvSpPr>
        <p:spPr>
          <a:xfrm flipV="1">
            <a:off x="3312160" y="1600200"/>
            <a:ext cx="1412240" cy="272288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396" name="Line 38"/>
          <p:cNvSpPr/>
          <p:nvPr/>
        </p:nvSpPr>
        <p:spPr>
          <a:xfrm flipV="1">
            <a:off x="2564130" y="1621790"/>
            <a:ext cx="831215" cy="272669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397" name="Rectangle 3"/>
          <p:cNvSpPr/>
          <p:nvPr/>
        </p:nvSpPr>
        <p:spPr>
          <a:xfrm>
            <a:off x="373063" y="50800"/>
            <a:ext cx="4264025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函数调用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554436" name="Rectangle 4"/>
          <p:cNvSpPr/>
          <p:nvPr/>
        </p:nvSpPr>
        <p:spPr>
          <a:xfrm>
            <a:off x="8327708" y="3885883"/>
            <a:ext cx="1654175" cy="43180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int data[5];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 flipV="1">
            <a:off x="7010400" y="1430655"/>
            <a:ext cx="1289050" cy="3166110"/>
            <a:chOff x="3107" y="1117"/>
            <a:chExt cx="1088" cy="2310"/>
          </a:xfrm>
        </p:grpSpPr>
        <p:sp>
          <p:nvSpPr>
            <p:cNvPr id="59432" name="Line 10"/>
            <p:cNvSpPr/>
            <p:nvPr/>
          </p:nvSpPr>
          <p:spPr>
            <a:xfrm flipH="1" flipV="1">
              <a:off x="3107" y="3415"/>
              <a:ext cx="998" cy="6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33" name="Line 11"/>
            <p:cNvSpPr/>
            <p:nvPr/>
          </p:nvSpPr>
          <p:spPr>
            <a:xfrm flipV="1">
              <a:off x="3107" y="1117"/>
              <a:ext cx="0" cy="231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34" name="Line 12"/>
            <p:cNvSpPr/>
            <p:nvPr/>
          </p:nvSpPr>
          <p:spPr>
            <a:xfrm>
              <a:off x="3107" y="1117"/>
              <a:ext cx="1088" cy="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arrow" w="med" len="med"/>
            </a:ln>
          </p:spPr>
        </p:sp>
      </p:grpSp>
      <p:grpSp>
        <p:nvGrpSpPr>
          <p:cNvPr id="3" name="Group 42"/>
          <p:cNvGrpSpPr/>
          <p:nvPr/>
        </p:nvGrpSpPr>
        <p:grpSpPr>
          <a:xfrm>
            <a:off x="7315200" y="4110038"/>
            <a:ext cx="3600450" cy="2543175"/>
            <a:chOff x="3492" y="709"/>
            <a:chExt cx="2268" cy="1602"/>
          </a:xfrm>
        </p:grpSpPr>
        <p:sp>
          <p:nvSpPr>
            <p:cNvPr id="59409" name="Text Box 30"/>
            <p:cNvSpPr txBox="1"/>
            <p:nvPr/>
          </p:nvSpPr>
          <p:spPr>
            <a:xfrm>
              <a:off x="4943" y="2023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9410" name="Text Box 31"/>
            <p:cNvSpPr txBox="1"/>
            <p:nvPr/>
          </p:nvSpPr>
          <p:spPr>
            <a:xfrm>
              <a:off x="4943" y="1751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9411" name="Text Box 33"/>
            <p:cNvSpPr txBox="1"/>
            <p:nvPr/>
          </p:nvSpPr>
          <p:spPr>
            <a:xfrm>
              <a:off x="4943" y="1207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9412" name="Text Box 34"/>
            <p:cNvSpPr txBox="1"/>
            <p:nvPr/>
          </p:nvSpPr>
          <p:spPr>
            <a:xfrm>
              <a:off x="4943" y="935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59413" name="Group 41"/>
            <p:cNvGrpSpPr/>
            <p:nvPr/>
          </p:nvGrpSpPr>
          <p:grpSpPr>
            <a:xfrm>
              <a:off x="3492" y="709"/>
              <a:ext cx="2268" cy="1602"/>
              <a:chOff x="3492" y="709"/>
              <a:chExt cx="2268" cy="1602"/>
            </a:xfrm>
          </p:grpSpPr>
          <p:sp>
            <p:nvSpPr>
              <p:cNvPr id="59414" name="Text Box 32"/>
              <p:cNvSpPr txBox="1"/>
              <p:nvPr/>
            </p:nvSpPr>
            <p:spPr>
              <a:xfrm>
                <a:off x="4943" y="1479"/>
                <a:ext cx="8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data[2]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9415" name="Group 40"/>
              <p:cNvGrpSpPr/>
              <p:nvPr/>
            </p:nvGrpSpPr>
            <p:grpSpPr>
              <a:xfrm>
                <a:off x="3492" y="709"/>
                <a:ext cx="1497" cy="1602"/>
                <a:chOff x="3492" y="709"/>
                <a:chExt cx="1497" cy="1602"/>
              </a:xfrm>
            </p:grpSpPr>
            <p:sp>
              <p:nvSpPr>
                <p:cNvPr id="59416" name="Rectangle 15"/>
                <p:cNvSpPr/>
                <p:nvPr/>
              </p:nvSpPr>
              <p:spPr>
                <a:xfrm>
                  <a:off x="4173" y="935"/>
                  <a:ext cx="816" cy="288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17" name="Rectangle 16"/>
                <p:cNvSpPr/>
                <p:nvPr/>
              </p:nvSpPr>
              <p:spPr>
                <a:xfrm>
                  <a:off x="4173" y="1207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18" name="Rectangle 17"/>
                <p:cNvSpPr/>
                <p:nvPr/>
              </p:nvSpPr>
              <p:spPr>
                <a:xfrm>
                  <a:off x="4173" y="1479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19" name="Rectangle 18"/>
                <p:cNvSpPr/>
                <p:nvPr/>
              </p:nvSpPr>
              <p:spPr>
                <a:xfrm>
                  <a:off x="4173" y="1751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0" name="Rectangle 19"/>
                <p:cNvSpPr/>
                <p:nvPr/>
              </p:nvSpPr>
              <p:spPr>
                <a:xfrm>
                  <a:off x="4173" y="2023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1" name="Text Box 20"/>
                <p:cNvSpPr txBox="1"/>
                <p:nvPr/>
              </p:nvSpPr>
              <p:spPr>
                <a:xfrm>
                  <a:off x="3492" y="2023"/>
                  <a:ext cx="63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E9A2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2" name="Text Box 21"/>
                <p:cNvSpPr txBox="1"/>
                <p:nvPr/>
              </p:nvSpPr>
              <p:spPr>
                <a:xfrm>
                  <a:off x="3492" y="1751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E99E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3" name="Text Box 22"/>
                <p:cNvSpPr txBox="1"/>
                <p:nvPr/>
              </p:nvSpPr>
              <p:spPr>
                <a:xfrm>
                  <a:off x="3492" y="1479"/>
                  <a:ext cx="658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E99A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4" name="Text Box 23"/>
                <p:cNvSpPr txBox="1"/>
                <p:nvPr/>
              </p:nvSpPr>
              <p:spPr>
                <a:xfrm>
                  <a:off x="3492" y="1207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5" name="Text Box 24"/>
                <p:cNvSpPr txBox="1"/>
                <p:nvPr/>
              </p:nvSpPr>
              <p:spPr>
                <a:xfrm>
                  <a:off x="3492" y="935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Arial" panose="020B0604020202020204" pitchFamily="34" charset="0"/>
                    </a:rPr>
                    <a:t>E992</a:t>
                  </a:r>
                  <a:endPara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6" name="Text Box 25"/>
                <p:cNvSpPr txBox="1"/>
                <p:nvPr/>
              </p:nvSpPr>
              <p:spPr>
                <a:xfrm>
                  <a:off x="4445" y="2023"/>
                  <a:ext cx="38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50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7" name="Text Box 26"/>
                <p:cNvSpPr txBox="1"/>
                <p:nvPr/>
              </p:nvSpPr>
              <p:spPr>
                <a:xfrm>
                  <a:off x="4446" y="1735"/>
                  <a:ext cx="339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69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8" name="Text Box 27"/>
                <p:cNvSpPr txBox="1"/>
                <p:nvPr/>
              </p:nvSpPr>
              <p:spPr>
                <a:xfrm>
                  <a:off x="4445" y="1479"/>
                  <a:ext cx="34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76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9" name="Text Box 28"/>
                <p:cNvSpPr txBox="1"/>
                <p:nvPr/>
              </p:nvSpPr>
              <p:spPr>
                <a:xfrm>
                  <a:off x="4422" y="1207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87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30" name="Text Box 29"/>
                <p:cNvSpPr txBox="1"/>
                <p:nvPr/>
              </p:nvSpPr>
              <p:spPr>
                <a:xfrm>
                  <a:off x="4446" y="935"/>
                  <a:ext cx="33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Arial" panose="020B0604020202020204" pitchFamily="34" charset="0"/>
                    </a:rPr>
                    <a:t>90</a:t>
                  </a:r>
                  <a:endParaRPr lang="en-US" altLang="zh-CN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31" name="Text Box 35"/>
                <p:cNvSpPr txBox="1"/>
                <p:nvPr/>
              </p:nvSpPr>
              <p:spPr>
                <a:xfrm>
                  <a:off x="3560" y="709"/>
                  <a:ext cx="499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Arial" panose="020B0604020202020204" pitchFamily="34" charset="0"/>
                    </a:rPr>
                    <a:t>地址</a:t>
                  </a:r>
                  <a:endParaRPr lang="zh-CN" altLang="en-US" sz="1800" b="1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41" name="灯片编号占位符 5"/>
          <p:cNvSpPr>
            <a:spLocks noGrp="1"/>
          </p:cNvSpPr>
          <p:nvPr/>
        </p:nvSpPr>
        <p:spPr bwMode="auto">
          <a:xfrm>
            <a:off x="9981883" y="6365875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C36C75-35C8-4667-9141-331511BE10A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5"/>
          <p:cNvSpPr/>
          <p:nvPr/>
        </p:nvSpPr>
        <p:spPr>
          <a:xfrm>
            <a:off x="7075488" y="990600"/>
            <a:ext cx="1223962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形参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s: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7"/>
          <p:cNvSpPr/>
          <p:nvPr/>
        </p:nvSpPr>
        <p:spPr>
          <a:xfrm>
            <a:off x="8229918" y="1295083"/>
            <a:ext cx="1295400" cy="3730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E992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组合 1"/>
          <p:cNvGrpSpPr/>
          <p:nvPr/>
        </p:nvGrpSpPr>
        <p:grpSpPr>
          <a:xfrm>
            <a:off x="7162800" y="1769745"/>
            <a:ext cx="2376488" cy="431800"/>
            <a:chOff x="5435525" y="4400575"/>
            <a:chExt cx="2376488" cy="431800"/>
          </a:xfrm>
        </p:grpSpPr>
        <p:sp>
          <p:nvSpPr>
            <p:cNvPr id="59407" name="Text Box 36"/>
            <p:cNvSpPr txBox="1"/>
            <p:nvPr/>
          </p:nvSpPr>
          <p:spPr>
            <a:xfrm>
              <a:off x="6516613" y="4400575"/>
              <a:ext cx="1295400" cy="39687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9408" name="Rectangle 37"/>
            <p:cNvSpPr/>
            <p:nvPr/>
          </p:nvSpPr>
          <p:spPr>
            <a:xfrm>
              <a:off x="5435525" y="4400575"/>
              <a:ext cx="1079500" cy="431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形参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n: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 flipV="1">
            <a:off x="7116128" y="3657600"/>
            <a:ext cx="3322955" cy="19685"/>
          </a:xfrm>
          <a:prstGeom prst="line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dashDot"/>
            <a:headEnd type="none" w="med" len="med"/>
            <a:tailEnd type="none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4436" grpId="0" bldLvl="0" animBg="1"/>
      <p:bldP spid="42" grpId="0"/>
      <p:bldP spid="48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2" name="Rectangle 5"/>
          <p:cNvSpPr/>
          <p:nvPr/>
        </p:nvSpPr>
        <p:spPr>
          <a:xfrm>
            <a:off x="7827963" y="0"/>
            <a:ext cx="4343400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函数定义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1" name="灯片编号占位符 5"/>
          <p:cNvSpPr>
            <a:spLocks noGrp="1"/>
          </p:cNvSpPr>
          <p:nvPr/>
        </p:nvSpPr>
        <p:spPr bwMode="auto">
          <a:xfrm>
            <a:off x="7964488" y="6365875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C36C75-35C8-4667-9141-331511BE10A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Rectangle 3"/>
          <p:cNvSpPr>
            <a:spLocks noGrp="1" noChangeArrowheads="1"/>
          </p:cNvSpPr>
          <p:nvPr>
            <p:ph idx="1"/>
          </p:nvPr>
        </p:nvSpPr>
        <p:spPr>
          <a:xfrm>
            <a:off x="0" y="533400"/>
            <a:ext cx="6095365" cy="6153150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sortofup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s[5],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 {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int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  bool  flag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flag = true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while ( flag ) {	 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flag = false 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 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 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 )	                 	 	if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&gt;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      r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;		                        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     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= r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	flag=true;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Rectangle 4"/>
          <p:cNvSpPr/>
          <p:nvPr/>
        </p:nvSpPr>
        <p:spPr>
          <a:xfrm>
            <a:off x="8327708" y="3885883"/>
            <a:ext cx="1654175" cy="43180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int data[5];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49" name="Group 9"/>
          <p:cNvGrpSpPr/>
          <p:nvPr/>
        </p:nvGrpSpPr>
        <p:grpSpPr>
          <a:xfrm flipV="1">
            <a:off x="7010400" y="1430655"/>
            <a:ext cx="1289050" cy="3152140"/>
            <a:chOff x="3107" y="1117"/>
            <a:chExt cx="1088" cy="2310"/>
          </a:xfrm>
        </p:grpSpPr>
        <p:sp>
          <p:nvSpPr>
            <p:cNvPr id="50" name="Line 10"/>
            <p:cNvSpPr/>
            <p:nvPr/>
          </p:nvSpPr>
          <p:spPr>
            <a:xfrm flipH="1" flipV="1">
              <a:off x="3107" y="3415"/>
              <a:ext cx="998" cy="6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" name="Line 11"/>
            <p:cNvSpPr/>
            <p:nvPr/>
          </p:nvSpPr>
          <p:spPr>
            <a:xfrm flipV="1">
              <a:off x="3107" y="1117"/>
              <a:ext cx="0" cy="231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" name="Line 12"/>
            <p:cNvSpPr/>
            <p:nvPr/>
          </p:nvSpPr>
          <p:spPr>
            <a:xfrm>
              <a:off x="3107" y="1117"/>
              <a:ext cx="1088" cy="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arrow" w="med" len="med"/>
            </a:ln>
          </p:spPr>
        </p:sp>
      </p:grpSp>
      <p:grpSp>
        <p:nvGrpSpPr>
          <p:cNvPr id="53" name="Group 42"/>
          <p:cNvGrpSpPr/>
          <p:nvPr/>
        </p:nvGrpSpPr>
        <p:grpSpPr>
          <a:xfrm>
            <a:off x="7315200" y="4110038"/>
            <a:ext cx="3600450" cy="2543175"/>
            <a:chOff x="3492" y="709"/>
            <a:chExt cx="2268" cy="1602"/>
          </a:xfrm>
        </p:grpSpPr>
        <p:sp>
          <p:nvSpPr>
            <p:cNvPr id="54" name="Text Box 30"/>
            <p:cNvSpPr txBox="1"/>
            <p:nvPr/>
          </p:nvSpPr>
          <p:spPr>
            <a:xfrm>
              <a:off x="4943" y="2023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5" name="Text Box 31"/>
            <p:cNvSpPr txBox="1"/>
            <p:nvPr/>
          </p:nvSpPr>
          <p:spPr>
            <a:xfrm>
              <a:off x="4943" y="1751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6" name="Text Box 33"/>
            <p:cNvSpPr txBox="1"/>
            <p:nvPr/>
          </p:nvSpPr>
          <p:spPr>
            <a:xfrm>
              <a:off x="4943" y="1207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7" name="Text Box 34"/>
            <p:cNvSpPr txBox="1"/>
            <p:nvPr/>
          </p:nvSpPr>
          <p:spPr>
            <a:xfrm>
              <a:off x="4943" y="935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58" name="Group 41"/>
            <p:cNvGrpSpPr/>
            <p:nvPr/>
          </p:nvGrpSpPr>
          <p:grpSpPr>
            <a:xfrm>
              <a:off x="3492" y="709"/>
              <a:ext cx="2268" cy="1602"/>
              <a:chOff x="3492" y="709"/>
              <a:chExt cx="2268" cy="1602"/>
            </a:xfrm>
          </p:grpSpPr>
          <p:sp>
            <p:nvSpPr>
              <p:cNvPr id="59" name="Text Box 32"/>
              <p:cNvSpPr txBox="1"/>
              <p:nvPr/>
            </p:nvSpPr>
            <p:spPr>
              <a:xfrm>
                <a:off x="4943" y="1479"/>
                <a:ext cx="8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data[2]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60" name="Group 40"/>
              <p:cNvGrpSpPr/>
              <p:nvPr/>
            </p:nvGrpSpPr>
            <p:grpSpPr>
              <a:xfrm>
                <a:off x="3492" y="709"/>
                <a:ext cx="1497" cy="1602"/>
                <a:chOff x="3492" y="709"/>
                <a:chExt cx="1497" cy="1602"/>
              </a:xfrm>
            </p:grpSpPr>
            <p:sp>
              <p:nvSpPr>
                <p:cNvPr id="61" name="Rectangle 15"/>
                <p:cNvSpPr/>
                <p:nvPr/>
              </p:nvSpPr>
              <p:spPr>
                <a:xfrm>
                  <a:off x="4173" y="935"/>
                  <a:ext cx="816" cy="288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Rectangle 16"/>
                <p:cNvSpPr/>
                <p:nvPr/>
              </p:nvSpPr>
              <p:spPr>
                <a:xfrm>
                  <a:off x="4173" y="1207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" name="Rectangle 17"/>
                <p:cNvSpPr/>
                <p:nvPr/>
              </p:nvSpPr>
              <p:spPr>
                <a:xfrm>
                  <a:off x="4173" y="1479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4" name="Rectangle 18"/>
                <p:cNvSpPr/>
                <p:nvPr/>
              </p:nvSpPr>
              <p:spPr>
                <a:xfrm>
                  <a:off x="4173" y="1751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5" name="Rectangle 19"/>
                <p:cNvSpPr/>
                <p:nvPr/>
              </p:nvSpPr>
              <p:spPr>
                <a:xfrm>
                  <a:off x="4173" y="2023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Text Box 20"/>
                <p:cNvSpPr txBox="1"/>
                <p:nvPr/>
              </p:nvSpPr>
              <p:spPr>
                <a:xfrm>
                  <a:off x="3492" y="2023"/>
                  <a:ext cx="63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E9A2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" name="Text Box 21"/>
                <p:cNvSpPr txBox="1"/>
                <p:nvPr/>
              </p:nvSpPr>
              <p:spPr>
                <a:xfrm>
                  <a:off x="3492" y="1751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E99E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8" name="Text Box 22"/>
                <p:cNvSpPr txBox="1"/>
                <p:nvPr/>
              </p:nvSpPr>
              <p:spPr>
                <a:xfrm>
                  <a:off x="3492" y="1479"/>
                  <a:ext cx="658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E99A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Text Box 23"/>
                <p:cNvSpPr txBox="1"/>
                <p:nvPr/>
              </p:nvSpPr>
              <p:spPr>
                <a:xfrm>
                  <a:off x="3492" y="1207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" name="Text Box 24"/>
                <p:cNvSpPr txBox="1"/>
                <p:nvPr/>
              </p:nvSpPr>
              <p:spPr>
                <a:xfrm>
                  <a:off x="3492" y="935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atin typeface="Arial" panose="020B0604020202020204" pitchFamily="34" charset="0"/>
                    </a:rPr>
                    <a:t>E992</a:t>
                  </a:r>
                  <a:endParaRPr lang="en-US" altLang="zh-CN" sz="240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" name="Text Box 25"/>
                <p:cNvSpPr txBox="1"/>
                <p:nvPr/>
              </p:nvSpPr>
              <p:spPr>
                <a:xfrm>
                  <a:off x="4445" y="2023"/>
                  <a:ext cx="38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50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" name="Text Box 26"/>
                <p:cNvSpPr txBox="1"/>
                <p:nvPr/>
              </p:nvSpPr>
              <p:spPr>
                <a:xfrm>
                  <a:off x="4446" y="1735"/>
                  <a:ext cx="339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69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3" name="Text Box 27"/>
                <p:cNvSpPr txBox="1"/>
                <p:nvPr/>
              </p:nvSpPr>
              <p:spPr>
                <a:xfrm>
                  <a:off x="4445" y="1479"/>
                  <a:ext cx="34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76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4" name="Text Box 28"/>
                <p:cNvSpPr txBox="1"/>
                <p:nvPr/>
              </p:nvSpPr>
              <p:spPr>
                <a:xfrm>
                  <a:off x="4422" y="1207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87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5" name="Text Box 29"/>
                <p:cNvSpPr txBox="1"/>
                <p:nvPr/>
              </p:nvSpPr>
              <p:spPr>
                <a:xfrm>
                  <a:off x="4446" y="935"/>
                  <a:ext cx="33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Arial" panose="020B0604020202020204" pitchFamily="34" charset="0"/>
                    </a:rPr>
                    <a:t>90</a:t>
                  </a:r>
                  <a:endParaRPr lang="en-US" altLang="zh-CN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" name="Text Box 35"/>
                <p:cNvSpPr txBox="1"/>
                <p:nvPr/>
              </p:nvSpPr>
              <p:spPr>
                <a:xfrm>
                  <a:off x="3560" y="709"/>
                  <a:ext cx="499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Arial" panose="020B0604020202020204" pitchFamily="34" charset="0"/>
                    </a:rPr>
                    <a:t>地址</a:t>
                  </a:r>
                  <a:endParaRPr lang="zh-CN" altLang="en-US" sz="1800" b="1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77" name="Rectangle 5"/>
          <p:cNvSpPr/>
          <p:nvPr/>
        </p:nvSpPr>
        <p:spPr>
          <a:xfrm>
            <a:off x="7075488" y="990600"/>
            <a:ext cx="1223962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形参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s: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8229918" y="1295083"/>
            <a:ext cx="1295400" cy="3730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E992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9" name="组合 1"/>
          <p:cNvGrpSpPr/>
          <p:nvPr/>
        </p:nvGrpSpPr>
        <p:grpSpPr>
          <a:xfrm>
            <a:off x="7162800" y="1769745"/>
            <a:ext cx="2376488" cy="431800"/>
            <a:chOff x="5435525" y="4400575"/>
            <a:chExt cx="2376488" cy="431800"/>
          </a:xfrm>
        </p:grpSpPr>
        <p:sp>
          <p:nvSpPr>
            <p:cNvPr id="80" name="Text Box 36"/>
            <p:cNvSpPr txBox="1"/>
            <p:nvPr/>
          </p:nvSpPr>
          <p:spPr>
            <a:xfrm>
              <a:off x="6516613" y="4400575"/>
              <a:ext cx="1295400" cy="39687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1" name="Rectangle 37"/>
            <p:cNvSpPr/>
            <p:nvPr/>
          </p:nvSpPr>
          <p:spPr>
            <a:xfrm>
              <a:off x="5435525" y="4400575"/>
              <a:ext cx="1079500" cy="431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形参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n: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82" name="直接连接符 81"/>
          <p:cNvCxnSpPr/>
          <p:nvPr/>
        </p:nvCxnSpPr>
        <p:spPr>
          <a:xfrm flipV="1">
            <a:off x="7116128" y="3657600"/>
            <a:ext cx="3322955" cy="19685"/>
          </a:xfrm>
          <a:prstGeom prst="line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dashDot"/>
            <a:headEnd type="none" w="med" len="med"/>
            <a:tailEnd type="none" w="med" len="med"/>
          </a:ln>
        </p:spPr>
      </p:cxnSp>
      <p:sp>
        <p:nvSpPr>
          <p:cNvPr id="83" name="圆角矩形标注 82"/>
          <p:cNvSpPr/>
          <p:nvPr/>
        </p:nvSpPr>
        <p:spPr>
          <a:xfrm>
            <a:off x="2438400" y="0"/>
            <a:ext cx="1308735" cy="567055"/>
          </a:xfrm>
          <a:prstGeom prst="wedgeRoundRectCallout">
            <a:avLst>
              <a:gd name="adj1" fmla="val 34279"/>
              <a:gd name="adj2" fmla="val 82474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int *s;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8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8F42EE-2223-4350-BBFA-4FEA49676BC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482" name="Rectangle 2"/>
          <p:cNvSpPr>
            <a:spLocks noChangeArrowheads="1"/>
          </p:cNvSpPr>
          <p:nvPr/>
        </p:nvSpPr>
        <p:spPr bwMode="auto">
          <a:xfrm>
            <a:off x="163513" y="1036638"/>
            <a:ext cx="6648450" cy="6000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s[5]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i,r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bool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flag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flag = true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while ( flag ) {	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		 flag = false 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 for ( i=0 ; i&lt;n-1 ; i++ )	                 	 		if (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[i] &gt;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[i+1] 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{         r =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[i] ;		                        			 	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[i] =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[i+1]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             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[i+1] = r ;</a:t>
            </a:r>
            <a:endParaRPr kumimoji="0" lang="en-US" altLang="zh-CN" sz="3200" b="1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	 flag=true;	}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4" name="Rectangle 3"/>
          <p:cNvSpPr/>
          <p:nvPr/>
        </p:nvSpPr>
        <p:spPr>
          <a:xfrm>
            <a:off x="-14287" y="0"/>
            <a:ext cx="5894387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数组作为函数的参数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参数结合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61445" name="AutoShape 5"/>
          <p:cNvSpPr/>
          <p:nvPr/>
        </p:nvSpPr>
        <p:spPr>
          <a:xfrm>
            <a:off x="4624388" y="649288"/>
            <a:ext cx="1773237" cy="431800"/>
          </a:xfrm>
          <a:prstGeom prst="wedgeRectCallout">
            <a:avLst>
              <a:gd name="adj1" fmla="val -41815"/>
              <a:gd name="adj2" fmla="val 6977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对应实参：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1446" name="AutoShape 6"/>
          <p:cNvSpPr/>
          <p:nvPr/>
        </p:nvSpPr>
        <p:spPr>
          <a:xfrm>
            <a:off x="163513" y="649288"/>
            <a:ext cx="4006850" cy="431800"/>
          </a:xfrm>
          <a:prstGeom prst="wedgeRectCallout">
            <a:avLst>
              <a:gd name="adj1" fmla="val 31750"/>
              <a:gd name="adj2" fmla="val 7213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对应实参：</a:t>
            </a:r>
            <a:r>
              <a:rPr lang="en-US" altLang="zh-CN" sz="2400" b="1" dirty="0">
                <a:latin typeface="Arial" panose="020B0604020202020204" pitchFamily="34" charset="0"/>
              </a:rPr>
              <a:t>&amp;data[0] </a:t>
            </a:r>
            <a:r>
              <a:rPr lang="zh-CN" altLang="en-US" sz="1800" b="1" dirty="0">
                <a:latin typeface="Arial" panose="020B0604020202020204" pitchFamily="34" charset="0"/>
              </a:rPr>
              <a:t>或 </a:t>
            </a:r>
            <a:r>
              <a:rPr lang="en-US" altLang="zh-CN" sz="2400" b="1" dirty="0">
                <a:latin typeface="Arial" panose="020B0604020202020204" pitchFamily="34" charset="0"/>
              </a:rPr>
              <a:t>data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5105400"/>
            <a:ext cx="5586730" cy="169164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【思考】【课后实践】</a:t>
            </a:r>
            <a:endParaRPr lang="en-US" altLang="zh-CN" sz="3200" b="1" kern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ea typeface="黑体" panose="02010609060101010101" pitchFamily="49" charset="-122"/>
              </a:rPr>
              <a:t>如何交换主调函数中的</a:t>
            </a: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ea typeface="黑体" panose="02010609060101010101" pitchFamily="49" charset="-122"/>
              </a:rPr>
              <a:t>个变量的值？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ea typeface="黑体" panose="02010609060101010101" pitchFamily="49" charset="-122"/>
              </a:rPr>
              <a:t>编函数</a:t>
            </a:r>
            <a:r>
              <a:rPr lang="zh-CN" altLang="en-US" sz="2400" b="1" dirty="0">
                <a:ea typeface="黑体" panose="02010609060101010101" pitchFamily="49" charset="-122"/>
                <a:sym typeface="+mn-ea"/>
              </a:rPr>
              <a:t>改写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【</a:t>
            </a:r>
            <a:r>
              <a:rPr lang="zh-CN" altLang="en-US" sz="2400" b="1" dirty="0">
                <a:ea typeface="黑体" panose="02010609060101010101" pitchFamily="49" charset="-122"/>
                <a:sym typeface="+mn-ea"/>
              </a:rPr>
              <a:t>例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6.5】</a:t>
            </a:r>
            <a:r>
              <a:rPr lang="zh-CN" altLang="en-US" sz="2400" b="1" dirty="0">
                <a:ea typeface="黑体" panose="02010609060101010101" pitchFamily="49" charset="-122"/>
              </a:rPr>
              <a:t>实现</a:t>
            </a:r>
            <a:r>
              <a:rPr lang="zh-CN" altLang="en-US" sz="2400" b="1" dirty="0">
                <a:ea typeface="黑体" panose="02010609060101010101" pitchFamily="49" charset="-122"/>
              </a:rPr>
              <a:t>主元排序：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void sort(int a[],int n)</a:t>
            </a:r>
            <a:endParaRPr lang="en-US" altLang="zh-CN" sz="2800" b="1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对话气泡: 圆角矩形 1"/>
          <p:cNvSpPr/>
          <p:nvPr/>
        </p:nvSpPr>
        <p:spPr>
          <a:xfrm>
            <a:off x="6248400" y="1036955"/>
            <a:ext cx="5196205" cy="2567940"/>
          </a:xfrm>
          <a:prstGeom prst="wedgeRoundRectCallout">
            <a:avLst>
              <a:gd name="adj1" fmla="val -70990"/>
              <a:gd name="adj2" fmla="val -29827"/>
              <a:gd name="adj3" fmla="val 16667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若主调函数中有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data[5];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调用形式</a:t>
            </a:r>
            <a:r>
              <a:rPr lang="zh-CN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：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(data,5);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数组名作为实参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或：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(&amp;data[0],5);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直接取数组的起始地址作为实参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10" grpId="0" bldLvl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E946C5-8F9F-42BC-8792-81974FECD7E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20291" name="Rectangle 3"/>
          <p:cNvSpPr>
            <a:spLocks noGrp="1" noChangeArrowheads="1"/>
          </p:cNvSpPr>
          <p:nvPr>
            <p:ph type="title"/>
          </p:nvPr>
        </p:nvSpPr>
        <p:spPr>
          <a:xfrm>
            <a:off x="23813" y="152400"/>
            <a:ext cx="8964613" cy="6492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6.7】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使用“插入排序法”对成绩数组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进行排序。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20292" name="Rectangle 4"/>
          <p:cNvSpPr>
            <a:spLocks noGrp="1" noChangeArrowheads="1"/>
          </p:cNvSpPr>
          <p:nvPr>
            <p:ph idx="1"/>
          </p:nvPr>
        </p:nvSpPr>
        <p:spPr>
          <a:xfrm>
            <a:off x="0" y="1123950"/>
            <a:ext cx="11731625" cy="4438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排序思想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把数组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看成一个序列</a:t>
            </a:r>
            <a:b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</a:b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a[0]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a[1]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a[i-1]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a[i]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a[n-1] 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假设前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个元素的子序列已经是递增</a:t>
            </a:r>
            <a:b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</a:b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a[0]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a[1]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a[i-1]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给上述子序列再加一个元素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a[i] 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若有办法使子序列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a[0]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a[1]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a[i-1]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a[i]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仍是递增的，便可完成对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的排序。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285F5F-EF31-458B-B046-01708BA5136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22339" name="Group 3"/>
          <p:cNvGrpSpPr/>
          <p:nvPr/>
        </p:nvGrpSpPr>
        <p:grpSpPr>
          <a:xfrm>
            <a:off x="3719513" y="476250"/>
            <a:ext cx="3384550" cy="646113"/>
            <a:chOff x="1383" y="300"/>
            <a:chExt cx="2132" cy="407"/>
          </a:xfrm>
        </p:grpSpPr>
        <p:sp>
          <p:nvSpPr>
            <p:cNvPr id="65559" name="Text Box 4"/>
            <p:cNvSpPr txBox="1"/>
            <p:nvPr/>
          </p:nvSpPr>
          <p:spPr>
            <a:xfrm>
              <a:off x="1383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60" name="Text Box 5"/>
            <p:cNvSpPr txBox="1"/>
            <p:nvPr/>
          </p:nvSpPr>
          <p:spPr>
            <a:xfrm>
              <a:off x="1928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2</a:t>
              </a:r>
              <a:endParaRPr lang="en-US" altLang="zh-CN" sz="3600" dirty="0"/>
            </a:p>
          </p:txBody>
        </p:sp>
        <p:sp>
          <p:nvSpPr>
            <p:cNvPr id="65561" name="Text Box 6"/>
            <p:cNvSpPr txBox="1"/>
            <p:nvPr/>
          </p:nvSpPr>
          <p:spPr>
            <a:xfrm>
              <a:off x="2472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65562" name="Text Box 7"/>
            <p:cNvSpPr txBox="1"/>
            <p:nvPr/>
          </p:nvSpPr>
          <p:spPr>
            <a:xfrm>
              <a:off x="3016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sp>
        <p:nvSpPr>
          <p:cNvPr id="1422344" name="Line 8"/>
          <p:cNvSpPr/>
          <p:nvPr/>
        </p:nvSpPr>
        <p:spPr>
          <a:xfrm flipV="1">
            <a:off x="5016500" y="1196975"/>
            <a:ext cx="0" cy="6477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arrow" w="lg" len="lg"/>
          </a:ln>
        </p:spPr>
      </p:sp>
      <p:grpSp>
        <p:nvGrpSpPr>
          <p:cNvPr id="1422345" name="Group 9"/>
          <p:cNvGrpSpPr/>
          <p:nvPr/>
        </p:nvGrpSpPr>
        <p:grpSpPr>
          <a:xfrm>
            <a:off x="3719513" y="2060575"/>
            <a:ext cx="3384550" cy="646113"/>
            <a:chOff x="1383" y="1298"/>
            <a:chExt cx="2132" cy="407"/>
          </a:xfrm>
        </p:grpSpPr>
        <p:sp>
          <p:nvSpPr>
            <p:cNvPr id="65555" name="Text Box 10"/>
            <p:cNvSpPr txBox="1"/>
            <p:nvPr/>
          </p:nvSpPr>
          <p:spPr>
            <a:xfrm>
              <a:off x="1927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56" name="Text Box 11"/>
            <p:cNvSpPr txBox="1"/>
            <p:nvPr/>
          </p:nvSpPr>
          <p:spPr>
            <a:xfrm>
              <a:off x="1383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57" name="Text Box 12"/>
            <p:cNvSpPr txBox="1"/>
            <p:nvPr/>
          </p:nvSpPr>
          <p:spPr>
            <a:xfrm>
              <a:off x="2472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65558" name="Text Box 13"/>
            <p:cNvSpPr txBox="1"/>
            <p:nvPr/>
          </p:nvSpPr>
          <p:spPr>
            <a:xfrm>
              <a:off x="3016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sp>
        <p:nvSpPr>
          <p:cNvPr id="1422350" name="Line 14"/>
          <p:cNvSpPr/>
          <p:nvPr/>
        </p:nvSpPr>
        <p:spPr>
          <a:xfrm flipV="1">
            <a:off x="5880100" y="2781300"/>
            <a:ext cx="0" cy="6477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arrow" w="lg" len="lg"/>
          </a:ln>
        </p:spPr>
      </p:sp>
      <p:grpSp>
        <p:nvGrpSpPr>
          <p:cNvPr id="1422351" name="Group 15"/>
          <p:cNvGrpSpPr/>
          <p:nvPr/>
        </p:nvGrpSpPr>
        <p:grpSpPr>
          <a:xfrm>
            <a:off x="3719513" y="3789363"/>
            <a:ext cx="3384550" cy="646112"/>
            <a:chOff x="1383" y="2387"/>
            <a:chExt cx="2132" cy="407"/>
          </a:xfrm>
        </p:grpSpPr>
        <p:sp>
          <p:nvSpPr>
            <p:cNvPr id="65551" name="Text Box 16"/>
            <p:cNvSpPr txBox="1"/>
            <p:nvPr/>
          </p:nvSpPr>
          <p:spPr>
            <a:xfrm>
              <a:off x="1927" y="2387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52" name="Text Box 17"/>
            <p:cNvSpPr txBox="1"/>
            <p:nvPr/>
          </p:nvSpPr>
          <p:spPr>
            <a:xfrm>
              <a:off x="1383" y="2387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53" name="Text Box 18"/>
            <p:cNvSpPr txBox="1"/>
            <p:nvPr/>
          </p:nvSpPr>
          <p:spPr>
            <a:xfrm>
              <a:off x="2472" y="2387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54" name="Text Box 19"/>
            <p:cNvSpPr txBox="1"/>
            <p:nvPr/>
          </p:nvSpPr>
          <p:spPr>
            <a:xfrm>
              <a:off x="3016" y="2387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sp>
        <p:nvSpPr>
          <p:cNvPr id="1422356" name="Line 20"/>
          <p:cNvSpPr/>
          <p:nvPr/>
        </p:nvSpPr>
        <p:spPr>
          <a:xfrm flipV="1">
            <a:off x="6743700" y="4508500"/>
            <a:ext cx="0" cy="6477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arrow" w="lg" len="lg"/>
          </a:ln>
        </p:spPr>
      </p:sp>
      <p:grpSp>
        <p:nvGrpSpPr>
          <p:cNvPr id="1422357" name="Group 21"/>
          <p:cNvGrpSpPr/>
          <p:nvPr/>
        </p:nvGrpSpPr>
        <p:grpSpPr>
          <a:xfrm>
            <a:off x="3792538" y="5373688"/>
            <a:ext cx="3384550" cy="646112"/>
            <a:chOff x="1429" y="3385"/>
            <a:chExt cx="2132" cy="407"/>
          </a:xfrm>
        </p:grpSpPr>
        <p:sp>
          <p:nvSpPr>
            <p:cNvPr id="65547" name="Text Box 22"/>
            <p:cNvSpPr txBox="1"/>
            <p:nvPr/>
          </p:nvSpPr>
          <p:spPr>
            <a:xfrm>
              <a:off x="1973" y="3385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48" name="Text Box 23"/>
            <p:cNvSpPr txBox="1"/>
            <p:nvPr/>
          </p:nvSpPr>
          <p:spPr>
            <a:xfrm>
              <a:off x="1429" y="3385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49" name="Text Box 24"/>
            <p:cNvSpPr txBox="1"/>
            <p:nvPr/>
          </p:nvSpPr>
          <p:spPr>
            <a:xfrm>
              <a:off x="2518" y="3385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5550" name="Text Box 25"/>
            <p:cNvSpPr txBox="1"/>
            <p:nvPr/>
          </p:nvSpPr>
          <p:spPr>
            <a:xfrm>
              <a:off x="3062" y="3385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2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2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2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2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2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E398C9-D0CD-4796-AB69-62C4421376E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7587" name="Group 3"/>
          <p:cNvGrpSpPr/>
          <p:nvPr/>
        </p:nvGrpSpPr>
        <p:grpSpPr>
          <a:xfrm>
            <a:off x="533400" y="2362200"/>
            <a:ext cx="9320213" cy="1851025"/>
            <a:chOff x="204" y="2432"/>
            <a:chExt cx="5368" cy="1166"/>
          </a:xfrm>
        </p:grpSpPr>
        <p:sp>
          <p:nvSpPr>
            <p:cNvPr id="67598" name="Rectangle 4"/>
            <p:cNvSpPr/>
            <p:nvPr/>
          </p:nvSpPr>
          <p:spPr>
            <a:xfrm>
              <a:off x="2896" y="2768"/>
              <a:ext cx="2676" cy="390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使   </a:t>
              </a:r>
              <a:r>
                <a:rPr lang="en-US" altLang="zh-CN" sz="2800" b="1" dirty="0">
                  <a:ea typeface="黑体" panose="02010609060101010101" pitchFamily="49" charset="-122"/>
                </a:rPr>
                <a:t>a[0]</a:t>
              </a:r>
              <a:r>
                <a:rPr lang="zh-CN" altLang="en-US" sz="28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800" b="1" dirty="0">
                  <a:ea typeface="黑体" panose="02010609060101010101" pitchFamily="49" charset="-122"/>
                </a:rPr>
                <a:t>... </a:t>
              </a:r>
              <a:r>
                <a:rPr lang="zh-CN" altLang="en-US" sz="2800" b="1" dirty="0">
                  <a:ea typeface="黑体" panose="02010609060101010101" pitchFamily="49" charset="-122"/>
                </a:rPr>
                <a:t>、</a:t>
              </a:r>
              <a:r>
                <a:rPr lang="en-US" altLang="zh-CN" sz="2800" b="1" dirty="0">
                  <a:ea typeface="黑体" panose="02010609060101010101" pitchFamily="49" charset="-122"/>
                </a:rPr>
                <a:t>a[i]  </a:t>
              </a:r>
              <a:r>
                <a:rPr lang="zh-CN" altLang="en-US" sz="2800" b="1" dirty="0">
                  <a:ea typeface="黑体" panose="02010609060101010101" pitchFamily="49" charset="-122"/>
                </a:rPr>
                <a:t>递增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67599" name="Rectangle 5"/>
            <p:cNvSpPr/>
            <p:nvPr/>
          </p:nvSpPr>
          <p:spPr>
            <a:xfrm>
              <a:off x="476" y="2432"/>
              <a:ext cx="484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开始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67600" name="Oval 6"/>
            <p:cNvSpPr/>
            <p:nvPr/>
          </p:nvSpPr>
          <p:spPr>
            <a:xfrm>
              <a:off x="204" y="2432"/>
              <a:ext cx="952" cy="268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7601" name="Rectangle 7"/>
            <p:cNvSpPr/>
            <p:nvPr/>
          </p:nvSpPr>
          <p:spPr>
            <a:xfrm>
              <a:off x="703" y="2795"/>
              <a:ext cx="136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7602" name="Rectangle 8"/>
            <p:cNvSpPr/>
            <p:nvPr/>
          </p:nvSpPr>
          <p:spPr>
            <a:xfrm>
              <a:off x="839" y="2795"/>
              <a:ext cx="1633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for(</a:t>
              </a:r>
              <a:r>
                <a:rPr lang="en-US" altLang="zh-CN" sz="2800" b="1" noProof="0" dirty="0" err="1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i=1;i&lt;n</a:t>
              </a:r>
              <a:r>
                <a:rPr lang="en-US" altLang="zh-CN" sz="2400" b="1" dirty="0">
                  <a:ea typeface="黑体" panose="02010609060101010101" pitchFamily="49" charset="-122"/>
                </a:rPr>
                <a:t>;i++)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67603" name="Line 9"/>
            <p:cNvSpPr/>
            <p:nvPr/>
          </p:nvSpPr>
          <p:spPr>
            <a:xfrm flipV="1">
              <a:off x="2472" y="3008"/>
              <a:ext cx="409" cy="1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604" name="Line 10"/>
            <p:cNvSpPr/>
            <p:nvPr/>
          </p:nvSpPr>
          <p:spPr>
            <a:xfrm>
              <a:off x="703" y="2704"/>
              <a:ext cx="0" cy="59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7605" name="Oval 11"/>
            <p:cNvSpPr/>
            <p:nvPr/>
          </p:nvSpPr>
          <p:spPr>
            <a:xfrm>
              <a:off x="340" y="3294"/>
              <a:ext cx="816" cy="304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7606" name="Rectangle 12"/>
            <p:cNvSpPr/>
            <p:nvPr/>
          </p:nvSpPr>
          <p:spPr>
            <a:xfrm>
              <a:off x="476" y="3294"/>
              <a:ext cx="515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结束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424397" name="Rectangle 13"/>
          <p:cNvSpPr>
            <a:spLocks noChangeArrowheads="1"/>
          </p:cNvSpPr>
          <p:nvPr/>
        </p:nvSpPr>
        <p:spPr bwMode="auto">
          <a:xfrm>
            <a:off x="298450" y="5073650"/>
            <a:ext cx="8856663" cy="162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由于当子序列只有一个元素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a[0]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时，它自然是递增的；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这样，一个个加元素，每加一个，都使新的子序列仍保持递增；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直到将最后一个元素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a[n-1]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加入为止，便完成了对序列Ａ的排序。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67590" name="Group 21"/>
          <p:cNvGrpSpPr/>
          <p:nvPr/>
        </p:nvGrpSpPr>
        <p:grpSpPr>
          <a:xfrm>
            <a:off x="2620963" y="561975"/>
            <a:ext cx="3384550" cy="646113"/>
            <a:chOff x="1383" y="300"/>
            <a:chExt cx="2132" cy="407"/>
          </a:xfrm>
        </p:grpSpPr>
        <p:sp>
          <p:nvSpPr>
            <p:cNvPr id="67594" name="Text Box 22"/>
            <p:cNvSpPr txBox="1"/>
            <p:nvPr/>
          </p:nvSpPr>
          <p:spPr>
            <a:xfrm>
              <a:off x="1383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7595" name="Text Box 23"/>
            <p:cNvSpPr txBox="1"/>
            <p:nvPr/>
          </p:nvSpPr>
          <p:spPr>
            <a:xfrm>
              <a:off x="1928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2</a:t>
              </a:r>
              <a:endParaRPr lang="en-US" altLang="zh-CN" sz="3600" dirty="0"/>
            </a:p>
          </p:txBody>
        </p:sp>
        <p:sp>
          <p:nvSpPr>
            <p:cNvPr id="67596" name="Text Box 24"/>
            <p:cNvSpPr txBox="1"/>
            <p:nvPr/>
          </p:nvSpPr>
          <p:spPr>
            <a:xfrm>
              <a:off x="2472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67597" name="Text Box 25"/>
            <p:cNvSpPr txBox="1"/>
            <p:nvPr/>
          </p:nvSpPr>
          <p:spPr>
            <a:xfrm>
              <a:off x="3016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sp>
        <p:nvSpPr>
          <p:cNvPr id="67591" name="Line 26"/>
          <p:cNvSpPr/>
          <p:nvPr/>
        </p:nvSpPr>
        <p:spPr>
          <a:xfrm flipV="1">
            <a:off x="3917950" y="1282700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67592" name="Text Box 27"/>
          <p:cNvSpPr txBox="1"/>
          <p:nvPr/>
        </p:nvSpPr>
        <p:spPr>
          <a:xfrm>
            <a:off x="3413125" y="1570038"/>
            <a:ext cx="1008063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03788" y="2447925"/>
            <a:ext cx="5256212" cy="17653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DCFB51-E22F-405D-9150-7DA0408CF74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26435" name="Rectangle 3"/>
          <p:cNvSpPr>
            <a:spLocks noGrp="1" noChangeArrowheads="1"/>
          </p:cNvSpPr>
          <p:nvPr>
            <p:ph idx="1"/>
          </p:nvPr>
        </p:nvSpPr>
        <p:spPr>
          <a:xfrm>
            <a:off x="11113" y="4122738"/>
            <a:ext cx="8842375" cy="2663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求精：使 a[0] 、……、 a[i] 递增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）找到位置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，使	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a[j] &lt;=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a[i]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&lt; a[j+1]	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）把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插到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a[j+1]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中间，得到：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a[0]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a[i]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a[j+1]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a[i-1]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1426436" name="Group 4"/>
          <p:cNvGrpSpPr/>
          <p:nvPr/>
        </p:nvGrpSpPr>
        <p:grpSpPr>
          <a:xfrm>
            <a:off x="311150" y="1795463"/>
            <a:ext cx="7739063" cy="2049462"/>
            <a:chOff x="0" y="2840"/>
            <a:chExt cx="4875" cy="1291"/>
          </a:xfrm>
        </p:grpSpPr>
        <p:sp>
          <p:nvSpPr>
            <p:cNvPr id="69650" name="Rectangle 5"/>
            <p:cNvSpPr/>
            <p:nvPr/>
          </p:nvSpPr>
          <p:spPr>
            <a:xfrm>
              <a:off x="272" y="2840"/>
              <a:ext cx="484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开始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69651" name="Oval 6"/>
            <p:cNvSpPr/>
            <p:nvPr/>
          </p:nvSpPr>
          <p:spPr>
            <a:xfrm>
              <a:off x="0" y="2840"/>
              <a:ext cx="952" cy="268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9652" name="Rectangle 7"/>
            <p:cNvSpPr/>
            <p:nvPr/>
          </p:nvSpPr>
          <p:spPr>
            <a:xfrm>
              <a:off x="499" y="3203"/>
              <a:ext cx="136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9653" name="Rectangle 8"/>
            <p:cNvSpPr/>
            <p:nvPr/>
          </p:nvSpPr>
          <p:spPr>
            <a:xfrm>
              <a:off x="635" y="3203"/>
              <a:ext cx="1633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for(i=1;i&lt;n;i++)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69654" name="Line 9"/>
            <p:cNvSpPr/>
            <p:nvPr/>
          </p:nvSpPr>
          <p:spPr>
            <a:xfrm>
              <a:off x="2268" y="3430"/>
              <a:ext cx="95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9655" name="Line 10"/>
            <p:cNvSpPr/>
            <p:nvPr/>
          </p:nvSpPr>
          <p:spPr>
            <a:xfrm>
              <a:off x="499" y="3112"/>
              <a:ext cx="0" cy="59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9656" name="Oval 11"/>
            <p:cNvSpPr/>
            <p:nvPr/>
          </p:nvSpPr>
          <p:spPr>
            <a:xfrm>
              <a:off x="136" y="3702"/>
              <a:ext cx="816" cy="304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69657" name="Rectangle 12"/>
            <p:cNvSpPr/>
            <p:nvPr/>
          </p:nvSpPr>
          <p:spPr>
            <a:xfrm>
              <a:off x="272" y="3702"/>
              <a:ext cx="515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结束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69658" name="Rectangle 13"/>
            <p:cNvSpPr/>
            <p:nvPr/>
          </p:nvSpPr>
          <p:spPr>
            <a:xfrm>
              <a:off x="2381" y="2840"/>
              <a:ext cx="2494" cy="594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求位置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j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，使</a:t>
              </a:r>
              <a:endPara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a[j] &lt;= </a:t>
              </a:r>
              <a:r>
                <a:rPr lang="en-US" altLang="zh-CN" sz="2800" b="1" dirty="0">
                  <a:latin typeface="Arial" panose="020B0604020202020204" pitchFamily="34" charset="0"/>
                </a:rPr>
                <a:t>a[i]</a:t>
              </a: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 &lt; a[j+1]</a:t>
              </a:r>
              <a:endPara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659" name="Line 14"/>
            <p:cNvSpPr/>
            <p:nvPr/>
          </p:nvSpPr>
          <p:spPr>
            <a:xfrm flipH="1">
              <a:off x="2381" y="2840"/>
              <a:ext cx="0" cy="127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9660" name="Rectangle 15"/>
            <p:cNvSpPr/>
            <p:nvPr/>
          </p:nvSpPr>
          <p:spPr>
            <a:xfrm>
              <a:off x="2381" y="3566"/>
              <a:ext cx="2174" cy="565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把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a[i]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插到</a:t>
              </a:r>
              <a:endPara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a[j]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和 </a:t>
              </a: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a[j+1]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之间</a:t>
              </a:r>
              <a:endParaRPr lang="zh-CN" altLang="en-US" sz="2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9638" name="Group 23"/>
          <p:cNvGrpSpPr/>
          <p:nvPr/>
        </p:nvGrpSpPr>
        <p:grpSpPr>
          <a:xfrm>
            <a:off x="1319213" y="211138"/>
            <a:ext cx="3384550" cy="646112"/>
            <a:chOff x="1383" y="1298"/>
            <a:chExt cx="2132" cy="407"/>
          </a:xfrm>
        </p:grpSpPr>
        <p:sp>
          <p:nvSpPr>
            <p:cNvPr id="69646" name="Text Box 24"/>
            <p:cNvSpPr txBox="1"/>
            <p:nvPr/>
          </p:nvSpPr>
          <p:spPr>
            <a:xfrm>
              <a:off x="1927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9647" name="Text Box 25"/>
            <p:cNvSpPr txBox="1"/>
            <p:nvPr/>
          </p:nvSpPr>
          <p:spPr>
            <a:xfrm>
              <a:off x="1383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69648" name="Text Box 26"/>
            <p:cNvSpPr txBox="1"/>
            <p:nvPr/>
          </p:nvSpPr>
          <p:spPr>
            <a:xfrm>
              <a:off x="2472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69649" name="Text Box 27"/>
            <p:cNvSpPr txBox="1"/>
            <p:nvPr/>
          </p:nvSpPr>
          <p:spPr>
            <a:xfrm>
              <a:off x="3016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sp>
        <p:nvSpPr>
          <p:cNvPr id="69639" name="Line 28"/>
          <p:cNvSpPr/>
          <p:nvPr/>
        </p:nvSpPr>
        <p:spPr>
          <a:xfrm flipV="1">
            <a:off x="3479800" y="931863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69640" name="Text Box 29"/>
          <p:cNvSpPr txBox="1"/>
          <p:nvPr/>
        </p:nvSpPr>
        <p:spPr>
          <a:xfrm>
            <a:off x="3048000" y="1219200"/>
            <a:ext cx="1008063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grpSp>
        <p:nvGrpSpPr>
          <p:cNvPr id="1426462" name="Group 30"/>
          <p:cNvGrpSpPr/>
          <p:nvPr/>
        </p:nvGrpSpPr>
        <p:grpSpPr>
          <a:xfrm>
            <a:off x="1174750" y="930275"/>
            <a:ext cx="1008063" cy="763588"/>
            <a:chOff x="1791" y="573"/>
            <a:chExt cx="635" cy="481"/>
          </a:xfrm>
        </p:grpSpPr>
        <p:sp>
          <p:nvSpPr>
            <p:cNvPr id="69644" name="Line 31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9645" name="Text Box 32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426467" name="Text Box 35"/>
          <p:cNvSpPr txBox="1"/>
          <p:nvPr/>
        </p:nvSpPr>
        <p:spPr>
          <a:xfrm>
            <a:off x="1895475" y="1217613"/>
            <a:ext cx="1368425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j+1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983038" y="1577975"/>
            <a:ext cx="4297362" cy="128905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26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2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6467" grpId="0"/>
      <p:bldP spid="2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543136-AD99-4790-A44C-3437E0D8941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28483" name="Rectangle 3"/>
          <p:cNvSpPr>
            <a:spLocks noGrp="1" noChangeArrowheads="1"/>
          </p:cNvSpPr>
          <p:nvPr>
            <p:ph idx="1"/>
          </p:nvPr>
        </p:nvSpPr>
        <p:spPr>
          <a:xfrm>
            <a:off x="-20637" y="5270500"/>
            <a:ext cx="12166600" cy="20875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3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求精：找位置j，使 a[j] &lt;= a[i] &lt; a[j+1]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只要从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a[i-1]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开始向前，用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]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与序列上的元素逐一进行比较，直到找到满足条件的位置为止（当然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j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不能超过序列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的第一个位置）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1428484" name="Group 4"/>
          <p:cNvGrpSpPr/>
          <p:nvPr/>
        </p:nvGrpSpPr>
        <p:grpSpPr>
          <a:xfrm>
            <a:off x="766763" y="2212975"/>
            <a:ext cx="9218612" cy="2841625"/>
            <a:chOff x="204" y="1888"/>
            <a:chExt cx="5509" cy="1790"/>
          </a:xfrm>
        </p:grpSpPr>
        <p:sp>
          <p:nvSpPr>
            <p:cNvPr id="71723" name="Rectangle 5"/>
            <p:cNvSpPr/>
            <p:nvPr/>
          </p:nvSpPr>
          <p:spPr>
            <a:xfrm>
              <a:off x="476" y="2160"/>
              <a:ext cx="484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开始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71724" name="Oval 6"/>
            <p:cNvSpPr/>
            <p:nvPr/>
          </p:nvSpPr>
          <p:spPr>
            <a:xfrm>
              <a:off x="204" y="2160"/>
              <a:ext cx="952" cy="268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1725" name="Rectangle 7"/>
            <p:cNvSpPr/>
            <p:nvPr/>
          </p:nvSpPr>
          <p:spPr>
            <a:xfrm>
              <a:off x="703" y="2523"/>
              <a:ext cx="136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1726" name="Rectangle 8"/>
            <p:cNvSpPr/>
            <p:nvPr/>
          </p:nvSpPr>
          <p:spPr>
            <a:xfrm>
              <a:off x="839" y="2523"/>
              <a:ext cx="1633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for(i=1;i&lt;n;i++)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71727" name="Line 9"/>
            <p:cNvSpPr/>
            <p:nvPr/>
          </p:nvSpPr>
          <p:spPr>
            <a:xfrm>
              <a:off x="2472" y="2750"/>
              <a:ext cx="13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28" name="Line 10"/>
            <p:cNvSpPr/>
            <p:nvPr/>
          </p:nvSpPr>
          <p:spPr>
            <a:xfrm>
              <a:off x="703" y="2432"/>
              <a:ext cx="0" cy="59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29" name="Oval 11"/>
            <p:cNvSpPr/>
            <p:nvPr/>
          </p:nvSpPr>
          <p:spPr>
            <a:xfrm>
              <a:off x="340" y="3022"/>
              <a:ext cx="816" cy="304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1730" name="Rectangle 12"/>
            <p:cNvSpPr/>
            <p:nvPr/>
          </p:nvSpPr>
          <p:spPr>
            <a:xfrm>
              <a:off x="476" y="3022"/>
              <a:ext cx="515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结束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71731" name="Line 13"/>
            <p:cNvSpPr/>
            <p:nvPr/>
          </p:nvSpPr>
          <p:spPr>
            <a:xfrm>
              <a:off x="2608" y="1888"/>
              <a:ext cx="0" cy="154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32" name="Rectangle 14"/>
            <p:cNvSpPr/>
            <p:nvPr/>
          </p:nvSpPr>
          <p:spPr>
            <a:xfrm>
              <a:off x="2608" y="3113"/>
              <a:ext cx="2174" cy="565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把 </a:t>
              </a:r>
              <a:r>
                <a:rPr lang="en-US" altLang="zh-CN" sz="2800" b="1" dirty="0">
                  <a:ea typeface="黑体" panose="02010609060101010101" pitchFamily="49" charset="-122"/>
                </a:rPr>
                <a:t>a[i] </a:t>
              </a:r>
              <a:r>
                <a:rPr lang="zh-CN" altLang="en-US" sz="2800" b="1" dirty="0">
                  <a:ea typeface="黑体" panose="02010609060101010101" pitchFamily="49" charset="-122"/>
                </a:rPr>
                <a:t>插到</a:t>
              </a:r>
              <a:endParaRPr lang="zh-CN" altLang="en-US" sz="2800" b="1" dirty="0">
                <a:ea typeface="黑体" panose="02010609060101010101" pitchFamily="49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a[j] </a:t>
              </a:r>
              <a:r>
                <a:rPr lang="zh-CN" altLang="en-US" sz="2800" b="1" dirty="0">
                  <a:ea typeface="黑体" panose="02010609060101010101" pitchFamily="49" charset="-122"/>
                </a:rPr>
                <a:t>和 </a:t>
              </a:r>
              <a:r>
                <a:rPr lang="en-US" altLang="zh-CN" sz="2800" b="1" dirty="0">
                  <a:ea typeface="黑体" panose="02010609060101010101" pitchFamily="49" charset="-122"/>
                </a:rPr>
                <a:t>a[j+1] </a:t>
              </a:r>
              <a:r>
                <a:rPr lang="zh-CN" altLang="en-US" sz="2800" b="1" dirty="0">
                  <a:ea typeface="黑体" panose="02010609060101010101" pitchFamily="49" charset="-122"/>
                </a:rPr>
                <a:t>之间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71733" name="Rectangle 17"/>
            <p:cNvSpPr/>
            <p:nvPr/>
          </p:nvSpPr>
          <p:spPr>
            <a:xfrm>
              <a:off x="5102" y="2330"/>
              <a:ext cx="611" cy="31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j--</a:t>
              </a:r>
              <a:endPara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1734" name="Rectangle 18"/>
            <p:cNvSpPr/>
            <p:nvPr/>
          </p:nvSpPr>
          <p:spPr>
            <a:xfrm>
              <a:off x="2608" y="2306"/>
              <a:ext cx="91" cy="330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1735" name="Rectangle 19"/>
            <p:cNvSpPr/>
            <p:nvPr/>
          </p:nvSpPr>
          <p:spPr>
            <a:xfrm>
              <a:off x="2699" y="2306"/>
              <a:ext cx="1860" cy="330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                 a[j]&gt;a[i]</a:t>
              </a:r>
              <a:endParaRPr lang="en-US" altLang="zh-CN" sz="2400" b="1" dirty="0">
                <a:solidFill>
                  <a:schemeClr val="fol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1736" name="Rectangle 20"/>
            <p:cNvSpPr/>
            <p:nvPr/>
          </p:nvSpPr>
          <p:spPr>
            <a:xfrm>
              <a:off x="2608" y="1888"/>
              <a:ext cx="726" cy="31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folHlink"/>
                  </a:solidFill>
                  <a:ea typeface="黑体" panose="02010609060101010101" pitchFamily="49" charset="-122"/>
                </a:rPr>
                <a:t>j=i-1</a:t>
              </a:r>
              <a:endPara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71686" name="Group 22"/>
          <p:cNvGrpSpPr/>
          <p:nvPr/>
        </p:nvGrpSpPr>
        <p:grpSpPr>
          <a:xfrm>
            <a:off x="947738" y="188913"/>
            <a:ext cx="3384550" cy="646112"/>
            <a:chOff x="1383" y="1298"/>
            <a:chExt cx="2132" cy="407"/>
          </a:xfrm>
        </p:grpSpPr>
        <p:sp>
          <p:nvSpPr>
            <p:cNvPr id="71719" name="Text Box 23"/>
            <p:cNvSpPr txBox="1"/>
            <p:nvPr/>
          </p:nvSpPr>
          <p:spPr>
            <a:xfrm>
              <a:off x="1927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1720" name="Text Box 24"/>
            <p:cNvSpPr txBox="1"/>
            <p:nvPr/>
          </p:nvSpPr>
          <p:spPr>
            <a:xfrm>
              <a:off x="1383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1721" name="Text Box 25"/>
            <p:cNvSpPr txBox="1"/>
            <p:nvPr/>
          </p:nvSpPr>
          <p:spPr>
            <a:xfrm>
              <a:off x="2472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71722" name="Text Box 26"/>
            <p:cNvSpPr txBox="1"/>
            <p:nvPr/>
          </p:nvSpPr>
          <p:spPr>
            <a:xfrm>
              <a:off x="3016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sp>
        <p:nvSpPr>
          <p:cNvPr id="71687" name="Line 27"/>
          <p:cNvSpPr/>
          <p:nvPr/>
        </p:nvSpPr>
        <p:spPr>
          <a:xfrm flipV="1">
            <a:off x="3106738" y="909638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71688" name="Text Box 28"/>
          <p:cNvSpPr txBox="1"/>
          <p:nvPr/>
        </p:nvSpPr>
        <p:spPr>
          <a:xfrm>
            <a:off x="2601913" y="1196975"/>
            <a:ext cx="100965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grpSp>
        <p:nvGrpSpPr>
          <p:cNvPr id="1428511" name="Group 31"/>
          <p:cNvGrpSpPr/>
          <p:nvPr/>
        </p:nvGrpSpPr>
        <p:grpSpPr>
          <a:xfrm>
            <a:off x="1595438" y="909638"/>
            <a:ext cx="1006475" cy="763587"/>
            <a:chOff x="1791" y="573"/>
            <a:chExt cx="635" cy="481"/>
          </a:xfrm>
        </p:grpSpPr>
        <p:sp>
          <p:nvSpPr>
            <p:cNvPr id="71717" name="Line 29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18" name="Text Box 30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28512" name="Group 32"/>
          <p:cNvGrpSpPr/>
          <p:nvPr/>
        </p:nvGrpSpPr>
        <p:grpSpPr>
          <a:xfrm>
            <a:off x="801688" y="908050"/>
            <a:ext cx="1009650" cy="763588"/>
            <a:chOff x="1791" y="573"/>
            <a:chExt cx="635" cy="481"/>
          </a:xfrm>
        </p:grpSpPr>
        <p:sp>
          <p:nvSpPr>
            <p:cNvPr id="71715" name="Line 33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16" name="Text Box 34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28516" name="Group 36"/>
          <p:cNvGrpSpPr/>
          <p:nvPr/>
        </p:nvGrpSpPr>
        <p:grpSpPr>
          <a:xfrm>
            <a:off x="6600825" y="188913"/>
            <a:ext cx="3384550" cy="646112"/>
            <a:chOff x="1383" y="1298"/>
            <a:chExt cx="2132" cy="407"/>
          </a:xfrm>
        </p:grpSpPr>
        <p:sp>
          <p:nvSpPr>
            <p:cNvPr id="71711" name="Text Box 37"/>
            <p:cNvSpPr txBox="1"/>
            <p:nvPr/>
          </p:nvSpPr>
          <p:spPr>
            <a:xfrm>
              <a:off x="1927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1712" name="Text Box 38"/>
            <p:cNvSpPr txBox="1"/>
            <p:nvPr/>
          </p:nvSpPr>
          <p:spPr>
            <a:xfrm>
              <a:off x="1383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1713" name="Text Box 39"/>
            <p:cNvSpPr txBox="1"/>
            <p:nvPr/>
          </p:nvSpPr>
          <p:spPr>
            <a:xfrm>
              <a:off x="2472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11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1714" name="Text Box 40"/>
            <p:cNvSpPr txBox="1"/>
            <p:nvPr/>
          </p:nvSpPr>
          <p:spPr>
            <a:xfrm>
              <a:off x="3016" y="1298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</a:t>
              </a:r>
              <a:endParaRPr lang="en-US" altLang="zh-CN" sz="3600" dirty="0"/>
            </a:p>
          </p:txBody>
        </p:sp>
      </p:grpSp>
      <p:grpSp>
        <p:nvGrpSpPr>
          <p:cNvPr id="1428529" name="Group 49"/>
          <p:cNvGrpSpPr/>
          <p:nvPr/>
        </p:nvGrpSpPr>
        <p:grpSpPr>
          <a:xfrm>
            <a:off x="9120188" y="909638"/>
            <a:ext cx="1008062" cy="763587"/>
            <a:chOff x="4785" y="573"/>
            <a:chExt cx="635" cy="481"/>
          </a:xfrm>
        </p:grpSpPr>
        <p:sp>
          <p:nvSpPr>
            <p:cNvPr id="71709" name="Line 41"/>
            <p:cNvSpPr/>
            <p:nvPr/>
          </p:nvSpPr>
          <p:spPr>
            <a:xfrm flipV="1">
              <a:off x="5125" y="573"/>
              <a:ext cx="0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10" name="Text Box 42"/>
            <p:cNvSpPr txBox="1"/>
            <p:nvPr/>
          </p:nvSpPr>
          <p:spPr>
            <a:xfrm>
              <a:off x="4785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i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28523" name="Group 43"/>
          <p:cNvGrpSpPr/>
          <p:nvPr/>
        </p:nvGrpSpPr>
        <p:grpSpPr>
          <a:xfrm>
            <a:off x="8183563" y="908050"/>
            <a:ext cx="1008062" cy="763588"/>
            <a:chOff x="1791" y="573"/>
            <a:chExt cx="635" cy="481"/>
          </a:xfrm>
        </p:grpSpPr>
        <p:sp>
          <p:nvSpPr>
            <p:cNvPr id="71707" name="Line 44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08" name="Text Box 45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28526" name="Group 46"/>
          <p:cNvGrpSpPr/>
          <p:nvPr/>
        </p:nvGrpSpPr>
        <p:grpSpPr>
          <a:xfrm>
            <a:off x="7391400" y="865188"/>
            <a:ext cx="1008063" cy="763587"/>
            <a:chOff x="1791" y="573"/>
            <a:chExt cx="635" cy="481"/>
          </a:xfrm>
        </p:grpSpPr>
        <p:sp>
          <p:nvSpPr>
            <p:cNvPr id="71705" name="Line 47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06" name="Text Box 48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28530" name="Group 50"/>
          <p:cNvGrpSpPr/>
          <p:nvPr/>
        </p:nvGrpSpPr>
        <p:grpSpPr>
          <a:xfrm>
            <a:off x="6527800" y="908050"/>
            <a:ext cx="1008063" cy="763588"/>
            <a:chOff x="1791" y="573"/>
            <a:chExt cx="635" cy="481"/>
          </a:xfrm>
        </p:grpSpPr>
        <p:sp>
          <p:nvSpPr>
            <p:cNvPr id="71703" name="Line 51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04" name="Text Box 52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28533" name="Group 53"/>
          <p:cNvGrpSpPr/>
          <p:nvPr/>
        </p:nvGrpSpPr>
        <p:grpSpPr>
          <a:xfrm>
            <a:off x="5664200" y="908050"/>
            <a:ext cx="1008063" cy="763588"/>
            <a:chOff x="1791" y="573"/>
            <a:chExt cx="635" cy="481"/>
          </a:xfrm>
        </p:grpSpPr>
        <p:sp>
          <p:nvSpPr>
            <p:cNvPr id="71701" name="Line 54"/>
            <p:cNvSpPr/>
            <p:nvPr/>
          </p:nvSpPr>
          <p:spPr>
            <a:xfrm flipV="1">
              <a:off x="2109" y="573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1702" name="Text Box 55"/>
            <p:cNvSpPr txBox="1"/>
            <p:nvPr/>
          </p:nvSpPr>
          <p:spPr>
            <a:xfrm>
              <a:off x="1791" y="754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8053388" y="3178175"/>
            <a:ext cx="901700" cy="0"/>
          </a:xfrm>
          <a:prstGeom prst="line">
            <a:avLst/>
          </a:prstGeom>
          <a:ln w="635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648200" y="2068513"/>
            <a:ext cx="5715000" cy="1592263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对话气泡: 圆角矩形 3"/>
          <p:cNvSpPr/>
          <p:nvPr/>
        </p:nvSpPr>
        <p:spPr>
          <a:xfrm>
            <a:off x="6497638" y="1744663"/>
            <a:ext cx="3332162" cy="823912"/>
          </a:xfrm>
          <a:prstGeom prst="wedgeRoundRectCallout">
            <a:avLst>
              <a:gd name="adj1" fmla="val -62023"/>
              <a:gd name="adj2" fmla="val 93449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&amp;&amp;</a:t>
            </a:r>
            <a:r>
              <a:rPr lang="zh-CN" altLang="en-US" sz="2800" b="1" dirty="0">
                <a:latin typeface="Arial" panose="020B0604020202020204" pitchFamily="34" charset="0"/>
              </a:rPr>
              <a:t>前后的表达式</a:t>
            </a:r>
            <a:endParaRPr lang="zh-CN" altLang="en-US" sz="28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能否交换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675188" y="3952875"/>
            <a:ext cx="3935412" cy="13970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17465" y="2890520"/>
            <a:ext cx="1410335" cy="34417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400" dirty="0">
                <a:solidFill>
                  <a:schemeClr val="folHlink"/>
                </a:solidFill>
                <a:ea typeface="黑体" panose="02010609060101010101" pitchFamily="49" charset="-122"/>
                <a:sym typeface="+mn-ea"/>
              </a:rPr>
              <a:t>j&gt;=0 </a:t>
            </a:r>
            <a:r>
              <a:rPr lang="en-US" altLang="zh-CN" sz="240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&amp;&amp;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428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2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2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2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28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1428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2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1428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2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1428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2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2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6" grpId="0" bldLvl="0" animBg="1"/>
      <p:bldP spid="2" grpId="0" bldLvl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A1658A-8C20-49E5-A813-A9268796966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0531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5300663"/>
            <a:ext cx="8540750" cy="1557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求精：把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]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插到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a[j]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和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a[j+1]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之间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把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a[j+1]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a[j+2]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a[i-1]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顺序向后串，分别送入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100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a[j+2]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a[j+3]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]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然后把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]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送入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a[j+1]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为了向后串，必须先记录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i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]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1430532" name="Group 4"/>
          <p:cNvGrpSpPr/>
          <p:nvPr/>
        </p:nvGrpSpPr>
        <p:grpSpPr>
          <a:xfrm>
            <a:off x="1524000" y="2276475"/>
            <a:ext cx="9677400" cy="2952750"/>
            <a:chOff x="0" y="2205"/>
            <a:chExt cx="6096" cy="1860"/>
          </a:xfrm>
        </p:grpSpPr>
        <p:sp>
          <p:nvSpPr>
            <p:cNvPr id="73773" name="Rectangle 5"/>
            <p:cNvSpPr/>
            <p:nvPr/>
          </p:nvSpPr>
          <p:spPr>
            <a:xfrm>
              <a:off x="272" y="2477"/>
              <a:ext cx="484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开始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73774" name="Oval 6"/>
            <p:cNvSpPr/>
            <p:nvPr/>
          </p:nvSpPr>
          <p:spPr>
            <a:xfrm>
              <a:off x="0" y="2477"/>
              <a:ext cx="952" cy="268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3775" name="Rectangle 7"/>
            <p:cNvSpPr/>
            <p:nvPr/>
          </p:nvSpPr>
          <p:spPr>
            <a:xfrm>
              <a:off x="499" y="2840"/>
              <a:ext cx="136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3776" name="Rectangle 8"/>
            <p:cNvSpPr/>
            <p:nvPr/>
          </p:nvSpPr>
          <p:spPr>
            <a:xfrm>
              <a:off x="635" y="2840"/>
              <a:ext cx="1633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for(i=1;i&lt;n;i++)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73777" name="Line 9"/>
            <p:cNvSpPr/>
            <p:nvPr/>
          </p:nvSpPr>
          <p:spPr>
            <a:xfrm>
              <a:off x="2268" y="3067"/>
              <a:ext cx="6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3778" name="Line 10"/>
            <p:cNvSpPr/>
            <p:nvPr/>
          </p:nvSpPr>
          <p:spPr>
            <a:xfrm>
              <a:off x="499" y="2749"/>
              <a:ext cx="0" cy="59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3779" name="Oval 11"/>
            <p:cNvSpPr/>
            <p:nvPr/>
          </p:nvSpPr>
          <p:spPr>
            <a:xfrm>
              <a:off x="136" y="3339"/>
              <a:ext cx="816" cy="304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3780" name="Rectangle 12"/>
            <p:cNvSpPr/>
            <p:nvPr/>
          </p:nvSpPr>
          <p:spPr>
            <a:xfrm>
              <a:off x="272" y="3339"/>
              <a:ext cx="515" cy="250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结束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73781" name="Line 13"/>
            <p:cNvSpPr/>
            <p:nvPr/>
          </p:nvSpPr>
          <p:spPr>
            <a:xfrm>
              <a:off x="2336" y="2205"/>
              <a:ext cx="0" cy="186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3782" name="Group 14"/>
            <p:cNvGrpSpPr/>
            <p:nvPr/>
          </p:nvGrpSpPr>
          <p:grpSpPr>
            <a:xfrm>
              <a:off x="4286" y="2568"/>
              <a:ext cx="680" cy="317"/>
              <a:chOff x="3542" y="1585"/>
              <a:chExt cx="440" cy="429"/>
            </a:xfrm>
          </p:grpSpPr>
          <p:sp>
            <p:nvSpPr>
              <p:cNvPr id="73792" name="Line 15"/>
              <p:cNvSpPr/>
              <p:nvPr/>
            </p:nvSpPr>
            <p:spPr>
              <a:xfrm>
                <a:off x="3542" y="1800"/>
                <a:ext cx="47" cy="1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3793" name="Rectangle 16"/>
              <p:cNvSpPr/>
              <p:nvPr/>
            </p:nvSpPr>
            <p:spPr>
              <a:xfrm>
                <a:off x="3585" y="1585"/>
                <a:ext cx="397" cy="429"/>
              </a:xfrm>
              <a:prstGeom prst="rect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Arial" panose="020B0604020202020204" pitchFamily="34" charset="0"/>
                  </a:rPr>
                  <a:t>j=j-1</a:t>
                </a:r>
                <a:endParaRPr lang="en-US" altLang="zh-CN" sz="28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3783" name="Rectangle 17"/>
            <p:cNvSpPr/>
            <p:nvPr/>
          </p:nvSpPr>
          <p:spPr>
            <a:xfrm>
              <a:off x="2336" y="2568"/>
              <a:ext cx="91" cy="294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3784" name="Rectangle 18"/>
            <p:cNvSpPr/>
            <p:nvPr/>
          </p:nvSpPr>
          <p:spPr>
            <a:xfrm>
              <a:off x="2426" y="2568"/>
              <a:ext cx="1860" cy="294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j&gt;=0 </a:t>
              </a:r>
              <a:r>
                <a:rPr lang="en-US" altLang="zh-CN" sz="28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&amp;&amp;</a:t>
              </a:r>
              <a:r>
                <a:rPr lang="en-US" altLang="zh-CN" sz="28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2800" b="1" dirty="0">
                  <a:latin typeface="Arial" panose="020B0604020202020204" pitchFamily="34" charset="0"/>
                </a:rPr>
                <a:t>a[j]&gt;a[i] 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73785" name="Rectangle 19"/>
            <p:cNvSpPr/>
            <p:nvPr/>
          </p:nvSpPr>
          <p:spPr>
            <a:xfrm>
              <a:off x="2336" y="2205"/>
              <a:ext cx="726" cy="31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j=i-1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73786" name="Rectangle 20"/>
            <p:cNvSpPr/>
            <p:nvPr/>
          </p:nvSpPr>
          <p:spPr>
            <a:xfrm>
              <a:off x="2336" y="3294"/>
              <a:ext cx="90" cy="31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3787" name="Rectangle 21"/>
            <p:cNvSpPr/>
            <p:nvPr/>
          </p:nvSpPr>
          <p:spPr>
            <a:xfrm>
              <a:off x="2426" y="3294"/>
              <a:ext cx="2132" cy="31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for(k=i-1;k&gt;j;k--)</a:t>
              </a:r>
              <a:endPara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788" name="Line 22"/>
            <p:cNvSpPr/>
            <p:nvPr/>
          </p:nvSpPr>
          <p:spPr>
            <a:xfrm>
              <a:off x="4558" y="3430"/>
              <a:ext cx="91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3789" name="Rectangle 23"/>
            <p:cNvSpPr/>
            <p:nvPr/>
          </p:nvSpPr>
          <p:spPr>
            <a:xfrm>
              <a:off x="4649" y="3294"/>
              <a:ext cx="1447" cy="31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a[k+1] = a[k]</a:t>
              </a:r>
              <a:endParaRPr lang="en-US" altLang="zh-CN" sz="28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790" name="Rectangle 24"/>
            <p:cNvSpPr/>
            <p:nvPr/>
          </p:nvSpPr>
          <p:spPr>
            <a:xfrm>
              <a:off x="2336" y="2931"/>
              <a:ext cx="908" cy="31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r=a[i]</a:t>
              </a:r>
              <a:endPara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791" name="Rectangle 25"/>
            <p:cNvSpPr/>
            <p:nvPr/>
          </p:nvSpPr>
          <p:spPr>
            <a:xfrm>
              <a:off x="2336" y="3702"/>
              <a:ext cx="1224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a[j+1]=r</a:t>
              </a:r>
              <a:endPara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3734" name="Line 32"/>
          <p:cNvSpPr/>
          <p:nvPr/>
        </p:nvSpPr>
        <p:spPr>
          <a:xfrm flipV="1">
            <a:off x="6816725" y="692150"/>
            <a:ext cx="0" cy="6477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grpSp>
        <p:nvGrpSpPr>
          <p:cNvPr id="73735" name="Group 38"/>
          <p:cNvGrpSpPr/>
          <p:nvPr/>
        </p:nvGrpSpPr>
        <p:grpSpPr>
          <a:xfrm>
            <a:off x="2208213" y="0"/>
            <a:ext cx="6767512" cy="646113"/>
            <a:chOff x="431" y="0"/>
            <a:chExt cx="4263" cy="407"/>
          </a:xfrm>
        </p:grpSpPr>
        <p:sp>
          <p:nvSpPr>
            <p:cNvPr id="73765" name="Text Box 28"/>
            <p:cNvSpPr txBox="1"/>
            <p:nvPr/>
          </p:nvSpPr>
          <p:spPr>
            <a:xfrm>
              <a:off x="975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11</a:t>
              </a:r>
              <a:endParaRPr lang="en-US" altLang="zh-CN" sz="36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3766" name="Text Box 29"/>
            <p:cNvSpPr txBox="1"/>
            <p:nvPr/>
          </p:nvSpPr>
          <p:spPr>
            <a:xfrm>
              <a:off x="431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67" name="Text Box 30"/>
            <p:cNvSpPr txBox="1"/>
            <p:nvPr/>
          </p:nvSpPr>
          <p:spPr>
            <a:xfrm>
              <a:off x="1519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68" name="Text Box 31"/>
            <p:cNvSpPr txBox="1"/>
            <p:nvPr/>
          </p:nvSpPr>
          <p:spPr>
            <a:xfrm>
              <a:off x="2064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17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69" name="Text Box 34"/>
            <p:cNvSpPr txBox="1"/>
            <p:nvPr/>
          </p:nvSpPr>
          <p:spPr>
            <a:xfrm>
              <a:off x="3106" y="0"/>
              <a:ext cx="499" cy="406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12</a:t>
              </a:r>
              <a:endParaRPr lang="en-US" altLang="zh-CN" sz="36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3770" name="Text Box 35"/>
            <p:cNvSpPr txBox="1"/>
            <p:nvPr/>
          </p:nvSpPr>
          <p:spPr>
            <a:xfrm>
              <a:off x="2562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71" name="Text Box 36"/>
            <p:cNvSpPr txBox="1"/>
            <p:nvPr/>
          </p:nvSpPr>
          <p:spPr>
            <a:xfrm>
              <a:off x="3651" y="0"/>
              <a:ext cx="499" cy="406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10</a:t>
              </a:r>
              <a:endParaRPr lang="en-US" altLang="zh-CN" sz="3600" dirty="0"/>
            </a:p>
          </p:txBody>
        </p:sp>
        <p:sp>
          <p:nvSpPr>
            <p:cNvPr id="73772" name="Text Box 37"/>
            <p:cNvSpPr txBox="1"/>
            <p:nvPr/>
          </p:nvSpPr>
          <p:spPr>
            <a:xfrm>
              <a:off x="4195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7</a:t>
              </a:r>
              <a:endParaRPr lang="en-US" altLang="zh-CN" sz="3600" dirty="0"/>
            </a:p>
          </p:txBody>
        </p:sp>
      </p:grpSp>
      <p:sp>
        <p:nvSpPr>
          <p:cNvPr id="73736" name="Text Box 39"/>
          <p:cNvSpPr txBox="1"/>
          <p:nvPr/>
        </p:nvSpPr>
        <p:spPr>
          <a:xfrm>
            <a:off x="6383338" y="936625"/>
            <a:ext cx="1008062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i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73737" name="Line 40"/>
          <p:cNvSpPr/>
          <p:nvPr/>
        </p:nvSpPr>
        <p:spPr>
          <a:xfrm flipV="1">
            <a:off x="3433763" y="736600"/>
            <a:ext cx="0" cy="647700"/>
          </a:xfrm>
          <a:prstGeom prst="line">
            <a:avLst/>
          </a:prstGeom>
          <a:ln w="381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73738" name="Text Box 41"/>
          <p:cNvSpPr txBox="1"/>
          <p:nvPr/>
        </p:nvSpPr>
        <p:spPr>
          <a:xfrm>
            <a:off x="3000375" y="981075"/>
            <a:ext cx="1008063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en-US" altLang="zh-CN" sz="2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j</a:t>
            </a:r>
            <a:endParaRPr lang="en-US" altLang="zh-CN" sz="2800" b="1" dirty="0">
              <a:solidFill>
                <a:schemeClr val="accent6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1430581" name="Group 53"/>
          <p:cNvGrpSpPr/>
          <p:nvPr/>
        </p:nvGrpSpPr>
        <p:grpSpPr>
          <a:xfrm>
            <a:off x="5591175" y="736600"/>
            <a:ext cx="1008063" cy="720725"/>
            <a:chOff x="2562" y="464"/>
            <a:chExt cx="635" cy="454"/>
          </a:xfrm>
        </p:grpSpPr>
        <p:sp>
          <p:nvSpPr>
            <p:cNvPr id="73763" name="Line 42"/>
            <p:cNvSpPr/>
            <p:nvPr/>
          </p:nvSpPr>
          <p:spPr>
            <a:xfrm flipV="1">
              <a:off x="2835" y="464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3764" name="Text Box 43"/>
            <p:cNvSpPr txBox="1"/>
            <p:nvPr/>
          </p:nvSpPr>
          <p:spPr>
            <a:xfrm>
              <a:off x="2562" y="61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k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30572" name="Group 44"/>
          <p:cNvGrpSpPr/>
          <p:nvPr/>
        </p:nvGrpSpPr>
        <p:grpSpPr>
          <a:xfrm>
            <a:off x="2135188" y="1435100"/>
            <a:ext cx="6767512" cy="646113"/>
            <a:chOff x="431" y="0"/>
            <a:chExt cx="4263" cy="407"/>
          </a:xfrm>
        </p:grpSpPr>
        <p:sp>
          <p:nvSpPr>
            <p:cNvPr id="73755" name="Text Box 45"/>
            <p:cNvSpPr txBox="1"/>
            <p:nvPr/>
          </p:nvSpPr>
          <p:spPr>
            <a:xfrm>
              <a:off x="975" y="0"/>
              <a:ext cx="499" cy="406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11</a:t>
              </a:r>
              <a:endParaRPr lang="en-US" altLang="zh-CN" sz="36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3756" name="Text Box 46"/>
            <p:cNvSpPr txBox="1"/>
            <p:nvPr/>
          </p:nvSpPr>
          <p:spPr>
            <a:xfrm>
              <a:off x="431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57" name="Text Box 47"/>
            <p:cNvSpPr txBox="1"/>
            <p:nvPr/>
          </p:nvSpPr>
          <p:spPr>
            <a:xfrm>
              <a:off x="1519" y="0"/>
              <a:ext cx="499" cy="406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12</a:t>
              </a:r>
              <a:endParaRPr lang="en-US" altLang="zh-CN" sz="36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3758" name="Text Box 48"/>
            <p:cNvSpPr txBox="1"/>
            <p:nvPr/>
          </p:nvSpPr>
          <p:spPr>
            <a:xfrm>
              <a:off x="2064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59" name="Text Box 49"/>
            <p:cNvSpPr txBox="1"/>
            <p:nvPr/>
          </p:nvSpPr>
          <p:spPr>
            <a:xfrm>
              <a:off x="3106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60" name="Text Box 50"/>
            <p:cNvSpPr txBox="1"/>
            <p:nvPr/>
          </p:nvSpPr>
          <p:spPr>
            <a:xfrm>
              <a:off x="2562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17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3761" name="Text Box 51"/>
            <p:cNvSpPr txBox="1"/>
            <p:nvPr/>
          </p:nvSpPr>
          <p:spPr>
            <a:xfrm>
              <a:off x="3651" y="0"/>
              <a:ext cx="499" cy="406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10</a:t>
              </a:r>
              <a:endParaRPr lang="en-US" altLang="zh-CN" sz="3600" dirty="0"/>
            </a:p>
          </p:txBody>
        </p:sp>
        <p:sp>
          <p:nvSpPr>
            <p:cNvPr id="73762" name="Text Box 52"/>
            <p:cNvSpPr txBox="1"/>
            <p:nvPr/>
          </p:nvSpPr>
          <p:spPr>
            <a:xfrm>
              <a:off x="4195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7</a:t>
              </a:r>
              <a:endParaRPr lang="en-US" altLang="zh-CN" sz="3600" dirty="0"/>
            </a:p>
          </p:txBody>
        </p:sp>
      </p:grpSp>
      <p:grpSp>
        <p:nvGrpSpPr>
          <p:cNvPr id="1430582" name="Group 54"/>
          <p:cNvGrpSpPr/>
          <p:nvPr/>
        </p:nvGrpSpPr>
        <p:grpSpPr>
          <a:xfrm>
            <a:off x="4800600" y="692150"/>
            <a:ext cx="1008063" cy="720725"/>
            <a:chOff x="2562" y="464"/>
            <a:chExt cx="635" cy="454"/>
          </a:xfrm>
        </p:grpSpPr>
        <p:sp>
          <p:nvSpPr>
            <p:cNvPr id="73753" name="Line 55"/>
            <p:cNvSpPr/>
            <p:nvPr/>
          </p:nvSpPr>
          <p:spPr>
            <a:xfrm flipV="1">
              <a:off x="2835" y="464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3754" name="Text Box 56"/>
            <p:cNvSpPr txBox="1"/>
            <p:nvPr/>
          </p:nvSpPr>
          <p:spPr>
            <a:xfrm>
              <a:off x="2562" y="61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k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430585" name="Group 57"/>
          <p:cNvGrpSpPr/>
          <p:nvPr/>
        </p:nvGrpSpPr>
        <p:grpSpPr>
          <a:xfrm>
            <a:off x="3863975" y="692150"/>
            <a:ext cx="1008063" cy="720725"/>
            <a:chOff x="2562" y="464"/>
            <a:chExt cx="635" cy="454"/>
          </a:xfrm>
        </p:grpSpPr>
        <p:sp>
          <p:nvSpPr>
            <p:cNvPr id="73751" name="Line 58"/>
            <p:cNvSpPr/>
            <p:nvPr/>
          </p:nvSpPr>
          <p:spPr>
            <a:xfrm flipV="1">
              <a:off x="2835" y="464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3752" name="Text Box 59"/>
            <p:cNvSpPr txBox="1"/>
            <p:nvPr/>
          </p:nvSpPr>
          <p:spPr>
            <a:xfrm>
              <a:off x="2562" y="61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k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092950" y="665163"/>
            <a:ext cx="1665288" cy="619125"/>
            <a:chOff x="5568551" y="664644"/>
            <a:chExt cx="1665686" cy="620188"/>
          </a:xfrm>
        </p:grpSpPr>
        <p:sp>
          <p:nvSpPr>
            <p:cNvPr id="73749" name="文本框 3"/>
            <p:cNvSpPr txBox="1"/>
            <p:nvPr/>
          </p:nvSpPr>
          <p:spPr>
            <a:xfrm>
              <a:off x="5650061" y="884722"/>
              <a:ext cx="1584176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r=a[i];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cxnSp>
          <p:nvCxnSpPr>
            <p:cNvPr id="73750" name="直接箭头连接符 5"/>
            <p:cNvCxnSpPr/>
            <p:nvPr/>
          </p:nvCxnSpPr>
          <p:spPr>
            <a:xfrm flipH="1" flipV="1">
              <a:off x="5568551" y="664644"/>
              <a:ext cx="511721" cy="316431"/>
            </a:xfrm>
            <a:prstGeom prst="straightConnector1">
              <a:avLst/>
            </a:prstGeom>
            <a:ln w="3175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stealth" w="med" len="med"/>
              <a:tailEnd type="none" w="med" len="med"/>
            </a:ln>
          </p:spPr>
        </p:cxnSp>
      </p:grpSp>
      <p:sp>
        <p:nvSpPr>
          <p:cNvPr id="14" name="箭头: 下弧形 13"/>
          <p:cNvSpPr/>
          <p:nvPr/>
        </p:nvSpPr>
        <p:spPr>
          <a:xfrm>
            <a:off x="6173788" y="529274"/>
            <a:ext cx="581025" cy="398779"/>
          </a:xfrm>
          <a:prstGeom prst="curvedUpArrow">
            <a:avLst>
              <a:gd name="adj1" fmla="val 25020"/>
              <a:gd name="adj2" fmla="val 51659"/>
              <a:gd name="adj3" fmla="val 25000"/>
            </a:avLst>
          </a:prstGeom>
          <a:solidFill>
            <a:schemeClr val="accent6">
              <a:lumMod val="60000"/>
              <a:lumOff val="40000"/>
            </a:schemeClr>
          </a:solidFill>
          <a:ln w="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l" eaLnBrk="1" hangingPunct="1"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2" name="箭头: 下弧形 71"/>
          <p:cNvSpPr/>
          <p:nvPr/>
        </p:nvSpPr>
        <p:spPr>
          <a:xfrm>
            <a:off x="5334000" y="554674"/>
            <a:ext cx="581025" cy="398779"/>
          </a:xfrm>
          <a:prstGeom prst="curvedUpArrow">
            <a:avLst>
              <a:gd name="adj1" fmla="val 25020"/>
              <a:gd name="adj2" fmla="val 51659"/>
              <a:gd name="adj3" fmla="val 25000"/>
            </a:avLst>
          </a:prstGeom>
          <a:solidFill>
            <a:schemeClr val="accent6">
              <a:lumMod val="60000"/>
              <a:lumOff val="40000"/>
            </a:schemeClr>
          </a:solidFill>
          <a:ln w="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l" eaLnBrk="1" hangingPunct="1"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3" name="箭头: 下弧形 72"/>
          <p:cNvSpPr/>
          <p:nvPr/>
        </p:nvSpPr>
        <p:spPr>
          <a:xfrm>
            <a:off x="4518025" y="528638"/>
            <a:ext cx="581025" cy="400050"/>
          </a:xfrm>
          <a:prstGeom prst="curvedUpArrow">
            <a:avLst>
              <a:gd name="adj1" fmla="val 25020"/>
              <a:gd name="adj2" fmla="val 51659"/>
              <a:gd name="adj3" fmla="val 25000"/>
            </a:avLst>
          </a:prstGeom>
          <a:solidFill>
            <a:schemeClr val="accent6">
              <a:lumMod val="60000"/>
              <a:lumOff val="40000"/>
            </a:schemeClr>
          </a:solidFill>
          <a:ln w="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518025" y="404813"/>
            <a:ext cx="3017838" cy="720725"/>
          </a:xfrm>
          <a:prstGeom prst="straightConnector1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stealth" w="med" len="med"/>
            <a:tailEnd type="none" w="med" len="med"/>
          </a:ln>
        </p:spPr>
      </p:cxn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5124450" y="3390900"/>
            <a:ext cx="6457950" cy="1979613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430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430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3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3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72" grpId="0" bldLvl="0" animBg="1"/>
      <p:bldP spid="73" grpId="0" bldLvl="0" animBg="1"/>
      <p:bldP spid="6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2208213" y="1384300"/>
            <a:ext cx="7723188" cy="550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sort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n,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a[ ]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) 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i,j,k,r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for ( i=1 ; i&lt;n ; i++ ) {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序列递增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找到位置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j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j = i-1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while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j&gt;=0 &amp;&amp;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a[j]&gt;a[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	        j--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a[i]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插入到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a[j]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后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r=a[i];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	for ( k=i-1 ; k&gt;j ; k-- 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	       a[k+1] = a[k]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a[j+1]=r;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	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6C3633-A8E6-4EB2-B3CA-5FBFA513B59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782" name="Group 38"/>
          <p:cNvGrpSpPr/>
          <p:nvPr/>
        </p:nvGrpSpPr>
        <p:grpSpPr>
          <a:xfrm>
            <a:off x="2208213" y="0"/>
            <a:ext cx="6767512" cy="646113"/>
            <a:chOff x="431" y="0"/>
            <a:chExt cx="4263" cy="407"/>
          </a:xfrm>
        </p:grpSpPr>
        <p:sp>
          <p:nvSpPr>
            <p:cNvPr id="75793" name="Text Box 28"/>
            <p:cNvSpPr txBox="1"/>
            <p:nvPr/>
          </p:nvSpPr>
          <p:spPr>
            <a:xfrm>
              <a:off x="975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11</a:t>
              </a:r>
              <a:endParaRPr lang="en-US" altLang="zh-CN" sz="3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5794" name="Text Box 29"/>
            <p:cNvSpPr txBox="1"/>
            <p:nvPr/>
          </p:nvSpPr>
          <p:spPr>
            <a:xfrm>
              <a:off x="431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5795" name="Text Box 30"/>
            <p:cNvSpPr txBox="1"/>
            <p:nvPr/>
          </p:nvSpPr>
          <p:spPr>
            <a:xfrm>
              <a:off x="1519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5796" name="Text Box 31"/>
            <p:cNvSpPr txBox="1"/>
            <p:nvPr/>
          </p:nvSpPr>
          <p:spPr>
            <a:xfrm>
              <a:off x="2064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17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5797" name="Text Box 34"/>
            <p:cNvSpPr txBox="1"/>
            <p:nvPr/>
          </p:nvSpPr>
          <p:spPr>
            <a:xfrm>
              <a:off x="3106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12</a:t>
              </a:r>
              <a:endParaRPr lang="en-US" altLang="zh-CN" sz="3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5798" name="Text Box 35"/>
            <p:cNvSpPr txBox="1"/>
            <p:nvPr/>
          </p:nvSpPr>
          <p:spPr>
            <a:xfrm>
              <a:off x="2562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75799" name="Text Box 36"/>
            <p:cNvSpPr txBox="1"/>
            <p:nvPr/>
          </p:nvSpPr>
          <p:spPr>
            <a:xfrm>
              <a:off x="3651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13</a:t>
              </a:r>
              <a:endParaRPr lang="en-US" altLang="zh-CN" sz="3600" dirty="0"/>
            </a:p>
          </p:txBody>
        </p:sp>
        <p:sp>
          <p:nvSpPr>
            <p:cNvPr id="75800" name="Text Box 37"/>
            <p:cNvSpPr txBox="1"/>
            <p:nvPr/>
          </p:nvSpPr>
          <p:spPr>
            <a:xfrm>
              <a:off x="4195" y="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7</a:t>
              </a:r>
              <a:endParaRPr lang="en-US" altLang="zh-CN" sz="3600" dirty="0"/>
            </a:p>
          </p:txBody>
        </p:sp>
      </p:grpSp>
      <p:grpSp>
        <p:nvGrpSpPr>
          <p:cNvPr id="75783" name="组合 1"/>
          <p:cNvGrpSpPr/>
          <p:nvPr/>
        </p:nvGrpSpPr>
        <p:grpSpPr>
          <a:xfrm>
            <a:off x="3000375" y="692150"/>
            <a:ext cx="4391025" cy="765175"/>
            <a:chOff x="1476375" y="692150"/>
            <a:chExt cx="4391025" cy="765175"/>
          </a:xfrm>
        </p:grpSpPr>
        <p:sp>
          <p:nvSpPr>
            <p:cNvPr id="75786" name="Line 32"/>
            <p:cNvSpPr/>
            <p:nvPr/>
          </p:nvSpPr>
          <p:spPr>
            <a:xfrm flipV="1">
              <a:off x="5292725" y="692150"/>
              <a:ext cx="0" cy="6477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5787" name="Text Box 39"/>
            <p:cNvSpPr txBox="1"/>
            <p:nvPr/>
          </p:nvSpPr>
          <p:spPr>
            <a:xfrm>
              <a:off x="4859338" y="936625"/>
              <a:ext cx="1008062" cy="476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i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75788" name="Line 40"/>
            <p:cNvSpPr/>
            <p:nvPr/>
          </p:nvSpPr>
          <p:spPr>
            <a:xfrm flipV="1">
              <a:off x="1909763" y="736600"/>
              <a:ext cx="0" cy="64770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75789" name="Text Box 41"/>
            <p:cNvSpPr txBox="1"/>
            <p:nvPr/>
          </p:nvSpPr>
          <p:spPr>
            <a:xfrm>
              <a:off x="1476375" y="981075"/>
              <a:ext cx="1008063" cy="476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75790" name="Group 53"/>
            <p:cNvGrpSpPr/>
            <p:nvPr/>
          </p:nvGrpSpPr>
          <p:grpSpPr>
            <a:xfrm>
              <a:off x="4067175" y="736600"/>
              <a:ext cx="1008063" cy="720725"/>
              <a:chOff x="2562" y="464"/>
              <a:chExt cx="635" cy="454"/>
            </a:xfrm>
          </p:grpSpPr>
          <p:sp>
            <p:nvSpPr>
              <p:cNvPr id="75791" name="Line 42"/>
              <p:cNvSpPr/>
              <p:nvPr/>
            </p:nvSpPr>
            <p:spPr>
              <a:xfrm flipV="1">
                <a:off x="2835" y="464"/>
                <a:ext cx="0" cy="408"/>
              </a:xfrm>
              <a:prstGeom prst="line">
                <a:avLst/>
              </a:prstGeom>
              <a:ln w="38100" cap="flat" cmpd="sng">
                <a:solidFill>
                  <a:schemeClr val="hlink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75792" name="Text Box 43"/>
              <p:cNvSpPr txBox="1"/>
              <p:nvPr/>
            </p:nvSpPr>
            <p:spPr>
              <a:xfrm>
                <a:off x="2562" y="618"/>
                <a:ext cx="63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742950" lvl="0" indent="-285750" eaLnBrk="1" hangingPunct="1">
                  <a:lnSpc>
                    <a:spcPct val="90000"/>
                  </a:lnSpc>
                  <a:spcBef>
                    <a:spcPct val="50000"/>
                  </a:spcBef>
                  <a:buClr>
                    <a:schemeClr val="tx1"/>
                  </a:buClr>
                  <a:buSzTx/>
                  <a:buNone/>
                </a:pPr>
                <a:r>
                  <a:rPr lang="en-US" altLang="zh-CN" sz="2800" b="1" dirty="0">
                    <a:solidFill>
                      <a:schemeClr val="hlink"/>
                    </a:solidFill>
                    <a:latin typeface="Arial" panose="020B0604020202020204" pitchFamily="34" charset="0"/>
                  </a:rPr>
                  <a:t>k</a:t>
                </a:r>
                <a:endPara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5784" name="矩形 1"/>
          <p:cNvSpPr>
            <a:spLocks noChangeArrowheads="1"/>
          </p:cNvSpPr>
          <p:nvPr/>
        </p:nvSpPr>
        <p:spPr bwMode="auto">
          <a:xfrm>
            <a:off x="4032250" y="2857500"/>
            <a:ext cx="4943475" cy="1333500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5785" name="矩形 25"/>
          <p:cNvSpPr>
            <a:spLocks noChangeArrowheads="1"/>
          </p:cNvSpPr>
          <p:nvPr/>
        </p:nvSpPr>
        <p:spPr bwMode="auto">
          <a:xfrm>
            <a:off x="3986213" y="4633913"/>
            <a:ext cx="4989513" cy="1614488"/>
          </a:xfrm>
          <a:prstGeom prst="rect">
            <a:avLst/>
          </a:prstGeom>
          <a:noFill/>
          <a:ln w="38100" cap="flat" cmpd="sng">
            <a:solidFill>
              <a:srgbClr val="FFC000"/>
            </a:solidFill>
            <a:prstDash val="sysDash"/>
            <a:miter/>
            <a:headEnd type="none" w="med" len="med"/>
            <a:tailEnd type="none" w="med" len="med"/>
          </a:ln>
        </p:spPr>
        <p:txBody>
          <a:bodyPr lIns="0" rIns="0"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ctr" eaLnBrk="1" hangingPunct="1"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104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11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14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208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218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246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charRg st="281" end="3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395C0F-0EB6-4321-B22E-1FC62CADC9B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627" name="Rectangle 3"/>
          <p:cNvSpPr>
            <a:spLocks noGrp="1" noChangeArrowheads="1"/>
          </p:cNvSpPr>
          <p:nvPr>
            <p:ph type="title"/>
          </p:nvPr>
        </p:nvSpPr>
        <p:spPr>
          <a:xfrm>
            <a:off x="1774825" y="1196975"/>
            <a:ext cx="8229600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6.4.2  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检索</a:t>
            </a: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(index)</a:t>
            </a:r>
            <a:endParaRPr kumimoji="0" lang="en-US" altLang="zh-CN" sz="40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34628" name="Rectangle 4"/>
          <p:cNvSpPr>
            <a:spLocks noGrp="1" noChangeArrowheads="1"/>
          </p:cNvSpPr>
          <p:nvPr>
            <p:ph idx="1"/>
          </p:nvPr>
        </p:nvSpPr>
        <p:spPr>
          <a:xfrm>
            <a:off x="3432175" y="2708275"/>
            <a:ext cx="3059113" cy="17287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" action="ppaction://noaction"/>
              </a:rPr>
              <a:t>顺序检索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" action="ppaction://noaction"/>
              </a:rPr>
              <a:t>对半检索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448800" y="6403975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23DEB7-D72A-4BCC-8E92-EE26236321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6512"/>
            <a:ext cx="1882775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顺序检索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579011" name="Rectangle 3"/>
          <p:cNvSpPr>
            <a:spLocks noGrp="1" noChangeArrowheads="1"/>
          </p:cNvSpPr>
          <p:nvPr>
            <p:ph idx="1"/>
          </p:nvPr>
        </p:nvSpPr>
        <p:spPr>
          <a:xfrm>
            <a:off x="0" y="476250"/>
            <a:ext cx="12192000" cy="12242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6.8】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输入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10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名学生的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程设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课程成绩，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    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在其中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查找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指定成绩，并输出查找结果。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01813" y="1504950"/>
            <a:ext cx="7318375" cy="255428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10 marks: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40 30 49 99 56 78 87 89 13 34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the keyword: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Find 34  at a[9]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00225" y="4149725"/>
            <a:ext cx="7319963" cy="255333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10 marks 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40 30 49 99 56 78 87 89 13 34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the keyword: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100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noProof="0" dirty="0">
                <a:ln>
                  <a:noFill/>
                </a:ln>
                <a:effectLst/>
                <a:uLnTx/>
                <a:uFillTx/>
                <a:sym typeface="+mn-ea"/>
              </a:rPr>
              <a:t>100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ot found 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3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9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2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5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8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8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F3AC11-F7DC-452F-AC41-1889F3DB924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667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4660900"/>
            <a:ext cx="11676063" cy="2020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顺序检索思想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设要查找的成绩为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，也称其为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检索关键字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顺次用欲检索的关键字值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与数组Ａ中元素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a[0]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a[1]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a[n-1]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逐一进行比较。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找到一个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使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key==a[j]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：位置为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，函数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search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带着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返回；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直到结束，没有使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key==a[j]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的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存在：未找到，函数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search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带回值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-1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3972" name="Text Box 9"/>
          <p:cNvSpPr txBox="1"/>
          <p:nvPr/>
        </p:nvSpPr>
        <p:spPr>
          <a:xfrm>
            <a:off x="2998788" y="1435100"/>
            <a:ext cx="792162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90</a:t>
            </a:r>
            <a:endParaRPr lang="en-US" altLang="zh-CN" sz="3600" dirty="0"/>
          </a:p>
        </p:txBody>
      </p:sp>
      <p:sp>
        <p:nvSpPr>
          <p:cNvPr id="83973" name="Text Box 10"/>
          <p:cNvSpPr txBox="1"/>
          <p:nvPr/>
        </p:nvSpPr>
        <p:spPr>
          <a:xfrm>
            <a:off x="2135188" y="1435100"/>
            <a:ext cx="792162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80</a:t>
            </a:r>
            <a:endParaRPr lang="en-US" altLang="zh-CN" sz="3600" dirty="0"/>
          </a:p>
        </p:txBody>
      </p:sp>
      <p:sp>
        <p:nvSpPr>
          <p:cNvPr id="83974" name="Text Box 11"/>
          <p:cNvSpPr txBox="1"/>
          <p:nvPr/>
        </p:nvSpPr>
        <p:spPr>
          <a:xfrm>
            <a:off x="3862388" y="1435100"/>
            <a:ext cx="792162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98</a:t>
            </a:r>
            <a:endParaRPr lang="en-US" altLang="zh-CN" sz="3600" dirty="0"/>
          </a:p>
        </p:txBody>
      </p:sp>
      <p:sp>
        <p:nvSpPr>
          <p:cNvPr id="83975" name="Text Box 12"/>
          <p:cNvSpPr txBox="1"/>
          <p:nvPr/>
        </p:nvSpPr>
        <p:spPr>
          <a:xfrm>
            <a:off x="4727575" y="1435100"/>
            <a:ext cx="792163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…</a:t>
            </a:r>
            <a:endParaRPr lang="en-US" altLang="zh-CN" sz="3600" dirty="0"/>
          </a:p>
        </p:txBody>
      </p:sp>
      <p:sp>
        <p:nvSpPr>
          <p:cNvPr id="83976" name="Text Box 13"/>
          <p:cNvSpPr txBox="1"/>
          <p:nvPr/>
        </p:nvSpPr>
        <p:spPr>
          <a:xfrm>
            <a:off x="6381750" y="1435100"/>
            <a:ext cx="792163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89</a:t>
            </a:r>
            <a:endParaRPr lang="en-US" altLang="zh-CN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3977" name="Text Box 14"/>
          <p:cNvSpPr txBox="1"/>
          <p:nvPr/>
        </p:nvSpPr>
        <p:spPr>
          <a:xfrm>
            <a:off x="5518150" y="1435100"/>
            <a:ext cx="792163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77</a:t>
            </a:r>
            <a:endParaRPr lang="en-US" altLang="zh-CN" sz="3600" dirty="0"/>
          </a:p>
        </p:txBody>
      </p:sp>
      <p:sp>
        <p:nvSpPr>
          <p:cNvPr id="83978" name="Text Box 15"/>
          <p:cNvSpPr txBox="1"/>
          <p:nvPr/>
        </p:nvSpPr>
        <p:spPr>
          <a:xfrm>
            <a:off x="7246938" y="1435100"/>
            <a:ext cx="792162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83</a:t>
            </a:r>
            <a:endParaRPr lang="en-US" altLang="zh-CN" sz="3600" dirty="0"/>
          </a:p>
        </p:txBody>
      </p:sp>
      <p:sp>
        <p:nvSpPr>
          <p:cNvPr id="83979" name="Text Box 16"/>
          <p:cNvSpPr txBox="1"/>
          <p:nvPr/>
        </p:nvSpPr>
        <p:spPr>
          <a:xfrm>
            <a:off x="8110538" y="1435100"/>
            <a:ext cx="792162" cy="64611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99</a:t>
            </a:r>
            <a:endParaRPr lang="en-US" altLang="zh-CN" sz="3600" dirty="0"/>
          </a:p>
        </p:txBody>
      </p:sp>
      <p:grpSp>
        <p:nvGrpSpPr>
          <p:cNvPr id="2" name="Group 17"/>
          <p:cNvGrpSpPr/>
          <p:nvPr/>
        </p:nvGrpSpPr>
        <p:grpSpPr>
          <a:xfrm>
            <a:off x="8112125" y="2133600"/>
            <a:ext cx="1008063" cy="720725"/>
            <a:chOff x="2562" y="464"/>
            <a:chExt cx="635" cy="454"/>
          </a:xfrm>
        </p:grpSpPr>
        <p:sp>
          <p:nvSpPr>
            <p:cNvPr id="83987" name="Line 18"/>
            <p:cNvSpPr/>
            <p:nvPr/>
          </p:nvSpPr>
          <p:spPr>
            <a:xfrm flipV="1">
              <a:off x="2835" y="464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83988" name="Text Box 19"/>
            <p:cNvSpPr txBox="1"/>
            <p:nvPr/>
          </p:nvSpPr>
          <p:spPr>
            <a:xfrm>
              <a:off x="2562" y="61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7175500" y="2133600"/>
            <a:ext cx="1008063" cy="720725"/>
            <a:chOff x="2562" y="464"/>
            <a:chExt cx="635" cy="454"/>
          </a:xfrm>
        </p:grpSpPr>
        <p:sp>
          <p:nvSpPr>
            <p:cNvPr id="83985" name="Line 21"/>
            <p:cNvSpPr/>
            <p:nvPr/>
          </p:nvSpPr>
          <p:spPr>
            <a:xfrm flipV="1">
              <a:off x="2835" y="464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83986" name="Text Box 22"/>
            <p:cNvSpPr txBox="1"/>
            <p:nvPr/>
          </p:nvSpPr>
          <p:spPr>
            <a:xfrm>
              <a:off x="2562" y="61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3"/>
          <p:cNvGrpSpPr/>
          <p:nvPr/>
        </p:nvGrpSpPr>
        <p:grpSpPr>
          <a:xfrm>
            <a:off x="6311900" y="2133600"/>
            <a:ext cx="1008063" cy="720725"/>
            <a:chOff x="2562" y="464"/>
            <a:chExt cx="635" cy="454"/>
          </a:xfrm>
        </p:grpSpPr>
        <p:sp>
          <p:nvSpPr>
            <p:cNvPr id="83983" name="Line 24"/>
            <p:cNvSpPr/>
            <p:nvPr/>
          </p:nvSpPr>
          <p:spPr>
            <a:xfrm flipV="1">
              <a:off x="2835" y="464"/>
              <a:ext cx="0" cy="40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83984" name="Text Box 25"/>
            <p:cNvSpPr txBox="1"/>
            <p:nvPr/>
          </p:nvSpPr>
          <p:spPr>
            <a:xfrm>
              <a:off x="2562" y="618"/>
              <a:ext cx="63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742950" lvl="0" indent="-285750" eaLnBrk="1" hangingPunct="1">
                <a:lnSpc>
                  <a:spcPct val="90000"/>
                </a:lnSpc>
                <a:spcBef>
                  <a:spcPct val="50000"/>
                </a:spcBef>
                <a:buClr>
                  <a:schemeClr val="tx1"/>
                </a:buClr>
                <a:buSz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781CAD-7C0A-4266-AFCA-A82D5446BDC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872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2727325"/>
            <a:ext cx="9144000" cy="2879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search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n,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a[ ],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key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){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//key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为检索关键字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j ;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返回位置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	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for (j=n-1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j&gt;=0 &amp;&amp; key!=a[j]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j--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 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return j;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}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86021" name="Group 6"/>
          <p:cNvGrpSpPr/>
          <p:nvPr/>
        </p:nvGrpSpPr>
        <p:grpSpPr>
          <a:xfrm>
            <a:off x="760413" y="171450"/>
            <a:ext cx="2016125" cy="371475"/>
            <a:chOff x="5887" y="12261"/>
            <a:chExt cx="840" cy="239"/>
          </a:xfrm>
        </p:grpSpPr>
        <p:sp>
          <p:nvSpPr>
            <p:cNvPr id="86036" name="Oval 7"/>
            <p:cNvSpPr/>
            <p:nvPr/>
          </p:nvSpPr>
          <p:spPr>
            <a:xfrm>
              <a:off x="5887" y="12281"/>
              <a:ext cx="840" cy="21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6037" name="Rectangle 8"/>
            <p:cNvSpPr/>
            <p:nvPr/>
          </p:nvSpPr>
          <p:spPr>
            <a:xfrm>
              <a:off x="5927" y="12261"/>
              <a:ext cx="724" cy="22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顺序检索</a:t>
              </a:r>
              <a:endParaRPr lang="zh-CN" altLang="en-US" sz="24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86022" name="Line 9"/>
          <p:cNvSpPr/>
          <p:nvPr/>
        </p:nvSpPr>
        <p:spPr>
          <a:xfrm>
            <a:off x="1806575" y="481013"/>
            <a:ext cx="0" cy="1397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6023" name="Rectangle 10"/>
          <p:cNvSpPr/>
          <p:nvPr/>
        </p:nvSpPr>
        <p:spPr>
          <a:xfrm>
            <a:off x="1806575" y="1381125"/>
            <a:ext cx="3373438" cy="3825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ea typeface="黑体" panose="02010609060101010101" pitchFamily="49" charset="-122"/>
              </a:rPr>
              <a:t>return  j</a:t>
            </a:r>
            <a:r>
              <a:rPr lang="zh-CN" altLang="en-US" sz="2400" b="1" dirty="0">
                <a:solidFill>
                  <a:schemeClr val="folHlink"/>
                </a:solidFill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chemeClr val="folHlink"/>
              </a:solidFill>
              <a:ea typeface="黑体" panose="02010609060101010101" pitchFamily="49" charset="-122"/>
            </a:endParaRPr>
          </a:p>
        </p:txBody>
      </p:sp>
      <p:grpSp>
        <p:nvGrpSpPr>
          <p:cNvPr id="86024" name="Group 11"/>
          <p:cNvGrpSpPr/>
          <p:nvPr/>
        </p:nvGrpSpPr>
        <p:grpSpPr>
          <a:xfrm>
            <a:off x="833438" y="1878013"/>
            <a:ext cx="1936750" cy="454025"/>
            <a:chOff x="6007" y="13841"/>
            <a:chExt cx="515" cy="240"/>
          </a:xfrm>
        </p:grpSpPr>
        <p:sp>
          <p:nvSpPr>
            <p:cNvPr id="86034" name="Oval 12"/>
            <p:cNvSpPr/>
            <p:nvPr/>
          </p:nvSpPr>
          <p:spPr>
            <a:xfrm>
              <a:off x="6050" y="13846"/>
              <a:ext cx="452" cy="235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86035" name="Rectangle 13"/>
            <p:cNvSpPr/>
            <p:nvPr/>
          </p:nvSpPr>
          <p:spPr>
            <a:xfrm>
              <a:off x="6007" y="13841"/>
              <a:ext cx="515" cy="193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ea typeface="黑体" panose="02010609060101010101" pitchFamily="49" charset="-122"/>
                </a:rPr>
                <a:t>结束</a:t>
              </a:r>
              <a:endParaRPr lang="zh-CN" altLang="en-US" sz="24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86025" name="Rectangle 14"/>
          <p:cNvSpPr/>
          <p:nvPr/>
        </p:nvSpPr>
        <p:spPr>
          <a:xfrm>
            <a:off x="1806575" y="654050"/>
            <a:ext cx="5737225" cy="5095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   for (j=n-1</a:t>
            </a:r>
            <a:r>
              <a:rPr lang="en-US" altLang="zh-CN" sz="2400" b="1" dirty="0">
                <a:solidFill>
                  <a:srgbClr val="FFFF00"/>
                </a:solidFill>
              </a:rPr>
              <a:t>;</a:t>
            </a:r>
            <a:r>
              <a:rPr lang="en-US" altLang="zh-CN" sz="2400" b="1" dirty="0">
                <a:solidFill>
                  <a:schemeClr val="folHlink"/>
                </a:solidFill>
              </a:rPr>
              <a:t> j&gt;=0</a:t>
            </a:r>
            <a:r>
              <a:rPr lang="en-US" altLang="zh-CN" sz="2400" b="1" dirty="0"/>
              <a:t> &amp;&amp; </a:t>
            </a:r>
            <a:r>
              <a:rPr lang="en-US" altLang="zh-CN" sz="2400" b="1" dirty="0">
                <a:solidFill>
                  <a:schemeClr val="folHlink"/>
                </a:solidFill>
              </a:rPr>
              <a:t>key!=a[j]</a:t>
            </a:r>
            <a:r>
              <a:rPr lang="en-US" altLang="zh-CN" sz="2400" b="1" dirty="0">
                <a:solidFill>
                  <a:srgbClr val="FFFF00"/>
                </a:solidFill>
              </a:rPr>
              <a:t>;</a:t>
            </a:r>
            <a:r>
              <a:rPr lang="en-US" altLang="zh-CN" sz="2400" b="1" dirty="0"/>
              <a:t>j--)</a:t>
            </a:r>
            <a:endParaRPr lang="en-US" altLang="zh-CN" sz="2400" b="1" dirty="0"/>
          </a:p>
        </p:txBody>
      </p:sp>
      <p:sp>
        <p:nvSpPr>
          <p:cNvPr id="86026" name="Line 15"/>
          <p:cNvSpPr/>
          <p:nvPr/>
        </p:nvSpPr>
        <p:spPr>
          <a:xfrm>
            <a:off x="4625975" y="939800"/>
            <a:ext cx="873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6027" name="Rectangle 16"/>
          <p:cNvSpPr/>
          <p:nvPr/>
        </p:nvSpPr>
        <p:spPr>
          <a:xfrm>
            <a:off x="7807325" y="709613"/>
            <a:ext cx="1858963" cy="39687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6028" name="Line 17"/>
          <p:cNvSpPr/>
          <p:nvPr/>
        </p:nvSpPr>
        <p:spPr>
          <a:xfrm>
            <a:off x="1990725" y="635000"/>
            <a:ext cx="0" cy="52863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29" name="Line 18"/>
          <p:cNvSpPr/>
          <p:nvPr/>
        </p:nvSpPr>
        <p:spPr>
          <a:xfrm>
            <a:off x="7588250" y="908050"/>
            <a:ext cx="1841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8739" name="Rectangle 19"/>
          <p:cNvSpPr>
            <a:spLocks noChangeArrowheads="1"/>
          </p:cNvSpPr>
          <p:nvPr/>
        </p:nvSpPr>
        <p:spPr bwMode="auto">
          <a:xfrm>
            <a:off x="7696200" y="1219200"/>
            <a:ext cx="312928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“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空语句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”：无任何操作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只占有一个语句位置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6031" name="AutoShape 5">
            <a:hlinkClick r:id="" action="ppaction://noaction"/>
          </p:cNvPr>
          <p:cNvSpPr/>
          <p:nvPr/>
        </p:nvSpPr>
        <p:spPr>
          <a:xfrm>
            <a:off x="11631613" y="6053138"/>
            <a:ext cx="503237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38295" y="5257800"/>
            <a:ext cx="7996238" cy="1568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思考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ea typeface="黑体" panose="02010609060101010101" pitchFamily="49" charset="-122"/>
              </a:rPr>
              <a:t>如果没有找到，该函数的返回值是多少？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课后实践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】</a:t>
            </a:r>
            <a:r>
              <a:rPr lang="zh-CN" altLang="en-US" sz="2400" b="1" dirty="0">
                <a:ea typeface="黑体" panose="02010609060101010101" pitchFamily="49" charset="-122"/>
              </a:rPr>
              <a:t>编写主函数，调用该检索函数，如果找到指定元素，输出位置；如果无此元素，输出“没有找到” 。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掌握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：数组作参数时，函数定义和调用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 </a:t>
            </a:r>
            <a:endParaRPr lang="en-US" altLang="zh-CN" sz="2400" b="1" dirty="0">
              <a:solidFill>
                <a:srgbClr val="FF0000"/>
              </a:solidFill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6934200" y="3604261"/>
            <a:ext cx="308610" cy="398779"/>
          </a:xfrm>
          <a:prstGeom prst="flowChartProcess">
            <a:avLst/>
          </a:prstGeom>
          <a:noFill/>
          <a:ln w="34925" cap="flat" cmpd="sng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5404485" y="4002405"/>
            <a:ext cx="5692140" cy="977265"/>
          </a:xfrm>
          <a:prstGeom prst="wedgeRectCallout">
            <a:avLst>
              <a:gd name="adj1" fmla="val -75323"/>
              <a:gd name="adj2" fmla="val -5740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for (j=n-1</a:t>
            </a:r>
            <a:r>
              <a:rPr lang="en-US" altLang="zh-CN" sz="28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;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 j&gt;=0&amp;&amp;key!=a[j]</a:t>
            </a:r>
            <a:r>
              <a:rPr lang="en-US" altLang="zh-CN" sz="28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;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)</a:t>
            </a:r>
            <a:r>
              <a:rPr lang="en-US" altLang="zh-CN" sz="2800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    	</a:t>
            </a:r>
            <a:r>
              <a:rPr lang="en-US" altLang="zh-CN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sym typeface="+mn-ea"/>
              </a:rPr>
              <a:t>j--;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20" grpId="0" animBg="1"/>
      <p:bldP spid="20" grpId="1" animBg="1"/>
      <p:bldP spid="3" grpId="0" animBg="1"/>
      <p:bldP spid="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6DD04F-C9A4-42CE-8F53-89555FA5DE9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4867" name="Rectangle 3"/>
          <p:cNvSpPr>
            <a:spLocks noGrp="1" noChangeArrowheads="1"/>
          </p:cNvSpPr>
          <p:nvPr>
            <p:ph idx="1"/>
          </p:nvPr>
        </p:nvSpPr>
        <p:spPr>
          <a:xfrm>
            <a:off x="244475" y="1414463"/>
            <a:ext cx="6251575" cy="3311525"/>
          </a:xfrm>
          <a:ln w="25400"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key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为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60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key&lt;a[j]: upper=j-1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key&gt;a[j]: lower=j+1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key==a[j]: return j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444868" name="Group 4"/>
          <p:cNvGraphicFramePr>
            <a:graphicFrameLocks noGrp="1"/>
          </p:cNvGraphicFramePr>
          <p:nvPr/>
        </p:nvGraphicFramePr>
        <p:xfrm>
          <a:off x="1847850" y="5762625"/>
          <a:ext cx="8374063" cy="503238"/>
        </p:xfrm>
        <a:graphic>
          <a:graphicData uri="http://schemas.openxmlformats.org/drawingml/2006/table">
            <a:tbl>
              <a:tblPr/>
              <a:tblGrid>
                <a:gridCol w="598488"/>
                <a:gridCol w="598487"/>
                <a:gridCol w="596900"/>
                <a:gridCol w="601663"/>
                <a:gridCol w="595312"/>
                <a:gridCol w="598488"/>
                <a:gridCol w="598487"/>
                <a:gridCol w="596900"/>
                <a:gridCol w="598488"/>
                <a:gridCol w="598487"/>
                <a:gridCol w="598488"/>
                <a:gridCol w="596900"/>
                <a:gridCol w="598487"/>
                <a:gridCol w="598488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45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57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70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75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77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80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90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94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36"/>
          <p:cNvGrpSpPr/>
          <p:nvPr/>
        </p:nvGrpSpPr>
        <p:grpSpPr>
          <a:xfrm>
            <a:off x="1703388" y="4895850"/>
            <a:ext cx="1152525" cy="866775"/>
            <a:chOff x="0" y="2618"/>
            <a:chExt cx="726" cy="585"/>
          </a:xfrm>
        </p:grpSpPr>
        <p:sp>
          <p:nvSpPr>
            <p:cNvPr id="88122" name="Line 37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88123" name="Text Box 38"/>
            <p:cNvSpPr txBox="1"/>
            <p:nvPr/>
          </p:nvSpPr>
          <p:spPr>
            <a:xfrm>
              <a:off x="0" y="2618"/>
              <a:ext cx="726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lower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39"/>
          <p:cNvGrpSpPr/>
          <p:nvPr/>
        </p:nvGrpSpPr>
        <p:grpSpPr>
          <a:xfrm>
            <a:off x="9228138" y="4754563"/>
            <a:ext cx="1439862" cy="1006475"/>
            <a:chOff x="0" y="2523"/>
            <a:chExt cx="726" cy="680"/>
          </a:xfrm>
        </p:grpSpPr>
        <p:sp>
          <p:nvSpPr>
            <p:cNvPr id="88120" name="Line 40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88121" name="Text Box 41"/>
            <p:cNvSpPr txBox="1"/>
            <p:nvPr/>
          </p:nvSpPr>
          <p:spPr>
            <a:xfrm>
              <a:off x="0" y="2523"/>
              <a:ext cx="726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upper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42"/>
          <p:cNvGrpSpPr/>
          <p:nvPr/>
        </p:nvGrpSpPr>
        <p:grpSpPr>
          <a:xfrm>
            <a:off x="5483225" y="6265863"/>
            <a:ext cx="792163" cy="606425"/>
            <a:chOff x="2630" y="3566"/>
            <a:chExt cx="499" cy="382"/>
          </a:xfrm>
        </p:grpSpPr>
        <p:sp>
          <p:nvSpPr>
            <p:cNvPr id="88118" name="Text Box 43"/>
            <p:cNvSpPr txBox="1"/>
            <p:nvPr/>
          </p:nvSpPr>
          <p:spPr>
            <a:xfrm>
              <a:off x="2630" y="3621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88119" name="Line 44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grpSp>
        <p:nvGrpSpPr>
          <p:cNvPr id="5" name="Group 45"/>
          <p:cNvGrpSpPr/>
          <p:nvPr/>
        </p:nvGrpSpPr>
        <p:grpSpPr>
          <a:xfrm>
            <a:off x="4440238" y="4754563"/>
            <a:ext cx="1439862" cy="1006475"/>
            <a:chOff x="0" y="2523"/>
            <a:chExt cx="726" cy="680"/>
          </a:xfrm>
        </p:grpSpPr>
        <p:sp>
          <p:nvSpPr>
            <p:cNvPr id="88116" name="Line 46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88117" name="Text Box 47"/>
            <p:cNvSpPr txBox="1"/>
            <p:nvPr/>
          </p:nvSpPr>
          <p:spPr>
            <a:xfrm>
              <a:off x="0" y="2523"/>
              <a:ext cx="726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upper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48"/>
          <p:cNvGrpSpPr/>
          <p:nvPr/>
        </p:nvGrpSpPr>
        <p:grpSpPr>
          <a:xfrm>
            <a:off x="3105150" y="6265863"/>
            <a:ext cx="792163" cy="592137"/>
            <a:chOff x="2628" y="3566"/>
            <a:chExt cx="499" cy="373"/>
          </a:xfrm>
        </p:grpSpPr>
        <p:sp>
          <p:nvSpPr>
            <p:cNvPr id="88114" name="Text Box 49"/>
            <p:cNvSpPr txBox="1"/>
            <p:nvPr/>
          </p:nvSpPr>
          <p:spPr>
            <a:xfrm>
              <a:off x="2628" y="3612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88115" name="Line 50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grpSp>
        <p:nvGrpSpPr>
          <p:cNvPr id="7" name="Group 51"/>
          <p:cNvGrpSpPr/>
          <p:nvPr/>
        </p:nvGrpSpPr>
        <p:grpSpPr>
          <a:xfrm>
            <a:off x="3370263" y="4806950"/>
            <a:ext cx="1152525" cy="925513"/>
            <a:chOff x="7" y="2579"/>
            <a:chExt cx="726" cy="624"/>
          </a:xfrm>
        </p:grpSpPr>
        <p:sp>
          <p:nvSpPr>
            <p:cNvPr id="88112" name="Line 52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88113" name="Text Box 53"/>
            <p:cNvSpPr txBox="1"/>
            <p:nvPr/>
          </p:nvSpPr>
          <p:spPr>
            <a:xfrm>
              <a:off x="7" y="2579"/>
              <a:ext cx="726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lower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Group 54"/>
          <p:cNvGrpSpPr/>
          <p:nvPr/>
        </p:nvGrpSpPr>
        <p:grpSpPr>
          <a:xfrm>
            <a:off x="4222750" y="6265863"/>
            <a:ext cx="792163" cy="636587"/>
            <a:chOff x="2607" y="3566"/>
            <a:chExt cx="499" cy="401"/>
          </a:xfrm>
        </p:grpSpPr>
        <p:sp>
          <p:nvSpPr>
            <p:cNvPr id="88110" name="Text Box 55"/>
            <p:cNvSpPr txBox="1"/>
            <p:nvPr/>
          </p:nvSpPr>
          <p:spPr>
            <a:xfrm>
              <a:off x="2607" y="3640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88111" name="Line 56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sp>
        <p:nvSpPr>
          <p:cNvPr id="26" name="Rectangle 4"/>
          <p:cNvSpPr txBox="1">
            <a:spLocks noChangeArrowheads="1"/>
          </p:cNvSpPr>
          <p:nvPr/>
        </p:nvSpPr>
        <p:spPr bwMode="auto">
          <a:xfrm>
            <a:off x="6870700" y="2028825"/>
            <a:ext cx="5321300" cy="2354263"/>
          </a:xfrm>
          <a:prstGeom prst="rect">
            <a:avLst/>
          </a:prstGeom>
          <a:noFill/>
          <a:ln w="22225">
            <a:solidFill>
              <a:srgbClr val="FFFF00"/>
            </a:solidFill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两分法、二分法、折半法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在检索过程中用到三个变量：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lower: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检索区间下界，初值是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0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upper: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检索区间上界，初值是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n-1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j         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当前检索位置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" name="Rectangle 3"/>
          <p:cNvSpPr>
            <a:spLocks noGrp="1" noChangeArrowheads="1"/>
          </p:cNvSpPr>
          <p:nvPr>
            <p:ph type="title"/>
          </p:nvPr>
        </p:nvSpPr>
        <p:spPr>
          <a:xfrm>
            <a:off x="28575" y="36513"/>
            <a:ext cx="8631238" cy="11493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6.9】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假定学生成绩单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数组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已按递增顺序排序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，   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         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使用对半检索方法在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上进行检索。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9296400" y="20638"/>
            <a:ext cx="2901950" cy="590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marL="7429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对半检索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charRg st="7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44867">
                                            <p:txEl>
                                              <p:charRg st="7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44867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44867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charRg st="6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44867">
                                            <p:txEl>
                                              <p:charRg st="63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charRg st="83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444867">
                                            <p:txEl>
                                              <p:charRg st="83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67">
                                            <p:txEl>
                                              <p:charRg st="101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444867">
                                            <p:txEl>
                                              <p:charRg st="101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1B83DA-443E-40F1-B57A-E13F5B2B0D5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46915" name="Group 3"/>
          <p:cNvGraphicFramePr>
            <a:graphicFrameLocks noGrp="1"/>
          </p:cNvGraphicFramePr>
          <p:nvPr/>
        </p:nvGraphicFramePr>
        <p:xfrm>
          <a:off x="1847850" y="5475288"/>
          <a:ext cx="8374063" cy="503238"/>
        </p:xfrm>
        <a:graphic>
          <a:graphicData uri="http://schemas.openxmlformats.org/drawingml/2006/table">
            <a:tbl>
              <a:tblPr/>
              <a:tblGrid>
                <a:gridCol w="598488"/>
                <a:gridCol w="598487"/>
                <a:gridCol w="596900"/>
                <a:gridCol w="601663"/>
                <a:gridCol w="595312"/>
                <a:gridCol w="598488"/>
                <a:gridCol w="598487"/>
                <a:gridCol w="596900"/>
                <a:gridCol w="598488"/>
                <a:gridCol w="598487"/>
                <a:gridCol w="598488"/>
                <a:gridCol w="596900"/>
                <a:gridCol w="598487"/>
                <a:gridCol w="598488"/>
              </a:tblGrid>
              <a:tr h="5032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24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33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45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57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62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70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75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77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80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90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94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99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35"/>
          <p:cNvGrpSpPr/>
          <p:nvPr/>
        </p:nvGrpSpPr>
        <p:grpSpPr>
          <a:xfrm>
            <a:off x="1703388" y="4467225"/>
            <a:ext cx="1152525" cy="1008063"/>
            <a:chOff x="0" y="2523"/>
            <a:chExt cx="726" cy="680"/>
          </a:xfrm>
        </p:grpSpPr>
        <p:sp>
          <p:nvSpPr>
            <p:cNvPr id="90181" name="Line 36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82" name="Text Box 37"/>
            <p:cNvSpPr txBox="1"/>
            <p:nvPr/>
          </p:nvSpPr>
          <p:spPr>
            <a:xfrm>
              <a:off x="0" y="2523"/>
              <a:ext cx="726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lower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38"/>
          <p:cNvGrpSpPr/>
          <p:nvPr/>
        </p:nvGrpSpPr>
        <p:grpSpPr>
          <a:xfrm>
            <a:off x="9228138" y="4467225"/>
            <a:ext cx="1439862" cy="1006475"/>
            <a:chOff x="0" y="2523"/>
            <a:chExt cx="726" cy="680"/>
          </a:xfrm>
        </p:grpSpPr>
        <p:sp>
          <p:nvSpPr>
            <p:cNvPr id="90179" name="Line 39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80" name="Text Box 40"/>
            <p:cNvSpPr txBox="1"/>
            <p:nvPr/>
          </p:nvSpPr>
          <p:spPr>
            <a:xfrm>
              <a:off x="0" y="2523"/>
              <a:ext cx="726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upper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41"/>
          <p:cNvGrpSpPr/>
          <p:nvPr/>
        </p:nvGrpSpPr>
        <p:grpSpPr>
          <a:xfrm>
            <a:off x="5375275" y="5978525"/>
            <a:ext cx="792163" cy="879475"/>
            <a:chOff x="2562" y="3566"/>
            <a:chExt cx="499" cy="554"/>
          </a:xfrm>
        </p:grpSpPr>
        <p:sp>
          <p:nvSpPr>
            <p:cNvPr id="90177" name="Text Box 42"/>
            <p:cNvSpPr txBox="1"/>
            <p:nvPr/>
          </p:nvSpPr>
          <p:spPr>
            <a:xfrm>
              <a:off x="2562" y="3793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90178" name="Line 43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grpSp>
        <p:nvGrpSpPr>
          <p:cNvPr id="5" name="Group 44"/>
          <p:cNvGrpSpPr/>
          <p:nvPr/>
        </p:nvGrpSpPr>
        <p:grpSpPr>
          <a:xfrm>
            <a:off x="4440238" y="4467225"/>
            <a:ext cx="1439862" cy="1006475"/>
            <a:chOff x="0" y="2523"/>
            <a:chExt cx="726" cy="680"/>
          </a:xfrm>
        </p:grpSpPr>
        <p:sp>
          <p:nvSpPr>
            <p:cNvPr id="90175" name="Line 45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76" name="Text Box 46"/>
            <p:cNvSpPr txBox="1"/>
            <p:nvPr/>
          </p:nvSpPr>
          <p:spPr>
            <a:xfrm>
              <a:off x="0" y="2523"/>
              <a:ext cx="726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upper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47"/>
          <p:cNvGrpSpPr/>
          <p:nvPr/>
        </p:nvGrpSpPr>
        <p:grpSpPr>
          <a:xfrm>
            <a:off x="3000375" y="5978525"/>
            <a:ext cx="792163" cy="879475"/>
            <a:chOff x="2562" y="3566"/>
            <a:chExt cx="499" cy="554"/>
          </a:xfrm>
        </p:grpSpPr>
        <p:sp>
          <p:nvSpPr>
            <p:cNvPr id="90173" name="Text Box 48"/>
            <p:cNvSpPr txBox="1"/>
            <p:nvPr/>
          </p:nvSpPr>
          <p:spPr>
            <a:xfrm>
              <a:off x="2562" y="3793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90174" name="Line 49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grpSp>
        <p:nvGrpSpPr>
          <p:cNvPr id="7" name="Group 50"/>
          <p:cNvGrpSpPr/>
          <p:nvPr/>
        </p:nvGrpSpPr>
        <p:grpSpPr>
          <a:xfrm>
            <a:off x="3359150" y="4437063"/>
            <a:ext cx="1152525" cy="1008062"/>
            <a:chOff x="0" y="2523"/>
            <a:chExt cx="726" cy="680"/>
          </a:xfrm>
        </p:grpSpPr>
        <p:sp>
          <p:nvSpPr>
            <p:cNvPr id="90171" name="Line 51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72" name="Text Box 52"/>
            <p:cNvSpPr txBox="1"/>
            <p:nvPr/>
          </p:nvSpPr>
          <p:spPr>
            <a:xfrm>
              <a:off x="0" y="2523"/>
              <a:ext cx="726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lower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Group 53"/>
          <p:cNvGrpSpPr/>
          <p:nvPr/>
        </p:nvGrpSpPr>
        <p:grpSpPr>
          <a:xfrm>
            <a:off x="4151313" y="5978525"/>
            <a:ext cx="792162" cy="879475"/>
            <a:chOff x="2562" y="3566"/>
            <a:chExt cx="499" cy="554"/>
          </a:xfrm>
        </p:grpSpPr>
        <p:sp>
          <p:nvSpPr>
            <p:cNvPr id="90169" name="Text Box 54"/>
            <p:cNvSpPr txBox="1"/>
            <p:nvPr/>
          </p:nvSpPr>
          <p:spPr>
            <a:xfrm>
              <a:off x="2562" y="3793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90170" name="Line 55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sp>
        <p:nvSpPr>
          <p:cNvPr id="1446968" name="Rectangle 56"/>
          <p:cNvSpPr>
            <a:spLocks noGrp="1" noChangeArrowheads="1"/>
          </p:cNvSpPr>
          <p:nvPr>
            <p:ph type="title"/>
          </p:nvPr>
        </p:nvSpPr>
        <p:spPr>
          <a:xfrm>
            <a:off x="169863" y="61913"/>
            <a:ext cx="8540750" cy="7524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key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为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58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46969" name="Rectangle 57"/>
          <p:cNvSpPr>
            <a:spLocks noGrp="1" noChangeArrowheads="1"/>
          </p:cNvSpPr>
          <p:nvPr>
            <p:ph sz="half" idx="1"/>
          </p:nvPr>
        </p:nvSpPr>
        <p:spPr>
          <a:xfrm>
            <a:off x="371475" y="969963"/>
            <a:ext cx="4248150" cy="2447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97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797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key&lt;a[j]: upper=j-1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797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797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key&gt;a[j]: lower=j+1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79705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46970" name="Rectangle 58"/>
          <p:cNvSpPr>
            <a:spLocks noGrp="1" noChangeArrowheads="1"/>
          </p:cNvSpPr>
          <p:nvPr>
            <p:ph sz="half" idx="2"/>
          </p:nvPr>
        </p:nvSpPr>
        <p:spPr>
          <a:xfrm>
            <a:off x="6726238" y="993775"/>
            <a:ext cx="5003800" cy="2447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533400" marR="0" lvl="1" indent="-3543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key&lt;a[j]: upper=j-1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533400" marR="0" lvl="1" indent="-3543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j=(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lower+upper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)/2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533400" marR="0" lvl="1" indent="-3543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key&gt;a[j]: lower=j+1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533400" marR="0" lvl="1" indent="-3543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upper-lower&lt;0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: return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-1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grpSp>
        <p:nvGrpSpPr>
          <p:cNvPr id="9" name="Group 59"/>
          <p:cNvGrpSpPr/>
          <p:nvPr/>
        </p:nvGrpSpPr>
        <p:grpSpPr>
          <a:xfrm>
            <a:off x="2495550" y="4581525"/>
            <a:ext cx="2663825" cy="895350"/>
            <a:chOff x="2336" y="4745"/>
            <a:chExt cx="1678" cy="564"/>
          </a:xfrm>
        </p:grpSpPr>
        <p:sp>
          <p:nvSpPr>
            <p:cNvPr id="90167" name="Line 60"/>
            <p:cNvSpPr/>
            <p:nvPr/>
          </p:nvSpPr>
          <p:spPr>
            <a:xfrm>
              <a:off x="3198" y="5018"/>
              <a:ext cx="0" cy="2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68" name="Text Box 61"/>
            <p:cNvSpPr txBox="1"/>
            <p:nvPr/>
          </p:nvSpPr>
          <p:spPr>
            <a:xfrm>
              <a:off x="2336" y="4745"/>
              <a:ext cx="16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upper</a:t>
              </a:r>
              <a:r>
                <a:rPr lang="en-US" altLang="zh-CN" sz="2800" b="1" dirty="0">
                  <a:ea typeface="黑体" panose="02010609060101010101" pitchFamily="49" charset="-122"/>
                </a:rPr>
                <a:t>  lower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62"/>
          <p:cNvGrpSpPr/>
          <p:nvPr/>
        </p:nvGrpSpPr>
        <p:grpSpPr>
          <a:xfrm>
            <a:off x="3503613" y="5978525"/>
            <a:ext cx="792162" cy="879475"/>
            <a:chOff x="2562" y="3566"/>
            <a:chExt cx="499" cy="554"/>
          </a:xfrm>
        </p:grpSpPr>
        <p:sp>
          <p:nvSpPr>
            <p:cNvPr id="90165" name="Text Box 63"/>
            <p:cNvSpPr txBox="1"/>
            <p:nvPr/>
          </p:nvSpPr>
          <p:spPr>
            <a:xfrm>
              <a:off x="2562" y="3793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j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90166" name="Line 64"/>
            <p:cNvSpPr/>
            <p:nvPr/>
          </p:nvSpPr>
          <p:spPr>
            <a:xfrm flipV="1">
              <a:off x="2789" y="3566"/>
              <a:ext cx="1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grpSp>
        <p:nvGrpSpPr>
          <p:cNvPr id="11" name="Group 65"/>
          <p:cNvGrpSpPr/>
          <p:nvPr/>
        </p:nvGrpSpPr>
        <p:grpSpPr>
          <a:xfrm>
            <a:off x="4008438" y="4581525"/>
            <a:ext cx="1152525" cy="862013"/>
            <a:chOff x="0" y="2523"/>
            <a:chExt cx="726" cy="680"/>
          </a:xfrm>
        </p:grpSpPr>
        <p:sp>
          <p:nvSpPr>
            <p:cNvPr id="90163" name="Line 66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64" name="Text Box 67"/>
            <p:cNvSpPr txBox="1"/>
            <p:nvPr/>
          </p:nvSpPr>
          <p:spPr>
            <a:xfrm>
              <a:off x="0" y="2523"/>
              <a:ext cx="726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lower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12" name="Group 68"/>
          <p:cNvGrpSpPr/>
          <p:nvPr/>
        </p:nvGrpSpPr>
        <p:grpSpPr>
          <a:xfrm>
            <a:off x="3216275" y="4078288"/>
            <a:ext cx="1439863" cy="1295400"/>
            <a:chOff x="0" y="2523"/>
            <a:chExt cx="726" cy="680"/>
          </a:xfrm>
        </p:grpSpPr>
        <p:sp>
          <p:nvSpPr>
            <p:cNvPr id="90161" name="Line 69"/>
            <p:cNvSpPr/>
            <p:nvPr/>
          </p:nvSpPr>
          <p:spPr>
            <a:xfrm>
              <a:off x="340" y="2840"/>
              <a:ext cx="0" cy="3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  <p:sp>
          <p:nvSpPr>
            <p:cNvPr id="90162" name="Text Box 70"/>
            <p:cNvSpPr txBox="1"/>
            <p:nvPr/>
          </p:nvSpPr>
          <p:spPr>
            <a:xfrm>
              <a:off x="0" y="2523"/>
              <a:ext cx="726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upper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6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696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69">
                                            <p:txEl>
                                              <p:charRg st="1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46969">
                                            <p:txEl>
                                              <p:charRg st="1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69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46969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69">
                                            <p:txEl>
                                              <p:charRg st="5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46969">
                                            <p:txEl>
                                              <p:charRg st="56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69">
                                            <p:txEl>
                                              <p:charRg st="76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46969">
                                            <p:txEl>
                                              <p:charRg st="76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7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44697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70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446970">
                                            <p:txEl>
                                              <p:charRg st="2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70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446970">
                                            <p:txEl>
                                              <p:charRg st="38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70">
                                            <p:txEl>
                                              <p:charRg st="58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446970">
                                            <p:txEl>
                                              <p:charRg st="58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48B151-D7E9-4A5A-93D8-AE5181787E5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163" name="Group 36"/>
          <p:cNvGrpSpPr/>
          <p:nvPr/>
        </p:nvGrpSpPr>
        <p:grpSpPr>
          <a:xfrm>
            <a:off x="533400" y="1320800"/>
            <a:ext cx="8964613" cy="4214813"/>
            <a:chOff x="0" y="572"/>
            <a:chExt cx="5647" cy="2655"/>
          </a:xfrm>
        </p:grpSpPr>
        <p:grpSp>
          <p:nvGrpSpPr>
            <p:cNvPr id="92164" name="Group 4"/>
            <p:cNvGrpSpPr/>
            <p:nvPr/>
          </p:nvGrpSpPr>
          <p:grpSpPr>
            <a:xfrm>
              <a:off x="0" y="572"/>
              <a:ext cx="793" cy="527"/>
              <a:chOff x="0" y="0"/>
              <a:chExt cx="20000" cy="20000"/>
            </a:xfrm>
          </p:grpSpPr>
          <p:sp>
            <p:nvSpPr>
              <p:cNvPr id="92193" name="Oval 5"/>
              <p:cNvSpPr/>
              <p:nvPr/>
            </p:nvSpPr>
            <p:spPr>
              <a:xfrm>
                <a:off x="0" y="0"/>
                <a:ext cx="20000" cy="19864"/>
              </a:xfrm>
              <a:prstGeom prst="ellipse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2194" name="Rectangle 6"/>
              <p:cNvSpPr/>
              <p:nvPr/>
            </p:nvSpPr>
            <p:spPr>
              <a:xfrm>
                <a:off x="2754" y="1388"/>
                <a:ext cx="15174" cy="18612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latin typeface="Arial" panose="020B0604020202020204" pitchFamily="34" charset="0"/>
                    <a:ea typeface="黑体" panose="02010609060101010101" pitchFamily="49" charset="-122"/>
                  </a:rPr>
                  <a:t>对半</a:t>
                </a:r>
                <a:endParaRPr lang="zh-CN" altLang="en-US" sz="2800" b="1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marL="0" lvl="0" indent="0" algn="ctr"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latin typeface="Arial" panose="020B0604020202020204" pitchFamily="34" charset="0"/>
                    <a:ea typeface="黑体" panose="02010609060101010101" pitchFamily="49" charset="-122"/>
                  </a:rPr>
                  <a:t>检索</a:t>
                </a:r>
                <a:endParaRPr lang="zh-CN" altLang="en-US" sz="2800" b="1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2165" name="Line 7"/>
            <p:cNvSpPr/>
            <p:nvPr/>
          </p:nvSpPr>
          <p:spPr>
            <a:xfrm flipH="1">
              <a:off x="431" y="1115"/>
              <a:ext cx="0" cy="149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166" name="Rectangle 8"/>
            <p:cNvSpPr/>
            <p:nvPr/>
          </p:nvSpPr>
          <p:spPr>
            <a:xfrm>
              <a:off x="521" y="1705"/>
              <a:ext cx="1769" cy="272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upper-lower&gt;=0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167" name="Line 9"/>
            <p:cNvSpPr/>
            <p:nvPr/>
          </p:nvSpPr>
          <p:spPr>
            <a:xfrm>
              <a:off x="2290" y="1841"/>
              <a:ext cx="85" cy="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168" name="Rectangle 10"/>
            <p:cNvSpPr/>
            <p:nvPr/>
          </p:nvSpPr>
          <p:spPr>
            <a:xfrm>
              <a:off x="431" y="1162"/>
              <a:ext cx="2585" cy="272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lower=0</a:t>
              </a:r>
              <a:r>
                <a:rPr lang="zh-CN" altLang="en-US" sz="2800" b="1" dirty="0">
                  <a:latin typeface="Arial" panose="020B0604020202020204" pitchFamily="34" charset="0"/>
                </a:rPr>
                <a:t>；</a:t>
              </a:r>
              <a:r>
                <a:rPr lang="en-US" altLang="zh-CN" sz="2800" b="1" dirty="0">
                  <a:latin typeface="Arial" panose="020B0604020202020204" pitchFamily="34" charset="0"/>
                </a:rPr>
                <a:t>upper=n-1</a:t>
              </a:r>
              <a:r>
                <a:rPr lang="zh-CN" altLang="en-US" sz="2800" b="1" dirty="0">
                  <a:latin typeface="Arial" panose="020B0604020202020204" pitchFamily="34" charset="0"/>
                </a:rPr>
                <a:t>；</a:t>
              </a:r>
              <a:endParaRPr lang="zh-CN" altLang="en-US" sz="2800" b="1" dirty="0">
                <a:latin typeface="Arial" panose="020B0604020202020204" pitchFamily="34" charset="0"/>
              </a:endParaRPr>
            </a:p>
          </p:txBody>
        </p:sp>
        <p:grpSp>
          <p:nvGrpSpPr>
            <p:cNvPr id="92169" name="Group 11"/>
            <p:cNvGrpSpPr/>
            <p:nvPr/>
          </p:nvGrpSpPr>
          <p:grpSpPr>
            <a:xfrm>
              <a:off x="0" y="2613"/>
              <a:ext cx="1180" cy="262"/>
              <a:chOff x="0" y="9"/>
              <a:chExt cx="19999" cy="19991"/>
            </a:xfrm>
          </p:grpSpPr>
          <p:sp>
            <p:nvSpPr>
              <p:cNvPr id="92191" name="Oval 12"/>
              <p:cNvSpPr/>
              <p:nvPr/>
            </p:nvSpPr>
            <p:spPr>
              <a:xfrm>
                <a:off x="0" y="9"/>
                <a:ext cx="15684" cy="19991"/>
              </a:xfrm>
              <a:prstGeom prst="ellipse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2192" name="Rectangle 13"/>
              <p:cNvSpPr/>
              <p:nvPr/>
            </p:nvSpPr>
            <p:spPr>
              <a:xfrm>
                <a:off x="2162" y="1177"/>
                <a:ext cx="17837" cy="16478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结束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2170" name="Rectangle 14"/>
            <p:cNvSpPr/>
            <p:nvPr/>
          </p:nvSpPr>
          <p:spPr>
            <a:xfrm>
              <a:off x="2381" y="2340"/>
              <a:ext cx="953" cy="307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key==a[j]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92171" name="Line 15"/>
            <p:cNvSpPr/>
            <p:nvPr/>
          </p:nvSpPr>
          <p:spPr>
            <a:xfrm flipH="1">
              <a:off x="2381" y="1615"/>
              <a:ext cx="0" cy="127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2172" name="Rectangle 16"/>
            <p:cNvSpPr/>
            <p:nvPr/>
          </p:nvSpPr>
          <p:spPr>
            <a:xfrm>
              <a:off x="2381" y="1525"/>
              <a:ext cx="2223" cy="361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j=(lower+upper) / 2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92173" name="Rectangle 17"/>
            <p:cNvSpPr/>
            <p:nvPr/>
          </p:nvSpPr>
          <p:spPr>
            <a:xfrm>
              <a:off x="3560" y="1932"/>
              <a:ext cx="1043" cy="364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return   j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174" name="Rectangle 18"/>
            <p:cNvSpPr/>
            <p:nvPr/>
          </p:nvSpPr>
          <p:spPr>
            <a:xfrm>
              <a:off x="4513" y="2385"/>
              <a:ext cx="1134" cy="36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lower=j+1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92175" name="Rectangle 19"/>
            <p:cNvSpPr/>
            <p:nvPr/>
          </p:nvSpPr>
          <p:spPr>
            <a:xfrm>
              <a:off x="4491" y="2884"/>
              <a:ext cx="1156" cy="343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upper=j-1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92176" name="Rectangle 20"/>
            <p:cNvSpPr/>
            <p:nvPr/>
          </p:nvSpPr>
          <p:spPr>
            <a:xfrm>
              <a:off x="3515" y="2748"/>
              <a:ext cx="862" cy="243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key&gt;a[j]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92177" name="Rectangle 21"/>
            <p:cNvSpPr/>
            <p:nvPr/>
          </p:nvSpPr>
          <p:spPr>
            <a:xfrm>
              <a:off x="431" y="2159"/>
              <a:ext cx="1134" cy="272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return   -1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178" name="Rectangle 22"/>
            <p:cNvSpPr/>
            <p:nvPr/>
          </p:nvSpPr>
          <p:spPr>
            <a:xfrm>
              <a:off x="431" y="1705"/>
              <a:ext cx="90" cy="272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grpSp>
          <p:nvGrpSpPr>
            <p:cNvPr id="92179" name="Group 23"/>
            <p:cNvGrpSpPr/>
            <p:nvPr/>
          </p:nvGrpSpPr>
          <p:grpSpPr>
            <a:xfrm>
              <a:off x="2381" y="2113"/>
              <a:ext cx="1179" cy="772"/>
              <a:chOff x="2381" y="1887"/>
              <a:chExt cx="1179" cy="772"/>
            </a:xfrm>
          </p:grpSpPr>
          <p:sp>
            <p:nvSpPr>
              <p:cNvPr id="92186" name="Line 24"/>
              <p:cNvSpPr/>
              <p:nvPr/>
            </p:nvSpPr>
            <p:spPr>
              <a:xfrm>
                <a:off x="2381" y="1887"/>
                <a:ext cx="1179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7" name="Line 25"/>
              <p:cNvSpPr/>
              <p:nvPr/>
            </p:nvSpPr>
            <p:spPr>
              <a:xfrm flipH="1">
                <a:off x="3412" y="1887"/>
                <a:ext cx="148" cy="386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8" name="Line 26"/>
              <p:cNvSpPr/>
              <p:nvPr/>
            </p:nvSpPr>
            <p:spPr>
              <a:xfrm>
                <a:off x="2381" y="1887"/>
                <a:ext cx="0" cy="771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9" name="Freeform 27"/>
              <p:cNvSpPr/>
              <p:nvPr/>
            </p:nvSpPr>
            <p:spPr>
              <a:xfrm>
                <a:off x="2381" y="2654"/>
                <a:ext cx="1129" cy="4"/>
              </a:xfrm>
              <a:custGeom>
                <a:avLst/>
                <a:gdLst>
                  <a:gd name="txL" fmla="*/ 0 w 1129"/>
                  <a:gd name="txT" fmla="*/ 0 h 4"/>
                  <a:gd name="txR" fmla="*/ 1129 w 1129"/>
                  <a:gd name="txB" fmla="*/ 4 h 4"/>
                </a:gdLst>
                <a:ahLst/>
                <a:cxnLst>
                  <a:cxn ang="0">
                    <a:pos x="0" y="4"/>
                  </a:cxn>
                  <a:cxn ang="0">
                    <a:pos x="1129" y="0"/>
                  </a:cxn>
                </a:cxnLst>
                <a:rect l="txL" t="txT" r="txR" b="txB"/>
                <a:pathLst>
                  <a:path w="1129" h="4">
                    <a:moveTo>
                      <a:pt x="0" y="4"/>
                    </a:moveTo>
                    <a:lnTo>
                      <a:pt x="1129" y="0"/>
                    </a:lnTo>
                  </a:path>
                </a:pathLst>
              </a:custGeom>
              <a:noFill/>
              <a:ln w="571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2190" name="Line 28"/>
              <p:cNvSpPr/>
              <p:nvPr/>
            </p:nvSpPr>
            <p:spPr>
              <a:xfrm>
                <a:off x="3412" y="2273"/>
                <a:ext cx="103" cy="386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92180" name="Group 29"/>
            <p:cNvGrpSpPr/>
            <p:nvPr/>
          </p:nvGrpSpPr>
          <p:grpSpPr>
            <a:xfrm>
              <a:off x="3515" y="2658"/>
              <a:ext cx="998" cy="363"/>
              <a:chOff x="612" y="2840"/>
              <a:chExt cx="1452" cy="454"/>
            </a:xfrm>
          </p:grpSpPr>
          <p:sp>
            <p:nvSpPr>
              <p:cNvPr id="92181" name="Line 30"/>
              <p:cNvSpPr/>
              <p:nvPr/>
            </p:nvSpPr>
            <p:spPr>
              <a:xfrm>
                <a:off x="612" y="2840"/>
                <a:ext cx="1452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2" name="Line 31"/>
              <p:cNvSpPr/>
              <p:nvPr/>
            </p:nvSpPr>
            <p:spPr>
              <a:xfrm flipH="1">
                <a:off x="1882" y="2840"/>
                <a:ext cx="182" cy="227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3" name="Line 32"/>
              <p:cNvSpPr/>
              <p:nvPr/>
            </p:nvSpPr>
            <p:spPr>
              <a:xfrm>
                <a:off x="612" y="2840"/>
                <a:ext cx="0" cy="454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4" name="Line 33"/>
              <p:cNvSpPr/>
              <p:nvPr/>
            </p:nvSpPr>
            <p:spPr>
              <a:xfrm>
                <a:off x="612" y="3294"/>
                <a:ext cx="1406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185" name="Line 34"/>
              <p:cNvSpPr/>
              <p:nvPr/>
            </p:nvSpPr>
            <p:spPr>
              <a:xfrm>
                <a:off x="1882" y="3067"/>
                <a:ext cx="136" cy="227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B04FBD-4EDE-4197-A2DC-9760B7D579E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6739" name="Rectangle 3"/>
          <p:cNvSpPr/>
          <p:nvPr/>
        </p:nvSpPr>
        <p:spPr>
          <a:xfrm>
            <a:off x="457200" y="58738"/>
            <a:ext cx="8893175" cy="66649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函数如下：</a:t>
            </a:r>
            <a:endParaRPr lang="zh-CN" altLang="en-US" sz="24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int  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half_search</a:t>
            </a:r>
            <a:r>
              <a:rPr lang="en-US" altLang="zh-CN" sz="2400" b="1" dirty="0">
                <a:ea typeface="黑体" panose="02010609060101010101" pitchFamily="49" charset="-122"/>
              </a:rPr>
              <a:t> (int n, int a[ ], 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int key</a:t>
            </a:r>
            <a:r>
              <a:rPr lang="en-US" altLang="zh-CN" sz="2400" b="1" dirty="0">
                <a:ea typeface="黑体" panose="02010609060101010101" pitchFamily="49" charset="-122"/>
              </a:rPr>
              <a:t> ){ 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 key</a:t>
            </a:r>
            <a:r>
              <a:rPr lang="zh-CN" altLang="en-US" sz="1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为检索关键字</a:t>
            </a:r>
            <a:endParaRPr lang="zh-CN" altLang="en-US" sz="1800" b="1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ea typeface="黑体" panose="02010609060101010101" pitchFamily="49" charset="-122"/>
              </a:rPr>
              <a:t>int lower,upper,j;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lower = 0 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upper = n-1 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while ( upper-lower&gt;=0 ) {</a:t>
            </a:r>
            <a:endParaRPr lang="en-US" altLang="zh-CN" sz="24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j = ( lower+upper ) / 2 ;  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 /* 两分 */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if  ( key==a[j] 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   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return j ;    </a:t>
            </a:r>
            <a:r>
              <a:rPr lang="en-US" altLang="zh-CN" sz="2400" b="1" dirty="0">
                <a:ea typeface="黑体" panose="02010609060101010101" pitchFamily="49" charset="-122"/>
              </a:rPr>
              <a:t>      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/* 已经找到，位置为ｊ*/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else 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   if ( key &gt; a[j] 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        lower=j+1 ;  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 // key在a[j+1]与a[upper]之间 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                </a:t>
            </a:r>
            <a:r>
              <a:rPr lang="en-US" altLang="zh-CN" sz="2400" b="1" dirty="0">
                <a:ea typeface="黑体" panose="02010609060101010101" pitchFamily="49" charset="-122"/>
              </a:rPr>
              <a:t>else 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        upper=j-1 ;  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 // key在a[lower]与a[j-1]之间 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}</a:t>
            </a:r>
            <a:endParaRPr lang="en-US" altLang="zh-CN" sz="24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 return  -1 ;</a:t>
            </a:r>
            <a:endParaRPr lang="en-US" altLang="zh-CN" sz="2400" b="1" dirty="0">
              <a:solidFill>
                <a:schemeClr val="accent6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}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AA70A9-DFAC-42C0-9CEC-FCB72B53B5A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305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7163"/>
            <a:ext cx="8540750" cy="7191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6.5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带学号的成绩排序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数组初值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453060" name="Rectangle 4"/>
          <p:cNvSpPr>
            <a:spLocks noGrp="1" noChangeArrowheads="1"/>
          </p:cNvSpPr>
          <p:nvPr>
            <p:ph idx="1"/>
          </p:nvPr>
        </p:nvSpPr>
        <p:spPr>
          <a:xfrm>
            <a:off x="0" y="981075"/>
            <a:ext cx="10820400" cy="1152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例</a:t>
            </a:r>
            <a:r>
              <a:rPr kumimoji="0" lang="pt-BR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6.10】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编程序，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输入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一个班</a:t>
            </a:r>
            <a:r>
              <a:rPr kumimoji="0" lang="pt-BR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50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名学生的</a:t>
            </a:r>
            <a:r>
              <a:rPr kumimoji="0" lang="pt-BR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程设</a:t>
            </a:r>
            <a:r>
              <a:rPr kumimoji="0" lang="pt-BR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”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课程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成绩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，按成绩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由高到低</a:t>
            </a:r>
            <a:r>
              <a:rPr kumimoji="0" lang="zh-CN" altLang="pt-BR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的顺序输出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，要求同时输出每个成绩是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哪个学生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的。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6261" name="AutoShape 4"/>
          <p:cNvSpPr/>
          <p:nvPr/>
        </p:nvSpPr>
        <p:spPr>
          <a:xfrm>
            <a:off x="10058400" y="0"/>
            <a:ext cx="2133600" cy="685800"/>
          </a:xfrm>
          <a:prstGeom prst="actionButtonBlank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endParaRPr lang="zh-CN" altLang="en-US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grpSp>
        <p:nvGrpSpPr>
          <p:cNvPr id="8" name="Group 3"/>
          <p:cNvGrpSpPr/>
          <p:nvPr/>
        </p:nvGrpSpPr>
        <p:grpSpPr>
          <a:xfrm>
            <a:off x="228600" y="2279650"/>
            <a:ext cx="10040938" cy="4183063"/>
            <a:chOff x="-136" y="1066"/>
            <a:chExt cx="6142" cy="2635"/>
          </a:xfrm>
        </p:grpSpPr>
        <p:sp>
          <p:nvSpPr>
            <p:cNvPr id="96266" name="Line 4"/>
            <p:cNvSpPr/>
            <p:nvPr/>
          </p:nvSpPr>
          <p:spPr>
            <a:xfrm>
              <a:off x="438" y="1398"/>
              <a:ext cx="0" cy="199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6267" name="Group 5"/>
            <p:cNvGrpSpPr/>
            <p:nvPr/>
          </p:nvGrpSpPr>
          <p:grpSpPr>
            <a:xfrm>
              <a:off x="-136" y="1066"/>
              <a:ext cx="1155" cy="333"/>
              <a:chOff x="2107" y="9573"/>
              <a:chExt cx="897" cy="248"/>
            </a:xfrm>
          </p:grpSpPr>
          <p:sp>
            <p:nvSpPr>
              <p:cNvPr id="96296" name="Rectangle 6"/>
              <p:cNvSpPr/>
              <p:nvPr/>
            </p:nvSpPr>
            <p:spPr>
              <a:xfrm>
                <a:off x="2107" y="9581"/>
                <a:ext cx="897" cy="2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ea typeface="黑体" panose="02010609060101010101" pitchFamily="49" charset="-122"/>
                  </a:rPr>
                  <a:t>开始</a:t>
                </a: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6297" name="Oval 7"/>
              <p:cNvSpPr/>
              <p:nvPr/>
            </p:nvSpPr>
            <p:spPr>
              <a:xfrm>
                <a:off x="2207" y="9573"/>
                <a:ext cx="668" cy="248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6268" name="Group 8"/>
            <p:cNvGrpSpPr/>
            <p:nvPr/>
          </p:nvGrpSpPr>
          <p:grpSpPr>
            <a:xfrm>
              <a:off x="96" y="3352"/>
              <a:ext cx="681" cy="349"/>
              <a:chOff x="-1" y="0"/>
              <a:chExt cx="20001" cy="20000"/>
            </a:xfrm>
          </p:grpSpPr>
          <p:sp>
            <p:nvSpPr>
              <p:cNvPr id="96294" name="Rectangle 9"/>
              <p:cNvSpPr/>
              <p:nvPr/>
            </p:nvSpPr>
            <p:spPr>
              <a:xfrm>
                <a:off x="3883" y="2161"/>
                <a:ext cx="15007" cy="178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ea typeface="黑体" panose="02010609060101010101" pitchFamily="49" charset="-122"/>
                  </a:rPr>
                  <a:t>结束</a:t>
                </a: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6295" name="Oval 10"/>
              <p:cNvSpPr/>
              <p:nvPr/>
            </p:nvSpPr>
            <p:spPr>
              <a:xfrm>
                <a:off x="-1" y="0"/>
                <a:ext cx="20001" cy="18891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6269" name="Group 11"/>
            <p:cNvGrpSpPr/>
            <p:nvPr/>
          </p:nvGrpSpPr>
          <p:grpSpPr>
            <a:xfrm>
              <a:off x="438" y="1966"/>
              <a:ext cx="1043" cy="355"/>
              <a:chOff x="0" y="0"/>
              <a:chExt cx="19998" cy="20000"/>
            </a:xfrm>
          </p:grpSpPr>
          <p:sp>
            <p:nvSpPr>
              <p:cNvPr id="96292" name="Rectangle 12"/>
              <p:cNvSpPr/>
              <p:nvPr/>
            </p:nvSpPr>
            <p:spPr>
              <a:xfrm>
                <a:off x="0" y="51"/>
                <a:ext cx="2351" cy="1994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6293" name="Rectangle 13"/>
              <p:cNvSpPr/>
              <p:nvPr/>
            </p:nvSpPr>
            <p:spPr>
              <a:xfrm>
                <a:off x="2336" y="0"/>
                <a:ext cx="17662" cy="1994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lIns="0" r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ea typeface="黑体" panose="02010609060101010101" pitchFamily="49" charset="-122"/>
                  </a:rPr>
                  <a:t>while flag</a:t>
                </a:r>
                <a:endParaRPr lang="en-US" altLang="zh-CN" sz="2000" b="1" dirty="0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6270" name="Line 14"/>
            <p:cNvSpPr/>
            <p:nvPr/>
          </p:nvSpPr>
          <p:spPr>
            <a:xfrm>
              <a:off x="1481" y="2142"/>
              <a:ext cx="7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6271" name="Rectangle 15"/>
            <p:cNvSpPr/>
            <p:nvPr/>
          </p:nvSpPr>
          <p:spPr>
            <a:xfrm>
              <a:off x="1557" y="2202"/>
              <a:ext cx="140" cy="35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96272" name="Rectangle 16"/>
            <p:cNvSpPr/>
            <p:nvPr/>
          </p:nvSpPr>
          <p:spPr>
            <a:xfrm>
              <a:off x="1697" y="2202"/>
              <a:ext cx="1365" cy="35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lIns="0" r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ea typeface="黑体" panose="02010609060101010101" pitchFamily="49" charset="-122"/>
                </a:rPr>
                <a:t>for(i=0;i&lt;50-1;i++)</a:t>
              </a:r>
              <a:endParaRPr lang="en-US" altLang="zh-CN" sz="1600" b="1" dirty="0">
                <a:ea typeface="黑体" panose="02010609060101010101" pitchFamily="49" charset="-122"/>
              </a:endParaRPr>
            </a:p>
          </p:txBody>
        </p:sp>
        <p:sp>
          <p:nvSpPr>
            <p:cNvPr id="96273" name="Rectangle 17"/>
            <p:cNvSpPr/>
            <p:nvPr/>
          </p:nvSpPr>
          <p:spPr>
            <a:xfrm>
              <a:off x="1557" y="1772"/>
              <a:ext cx="1000" cy="29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flag=false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96274" name="Line 18"/>
            <p:cNvSpPr/>
            <p:nvPr/>
          </p:nvSpPr>
          <p:spPr>
            <a:xfrm>
              <a:off x="1557" y="1928"/>
              <a:ext cx="1" cy="6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96275" name="Group 19"/>
            <p:cNvGrpSpPr/>
            <p:nvPr/>
          </p:nvGrpSpPr>
          <p:grpSpPr>
            <a:xfrm>
              <a:off x="3077" y="2157"/>
              <a:ext cx="1422" cy="418"/>
              <a:chOff x="3032" y="2157"/>
              <a:chExt cx="1422" cy="418"/>
            </a:xfrm>
          </p:grpSpPr>
          <p:sp>
            <p:nvSpPr>
              <p:cNvPr id="96286" name="Line 20"/>
              <p:cNvSpPr/>
              <p:nvPr/>
            </p:nvSpPr>
            <p:spPr>
              <a:xfrm>
                <a:off x="3032" y="2378"/>
                <a:ext cx="12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96287" name="Group 21"/>
              <p:cNvGrpSpPr/>
              <p:nvPr/>
            </p:nvGrpSpPr>
            <p:grpSpPr>
              <a:xfrm>
                <a:off x="3137" y="2157"/>
                <a:ext cx="1317" cy="386"/>
                <a:chOff x="4411" y="10400"/>
                <a:chExt cx="1125" cy="285"/>
              </a:xfrm>
            </p:grpSpPr>
            <p:sp>
              <p:nvSpPr>
                <p:cNvPr id="96290" name="Freeform 22"/>
                <p:cNvSpPr/>
                <p:nvPr/>
              </p:nvSpPr>
              <p:spPr>
                <a:xfrm>
                  <a:off x="4411" y="10400"/>
                  <a:ext cx="1110" cy="164"/>
                </a:xfrm>
                <a:custGeom>
                  <a:avLst/>
                  <a:gdLst>
                    <a:gd name="txL" fmla="*/ 0 w 20000"/>
                    <a:gd name="txT" fmla="*/ 0 h 20000"/>
                    <a:gd name="txR" fmla="*/ 20000 w 20000"/>
                    <a:gd name="txB" fmla="*/ 20000 h 200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0000" h="20000">
                      <a:moveTo>
                        <a:pt x="0" y="0"/>
                      </a:moveTo>
                      <a:lnTo>
                        <a:pt x="19987" y="0"/>
                      </a:lnTo>
                      <a:lnTo>
                        <a:pt x="15686" y="1991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96291" name="Freeform 23"/>
                <p:cNvSpPr/>
                <p:nvPr/>
              </p:nvSpPr>
              <p:spPr>
                <a:xfrm>
                  <a:off x="4411" y="10534"/>
                  <a:ext cx="1125" cy="151"/>
                </a:xfrm>
                <a:custGeom>
                  <a:avLst/>
                  <a:gdLst>
                    <a:gd name="txL" fmla="*/ 0 w 20000"/>
                    <a:gd name="txT" fmla="*/ 0 h 20000"/>
                    <a:gd name="txR" fmla="*/ 20000 w 20000"/>
                    <a:gd name="txB" fmla="*/ 20000 h 200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0000" h="20000">
                      <a:moveTo>
                        <a:pt x="0" y="19910"/>
                      </a:moveTo>
                      <a:lnTo>
                        <a:pt x="19987" y="19910"/>
                      </a:lnTo>
                      <a:lnTo>
                        <a:pt x="1568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96288" name="Line 24"/>
              <p:cNvSpPr/>
              <p:nvPr/>
            </p:nvSpPr>
            <p:spPr>
              <a:xfrm>
                <a:off x="3138" y="2182"/>
                <a:ext cx="2" cy="3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96289" name="Rectangle 25"/>
              <p:cNvSpPr/>
              <p:nvPr/>
            </p:nvSpPr>
            <p:spPr>
              <a:xfrm>
                <a:off x="3143" y="2205"/>
                <a:ext cx="1014" cy="33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u[i]&lt;u[i+1]</a:t>
                </a:r>
                <a:endParaRPr lang="en-US" altLang="zh-CN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6276" name="Group 26"/>
            <p:cNvGrpSpPr/>
            <p:nvPr/>
          </p:nvGrpSpPr>
          <p:grpSpPr>
            <a:xfrm>
              <a:off x="4482" y="1817"/>
              <a:ext cx="1524" cy="680"/>
              <a:chOff x="7107" y="2121"/>
              <a:chExt cx="2158" cy="414"/>
            </a:xfrm>
          </p:grpSpPr>
          <p:sp>
            <p:nvSpPr>
              <p:cNvPr id="96284" name="Rectangle 27"/>
              <p:cNvSpPr/>
              <p:nvPr/>
            </p:nvSpPr>
            <p:spPr>
              <a:xfrm>
                <a:off x="7457" y="2121"/>
                <a:ext cx="1808" cy="41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交换 </a:t>
                </a:r>
                <a:r>
                  <a:rPr lang="en-US" altLang="zh-CN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u[i],u[i+1]</a:t>
                </a:r>
                <a:endParaRPr lang="en-US" altLang="zh-CN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ea typeface="黑体" panose="02010609060101010101" pitchFamily="49" charset="-122"/>
                  </a:rPr>
                  <a:t>flag=true</a:t>
                </a:r>
                <a:endParaRPr lang="en-US" altLang="zh-CN" sz="1800" b="1" dirty="0">
                  <a:ea typeface="黑体" panose="02010609060101010101" pitchFamily="49" charset="-12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交换 </a:t>
                </a:r>
                <a:r>
                  <a:rPr lang="en-US" altLang="zh-CN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v[i],v[i+1]</a:t>
                </a:r>
                <a:endParaRPr lang="en-US" altLang="zh-CN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6285" name="Line 28"/>
              <p:cNvSpPr/>
              <p:nvPr/>
            </p:nvSpPr>
            <p:spPr>
              <a:xfrm>
                <a:off x="7107" y="2328"/>
                <a:ext cx="350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96277" name="Rectangle 29"/>
            <p:cNvSpPr/>
            <p:nvPr/>
          </p:nvSpPr>
          <p:spPr>
            <a:xfrm>
              <a:off x="438" y="1537"/>
              <a:ext cx="1043" cy="27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flag=true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grpSp>
          <p:nvGrpSpPr>
            <p:cNvPr id="96278" name="Group 30"/>
            <p:cNvGrpSpPr/>
            <p:nvPr/>
          </p:nvGrpSpPr>
          <p:grpSpPr>
            <a:xfrm>
              <a:off x="434" y="2809"/>
              <a:ext cx="1675" cy="355"/>
              <a:chOff x="0" y="0"/>
              <a:chExt cx="19998" cy="20000"/>
            </a:xfrm>
          </p:grpSpPr>
          <p:sp>
            <p:nvSpPr>
              <p:cNvPr id="96282" name="Rectangle 31"/>
              <p:cNvSpPr/>
              <p:nvPr/>
            </p:nvSpPr>
            <p:spPr>
              <a:xfrm>
                <a:off x="0" y="51"/>
                <a:ext cx="2351" cy="1994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6283" name="Rectangle 32"/>
              <p:cNvSpPr/>
              <p:nvPr/>
            </p:nvSpPr>
            <p:spPr>
              <a:xfrm>
                <a:off x="2336" y="0"/>
                <a:ext cx="17662" cy="1994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ea typeface="黑体" panose="02010609060101010101" pitchFamily="49" charset="-122"/>
                  </a:rPr>
                  <a:t>for ( i=0;i&lt;50;i++)</a:t>
                </a:r>
                <a:endParaRPr lang="en-US" altLang="zh-CN" sz="1800" b="1" dirty="0"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6279" name="Group 33"/>
            <p:cNvGrpSpPr/>
            <p:nvPr/>
          </p:nvGrpSpPr>
          <p:grpSpPr>
            <a:xfrm>
              <a:off x="2099" y="2787"/>
              <a:ext cx="1688" cy="404"/>
              <a:chOff x="6754" y="2137"/>
              <a:chExt cx="2133" cy="414"/>
            </a:xfrm>
          </p:grpSpPr>
          <p:sp>
            <p:nvSpPr>
              <p:cNvPr id="96280" name="Rectangle 34"/>
              <p:cNvSpPr/>
              <p:nvPr/>
            </p:nvSpPr>
            <p:spPr>
              <a:xfrm>
                <a:off x="7079" y="2137"/>
                <a:ext cx="1808" cy="41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ea typeface="黑体" panose="02010609060101010101" pitchFamily="49" charset="-122"/>
                  </a:rPr>
                  <a:t>输出 </a:t>
                </a:r>
                <a:r>
                  <a:rPr lang="en-US" altLang="zh-CN" sz="2000" b="1" dirty="0">
                    <a:ea typeface="黑体" panose="02010609060101010101" pitchFamily="49" charset="-122"/>
                  </a:rPr>
                  <a:t>v[i]</a:t>
                </a:r>
                <a:r>
                  <a:rPr lang="zh-CN" altLang="en-US" sz="2000" b="1" dirty="0">
                    <a:ea typeface="黑体" panose="02010609060101010101" pitchFamily="49" charset="-122"/>
                  </a:rPr>
                  <a:t>、</a:t>
                </a:r>
                <a:r>
                  <a:rPr lang="en-US" altLang="zh-CN" sz="2000" b="1" dirty="0">
                    <a:ea typeface="黑体" panose="02010609060101010101" pitchFamily="49" charset="-122"/>
                  </a:rPr>
                  <a:t>u[i]</a:t>
                </a:r>
                <a:endParaRPr lang="en-US" altLang="zh-CN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96281" name="Line 35"/>
              <p:cNvSpPr/>
              <p:nvPr/>
            </p:nvSpPr>
            <p:spPr>
              <a:xfrm>
                <a:off x="6754" y="2344"/>
                <a:ext cx="350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sp>
        <p:nvSpPr>
          <p:cNvPr id="3" name="对话气泡: 圆角矩形 2"/>
          <p:cNvSpPr/>
          <p:nvPr/>
        </p:nvSpPr>
        <p:spPr>
          <a:xfrm>
            <a:off x="4930775" y="3027363"/>
            <a:ext cx="1927225" cy="603250"/>
          </a:xfrm>
          <a:prstGeom prst="wedgeRoundRectCallout">
            <a:avLst>
              <a:gd name="adj1" fmla="val -3356"/>
              <a:gd name="adj2" fmla="val 150347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int u[50];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50</a:t>
            </a:r>
            <a:r>
              <a:rPr lang="zh-CN" altLang="en-US" sz="1800" b="1" dirty="0">
                <a:latin typeface="Arial" panose="020B0604020202020204" pitchFamily="34" charset="0"/>
              </a:rPr>
              <a:t>名学生的成绩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42" name="对话气泡: 圆角矩形 41"/>
          <p:cNvSpPr/>
          <p:nvPr/>
        </p:nvSpPr>
        <p:spPr>
          <a:xfrm>
            <a:off x="9197975" y="4800600"/>
            <a:ext cx="1927225" cy="603250"/>
          </a:xfrm>
          <a:prstGeom prst="wedgeRoundRectCallout">
            <a:avLst>
              <a:gd name="adj1" fmla="val -52417"/>
              <a:gd name="adj2" fmla="val -121806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int v[50];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50</a:t>
            </a:r>
            <a:r>
              <a:rPr lang="zh-CN" altLang="en-US" sz="1800" b="1" dirty="0">
                <a:latin typeface="Arial" panose="020B0604020202020204" pitchFamily="34" charset="0"/>
              </a:rPr>
              <a:t>名学生的学号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43" name="对话气泡: 圆角矩形 42"/>
          <p:cNvSpPr/>
          <p:nvPr/>
        </p:nvSpPr>
        <p:spPr>
          <a:xfrm>
            <a:off x="79375" y="3554413"/>
            <a:ext cx="889000" cy="603250"/>
          </a:xfrm>
          <a:prstGeom prst="wedgeRoundRectCallout">
            <a:avLst>
              <a:gd name="adj1" fmla="val 118227"/>
              <a:gd name="adj2" fmla="val 9102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冒泡法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2" grpId="0" bldLvl="0" animBg="1"/>
      <p:bldP spid="4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17E372-9443-42E7-A811-2C18F3EBAB3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26988" y="241300"/>
            <a:ext cx="12192000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334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i,r,s,u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[50],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v[50]=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{ 1,2,3,4,5,6,7,8,9,10,11,12,13,14,15,16,17,18,19,20,21,22,23,24,25,26,27,28,29,30,31,32,33,34,35,36,37,38,39,40,41,42,43,44,45,46,47,48,49,50 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bool  flag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 main(){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for (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=0;i&lt;50;i++ ){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输入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(“Please input %d : “,i+1);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      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(“%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d”,&amp;u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8308" name="对话气泡: 圆角矩形 1"/>
          <p:cNvSpPr/>
          <p:nvPr/>
        </p:nvSpPr>
        <p:spPr>
          <a:xfrm>
            <a:off x="6477000" y="1905000"/>
            <a:ext cx="3733800" cy="533400"/>
          </a:xfrm>
          <a:prstGeom prst="wedgeRoundRectCallout">
            <a:avLst>
              <a:gd name="adj1" fmla="val -67338"/>
              <a:gd name="adj2" fmla="val -92463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" panose="020B0604020202020204" pitchFamily="34" charset="0"/>
              </a:rPr>
              <a:t>学号：数组初始化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98309" name="对话气泡: 圆角矩形 4"/>
          <p:cNvSpPr/>
          <p:nvPr/>
        </p:nvSpPr>
        <p:spPr>
          <a:xfrm>
            <a:off x="6324600" y="4800600"/>
            <a:ext cx="3733800" cy="533400"/>
          </a:xfrm>
          <a:prstGeom prst="wedgeRoundRectCallout">
            <a:avLst>
              <a:gd name="adj1" fmla="val -71514"/>
              <a:gd name="adj2" fmla="val -16064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" panose="020B0604020202020204" pitchFamily="34" charset="0"/>
              </a:rPr>
              <a:t>成绩：从键盘输入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C550B0-31DD-4E2B-94BC-4988B5F5A82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1143000" y="-66675"/>
            <a:ext cx="914400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334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  flag = true ;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冒泡排序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while ( flag ) 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flag = false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for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=0 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&lt;49 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++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if ( u[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 &lt; u[i+1] 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r = u[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 ;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交换成绩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u[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 = u[i+1]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u[i+1] = r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flag=true;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标志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 = v[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 ;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交换学号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v[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 = v[i+1]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v[i+1] = s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(“Answer:\n”);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输出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for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=0;i&lt;50;i++)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   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(“%4d  %4d\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n”,v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],u[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return 0;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63AA65-0E29-4FBB-B6FD-C09630FF57A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3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§6.6 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表示姓名</a:t>
            </a: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—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字符串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193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971800"/>
            <a:ext cx="7345363" cy="14398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rId1" action="ppaction://hlinksldjump"/>
              </a:rPr>
              <a:t>§ 6.6.1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rId1" action="ppaction://hlinksldjump"/>
              </a:rPr>
              <a:t>一维字符数组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rId1" action="ppaction://hlinksldjump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rId1" action="ppaction://hlinksldjump"/>
              </a:rPr>
              <a:t>字符串）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" action="ppaction://noaction"/>
              </a:rPr>
              <a:t>§ 6.6.2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" action="ppaction://noaction"/>
              </a:rPr>
              <a:t>二维字符数组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" action="ppaction://noaction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  <a:hlinkClick r:id="" action="ppaction://noaction"/>
              </a:rPr>
              <a:t>字符串数组）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隶书" pitchFamily="2" charset="-122"/>
              <a:ea typeface="华文隶书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B22460-B54A-452D-A9AE-D9D840A5843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435975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j-cs"/>
              </a:rPr>
              <a:t>§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6.6.1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一维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字符数组（字符串）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241091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600200"/>
            <a:ext cx="12115800" cy="2620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6.11】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判断给定的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单词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是否是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回文字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回文字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是指正读和反读都相同的单词。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rotor,deed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就是回文字。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41092" name="Rectangle 4"/>
          <p:cNvSpPr>
            <a:spLocks noChangeArrowheads="1"/>
          </p:cNvSpPr>
          <p:nvPr/>
        </p:nvSpPr>
        <p:spPr bwMode="auto">
          <a:xfrm>
            <a:off x="-155575" y="4667250"/>
            <a:ext cx="8893175" cy="11811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【思考】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单词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用什么数据结构保存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?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   char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109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92">
                                            <p:txEl>
                                              <p:charRg st="26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1092">
                                            <p:txEl>
                                              <p:charRg st="26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125200" y="6248400"/>
            <a:ext cx="4572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7123F6-4B35-4310-AE06-A4D513CA1AE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8082" name="Rectangle 2"/>
          <p:cNvSpPr>
            <a:spLocks noChangeArrowheads="1"/>
          </p:cNvSpPr>
          <p:nvPr/>
        </p:nvSpPr>
        <p:spPr bwMode="auto">
          <a:xfrm>
            <a:off x="0" y="188913"/>
            <a:ext cx="11963400" cy="1112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判断一个单词是否回文字，显然可以首先找到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单词的尾部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；然后首尾对应，逐个字符判断它们是否相等；若全部相等则是回文字，否则不是。该算法描述为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4" name="Line 4"/>
          <p:cNvSpPr/>
          <p:nvPr/>
        </p:nvSpPr>
        <p:spPr>
          <a:xfrm>
            <a:off x="3162300" y="2524125"/>
            <a:ext cx="0" cy="22383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1445" name="Group 5"/>
          <p:cNvGrpSpPr/>
          <p:nvPr/>
        </p:nvGrpSpPr>
        <p:grpSpPr>
          <a:xfrm>
            <a:off x="2189163" y="1809750"/>
            <a:ext cx="1974850" cy="711200"/>
            <a:chOff x="2124" y="9254"/>
            <a:chExt cx="1340" cy="418"/>
          </a:xfrm>
        </p:grpSpPr>
        <p:sp>
          <p:nvSpPr>
            <p:cNvPr id="61500" name="Rectangle 6"/>
            <p:cNvSpPr/>
            <p:nvPr/>
          </p:nvSpPr>
          <p:spPr>
            <a:xfrm>
              <a:off x="2170" y="9334"/>
              <a:ext cx="1294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宋体" panose="02010600030101010101" pitchFamily="2" charset="-122"/>
                </a:rPr>
                <a:t>s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是回文字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？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61501" name="Oval 7"/>
            <p:cNvSpPr/>
            <p:nvPr/>
          </p:nvSpPr>
          <p:spPr>
            <a:xfrm>
              <a:off x="2124" y="9254"/>
              <a:ext cx="1280" cy="41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61446" name="Group 8"/>
          <p:cNvGrpSpPr/>
          <p:nvPr/>
        </p:nvGrpSpPr>
        <p:grpSpPr>
          <a:xfrm>
            <a:off x="2444750" y="4759325"/>
            <a:ext cx="1423988" cy="431800"/>
            <a:chOff x="2177" y="10740"/>
            <a:chExt cx="967" cy="254"/>
          </a:xfrm>
        </p:grpSpPr>
        <p:sp>
          <p:nvSpPr>
            <p:cNvPr id="61498" name="Rectangle 9"/>
            <p:cNvSpPr/>
            <p:nvPr/>
          </p:nvSpPr>
          <p:spPr>
            <a:xfrm>
              <a:off x="2177" y="10774"/>
              <a:ext cx="967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2540" tIns="2540" rIns="2540" bIns="254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结束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61499" name="Oval 10"/>
            <p:cNvSpPr/>
            <p:nvPr/>
          </p:nvSpPr>
          <p:spPr>
            <a:xfrm>
              <a:off x="2255" y="10740"/>
              <a:ext cx="869" cy="254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23932" name="Rectangle 11"/>
          <p:cNvSpPr/>
          <p:nvPr/>
        </p:nvSpPr>
        <p:spPr>
          <a:xfrm>
            <a:off x="3175000" y="4102100"/>
            <a:ext cx="1517650" cy="44291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return  true;</a:t>
            </a:r>
            <a:endParaRPr lang="en-US" altLang="zh-CN" sz="20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1448" name="Rectangle 12"/>
          <p:cNvSpPr/>
          <p:nvPr/>
        </p:nvSpPr>
        <p:spPr>
          <a:xfrm>
            <a:off x="3176588" y="2524125"/>
            <a:ext cx="2774950" cy="4111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i=0;  j=</a:t>
            </a:r>
            <a:r>
              <a:rPr lang="zh-CN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单词的尾位置</a:t>
            </a:r>
            <a:endParaRPr lang="zh-CN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42" name="Rectangle 27"/>
          <p:cNvSpPr/>
          <p:nvPr/>
        </p:nvSpPr>
        <p:spPr>
          <a:xfrm>
            <a:off x="5486400" y="3843338"/>
            <a:ext cx="1595438" cy="390525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i++;  j--;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489575" y="2740025"/>
            <a:ext cx="4291013" cy="1387475"/>
            <a:chOff x="3965830" y="2740025"/>
            <a:chExt cx="4290759" cy="1388230"/>
          </a:xfrm>
        </p:grpSpPr>
        <p:sp>
          <p:nvSpPr>
            <p:cNvPr id="61488" name="Rectangle 18"/>
            <p:cNvSpPr/>
            <p:nvPr/>
          </p:nvSpPr>
          <p:spPr>
            <a:xfrm>
              <a:off x="6662289" y="2740025"/>
              <a:ext cx="1594300" cy="390067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</a:rPr>
                <a:t>return  false;</a:t>
              </a:r>
              <a:endParaRPr lang="en-US" altLang="zh-CN" sz="20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1489" name="Group 19"/>
            <p:cNvGrpSpPr/>
            <p:nvPr/>
          </p:nvGrpSpPr>
          <p:grpSpPr>
            <a:xfrm>
              <a:off x="3967303" y="3000638"/>
              <a:ext cx="2712667" cy="638756"/>
              <a:chOff x="5266" y="9996"/>
              <a:chExt cx="1236" cy="375"/>
            </a:xfrm>
          </p:grpSpPr>
          <p:sp>
            <p:nvSpPr>
              <p:cNvPr id="61492" name="Line 20"/>
              <p:cNvSpPr/>
              <p:nvPr/>
            </p:nvSpPr>
            <p:spPr>
              <a:xfrm>
                <a:off x="5266" y="9996"/>
                <a:ext cx="928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1493" name="Line 21"/>
              <p:cNvSpPr/>
              <p:nvPr/>
            </p:nvSpPr>
            <p:spPr>
              <a:xfrm flipH="1">
                <a:off x="6261" y="9996"/>
                <a:ext cx="241" cy="1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1494" name="Line 22"/>
              <p:cNvSpPr/>
              <p:nvPr/>
            </p:nvSpPr>
            <p:spPr>
              <a:xfrm>
                <a:off x="5266" y="10370"/>
                <a:ext cx="12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1495" name="Line 23"/>
              <p:cNvSpPr/>
              <p:nvPr/>
            </p:nvSpPr>
            <p:spPr>
              <a:xfrm flipH="1" flipV="1">
                <a:off x="6261" y="10175"/>
                <a:ext cx="241" cy="1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1496" name="Line 24"/>
              <p:cNvSpPr/>
              <p:nvPr/>
            </p:nvSpPr>
            <p:spPr>
              <a:xfrm>
                <a:off x="5266" y="9996"/>
                <a:ext cx="1" cy="37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61497" name="Rectangle 25"/>
              <p:cNvSpPr/>
              <p:nvPr/>
            </p:nvSpPr>
            <p:spPr>
              <a:xfrm>
                <a:off x="5318" y="10094"/>
                <a:ext cx="927" cy="19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宋体" panose="02010600030101010101" pitchFamily="2" charset="-122"/>
                  </a:rPr>
                  <a:t>s[i] != s[j]</a:t>
                </a:r>
                <a:endParaRPr lang="en-US" altLang="zh-CN" sz="20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490" name="Line 26"/>
            <p:cNvSpPr/>
            <p:nvPr/>
          </p:nvSpPr>
          <p:spPr>
            <a:xfrm>
              <a:off x="5993331" y="3000638"/>
              <a:ext cx="685166" cy="17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91" name="Line 28"/>
            <p:cNvSpPr/>
            <p:nvPr/>
          </p:nvSpPr>
          <p:spPr>
            <a:xfrm>
              <a:off x="3965830" y="3162456"/>
              <a:ext cx="0" cy="96579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3198813" y="3494088"/>
            <a:ext cx="2282825" cy="431800"/>
            <a:chOff x="1651001" y="3500438"/>
            <a:chExt cx="2282413" cy="431932"/>
          </a:xfrm>
        </p:grpSpPr>
        <p:sp>
          <p:nvSpPr>
            <p:cNvPr id="61485" name="Rectangle 14"/>
            <p:cNvSpPr/>
            <p:nvPr/>
          </p:nvSpPr>
          <p:spPr>
            <a:xfrm>
              <a:off x="1651001" y="3523566"/>
              <a:ext cx="1902256" cy="40880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宋体" panose="02010600030101010101" pitchFamily="2" charset="-122"/>
                </a:rPr>
                <a:t>i &lt; j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61486" name="Line 16"/>
            <p:cNvSpPr/>
            <p:nvPr/>
          </p:nvSpPr>
          <p:spPr>
            <a:xfrm>
              <a:off x="3553257" y="3726265"/>
              <a:ext cx="380157" cy="17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487" name="Line 30"/>
            <p:cNvSpPr/>
            <p:nvPr/>
          </p:nvSpPr>
          <p:spPr>
            <a:xfrm>
              <a:off x="1908175" y="3500438"/>
              <a:ext cx="0" cy="4191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61452" name="Rectangle 2"/>
          <p:cNvSpPr/>
          <p:nvPr/>
        </p:nvSpPr>
        <p:spPr>
          <a:xfrm>
            <a:off x="5364163" y="5141913"/>
            <a:ext cx="2989262" cy="503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e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1453" name="Line 4"/>
          <p:cNvSpPr/>
          <p:nvPr/>
        </p:nvSpPr>
        <p:spPr>
          <a:xfrm>
            <a:off x="5757863" y="51419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4" name="Line 5"/>
          <p:cNvSpPr/>
          <p:nvPr/>
        </p:nvSpPr>
        <p:spPr>
          <a:xfrm>
            <a:off x="6189663" y="51419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5" name="Line 6"/>
          <p:cNvSpPr/>
          <p:nvPr/>
        </p:nvSpPr>
        <p:spPr>
          <a:xfrm>
            <a:off x="6621463" y="51419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6" name="Line 7"/>
          <p:cNvSpPr/>
          <p:nvPr/>
        </p:nvSpPr>
        <p:spPr>
          <a:xfrm>
            <a:off x="7053263" y="51419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7" name="Line 8"/>
          <p:cNvSpPr/>
          <p:nvPr/>
        </p:nvSpPr>
        <p:spPr>
          <a:xfrm>
            <a:off x="7486650" y="51419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8" name="Line 9"/>
          <p:cNvSpPr/>
          <p:nvPr/>
        </p:nvSpPr>
        <p:spPr>
          <a:xfrm>
            <a:off x="7918450" y="51419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59" name="Text Box 16"/>
          <p:cNvSpPr txBox="1"/>
          <p:nvPr/>
        </p:nvSpPr>
        <p:spPr>
          <a:xfrm>
            <a:off x="4752975" y="5194300"/>
            <a:ext cx="57467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s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61460" name="Text Box 17"/>
          <p:cNvSpPr txBox="1"/>
          <p:nvPr/>
        </p:nvSpPr>
        <p:spPr>
          <a:xfrm>
            <a:off x="5397500" y="52133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r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1461" name="Text Box 18"/>
          <p:cNvSpPr txBox="1"/>
          <p:nvPr/>
        </p:nvSpPr>
        <p:spPr>
          <a:xfrm>
            <a:off x="6257925" y="52133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b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1462" name="Text Box 19"/>
          <p:cNvSpPr txBox="1"/>
          <p:nvPr/>
        </p:nvSpPr>
        <p:spPr>
          <a:xfrm>
            <a:off x="5757863" y="52133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o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1463" name="Text Box 20"/>
          <p:cNvSpPr txBox="1"/>
          <p:nvPr/>
        </p:nvSpPr>
        <p:spPr>
          <a:xfrm>
            <a:off x="7053263" y="52133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r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1464" name="Text Box 21"/>
          <p:cNvSpPr txBox="1"/>
          <p:nvPr/>
        </p:nvSpPr>
        <p:spPr>
          <a:xfrm>
            <a:off x="7454900" y="5260975"/>
            <a:ext cx="50958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‘\0’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6981825" y="5645150"/>
            <a:ext cx="293688" cy="584200"/>
            <a:chOff x="838" y="3475"/>
            <a:chExt cx="182" cy="368"/>
          </a:xfrm>
        </p:grpSpPr>
        <p:sp>
          <p:nvSpPr>
            <p:cNvPr id="61483" name="Line 29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84" name="Text Box 30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31"/>
          <p:cNvGrpSpPr/>
          <p:nvPr/>
        </p:nvGrpSpPr>
        <p:grpSpPr>
          <a:xfrm>
            <a:off x="5254625" y="5645150"/>
            <a:ext cx="292100" cy="584200"/>
            <a:chOff x="838" y="3475"/>
            <a:chExt cx="182" cy="368"/>
          </a:xfrm>
        </p:grpSpPr>
        <p:sp>
          <p:nvSpPr>
            <p:cNvPr id="61481" name="Line 32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82" name="Text Box 33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i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0" name="Group 28"/>
          <p:cNvGrpSpPr/>
          <p:nvPr/>
        </p:nvGrpSpPr>
        <p:grpSpPr>
          <a:xfrm>
            <a:off x="6624638" y="5646738"/>
            <a:ext cx="293687" cy="584200"/>
            <a:chOff x="838" y="3475"/>
            <a:chExt cx="182" cy="368"/>
          </a:xfrm>
        </p:grpSpPr>
        <p:sp>
          <p:nvSpPr>
            <p:cNvPr id="61479" name="Line 29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80" name="Text Box 30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3" name="Group 31"/>
          <p:cNvGrpSpPr/>
          <p:nvPr/>
        </p:nvGrpSpPr>
        <p:grpSpPr>
          <a:xfrm>
            <a:off x="5618163" y="5646738"/>
            <a:ext cx="292100" cy="584200"/>
            <a:chOff x="838" y="3475"/>
            <a:chExt cx="182" cy="368"/>
          </a:xfrm>
        </p:grpSpPr>
        <p:sp>
          <p:nvSpPr>
            <p:cNvPr id="61477" name="Line 32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478" name="Text Box 33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i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61469" name="Rectangle 2"/>
          <p:cNvSpPr/>
          <p:nvPr/>
        </p:nvSpPr>
        <p:spPr>
          <a:xfrm>
            <a:off x="8348663" y="5140325"/>
            <a:ext cx="2989262" cy="5032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1470" name="Line 9"/>
          <p:cNvSpPr/>
          <p:nvPr/>
        </p:nvSpPr>
        <p:spPr>
          <a:xfrm>
            <a:off x="9144000" y="5140325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1" name="Line 9"/>
          <p:cNvSpPr/>
          <p:nvPr/>
        </p:nvSpPr>
        <p:spPr>
          <a:xfrm>
            <a:off x="9525000" y="5140325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2" name="Line 9"/>
          <p:cNvSpPr/>
          <p:nvPr/>
        </p:nvSpPr>
        <p:spPr>
          <a:xfrm>
            <a:off x="9844088" y="5157788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3" name="Line 9"/>
          <p:cNvSpPr/>
          <p:nvPr/>
        </p:nvSpPr>
        <p:spPr>
          <a:xfrm>
            <a:off x="10188575" y="5140325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4" name="Line 9"/>
          <p:cNvSpPr/>
          <p:nvPr/>
        </p:nvSpPr>
        <p:spPr>
          <a:xfrm>
            <a:off x="8737600" y="5140325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5" name="Line 9"/>
          <p:cNvSpPr/>
          <p:nvPr/>
        </p:nvSpPr>
        <p:spPr>
          <a:xfrm>
            <a:off x="10896600" y="5140325"/>
            <a:ext cx="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76" name="Line 9"/>
          <p:cNvSpPr/>
          <p:nvPr/>
        </p:nvSpPr>
        <p:spPr>
          <a:xfrm>
            <a:off x="10515600" y="5157788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32" grpId="0" animBg="1"/>
      <p:bldP spid="12394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8A5F31-4CE8-436D-A155-706191E4088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99106" name="Rectangle 2"/>
          <p:cNvSpPr>
            <a:spLocks noChangeArrowheads="1"/>
          </p:cNvSpPr>
          <p:nvPr/>
        </p:nvSpPr>
        <p:spPr bwMode="auto">
          <a:xfrm>
            <a:off x="3281363" y="14288"/>
            <a:ext cx="32400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完整代码：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884" name="Text Box 3"/>
          <p:cNvSpPr txBox="1"/>
          <p:nvPr/>
        </p:nvSpPr>
        <p:spPr>
          <a:xfrm>
            <a:off x="355600" y="-15875"/>
            <a:ext cx="7138035" cy="6812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#include&lt;stdio.h&gt;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#include&lt;string.h&gt;</a:t>
            </a:r>
            <a:endParaRPr lang="en-US" altLang="zh-CN" sz="2400" b="1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bool test_st( char st[ ] );		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判断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void output_st( 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char st[ ]</a:t>
            </a:r>
            <a:r>
              <a:rPr lang="en-US" altLang="zh-CN" sz="2400" b="1" dirty="0">
                <a:latin typeface="Arial" panose="020B0604020202020204" pitchFamily="34" charset="0"/>
              </a:rPr>
              <a:t> );	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//输出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main()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char string1[ ]="Hello";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char string2[ ]={'e','v','e','r','y',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'\0'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};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char string3[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10</a:t>
            </a:r>
            <a:r>
              <a:rPr lang="en-US" altLang="zh-CN" sz="2400" b="1" dirty="0">
                <a:latin typeface="Arial" panose="020B0604020202020204" pitchFamily="34" charset="0"/>
              </a:rPr>
              <a:t>],string4[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10</a:t>
            </a:r>
            <a:r>
              <a:rPr lang="en-US" altLang="zh-CN" sz="2400" b="1" dirty="0">
                <a:latin typeface="Arial" panose="020B0604020202020204" pitchFamily="34" charset="0"/>
              </a:rPr>
              <a:t>];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strcpy(</a:t>
            </a:r>
            <a:r>
              <a:rPr lang="en-US" altLang="zh-CN" sz="2400" b="1" dirty="0">
                <a:latin typeface="Arial" panose="020B0604020202020204" pitchFamily="34" charset="0"/>
              </a:rPr>
              <a:t>string3,"one"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printf("</a:t>
            </a:r>
            <a:r>
              <a:rPr lang="zh-CN" altLang="en-US" sz="2400" b="1" dirty="0">
                <a:latin typeface="Arial" panose="020B0604020202020204" pitchFamily="34" charset="0"/>
              </a:rPr>
              <a:t>请输入字符串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en-US" sz="2400" b="1" dirty="0">
                <a:latin typeface="Arial" panose="020B0604020202020204" pitchFamily="34" charset="0"/>
              </a:rPr>
              <a:t>:</a:t>
            </a:r>
            <a:r>
              <a:rPr lang="en-US" altLang="zh-CN" sz="2400" b="1" dirty="0">
                <a:latin typeface="Arial" panose="020B0604020202020204" pitchFamily="34" charset="0"/>
              </a:rPr>
              <a:t>\n");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scanf("%s",string4);  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output_st(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string1</a:t>
            </a:r>
            <a:r>
              <a:rPr lang="en-US" altLang="zh-CN" sz="2400" b="1" dirty="0">
                <a:latin typeface="Arial" panose="020B0604020202020204" pitchFamily="34" charset="0"/>
              </a:rPr>
              <a:t>);		</a:t>
            </a:r>
            <a:r>
              <a:rPr lang="en-US" altLang="zh-CN" sz="20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//判断并输出</a:t>
            </a:r>
            <a:endParaRPr lang="en-US" altLang="zh-CN" sz="2000" b="1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output_st(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string2</a:t>
            </a:r>
            <a:r>
              <a:rPr lang="en-US" altLang="zh-CN" sz="2400" b="1" dirty="0">
                <a:latin typeface="Arial" panose="020B0604020202020204" pitchFamily="34" charset="0"/>
              </a:rPr>
              <a:t>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output_st(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string3</a:t>
            </a:r>
            <a:r>
              <a:rPr lang="en-US" altLang="zh-CN" sz="2400" b="1" dirty="0">
                <a:latin typeface="Arial" panose="020B0604020202020204" pitchFamily="34" charset="0"/>
              </a:rPr>
              <a:t>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output_st(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string4</a:t>
            </a:r>
            <a:r>
              <a:rPr lang="en-US" altLang="zh-CN" sz="2400" b="1" dirty="0">
                <a:latin typeface="Arial" panose="020B0604020202020204" pitchFamily="34" charset="0"/>
              </a:rPr>
              <a:t>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}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2469" name="Text Box 8"/>
          <p:cNvSpPr txBox="1"/>
          <p:nvPr/>
        </p:nvSpPr>
        <p:spPr>
          <a:xfrm>
            <a:off x="5375275" y="6400800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…...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22887" name="Text Box 50"/>
          <p:cNvSpPr txBox="1"/>
          <p:nvPr>
            <p:custDataLst>
              <p:tags r:id="rId1"/>
            </p:custDataLst>
          </p:nvPr>
        </p:nvSpPr>
        <p:spPr>
          <a:xfrm>
            <a:off x="8234363" y="14288"/>
            <a:ext cx="100647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string1: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grpSp>
        <p:nvGrpSpPr>
          <p:cNvPr id="2" name="Group 66"/>
          <p:cNvGrpSpPr/>
          <p:nvPr>
            <p:custDataLst>
              <p:tags r:id="rId2"/>
            </p:custDataLst>
          </p:nvPr>
        </p:nvGrpSpPr>
        <p:grpSpPr>
          <a:xfrm>
            <a:off x="8307388" y="347663"/>
            <a:ext cx="1727200" cy="360362"/>
            <a:chOff x="3833" y="210"/>
            <a:chExt cx="1088" cy="227"/>
          </a:xfrm>
        </p:grpSpPr>
        <p:sp>
          <p:nvSpPr>
            <p:cNvPr id="62506" name="Rectangle 51"/>
            <p:cNvSpPr/>
            <p:nvPr>
              <p:custDataLst>
                <p:tags r:id="rId3"/>
              </p:custDataLst>
            </p:nvPr>
          </p:nvSpPr>
          <p:spPr>
            <a:xfrm>
              <a:off x="3833" y="210"/>
              <a:ext cx="1088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H e l  l o </a:t>
              </a: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sym typeface="+mn-ea"/>
                </a:rPr>
                <a:t>'\0'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507" name="Line 52"/>
            <p:cNvSpPr/>
            <p:nvPr>
              <p:custDataLst>
                <p:tags r:id="rId4"/>
              </p:custDataLst>
            </p:nvPr>
          </p:nvSpPr>
          <p:spPr>
            <a:xfrm>
              <a:off x="4059" y="21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8" name="Line 53"/>
            <p:cNvSpPr/>
            <p:nvPr>
              <p:custDataLst>
                <p:tags r:id="rId5"/>
              </p:custDataLst>
            </p:nvPr>
          </p:nvSpPr>
          <p:spPr>
            <a:xfrm>
              <a:off x="4195" y="21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9" name="Line 54"/>
            <p:cNvSpPr/>
            <p:nvPr>
              <p:custDataLst>
                <p:tags r:id="rId6"/>
              </p:custDataLst>
            </p:nvPr>
          </p:nvSpPr>
          <p:spPr>
            <a:xfrm>
              <a:off x="4332" y="21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0" name="Line 55"/>
            <p:cNvSpPr/>
            <p:nvPr>
              <p:custDataLst>
                <p:tags r:id="rId7"/>
              </p:custDataLst>
            </p:nvPr>
          </p:nvSpPr>
          <p:spPr>
            <a:xfrm>
              <a:off x="4468" y="21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11" name="Line 56"/>
            <p:cNvSpPr/>
            <p:nvPr>
              <p:custDataLst>
                <p:tags r:id="rId8"/>
              </p:custDataLst>
            </p:nvPr>
          </p:nvSpPr>
          <p:spPr>
            <a:xfrm>
              <a:off x="4649" y="21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65"/>
          <p:cNvGrpSpPr/>
          <p:nvPr>
            <p:custDataLst>
              <p:tags r:id="rId9"/>
            </p:custDataLst>
          </p:nvPr>
        </p:nvGrpSpPr>
        <p:grpSpPr>
          <a:xfrm>
            <a:off x="8307388" y="1211263"/>
            <a:ext cx="1727200" cy="360362"/>
            <a:chOff x="3833" y="618"/>
            <a:chExt cx="1088" cy="227"/>
          </a:xfrm>
        </p:grpSpPr>
        <p:sp>
          <p:nvSpPr>
            <p:cNvPr id="62500" name="Rectangle 59"/>
            <p:cNvSpPr/>
            <p:nvPr>
              <p:custDataLst>
                <p:tags r:id="rId10"/>
              </p:custDataLst>
            </p:nvPr>
          </p:nvSpPr>
          <p:spPr>
            <a:xfrm>
              <a:off x="3833" y="618"/>
              <a:ext cx="1088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e v e r y </a:t>
              </a:r>
              <a:r>
                <a:rPr lang="en-US" altLang="zh-CN" sz="2400" b="1" dirty="0">
                  <a:solidFill>
                    <a:srgbClr val="FF0000"/>
                  </a:solidFill>
                  <a:latin typeface="Arial" panose="020B0604020202020204" pitchFamily="34" charset="0"/>
                  <a:sym typeface="+mn-ea"/>
                </a:rPr>
                <a:t>'\0'</a:t>
              </a:r>
              <a:endPara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501" name="Line 60"/>
            <p:cNvSpPr/>
            <p:nvPr>
              <p:custDataLst>
                <p:tags r:id="rId11"/>
              </p:custDataLst>
            </p:nvPr>
          </p:nvSpPr>
          <p:spPr>
            <a:xfrm>
              <a:off x="4059" y="61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2" name="Line 61"/>
            <p:cNvSpPr/>
            <p:nvPr>
              <p:custDataLst>
                <p:tags r:id="rId12"/>
              </p:custDataLst>
            </p:nvPr>
          </p:nvSpPr>
          <p:spPr>
            <a:xfrm>
              <a:off x="4195" y="61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3" name="Line 62"/>
            <p:cNvSpPr/>
            <p:nvPr>
              <p:custDataLst>
                <p:tags r:id="rId13"/>
              </p:custDataLst>
            </p:nvPr>
          </p:nvSpPr>
          <p:spPr>
            <a:xfrm>
              <a:off x="4377" y="61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4" name="Line 63"/>
            <p:cNvSpPr/>
            <p:nvPr>
              <p:custDataLst>
                <p:tags r:id="rId14"/>
              </p:custDataLst>
            </p:nvPr>
          </p:nvSpPr>
          <p:spPr>
            <a:xfrm>
              <a:off x="4513" y="61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05" name="Line 64"/>
            <p:cNvSpPr/>
            <p:nvPr>
              <p:custDataLst>
                <p:tags r:id="rId15"/>
              </p:custDataLst>
            </p:nvPr>
          </p:nvSpPr>
          <p:spPr>
            <a:xfrm>
              <a:off x="4649" y="618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91"/>
          <p:cNvGrpSpPr/>
          <p:nvPr>
            <p:custDataLst>
              <p:tags r:id="rId16"/>
            </p:custDataLst>
          </p:nvPr>
        </p:nvGrpSpPr>
        <p:grpSpPr>
          <a:xfrm>
            <a:off x="8259763" y="2206625"/>
            <a:ext cx="2711450" cy="360363"/>
            <a:chOff x="3833" y="1344"/>
            <a:chExt cx="1665" cy="227"/>
          </a:xfrm>
        </p:grpSpPr>
        <p:sp>
          <p:nvSpPr>
            <p:cNvPr id="62491" name="Rectangle 68"/>
            <p:cNvSpPr/>
            <p:nvPr>
              <p:custDataLst>
                <p:tags r:id="rId17"/>
              </p:custDataLst>
            </p:nvPr>
          </p:nvSpPr>
          <p:spPr>
            <a:xfrm>
              <a:off x="3833" y="1344"/>
              <a:ext cx="1665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o n e</a:t>
              </a:r>
              <a:r>
                <a:rPr lang="en-US" altLang="zh-CN" sz="1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800" b="1" dirty="0">
                  <a:solidFill>
                    <a:srgbClr val="FF0000"/>
                  </a:solidFill>
                  <a:latin typeface="Arial" panose="020B0604020202020204" pitchFamily="34" charset="0"/>
                  <a:sym typeface="+mn-ea"/>
                </a:rPr>
                <a:t>'\0'</a:t>
              </a:r>
              <a:endPara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2" name="Line 69"/>
            <p:cNvSpPr/>
            <p:nvPr>
              <p:custDataLst>
                <p:tags r:id="rId18"/>
              </p:custDataLst>
            </p:nvPr>
          </p:nvSpPr>
          <p:spPr>
            <a:xfrm>
              <a:off x="4059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3" name="Line 70"/>
            <p:cNvSpPr/>
            <p:nvPr>
              <p:custDataLst>
                <p:tags r:id="rId19"/>
              </p:custDataLst>
            </p:nvPr>
          </p:nvSpPr>
          <p:spPr>
            <a:xfrm>
              <a:off x="4195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4" name="Line 71"/>
            <p:cNvSpPr/>
            <p:nvPr>
              <p:custDataLst>
                <p:tags r:id="rId20"/>
              </p:custDataLst>
            </p:nvPr>
          </p:nvSpPr>
          <p:spPr>
            <a:xfrm>
              <a:off x="4377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5" name="Line 72"/>
            <p:cNvSpPr/>
            <p:nvPr>
              <p:custDataLst>
                <p:tags r:id="rId21"/>
              </p:custDataLst>
            </p:nvPr>
          </p:nvSpPr>
          <p:spPr>
            <a:xfrm>
              <a:off x="4558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6" name="Line 73"/>
            <p:cNvSpPr/>
            <p:nvPr>
              <p:custDataLst>
                <p:tags r:id="rId22"/>
              </p:custDataLst>
            </p:nvPr>
          </p:nvSpPr>
          <p:spPr>
            <a:xfrm>
              <a:off x="4740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7" name="Line 74"/>
            <p:cNvSpPr/>
            <p:nvPr>
              <p:custDataLst>
                <p:tags r:id="rId23"/>
              </p:custDataLst>
            </p:nvPr>
          </p:nvSpPr>
          <p:spPr>
            <a:xfrm>
              <a:off x="4921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8" name="Line 75"/>
            <p:cNvSpPr/>
            <p:nvPr/>
          </p:nvSpPr>
          <p:spPr>
            <a:xfrm>
              <a:off x="5078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9" name="Line 76"/>
            <p:cNvSpPr/>
            <p:nvPr/>
          </p:nvSpPr>
          <p:spPr>
            <a:xfrm>
              <a:off x="5218" y="1344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92"/>
          <p:cNvGrpSpPr/>
          <p:nvPr>
            <p:custDataLst>
              <p:tags r:id="rId24"/>
            </p:custDataLst>
          </p:nvPr>
        </p:nvGrpSpPr>
        <p:grpSpPr>
          <a:xfrm>
            <a:off x="8307388" y="3298825"/>
            <a:ext cx="2711450" cy="360363"/>
            <a:chOff x="3833" y="2069"/>
            <a:chExt cx="1814" cy="227"/>
          </a:xfrm>
        </p:grpSpPr>
        <p:sp>
          <p:nvSpPr>
            <p:cNvPr id="62481" name="Rectangle 78"/>
            <p:cNvSpPr/>
            <p:nvPr>
              <p:custDataLst>
                <p:tags r:id="rId25"/>
              </p:custDataLst>
            </p:nvPr>
          </p:nvSpPr>
          <p:spPr>
            <a:xfrm>
              <a:off x="3833" y="2069"/>
              <a:ext cx="1814" cy="22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r  o t o  r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sym typeface="+mn-ea"/>
                </a:rPr>
                <a:t>'\0'</a:t>
              </a:r>
              <a:endPara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82" name="Line 79"/>
            <p:cNvSpPr/>
            <p:nvPr>
              <p:custDataLst>
                <p:tags r:id="rId26"/>
              </p:custDataLst>
            </p:nvPr>
          </p:nvSpPr>
          <p:spPr>
            <a:xfrm>
              <a:off x="4059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3" name="Line 80"/>
            <p:cNvSpPr/>
            <p:nvPr>
              <p:custDataLst>
                <p:tags r:id="rId27"/>
              </p:custDataLst>
            </p:nvPr>
          </p:nvSpPr>
          <p:spPr>
            <a:xfrm>
              <a:off x="4195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4" name="Line 81"/>
            <p:cNvSpPr/>
            <p:nvPr>
              <p:custDataLst>
                <p:tags r:id="rId28"/>
              </p:custDataLst>
            </p:nvPr>
          </p:nvSpPr>
          <p:spPr>
            <a:xfrm>
              <a:off x="4377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5" name="Line 82"/>
            <p:cNvSpPr/>
            <p:nvPr>
              <p:custDataLst>
                <p:tags r:id="rId29"/>
              </p:custDataLst>
            </p:nvPr>
          </p:nvSpPr>
          <p:spPr>
            <a:xfrm>
              <a:off x="4558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6" name="Line 83"/>
            <p:cNvSpPr/>
            <p:nvPr>
              <p:custDataLst>
                <p:tags r:id="rId30"/>
              </p:custDataLst>
            </p:nvPr>
          </p:nvSpPr>
          <p:spPr>
            <a:xfrm>
              <a:off x="4740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7" name="Line 84"/>
            <p:cNvSpPr/>
            <p:nvPr>
              <p:custDataLst>
                <p:tags r:id="rId31"/>
              </p:custDataLst>
            </p:nvPr>
          </p:nvSpPr>
          <p:spPr>
            <a:xfrm>
              <a:off x="4921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8" name="Line 85"/>
            <p:cNvSpPr/>
            <p:nvPr/>
          </p:nvSpPr>
          <p:spPr>
            <a:xfrm>
              <a:off x="5103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9" name="Line 86"/>
            <p:cNvSpPr/>
            <p:nvPr/>
          </p:nvSpPr>
          <p:spPr>
            <a:xfrm>
              <a:off x="5284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0" name="Line 87"/>
            <p:cNvSpPr/>
            <p:nvPr/>
          </p:nvSpPr>
          <p:spPr>
            <a:xfrm>
              <a:off x="5465" y="206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2892" name="Text Box 88"/>
          <p:cNvSpPr txBox="1"/>
          <p:nvPr>
            <p:custDataLst>
              <p:tags r:id="rId32"/>
            </p:custDataLst>
          </p:nvPr>
        </p:nvSpPr>
        <p:spPr>
          <a:xfrm>
            <a:off x="8234363" y="844550"/>
            <a:ext cx="10064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string2: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22893" name="Text Box 89"/>
          <p:cNvSpPr txBox="1"/>
          <p:nvPr>
            <p:custDataLst>
              <p:tags r:id="rId33"/>
            </p:custDataLst>
          </p:nvPr>
        </p:nvSpPr>
        <p:spPr>
          <a:xfrm>
            <a:off x="8234363" y="1714500"/>
            <a:ext cx="10064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string3: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22894" name="Text Box 90"/>
          <p:cNvSpPr txBox="1"/>
          <p:nvPr>
            <p:custDataLst>
              <p:tags r:id="rId34"/>
            </p:custDataLst>
          </p:nvPr>
        </p:nvSpPr>
        <p:spPr>
          <a:xfrm>
            <a:off x="8234363" y="2867025"/>
            <a:ext cx="10064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string4: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2478" name="Text Box 8"/>
          <p:cNvSpPr txBox="1"/>
          <p:nvPr/>
        </p:nvSpPr>
        <p:spPr>
          <a:xfrm>
            <a:off x="5303838" y="6400800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…...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47050" y="3871913"/>
            <a:ext cx="3473450" cy="2984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运行界面：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请输入字符串4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rotor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Hello 不是回文字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every 不是回文字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one 不是回文字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rotor 是回文字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80" name="Line 76"/>
          <p:cNvSpPr/>
          <p:nvPr/>
        </p:nvSpPr>
        <p:spPr>
          <a:xfrm>
            <a:off x="10729913" y="2206625"/>
            <a:ext cx="0" cy="3603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矩形标注 10"/>
          <p:cNvSpPr/>
          <p:nvPr/>
        </p:nvSpPr>
        <p:spPr>
          <a:xfrm>
            <a:off x="4800600" y="76200"/>
            <a:ext cx="3191510" cy="533400"/>
          </a:xfrm>
          <a:prstGeom prst="wedgeRectCallout">
            <a:avLst>
              <a:gd name="adj1" fmla="val -103302"/>
              <a:gd name="adj2" fmla="val 75595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algn="ctr" eaLnBrk="1" hangingPunct="1"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#include&lt;stdbool.h&gt;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11" grpId="0" animBg="1"/>
      <p:bldP spid="1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B4799C7-D132-498A-873D-E91800F511D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" name="Text Box 3"/>
          <p:cNvSpPr txBox="1"/>
          <p:nvPr/>
        </p:nvSpPr>
        <p:spPr>
          <a:xfrm>
            <a:off x="642938" y="1295083"/>
            <a:ext cx="8531225" cy="40309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</a:rPr>
              <a:t>void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</a:rPr>
              <a:t>output_st(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char st[ ]</a:t>
            </a:r>
            <a:r>
              <a:rPr lang="en-US" altLang="zh-CN" b="1" dirty="0">
                <a:latin typeface="Arial" panose="020B0604020202020204" pitchFamily="34" charset="0"/>
              </a:rPr>
              <a:t>)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 </a:t>
            </a:r>
            <a:r>
              <a:rPr lang="en-US" altLang="zh-CN" b="1" dirty="0">
                <a:latin typeface="Arial" panose="020B0604020202020204" pitchFamily="34" charset="0"/>
              </a:rPr>
              <a:t>//</a:t>
            </a:r>
            <a:r>
              <a:rPr lang="zh-CN" altLang="en-US" b="1" dirty="0">
                <a:latin typeface="Arial" panose="020B0604020202020204" pitchFamily="34" charset="0"/>
              </a:rPr>
              <a:t>判断并输出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{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	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</a:rPr>
              <a:t>if(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test_st(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st</a:t>
            </a:r>
            <a:r>
              <a:rPr lang="en-US" altLang="zh-C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</a:t>
            </a:r>
            <a:r>
              <a:rPr lang="en-US" altLang="zh-CN" b="1" dirty="0">
                <a:latin typeface="Arial" panose="020B0604020202020204" pitchFamily="34" charset="0"/>
              </a:rPr>
              <a:t>) 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</a:rPr>
              <a:t>//</a:t>
            </a:r>
            <a:r>
              <a:rPr lang="zh-CN" altLang="en-US" b="1" dirty="0">
                <a:latin typeface="Arial" panose="020B0604020202020204" pitchFamily="34" charset="0"/>
              </a:rPr>
              <a:t>判断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		printf(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%s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是回文字</a:t>
            </a:r>
            <a:r>
              <a:rPr lang="en-US" altLang="zh-CN" b="1" dirty="0">
                <a:latin typeface="Arial" panose="020B0604020202020204" pitchFamily="34" charset="0"/>
              </a:rPr>
              <a:t>\n",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st</a:t>
            </a:r>
            <a:r>
              <a:rPr lang="en-US" altLang="zh-CN" b="1" dirty="0">
                <a:latin typeface="Arial" panose="020B0604020202020204" pitchFamily="34" charset="0"/>
              </a:rPr>
              <a:t>);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	else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		printf(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%s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</a:rPr>
              <a:t>不是回文字</a:t>
            </a:r>
            <a:r>
              <a:rPr lang="en-US" altLang="zh-CN" b="1" dirty="0">
                <a:latin typeface="Arial" panose="020B0604020202020204" pitchFamily="34" charset="0"/>
              </a:rPr>
              <a:t>\n",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st</a:t>
            </a:r>
            <a:r>
              <a:rPr lang="en-US" altLang="zh-CN" b="1" dirty="0">
                <a:latin typeface="Arial" panose="020B0604020202020204" pitchFamily="34" charset="0"/>
              </a:rPr>
              <a:t>);</a:t>
            </a:r>
            <a:endParaRPr lang="en-US" altLang="zh-CN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}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63492" name="Text Box 4"/>
          <p:cNvSpPr txBox="1"/>
          <p:nvPr/>
        </p:nvSpPr>
        <p:spPr>
          <a:xfrm>
            <a:off x="4224338" y="5373688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…...</a:t>
            </a:r>
            <a:endParaRPr lang="en-US" altLang="zh-CN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493" name="Text Box 5"/>
          <p:cNvSpPr txBox="1"/>
          <p:nvPr/>
        </p:nvSpPr>
        <p:spPr>
          <a:xfrm>
            <a:off x="4008438" y="188913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…...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52" name="Text Box 40"/>
          <p:cNvSpPr txBox="1">
            <a:spLocks noChangeArrowheads="1"/>
          </p:cNvSpPr>
          <p:nvPr/>
        </p:nvSpPr>
        <p:spPr bwMode="auto">
          <a:xfrm>
            <a:off x="75883" y="456883"/>
            <a:ext cx="6048375" cy="648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判断是否回文字函数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bool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test_st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char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 ] 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i,j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=0;	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头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j=0;		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j指st尾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while (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[j+1]!=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//while 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[j+1]!=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sym typeface="+mn-ea"/>
              </a:rPr>
              <a:t>'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\0</a:t>
            </a:r>
            <a:r>
              <a:rPr lang="en-US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sym typeface="+mn-ea"/>
              </a:rPr>
              <a:t>'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j++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while(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&lt;j){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 判断对称相等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if (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]!=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[j] 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 false;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++ ; j--;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 true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628438" y="5972175"/>
            <a:ext cx="5334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E34CA5-C028-4847-80F2-57AA9EC676F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6" name="Rectangle 2"/>
          <p:cNvSpPr/>
          <p:nvPr/>
        </p:nvSpPr>
        <p:spPr>
          <a:xfrm>
            <a:off x="7678738" y="404813"/>
            <a:ext cx="2532062" cy="5032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e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4517" name="Line 4"/>
          <p:cNvSpPr/>
          <p:nvPr/>
        </p:nvSpPr>
        <p:spPr>
          <a:xfrm>
            <a:off x="8039100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18" name="Line 5"/>
          <p:cNvSpPr/>
          <p:nvPr/>
        </p:nvSpPr>
        <p:spPr>
          <a:xfrm>
            <a:off x="8470900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19" name="Line 6"/>
          <p:cNvSpPr/>
          <p:nvPr/>
        </p:nvSpPr>
        <p:spPr>
          <a:xfrm>
            <a:off x="8902700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0" name="Line 7"/>
          <p:cNvSpPr/>
          <p:nvPr/>
        </p:nvSpPr>
        <p:spPr>
          <a:xfrm>
            <a:off x="9334500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1" name="Line 8"/>
          <p:cNvSpPr/>
          <p:nvPr/>
        </p:nvSpPr>
        <p:spPr>
          <a:xfrm>
            <a:off x="9767888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0"/>
          <p:cNvGrpSpPr/>
          <p:nvPr/>
        </p:nvGrpSpPr>
        <p:grpSpPr>
          <a:xfrm>
            <a:off x="7600633" y="908050"/>
            <a:ext cx="292100" cy="584200"/>
            <a:chOff x="838" y="3475"/>
            <a:chExt cx="182" cy="368"/>
          </a:xfrm>
        </p:grpSpPr>
        <p:sp>
          <p:nvSpPr>
            <p:cNvPr id="64558" name="Line 11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59" name="Text Box 12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8039100" y="908050"/>
            <a:ext cx="293688" cy="584200"/>
            <a:chOff x="838" y="3475"/>
            <a:chExt cx="182" cy="368"/>
          </a:xfrm>
        </p:grpSpPr>
        <p:sp>
          <p:nvSpPr>
            <p:cNvPr id="64556" name="Line 14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57" name="Text Box 15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64524" name="Text Box 16"/>
          <p:cNvSpPr txBox="1"/>
          <p:nvPr/>
        </p:nvSpPr>
        <p:spPr>
          <a:xfrm>
            <a:off x="7034213" y="457200"/>
            <a:ext cx="574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st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64525" name="Text Box 17"/>
          <p:cNvSpPr txBox="1"/>
          <p:nvPr/>
        </p:nvSpPr>
        <p:spPr>
          <a:xfrm>
            <a:off x="7678738" y="4762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r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4526" name="Text Box 18"/>
          <p:cNvSpPr txBox="1"/>
          <p:nvPr/>
        </p:nvSpPr>
        <p:spPr>
          <a:xfrm>
            <a:off x="8539163" y="4762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b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4527" name="Text Box 19"/>
          <p:cNvSpPr txBox="1"/>
          <p:nvPr/>
        </p:nvSpPr>
        <p:spPr>
          <a:xfrm>
            <a:off x="8039100" y="4762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o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4528" name="Text Box 20"/>
          <p:cNvSpPr txBox="1"/>
          <p:nvPr/>
        </p:nvSpPr>
        <p:spPr>
          <a:xfrm>
            <a:off x="9334500" y="476250"/>
            <a:ext cx="3651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r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4529" name="Text Box 21"/>
          <p:cNvSpPr txBox="1"/>
          <p:nvPr/>
        </p:nvSpPr>
        <p:spPr>
          <a:xfrm>
            <a:off x="9767888" y="476250"/>
            <a:ext cx="5810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‘\0’</a:t>
            </a:r>
            <a:endParaRPr lang="en-US" altLang="zh-CN" sz="1800" b="1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22"/>
          <p:cNvGrpSpPr/>
          <p:nvPr/>
        </p:nvGrpSpPr>
        <p:grpSpPr>
          <a:xfrm>
            <a:off x="8902700" y="908050"/>
            <a:ext cx="293688" cy="584200"/>
            <a:chOff x="838" y="3475"/>
            <a:chExt cx="182" cy="368"/>
          </a:xfrm>
        </p:grpSpPr>
        <p:sp>
          <p:nvSpPr>
            <p:cNvPr id="64554" name="Line 23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55" name="Text Box 24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8470900" y="908050"/>
            <a:ext cx="293688" cy="584200"/>
            <a:chOff x="838" y="3475"/>
            <a:chExt cx="182" cy="368"/>
          </a:xfrm>
        </p:grpSpPr>
        <p:sp>
          <p:nvSpPr>
            <p:cNvPr id="64552" name="Line 26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53" name="Text Box 27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8"/>
          <p:cNvGrpSpPr/>
          <p:nvPr/>
        </p:nvGrpSpPr>
        <p:grpSpPr>
          <a:xfrm>
            <a:off x="9263063" y="908050"/>
            <a:ext cx="293687" cy="584200"/>
            <a:chOff x="838" y="3475"/>
            <a:chExt cx="182" cy="368"/>
          </a:xfrm>
        </p:grpSpPr>
        <p:sp>
          <p:nvSpPr>
            <p:cNvPr id="64550" name="Line 29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51" name="Text Box 30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31"/>
          <p:cNvGrpSpPr/>
          <p:nvPr/>
        </p:nvGrpSpPr>
        <p:grpSpPr>
          <a:xfrm>
            <a:off x="7535863" y="908050"/>
            <a:ext cx="292100" cy="584200"/>
            <a:chOff x="838" y="3475"/>
            <a:chExt cx="182" cy="368"/>
          </a:xfrm>
        </p:grpSpPr>
        <p:sp>
          <p:nvSpPr>
            <p:cNvPr id="64548" name="Line 32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49" name="Text Box 33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i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34"/>
          <p:cNvGrpSpPr/>
          <p:nvPr/>
        </p:nvGrpSpPr>
        <p:grpSpPr>
          <a:xfrm>
            <a:off x="8039100" y="908050"/>
            <a:ext cx="293688" cy="584200"/>
            <a:chOff x="838" y="3475"/>
            <a:chExt cx="182" cy="368"/>
          </a:xfrm>
        </p:grpSpPr>
        <p:sp>
          <p:nvSpPr>
            <p:cNvPr id="64546" name="Line 35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47" name="Text Box 36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i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37"/>
          <p:cNvGrpSpPr/>
          <p:nvPr/>
        </p:nvGrpSpPr>
        <p:grpSpPr>
          <a:xfrm>
            <a:off x="8975725" y="908050"/>
            <a:ext cx="293688" cy="584200"/>
            <a:chOff x="838" y="3475"/>
            <a:chExt cx="182" cy="368"/>
          </a:xfrm>
        </p:grpSpPr>
        <p:sp>
          <p:nvSpPr>
            <p:cNvPr id="64544" name="Line 38"/>
            <p:cNvSpPr/>
            <p:nvPr/>
          </p:nvSpPr>
          <p:spPr>
            <a:xfrm flipV="1">
              <a:off x="975" y="3475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45" name="Text Box 39"/>
            <p:cNvSpPr txBox="1"/>
            <p:nvPr/>
          </p:nvSpPr>
          <p:spPr>
            <a:xfrm>
              <a:off x="838" y="3612"/>
              <a:ext cx="18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j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24953" name="Text Box 41"/>
          <p:cNvSpPr txBox="1">
            <a:spLocks noChangeArrowheads="1"/>
          </p:cNvSpPr>
          <p:nvPr/>
        </p:nvSpPr>
        <p:spPr bwMode="auto">
          <a:xfrm>
            <a:off x="7751763" y="1768475"/>
            <a:ext cx="2816225" cy="120015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区分概念：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字符串的长度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字符数组的尺寸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7673" name="Text Box 42"/>
          <p:cNvSpPr txBox="1">
            <a:spLocks noChangeArrowheads="1"/>
          </p:cNvSpPr>
          <p:nvPr/>
        </p:nvSpPr>
        <p:spPr bwMode="auto">
          <a:xfrm>
            <a:off x="0" y="-317"/>
            <a:ext cx="1914525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教材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  <a:cs typeface="+mn-cs"/>
              </a:rPr>
              <a:t>P171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LnTx/>
              <a:uFillTx/>
              <a:latin typeface="隶书" pitchFamily="49" charset="-122"/>
              <a:ea typeface="隶书" pitchFamily="49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09800" y="2667000"/>
            <a:ext cx="1645285" cy="39878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64540" name="Rectangle 2"/>
          <p:cNvSpPr/>
          <p:nvPr/>
        </p:nvSpPr>
        <p:spPr>
          <a:xfrm>
            <a:off x="10225088" y="404813"/>
            <a:ext cx="1397000" cy="5032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4541" name="Line 5"/>
          <p:cNvSpPr/>
          <p:nvPr/>
        </p:nvSpPr>
        <p:spPr>
          <a:xfrm>
            <a:off x="10668000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42" name="Line 5"/>
          <p:cNvSpPr/>
          <p:nvPr/>
        </p:nvSpPr>
        <p:spPr>
          <a:xfrm>
            <a:off x="11125200" y="404813"/>
            <a:ext cx="0" cy="5032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矩形 11"/>
          <p:cNvSpPr/>
          <p:nvPr/>
        </p:nvSpPr>
        <p:spPr>
          <a:xfrm>
            <a:off x="5626735" y="5288280"/>
            <a:ext cx="6565265" cy="156845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课后实践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】【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对比实验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】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int[20]={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……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};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逆序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char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[20]=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zhangsan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";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逆序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体会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char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数组和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int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存储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操作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的异同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38200" y="2159635"/>
            <a:ext cx="7106920" cy="1802765"/>
            <a:chOff x="1320" y="3401"/>
            <a:chExt cx="11192" cy="2839"/>
          </a:xfrm>
        </p:grpSpPr>
        <p:sp>
          <p:nvSpPr>
            <p:cNvPr id="13" name="矩形 12"/>
            <p:cNvSpPr/>
            <p:nvPr/>
          </p:nvSpPr>
          <p:spPr>
            <a:xfrm>
              <a:off x="1320" y="3401"/>
              <a:ext cx="5760" cy="2839"/>
            </a:xfrm>
            <a:prstGeom prst="rect">
              <a:avLst/>
            </a:prstGeom>
            <a:noFill/>
            <a:ln w="28575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</a:ln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14" name="矩形标注 13"/>
            <p:cNvSpPr/>
            <p:nvPr/>
          </p:nvSpPr>
          <p:spPr>
            <a:xfrm>
              <a:off x="7835" y="5280"/>
              <a:ext cx="4677" cy="955"/>
            </a:xfrm>
            <a:prstGeom prst="wedgeRectCallout">
              <a:avLst>
                <a:gd name="adj1" fmla="val -69799"/>
                <a:gd name="adj2" fmla="val -47416"/>
              </a:avLst>
            </a:prstGeom>
            <a:solidFill>
              <a:schemeClr val="accent1"/>
            </a:solidFill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 j=</a:t>
              </a:r>
              <a:r>
                <a:rPr lang="en-US" altLang="zh-CN" sz="3200" dirty="0">
                  <a:solidFill>
                    <a:srgbClr val="FF0000"/>
                  </a:solidFill>
                  <a:latin typeface="Arial" panose="020B0604020202020204" pitchFamily="34" charset="0"/>
                </a:rPr>
                <a:t>strlen(</a:t>
              </a:r>
              <a:r>
                <a:rPr lang="en-US" altLang="zh-CN" sz="3200" dirty="0">
                  <a:latin typeface="Arial" panose="020B0604020202020204" pitchFamily="34" charset="0"/>
                </a:rPr>
                <a:t>str</a:t>
              </a:r>
              <a:r>
                <a:rPr lang="en-US" altLang="zh-CN" sz="3200" dirty="0">
                  <a:solidFill>
                    <a:srgbClr val="FF0000"/>
                  </a:solidFill>
                  <a:latin typeface="Arial" panose="020B0604020202020204" pitchFamily="34" charset="0"/>
                </a:rPr>
                <a:t>)</a:t>
              </a:r>
              <a:r>
                <a:rPr lang="en-US" altLang="zh-CN" sz="3200" dirty="0">
                  <a:latin typeface="Arial" panose="020B0604020202020204" pitchFamily="34" charset="0"/>
                </a:rPr>
                <a:t>-1;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charRg st="7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charRg st="8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charRg st="132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charRg st="107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>
                                            <p:txEl>
                                              <p:charRg st="6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>
                                            <p:txEl>
                                              <p:charRg st="13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3" grpId="0" bldLvl="0" animBg="1"/>
      <p:bldP spid="10" grpId="0" bldLvl="0" animBg="1"/>
      <p:bldP spid="10" grpId="1" bldLvl="0" animBg="1"/>
      <p:bldP spid="1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2FA7A5-6918-4224-9E96-49957EF9FD6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2178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0229850" cy="265303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字符数组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的关系：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通常用字符数组保存字符串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字符串是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常量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字符数组是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字符串变量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202179" name="Text Box 3"/>
          <p:cNvSpPr txBox="1"/>
          <p:nvPr/>
        </p:nvSpPr>
        <p:spPr>
          <a:xfrm>
            <a:off x="152400" y="3638550"/>
            <a:ext cx="1080833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Arial" panose="020B0604020202020204" pitchFamily="34" charset="0"/>
              </a:rPr>
              <a:t>字符串常量：</a:t>
            </a:r>
            <a:r>
              <a:rPr lang="en-US" altLang="zh-CN" sz="3600" b="1" dirty="0">
                <a:latin typeface="Arial" panose="020B0604020202020204" pitchFamily="34" charset="0"/>
              </a:rPr>
              <a:t>printf( </a:t>
            </a:r>
            <a:r>
              <a:rPr lang="en-US" altLang="zh-CN" sz="3600" dirty="0">
                <a:solidFill>
                  <a:srgbClr val="FFE705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600" b="1" dirty="0">
                <a:solidFill>
                  <a:srgbClr val="FFE705"/>
                </a:solidFill>
                <a:latin typeface="Arial" panose="020B0604020202020204" pitchFamily="34" charset="0"/>
              </a:rPr>
              <a:t>nice to meet you! </a:t>
            </a:r>
            <a:r>
              <a:rPr lang="en-US" altLang="zh-CN" sz="3600" dirty="0">
                <a:solidFill>
                  <a:srgbClr val="FFE705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600" b="1" dirty="0">
                <a:solidFill>
                  <a:srgbClr val="FFE705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</a:rPr>
              <a:t>);</a:t>
            </a:r>
            <a:endParaRPr lang="en-US" altLang="zh-CN" sz="3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latin typeface="Arial" panose="020B0604020202020204" pitchFamily="34" charset="0"/>
              </a:rPr>
              <a:t>字符串变量：</a:t>
            </a:r>
            <a:r>
              <a:rPr lang="en-US" altLang="zh-CN" sz="3600" b="1" dirty="0">
                <a:latin typeface="Arial" panose="020B0604020202020204" pitchFamily="34" charset="0"/>
              </a:rPr>
              <a:t>char </a:t>
            </a:r>
            <a:r>
              <a:rPr lang="en-US" altLang="zh-CN" sz="3600" b="1" dirty="0">
                <a:solidFill>
                  <a:schemeClr val="hlink"/>
                </a:solidFill>
                <a:latin typeface="Arial" panose="020B0604020202020204" pitchFamily="34" charset="0"/>
              </a:rPr>
              <a:t>str2</a:t>
            </a:r>
            <a:r>
              <a:rPr lang="en-US" altLang="zh-CN" sz="3600" b="1" dirty="0">
                <a:latin typeface="Arial" panose="020B0604020202020204" pitchFamily="34" charset="0"/>
              </a:rPr>
              <a:t>[10]=</a:t>
            </a:r>
            <a:r>
              <a:rPr lang="en-US" altLang="zh-CN" sz="3600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600" b="1" dirty="0">
                <a:latin typeface="Arial" panose="020B0604020202020204" pitchFamily="34" charset="0"/>
              </a:rPr>
              <a:t>hello</a:t>
            </a:r>
            <a:r>
              <a:rPr lang="en-US" altLang="zh-CN" sz="3600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600" b="1" dirty="0">
                <a:latin typeface="Arial" panose="020B0604020202020204" pitchFamily="34" charset="0"/>
              </a:rPr>
              <a:t>;</a:t>
            </a:r>
            <a:endParaRPr lang="en-US" altLang="zh-CN" sz="3600" b="1" dirty="0"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516880" y="6099493"/>
            <a:ext cx="4684713" cy="504825"/>
            <a:chOff x="1292" y="2976"/>
            <a:chExt cx="2951" cy="318"/>
          </a:xfrm>
        </p:grpSpPr>
        <p:sp>
          <p:nvSpPr>
            <p:cNvPr id="65542" name="Rectangle 5"/>
            <p:cNvSpPr/>
            <p:nvPr/>
          </p:nvSpPr>
          <p:spPr>
            <a:xfrm>
              <a:off x="2066" y="2976"/>
              <a:ext cx="2177" cy="3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h e  l   l  o  </a:t>
              </a:r>
              <a:r>
                <a:rPr lang="en-US" altLang="zh-CN" sz="2400" b="1" dirty="0">
                  <a:solidFill>
                    <a:schemeClr val="tx1"/>
                  </a:solidFill>
                  <a:latin typeface="Arial" panose="020B0604020202020204" pitchFamily="34" charset="0"/>
                  <a:sym typeface="+mn-ea"/>
                </a:rPr>
                <a:t>'</a:t>
              </a:r>
              <a:r>
                <a:rPr lang="en-US" altLang="zh-CN" sz="24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\0</a:t>
              </a:r>
              <a:r>
                <a:rPr lang="en-US" altLang="zh-CN" sz="2400" b="1" dirty="0">
                  <a:solidFill>
                    <a:schemeClr val="tx1"/>
                  </a:solidFill>
                  <a:latin typeface="Arial" panose="020B0604020202020204" pitchFamily="34" charset="0"/>
                  <a:sym typeface="+mn-ea"/>
                </a:rPr>
                <a:t>'</a:t>
              </a:r>
              <a:endPara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sym typeface="+mn-ea"/>
              </a:endParaRPr>
            </a:p>
          </p:txBody>
        </p:sp>
        <p:sp>
          <p:nvSpPr>
            <p:cNvPr id="65543" name="Text Box 6"/>
            <p:cNvSpPr txBox="1"/>
            <p:nvPr/>
          </p:nvSpPr>
          <p:spPr>
            <a:xfrm>
              <a:off x="1292" y="3021"/>
              <a:ext cx="72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数组</a:t>
              </a:r>
              <a:r>
                <a:rPr lang="en-US" altLang="zh-CN" sz="1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str2:</a:t>
              </a:r>
              <a:endPara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544" name="Line 7"/>
            <p:cNvSpPr/>
            <p:nvPr/>
          </p:nvSpPr>
          <p:spPr>
            <a:xfrm>
              <a:off x="2290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5" name="Line 8"/>
            <p:cNvSpPr/>
            <p:nvPr/>
          </p:nvSpPr>
          <p:spPr>
            <a:xfrm>
              <a:off x="2472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6" name="Line 9"/>
            <p:cNvSpPr/>
            <p:nvPr/>
          </p:nvSpPr>
          <p:spPr>
            <a:xfrm>
              <a:off x="2653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7" name="Line 10"/>
            <p:cNvSpPr/>
            <p:nvPr/>
          </p:nvSpPr>
          <p:spPr>
            <a:xfrm>
              <a:off x="2835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8" name="Line 11"/>
            <p:cNvSpPr/>
            <p:nvPr/>
          </p:nvSpPr>
          <p:spPr>
            <a:xfrm>
              <a:off x="3061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49" name="Line 12"/>
            <p:cNvSpPr/>
            <p:nvPr/>
          </p:nvSpPr>
          <p:spPr>
            <a:xfrm>
              <a:off x="3334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0" name="Line 13"/>
            <p:cNvSpPr/>
            <p:nvPr/>
          </p:nvSpPr>
          <p:spPr>
            <a:xfrm>
              <a:off x="3560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1" name="Line 14"/>
            <p:cNvSpPr/>
            <p:nvPr/>
          </p:nvSpPr>
          <p:spPr>
            <a:xfrm>
              <a:off x="3787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2" name="Line 15"/>
            <p:cNvSpPr/>
            <p:nvPr/>
          </p:nvSpPr>
          <p:spPr>
            <a:xfrm>
              <a:off x="4014" y="297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2A46B0-96D3-450E-8726-C332BE3FCD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0" y="39370"/>
            <a:ext cx="2440940" cy="55308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比较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FFFF00"/>
              </a:highligh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124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04875"/>
            <a:ext cx="5041900" cy="580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data[5]={1,2,3,4,5};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数组输入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for(i=0;i&lt;5;i++)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800" b="1" kern="1200" noProof="0" dirty="0" err="1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%d</a:t>
            </a:r>
            <a:r>
              <a:rPr lang="en-US" altLang="zh-CN" sz="2800" b="1" kern="1200" noProof="0" dirty="0" err="1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&amp;data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数组元素输出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for(i=0;i&lt;5;i++)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altLang="zh-CN" sz="2800" b="1" kern="1200" noProof="0" dirty="0" err="1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%d</a:t>
            </a:r>
            <a:r>
              <a:rPr lang="en-US" altLang="zh-CN" sz="2800" b="1" kern="1200" noProof="0" dirty="0" err="1">
                <a:ln>
                  <a:noFill/>
                </a:ln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data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12420" name="Rectangle 4"/>
          <p:cNvSpPr>
            <a:spLocks noChangeArrowheads="1"/>
          </p:cNvSpPr>
          <p:nvPr/>
        </p:nvSpPr>
        <p:spPr bwMode="auto">
          <a:xfrm>
            <a:off x="5778500" y="887730"/>
            <a:ext cx="6413500" cy="543115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初始化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(1)char str[5]={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80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\0</a:t>
            </a:r>
            <a:r>
              <a:rPr lang="en-US" altLang="zh-CN" sz="280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ea typeface="黑体" panose="02010609060101010101" pitchFamily="49" charset="-122"/>
                <a:sym typeface="+mn-ea"/>
              </a:rPr>
              <a:t>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(2)char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[5]=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abcd</a:t>
            </a:r>
            <a:r>
              <a:rPr lang="en-US" altLang="zh-CN" sz="2800" noProof="0" dirty="0" err="1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数组输入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2800" dirty="0">
                <a:solidFill>
                  <a:srgbClr val="FFE705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%s</a:t>
            </a:r>
            <a:r>
              <a:rPr lang="en-US" altLang="zh-CN" sz="2800" dirty="0">
                <a:solidFill>
                  <a:srgbClr val="FFE705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输出字符串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2800" dirty="0">
                <a:solidFill>
                  <a:srgbClr val="FFE705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</a:t>
            </a:r>
            <a:r>
              <a:rPr lang="en-US" altLang="zh-CN" sz="2800" dirty="0">
                <a:solidFill>
                  <a:srgbClr val="FFE705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puts(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自带换行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6" name="Line 5"/>
          <p:cNvSpPr/>
          <p:nvPr/>
        </p:nvSpPr>
        <p:spPr>
          <a:xfrm>
            <a:off x="5638800" y="592138"/>
            <a:ext cx="0" cy="60213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8152765" y="506095"/>
            <a:ext cx="1367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+mj-lt"/>
                <a:ea typeface="+mj-ea"/>
                <a:cs typeface="+mj-cs"/>
                <a:sym typeface="+mn-ea"/>
              </a:rPr>
              <a:t>char</a:t>
            </a:r>
            <a:r>
              <a:rPr lang="zh-CN" altLang="en-US" sz="2000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+mj-lt"/>
                <a:ea typeface="+mj-ea"/>
                <a:cs typeface="+mj-cs"/>
                <a:sym typeface="+mn-ea"/>
              </a:rPr>
              <a:t>数组</a:t>
            </a:r>
            <a:endParaRPr lang="zh-CN" altLang="en-US" sz="2000" kern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FFFF00"/>
              </a:highlight>
              <a:uLnTx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81200" y="506095"/>
            <a:ext cx="1047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+mj-lt"/>
                <a:ea typeface="+mj-ea"/>
                <a:cs typeface="+mj-cs"/>
                <a:sym typeface="+mn-ea"/>
              </a:rPr>
              <a:t>int</a:t>
            </a:r>
            <a:r>
              <a:rPr lang="zh-CN" altLang="en-US" sz="2000" kern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uLnTx/>
                <a:uFillTx/>
                <a:latin typeface="+mj-lt"/>
                <a:ea typeface="+mj-ea"/>
                <a:cs typeface="+mj-cs"/>
                <a:sym typeface="+mn-ea"/>
              </a:rPr>
              <a:t>数组</a:t>
            </a:r>
            <a:endParaRPr lang="zh-CN" altLang="en-US" sz="2000" kern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highlight>
                <a:srgbClr val="FFFF00"/>
              </a:highligh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14DA6C-6FB0-4612-B246-A1578245A9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字符串运算示例：</a:t>
            </a:r>
            <a:endParaRPr kumimoji="0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19587" name="Rectangle 3"/>
          <p:cNvSpPr>
            <a:spLocks noGrp="1" noChangeArrowheads="1"/>
          </p:cNvSpPr>
          <p:nvPr>
            <p:ph idx="1"/>
          </p:nvPr>
        </p:nvSpPr>
        <p:spPr>
          <a:xfrm>
            <a:off x="85725" y="765175"/>
            <a:ext cx="8229600" cy="5407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string.h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char str1[10]="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abcdefg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";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char str2[10]={'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a','b','c','d','e','f','g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',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'\0'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};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char str3[20],str4[20];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("str1: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%s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\n",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("str2: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%s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\n",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if(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strcmp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(str1,str2)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==0)			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("str1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相同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else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("str1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不同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19588" name="Rectangle 4"/>
          <p:cNvSpPr/>
          <p:nvPr/>
        </p:nvSpPr>
        <p:spPr>
          <a:xfrm>
            <a:off x="5638800" y="4144963"/>
            <a:ext cx="4392613" cy="5762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Arial" panose="020B0604020202020204" pitchFamily="34" charset="0"/>
              </a:rPr>
              <a:t>错误写法：</a:t>
            </a:r>
            <a:r>
              <a:rPr lang="en-US" altLang="zh-CN" sz="2800" b="1" dirty="0">
                <a:latin typeface="Arial" panose="020B0604020202020204" pitchFamily="34" charset="0"/>
              </a:rPr>
              <a:t>if(str1==str2)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0002838" y="4216400"/>
            <a:ext cx="214312" cy="504825"/>
            <a:chOff x="3969" y="1706"/>
            <a:chExt cx="1360" cy="908"/>
          </a:xfrm>
        </p:grpSpPr>
        <p:sp>
          <p:nvSpPr>
            <p:cNvPr id="26632" name="Line 6"/>
            <p:cNvSpPr/>
            <p:nvPr/>
          </p:nvSpPr>
          <p:spPr>
            <a:xfrm>
              <a:off x="3969" y="1706"/>
              <a:ext cx="1360" cy="908"/>
            </a:xfrm>
            <a:prstGeom prst="line">
              <a:avLst/>
            </a:prstGeom>
            <a:ln w="5715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3" name="Line 7"/>
            <p:cNvSpPr/>
            <p:nvPr/>
          </p:nvSpPr>
          <p:spPr>
            <a:xfrm flipH="1">
              <a:off x="3969" y="1706"/>
              <a:ext cx="1360" cy="908"/>
            </a:xfrm>
            <a:prstGeom prst="line">
              <a:avLst/>
            </a:prstGeom>
            <a:ln w="5715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" name="矩形 2"/>
          <p:cNvSpPr/>
          <p:nvPr/>
        </p:nvSpPr>
        <p:spPr>
          <a:xfrm>
            <a:off x="8599805" y="887730"/>
            <a:ext cx="3348355" cy="149034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str1:abcdefg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str2:abcdefg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str1和str2相同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588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159CC7-F8D1-4DED-941C-FC553F02E68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3581400" y="236855"/>
            <a:ext cx="6546850" cy="410210"/>
            <a:chOff x="2154" y="119"/>
            <a:chExt cx="3448" cy="544"/>
          </a:xfrm>
        </p:grpSpPr>
        <p:sp>
          <p:nvSpPr>
            <p:cNvPr id="27661" name="Rectangle 3"/>
            <p:cNvSpPr/>
            <p:nvPr/>
          </p:nvSpPr>
          <p:spPr>
            <a:xfrm>
              <a:off x="3152" y="119"/>
              <a:ext cx="2450" cy="5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错误写法：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str4=str2;</a:t>
              </a:r>
              <a:endPara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662" name="Line 4"/>
            <p:cNvSpPr/>
            <p:nvPr/>
          </p:nvSpPr>
          <p:spPr>
            <a:xfrm>
              <a:off x="2154" y="210"/>
              <a:ext cx="998" cy="18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220613" name="Rectangle 5"/>
          <p:cNvSpPr>
            <a:spLocks noGrp="1" noChangeArrowheads="1"/>
          </p:cNvSpPr>
          <p:nvPr>
            <p:ph idx="1"/>
          </p:nvPr>
        </p:nvSpPr>
        <p:spPr>
          <a:xfrm>
            <a:off x="63500" y="1905"/>
            <a:ext cx="5654040" cy="66268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strcpy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(str4,str2);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请输入字符串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str3:\n");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("%s",str3);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("str3: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("str4: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cmpResult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strcmp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(str3,str4);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if(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cmpResult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&gt;0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("str3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大于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str4\n");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 if(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cmpResult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("str3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小于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str4\n");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else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("str3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\n");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10286683" y="236855"/>
            <a:ext cx="215900" cy="431800"/>
            <a:chOff x="3969" y="1706"/>
            <a:chExt cx="1360" cy="908"/>
          </a:xfrm>
        </p:grpSpPr>
        <p:sp>
          <p:nvSpPr>
            <p:cNvPr id="27659" name="Line 8"/>
            <p:cNvSpPr/>
            <p:nvPr/>
          </p:nvSpPr>
          <p:spPr>
            <a:xfrm>
              <a:off x="3969" y="1706"/>
              <a:ext cx="1360" cy="908"/>
            </a:xfrm>
            <a:prstGeom prst="line">
              <a:avLst/>
            </a:prstGeom>
            <a:ln w="5715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Line 9"/>
            <p:cNvSpPr/>
            <p:nvPr/>
          </p:nvSpPr>
          <p:spPr>
            <a:xfrm flipH="1">
              <a:off x="3969" y="1706"/>
              <a:ext cx="1360" cy="908"/>
            </a:xfrm>
            <a:prstGeom prst="line">
              <a:avLst/>
            </a:prstGeom>
            <a:ln w="5715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3319775" y="838574"/>
            <a:ext cx="7957825" cy="411480"/>
            <a:chOff x="2158" y="534"/>
            <a:chExt cx="3060" cy="272"/>
          </a:xfrm>
        </p:grpSpPr>
        <p:sp>
          <p:nvSpPr>
            <p:cNvPr id="27657" name="Rectangle 11"/>
            <p:cNvSpPr/>
            <p:nvPr/>
          </p:nvSpPr>
          <p:spPr>
            <a:xfrm>
              <a:off x="3152" y="534"/>
              <a:ext cx="206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</a:rPr>
                <a:t>此行也可以写成：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gets(</a:t>
              </a:r>
              <a:r>
                <a:rPr lang="en-US" altLang="zh-CN" sz="2800" b="1" dirty="0">
                  <a:latin typeface="Arial" panose="020B0604020202020204" pitchFamily="34" charset="0"/>
                </a:rPr>
                <a:t>str3</a:t>
              </a:r>
              <a:r>
                <a:rPr lang="en-US" altLang="zh-CN" sz="28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)</a:t>
              </a:r>
              <a:r>
                <a:rPr lang="en-US" altLang="zh-CN" sz="2800" b="1" dirty="0">
                  <a:latin typeface="Arial" panose="020B0604020202020204" pitchFamily="34" charset="0"/>
                </a:rPr>
                <a:t>;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sp>
          <p:nvSpPr>
            <p:cNvPr id="27658" name="Line 12"/>
            <p:cNvSpPr/>
            <p:nvPr/>
          </p:nvSpPr>
          <p:spPr>
            <a:xfrm flipV="1">
              <a:off x="2158" y="659"/>
              <a:ext cx="1020" cy="1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220621" name="Rectangle 13"/>
          <p:cNvSpPr/>
          <p:nvPr/>
        </p:nvSpPr>
        <p:spPr>
          <a:xfrm>
            <a:off x="5867400" y="1371600"/>
            <a:ext cx="4634865" cy="280289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关于字符串的输入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: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(1)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scanf,gets,</a:t>
            </a:r>
            <a:r>
              <a:rPr lang="en-US" altLang="zh-CN" sz="2800" b="1" dirty="0">
                <a:latin typeface="Arial" panose="020B0604020202020204" pitchFamily="34" charset="0"/>
              </a:rPr>
              <a:t>fgets,gets_s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(2)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text[i]=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getchar()</a:t>
            </a:r>
            <a:r>
              <a:rPr lang="en-US" altLang="zh-CN" sz="28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while ( text[i] != '#' ) 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text[++i]=</a:t>
            </a:r>
            <a:r>
              <a:rPr lang="en-US" altLang="zh-CN" sz="2800" b="1" dirty="0">
                <a:solidFill>
                  <a:srgbClr val="FFE705"/>
                </a:solidFill>
                <a:latin typeface="Arial" panose="020B0604020202020204" pitchFamily="34" charset="0"/>
              </a:rPr>
              <a:t>getchar()</a:t>
            </a:r>
            <a:r>
              <a:rPr lang="en-US" altLang="zh-CN" sz="2800" b="1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sym typeface="+mn-ea"/>
              </a:rPr>
              <a:t>;</a:t>
            </a:r>
            <a:endParaRPr lang="en-US" altLang="zh-CN" sz="2800" b="1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19800" y="4571683"/>
            <a:ext cx="2949575" cy="193802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请输入字符串str3: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hello</a:t>
            </a:r>
            <a:endParaRPr lang="zh-CN" altLang="en-US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str3:hello</a:t>
            </a:r>
            <a:endParaRPr lang="zh-CN" altLang="en-US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str4:abcdefg</a:t>
            </a:r>
            <a:endParaRPr lang="zh-CN" altLang="en-US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str3大于str4</a:t>
            </a:r>
            <a:endParaRPr lang="zh-CN" altLang="en-US" sz="2400" b="1" dirty="0"/>
          </a:p>
        </p:txBody>
      </p:sp>
      <p:grpSp>
        <p:nvGrpSpPr>
          <p:cNvPr id="8" name="组合 7"/>
          <p:cNvGrpSpPr/>
          <p:nvPr/>
        </p:nvGrpSpPr>
        <p:grpSpPr>
          <a:xfrm>
            <a:off x="6431915" y="1905000"/>
            <a:ext cx="5280647" cy="1085850"/>
            <a:chOff x="9960" y="3000"/>
            <a:chExt cx="8485" cy="1710"/>
          </a:xfrm>
        </p:grpSpPr>
        <p:sp>
          <p:nvSpPr>
            <p:cNvPr id="6" name="矩形 5"/>
            <p:cNvSpPr/>
            <p:nvPr/>
          </p:nvSpPr>
          <p:spPr>
            <a:xfrm>
              <a:off x="9960" y="3000"/>
              <a:ext cx="4241" cy="840"/>
            </a:xfrm>
            <a:prstGeom prst="rect">
              <a:avLst/>
            </a:prstGeom>
            <a:noFill/>
            <a:ln w="28575" cmpd="sng"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7" name="矩形标注 6"/>
            <p:cNvSpPr/>
            <p:nvPr/>
          </p:nvSpPr>
          <p:spPr>
            <a:xfrm>
              <a:off x="15360" y="3960"/>
              <a:ext cx="3085" cy="750"/>
            </a:xfrm>
            <a:prstGeom prst="wedgeRectCallout">
              <a:avLst>
                <a:gd name="adj1" fmla="val -92685"/>
                <a:gd name="adj2" fmla="val -69479"/>
              </a:avLst>
            </a:prstGeom>
            <a:solidFill>
              <a:schemeClr val="accent1"/>
            </a:solidFill>
          </p:spPr>
          <p:txBody>
            <a:bodyPr wrap="square" lIns="0" rIns="0">
              <a:noAutofit/>
            </a:bodyPr>
            <a:p>
              <a:pPr eaLnBrk="1" hangingPunct="1">
                <a:buNone/>
              </a:pPr>
              <a:r>
                <a:rPr lang="zh-CN" altLang="en-US" sz="2400" dirty="0">
                  <a:latin typeface="Arial" panose="020B0604020202020204" pitchFamily="34" charset="0"/>
                </a:rPr>
                <a:t>考试系统可用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2526665" y="3253105"/>
            <a:ext cx="518160" cy="412115"/>
          </a:xfrm>
          <a:prstGeom prst="rect">
            <a:avLst/>
          </a:prstGeom>
          <a:noFill/>
          <a:ln w="28575" cmpd="sng">
            <a:solidFill>
              <a:srgbClr val="FC3AF5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21" grpId="0" bldLvl="0" animBg="1"/>
      <p:bldP spid="1220621" grpId="1" animBg="1"/>
      <p:bldP spid="5" grpId="0" bldLvl="0" animBg="1"/>
      <p:bldP spid="5" grpId="1" animBg="1"/>
      <p:bldP spid="9" grpId="0" animBg="1"/>
      <p:bldP spid="9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" name="灯片编号占位符 7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F1CCED-7C2F-48FE-B5CE-C39DFFA18ED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086600" y="42863"/>
            <a:ext cx="5105400" cy="5762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字符数组输入举例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+mj-cs"/>
              </a:rPr>
              <a:t>p168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+mj-ea"/>
              <a:cs typeface="+mj-cs"/>
            </a:endParaRPr>
          </a:p>
        </p:txBody>
      </p:sp>
      <p:sp>
        <p:nvSpPr>
          <p:cNvPr id="129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38430"/>
            <a:ext cx="4832985" cy="355028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[15];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(”%s”,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How much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空格是 scanf输入 的分隔符</a:t>
            </a:r>
            <a:endParaRPr kumimoji="0" lang="en-US" altLang="zh-CN" sz="2400" b="1" i="0" u="none" strike="noStrike" kern="0" cap="none" spc="0" normalizeH="0" baseline="0" noProof="0" dirty="0" err="1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gets(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How much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96495" name="Group 111"/>
          <p:cNvGraphicFramePr>
            <a:graphicFrameLocks noGrp="1"/>
          </p:cNvGraphicFramePr>
          <p:nvPr>
            <p:ph sz="quarter" idx="1"/>
          </p:nvPr>
        </p:nvGraphicFramePr>
        <p:xfrm>
          <a:off x="6072188" y="865188"/>
          <a:ext cx="5762625" cy="576263"/>
        </p:xfrm>
        <a:graphic>
          <a:graphicData uri="http://schemas.openxmlformats.org/drawingml/2006/table">
            <a:tbl>
              <a:tblPr/>
              <a:tblGrid>
                <a:gridCol w="385869"/>
                <a:gridCol w="381105"/>
                <a:gridCol w="385868"/>
                <a:gridCol w="504071"/>
                <a:gridCol w="347806"/>
                <a:gridCol w="300966"/>
                <a:gridCol w="384281"/>
                <a:gridCol w="382693"/>
                <a:gridCol w="384281"/>
                <a:gridCol w="384281"/>
                <a:gridCol w="384281"/>
                <a:gridCol w="384281"/>
                <a:gridCol w="385868"/>
                <a:gridCol w="381105"/>
                <a:gridCol w="385869"/>
              </a:tblGrid>
              <a:tr h="5762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‘\0’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65" marR="9146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96569" name="Group 185"/>
          <p:cNvGraphicFramePr>
            <a:graphicFrameLocks noGrp="1"/>
          </p:cNvGraphicFramePr>
          <p:nvPr>
            <p:ph sz="quarter" idx="1"/>
          </p:nvPr>
        </p:nvGraphicFramePr>
        <p:xfrm>
          <a:off x="6072188" y="2701925"/>
          <a:ext cx="5761038" cy="517525"/>
        </p:xfrm>
        <a:graphic>
          <a:graphicData uri="http://schemas.openxmlformats.org/drawingml/2006/table">
            <a:tbl>
              <a:tblPr/>
              <a:tblGrid>
                <a:gridCol w="384880"/>
                <a:gridCol w="383359"/>
                <a:gridCol w="384881"/>
                <a:gridCol w="255535"/>
                <a:gridCol w="511184"/>
                <a:gridCol w="384880"/>
                <a:gridCol w="383359"/>
                <a:gridCol w="384881"/>
                <a:gridCol w="514948"/>
                <a:gridCol w="253291"/>
                <a:gridCol w="381839"/>
                <a:gridCol w="384880"/>
                <a:gridCol w="367864"/>
                <a:gridCol w="381043"/>
                <a:gridCol w="404214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u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‘\0’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53" marR="91453" marT="45405" marB="454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93" name="AutoShape 5">
            <a:hlinkClick r:id="rId1" action="ppaction://hlinksldjump"/>
          </p:cNvPr>
          <p:cNvSpPr/>
          <p:nvPr/>
        </p:nvSpPr>
        <p:spPr>
          <a:xfrm>
            <a:off x="11582400" y="5988050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302885"/>
            <a:ext cx="10821670" cy="13836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C11:</a:t>
            </a:r>
            <a:endParaRPr lang="en-US" altLang="zh-CN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f</a:t>
            </a:r>
            <a:r>
              <a:rPr lang="en-US" altLang="zh-CN" sz="2800" b="1" dirty="0">
                <a:ea typeface="黑体" panose="02010609060101010101" pitchFamily="49" charset="-122"/>
              </a:rPr>
              <a:t>gets(str1,LEN,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stdin</a:t>
            </a:r>
            <a:r>
              <a:rPr lang="en-US" altLang="zh-CN" sz="2800" b="1" dirty="0">
                <a:ea typeface="黑体" panose="02010609060101010101" pitchFamily="49" charset="-122"/>
              </a:rPr>
              <a:t>);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gets_s(str1,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LEN</a:t>
            </a:r>
            <a:r>
              <a:rPr lang="en-US" altLang="zh-CN" sz="2800" b="1" dirty="0">
                <a:ea typeface="黑体" panose="02010609060101010101" pitchFamily="49" charset="-122"/>
              </a:rPr>
              <a:t>);      //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不是所有编译器都实现</a:t>
            </a:r>
            <a:endParaRPr lang="zh-CN" altLang="en-US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charRg st="3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charRg st="45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387">
                                            <p:txEl>
                                              <p:charRg st="73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-76200" y="395605"/>
            <a:ext cx="12317095" cy="6554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#include &lt;stdio.h&gt;</a:t>
            </a:r>
            <a:endParaRPr lang="zh-CN" altLang="en-US"/>
          </a:p>
          <a:p>
            <a:pPr algn="l"/>
            <a:r>
              <a:rPr lang="zh-CN" altLang="en-US"/>
              <a:t>#include &lt;string.h&gt;</a:t>
            </a:r>
            <a:endParaRPr lang="zh-CN" altLang="en-US"/>
          </a:p>
          <a:p>
            <a:r>
              <a:rPr lang="zh-CN" altLang="en-US"/>
              <a:t>int main()</a:t>
            </a:r>
            <a:endParaRPr lang="zh-CN" altLang="en-US"/>
          </a:p>
          <a:p>
            <a:r>
              <a:rPr lang="zh-CN" altLang="en-US"/>
              <a:t>{	char str[5][50];int i,n;</a:t>
            </a:r>
            <a:endParaRPr lang="zh-CN" altLang="en-US"/>
          </a:p>
          <a:p>
            <a:r>
              <a:rPr lang="zh-CN" altLang="en-US"/>
              <a:t>	scanf("%d",&amp;n);//输入字符串的总个数</a:t>
            </a:r>
            <a:r>
              <a:rPr lang="en-US" altLang="zh-CN"/>
              <a:t> //(1)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for (i=0;i&lt;n;i++)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/>
              <a:t>	</a:t>
            </a:r>
            <a:r>
              <a:rPr lang="en-US" altLang="zh-CN"/>
              <a:t>      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 sz="2400" kern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scanf("%s",str[i]);	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//前面的'\n'不会被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存入</a:t>
            </a:r>
            <a:endParaRPr lang="zh-CN" altLang="en-US" sz="1800">
              <a:solidFill>
                <a:schemeClr val="tx1">
                  <a:lumMod val="75000"/>
                </a:schemeClr>
              </a:solidFill>
            </a:endParaRPr>
          </a:p>
          <a:p>
            <a:endParaRPr lang="zh-CN" altLang="en-US"/>
          </a:p>
          <a:p>
            <a:r>
              <a:rPr lang="zh-CN" altLang="en-US"/>
              <a:t>    /*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/>
              <a:t>    </a:t>
            </a:r>
            <a:r>
              <a:rPr lang="en-US" altLang="zh-CN"/>
              <a:t>	</a:t>
            </a:r>
            <a:r>
              <a:rPr lang="zh-CN" altLang="en-US">
                <a:solidFill>
                  <a:srgbClr val="FFE705"/>
                </a:solidFill>
              </a:rPr>
              <a:t>getchar();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//若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用gets,gets_s或fgets，会把前面</a:t>
            </a:r>
            <a:r>
              <a:rPr lang="en-US" altLang="zh-CN" sz="1800">
                <a:solidFill>
                  <a:schemeClr val="tx1">
                    <a:lumMod val="75000"/>
                  </a:schemeClr>
                </a:solidFill>
              </a:rPr>
              <a:t>(1)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处输入的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  <a:sym typeface="+mn-ea"/>
              </a:rPr>
              <a:t>'\n'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作为一个字符串接收,此处过滤</a:t>
            </a:r>
            <a:endParaRPr lang="zh-CN" altLang="en-US" sz="180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/>
              <a:t>	for (i=0;i&lt;n;i++)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/>
              <a:t>	{	</a:t>
            </a:r>
            <a:r>
              <a:rPr lang="zh-CN" altLang="en-US">
                <a:solidFill>
                  <a:srgbClr val="FFE705"/>
                </a:solidFill>
              </a:rPr>
              <a:t>gets(str[i]); 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</a:rPr>
              <a:t>//考试服务器可用gets，注意数组尺寸，避免缓冲区溢出</a:t>
            </a:r>
            <a:endParaRPr lang="zh-CN" altLang="en-US" sz="1800">
              <a:solidFill>
                <a:schemeClr val="tx1">
                  <a:lumMod val="75000"/>
                </a:schemeClr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/>
              <a:t>		</a:t>
            </a:r>
            <a:r>
              <a:rPr lang="zh-CN" altLang="en-US">
                <a:solidFill>
                  <a:schemeClr val="tx1">
                    <a:lumMod val="65000"/>
                  </a:schemeClr>
                </a:solidFill>
              </a:rPr>
              <a:t>//gets_s(str[i],50); </a:t>
            </a:r>
            <a:r>
              <a:rPr lang="zh-CN" altLang="en-US" sz="1800">
                <a:solidFill>
                  <a:schemeClr val="tx1">
                    <a:lumMod val="65000"/>
                  </a:schemeClr>
                </a:solidFill>
              </a:rPr>
              <a:t>//考试服务器报编译错误</a:t>
            </a:r>
            <a:endParaRPr lang="zh-CN" altLang="en-US" sz="1800">
              <a:solidFill>
                <a:schemeClr val="tx1">
                  <a:lumMod val="6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</a:schemeClr>
                </a:solidFill>
              </a:rPr>
              <a:t>        </a:t>
            </a:r>
            <a:r>
              <a:rPr lang="en-US" altLang="zh-CN">
                <a:solidFill>
                  <a:schemeClr val="tx1">
                    <a:lumMod val="65000"/>
                  </a:schemeClr>
                </a:solidFill>
              </a:rPr>
              <a:t>		</a:t>
            </a:r>
            <a:r>
              <a:rPr lang="zh-CN" altLang="en-US">
                <a:solidFill>
                  <a:schemeClr val="tx1">
                    <a:lumMod val="65000"/>
                  </a:schemeClr>
                </a:solidFill>
              </a:rPr>
              <a:t>//fgets(str[i],50,stdin);</a:t>
            </a:r>
            <a:endParaRPr lang="zh-CN" altLang="en-US">
              <a:solidFill>
                <a:schemeClr val="tx1">
                  <a:lumMod val="6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</a:schemeClr>
                </a:solidFill>
              </a:rPr>
              <a:t>        </a:t>
            </a:r>
            <a:r>
              <a:rPr lang="en-US" altLang="zh-CN">
                <a:solidFill>
                  <a:schemeClr val="tx1">
                    <a:lumMod val="65000"/>
                  </a:schemeClr>
                </a:solidFill>
              </a:rPr>
              <a:t>		</a:t>
            </a:r>
            <a:r>
              <a:rPr lang="zh-CN" altLang="en-US">
                <a:solidFill>
                  <a:schemeClr val="tx1">
                    <a:lumMod val="65000"/>
                  </a:schemeClr>
                </a:solidFill>
              </a:rPr>
              <a:t>//考试服务器可用fgets，但会把每次输入的'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\n'也存进数组，可能会引发PE错误，需注意</a:t>
            </a:r>
            <a:endParaRPr lang="zh-CN" altLang="en-US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/>
              <a:t>	}</a:t>
            </a:r>
            <a:endParaRPr lang="zh-CN" altLang="en-US"/>
          </a:p>
          <a:p>
            <a:r>
              <a:rPr lang="zh-CN" altLang="en-US"/>
              <a:t>    */</a:t>
            </a:r>
            <a:endParaRPr lang="zh-CN" altLang="en-US"/>
          </a:p>
          <a:p>
            <a:r>
              <a:rPr lang="zh-CN" altLang="en-US"/>
              <a:t>    </a:t>
            </a:r>
            <a:endParaRPr lang="zh-CN" altLang="en-US"/>
          </a:p>
          <a:p>
            <a:r>
              <a:rPr lang="zh-CN" altLang="en-US"/>
              <a:t>	for (i=0;i&lt;n;i++)</a:t>
            </a:r>
            <a:r>
              <a:rPr lang="en-US" altLang="zh-CN"/>
              <a:t>	</a:t>
            </a:r>
            <a:endParaRPr lang="en-US" altLang="zh-CN"/>
          </a:p>
          <a:p>
            <a:pPr marL="914400" lvl="2" indent="457200"/>
            <a:r>
              <a:rPr lang="zh-CN" altLang="en-US"/>
              <a:t>printf("%s\n",str[i]);</a:t>
            </a:r>
            <a:endParaRPr lang="zh-CN" altLang="en-US"/>
          </a:p>
          <a:p>
            <a:r>
              <a:rPr lang="zh-CN" altLang="en-US"/>
              <a:t>	return 0;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42815" y="0"/>
            <a:ext cx="7439025" cy="1016000"/>
          </a:xfrm>
          <a:solidFill>
            <a:schemeClr val="accent1"/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对比实验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分别用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gets,gets_s,fgets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输入若干个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字符串，观察运行结果异同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E95B1F-208C-44BD-AED7-DC97B337AD7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1125538"/>
            <a:ext cx="7885113" cy="15113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97411" name="Rectangle 3"/>
          <p:cNvSpPr>
            <a:spLocks noGrp="1" noChangeArrowheads="1"/>
          </p:cNvSpPr>
          <p:nvPr>
            <p:ph idx="1"/>
          </p:nvPr>
        </p:nvSpPr>
        <p:spPr>
          <a:xfrm>
            <a:off x="269875" y="2584450"/>
            <a:ext cx="9144000" cy="2520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二维数组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每个元素是一个字符</a:t>
            </a:r>
            <a:endParaRPr kumimoji="0" lang="zh-CN" altLang="en-US" sz="24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5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个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一维数组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4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s[i]	</a:t>
            </a:r>
            <a:r>
              <a:rPr kumimoji="0" lang="zh-CN" altLang="en-US" sz="24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表示第</a:t>
            </a:r>
            <a:r>
              <a:rPr kumimoji="0" lang="en-US" altLang="zh-CN" sz="24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i</a:t>
            </a:r>
            <a:r>
              <a:rPr kumimoji="0" lang="zh-CN" altLang="en-US" sz="24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</a:rPr>
              <a:t>个字符串</a:t>
            </a:r>
            <a:endParaRPr kumimoji="0" lang="zh-CN" altLang="en-US" sz="24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45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  <a:sym typeface="+mn-ea"/>
              </a:rPr>
              <a:t>s[0] ~ s[4]	表示</a:t>
            </a:r>
            <a:r>
              <a:rPr lang="en-US" altLang="zh-CN" sz="245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  <a:sym typeface="+mn-ea"/>
              </a:rPr>
              <a:t> </a:t>
            </a:r>
            <a:r>
              <a:rPr lang="zh-CN" altLang="en-US" sz="245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  <a:sym typeface="+mn-ea"/>
              </a:rPr>
              <a:t>第0~4个</a:t>
            </a:r>
            <a:r>
              <a:rPr lang="en-US" altLang="zh-CN" sz="245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  <a:sym typeface="+mn-ea"/>
              </a:rPr>
              <a:t> </a:t>
            </a:r>
            <a:r>
              <a:rPr lang="zh-CN" altLang="en-US" sz="2450" noProof="0" dirty="0">
                <a:ln>
                  <a:noFill/>
                </a:ln>
                <a:uLnTx/>
                <a:uFillTx/>
                <a:latin typeface="Verdana" panose="020B0604030504040204" pitchFamily="34" charset="0"/>
                <a:ea typeface="隶书" pitchFamily="49" charset="-122"/>
                <a:cs typeface="+mn-cs"/>
                <a:sym typeface="+mn-ea"/>
              </a:rPr>
              <a:t>字符串</a:t>
            </a:r>
            <a:endParaRPr kumimoji="0" lang="zh-CN" altLang="en-US" sz="24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4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450" b="0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隶书" pitchFamily="49" charset="-122"/>
              <a:cs typeface="+mn-cs"/>
            </a:endParaRPr>
          </a:p>
        </p:txBody>
      </p:sp>
      <p:sp>
        <p:nvSpPr>
          <p:cNvPr id="1297412" name="Rectangle 4"/>
          <p:cNvSpPr>
            <a:spLocks noChangeArrowheads="1"/>
          </p:cNvSpPr>
          <p:nvPr/>
        </p:nvSpPr>
        <p:spPr bwMode="auto">
          <a:xfrm>
            <a:off x="1992313" y="0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隶书" pitchFamily="2" charset="-122"/>
                <a:ea typeface="华文隶书" pitchFamily="2" charset="-122"/>
                <a:cs typeface="+mn-cs"/>
              </a:rPr>
              <a:t>§6.6.2 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二维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字符数组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字符串数组</a:t>
            </a: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97413" name="Rectangle 5"/>
          <p:cNvSpPr>
            <a:spLocks noChangeArrowheads="1"/>
          </p:cNvSpPr>
          <p:nvPr/>
        </p:nvSpPr>
        <p:spPr bwMode="auto">
          <a:xfrm>
            <a:off x="304800" y="1363663"/>
            <a:ext cx="5184775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设有定义  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s[5][10];</a:t>
            </a:r>
            <a:b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可有如下含义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9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4FCB04-1344-4B98-A24B-A34D7720396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0" y="-35401"/>
            <a:ext cx="8839200" cy="9772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ea typeface="黑体" panose="02010609060101010101" pitchFamily="49" charset="-122"/>
              </a:rPr>
              <a:t>例</a:t>
            </a:r>
            <a:r>
              <a:rPr lang="pt-BR" altLang="zh-CN" sz="2400" b="1" dirty="0">
                <a:ea typeface="黑体" panose="02010609060101010101" pitchFamily="49" charset="-122"/>
              </a:rPr>
              <a:t>6.12】</a:t>
            </a:r>
            <a:r>
              <a:rPr lang="zh-CN" altLang="pt-BR" sz="2400" b="1" dirty="0">
                <a:ea typeface="黑体" panose="02010609060101010101" pitchFamily="49" charset="-122"/>
              </a:rPr>
              <a:t>编程序，输入一个班</a:t>
            </a:r>
            <a:r>
              <a:rPr lang="pt-BR" altLang="zh-CN" sz="2400" b="1" dirty="0">
                <a:ea typeface="黑体" panose="02010609060101010101" pitchFamily="49" charset="-122"/>
              </a:rPr>
              <a:t>50</a:t>
            </a:r>
            <a:r>
              <a:rPr lang="zh-CN" altLang="pt-BR" sz="2400" b="1" dirty="0">
                <a:ea typeface="黑体" panose="02010609060101010101" pitchFamily="49" charset="-122"/>
              </a:rPr>
              <a:t>名学生的</a:t>
            </a:r>
            <a:r>
              <a:rPr lang="en-US" altLang="zh-CN" sz="2400" b="1" dirty="0">
                <a:ea typeface="黑体" panose="02010609060101010101" pitchFamily="49" charset="-122"/>
              </a:rPr>
              <a:t>”</a:t>
            </a:r>
            <a:r>
              <a:rPr lang="zh-CN" altLang="pt-BR" sz="2400" b="1" dirty="0">
                <a:ea typeface="黑体" panose="02010609060101010101" pitchFamily="49" charset="-122"/>
              </a:rPr>
              <a:t>程设</a:t>
            </a:r>
            <a:r>
              <a:rPr lang="en-US" altLang="zh-CN" sz="2400" b="1" dirty="0">
                <a:ea typeface="黑体" panose="02010609060101010101" pitchFamily="49" charset="-122"/>
              </a:rPr>
              <a:t>”</a:t>
            </a:r>
            <a:r>
              <a:rPr lang="zh-CN" altLang="pt-BR" sz="2400" b="1" dirty="0">
                <a:ea typeface="黑体" panose="02010609060101010101" pitchFamily="49" charset="-122"/>
              </a:rPr>
              <a:t>成绩，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</a:t>
            </a:r>
            <a:r>
              <a:rPr lang="zh-CN" altLang="pt-BR" sz="2400" b="1" dirty="0">
                <a:ea typeface="黑体" panose="02010609060101010101" pitchFamily="49" charset="-122"/>
              </a:rPr>
              <a:t>按成绩</a:t>
            </a:r>
            <a:r>
              <a:rPr lang="en-US" altLang="zh-CN" sz="2400" b="1" kern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由高到低</a:t>
            </a:r>
            <a:r>
              <a:rPr lang="zh-CN" altLang="pt-BR" sz="2400" b="1" dirty="0">
                <a:ea typeface="黑体" panose="02010609060101010101" pitchFamily="49" charset="-122"/>
              </a:rPr>
              <a:t>的顺序输出每名学生的</a:t>
            </a:r>
            <a:r>
              <a:rPr lang="en-US" altLang="zh-CN" sz="2400" b="1" kern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学号、 姓名、成绩</a:t>
            </a:r>
            <a:r>
              <a:rPr lang="zh-CN" altLang="pt-BR" sz="2400" b="1" dirty="0">
                <a:ea typeface="黑体" panose="02010609060101010101" pitchFamily="49" charset="-122"/>
              </a:rPr>
              <a:t>。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152400" y="1000919"/>
            <a:ext cx="12230100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33375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bool  flag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i,r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u[2][50]={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1,2,3,4,5,6,7,8,9,10,11,12,13,14,15,16,17,18,19,20,21,22,23,24,25,26,27,28,29,30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,31,32,33,34,35,36,37,38,39,40,41,42,43,44,45,46,47,48,49,50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},{ }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定义姓名数组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name,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它是一个字符串数组，实际是一个二维字符数组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char name[50][20]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={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“zhangchanghai”,”liming”,”wangli”,”liuli”,”zhaolei”,”zhanglin”,”lili”,”wanglu”,”liulei”,”zhaoliang”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,”zhangming”,”liming”,”wangming”,”liuming”,”zhaoming”,”zhangyang”,”liyang”,”wangyang”,”liuyang”,”zhaoyang”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,”zhanggang”,”ligang”,”wanggang”,”liugang”,”zhaogang”,”zhangbin”,”libin”,”wangbin”,”liubin”,”zhaobin”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,”zhangbing”,”libing”,”wangbing”,”liubing”,”zhaobing”,”zhangguang”,”liguang”,”wangguang”,”liuguang”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,”zhaoguang”,”zhangsong”,”lisong”,”wangsong”,”liusong”,”zhaosong”,”zhangzhen”,”lizhen”,”wangzhen”,”liuzhen”,”zhaozhen”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}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char name0[20];  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869" name="对话气泡: 圆角矩形 1"/>
          <p:cNvSpPr/>
          <p:nvPr/>
        </p:nvSpPr>
        <p:spPr>
          <a:xfrm>
            <a:off x="9601200" y="1143000"/>
            <a:ext cx="2133600" cy="609600"/>
          </a:xfrm>
          <a:prstGeom prst="wedgeRoundRectCallout">
            <a:avLst>
              <a:gd name="adj1" fmla="val -141199"/>
              <a:gd name="adj2" fmla="val 129810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50</a:t>
            </a:r>
            <a:r>
              <a:rPr lang="zh-CN" altLang="en-US" b="1" dirty="0">
                <a:latin typeface="Arial" panose="020B0604020202020204" pitchFamily="34" charset="0"/>
              </a:rPr>
              <a:t>个学号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36870" name="对话气泡: 圆角矩形 5"/>
          <p:cNvSpPr/>
          <p:nvPr/>
        </p:nvSpPr>
        <p:spPr>
          <a:xfrm>
            <a:off x="8242300" y="5857875"/>
            <a:ext cx="2133600" cy="609600"/>
          </a:xfrm>
          <a:prstGeom prst="wedgeRoundRectCallout">
            <a:avLst>
              <a:gd name="adj1" fmla="val -53282"/>
              <a:gd name="adj2" fmla="val -85579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50</a:t>
            </a:r>
            <a:r>
              <a:rPr lang="zh-CN" altLang="en-US" b="1" dirty="0">
                <a:latin typeface="Arial" panose="020B0604020202020204" pitchFamily="34" charset="0"/>
              </a:rPr>
              <a:t>个姓名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36871" name="对话气泡: 圆角矩形 6"/>
          <p:cNvSpPr/>
          <p:nvPr/>
        </p:nvSpPr>
        <p:spPr>
          <a:xfrm>
            <a:off x="9601200" y="3248025"/>
            <a:ext cx="2133600" cy="609600"/>
          </a:xfrm>
          <a:prstGeom prst="wedgeRoundRectCallout">
            <a:avLst>
              <a:gd name="adj1" fmla="val -53347"/>
              <a:gd name="adj2" fmla="val -99042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Arial" panose="020B0604020202020204" pitchFamily="34" charset="0"/>
              </a:rPr>
              <a:t>50</a:t>
            </a:r>
            <a:r>
              <a:rPr lang="zh-CN" altLang="en-US" b="1" dirty="0">
                <a:latin typeface="Arial" panose="020B0604020202020204" pitchFamily="34" charset="0"/>
              </a:rPr>
              <a:t>个成绩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3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16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193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29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47" end="3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351" end="4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459" end="5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562" end="6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63" end="7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790" end="7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795" end="8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bldLvl="0" animBg="1"/>
      <p:bldP spid="36869" grpId="1" animBg="1"/>
      <p:bldP spid="36871" grpId="0" bldLvl="0" animBg="1"/>
      <p:bldP spid="36871" grpId="1" animBg="1"/>
      <p:bldP spid="36870" grpId="0" bldLvl="0" animBg="1"/>
      <p:bldP spid="36870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C74301-1A5C-498F-82D3-3D382CC3003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Rectangle 3"/>
          <p:cNvSpPr/>
          <p:nvPr/>
        </p:nvSpPr>
        <p:spPr>
          <a:xfrm>
            <a:off x="0" y="1220153"/>
            <a:ext cx="10287000" cy="35382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int main(){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     </a:t>
            </a:r>
            <a:r>
              <a:rPr lang="en-US" altLang="zh-CN" b="1" dirty="0">
                <a:solidFill>
                  <a:schemeClr val="hlink"/>
                </a:solidFill>
                <a:ea typeface="黑体" panose="02010609060101010101" pitchFamily="49" charset="-122"/>
              </a:rPr>
              <a:t>for ( i=0;i&lt;50;i++ )</a:t>
            </a:r>
            <a:r>
              <a:rPr lang="en-US" altLang="zh-CN" b="1" dirty="0"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输入成绩</a:t>
            </a:r>
            <a:endParaRPr lang="zh-CN" altLang="en-US" b="1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ea typeface="黑体" panose="02010609060101010101" pitchFamily="49" charset="-122"/>
              </a:rPr>
              <a:t>     {	</a:t>
            </a:r>
            <a:r>
              <a:rPr lang="zh-CN" altLang="en-US" b="1" dirty="0">
                <a:ea typeface="黑体" panose="02010609060101010101" pitchFamily="49" charset="-122"/>
              </a:rPr>
              <a:t>	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	        printf(“</a:t>
            </a:r>
            <a:r>
              <a:rPr lang="zh-CN" altLang="en-US" sz="2400" b="1" dirty="0">
                <a:ea typeface="黑体" panose="02010609060101010101" pitchFamily="49" charset="-122"/>
              </a:rPr>
              <a:t>请输入</a:t>
            </a:r>
            <a:r>
              <a:rPr lang="en-US" altLang="zh-CN" b="1" dirty="0">
                <a:solidFill>
                  <a:srgbClr val="FFFF66"/>
                </a:solidFill>
                <a:ea typeface="黑体" panose="02010609060101010101" pitchFamily="49" charset="-122"/>
              </a:rPr>
              <a:t>%d</a:t>
            </a:r>
            <a:r>
              <a:rPr lang="zh-CN" altLang="en-US" sz="2400" b="1" dirty="0">
                <a:ea typeface="黑体" panose="02010609060101010101" pitchFamily="49" charset="-122"/>
              </a:rPr>
              <a:t>号同学的成绩</a:t>
            </a:r>
            <a:r>
              <a:rPr lang="en-US" altLang="zh-CN" sz="2400" b="1" dirty="0">
                <a:ea typeface="黑体" panose="02010609060101010101" pitchFamily="49" charset="-122"/>
              </a:rPr>
              <a:t> :</a:t>
            </a:r>
            <a:r>
              <a:rPr lang="en-US" altLang="zh-CN" b="1" dirty="0">
                <a:ea typeface="黑体" panose="02010609060101010101" pitchFamily="49" charset="-122"/>
              </a:rPr>
              <a:t> “,u[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0</a:t>
            </a:r>
            <a:r>
              <a:rPr lang="en-US" altLang="zh-CN" b="1" dirty="0">
                <a:ea typeface="黑体" panose="02010609060101010101" pitchFamily="49" charset="-122"/>
              </a:rPr>
              <a:t>][i]);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		scanf(“%d”, </a:t>
            </a:r>
            <a:r>
              <a:rPr lang="en-US" altLang="zh-CN" b="1" dirty="0">
                <a:solidFill>
                  <a:schemeClr val="hlink"/>
                </a:solidFill>
                <a:ea typeface="黑体" panose="02010609060101010101" pitchFamily="49" charset="-122"/>
              </a:rPr>
              <a:t>&amp;u[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hlink"/>
                </a:solidFill>
                <a:ea typeface="黑体" panose="02010609060101010101" pitchFamily="49" charset="-122"/>
              </a:rPr>
              <a:t>][i]</a:t>
            </a:r>
            <a:r>
              <a:rPr lang="en-US" altLang="zh-CN" b="1" dirty="0">
                <a:ea typeface="黑体" panose="02010609060101010101" pitchFamily="49" charset="-122"/>
              </a:rPr>
              <a:t> ) ;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chemeClr val="hlink"/>
                </a:solidFill>
                <a:ea typeface="黑体" panose="02010609060101010101" pitchFamily="49" charset="-122"/>
              </a:rPr>
              <a:t>}</a:t>
            </a:r>
            <a:endParaRPr lang="en-US" altLang="zh-CN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       </a:t>
            </a:r>
            <a:endParaRPr lang="en-US" altLang="zh-CN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28582D-8B5D-4E00-82C9-65C867EDDD5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87" name="Rectangle 2"/>
          <p:cNvSpPr>
            <a:spLocks noChangeArrowheads="1"/>
          </p:cNvSpPr>
          <p:nvPr/>
        </p:nvSpPr>
        <p:spPr bwMode="auto">
          <a:xfrm>
            <a:off x="1519238" y="-133350"/>
            <a:ext cx="8929688" cy="72009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 = true ;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冒泡排序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while ( flag 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 = false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for ( i=0 ; i&lt;49 ; i++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if ( u[1][i] &lt; u[1][i+1] 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		flag=true;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标志单元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r = u[1][i] ;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交换成绩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u[1][i] = u[1][i+1] ;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		u[1][i+1] = r 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	</a:t>
            </a: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r = u[0][i] ; // 交换学号</a:t>
            </a:r>
            <a:endParaRPr kumimoji="0" lang="en-US" altLang="zh-CN" sz="3200" b="1" i="0" u="none" strike="noStrike" kern="1200" cap="none" spc="0" normalizeH="0" baseline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			u[0][i] = u[0][i+1] ; </a:t>
            </a:r>
            <a:endParaRPr kumimoji="0" lang="en-US" altLang="zh-CN" sz="3200" b="1" i="0" u="none" strike="noStrike" kern="1200" cap="none" spc="0" normalizeH="0" baseline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			u[0][i+1] = r ; </a:t>
            </a:r>
            <a:endParaRPr kumimoji="0" lang="en-US" altLang="zh-CN" sz="3200" b="1" i="0" u="none" strike="noStrike" kern="1200" cap="none" spc="0" normalizeH="0" baseline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 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strcpy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name0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,name[i]);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交换姓名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              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strcpy(name[i],name[i+1]);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strcpy(name[i+1],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name0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}   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组合 5"/>
          <p:cNvGrpSpPr/>
          <p:nvPr/>
        </p:nvGrpSpPr>
        <p:grpSpPr>
          <a:xfrm>
            <a:off x="1514475" y="4221163"/>
            <a:ext cx="4459288" cy="863600"/>
            <a:chOff x="0" y="4221088"/>
            <a:chExt cx="4459883" cy="864096"/>
          </a:xfrm>
        </p:grpSpPr>
        <p:sp>
          <p:nvSpPr>
            <p:cNvPr id="38922" name="矩形 1"/>
            <p:cNvSpPr/>
            <p:nvPr/>
          </p:nvSpPr>
          <p:spPr>
            <a:xfrm>
              <a:off x="0" y="4221088"/>
              <a:ext cx="2699792" cy="708293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333375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前面定义了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333375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char name0[20];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cxnSp>
          <p:nvCxnSpPr>
            <p:cNvPr id="38923" name="直接箭头连接符 4"/>
            <p:cNvCxnSpPr/>
            <p:nvPr/>
          </p:nvCxnSpPr>
          <p:spPr>
            <a:xfrm flipH="1" flipV="1">
              <a:off x="2699792" y="4581128"/>
              <a:ext cx="1760091" cy="504056"/>
            </a:xfrm>
            <a:prstGeom prst="straightConnector1">
              <a:avLst/>
            </a:prstGeom>
            <a:ln w="38100" cap="flat" cmpd="sng">
              <a:solidFill>
                <a:srgbClr val="00B0F0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0" name="椭圆形标注 9"/>
          <p:cNvSpPr/>
          <p:nvPr/>
        </p:nvSpPr>
        <p:spPr>
          <a:xfrm>
            <a:off x="9136063" y="1790700"/>
            <a:ext cx="2625725" cy="995363"/>
          </a:xfrm>
          <a:prstGeom prst="wedgeEllipseCallout">
            <a:avLst>
              <a:gd name="adj1" fmla="val -94079"/>
              <a:gd name="adj2" fmla="val 80796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交换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ea typeface="黑体" panose="02010609060101010101" pitchFamily="49" charset="-122"/>
              </a:rPr>
              <a:t>个</a:t>
            </a:r>
            <a:r>
              <a:rPr lang="en-US" altLang="zh-CN" sz="2000" b="1" dirty="0">
                <a:ea typeface="黑体" panose="02010609060101010101" pitchFamily="49" charset="-122"/>
              </a:rPr>
              <a:t>int</a:t>
            </a:r>
            <a:r>
              <a:rPr lang="zh-CN" altLang="en-US" sz="2000" b="1" dirty="0">
                <a:ea typeface="黑体" panose="02010609060101010101" pitchFamily="49" charset="-122"/>
              </a:rPr>
              <a:t>变量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1" name="椭圆形标注 10"/>
          <p:cNvSpPr/>
          <p:nvPr/>
        </p:nvSpPr>
        <p:spPr>
          <a:xfrm>
            <a:off x="9026525" y="3436938"/>
            <a:ext cx="2627313" cy="995362"/>
          </a:xfrm>
          <a:prstGeom prst="wedgeEllipseCallout">
            <a:avLst>
              <a:gd name="adj1" fmla="val -76144"/>
              <a:gd name="adj2" fmla="val 49852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交换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ea typeface="黑体" panose="02010609060101010101" pitchFamily="49" charset="-122"/>
              </a:rPr>
              <a:t>个</a:t>
            </a:r>
            <a:r>
              <a:rPr lang="en-US" altLang="zh-CN" sz="2000" b="1" dirty="0">
                <a:ea typeface="黑体" panose="02010609060101010101" pitchFamily="49" charset="-122"/>
              </a:rPr>
              <a:t>int</a:t>
            </a:r>
            <a:r>
              <a:rPr lang="zh-CN" altLang="en-US" sz="2000" b="1" dirty="0">
                <a:ea typeface="黑体" panose="02010609060101010101" pitchFamily="49" charset="-122"/>
              </a:rPr>
              <a:t>变量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22750" y="2286000"/>
            <a:ext cx="4359910" cy="127127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81488" y="4991100"/>
            <a:ext cx="5853112" cy="12573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5" name="椭圆形标注 4"/>
          <p:cNvSpPr/>
          <p:nvPr/>
        </p:nvSpPr>
        <p:spPr>
          <a:xfrm>
            <a:off x="9718675" y="5130800"/>
            <a:ext cx="2408238" cy="995363"/>
          </a:xfrm>
          <a:prstGeom prst="wedgeEllipseCallout">
            <a:avLst>
              <a:gd name="adj1" fmla="val -54894"/>
              <a:gd name="adj2" fmla="val 29417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交换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333375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ea typeface="黑体" panose="02010609060101010101" pitchFamily="49" charset="-122"/>
              </a:rPr>
              <a:t>个字符串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6" grpId="0" bldLvl="0" animBg="1"/>
      <p:bldP spid="13" grpId="0" bldLvl="0" animBg="1"/>
      <p:bldP spid="5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879931-F708-4953-BD1E-6BAEBD55276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Rectangle 2"/>
          <p:cNvSpPr/>
          <p:nvPr/>
        </p:nvSpPr>
        <p:spPr>
          <a:xfrm>
            <a:off x="304483" y="1599883"/>
            <a:ext cx="9652000" cy="22272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printf(“Answer:\n”);	// </a:t>
            </a:r>
            <a:r>
              <a:rPr lang="zh-CN" altLang="en-US" sz="2800" b="1" dirty="0">
                <a:ea typeface="黑体" panose="02010609060101010101" pitchFamily="49" charset="-122"/>
              </a:rPr>
              <a:t>输出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</a:t>
            </a:r>
            <a:r>
              <a:rPr lang="en-US" altLang="zh-CN" sz="2800" b="1" dirty="0">
                <a:ea typeface="黑体" panose="02010609060101010101" pitchFamily="49" charset="-122"/>
              </a:rPr>
              <a:t>for ( i=0;i&lt;50;i++)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		printf(“%4d 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%s</a:t>
            </a:r>
            <a:r>
              <a:rPr lang="en-US" altLang="zh-CN" sz="2800" b="1" dirty="0">
                <a:ea typeface="黑体" panose="02010609060101010101" pitchFamily="49" charset="-122"/>
              </a:rPr>
              <a:t>   %4d\n”,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			u[0][i], </a:t>
            </a:r>
            <a:r>
              <a:rPr lang="en-US" altLang="zh-CN" sz="2800" b="1" dirty="0">
                <a:solidFill>
                  <a:schemeClr val="folHlink"/>
                </a:solidFill>
                <a:ea typeface="黑体" panose="02010609060101010101" pitchFamily="49" charset="-122"/>
              </a:rPr>
              <a:t>name[i], </a:t>
            </a:r>
            <a:r>
              <a:rPr lang="en-US" altLang="zh-CN" sz="2800" b="1" dirty="0">
                <a:ea typeface="黑体" panose="02010609060101010101" pitchFamily="49" charset="-122"/>
              </a:rPr>
              <a:t>u[1][i]);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}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grpSp>
        <p:nvGrpSpPr>
          <p:cNvPr id="2" name="组合 5"/>
          <p:cNvGrpSpPr/>
          <p:nvPr/>
        </p:nvGrpSpPr>
        <p:grpSpPr>
          <a:xfrm>
            <a:off x="4049347" y="3325495"/>
            <a:ext cx="2962275" cy="734695"/>
            <a:chOff x="3030215" y="4027613"/>
            <a:chExt cx="3069990" cy="1367298"/>
          </a:xfrm>
        </p:grpSpPr>
        <p:sp>
          <p:nvSpPr>
            <p:cNvPr id="39950" name="矩形 1"/>
            <p:cNvSpPr/>
            <p:nvPr/>
          </p:nvSpPr>
          <p:spPr>
            <a:xfrm>
              <a:off x="3030215" y="4652765"/>
              <a:ext cx="3069990" cy="742146"/>
            </a:xfrm>
            <a:prstGeom prst="rect">
              <a:avLst/>
            </a:prstGeom>
            <a:noFill/>
            <a:ln w="254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333375"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char name[50][20]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cxnSp>
          <p:nvCxnSpPr>
            <p:cNvPr id="39951" name="直接箭头连接符 3"/>
            <p:cNvCxnSpPr>
              <a:endCxn id="39950" idx="0"/>
            </p:cNvCxnSpPr>
            <p:nvPr/>
          </p:nvCxnSpPr>
          <p:spPr>
            <a:xfrm>
              <a:off x="4142437" y="4027613"/>
              <a:ext cx="423152" cy="625152"/>
            </a:xfrm>
            <a:prstGeom prst="straightConnector1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3" name="组合 7"/>
          <p:cNvGrpSpPr/>
          <p:nvPr/>
        </p:nvGrpSpPr>
        <p:grpSpPr>
          <a:xfrm>
            <a:off x="7214870" y="3325447"/>
            <a:ext cx="2065338" cy="734694"/>
            <a:chOff x="5940152" y="2158695"/>
            <a:chExt cx="2064989" cy="734311"/>
          </a:xfrm>
        </p:grpSpPr>
        <p:sp>
          <p:nvSpPr>
            <p:cNvPr id="39948" name="矩形 9"/>
            <p:cNvSpPr/>
            <p:nvPr/>
          </p:nvSpPr>
          <p:spPr>
            <a:xfrm>
              <a:off x="5940152" y="2492896"/>
              <a:ext cx="2064989" cy="400110"/>
            </a:xfrm>
            <a:prstGeom prst="rect">
              <a:avLst/>
            </a:prstGeom>
            <a:noFill/>
            <a:ln w="25400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333375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int u[2][50]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cxnSp>
          <p:nvCxnSpPr>
            <p:cNvPr id="39949" name="直接箭头连接符 10"/>
            <p:cNvCxnSpPr/>
            <p:nvPr/>
          </p:nvCxnSpPr>
          <p:spPr>
            <a:xfrm flipH="1" flipV="1">
              <a:off x="6016650" y="2158695"/>
              <a:ext cx="380936" cy="304641"/>
            </a:xfrm>
            <a:prstGeom prst="straightConnector1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879931-F708-4953-BD1E-6BAEBD55276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283" y="685483"/>
            <a:ext cx="10896600" cy="60744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在一个程序中，编写</a:t>
            </a: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ea typeface="黑体" panose="02010609060101010101" pitchFamily="49" charset="-122"/>
              </a:rPr>
              <a:t>个函数，分别实现如下排序，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对比各函数实现的异同</a:t>
            </a:r>
            <a:r>
              <a:rPr lang="zh-CN" altLang="en-US" sz="2400" b="1" dirty="0">
                <a:ea typeface="黑体" panose="02010609060101010101" pitchFamily="49" charset="-122"/>
              </a:rPr>
              <a:t>。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函数原型如下：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void sortOfInt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(int a[],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ea typeface="黑体" panose="02010609060101010101" pitchFamily="49" charset="-122"/>
              </a:rPr>
              <a:t>int n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ea typeface="黑体" panose="02010609060101010101" pitchFamily="49" charset="-122"/>
              </a:rPr>
              <a:t>; 			</a:t>
            </a:r>
            <a:r>
              <a:rPr lang="en-US" altLang="zh-CN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//</a:t>
            </a:r>
            <a:r>
              <a:rPr lang="en-US" altLang="zh-CN" sz="2000" b="1" dirty="0">
                <a:ea typeface="黑体" panose="02010609060101010101" pitchFamily="49" charset="-122"/>
              </a:rPr>
              <a:t>7 6 4 8 10 </a:t>
            </a:r>
            <a:r>
              <a:rPr lang="zh-CN" altLang="en-US" sz="2000" b="1" dirty="0">
                <a:solidFill>
                  <a:srgbClr val="FFC000"/>
                </a:solidFill>
                <a:ea typeface="黑体" panose="02010609060101010101" pitchFamily="49" charset="-122"/>
              </a:rPr>
              <a:t>排序后：</a:t>
            </a:r>
            <a:r>
              <a:rPr lang="en-US" altLang="zh-CN" sz="2000" b="1" dirty="0">
                <a:ea typeface="黑体" panose="02010609060101010101" pitchFamily="49" charset="-122"/>
              </a:rPr>
              <a:t>4 6 7 8 10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void sortOfStr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(char str[50],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ea typeface="黑体" panose="02010609060101010101" pitchFamily="49" charset="-122"/>
              </a:rPr>
              <a:t>int n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ea typeface="黑体" panose="02010609060101010101" pitchFamily="49" charset="-122"/>
              </a:rPr>
              <a:t>; 		</a:t>
            </a:r>
            <a:r>
              <a:rPr lang="en-US" altLang="zh-CN" sz="2000" b="1" dirty="0">
                <a:solidFill>
                  <a:srgbClr val="FFC000"/>
                </a:solidFill>
                <a:ea typeface="黑体" panose="02010609060101010101" pitchFamily="49" charset="-122"/>
              </a:rPr>
              <a:t>//</a:t>
            </a:r>
            <a:r>
              <a:rPr lang="en-US" altLang="zh-CN" sz="2000" b="1" dirty="0">
                <a:ea typeface="黑体" panose="02010609060101010101" pitchFamily="49" charset="-122"/>
              </a:rPr>
              <a:t>cdabef </a:t>
            </a:r>
            <a:r>
              <a:rPr lang="zh-CN" altLang="en-US" sz="2000" b="1" dirty="0">
                <a:solidFill>
                  <a:srgbClr val="FFC000"/>
                </a:solidFill>
                <a:ea typeface="黑体" panose="02010609060101010101" pitchFamily="49" charset="-122"/>
              </a:rPr>
              <a:t>排序后：</a:t>
            </a:r>
            <a:r>
              <a:rPr lang="en-US" altLang="zh-CN" sz="2000" b="1" dirty="0">
                <a:ea typeface="黑体" panose="02010609060101010101" pitchFamily="49" charset="-122"/>
              </a:rPr>
              <a:t>abcdef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void sortOfStrs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(char a[5][50],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ea typeface="黑体" panose="02010609060101010101" pitchFamily="49" charset="-122"/>
              </a:rPr>
              <a:t>int n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400" b="1" dirty="0">
                <a:ea typeface="黑体" panose="02010609060101010101" pitchFamily="49" charset="-122"/>
              </a:rPr>
              <a:t>;	</a:t>
            </a:r>
            <a:r>
              <a:rPr lang="en-US" altLang="zh-CN" sz="2000" b="1" dirty="0">
                <a:solidFill>
                  <a:srgbClr val="FFC000"/>
                </a:solidFill>
                <a:ea typeface="黑体" panose="02010609060101010101" pitchFamily="49" charset="-122"/>
              </a:rPr>
              <a:t>//</a:t>
            </a:r>
            <a:r>
              <a:rPr lang="en-US" altLang="zh-CN" sz="2000" b="1" dirty="0">
                <a:ea typeface="黑体" panose="02010609060101010101" pitchFamily="49" charset="-122"/>
              </a:rPr>
              <a:t>排序若干个字符串</a:t>
            </a:r>
            <a:endParaRPr lang="en-US" altLang="zh-CN" sz="20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注意观察：</a:t>
            </a:r>
            <a:endParaRPr lang="zh-CN" altLang="en-US" sz="2400" b="1" dirty="0">
              <a:solidFill>
                <a:srgbClr val="FFC000"/>
              </a:solidFill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ea typeface="黑体" panose="02010609060101010101" pitchFamily="49" charset="-122"/>
              </a:rPr>
              <a:t>）算法相同、数据</a:t>
            </a:r>
            <a:r>
              <a:rPr lang="zh-CN" altLang="en-US" sz="2400" b="1" dirty="0">
                <a:ea typeface="黑体" panose="02010609060101010101" pitchFamily="49" charset="-122"/>
              </a:rPr>
              <a:t>结构不同，程序代码</a:t>
            </a:r>
            <a:r>
              <a:rPr lang="zh-CN" altLang="en-US" sz="2400" b="1" dirty="0">
                <a:ea typeface="黑体" panose="02010609060101010101" pitchFamily="49" charset="-122"/>
              </a:rPr>
              <a:t>的差异；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ea typeface="黑体" panose="02010609060101010101" pitchFamily="49" charset="-122"/>
              </a:rPr>
              <a:t>）函数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sortOfStrs</a:t>
            </a:r>
            <a:r>
              <a:rPr lang="zh-CN" altLang="en-US" sz="2400" b="1" dirty="0">
                <a:ea typeface="黑体" panose="02010609060101010101" pitchFamily="49" charset="-122"/>
                <a:sym typeface="+mn-ea"/>
              </a:rPr>
              <a:t>：</a:t>
            </a:r>
            <a:endParaRPr lang="zh-CN" altLang="en-US" sz="2400" b="1" dirty="0">
              <a:ea typeface="黑体" panose="02010609060101010101" pitchFamily="49" charset="-122"/>
              <a:sym typeface="+mn-ea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主函数中先输入</a:t>
            </a:r>
            <a:r>
              <a:rPr lang="en-US" altLang="zh-CN" sz="2400" b="1" dirty="0"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ea typeface="黑体" panose="02010609060101010101" pitchFamily="49" charset="-122"/>
              </a:rPr>
              <a:t>，再输入</a:t>
            </a:r>
            <a:r>
              <a:rPr lang="en-US" altLang="zh-CN" sz="2400" b="1" dirty="0"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ea typeface="黑体" panose="02010609060101010101" pitchFamily="49" charset="-122"/>
              </a:rPr>
              <a:t>个</a:t>
            </a:r>
            <a:r>
              <a:rPr lang="zh-CN" altLang="en-US" sz="2400" b="1" dirty="0">
                <a:ea typeface="黑体" panose="02010609060101010101" pitchFamily="49" charset="-122"/>
              </a:rPr>
              <a:t>字符串，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分别用</a:t>
            </a:r>
            <a:r>
              <a:rPr lang="en-US" altLang="zh-CN" sz="2400" b="1" dirty="0">
                <a:ea typeface="黑体" panose="02010609060101010101" pitchFamily="49" charset="-122"/>
              </a:rPr>
              <a:t>scanf(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”</a:t>
            </a:r>
            <a:r>
              <a:rPr lang="en-US" altLang="zh-CN" sz="2400" b="1" dirty="0">
                <a:ea typeface="黑体" panose="02010609060101010101" pitchFamily="49" charset="-122"/>
              </a:rPr>
              <a:t>%s”,……) </a:t>
            </a:r>
            <a:r>
              <a:rPr lang="zh-CN" altLang="en-US" sz="2400" b="1" dirty="0"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ea typeface="黑体" panose="02010609060101010101" pitchFamily="49" charset="-122"/>
              </a:rPr>
              <a:t> gets(str)</a:t>
            </a:r>
            <a:r>
              <a:rPr lang="zh-CN" altLang="en-US" sz="2400" b="1" dirty="0">
                <a:ea typeface="黑体" panose="02010609060101010101" pitchFamily="49" charset="-122"/>
              </a:rPr>
              <a:t>输入</a:t>
            </a:r>
            <a:r>
              <a:rPr lang="en-US" altLang="zh-CN" sz="2400" b="1" dirty="0"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ea typeface="黑体" panose="02010609060101010101" pitchFamily="49" charset="-122"/>
              </a:rPr>
              <a:t>个字符串，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观察</a:t>
            </a:r>
            <a:r>
              <a:rPr lang="zh-CN" altLang="en-US" sz="2400" b="1" dirty="0">
                <a:ea typeface="黑体" panose="02010609060101010101" pitchFamily="49" charset="-122"/>
              </a:rPr>
              <a:t>二者使用上的</a:t>
            </a:r>
            <a:r>
              <a:rPr lang="zh-CN" altLang="en-US" sz="2400" b="1" dirty="0">
                <a:ea typeface="黑体" panose="02010609060101010101" pitchFamily="49" charset="-122"/>
              </a:rPr>
              <a:t>区别。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705283" y="2666683"/>
            <a:ext cx="3970337" cy="1666875"/>
            <a:chOff x="2437955" y="5291175"/>
            <a:chExt cx="3969588" cy="1666382"/>
          </a:xfrm>
        </p:grpSpPr>
        <p:sp>
          <p:nvSpPr>
            <p:cNvPr id="39945" name="矩形 5"/>
            <p:cNvSpPr/>
            <p:nvPr/>
          </p:nvSpPr>
          <p:spPr>
            <a:xfrm>
              <a:off x="2437955" y="5326502"/>
              <a:ext cx="1529873" cy="16310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Lisi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Wangwu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Zhaoliu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Liuqi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Zhangsan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39946" name="矩形 12"/>
            <p:cNvSpPr/>
            <p:nvPr/>
          </p:nvSpPr>
          <p:spPr>
            <a:xfrm>
              <a:off x="4727964" y="5291175"/>
              <a:ext cx="1679579" cy="16310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Lisi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Liuqi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Wangwu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Zhangsan</a:t>
              </a:r>
              <a:endParaRPr lang="en-US" altLang="zh-CN" sz="2000" b="1" dirty="0">
                <a:ea typeface="黑体" panose="020106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ea typeface="黑体" panose="02010609060101010101" pitchFamily="49" charset="-122"/>
                </a:rPr>
                <a:t>Zhaoliu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39947" name="箭头: 右 6"/>
            <p:cNvSpPr/>
            <p:nvPr/>
          </p:nvSpPr>
          <p:spPr>
            <a:xfrm>
              <a:off x="3875578" y="5555533"/>
              <a:ext cx="556741" cy="794724"/>
            </a:xfrm>
            <a:prstGeom prst="rightArrow">
              <a:avLst>
                <a:gd name="adj1" fmla="val 50000"/>
                <a:gd name="adj2" fmla="val 50004"/>
              </a:avLst>
            </a:prstGeom>
            <a:solidFill>
              <a:srgbClr val="00FFFF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333375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6200" y="76200"/>
            <a:ext cx="23495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对比实验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】</a:t>
            </a:r>
            <a:endParaRPr lang="en-US" altLang="zh-CN" sz="2800" b="1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4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16C0B0-3BEE-4498-A983-C60A508A23D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0"/>
            <a:ext cx="854075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§6.7 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类型定义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8600" y="1295400"/>
            <a:ext cx="9678670" cy="45523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514350" marR="0" lvl="0" indent="-5143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AutoNum type="circleNumDbPlain"/>
              <a:defRPr/>
            </a:pPr>
            <a:r>
              <a:rPr lang="zh-CN" altLang="en-US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  <a:sym typeface="+mn-ea"/>
              </a:rPr>
              <a:t>给已有名字的类型定义别名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None/>
              <a:defRPr/>
            </a:pPr>
            <a:r>
              <a:rPr lang="zh-CN" altLang="en-US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例</a:t>
            </a:r>
            <a:r>
              <a:rPr lang="en-US" altLang="zh-CN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：</a:t>
            </a:r>
            <a:r>
              <a:rPr lang="en-US" altLang="zh-CN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typedef</a:t>
            </a:r>
            <a:r>
              <a:rPr lang="en-US" altLang="zh-CN" sz="2800" kern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kern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int</a:t>
            </a:r>
            <a:r>
              <a:rPr lang="en-US" altLang="zh-CN" sz="2800" kern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  </a:t>
            </a:r>
            <a:r>
              <a:rPr lang="en-US" altLang="zh-CN" sz="2800" kern="0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latin typeface="Arial" panose="020B0604020202020204" pitchFamily="34" charset="0"/>
                <a:sym typeface="+mn-ea"/>
              </a:rPr>
              <a:t>INTEGER</a:t>
            </a:r>
            <a:r>
              <a:rPr lang="en-US" altLang="zh-CN" sz="2800" kern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 ;</a:t>
            </a:r>
            <a:r>
              <a:rPr lang="en-US" altLang="zh-CN" sz="2800" kern="0" noProof="0" dirty="0">
                <a:ln>
                  <a:noFill/>
                </a:ln>
                <a:solidFill>
                  <a:schemeClr val="hlink"/>
                </a:solidFill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endParaRPr lang="en-US" altLang="zh-CN" sz="2800" kern="0" noProof="0" dirty="0">
              <a:ln>
                <a:noFill/>
              </a:ln>
              <a:solidFill>
                <a:schemeClr val="hlink"/>
              </a:solidFill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None/>
              <a:defRPr/>
            </a:pPr>
            <a:r>
              <a:rPr lang="en-US" altLang="zh-CN" sz="2800" kern="0" noProof="0" dirty="0" err="1">
                <a:ln>
                  <a:noFill/>
                </a:ln>
                <a:solidFill>
                  <a:srgbClr val="E9E61B"/>
                </a:solidFill>
                <a:uLnTx/>
                <a:uFillTx/>
                <a:latin typeface="Arial" panose="020B0604020202020204" pitchFamily="34" charset="0"/>
                <a:sym typeface="+mn-ea"/>
              </a:rPr>
              <a:t>INTEGER</a:t>
            </a:r>
            <a:r>
              <a:rPr lang="en-US" altLang="zh-CN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  m , n ;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 //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相当于</a:t>
            </a:r>
            <a:r>
              <a:rPr lang="en-US" altLang="zh-CN" sz="1800" kern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int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  m , n ;</a:t>
            </a:r>
            <a:endParaRPr lang="en-US" altLang="zh-CN" sz="1800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None/>
              <a:defRPr/>
            </a:pPr>
            <a:r>
              <a:rPr lang="zh-CN" altLang="en-US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例</a:t>
            </a:r>
            <a:r>
              <a:rPr lang="en-US" altLang="zh-CN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：</a:t>
            </a:r>
            <a:r>
              <a:rPr lang="en-US" altLang="zh-CN" sz="2800" kern="0" noProof="0" dirty="0" err="1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typedef</a:t>
            </a:r>
            <a:r>
              <a:rPr lang="en-US" altLang="zh-CN" sz="2800" kern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kern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800" kern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int</a:t>
            </a:r>
            <a:r>
              <a:rPr lang="en-US" altLang="zh-CN" sz="2800" kern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  </a:t>
            </a:r>
            <a:r>
              <a:rPr lang="en-US" altLang="zh-CN" sz="2800" kern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sym typeface="+mn-ea"/>
              </a:rPr>
              <a:t>ta</a:t>
            </a:r>
            <a:r>
              <a:rPr lang="en-US" altLang="zh-CN" sz="2800" kern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[10]</a:t>
            </a:r>
            <a:r>
              <a:rPr lang="en-US" altLang="zh-CN" sz="2800" kern="0" noProof="0" dirty="0">
                <a:ln>
                  <a:noFill/>
                </a:ln>
                <a:uLnTx/>
                <a:uFillTx/>
                <a:latin typeface="Arial" panose="020B0604020202020204" pitchFamily="34" charset="0"/>
                <a:sym typeface="+mn-ea"/>
              </a:rPr>
              <a:t>;	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类型 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ta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是一个</a:t>
            </a:r>
            <a:r>
              <a:rPr lang="en-US" altLang="zh-CN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10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个元素的</a:t>
            </a:r>
            <a:r>
              <a:rPr lang="en-US" altLang="zh-CN" sz="1800" kern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int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类型的数组类型</a:t>
            </a:r>
            <a:endParaRPr lang="zh-CN" altLang="en-US" sz="1800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None/>
              <a:defRPr/>
            </a:pPr>
            <a:r>
              <a:rPr lang="en-US" altLang="zh-CN" sz="2800" kern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latin typeface="Arial" panose="020B0604020202020204" pitchFamily="34" charset="0"/>
                <a:sym typeface="+mn-ea"/>
              </a:rPr>
              <a:t>ta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sym typeface="+mn-ea"/>
              </a:rPr>
              <a:t>  a ;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//一维数组a，等价于int a[10];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None/>
              <a:defRPr/>
            </a:pP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sym typeface="+mn-ea"/>
              </a:rPr>
              <a:t>    	</a:t>
            </a:r>
            <a:r>
              <a:rPr lang="en-US" altLang="zh-CN" sz="2800" kern="0" noProof="0" dirty="0">
                <a:ln>
                  <a:noFill/>
                </a:ln>
                <a:solidFill>
                  <a:srgbClr val="E9E61B"/>
                </a:solidFill>
                <a:uLnTx/>
                <a:uFillTx/>
                <a:latin typeface="Arial" panose="020B0604020202020204" pitchFamily="34" charset="0"/>
                <a:sym typeface="+mn-ea"/>
              </a:rPr>
              <a:t>ta</a:t>
            </a:r>
            <a:r>
              <a:rPr lang="en-US" altLang="zh-CN" sz="2800" kern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Arial" panose="020B0604020202020204" pitchFamily="34" charset="0"/>
                <a:sym typeface="+mn-ea"/>
              </a:rPr>
              <a:t>  b[2] ; </a:t>
            </a:r>
            <a:r>
              <a:rPr lang="zh-CN" altLang="en-US" sz="18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latin typeface="Arial" panose="020B0604020202020204" pitchFamily="34" charset="0"/>
                <a:sym typeface="+mn-ea"/>
              </a:rPr>
              <a:t>//二维数组b,等价于b[2][10];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2092960" cy="7658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40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sym typeface="+mn-ea"/>
              </a:rPr>
              <a:t>typedef</a:t>
            </a:r>
            <a:endParaRPr lang="zh-CN" altLang="en-US" sz="40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76200" y="762000"/>
            <a:ext cx="8892540" cy="3286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typedef </a:t>
            </a:r>
            <a:r>
              <a:rPr lang="en-US" altLang="zh-CN" sz="3600" dirty="0">
                <a:effectLst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36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struct  </a:t>
            </a:r>
            <a:r>
              <a:rPr lang="en-US" altLang="zh-CN" sz="36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stackcell</a:t>
            </a:r>
            <a:r>
              <a:rPr lang="en-US" altLang="zh-CN" sz="36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 { </a:t>
            </a:r>
            <a:endParaRPr lang="en-US" altLang="zh-CN" sz="36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          items   data  ;</a:t>
            </a:r>
            <a:endParaRPr lang="en-US" altLang="zh-CN" sz="36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          struct  </a:t>
            </a:r>
            <a:r>
              <a:rPr lang="en-US" altLang="zh-CN" sz="36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stackcell</a:t>
            </a:r>
            <a:r>
              <a:rPr lang="en-US" altLang="zh-CN" sz="36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    *predecessor ;</a:t>
            </a:r>
            <a:endParaRPr lang="en-US" altLang="zh-CN" sz="36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3600" dirty="0">
                <a:solidFill>
                  <a:schemeClr val="tx1"/>
                </a:solidFill>
                <a:effectLst/>
                <a:latin typeface="Arial" panose="020B0604020202020204" pitchFamily="34" charset="0"/>
                <a:sym typeface="+mn-ea"/>
              </a:rPr>
              <a:t>    }</a:t>
            </a:r>
            <a:r>
              <a:rPr lang="en-US" altLang="zh-CN" sz="3600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 cell</a:t>
            </a:r>
            <a:r>
              <a:rPr lang="en-US" altLang="zh-CN" sz="3600" dirty="0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;</a:t>
            </a:r>
            <a:endParaRPr lang="en-US" altLang="zh-CN" sz="3600" b="1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algn="l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endParaRPr lang="en-US" altLang="zh-CN" sz="3600" dirty="0" err="1">
              <a:solidFill>
                <a:srgbClr val="FFFF00"/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marL="0" algn="l" eaLnBrk="1" hangingPunct="1">
              <a:lnSpc>
                <a:spcPct val="90000"/>
              </a:lnSpc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360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cell  </a:t>
            </a:r>
            <a:r>
              <a:rPr lang="en-US" altLang="zh-CN" sz="3600" dirty="0">
                <a:effectLst/>
                <a:latin typeface="Arial" panose="020B0604020202020204" pitchFamily="34" charset="0"/>
                <a:sym typeface="+mn-ea"/>
              </a:rPr>
              <a:t>s1,s2,*p1,*p2</a:t>
            </a:r>
            <a:r>
              <a:rPr lang="en-US" altLang="zh-CN" sz="3600" dirty="0" err="1">
                <a:solidFill>
                  <a:srgbClr val="FFFF00"/>
                </a:solidFill>
                <a:effectLst/>
                <a:latin typeface="Arial" panose="020B0604020202020204" pitchFamily="34" charset="0"/>
                <a:sym typeface="+mn-ea"/>
              </a:rPr>
              <a:t>;</a:t>
            </a:r>
            <a:endParaRPr lang="en-US" altLang="zh-CN" sz="3600" dirty="0" err="1">
              <a:solidFill>
                <a:srgbClr val="FFFF00"/>
              </a:solidFill>
              <a:effectLst/>
              <a:latin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270"/>
            <a:ext cx="6096000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marR="0" lvl="0" indent="-5143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+mj-ea"/>
              <a:buAutoNum type="circleNumDbPlain" startAt="2"/>
              <a:defRPr/>
            </a:pPr>
            <a:r>
              <a:rPr lang="zh-CN" altLang="en-US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sym typeface="+mn-ea"/>
              </a:rPr>
              <a:t>给用户自定义类型定义</a:t>
            </a:r>
            <a:r>
              <a:rPr lang="zh-CN" altLang="en-US" sz="2800" kern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ea"/>
                <a:ea typeface="+mn-ea"/>
                <a:sym typeface="+mn-ea"/>
              </a:rPr>
              <a:t>别名</a:t>
            </a:r>
            <a:endParaRPr lang="zh-CN" altLang="en-US" sz="2800" kern="0" noProof="0" dirty="0">
              <a:ln>
                <a:noFill/>
              </a:ln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BD2800-ECD8-42CE-A380-68523BF84CD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4946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228600"/>
            <a:ext cx="6445885" cy="24974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区分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行楷" pitchFamily="2" charset="-122"/>
                <a:cs typeface="+mn-cs"/>
              </a:rPr>
              <a:t>类型名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行楷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行楷" pitchFamily="2" charset="-122"/>
                <a:cs typeface="+mn-cs"/>
              </a:rPr>
              <a:t>与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行楷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华文行楷" pitchFamily="2" charset="-122"/>
                <a:cs typeface="+mn-cs"/>
              </a:rPr>
              <a:t>变量名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华文行楷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类型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类型定义：不是一个实体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变量：具有一块存储空间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34950" name="Rectangle 6"/>
          <p:cNvSpPr>
            <a:spLocks noChangeArrowheads="1"/>
          </p:cNvSpPr>
          <p:nvPr/>
        </p:nvSpPr>
        <p:spPr bwMode="auto">
          <a:xfrm>
            <a:off x="457200" y="3048000"/>
            <a:ext cx="5639435" cy="31997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例：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typedef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 INTEGER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INTEGER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4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5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6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7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8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9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0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1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2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3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4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5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6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7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8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19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0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1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2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3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4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5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6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7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8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29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0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1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2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3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4.xml><?xml version="1.0" encoding="utf-8"?>
<p:tagLst xmlns:p="http://schemas.openxmlformats.org/presentationml/2006/main">
  <p:tag name="KSO_WM_DIAGRAM_VIRTUALLY_FRAME" val="{&quot;height&quot;:287,&quot;left&quot;:648.3750393700788,&quot;top&quot;:1.1250393700787402,&quot;width&quot;:219.25}"/>
</p:tagLst>
</file>

<file path=ppt/tags/tag35.xml><?xml version="1.0" encoding="utf-8"?>
<p:tagLst xmlns:p="http://schemas.openxmlformats.org/presentationml/2006/main">
  <p:tag name="TIMING" val="|1.4|36.7|129.3|27.4"/>
</p:tagLst>
</file>

<file path=ppt/tags/tag36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11765</Words>
  <Application>WPS 演示</Application>
  <PresentationFormat>宽屏</PresentationFormat>
  <Paragraphs>1291</Paragraphs>
  <Slides>42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宋体</vt:lpstr>
      <vt:lpstr>Wingdings</vt:lpstr>
      <vt:lpstr>Tahoma</vt:lpstr>
      <vt:lpstr>黑体</vt:lpstr>
      <vt:lpstr>微软雅黑</vt:lpstr>
      <vt:lpstr>Arial Unicode MS</vt:lpstr>
      <vt:lpstr>Monotype Corsiva</vt:lpstr>
      <vt:lpstr>Segoe Print</vt:lpstr>
      <vt:lpstr>华文彩云</vt:lpstr>
      <vt:lpstr>华文隶书</vt:lpstr>
      <vt:lpstr>Times New Roman</vt:lpstr>
      <vt:lpstr>隶书</vt:lpstr>
      <vt:lpstr>Verdana</vt:lpstr>
      <vt:lpstr>华文行楷</vt:lpstr>
      <vt:lpstr>1_Slit</vt:lpstr>
      <vt:lpstr>PowerPoint 演示文稿</vt:lpstr>
      <vt:lpstr>PowerPoint 演示文稿</vt:lpstr>
      <vt:lpstr>PowerPoint 演示文稿</vt:lpstr>
      <vt:lpstr>【例6.7】使用“插入排序法”对成绩数组a进行排序。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6.4.2  检索(index)</vt:lpstr>
      <vt:lpstr>顺序检索</vt:lpstr>
      <vt:lpstr>PowerPoint 演示文稿</vt:lpstr>
      <vt:lpstr>PowerPoint 演示文稿</vt:lpstr>
      <vt:lpstr>【例6.9】假定学生成绩单数组 a 已按递增顺序排序，                    使用对半检索方法在 a 上进行检索。</vt:lpstr>
      <vt:lpstr>key为58</vt:lpstr>
      <vt:lpstr>PowerPoint 演示文稿</vt:lpstr>
      <vt:lpstr>PowerPoint 演示文稿</vt:lpstr>
      <vt:lpstr>6.5  带学号的成绩排序—数组初值</vt:lpstr>
      <vt:lpstr>PowerPoint 演示文稿</vt:lpstr>
      <vt:lpstr>PowerPoint 演示文稿</vt:lpstr>
      <vt:lpstr>§6.6  表示姓名—字符串</vt:lpstr>
      <vt:lpstr>§6.6.1 一维字符数组（字符串）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I/O比较（int数组和char数组）：</vt:lpstr>
      <vt:lpstr>字符串运算示例：</vt:lpstr>
      <vt:lpstr>PowerPoint 演示文稿</vt:lpstr>
      <vt:lpstr>字符数组输入举例 p168</vt:lpstr>
      <vt:lpstr>【对比实验】分别用gets,gets_s,fgets输入若干个字符串，观察运行结果异同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§6.7  类型定义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765</cp:revision>
  <dcterms:created xsi:type="dcterms:W3CDTF">2019-09-21T08:05:00Z</dcterms:created>
  <dcterms:modified xsi:type="dcterms:W3CDTF">2025-10-21T02:46:02Z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2D18775E15204C25B5990EE422CC2734_12</vt:lpwstr>
  </property>
</Properties>
</file>