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1" r:id="rId3"/>
    <p:sldId id="773" r:id="rId5"/>
    <p:sldId id="774" r:id="rId6"/>
    <p:sldId id="776" r:id="rId7"/>
    <p:sldId id="777" r:id="rId8"/>
    <p:sldId id="778" r:id="rId9"/>
    <p:sldId id="779" r:id="rId10"/>
    <p:sldId id="780" r:id="rId11"/>
    <p:sldId id="781" r:id="rId12"/>
    <p:sldId id="782" r:id="rId13"/>
    <p:sldId id="783" r:id="rId14"/>
    <p:sldId id="784" r:id="rId15"/>
    <p:sldId id="770" r:id="rId16"/>
    <p:sldId id="771" r:id="rId17"/>
    <p:sldId id="772" r:id="rId18"/>
    <p:sldId id="553" r:id="rId19"/>
    <p:sldId id="558" r:id="rId20"/>
    <p:sldId id="555" r:id="rId21"/>
    <p:sldId id="556" r:id="rId22"/>
    <p:sldId id="623" r:id="rId23"/>
    <p:sldId id="762" r:id="rId24"/>
    <p:sldId id="763" r:id="rId25"/>
    <p:sldId id="764" r:id="rId26"/>
    <p:sldId id="765" r:id="rId27"/>
    <p:sldId id="766" r:id="rId28"/>
    <p:sldId id="767" r:id="rId29"/>
    <p:sldId id="768" r:id="rId30"/>
    <p:sldId id="769" r:id="rId31"/>
    <p:sldId id="725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A04F8"/>
    <a:srgbClr val="FF0000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408" y="43"/>
      </p:cViewPr>
      <p:guideLst>
        <p:guide orient="horz" pos="2140"/>
        <p:guide pos="3840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5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9E018B-07C5-4233-B006-29915FAFA87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程序设计方法：穷举法、迭代法、递归法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求数码</a:t>
            </a:r>
            <a:r>
              <a:rPr lang="en-US" altLang="zh-CN" dirty="0"/>
              <a:t>——</a:t>
            </a:r>
            <a:r>
              <a:rPr lang="zh-CN" altLang="en-US" dirty="0"/>
              <a:t>求阶乘</a:t>
            </a:r>
            <a:r>
              <a:rPr lang="en-US" altLang="zh-CN" dirty="0"/>
              <a:t>——</a:t>
            </a:r>
            <a:r>
              <a:rPr lang="zh-CN" altLang="en-US" dirty="0"/>
              <a:t>累加求和</a:t>
            </a:r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defTabSz="914400">
              <a:lnSpc>
                <a:spcPct val="130000"/>
              </a:lnSpc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本章已经编写过多个求和的程序，所有计算和的程序都使用一个和单元，有类似本题目的模式。其中：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r>
              <a:rPr lang="en-US" altLang="zh-CN" dirty="0">
                <a:latin typeface="宋体" panose="02010600030101010101" pitchFamily="2" charset="-122"/>
              </a:rPr>
              <a:t>S</a:t>
            </a:r>
            <a:r>
              <a:rPr lang="zh-CN" altLang="en-US" dirty="0">
                <a:latin typeface="宋体" panose="02010600030101010101" pitchFamily="2" charset="-122"/>
              </a:rPr>
              <a:t>是和单元；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开始进入循环之前和单元</a:t>
            </a:r>
            <a:r>
              <a:rPr lang="en-US" altLang="zh-CN" dirty="0">
                <a:latin typeface="宋体" panose="02010600030101010101" pitchFamily="2" charset="-122"/>
              </a:rPr>
              <a:t>S</a:t>
            </a:r>
            <a:r>
              <a:rPr lang="zh-CN" altLang="en-US" dirty="0">
                <a:latin typeface="宋体" panose="02010600030101010101" pitchFamily="2" charset="-122"/>
              </a:rPr>
              <a:t>必须清“</a:t>
            </a:r>
            <a:r>
              <a:rPr lang="en-US" altLang="zh-CN" dirty="0">
                <a:latin typeface="宋体" panose="02010600030101010101" pitchFamily="2" charset="-122"/>
              </a:rPr>
              <a:t>0”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在循环体内，每循环一次给和单元加上一项；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最后循环结束，和单元中的值即为所求之和。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endParaRPr lang="en-US" altLang="zh-CN" dirty="0">
              <a:latin typeface="宋体" panose="02010600030101010101" pitchFamily="2" charset="-122"/>
            </a:endParaRPr>
          </a:p>
          <a:p>
            <a:pPr lvl="0" defTabSz="914400"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所有计算连乘积的程序都使用一个积单元，有类似本题目的程序模式。其中：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buChar char="•"/>
              <a:tabLst>
                <a:tab pos="533400" algn="l"/>
              </a:tabLst>
            </a:pPr>
            <a:r>
              <a:rPr lang="en-US" altLang="zh-CN" dirty="0">
                <a:latin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</a:rPr>
              <a:t>是积单元；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开始进入循环之前积单元</a:t>
            </a:r>
            <a:r>
              <a:rPr lang="en-US" altLang="zh-CN" dirty="0">
                <a:latin typeface="宋体" panose="02010600030101010101" pitchFamily="2" charset="-122"/>
              </a:rPr>
              <a:t>P</a:t>
            </a:r>
            <a:r>
              <a:rPr lang="zh-CN" altLang="en-US" dirty="0">
                <a:latin typeface="宋体" panose="02010600030101010101" pitchFamily="2" charset="-122"/>
              </a:rPr>
              <a:t>必须置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在循环体内，每循环一次向积单元乘入一项；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buChar char="•"/>
              <a:tabLst>
                <a:tab pos="533400" algn="l"/>
              </a:tabLst>
            </a:pPr>
            <a:r>
              <a:rPr lang="zh-CN" altLang="en-US" dirty="0">
                <a:latin typeface="宋体" panose="02010600030101010101" pitchFamily="2" charset="-122"/>
              </a:rPr>
              <a:t>最后循环结束，积单元中的值即为所求之积。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lnSpc>
                <a:spcPct val="130000"/>
              </a:lnSpc>
              <a:buChar char="•"/>
              <a:tabLst>
                <a:tab pos="533400" algn="l"/>
              </a:tabLst>
            </a:pPr>
            <a:endParaRPr lang="zh-CN" altLang="en-US" dirty="0">
              <a:latin typeface="宋体" panose="02010600030101010101" pitchFamily="2" charset="-122"/>
            </a:endParaRPr>
          </a:p>
          <a:p>
            <a:pPr lvl="0" defTabSz="914400">
              <a:tabLst>
                <a:tab pos="533400" algn="l"/>
              </a:tabLst>
            </a:pPr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数码，位权，基数</a:t>
            </a:r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斐波那契兔子问题</a:t>
            </a:r>
            <a:r>
              <a:rPr lang="zh-CN" altLang="en-US" baseline="30000" dirty="0"/>
              <a:t> </a:t>
            </a:r>
            <a:r>
              <a:rPr lang="en-US" altLang="zh-CN" baseline="30000" dirty="0"/>
              <a:t>[1]</a:t>
            </a:r>
            <a:r>
              <a:rPr lang="zh-CN" altLang="en-US" dirty="0"/>
              <a:t>  </a:t>
            </a:r>
            <a:r>
              <a:rPr lang="en-US" altLang="zh-CN" dirty="0"/>
              <a:t>(Fibonacci rabbit problem)</a:t>
            </a:r>
            <a:r>
              <a:rPr lang="zh-CN" altLang="en-US" dirty="0"/>
              <a:t>一道著名数列难题</a:t>
            </a:r>
            <a:r>
              <a:rPr lang="en-US" altLang="zh-CN" dirty="0"/>
              <a:t>.</a:t>
            </a:r>
            <a:r>
              <a:rPr lang="zh-CN" altLang="en-US" dirty="0"/>
              <a:t>意大利数学家斐波那契</a:t>
            </a:r>
            <a:r>
              <a:rPr lang="en-US" altLang="zh-CN" dirty="0"/>
              <a:t>(Fi-bonacci , L.)</a:t>
            </a:r>
            <a:r>
              <a:rPr lang="zh-CN" altLang="en-US" dirty="0"/>
              <a:t>在他的名著</a:t>
            </a:r>
            <a:r>
              <a:rPr lang="en-US" altLang="zh-CN" dirty="0"/>
              <a:t>《</a:t>
            </a:r>
            <a:r>
              <a:rPr lang="zh-CN" altLang="en-US" dirty="0"/>
              <a:t>算法之书</a:t>
            </a:r>
            <a:r>
              <a:rPr lang="en-US" altLang="zh-CN" dirty="0"/>
              <a:t>》</a:t>
            </a:r>
            <a:r>
              <a:rPr lang="zh-CN" altLang="en-US" dirty="0"/>
              <a:t>中提出的一个问题</a:t>
            </a:r>
            <a:r>
              <a:rPr lang="en-US" altLang="zh-CN" dirty="0"/>
              <a:t>:</a:t>
            </a:r>
            <a:r>
              <a:rPr lang="zh-CN" altLang="en-US" dirty="0"/>
              <a:t>由一对兔子开始。</a:t>
            </a:r>
            <a:endParaRPr lang="zh-CN" altLang="en-US" dirty="0"/>
          </a:p>
          <a:p>
            <a:pPr lvl="0"/>
            <a:r>
              <a:rPr lang="zh-CN" altLang="en-US" dirty="0"/>
              <a:t>一年后可以繁殖成多少对兔子</a:t>
            </a:r>
            <a:r>
              <a:rPr lang="en-US" altLang="zh-CN" dirty="0"/>
              <a:t>?</a:t>
            </a:r>
            <a:r>
              <a:rPr lang="zh-CN" altLang="en-US" dirty="0"/>
              <a:t>假定每对大兔每月能生产一对小兔，而每对小兔生长两个月就成为大兔</a:t>
            </a:r>
            <a:r>
              <a:rPr lang="en-US" altLang="zh-CN" dirty="0"/>
              <a:t>.</a:t>
            </a:r>
            <a:r>
              <a:rPr lang="zh-CN" altLang="en-US" dirty="0"/>
              <a:t>这个问题导致了著名的数列</a:t>
            </a:r>
            <a:r>
              <a:rPr lang="en-US" altLang="zh-CN" dirty="0"/>
              <a:t>:1,1,2,3,5,8,13,21,34,55,89,144,233,·…</a:t>
            </a:r>
            <a:r>
              <a:rPr lang="zh-CN" altLang="en-US" dirty="0"/>
              <a:t>它是一个线性递归数列，其前两项是</a:t>
            </a:r>
            <a:r>
              <a:rPr lang="en-US" altLang="zh-CN" dirty="0"/>
              <a:t>F, = F:</a:t>
            </a:r>
            <a:r>
              <a:rPr lang="zh-CN" altLang="en-US" dirty="0"/>
              <a:t>一</a:t>
            </a:r>
            <a:r>
              <a:rPr lang="en-US" altLang="zh-CN" dirty="0"/>
              <a:t>1</a:t>
            </a:r>
            <a:r>
              <a:rPr lang="zh-CN" altLang="en-US" dirty="0"/>
              <a:t>，而递归关系式是</a:t>
            </a:r>
            <a:r>
              <a:rPr lang="en-US" altLang="zh-CN" dirty="0"/>
              <a:t>F=F</a:t>
            </a:r>
            <a:r>
              <a:rPr lang="zh-CN" altLang="en-US" dirty="0"/>
              <a:t>，一</a:t>
            </a:r>
            <a:r>
              <a:rPr lang="en-US" altLang="zh-CN" dirty="0"/>
              <a:t>+F,</a:t>
            </a:r>
            <a:r>
              <a:rPr lang="zh-CN" altLang="en-US" dirty="0"/>
              <a:t>一</a:t>
            </a:r>
            <a:r>
              <a:rPr lang="en-US" altLang="zh-CN" dirty="0"/>
              <a:t>:&lt;n)3).</a:t>
            </a:r>
            <a:r>
              <a:rPr lang="zh-CN" altLang="en-US" dirty="0"/>
              <a:t>这个数列一般称为斐波那契数列，它的每一项称为斐波那契数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斐波那契兔子问题</a:t>
            </a:r>
            <a:r>
              <a:rPr lang="zh-CN" altLang="en-US" baseline="30000" dirty="0"/>
              <a:t> </a:t>
            </a:r>
            <a:r>
              <a:rPr lang="en-US" altLang="zh-CN" baseline="30000" dirty="0"/>
              <a:t>[1]</a:t>
            </a:r>
            <a:r>
              <a:rPr lang="zh-CN" altLang="en-US" dirty="0"/>
              <a:t>  </a:t>
            </a:r>
            <a:r>
              <a:rPr lang="en-US" altLang="zh-CN" dirty="0"/>
              <a:t>(Fibonacci rabbit problem)</a:t>
            </a:r>
            <a:r>
              <a:rPr lang="zh-CN" altLang="en-US" dirty="0"/>
              <a:t>一道著名数列难题</a:t>
            </a:r>
            <a:r>
              <a:rPr lang="en-US" altLang="zh-CN" dirty="0"/>
              <a:t>.</a:t>
            </a:r>
            <a:r>
              <a:rPr lang="zh-CN" altLang="en-US" dirty="0"/>
              <a:t>意大利数学家斐波那契</a:t>
            </a:r>
            <a:r>
              <a:rPr lang="en-US" altLang="zh-CN" dirty="0"/>
              <a:t>(Fi-bonacci , L.)</a:t>
            </a:r>
            <a:r>
              <a:rPr lang="zh-CN" altLang="en-US" dirty="0"/>
              <a:t>在他的名著</a:t>
            </a:r>
            <a:r>
              <a:rPr lang="en-US" altLang="zh-CN" dirty="0"/>
              <a:t>《</a:t>
            </a:r>
            <a:r>
              <a:rPr lang="zh-CN" altLang="en-US" dirty="0"/>
              <a:t>算法之书</a:t>
            </a:r>
            <a:r>
              <a:rPr lang="en-US" altLang="zh-CN" dirty="0"/>
              <a:t>》</a:t>
            </a:r>
            <a:r>
              <a:rPr lang="zh-CN" altLang="en-US" dirty="0"/>
              <a:t>中提出的一个问题</a:t>
            </a:r>
            <a:r>
              <a:rPr lang="en-US" altLang="zh-CN" dirty="0"/>
              <a:t>:</a:t>
            </a:r>
            <a:r>
              <a:rPr lang="zh-CN" altLang="en-US" dirty="0"/>
              <a:t>由一对兔子开始。</a:t>
            </a:r>
            <a:endParaRPr lang="zh-CN" altLang="en-US" dirty="0"/>
          </a:p>
          <a:p>
            <a:pPr lvl="0"/>
            <a:r>
              <a:rPr lang="zh-CN" altLang="en-US" dirty="0"/>
              <a:t>一年后可以繁殖成多少对兔子</a:t>
            </a:r>
            <a:r>
              <a:rPr lang="en-US" altLang="zh-CN" dirty="0"/>
              <a:t>?</a:t>
            </a:r>
            <a:r>
              <a:rPr lang="zh-CN" altLang="en-US" dirty="0"/>
              <a:t>假定每对大兔每月能生产一对小兔，而每对小兔生长两个月就成为大兔</a:t>
            </a:r>
            <a:r>
              <a:rPr lang="en-US" altLang="zh-CN" dirty="0"/>
              <a:t>.</a:t>
            </a:r>
            <a:r>
              <a:rPr lang="zh-CN" altLang="en-US" dirty="0"/>
              <a:t>这个问题导致了著名的数列</a:t>
            </a:r>
            <a:r>
              <a:rPr lang="en-US" altLang="zh-CN" dirty="0"/>
              <a:t>:1,1,2,3,5,8,13,21,34,55,89,144,233,·…</a:t>
            </a:r>
            <a:r>
              <a:rPr lang="zh-CN" altLang="en-US" dirty="0"/>
              <a:t>它是一个线性递归数列，其前两项是</a:t>
            </a:r>
            <a:r>
              <a:rPr lang="en-US" altLang="zh-CN" dirty="0"/>
              <a:t>F, = F:</a:t>
            </a:r>
            <a:r>
              <a:rPr lang="zh-CN" altLang="en-US" dirty="0"/>
              <a:t>一</a:t>
            </a:r>
            <a:r>
              <a:rPr lang="en-US" altLang="zh-CN" dirty="0"/>
              <a:t>1</a:t>
            </a:r>
            <a:r>
              <a:rPr lang="zh-CN" altLang="en-US" dirty="0"/>
              <a:t>，而递归关系式是</a:t>
            </a:r>
            <a:r>
              <a:rPr lang="en-US" altLang="zh-CN" dirty="0"/>
              <a:t>F=F</a:t>
            </a:r>
            <a:r>
              <a:rPr lang="zh-CN" altLang="en-US" dirty="0"/>
              <a:t>，一</a:t>
            </a:r>
            <a:r>
              <a:rPr lang="en-US" altLang="zh-CN" dirty="0"/>
              <a:t>+F,</a:t>
            </a:r>
            <a:r>
              <a:rPr lang="zh-CN" altLang="en-US" dirty="0"/>
              <a:t>一</a:t>
            </a:r>
            <a:r>
              <a:rPr lang="en-US" altLang="zh-CN" dirty="0"/>
              <a:t>:&lt;n)3).</a:t>
            </a:r>
            <a:r>
              <a:rPr lang="zh-CN" altLang="en-US" dirty="0"/>
              <a:t>这个数列一般称为斐波那契数列，它的每一项称为斐波那契数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先讲数学上的迭代法的意义。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  <p:sp>
        <p:nvSpPr>
          <p:cNvPr id="696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确定迭代</a:t>
            </a:r>
            <a:r>
              <a:rPr lang="zh-CN" altLang="en-US"/>
              <a:t>变量</a:t>
            </a:r>
            <a:endParaRPr lang="zh-CN" altLang="en-US"/>
          </a:p>
          <a:p>
            <a:r>
              <a:rPr lang="zh-CN" altLang="en-US"/>
              <a:t>建立迭代</a:t>
            </a:r>
            <a:r>
              <a:rPr lang="zh-CN" altLang="en-US"/>
              <a:t>关系</a:t>
            </a:r>
            <a:endParaRPr lang="zh-CN" altLang="en-US"/>
          </a:p>
          <a:p>
            <a:r>
              <a:rPr lang="zh-CN" altLang="en-US"/>
              <a:t>控制迭代（次数</a:t>
            </a:r>
            <a:r>
              <a:rPr lang="en-US" altLang="zh-CN"/>
              <a:t>/</a:t>
            </a:r>
            <a:r>
              <a:rPr lang="zh-CN" altLang="en-US"/>
              <a:t>精度）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华文彩云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华文彩云" pitchFamily="2" charset="-122"/>
            </a:endParaRPr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D5646C-E052-46AB-93A6-B546118AF4B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BDE523-D9D4-4B02-AE78-7C64752EB16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6C98B0-5C36-4A0C-BA77-7CB0C25C693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CDA17F-53AA-422A-8825-4BDD2D6214F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6428DE-30E3-4D7D-950F-DCDAC73A16D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556238-A7EE-42AA-AF0F-CDDD0EA099C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A20332-AF8E-4D02-A734-3CEF450353D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64240F-85A2-4ECC-8798-E1D477EFA5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A11C8B-EFA6-4D1C-8380-F5653469B61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5D2830-83BF-4AF7-B60F-7C79D9DBFD3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C7EE03-AE6D-43D2-BFDC-FBC078A224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51145E-823E-4430-AB06-8B67F8849CE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336158-37D6-4587-983E-40B7D579B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D6E546-4C35-484E-8874-C6C6E0DFBDE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8E9E60-07A0-4CC8-892C-E2B2E6FD8C3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4BD78-6689-4522-B7AA-79C9A425199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A442F7-6284-4DF6-B4AB-632FB4728F3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BE93D9-8291-4332-B0A2-E4C809E81E0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7DD3FF-EB6D-436F-9E26-9FFEC247E95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21.xml"/><Relationship Id="rId4" Type="http://schemas.openxmlformats.org/officeDocument/2006/relationships/slide" Target="slide16.xml"/><Relationship Id="rId3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&#20363;&#39064;&#31243;&#24207;201409/ch04/ch04_15/Debug/CH04_15.ex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&#20363;&#39064;&#31243;&#24207;201409/ch04/ch04_16/Debug/ch04_16.exe" TargetMode="Externa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hyperlink" Target="&#20363;&#39064;&#31243;&#24207;201409/ch04/ch04_16/Debug/ch04_16.ex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hyperlink" Target="&#20363;&#39064;&#31243;&#24207;201409/ch04/ch04_04/Debug/ch04_04.exe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4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304800" y="3429000"/>
            <a:ext cx="8089900" cy="20510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049000" y="6248400"/>
            <a:ext cx="5334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B8E6DC-3263-4DDE-9BC2-2FC9DD110E7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§4.3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程序设计实例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28600" y="1480820"/>
            <a:ext cx="8790305" cy="4752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1" action="ppaction://hlinksldjump"/>
              </a:rPr>
              <a:t>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1" action="ppaction://hlinksldjump"/>
              </a:rPr>
              <a:t>例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1" action="ppaction://hlinksldjump"/>
              </a:rPr>
              <a:t>4.11】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1" action="ppaction://hlinksldjump"/>
              </a:rPr>
              <a:t>阶乘求和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2" action="ppaction://hlinksldjump"/>
              </a:rPr>
              <a:t>【</a:t>
            </a:r>
            <a:r>
              <a:rPr lang="zh-CN" altLang="en-US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2" action="ppaction://hlinksldjump"/>
              </a:rPr>
              <a:t>例</a:t>
            </a:r>
            <a:r>
              <a:rPr lang="en-US" altLang="zh-CN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2" action="ppaction://hlinksldjump"/>
              </a:rPr>
              <a:t>4.14】</a:t>
            </a:r>
            <a:r>
              <a:rPr lang="zh-CN" altLang="en-US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2" action="ppaction://hlinksldjump"/>
              </a:rPr>
              <a:t>正整数翻译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3" action="ppaction://hlinksldjump"/>
              </a:rPr>
              <a:t>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3" action="ppaction://hlinksldjump"/>
              </a:rPr>
              <a:t>例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3" action="ppaction://hlinksldjump"/>
              </a:rPr>
              <a:t>4.13】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3" action="ppaction://hlinksldjump"/>
              </a:rPr>
              <a:t>百钱百鸡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4" action="ppaction://hlinksldjump"/>
              </a:rPr>
              <a:t>【</a:t>
            </a:r>
            <a:r>
              <a:rPr lang="zh-CN" altLang="en-US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4" action="ppaction://hlinksldjump"/>
              </a:rPr>
              <a:t>例</a:t>
            </a:r>
            <a:r>
              <a:rPr lang="en-US" altLang="zh-CN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4" action="ppaction://hlinksldjump"/>
              </a:rPr>
              <a:t>4.10】</a:t>
            </a:r>
            <a:r>
              <a:rPr lang="zh-CN" altLang="en-US" sz="36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  <a:hlinkClick r:id="rId4" action="ppaction://hlinksldjump"/>
              </a:rPr>
              <a:t>斐波那契数列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  <a:hlinkClick r:id="rId5" action="ppaction://hlinksldjump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5" action="ppaction://hlinksldjump"/>
              </a:rPr>
              <a:t>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5" action="ppaction://hlinksldjump"/>
              </a:rPr>
              <a:t>例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5" action="ppaction://hlinksldjump"/>
              </a:rPr>
              <a:t>4.15】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5" action="ppaction://hlinksldjump"/>
              </a:rPr>
              <a:t>迭代法解方程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  <a:hlinkClick r:id="rId6" action="ppaction://hlinksldjump"/>
              </a:rPr>
              <a:t>【课后实践】最大公约数；最小公倍数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8519160" y="3352800"/>
            <a:ext cx="1431925" cy="584200"/>
          </a:xfrm>
          <a:prstGeom prst="wedgeRectCallout">
            <a:avLst>
              <a:gd name="adj1" fmla="val -80328"/>
              <a:gd name="adj2" fmla="val 74444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迭代法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5029200" y="2590800"/>
            <a:ext cx="1431925" cy="584200"/>
          </a:xfrm>
          <a:prstGeom prst="wedgeRectCallout">
            <a:avLst>
              <a:gd name="adj1" fmla="val -93370"/>
              <a:gd name="adj2" fmla="val 46413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穷举法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5029200" y="1143000"/>
            <a:ext cx="3867785" cy="584200"/>
          </a:xfrm>
          <a:prstGeom prst="wedgeRectCallout">
            <a:avLst>
              <a:gd name="adj1" fmla="val -68814"/>
              <a:gd name="adj2" fmla="val 8782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十进制数转</a:t>
            </a:r>
            <a:r>
              <a:rPr lang="en-US" altLang="zh-CN" sz="3200" dirty="0">
                <a:latin typeface="Arial" panose="020B0604020202020204" pitchFamily="34" charset="0"/>
              </a:rPr>
              <a:t>M</a:t>
            </a:r>
            <a:r>
              <a:rPr lang="zh-CN" altLang="en-US" sz="3200" dirty="0">
                <a:latin typeface="Arial" panose="020B0604020202020204" pitchFamily="34" charset="0"/>
              </a:rPr>
              <a:t>进制数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6019800" y="1727200"/>
            <a:ext cx="3867785" cy="584200"/>
          </a:xfrm>
          <a:prstGeom prst="wedgeRectCallout">
            <a:avLst>
              <a:gd name="adj1" fmla="val -78271"/>
              <a:gd name="adj2" fmla="val 5576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M</a:t>
            </a:r>
            <a:r>
              <a:rPr lang="zh-CN" altLang="en-US" sz="3200" dirty="0">
                <a:latin typeface="Arial" panose="020B0604020202020204" pitchFamily="34" charset="0"/>
              </a:rPr>
              <a:t>进制数转十</a:t>
            </a:r>
            <a:r>
              <a:rPr lang="zh-CN" altLang="en-US" sz="3200" dirty="0">
                <a:latin typeface="Arial" panose="020B0604020202020204" pitchFamily="34" charset="0"/>
              </a:rPr>
              <a:t>进制数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D9FEA8-444E-438C-B8B2-25B7D344812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7780"/>
            <a:ext cx="7315200" cy="85344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4.11】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阶乘求和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P104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6195" name="Rectangle 3"/>
          <p:cNvSpPr>
            <a:spLocks noGrp="1" noChangeArrowheads="1"/>
          </p:cNvSpPr>
          <p:nvPr>
            <p:ph idx="1"/>
          </p:nvPr>
        </p:nvSpPr>
        <p:spPr>
          <a:xfrm>
            <a:off x="60325" y="1195388"/>
            <a:ext cx="7804150" cy="4006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编程序，输入正整数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,N=r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6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!+r</a:t>
            </a:r>
            <a:r>
              <a:rPr kumimoji="0" lang="en-US" altLang="zh-CN" sz="36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!+...+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6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并输出 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输入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：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813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求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8!+1!+3!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776196" name="Text Box 4"/>
          <p:cNvSpPr txBox="1"/>
          <p:nvPr/>
        </p:nvSpPr>
        <p:spPr>
          <a:xfrm>
            <a:off x="9213850" y="609600"/>
            <a:ext cx="2963545" cy="2553335"/>
          </a:xfrm>
          <a:prstGeom prst="rect">
            <a:avLst/>
          </a:prstGeom>
          <a:noFill/>
          <a:ln w="9525" cap="flat" cmpd="sng">
            <a:solidFill>
              <a:srgbClr val="FFE705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求数码</a:t>
            </a:r>
            <a:endParaRPr lang="zh-CN" altLang="en-US" sz="4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求阶乘</a:t>
            </a:r>
            <a:endParaRPr lang="en-US" altLang="zh-CN" sz="40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4000" b="1" dirty="0">
                <a:solidFill>
                  <a:schemeClr val="hlink"/>
                </a:solidFill>
                <a:latin typeface="宋体" panose="02010600030101010101" pitchFamily="2" charset="-122"/>
              </a:rPr>
              <a:t>累加求和</a:t>
            </a:r>
            <a:endParaRPr lang="en-US" altLang="zh-CN" sz="4000" b="1" dirty="0">
              <a:solidFill>
                <a:srgbClr val="FF0000"/>
              </a:solidFill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297488" y="5886450"/>
            <a:ext cx="6880225" cy="95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课后实践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P113: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习题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4.12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打印所有三位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Armstrong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3687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13" y="4743450"/>
            <a:ext cx="3810000" cy="160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2" name="矩形 1"/>
          <p:cNvSpPr/>
          <p:nvPr/>
        </p:nvSpPr>
        <p:spPr>
          <a:xfrm>
            <a:off x="9371965" y="17463"/>
            <a:ext cx="2500313" cy="646112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宋体" panose="02010600030101010101" pitchFamily="2" charset="-122"/>
              </a:rPr>
              <a:t>关键算法：</a:t>
            </a:r>
            <a:endParaRPr lang="en-US" altLang="zh-CN" sz="3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76196" grpId="0" animBg="1"/>
      <p:bldP spid="77619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15"/>
          <p:cNvSpPr txBox="1"/>
          <p:nvPr/>
        </p:nvSpPr>
        <p:spPr>
          <a:xfrm>
            <a:off x="84138" y="233363"/>
            <a:ext cx="5189537" cy="5878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关键</a:t>
            </a:r>
            <a:r>
              <a:rPr lang="en-US" altLang="zh-CN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CN" alt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求数码</a:t>
            </a:r>
            <a:endParaRPr lang="en-US" altLang="zh-CN" sz="4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/>
              <a:t>假定</a:t>
            </a:r>
            <a:r>
              <a:rPr lang="en-US" altLang="zh-CN" b="1" dirty="0"/>
              <a:t>N</a:t>
            </a:r>
            <a:r>
              <a:rPr lang="zh-CN" altLang="en-US" b="1" dirty="0"/>
              <a:t>为</a:t>
            </a:r>
            <a:r>
              <a:rPr lang="en-US" altLang="zh-CN" b="1" dirty="0"/>
              <a:t>813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r: 813</a:t>
            </a:r>
            <a:r>
              <a:rPr lang="zh-CN" altLang="en-US" b="1" dirty="0">
                <a:solidFill>
                  <a:schemeClr val="hlink"/>
                </a:solidFill>
              </a:rPr>
              <a:t>％</a:t>
            </a:r>
            <a:r>
              <a:rPr lang="en-US" altLang="zh-CN" b="1" dirty="0">
                <a:solidFill>
                  <a:schemeClr val="hlink"/>
                </a:solidFill>
              </a:rPr>
              <a:t>10</a:t>
            </a:r>
            <a:r>
              <a:rPr lang="en-US" altLang="zh-CN" b="1" dirty="0">
                <a:solidFill>
                  <a:schemeClr val="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3</a:t>
            </a:r>
            <a:endParaRPr lang="en-US" altLang="zh-CN" b="1" dirty="0">
              <a:solidFill>
                <a:schemeClr val="accent2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Wingdings" panose="05000000000000000000" pitchFamily="2" charset="2"/>
              </a:rPr>
              <a:t>N:813/1081</a:t>
            </a:r>
            <a:endParaRPr lang="en-US" altLang="zh-CN" b="1" dirty="0"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sym typeface="Wingdings" panose="05000000000000000000" pitchFamily="2" charset="2"/>
              </a:rPr>
              <a:t>r:81 </a:t>
            </a:r>
            <a:r>
              <a:rPr lang="zh-CN" altLang="en-US" b="1" dirty="0">
                <a:solidFill>
                  <a:schemeClr val="hlink"/>
                </a:solidFill>
              </a:rPr>
              <a:t>％</a:t>
            </a:r>
            <a:r>
              <a:rPr lang="zh-CN" altLang="en-US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sym typeface="Wingdings" panose="05000000000000000000" pitchFamily="2" charset="2"/>
              </a:rPr>
              <a:t>10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1</a:t>
            </a:r>
            <a:endParaRPr lang="en-US" altLang="zh-CN" b="1" dirty="0">
              <a:solidFill>
                <a:schemeClr val="accent2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Wingdings" panose="05000000000000000000" pitchFamily="2" charset="2"/>
              </a:rPr>
              <a:t>N:81/108</a:t>
            </a:r>
            <a:endParaRPr lang="en-US" altLang="zh-CN" b="1" dirty="0"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sym typeface="Wingdings" panose="05000000000000000000" pitchFamily="2" charset="2"/>
              </a:rPr>
              <a:t>r:8 </a:t>
            </a:r>
            <a:r>
              <a:rPr lang="zh-CN" altLang="en-US" b="1" dirty="0">
                <a:solidFill>
                  <a:schemeClr val="hlink"/>
                </a:solidFill>
              </a:rPr>
              <a:t>％</a:t>
            </a:r>
            <a:r>
              <a:rPr lang="zh-CN" altLang="en-US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sym typeface="Wingdings" panose="05000000000000000000" pitchFamily="2" charset="2"/>
              </a:rPr>
              <a:t>10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8</a:t>
            </a:r>
            <a:endParaRPr lang="en-US" altLang="zh-CN" b="1" dirty="0">
              <a:solidFill>
                <a:schemeClr val="accent2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Wingdings" panose="05000000000000000000" pitchFamily="2" charset="2"/>
              </a:rPr>
              <a:t>N:8/100</a:t>
            </a:r>
            <a:endParaRPr lang="en-US" altLang="zh-CN" b="1" dirty="0">
              <a:sym typeface="Wingdings" panose="05000000000000000000" pitchFamily="2" charset="2"/>
            </a:endParaRPr>
          </a:p>
        </p:txBody>
      </p:sp>
      <p:sp>
        <p:nvSpPr>
          <p:cNvPr id="2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DA9ACF-4340-4BDF-9CF2-F5845689660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6" name="Line 3"/>
          <p:cNvSpPr/>
          <p:nvPr/>
        </p:nvSpPr>
        <p:spPr>
          <a:xfrm flipH="1">
            <a:off x="4887913" y="4056063"/>
            <a:ext cx="0" cy="120491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17" name="Oval 4"/>
          <p:cNvSpPr/>
          <p:nvPr/>
        </p:nvSpPr>
        <p:spPr>
          <a:xfrm>
            <a:off x="4287838" y="3600450"/>
            <a:ext cx="1511300" cy="449263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取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数码</a:t>
            </a:r>
            <a:endParaRPr lang="zh-CN" altLang="en-US" sz="2400" b="1" dirty="0"/>
          </a:p>
        </p:txBody>
      </p:sp>
      <p:sp>
        <p:nvSpPr>
          <p:cNvPr id="38918" name="Oval 5"/>
          <p:cNvSpPr/>
          <p:nvPr/>
        </p:nvSpPr>
        <p:spPr>
          <a:xfrm>
            <a:off x="4287838" y="5283200"/>
            <a:ext cx="1511300" cy="517525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结束</a:t>
            </a:r>
            <a:endParaRPr lang="zh-CN" altLang="en-US" sz="2400" b="1" dirty="0"/>
          </a:p>
        </p:txBody>
      </p:sp>
      <p:sp>
        <p:nvSpPr>
          <p:cNvPr id="38919" name="Rectangle 7"/>
          <p:cNvSpPr/>
          <p:nvPr/>
        </p:nvSpPr>
        <p:spPr>
          <a:xfrm>
            <a:off x="4887913" y="4475163"/>
            <a:ext cx="2659062" cy="5254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N!=0</a:t>
            </a:r>
            <a:endParaRPr lang="en-US" altLang="zh-CN" sz="2400" b="1" dirty="0"/>
          </a:p>
        </p:txBody>
      </p:sp>
      <p:sp>
        <p:nvSpPr>
          <p:cNvPr id="38920" name="Rectangle 8"/>
          <p:cNvSpPr/>
          <p:nvPr/>
        </p:nvSpPr>
        <p:spPr>
          <a:xfrm>
            <a:off x="8039100" y="3048000"/>
            <a:ext cx="2654300" cy="10080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</a:t>
            </a:r>
            <a:r>
              <a:rPr lang="en-US" altLang="zh-CN" sz="2400" b="1" dirty="0"/>
              <a:t>=N%10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N=N/10</a:t>
            </a:r>
            <a:endParaRPr lang="en-US" altLang="zh-CN" sz="2400" b="1" dirty="0"/>
          </a:p>
        </p:txBody>
      </p:sp>
      <p:sp>
        <p:nvSpPr>
          <p:cNvPr id="38921" name="Line 9"/>
          <p:cNvSpPr/>
          <p:nvPr/>
        </p:nvSpPr>
        <p:spPr>
          <a:xfrm flipH="1">
            <a:off x="8039100" y="3048000"/>
            <a:ext cx="7938" cy="19526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2" name="Line 10"/>
          <p:cNvSpPr/>
          <p:nvPr/>
        </p:nvSpPr>
        <p:spPr>
          <a:xfrm>
            <a:off x="7535863" y="4716463"/>
            <a:ext cx="51117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3" name="Line 13"/>
          <p:cNvSpPr/>
          <p:nvPr/>
        </p:nvSpPr>
        <p:spPr>
          <a:xfrm>
            <a:off x="5043488" y="4497388"/>
            <a:ext cx="0" cy="5222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924" name="Line 17"/>
          <p:cNvSpPr/>
          <p:nvPr/>
        </p:nvSpPr>
        <p:spPr>
          <a:xfrm flipV="1">
            <a:off x="100013" y="3170238"/>
            <a:ext cx="2917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Line 18"/>
          <p:cNvSpPr/>
          <p:nvPr/>
        </p:nvSpPr>
        <p:spPr>
          <a:xfrm>
            <a:off x="100013" y="4724400"/>
            <a:ext cx="2917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6" name="Rectangle 11"/>
          <p:cNvSpPr/>
          <p:nvPr/>
        </p:nvSpPr>
        <p:spPr>
          <a:xfrm>
            <a:off x="8048625" y="4497388"/>
            <a:ext cx="2654300" cy="503237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使用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r(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如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求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r!)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862888" y="4243388"/>
            <a:ext cx="2843212" cy="873125"/>
          </a:xfrm>
          <a:prstGeom prst="rect">
            <a:avLst/>
          </a:prstGeom>
          <a:noFill/>
          <a:ln w="34925" cap="flat" cmpd="sng">
            <a:solidFill>
              <a:schemeClr val="accent2">
                <a:lumMod val="60000"/>
                <a:lumOff val="40000"/>
              </a:schemeClr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92830" y="0"/>
            <a:ext cx="8585200" cy="61976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【</a:t>
            </a:r>
            <a:r>
              <a:rPr lang="zh-CN" altLang="en-US" b="1" dirty="0">
                <a:solidFill>
                  <a:srgbClr val="FFC000"/>
                </a:solidFill>
              </a:rPr>
              <a:t>思考</a:t>
            </a:r>
            <a:r>
              <a:rPr lang="en-US" altLang="zh-CN" b="1" dirty="0">
                <a:solidFill>
                  <a:srgbClr val="FFC000"/>
                </a:solidFill>
              </a:rPr>
              <a:t>】</a:t>
            </a:r>
            <a:r>
              <a:rPr lang="zh-CN" altLang="en-US" sz="2800" b="1" dirty="0"/>
              <a:t>对于一个十进制数，如何转换成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进制数？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525000" y="63627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8F978E-7743-40F4-897C-82139595EF6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5171" name="Rectangle 3"/>
          <p:cNvSpPr>
            <a:spLocks noGrp="1" noChangeArrowheads="1"/>
          </p:cNvSpPr>
          <p:nvPr>
            <p:ph idx="1"/>
          </p:nvPr>
        </p:nvSpPr>
        <p:spPr>
          <a:xfrm>
            <a:off x="271780" y="954405"/>
            <a:ext cx="4053840" cy="7188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r!=1*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2*3*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*r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4"/>
          <p:cNvGrpSpPr/>
          <p:nvPr/>
        </p:nvGrpSpPr>
        <p:grpSpPr>
          <a:xfrm>
            <a:off x="1644650" y="3232150"/>
            <a:ext cx="1385888" cy="1385888"/>
            <a:chOff x="1673316" y="3846513"/>
            <a:chExt cx="1385797" cy="1385887"/>
          </a:xfrm>
        </p:grpSpPr>
        <p:sp>
          <p:nvSpPr>
            <p:cNvPr id="40980" name="Rectangle 10"/>
            <p:cNvSpPr/>
            <p:nvPr/>
          </p:nvSpPr>
          <p:spPr>
            <a:xfrm>
              <a:off x="1899092" y="3846513"/>
              <a:ext cx="1160021" cy="51117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p*=</a:t>
              </a:r>
              <a:r>
                <a:rPr lang="en-US" altLang="zh-CN" sz="2400" b="1" dirty="0">
                  <a:solidFill>
                    <a:srgbClr val="FFFF00"/>
                  </a:solidFill>
                </a:rPr>
                <a:t>u</a:t>
              </a:r>
              <a:endParaRPr lang="en-US" altLang="zh-CN" sz="2400" b="1" dirty="0">
                <a:solidFill>
                  <a:srgbClr val="FFFF00"/>
                </a:solidFill>
              </a:endParaRPr>
            </a:p>
          </p:txBody>
        </p:sp>
        <p:sp>
          <p:nvSpPr>
            <p:cNvPr id="40981" name="Line 11"/>
            <p:cNvSpPr/>
            <p:nvPr/>
          </p:nvSpPr>
          <p:spPr>
            <a:xfrm>
              <a:off x="1896496" y="4013200"/>
              <a:ext cx="2595" cy="1219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982" name="Line 12"/>
            <p:cNvSpPr/>
            <p:nvPr/>
          </p:nvSpPr>
          <p:spPr>
            <a:xfrm>
              <a:off x="1673316" y="4948238"/>
              <a:ext cx="223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71698" name="Rectangle 13"/>
          <p:cNvSpPr/>
          <p:nvPr/>
        </p:nvSpPr>
        <p:spPr>
          <a:xfrm>
            <a:off x="1870075" y="4114800"/>
            <a:ext cx="1160463" cy="5222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u++</a:t>
            </a:r>
            <a:endParaRPr lang="en-US" altLang="zh-CN" sz="2400" b="1" dirty="0">
              <a:solidFill>
                <a:srgbClr val="FFFF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7363" y="4092575"/>
            <a:ext cx="1162050" cy="544513"/>
            <a:chOff x="515889" y="4706938"/>
            <a:chExt cx="1162617" cy="544513"/>
          </a:xfrm>
        </p:grpSpPr>
        <p:sp>
          <p:nvSpPr>
            <p:cNvPr id="40978" name="Rectangle 9"/>
            <p:cNvSpPr/>
            <p:nvPr/>
          </p:nvSpPr>
          <p:spPr>
            <a:xfrm>
              <a:off x="515889" y="4706938"/>
              <a:ext cx="1162617" cy="5254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</a:rPr>
                <a:t>u&lt;=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r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40979" name="Line 14"/>
            <p:cNvSpPr/>
            <p:nvPr/>
          </p:nvSpPr>
          <p:spPr>
            <a:xfrm>
              <a:off x="584228" y="4729163"/>
              <a:ext cx="0" cy="522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0968" name="组合 2"/>
          <p:cNvGrpSpPr/>
          <p:nvPr/>
        </p:nvGrpSpPr>
        <p:grpSpPr>
          <a:xfrm>
            <a:off x="155575" y="1847850"/>
            <a:ext cx="1497013" cy="3578225"/>
            <a:chOff x="179388" y="2555875"/>
            <a:chExt cx="1496522" cy="3578225"/>
          </a:xfrm>
        </p:grpSpPr>
        <p:sp>
          <p:nvSpPr>
            <p:cNvPr id="40973" name="Line 5"/>
            <p:cNvSpPr/>
            <p:nvPr/>
          </p:nvSpPr>
          <p:spPr>
            <a:xfrm>
              <a:off x="510699" y="3005138"/>
              <a:ext cx="0" cy="26114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974" name="Oval 6"/>
            <p:cNvSpPr/>
            <p:nvPr/>
          </p:nvSpPr>
          <p:spPr>
            <a:xfrm>
              <a:off x="203609" y="2555875"/>
              <a:ext cx="896184" cy="44926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求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r!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40975" name="Oval 7"/>
            <p:cNvSpPr/>
            <p:nvPr/>
          </p:nvSpPr>
          <p:spPr>
            <a:xfrm>
              <a:off x="179388" y="5616575"/>
              <a:ext cx="660027" cy="517525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0976" name="Rectangle 8"/>
            <p:cNvSpPr/>
            <p:nvPr/>
          </p:nvSpPr>
          <p:spPr>
            <a:xfrm>
              <a:off x="513294" y="3321050"/>
              <a:ext cx="1160021" cy="4619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p=1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0977" name="Rectangle 15"/>
            <p:cNvSpPr/>
            <p:nvPr/>
          </p:nvSpPr>
          <p:spPr>
            <a:xfrm>
              <a:off x="515889" y="4013200"/>
              <a:ext cx="1160021" cy="4619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</a:rPr>
                <a:t>u=2</a:t>
              </a:r>
              <a:endParaRPr lang="en-US" altLang="zh-CN" sz="24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775184" name="Rectangle 16"/>
          <p:cNvSpPr>
            <a:spLocks noChangeArrowheads="1"/>
          </p:cNvSpPr>
          <p:nvPr/>
        </p:nvSpPr>
        <p:spPr bwMode="auto">
          <a:xfrm>
            <a:off x="5704840" y="120650"/>
            <a:ext cx="6487160" cy="66160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int main()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{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p,u,r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kumimoji="0" lang="en-US" altLang="zh-CN" sz="2400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cs typeface="+mn-lt"/>
              </a:rPr>
              <a:t>p=1;</a:t>
            </a:r>
            <a:r>
              <a:rPr kumimoji="0" lang="en-US" altLang="zh-CN" sz="2400" i="0" u="none" strike="noStrike" kern="1200" cap="none" spc="0" normalizeH="0" baseline="0" dirty="0">
                <a:solidFill>
                  <a:schemeClr val="tx1"/>
                </a:solidFill>
                <a:effectLst/>
                <a:latin typeface="+mn-lt"/>
                <a:cs typeface="+mn-lt"/>
              </a:rPr>
              <a:t>//积单元</a:t>
            </a:r>
            <a:endParaRPr kumimoji="0" lang="en-US" altLang="zh-CN" sz="2400" i="0" u="none" strike="noStrike" kern="1200" cap="none" spc="0" normalizeH="0" baseline="0" dirty="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cs typeface="+mn-lt"/>
              </a:rPr>
              <a:t>	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cs typeface="+mn-lt"/>
              </a:rPr>
              <a:t>u=2;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//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循环变量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	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scanf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("%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d",&amp;r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);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	while  ( 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cs typeface="+mn-lt"/>
              </a:rPr>
              <a:t>u&lt;=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r )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	{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cs typeface="+mn-lt"/>
              </a:rPr>
              <a:t>	</a:t>
            </a:r>
            <a:r>
              <a:rPr kumimoji="0" lang="en-US" altLang="zh-CN" sz="2800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cs typeface="+mn-lt"/>
              </a:rPr>
              <a:t>p*=</a:t>
            </a:r>
            <a:r>
              <a:rPr kumimoji="0" lang="en-US" altLang="zh-CN" sz="2800" i="0" u="none" strike="noStrike" kern="1200" cap="none" spc="0" normalizeH="0" baseline="0" dirty="0">
                <a:solidFill>
                  <a:srgbClr val="FFFF00"/>
                </a:solidFill>
                <a:effectLst/>
                <a:latin typeface="+mn-lt"/>
                <a:cs typeface="+mn-lt"/>
              </a:rPr>
              <a:t>u</a:t>
            </a:r>
            <a:r>
              <a:rPr kumimoji="0" lang="en-US" altLang="zh-CN" sz="2800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cs typeface="+mn-lt"/>
              </a:rPr>
              <a:t> ;</a:t>
            </a:r>
            <a:endParaRPr kumimoji="0" lang="en-US" altLang="zh-CN" sz="2800" i="0" u="none" strike="noStrike" kern="1200" cap="none" spc="0" normalizeH="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cs typeface="+mn-lt"/>
              </a:rPr>
              <a:t>		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cs typeface="+mn-lt"/>
              </a:rPr>
              <a:t>u++ ;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	}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	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printf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 (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cs typeface="+mn-lt"/>
                <a:sym typeface="+mn-ea"/>
              </a:rPr>
              <a:t>"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%d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的阶乘为：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%d\n",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r,p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);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</a:rPr>
              <a:t>return 0;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华文彩云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彩云" pitchFamily="2" charset="-122"/>
              <a:cs typeface="+mn-cs"/>
            </a:endParaRPr>
          </a:p>
        </p:txBody>
      </p:sp>
      <p:sp>
        <p:nvSpPr>
          <p:cNvPr id="774155" name="Rectangle 11"/>
          <p:cNvSpPr>
            <a:spLocks noGrp="1" noChangeArrowheads="1"/>
          </p:cNvSpPr>
          <p:nvPr>
            <p:ph type="title"/>
          </p:nvPr>
        </p:nvSpPr>
        <p:spPr>
          <a:xfrm>
            <a:off x="25400" y="71438"/>
            <a:ext cx="4629150" cy="882650"/>
          </a:xfrm>
        </p:spPr>
        <p:txBody>
          <a:bodyPr vert="horz" wrap="square" lIns="91440" tIns="45720" rIns="91440" bIns="45720" numCol="1" anchor="ctr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关键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的阶乘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84" grpId="1" animBg="1"/>
      <p:bldP spid="71698" grpId="0" animBg="1"/>
      <p:bldP spid="7169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DB1EAE-4D28-402D-B31E-E82840D5F9B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987" name="Group 4"/>
          <p:cNvGrpSpPr/>
          <p:nvPr/>
        </p:nvGrpSpPr>
        <p:grpSpPr>
          <a:xfrm>
            <a:off x="914400" y="3276600"/>
            <a:ext cx="2879725" cy="3578225"/>
            <a:chOff x="368" y="1610"/>
            <a:chExt cx="3329" cy="2254"/>
          </a:xfrm>
        </p:grpSpPr>
        <p:sp>
          <p:nvSpPr>
            <p:cNvPr id="41989" name="Line 5"/>
            <p:cNvSpPr/>
            <p:nvPr/>
          </p:nvSpPr>
          <p:spPr>
            <a:xfrm>
              <a:off x="751" y="1893"/>
              <a:ext cx="0" cy="16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0" name="Oval 6"/>
            <p:cNvSpPr/>
            <p:nvPr/>
          </p:nvSpPr>
          <p:spPr>
            <a:xfrm>
              <a:off x="396" y="1610"/>
              <a:ext cx="1036" cy="28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求</a:t>
              </a:r>
              <a:r>
                <a:rPr lang="en-US" altLang="zh-CN" sz="2400" b="1" dirty="0"/>
                <a:t>r!</a:t>
              </a:r>
              <a:endParaRPr lang="en-US" altLang="zh-CN" sz="2400" b="1" dirty="0"/>
            </a:p>
          </p:txBody>
        </p:sp>
        <p:sp>
          <p:nvSpPr>
            <p:cNvPr id="41991" name="Oval 7"/>
            <p:cNvSpPr/>
            <p:nvPr/>
          </p:nvSpPr>
          <p:spPr>
            <a:xfrm>
              <a:off x="368" y="3538"/>
              <a:ext cx="763" cy="32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41992" name="Rectangle 8"/>
            <p:cNvSpPr/>
            <p:nvPr/>
          </p:nvSpPr>
          <p:spPr>
            <a:xfrm>
              <a:off x="754" y="2092"/>
              <a:ext cx="1341" cy="2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p=1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41993" name="Rectangle 9"/>
            <p:cNvSpPr/>
            <p:nvPr/>
          </p:nvSpPr>
          <p:spPr>
            <a:xfrm>
              <a:off x="757" y="2965"/>
              <a:ext cx="1344" cy="33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u&lt;=r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41994" name="Rectangle 10"/>
            <p:cNvSpPr/>
            <p:nvPr/>
          </p:nvSpPr>
          <p:spPr>
            <a:xfrm>
              <a:off x="2356" y="2423"/>
              <a:ext cx="1341" cy="32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p*=u</a:t>
              </a:r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1995" name="Line 11"/>
            <p:cNvSpPr/>
            <p:nvPr/>
          </p:nvSpPr>
          <p:spPr>
            <a:xfrm>
              <a:off x="2353" y="2528"/>
              <a:ext cx="3" cy="7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6" name="Line 12"/>
            <p:cNvSpPr/>
            <p:nvPr/>
          </p:nvSpPr>
          <p:spPr>
            <a:xfrm>
              <a:off x="2095" y="3117"/>
              <a:ext cx="2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7" name="Rectangle 13"/>
            <p:cNvSpPr/>
            <p:nvPr/>
          </p:nvSpPr>
          <p:spPr>
            <a:xfrm>
              <a:off x="2356" y="2979"/>
              <a:ext cx="1341" cy="32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u++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41998" name="Line 14"/>
            <p:cNvSpPr/>
            <p:nvPr/>
          </p:nvSpPr>
          <p:spPr>
            <a:xfrm>
              <a:off x="836" y="2979"/>
              <a:ext cx="0" cy="3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999" name="Rectangle 15"/>
            <p:cNvSpPr/>
            <p:nvPr/>
          </p:nvSpPr>
          <p:spPr>
            <a:xfrm>
              <a:off x="757" y="2528"/>
              <a:ext cx="1341" cy="2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u=2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41988" name="Rectangle 18"/>
          <p:cNvSpPr/>
          <p:nvPr/>
        </p:nvSpPr>
        <p:spPr>
          <a:xfrm>
            <a:off x="0" y="3175"/>
            <a:ext cx="12192000" cy="30734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en-US" altLang="zh-CN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所有计算连乘积的程序都使用一个积单元，有类似本题目的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b="1" dirty="0">
                <a:latin typeface="宋体" panose="02010600030101010101" pitchFamily="2" charset="-122"/>
              </a:rPr>
              <a:t>程序模式。其中：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zh-CN" altLang="en-US" b="1" dirty="0">
                <a:latin typeface="宋体" panose="02010600030101010101" pitchFamily="2" charset="-122"/>
              </a:rPr>
              <a:t>是积单元；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zh-CN" altLang="en-US" b="1" dirty="0">
                <a:latin typeface="宋体" panose="02010600030101010101" pitchFamily="2" charset="-122"/>
              </a:rPr>
              <a:t>开始进入循环之前积单元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zh-CN" altLang="en-US" b="1" dirty="0">
                <a:latin typeface="宋体" panose="02010600030101010101" pitchFamily="2" charset="-122"/>
              </a:rPr>
              <a:t>必须置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zh-CN" altLang="en-US" b="1" dirty="0">
                <a:latin typeface="宋体" panose="02010600030101010101" pitchFamily="2" charset="-122"/>
              </a:rPr>
              <a:t>在循环体内，每循环一次向积单元乘入一项；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defTabSz="914400" eaLnBrk="1" hangingPunct="1">
              <a:spcBef>
                <a:spcPct val="0"/>
              </a:spcBef>
              <a:buClrTx/>
              <a:buSzTx/>
              <a:buFontTx/>
              <a:buChar char="•"/>
              <a:tabLst>
                <a:tab pos="533400" algn="l"/>
              </a:tabLst>
            </a:pPr>
            <a:r>
              <a:rPr lang="zh-CN" altLang="en-US" b="1" dirty="0">
                <a:latin typeface="宋体" panose="02010600030101010101" pitchFamily="2" charset="-122"/>
              </a:rPr>
              <a:t>最后循环结束，积单元中的值即为所求之积。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68E522-7E17-4D71-9226-E36276FBCC2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Line 3"/>
          <p:cNvSpPr/>
          <p:nvPr/>
        </p:nvSpPr>
        <p:spPr>
          <a:xfrm>
            <a:off x="1927225" y="2132330"/>
            <a:ext cx="6350" cy="38941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2" name="Oval 4"/>
          <p:cNvSpPr/>
          <p:nvPr/>
        </p:nvSpPr>
        <p:spPr>
          <a:xfrm>
            <a:off x="998855" y="1683068"/>
            <a:ext cx="2049463" cy="449262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开始</a:t>
            </a:r>
            <a:endParaRPr lang="zh-CN" altLang="en-US" sz="2400" b="1" dirty="0"/>
          </a:p>
        </p:txBody>
      </p:sp>
      <p:sp>
        <p:nvSpPr>
          <p:cNvPr id="43013" name="Oval 5"/>
          <p:cNvSpPr/>
          <p:nvPr/>
        </p:nvSpPr>
        <p:spPr>
          <a:xfrm>
            <a:off x="1169988" y="6026468"/>
            <a:ext cx="1509712" cy="517525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结束</a:t>
            </a:r>
            <a:endParaRPr lang="zh-CN" altLang="en-US" sz="2400" b="1" dirty="0"/>
          </a:p>
        </p:txBody>
      </p:sp>
      <p:sp>
        <p:nvSpPr>
          <p:cNvPr id="43014" name="Rectangle 6"/>
          <p:cNvSpPr/>
          <p:nvPr/>
        </p:nvSpPr>
        <p:spPr>
          <a:xfrm>
            <a:off x="1933575" y="2448243"/>
            <a:ext cx="2654300" cy="461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输入</a:t>
            </a:r>
            <a:r>
              <a:rPr lang="en-US" altLang="zh-CN" sz="2400" b="1" dirty="0"/>
              <a:t>N</a:t>
            </a:r>
            <a:endParaRPr lang="en-US" altLang="zh-CN" sz="2400" b="1" dirty="0"/>
          </a:p>
        </p:txBody>
      </p:sp>
      <p:sp>
        <p:nvSpPr>
          <p:cNvPr id="43015" name="Rectangle 7"/>
          <p:cNvSpPr/>
          <p:nvPr/>
        </p:nvSpPr>
        <p:spPr>
          <a:xfrm>
            <a:off x="1939925" y="3834130"/>
            <a:ext cx="2659063" cy="5254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N!=0</a:t>
            </a:r>
            <a:endParaRPr lang="en-US" altLang="zh-CN" sz="2400" b="1" dirty="0"/>
          </a:p>
        </p:txBody>
      </p:sp>
      <p:sp>
        <p:nvSpPr>
          <p:cNvPr id="43016" name="Rectangle 8"/>
          <p:cNvSpPr/>
          <p:nvPr/>
        </p:nvSpPr>
        <p:spPr>
          <a:xfrm>
            <a:off x="5091113" y="2406968"/>
            <a:ext cx="2654300" cy="10080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r</a:t>
            </a:r>
            <a:r>
              <a:rPr lang="en-US" altLang="zh-CN" sz="2400" b="1" dirty="0"/>
              <a:t>=N%10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N=N/10</a:t>
            </a:r>
            <a:endParaRPr lang="en-US" altLang="zh-CN" sz="2400" b="1" dirty="0"/>
          </a:p>
        </p:txBody>
      </p:sp>
      <p:sp>
        <p:nvSpPr>
          <p:cNvPr id="43017" name="Line 9"/>
          <p:cNvSpPr/>
          <p:nvPr/>
        </p:nvSpPr>
        <p:spPr>
          <a:xfrm flipH="1">
            <a:off x="5086350" y="2406968"/>
            <a:ext cx="12700" cy="27749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8" name="Line 10"/>
          <p:cNvSpPr/>
          <p:nvPr/>
        </p:nvSpPr>
        <p:spPr>
          <a:xfrm>
            <a:off x="4587875" y="4075430"/>
            <a:ext cx="51117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959" name="Rectangle 11"/>
          <p:cNvSpPr/>
          <p:nvPr/>
        </p:nvSpPr>
        <p:spPr>
          <a:xfrm>
            <a:off x="5105400" y="4678680"/>
            <a:ext cx="2652713" cy="503238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</a:rPr>
              <a:t>S+=p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p:sp>
        <p:nvSpPr>
          <p:cNvPr id="82960" name="Rectangle 12"/>
          <p:cNvSpPr/>
          <p:nvPr/>
        </p:nvSpPr>
        <p:spPr>
          <a:xfrm>
            <a:off x="1939925" y="4834255"/>
            <a:ext cx="2209800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输出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021" name="Line 13"/>
          <p:cNvSpPr/>
          <p:nvPr/>
        </p:nvSpPr>
        <p:spPr>
          <a:xfrm>
            <a:off x="2095500" y="3856355"/>
            <a:ext cx="0" cy="5222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962" name="Rectangle 14"/>
          <p:cNvSpPr/>
          <p:nvPr/>
        </p:nvSpPr>
        <p:spPr>
          <a:xfrm>
            <a:off x="1939925" y="3140393"/>
            <a:ext cx="2654300" cy="461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</a:rPr>
              <a:t>S=0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p:sp>
        <p:nvSpPr>
          <p:cNvPr id="43023" name="Text Box 15"/>
          <p:cNvSpPr txBox="1"/>
          <p:nvPr/>
        </p:nvSpPr>
        <p:spPr>
          <a:xfrm>
            <a:off x="6324600" y="685800"/>
            <a:ext cx="56915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输入</a:t>
            </a:r>
            <a:r>
              <a:rPr lang="en-US" altLang="zh-CN" b="1" dirty="0">
                <a:solidFill>
                  <a:schemeClr val="tx1"/>
                </a:solidFill>
              </a:rPr>
              <a:t>N: 813</a:t>
            </a:r>
            <a:r>
              <a:rPr lang="zh-CN" altLang="en-US" b="1" dirty="0">
                <a:solidFill>
                  <a:schemeClr val="tx1"/>
                </a:solidFill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求</a:t>
            </a:r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3!+1!+8!</a:t>
            </a:r>
            <a:endParaRPr lang="en-US" altLang="zh-CN" b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3024" name="Rectangle 11"/>
          <p:cNvSpPr/>
          <p:nvPr/>
        </p:nvSpPr>
        <p:spPr>
          <a:xfrm>
            <a:off x="5100638" y="3856355"/>
            <a:ext cx="2654300" cy="50323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求</a:t>
            </a:r>
            <a:r>
              <a:rPr lang="en-US" altLang="zh-CN" sz="2400" b="1" dirty="0"/>
              <a:t>p=</a:t>
            </a:r>
            <a:r>
              <a:rPr lang="en-US" altLang="zh-CN" sz="2400" b="1" dirty="0">
                <a:solidFill>
                  <a:srgbClr val="FFFF00"/>
                </a:solidFill>
              </a:rPr>
              <a:t>r!</a:t>
            </a:r>
            <a:endParaRPr lang="en-US" altLang="zh-CN" sz="2400" b="1" dirty="0">
              <a:solidFill>
                <a:srgbClr val="FFFF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90465" y="3707130"/>
            <a:ext cx="2843530" cy="768350"/>
          </a:xfrm>
          <a:prstGeom prst="rect">
            <a:avLst/>
          </a:prstGeom>
          <a:noFill/>
          <a:ln w="34925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49010" y="-5715"/>
            <a:ext cx="6142990" cy="853440"/>
          </a:xfrm>
        </p:spPr>
        <p:txBody>
          <a:bodyPr vert="horz" wrap="square" lIns="91440" tIns="45720" rIns="91440" bIns="45720" numCol="1" anchor="ctr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4.11】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阶乘求和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P104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4155" name="Rectangle 11"/>
          <p:cNvSpPr>
            <a:spLocks noGrp="1" noChangeArrowheads="1"/>
          </p:cNvSpPr>
          <p:nvPr/>
        </p:nvSpPr>
        <p:spPr>
          <a:xfrm>
            <a:off x="381000" y="270510"/>
            <a:ext cx="4620895" cy="577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关键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累加求和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9" grpId="0" bldLvl="0" animBg="1"/>
      <p:bldP spid="82960" grpId="0" bldLvl="0" animBg="1"/>
      <p:bldP spid="82962" grpId="0" bldLvl="0" animBg="1"/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B01AE3-0C6C-47A2-82D9-0644671AC36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Line 2"/>
          <p:cNvSpPr/>
          <p:nvPr/>
        </p:nvSpPr>
        <p:spPr>
          <a:xfrm>
            <a:off x="1174750" y="1219200"/>
            <a:ext cx="4763" cy="38941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36" name="Oval 3"/>
          <p:cNvSpPr/>
          <p:nvPr/>
        </p:nvSpPr>
        <p:spPr>
          <a:xfrm>
            <a:off x="611188" y="769938"/>
            <a:ext cx="1644650" cy="449262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开始</a:t>
            </a:r>
            <a:endParaRPr lang="zh-CN" altLang="en-US" sz="2400" b="1" dirty="0"/>
          </a:p>
        </p:txBody>
      </p:sp>
      <p:sp>
        <p:nvSpPr>
          <p:cNvPr id="44037" name="Oval 4"/>
          <p:cNvSpPr/>
          <p:nvPr/>
        </p:nvSpPr>
        <p:spPr>
          <a:xfrm>
            <a:off x="566738" y="5113338"/>
            <a:ext cx="1211262" cy="517525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结束</a:t>
            </a:r>
            <a:endParaRPr lang="zh-CN" altLang="en-US" sz="2400" b="1" dirty="0"/>
          </a:p>
        </p:txBody>
      </p:sp>
      <p:sp>
        <p:nvSpPr>
          <p:cNvPr id="44038" name="Rectangle 5"/>
          <p:cNvSpPr/>
          <p:nvPr/>
        </p:nvSpPr>
        <p:spPr>
          <a:xfrm>
            <a:off x="1179513" y="1535113"/>
            <a:ext cx="2128837" cy="461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输入</a:t>
            </a:r>
            <a:r>
              <a:rPr lang="en-US" altLang="zh-CN" sz="2400" b="1" dirty="0"/>
              <a:t>N</a:t>
            </a:r>
            <a:endParaRPr lang="en-US" altLang="zh-CN" sz="2400" b="1" dirty="0"/>
          </a:p>
        </p:txBody>
      </p:sp>
      <p:sp>
        <p:nvSpPr>
          <p:cNvPr id="44039" name="Rectangle 6"/>
          <p:cNvSpPr/>
          <p:nvPr/>
        </p:nvSpPr>
        <p:spPr>
          <a:xfrm>
            <a:off x="1184275" y="2921000"/>
            <a:ext cx="2133600" cy="5254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N!=0</a:t>
            </a:r>
            <a:endParaRPr lang="en-US" altLang="zh-CN" sz="2400" b="1" dirty="0"/>
          </a:p>
        </p:txBody>
      </p:sp>
      <p:sp>
        <p:nvSpPr>
          <p:cNvPr id="44040" name="Rectangle 7"/>
          <p:cNvSpPr/>
          <p:nvPr/>
        </p:nvSpPr>
        <p:spPr>
          <a:xfrm>
            <a:off x="3722688" y="1219200"/>
            <a:ext cx="2128837" cy="10080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A04F8"/>
                </a:solidFill>
              </a:rPr>
              <a:t>r</a:t>
            </a:r>
            <a:r>
              <a:rPr lang="en-US" altLang="zh-CN" sz="2400" b="1" dirty="0"/>
              <a:t>=N%10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N=N/10</a:t>
            </a:r>
            <a:endParaRPr lang="en-US" altLang="zh-CN" sz="2400" b="1" dirty="0"/>
          </a:p>
        </p:txBody>
      </p:sp>
      <p:sp>
        <p:nvSpPr>
          <p:cNvPr id="44041" name="Line 8"/>
          <p:cNvSpPr/>
          <p:nvPr/>
        </p:nvSpPr>
        <p:spPr>
          <a:xfrm>
            <a:off x="3717925" y="1219200"/>
            <a:ext cx="0" cy="38941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42" name="Line 9"/>
          <p:cNvSpPr/>
          <p:nvPr/>
        </p:nvSpPr>
        <p:spPr>
          <a:xfrm>
            <a:off x="3308350" y="3162300"/>
            <a:ext cx="40957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43" name="Rectangle 10"/>
          <p:cNvSpPr/>
          <p:nvPr/>
        </p:nvSpPr>
        <p:spPr>
          <a:xfrm>
            <a:off x="1184275" y="3921125"/>
            <a:ext cx="1773238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9900"/>
                </a:solidFill>
              </a:rPr>
              <a:t>输出</a:t>
            </a:r>
            <a:r>
              <a:rPr lang="en-US" altLang="zh-CN" sz="2400" b="1" dirty="0">
                <a:solidFill>
                  <a:srgbClr val="CC9900"/>
                </a:solidFill>
              </a:rPr>
              <a:t>S</a:t>
            </a:r>
            <a:endParaRPr lang="en-US" altLang="zh-CN" sz="2400" b="1" dirty="0">
              <a:solidFill>
                <a:srgbClr val="CC9900"/>
              </a:solidFill>
            </a:endParaRPr>
          </a:p>
        </p:txBody>
      </p:sp>
      <p:sp>
        <p:nvSpPr>
          <p:cNvPr id="44044" name="Line 11"/>
          <p:cNvSpPr/>
          <p:nvPr/>
        </p:nvSpPr>
        <p:spPr>
          <a:xfrm>
            <a:off x="1309688" y="2943225"/>
            <a:ext cx="0" cy="5222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45" name="Rectangle 12"/>
          <p:cNvSpPr/>
          <p:nvPr/>
        </p:nvSpPr>
        <p:spPr>
          <a:xfrm>
            <a:off x="1184275" y="2227263"/>
            <a:ext cx="2128838" cy="46196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9900"/>
                </a:solidFill>
              </a:rPr>
              <a:t>S=0</a:t>
            </a:r>
            <a:endParaRPr lang="en-US" altLang="zh-CN" sz="2400" b="1" dirty="0">
              <a:solidFill>
                <a:srgbClr val="CC9900"/>
              </a:solidFill>
            </a:endParaRPr>
          </a:p>
        </p:txBody>
      </p:sp>
      <p:sp>
        <p:nvSpPr>
          <p:cNvPr id="44046" name="Rectangle 13"/>
          <p:cNvSpPr/>
          <p:nvPr/>
        </p:nvSpPr>
        <p:spPr>
          <a:xfrm>
            <a:off x="3722688" y="2479675"/>
            <a:ext cx="2128837" cy="461963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</a:rPr>
              <a:t>P=1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p:sp>
        <p:nvSpPr>
          <p:cNvPr id="44047" name="Rectangle 14"/>
          <p:cNvSpPr/>
          <p:nvPr/>
        </p:nvSpPr>
        <p:spPr>
          <a:xfrm>
            <a:off x="3727450" y="3865563"/>
            <a:ext cx="2133600" cy="525462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u</a:t>
            </a:r>
            <a:r>
              <a:rPr lang="en-US" altLang="zh-CN" sz="2400" b="1" dirty="0">
                <a:solidFill>
                  <a:schemeClr val="tx1">
                    <a:lumMod val="85000"/>
                  </a:schemeClr>
                </a:solidFill>
              </a:rPr>
              <a:t>&lt;=r</a:t>
            </a:r>
            <a:endParaRPr lang="en-US" altLang="zh-CN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44048" name="Rectangle 15"/>
          <p:cNvSpPr/>
          <p:nvPr/>
        </p:nvSpPr>
        <p:spPr>
          <a:xfrm>
            <a:off x="6265863" y="3171825"/>
            <a:ext cx="2128837" cy="511175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</a:rPr>
              <a:t>P*=u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p:sp>
        <p:nvSpPr>
          <p:cNvPr id="44049" name="Line 16"/>
          <p:cNvSpPr/>
          <p:nvPr/>
        </p:nvSpPr>
        <p:spPr>
          <a:xfrm>
            <a:off x="6261100" y="3171825"/>
            <a:ext cx="4763" cy="12192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50" name="Line 17"/>
          <p:cNvSpPr/>
          <p:nvPr/>
        </p:nvSpPr>
        <p:spPr>
          <a:xfrm>
            <a:off x="5851525" y="4106863"/>
            <a:ext cx="409575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51" name="Rectangle 18"/>
          <p:cNvSpPr/>
          <p:nvPr/>
        </p:nvSpPr>
        <p:spPr>
          <a:xfrm>
            <a:off x="6265863" y="3887788"/>
            <a:ext cx="2128837" cy="522287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u++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44052" name="Line 19"/>
          <p:cNvSpPr/>
          <p:nvPr/>
        </p:nvSpPr>
        <p:spPr>
          <a:xfrm>
            <a:off x="3852863" y="3887788"/>
            <a:ext cx="0" cy="522287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053" name="Rectangle 20"/>
          <p:cNvSpPr/>
          <p:nvPr/>
        </p:nvSpPr>
        <p:spPr>
          <a:xfrm>
            <a:off x="3727450" y="3171825"/>
            <a:ext cx="2128838" cy="461963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u=2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44054" name="Rectangle 21"/>
          <p:cNvSpPr/>
          <p:nvPr/>
        </p:nvSpPr>
        <p:spPr>
          <a:xfrm>
            <a:off x="3722688" y="4676775"/>
            <a:ext cx="2128837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9900"/>
                </a:solidFill>
              </a:rPr>
              <a:t>S+=</a:t>
            </a:r>
            <a:r>
              <a:rPr lang="en-US" altLang="zh-CN" sz="2400" b="1" dirty="0">
                <a:solidFill>
                  <a:srgbClr val="00FF00"/>
                </a:solidFill>
              </a:rPr>
              <a:t>P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p:sp>
        <p:nvSpPr>
          <p:cNvPr id="44055" name="矩形 1"/>
          <p:cNvSpPr/>
          <p:nvPr/>
        </p:nvSpPr>
        <p:spPr>
          <a:xfrm>
            <a:off x="3513138" y="2408238"/>
            <a:ext cx="5070475" cy="2074862"/>
          </a:xfrm>
          <a:prstGeom prst="rect">
            <a:avLst/>
          </a:prstGeom>
          <a:noFill/>
          <a:ln w="34925" cap="flat" cmpd="sng">
            <a:solidFill>
              <a:schemeClr val="tx1"/>
            </a:solidFill>
            <a:prstDash val="sys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3" name="椭圆形标注 2"/>
          <p:cNvSpPr/>
          <p:nvPr/>
        </p:nvSpPr>
        <p:spPr bwMode="auto">
          <a:xfrm>
            <a:off x="7215188" y="1417638"/>
            <a:ext cx="1511300" cy="809625"/>
          </a:xfrm>
          <a:prstGeom prst="wedgeEllipseCallout">
            <a:avLst>
              <a:gd name="adj1" fmla="val -114057"/>
              <a:gd name="adj2" fmla="val 119329"/>
            </a:avLst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4F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P=r!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A04F8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37600" y="1997075"/>
            <a:ext cx="14084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计算连乘积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0290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7696200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 {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N,S,P,u,r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("please input N:");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scanf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("%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d",&amp;N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S=0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while  ( N!=0 )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r = N%10 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求数码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N = N/10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P=1;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u=2;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while  ( u&lt;=r )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P*=u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u++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S+=P;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 “r1!+r2!+...+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 = %5d\n”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 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1400" y="1558290"/>
            <a:ext cx="5760720" cy="4386580"/>
          </a:xfrm>
          <a:prstGeom prst="rect">
            <a:avLst/>
          </a:prstGeom>
          <a:noFill/>
          <a:ln w="476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F16482-4EF7-47E4-A10D-9B936087806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8"/>
          <p:cNvSpPr/>
          <p:nvPr/>
        </p:nvSpPr>
        <p:spPr>
          <a:xfrm>
            <a:off x="1752600" y="3011170"/>
            <a:ext cx="3829685" cy="2223135"/>
          </a:xfrm>
          <a:prstGeom prst="rect">
            <a:avLst/>
          </a:prstGeom>
          <a:noFill/>
          <a:ln w="5715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b="1" dirty="0">
              <a:solidFill>
                <a:srgbClr val="FF0000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45062" name="AutoShape 3"/>
          <p:cNvSpPr/>
          <p:nvPr/>
        </p:nvSpPr>
        <p:spPr>
          <a:xfrm>
            <a:off x="9448800" y="501650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780297" name="AutoShape 9"/>
          <p:cNvSpPr/>
          <p:nvPr/>
        </p:nvSpPr>
        <p:spPr>
          <a:xfrm>
            <a:off x="5028883" y="2514600"/>
            <a:ext cx="2197100" cy="1009650"/>
          </a:xfrm>
          <a:prstGeom prst="cloudCallout">
            <a:avLst>
              <a:gd name="adj1" fmla="val -93074"/>
              <a:gd name="adj2" fmla="val 82065"/>
            </a:avLst>
          </a:prstGeom>
          <a:solidFill>
            <a:srgbClr val="00FFFF"/>
          </a:solidFill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连乘积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,</a:t>
            </a:r>
            <a:endParaRPr lang="en-US" altLang="zh-CN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求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r!</a:t>
            </a:r>
            <a:endParaRPr lang="en-US" altLang="zh-CN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pic>
        <p:nvPicPr>
          <p:cNvPr id="45065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588" y="0"/>
            <a:ext cx="3536950" cy="148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AutoShape 9"/>
          <p:cNvSpPr/>
          <p:nvPr/>
        </p:nvSpPr>
        <p:spPr>
          <a:xfrm>
            <a:off x="6476683" y="3581400"/>
            <a:ext cx="3059112" cy="1169988"/>
          </a:xfrm>
          <a:prstGeom prst="cloudCallout">
            <a:avLst>
              <a:gd name="adj1" fmla="val -66616"/>
              <a:gd name="adj2" fmla="val 112876"/>
            </a:avLst>
          </a:prstGeom>
          <a:solidFill>
            <a:srgbClr val="00FFFF"/>
          </a:solidFill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累加求和，</a:t>
            </a:r>
            <a:endParaRPr lang="en-US" altLang="zh-CN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求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S</a:t>
            </a:r>
            <a:endParaRPr lang="en-US" altLang="zh-CN" sz="28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8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7827" grpId="0" bldLvl="0" animBg="1"/>
      <p:bldP spid="780297" grpId="0" bldLvl="0" animBg="1"/>
      <p:bldP spid="1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F2FD48-39AA-406F-AB4E-217E4B93CFF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-317"/>
            <a:ext cx="12099290" cy="18453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anchor="ctr">
            <a:spAutoFit/>
          </a:bodyPr>
          <a:lstStyle>
            <a:lvl1pPr indent="269875" algn="l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4.14】</a:t>
            </a:r>
            <a:r>
              <a:rPr lang="zh-CN" altLang="en-US" sz="28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正整数翻译</a:t>
            </a: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教材</a:t>
            </a:r>
            <a:r>
              <a:rPr lang="en-US" altLang="zh-CN" sz="200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P109</a:t>
            </a:r>
            <a:endParaRPr lang="en-US" altLang="zh-CN" sz="200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进制数转十进制数，要求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进制数以</a:t>
            </a:r>
            <a:r>
              <a:rPr lang="zh-CN" altLang="en-US" sz="26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字符形式</a:t>
            </a:r>
            <a:r>
              <a:rPr lang="zh-CN" altLang="en-US" sz="26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输入。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注意：本题不能使用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,&amp;data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函数直接读入数，只能逐个读入字符，然后再把它们拼起来，并翻译成计算机内部表示的正整数。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b="21604"/>
          <a:stretch>
            <a:fillRect/>
          </a:stretch>
        </p:blipFill>
        <p:spPr>
          <a:xfrm>
            <a:off x="5791200" y="3024505"/>
            <a:ext cx="3276600" cy="1319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13376"/>
          <a:stretch>
            <a:fillRect/>
          </a:stretch>
        </p:blipFill>
        <p:spPr>
          <a:xfrm>
            <a:off x="685800" y="3048000"/>
            <a:ext cx="4578985" cy="13481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96A66A-7D57-4C94-A923-6C4848B45D8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4800600" y="3922713"/>
            <a:ext cx="7181850" cy="2857500"/>
            <a:chOff x="1007604" y="4049648"/>
            <a:chExt cx="7182036" cy="2858357"/>
          </a:xfrm>
        </p:grpSpPr>
        <p:grpSp>
          <p:nvGrpSpPr>
            <p:cNvPr id="53260" name="Group 6"/>
            <p:cNvGrpSpPr/>
            <p:nvPr/>
          </p:nvGrpSpPr>
          <p:grpSpPr>
            <a:xfrm>
              <a:off x="1007604" y="4049648"/>
              <a:ext cx="2445425" cy="620534"/>
              <a:chOff x="0" y="-1"/>
              <a:chExt cx="20000" cy="20001"/>
            </a:xfrm>
          </p:grpSpPr>
          <p:sp>
            <p:nvSpPr>
              <p:cNvPr id="53273" name="Rectangle 7"/>
              <p:cNvSpPr/>
              <p:nvPr/>
            </p:nvSpPr>
            <p:spPr>
              <a:xfrm>
                <a:off x="1860" y="3978"/>
                <a:ext cx="18140" cy="16022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   </a:t>
                </a:r>
                <a:r>
                  <a:rPr lang="zh-CN" altLang="en-US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翻译整数</a:t>
                </a:r>
                <a:endParaRPr lang="zh-CN" altLang="en-US" sz="4400" b="1" dirty="0">
                  <a:solidFill>
                    <a:schemeClr val="hlink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3274" name="Oval 8"/>
              <p:cNvSpPr/>
              <p:nvPr/>
            </p:nvSpPr>
            <p:spPr>
              <a:xfrm>
                <a:off x="0" y="-1"/>
                <a:ext cx="16819" cy="20001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sp>
          <p:nvSpPr>
            <p:cNvPr id="53261" name="Line 9"/>
            <p:cNvSpPr/>
            <p:nvPr/>
          </p:nvSpPr>
          <p:spPr>
            <a:xfrm>
              <a:off x="1761090" y="4670181"/>
              <a:ext cx="2598" cy="174072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262" name="Rectangle 10"/>
            <p:cNvSpPr/>
            <p:nvPr/>
          </p:nvSpPr>
          <p:spPr>
            <a:xfrm>
              <a:off x="1763688" y="4887435"/>
              <a:ext cx="1309589" cy="64927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读</a:t>
              </a: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(ch)</a:t>
              </a:r>
              <a:endParaRPr lang="en-US" altLang="zh-CN" sz="20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n = 0</a:t>
              </a:r>
              <a:endParaRPr lang="en-US" altLang="zh-CN" sz="44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3263" name="Group 11"/>
            <p:cNvGrpSpPr/>
            <p:nvPr/>
          </p:nvGrpSpPr>
          <p:grpSpPr>
            <a:xfrm>
              <a:off x="1273899" y="6410901"/>
              <a:ext cx="1293996" cy="497104"/>
              <a:chOff x="1" y="-1"/>
              <a:chExt cx="19883" cy="20001"/>
            </a:xfrm>
          </p:grpSpPr>
          <p:sp>
            <p:nvSpPr>
              <p:cNvPr id="53271" name="Rectangle 12"/>
              <p:cNvSpPr/>
              <p:nvPr/>
            </p:nvSpPr>
            <p:spPr>
              <a:xfrm>
                <a:off x="3476" y="2368"/>
                <a:ext cx="16408" cy="15986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结束</a:t>
                </a:r>
                <a:endParaRPr lang="zh-CN" altLang="en-US" sz="4400" b="1" dirty="0">
                  <a:solidFill>
                    <a:schemeClr val="hlink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3272" name="Oval 13"/>
              <p:cNvSpPr/>
              <p:nvPr/>
            </p:nvSpPr>
            <p:spPr>
              <a:xfrm>
                <a:off x="1" y="-1"/>
                <a:ext cx="15202" cy="20001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sp>
          <p:nvSpPr>
            <p:cNvPr id="53264" name="Rectangle 14"/>
            <p:cNvSpPr/>
            <p:nvPr/>
          </p:nvSpPr>
          <p:spPr>
            <a:xfrm>
              <a:off x="4185708" y="5252906"/>
              <a:ext cx="4003932" cy="32294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n = n*</a:t>
              </a:r>
              <a:r>
                <a:rPr lang="en-US" altLang="zh-CN" sz="2000" b="1" dirty="0">
                  <a:latin typeface="宋体" panose="02010600030101010101" pitchFamily="2" charset="-122"/>
                </a:rPr>
                <a:t>radix</a:t>
              </a: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+  ch</a:t>
              </a:r>
              <a:r>
                <a:rPr lang="zh-CN" altLang="en-US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的</a:t>
              </a:r>
              <a:r>
                <a: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rPr>
                <a:t>字面数值</a:t>
              </a:r>
              <a:endParaRPr lang="zh-CN" alt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3265" name="Line 15"/>
            <p:cNvSpPr/>
            <p:nvPr/>
          </p:nvSpPr>
          <p:spPr>
            <a:xfrm>
              <a:off x="4185708" y="5599274"/>
              <a:ext cx="1609" cy="962081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266" name="Rectangle 16"/>
            <p:cNvSpPr/>
            <p:nvPr/>
          </p:nvSpPr>
          <p:spPr>
            <a:xfrm>
              <a:off x="4185708" y="6094686"/>
              <a:ext cx="2210535" cy="43454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读</a:t>
              </a: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(ch)</a:t>
              </a:r>
              <a:endParaRPr lang="en-US" altLang="zh-CN" sz="44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53267" name="Group 17"/>
            <p:cNvGrpSpPr/>
            <p:nvPr/>
          </p:nvGrpSpPr>
          <p:grpSpPr>
            <a:xfrm>
              <a:off x="1763688" y="5712559"/>
              <a:ext cx="2109907" cy="414253"/>
              <a:chOff x="0" y="0"/>
              <a:chExt cx="20000" cy="20000"/>
            </a:xfrm>
          </p:grpSpPr>
          <p:sp>
            <p:nvSpPr>
              <p:cNvPr id="53269" name="Rectangle 18"/>
              <p:cNvSpPr/>
              <p:nvPr/>
            </p:nvSpPr>
            <p:spPr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 ch</a:t>
                </a:r>
                <a:r>
                  <a:rPr lang="zh-CN" altLang="en-US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是</a:t>
                </a:r>
                <a:r>
                  <a:rPr lang="zh-CN" altLang="en-US" sz="20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数字字符</a:t>
                </a:r>
                <a:endParaRPr lang="zh-CN" altLang="en-US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3270" name="Line 19"/>
              <p:cNvSpPr/>
              <p:nvPr/>
            </p:nvSpPr>
            <p:spPr>
              <a:xfrm>
                <a:off x="2562" y="0"/>
                <a:ext cx="13" cy="2000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53268" name="Line 20"/>
            <p:cNvSpPr/>
            <p:nvPr/>
          </p:nvSpPr>
          <p:spPr>
            <a:xfrm>
              <a:off x="3873595" y="5908695"/>
              <a:ext cx="312113" cy="1691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53252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63" y="2474913"/>
            <a:ext cx="614045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3" name="Picture 24"/>
          <p:cNvPicPr>
            <a:picLocks noChangeAspect="1"/>
          </p:cNvPicPr>
          <p:nvPr/>
        </p:nvPicPr>
        <p:blipFill>
          <a:blip r:embed="rId2"/>
          <a:srcRect t="30865"/>
          <a:stretch>
            <a:fillRect/>
          </a:stretch>
        </p:blipFill>
        <p:spPr>
          <a:xfrm>
            <a:off x="1179513" y="2989263"/>
            <a:ext cx="6134100" cy="631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4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636588"/>
            <a:ext cx="6019800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5" name="Picture 26"/>
          <p:cNvPicPr>
            <a:picLocks noChangeAspect="1"/>
          </p:cNvPicPr>
          <p:nvPr/>
        </p:nvPicPr>
        <p:blipFill>
          <a:blip r:embed="rId4"/>
          <a:srcRect t="38933"/>
          <a:stretch>
            <a:fillRect/>
          </a:stretch>
        </p:blipFill>
        <p:spPr>
          <a:xfrm>
            <a:off x="1220788" y="1217613"/>
            <a:ext cx="601980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6" name="TextBox 3"/>
          <p:cNvSpPr txBox="1"/>
          <p:nvPr/>
        </p:nvSpPr>
        <p:spPr>
          <a:xfrm>
            <a:off x="-71437" y="1998663"/>
            <a:ext cx="26336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八进制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sym typeface="Wingdings" panose="05000000000000000000" pitchFamily="2" charset="2"/>
              </a:rPr>
              <a:t>十进制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53257" name="TextBox 30"/>
          <p:cNvSpPr txBox="1"/>
          <p:nvPr/>
        </p:nvSpPr>
        <p:spPr>
          <a:xfrm>
            <a:off x="-36512" y="147638"/>
            <a:ext cx="26336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二进制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sym typeface="Wingdings" panose="05000000000000000000" pitchFamily="2" charset="2"/>
              </a:rPr>
              <a:t>十进制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53258" name="TextBox 5"/>
          <p:cNvSpPr txBox="1"/>
          <p:nvPr/>
        </p:nvSpPr>
        <p:spPr>
          <a:xfrm>
            <a:off x="-19050" y="3190875"/>
            <a:ext cx="1198563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宋体" panose="02010600030101010101" pitchFamily="2" charset="-122"/>
              </a:rPr>
              <a:t>【</a:t>
            </a:r>
            <a:r>
              <a:rPr lang="zh-CN" altLang="en-US" sz="1600" b="1" dirty="0">
                <a:latin typeface="宋体" panose="02010600030101010101" pitchFamily="2" charset="-122"/>
              </a:rPr>
              <a:t>例</a:t>
            </a:r>
            <a:r>
              <a:rPr lang="en-US" altLang="zh-CN" sz="1600" b="1" dirty="0">
                <a:latin typeface="宋体" panose="02010600030101010101" pitchFamily="2" charset="-122"/>
              </a:rPr>
              <a:t>4.14】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53259" name="TextBox 33"/>
          <p:cNvSpPr txBox="1"/>
          <p:nvPr/>
        </p:nvSpPr>
        <p:spPr>
          <a:xfrm>
            <a:off x="107950" y="1274763"/>
            <a:ext cx="1198563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宋体" panose="02010600030101010101" pitchFamily="2" charset="-122"/>
              </a:rPr>
              <a:t>【</a:t>
            </a:r>
            <a:r>
              <a:rPr lang="zh-CN" altLang="en-US" sz="1600" b="1" dirty="0">
                <a:latin typeface="宋体" panose="02010600030101010101" pitchFamily="2" charset="-122"/>
              </a:rPr>
              <a:t>例</a:t>
            </a:r>
            <a:r>
              <a:rPr lang="en-US" altLang="zh-CN" sz="1600" b="1" dirty="0">
                <a:latin typeface="宋体" panose="02010600030101010101" pitchFamily="2" charset="-122"/>
              </a:rPr>
              <a:t>4.14】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827E26-4738-4B02-9B98-D82841FAAFC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3"/>
          <p:cNvSpPr/>
          <p:nvPr/>
        </p:nvSpPr>
        <p:spPr>
          <a:xfrm>
            <a:off x="0" y="124460"/>
            <a:ext cx="11934825" cy="651764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&lt;stdio.h&gt;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#define radix </a:t>
            </a:r>
            <a:r>
              <a:rPr lang="en-US" altLang="zh-CN" sz="24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sz="16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把八进制整数转为十进制数</a:t>
            </a:r>
            <a:endParaRPr lang="zh-CN" altLang="en-US" sz="1600" b="1" dirty="0">
              <a:solidFill>
                <a:schemeClr val="tx1">
                  <a:lumMod val="6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 main(){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char ch;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int n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 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保存整数部分数值</a:t>
            </a:r>
            <a:endParaRPr lang="zh-CN" altLang="en-US" sz="1800" b="1" dirty="0">
              <a:solidFill>
                <a:schemeClr val="tx1">
                  <a:lumMod val="6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printf("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请输入一个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进制数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\n",radix);	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ch=getchar();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读入字符</a:t>
            </a:r>
            <a:endParaRPr lang="en-US" altLang="zh-CN" sz="2000" b="1" dirty="0">
              <a:solidFill>
                <a:schemeClr val="tx1">
                  <a:lumMod val="6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endParaRPr lang="en-US" altLang="zh-CN" sz="2800" b="1" dirty="0">
              <a:solidFill>
                <a:schemeClr val="tx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algn="l" eaLnBrk="1" hangingPunct="1"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n=0;  </a:t>
            </a:r>
            <a:r>
              <a:rPr lang="zh-CN" altLang="en-US" sz="2000" b="1" dirty="0">
                <a:solidFill>
                  <a:schemeClr val="tx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//翻译成整数</a:t>
            </a:r>
            <a:endParaRPr lang="zh-CN" altLang="en-US" sz="2000" b="1" dirty="0">
              <a:solidFill>
                <a:schemeClr val="tx1">
                  <a:lumMod val="6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while(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(ch &gt;=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'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0') &amp;&amp; </a:t>
            </a:r>
            <a:r>
              <a:rPr lang="en-US" altLang="zh-CN" sz="28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 ch&lt;=</a:t>
            </a:r>
            <a:r>
              <a:rPr lang="en-US" altLang="zh-CN" sz="28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'</a:t>
            </a:r>
            <a:r>
              <a:rPr lang="en-US" altLang="zh-CN" sz="28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7')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		n= n * radix +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(ch-'0')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71600" lvl="3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ch=getchar();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printf("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该整数为：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%d\n",n);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return 0;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300" name="AutoShape 4"/>
          <p:cNvSpPr/>
          <p:nvPr/>
        </p:nvSpPr>
        <p:spPr>
          <a:xfrm>
            <a:off x="8915400" y="74613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pic>
        <p:nvPicPr>
          <p:cNvPr id="5530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0"/>
            <a:ext cx="3276600" cy="168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标注 1"/>
          <p:cNvSpPr/>
          <p:nvPr/>
        </p:nvSpPr>
        <p:spPr>
          <a:xfrm>
            <a:off x="6934200" y="4191000"/>
            <a:ext cx="4413250" cy="1045845"/>
          </a:xfrm>
          <a:prstGeom prst="wedgeRectCallout">
            <a:avLst>
              <a:gd name="adj1" fmla="val -66802"/>
              <a:gd name="adj2" fmla="val -34213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【思考】为何不是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ctr"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n = n * radix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+ ch</a:t>
            </a:r>
            <a:r>
              <a:rPr lang="en-US" altLang="zh-CN" sz="3200" dirty="0">
                <a:latin typeface="Arial" panose="020B0604020202020204" pitchFamily="34" charset="0"/>
              </a:rPr>
              <a:t>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F5872C-C139-4F90-B570-0E9B5243FC7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3"/>
          <p:cNvSpPr/>
          <p:nvPr/>
        </p:nvSpPr>
        <p:spPr>
          <a:xfrm>
            <a:off x="17780" y="212725"/>
            <a:ext cx="11755755" cy="636968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#include &lt;stdio.h&gt;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#define radix </a:t>
            </a:r>
            <a:r>
              <a:rPr lang="en-US" altLang="zh-CN" sz="2400" b="1" dirty="0">
                <a:solidFill>
                  <a:srgbClr val="FFFF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把二进制整数转为十进制数</a:t>
            </a:r>
            <a:endParaRPr lang="zh-CN" altLang="en-US" sz="1600" b="1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int main(){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char ch;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int n</a:t>
            </a:r>
            <a:r>
              <a:rPr lang="en-US" altLang="zh-CN" sz="1800" b="1" dirty="0">
                <a:latin typeface="宋体" panose="02010600030101010101" pitchFamily="2" charset="-122"/>
              </a:rPr>
              <a:t>; </a:t>
            </a:r>
            <a:r>
              <a:rPr lang="en-US" altLang="zh-CN" sz="1800" b="1" dirty="0">
                <a:solidFill>
                  <a:srgbClr val="FFFF00"/>
                </a:solidFill>
                <a:latin typeface="宋体" panose="02010600030101010101" pitchFamily="2" charset="-122"/>
              </a:rPr>
              <a:t>// </a:t>
            </a:r>
            <a:r>
              <a:rPr lang="zh-CN" altLang="en-US" sz="1800" b="1" dirty="0">
                <a:solidFill>
                  <a:srgbClr val="FFFF00"/>
                </a:solidFill>
                <a:latin typeface="宋体" panose="02010600030101010101" pitchFamily="2" charset="-122"/>
              </a:rPr>
              <a:t>保存整数部分数值</a:t>
            </a:r>
            <a:endParaRPr lang="zh-CN" altLang="en-US" sz="1800" b="1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	  </a:t>
            </a:r>
            <a:r>
              <a:rPr lang="en-US" altLang="zh-CN" sz="2400" b="1" dirty="0">
                <a:latin typeface="宋体" panose="02010600030101010101" pitchFamily="2" charset="-122"/>
              </a:rPr>
              <a:t>printf("</a:t>
            </a:r>
            <a:r>
              <a:rPr lang="zh-CN" altLang="en-US" sz="2400" b="1" dirty="0">
                <a:latin typeface="宋体" panose="02010600030101010101" pitchFamily="2" charset="-122"/>
              </a:rPr>
              <a:t>请输入一个</a:t>
            </a:r>
            <a:r>
              <a:rPr lang="en-US" altLang="zh-CN" sz="2400" b="1" dirty="0">
                <a:latin typeface="宋体" panose="02010600030101010101" pitchFamily="2" charset="-122"/>
              </a:rPr>
              <a:t>%d</a:t>
            </a:r>
            <a:r>
              <a:rPr lang="zh-CN" altLang="en-US" sz="2400" b="1" dirty="0">
                <a:latin typeface="宋体" panose="02010600030101010101" pitchFamily="2" charset="-122"/>
              </a:rPr>
              <a:t>进制数</a:t>
            </a:r>
            <a:r>
              <a:rPr lang="en-US" altLang="zh-CN" sz="2400" b="1" dirty="0">
                <a:latin typeface="宋体" panose="02010600030101010101" pitchFamily="2" charset="-122"/>
              </a:rPr>
              <a:t>\n",radix);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 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ch=getchar();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/*</a:t>
            </a:r>
            <a:r>
              <a:rPr lang="zh-CN" altLang="en-US" sz="2400" b="1" dirty="0">
                <a:latin typeface="宋体" panose="02010600030101010101" pitchFamily="2" charset="-122"/>
              </a:rPr>
              <a:t>翻译整数部分*</a:t>
            </a:r>
            <a:r>
              <a:rPr lang="en-US" altLang="zh-CN" sz="2400" b="1" dirty="0">
                <a:latin typeface="宋体" panose="02010600030101010101" pitchFamily="2" charset="-122"/>
              </a:rPr>
              <a:t>/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n=0;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while( </a:t>
            </a:r>
            <a:r>
              <a:rPr lang="en-US" altLang="zh-CN" sz="2400" b="1" dirty="0">
                <a:latin typeface="宋体" panose="02010600030101010101" pitchFamily="2" charset="-122"/>
              </a:rPr>
              <a:t>(ch&gt;='0') &amp;&amp; </a:t>
            </a:r>
            <a:r>
              <a:rPr lang="en-US" altLang="zh-CN" sz="2400" b="1" dirty="0">
                <a:solidFill>
                  <a:srgbClr val="00FF00"/>
                </a:solidFill>
                <a:latin typeface="宋体" panose="02010600030101010101" pitchFamily="2" charset="-122"/>
              </a:rPr>
              <a:t>(ch&lt;=</a:t>
            </a:r>
            <a:r>
              <a:rPr lang="en-US" altLang="zh-CN" sz="2400" b="1" dirty="0">
                <a:solidFill>
                  <a:srgbClr val="00FF00"/>
                </a:solidFill>
                <a:latin typeface="宋体" panose="02010600030101010101" pitchFamily="2" charset="-122"/>
                <a:sym typeface="+mn-ea"/>
              </a:rPr>
              <a:t>'</a:t>
            </a:r>
            <a:r>
              <a:rPr lang="en-US" altLang="zh-CN" sz="2400" b="1" dirty="0">
                <a:solidFill>
                  <a:srgbClr val="00FF00"/>
                </a:solidFill>
                <a:latin typeface="宋体" panose="02010600030101010101" pitchFamily="2" charset="-122"/>
              </a:rPr>
              <a:t>1')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){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	n=n*radix + (ch - 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'</a:t>
            </a:r>
            <a:r>
              <a:rPr lang="en-US" altLang="zh-CN" sz="2400" b="1" dirty="0">
                <a:latin typeface="宋体" panose="02010600030101010101" pitchFamily="2" charset="-122"/>
              </a:rPr>
              <a:t>0' );  </a:t>
            </a:r>
            <a:r>
              <a:rPr lang="en-US" altLang="zh-CN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把字符</a:t>
            </a:r>
            <a:r>
              <a:rPr lang="en-US" altLang="zh-CN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ch</a:t>
            </a: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转换成数字值，再相加，如：把</a:t>
            </a:r>
            <a:r>
              <a:rPr lang="en-US" altLang="zh-CN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'1'</a:t>
            </a:r>
            <a:r>
              <a:rPr lang="zh-CN" altLang="en-US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转成</a:t>
            </a:r>
            <a:r>
              <a:rPr lang="en-US" altLang="zh-CN" sz="1600" b="1" dirty="0">
                <a:solidFill>
                  <a:srgbClr val="FFFF00"/>
                </a:solidFill>
                <a:latin typeface="宋体" panose="02010600030101010101" pitchFamily="2" charset="-122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	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ch=getchar();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}</a:t>
            </a:r>
            <a:endParaRPr lang="en-US" altLang="zh-CN" sz="2400" b="1" dirty="0">
              <a:solidFill>
                <a:schemeClr val="accent2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printf("</a:t>
            </a:r>
            <a:r>
              <a:rPr lang="zh-CN" altLang="en-US" sz="2400" b="1" dirty="0">
                <a:latin typeface="宋体" panose="02010600030101010101" pitchFamily="2" charset="-122"/>
              </a:rPr>
              <a:t>该整数为：</a:t>
            </a:r>
            <a:r>
              <a:rPr lang="en-US" altLang="zh-CN" sz="2400" b="1" dirty="0">
                <a:latin typeface="宋体" panose="02010600030101010101" pitchFamily="2" charset="-122"/>
              </a:rPr>
              <a:t>%d\n",n);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return 0;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2698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6324" name="AutoShape 4"/>
          <p:cNvSpPr/>
          <p:nvPr/>
        </p:nvSpPr>
        <p:spPr>
          <a:xfrm>
            <a:off x="8818563" y="176213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pic>
        <p:nvPicPr>
          <p:cNvPr id="56325" name="Picture 2"/>
          <p:cNvPicPr>
            <a:picLocks noChangeAspect="1"/>
          </p:cNvPicPr>
          <p:nvPr/>
        </p:nvPicPr>
        <p:blipFill>
          <a:blip r:embed="rId2"/>
          <a:srcRect t="1678"/>
          <a:stretch>
            <a:fillRect/>
          </a:stretch>
        </p:blipFill>
        <p:spPr>
          <a:xfrm>
            <a:off x="8539163" y="-34925"/>
            <a:ext cx="3652837" cy="1338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6" name="AutoShape 33">
            <a:hlinkClick r:id="rId3" action="ppaction://hlinksldjump"/>
          </p:cNvPr>
          <p:cNvSpPr/>
          <p:nvPr/>
        </p:nvSpPr>
        <p:spPr>
          <a:xfrm>
            <a:off x="11301413" y="5751513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28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94C26-1D95-448A-8ED8-BDFBACBFA50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8" y="33338"/>
            <a:ext cx="8686800" cy="693738"/>
          </a:xfrm>
        </p:spPr>
        <p:txBody>
          <a:bodyPr vert="horz" wrap="square" lIns="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4.13】 “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百钱百鸡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”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问题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P108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09930"/>
            <a:ext cx="11735435" cy="127698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我国古代有一道著名难题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百钱百鸡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鸡翁一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值钱五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鸡母一，值钱三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鸡雏三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值钱一。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百钱买百鸡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，问鸡翁、母、雏各几何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。编程解该题（要求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种类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齐全）。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1717" y="2971138"/>
            <a:ext cx="9603153" cy="3763504"/>
            <a:chOff x="-211" y="253"/>
            <a:chExt cx="6049" cy="2371"/>
          </a:xfrm>
        </p:grpSpPr>
        <p:sp>
          <p:nvSpPr>
            <p:cNvPr id="47111" name="Line 5"/>
            <p:cNvSpPr/>
            <p:nvPr/>
          </p:nvSpPr>
          <p:spPr>
            <a:xfrm>
              <a:off x="130" y="536"/>
              <a:ext cx="1" cy="176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7112" name="Group 6"/>
            <p:cNvGrpSpPr/>
            <p:nvPr/>
          </p:nvGrpSpPr>
          <p:grpSpPr>
            <a:xfrm>
              <a:off x="-211" y="253"/>
              <a:ext cx="625" cy="330"/>
              <a:chOff x="2477" y="7803"/>
              <a:chExt cx="890" cy="346"/>
            </a:xfrm>
          </p:grpSpPr>
          <p:sp>
            <p:nvSpPr>
              <p:cNvPr id="47137" name="Rectangle 7"/>
              <p:cNvSpPr/>
              <p:nvPr/>
            </p:nvSpPr>
            <p:spPr>
              <a:xfrm>
                <a:off x="2579" y="7823"/>
                <a:ext cx="788" cy="23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开始</a:t>
                </a:r>
                <a:endParaRPr lang="zh-CN" altLang="en-US" sz="2400" b="1" dirty="0"/>
              </a:p>
            </p:txBody>
          </p:sp>
          <p:sp>
            <p:nvSpPr>
              <p:cNvPr id="47138" name="Oval 8"/>
              <p:cNvSpPr/>
              <p:nvPr/>
            </p:nvSpPr>
            <p:spPr>
              <a:xfrm>
                <a:off x="2477" y="7803"/>
                <a:ext cx="890" cy="34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47113" name="Group 9"/>
            <p:cNvGrpSpPr/>
            <p:nvPr/>
          </p:nvGrpSpPr>
          <p:grpSpPr>
            <a:xfrm>
              <a:off x="-140" y="2294"/>
              <a:ext cx="625" cy="330"/>
              <a:chOff x="2327" y="4279"/>
              <a:chExt cx="749" cy="346"/>
            </a:xfrm>
          </p:grpSpPr>
          <p:sp>
            <p:nvSpPr>
              <p:cNvPr id="47135" name="Rectangle 10"/>
              <p:cNvSpPr/>
              <p:nvPr/>
            </p:nvSpPr>
            <p:spPr>
              <a:xfrm>
                <a:off x="2413" y="4343"/>
                <a:ext cx="663" cy="23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结束</a:t>
                </a:r>
                <a:endParaRPr lang="zh-CN" altLang="en-US" sz="2400" b="1" dirty="0"/>
              </a:p>
            </p:txBody>
          </p:sp>
          <p:sp>
            <p:nvSpPr>
              <p:cNvPr id="47136" name="Oval 11"/>
              <p:cNvSpPr/>
              <p:nvPr/>
            </p:nvSpPr>
            <p:spPr>
              <a:xfrm>
                <a:off x="2327" y="4279"/>
                <a:ext cx="749" cy="34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chemeClr val="hlink"/>
                  </a:solidFill>
                  <a:latin typeface="Monotype Corsiva" pitchFamily="66" charset="0"/>
                  <a:ea typeface="华文彩云" pitchFamily="2" charset="-122"/>
                </a:endParaRPr>
              </a:p>
            </p:txBody>
          </p:sp>
        </p:grpSp>
        <p:grpSp>
          <p:nvGrpSpPr>
            <p:cNvPr id="47114" name="Group 12"/>
            <p:cNvGrpSpPr/>
            <p:nvPr/>
          </p:nvGrpSpPr>
          <p:grpSpPr>
            <a:xfrm>
              <a:off x="131" y="924"/>
              <a:ext cx="1234" cy="885"/>
              <a:chOff x="1044" y="4021"/>
              <a:chExt cx="1380" cy="1240"/>
            </a:xfrm>
          </p:grpSpPr>
          <p:sp>
            <p:nvSpPr>
              <p:cNvPr id="47132" name="Rectangle 13"/>
              <p:cNvSpPr/>
              <p:nvPr/>
            </p:nvSpPr>
            <p:spPr>
              <a:xfrm>
                <a:off x="1044" y="4021"/>
                <a:ext cx="1277" cy="1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for ( x=1;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x</a:t>
                </a: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&lt;=20</a:t>
                </a:r>
                <a:r>
                  <a:rPr lang="en-US" altLang="zh-CN" sz="2400" b="1" dirty="0"/>
                  <a:t>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x++)</a:t>
                </a:r>
                <a:endParaRPr lang="en-US" altLang="zh-CN" sz="2400" b="1" dirty="0"/>
              </a:p>
            </p:txBody>
          </p:sp>
          <p:sp>
            <p:nvSpPr>
              <p:cNvPr id="47133" name="Line 14"/>
              <p:cNvSpPr/>
              <p:nvPr/>
            </p:nvSpPr>
            <p:spPr>
              <a:xfrm>
                <a:off x="1204" y="4021"/>
                <a:ext cx="0" cy="120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7134" name="Line 15"/>
              <p:cNvSpPr/>
              <p:nvPr/>
            </p:nvSpPr>
            <p:spPr>
              <a:xfrm>
                <a:off x="2321" y="4653"/>
                <a:ext cx="103" cy="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7115" name="Rectangle 16"/>
            <p:cNvSpPr/>
            <p:nvPr/>
          </p:nvSpPr>
          <p:spPr>
            <a:xfrm>
              <a:off x="4951" y="771"/>
              <a:ext cx="887" cy="31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输出</a:t>
              </a:r>
              <a:r>
                <a:rPr lang="en-US" altLang="zh-CN" sz="2400" b="1" dirty="0"/>
                <a:t>x,y,z</a:t>
              </a:r>
              <a:endParaRPr lang="en-US" altLang="zh-CN" sz="2400" b="1" dirty="0"/>
            </a:p>
          </p:txBody>
        </p:sp>
        <p:sp>
          <p:nvSpPr>
            <p:cNvPr id="47116" name="Rectangle 17"/>
            <p:cNvSpPr/>
            <p:nvPr/>
          </p:nvSpPr>
          <p:spPr>
            <a:xfrm>
              <a:off x="3901" y="1090"/>
              <a:ext cx="813" cy="53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x ,y ,z</a:t>
              </a:r>
              <a:endParaRPr lang="en-US" altLang="zh-CN" sz="24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满足方程</a:t>
              </a:r>
              <a:endParaRPr lang="zh-CN" altLang="en-US" sz="2400" b="1" dirty="0"/>
            </a:p>
          </p:txBody>
        </p:sp>
        <p:sp>
          <p:nvSpPr>
            <p:cNvPr id="47117" name="Line 18"/>
            <p:cNvSpPr/>
            <p:nvPr/>
          </p:nvSpPr>
          <p:spPr>
            <a:xfrm>
              <a:off x="3901" y="1014"/>
              <a:ext cx="10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7118" name="Group 19"/>
            <p:cNvGrpSpPr/>
            <p:nvPr/>
          </p:nvGrpSpPr>
          <p:grpSpPr>
            <a:xfrm>
              <a:off x="3910" y="1029"/>
              <a:ext cx="1041" cy="659"/>
              <a:chOff x="3562" y="1452"/>
              <a:chExt cx="576" cy="365"/>
            </a:xfrm>
          </p:grpSpPr>
          <p:sp>
            <p:nvSpPr>
              <p:cNvPr id="47128" name="Line 20"/>
              <p:cNvSpPr/>
              <p:nvPr/>
            </p:nvSpPr>
            <p:spPr>
              <a:xfrm>
                <a:off x="3562" y="1816"/>
                <a:ext cx="576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47129" name="Group 21"/>
              <p:cNvGrpSpPr/>
              <p:nvPr/>
            </p:nvGrpSpPr>
            <p:grpSpPr>
              <a:xfrm>
                <a:off x="4007" y="1452"/>
                <a:ext cx="131" cy="365"/>
                <a:chOff x="3991" y="1452"/>
                <a:chExt cx="147" cy="365"/>
              </a:xfrm>
            </p:grpSpPr>
            <p:sp>
              <p:nvSpPr>
                <p:cNvPr id="47130" name="Line 22"/>
                <p:cNvSpPr/>
                <p:nvPr/>
              </p:nvSpPr>
              <p:spPr>
                <a:xfrm flipH="1">
                  <a:off x="3991" y="1452"/>
                  <a:ext cx="147" cy="19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47131" name="Line 23"/>
                <p:cNvSpPr/>
                <p:nvPr/>
              </p:nvSpPr>
              <p:spPr>
                <a:xfrm flipH="1" flipV="1">
                  <a:off x="3991" y="1626"/>
                  <a:ext cx="147" cy="19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47119" name="Line 24"/>
            <p:cNvSpPr/>
            <p:nvPr/>
          </p:nvSpPr>
          <p:spPr>
            <a:xfrm>
              <a:off x="3901" y="1014"/>
              <a:ext cx="0" cy="65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7120" name="Group 25"/>
            <p:cNvGrpSpPr/>
            <p:nvPr/>
          </p:nvGrpSpPr>
          <p:grpSpPr>
            <a:xfrm>
              <a:off x="1365" y="926"/>
              <a:ext cx="1256" cy="883"/>
              <a:chOff x="1044" y="4021"/>
              <a:chExt cx="1380" cy="1240"/>
            </a:xfrm>
          </p:grpSpPr>
          <p:sp>
            <p:nvSpPr>
              <p:cNvPr id="47125" name="Rectangle 26"/>
              <p:cNvSpPr/>
              <p:nvPr/>
            </p:nvSpPr>
            <p:spPr>
              <a:xfrm>
                <a:off x="1044" y="4021"/>
                <a:ext cx="1277" cy="1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for ( y=1;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y</a:t>
                </a: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&lt;=33</a:t>
                </a:r>
                <a:r>
                  <a:rPr lang="en-US" altLang="zh-CN" sz="2400" b="1" dirty="0"/>
                  <a:t>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y++)</a:t>
                </a:r>
                <a:endParaRPr lang="en-US" altLang="zh-CN" sz="2400" b="1" dirty="0"/>
              </a:p>
            </p:txBody>
          </p:sp>
          <p:sp>
            <p:nvSpPr>
              <p:cNvPr id="47126" name="Line 27"/>
              <p:cNvSpPr/>
              <p:nvPr/>
            </p:nvSpPr>
            <p:spPr>
              <a:xfrm>
                <a:off x="1204" y="4021"/>
                <a:ext cx="0" cy="120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7127" name="Line 28"/>
              <p:cNvSpPr/>
              <p:nvPr/>
            </p:nvSpPr>
            <p:spPr>
              <a:xfrm>
                <a:off x="2321" y="4653"/>
                <a:ext cx="103" cy="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7121" name="Group 29"/>
            <p:cNvGrpSpPr/>
            <p:nvPr/>
          </p:nvGrpSpPr>
          <p:grpSpPr>
            <a:xfrm>
              <a:off x="2621" y="908"/>
              <a:ext cx="1280" cy="901"/>
              <a:chOff x="1044" y="4021"/>
              <a:chExt cx="1380" cy="1240"/>
            </a:xfrm>
          </p:grpSpPr>
          <p:sp>
            <p:nvSpPr>
              <p:cNvPr id="47122" name="Rectangle 30"/>
              <p:cNvSpPr/>
              <p:nvPr/>
            </p:nvSpPr>
            <p:spPr>
              <a:xfrm>
                <a:off x="1044" y="4021"/>
                <a:ext cx="1277" cy="1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for ( z=3;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z</a:t>
                </a: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&lt;=99</a:t>
                </a:r>
                <a:r>
                  <a:rPr lang="en-US" altLang="zh-CN" sz="2400" b="1" dirty="0"/>
                  <a:t>;</a:t>
                </a:r>
                <a:endParaRPr lang="en-US" altLang="zh-CN" sz="2400" b="1" dirty="0"/>
              </a:p>
              <a:p>
                <a:pPr marL="0" lvl="0" indent="0" algn="just" eaLnBrk="1" hangingPunct="1">
                  <a:spcBef>
                    <a:spcPts val="775"/>
                  </a:spcBef>
                  <a:buClrTx/>
                  <a:buSzTx/>
                  <a:buNone/>
                </a:pPr>
                <a:r>
                  <a:rPr lang="en-US" altLang="zh-CN" sz="2400" b="1" dirty="0"/>
                  <a:t>   </a:t>
                </a: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z=z+3</a:t>
                </a:r>
                <a:r>
                  <a:rPr lang="en-US" altLang="zh-CN" sz="2400" b="1" dirty="0"/>
                  <a:t>)</a:t>
                </a:r>
                <a:endParaRPr lang="en-US" altLang="zh-CN" sz="2400" b="1" dirty="0"/>
              </a:p>
            </p:txBody>
          </p:sp>
          <p:sp>
            <p:nvSpPr>
              <p:cNvPr id="47123" name="Line 31"/>
              <p:cNvSpPr/>
              <p:nvPr/>
            </p:nvSpPr>
            <p:spPr>
              <a:xfrm>
                <a:off x="1204" y="4021"/>
                <a:ext cx="0" cy="120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7124" name="Line 32"/>
              <p:cNvSpPr/>
              <p:nvPr/>
            </p:nvSpPr>
            <p:spPr>
              <a:xfrm>
                <a:off x="2321" y="4653"/>
                <a:ext cx="103" cy="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sp>
        <p:nvSpPr>
          <p:cNvPr id="808993" name="Rectangle 33"/>
          <p:cNvSpPr/>
          <p:nvPr/>
        </p:nvSpPr>
        <p:spPr>
          <a:xfrm>
            <a:off x="9144000" y="1676400"/>
            <a:ext cx="2879725" cy="1560195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7200" dirty="0">
                <a:latin typeface="Monotype Corsiva" pitchFamily="66" charset="0"/>
                <a:ea typeface="华文隶书" pitchFamily="2" charset="-122"/>
              </a:rPr>
              <a:t>穷举法</a:t>
            </a:r>
            <a:endParaRPr lang="zh-CN" altLang="en-US" sz="7200" dirty="0">
              <a:latin typeface="Monotype Corsiva" pitchFamily="66" charset="0"/>
              <a:ea typeface="华文隶书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600" y="1797685"/>
            <a:ext cx="8595360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  设：设买</a:t>
            </a:r>
            <a:r>
              <a:rPr lang="en-US" altLang="zh-CN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x</a:t>
            </a: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只公鸡、</a:t>
            </a:r>
            <a:r>
              <a:rPr lang="en-US" altLang="zh-CN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y</a:t>
            </a: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只母鸡、</a:t>
            </a:r>
            <a:r>
              <a:rPr lang="en-US" altLang="zh-CN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z</a:t>
            </a: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只鸡雏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257300" marR="0" lvl="2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5x + 3y + z/3 = 100         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/* </a:t>
            </a:r>
            <a:r>
              <a:rPr lang="zh-CN" altLang="en-US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百钱 *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257300" marR="0" lvl="2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4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	x  +  y + z   = 100           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 /* </a:t>
            </a:r>
            <a:r>
              <a:rPr lang="zh-CN" altLang="en-US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百鸡 *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/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0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3" grpId="0" bldLvl="0" animBg="1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5CFFF6-3678-4495-8EE3-B6A6A354041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986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838200"/>
            <a:ext cx="12344400" cy="401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600" b="1" noProof="0" dirty="0" err="1">
                <a:ln>
                  <a:noFill/>
                </a:ln>
                <a:uLnTx/>
                <a:uFillTx/>
                <a:sym typeface="+mn-ea"/>
              </a:rPr>
              <a:t>int</a:t>
            </a:r>
            <a:r>
              <a:rPr lang="en-US" altLang="zh-CN" sz="2600" b="1" noProof="0" dirty="0">
                <a:ln>
                  <a:noFill/>
                </a:ln>
                <a:uLnTx/>
                <a:uFillTx/>
                <a:sym typeface="+mn-ea"/>
              </a:rPr>
              <a:t> main( ) { 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 , y , z 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x = 1 ; x &lt;= 20 ; x++ )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鸡翁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y = 1 ; y &lt;= 33 ; y++ )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//鸡母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z = 3 ; z &lt;= 99 ; z=z+3 )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//鸡雏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x+y+z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== 100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5*x+3*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y+z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/3 == 100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                   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("result = %5d  %5d  %5d\n" , x , y ,z ) 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9988" name="Text Box 4"/>
          <p:cNvSpPr txBox="1"/>
          <p:nvPr/>
        </p:nvSpPr>
        <p:spPr>
          <a:xfrm>
            <a:off x="4419600" y="4419600"/>
            <a:ext cx="5635625" cy="5334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【思考】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if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语句共执行了多少次</a:t>
            </a:r>
            <a:r>
              <a:rPr 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？</a:t>
            </a:r>
            <a:endParaRPr lang="zh-CN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4813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363" y="0"/>
            <a:ext cx="4973637" cy="1308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9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98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Text Box 4"/>
          <p:cNvSpPr txBox="1"/>
          <p:nvPr/>
        </p:nvSpPr>
        <p:spPr>
          <a:xfrm>
            <a:off x="-17462" y="-1587"/>
            <a:ext cx="285591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Monotype Corsiva" pitchFamily="66" charset="0"/>
              </a:rPr>
              <a:t>算法改进：</a:t>
            </a:r>
            <a:endParaRPr lang="zh-CN" altLang="en-US" b="1" dirty="0">
              <a:solidFill>
                <a:schemeClr val="hlink"/>
              </a:solidFill>
              <a:latin typeface="Monotype Corsiva" pitchFamily="66" charset="0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9618E0-48ED-40C7-8B03-11516B7065F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1010" name="Rectangle 2"/>
          <p:cNvSpPr>
            <a:spLocks noGrp="1" noChangeArrowheads="1"/>
          </p:cNvSpPr>
          <p:nvPr>
            <p:ph idx="1"/>
          </p:nvPr>
        </p:nvSpPr>
        <p:spPr>
          <a:xfrm>
            <a:off x="0" y="571500"/>
            <a:ext cx="10631170" cy="473837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>
                <a:ln>
                  <a:noFill/>
                </a:ln>
                <a:uLnTx/>
                <a:uFillTx/>
                <a:sym typeface="+mn-ea"/>
              </a:rPr>
              <a:t>int main( ) {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 , y , z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x = 1 ; x &lt;= 20 ; x++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 ( y = 1 ; y &lt;= 33 ; y++ )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 = 100-x-y 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百鸡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( 5*x+3*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y+z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/3 == 100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&amp;&amp; z%3==0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百钱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("result = %5d  %5d  %5d\n" , x , y ,z )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1012" name="Text Box 4"/>
          <p:cNvSpPr txBox="1"/>
          <p:nvPr/>
        </p:nvSpPr>
        <p:spPr>
          <a:xfrm>
            <a:off x="3962400" y="4114800"/>
            <a:ext cx="5544185" cy="52197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【思考】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if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语句共执行了多少次</a:t>
            </a:r>
            <a:r>
              <a:rPr 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？</a:t>
            </a:r>
            <a:endParaRPr lang="zh-CN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6613" y="-1587"/>
            <a:ext cx="4973637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34"/>
          <p:cNvSpPr txBox="1">
            <a:spLocks noChangeArrowheads="1"/>
          </p:cNvSpPr>
          <p:nvPr/>
        </p:nvSpPr>
        <p:spPr bwMode="auto">
          <a:xfrm>
            <a:off x="-317" y="5638800"/>
            <a:ext cx="8947150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课后实践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某国的货币单位为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，共有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种不同面值的硬币，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分别为：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，其中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等于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单位的货币可以兑换成多少种不同组合的硬币，请编程实现。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思想气泡: 云 1"/>
          <p:cNvSpPr/>
          <p:nvPr/>
        </p:nvSpPr>
        <p:spPr>
          <a:xfrm>
            <a:off x="5867400" y="1238250"/>
            <a:ext cx="3657600" cy="1530350"/>
          </a:xfrm>
          <a:prstGeom prst="cloudCallout">
            <a:avLst>
              <a:gd name="adj1" fmla="val -55781"/>
              <a:gd name="adj2" fmla="val 48257"/>
            </a:avLst>
          </a:prstGeom>
          <a:solidFill>
            <a:srgbClr val="00B0F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思考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】</a:t>
            </a:r>
            <a:endParaRPr lang="en-US" altLang="zh-CN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如果不要求种类齐全，</a:t>
            </a:r>
            <a:endParaRPr lang="en-US" altLang="zh-CN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算法如何修改？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1012" grpId="0" bldLvl="0" animBg="1"/>
      <p:bldP spid="7" grpId="0"/>
      <p:bldP spid="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内容占位符 2"/>
          <p:cNvSpPr txBox="1"/>
          <p:nvPr/>
        </p:nvSpPr>
        <p:spPr bwMode="auto">
          <a:xfrm>
            <a:off x="0" y="152400"/>
            <a:ext cx="121158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4.10】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编写程序，打印斐波纳契序列前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项。斐波纳契序列是第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两项为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，以后每项为前两项之和，如下：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… …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46288"/>
            <a:ext cx="10058400" cy="4799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-381000" y="1550988"/>
            <a:ext cx="25558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超星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OJ】</a:t>
            </a:r>
            <a:endParaRPr lang="zh-CN" altLang="en-US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049000" y="6248400"/>
            <a:ext cx="5334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C15AB-E647-4887-AD77-CEA90B08481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404350" y="6400800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DC6386-87FA-450B-B001-1B03CA1FAE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84325" y="1559878"/>
            <a:ext cx="946150" cy="40005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项数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k: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541588" y="1561465"/>
            <a:ext cx="919163" cy="369888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460750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379913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321300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218238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7137400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6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8152448" y="1590040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7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8953500" y="1561465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8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2541588" y="2028190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3460750" y="2028190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2549525" y="25441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468688" y="25441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V="1">
            <a:off x="3017838" y="2399665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V="1">
            <a:off x="3917950" y="2423478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4395788" y="2028190"/>
            <a:ext cx="919163" cy="3683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4384675" y="25441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 flipV="1">
            <a:off x="4872038" y="2399665"/>
            <a:ext cx="1588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467100" y="2858453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4386263" y="2858453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3468688" y="332676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4387850" y="332676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V="1">
            <a:off x="3935413" y="3225165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 flipV="1">
            <a:off x="4835525" y="3248978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5321300" y="2858453"/>
            <a:ext cx="919163" cy="3698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5303838" y="332676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 flipV="1">
            <a:off x="5789613" y="3225165"/>
            <a:ext cx="0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4367213" y="3649028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5286375" y="3649028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4367213" y="41189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5286375" y="41189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flipV="1">
            <a:off x="4843463" y="4010978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 flipV="1">
            <a:off x="5743575" y="3996690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6221413" y="3649028"/>
            <a:ext cx="919163" cy="3698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6202363" y="4118928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 flipV="1">
            <a:off x="6697663" y="4010978"/>
            <a:ext cx="0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5286375" y="4425315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6205538" y="4425315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5305425" y="4911090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6224588" y="4911090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 flipV="1">
            <a:off x="5762625" y="4776153"/>
            <a:ext cx="0" cy="250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Line 45"/>
          <p:cNvSpPr>
            <a:spLocks noChangeShapeType="1"/>
          </p:cNvSpPr>
          <p:nvPr/>
        </p:nvSpPr>
        <p:spPr bwMode="auto">
          <a:xfrm flipV="1">
            <a:off x="6662738" y="4799965"/>
            <a:ext cx="0" cy="250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Text Box 46"/>
          <p:cNvSpPr txBox="1">
            <a:spLocks noChangeArrowheads="1"/>
          </p:cNvSpPr>
          <p:nvPr/>
        </p:nvSpPr>
        <p:spPr bwMode="auto">
          <a:xfrm>
            <a:off x="7140575" y="4425315"/>
            <a:ext cx="919163" cy="3698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8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7140575" y="4911090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 flipV="1">
            <a:off x="7616825" y="4776153"/>
            <a:ext cx="0" cy="2508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内容占位符 2"/>
          <p:cNvSpPr txBox="1"/>
          <p:nvPr/>
        </p:nvSpPr>
        <p:spPr bwMode="auto">
          <a:xfrm>
            <a:off x="-76200" y="0"/>
            <a:ext cx="12268200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4.10】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编程序，打印斐波纳契序列前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项。斐波纳契序列是第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两项为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，以后每项为前两项之和，如下：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… …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5257165"/>
            <a:ext cx="12364085" cy="1306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100"/>
              <a:t>迭代法：</a:t>
            </a:r>
            <a:endParaRPr lang="zh-CN" altLang="en-US" sz="3100"/>
          </a:p>
          <a:p>
            <a:r>
              <a:rPr lang="zh-CN" altLang="en-US" sz="2400"/>
              <a:t>用初始值</a:t>
            </a:r>
            <a:r>
              <a:rPr lang="en-US" altLang="zh-CN" sz="2400"/>
              <a:t>/</a:t>
            </a:r>
            <a:r>
              <a:rPr lang="zh-CN" altLang="en-US" sz="2400"/>
              <a:t>旧结果，通过固定规则反复计算得到</a:t>
            </a:r>
            <a:r>
              <a:rPr lang="en-US" altLang="zh-CN" sz="2400"/>
              <a:t> </a:t>
            </a:r>
            <a:r>
              <a:rPr lang="zh-CN" altLang="en-US" sz="2400"/>
              <a:t>新结果，</a:t>
            </a:r>
            <a:endParaRPr lang="zh-CN" altLang="en-US" sz="2400"/>
          </a:p>
          <a:p>
            <a:r>
              <a:rPr lang="zh-CN" altLang="en-US" sz="2400"/>
              <a:t>逐步逼近目标答案或完成任务，直到满足预设条件（如终止规则</a:t>
            </a:r>
            <a:r>
              <a:rPr lang="zh-CN" altLang="en-US" sz="2400">
                <a:sym typeface="+mn-ea"/>
              </a:rPr>
              <a:t>、</a:t>
            </a:r>
            <a:r>
              <a:rPr lang="zh-CN" altLang="en-US" sz="2400">
                <a:sym typeface="+mn-ea"/>
              </a:rPr>
              <a:t>精度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31" grpId="0" bldLvl="0" animBg="1"/>
      <p:bldP spid="32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40" grpId="0" bldLvl="0" animBg="1"/>
      <p:bldP spid="41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9" grpId="0" bldLvl="0" animBg="1"/>
      <p:bldP spid="50" grpId="0" bldLvl="0" animBg="1"/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BF948F-1EB3-473B-8C25-B25E9A44CC2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59088" y="4322763"/>
            <a:ext cx="1468438" cy="3905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k&lt;=20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151313" y="4322763"/>
            <a:ext cx="0" cy="379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4335463" y="4505325"/>
            <a:ext cx="261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2860675" y="1860550"/>
            <a:ext cx="1588" cy="3192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2775" name="Group 8"/>
          <p:cNvGrpSpPr/>
          <p:nvPr/>
        </p:nvGrpSpPr>
        <p:grpSpPr>
          <a:xfrm>
            <a:off x="2327275" y="1338263"/>
            <a:ext cx="1063625" cy="530225"/>
            <a:chOff x="2635" y="4281"/>
            <a:chExt cx="749" cy="346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645" y="4335"/>
              <a:ext cx="663" cy="23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开始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2635" y="4281"/>
              <a:ext cx="749" cy="3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2859088" y="2033588"/>
            <a:ext cx="1468438" cy="812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u=1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v=1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2859088" y="3648075"/>
            <a:ext cx="1468438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k=3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4600575" y="5775960"/>
            <a:ext cx="1936750" cy="4206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k++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>
            <a:off x="4597400" y="3054350"/>
            <a:ext cx="4763" cy="2841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4597400" y="3068638"/>
            <a:ext cx="1933575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u+v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4602163" y="3779838"/>
            <a:ext cx="1928813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2782" name="Group 25"/>
          <p:cNvGrpSpPr/>
          <p:nvPr/>
        </p:nvGrpSpPr>
        <p:grpSpPr>
          <a:xfrm>
            <a:off x="2327275" y="5041900"/>
            <a:ext cx="1063625" cy="530225"/>
            <a:chOff x="2635" y="4281"/>
            <a:chExt cx="749" cy="346"/>
          </a:xfrm>
        </p:grpSpPr>
        <p:sp>
          <p:nvSpPr>
            <p:cNvPr id="22" name="Rectangle 26"/>
            <p:cNvSpPr>
              <a:spLocks noChangeArrowheads="1"/>
            </p:cNvSpPr>
            <p:nvPr/>
          </p:nvSpPr>
          <p:spPr bwMode="auto">
            <a:xfrm>
              <a:off x="2645" y="4335"/>
              <a:ext cx="663" cy="23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Oval 27"/>
            <p:cNvSpPr>
              <a:spLocks noChangeArrowheads="1"/>
            </p:cNvSpPr>
            <p:nvPr/>
          </p:nvSpPr>
          <p:spPr bwMode="auto">
            <a:xfrm>
              <a:off x="2635" y="4281"/>
              <a:ext cx="749" cy="3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2859088" y="3011488"/>
            <a:ext cx="1468438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,v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615815" y="4343400"/>
            <a:ext cx="1936750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准备下一项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4038283" y="-317"/>
            <a:ext cx="946150" cy="40005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项数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026025" y="809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1</a:t>
            </a:r>
            <a:endParaRPr lang="en-US" altLang="zh-CN" sz="1800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5945188" y="80963"/>
            <a:ext cx="919163" cy="369888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6864350" y="809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3</a:t>
            </a:r>
            <a:endParaRPr lang="en-US" altLang="zh-CN" sz="1800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7783513" y="809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4</a:t>
            </a:r>
            <a:endParaRPr lang="en-US" altLang="zh-CN" sz="1800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8710613" y="82550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5</a:t>
            </a:r>
            <a:endParaRPr lang="en-US" altLang="zh-CN" sz="1800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9621838" y="809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6</a:t>
            </a:r>
            <a:endParaRPr lang="en-US" altLang="zh-CN" sz="1800" noProof="0" dirty="0">
              <a:ln>
                <a:noFill/>
              </a:ln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5026025" y="547688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5945188" y="547688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Text Box 15"/>
          <p:cNvSpPr txBox="1">
            <a:spLocks noChangeArrowheads="1"/>
          </p:cNvSpPr>
          <p:nvPr/>
        </p:nvSpPr>
        <p:spPr bwMode="auto">
          <a:xfrm>
            <a:off x="5033963" y="10636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16"/>
          <p:cNvSpPr txBox="1">
            <a:spLocks noChangeArrowheads="1"/>
          </p:cNvSpPr>
          <p:nvPr/>
        </p:nvSpPr>
        <p:spPr bwMode="auto">
          <a:xfrm>
            <a:off x="5953125" y="10636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 flipV="1">
            <a:off x="5502275" y="919163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 flipV="1">
            <a:off x="6402388" y="942975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880225" y="547688"/>
            <a:ext cx="919163" cy="3683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6869113" y="10636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21"/>
          <p:cNvSpPr>
            <a:spLocks noChangeShapeType="1"/>
          </p:cNvSpPr>
          <p:nvPr/>
        </p:nvSpPr>
        <p:spPr bwMode="auto">
          <a:xfrm flipV="1">
            <a:off x="7356475" y="919163"/>
            <a:ext cx="1588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4619625" y="3057525"/>
            <a:ext cx="1933575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计算当前项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auto">
          <a:xfrm>
            <a:off x="4617403" y="4749800"/>
            <a:ext cx="1935163" cy="7350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u=v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v=w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5938838" y="1412240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6858000" y="1412240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Text Box 24"/>
          <p:cNvSpPr txBox="1">
            <a:spLocks noChangeArrowheads="1"/>
          </p:cNvSpPr>
          <p:nvPr/>
        </p:nvSpPr>
        <p:spPr bwMode="auto">
          <a:xfrm>
            <a:off x="5940425" y="188055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6859588" y="188055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Line 26"/>
          <p:cNvSpPr>
            <a:spLocks noChangeShapeType="1"/>
          </p:cNvSpPr>
          <p:nvPr/>
        </p:nvSpPr>
        <p:spPr bwMode="auto">
          <a:xfrm flipV="1">
            <a:off x="6407150" y="1778953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ine 27"/>
          <p:cNvSpPr>
            <a:spLocks noChangeShapeType="1"/>
          </p:cNvSpPr>
          <p:nvPr/>
        </p:nvSpPr>
        <p:spPr bwMode="auto">
          <a:xfrm flipV="1">
            <a:off x="7307263" y="1802765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7793038" y="1412240"/>
            <a:ext cx="919163" cy="3698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7775575" y="188055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Line 30"/>
          <p:cNvSpPr>
            <a:spLocks noChangeShapeType="1"/>
          </p:cNvSpPr>
          <p:nvPr/>
        </p:nvSpPr>
        <p:spPr bwMode="auto">
          <a:xfrm flipV="1">
            <a:off x="8261350" y="1778953"/>
            <a:ext cx="0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云形标注 4"/>
          <p:cNvSpPr>
            <a:spLocks noChangeArrowheads="1"/>
          </p:cNvSpPr>
          <p:nvPr/>
        </p:nvSpPr>
        <p:spPr bwMode="auto">
          <a:xfrm>
            <a:off x="6880225" y="4186555"/>
            <a:ext cx="3215005" cy="2614930"/>
          </a:xfrm>
          <a:prstGeom prst="cloudCallout">
            <a:avLst>
              <a:gd name="adj1" fmla="val -67756"/>
              <a:gd name="adj2" fmla="val -13428"/>
            </a:avLst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可否调换成：</a:t>
            </a:r>
            <a:endParaRPr kumimoji="0" lang="zh-CN" alt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v=w;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u=v;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6" grpId="0" bldLvl="0" animBg="1"/>
      <p:bldP spid="26" grpId="1" bldLvl="0" animBg="1"/>
      <p:bldP spid="39" grpId="0" animBg="1"/>
      <p:bldP spid="40" grpId="0"/>
      <p:bldP spid="42" grpId="0" animBg="1"/>
      <p:bldP spid="2" grpId="0" bldLvl="0" animBg="1"/>
      <p:bldP spid="3" grpId="0" bldLvl="0" animBg="1"/>
      <p:bldP spid="4" grpId="0" bldLvl="0" animBg="1"/>
      <p:bldP spid="46" grpId="0" bldLvl="0" animBg="1"/>
      <p:bldP spid="47" grpId="0" bldLvl="0" animBg="1"/>
      <p:bldP spid="11" grpId="0" bldLvl="0" animBg="1"/>
      <p:bldP spid="51" grpId="0" bldLvl="0" animBg="1"/>
      <p:bldP spid="4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6657975" y="6615113"/>
            <a:ext cx="28448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50561E-E1E9-442F-B3E1-61C9CDCFC16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79463" y="4689475"/>
            <a:ext cx="1468438" cy="3905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k&lt;=20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071688" y="4689475"/>
            <a:ext cx="0" cy="379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255838" y="4872038"/>
            <a:ext cx="261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781050" y="2227263"/>
            <a:ext cx="1588" cy="3192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3799" name="Group 8"/>
          <p:cNvGrpSpPr/>
          <p:nvPr/>
        </p:nvGrpSpPr>
        <p:grpSpPr>
          <a:xfrm>
            <a:off x="247650" y="1704975"/>
            <a:ext cx="1063625" cy="530225"/>
            <a:chOff x="2635" y="4281"/>
            <a:chExt cx="749" cy="346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645" y="4335"/>
              <a:ext cx="663" cy="23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开始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2635" y="4281"/>
              <a:ext cx="749" cy="3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79463" y="2400300"/>
            <a:ext cx="1468438" cy="812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u=1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v=1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79463" y="4014788"/>
            <a:ext cx="1468438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k=3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2520950" y="5840413"/>
            <a:ext cx="1936750" cy="4206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k++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>
            <a:off x="2517775" y="3421063"/>
            <a:ext cx="4763" cy="2841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2517775" y="3435350"/>
            <a:ext cx="1933575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u+v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2517775" y="4146550"/>
            <a:ext cx="1933575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2522538" y="4829175"/>
            <a:ext cx="1935163" cy="7350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u=v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v=w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3807" name="Group 25"/>
          <p:cNvGrpSpPr/>
          <p:nvPr/>
        </p:nvGrpSpPr>
        <p:grpSpPr>
          <a:xfrm>
            <a:off x="247650" y="5408613"/>
            <a:ext cx="1063625" cy="530225"/>
            <a:chOff x="2635" y="4281"/>
            <a:chExt cx="749" cy="346"/>
          </a:xfrm>
        </p:grpSpPr>
        <p:sp>
          <p:nvSpPr>
            <p:cNvPr id="22" name="Rectangle 26"/>
            <p:cNvSpPr>
              <a:spLocks noChangeArrowheads="1"/>
            </p:cNvSpPr>
            <p:nvPr/>
          </p:nvSpPr>
          <p:spPr bwMode="auto">
            <a:xfrm>
              <a:off x="2645" y="4335"/>
              <a:ext cx="663" cy="23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Oval 27"/>
            <p:cNvSpPr>
              <a:spLocks noChangeArrowheads="1"/>
            </p:cNvSpPr>
            <p:nvPr/>
          </p:nvSpPr>
          <p:spPr bwMode="auto">
            <a:xfrm>
              <a:off x="2635" y="4281"/>
              <a:ext cx="749" cy="3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779463" y="3378200"/>
            <a:ext cx="1468438" cy="406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,v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6350" y="0"/>
            <a:ext cx="1086485" cy="39560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项数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793750" y="428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1712913" y="428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2632075" y="428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3551238" y="428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4470400" y="42863"/>
            <a:ext cx="919163" cy="368300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5389563" y="42863"/>
            <a:ext cx="919163" cy="369888"/>
          </a:xfrm>
          <a:prstGeom prst="rect">
            <a:avLst/>
          </a:prstGeom>
          <a:noFill/>
          <a:ln w="2857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6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793750" y="509588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1712913" y="509588"/>
            <a:ext cx="919163" cy="3683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801688" y="10255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Text Box 16"/>
          <p:cNvSpPr txBox="1">
            <a:spLocks noChangeArrowheads="1"/>
          </p:cNvSpPr>
          <p:nvPr/>
        </p:nvSpPr>
        <p:spPr bwMode="auto">
          <a:xfrm>
            <a:off x="1720850" y="10255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 flipV="1">
            <a:off x="1270000" y="881063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18"/>
          <p:cNvSpPr>
            <a:spLocks noChangeShapeType="1"/>
          </p:cNvSpPr>
          <p:nvPr/>
        </p:nvSpPr>
        <p:spPr bwMode="auto">
          <a:xfrm flipV="1">
            <a:off x="2170113" y="904875"/>
            <a:ext cx="1588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auto">
          <a:xfrm>
            <a:off x="2647950" y="509588"/>
            <a:ext cx="919163" cy="3683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Text Box 20"/>
          <p:cNvSpPr txBox="1">
            <a:spLocks noChangeArrowheads="1"/>
          </p:cNvSpPr>
          <p:nvPr/>
        </p:nvSpPr>
        <p:spPr bwMode="auto">
          <a:xfrm>
            <a:off x="2636838" y="1025525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21"/>
          <p:cNvSpPr>
            <a:spLocks noChangeShapeType="1"/>
          </p:cNvSpPr>
          <p:nvPr/>
        </p:nvSpPr>
        <p:spPr bwMode="auto">
          <a:xfrm flipV="1">
            <a:off x="3124200" y="881063"/>
            <a:ext cx="1588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Text Box 22"/>
          <p:cNvSpPr txBox="1">
            <a:spLocks noChangeArrowheads="1"/>
          </p:cNvSpPr>
          <p:nvPr/>
        </p:nvSpPr>
        <p:spPr bwMode="auto">
          <a:xfrm>
            <a:off x="1719263" y="1339850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Text Box 23"/>
          <p:cNvSpPr txBox="1">
            <a:spLocks noChangeArrowheads="1"/>
          </p:cNvSpPr>
          <p:nvPr/>
        </p:nvSpPr>
        <p:spPr bwMode="auto">
          <a:xfrm>
            <a:off x="2638425" y="1339850"/>
            <a:ext cx="919163" cy="369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Text Box 24"/>
          <p:cNvSpPr txBox="1">
            <a:spLocks noChangeArrowheads="1"/>
          </p:cNvSpPr>
          <p:nvPr/>
        </p:nvSpPr>
        <p:spPr bwMode="auto">
          <a:xfrm>
            <a:off x="1720850" y="180816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2640013" y="180816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Line 26"/>
          <p:cNvSpPr>
            <a:spLocks noChangeShapeType="1"/>
          </p:cNvSpPr>
          <p:nvPr/>
        </p:nvSpPr>
        <p:spPr bwMode="auto">
          <a:xfrm flipV="1">
            <a:off x="2187575" y="1706563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Line 27"/>
          <p:cNvSpPr>
            <a:spLocks noChangeShapeType="1"/>
          </p:cNvSpPr>
          <p:nvPr/>
        </p:nvSpPr>
        <p:spPr bwMode="auto">
          <a:xfrm flipV="1">
            <a:off x="3087688" y="1730375"/>
            <a:ext cx="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Text Box 28"/>
          <p:cNvSpPr txBox="1">
            <a:spLocks noChangeArrowheads="1"/>
          </p:cNvSpPr>
          <p:nvPr/>
        </p:nvSpPr>
        <p:spPr bwMode="auto">
          <a:xfrm>
            <a:off x="3573463" y="1339850"/>
            <a:ext cx="919163" cy="3698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3556000" y="1808163"/>
            <a:ext cx="919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Line 30"/>
          <p:cNvSpPr>
            <a:spLocks noChangeShapeType="1"/>
          </p:cNvSpPr>
          <p:nvPr/>
        </p:nvSpPr>
        <p:spPr bwMode="auto">
          <a:xfrm flipV="1">
            <a:off x="4041775" y="1706563"/>
            <a:ext cx="0" cy="2524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3"/>
          <p:cNvSpPr txBox="1">
            <a:spLocks noChangeArrowheads="1"/>
          </p:cNvSpPr>
          <p:nvPr/>
        </p:nvSpPr>
        <p:spPr bwMode="auto">
          <a:xfrm>
            <a:off x="6096000" y="569913"/>
            <a:ext cx="5986463" cy="628808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/>
          <a:lstStyle>
            <a:lvl1pPr marL="273050" indent="-2730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#include &lt;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stdio.h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&gt;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main( ) { 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u,v,w,k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u=1;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v=1;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( “%12d\n%12d\n”, u, v);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输出前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项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k=3 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do {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	w=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u+v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( "%12d\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n",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w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	u=v;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	v=w;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k++;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}while(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k&lt;=20);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return 0;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013575" y="4481513"/>
            <a:ext cx="935038" cy="119221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56" name="矩形 6"/>
          <p:cNvSpPr/>
          <p:nvPr/>
        </p:nvSpPr>
        <p:spPr>
          <a:xfrm>
            <a:off x="6448425" y="1779588"/>
            <a:ext cx="5495925" cy="119221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33838" name="文本框 1"/>
          <p:cNvSpPr txBox="1"/>
          <p:nvPr/>
        </p:nvSpPr>
        <p:spPr>
          <a:xfrm>
            <a:off x="6448425" y="244475"/>
            <a:ext cx="19827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/>
              <a:t>源代码：</a:t>
            </a:r>
            <a:endParaRPr lang="zh-CN" altLang="en-US" sz="1800" b="1" dirty="0"/>
          </a:p>
        </p:txBody>
      </p:sp>
      <p:sp>
        <p:nvSpPr>
          <p:cNvPr id="57" name="灯片编号占位符 5"/>
          <p:cNvSpPr txBox="1"/>
          <p:nvPr/>
        </p:nvSpPr>
        <p:spPr bwMode="auto">
          <a:xfrm>
            <a:off x="11049000" y="6248400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itchFamily="66" charset="0"/>
                <a:ea typeface="华文彩云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F52E59-0FB0-47E3-9E4E-941C3EBB767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4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5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61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85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99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0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0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69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1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24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48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">
                                            <p:txEl>
                                              <p:charRg st="148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">
                                            <p:txEl>
                                              <p:charRg st="148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>
                                            <p:txEl>
                                              <p:charRg st="148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4">
                                            <p:txEl>
                                              <p:charRg st="148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4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charRg st="162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4">
                                            <p:txEl>
                                              <p:charRg st="162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5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" y="75883"/>
            <a:ext cx="2501900" cy="7064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思考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139BBA-4F16-4F67-B57F-B5DBFC1812C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8650" y="1136650"/>
            <a:ext cx="7956550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long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long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范围：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 9223372036854775807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斐波那契数列采用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long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long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类型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项：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4660046610375530309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项：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7540113804746346429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项：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12200160415121876738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（理论结果）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-6246583658587674878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（实际输出）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思想气泡: 云 5"/>
          <p:cNvSpPr>
            <a:spLocks noChangeArrowheads="1"/>
          </p:cNvSpPr>
          <p:nvPr/>
        </p:nvSpPr>
        <p:spPr bwMode="auto">
          <a:xfrm>
            <a:off x="7620000" y="4840288"/>
            <a:ext cx="3600450" cy="1343025"/>
          </a:xfrm>
          <a:prstGeom prst="cloudCallout">
            <a:avLst>
              <a:gd name="adj1" fmla="val -55620"/>
              <a:gd name="adj2" fmla="val -61153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高精度计算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9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19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52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E890F1-926E-4B52-B3CE-488922B0691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22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"/>
            <a:ext cx="11887200" cy="6216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4.15】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迭代法</a:t>
            </a:r>
            <a:r>
              <a:rPr lang="zh-CN" altLang="en-US" sz="28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解方程 </a:t>
            </a:r>
            <a:r>
              <a:rPr lang="en-US" altLang="zh-CN" sz="28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2x</a:t>
            </a:r>
            <a:r>
              <a:rPr lang="en-US" altLang="zh-CN" sz="2800" b="1" baseline="300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3</a:t>
            </a:r>
            <a:r>
              <a:rPr lang="en-US" altLang="zh-CN" sz="28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+0.5x</a:t>
            </a:r>
            <a:r>
              <a:rPr lang="en-US" altLang="zh-CN" sz="2800" b="1" baseline="300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2</a:t>
            </a:r>
            <a:r>
              <a:rPr lang="en-US" altLang="zh-CN" sz="28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sym typeface="+mn-ea"/>
              </a:rPr>
              <a:t>-x+0.093=0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教材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P110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281305" y="2438400"/>
            <a:ext cx="8820150" cy="128333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变换方程为：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 = 2x</a:t>
            </a:r>
            <a:r>
              <a:rPr kumimoji="0" lang="en-US" altLang="zh-CN" sz="3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+ 0.5x</a:t>
            </a:r>
            <a:r>
              <a:rPr kumimoji="0" lang="en-US" altLang="zh-CN" sz="3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+ 0.093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若某个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代入右端后，计算结果正好是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，则这个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值就是方程的根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1" name="TextBox 4"/>
          <p:cNvSpPr txBox="1">
            <a:spLocks noChangeArrowheads="1"/>
          </p:cNvSpPr>
          <p:nvPr/>
        </p:nvSpPr>
        <p:spPr bwMode="auto">
          <a:xfrm>
            <a:off x="280988" y="6121400"/>
            <a:ext cx="7021513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1pPr>
            <a:lvl2pPr marL="742950" indent="-28575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2pPr>
            <a:lvl3pPr marL="11430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3pPr>
            <a:lvl4pPr marL="16002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4pPr>
            <a:lvl5pPr marL="2057400" indent="-228600" eaLnBrk="0" hangingPunct="0"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课后实践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习题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4.17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P113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86835" y="2433320"/>
            <a:ext cx="4418965" cy="614680"/>
          </a:xfrm>
          <a:prstGeom prst="rect">
            <a:avLst/>
          </a:prstGeom>
          <a:noFill/>
          <a:ln w="50800" cmpd="sng">
            <a:solidFill>
              <a:schemeClr val="tx1"/>
            </a:solidFill>
            <a:prstDash val="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5943600" y="1524000"/>
            <a:ext cx="2210435" cy="539115"/>
          </a:xfrm>
          <a:prstGeom prst="wedgeRectCallout">
            <a:avLst>
              <a:gd name="adj1" fmla="val -45907"/>
              <a:gd name="adj2" fmla="val 11541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x</a:t>
            </a:r>
            <a:r>
              <a:rPr lang="en-US" altLang="zh-CN" sz="3200" baseline="-25000" dirty="0">
                <a:latin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</a:rPr>
              <a:t>=f(x</a:t>
            </a:r>
            <a:r>
              <a:rPr lang="en-US" altLang="zh-CN" sz="3200" baseline="-25000" dirty="0">
                <a:latin typeface="Arial" panose="020B0604020202020204" pitchFamily="34" charset="0"/>
              </a:rPr>
              <a:t>0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2819400" y="1600200"/>
            <a:ext cx="822325" cy="539115"/>
          </a:xfrm>
          <a:prstGeom prst="wedgeRectCallout">
            <a:avLst>
              <a:gd name="adj1" fmla="val -1351"/>
              <a:gd name="adj2" fmla="val 13563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x</a:t>
            </a:r>
            <a:r>
              <a:rPr lang="en-US" altLang="zh-CN" sz="3200" baseline="-25000" dirty="0">
                <a:latin typeface="Arial" panose="020B0604020202020204" pitchFamily="34" charset="0"/>
              </a:rPr>
              <a:t>0</a:t>
            </a:r>
            <a:endParaRPr lang="en-US" altLang="zh-CN" sz="3200" baseline="-25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bldLvl="0" animBg="1"/>
      <p:bldP spid="3" grpId="1" animBg="1"/>
      <p:bldP spid="4" grpId="0" animBg="1"/>
      <p:bldP spid="4" grpId="1" animBg="1"/>
      <p:bldP spid="652293" grpId="0" animBg="1"/>
      <p:bldP spid="65229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CD83D1-3780-4785-BAE8-B1DF28CE7CD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9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788" y="87313"/>
            <a:ext cx="3405188" cy="1143000"/>
          </a:xfrm>
        </p:spPr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简单迭代法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5907" name="Text Box 3"/>
          <p:cNvSpPr txBox="1"/>
          <p:nvPr/>
        </p:nvSpPr>
        <p:spPr>
          <a:xfrm>
            <a:off x="261938" y="1765300"/>
            <a:ext cx="1728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Arial" panose="020B0604020202020204" pitchFamily="34" charset="0"/>
              </a:rPr>
              <a:t>g</a:t>
            </a:r>
            <a:r>
              <a:rPr lang="en-US" altLang="zh-CN" sz="2800" b="1" dirty="0">
                <a:latin typeface="Arial" panose="020B0604020202020204" pitchFamily="34" charset="0"/>
              </a:rPr>
              <a:t> (</a:t>
            </a:r>
            <a:r>
              <a:rPr lang="en-US" altLang="zh-CN" sz="2800" b="1" i="1" dirty="0">
                <a:latin typeface="Arial" panose="020B0604020202020204" pitchFamily="34" charset="0"/>
              </a:rPr>
              <a:t>x</a:t>
            </a:r>
            <a:r>
              <a:rPr lang="en-US" altLang="zh-CN" sz="2800" b="1" dirty="0">
                <a:latin typeface="Arial" panose="020B0604020202020204" pitchFamily="34" charset="0"/>
              </a:rPr>
              <a:t>) = 0</a:t>
            </a:r>
            <a:endParaRPr lang="en-US" altLang="zh-CN" sz="2800" b="1" i="1" dirty="0">
              <a:latin typeface="Arial" panose="020B0604020202020204" pitchFamily="34" charset="0"/>
            </a:endParaRPr>
          </a:p>
        </p:txBody>
      </p:sp>
      <p:sp>
        <p:nvSpPr>
          <p:cNvPr id="635908" name="Text Box 4"/>
          <p:cNvSpPr txBox="1"/>
          <p:nvPr/>
        </p:nvSpPr>
        <p:spPr>
          <a:xfrm>
            <a:off x="4151313" y="1765300"/>
            <a:ext cx="20161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Arial" panose="020B0604020202020204" pitchFamily="34" charset="0"/>
              </a:rPr>
              <a:t>x</a:t>
            </a:r>
            <a:r>
              <a:rPr lang="en-US" altLang="zh-CN" sz="2800" b="1" dirty="0">
                <a:latin typeface="Arial" panose="020B0604020202020204" pitchFamily="34" charset="0"/>
              </a:rPr>
              <a:t> = </a:t>
            </a:r>
            <a:r>
              <a:rPr lang="en-US" altLang="zh-CN" sz="2800" b="1" i="1" dirty="0">
                <a:latin typeface="Arial" panose="020B0604020202020204" pitchFamily="34" charset="0"/>
              </a:rPr>
              <a:t>f</a:t>
            </a:r>
            <a:r>
              <a:rPr lang="en-US" altLang="zh-CN" sz="2800" b="1" dirty="0">
                <a:latin typeface="Arial" panose="020B0604020202020204" pitchFamily="34" charset="0"/>
              </a:rPr>
              <a:t> (</a:t>
            </a:r>
            <a:r>
              <a:rPr lang="en-US" altLang="zh-CN" sz="2800" b="1" i="1" dirty="0">
                <a:latin typeface="Arial" panose="020B0604020202020204" pitchFamily="34" charset="0"/>
              </a:rPr>
              <a:t>x</a:t>
            </a:r>
            <a:r>
              <a:rPr lang="en-US" altLang="zh-CN" sz="2800" b="1" dirty="0">
                <a:latin typeface="Arial" panose="020B0604020202020204" pitchFamily="34" charset="0"/>
              </a:rPr>
              <a:t>)</a:t>
            </a:r>
            <a:endParaRPr lang="en-US" altLang="zh-CN" sz="2800" b="1" i="1" dirty="0"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062163" y="1333500"/>
            <a:ext cx="2016125" cy="863600"/>
            <a:chOff x="1680" y="720"/>
            <a:chExt cx="912" cy="336"/>
          </a:xfrm>
        </p:grpSpPr>
        <p:sp>
          <p:nvSpPr>
            <p:cNvPr id="58377" name="AutoShape 6"/>
            <p:cNvSpPr/>
            <p:nvPr/>
          </p:nvSpPr>
          <p:spPr>
            <a:xfrm>
              <a:off x="1680" y="960"/>
              <a:ext cx="912" cy="96"/>
            </a:xfrm>
            <a:prstGeom prst="leftRightArrow">
              <a:avLst>
                <a:gd name="adj1" fmla="val 50000"/>
                <a:gd name="adj2" fmla="val 19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endParaRPr>
            </a:p>
          </p:txBody>
        </p:sp>
        <p:sp>
          <p:nvSpPr>
            <p:cNvPr id="58378" name="Text Box 7"/>
            <p:cNvSpPr txBox="1"/>
            <p:nvPr/>
          </p:nvSpPr>
          <p:spPr>
            <a:xfrm>
              <a:off x="1680" y="720"/>
              <a:ext cx="91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  <a:ea typeface="楷体_GB2312"/>
                </a:rPr>
                <a:t>等价变换</a:t>
              </a:r>
              <a:endParaRPr lang="zh-CN" altLang="en-US" sz="2800" b="1" dirty="0">
                <a:latin typeface="Arial" panose="020B0604020202020204" pitchFamily="34" charset="0"/>
                <a:ea typeface="楷体_GB2312"/>
              </a:endParaRPr>
            </a:p>
          </p:txBody>
        </p:sp>
      </p:grpSp>
      <p:sp>
        <p:nvSpPr>
          <p:cNvPr id="635912" name="Rectangle 8"/>
          <p:cNvSpPr/>
          <p:nvPr/>
        </p:nvSpPr>
        <p:spPr>
          <a:xfrm>
            <a:off x="88900" y="3328988"/>
            <a:ext cx="7605713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44500" lvl="0" indent="-444500" eaLnBrk="1" hangingPunct="1">
              <a:lnSpc>
                <a:spcPct val="105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采用迭代法方法求解</a:t>
            </a:r>
            <a:r>
              <a:rPr lang="en-US" altLang="zh-CN" sz="2800" b="1" dirty="0">
                <a:latin typeface="Arial" panose="020B0604020202020204" pitchFamily="34" charset="0"/>
              </a:rPr>
              <a:t>x=f(x)</a:t>
            </a:r>
            <a:r>
              <a:rPr lang="zh-CN" altLang="en-US" sz="2800" b="1" dirty="0">
                <a:latin typeface="Arial" panose="020B0604020202020204" pitchFamily="34" charset="0"/>
              </a:rPr>
              <a:t>方程的根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1335405" lvl="1" indent="-533400" eaLnBrk="1" hangingPunct="1">
              <a:lnSpc>
                <a:spcPct val="105000"/>
              </a:lnSpc>
              <a:buAutoNum type="circleNumDbPlain"/>
            </a:pPr>
            <a:r>
              <a:rPr lang="zh-CN" altLang="en-US" b="1" dirty="0">
                <a:latin typeface="Arial" panose="020B0604020202020204" pitchFamily="34" charset="0"/>
              </a:rPr>
              <a:t>选定一个 </a:t>
            </a:r>
            <a:r>
              <a:rPr lang="en-US" altLang="zh-CN" b="1" dirty="0">
                <a:latin typeface="Arial" panose="020B0604020202020204" pitchFamily="34" charset="0"/>
              </a:rPr>
              <a:t>x</a:t>
            </a:r>
            <a:r>
              <a:rPr lang="zh-CN" altLang="en-US" b="1" dirty="0">
                <a:latin typeface="Arial" panose="020B0604020202020204" pitchFamily="34" charset="0"/>
              </a:rPr>
              <a:t>的初值 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；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1335405" lvl="1" indent="-533400" eaLnBrk="1" hangingPunct="1">
              <a:lnSpc>
                <a:spcPct val="105000"/>
              </a:lnSpc>
              <a:buAutoNum type="circleNumDbPlain"/>
            </a:pPr>
            <a:r>
              <a:rPr lang="zh-CN" altLang="en-US" b="1" dirty="0">
                <a:latin typeface="Arial" panose="020B0604020202020204" pitchFamily="34" charset="0"/>
              </a:rPr>
              <a:t>以 </a:t>
            </a:r>
            <a:r>
              <a:rPr lang="en-US" altLang="zh-CN" b="1" dirty="0"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代入右端计算出一个值 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b="1" dirty="0">
                <a:latin typeface="Arial" panose="020B0604020202020204" pitchFamily="34" charset="0"/>
              </a:rPr>
              <a:t>=f(x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en-US" altLang="zh-CN" b="1" dirty="0">
                <a:latin typeface="Arial" panose="020B0604020202020204" pitchFamily="34" charset="0"/>
              </a:rPr>
              <a:t>)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1335405" lvl="1" indent="-533400" eaLnBrk="1" hangingPunct="1">
              <a:lnSpc>
                <a:spcPct val="105000"/>
              </a:lnSpc>
              <a:buAutoNum type="circleNumDbPlain"/>
            </a:pPr>
            <a:r>
              <a:rPr lang="zh-CN" altLang="en-US" b="1" dirty="0">
                <a:latin typeface="Arial" panose="020B0604020202020204" pitchFamily="34" charset="0"/>
              </a:rPr>
              <a:t>若 </a:t>
            </a:r>
            <a:r>
              <a:rPr lang="en-US" altLang="zh-CN" b="1" dirty="0"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latin typeface="Arial" panose="020B0604020202020204" pitchFamily="34" charset="0"/>
              </a:rPr>
              <a:t>1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等于</a:t>
            </a:r>
            <a:r>
              <a:rPr lang="en-US" altLang="zh-CN" b="1" dirty="0"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，显然 </a:t>
            </a:r>
            <a:r>
              <a:rPr lang="en-US" altLang="zh-CN" b="1" dirty="0"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为根，转向⑤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1335405" lvl="1" indent="-533400" eaLnBrk="1" hangingPunct="1">
              <a:lnSpc>
                <a:spcPct val="105000"/>
              </a:lnSpc>
              <a:buAutoNum type="circleNumDbPlain"/>
            </a:pP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否则若 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≠x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则令 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=x</a:t>
            </a:r>
            <a:r>
              <a:rPr lang="en-US" altLang="zh-CN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，转向②</a:t>
            </a:r>
            <a:endParaRPr lang="zh-CN" altLang="en-US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1335405" lvl="1" indent="-533400" eaLnBrk="1" hangingPunct="1">
              <a:lnSpc>
                <a:spcPct val="105000"/>
              </a:lnSpc>
              <a:buAutoNum type="circleNumDbPlain"/>
            </a:pPr>
            <a:r>
              <a:rPr lang="zh-CN" altLang="en-US" b="1" dirty="0">
                <a:latin typeface="Arial" panose="020B0604020202020204" pitchFamily="34" charset="0"/>
              </a:rPr>
              <a:t>结束，停止计算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635913" name="Rectangle 9"/>
          <p:cNvSpPr>
            <a:spLocks noChangeArrowheads="1"/>
          </p:cNvSpPr>
          <p:nvPr/>
        </p:nvSpPr>
        <p:spPr bwMode="auto">
          <a:xfrm>
            <a:off x="6381750" y="87313"/>
            <a:ext cx="5732463" cy="138366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解方程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+0.5x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-x+0.093=0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 = 2x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+ 0.5x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+ 0.093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3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7" grpId="0"/>
      <p:bldP spid="635908" grpId="0"/>
      <p:bldP spid="6359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6562" name="Group 2"/>
          <p:cNvGrpSpPr/>
          <p:nvPr/>
        </p:nvGrpSpPr>
        <p:grpSpPr>
          <a:xfrm>
            <a:off x="71438" y="992188"/>
            <a:ext cx="3933825" cy="4641850"/>
            <a:chOff x="0" y="1706"/>
            <a:chExt cx="2326" cy="2478"/>
          </a:xfrm>
        </p:grpSpPr>
        <p:sp>
          <p:nvSpPr>
            <p:cNvPr id="66608" name="Rectangle 3"/>
            <p:cNvSpPr/>
            <p:nvPr/>
          </p:nvSpPr>
          <p:spPr>
            <a:xfrm>
              <a:off x="1373" y="1706"/>
              <a:ext cx="502" cy="25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开始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1173" y="2196"/>
              <a:ext cx="902" cy="29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 =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初值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1039" y="2687"/>
              <a:ext cx="1287" cy="3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  =  f(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1338" y="3339"/>
              <a:ext cx="727" cy="2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12700" tIns="12700" rIns="12700" bIns="1270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0≈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612" name="Group 7"/>
            <p:cNvGrpSpPr/>
            <p:nvPr/>
          </p:nvGrpSpPr>
          <p:grpSpPr>
            <a:xfrm>
              <a:off x="1072" y="3191"/>
              <a:ext cx="1153" cy="464"/>
              <a:chOff x="0" y="5"/>
              <a:chExt cx="20000" cy="19996"/>
            </a:xfrm>
          </p:grpSpPr>
          <p:grpSp>
            <p:nvGrpSpPr>
              <p:cNvPr id="66623" name="Group 8"/>
              <p:cNvGrpSpPr/>
              <p:nvPr/>
            </p:nvGrpSpPr>
            <p:grpSpPr>
              <a:xfrm>
                <a:off x="0" y="5"/>
                <a:ext cx="10151" cy="19996"/>
                <a:chOff x="0" y="0"/>
                <a:chExt cx="20000" cy="20000"/>
              </a:xfrm>
            </p:grpSpPr>
            <p:sp>
              <p:nvSpPr>
                <p:cNvPr id="66627" name="Line 9"/>
                <p:cNvSpPr/>
                <p:nvPr/>
              </p:nvSpPr>
              <p:spPr>
                <a:xfrm flipV="1">
                  <a:off x="0" y="0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6628" name="Line 10"/>
                <p:cNvSpPr/>
                <p:nvPr/>
              </p:nvSpPr>
              <p:spPr>
                <a:xfrm>
                  <a:off x="0" y="10302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66624" name="Group 11"/>
              <p:cNvGrpSpPr/>
              <p:nvPr/>
            </p:nvGrpSpPr>
            <p:grpSpPr>
              <a:xfrm>
                <a:off x="9849" y="5"/>
                <a:ext cx="10151" cy="19996"/>
                <a:chOff x="0" y="0"/>
                <a:chExt cx="20000" cy="20000"/>
              </a:xfrm>
            </p:grpSpPr>
            <p:sp>
              <p:nvSpPr>
                <p:cNvPr id="66625" name="Line 12"/>
                <p:cNvSpPr/>
                <p:nvPr/>
              </p:nvSpPr>
              <p:spPr>
                <a:xfrm flipH="1" flipV="1">
                  <a:off x="0" y="0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6626" name="Line 13"/>
                <p:cNvSpPr/>
                <p:nvPr/>
              </p:nvSpPr>
              <p:spPr>
                <a:xfrm flipH="1">
                  <a:off x="0" y="10302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66613" name="Rectangle 14"/>
            <p:cNvSpPr/>
            <p:nvPr/>
          </p:nvSpPr>
          <p:spPr>
            <a:xfrm>
              <a:off x="1473" y="3819"/>
              <a:ext cx="78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结束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614" name="Rectangle 15"/>
            <p:cNvSpPr/>
            <p:nvPr/>
          </p:nvSpPr>
          <p:spPr>
            <a:xfrm>
              <a:off x="0" y="2863"/>
              <a:ext cx="923" cy="29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x0 = x1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615" name="Line 16"/>
            <p:cNvSpPr/>
            <p:nvPr/>
          </p:nvSpPr>
          <p:spPr>
            <a:xfrm>
              <a:off x="1623" y="1979"/>
              <a:ext cx="1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616" name="Line 17"/>
            <p:cNvSpPr/>
            <p:nvPr/>
          </p:nvSpPr>
          <p:spPr>
            <a:xfrm>
              <a:off x="1623" y="2503"/>
              <a:ext cx="1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617" name="Line 18"/>
            <p:cNvSpPr/>
            <p:nvPr/>
          </p:nvSpPr>
          <p:spPr>
            <a:xfrm>
              <a:off x="1640" y="3003"/>
              <a:ext cx="1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618" name="Line 19"/>
            <p:cNvSpPr/>
            <p:nvPr/>
          </p:nvSpPr>
          <p:spPr>
            <a:xfrm>
              <a:off x="1657" y="3670"/>
              <a:ext cx="1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619" name="Rectangle 20"/>
            <p:cNvSpPr/>
            <p:nvPr/>
          </p:nvSpPr>
          <p:spPr>
            <a:xfrm>
              <a:off x="1735" y="3603"/>
              <a:ext cx="168" cy="36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T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620" name="Rectangle 21"/>
            <p:cNvSpPr/>
            <p:nvPr/>
          </p:nvSpPr>
          <p:spPr>
            <a:xfrm>
              <a:off x="919" y="3203"/>
              <a:ext cx="168" cy="32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F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621" name="Freeform 22"/>
            <p:cNvSpPr/>
            <p:nvPr/>
          </p:nvSpPr>
          <p:spPr>
            <a:xfrm>
              <a:off x="388" y="3231"/>
              <a:ext cx="686" cy="199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000" h="20000">
                  <a:moveTo>
                    <a:pt x="19976" y="19899"/>
                  </a:moveTo>
                  <a:lnTo>
                    <a:pt x="0" y="19899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622" name="Freeform 23"/>
            <p:cNvSpPr/>
            <p:nvPr/>
          </p:nvSpPr>
          <p:spPr>
            <a:xfrm>
              <a:off x="405" y="2592"/>
              <a:ext cx="986" cy="255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000" h="20000">
                  <a:moveTo>
                    <a:pt x="0" y="19922"/>
                  </a:moveTo>
                  <a:lnTo>
                    <a:pt x="0" y="0"/>
                  </a:lnTo>
                  <a:lnTo>
                    <a:pt x="19983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" name="组合 7"/>
          <p:cNvGrpSpPr/>
          <p:nvPr/>
        </p:nvGrpSpPr>
        <p:grpSpPr>
          <a:xfrm>
            <a:off x="4598988" y="619125"/>
            <a:ext cx="2835275" cy="5932488"/>
            <a:chOff x="5407932" y="651129"/>
            <a:chExt cx="2836476" cy="5931786"/>
          </a:xfrm>
        </p:grpSpPr>
        <p:sp>
          <p:nvSpPr>
            <p:cNvPr id="66586" name="Rectangle 3"/>
            <p:cNvSpPr/>
            <p:nvPr/>
          </p:nvSpPr>
          <p:spPr>
            <a:xfrm>
              <a:off x="6632656" y="651129"/>
              <a:ext cx="849003" cy="47767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开始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587" name="Rectangle 4"/>
            <p:cNvSpPr/>
            <p:nvPr/>
          </p:nvSpPr>
          <p:spPr>
            <a:xfrm>
              <a:off x="6294408" y="1569009"/>
              <a:ext cx="1525499" cy="54885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x0 = </a:t>
              </a:r>
              <a:r>
                <a:rPr lang="zh-CN" altLang="en-U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初值</a:t>
              </a:r>
              <a:endPara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6067023" y="3778134"/>
              <a:ext cx="2177385" cy="6111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  =  f(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6573651" y="5000364"/>
              <a:ext cx="1227657" cy="47778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12700" tIns="12700" rIns="12700" bIns="1270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0≈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590" name="Group 7"/>
            <p:cNvGrpSpPr/>
            <p:nvPr/>
          </p:nvGrpSpPr>
          <p:grpSpPr>
            <a:xfrm>
              <a:off x="6123593" y="4722803"/>
              <a:ext cx="1950000" cy="869176"/>
              <a:chOff x="0" y="5"/>
              <a:chExt cx="20000" cy="19996"/>
            </a:xfrm>
          </p:grpSpPr>
          <p:grpSp>
            <p:nvGrpSpPr>
              <p:cNvPr id="66602" name="Group 8"/>
              <p:cNvGrpSpPr/>
              <p:nvPr/>
            </p:nvGrpSpPr>
            <p:grpSpPr>
              <a:xfrm>
                <a:off x="0" y="5"/>
                <a:ext cx="10151" cy="19996"/>
                <a:chOff x="0" y="0"/>
                <a:chExt cx="20000" cy="20000"/>
              </a:xfrm>
            </p:grpSpPr>
            <p:sp>
              <p:nvSpPr>
                <p:cNvPr id="66606" name="Line 9"/>
                <p:cNvSpPr/>
                <p:nvPr/>
              </p:nvSpPr>
              <p:spPr>
                <a:xfrm flipV="1">
                  <a:off x="0" y="0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6607" name="Line 10"/>
                <p:cNvSpPr/>
                <p:nvPr/>
              </p:nvSpPr>
              <p:spPr>
                <a:xfrm>
                  <a:off x="0" y="10302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66603" name="Group 11"/>
              <p:cNvGrpSpPr/>
              <p:nvPr/>
            </p:nvGrpSpPr>
            <p:grpSpPr>
              <a:xfrm>
                <a:off x="9849" y="5"/>
                <a:ext cx="10151" cy="19996"/>
                <a:chOff x="0" y="0"/>
                <a:chExt cx="20000" cy="20000"/>
              </a:xfrm>
            </p:grpSpPr>
            <p:sp>
              <p:nvSpPr>
                <p:cNvPr id="66604" name="Line 12"/>
                <p:cNvSpPr/>
                <p:nvPr/>
              </p:nvSpPr>
              <p:spPr>
                <a:xfrm flipH="1" flipV="1">
                  <a:off x="0" y="0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66605" name="Line 13"/>
                <p:cNvSpPr/>
                <p:nvPr/>
              </p:nvSpPr>
              <p:spPr>
                <a:xfrm flipH="1">
                  <a:off x="0" y="10302"/>
                  <a:ext cx="20000" cy="969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66591" name="Rectangle 14"/>
            <p:cNvSpPr/>
            <p:nvPr/>
          </p:nvSpPr>
          <p:spPr>
            <a:xfrm>
              <a:off x="6801780" y="5899188"/>
              <a:ext cx="1329315" cy="6837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结束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592" name="Rectangle 15"/>
            <p:cNvSpPr/>
            <p:nvPr/>
          </p:nvSpPr>
          <p:spPr>
            <a:xfrm>
              <a:off x="6276649" y="2851382"/>
              <a:ext cx="1561015" cy="5544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x0 = x1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593" name="Line 16"/>
            <p:cNvSpPr/>
            <p:nvPr/>
          </p:nvSpPr>
          <p:spPr>
            <a:xfrm>
              <a:off x="7055466" y="1162519"/>
              <a:ext cx="1691" cy="3390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594" name="Line 17"/>
            <p:cNvSpPr/>
            <p:nvPr/>
          </p:nvSpPr>
          <p:spPr>
            <a:xfrm>
              <a:off x="7055466" y="3434025"/>
              <a:ext cx="1691" cy="3390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595" name="Line 18"/>
            <p:cNvSpPr/>
            <p:nvPr/>
          </p:nvSpPr>
          <p:spPr>
            <a:xfrm>
              <a:off x="7084217" y="4370637"/>
              <a:ext cx="1691" cy="3390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596" name="Line 19"/>
            <p:cNvSpPr/>
            <p:nvPr/>
          </p:nvSpPr>
          <p:spPr>
            <a:xfrm>
              <a:off x="7112968" y="5620078"/>
              <a:ext cx="1691" cy="337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597" name="Rectangle 20"/>
            <p:cNvSpPr/>
            <p:nvPr/>
          </p:nvSpPr>
          <p:spPr>
            <a:xfrm>
              <a:off x="7185002" y="4350667"/>
              <a:ext cx="284128" cy="68747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T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598" name="Rectangle 21"/>
            <p:cNvSpPr/>
            <p:nvPr/>
          </p:nvSpPr>
          <p:spPr>
            <a:xfrm>
              <a:off x="5755111" y="4502950"/>
              <a:ext cx="284128" cy="61441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F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6599" name="Freeform 23"/>
            <p:cNvSpPr/>
            <p:nvPr/>
          </p:nvSpPr>
          <p:spPr>
            <a:xfrm>
              <a:off x="5407932" y="2459986"/>
              <a:ext cx="1633054" cy="2657381"/>
            </a:xfrm>
            <a:custGeom>
              <a:avLst/>
              <a:gdLst>
                <a:gd name="txL" fmla="*/ 0 w 20000"/>
                <a:gd name="txT" fmla="*/ 0 h 20000"/>
                <a:gd name="txR" fmla="*/ 20000 w 20000"/>
                <a:gd name="txB" fmla="*/ 20000 h 20000"/>
              </a:gdLst>
              <a:ahLst/>
              <a:cxnLst>
                <a:cxn ang="0">
                  <a:pos x="0" y="2147483646"/>
                </a:cxn>
                <a:cxn ang="0">
                  <a:pos x="0" y="0"/>
                </a:cxn>
                <a:cxn ang="0">
                  <a:pos x="2147483646" y="0"/>
                </a:cxn>
              </a:cxnLst>
              <a:rect l="txL" t="txT" r="txR" b="txB"/>
              <a:pathLst>
                <a:path w="20000" h="20000">
                  <a:moveTo>
                    <a:pt x="0" y="19922"/>
                  </a:moveTo>
                  <a:lnTo>
                    <a:pt x="0" y="0"/>
                  </a:lnTo>
                  <a:lnTo>
                    <a:pt x="19983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6600" name="Line 17"/>
            <p:cNvSpPr/>
            <p:nvPr/>
          </p:nvSpPr>
          <p:spPr>
            <a:xfrm>
              <a:off x="7051115" y="2141278"/>
              <a:ext cx="0" cy="7101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sp>
        <p:sp>
          <p:nvSpPr>
            <p:cNvPr id="66601" name="Line 32"/>
            <p:cNvSpPr/>
            <p:nvPr/>
          </p:nvSpPr>
          <p:spPr>
            <a:xfrm>
              <a:off x="5407932" y="5145573"/>
              <a:ext cx="69435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90" name="Rectangle 4"/>
          <p:cNvSpPr>
            <a:spLocks noChangeArrowheads="1"/>
          </p:cNvSpPr>
          <p:nvPr/>
        </p:nvSpPr>
        <p:spPr bwMode="auto">
          <a:xfrm>
            <a:off x="5491163" y="1552575"/>
            <a:ext cx="1525588" cy="549275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x1 =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初值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右箭头 5"/>
          <p:cNvSpPr/>
          <p:nvPr/>
        </p:nvSpPr>
        <p:spPr bwMode="auto">
          <a:xfrm>
            <a:off x="3989388" y="3457575"/>
            <a:ext cx="617538" cy="431800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514965" y="6323965"/>
            <a:ext cx="1109345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E88DE4-D5E1-419E-BE04-755B2737C2F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组合 2"/>
          <p:cNvGrpSpPr/>
          <p:nvPr/>
        </p:nvGrpSpPr>
        <p:grpSpPr>
          <a:xfrm>
            <a:off x="7620000" y="1528763"/>
            <a:ext cx="4465638" cy="3479800"/>
            <a:chOff x="4051300" y="1592796"/>
            <a:chExt cx="4466004" cy="3479800"/>
          </a:xfrm>
        </p:grpSpPr>
        <p:sp>
          <p:nvSpPr>
            <p:cNvPr id="66571" name="Rectangle 30"/>
            <p:cNvSpPr/>
            <p:nvPr/>
          </p:nvSpPr>
          <p:spPr>
            <a:xfrm>
              <a:off x="7023098" y="3808446"/>
              <a:ext cx="1494206" cy="474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x1 = f(x0)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66572" name="组合 1"/>
            <p:cNvGrpSpPr/>
            <p:nvPr/>
          </p:nvGrpSpPr>
          <p:grpSpPr>
            <a:xfrm>
              <a:off x="4051300" y="1592796"/>
              <a:ext cx="4213604" cy="3479800"/>
              <a:chOff x="4051300" y="3422726"/>
              <a:chExt cx="4213604" cy="3479800"/>
            </a:xfrm>
          </p:grpSpPr>
          <p:sp>
            <p:nvSpPr>
              <p:cNvPr id="66573" name="Line 25"/>
              <p:cNvSpPr/>
              <p:nvPr/>
            </p:nvSpPr>
            <p:spPr>
              <a:xfrm>
                <a:off x="4706097" y="4134028"/>
                <a:ext cx="1442" cy="217923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574" name="Rectangle 26"/>
              <p:cNvSpPr/>
              <p:nvPr/>
            </p:nvSpPr>
            <p:spPr>
              <a:xfrm>
                <a:off x="4706097" y="4292676"/>
                <a:ext cx="2013428" cy="47420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x1 = </a:t>
                </a:r>
                <a:r>
                  <a:rPr lang="zh-CN" altLang="en-US" sz="2400" b="1" dirty="0">
                    <a:latin typeface="Arial" panose="020B0604020202020204" pitchFamily="34" charset="0"/>
                  </a:rPr>
                  <a:t>初值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575" name="Rectangle 27"/>
              <p:cNvSpPr/>
              <p:nvPr/>
            </p:nvSpPr>
            <p:spPr>
              <a:xfrm>
                <a:off x="4706097" y="5084174"/>
                <a:ext cx="2082658" cy="86995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do-while </a:t>
                </a:r>
                <a:br>
                  <a:rPr lang="en-US" altLang="zh-CN" sz="2400" b="1" dirty="0">
                    <a:latin typeface="Arial" panose="020B0604020202020204" pitchFamily="34" charset="0"/>
                  </a:rPr>
                </a:br>
                <a:r>
                  <a:rPr lang="en-US" altLang="zh-CN" sz="2400" b="1" dirty="0">
                    <a:latin typeface="Arial" panose="020B0604020202020204" pitchFamily="34" charset="0"/>
                  </a:rPr>
                  <a:t>| x1-x0|&gt;</a:t>
                </a:r>
                <a:r>
                  <a:rPr lang="el-GR" altLang="zh-CN" sz="2400" b="1" dirty="0">
                    <a:latin typeface="Arial" panose="020B0604020202020204" pitchFamily="34" charset="0"/>
                  </a:rPr>
                  <a:t>ε</a:t>
                </a:r>
                <a:endParaRPr lang="el-GR" altLang="zh-CN" sz="2400" b="1" dirty="0">
                  <a:latin typeface="Arial" panose="020B0604020202020204" pitchFamily="34" charset="0"/>
                  <a:ea typeface="华文彩云" pitchFamily="2" charset="-122"/>
                </a:endParaRPr>
              </a:p>
            </p:txBody>
          </p:sp>
          <p:sp>
            <p:nvSpPr>
              <p:cNvPr id="66576" name="Line 28"/>
              <p:cNvSpPr/>
              <p:nvPr/>
            </p:nvSpPr>
            <p:spPr>
              <a:xfrm>
                <a:off x="6595489" y="5115555"/>
                <a:ext cx="7211" cy="83856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577" name="Rectangle 29"/>
              <p:cNvSpPr/>
              <p:nvPr/>
            </p:nvSpPr>
            <p:spPr>
              <a:xfrm>
                <a:off x="7023098" y="4845330"/>
                <a:ext cx="1241806" cy="47943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x0 = x1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578" name="Line 31"/>
              <p:cNvSpPr/>
              <p:nvPr/>
            </p:nvSpPr>
            <p:spPr>
              <a:xfrm>
                <a:off x="7023098" y="4845330"/>
                <a:ext cx="0" cy="126569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579" name="Line 32"/>
              <p:cNvSpPr/>
              <p:nvPr/>
            </p:nvSpPr>
            <p:spPr>
              <a:xfrm flipV="1">
                <a:off x="6800295" y="5474993"/>
                <a:ext cx="222772" cy="318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66580" name="Group 33"/>
              <p:cNvGrpSpPr/>
              <p:nvPr/>
            </p:nvGrpSpPr>
            <p:grpSpPr>
              <a:xfrm>
                <a:off x="4051300" y="3422726"/>
                <a:ext cx="1439399" cy="716532"/>
                <a:chOff x="0" y="0"/>
                <a:chExt cx="20000" cy="20005"/>
              </a:xfrm>
            </p:grpSpPr>
            <p:sp>
              <p:nvSpPr>
                <p:cNvPr id="66584" name="Rectangle 34"/>
                <p:cNvSpPr/>
                <p:nvPr/>
              </p:nvSpPr>
              <p:spPr>
                <a:xfrm>
                  <a:off x="2219" y="4249"/>
                  <a:ext cx="16671" cy="1422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1" dirty="0">
                      <a:latin typeface="Arial" panose="020B0604020202020204" pitchFamily="34" charset="0"/>
                    </a:rPr>
                    <a:t>开始</a:t>
                  </a:r>
                  <a:endParaRPr lang="zh-CN" altLang="en-US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585" name="Oval 35"/>
                <p:cNvSpPr/>
                <p:nvPr/>
              </p:nvSpPr>
              <p:spPr>
                <a:xfrm>
                  <a:off x="0" y="0"/>
                  <a:ext cx="20000" cy="20005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1" dirty="0">
                    <a:solidFill>
                      <a:schemeClr val="hlink"/>
                    </a:solidFill>
                    <a:latin typeface="Monotype Corsiva" pitchFamily="66" charset="0"/>
                    <a:ea typeface="华文彩云" pitchFamily="2" charset="-122"/>
                  </a:endParaRPr>
                </a:p>
              </p:txBody>
            </p:sp>
          </p:grpSp>
          <p:grpSp>
            <p:nvGrpSpPr>
              <p:cNvPr id="66581" name="Group 36"/>
              <p:cNvGrpSpPr/>
              <p:nvPr/>
            </p:nvGrpSpPr>
            <p:grpSpPr>
              <a:xfrm>
                <a:off x="4051300" y="6313261"/>
                <a:ext cx="1309594" cy="589265"/>
                <a:chOff x="0" y="5"/>
                <a:chExt cx="20000" cy="19995"/>
              </a:xfrm>
            </p:grpSpPr>
            <p:sp>
              <p:nvSpPr>
                <p:cNvPr id="66582" name="Rectangle 37"/>
                <p:cNvSpPr/>
                <p:nvPr/>
              </p:nvSpPr>
              <p:spPr>
                <a:xfrm>
                  <a:off x="2219" y="4248"/>
                  <a:ext cx="16671" cy="14222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1" dirty="0">
                      <a:latin typeface="Arial" panose="020B0604020202020204" pitchFamily="34" charset="0"/>
                    </a:rPr>
                    <a:t>结束</a:t>
                  </a:r>
                  <a:endParaRPr lang="zh-CN" altLang="en-US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583" name="Oval 38"/>
                <p:cNvSpPr/>
                <p:nvPr/>
              </p:nvSpPr>
              <p:spPr>
                <a:xfrm>
                  <a:off x="0" y="5"/>
                  <a:ext cx="20000" cy="19995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1" dirty="0">
                    <a:solidFill>
                      <a:schemeClr val="hlink"/>
                    </a:solidFill>
                    <a:latin typeface="Monotype Corsiva" pitchFamily="66" charset="0"/>
                    <a:ea typeface="华文彩云" pitchFamily="2" charset="-122"/>
                  </a:endParaRPr>
                </a:p>
              </p:txBody>
            </p:sp>
          </p:grpSp>
        </p:grpSp>
      </p:grpSp>
      <p:sp>
        <p:nvSpPr>
          <p:cNvPr id="70" name="右箭头 5"/>
          <p:cNvSpPr/>
          <p:nvPr/>
        </p:nvSpPr>
        <p:spPr bwMode="auto">
          <a:xfrm>
            <a:off x="7375525" y="3376613"/>
            <a:ext cx="617538" cy="431800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nimBg="1"/>
      <p:bldP spid="6" grpId="0" bldLvl="0" animBg="1"/>
      <p:bldP spid="70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A4D26D-D860-4883-B3A9-C814E21A54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-317" y="0"/>
            <a:ext cx="9218613" cy="6400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math.h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#define EPS 1e-6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float x0,x1;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x1=0.0;</a:t>
            </a:r>
            <a:r>
              <a:rPr lang="en-US" altLang="zh-CN" sz="2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// x0=0.0;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do{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		x0=x1;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		x1=2*x0*x0*x0 +0.5*x0*x0 +0.093;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}while(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fabs(x1-x0)&gt;EPS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("x=%f\n",x0);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2" name="AutoShape 4"/>
          <p:cNvSpPr/>
          <p:nvPr/>
        </p:nvSpPr>
        <p:spPr>
          <a:xfrm>
            <a:off x="9296400" y="304800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pic>
        <p:nvPicPr>
          <p:cNvPr id="6861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050" y="990600"/>
            <a:ext cx="2482850" cy="170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4" name="AutoShape 33">
            <a:hlinkClick r:id="rId3" action="ppaction://hlinksldjump"/>
          </p:cNvPr>
          <p:cNvSpPr/>
          <p:nvPr/>
        </p:nvSpPr>
        <p:spPr>
          <a:xfrm>
            <a:off x="10993438" y="5651500"/>
            <a:ext cx="873125" cy="431800"/>
          </a:xfrm>
          <a:prstGeom prst="curvedUpArrow">
            <a:avLst>
              <a:gd name="adj1" fmla="val 40441"/>
              <a:gd name="adj2" fmla="val 80882"/>
              <a:gd name="adj3" fmla="val 33328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00600" y="3505200"/>
            <a:ext cx="6908800" cy="523875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变换方程为：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 = 2x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+ 0.5x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+ 0.093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F6CB03-7295-4A3C-B7B4-BD795A731DF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" y="225425"/>
            <a:ext cx="8105775" cy="7810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课后实践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求两数最大公因数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3491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185863"/>
            <a:ext cx="8229600" cy="1144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编程序，输入两个正整数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欧几里德辗转相除法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求它们的最大公因数并输出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3734" name="Picture 6"/>
          <p:cNvPicPr>
            <a:picLocks noChangeAspect="1"/>
          </p:cNvPicPr>
          <p:nvPr/>
        </p:nvPicPr>
        <p:blipFill>
          <a:blip r:embed="rId1"/>
          <a:srcRect r="20047" b="50000"/>
          <a:stretch>
            <a:fillRect/>
          </a:stretch>
        </p:blipFill>
        <p:spPr>
          <a:xfrm>
            <a:off x="612140" y="2304415"/>
            <a:ext cx="3074988" cy="414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79953" b="50000"/>
          <a:stretch>
            <a:fillRect/>
          </a:stretch>
        </p:blipFill>
        <p:spPr>
          <a:xfrm>
            <a:off x="3687128" y="2304415"/>
            <a:ext cx="771525" cy="414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rcRect t="50000"/>
          <a:stretch>
            <a:fillRect/>
          </a:stretch>
        </p:blipFill>
        <p:spPr>
          <a:xfrm>
            <a:off x="610553" y="2718753"/>
            <a:ext cx="3848100" cy="414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496C9-37D9-4D87-A6E4-47FD096B297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32" name="Text Box 20"/>
          <p:cNvSpPr txBox="1">
            <a:spLocks noChangeArrowheads="1"/>
          </p:cNvSpPr>
          <p:nvPr/>
        </p:nvSpPr>
        <p:spPr bwMode="auto">
          <a:xfrm>
            <a:off x="2316163" y="765175"/>
            <a:ext cx="1979613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2800" kern="1200" cap="none" spc="0" normalizeH="0" baseline="0" noProof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33" name="Text Box 21"/>
          <p:cNvSpPr txBox="1">
            <a:spLocks noChangeArrowheads="1"/>
          </p:cNvSpPr>
          <p:nvPr/>
        </p:nvSpPr>
        <p:spPr bwMode="auto">
          <a:xfrm>
            <a:off x="5016500" y="765175"/>
            <a:ext cx="1728788" cy="52197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18</a:t>
            </a:r>
            <a:endParaRPr kumimoji="0" lang="en-US" altLang="zh-CN" sz="2800" kern="1200" cap="none" spc="0" normalizeH="0" baseline="0" noProof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34" name="Text Box 22"/>
          <p:cNvSpPr txBox="1">
            <a:spLocks noChangeArrowheads="1"/>
          </p:cNvSpPr>
          <p:nvPr/>
        </p:nvSpPr>
        <p:spPr bwMode="auto">
          <a:xfrm>
            <a:off x="7472363" y="765175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35" name="Text Box 23"/>
          <p:cNvSpPr txBox="1">
            <a:spLocks noChangeArrowheads="1"/>
          </p:cNvSpPr>
          <p:nvPr/>
        </p:nvSpPr>
        <p:spPr bwMode="auto">
          <a:xfrm>
            <a:off x="4295775" y="765175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36" name="Text Box 24"/>
          <p:cNvSpPr txBox="1">
            <a:spLocks noChangeArrowheads="1"/>
          </p:cNvSpPr>
          <p:nvPr/>
        </p:nvSpPr>
        <p:spPr bwMode="auto">
          <a:xfrm>
            <a:off x="6745288" y="765175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69" name="Text Box 57"/>
          <p:cNvSpPr txBox="1">
            <a:spLocks noChangeArrowheads="1"/>
          </p:cNvSpPr>
          <p:nvPr/>
        </p:nvSpPr>
        <p:spPr bwMode="auto">
          <a:xfrm>
            <a:off x="2316163" y="2251075"/>
            <a:ext cx="1979613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18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70" name="Text Box 58"/>
          <p:cNvSpPr txBox="1">
            <a:spLocks noChangeArrowheads="1"/>
          </p:cNvSpPr>
          <p:nvPr/>
        </p:nvSpPr>
        <p:spPr bwMode="auto">
          <a:xfrm>
            <a:off x="5016500" y="2251075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71" name="Text Box 59"/>
          <p:cNvSpPr txBox="1">
            <a:spLocks noChangeArrowheads="1"/>
          </p:cNvSpPr>
          <p:nvPr/>
        </p:nvSpPr>
        <p:spPr bwMode="auto">
          <a:xfrm>
            <a:off x="7472363" y="2251075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72" name="Text Box 60"/>
          <p:cNvSpPr txBox="1">
            <a:spLocks noChangeArrowheads="1"/>
          </p:cNvSpPr>
          <p:nvPr/>
        </p:nvSpPr>
        <p:spPr bwMode="auto">
          <a:xfrm>
            <a:off x="4295775" y="2251075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73" name="Text Box 61"/>
          <p:cNvSpPr txBox="1">
            <a:spLocks noChangeArrowheads="1"/>
          </p:cNvSpPr>
          <p:nvPr/>
        </p:nvSpPr>
        <p:spPr bwMode="auto">
          <a:xfrm>
            <a:off x="6745288" y="2251075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80" name="Text Box 68"/>
          <p:cNvSpPr txBox="1">
            <a:spLocks noChangeArrowheads="1"/>
          </p:cNvSpPr>
          <p:nvPr/>
        </p:nvSpPr>
        <p:spPr bwMode="auto">
          <a:xfrm>
            <a:off x="2316163" y="3690938"/>
            <a:ext cx="1979613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81" name="Text Box 69"/>
          <p:cNvSpPr txBox="1">
            <a:spLocks noChangeArrowheads="1"/>
          </p:cNvSpPr>
          <p:nvPr/>
        </p:nvSpPr>
        <p:spPr bwMode="auto">
          <a:xfrm>
            <a:off x="5016500" y="3690938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82" name="Text Box 70"/>
          <p:cNvSpPr txBox="1">
            <a:spLocks noChangeArrowheads="1"/>
          </p:cNvSpPr>
          <p:nvPr/>
        </p:nvSpPr>
        <p:spPr bwMode="auto">
          <a:xfrm>
            <a:off x="7472363" y="3690938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83" name="Text Box 71"/>
          <p:cNvSpPr txBox="1">
            <a:spLocks noChangeArrowheads="1"/>
          </p:cNvSpPr>
          <p:nvPr/>
        </p:nvSpPr>
        <p:spPr bwMode="auto">
          <a:xfrm>
            <a:off x="4295775" y="3690938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84" name="Text Box 72"/>
          <p:cNvSpPr txBox="1">
            <a:spLocks noChangeArrowheads="1"/>
          </p:cNvSpPr>
          <p:nvPr/>
        </p:nvSpPr>
        <p:spPr bwMode="auto">
          <a:xfrm>
            <a:off x="6745288" y="3690938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91" name="Text Box 79"/>
          <p:cNvSpPr txBox="1">
            <a:spLocks noChangeArrowheads="1"/>
          </p:cNvSpPr>
          <p:nvPr/>
        </p:nvSpPr>
        <p:spPr bwMode="auto">
          <a:xfrm>
            <a:off x="2314575" y="5130800"/>
            <a:ext cx="1979613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92" name="Text Box 80"/>
          <p:cNvSpPr txBox="1">
            <a:spLocks noChangeArrowheads="1"/>
          </p:cNvSpPr>
          <p:nvPr/>
        </p:nvSpPr>
        <p:spPr bwMode="auto">
          <a:xfrm>
            <a:off x="5014913" y="5130800"/>
            <a:ext cx="1728788" cy="5238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93" name="Text Box 81"/>
          <p:cNvSpPr txBox="1">
            <a:spLocks noChangeArrowheads="1"/>
          </p:cNvSpPr>
          <p:nvPr/>
        </p:nvSpPr>
        <p:spPr bwMode="auto">
          <a:xfrm>
            <a:off x="7470775" y="5130800"/>
            <a:ext cx="1728788" cy="52197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800" b="1" i="0" u="none" strike="noStrike" kern="1200" cap="none" spc="0" normalizeH="0" baseline="0" noProof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94" name="Text Box 82"/>
          <p:cNvSpPr txBox="1">
            <a:spLocks noChangeArrowheads="1"/>
          </p:cNvSpPr>
          <p:nvPr/>
        </p:nvSpPr>
        <p:spPr bwMode="auto">
          <a:xfrm>
            <a:off x="4294188" y="5130800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95" name="Text Box 83"/>
          <p:cNvSpPr txBox="1">
            <a:spLocks noChangeArrowheads="1"/>
          </p:cNvSpPr>
          <p:nvPr/>
        </p:nvSpPr>
        <p:spPr bwMode="auto">
          <a:xfrm>
            <a:off x="6743700" y="5130800"/>
            <a:ext cx="7207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endParaRPr kumimoji="0" lang="en-US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602" name="Text Box 90"/>
          <p:cNvSpPr txBox="1">
            <a:spLocks noChangeArrowheads="1"/>
          </p:cNvSpPr>
          <p:nvPr/>
        </p:nvSpPr>
        <p:spPr bwMode="auto">
          <a:xfrm>
            <a:off x="5005388" y="6297613"/>
            <a:ext cx="1727200" cy="5238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28" name="矩形 1"/>
          <p:cNvSpPr/>
          <p:nvPr/>
        </p:nvSpPr>
        <p:spPr>
          <a:xfrm>
            <a:off x="228600" y="193675"/>
            <a:ext cx="32400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欧几里德辗转相除法：</a:t>
            </a:r>
            <a:endParaRPr lang="zh-CN" altLang="en-US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0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0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0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0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0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0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0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0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0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0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0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0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69" grpId="0" bldLvl="0" animBg="1"/>
      <p:bldP spid="704570" grpId="0" bldLvl="0" animBg="1"/>
      <p:bldP spid="704571" grpId="0" bldLvl="0" animBg="1"/>
      <p:bldP spid="704572" grpId="0" bldLvl="0" animBg="1"/>
      <p:bldP spid="704573" grpId="0" bldLvl="0" animBg="1"/>
      <p:bldP spid="704580" grpId="0" bldLvl="0" animBg="1"/>
      <p:bldP spid="704581" grpId="0" bldLvl="0" animBg="1"/>
      <p:bldP spid="704582" grpId="0" bldLvl="0" animBg="1"/>
      <p:bldP spid="704583" grpId="0" bldLvl="0" animBg="1"/>
      <p:bldP spid="704584" grpId="0" bldLvl="0" animBg="1"/>
      <p:bldP spid="704591" grpId="0" bldLvl="0" animBg="1"/>
      <p:bldP spid="704592" grpId="0" bldLvl="0" animBg="1"/>
      <p:bldP spid="704593" grpId="0" bldLvl="0" animBg="1"/>
      <p:bldP spid="704594" grpId="0" bldLvl="0" animBg="1"/>
      <p:bldP spid="704595" grpId="0" bldLvl="0" animBg="1"/>
      <p:bldP spid="70460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8F99F9-FE76-42E9-82A5-2F97CCF1FB5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3731" name="组合 9"/>
          <p:cNvGrpSpPr/>
          <p:nvPr/>
        </p:nvGrpSpPr>
        <p:grpSpPr>
          <a:xfrm>
            <a:off x="1074738" y="547688"/>
            <a:ext cx="3548062" cy="523875"/>
            <a:chOff x="1052825" y="811689"/>
            <a:chExt cx="3549095" cy="523876"/>
          </a:xfrm>
        </p:grpSpPr>
        <p:sp>
          <p:nvSpPr>
            <p:cNvPr id="704532" name="Text Box 20"/>
            <p:cNvSpPr txBox="1">
              <a:spLocks noChangeArrowheads="1"/>
            </p:cNvSpPr>
            <p:nvPr/>
          </p:nvSpPr>
          <p:spPr bwMode="auto">
            <a:xfrm>
              <a:off x="1052825" y="811689"/>
              <a:ext cx="760633" cy="5219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2800" kern="1200" cap="none" spc="0" normalizeH="0" baseline="0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33" name="Text Box 21"/>
            <p:cNvSpPr txBox="1">
              <a:spLocks noChangeArrowheads="1"/>
            </p:cNvSpPr>
            <p:nvPr/>
          </p:nvSpPr>
          <p:spPr bwMode="auto">
            <a:xfrm>
              <a:off x="2480403" y="811689"/>
              <a:ext cx="719347" cy="5219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18</a:t>
              </a:r>
              <a:endParaRPr kumimoji="0" lang="en-US" altLang="zh-CN" sz="2800" kern="1200" cap="none" spc="0" normalizeH="0" baseline="0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34" name="Text Box 22"/>
            <p:cNvSpPr txBox="1">
              <a:spLocks noChangeArrowheads="1"/>
            </p:cNvSpPr>
            <p:nvPr/>
          </p:nvSpPr>
          <p:spPr bwMode="auto">
            <a:xfrm>
              <a:off x="3841287" y="811689"/>
              <a:ext cx="760633" cy="5238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28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22513" y="2051050"/>
            <a:ext cx="4516437" cy="1330325"/>
            <a:chOff x="2322143" y="2051564"/>
            <a:chExt cx="4516388" cy="1329941"/>
          </a:xfrm>
        </p:grpSpPr>
        <p:sp>
          <p:nvSpPr>
            <p:cNvPr id="704573" name="Text Box 61"/>
            <p:cNvSpPr txBox="1">
              <a:spLocks noChangeArrowheads="1"/>
            </p:cNvSpPr>
            <p:nvPr/>
          </p:nvSpPr>
          <p:spPr bwMode="auto">
            <a:xfrm>
              <a:off x="4765278" y="2851433"/>
              <a:ext cx="720717" cy="518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→</a:t>
              </a:r>
              <a:endParaRPr kumimoji="0" lang="en-US" altLang="zh-CN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3771" name="组合 6"/>
            <p:cNvGrpSpPr/>
            <p:nvPr/>
          </p:nvGrpSpPr>
          <p:grpSpPr>
            <a:xfrm>
              <a:off x="2322143" y="2051564"/>
              <a:ext cx="4516388" cy="1329941"/>
              <a:chOff x="2322143" y="2051564"/>
              <a:chExt cx="4516388" cy="1329941"/>
            </a:xfrm>
          </p:grpSpPr>
          <p:sp>
            <p:nvSpPr>
              <p:cNvPr id="704572" name="Text Box 60"/>
              <p:cNvSpPr txBox="1">
                <a:spLocks noChangeArrowheads="1"/>
              </p:cNvSpPr>
              <p:nvPr/>
            </p:nvSpPr>
            <p:spPr bwMode="auto">
              <a:xfrm>
                <a:off x="3169859" y="2862543"/>
                <a:ext cx="720717" cy="518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%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74" name="Text Box 62"/>
              <p:cNvSpPr txBox="1">
                <a:spLocks noChangeArrowheads="1"/>
              </p:cNvSpPr>
              <p:nvPr/>
            </p:nvSpPr>
            <p:spPr bwMode="auto">
              <a:xfrm>
                <a:off x="2322143" y="2851433"/>
                <a:ext cx="939790" cy="51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u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75" name="Text Box 63"/>
              <p:cNvSpPr txBox="1">
                <a:spLocks noChangeArrowheads="1"/>
              </p:cNvSpPr>
              <p:nvPr/>
            </p:nvSpPr>
            <p:spPr bwMode="auto">
              <a:xfrm>
                <a:off x="3863588" y="2860955"/>
                <a:ext cx="779455" cy="51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v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73775" name="组合 3"/>
              <p:cNvGrpSpPr/>
              <p:nvPr/>
            </p:nvGrpSpPr>
            <p:grpSpPr>
              <a:xfrm>
                <a:off x="2401693" y="2051564"/>
                <a:ext cx="4436838" cy="1292346"/>
                <a:chOff x="2401693" y="2051564"/>
                <a:chExt cx="4436838" cy="1292346"/>
              </a:xfrm>
            </p:grpSpPr>
            <p:sp>
              <p:nvSpPr>
                <p:cNvPr id="704569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401517" y="2064260"/>
                  <a:ext cx="720717" cy="52372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algn="ctr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18</a:t>
                  </a:r>
                  <a:endParaRPr kumimoji="0" lang="en-US" altLang="zh-CN" sz="28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457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881051" y="2051564"/>
                  <a:ext cx="720717" cy="52372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algn="ctr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14</a:t>
                  </a:r>
                  <a:endParaRPr kumimoji="0" lang="en-US" altLang="zh-CN" sz="28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4571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5603469" y="2057912"/>
                  <a:ext cx="720717" cy="52372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457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5109763" y="2824454"/>
                  <a:ext cx="1728768" cy="5189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r</a:t>
                  </a:r>
                  <a:endPara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780" name="Line 65"/>
                <p:cNvSpPr/>
                <p:nvPr/>
              </p:nvSpPr>
              <p:spPr>
                <a:xfrm flipV="1">
                  <a:off x="2779400" y="2616834"/>
                  <a:ext cx="0" cy="3810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</p:sp>
            <p:sp>
              <p:nvSpPr>
                <p:cNvPr id="73781" name="Line 66"/>
                <p:cNvSpPr/>
                <p:nvPr/>
              </p:nvSpPr>
              <p:spPr>
                <a:xfrm flipV="1">
                  <a:off x="4223513" y="2667475"/>
                  <a:ext cx="0" cy="3810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</p:sp>
            <p:sp>
              <p:nvSpPr>
                <p:cNvPr id="73782" name="Line 67"/>
                <p:cNvSpPr/>
                <p:nvPr/>
              </p:nvSpPr>
              <p:spPr>
                <a:xfrm flipV="1">
                  <a:off x="5942159" y="2616834"/>
                  <a:ext cx="0" cy="3810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</p:sp>
          </p:grpSp>
        </p:grpSp>
      </p:grpSp>
      <p:grpSp>
        <p:nvGrpSpPr>
          <p:cNvPr id="8" name="组合 7"/>
          <p:cNvGrpSpPr/>
          <p:nvPr/>
        </p:nvGrpSpPr>
        <p:grpSpPr>
          <a:xfrm>
            <a:off x="3773488" y="3359150"/>
            <a:ext cx="3968750" cy="1370013"/>
            <a:chOff x="3772828" y="3359513"/>
            <a:chExt cx="3968887" cy="1369169"/>
          </a:xfrm>
        </p:grpSpPr>
        <p:sp>
          <p:nvSpPr>
            <p:cNvPr id="704583" name="Text Box 71"/>
            <p:cNvSpPr txBox="1">
              <a:spLocks noChangeArrowheads="1"/>
            </p:cNvSpPr>
            <p:nvPr/>
          </p:nvSpPr>
          <p:spPr bwMode="auto">
            <a:xfrm>
              <a:off x="4736473" y="4209889"/>
              <a:ext cx="720750" cy="51879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%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3759" name="组合 4"/>
            <p:cNvGrpSpPr/>
            <p:nvPr/>
          </p:nvGrpSpPr>
          <p:grpSpPr>
            <a:xfrm>
              <a:off x="3772828" y="3359513"/>
              <a:ext cx="3968887" cy="1329644"/>
              <a:chOff x="3772828" y="3359513"/>
              <a:chExt cx="3968887" cy="1329644"/>
            </a:xfrm>
          </p:grpSpPr>
          <p:sp>
            <p:nvSpPr>
              <p:cNvPr id="704580" name="Text Box 68"/>
              <p:cNvSpPr txBox="1">
                <a:spLocks noChangeArrowheads="1"/>
              </p:cNvSpPr>
              <p:nvPr/>
            </p:nvSpPr>
            <p:spPr bwMode="auto">
              <a:xfrm>
                <a:off x="3880782" y="3373792"/>
                <a:ext cx="720750" cy="52513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algn="ctr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14</a:t>
                </a:r>
                <a:endParaRPr kumimoji="0" lang="en-US" altLang="zh-CN" sz="28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1" name="Text Box 69"/>
              <p:cNvSpPr txBox="1">
                <a:spLocks noChangeArrowheads="1"/>
              </p:cNvSpPr>
              <p:nvPr/>
            </p:nvSpPr>
            <p:spPr bwMode="auto">
              <a:xfrm>
                <a:off x="5633442" y="3370619"/>
                <a:ext cx="642959" cy="52355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2" name="Text Box 70"/>
              <p:cNvSpPr txBox="1">
                <a:spLocks noChangeArrowheads="1"/>
              </p:cNvSpPr>
              <p:nvPr/>
            </p:nvSpPr>
            <p:spPr bwMode="auto">
              <a:xfrm>
                <a:off x="6993976" y="3359513"/>
                <a:ext cx="642960" cy="52355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4" name="Text Box 72"/>
              <p:cNvSpPr txBox="1">
                <a:spLocks noChangeArrowheads="1"/>
              </p:cNvSpPr>
              <p:nvPr/>
            </p:nvSpPr>
            <p:spPr bwMode="auto">
              <a:xfrm>
                <a:off x="6322441" y="4136909"/>
                <a:ext cx="720750" cy="5187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algn="ctr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→</a:t>
                </a:r>
                <a:endParaRPr kumimoji="0" lang="en-US" altLang="zh-CN" sz="28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5" name="Text Box 73"/>
              <p:cNvSpPr txBox="1">
                <a:spLocks noChangeArrowheads="1"/>
              </p:cNvSpPr>
              <p:nvPr/>
            </p:nvSpPr>
            <p:spPr bwMode="auto">
              <a:xfrm>
                <a:off x="3772828" y="4170226"/>
                <a:ext cx="893793" cy="518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u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6" name="Text Box 74"/>
              <p:cNvSpPr txBox="1">
                <a:spLocks noChangeArrowheads="1"/>
              </p:cNvSpPr>
              <p:nvPr/>
            </p:nvSpPr>
            <p:spPr bwMode="auto">
              <a:xfrm>
                <a:off x="5109549" y="4151188"/>
                <a:ext cx="1728847" cy="518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v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87" name="Text Box 75"/>
              <p:cNvSpPr txBox="1">
                <a:spLocks noChangeArrowheads="1"/>
              </p:cNvSpPr>
              <p:nvPr/>
            </p:nvSpPr>
            <p:spPr bwMode="auto">
              <a:xfrm>
                <a:off x="7020965" y="4151188"/>
                <a:ext cx="720750" cy="518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767" name="Line 76"/>
              <p:cNvSpPr/>
              <p:nvPr/>
            </p:nvSpPr>
            <p:spPr>
              <a:xfrm flipV="1">
                <a:off x="4223513" y="3903344"/>
                <a:ext cx="0" cy="3810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</p:sp>
          <p:sp>
            <p:nvSpPr>
              <p:cNvPr id="73768" name="Line 77"/>
              <p:cNvSpPr/>
              <p:nvPr/>
            </p:nvSpPr>
            <p:spPr>
              <a:xfrm flipV="1">
                <a:off x="5963819" y="3957002"/>
                <a:ext cx="0" cy="3810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</p:sp>
          <p:sp>
            <p:nvSpPr>
              <p:cNvPr id="73769" name="Line 78"/>
              <p:cNvSpPr/>
              <p:nvPr/>
            </p:nvSpPr>
            <p:spPr>
              <a:xfrm flipV="1">
                <a:off x="7332683" y="3917948"/>
                <a:ext cx="0" cy="3810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</p:sp>
        </p:grpSp>
      </p:grpSp>
      <p:grpSp>
        <p:nvGrpSpPr>
          <p:cNvPr id="6" name="组合 5"/>
          <p:cNvGrpSpPr/>
          <p:nvPr/>
        </p:nvGrpSpPr>
        <p:grpSpPr>
          <a:xfrm>
            <a:off x="5580063" y="4729163"/>
            <a:ext cx="3398837" cy="1508125"/>
            <a:chOff x="5579541" y="4728682"/>
            <a:chExt cx="3399398" cy="1508372"/>
          </a:xfrm>
        </p:grpSpPr>
        <p:sp>
          <p:nvSpPr>
            <p:cNvPr id="704591" name="Text Box 79"/>
            <p:cNvSpPr txBox="1">
              <a:spLocks noChangeArrowheads="1"/>
            </p:cNvSpPr>
            <p:nvPr/>
          </p:nvSpPr>
          <p:spPr bwMode="auto">
            <a:xfrm>
              <a:off x="5616059" y="4747735"/>
              <a:ext cx="677975" cy="52396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2" name="Text Box 80"/>
            <p:cNvSpPr txBox="1">
              <a:spLocks noChangeArrowheads="1"/>
            </p:cNvSpPr>
            <p:nvPr/>
          </p:nvSpPr>
          <p:spPr bwMode="auto">
            <a:xfrm>
              <a:off x="6983123" y="4747735"/>
              <a:ext cx="720844" cy="52396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3" name="Text Box 81"/>
            <p:cNvSpPr txBox="1">
              <a:spLocks noChangeArrowheads="1"/>
            </p:cNvSpPr>
            <p:nvPr/>
          </p:nvSpPr>
          <p:spPr bwMode="auto">
            <a:xfrm>
              <a:off x="8335896" y="4728682"/>
              <a:ext cx="643043" cy="52205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4" name="Text Box 82"/>
            <p:cNvSpPr txBox="1">
              <a:spLocks noChangeArrowheads="1"/>
            </p:cNvSpPr>
            <p:nvPr/>
          </p:nvSpPr>
          <p:spPr bwMode="auto">
            <a:xfrm>
              <a:off x="6300385" y="5717856"/>
              <a:ext cx="720844" cy="51919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%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5" name="Text Box 83"/>
            <p:cNvSpPr txBox="1">
              <a:spLocks noChangeArrowheads="1"/>
            </p:cNvSpPr>
            <p:nvPr/>
          </p:nvSpPr>
          <p:spPr bwMode="auto">
            <a:xfrm>
              <a:off x="7707142" y="5621003"/>
              <a:ext cx="720844" cy="519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→</a:t>
              </a:r>
              <a:endParaRPr kumimoji="0" lang="en-US" altLang="zh-CN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6" name="Text Box 84"/>
            <p:cNvSpPr txBox="1">
              <a:spLocks noChangeArrowheads="1"/>
            </p:cNvSpPr>
            <p:nvPr/>
          </p:nvSpPr>
          <p:spPr bwMode="auto">
            <a:xfrm>
              <a:off x="5579541" y="5678162"/>
              <a:ext cx="677974" cy="519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u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7" name="Text Box 85"/>
            <p:cNvSpPr txBox="1">
              <a:spLocks noChangeArrowheads="1"/>
            </p:cNvSpPr>
            <p:nvPr/>
          </p:nvSpPr>
          <p:spPr bwMode="auto">
            <a:xfrm>
              <a:off x="6868804" y="5660697"/>
              <a:ext cx="893910" cy="51919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v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4598" name="Text Box 86"/>
            <p:cNvSpPr txBox="1">
              <a:spLocks noChangeArrowheads="1"/>
            </p:cNvSpPr>
            <p:nvPr/>
          </p:nvSpPr>
          <p:spPr bwMode="auto">
            <a:xfrm>
              <a:off x="8427986" y="5649583"/>
              <a:ext cx="500145" cy="519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r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755" name="Line 87"/>
            <p:cNvSpPr/>
            <p:nvPr/>
          </p:nvSpPr>
          <p:spPr>
            <a:xfrm flipV="1">
              <a:off x="5965565" y="5354639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73756" name="Line 88"/>
            <p:cNvSpPr/>
            <p:nvPr/>
          </p:nvSpPr>
          <p:spPr>
            <a:xfrm flipV="1">
              <a:off x="7329224" y="5334636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73757" name="Line 89"/>
            <p:cNvSpPr/>
            <p:nvPr/>
          </p:nvSpPr>
          <p:spPr>
            <a:xfrm flipV="1">
              <a:off x="8659594" y="5297488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</p:grpSp>
      <p:sp>
        <p:nvSpPr>
          <p:cNvPr id="704602" name="Text Box 90"/>
          <p:cNvSpPr txBox="1">
            <a:spLocks noChangeArrowheads="1"/>
          </p:cNvSpPr>
          <p:nvPr/>
        </p:nvSpPr>
        <p:spPr bwMode="auto">
          <a:xfrm>
            <a:off x="7021513" y="6235700"/>
            <a:ext cx="720725" cy="5238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6" name="矩形 1"/>
          <p:cNvSpPr/>
          <p:nvPr/>
        </p:nvSpPr>
        <p:spPr>
          <a:xfrm>
            <a:off x="82550" y="-52387"/>
            <a:ext cx="32400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欧几里德辗转相除法：</a:t>
            </a:r>
            <a:endParaRPr lang="zh-CN" altLang="en-US" sz="24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44488" y="1071563"/>
            <a:ext cx="4832350" cy="842962"/>
            <a:chOff x="344825" y="1072203"/>
            <a:chExt cx="4831673" cy="842038"/>
          </a:xfrm>
        </p:grpSpPr>
        <p:grpSp>
          <p:nvGrpSpPr>
            <p:cNvPr id="73738" name="组合 2"/>
            <p:cNvGrpSpPr/>
            <p:nvPr/>
          </p:nvGrpSpPr>
          <p:grpSpPr>
            <a:xfrm>
              <a:off x="344825" y="1371637"/>
              <a:ext cx="4831673" cy="542604"/>
              <a:chOff x="344825" y="1371637"/>
              <a:chExt cx="4831673" cy="542604"/>
            </a:xfrm>
          </p:grpSpPr>
          <p:sp>
            <p:nvSpPr>
              <p:cNvPr id="50" name="Text Box 62"/>
              <p:cNvSpPr txBox="1">
                <a:spLocks noChangeArrowheads="1"/>
              </p:cNvSpPr>
              <p:nvPr/>
            </p:nvSpPr>
            <p:spPr bwMode="auto">
              <a:xfrm>
                <a:off x="344825" y="1383012"/>
                <a:ext cx="1979335" cy="520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u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35" name="Text Box 23"/>
              <p:cNvSpPr txBox="1">
                <a:spLocks noChangeArrowheads="1"/>
              </p:cNvSpPr>
              <p:nvPr/>
            </p:nvSpPr>
            <p:spPr bwMode="auto">
              <a:xfrm>
                <a:off x="1703535" y="1395698"/>
                <a:ext cx="720624" cy="518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%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36" name="Text Box 24"/>
              <p:cNvSpPr txBox="1">
                <a:spLocks noChangeArrowheads="1"/>
              </p:cNvSpPr>
              <p:nvPr/>
            </p:nvSpPr>
            <p:spPr bwMode="auto">
              <a:xfrm>
                <a:off x="3214623" y="1371911"/>
                <a:ext cx="720624" cy="5185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algn="ctr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8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→</a:t>
                </a:r>
                <a:endParaRPr kumimoji="0" lang="en-US" altLang="zh-CN" sz="28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4539" name="Text Box 27"/>
              <p:cNvSpPr txBox="1">
                <a:spLocks noChangeArrowheads="1"/>
              </p:cNvSpPr>
              <p:nvPr/>
            </p:nvSpPr>
            <p:spPr bwMode="auto">
              <a:xfrm>
                <a:off x="3447952" y="1383012"/>
                <a:ext cx="1728546" cy="520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Text Box 63"/>
              <p:cNvSpPr txBox="1">
                <a:spLocks noChangeArrowheads="1"/>
              </p:cNvSpPr>
              <p:nvPr/>
            </p:nvSpPr>
            <p:spPr bwMode="auto">
              <a:xfrm>
                <a:off x="1914642" y="1392526"/>
                <a:ext cx="1728546" cy="520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v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3739" name="Line 65"/>
            <p:cNvSpPr/>
            <p:nvPr/>
          </p:nvSpPr>
          <p:spPr>
            <a:xfrm flipV="1">
              <a:off x="1334631" y="1072203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73740" name="Line 65"/>
            <p:cNvSpPr/>
            <p:nvPr/>
          </p:nvSpPr>
          <p:spPr>
            <a:xfrm flipV="1">
              <a:off x="2792226" y="1072203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73741" name="Line 65"/>
            <p:cNvSpPr/>
            <p:nvPr/>
          </p:nvSpPr>
          <p:spPr>
            <a:xfrm flipV="1">
              <a:off x="4312104" y="1095386"/>
              <a:ext cx="0" cy="3810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0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A4633-B4DE-4E04-BE44-9FA96574BF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4755" name="组合 3"/>
          <p:cNvGrpSpPr/>
          <p:nvPr>
            <p:custDataLst>
              <p:tags r:id="rId1"/>
            </p:custDataLst>
          </p:nvPr>
        </p:nvGrpSpPr>
        <p:grpSpPr>
          <a:xfrm>
            <a:off x="387350" y="398463"/>
            <a:ext cx="1744663" cy="4581525"/>
            <a:chOff x="0" y="593725"/>
            <a:chExt cx="1745248" cy="4581525"/>
          </a:xfrm>
        </p:grpSpPr>
        <p:sp>
          <p:nvSpPr>
            <p:cNvPr id="74772" name="Oval 5"/>
            <p:cNvSpPr/>
            <p:nvPr>
              <p:custDataLst>
                <p:tags r:id="rId2"/>
              </p:custDataLst>
            </p:nvPr>
          </p:nvSpPr>
          <p:spPr>
            <a:xfrm>
              <a:off x="0" y="593725"/>
              <a:ext cx="1745248" cy="5524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开始</a:t>
              </a:r>
              <a:endParaRPr lang="zh-CN" altLang="en-US" sz="2400" b="1" dirty="0"/>
            </a:p>
          </p:txBody>
        </p:sp>
        <p:sp>
          <p:nvSpPr>
            <p:cNvPr id="74773" name="Line 6"/>
            <p:cNvSpPr/>
            <p:nvPr/>
          </p:nvSpPr>
          <p:spPr>
            <a:xfrm flipH="1">
              <a:off x="172663" y="1027113"/>
              <a:ext cx="6771" cy="37512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4" name="Oval 7"/>
            <p:cNvSpPr/>
            <p:nvPr>
              <p:custDataLst>
                <p:tags r:id="rId3"/>
              </p:custDataLst>
            </p:nvPr>
          </p:nvSpPr>
          <p:spPr>
            <a:xfrm>
              <a:off x="0" y="4733925"/>
              <a:ext cx="1745248" cy="44132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结束</a:t>
              </a:r>
              <a:endParaRPr lang="zh-CN" altLang="en-US" sz="2400" b="1" dirty="0"/>
            </a:p>
          </p:txBody>
        </p:sp>
      </p:grpSp>
      <p:sp>
        <p:nvSpPr>
          <p:cNvPr id="75788" name="Text Box 8"/>
          <p:cNvSpPr txBox="1"/>
          <p:nvPr>
            <p:custDataLst>
              <p:tags r:id="rId4"/>
            </p:custDataLst>
          </p:nvPr>
        </p:nvSpPr>
        <p:spPr>
          <a:xfrm>
            <a:off x="560388" y="1857375"/>
            <a:ext cx="1319212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000" b="1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r=u%v</a:t>
            </a:r>
            <a:endParaRPr lang="en-US" altLang="zh-CN" sz="2000" b="1" noProof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9" name="Text Box 9"/>
          <p:cNvSpPr txBox="1"/>
          <p:nvPr>
            <p:custDataLst>
              <p:tags r:id="rId5"/>
            </p:custDataLst>
          </p:nvPr>
        </p:nvSpPr>
        <p:spPr>
          <a:xfrm>
            <a:off x="700088" y="2763838"/>
            <a:ext cx="992187" cy="4619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r!=0</a:t>
            </a:r>
            <a:endParaRPr lang="en-US" altLang="zh-CN" sz="2400" b="1" dirty="0"/>
          </a:p>
        </p:txBody>
      </p:sp>
      <p:sp>
        <p:nvSpPr>
          <p:cNvPr id="75790" name="Text Box 10"/>
          <p:cNvSpPr txBox="1"/>
          <p:nvPr>
            <p:custDataLst>
              <p:tags r:id="rId6"/>
            </p:custDataLst>
          </p:nvPr>
        </p:nvSpPr>
        <p:spPr>
          <a:xfrm>
            <a:off x="582613" y="2763838"/>
            <a:ext cx="117475" cy="4619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dirty="0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1692275" y="2122488"/>
            <a:ext cx="377825" cy="2011362"/>
            <a:chOff x="1305127" y="2317750"/>
            <a:chExt cx="377488" cy="2011363"/>
          </a:xfrm>
        </p:grpSpPr>
        <p:sp>
          <p:nvSpPr>
            <p:cNvPr id="74770" name="Line 11"/>
            <p:cNvSpPr/>
            <p:nvPr>
              <p:custDataLst>
                <p:tags r:id="rId8"/>
              </p:custDataLst>
            </p:nvPr>
          </p:nvSpPr>
          <p:spPr>
            <a:xfrm>
              <a:off x="1305127" y="3228975"/>
              <a:ext cx="3774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1" name="Line 12"/>
            <p:cNvSpPr/>
            <p:nvPr>
              <p:custDataLst>
                <p:tags r:id="rId9"/>
              </p:custDataLst>
            </p:nvPr>
          </p:nvSpPr>
          <p:spPr>
            <a:xfrm>
              <a:off x="1682615" y="2317750"/>
              <a:ext cx="0" cy="2011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5793" name="Text Box 13"/>
          <p:cNvSpPr txBox="1"/>
          <p:nvPr>
            <p:custDataLst>
              <p:tags r:id="rId10"/>
            </p:custDataLst>
          </p:nvPr>
        </p:nvSpPr>
        <p:spPr>
          <a:xfrm>
            <a:off x="2070100" y="2122488"/>
            <a:ext cx="1508125" cy="4619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u=v</a:t>
            </a:r>
            <a:endParaRPr lang="en-US" altLang="zh-CN" sz="2400" b="1" dirty="0"/>
          </a:p>
        </p:txBody>
      </p:sp>
      <p:sp>
        <p:nvSpPr>
          <p:cNvPr id="75794" name="Text Box 14"/>
          <p:cNvSpPr txBox="1"/>
          <p:nvPr>
            <p:custDataLst>
              <p:tags r:id="rId11"/>
            </p:custDataLst>
          </p:nvPr>
        </p:nvSpPr>
        <p:spPr>
          <a:xfrm>
            <a:off x="2070100" y="2840038"/>
            <a:ext cx="1508125" cy="4619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v=r</a:t>
            </a:r>
            <a:endParaRPr lang="en-US" altLang="zh-CN" sz="2400" b="1" dirty="0"/>
          </a:p>
        </p:txBody>
      </p:sp>
      <p:sp>
        <p:nvSpPr>
          <p:cNvPr id="75795" name="Text Box 15"/>
          <p:cNvSpPr txBox="1"/>
          <p:nvPr>
            <p:custDataLst>
              <p:tags r:id="rId12"/>
            </p:custDataLst>
          </p:nvPr>
        </p:nvSpPr>
        <p:spPr>
          <a:xfrm>
            <a:off x="2070100" y="3680778"/>
            <a:ext cx="1508125" cy="39878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r=u%v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75796" name="Text Box 24"/>
          <p:cNvSpPr txBox="1"/>
          <p:nvPr>
            <p:custDataLst>
              <p:tags r:id="rId13"/>
            </p:custDataLst>
          </p:nvPr>
        </p:nvSpPr>
        <p:spPr>
          <a:xfrm>
            <a:off x="560388" y="3829050"/>
            <a:ext cx="1343025" cy="4603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/>
              <a:t>输出</a:t>
            </a:r>
            <a:r>
              <a:rPr lang="en-US" altLang="zh-CN" sz="2000" b="1" noProof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v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74764" name="Text Box 25"/>
          <p:cNvSpPr txBox="1"/>
          <p:nvPr>
            <p:custDataLst>
              <p:tags r:id="rId14"/>
            </p:custDataLst>
          </p:nvPr>
        </p:nvSpPr>
        <p:spPr>
          <a:xfrm>
            <a:off x="560388" y="1128713"/>
            <a:ext cx="3017837" cy="4619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/>
              <a:t>输入</a:t>
            </a:r>
            <a:r>
              <a:rPr lang="en-US" altLang="zh-CN" sz="2400" b="1" dirty="0"/>
              <a:t>u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v</a:t>
            </a:r>
            <a:endParaRPr lang="en-US" altLang="zh-CN" sz="2400" b="1" dirty="0"/>
          </a:p>
        </p:txBody>
      </p:sp>
      <p:sp>
        <p:nvSpPr>
          <p:cNvPr id="74767" name="Line 32"/>
          <p:cNvSpPr/>
          <p:nvPr/>
        </p:nvSpPr>
        <p:spPr>
          <a:xfrm>
            <a:off x="4724400" y="0"/>
            <a:ext cx="0" cy="685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5780" name="Pictur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9500" y="-125730"/>
            <a:ext cx="5117465" cy="1915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800600" y="1718945"/>
            <a:ext cx="6819900" cy="513905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main( 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{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输入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输入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for (i=2;i&lt;=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n;i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++)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{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输入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	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的最大公约数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的最小公倍数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//a=c;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输出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，即为最终最小公倍数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6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1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9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7ECFF0-6C2C-4115-80F4-89C1C006227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728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本章小结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609283"/>
            <a:ext cx="7975600" cy="6129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有三种不同的重复性语句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do-while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语句── 后判断条件的循环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while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语句── 先判断条件的循环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for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语句── 先判断条件的循环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需要弄清楚的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循环条件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循环体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循环控制方式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重点：利用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循环程序解决实际问题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2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3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4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5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6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7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8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9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0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1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2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3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4.xml><?xml version="1.0" encoding="utf-8"?>
<p:tagLst xmlns:p="http://schemas.openxmlformats.org/presentationml/2006/main">
  <p:tag name="KSO_WM_DIAGRAM_VIRTUALLY_FRAME" val="{&quot;height&quot;:360.75,&quot;left&quot;:30.5,&quot;top&quot;:31.375039370078742,&quot;width&quot;:251.25}"/>
</p:tagLst>
</file>

<file path=ppt/tags/tag15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4966</Words>
  <Application>WPS 演示</Application>
  <PresentationFormat>宽屏</PresentationFormat>
  <Paragraphs>890</Paragraphs>
  <Slides>29</Slides>
  <Notes>15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Tahoma</vt:lpstr>
      <vt:lpstr>Monotype Corsiva</vt:lpstr>
      <vt:lpstr>Segoe Print</vt:lpstr>
      <vt:lpstr>华文彩云</vt:lpstr>
      <vt:lpstr>微软雅黑</vt:lpstr>
      <vt:lpstr>Arial</vt:lpstr>
      <vt:lpstr>黑体</vt:lpstr>
      <vt:lpstr>Arial Unicode MS</vt:lpstr>
      <vt:lpstr>华文隶书</vt:lpstr>
      <vt:lpstr>Wingdings 3</vt:lpstr>
      <vt:lpstr>Symbol</vt:lpstr>
      <vt:lpstr>楷体_GB2312</vt:lpstr>
      <vt:lpstr>新宋体</vt:lpstr>
      <vt:lpstr>1_Slit</vt:lpstr>
      <vt:lpstr>§4.3 程序设计实例 </vt:lpstr>
      <vt:lpstr>【例4.11】 阶乘求和 教材P104</vt:lpstr>
      <vt:lpstr>PowerPoint 演示文稿</vt:lpstr>
      <vt:lpstr>关键2.求r的阶乘</vt:lpstr>
      <vt:lpstr>PowerPoint 演示文稿</vt:lpstr>
      <vt:lpstr>【例4.11】 阶乘求和 教材P104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【例4.13】 “百钱百鸡”问题 教材P108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【思考】</vt:lpstr>
      <vt:lpstr>PowerPoint 演示文稿</vt:lpstr>
      <vt:lpstr>简单迭代法</vt:lpstr>
      <vt:lpstr>PowerPoint 演示文稿</vt:lpstr>
      <vt:lpstr>PowerPoint 演示文稿</vt:lpstr>
      <vt:lpstr>【课后实践】求两数最大公因数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793</cp:revision>
  <dcterms:created xsi:type="dcterms:W3CDTF">2019-09-21T08:05:00Z</dcterms:created>
  <dcterms:modified xsi:type="dcterms:W3CDTF">2025-10-09T08:14:59Z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63BFE1736376417C9C677B4FFDDE6039_13</vt:lpwstr>
  </property>
</Properties>
</file>