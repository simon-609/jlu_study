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005" r:id="rId3"/>
    <p:sldId id="883" r:id="rId5"/>
    <p:sldId id="884" r:id="rId6"/>
    <p:sldId id="885" r:id="rId7"/>
    <p:sldId id="886" r:id="rId8"/>
    <p:sldId id="887" r:id="rId9"/>
    <p:sldId id="888" r:id="rId10"/>
    <p:sldId id="889" r:id="rId11"/>
    <p:sldId id="936" r:id="rId12"/>
    <p:sldId id="1003" r:id="rId13"/>
    <p:sldId id="937" r:id="rId14"/>
    <p:sldId id="991" r:id="rId15"/>
    <p:sldId id="992" r:id="rId16"/>
    <p:sldId id="993" r:id="rId17"/>
    <p:sldId id="994" r:id="rId18"/>
    <p:sldId id="995" r:id="rId19"/>
    <p:sldId id="998" r:id="rId20"/>
    <p:sldId id="996" r:id="rId21"/>
    <p:sldId id="997" r:id="rId22"/>
    <p:sldId id="999" r:id="rId23"/>
    <p:sldId id="928" r:id="rId24"/>
    <p:sldId id="931" r:id="rId25"/>
    <p:sldId id="932" r:id="rId26"/>
    <p:sldId id="933" r:id="rId27"/>
    <p:sldId id="934" r:id="rId28"/>
    <p:sldId id="843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ED02FC"/>
    <a:srgbClr val="00FFFF"/>
    <a:srgbClr val="FF0000"/>
    <a:srgbClr val="E9E61B"/>
    <a:srgbClr val="FFE705"/>
    <a:srgbClr val="08578F"/>
    <a:srgbClr val="9C1489"/>
    <a:srgbClr val="000000"/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6343"/>
  </p:normalViewPr>
  <p:slideViewPr>
    <p:cSldViewPr showGuides="1">
      <p:cViewPr varScale="1">
        <p:scale>
          <a:sx n="75" d="100"/>
          <a:sy n="75" d="100"/>
        </p:scale>
        <p:origin x="408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18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2B3B54-ABC0-41F0-B1A3-6D72E247380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37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58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54</a:t>
            </a:r>
            <a:r>
              <a:rPr lang="zh-CN" altLang="en-US" dirty="0"/>
              <a:t>式手枪弹匣 </a:t>
            </a:r>
            <a:endParaRPr lang="zh-CN" altLang="en-US" dirty="0"/>
          </a:p>
          <a:p>
            <a:pPr lvl="0" eaLnBrk="1" hangingPunct="1"/>
            <a:r>
              <a:rPr lang="zh-CN" altLang="en-US" dirty="0"/>
              <a:t>机关枪的弹带</a:t>
            </a:r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19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14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34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55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75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96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16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16F5EB-04D4-4087-94B2-04AFC9B5A55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A7B0EA-0518-471C-A3AF-C3561F5BA01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CD8F66-C00E-47DA-9AFD-9B1A25CE1EF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68E6E9-FA19-44D7-B3D4-21968078398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87C306-E1BC-422C-A544-AB7CAF1C7DA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5C27A08-75B4-452C-9879-7C0BD6B34CB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790BB0-29E1-4418-96A4-D64E40688AE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BA31B7-7E18-481B-95BC-6026788696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1B0186-635A-4EA3-BCC6-5BD007E40EC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2337B8-2AFF-4A27-9B46-7BCE7BACD09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185A4C-B92C-447A-BD20-9CFB0F484BD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D88AD5-18DC-45CE-B6CD-8772FA8AC0D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56E2F6A-B51C-4750-A906-18221A86D2D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03AD98-2AFC-4340-87BD-1E07D1FE878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43FC0B-9DB6-4A3C-8A36-C8037182E39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C0DA3D-AD1A-4F3E-A5DB-40CE007BC62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DBFFF4-FF1F-43B5-86F0-8BE69B54CE7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57928-7CE3-4C61-8DF6-AF60ECAD7B1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slide" Target="slide21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C6005D-5D2C-47AC-B768-4A38813CE4B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67395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75883"/>
            <a:ext cx="109728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6.8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线性表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——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栈和队列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467396" name="Rectangle 4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11658600" cy="1276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线性表的概念在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6.4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中已经介绍过，本节讲述两种特殊的线性表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栈和队列，以及在这两种线性表上的操作。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2773" name="Text Box 5"/>
          <p:cNvSpPr txBox="1"/>
          <p:nvPr/>
        </p:nvSpPr>
        <p:spPr>
          <a:xfrm>
            <a:off x="762000" y="2514600"/>
            <a:ext cx="2386965" cy="13055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2800" b="1" dirty="0">
                <a:ea typeface="黑体" panose="02010609060101010101" pitchFamily="49" charset="-122"/>
                <a:hlinkClick r:id="rId1" action="ppaction://hlinksldjump"/>
              </a:rPr>
              <a:t>6.8.1 </a:t>
            </a:r>
            <a:r>
              <a:rPr lang="zh-CN" altLang="en-US" sz="2800" b="1" dirty="0">
                <a:ea typeface="黑体" panose="02010609060101010101" pitchFamily="49" charset="-122"/>
                <a:hlinkClick r:id="rId1" action="ppaction://hlinksldjump"/>
              </a:rPr>
              <a:t>栈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2800" b="1" dirty="0">
                <a:ea typeface="黑体" panose="02010609060101010101" pitchFamily="49" charset="-122"/>
                <a:hlinkClick r:id="rId2" action="ppaction://hlinksldjump"/>
              </a:rPr>
              <a:t>6.8.2 </a:t>
            </a:r>
            <a:r>
              <a:rPr lang="zh-CN" altLang="en-US" sz="2800" b="1" dirty="0">
                <a:ea typeface="黑体" panose="02010609060101010101" pitchFamily="49" charset="-122"/>
                <a:hlinkClick r:id="rId2" action="ppaction://hlinksldjump"/>
              </a:rPr>
              <a:t>队列</a:t>
            </a:r>
            <a:endParaRPr lang="zh-CN" altLang="en-US" sz="2400" b="1" i="1" dirty="0">
              <a:solidFill>
                <a:srgbClr val="FFFF00"/>
              </a:solidFill>
              <a:ea typeface="黑体" panose="02010609060101010101" pitchFamily="49" charset="-122"/>
              <a:hlinkClick r:id="rId2" action="ppaction://hlinksldjump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B84DFA-B72C-4B30-BC5D-45019C4E64B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3779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6.8.1  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栈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483780" name="Rectangle 4"/>
          <p:cNvSpPr>
            <a:spLocks noGrp="1" noChangeArrowheads="1"/>
          </p:cNvSpPr>
          <p:nvPr>
            <p:ph idx="1"/>
          </p:nvPr>
        </p:nvSpPr>
        <p:spPr>
          <a:xfrm>
            <a:off x="76200" y="1531938"/>
            <a:ext cx="8375650" cy="3268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栈的特点是“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后进先出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”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即最后进入栈的数据元素，应最先取出使用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数据的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进入（称“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压入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”）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退出（称“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弹出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”）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均在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栈顶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进行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542338" y="850900"/>
            <a:ext cx="2159000" cy="6007100"/>
            <a:chOff x="704" y="482"/>
            <a:chExt cx="1360" cy="3624"/>
          </a:xfrm>
        </p:grpSpPr>
        <p:sp>
          <p:nvSpPr>
            <p:cNvPr id="34826" name="Freeform 7"/>
            <p:cNvSpPr/>
            <p:nvPr/>
          </p:nvSpPr>
          <p:spPr>
            <a:xfrm>
              <a:off x="839" y="482"/>
              <a:ext cx="1134" cy="3220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0" y="3220"/>
                </a:cxn>
                <a:cxn ang="0">
                  <a:pos x="1134" y="3220"/>
                </a:cxn>
                <a:cxn ang="0">
                  <a:pos x="1134" y="0"/>
                </a:cxn>
              </a:cxnLst>
              <a:pathLst>
                <a:path w="1134" h="3220">
                  <a:moveTo>
                    <a:pt x="0" y="45"/>
                  </a:moveTo>
                  <a:lnTo>
                    <a:pt x="0" y="3220"/>
                  </a:lnTo>
                  <a:lnTo>
                    <a:pt x="1134" y="3220"/>
                  </a:lnTo>
                  <a:lnTo>
                    <a:pt x="1134" y="0"/>
                  </a:lnTo>
                </a:path>
              </a:pathLst>
            </a:custGeom>
            <a:noFill/>
            <a:ln w="762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827" name="Text Box 8"/>
            <p:cNvSpPr txBox="1"/>
            <p:nvPr/>
          </p:nvSpPr>
          <p:spPr>
            <a:xfrm>
              <a:off x="704" y="3793"/>
              <a:ext cx="1360" cy="313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stack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10" name="Text Box 10"/>
          <p:cNvSpPr txBox="1"/>
          <p:nvPr/>
        </p:nvSpPr>
        <p:spPr>
          <a:xfrm>
            <a:off x="8759825" y="5592763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49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756650" y="4989513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35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2" name="Text Box 10"/>
          <p:cNvSpPr txBox="1"/>
          <p:nvPr/>
        </p:nvSpPr>
        <p:spPr>
          <a:xfrm>
            <a:off x="8761413" y="4489450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99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1" grpId="1" animBg="1"/>
      <p:bldP spid="12" grpId="0" animBg="1"/>
      <p:bldP spid="1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F6356F-ABA3-4F46-A585-6F91BAB9A42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5827" name="Rectangle 3"/>
          <p:cNvSpPr>
            <a:spLocks noGrp="1" noChangeArrowheads="1"/>
          </p:cNvSpPr>
          <p:nvPr>
            <p:ph idx="1"/>
          </p:nvPr>
        </p:nvSpPr>
        <p:spPr>
          <a:xfrm>
            <a:off x="0" y="333375"/>
            <a:ext cx="10668000" cy="576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设栈中每个数据元素的类型为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typeofelement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并有如下说明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#define  SIZE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...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/*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栈的尺寸，省略号处按实际大小补全 *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typeofelement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stack[SIZE] ;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/*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栈 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top ;                   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/*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栈顶指针 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top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初值是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；始终指向栈顶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第一个空单元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栈的操作有：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压入：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将一个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typeofelemet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类型的数据送入栈中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弹出：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从栈中取一个数据，并将该数据从栈中移掉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85829" name="Text Box 5"/>
          <p:cNvSpPr txBox="1"/>
          <p:nvPr/>
        </p:nvSpPr>
        <p:spPr>
          <a:xfrm>
            <a:off x="685800" y="990600"/>
            <a:ext cx="6121400" cy="5191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typedef int </a:t>
            </a:r>
            <a:r>
              <a:rPr lang="en-US" altLang="zh-CN" sz="2800" b="1" dirty="0">
                <a:solidFill>
                  <a:srgbClr val="FFFF66"/>
                </a:solidFill>
                <a:ea typeface="黑体" panose="02010609060101010101" pitchFamily="49" charset="-122"/>
              </a:rPr>
              <a:t>typeofelement;</a:t>
            </a:r>
            <a:endParaRPr lang="en-US" altLang="zh-CN" sz="2800" b="1" dirty="0">
              <a:solidFill>
                <a:srgbClr val="FFFF66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27">
                                            <p:txEl>
                                              <p:charRg st="198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85827">
                                            <p:txEl>
                                              <p:charRg st="198" end="2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27">
                                            <p:txEl>
                                              <p:charRg st="223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85827">
                                            <p:txEl>
                                              <p:charRg st="223" end="2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27">
                                            <p:txEl>
                                              <p:charRg st="230" end="2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85827">
                                            <p:txEl>
                                              <p:charRg st="230" end="2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27">
                                            <p:txEl>
                                              <p:charRg st="260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85827">
                                            <p:txEl>
                                              <p:charRg st="260" end="2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8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077200" y="6032500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66B2E2-BE9A-4E28-8360-4082B5ADA53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7875" name="Text Box 3"/>
          <p:cNvSpPr txBox="1"/>
          <p:nvPr/>
        </p:nvSpPr>
        <p:spPr>
          <a:xfrm>
            <a:off x="1884363" y="3759200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55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487876" name="Text Box 4"/>
          <p:cNvSpPr txBox="1"/>
          <p:nvPr/>
        </p:nvSpPr>
        <p:spPr>
          <a:xfrm>
            <a:off x="1884363" y="3759200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25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38917" name="Text Box 5"/>
          <p:cNvSpPr txBox="1"/>
          <p:nvPr/>
        </p:nvSpPr>
        <p:spPr>
          <a:xfrm>
            <a:off x="4727575" y="1341438"/>
            <a:ext cx="21605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 dirty="0">
              <a:ea typeface="黑体" panose="02010609060101010101" pitchFamily="49" charset="-122"/>
            </a:endParaRPr>
          </a:p>
        </p:txBody>
      </p:sp>
      <p:grpSp>
        <p:nvGrpSpPr>
          <p:cNvPr id="38918" name="Group 6"/>
          <p:cNvGrpSpPr/>
          <p:nvPr/>
        </p:nvGrpSpPr>
        <p:grpSpPr>
          <a:xfrm>
            <a:off x="1668463" y="158750"/>
            <a:ext cx="2159000" cy="6007100"/>
            <a:chOff x="704" y="482"/>
            <a:chExt cx="1360" cy="3624"/>
          </a:xfrm>
        </p:grpSpPr>
        <p:sp>
          <p:nvSpPr>
            <p:cNvPr id="38952" name="Freeform 7"/>
            <p:cNvSpPr/>
            <p:nvPr/>
          </p:nvSpPr>
          <p:spPr>
            <a:xfrm>
              <a:off x="839" y="482"/>
              <a:ext cx="1134" cy="3220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0" y="3220"/>
                </a:cxn>
                <a:cxn ang="0">
                  <a:pos x="1134" y="3220"/>
                </a:cxn>
                <a:cxn ang="0">
                  <a:pos x="1134" y="0"/>
                </a:cxn>
              </a:cxnLst>
              <a:pathLst>
                <a:path w="1134" h="3220">
                  <a:moveTo>
                    <a:pt x="0" y="45"/>
                  </a:moveTo>
                  <a:lnTo>
                    <a:pt x="0" y="3220"/>
                  </a:lnTo>
                  <a:lnTo>
                    <a:pt x="1134" y="3220"/>
                  </a:lnTo>
                  <a:lnTo>
                    <a:pt x="1134" y="0"/>
                  </a:lnTo>
                </a:path>
              </a:pathLst>
            </a:custGeom>
            <a:noFill/>
            <a:ln w="762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953" name="Text Box 8"/>
            <p:cNvSpPr txBox="1"/>
            <p:nvPr/>
          </p:nvSpPr>
          <p:spPr>
            <a:xfrm>
              <a:off x="704" y="3793"/>
              <a:ext cx="1360" cy="313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stack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1487881" name="Text Box 9"/>
          <p:cNvSpPr txBox="1"/>
          <p:nvPr/>
        </p:nvSpPr>
        <p:spPr>
          <a:xfrm>
            <a:off x="1884363" y="3759200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20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487882" name="Text Box 10"/>
          <p:cNvSpPr txBox="1"/>
          <p:nvPr/>
        </p:nvSpPr>
        <p:spPr>
          <a:xfrm>
            <a:off x="1884363" y="3182938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5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487883" name="Text Box 11"/>
          <p:cNvSpPr txBox="1"/>
          <p:nvPr/>
        </p:nvSpPr>
        <p:spPr>
          <a:xfrm>
            <a:off x="1884363" y="4333875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15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487884" name="Text Box 12"/>
          <p:cNvSpPr txBox="1"/>
          <p:nvPr/>
        </p:nvSpPr>
        <p:spPr>
          <a:xfrm>
            <a:off x="1884363" y="4910138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10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487885" name="Text Box 13"/>
          <p:cNvSpPr txBox="1"/>
          <p:nvPr/>
        </p:nvSpPr>
        <p:spPr>
          <a:xfrm>
            <a:off x="6024563" y="-26987"/>
            <a:ext cx="3816350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设栈元素为</a:t>
            </a:r>
            <a:r>
              <a:rPr lang="en-US" altLang="zh-CN" sz="2800" b="1" dirty="0">
                <a:ea typeface="黑体" panose="02010609060101010101" pitchFamily="49" charset="-122"/>
              </a:rPr>
              <a:t>int</a:t>
            </a:r>
            <a:r>
              <a:rPr lang="zh-CN" altLang="en-US" sz="2800" b="1" dirty="0">
                <a:ea typeface="黑体" panose="02010609060101010101" pitchFamily="49" charset="-122"/>
              </a:rPr>
              <a:t>类型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压入  </a:t>
            </a:r>
            <a:r>
              <a:rPr lang="en-US" altLang="zh-CN" sz="2800" b="1" dirty="0">
                <a:ea typeface="黑体" panose="02010609060101010101" pitchFamily="49" charset="-122"/>
              </a:rPr>
              <a:t>10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487886" name="Rectangle 14"/>
          <p:cNvSpPr/>
          <p:nvPr/>
        </p:nvSpPr>
        <p:spPr>
          <a:xfrm>
            <a:off x="7175500" y="1125538"/>
            <a:ext cx="17287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压入  </a:t>
            </a:r>
            <a:r>
              <a:rPr lang="en-US" altLang="zh-CN" sz="2800" b="1" dirty="0">
                <a:ea typeface="黑体" panose="02010609060101010101" pitchFamily="49" charset="-122"/>
              </a:rPr>
              <a:t>15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487887" name="Rectangle 15"/>
          <p:cNvSpPr/>
          <p:nvPr/>
        </p:nvSpPr>
        <p:spPr>
          <a:xfrm>
            <a:off x="7175500" y="1628775"/>
            <a:ext cx="18002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黑体" panose="02010609060101010101" pitchFamily="49" charset="-122"/>
              </a:rPr>
              <a:t>压入  25</a:t>
            </a:r>
            <a:endParaRPr lang="en-US" altLang="zh-CN" sz="2800" b="1" kern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ea typeface="黑体" panose="02010609060101010101" pitchFamily="49" charset="-122"/>
            </a:endParaRPr>
          </a:p>
        </p:txBody>
      </p:sp>
      <p:sp>
        <p:nvSpPr>
          <p:cNvPr id="1487888" name="Rectangle 16"/>
          <p:cNvSpPr/>
          <p:nvPr/>
        </p:nvSpPr>
        <p:spPr>
          <a:xfrm>
            <a:off x="7175500" y="2060575"/>
            <a:ext cx="15128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压入  </a:t>
            </a:r>
            <a:r>
              <a:rPr lang="en-US" altLang="zh-CN" sz="2800" b="1" dirty="0">
                <a:ea typeface="黑体" panose="02010609060101010101" pitchFamily="49" charset="-122"/>
              </a:rPr>
              <a:t>5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487889" name="Rectangle 17"/>
          <p:cNvSpPr/>
          <p:nvPr/>
        </p:nvSpPr>
        <p:spPr>
          <a:xfrm>
            <a:off x="7175500" y="2492375"/>
            <a:ext cx="12969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弹出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1487890" name="Rectangle 18"/>
          <p:cNvSpPr/>
          <p:nvPr/>
        </p:nvSpPr>
        <p:spPr>
          <a:xfrm>
            <a:off x="7175500" y="2925763"/>
            <a:ext cx="8985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黑体" panose="02010609060101010101" pitchFamily="49" charset="-122"/>
              </a:rPr>
              <a:t>弹出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487891" name="Rectangle 19"/>
          <p:cNvSpPr/>
          <p:nvPr/>
        </p:nvSpPr>
        <p:spPr>
          <a:xfrm>
            <a:off x="7175500" y="3429000"/>
            <a:ext cx="17287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压入  </a:t>
            </a:r>
            <a:r>
              <a:rPr lang="en-US" altLang="zh-CN" sz="2800" b="1" dirty="0">
                <a:ea typeface="黑体" panose="02010609060101010101" pitchFamily="49" charset="-122"/>
              </a:rPr>
              <a:t>55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487892" name="Rectangle 20"/>
          <p:cNvSpPr/>
          <p:nvPr/>
        </p:nvSpPr>
        <p:spPr>
          <a:xfrm>
            <a:off x="7175500" y="3860800"/>
            <a:ext cx="11525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弹出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1487893" name="Rectangle 21"/>
          <p:cNvSpPr/>
          <p:nvPr/>
        </p:nvSpPr>
        <p:spPr>
          <a:xfrm>
            <a:off x="7175500" y="4365625"/>
            <a:ext cx="1873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压入  </a:t>
            </a:r>
            <a:r>
              <a:rPr lang="en-US" altLang="zh-CN" sz="2800" b="1" dirty="0">
                <a:ea typeface="黑体" panose="02010609060101010101" pitchFamily="49" charset="-122"/>
              </a:rPr>
              <a:t>20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487894" name="Rectangle 22"/>
          <p:cNvSpPr/>
          <p:nvPr/>
        </p:nvSpPr>
        <p:spPr>
          <a:xfrm>
            <a:off x="7175500" y="4797425"/>
            <a:ext cx="16573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弹出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1487895" name="Rectangle 23"/>
          <p:cNvSpPr/>
          <p:nvPr/>
        </p:nvSpPr>
        <p:spPr>
          <a:xfrm>
            <a:off x="7175500" y="5229225"/>
            <a:ext cx="13684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弹出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1487896" name="Rectangle 24"/>
          <p:cNvSpPr/>
          <p:nvPr/>
        </p:nvSpPr>
        <p:spPr>
          <a:xfrm>
            <a:off x="7175500" y="5661025"/>
            <a:ext cx="1657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黑体" panose="02010609060101010101" pitchFamily="49" charset="-122"/>
              </a:rPr>
              <a:t>弹出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1487897" name="Group 25"/>
          <p:cNvGrpSpPr/>
          <p:nvPr/>
        </p:nvGrpSpPr>
        <p:grpSpPr>
          <a:xfrm>
            <a:off x="515938" y="4911725"/>
            <a:ext cx="1295400" cy="519113"/>
            <a:chOff x="113" y="1525"/>
            <a:chExt cx="816" cy="327"/>
          </a:xfrm>
        </p:grpSpPr>
        <p:sp>
          <p:nvSpPr>
            <p:cNvPr id="38950" name="Text Box 26"/>
            <p:cNvSpPr txBox="1"/>
            <p:nvPr/>
          </p:nvSpPr>
          <p:spPr>
            <a:xfrm>
              <a:off x="113" y="1525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ea typeface="黑体" panose="02010609060101010101" pitchFamily="49" charset="-122"/>
                </a:rPr>
                <a:t>top</a:t>
              </a:r>
              <a:endParaRPr lang="en-US" altLang="zh-CN" sz="2800" dirty="0">
                <a:ea typeface="黑体" panose="02010609060101010101" pitchFamily="49" charset="-122"/>
              </a:endParaRPr>
            </a:p>
          </p:txBody>
        </p:sp>
        <p:sp>
          <p:nvSpPr>
            <p:cNvPr id="38951" name="Line 27"/>
            <p:cNvSpPr/>
            <p:nvPr/>
          </p:nvSpPr>
          <p:spPr>
            <a:xfrm>
              <a:off x="476" y="1706"/>
              <a:ext cx="4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</p:grpSp>
      <p:grpSp>
        <p:nvGrpSpPr>
          <p:cNvPr id="1487900" name="Group 28"/>
          <p:cNvGrpSpPr/>
          <p:nvPr/>
        </p:nvGrpSpPr>
        <p:grpSpPr>
          <a:xfrm>
            <a:off x="533400" y="4335463"/>
            <a:ext cx="1349375" cy="519112"/>
            <a:chOff x="79" y="1525"/>
            <a:chExt cx="850" cy="327"/>
          </a:xfrm>
        </p:grpSpPr>
        <p:sp>
          <p:nvSpPr>
            <p:cNvPr id="38948" name="Text Box 29"/>
            <p:cNvSpPr txBox="1"/>
            <p:nvPr/>
          </p:nvSpPr>
          <p:spPr>
            <a:xfrm>
              <a:off x="79" y="1525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ea typeface="黑体" panose="02010609060101010101" pitchFamily="49" charset="-122"/>
                </a:rPr>
                <a:t>top</a:t>
              </a:r>
              <a:endParaRPr lang="en-US" altLang="zh-CN" sz="2800" dirty="0">
                <a:ea typeface="黑体" panose="02010609060101010101" pitchFamily="49" charset="-122"/>
              </a:endParaRPr>
            </a:p>
          </p:txBody>
        </p:sp>
        <p:sp>
          <p:nvSpPr>
            <p:cNvPr id="38949" name="Line 30"/>
            <p:cNvSpPr/>
            <p:nvPr/>
          </p:nvSpPr>
          <p:spPr>
            <a:xfrm>
              <a:off x="476" y="1706"/>
              <a:ext cx="4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</p:grpSp>
      <p:grpSp>
        <p:nvGrpSpPr>
          <p:cNvPr id="1487903" name="Group 31"/>
          <p:cNvGrpSpPr/>
          <p:nvPr/>
        </p:nvGrpSpPr>
        <p:grpSpPr>
          <a:xfrm>
            <a:off x="533400" y="3759200"/>
            <a:ext cx="1349375" cy="519113"/>
            <a:chOff x="79" y="1525"/>
            <a:chExt cx="850" cy="327"/>
          </a:xfrm>
        </p:grpSpPr>
        <p:sp>
          <p:nvSpPr>
            <p:cNvPr id="38946" name="Text Box 32"/>
            <p:cNvSpPr txBox="1"/>
            <p:nvPr/>
          </p:nvSpPr>
          <p:spPr>
            <a:xfrm>
              <a:off x="79" y="1525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ea typeface="黑体" panose="02010609060101010101" pitchFamily="49" charset="-122"/>
                </a:rPr>
                <a:t>top</a:t>
              </a:r>
              <a:endParaRPr lang="en-US" altLang="zh-CN" sz="2800" dirty="0">
                <a:ea typeface="黑体" panose="02010609060101010101" pitchFamily="49" charset="-122"/>
              </a:endParaRPr>
            </a:p>
          </p:txBody>
        </p:sp>
        <p:sp>
          <p:nvSpPr>
            <p:cNvPr id="38947" name="Line 33"/>
            <p:cNvSpPr/>
            <p:nvPr/>
          </p:nvSpPr>
          <p:spPr>
            <a:xfrm>
              <a:off x="476" y="1706"/>
              <a:ext cx="4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</p:grpSp>
      <p:grpSp>
        <p:nvGrpSpPr>
          <p:cNvPr id="1487906" name="Group 34"/>
          <p:cNvGrpSpPr/>
          <p:nvPr/>
        </p:nvGrpSpPr>
        <p:grpSpPr>
          <a:xfrm>
            <a:off x="515938" y="3182938"/>
            <a:ext cx="1295400" cy="519112"/>
            <a:chOff x="113" y="1525"/>
            <a:chExt cx="816" cy="327"/>
          </a:xfrm>
        </p:grpSpPr>
        <p:sp>
          <p:nvSpPr>
            <p:cNvPr id="38944" name="Text Box 35"/>
            <p:cNvSpPr txBox="1"/>
            <p:nvPr/>
          </p:nvSpPr>
          <p:spPr>
            <a:xfrm>
              <a:off x="113" y="1525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ea typeface="黑体" panose="02010609060101010101" pitchFamily="49" charset="-122"/>
                </a:rPr>
                <a:t>top</a:t>
              </a:r>
              <a:endParaRPr lang="en-US" altLang="zh-CN" sz="2800" dirty="0">
                <a:ea typeface="黑体" panose="02010609060101010101" pitchFamily="49" charset="-122"/>
              </a:endParaRPr>
            </a:p>
          </p:txBody>
        </p:sp>
        <p:sp>
          <p:nvSpPr>
            <p:cNvPr id="38945" name="Line 36"/>
            <p:cNvSpPr/>
            <p:nvPr/>
          </p:nvSpPr>
          <p:spPr>
            <a:xfrm>
              <a:off x="476" y="1706"/>
              <a:ext cx="4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</p:grpSp>
      <p:grpSp>
        <p:nvGrpSpPr>
          <p:cNvPr id="1487909" name="Group 37"/>
          <p:cNvGrpSpPr/>
          <p:nvPr/>
        </p:nvGrpSpPr>
        <p:grpSpPr>
          <a:xfrm>
            <a:off x="515938" y="2606675"/>
            <a:ext cx="1295400" cy="519113"/>
            <a:chOff x="113" y="1525"/>
            <a:chExt cx="816" cy="327"/>
          </a:xfrm>
        </p:grpSpPr>
        <p:sp>
          <p:nvSpPr>
            <p:cNvPr id="38942" name="Text Box 38"/>
            <p:cNvSpPr txBox="1"/>
            <p:nvPr/>
          </p:nvSpPr>
          <p:spPr>
            <a:xfrm>
              <a:off x="113" y="1525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ea typeface="黑体" panose="02010609060101010101" pitchFamily="49" charset="-122"/>
                </a:rPr>
                <a:t>top</a:t>
              </a:r>
              <a:endParaRPr lang="en-US" altLang="zh-CN" sz="2800" dirty="0">
                <a:ea typeface="黑体" panose="02010609060101010101" pitchFamily="49" charset="-122"/>
              </a:endParaRPr>
            </a:p>
          </p:txBody>
        </p:sp>
        <p:sp>
          <p:nvSpPr>
            <p:cNvPr id="38943" name="Line 39"/>
            <p:cNvSpPr/>
            <p:nvPr/>
          </p:nvSpPr>
          <p:spPr>
            <a:xfrm>
              <a:off x="476" y="1706"/>
              <a:ext cx="4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</p:grpSp>
      <p:sp>
        <p:nvSpPr>
          <p:cNvPr id="43" name="Rectangle 24"/>
          <p:cNvSpPr/>
          <p:nvPr/>
        </p:nvSpPr>
        <p:spPr>
          <a:xfrm>
            <a:off x="7175500" y="6146800"/>
            <a:ext cx="32400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黑体" panose="02010609060101010101" pitchFamily="49" charset="-122"/>
              </a:rPr>
              <a:t>弹出：栈空，失败</a:t>
            </a:r>
            <a:endParaRPr lang="en-US" altLang="zh-CN" sz="2800" b="1" kern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85">
                                            <p:txEl>
                                              <p:charRg st="11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7885">
                                            <p:txEl>
                                              <p:charRg st="11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87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7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8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48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8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87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87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487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87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87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48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87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87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87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87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48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487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487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1487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1487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48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1487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1487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148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487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487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148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1487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1487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148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487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487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6" dur="500"/>
                                        <p:tgtEl>
                                          <p:spTgt spid="148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/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1487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1487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7" dur="500"/>
                                        <p:tgtEl>
                                          <p:spTgt spid="148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1" dur="500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1487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/>
                                        <p:tgtEl>
                                          <p:spTgt spid="1487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8" dur="500"/>
                                        <p:tgtEl>
                                          <p:spTgt spid="148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148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148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1487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1487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7875" grpId="0" animBg="1"/>
      <p:bldP spid="1487875" grpId="1" animBg="1"/>
      <p:bldP spid="1487876" grpId="0" animBg="1"/>
      <p:bldP spid="1487876" grpId="1" animBg="1"/>
      <p:bldP spid="1487881" grpId="0" animBg="1"/>
      <p:bldP spid="1487882" grpId="0" animBg="1"/>
      <p:bldP spid="1487882" grpId="1" animBg="1"/>
      <p:bldP spid="1487883" grpId="0" animBg="1"/>
      <p:bldP spid="1487883" grpId="1" animBg="1"/>
      <p:bldP spid="1487884" grpId="0" animBg="1"/>
      <p:bldP spid="1487884" grpId="1" animBg="1"/>
      <p:bldP spid="1487886" grpId="0"/>
      <p:bldP spid="1487887" grpId="0"/>
      <p:bldP spid="1487888" grpId="0"/>
      <p:bldP spid="1487889" grpId="0"/>
      <p:bldP spid="1487890" grpId="0"/>
      <p:bldP spid="1487891" grpId="0"/>
      <p:bldP spid="1487892" grpId="0"/>
      <p:bldP spid="1487893" grpId="0"/>
      <p:bldP spid="1487894" grpId="0"/>
      <p:bldP spid="1487895" grpId="0"/>
      <p:bldP spid="1487896" grpId="0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4CE945-B233-4188-AC7D-1E885C332DE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9923" name="Rectangle 3"/>
          <p:cNvSpPr>
            <a:spLocks noGrp="1" noChangeArrowheads="1"/>
          </p:cNvSpPr>
          <p:nvPr>
            <p:ph idx="1"/>
          </p:nvPr>
        </p:nvSpPr>
        <p:spPr>
          <a:xfrm>
            <a:off x="3252788" y="922338"/>
            <a:ext cx="2433638" cy="6048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栈的操作：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292" name="Rectangle 4"/>
          <p:cNvSpPr/>
          <p:nvPr/>
        </p:nvSpPr>
        <p:spPr>
          <a:xfrm>
            <a:off x="3252788" y="1738313"/>
            <a:ext cx="5662612" cy="954087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u="sng" dirty="0">
                <a:ea typeface="黑体" panose="02010609060101010101" pitchFamily="49" charset="-122"/>
              </a:rPr>
              <a:t>压入</a:t>
            </a:r>
            <a:r>
              <a:rPr lang="zh-CN" altLang="en-US" sz="2800" b="1" dirty="0">
                <a:ea typeface="黑体" panose="02010609060101010101" pitchFamily="49" charset="-122"/>
              </a:rPr>
              <a:t>                              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bool</a:t>
            </a:r>
            <a:r>
              <a:rPr lang="en-US" altLang="zh-CN" sz="2800" b="1" dirty="0">
                <a:ea typeface="黑体" panose="02010609060101010101" pitchFamily="49" charset="-122"/>
              </a:rPr>
              <a:t> push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( typeofelement x );</a:t>
            </a:r>
            <a:endParaRPr lang="en-US" altLang="zh-CN" sz="2800" dirty="0">
              <a:ea typeface="黑体" panose="02010609060101010101" pitchFamily="49" charset="-122"/>
            </a:endParaRPr>
          </a:p>
        </p:txBody>
      </p:sp>
      <p:sp>
        <p:nvSpPr>
          <p:cNvPr id="163845" name="Rectangle 5"/>
          <p:cNvSpPr/>
          <p:nvPr/>
        </p:nvSpPr>
        <p:spPr>
          <a:xfrm>
            <a:off x="3252788" y="3308350"/>
            <a:ext cx="5662612" cy="1384300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u="sng" dirty="0">
                <a:ea typeface="黑体" panose="02010609060101010101" pitchFamily="49" charset="-122"/>
              </a:rPr>
              <a:t>弹出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typeofelement x ;</a:t>
            </a:r>
            <a:endParaRPr lang="en-US" altLang="zh-CN" sz="2800" b="1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bool</a:t>
            </a:r>
            <a:r>
              <a:rPr lang="en-US" altLang="zh-CN" sz="2800" b="1" dirty="0">
                <a:ea typeface="黑体" panose="02010609060101010101" pitchFamily="49" charset="-122"/>
              </a:rPr>
              <a:t>  pop 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() ;</a:t>
            </a:r>
            <a:endParaRPr lang="en-US" altLang="zh-CN" sz="2800" b="1" dirty="0">
              <a:solidFill>
                <a:schemeClr val="hlink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charRg st="33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>
                                            <p:txEl>
                                              <p:charRg st="3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>
                                            <p:txEl>
                                              <p:charRg st="21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3E8AC6-A557-4AD7-B358-4CCC39EAAFA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8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64425" y="0"/>
            <a:ext cx="2757488" cy="633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测试程序：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82083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0"/>
            <a:ext cx="8388350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stdbool.h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SIZE 6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top;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typedef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typeofelement;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typeofelement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stack[SIZE];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push(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typeofelement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 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if ( top &gt;= SIZE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return false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else  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stack[ top ] = x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top++;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return true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1558925" y="2057400"/>
            <a:ext cx="5257800" cy="400050"/>
          </a:xfrm>
          <a:prstGeom prst="flowChartProcess">
            <a:avLst/>
          </a:prstGeom>
          <a:noFill/>
          <a:ln w="3492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4" name="线形标注 2 3"/>
          <p:cNvSpPr/>
          <p:nvPr/>
        </p:nvSpPr>
        <p:spPr>
          <a:xfrm>
            <a:off x="7561263" y="1670050"/>
            <a:ext cx="2711450" cy="400050"/>
          </a:xfrm>
          <a:prstGeom prst="borderCallout2">
            <a:avLst>
              <a:gd name="adj1" fmla="val 20810"/>
              <a:gd name="adj2" fmla="val 625"/>
              <a:gd name="adj3" fmla="val 24935"/>
              <a:gd name="adj4" fmla="val -20731"/>
              <a:gd name="adj5" fmla="val 94148"/>
              <a:gd name="adj6" fmla="val -39847"/>
            </a:avLst>
          </a:prstGeom>
          <a:noFill/>
          <a:ln w="349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int x,stack[size];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10" name="流程图: 过程 9"/>
          <p:cNvSpPr/>
          <p:nvPr/>
        </p:nvSpPr>
        <p:spPr>
          <a:xfrm>
            <a:off x="3503613" y="2897188"/>
            <a:ext cx="3097212" cy="400050"/>
          </a:xfrm>
          <a:prstGeom prst="flowChartProcess">
            <a:avLst/>
          </a:prstGeom>
          <a:noFill/>
          <a:ln w="3492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9" name="线形标注 2 8"/>
          <p:cNvSpPr/>
          <p:nvPr/>
        </p:nvSpPr>
        <p:spPr>
          <a:xfrm>
            <a:off x="7356475" y="2581275"/>
            <a:ext cx="1187450" cy="400050"/>
          </a:xfrm>
          <a:prstGeom prst="borderCallout2">
            <a:avLst>
              <a:gd name="adj1" fmla="val 20810"/>
              <a:gd name="adj2" fmla="val 625"/>
              <a:gd name="adj3" fmla="val 24935"/>
              <a:gd name="adj4" fmla="val -41079"/>
              <a:gd name="adj5" fmla="val 112329"/>
              <a:gd name="adj6" fmla="val -98523"/>
            </a:avLst>
          </a:prstGeom>
          <a:noFill/>
          <a:ln w="349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int x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221538" y="4389438"/>
          <a:ext cx="3167064" cy="415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844"/>
                <a:gridCol w="527844"/>
                <a:gridCol w="527844"/>
                <a:gridCol w="527844"/>
                <a:gridCol w="527844"/>
                <a:gridCol w="527844"/>
              </a:tblGrid>
              <a:tr h="41592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820" marB="45820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820" marB="45820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820" marB="45820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820" marB="45820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820" marB="45820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820" marB="45820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219950" y="4429125"/>
            <a:ext cx="5048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10</a:t>
            </a:r>
            <a:endParaRPr lang="zh-CN" altLang="en-US" sz="1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20013" y="4422775"/>
            <a:ext cx="5048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15</a:t>
            </a:r>
            <a:endParaRPr lang="zh-CN" altLang="en-US" sz="1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7472363" y="4068763"/>
            <a:ext cx="0" cy="331787"/>
          </a:xfrm>
          <a:prstGeom prst="straightConnector1">
            <a:avLst/>
          </a:prstGeom>
          <a:ln w="3175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stealth" w="med" len="med"/>
            <a:tailEnd type="none" w="med" len="med"/>
          </a:ln>
        </p:spPr>
      </p:cxnSp>
      <p:cxnSp>
        <p:nvCxnSpPr>
          <p:cNvPr id="17" name="直接箭头连接符 16"/>
          <p:cNvCxnSpPr/>
          <p:nvPr/>
        </p:nvCxnSpPr>
        <p:spPr>
          <a:xfrm flipV="1">
            <a:off x="7972425" y="4064000"/>
            <a:ext cx="0" cy="331788"/>
          </a:xfrm>
          <a:prstGeom prst="straightConnector1">
            <a:avLst/>
          </a:prstGeom>
          <a:ln w="3175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stealth" w="med" len="med"/>
            <a:tailEnd type="none" w="med" len="med"/>
          </a:ln>
        </p:spPr>
      </p:cxnSp>
      <p:cxnSp>
        <p:nvCxnSpPr>
          <p:cNvPr id="18" name="直接箭头连接符 17"/>
          <p:cNvCxnSpPr/>
          <p:nvPr/>
        </p:nvCxnSpPr>
        <p:spPr>
          <a:xfrm flipV="1">
            <a:off x="8486775" y="4051300"/>
            <a:ext cx="0" cy="331788"/>
          </a:xfrm>
          <a:prstGeom prst="straightConnector1">
            <a:avLst/>
          </a:prstGeom>
          <a:ln w="3175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stealth" w="med" len="med"/>
            <a:tailEnd type="none" w="med" len="med"/>
          </a:ln>
        </p:spPr>
      </p:cxnSp>
      <p:sp>
        <p:nvSpPr>
          <p:cNvPr id="43039" name="文本框 20"/>
          <p:cNvSpPr txBox="1"/>
          <p:nvPr/>
        </p:nvSpPr>
        <p:spPr>
          <a:xfrm>
            <a:off x="5880100" y="4344988"/>
            <a:ext cx="142875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stack</a:t>
            </a:r>
            <a:endParaRPr lang="zh-CN" altLang="en-US" b="1" dirty="0">
              <a:ea typeface="黑体" panose="02010609060101010101" pitchFamily="49" charset="-122"/>
            </a:endParaRPr>
          </a:p>
        </p:txBody>
      </p:sp>
      <p:sp>
        <p:nvSpPr>
          <p:cNvPr id="43040" name="文本框 21"/>
          <p:cNvSpPr txBox="1"/>
          <p:nvPr/>
        </p:nvSpPr>
        <p:spPr>
          <a:xfrm>
            <a:off x="6713538" y="3705225"/>
            <a:ext cx="9921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top</a:t>
            </a:r>
            <a:endParaRPr lang="en-US" altLang="zh-CN" sz="2800" b="1" dirty="0">
              <a:solidFill>
                <a:schemeClr val="accent6">
                  <a:lumMod val="60000"/>
                  <a:lumOff val="40000"/>
                </a:schemeClr>
              </a:solidFill>
              <a:ea typeface="黑体" panose="02010609060101010101" pitchFamily="49" charset="-122"/>
            </a:endParaRPr>
          </a:p>
        </p:txBody>
      </p:sp>
      <p:sp>
        <p:nvSpPr>
          <p:cNvPr id="43041" name="文本框 22"/>
          <p:cNvSpPr txBox="1"/>
          <p:nvPr/>
        </p:nvSpPr>
        <p:spPr>
          <a:xfrm>
            <a:off x="9551988" y="5051425"/>
            <a:ext cx="1512887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栈顶方向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 bwMode="auto">
          <a:xfrm flipV="1">
            <a:off x="7219950" y="5051425"/>
            <a:ext cx="2767013" cy="1588"/>
          </a:xfrm>
          <a:prstGeom prst="straightConnector1">
            <a:avLst/>
          </a:prstGeom>
          <a:noFill/>
          <a:ln w="31750" cap="flat" cmpd="sng" algn="ctr">
            <a:solidFill>
              <a:schemeClr val="tx1">
                <a:lumMod val="95000"/>
              </a:schemeClr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组合 6"/>
          <p:cNvGrpSpPr/>
          <p:nvPr/>
        </p:nvGrpSpPr>
        <p:grpSpPr>
          <a:xfrm>
            <a:off x="2133600" y="4648200"/>
            <a:ext cx="6303645" cy="1371600"/>
            <a:chOff x="3360" y="7320"/>
            <a:chExt cx="9927" cy="2160"/>
          </a:xfrm>
        </p:grpSpPr>
        <p:sp>
          <p:nvSpPr>
            <p:cNvPr id="3" name="圆角矩形标注 2"/>
            <p:cNvSpPr/>
            <p:nvPr/>
          </p:nvSpPr>
          <p:spPr>
            <a:xfrm>
              <a:off x="8395" y="8520"/>
              <a:ext cx="4893" cy="960"/>
            </a:xfrm>
            <a:prstGeom prst="wedgeRoundRectCallout">
              <a:avLst>
                <a:gd name="adj1" fmla="val -65863"/>
                <a:gd name="adj2" fmla="val -94999"/>
                <a:gd name="adj3" fmla="val 16667"/>
              </a:avLst>
            </a:prstGeom>
            <a:solidFill>
              <a:schemeClr val="accent1"/>
            </a:solidFill>
          </p:spPr>
          <p:txBody>
            <a:bodyPr wrap="square" lIns="0" rIns="0">
              <a:noAutofit/>
            </a:bodyPr>
            <a:p>
              <a:pPr eaLnBrk="1" hangingPunct="1">
                <a:buNone/>
              </a:pPr>
              <a:r>
                <a:rPr lang="en-US" altLang="zh-CN" sz="3200" dirty="0">
                  <a:latin typeface="Arial" panose="020B0604020202020204" pitchFamily="34" charset="0"/>
                </a:rPr>
                <a:t>stack[top++]=x;</a:t>
              </a:r>
              <a:endParaRPr lang="en-US" altLang="zh-CN" sz="3200" dirty="0">
                <a:latin typeface="Arial" panose="020B0604020202020204" pitchFamily="34" charset="0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360" y="7320"/>
              <a:ext cx="5160" cy="1320"/>
            </a:xfrm>
            <a:prstGeom prst="rect">
              <a:avLst/>
            </a:prstGeom>
            <a:noFill/>
            <a:ln w="34925">
              <a:solidFill>
                <a:schemeClr val="tx1"/>
              </a:solidFill>
            </a:ln>
          </p:spPr>
          <p:txBody>
            <a:bodyPr wrap="square" lIns="0" rIns="0">
              <a:noAutofit/>
            </a:bodyPr>
            <a:p>
              <a:pPr eaLnBrk="1" hangingPunct="1">
                <a:buNone/>
              </a:pPr>
              <a:endParaRPr lang="zh-CN" altLang="en-US" sz="32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91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2083">
                                            <p:txEl>
                                              <p:charRg st="91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64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82083">
                                            <p:txEl>
                                              <p:charRg st="64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122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82083">
                                            <p:txEl>
                                              <p:charRg st="122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276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82083">
                                            <p:txEl>
                                              <p:charRg st="276" end="2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209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82083">
                                            <p:txEl>
                                              <p:charRg st="209" end="2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235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82083">
                                            <p:txEl>
                                              <p:charRg st="235" end="2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249" end="2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582083">
                                            <p:txEl>
                                              <p:charRg st="249" end="2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152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582083">
                                            <p:txEl>
                                              <p:charRg st="152" end="1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197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582083">
                                            <p:txEl>
                                              <p:charRg st="197" end="2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270" end="2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582083">
                                            <p:txEl>
                                              <p:charRg st="270" end="2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>
                                            <p:txEl>
                                              <p:charRg st="175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582083">
                                            <p:txEl>
                                              <p:charRg st="175" end="1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animBg="1"/>
      <p:bldP spid="10" grpId="0" bldLvl="0" animBg="1"/>
      <p:bldP spid="9" grpId="0" animBg="1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FB5D9E-C2B8-44D9-9863-0363E70FA2B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8310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0"/>
            <a:ext cx="6456363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pop () 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if(top &lt;=0 )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	return false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else  {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	top--;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	 x = stack[ top ]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	return  true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printstack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i;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for(i=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&lt;top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("%d ",stack[i]);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("--&gt;\n");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栈顶方向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454900" y="782638"/>
          <a:ext cx="3167064" cy="415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844"/>
                <a:gridCol w="527844"/>
                <a:gridCol w="527844"/>
                <a:gridCol w="527844"/>
                <a:gridCol w="527844"/>
                <a:gridCol w="527844"/>
              </a:tblGrid>
              <a:tr h="41592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820" marB="45820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820" marB="45820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820" marB="45820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820" marB="45820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820" marB="45820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820" marB="45820"/>
                </a:tc>
              </a:tr>
            </a:tbl>
          </a:graphicData>
        </a:graphic>
      </p:graphicFrame>
      <p:sp>
        <p:nvSpPr>
          <p:cNvPr id="44053" name="文本框 6"/>
          <p:cNvSpPr txBox="1"/>
          <p:nvPr/>
        </p:nvSpPr>
        <p:spPr>
          <a:xfrm>
            <a:off x="7453313" y="822325"/>
            <a:ext cx="5048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10</a:t>
            </a:r>
            <a:endParaRPr lang="zh-CN" altLang="en-US" sz="1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44054" name="文本框 7"/>
          <p:cNvSpPr txBox="1"/>
          <p:nvPr/>
        </p:nvSpPr>
        <p:spPr>
          <a:xfrm>
            <a:off x="7953375" y="815975"/>
            <a:ext cx="5048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15</a:t>
            </a:r>
            <a:endParaRPr lang="zh-CN" altLang="en-US" sz="1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44055" name="文本框 8"/>
          <p:cNvSpPr txBox="1"/>
          <p:nvPr/>
        </p:nvSpPr>
        <p:spPr>
          <a:xfrm>
            <a:off x="8451850" y="788988"/>
            <a:ext cx="5048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25</a:t>
            </a:r>
            <a:endParaRPr lang="zh-CN" altLang="en-US" sz="1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44056" name="文本框 9"/>
          <p:cNvSpPr txBox="1"/>
          <p:nvPr/>
        </p:nvSpPr>
        <p:spPr>
          <a:xfrm>
            <a:off x="9061450" y="776288"/>
            <a:ext cx="5048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5</a:t>
            </a:r>
            <a:endParaRPr lang="zh-CN" altLang="en-US" sz="1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9253538" y="444500"/>
            <a:ext cx="0" cy="331788"/>
          </a:xfrm>
          <a:prstGeom prst="straightConnector1">
            <a:avLst/>
          </a:prstGeom>
          <a:ln w="3175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stealth" w="med" len="med"/>
            <a:tailEnd type="none" w="med" len="med"/>
          </a:ln>
        </p:spPr>
      </p:cxnSp>
      <p:cxnSp>
        <p:nvCxnSpPr>
          <p:cNvPr id="15" name="直接箭头连接符 14"/>
          <p:cNvCxnSpPr/>
          <p:nvPr/>
        </p:nvCxnSpPr>
        <p:spPr>
          <a:xfrm flipV="1">
            <a:off x="9758363" y="442913"/>
            <a:ext cx="0" cy="331787"/>
          </a:xfrm>
          <a:prstGeom prst="straightConnector1">
            <a:avLst/>
          </a:prstGeom>
          <a:ln w="3175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stealth" w="med" len="med"/>
            <a:tailEnd type="none" w="med" len="med"/>
          </a:ln>
        </p:spPr>
      </p:cxnSp>
      <p:sp>
        <p:nvSpPr>
          <p:cNvPr id="44059" name="文本框 15"/>
          <p:cNvSpPr txBox="1"/>
          <p:nvPr/>
        </p:nvSpPr>
        <p:spPr>
          <a:xfrm>
            <a:off x="6113463" y="738188"/>
            <a:ext cx="142875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stack</a:t>
            </a:r>
            <a:endParaRPr lang="zh-CN" altLang="en-US" b="1" dirty="0">
              <a:ea typeface="黑体" panose="02010609060101010101" pitchFamily="49" charset="-122"/>
            </a:endParaRPr>
          </a:p>
        </p:txBody>
      </p:sp>
      <p:sp>
        <p:nvSpPr>
          <p:cNvPr id="44060" name="文本框 16"/>
          <p:cNvSpPr txBox="1"/>
          <p:nvPr/>
        </p:nvSpPr>
        <p:spPr>
          <a:xfrm>
            <a:off x="9047163" y="-49212"/>
            <a:ext cx="9921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ea"/>
              </a:rPr>
              <a:t>top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44061" name="文本框 17"/>
          <p:cNvSpPr txBox="1"/>
          <p:nvPr/>
        </p:nvSpPr>
        <p:spPr>
          <a:xfrm>
            <a:off x="9551988" y="1444625"/>
            <a:ext cx="1512887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栈顶方向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 flipV="1">
            <a:off x="7453313" y="1444625"/>
            <a:ext cx="2767013" cy="3175"/>
          </a:xfrm>
          <a:prstGeom prst="straightConnector1">
            <a:avLst/>
          </a:prstGeom>
          <a:noFill/>
          <a:ln w="31750" cap="flat" cmpd="sng" algn="ctr">
            <a:solidFill>
              <a:schemeClr val="tx1">
                <a:lumMod val="95000"/>
              </a:schemeClr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组合 6"/>
          <p:cNvGrpSpPr/>
          <p:nvPr/>
        </p:nvGrpSpPr>
        <p:grpSpPr>
          <a:xfrm>
            <a:off x="1981200" y="1752600"/>
            <a:ext cx="6099810" cy="1371600"/>
            <a:chOff x="3360" y="7320"/>
            <a:chExt cx="9606" cy="2160"/>
          </a:xfrm>
        </p:grpSpPr>
        <p:sp>
          <p:nvSpPr>
            <p:cNvPr id="3" name="圆角矩形标注 2"/>
            <p:cNvSpPr/>
            <p:nvPr/>
          </p:nvSpPr>
          <p:spPr>
            <a:xfrm>
              <a:off x="8395" y="8520"/>
              <a:ext cx="4571" cy="960"/>
            </a:xfrm>
            <a:prstGeom prst="wedgeRoundRectCallout">
              <a:avLst>
                <a:gd name="adj1" fmla="val -65863"/>
                <a:gd name="adj2" fmla="val -94999"/>
                <a:gd name="adj3" fmla="val 16667"/>
              </a:avLst>
            </a:prstGeom>
            <a:solidFill>
              <a:schemeClr val="accent1"/>
            </a:solidFill>
          </p:spPr>
          <p:txBody>
            <a:bodyPr wrap="square" lIns="0" rIns="0">
              <a:noAutofit/>
            </a:bodyPr>
            <a:p>
              <a:pPr eaLnBrk="1" hangingPunct="1">
                <a:buNone/>
              </a:pPr>
              <a:r>
                <a:rPr lang="en-US" altLang="zh-CN" sz="3200" dirty="0">
                  <a:latin typeface="Arial" panose="020B0604020202020204" pitchFamily="34" charset="0"/>
                </a:rPr>
                <a:t>x=stack[--top];</a:t>
              </a:r>
              <a:endParaRPr lang="en-US" altLang="zh-CN" sz="3200" dirty="0">
                <a:latin typeface="Arial" panose="020B0604020202020204" pitchFamily="34" charset="0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3360" y="7320"/>
              <a:ext cx="5160" cy="1320"/>
            </a:xfrm>
            <a:prstGeom prst="rect">
              <a:avLst/>
            </a:prstGeom>
            <a:noFill/>
            <a:ln w="34925">
              <a:solidFill>
                <a:schemeClr val="tx1"/>
              </a:solidFill>
            </a:ln>
          </p:spPr>
          <p:txBody>
            <a:bodyPr wrap="square" lIns="0" rIns="0">
              <a:noAutofit/>
            </a:bodyPr>
            <a:p>
              <a:pPr eaLnBrk="1" hangingPunct="1">
                <a:buNone/>
              </a:pPr>
              <a:endParaRPr lang="zh-CN" altLang="en-US" sz="32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6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83107">
                                            <p:txEl>
                                              <p:charRg st="68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83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83107">
                                            <p:txEl>
                                              <p:charRg st="83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110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83107">
                                            <p:txEl>
                                              <p:charRg st="110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15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83107">
                                            <p:txEl>
                                              <p:charRg st="15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55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83107">
                                            <p:txEl>
                                              <p:charRg st="55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133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83107">
                                            <p:txEl>
                                              <p:charRg st="133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32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83107">
                                            <p:txEl>
                                              <p:charRg st="32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161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83107">
                                            <p:txEl>
                                              <p:charRg st="161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169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83107">
                                            <p:txEl>
                                              <p:charRg st="169" end="1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189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83107">
                                            <p:txEl>
                                              <p:charRg st="189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>
                                            <p:txEl>
                                              <p:charRg st="216" end="2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83107">
                                            <p:txEl>
                                              <p:charRg st="216" end="2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EC8E6A-4F57-4E2F-AFB2-F77DA9822B6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84131" name="Rectangle 3"/>
          <p:cNvSpPr>
            <a:spLocks noGrp="1" noChangeArrowheads="1"/>
          </p:cNvSpPr>
          <p:nvPr>
            <p:ph idx="1"/>
          </p:nvPr>
        </p:nvSpPr>
        <p:spPr>
          <a:xfrm>
            <a:off x="9525" y="-17462"/>
            <a:ext cx="8374063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main(){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push(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printstack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栈已满，无法继续压入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!\n");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if(push(13))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printstack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栈已满，无法继续压入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!\n");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pop()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printstack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栈已空，无法继续弹出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!\n");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if(pop())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printstack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栈已空，无法继续弹出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!\n");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if(pop())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printstack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else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栈已空，无法继续弹出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!\n");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99463" y="1154113"/>
            <a:ext cx="3775075" cy="369888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11 --&gt;</a:t>
            </a:r>
            <a:endParaRPr kumimoji="0" lang="zh-CN" altLang="en-US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91525" y="1524000"/>
            <a:ext cx="3790950" cy="369888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11 13 --&gt;</a:t>
            </a:r>
            <a:endParaRPr kumimoji="0" lang="zh-CN" altLang="en-US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91525" y="1893888"/>
            <a:ext cx="3790950" cy="369888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11 --&gt;</a:t>
            </a:r>
            <a:endParaRPr kumimoji="0" lang="zh-CN" altLang="en-US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99463" y="2263775"/>
            <a:ext cx="3783013" cy="369888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--&gt;</a:t>
            </a:r>
            <a:endParaRPr kumimoji="0" lang="zh-CN" altLang="en-US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91525" y="2544763"/>
            <a:ext cx="3783013" cy="369888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栈已空，无法继续弹出</a:t>
            </a:r>
            <a:r>
              <a:rPr kumimoji="0" lang="en-US" altLang="zh-CN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!</a:t>
            </a:r>
            <a:endParaRPr kumimoji="0" lang="zh-CN" altLang="en-US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99463" y="762000"/>
            <a:ext cx="165893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运行界面：</a:t>
            </a:r>
            <a:endParaRPr kumimoji="0" lang="zh-CN" altLang="en-US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1">
                                            <p:txEl>
                                              <p:charRg st="77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1">
                                            <p:txEl>
                                              <p:charRg st="106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1">
                                            <p:txEl>
                                              <p:charRg st="139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1">
                                            <p:txEl>
                                              <p:charRg st="165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1">
                                            <p:txEl>
                                              <p:charRg st="197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1">
                                            <p:txEl>
                                              <p:charRg st="223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1">
                                            <p:txEl>
                                              <p:charRg st="255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1">
                                            <p:txEl>
                                              <p:charRg st="281" end="3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4" name="标题 1"/>
          <p:cNvSpPr>
            <a:spLocks noGrp="1"/>
          </p:cNvSpPr>
          <p:nvPr>
            <p:ph type="title"/>
          </p:nvPr>
        </p:nvSpPr>
        <p:spPr>
          <a:xfrm>
            <a:off x="6350" y="-26987"/>
            <a:ext cx="9251950" cy="7556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6.13】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括号配对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栈的使用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P175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2088" y="654050"/>
            <a:ext cx="11928475" cy="1384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编程序，从终端读入以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altLang="zh-CN" sz="2800" b="1" kern="1200" noProof="0" dirty="0">
                <a:ln>
                  <a:noFill/>
                </a:ln>
                <a:effectLst/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</a:t>
            </a:r>
            <a:r>
              <a:rPr lang="en-US" altLang="zh-CN" sz="2800" b="1" kern="1200" noProof="0" dirty="0">
                <a:ln>
                  <a:noFill/>
                </a:ln>
                <a:effectLst/>
                <a:uLnTx/>
                <a:uFillTx/>
                <a:sym typeface="+mn-ea"/>
              </a:rPr>
              <a:t>’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为结束符的算术表达式，表达式中包含括号：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(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检查表达式中各种括号是否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配对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，并且互相不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交叉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251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3F80EE-D169-4EF5-B5AF-68D17070E1B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438" y="3965575"/>
            <a:ext cx="8686800" cy="13836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请输入一个表达式，以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结束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(10+a[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]*j)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错误：右括号多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438" y="2538413"/>
            <a:ext cx="8686800" cy="13836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请输入一个表达式，以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结束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10+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*j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匹配成功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138" y="5392738"/>
            <a:ext cx="8686800" cy="13836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请输入一个表达式，以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结束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c+{d-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10+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c+a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*j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}#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错误：括号有交叉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5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3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9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35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bldLvl="0" animBg="1"/>
      <p:bldP spid="1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4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E4A111-4855-4162-B324-4C1C29C46E8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955" y="152400"/>
            <a:ext cx="12065000" cy="5149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算法思路：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用一个数组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保存各种左括号，每当遇到左括号就“顺序保存到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中”每当遇到相应右括号，就检查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中最后一个符号是否与其配对。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若配对，则说明这对符号正确。从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中删除这个符号，并继续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R="0" lvl="1" indent="4572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读下一个符号，继续检查；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若不配对，说明括号“交叉”；错误，结束程序。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若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中无元素，说明括号“不配对”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右括号多：结束程序；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输入结束时，若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不空说明表达式中括号“不配对”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左括号多；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若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空，则表达式正确（括号配对且互相不交叉）。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39" name="内容占位符 2"/>
          <p:cNvSpPr>
            <a:spLocks noGrp="1"/>
          </p:cNvSpPr>
          <p:nvPr>
            <p:ph idx="1"/>
          </p:nvPr>
        </p:nvSpPr>
        <p:spPr>
          <a:xfrm>
            <a:off x="1487488" y="404813"/>
            <a:ext cx="9180513" cy="625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2 + [ 3 ] * { 3 / ( 5 + 2 ) * 3 – 1 }#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354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F56A96-FB91-4AAC-B20D-2BEC15528DD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Freeform 7"/>
          <p:cNvSpPr/>
          <p:nvPr/>
        </p:nvSpPr>
        <p:spPr>
          <a:xfrm>
            <a:off x="4656138" y="2076450"/>
            <a:ext cx="1800225" cy="3525838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1134" h="3220">
                <a:moveTo>
                  <a:pt x="0" y="45"/>
                </a:moveTo>
                <a:lnTo>
                  <a:pt x="0" y="3220"/>
                </a:lnTo>
                <a:lnTo>
                  <a:pt x="1134" y="3220"/>
                </a:lnTo>
                <a:lnTo>
                  <a:pt x="1134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8133" name="Text Box 8"/>
          <p:cNvSpPr txBox="1"/>
          <p:nvPr/>
        </p:nvSpPr>
        <p:spPr>
          <a:xfrm>
            <a:off x="4656138" y="5630863"/>
            <a:ext cx="1800225" cy="4619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ts val="600"/>
              </a:spcBef>
              <a:buClr>
                <a:schemeClr val="accent1"/>
              </a:buClr>
              <a:buSzPct val="76000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Text Box 9"/>
          <p:cNvSpPr txBox="1"/>
          <p:nvPr/>
        </p:nvSpPr>
        <p:spPr>
          <a:xfrm>
            <a:off x="4656138" y="5157788"/>
            <a:ext cx="1800225" cy="4699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#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2" name="Line 23"/>
          <p:cNvSpPr/>
          <p:nvPr/>
        </p:nvSpPr>
        <p:spPr>
          <a:xfrm flipV="1">
            <a:off x="2279650" y="1052513"/>
            <a:ext cx="0" cy="4333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14" name="Line 23"/>
          <p:cNvSpPr/>
          <p:nvPr/>
        </p:nvSpPr>
        <p:spPr>
          <a:xfrm flipV="1">
            <a:off x="2711450" y="1050925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15" name="Line 23"/>
          <p:cNvSpPr/>
          <p:nvPr/>
        </p:nvSpPr>
        <p:spPr>
          <a:xfrm flipV="1">
            <a:off x="3143250" y="1068388"/>
            <a:ext cx="0" cy="4333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16" name="Text Box 9"/>
          <p:cNvSpPr txBox="1"/>
          <p:nvPr/>
        </p:nvSpPr>
        <p:spPr>
          <a:xfrm>
            <a:off x="4656138" y="4660900"/>
            <a:ext cx="1800225" cy="4699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[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7" name="Line 23"/>
          <p:cNvSpPr/>
          <p:nvPr/>
        </p:nvSpPr>
        <p:spPr>
          <a:xfrm flipV="1">
            <a:off x="3503613" y="1050925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19" name="Line 23"/>
          <p:cNvSpPr/>
          <p:nvPr/>
        </p:nvSpPr>
        <p:spPr>
          <a:xfrm flipV="1">
            <a:off x="3863975" y="1052513"/>
            <a:ext cx="0" cy="4333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20" name="Line 23"/>
          <p:cNvSpPr/>
          <p:nvPr/>
        </p:nvSpPr>
        <p:spPr>
          <a:xfrm flipV="1">
            <a:off x="4295775" y="1073150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21" name="Line 23"/>
          <p:cNvSpPr/>
          <p:nvPr/>
        </p:nvSpPr>
        <p:spPr>
          <a:xfrm flipV="1">
            <a:off x="4727575" y="1052513"/>
            <a:ext cx="0" cy="4333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22" name="Text Box 9"/>
          <p:cNvSpPr txBox="1"/>
          <p:nvPr/>
        </p:nvSpPr>
        <p:spPr>
          <a:xfrm>
            <a:off x="4656138" y="4657725"/>
            <a:ext cx="1800225" cy="4699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{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23" name="Line 23"/>
          <p:cNvSpPr/>
          <p:nvPr/>
        </p:nvSpPr>
        <p:spPr>
          <a:xfrm flipV="1">
            <a:off x="5087938" y="1052513"/>
            <a:ext cx="0" cy="4333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24" name="Line 23"/>
          <p:cNvSpPr/>
          <p:nvPr/>
        </p:nvSpPr>
        <p:spPr>
          <a:xfrm flipV="1">
            <a:off x="5448300" y="1050925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25" name="Line 23"/>
          <p:cNvSpPr/>
          <p:nvPr/>
        </p:nvSpPr>
        <p:spPr>
          <a:xfrm flipV="1">
            <a:off x="5880100" y="1073150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26" name="Text Box 9"/>
          <p:cNvSpPr txBox="1"/>
          <p:nvPr/>
        </p:nvSpPr>
        <p:spPr>
          <a:xfrm>
            <a:off x="4664075" y="4187825"/>
            <a:ext cx="1800225" cy="4699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27" name="Line 23"/>
          <p:cNvSpPr/>
          <p:nvPr/>
        </p:nvSpPr>
        <p:spPr>
          <a:xfrm flipV="1">
            <a:off x="6311900" y="1052513"/>
            <a:ext cx="0" cy="4333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28" name="Line 23"/>
          <p:cNvSpPr/>
          <p:nvPr/>
        </p:nvSpPr>
        <p:spPr>
          <a:xfrm flipV="1">
            <a:off x="6743700" y="1073150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29" name="Line 23"/>
          <p:cNvSpPr/>
          <p:nvPr/>
        </p:nvSpPr>
        <p:spPr>
          <a:xfrm flipV="1">
            <a:off x="7175500" y="1073150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30" name="Line 23"/>
          <p:cNvSpPr/>
          <p:nvPr/>
        </p:nvSpPr>
        <p:spPr>
          <a:xfrm flipV="1">
            <a:off x="7608888" y="1052513"/>
            <a:ext cx="0" cy="4333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31" name="Line 23"/>
          <p:cNvSpPr/>
          <p:nvPr/>
        </p:nvSpPr>
        <p:spPr>
          <a:xfrm flipV="1">
            <a:off x="7967663" y="1096963"/>
            <a:ext cx="0" cy="4333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32" name="Line 23"/>
          <p:cNvSpPr/>
          <p:nvPr/>
        </p:nvSpPr>
        <p:spPr>
          <a:xfrm flipV="1">
            <a:off x="8328025" y="1123950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33" name="Line 23"/>
          <p:cNvSpPr/>
          <p:nvPr/>
        </p:nvSpPr>
        <p:spPr>
          <a:xfrm flipV="1">
            <a:off x="8832850" y="1125538"/>
            <a:ext cx="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34" name="Line 23"/>
          <p:cNvSpPr/>
          <p:nvPr/>
        </p:nvSpPr>
        <p:spPr>
          <a:xfrm flipV="1">
            <a:off x="9191625" y="1125538"/>
            <a:ext cx="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35" name="Line 23"/>
          <p:cNvSpPr/>
          <p:nvPr/>
        </p:nvSpPr>
        <p:spPr>
          <a:xfrm flipV="1">
            <a:off x="9625013" y="1125538"/>
            <a:ext cx="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36" name="Line 23"/>
          <p:cNvSpPr/>
          <p:nvPr/>
        </p:nvSpPr>
        <p:spPr>
          <a:xfrm flipV="1">
            <a:off x="9983788" y="1125538"/>
            <a:ext cx="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6" grpId="1" animBg="1"/>
      <p:bldP spid="22" grpId="0" animBg="1"/>
      <p:bldP spid="22" grpId="1" animBg="1"/>
      <p:bldP spid="26" grpId="0" animBg="1"/>
      <p:bldP spid="2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8834" name="标题 1"/>
          <p:cNvSpPr>
            <a:spLocks noGrp="1"/>
          </p:cNvSpPr>
          <p:nvPr>
            <p:ph type="title"/>
          </p:nvPr>
        </p:nvSpPr>
        <p:spPr>
          <a:xfrm>
            <a:off x="7129463" y="-11112"/>
            <a:ext cx="3538538" cy="635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主程序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PAD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883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8FFC66-B236-4FBE-AD25-9D8D388496D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Oval 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74825" y="1268413"/>
            <a:ext cx="1081088" cy="4984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Line 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H="1">
            <a:off x="2208213" y="1766888"/>
            <a:ext cx="0" cy="3921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79613" y="1385888"/>
            <a:ext cx="671513" cy="265113"/>
          </a:xfrm>
          <a:prstGeom prst="rect">
            <a:avLst/>
          </a:prstGeom>
          <a:noFill/>
          <a:ln w="38100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开始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9159" name="Group 9"/>
          <p:cNvGrpSpPr/>
          <p:nvPr>
            <p:custDataLst>
              <p:tags r:id="rId4"/>
            </p:custDataLst>
          </p:nvPr>
        </p:nvGrpSpPr>
        <p:grpSpPr>
          <a:xfrm>
            <a:off x="1703388" y="5657850"/>
            <a:ext cx="1174750" cy="508000"/>
            <a:chOff x="3510" y="12110"/>
            <a:chExt cx="782" cy="236"/>
          </a:xfrm>
        </p:grpSpPr>
        <p:sp>
          <p:nvSpPr>
            <p:cNvPr id="11" name="Rectangle 1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606" y="12110"/>
              <a:ext cx="575" cy="216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结束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510" y="12124"/>
              <a:ext cx="782" cy="22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" name="Rectangle 1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208213" y="1868488"/>
            <a:ext cx="2047875" cy="4032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’#’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压栈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9161" name="Group 14"/>
          <p:cNvGrpSpPr/>
          <p:nvPr>
            <p:custDataLst>
              <p:tags r:id="rId8"/>
            </p:custDataLst>
          </p:nvPr>
        </p:nvGrpSpPr>
        <p:grpSpPr>
          <a:xfrm>
            <a:off x="2208213" y="3240088"/>
            <a:ext cx="2030412" cy="404812"/>
            <a:chOff x="3818" y="12165"/>
            <a:chExt cx="1172" cy="213"/>
          </a:xfrm>
        </p:grpSpPr>
        <p:sp>
          <p:nvSpPr>
            <p:cNvPr id="15" name="Rectangle 1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818" y="12165"/>
              <a:ext cx="1172" cy="21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ch !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= </a:t>
              </a:r>
              <a:r>
                <a:rPr lang="en-US" altLang="zh-CN" sz="240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sym typeface="+mn-ea"/>
                </a:rPr>
                <a:t>’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</a:t>
              </a:r>
              <a:r>
                <a:rPr lang="en-US" altLang="zh-CN" sz="240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sym typeface="+mn-ea"/>
                </a:rPr>
                <a:t>’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914" y="12171"/>
              <a:ext cx="0" cy="2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Rectangle 1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208213" y="2649538"/>
            <a:ext cx="2030413" cy="3476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读字符→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</a:t>
            </a:r>
            <a:endParaRPr kumimoji="0" lang="en-US" altLang="zh-CN" sz="2400" b="1" i="0" u="none" strike="noStrike" kern="1200" cap="none" spc="0" normalizeH="0" baseline="0" noProof="0" dirty="0" err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9163" name="Group 18"/>
          <p:cNvGrpSpPr/>
          <p:nvPr>
            <p:custDataLst>
              <p:tags r:id="rId12"/>
            </p:custDataLst>
          </p:nvPr>
        </p:nvGrpSpPr>
        <p:grpSpPr>
          <a:xfrm>
            <a:off x="4256088" y="1655763"/>
            <a:ext cx="215900" cy="2735262"/>
            <a:chOff x="4651" y="11138"/>
            <a:chExt cx="289" cy="440"/>
          </a:xfrm>
        </p:grpSpPr>
        <p:sp>
          <p:nvSpPr>
            <p:cNvPr id="19" name="Line 19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4651" y="11422"/>
              <a:ext cx="2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938" y="11138"/>
              <a:ext cx="2" cy="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8" name="文本框 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08213" y="5084763"/>
            <a:ext cx="2030413" cy="4619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结尾处理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9" name="文本框 85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473575" y="1670844"/>
            <a:ext cx="1766888" cy="460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字符处理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0" name="Rectangle 1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470400" y="4032250"/>
            <a:ext cx="1770063" cy="3476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读字符→ch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9861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99182-BA26-4145-9FE9-8CDDFAD4CE1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1774825" y="1268413"/>
            <a:ext cx="1081088" cy="4984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H="1">
            <a:off x="2208213" y="1766888"/>
            <a:ext cx="0" cy="3921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979613" y="1385888"/>
            <a:ext cx="671513" cy="265113"/>
          </a:xfrm>
          <a:prstGeom prst="rect">
            <a:avLst/>
          </a:prstGeom>
          <a:noFill/>
          <a:ln w="38100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开始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0182" name="Group 9"/>
          <p:cNvGrpSpPr/>
          <p:nvPr/>
        </p:nvGrpSpPr>
        <p:grpSpPr>
          <a:xfrm>
            <a:off x="1703388" y="5657850"/>
            <a:ext cx="1174750" cy="508000"/>
            <a:chOff x="3510" y="12110"/>
            <a:chExt cx="782" cy="236"/>
          </a:xfrm>
        </p:grpSpPr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606" y="12110"/>
              <a:ext cx="575" cy="216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结束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3510" y="12124"/>
              <a:ext cx="782" cy="22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208213" y="1868488"/>
            <a:ext cx="2047875" cy="4032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#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压栈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0184" name="Group 14"/>
          <p:cNvGrpSpPr/>
          <p:nvPr/>
        </p:nvGrpSpPr>
        <p:grpSpPr>
          <a:xfrm>
            <a:off x="2208213" y="3240088"/>
            <a:ext cx="2030412" cy="404812"/>
            <a:chOff x="3818" y="12165"/>
            <a:chExt cx="1172" cy="213"/>
          </a:xfrm>
        </p:grpSpPr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3818" y="12165"/>
              <a:ext cx="1172" cy="21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ch !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= </a:t>
              </a:r>
              <a:r>
                <a:rPr lang="en-US" altLang="zh-CN" sz="240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sym typeface="+mn-ea"/>
                </a:rPr>
                <a:t>’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#’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3914" y="12171"/>
              <a:ext cx="0" cy="2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208213" y="2649538"/>
            <a:ext cx="2030413" cy="3476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t>读字符→ch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grpSp>
        <p:nvGrpSpPr>
          <p:cNvPr id="50186" name="Group 18"/>
          <p:cNvGrpSpPr/>
          <p:nvPr/>
        </p:nvGrpSpPr>
        <p:grpSpPr>
          <a:xfrm>
            <a:off x="4256088" y="1655763"/>
            <a:ext cx="215900" cy="2735262"/>
            <a:chOff x="4651" y="11138"/>
            <a:chExt cx="289" cy="440"/>
          </a:xfrm>
        </p:grpSpPr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4651" y="11422"/>
              <a:ext cx="2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4938" y="11138"/>
              <a:ext cx="2" cy="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8" name="文本框 4"/>
          <p:cNvSpPr txBox="1">
            <a:spLocks noChangeArrowheads="1"/>
          </p:cNvSpPr>
          <p:nvPr/>
        </p:nvSpPr>
        <p:spPr bwMode="auto">
          <a:xfrm>
            <a:off x="2208213" y="5084763"/>
            <a:ext cx="2030413" cy="4619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结尾处理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0" name="Rectangle 17"/>
          <p:cNvSpPr>
            <a:spLocks noChangeArrowheads="1"/>
          </p:cNvSpPr>
          <p:nvPr/>
        </p:nvSpPr>
        <p:spPr bwMode="auto">
          <a:xfrm>
            <a:off x="4470400" y="4305300"/>
            <a:ext cx="1739900" cy="3476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t>读字符→ch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grpSp>
        <p:nvGrpSpPr>
          <p:cNvPr id="50189" name="组合 2"/>
          <p:cNvGrpSpPr/>
          <p:nvPr/>
        </p:nvGrpSpPr>
        <p:grpSpPr>
          <a:xfrm>
            <a:off x="4456113" y="1319213"/>
            <a:ext cx="2044700" cy="2573337"/>
            <a:chOff x="2931438" y="1318586"/>
            <a:chExt cx="2044670" cy="2573964"/>
          </a:xfrm>
        </p:grpSpPr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3060023" y="1318586"/>
              <a:ext cx="1749399" cy="309637"/>
            </a:xfrm>
            <a:prstGeom prst="rect">
              <a:avLst/>
            </a:prstGeom>
            <a:noFill/>
            <a:ln w="38100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、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[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、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{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6" name="Rectangle 31"/>
            <p:cNvSpPr>
              <a:spLocks noChangeArrowheads="1"/>
            </p:cNvSpPr>
            <p:nvPr/>
          </p:nvSpPr>
          <p:spPr bwMode="auto">
            <a:xfrm>
              <a:off x="4725287" y="3505106"/>
              <a:ext cx="209547" cy="366802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}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50198" name="Group 32"/>
            <p:cNvGrpSpPr/>
            <p:nvPr/>
          </p:nvGrpSpPr>
          <p:grpSpPr>
            <a:xfrm>
              <a:off x="4431898" y="1669949"/>
              <a:ext cx="278099" cy="678931"/>
              <a:chOff x="12831" y="3941"/>
              <a:chExt cx="16940" cy="28147"/>
            </a:xfrm>
          </p:grpSpPr>
          <p:sp>
            <p:nvSpPr>
              <p:cNvPr id="50212" name="Line 33"/>
              <p:cNvSpPr/>
              <p:nvPr/>
            </p:nvSpPr>
            <p:spPr>
              <a:xfrm flipH="1">
                <a:off x="12831" y="3941"/>
                <a:ext cx="16940" cy="1371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50213" name="Line 34"/>
              <p:cNvSpPr/>
              <p:nvPr/>
            </p:nvSpPr>
            <p:spPr>
              <a:xfrm flipH="1" flipV="1">
                <a:off x="13458" y="17162"/>
                <a:ext cx="15904" cy="149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50199" name="Group 35"/>
            <p:cNvGrpSpPr/>
            <p:nvPr/>
          </p:nvGrpSpPr>
          <p:grpSpPr>
            <a:xfrm>
              <a:off x="4414830" y="2331238"/>
              <a:ext cx="288140" cy="800110"/>
              <a:chOff x="12418" y="6939"/>
              <a:chExt cx="17382" cy="17778"/>
            </a:xfrm>
          </p:grpSpPr>
          <p:sp>
            <p:nvSpPr>
              <p:cNvPr id="50210" name="Line 36"/>
              <p:cNvSpPr/>
              <p:nvPr/>
            </p:nvSpPr>
            <p:spPr>
              <a:xfrm flipH="1">
                <a:off x="12487" y="6939"/>
                <a:ext cx="17313" cy="893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50211" name="Line 37"/>
              <p:cNvSpPr/>
              <p:nvPr/>
            </p:nvSpPr>
            <p:spPr>
              <a:xfrm flipH="1" flipV="1">
                <a:off x="12418" y="15511"/>
                <a:ext cx="17382" cy="9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29" name="Rectangle 42"/>
            <p:cNvSpPr>
              <a:spLocks noChangeArrowheads="1"/>
            </p:cNvSpPr>
            <p:nvPr/>
          </p:nvSpPr>
          <p:spPr bwMode="auto">
            <a:xfrm>
              <a:off x="3013987" y="2634944"/>
              <a:ext cx="1401741" cy="276292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ch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==?</a:t>
              </a:r>
              <a:endPara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0201" name="Line 43"/>
            <p:cNvSpPr/>
            <p:nvPr/>
          </p:nvSpPr>
          <p:spPr>
            <a:xfrm>
              <a:off x="2931438" y="1669952"/>
              <a:ext cx="202757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0202" name="Line 44"/>
            <p:cNvSpPr/>
            <p:nvPr/>
          </p:nvSpPr>
          <p:spPr>
            <a:xfrm>
              <a:off x="2965409" y="3892550"/>
              <a:ext cx="201069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Text Box 48"/>
            <p:cNvSpPr txBox="1">
              <a:spLocks noChangeArrowheads="1"/>
            </p:cNvSpPr>
            <p:nvPr/>
          </p:nvSpPr>
          <p:spPr bwMode="auto">
            <a:xfrm>
              <a:off x="4687187" y="2636532"/>
              <a:ext cx="244471" cy="460487"/>
            </a:xfrm>
            <a:prstGeom prst="rect">
              <a:avLst/>
            </a:prstGeom>
            <a:noFill/>
            <a:ln w="38100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]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3" name="Text Box 47"/>
            <p:cNvSpPr txBox="1">
              <a:spLocks noChangeArrowheads="1"/>
            </p:cNvSpPr>
            <p:nvPr/>
          </p:nvSpPr>
          <p:spPr bwMode="auto">
            <a:xfrm>
              <a:off x="4687187" y="1817182"/>
              <a:ext cx="287333" cy="458899"/>
            </a:xfrm>
            <a:prstGeom prst="rect">
              <a:avLst/>
            </a:prstGeom>
            <a:noFill/>
            <a:ln w="38100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)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50205" name="Group 35"/>
            <p:cNvGrpSpPr/>
            <p:nvPr/>
          </p:nvGrpSpPr>
          <p:grpSpPr>
            <a:xfrm>
              <a:off x="4405671" y="3112287"/>
              <a:ext cx="297605" cy="780263"/>
              <a:chOff x="12487" y="7158"/>
              <a:chExt cx="17953" cy="17337"/>
            </a:xfrm>
          </p:grpSpPr>
          <p:sp>
            <p:nvSpPr>
              <p:cNvPr id="50208" name="Line 36"/>
              <p:cNvSpPr/>
              <p:nvPr/>
            </p:nvSpPr>
            <p:spPr>
              <a:xfrm flipH="1">
                <a:off x="12487" y="7158"/>
                <a:ext cx="17934" cy="871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50209" name="Line 37"/>
              <p:cNvSpPr/>
              <p:nvPr/>
            </p:nvSpPr>
            <p:spPr>
              <a:xfrm flipH="1" flipV="1">
                <a:off x="13108" y="15410"/>
                <a:ext cx="17332" cy="908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50206" name="Line 44"/>
            <p:cNvSpPr/>
            <p:nvPr/>
          </p:nvSpPr>
          <p:spPr>
            <a:xfrm>
              <a:off x="4702962" y="3131348"/>
              <a:ext cx="27314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0207" name="Line 44"/>
            <p:cNvSpPr/>
            <p:nvPr/>
          </p:nvSpPr>
          <p:spPr>
            <a:xfrm>
              <a:off x="4702960" y="2336978"/>
              <a:ext cx="27314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9" name="Rectangle 21"/>
          <p:cNvSpPr>
            <a:spLocks noChangeArrowheads="1"/>
          </p:cNvSpPr>
          <p:nvPr/>
        </p:nvSpPr>
        <p:spPr bwMode="auto">
          <a:xfrm>
            <a:off x="6491288" y="1468438"/>
            <a:ext cx="1544638" cy="3460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压栈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6" name="Rectangle 21"/>
          <p:cNvSpPr>
            <a:spLocks noChangeArrowheads="1"/>
          </p:cNvSpPr>
          <p:nvPr/>
        </p:nvSpPr>
        <p:spPr bwMode="auto">
          <a:xfrm>
            <a:off x="6508750" y="2149475"/>
            <a:ext cx="4051300" cy="3921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弹栈→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lang="en-US" altLang="zh-CN" sz="18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18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’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8" name="Rectangle 21"/>
          <p:cNvSpPr>
            <a:spLocks noChangeArrowheads="1"/>
          </p:cNvSpPr>
          <p:nvPr/>
        </p:nvSpPr>
        <p:spPr bwMode="auto">
          <a:xfrm>
            <a:off x="6483350" y="2911475"/>
            <a:ext cx="3979863" cy="3921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弹栈→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check(out,  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4" name="Rectangle 21"/>
          <p:cNvSpPr>
            <a:spLocks noChangeArrowheads="1"/>
          </p:cNvSpPr>
          <p:nvPr/>
        </p:nvSpPr>
        <p:spPr bwMode="auto">
          <a:xfrm>
            <a:off x="6499225" y="3695700"/>
            <a:ext cx="3979863" cy="3365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弹栈→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check(out, 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0194" name="矩形 1"/>
          <p:cNvSpPr/>
          <p:nvPr/>
        </p:nvSpPr>
        <p:spPr>
          <a:xfrm>
            <a:off x="4742180" y="1281430"/>
            <a:ext cx="1401445" cy="48577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txBody>
          <a:bodyPr anchor="ctr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50195" name="椭圆形标注 46"/>
          <p:cNvSpPr/>
          <p:nvPr/>
        </p:nvSpPr>
        <p:spPr>
          <a:xfrm>
            <a:off x="7886700" y="260350"/>
            <a:ext cx="2592388" cy="563563"/>
          </a:xfrm>
          <a:prstGeom prst="wedgeEllipseCallout">
            <a:avLst>
              <a:gd name="adj1" fmla="val -37042"/>
              <a:gd name="adj2" fmla="val 99370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字符处理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49" grpId="0" animBg="1"/>
      <p:bldP spid="76" grpId="0" bldLvl="0" animBg="1"/>
      <p:bldP spid="78" grpId="0" animBg="1"/>
      <p:bldP spid="8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088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557FCE-8C08-4D7B-B745-E17443DB27D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1774825" y="1268413"/>
            <a:ext cx="1081088" cy="4984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H="1">
            <a:off x="2208213" y="1766888"/>
            <a:ext cx="0" cy="3921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979613" y="1385888"/>
            <a:ext cx="671513" cy="265113"/>
          </a:xfrm>
          <a:prstGeom prst="rect">
            <a:avLst/>
          </a:prstGeom>
          <a:noFill/>
          <a:ln w="38100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开始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2230" name="Group 9"/>
          <p:cNvGrpSpPr/>
          <p:nvPr/>
        </p:nvGrpSpPr>
        <p:grpSpPr>
          <a:xfrm>
            <a:off x="1703388" y="5657850"/>
            <a:ext cx="1174750" cy="508000"/>
            <a:chOff x="3510" y="12110"/>
            <a:chExt cx="782" cy="236"/>
          </a:xfrm>
        </p:grpSpPr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606" y="12110"/>
              <a:ext cx="575" cy="216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结束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3510" y="12124"/>
              <a:ext cx="782" cy="22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208213" y="1868488"/>
            <a:ext cx="2047875" cy="4032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#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压栈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2232" name="Group 14"/>
          <p:cNvGrpSpPr/>
          <p:nvPr/>
        </p:nvGrpSpPr>
        <p:grpSpPr>
          <a:xfrm>
            <a:off x="2208213" y="3240088"/>
            <a:ext cx="2030412" cy="404812"/>
            <a:chOff x="3818" y="12165"/>
            <a:chExt cx="1172" cy="213"/>
          </a:xfrm>
        </p:grpSpPr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3818" y="12165"/>
              <a:ext cx="1172" cy="21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ch != </a:t>
              </a:r>
              <a:r>
                <a:rPr lang="en-US" altLang="zh-CN" sz="240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sym typeface="+mn-ea"/>
                </a:rPr>
                <a:t>’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#’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3914" y="12171"/>
              <a:ext cx="0" cy="2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208213" y="2649538"/>
            <a:ext cx="2030413" cy="3476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读字符→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2234" name="Group 18"/>
          <p:cNvGrpSpPr/>
          <p:nvPr/>
        </p:nvGrpSpPr>
        <p:grpSpPr>
          <a:xfrm>
            <a:off x="4256088" y="1655763"/>
            <a:ext cx="215900" cy="2735262"/>
            <a:chOff x="4651" y="11138"/>
            <a:chExt cx="289" cy="440"/>
          </a:xfrm>
        </p:grpSpPr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4651" y="11422"/>
              <a:ext cx="2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4938" y="11138"/>
              <a:ext cx="2" cy="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0" name="Rectangle 17"/>
          <p:cNvSpPr>
            <a:spLocks noChangeArrowheads="1"/>
          </p:cNvSpPr>
          <p:nvPr/>
        </p:nvSpPr>
        <p:spPr bwMode="auto">
          <a:xfrm>
            <a:off x="4470400" y="4032250"/>
            <a:ext cx="1739900" cy="3476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读字符→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2236" name="组合 2"/>
          <p:cNvGrpSpPr/>
          <p:nvPr/>
        </p:nvGrpSpPr>
        <p:grpSpPr>
          <a:xfrm>
            <a:off x="4456113" y="1219200"/>
            <a:ext cx="2044700" cy="2673350"/>
            <a:chOff x="2931438" y="1218582"/>
            <a:chExt cx="2044670" cy="2673968"/>
          </a:xfrm>
        </p:grpSpPr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2964775" y="1218582"/>
              <a:ext cx="1987521" cy="309635"/>
            </a:xfrm>
            <a:prstGeom prst="rect">
              <a:avLst/>
            </a:prstGeom>
            <a:noFill/>
            <a:ln w="38100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、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[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、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{</a:t>
              </a:r>
              <a:endPara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6" name="Rectangle 31"/>
            <p:cNvSpPr>
              <a:spLocks noChangeArrowheads="1"/>
            </p:cNvSpPr>
            <p:nvPr/>
          </p:nvSpPr>
          <p:spPr bwMode="auto">
            <a:xfrm>
              <a:off x="4749098" y="3505110"/>
              <a:ext cx="209547" cy="36679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}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52256" name="Group 32"/>
            <p:cNvGrpSpPr/>
            <p:nvPr/>
          </p:nvGrpSpPr>
          <p:grpSpPr>
            <a:xfrm>
              <a:off x="4431898" y="1669949"/>
              <a:ext cx="278099" cy="678931"/>
              <a:chOff x="12831" y="3941"/>
              <a:chExt cx="16940" cy="28147"/>
            </a:xfrm>
          </p:grpSpPr>
          <p:sp>
            <p:nvSpPr>
              <p:cNvPr id="52270" name="Line 33"/>
              <p:cNvSpPr/>
              <p:nvPr/>
            </p:nvSpPr>
            <p:spPr>
              <a:xfrm flipH="1">
                <a:off x="12831" y="3941"/>
                <a:ext cx="16940" cy="1371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52271" name="Line 34"/>
              <p:cNvSpPr/>
              <p:nvPr/>
            </p:nvSpPr>
            <p:spPr>
              <a:xfrm flipH="1" flipV="1">
                <a:off x="13458" y="17162"/>
                <a:ext cx="15904" cy="149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52257" name="Group 35"/>
            <p:cNvGrpSpPr/>
            <p:nvPr/>
          </p:nvGrpSpPr>
          <p:grpSpPr>
            <a:xfrm>
              <a:off x="4414830" y="2331238"/>
              <a:ext cx="288140" cy="800110"/>
              <a:chOff x="12418" y="6939"/>
              <a:chExt cx="17382" cy="17778"/>
            </a:xfrm>
          </p:grpSpPr>
          <p:sp>
            <p:nvSpPr>
              <p:cNvPr id="52268" name="Line 36"/>
              <p:cNvSpPr/>
              <p:nvPr/>
            </p:nvSpPr>
            <p:spPr>
              <a:xfrm flipH="1">
                <a:off x="12487" y="6939"/>
                <a:ext cx="17313" cy="893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52269" name="Line 37"/>
              <p:cNvSpPr/>
              <p:nvPr/>
            </p:nvSpPr>
            <p:spPr>
              <a:xfrm flipH="1" flipV="1">
                <a:off x="12418" y="15511"/>
                <a:ext cx="17382" cy="9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29" name="Rectangle 42"/>
            <p:cNvSpPr>
              <a:spLocks noChangeArrowheads="1"/>
            </p:cNvSpPr>
            <p:nvPr/>
          </p:nvSpPr>
          <p:spPr bwMode="auto">
            <a:xfrm>
              <a:off x="3013987" y="2634959"/>
              <a:ext cx="1373167" cy="338216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ch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==?</a:t>
              </a:r>
              <a:endPara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9" name="Line 43"/>
            <p:cNvSpPr/>
            <p:nvPr/>
          </p:nvSpPr>
          <p:spPr>
            <a:xfrm>
              <a:off x="2931438" y="1669952"/>
              <a:ext cx="202757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260" name="Line 44"/>
            <p:cNvSpPr/>
            <p:nvPr/>
          </p:nvSpPr>
          <p:spPr>
            <a:xfrm>
              <a:off x="2965409" y="3892550"/>
              <a:ext cx="201069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Text Box 48"/>
            <p:cNvSpPr txBox="1">
              <a:spLocks noChangeArrowheads="1"/>
            </p:cNvSpPr>
            <p:nvPr/>
          </p:nvSpPr>
          <p:spPr bwMode="auto">
            <a:xfrm>
              <a:off x="4687187" y="2636548"/>
              <a:ext cx="244471" cy="460481"/>
            </a:xfrm>
            <a:prstGeom prst="rect">
              <a:avLst/>
            </a:prstGeom>
            <a:noFill/>
            <a:ln w="38100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]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3" name="Text Box 47"/>
            <p:cNvSpPr txBox="1">
              <a:spLocks noChangeArrowheads="1"/>
            </p:cNvSpPr>
            <p:nvPr/>
          </p:nvSpPr>
          <p:spPr bwMode="auto">
            <a:xfrm>
              <a:off x="4687187" y="1817208"/>
              <a:ext cx="287333" cy="458893"/>
            </a:xfrm>
            <a:prstGeom prst="rect">
              <a:avLst/>
            </a:prstGeom>
            <a:noFill/>
            <a:ln w="38100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  <a:cs typeface="+mn-cs"/>
                </a:rPr>
                <a:t>)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52263" name="Group 35"/>
            <p:cNvGrpSpPr/>
            <p:nvPr/>
          </p:nvGrpSpPr>
          <p:grpSpPr>
            <a:xfrm>
              <a:off x="4405671" y="3112287"/>
              <a:ext cx="297605" cy="780263"/>
              <a:chOff x="12487" y="7158"/>
              <a:chExt cx="17953" cy="17337"/>
            </a:xfrm>
          </p:grpSpPr>
          <p:sp>
            <p:nvSpPr>
              <p:cNvPr id="52266" name="Line 36"/>
              <p:cNvSpPr/>
              <p:nvPr/>
            </p:nvSpPr>
            <p:spPr>
              <a:xfrm flipH="1">
                <a:off x="12487" y="7158"/>
                <a:ext cx="17934" cy="871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52267" name="Line 37"/>
              <p:cNvSpPr/>
              <p:nvPr/>
            </p:nvSpPr>
            <p:spPr>
              <a:xfrm flipH="1" flipV="1">
                <a:off x="13108" y="15410"/>
                <a:ext cx="17332" cy="908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52264" name="Line 44"/>
            <p:cNvSpPr/>
            <p:nvPr/>
          </p:nvSpPr>
          <p:spPr>
            <a:xfrm>
              <a:off x="4702962" y="3131348"/>
              <a:ext cx="27314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265" name="Line 44"/>
            <p:cNvSpPr/>
            <p:nvPr/>
          </p:nvSpPr>
          <p:spPr>
            <a:xfrm>
              <a:off x="4702960" y="2336978"/>
              <a:ext cx="27314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9" name="Rectangle 21"/>
          <p:cNvSpPr>
            <a:spLocks noChangeArrowheads="1"/>
          </p:cNvSpPr>
          <p:nvPr/>
        </p:nvSpPr>
        <p:spPr bwMode="auto">
          <a:xfrm>
            <a:off x="6491288" y="1468438"/>
            <a:ext cx="1547813" cy="3460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压栈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2238" name="Group 51"/>
          <p:cNvGrpSpPr/>
          <p:nvPr/>
        </p:nvGrpSpPr>
        <p:grpSpPr>
          <a:xfrm>
            <a:off x="2208213" y="4854575"/>
            <a:ext cx="4392612" cy="793750"/>
            <a:chOff x="2372" y="1493"/>
            <a:chExt cx="1657" cy="500"/>
          </a:xfrm>
        </p:grpSpPr>
        <p:sp>
          <p:nvSpPr>
            <p:cNvPr id="85" name="Rectangle 22"/>
            <p:cNvSpPr>
              <a:spLocks noChangeArrowheads="1"/>
            </p:cNvSpPr>
            <p:nvPr/>
          </p:nvSpPr>
          <p:spPr bwMode="auto">
            <a:xfrm>
              <a:off x="3206" y="1493"/>
              <a:ext cx="823" cy="2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正确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Rectangle 55"/>
            <p:cNvSpPr>
              <a:spLocks noChangeArrowheads="1"/>
            </p:cNvSpPr>
            <p:nvPr/>
          </p:nvSpPr>
          <p:spPr bwMode="auto">
            <a:xfrm>
              <a:off x="3203" y="1789"/>
              <a:ext cx="826" cy="20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错误，多左括号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2247" name="Group 55"/>
            <p:cNvGrpSpPr/>
            <p:nvPr/>
          </p:nvGrpSpPr>
          <p:grpSpPr>
            <a:xfrm>
              <a:off x="2372" y="1592"/>
              <a:ext cx="834" cy="298"/>
              <a:chOff x="2505" y="1664"/>
              <a:chExt cx="834" cy="298"/>
            </a:xfrm>
          </p:grpSpPr>
          <p:sp>
            <p:nvSpPr>
              <p:cNvPr id="89" name="Rectangle 54"/>
              <p:cNvSpPr>
                <a:spLocks noChangeArrowheads="1"/>
              </p:cNvSpPr>
              <p:nvPr/>
            </p:nvSpPr>
            <p:spPr bwMode="auto">
              <a:xfrm>
                <a:off x="2526" y="1704"/>
                <a:ext cx="623" cy="227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2540" tIns="2540" rIns="2540" bIns="2540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>
                    <a:solidFill>
                      <a:schemeClr val="tx2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3C74BA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775"/>
                  </a:spcBef>
                  <a:spcAft>
                    <a:spcPct val="0"/>
                  </a:spcAft>
                  <a:buClrTx/>
                  <a:buSzTx/>
                  <a:buFont typeface="Wingdings 3" pitchFamily="18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out==</a:t>
                </a:r>
                <a:r>
                  <a:rPr lang="en-US" altLang="zh-CN" sz="240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+mn-lt"/>
                    <a:ea typeface="+mn-ea"/>
                    <a:sym typeface="+mn-ea"/>
                  </a:rPr>
                  <a:t>’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#’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52249" name="Group 32"/>
              <p:cNvGrpSpPr/>
              <p:nvPr/>
            </p:nvGrpSpPr>
            <p:grpSpPr>
              <a:xfrm>
                <a:off x="3154" y="1664"/>
                <a:ext cx="97" cy="298"/>
                <a:chOff x="-24769" y="-3131"/>
                <a:chExt cx="10243" cy="22147"/>
              </a:xfrm>
            </p:grpSpPr>
            <p:sp>
              <p:nvSpPr>
                <p:cNvPr id="95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-24248" y="-3131"/>
                  <a:ext cx="9738" cy="111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Line 34"/>
                <p:cNvSpPr>
                  <a:spLocks noChangeShapeType="1"/>
                </p:cNvSpPr>
                <p:nvPr/>
              </p:nvSpPr>
              <p:spPr bwMode="auto">
                <a:xfrm flipH="1" flipV="1">
                  <a:off x="-24754" y="7348"/>
                  <a:ext cx="10244" cy="1166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2" name="Line 43"/>
              <p:cNvSpPr>
                <a:spLocks noChangeShapeType="1"/>
              </p:cNvSpPr>
              <p:nvPr/>
            </p:nvSpPr>
            <p:spPr bwMode="auto">
              <a:xfrm>
                <a:off x="2505" y="1666"/>
                <a:ext cx="8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3" name="Line 43"/>
              <p:cNvSpPr>
                <a:spLocks noChangeShapeType="1"/>
              </p:cNvSpPr>
              <p:nvPr/>
            </p:nvSpPr>
            <p:spPr bwMode="auto">
              <a:xfrm>
                <a:off x="2513" y="1962"/>
                <a:ext cx="8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9" name="Rectangle 21"/>
          <p:cNvSpPr>
            <a:spLocks noChangeArrowheads="1"/>
          </p:cNvSpPr>
          <p:nvPr/>
        </p:nvSpPr>
        <p:spPr bwMode="auto">
          <a:xfrm>
            <a:off x="6508750" y="2149475"/>
            <a:ext cx="3979863" cy="3921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弹栈→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check(out, 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0" name="Rectangle 21"/>
          <p:cNvSpPr>
            <a:spLocks noChangeArrowheads="1"/>
          </p:cNvSpPr>
          <p:nvPr/>
        </p:nvSpPr>
        <p:spPr bwMode="auto">
          <a:xfrm>
            <a:off x="6483350" y="2911475"/>
            <a:ext cx="3979863" cy="3921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弹栈→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check(out, 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1" name="Rectangle 21"/>
          <p:cNvSpPr>
            <a:spLocks noChangeArrowheads="1"/>
          </p:cNvSpPr>
          <p:nvPr/>
        </p:nvSpPr>
        <p:spPr bwMode="auto">
          <a:xfrm>
            <a:off x="6499225" y="3695700"/>
            <a:ext cx="3979863" cy="3365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弹栈→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check(out, 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" name="Rectangle 21"/>
          <p:cNvSpPr>
            <a:spLocks noChangeArrowheads="1"/>
          </p:cNvSpPr>
          <p:nvPr/>
        </p:nvSpPr>
        <p:spPr bwMode="auto">
          <a:xfrm>
            <a:off x="2214563" y="4595813"/>
            <a:ext cx="1603375" cy="3460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弹栈→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2243" name="椭圆形标注 5"/>
          <p:cNvSpPr/>
          <p:nvPr/>
        </p:nvSpPr>
        <p:spPr>
          <a:xfrm>
            <a:off x="6816725" y="4467225"/>
            <a:ext cx="2592388" cy="561975"/>
          </a:xfrm>
          <a:prstGeom prst="wedgeEllipseCallout">
            <a:avLst>
              <a:gd name="adj1" fmla="val -52546"/>
              <a:gd name="adj2" fmla="val 119014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结尾处理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52244" name="矩形 1"/>
          <p:cNvSpPr/>
          <p:nvPr/>
        </p:nvSpPr>
        <p:spPr>
          <a:xfrm>
            <a:off x="2079625" y="4452938"/>
            <a:ext cx="4664075" cy="125412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1906" name="标题 1"/>
          <p:cNvSpPr>
            <a:spLocks noGrp="1"/>
          </p:cNvSpPr>
          <p:nvPr>
            <p:ph type="title"/>
          </p:nvPr>
        </p:nvSpPr>
        <p:spPr>
          <a:xfrm>
            <a:off x="6697663" y="0"/>
            <a:ext cx="3970338" cy="7064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检验函数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PAD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1909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EE576C-0F5E-4690-8D14-83022ED969F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2009775" y="1700213"/>
            <a:ext cx="1863725" cy="4984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 flipH="1">
            <a:off x="2439988" y="2149475"/>
            <a:ext cx="0" cy="20177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047875" y="1817688"/>
            <a:ext cx="1741488" cy="265113"/>
          </a:xfrm>
          <a:prstGeom prst="rect">
            <a:avLst/>
          </a:prstGeom>
          <a:noFill/>
          <a:ln w="38100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3255" name="Group 9"/>
          <p:cNvGrpSpPr/>
          <p:nvPr/>
        </p:nvGrpSpPr>
        <p:grpSpPr>
          <a:xfrm>
            <a:off x="1903413" y="4138613"/>
            <a:ext cx="1174750" cy="508000"/>
            <a:chOff x="3510" y="12110"/>
            <a:chExt cx="782" cy="236"/>
          </a:xfrm>
        </p:grpSpPr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3606" y="12110"/>
              <a:ext cx="575" cy="216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结束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Oval 11"/>
            <p:cNvSpPr>
              <a:spLocks noChangeArrowheads="1"/>
            </p:cNvSpPr>
            <p:nvPr/>
          </p:nvSpPr>
          <p:spPr bwMode="auto">
            <a:xfrm>
              <a:off x="3510" y="12124"/>
              <a:ext cx="782" cy="22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5" name="Line 20"/>
          <p:cNvSpPr>
            <a:spLocks noChangeShapeType="1"/>
          </p:cNvSpPr>
          <p:nvPr/>
        </p:nvSpPr>
        <p:spPr bwMode="auto">
          <a:xfrm flipH="1">
            <a:off x="3951288" y="3216275"/>
            <a:ext cx="0" cy="779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3951605" y="2205355"/>
            <a:ext cx="3796665" cy="34798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错误：右括号多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exit(0);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3258" name="Group 55"/>
          <p:cNvGrpSpPr/>
          <p:nvPr/>
        </p:nvGrpSpPr>
        <p:grpSpPr>
          <a:xfrm>
            <a:off x="2433638" y="2359025"/>
            <a:ext cx="1509712" cy="1389063"/>
            <a:chOff x="2505" y="1664"/>
            <a:chExt cx="834" cy="298"/>
          </a:xfrm>
        </p:grpSpPr>
        <p:sp>
          <p:nvSpPr>
            <p:cNvPr id="48" name="Rectangle 54"/>
            <p:cNvSpPr>
              <a:spLocks noChangeArrowheads="1"/>
            </p:cNvSpPr>
            <p:nvPr/>
          </p:nvSpPr>
          <p:spPr bwMode="auto">
            <a:xfrm>
              <a:off x="2526" y="1704"/>
              <a:ext cx="623" cy="227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775"/>
                </a:spcBef>
                <a:spcAft>
                  <a:spcPct val="0"/>
                </a:spcAft>
                <a:buClrTx/>
                <a:buSzTx/>
                <a:buFont typeface="Wingdings 3" pitchFamily="18" charset="2"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x==</a:t>
              </a:r>
              <a:r>
                <a:rPr lang="en-US" altLang="zh-CN" sz="220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sym typeface="+mn-ea"/>
                </a:rPr>
                <a:t>’</a:t>
              </a: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#’</a:t>
              </a:r>
              <a:b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或</a:t>
              </a:r>
              <a:endPara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775"/>
                </a:spcBef>
                <a:spcAft>
                  <a:spcPct val="0"/>
                </a:spcAft>
                <a:buClrTx/>
                <a:buSzTx/>
                <a:buFont typeface="Wingdings 3" pitchFamily="18" charset="2"/>
                <a:buNone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x==</a:t>
              </a:r>
              <a:r>
                <a:rPr lang="en-US" altLang="zh-CN" sz="220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sym typeface="+mn-ea"/>
                </a:rPr>
                <a:t>’</a:t>
              </a: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\0’</a:t>
              </a:r>
              <a:endPara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3269" name="Group 32"/>
            <p:cNvGrpSpPr/>
            <p:nvPr/>
          </p:nvGrpSpPr>
          <p:grpSpPr>
            <a:xfrm>
              <a:off x="3154" y="1664"/>
              <a:ext cx="97" cy="298"/>
              <a:chOff x="-24754" y="-3131"/>
              <a:chExt cx="10244" cy="22147"/>
            </a:xfrm>
          </p:grpSpPr>
          <p:sp>
            <p:nvSpPr>
              <p:cNvPr id="52" name="Line 33"/>
              <p:cNvSpPr>
                <a:spLocks noChangeShapeType="1"/>
              </p:cNvSpPr>
              <p:nvPr/>
            </p:nvSpPr>
            <p:spPr bwMode="auto">
              <a:xfrm flipH="1">
                <a:off x="-24758" y="-3131"/>
                <a:ext cx="10280" cy="1047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Line 34"/>
              <p:cNvSpPr>
                <a:spLocks noChangeShapeType="1"/>
              </p:cNvSpPr>
              <p:nvPr/>
            </p:nvSpPr>
            <p:spPr bwMode="auto">
              <a:xfrm flipH="1" flipV="1">
                <a:off x="-24758" y="7348"/>
                <a:ext cx="10280" cy="116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0" name="Line 43"/>
            <p:cNvSpPr>
              <a:spLocks noChangeShapeType="1"/>
            </p:cNvSpPr>
            <p:nvPr/>
          </p:nvSpPr>
          <p:spPr bwMode="auto">
            <a:xfrm>
              <a:off x="2505" y="1666"/>
              <a:ext cx="8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Line 43"/>
            <p:cNvSpPr>
              <a:spLocks noChangeShapeType="1"/>
            </p:cNvSpPr>
            <p:nvPr/>
          </p:nvSpPr>
          <p:spPr bwMode="auto">
            <a:xfrm>
              <a:off x="2513" y="1962"/>
              <a:ext cx="8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259" name="Group 55"/>
          <p:cNvGrpSpPr/>
          <p:nvPr/>
        </p:nvGrpSpPr>
        <p:grpSpPr>
          <a:xfrm>
            <a:off x="3943350" y="3216275"/>
            <a:ext cx="1509713" cy="779463"/>
            <a:chOff x="2505" y="1664"/>
            <a:chExt cx="834" cy="298"/>
          </a:xfrm>
        </p:grpSpPr>
        <p:sp>
          <p:nvSpPr>
            <p:cNvPr id="59" name="Rectangle 54"/>
            <p:cNvSpPr>
              <a:spLocks noChangeArrowheads="1"/>
            </p:cNvSpPr>
            <p:nvPr/>
          </p:nvSpPr>
          <p:spPr bwMode="auto">
            <a:xfrm>
              <a:off x="2526" y="1704"/>
              <a:ext cx="623" cy="227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" tIns="2540" rIns="2540" bIns="254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775"/>
                </a:spcBef>
                <a:spcAft>
                  <a:spcPct val="0"/>
                </a:spcAft>
                <a:buClrTx/>
                <a:buSzTx/>
                <a:buFont typeface="Wingdings 3" pitchFamily="18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x != y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3263" name="Group 32"/>
            <p:cNvGrpSpPr/>
            <p:nvPr/>
          </p:nvGrpSpPr>
          <p:grpSpPr>
            <a:xfrm>
              <a:off x="3154" y="1664"/>
              <a:ext cx="97" cy="298"/>
              <a:chOff x="-24754" y="-3131"/>
              <a:chExt cx="10244" cy="22147"/>
            </a:xfrm>
          </p:grpSpPr>
          <p:sp>
            <p:nvSpPr>
              <p:cNvPr id="63" name="Line 33"/>
              <p:cNvSpPr>
                <a:spLocks noChangeShapeType="1"/>
              </p:cNvSpPr>
              <p:nvPr/>
            </p:nvSpPr>
            <p:spPr bwMode="auto">
              <a:xfrm flipH="1">
                <a:off x="-24758" y="-3131"/>
                <a:ext cx="10280" cy="1046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Line 34"/>
              <p:cNvSpPr>
                <a:spLocks noChangeShapeType="1"/>
              </p:cNvSpPr>
              <p:nvPr/>
            </p:nvSpPr>
            <p:spPr bwMode="auto">
              <a:xfrm flipH="1" flipV="1">
                <a:off x="-24758" y="7334"/>
                <a:ext cx="10280" cy="116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61" name="Line 43"/>
            <p:cNvSpPr>
              <a:spLocks noChangeShapeType="1"/>
            </p:cNvSpPr>
            <p:nvPr/>
          </p:nvSpPr>
          <p:spPr bwMode="auto">
            <a:xfrm>
              <a:off x="2505" y="1666"/>
              <a:ext cx="8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Line 43"/>
            <p:cNvSpPr>
              <a:spLocks noChangeShapeType="1"/>
            </p:cNvSpPr>
            <p:nvPr/>
          </p:nvSpPr>
          <p:spPr bwMode="auto">
            <a:xfrm>
              <a:off x="2513" y="1962"/>
              <a:ext cx="8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6" name="Rectangle 17"/>
          <p:cNvSpPr>
            <a:spLocks noChangeArrowheads="1"/>
          </p:cNvSpPr>
          <p:nvPr/>
        </p:nvSpPr>
        <p:spPr bwMode="auto">
          <a:xfrm>
            <a:off x="5461000" y="3016250"/>
            <a:ext cx="4017010" cy="46926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错误：括号交叉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exit(0);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" name="Rectangle 17"/>
          <p:cNvSpPr>
            <a:spLocks noChangeArrowheads="1"/>
          </p:cNvSpPr>
          <p:nvPr/>
        </p:nvSpPr>
        <p:spPr bwMode="auto">
          <a:xfrm>
            <a:off x="5453380" y="3819525"/>
            <a:ext cx="3527425" cy="4476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 anchor="ctr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3733800" y="914400"/>
            <a:ext cx="5426075" cy="627380"/>
          </a:xfrm>
          <a:prstGeom prst="wedgeRoundRectCallout">
            <a:avLst>
              <a:gd name="adj1" fmla="val -55492"/>
              <a:gd name="adj2" fmla="val 82857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调用形式：</a:t>
            </a:r>
            <a:r>
              <a:rPr lang="en-US" altLang="zh-CN" sz="32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check(out, </a:t>
            </a:r>
            <a:r>
              <a:rPr lang="en-US" altLang="zh-CN" sz="32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</a:t>
            </a:r>
            <a:r>
              <a:rPr lang="en-US" altLang="zh-CN" sz="32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(</a:t>
            </a:r>
            <a:r>
              <a:rPr lang="en-US" altLang="zh-CN" sz="32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’ </a:t>
            </a:r>
            <a:r>
              <a:rPr lang="en-US" altLang="zh-CN" sz="32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);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2930" name="标题 1"/>
          <p:cNvSpPr>
            <a:spLocks noGrp="1"/>
          </p:cNvSpPr>
          <p:nvPr>
            <p:ph type="title"/>
          </p:nvPr>
        </p:nvSpPr>
        <p:spPr>
          <a:xfrm>
            <a:off x="171450" y="49213"/>
            <a:ext cx="3071813" cy="7572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源程序：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2933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991877-04B1-4779-B366-820B844A1E5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16"/>
          <p:cNvSpPr/>
          <p:nvPr/>
        </p:nvSpPr>
        <p:spPr>
          <a:xfrm>
            <a:off x="1524000" y="28575"/>
            <a:ext cx="184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74757" name="Rectangle 17"/>
          <p:cNvSpPr>
            <a:spLocks noChangeArrowheads="1"/>
          </p:cNvSpPr>
          <p:nvPr/>
        </p:nvSpPr>
        <p:spPr bwMode="auto">
          <a:xfrm>
            <a:off x="76200" y="1136650"/>
            <a:ext cx="10052050" cy="501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#include &lt;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stdio.h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&gt;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#include &lt;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stdlib.h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&gt;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#define SIZE  30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char stack[SIZE],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ch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;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用数组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stack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模拟栈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int top;             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//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栈顶指针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void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initial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(){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栈初始化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top=0;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395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177DF5-F0B0-4D62-B64D-E5F61B737B5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299" name="Rectangle 16"/>
          <p:cNvSpPr/>
          <p:nvPr/>
        </p:nvSpPr>
        <p:spPr>
          <a:xfrm>
            <a:off x="1524000" y="28575"/>
            <a:ext cx="184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8" name="矩形 13"/>
          <p:cNvSpPr>
            <a:spLocks noChangeArrowheads="1"/>
          </p:cNvSpPr>
          <p:nvPr/>
        </p:nvSpPr>
        <p:spPr bwMode="auto">
          <a:xfrm>
            <a:off x="0" y="3651250"/>
            <a:ext cx="99822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char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pop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 ){    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弹栈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if(top==0)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return '\0';   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空栈，操作不成功返回“空字符”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else{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return stack[--top];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5781" name="矩形 1"/>
          <p:cNvSpPr>
            <a:spLocks noChangeArrowheads="1"/>
          </p:cNvSpPr>
          <p:nvPr/>
        </p:nvSpPr>
        <p:spPr bwMode="auto">
          <a:xfrm>
            <a:off x="0" y="0"/>
            <a:ext cx="7010400" cy="304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bool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push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(char x){  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压栈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if(top&gt;SIZE-1)	  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栈满，操作不成功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return false;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else{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stack[top++]=x;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return true;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395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698B34-3B84-475E-AD76-E232B7065A3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3" name="Rectangle 16"/>
          <p:cNvSpPr/>
          <p:nvPr/>
        </p:nvSpPr>
        <p:spPr>
          <a:xfrm>
            <a:off x="1524000" y="28575"/>
            <a:ext cx="184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76804" name="矩形 13"/>
          <p:cNvSpPr>
            <a:spLocks noChangeArrowheads="1"/>
          </p:cNvSpPr>
          <p:nvPr/>
        </p:nvSpPr>
        <p:spPr bwMode="auto">
          <a:xfrm>
            <a:off x="0" y="-11112"/>
            <a:ext cx="9677400" cy="661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栈顶元素与读入的字符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y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进行比较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void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check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(char x, char y){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弹出元素为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空字符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或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‘#’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if(x=='\0'||x=='#'){	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	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(“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错误：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右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括号多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! \n");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exit(0); 	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}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else{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      if (x!=y){	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		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("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错误：括号有交叉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! \n");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      	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exit(0); 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      }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}</a:t>
            </a:r>
            <a:endParaRPr kumimoji="0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4981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A976F6-4D23-4746-8591-ED9D32694F9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0"/>
            <a:ext cx="9220200" cy="666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09728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main( ){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char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out;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initial();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push('#');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压入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'#'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"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请输入一个算术表达式，以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结束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:");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getchar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读第一个字符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!='#'){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直到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'#'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处理结束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switch 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){ 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运算符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case '(‘ :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case '[' :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case '{' :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push(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break;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左括号压栈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   	 case ')' : 	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')'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out=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pop()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out,'(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'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break;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4981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45CD61-7C38-45EC-93A7-54465FB71A4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524000" y="0"/>
            <a:ext cx="9220200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09728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case ']' : 		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']'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处理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out=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pop()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out,'[‘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break; 				    case '}' :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out=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pop()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check(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out,'{‘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break; 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'}'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处理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getchar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();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读下一个字符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 while */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读到结束符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out=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pop()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if (out == '#' )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结尾处理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匹配成功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!\n");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正确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else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ED02F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错误：左括号多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!\n");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	return 0;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09C635-1B72-4317-8426-8C29DB16C66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69443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509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6.8.2  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队列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469444" name="Rectangle 4"/>
          <p:cNvSpPr>
            <a:spLocks noGrp="1" noChangeArrowheads="1"/>
          </p:cNvSpPr>
          <p:nvPr>
            <p:ph idx="1"/>
          </p:nvPr>
        </p:nvSpPr>
        <p:spPr>
          <a:xfrm>
            <a:off x="0" y="1630363"/>
            <a:ext cx="11887200" cy="3597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在数据管理上，队列的特点是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“先进先出”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最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后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进入队列的数据元素最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后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取出使用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而最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进入队列的数据元素也最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取出使用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数据的进入在队尾进行（排在队尾）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而取出在队头进行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队列经常用于组织各种缓冲区（如打印缓冲区）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由于数据总是不断产生送入缓冲区，并不断的被取出使用，所以经常把缓冲区组织成一个环形，即把缓冲区的首尾接起来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4">
                                            <p:txEl>
                                              <p:charRg st="2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4">
                                            <p:txEl>
                                              <p:charRg st="3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4">
                                            <p:txEl>
                                              <p:charRg st="58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4">
                                            <p:txEl>
                                              <p:charRg st="106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929AF4-923E-4A9B-8AA7-4ECA685BE4D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755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223838"/>
            <a:ext cx="8842375" cy="6410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队列中元素的类型为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typeofelement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并有如下说明：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#define  SIZE   ...           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队列的尺寸 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typeofelement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queue[SIZE] ;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队列 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inpointer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,             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送入指针 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		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outpointer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,           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取出指针 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      count ;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队列中现存数据计数器 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有关队列的操作有：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入  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ED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	将一个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typeofelemet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类型的数据送入队尾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出  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ED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	从队首取出一个数据使用，并将该数据从队列移掉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11188" y="153988"/>
            <a:ext cx="6121400" cy="5175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typedef int </a:t>
            </a:r>
            <a:r>
              <a:rPr lang="en-US" altLang="zh-CN" sz="2800" b="1" dirty="0">
                <a:solidFill>
                  <a:srgbClr val="FFFF66"/>
                </a:solidFill>
                <a:ea typeface="黑体" panose="02010609060101010101" pitchFamily="49" charset="-122"/>
              </a:rPr>
              <a:t>typeofelement;</a:t>
            </a:r>
            <a:endParaRPr lang="en-US" altLang="zh-CN" sz="2800" b="1" dirty="0">
              <a:solidFill>
                <a:srgbClr val="FFFF66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7">
                                            <p:txEl>
                                              <p:charRg st="295" end="3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75587">
                                            <p:txEl>
                                              <p:charRg st="295" end="3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7">
                                            <p:txEl>
                                              <p:charRg st="305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75587">
                                            <p:txEl>
                                              <p:charRg st="305" end="3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7">
                                            <p:txEl>
                                              <p:charRg st="310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75587">
                                            <p:txEl>
                                              <p:charRg st="310" end="3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7">
                                            <p:txEl>
                                              <p:charRg st="338" end="3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75587">
                                            <p:txEl>
                                              <p:charRg st="338" end="3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7">
                                            <p:txEl>
                                              <p:charRg st="343" end="3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75587">
                                            <p:txEl>
                                              <p:charRg st="343" end="3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885488" y="6335713"/>
            <a:ext cx="738188" cy="498475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6AE14C-513F-4254-AEE0-96B77E0226E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77635" name="Text Box 3"/>
          <p:cNvSpPr txBox="1"/>
          <p:nvPr/>
        </p:nvSpPr>
        <p:spPr>
          <a:xfrm>
            <a:off x="4029075" y="661988"/>
            <a:ext cx="504825" cy="40005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ED02FC"/>
                </a:solidFill>
                <a:ea typeface="黑体" panose="02010609060101010101" pitchFamily="49" charset="-122"/>
              </a:rPr>
              <a:t>0</a:t>
            </a:r>
            <a:endParaRPr lang="en-US" altLang="zh-CN" sz="2000" b="1" dirty="0">
              <a:solidFill>
                <a:srgbClr val="ED02FC"/>
              </a:solidFill>
              <a:ea typeface="黑体" panose="02010609060101010101" pitchFamily="49" charset="-122"/>
            </a:endParaRPr>
          </a:p>
        </p:txBody>
      </p:sp>
      <p:sp>
        <p:nvSpPr>
          <p:cNvPr id="1477636" name="Text Box 4"/>
          <p:cNvSpPr txBox="1"/>
          <p:nvPr/>
        </p:nvSpPr>
        <p:spPr>
          <a:xfrm>
            <a:off x="4102100" y="609283"/>
            <a:ext cx="360363" cy="39878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ED02FC"/>
                </a:solidFill>
                <a:ea typeface="黑体" panose="02010609060101010101" pitchFamily="49" charset="-122"/>
              </a:rPr>
              <a:t>1</a:t>
            </a:r>
            <a:endParaRPr lang="en-US" altLang="zh-CN" sz="20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477637" name="Text Box 5"/>
          <p:cNvSpPr txBox="1"/>
          <p:nvPr/>
        </p:nvSpPr>
        <p:spPr>
          <a:xfrm>
            <a:off x="4057650" y="647383"/>
            <a:ext cx="431800" cy="39878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ED02FC"/>
                </a:solidFill>
                <a:ea typeface="黑体" panose="02010609060101010101" pitchFamily="49" charset="-122"/>
              </a:rPr>
              <a:t>2</a:t>
            </a:r>
            <a:endParaRPr lang="en-US" altLang="zh-CN" sz="2000" b="1" dirty="0">
              <a:solidFill>
                <a:srgbClr val="ED02FC"/>
              </a:solidFill>
              <a:ea typeface="黑体" panose="02010609060101010101" pitchFamily="49" charset="-122"/>
            </a:endParaRPr>
          </a:p>
        </p:txBody>
      </p:sp>
      <p:sp>
        <p:nvSpPr>
          <p:cNvPr id="1477638" name="Text Box 6"/>
          <p:cNvSpPr txBox="1"/>
          <p:nvPr/>
        </p:nvSpPr>
        <p:spPr>
          <a:xfrm>
            <a:off x="4102100" y="1103313"/>
            <a:ext cx="360363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1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39" name="Text Box 7"/>
          <p:cNvSpPr txBox="1"/>
          <p:nvPr/>
        </p:nvSpPr>
        <p:spPr>
          <a:xfrm>
            <a:off x="4102100" y="1103313"/>
            <a:ext cx="504825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2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40" name="Text Box 8"/>
          <p:cNvSpPr txBox="1"/>
          <p:nvPr/>
        </p:nvSpPr>
        <p:spPr>
          <a:xfrm>
            <a:off x="4102100" y="1111250"/>
            <a:ext cx="360363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4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41" name="Text Box 9"/>
          <p:cNvSpPr txBox="1"/>
          <p:nvPr/>
        </p:nvSpPr>
        <p:spPr>
          <a:xfrm>
            <a:off x="4102100" y="1111250"/>
            <a:ext cx="504825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5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42" name="Text Box 10"/>
          <p:cNvSpPr txBox="1"/>
          <p:nvPr/>
        </p:nvSpPr>
        <p:spPr>
          <a:xfrm>
            <a:off x="4102100" y="1103313"/>
            <a:ext cx="360363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3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43" name="Text Box 11"/>
          <p:cNvSpPr txBox="1"/>
          <p:nvPr/>
        </p:nvSpPr>
        <p:spPr>
          <a:xfrm>
            <a:off x="4029075" y="1093788"/>
            <a:ext cx="504825" cy="40005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0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44" name="Text Box 12"/>
          <p:cNvSpPr txBox="1"/>
          <p:nvPr/>
        </p:nvSpPr>
        <p:spPr>
          <a:xfrm>
            <a:off x="5521325" y="863600"/>
            <a:ext cx="1079500" cy="40005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5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45" name="Text Box 13"/>
          <p:cNvSpPr txBox="1"/>
          <p:nvPr/>
        </p:nvSpPr>
        <p:spPr>
          <a:xfrm>
            <a:off x="5519738" y="215900"/>
            <a:ext cx="1081087" cy="40005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10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46" name="Text Box 14"/>
          <p:cNvSpPr txBox="1"/>
          <p:nvPr/>
        </p:nvSpPr>
        <p:spPr>
          <a:xfrm>
            <a:off x="4030663" y="1524000"/>
            <a:ext cx="504825" cy="40005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0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47" name="Rectangle 15"/>
          <p:cNvSpPr>
            <a:spLocks noChangeArrowheads="1"/>
          </p:cNvSpPr>
          <p:nvPr/>
        </p:nvSpPr>
        <p:spPr bwMode="auto">
          <a:xfrm>
            <a:off x="8861425" y="103188"/>
            <a:ext cx="1944688" cy="666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初始化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入队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15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入队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入队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出队→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出队→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55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入队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出队→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50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入队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出队→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出队→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ED02FC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22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入队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ED02FC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44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入队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66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入队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出队→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ED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ED02FC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出队→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77648" name="Text Box 16"/>
          <p:cNvSpPr txBox="1"/>
          <p:nvPr/>
        </p:nvSpPr>
        <p:spPr>
          <a:xfrm>
            <a:off x="4175125" y="1552575"/>
            <a:ext cx="504825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1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49" name="Text Box 17"/>
          <p:cNvSpPr txBox="1"/>
          <p:nvPr/>
        </p:nvSpPr>
        <p:spPr>
          <a:xfrm>
            <a:off x="4175125" y="1558925"/>
            <a:ext cx="358775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2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64530" name="Text Box 18"/>
          <p:cNvSpPr txBox="1"/>
          <p:nvPr/>
        </p:nvSpPr>
        <p:spPr>
          <a:xfrm>
            <a:off x="5089525" y="215900"/>
            <a:ext cx="504825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folHlink"/>
                </a:solidFill>
                <a:ea typeface="黑体" panose="02010609060101010101" pitchFamily="49" charset="-122"/>
              </a:rPr>
              <a:t>x:</a:t>
            </a:r>
            <a:endParaRPr lang="en-US" altLang="zh-CN" sz="2000" b="1" dirty="0">
              <a:solidFill>
                <a:schemeClr val="folHlink"/>
              </a:solidFill>
              <a:ea typeface="黑体" panose="02010609060101010101" pitchFamily="49" charset="-122"/>
            </a:endParaRPr>
          </a:p>
        </p:txBody>
      </p:sp>
      <p:sp>
        <p:nvSpPr>
          <p:cNvPr id="1477651" name="Text Box 19"/>
          <p:cNvSpPr txBox="1"/>
          <p:nvPr/>
        </p:nvSpPr>
        <p:spPr>
          <a:xfrm>
            <a:off x="5232400" y="3240088"/>
            <a:ext cx="360363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5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52" name="Text Box 20"/>
          <p:cNvSpPr txBox="1"/>
          <p:nvPr/>
        </p:nvSpPr>
        <p:spPr>
          <a:xfrm>
            <a:off x="3648075" y="2808288"/>
            <a:ext cx="865188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15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53" name="Text Box 21"/>
          <p:cNvSpPr txBox="1"/>
          <p:nvPr/>
        </p:nvSpPr>
        <p:spPr>
          <a:xfrm>
            <a:off x="2566988" y="3744913"/>
            <a:ext cx="793750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10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grpSp>
        <p:nvGrpSpPr>
          <p:cNvPr id="64534" name="Group 22"/>
          <p:cNvGrpSpPr/>
          <p:nvPr/>
        </p:nvGrpSpPr>
        <p:grpSpPr>
          <a:xfrm>
            <a:off x="2497138" y="215900"/>
            <a:ext cx="1539875" cy="1728788"/>
            <a:chOff x="459" y="255"/>
            <a:chExt cx="970" cy="1089"/>
          </a:xfrm>
        </p:grpSpPr>
        <p:sp>
          <p:nvSpPr>
            <p:cNvPr id="64595" name="Rectangle 23"/>
            <p:cNvSpPr/>
            <p:nvPr/>
          </p:nvSpPr>
          <p:spPr>
            <a:xfrm>
              <a:off x="460" y="1072"/>
              <a:ext cx="923" cy="27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folHlink"/>
                  </a:solidFill>
                  <a:ea typeface="黑体" panose="02010609060101010101" pitchFamily="49" charset="-122"/>
                </a:rPr>
                <a:t>inpointer</a:t>
              </a:r>
              <a:r>
                <a:rPr lang="zh-CN" altLang="en-US" sz="2000" b="1" dirty="0">
                  <a:solidFill>
                    <a:schemeClr val="folHlink"/>
                  </a:solidFill>
                  <a:ea typeface="黑体" panose="02010609060101010101" pitchFamily="49" charset="-122"/>
                </a:rPr>
                <a:t>：</a:t>
              </a:r>
              <a:endParaRPr lang="zh-CN" altLang="en-US" sz="2000" b="1" dirty="0">
                <a:solidFill>
                  <a:schemeClr val="fol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4596" name="Rectangle 24"/>
            <p:cNvSpPr/>
            <p:nvPr/>
          </p:nvSpPr>
          <p:spPr>
            <a:xfrm>
              <a:off x="459" y="800"/>
              <a:ext cx="970" cy="27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folHlink"/>
                  </a:solidFill>
                  <a:ea typeface="黑体" panose="02010609060101010101" pitchFamily="49" charset="-122"/>
                </a:rPr>
                <a:t>outpointer</a:t>
              </a:r>
              <a:r>
                <a:rPr lang="zh-CN" altLang="en-US" sz="2000" b="1" dirty="0">
                  <a:solidFill>
                    <a:schemeClr val="folHlink"/>
                  </a:solidFill>
                  <a:ea typeface="黑体" panose="02010609060101010101" pitchFamily="49" charset="-122"/>
                </a:rPr>
                <a:t>：</a:t>
              </a:r>
              <a:endParaRPr lang="zh-CN" altLang="en-US" sz="2000" b="1" dirty="0">
                <a:solidFill>
                  <a:schemeClr val="fol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4597" name="Rectangle 25"/>
            <p:cNvSpPr/>
            <p:nvPr/>
          </p:nvSpPr>
          <p:spPr>
            <a:xfrm>
              <a:off x="476" y="527"/>
              <a:ext cx="635" cy="27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rgbClr val="ED02FC"/>
                  </a:solidFill>
                  <a:ea typeface="黑体" panose="02010609060101010101" pitchFamily="49" charset="-122"/>
                </a:rPr>
                <a:t>count</a:t>
              </a:r>
              <a:endParaRPr lang="en-US" altLang="zh-CN" sz="2000" b="1" dirty="0">
                <a:solidFill>
                  <a:srgbClr val="ED02F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4598" name="Rectangle 26"/>
            <p:cNvSpPr/>
            <p:nvPr/>
          </p:nvSpPr>
          <p:spPr>
            <a:xfrm>
              <a:off x="476" y="255"/>
              <a:ext cx="425" cy="27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SIZE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64535" name="Text Box 27"/>
          <p:cNvSpPr txBox="1"/>
          <p:nvPr/>
        </p:nvSpPr>
        <p:spPr>
          <a:xfrm>
            <a:off x="4029075" y="228600"/>
            <a:ext cx="504825" cy="40005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6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60" name="Freeform 28"/>
          <p:cNvSpPr/>
          <p:nvPr/>
        </p:nvSpPr>
        <p:spPr>
          <a:xfrm>
            <a:off x="1992313" y="1295400"/>
            <a:ext cx="504825" cy="28082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</a:cxnLst>
            <a:pathLst>
              <a:path w="318" h="1769">
                <a:moveTo>
                  <a:pt x="318" y="0"/>
                </a:moveTo>
                <a:lnTo>
                  <a:pt x="0" y="0"/>
                </a:lnTo>
                <a:lnTo>
                  <a:pt x="0" y="1769"/>
                </a:lnTo>
                <a:lnTo>
                  <a:pt x="272" y="1769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sp>
        <p:nvSpPr>
          <p:cNvPr id="1477661" name="Freeform 29"/>
          <p:cNvSpPr/>
          <p:nvPr/>
        </p:nvSpPr>
        <p:spPr bwMode="auto">
          <a:xfrm>
            <a:off x="2208213" y="1727200"/>
            <a:ext cx="288925" cy="2233613"/>
          </a:xfrm>
          <a:custGeom>
            <a:avLst/>
            <a:gdLst>
              <a:gd name="T0" fmla="*/ 2147483646 w 182"/>
              <a:gd name="T1" fmla="*/ 0 h 1407"/>
              <a:gd name="T2" fmla="*/ 0 w 182"/>
              <a:gd name="T3" fmla="*/ 0 h 1407"/>
              <a:gd name="T4" fmla="*/ 0 w 182"/>
              <a:gd name="T5" fmla="*/ 2147483646 h 1407"/>
              <a:gd name="T6" fmla="*/ 2147483646 w 182"/>
              <a:gd name="T7" fmla="*/ 2147483646 h 140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82" h="1407">
                <a:moveTo>
                  <a:pt x="182" y="0"/>
                </a:moveTo>
                <a:lnTo>
                  <a:pt x="0" y="0"/>
                </a:lnTo>
                <a:lnTo>
                  <a:pt x="0" y="1271"/>
                </a:lnTo>
                <a:lnTo>
                  <a:pt x="182" y="1407"/>
                </a:lnTo>
              </a:path>
            </a:pathLst>
          </a:cu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4538" name="Group 30"/>
          <p:cNvGrpSpPr/>
          <p:nvPr/>
        </p:nvGrpSpPr>
        <p:grpSpPr>
          <a:xfrm>
            <a:off x="2338388" y="2828925"/>
            <a:ext cx="3633787" cy="3235325"/>
            <a:chOff x="331" y="1901"/>
            <a:chExt cx="2289" cy="2038"/>
          </a:xfrm>
        </p:grpSpPr>
        <p:sp>
          <p:nvSpPr>
            <p:cNvPr id="64585" name="Oval 31"/>
            <p:cNvSpPr/>
            <p:nvPr/>
          </p:nvSpPr>
          <p:spPr>
            <a:xfrm>
              <a:off x="436" y="1901"/>
              <a:ext cx="2184" cy="20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64586" name="Oval 32"/>
            <p:cNvSpPr/>
            <p:nvPr/>
          </p:nvSpPr>
          <p:spPr>
            <a:xfrm>
              <a:off x="652" y="2092"/>
              <a:ext cx="1751" cy="16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64587" name="Line 33"/>
            <p:cNvSpPr/>
            <p:nvPr/>
          </p:nvSpPr>
          <p:spPr>
            <a:xfrm>
              <a:off x="331" y="2930"/>
              <a:ext cx="1211" cy="1"/>
            </a:xfrm>
            <a:prstGeom prst="line">
              <a:avLst/>
            </a:prstGeom>
            <a:ln w="38100" cap="flat" cmpd="sng">
              <a:solidFill>
                <a:srgbClr val="ED02FC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88" name="Arc 34"/>
            <p:cNvSpPr/>
            <p:nvPr/>
          </p:nvSpPr>
          <p:spPr>
            <a:xfrm>
              <a:off x="1650" y="2251"/>
              <a:ext cx="595" cy="5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4589" name="Line 35"/>
            <p:cNvSpPr/>
            <p:nvPr/>
          </p:nvSpPr>
          <p:spPr>
            <a:xfrm>
              <a:off x="793" y="2160"/>
              <a:ext cx="137" cy="1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90" name="Line 36"/>
            <p:cNvSpPr/>
            <p:nvPr/>
          </p:nvSpPr>
          <p:spPr>
            <a:xfrm flipH="1">
              <a:off x="1832" y="1977"/>
              <a:ext cx="60" cy="1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91" name="Line 37"/>
            <p:cNvSpPr/>
            <p:nvPr/>
          </p:nvSpPr>
          <p:spPr>
            <a:xfrm flipV="1">
              <a:off x="2402" y="2644"/>
              <a:ext cx="178" cy="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92" name="Line 38"/>
            <p:cNvSpPr/>
            <p:nvPr/>
          </p:nvSpPr>
          <p:spPr>
            <a:xfrm>
              <a:off x="2225" y="3424"/>
              <a:ext cx="159" cy="13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93" name="Rectangle 39"/>
            <p:cNvSpPr/>
            <p:nvPr/>
          </p:nvSpPr>
          <p:spPr>
            <a:xfrm>
              <a:off x="717" y="2712"/>
              <a:ext cx="1074" cy="491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首：</a:t>
              </a:r>
              <a:r>
                <a:rPr lang="en-US" altLang="zh-CN" sz="2000" b="1" dirty="0">
                  <a:ea typeface="黑体" panose="02010609060101010101" pitchFamily="49" charset="-122"/>
                </a:rPr>
                <a:t>0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尾：</a:t>
              </a:r>
              <a:r>
                <a:rPr lang="en-US" altLang="zh-CN" sz="2000" b="1" dirty="0">
                  <a:ea typeface="黑体" panose="02010609060101010101" pitchFamily="49" charset="-122"/>
                </a:rPr>
                <a:t>5 (n-1)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64594" name="Line 40"/>
            <p:cNvSpPr/>
            <p:nvPr/>
          </p:nvSpPr>
          <p:spPr>
            <a:xfrm flipH="1">
              <a:off x="1111" y="3657"/>
              <a:ext cx="91" cy="2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77673" name="Freeform 41"/>
          <p:cNvSpPr/>
          <p:nvPr/>
        </p:nvSpPr>
        <p:spPr bwMode="auto">
          <a:xfrm>
            <a:off x="2928938" y="1944688"/>
            <a:ext cx="647700" cy="863600"/>
          </a:xfrm>
          <a:custGeom>
            <a:avLst/>
            <a:gdLst>
              <a:gd name="T0" fmla="*/ 0 w 408"/>
              <a:gd name="T1" fmla="*/ 0 h 544"/>
              <a:gd name="T2" fmla="*/ 0 w 408"/>
              <a:gd name="T3" fmla="*/ 2147483646 h 544"/>
              <a:gd name="T4" fmla="*/ 2147483646 w 408"/>
              <a:gd name="T5" fmla="*/ 2147483646 h 5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8" h="544">
                <a:moveTo>
                  <a:pt x="0" y="0"/>
                </a:moveTo>
                <a:lnTo>
                  <a:pt x="0" y="272"/>
                </a:lnTo>
                <a:lnTo>
                  <a:pt x="408" y="544"/>
                </a:lnTo>
              </a:path>
            </a:pathLst>
          </a:cu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77674" name="Freeform 42"/>
          <p:cNvSpPr/>
          <p:nvPr/>
        </p:nvSpPr>
        <p:spPr bwMode="auto">
          <a:xfrm>
            <a:off x="3071813" y="1944688"/>
            <a:ext cx="2592388" cy="1223963"/>
          </a:xfrm>
          <a:custGeom>
            <a:avLst/>
            <a:gdLst>
              <a:gd name="T0" fmla="*/ 0 w 1633"/>
              <a:gd name="T1" fmla="*/ 0 h 771"/>
              <a:gd name="T2" fmla="*/ 0 w 1633"/>
              <a:gd name="T3" fmla="*/ 2147483646 h 771"/>
              <a:gd name="T4" fmla="*/ 2147483646 w 1633"/>
              <a:gd name="T5" fmla="*/ 2147483646 h 771"/>
              <a:gd name="T6" fmla="*/ 2147483646 w 1633"/>
              <a:gd name="T7" fmla="*/ 2147483646 h 771"/>
              <a:gd name="T8" fmla="*/ 2147483646 w 1633"/>
              <a:gd name="T9" fmla="*/ 2147483646 h 7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33" h="771">
                <a:moveTo>
                  <a:pt x="0" y="0"/>
                </a:moveTo>
                <a:lnTo>
                  <a:pt x="0" y="272"/>
                </a:lnTo>
                <a:lnTo>
                  <a:pt x="1633" y="272"/>
                </a:lnTo>
                <a:lnTo>
                  <a:pt x="1633" y="635"/>
                </a:lnTo>
                <a:lnTo>
                  <a:pt x="1452" y="771"/>
                </a:lnTo>
              </a:path>
            </a:pathLst>
          </a:cu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77675" name="Text Box 43"/>
          <p:cNvSpPr txBox="1"/>
          <p:nvPr/>
        </p:nvSpPr>
        <p:spPr>
          <a:xfrm>
            <a:off x="5521325" y="215900"/>
            <a:ext cx="1008063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15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76" name="Text Box 44"/>
          <p:cNvSpPr txBox="1"/>
          <p:nvPr/>
        </p:nvSpPr>
        <p:spPr>
          <a:xfrm>
            <a:off x="5521325" y="4608513"/>
            <a:ext cx="719138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55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77" name="Text Box 45"/>
          <p:cNvSpPr txBox="1"/>
          <p:nvPr/>
        </p:nvSpPr>
        <p:spPr>
          <a:xfrm>
            <a:off x="4440238" y="5681663"/>
            <a:ext cx="720725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50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78" name="Text Box 46"/>
          <p:cNvSpPr txBox="1"/>
          <p:nvPr/>
        </p:nvSpPr>
        <p:spPr>
          <a:xfrm>
            <a:off x="4175125" y="1558925"/>
            <a:ext cx="360363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3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79" name="Freeform 47"/>
          <p:cNvSpPr/>
          <p:nvPr/>
        </p:nvSpPr>
        <p:spPr bwMode="auto">
          <a:xfrm>
            <a:off x="3000375" y="1944688"/>
            <a:ext cx="3384550" cy="2663825"/>
          </a:xfrm>
          <a:custGeom>
            <a:avLst/>
            <a:gdLst>
              <a:gd name="T0" fmla="*/ 0 w 2132"/>
              <a:gd name="T1" fmla="*/ 0 h 1678"/>
              <a:gd name="T2" fmla="*/ 0 w 2132"/>
              <a:gd name="T3" fmla="*/ 2147483646 h 1678"/>
              <a:gd name="T4" fmla="*/ 2147483646 w 2132"/>
              <a:gd name="T5" fmla="*/ 2147483646 h 1678"/>
              <a:gd name="T6" fmla="*/ 2147483646 w 2132"/>
              <a:gd name="T7" fmla="*/ 2147483646 h 1678"/>
              <a:gd name="T8" fmla="*/ 2147483646 w 2132"/>
              <a:gd name="T9" fmla="*/ 2147483646 h 16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32" h="1678">
                <a:moveTo>
                  <a:pt x="0" y="0"/>
                </a:moveTo>
                <a:lnTo>
                  <a:pt x="0" y="181"/>
                </a:lnTo>
                <a:lnTo>
                  <a:pt x="2132" y="181"/>
                </a:lnTo>
                <a:lnTo>
                  <a:pt x="2132" y="1678"/>
                </a:lnTo>
                <a:lnTo>
                  <a:pt x="1905" y="1678"/>
                </a:lnTo>
              </a:path>
            </a:pathLst>
          </a:cu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77680" name="Freeform 48"/>
          <p:cNvSpPr/>
          <p:nvPr/>
        </p:nvSpPr>
        <p:spPr>
          <a:xfrm>
            <a:off x="2136775" y="1295400"/>
            <a:ext cx="1295400" cy="15128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</a:cxnLst>
            <a:pathLst>
              <a:path w="816" h="953">
                <a:moveTo>
                  <a:pt x="227" y="0"/>
                </a:moveTo>
                <a:lnTo>
                  <a:pt x="0" y="0"/>
                </a:lnTo>
                <a:lnTo>
                  <a:pt x="0" y="590"/>
                </a:lnTo>
                <a:lnTo>
                  <a:pt x="816" y="953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sp>
        <p:nvSpPr>
          <p:cNvPr id="1477681" name="Freeform 49"/>
          <p:cNvSpPr/>
          <p:nvPr/>
        </p:nvSpPr>
        <p:spPr>
          <a:xfrm>
            <a:off x="1976438" y="1223963"/>
            <a:ext cx="4048125" cy="20875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550" h="1386">
                <a:moveTo>
                  <a:pt x="328" y="71"/>
                </a:moveTo>
                <a:cubicBezTo>
                  <a:pt x="0" y="105"/>
                  <a:pt x="22" y="0"/>
                  <a:pt x="22" y="170"/>
                </a:cubicBezTo>
                <a:lnTo>
                  <a:pt x="10" y="751"/>
                </a:lnTo>
                <a:lnTo>
                  <a:pt x="2550" y="751"/>
                </a:lnTo>
                <a:lnTo>
                  <a:pt x="2550" y="1250"/>
                </a:lnTo>
                <a:lnTo>
                  <a:pt x="2278" y="1386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sp>
        <p:nvSpPr>
          <p:cNvPr id="1477682" name="Text Box 50"/>
          <p:cNvSpPr txBox="1"/>
          <p:nvPr/>
        </p:nvSpPr>
        <p:spPr>
          <a:xfrm>
            <a:off x="4175125" y="1558925"/>
            <a:ext cx="360363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4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83" name="Text Box 51"/>
          <p:cNvSpPr txBox="1"/>
          <p:nvPr/>
        </p:nvSpPr>
        <p:spPr>
          <a:xfrm>
            <a:off x="4175125" y="1558925"/>
            <a:ext cx="360363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5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84" name="Text Box 52"/>
          <p:cNvSpPr txBox="1"/>
          <p:nvPr/>
        </p:nvSpPr>
        <p:spPr>
          <a:xfrm>
            <a:off x="5521325" y="215900"/>
            <a:ext cx="1079500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55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85" name="Text Box 53"/>
          <p:cNvSpPr txBox="1"/>
          <p:nvPr/>
        </p:nvSpPr>
        <p:spPr>
          <a:xfrm>
            <a:off x="5592763" y="863600"/>
            <a:ext cx="720725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50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86" name="Text Box 54"/>
          <p:cNvSpPr txBox="1"/>
          <p:nvPr/>
        </p:nvSpPr>
        <p:spPr>
          <a:xfrm>
            <a:off x="2784475" y="5111750"/>
            <a:ext cx="720725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22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87" name="Text Box 55"/>
          <p:cNvSpPr txBox="1"/>
          <p:nvPr/>
        </p:nvSpPr>
        <p:spPr>
          <a:xfrm>
            <a:off x="4175125" y="1558925"/>
            <a:ext cx="288925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0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88" name="Freeform 56"/>
          <p:cNvSpPr/>
          <p:nvPr/>
        </p:nvSpPr>
        <p:spPr bwMode="auto">
          <a:xfrm>
            <a:off x="3071813" y="1944688"/>
            <a:ext cx="3313113" cy="4175125"/>
          </a:xfrm>
          <a:custGeom>
            <a:avLst/>
            <a:gdLst>
              <a:gd name="T0" fmla="*/ 0 w 2087"/>
              <a:gd name="T1" fmla="*/ 0 h 2630"/>
              <a:gd name="T2" fmla="*/ 0 w 2087"/>
              <a:gd name="T3" fmla="*/ 2147483646 h 2630"/>
              <a:gd name="T4" fmla="*/ 2147483646 w 2087"/>
              <a:gd name="T5" fmla="*/ 2147483646 h 2630"/>
              <a:gd name="T6" fmla="*/ 2147483646 w 2087"/>
              <a:gd name="T7" fmla="*/ 2147483646 h 2630"/>
              <a:gd name="T8" fmla="*/ 2147483646 w 2087"/>
              <a:gd name="T9" fmla="*/ 2147483646 h 2630"/>
              <a:gd name="T10" fmla="*/ 2147483646 w 2087"/>
              <a:gd name="T11" fmla="*/ 2147483646 h 26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087" h="2630">
                <a:moveTo>
                  <a:pt x="0" y="0"/>
                </a:moveTo>
                <a:lnTo>
                  <a:pt x="0" y="181"/>
                </a:lnTo>
                <a:lnTo>
                  <a:pt x="2087" y="181"/>
                </a:lnTo>
                <a:lnTo>
                  <a:pt x="2087" y="2630"/>
                </a:lnTo>
                <a:lnTo>
                  <a:pt x="1361" y="2630"/>
                </a:lnTo>
                <a:lnTo>
                  <a:pt x="1225" y="2540"/>
                </a:lnTo>
              </a:path>
            </a:pathLst>
          </a:cu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55" name="Text Box 57"/>
          <p:cNvSpPr txBox="1"/>
          <p:nvPr/>
        </p:nvSpPr>
        <p:spPr>
          <a:xfrm>
            <a:off x="5089525" y="863600"/>
            <a:ext cx="504825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folHlink"/>
                </a:solidFill>
                <a:ea typeface="黑体" panose="02010609060101010101" pitchFamily="49" charset="-122"/>
              </a:rPr>
              <a:t>y:</a:t>
            </a:r>
            <a:endParaRPr lang="en-US" altLang="zh-CN" sz="2000" b="1" dirty="0">
              <a:solidFill>
                <a:schemeClr val="folHlink"/>
              </a:solidFill>
              <a:ea typeface="黑体" panose="02010609060101010101" pitchFamily="49" charset="-122"/>
            </a:endParaRPr>
          </a:p>
        </p:txBody>
      </p:sp>
      <p:sp>
        <p:nvSpPr>
          <p:cNvPr id="1477690" name="Freeform 58"/>
          <p:cNvSpPr/>
          <p:nvPr/>
        </p:nvSpPr>
        <p:spPr>
          <a:xfrm>
            <a:off x="2136775" y="1295400"/>
            <a:ext cx="4103688" cy="360045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540" h="2268">
                <a:moveTo>
                  <a:pt x="181" y="0"/>
                </a:moveTo>
                <a:lnTo>
                  <a:pt x="0" y="0"/>
                </a:lnTo>
                <a:lnTo>
                  <a:pt x="0" y="681"/>
                </a:lnTo>
                <a:lnTo>
                  <a:pt x="2540" y="681"/>
                </a:lnTo>
                <a:lnTo>
                  <a:pt x="2540" y="2268"/>
                </a:lnTo>
                <a:lnTo>
                  <a:pt x="2404" y="2268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sp>
        <p:nvSpPr>
          <p:cNvPr id="1477691" name="Freeform 59"/>
          <p:cNvSpPr/>
          <p:nvPr/>
        </p:nvSpPr>
        <p:spPr bwMode="auto">
          <a:xfrm>
            <a:off x="2136775" y="1944688"/>
            <a:ext cx="4464050" cy="4391025"/>
          </a:xfrm>
          <a:custGeom>
            <a:avLst/>
            <a:gdLst>
              <a:gd name="T0" fmla="*/ 2147483646 w 2812"/>
              <a:gd name="T1" fmla="*/ 0 h 2766"/>
              <a:gd name="T2" fmla="*/ 2147483646 w 2812"/>
              <a:gd name="T3" fmla="*/ 2147483646 h 2766"/>
              <a:gd name="T4" fmla="*/ 2147483646 w 2812"/>
              <a:gd name="T5" fmla="*/ 2147483646 h 2766"/>
              <a:gd name="T6" fmla="*/ 2147483646 w 2812"/>
              <a:gd name="T7" fmla="*/ 2147483646 h 2766"/>
              <a:gd name="T8" fmla="*/ 0 w 2812"/>
              <a:gd name="T9" fmla="*/ 2147483646 h 2766"/>
              <a:gd name="T10" fmla="*/ 0 w 2812"/>
              <a:gd name="T11" fmla="*/ 2147483646 h 2766"/>
              <a:gd name="T12" fmla="*/ 2147483646 w 2812"/>
              <a:gd name="T13" fmla="*/ 2147483646 h 27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12" h="2766">
                <a:moveTo>
                  <a:pt x="680" y="0"/>
                </a:moveTo>
                <a:lnTo>
                  <a:pt x="680" y="136"/>
                </a:lnTo>
                <a:lnTo>
                  <a:pt x="2812" y="136"/>
                </a:lnTo>
                <a:lnTo>
                  <a:pt x="2812" y="2766"/>
                </a:lnTo>
                <a:lnTo>
                  <a:pt x="0" y="2766"/>
                </a:lnTo>
                <a:lnTo>
                  <a:pt x="0" y="2313"/>
                </a:lnTo>
                <a:lnTo>
                  <a:pt x="317" y="2131"/>
                </a:lnTo>
              </a:path>
            </a:pathLst>
          </a:cu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77692" name="Freeform 60"/>
          <p:cNvSpPr/>
          <p:nvPr/>
        </p:nvSpPr>
        <p:spPr>
          <a:xfrm>
            <a:off x="2136775" y="1295400"/>
            <a:ext cx="4319588" cy="489743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721" h="3085">
                <a:moveTo>
                  <a:pt x="227" y="0"/>
                </a:moveTo>
                <a:lnTo>
                  <a:pt x="0" y="0"/>
                </a:lnTo>
                <a:lnTo>
                  <a:pt x="0" y="681"/>
                </a:lnTo>
                <a:lnTo>
                  <a:pt x="2721" y="681"/>
                </a:lnTo>
                <a:lnTo>
                  <a:pt x="2721" y="3085"/>
                </a:lnTo>
                <a:lnTo>
                  <a:pt x="1814" y="3085"/>
                </a:lnTo>
                <a:lnTo>
                  <a:pt x="1769" y="2949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sp>
        <p:nvSpPr>
          <p:cNvPr id="1477693" name="Freeform 61"/>
          <p:cNvSpPr/>
          <p:nvPr/>
        </p:nvSpPr>
        <p:spPr>
          <a:xfrm>
            <a:off x="2063750" y="1295400"/>
            <a:ext cx="4249738" cy="489743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677" h="3085">
                <a:moveTo>
                  <a:pt x="273" y="0"/>
                </a:moveTo>
                <a:lnTo>
                  <a:pt x="0" y="0"/>
                </a:lnTo>
                <a:lnTo>
                  <a:pt x="0" y="771"/>
                </a:lnTo>
                <a:lnTo>
                  <a:pt x="2677" y="771"/>
                </a:lnTo>
                <a:lnTo>
                  <a:pt x="2677" y="3085"/>
                </a:lnTo>
                <a:lnTo>
                  <a:pt x="273" y="3085"/>
                </a:lnTo>
                <a:lnTo>
                  <a:pt x="273" y="2858"/>
                </a:lnTo>
                <a:lnTo>
                  <a:pt x="499" y="2722"/>
                </a:ln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sp>
        <p:nvSpPr>
          <p:cNvPr id="1477694" name="Text Box 62"/>
          <p:cNvSpPr txBox="1"/>
          <p:nvPr/>
        </p:nvSpPr>
        <p:spPr>
          <a:xfrm>
            <a:off x="2566988" y="3744913"/>
            <a:ext cx="865187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44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95" name="Text Box 63"/>
          <p:cNvSpPr txBox="1"/>
          <p:nvPr/>
        </p:nvSpPr>
        <p:spPr>
          <a:xfrm>
            <a:off x="3721100" y="2808288"/>
            <a:ext cx="935038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66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96" name="Text Box 64"/>
          <p:cNvSpPr txBox="1"/>
          <p:nvPr/>
        </p:nvSpPr>
        <p:spPr>
          <a:xfrm>
            <a:off x="4175125" y="1558925"/>
            <a:ext cx="360363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2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97" name="Text Box 65"/>
          <p:cNvSpPr txBox="1"/>
          <p:nvPr/>
        </p:nvSpPr>
        <p:spPr>
          <a:xfrm>
            <a:off x="5592763" y="863600"/>
            <a:ext cx="576262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22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98" name="Text Box 66"/>
          <p:cNvSpPr txBox="1"/>
          <p:nvPr/>
        </p:nvSpPr>
        <p:spPr>
          <a:xfrm>
            <a:off x="5592763" y="898525"/>
            <a:ext cx="1008062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44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699" name="Text Box 67"/>
          <p:cNvSpPr txBox="1"/>
          <p:nvPr/>
        </p:nvSpPr>
        <p:spPr>
          <a:xfrm>
            <a:off x="4057650" y="1539875"/>
            <a:ext cx="360363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1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1477700" name="Text Box 68"/>
          <p:cNvSpPr txBox="1"/>
          <p:nvPr/>
        </p:nvSpPr>
        <p:spPr>
          <a:xfrm>
            <a:off x="4081780" y="615633"/>
            <a:ext cx="431800" cy="39878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ED02FC"/>
                </a:solidFill>
                <a:ea typeface="黑体" panose="02010609060101010101" pitchFamily="49" charset="-122"/>
              </a:rPr>
              <a:t>3</a:t>
            </a:r>
            <a:endParaRPr lang="en-US" altLang="zh-CN" sz="2000" b="1" dirty="0">
              <a:solidFill>
                <a:srgbClr val="ED02FC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497138" y="6426200"/>
          <a:ext cx="3167064" cy="414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844"/>
                <a:gridCol w="527844"/>
                <a:gridCol w="527844"/>
                <a:gridCol w="527844"/>
                <a:gridCol w="527844"/>
                <a:gridCol w="527844"/>
              </a:tblGrid>
              <a:tr h="414338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645" marB="45645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645" marB="45645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645" marB="45645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645" marB="45645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645" marB="45645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645" marB="45645"/>
                </a:tc>
              </a:tr>
            </a:tbl>
          </a:graphicData>
        </a:graphic>
      </p:graphicFrame>
      <p:sp>
        <p:nvSpPr>
          <p:cNvPr id="64584" name="TextBox 1"/>
          <p:cNvSpPr txBox="1"/>
          <p:nvPr/>
        </p:nvSpPr>
        <p:spPr>
          <a:xfrm>
            <a:off x="11487150" y="252413"/>
            <a:ext cx="738188" cy="2339975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3600" b="1" dirty="0">
                <a:solidFill>
                  <a:srgbClr val="FFFF00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3600" b="1" dirty="0">
                <a:solidFill>
                  <a:srgbClr val="FFFF00"/>
                </a:solidFill>
                <a:ea typeface="黑体" panose="02010609060101010101" pitchFamily="49" charset="-122"/>
              </a:rPr>
              <a:t>6.14】</a:t>
            </a:r>
            <a:endParaRPr lang="zh-CN" altLang="en-US" sz="36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7764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7763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776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47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7764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147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4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77647">
                                            <p:txEl>
                                              <p:charRg st="4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5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7765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47764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4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7764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6" dur="500"/>
                                        <p:tgtEl>
                                          <p:spTgt spid="1477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147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147763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9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477647">
                                            <p:txEl>
                                              <p:charRg st="9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5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47765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2" dur="500"/>
                                        <p:tgtEl>
                                          <p:spTgt spid="147764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4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47764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14776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147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8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14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477647">
                                            <p:txEl>
                                              <p:charRg st="14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47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6" dur="500"/>
                                        <p:tgtEl>
                                          <p:spTgt spid="147764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4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47767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4" dur="500"/>
                                        <p:tgtEl>
                                          <p:spTgt spid="14776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8" dur="500"/>
                                        <p:tgtEl>
                                          <p:spTgt spid="147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2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147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18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1477647">
                                            <p:txEl>
                                              <p:charRg st="18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47764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0" dur="500"/>
                                        <p:tgtEl>
                                          <p:spTgt spid="14776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147763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8" dur="500"/>
                                        <p:tgtEl>
                                          <p:spTgt spid="14776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2" dur="500"/>
                                        <p:tgtEl>
                                          <p:spTgt spid="147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6" dur="500"/>
                                        <p:tgtEl>
                                          <p:spTgt spid="1477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23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1477647">
                                            <p:txEl>
                                              <p:charRg st="23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9" dur="500"/>
                                        <p:tgtEl>
                                          <p:spTgt spid="147764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4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147767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7" dur="500"/>
                                        <p:tgtEl>
                                          <p:spTgt spid="147763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1" dur="500"/>
                                        <p:tgtEl>
                                          <p:spTgt spid="147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5" dur="500"/>
                                        <p:tgtEl>
                                          <p:spTgt spid="14776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9" dur="500"/>
                                        <p:tgtEl>
                                          <p:spTgt spid="147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3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7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28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2" dur="500"/>
                                        <p:tgtEl>
                                          <p:spTgt spid="1477647">
                                            <p:txEl>
                                              <p:charRg st="28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7" dur="500"/>
                                        <p:tgtEl>
                                          <p:spTgt spid="147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1" dur="500"/>
                                        <p:tgtEl>
                                          <p:spTgt spid="147767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7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5" dur="500"/>
                                        <p:tgtEl>
                                          <p:spTgt spid="147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9" dur="500"/>
                                        <p:tgtEl>
                                          <p:spTgt spid="14776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3" dur="500"/>
                                        <p:tgtEl>
                                          <p:spTgt spid="147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3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7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3" presetClass="entr" presetSubtype="1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1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33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6" dur="500"/>
                                        <p:tgtEl>
                                          <p:spTgt spid="1477647">
                                            <p:txEl>
                                              <p:charRg st="33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4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1" dur="500"/>
                                        <p:tgtEl>
                                          <p:spTgt spid="1477644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5" dur="500"/>
                                        <p:tgtEl>
                                          <p:spTgt spid="1477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9" dur="500"/>
                                        <p:tgtEl>
                                          <p:spTgt spid="147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3" dur="500"/>
                                        <p:tgtEl>
                                          <p:spTgt spid="14776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7" dur="500"/>
                                        <p:tgtEl>
                                          <p:spTgt spid="147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3" presetClass="exit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1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ntr" presetSubtype="1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5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38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0" dur="500"/>
                                        <p:tgtEl>
                                          <p:spTgt spid="1477647">
                                            <p:txEl>
                                              <p:charRg st="38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5" dur="500"/>
                                        <p:tgtEl>
                                          <p:spTgt spid="147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9" dur="500"/>
                                        <p:tgtEl>
                                          <p:spTgt spid="14776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8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3" dur="500"/>
                                        <p:tgtEl>
                                          <p:spTgt spid="147768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7" dur="500"/>
                                        <p:tgtEl>
                                          <p:spTgt spid="14776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1" dur="500"/>
                                        <p:tgtEl>
                                          <p:spTgt spid="147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3" presetClass="exit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5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ntr" presetSubtype="1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9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43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4" dur="500"/>
                                        <p:tgtEl>
                                          <p:spTgt spid="1477647">
                                            <p:txEl>
                                              <p:charRg st="43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8" dur="500"/>
                                        <p:tgtEl>
                                          <p:spTgt spid="147767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7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2" dur="500"/>
                                        <p:tgtEl>
                                          <p:spTgt spid="147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6" dur="500"/>
                                        <p:tgtEl>
                                          <p:spTgt spid="14776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0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0" dur="500"/>
                                        <p:tgtEl>
                                          <p:spTgt spid="1477640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4" dur="500"/>
                                        <p:tgtEl>
                                          <p:spTgt spid="14776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8" dur="500"/>
                                        <p:tgtEl>
                                          <p:spTgt spid="147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xit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2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3" presetClass="entr" presetSubtype="1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6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48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1" dur="500"/>
                                        <p:tgtEl>
                                          <p:spTgt spid="1477647">
                                            <p:txEl>
                                              <p:charRg st="48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5" dur="500"/>
                                        <p:tgtEl>
                                          <p:spTgt spid="1477644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44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9" dur="500"/>
                                        <p:tgtEl>
                                          <p:spTgt spid="147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3" dur="500"/>
                                        <p:tgtEl>
                                          <p:spTgt spid="1477640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40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7" dur="500"/>
                                        <p:tgtEl>
                                          <p:spTgt spid="147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1" dur="500"/>
                                        <p:tgtEl>
                                          <p:spTgt spid="14776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5" dur="500"/>
                                        <p:tgtEl>
                                          <p:spTgt spid="147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3" presetClass="exit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9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3" dur="500"/>
                                        <p:tgtEl>
                                          <p:spTgt spid="147763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53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8" dur="500"/>
                                        <p:tgtEl>
                                          <p:spTgt spid="1477647">
                                            <p:txEl>
                                              <p:charRg st="53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3" dur="500"/>
                                        <p:tgtEl>
                                          <p:spTgt spid="147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7" dur="500"/>
                                        <p:tgtEl>
                                          <p:spTgt spid="147768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8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8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1" dur="500"/>
                                        <p:tgtEl>
                                          <p:spTgt spid="147768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5" dur="500"/>
                                        <p:tgtEl>
                                          <p:spTgt spid="14776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9" dur="500"/>
                                        <p:tgtEl>
                                          <p:spTgt spid="147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3" dur="500"/>
                                        <p:tgtEl>
                                          <p:spTgt spid="147763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3" presetClass="entr" presetSubtype="1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7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58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2" dur="500"/>
                                        <p:tgtEl>
                                          <p:spTgt spid="1477647">
                                            <p:txEl>
                                              <p:charRg st="58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6" dur="500"/>
                                        <p:tgtEl>
                                          <p:spTgt spid="147765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5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0" dur="500"/>
                                        <p:tgtEl>
                                          <p:spTgt spid="147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4" dur="500"/>
                                        <p:tgtEl>
                                          <p:spTgt spid="147768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8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8" dur="500"/>
                                        <p:tgtEl>
                                          <p:spTgt spid="147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2" dur="500"/>
                                        <p:tgtEl>
                                          <p:spTgt spid="1477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6" dur="500"/>
                                        <p:tgtEl>
                                          <p:spTgt spid="147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xit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0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3" presetClass="entr" presetSubtype="1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4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63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9" dur="500"/>
                                        <p:tgtEl>
                                          <p:spTgt spid="1477647">
                                            <p:txEl>
                                              <p:charRg st="63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3" dur="500"/>
                                        <p:tgtEl>
                                          <p:spTgt spid="147765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5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7" dur="500"/>
                                        <p:tgtEl>
                                          <p:spTgt spid="147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1" dur="500"/>
                                        <p:tgtEl>
                                          <p:spTgt spid="14776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5" dur="500"/>
                                        <p:tgtEl>
                                          <p:spTgt spid="1477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9" dur="500"/>
                                        <p:tgtEl>
                                          <p:spTgt spid="14776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3" dur="500"/>
                                        <p:tgtEl>
                                          <p:spTgt spid="147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3" presetClass="exit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7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1" dur="500"/>
                                        <p:tgtEl>
                                          <p:spTgt spid="147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68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6" dur="500"/>
                                        <p:tgtEl>
                                          <p:spTgt spid="1477647">
                                            <p:txEl>
                                              <p:charRg st="68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0" dur="500"/>
                                        <p:tgtEl>
                                          <p:spTgt spid="1477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4" dur="500"/>
                                        <p:tgtEl>
                                          <p:spTgt spid="147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8" dur="500"/>
                                        <p:tgtEl>
                                          <p:spTgt spid="14776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2" dur="500"/>
                                        <p:tgtEl>
                                          <p:spTgt spid="14776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6" dur="500"/>
                                        <p:tgtEl>
                                          <p:spTgt spid="1477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0" dur="500"/>
                                        <p:tgtEl>
                                          <p:spTgt spid="147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3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4" dur="500"/>
                                        <p:tgtEl>
                                          <p:spTgt spid="1477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3" presetClass="entr" presetSubtype="1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8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7">
                                            <p:txEl>
                                              <p:charRg st="7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3" dur="500"/>
                                        <p:tgtEl>
                                          <p:spTgt spid="1477647">
                                            <p:txEl>
                                              <p:charRg st="73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7" dur="500"/>
                                        <p:tgtEl>
                                          <p:spTgt spid="14776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1" dur="500"/>
                                        <p:tgtEl>
                                          <p:spTgt spid="147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5" dur="500"/>
                                        <p:tgtEl>
                                          <p:spTgt spid="14776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9" dur="500"/>
                                        <p:tgtEl>
                                          <p:spTgt spid="147763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3" dur="500"/>
                                        <p:tgtEl>
                                          <p:spTgt spid="14776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7" dur="500"/>
                                        <p:tgtEl>
                                          <p:spTgt spid="147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3" presetClass="exit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1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3" presetClass="entr" presetSubtype="1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5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7636" grpId="0"/>
      <p:bldP spid="1477636" grpId="1"/>
      <p:bldP spid="1477636" grpId="2"/>
      <p:bldP spid="1477636" grpId="3"/>
      <p:bldP spid="1477636" grpId="4"/>
      <p:bldP spid="1477636" grpId="5"/>
      <p:bldP spid="1477636" grpId="6"/>
      <p:bldP spid="1477636" grpId="7"/>
      <p:bldP spid="1477636" grpId="8"/>
      <p:bldP spid="1477636" grpId="9"/>
      <p:bldP spid="1477636" grpId="10"/>
      <p:bldP spid="1477637" grpId="0"/>
      <p:bldP spid="1477637" grpId="1"/>
      <p:bldP spid="1477637" grpId="2"/>
      <p:bldP spid="1477637" grpId="3"/>
      <p:bldP spid="1477637" grpId="4"/>
      <p:bldP spid="1477637" grpId="5"/>
      <p:bldP spid="1477637" grpId="6"/>
      <p:bldP spid="1477637" grpId="7"/>
      <p:bldP spid="1477637" grpId="8"/>
      <p:bldP spid="1477637" grpId="9"/>
      <p:bldP spid="1477637" grpId="10"/>
      <p:bldP spid="1477637" grpId="11"/>
      <p:bldP spid="1477638" grpId="0" build="allAtOnce"/>
      <p:bldP spid="1477639" grpId="0"/>
      <p:bldP spid="1477639" grpId="1"/>
      <p:bldP spid="1477640" grpId="0" build="allAtOnce"/>
      <p:bldP spid="1477641" grpId="0"/>
      <p:bldP spid="1477641" grpId="1"/>
      <p:bldP spid="1477642" grpId="0"/>
      <p:bldP spid="1477642" grpId="1"/>
      <p:bldP spid="1477648" grpId="0" build="allAtOnce"/>
      <p:bldP spid="1477649" grpId="0" build="allAtOnce"/>
      <p:bldP spid="1477651" grpId="0"/>
      <p:bldP spid="1477652" grpId="0" build="allAtOnce"/>
      <p:bldP spid="1477653" grpId="0" build="allAtOnce"/>
      <p:bldP spid="1477675" grpId="0" build="allAtOnce"/>
      <p:bldP spid="1477676" grpId="0"/>
      <p:bldP spid="1477677" grpId="0"/>
      <p:bldP spid="1477678" grpId="0" build="allAtOnce"/>
      <p:bldP spid="1477682" grpId="0"/>
      <p:bldP spid="1477682" grpId="1"/>
      <p:bldP spid="1477683" grpId="0" build="allAtOnce"/>
      <p:bldP spid="1477684" grpId="0"/>
      <p:bldP spid="1477685" grpId="0"/>
      <p:bldP spid="1477685" grpId="1"/>
      <p:bldP spid="1477686" grpId="0"/>
      <p:bldP spid="1477687" grpId="0" build="allAtOnce"/>
      <p:bldP spid="1477694" grpId="0"/>
      <p:bldP spid="1477695" grpId="0"/>
      <p:bldP spid="1477696" grpId="0"/>
      <p:bldP spid="1477697" grpId="0"/>
      <p:bldP spid="1477697" grpId="1"/>
      <p:bldP spid="1477698" grpId="0"/>
      <p:bldP spid="1477699" grpId="0"/>
      <p:bldP spid="1477699" grpId="1"/>
      <p:bldP spid="1477700" grpId="0"/>
      <p:bldP spid="1477700" grpId="1"/>
      <p:bldP spid="1477700" grpId="2"/>
      <p:bldP spid="1477700" grpId="3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786C02-BCA3-462F-9FFB-B9C0375FFC9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8723" name="Rectangle 3"/>
          <p:cNvSpPr/>
          <p:nvPr/>
        </p:nvSpPr>
        <p:spPr>
          <a:xfrm>
            <a:off x="2100263" y="404813"/>
            <a:ext cx="7991475" cy="5789612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u="sng" dirty="0">
                <a:ea typeface="黑体" panose="02010609060101010101" pitchFamily="49" charset="-122"/>
              </a:rPr>
              <a:t>入队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bool</a:t>
            </a:r>
            <a:r>
              <a:rPr lang="en-US" altLang="zh-CN" sz="2800" b="1" dirty="0">
                <a:ea typeface="黑体" panose="02010609060101010101" pitchFamily="49" charset="-122"/>
              </a:rPr>
              <a:t> putx (</a:t>
            </a: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 typeofelement</a:t>
            </a:r>
            <a:r>
              <a:rPr lang="en-US" altLang="zh-CN" sz="2800" b="1" dirty="0">
                <a:ea typeface="黑体" panose="02010609060101010101" pitchFamily="49" charset="-122"/>
              </a:rPr>
              <a:t> x ) {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if ( count </a:t>
            </a:r>
            <a:r>
              <a:rPr lang="en-US" altLang="zh-CN" sz="2800" b="1" dirty="0">
                <a:solidFill>
                  <a:srgbClr val="ED02FC"/>
                </a:solidFill>
                <a:ea typeface="黑体" panose="02010609060101010101" pitchFamily="49" charset="-122"/>
              </a:rPr>
              <a:t>&gt;=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ea typeface="黑体" panose="02010609060101010101" pitchFamily="49" charset="-122"/>
              </a:rPr>
              <a:t>size )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 </a:t>
            </a: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return false ;       </a:t>
            </a:r>
            <a:endParaRPr lang="en-US" altLang="zh-CN" sz="2800" b="1" dirty="0">
              <a:solidFill>
                <a:schemeClr val="fol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else {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 queue[ inpointer ] = x ;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  inpointer = 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(inpointer+1)</a:t>
            </a:r>
            <a:r>
              <a:rPr lang="en-US" altLang="zh-CN" sz="2800" b="1" dirty="0">
                <a:solidFill>
                  <a:srgbClr val="ED02FC"/>
                </a:solidFill>
                <a:ea typeface="黑体" panose="02010609060101010101" pitchFamily="49" charset="-122"/>
              </a:rPr>
              <a:t>%size </a:t>
            </a:r>
            <a:r>
              <a:rPr lang="en-US" altLang="zh-CN" sz="2800" b="1" dirty="0">
                <a:ea typeface="黑体" panose="02010609060101010101" pitchFamily="49" charset="-122"/>
              </a:rPr>
              <a:t>;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  count ++ ;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  </a:t>
            </a: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return  true ;</a:t>
            </a:r>
            <a:endParaRPr lang="en-US" altLang="zh-CN" sz="2800" b="1" dirty="0">
              <a:solidFill>
                <a:schemeClr val="fol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}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} 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104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charRg st="104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138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charRg st="138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181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8723">
                                            <p:txEl>
                                              <p:charRg st="181" end="2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202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8723">
                                            <p:txEl>
                                              <p:charRg st="202" end="2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35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8723">
                                            <p:txEl>
                                              <p:charRg st="35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92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8723">
                                            <p:txEl>
                                              <p:charRg st="92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227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8723">
                                            <p:txEl>
                                              <p:charRg st="227" end="2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charRg st="61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8723">
                                            <p:txEl>
                                              <p:charRg st="61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53589F-96AE-44DD-8F64-A9081668610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9747" name="Rectangle 3"/>
          <p:cNvSpPr/>
          <p:nvPr/>
        </p:nvSpPr>
        <p:spPr>
          <a:xfrm>
            <a:off x="2208213" y="298450"/>
            <a:ext cx="8328025" cy="6302375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u="sng" dirty="0">
                <a:ea typeface="黑体" panose="02010609060101010101" pitchFamily="49" charset="-122"/>
              </a:rPr>
              <a:t>出队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typeofelement x ;</a:t>
            </a:r>
            <a:endParaRPr lang="en-US" altLang="zh-CN" sz="2800" b="1" dirty="0">
              <a:solidFill>
                <a:schemeClr val="fol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bool</a:t>
            </a:r>
            <a:r>
              <a:rPr lang="en-US" altLang="zh-CN" sz="2800" b="1" dirty="0">
                <a:ea typeface="黑体" panose="02010609060101010101" pitchFamily="49" charset="-122"/>
              </a:rPr>
              <a:t> getx </a:t>
            </a: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( )</a:t>
            </a:r>
            <a:r>
              <a:rPr lang="en-US" altLang="zh-CN" sz="2800" b="1" dirty="0">
                <a:ea typeface="黑体" panose="02010609060101010101" pitchFamily="49" charset="-122"/>
              </a:rPr>
              <a:t> {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if ( count &lt; 1 )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</a:t>
            </a: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return false;</a:t>
            </a:r>
            <a:endParaRPr lang="en-US" altLang="zh-CN" sz="2800" b="1" dirty="0">
              <a:solidFill>
                <a:schemeClr val="fol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else {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 </a:t>
            </a: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x =</a:t>
            </a:r>
            <a:r>
              <a:rPr lang="en-US" altLang="zh-CN" sz="2800" b="1" dirty="0">
                <a:ea typeface="黑体" panose="02010609060101010101" pitchFamily="49" charset="-122"/>
              </a:rPr>
              <a:t> queue[ outpointer ]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 outpointer = </a:t>
            </a: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(outpointer+1)</a:t>
            </a:r>
            <a:r>
              <a:rPr lang="en-US" altLang="zh-CN" sz="2800" b="1" dirty="0">
                <a:solidFill>
                  <a:srgbClr val="ED02FC"/>
                </a:solidFill>
                <a:ea typeface="黑体" panose="02010609060101010101" pitchFamily="49" charset="-122"/>
              </a:rPr>
              <a:t>%size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;</a:t>
            </a:r>
            <a:endParaRPr lang="en-US" altLang="zh-CN" sz="2800" b="1" dirty="0">
              <a:solidFill>
                <a:schemeClr val="fol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 count --;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         return  true ;</a:t>
            </a:r>
            <a:endParaRPr lang="en-US" altLang="zh-CN" sz="2800" b="1" dirty="0">
              <a:solidFill>
                <a:schemeClr val="fol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}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} 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charRg st="91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charRg st="91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charRg st="124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charRg st="124" end="1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charRg st="168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9747">
                                            <p:txEl>
                                              <p:charRg st="168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charRg st="187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9747">
                                            <p:txEl>
                                              <p:charRg st="187" end="2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47D530-E646-4552-A609-310B3D1552B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2931" name="Rectangle 3"/>
          <p:cNvSpPr>
            <a:spLocks noGrp="1" noChangeArrowheads="1"/>
          </p:cNvSpPr>
          <p:nvPr>
            <p:ph type="title"/>
          </p:nvPr>
        </p:nvSpPr>
        <p:spPr>
          <a:xfrm>
            <a:off x="1847850" y="0"/>
            <a:ext cx="8229600" cy="8366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本章小结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5675" y="914400"/>
            <a:ext cx="7423150" cy="572897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2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3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4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5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6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7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8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9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10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11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12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13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14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15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16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17.xml><?xml version="1.0" encoding="utf-8"?>
<p:tagLst xmlns:p="http://schemas.openxmlformats.org/presentationml/2006/main">
  <p:tag name="KSO_WM_DIAGRAM_VIRTUALLY_FRAME" val="{&quot;height&quot;:385.62496062992125,&quot;left&quot;:134.12503937007872,&quot;top&quot;:99.87503937007874,&quot;width&quot;:357.25000000000006}"/>
</p:tagLst>
</file>

<file path=ppt/tags/tag18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4966</Words>
  <Application>WPS 演示</Application>
  <PresentationFormat>宽屏</PresentationFormat>
  <Paragraphs>638</Paragraphs>
  <Slides>26</Slides>
  <Notes>19</Notes>
  <HiddenSlides>2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宋体</vt:lpstr>
      <vt:lpstr>Wingdings</vt:lpstr>
      <vt:lpstr>Tahoma</vt:lpstr>
      <vt:lpstr>黑体</vt:lpstr>
      <vt:lpstr>微软雅黑</vt:lpstr>
      <vt:lpstr>Arial Unicode MS</vt:lpstr>
      <vt:lpstr>Wingdings 3</vt:lpstr>
      <vt:lpstr>Symbol</vt:lpstr>
      <vt:lpstr>Times New Roman</vt:lpstr>
      <vt:lpstr>1_Slit</vt:lpstr>
      <vt:lpstr>6.8  线性表——栈和队列</vt:lpstr>
      <vt:lpstr>6.8.1    栈</vt:lpstr>
      <vt:lpstr>PowerPoint 演示文稿</vt:lpstr>
      <vt:lpstr>PowerPoint 演示文稿</vt:lpstr>
      <vt:lpstr>PowerPoint 演示文稿</vt:lpstr>
      <vt:lpstr>测试程序：</vt:lpstr>
      <vt:lpstr>PowerPoint 演示文稿</vt:lpstr>
      <vt:lpstr>PowerPoint 演示文稿</vt:lpstr>
      <vt:lpstr>【例6.13】括号配对——栈的使用教材P175</vt:lpstr>
      <vt:lpstr>PowerPoint 演示文稿</vt:lpstr>
      <vt:lpstr>PowerPoint 演示文稿</vt:lpstr>
      <vt:lpstr>主程序PAD</vt:lpstr>
      <vt:lpstr>PowerPoint 演示文稿</vt:lpstr>
      <vt:lpstr>PowerPoint 演示文稿</vt:lpstr>
      <vt:lpstr>检验函数PAD</vt:lpstr>
      <vt:lpstr>源程序：</vt:lpstr>
      <vt:lpstr>PowerPoint 演示文稿</vt:lpstr>
      <vt:lpstr>PowerPoint 演示文稿</vt:lpstr>
      <vt:lpstr>PowerPoint 演示文稿</vt:lpstr>
      <vt:lpstr>PowerPoint 演示文稿</vt:lpstr>
      <vt:lpstr>6.8.2    队列</vt:lpstr>
      <vt:lpstr>PowerPoint 演示文稿</vt:lpstr>
      <vt:lpstr>PowerPoint 演示文稿</vt:lpstr>
      <vt:lpstr>PowerPoint 演示文稿</vt:lpstr>
      <vt:lpstr>PowerPoint 演示文稿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785</cp:revision>
  <dcterms:created xsi:type="dcterms:W3CDTF">2019-09-21T08:05:00Z</dcterms:created>
  <dcterms:modified xsi:type="dcterms:W3CDTF">2025-10-20T09:38:48Z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0F5E87A65CFD4E9C84180A7C3328EEB1_12</vt:lpwstr>
  </property>
</Properties>
</file>