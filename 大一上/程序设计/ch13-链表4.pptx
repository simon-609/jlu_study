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942" r:id="rId3"/>
    <p:sldId id="943" r:id="rId4"/>
    <p:sldId id="944" r:id="rId6"/>
    <p:sldId id="945" r:id="rId7"/>
    <p:sldId id="1065" r:id="rId8"/>
    <p:sldId id="948" r:id="rId9"/>
    <p:sldId id="952" r:id="rId10"/>
    <p:sldId id="953" r:id="rId11"/>
    <p:sldId id="954" r:id="rId12"/>
    <p:sldId id="1066" r:id="rId13"/>
    <p:sldId id="592" r:id="rId14"/>
    <p:sldId id="593" r:id="rId15"/>
    <p:sldId id="594" r:id="rId16"/>
    <p:sldId id="595" r:id="rId17"/>
    <p:sldId id="596" r:id="rId18"/>
    <p:sldId id="597" r:id="rId19"/>
    <p:sldId id="598" r:id="rId20"/>
    <p:sldId id="599" r:id="rId21"/>
    <p:sldId id="600" r:id="rId22"/>
    <p:sldId id="602" r:id="rId23"/>
    <p:sldId id="603" r:id="rId24"/>
    <p:sldId id="604" r:id="rId25"/>
    <p:sldId id="605" r:id="rId26"/>
    <p:sldId id="978" r:id="rId27"/>
    <p:sldId id="606" r:id="rId28"/>
    <p:sldId id="607" r:id="rId29"/>
    <p:sldId id="608" r:id="rId30"/>
    <p:sldId id="1080" r:id="rId31"/>
    <p:sldId id="968" r:id="rId32"/>
    <p:sldId id="969" r:id="rId33"/>
    <p:sldId id="1068" r:id="rId34"/>
    <p:sldId id="1069" r:id="rId35"/>
    <p:sldId id="1070" r:id="rId36"/>
    <p:sldId id="1071" r:id="rId37"/>
    <p:sldId id="1072" r:id="rId38"/>
    <p:sldId id="1073" r:id="rId39"/>
    <p:sldId id="1074" r:id="rId40"/>
    <p:sldId id="1075" r:id="rId41"/>
    <p:sldId id="1076" r:id="rId42"/>
    <p:sldId id="1067" r:id="rId43"/>
    <p:sldId id="490" r:id="rId44"/>
    <p:sldId id="1077" r:id="rId45"/>
    <p:sldId id="1078" r:id="rId46"/>
    <p:sldId id="1079" r:id="rId47"/>
  </p:sldIdLst>
  <p:sldSz cx="12192000" cy="6858000"/>
  <p:notesSz cx="6858000" cy="9144000"/>
  <p:custDataLst>
    <p:tags r:id="rId5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2" userDrawn="1">
          <p15:clr>
            <a:srgbClr val="A4A3A4"/>
          </p15:clr>
        </p15:guide>
        <p15:guide id="2" pos="39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2EFC"/>
    <a:srgbClr val="000000"/>
    <a:srgbClr val="FF0000"/>
    <a:srgbClr val="FF99FF"/>
    <a:srgbClr val="CC00CC"/>
    <a:srgbClr val="0000FF"/>
    <a:srgbClr val="FFE705"/>
    <a:srgbClr val="00FFFF"/>
    <a:srgbClr val="9C14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62" autoAdjust="0"/>
    <p:restoredTop sz="86343" autoAdjust="0"/>
  </p:normalViewPr>
  <p:slideViewPr>
    <p:cSldViewPr showGuides="1">
      <p:cViewPr varScale="1">
        <p:scale>
          <a:sx n="52" d="100"/>
          <a:sy n="52" d="100"/>
        </p:scale>
        <p:origin x="53" y="571"/>
      </p:cViewPr>
      <p:guideLst>
        <p:guide orient="horz" pos="2312"/>
        <p:guide pos="3990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3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gs" Target="tags/tag1.xml"/><Relationship Id="rId50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CCA494E-CA14-4A77-A001-9860B84BF7F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">
              <a:spcBef>
                <a:spcPct val="0"/>
              </a:spcBef>
              <a:defRPr/>
            </a:pPr>
            <a:r>
              <a:rPr lang="zh-CN" altLang="en-US" b="1" dirty="0"/>
              <a:t>开始假设空序列是递增的，</a:t>
            </a:r>
            <a:endParaRPr lang="zh-CN" altLang="en-US" b="1" dirty="0"/>
          </a:p>
          <a:p>
            <a:pPr marL="57150">
              <a:spcBef>
                <a:spcPct val="0"/>
              </a:spcBef>
              <a:defRPr/>
            </a:pPr>
            <a:r>
              <a:rPr lang="zh-CN" altLang="en-US" b="1" dirty="0"/>
              <a:t>若 </a:t>
            </a:r>
            <a:r>
              <a:rPr lang="en-US" altLang="zh-CN" b="1" dirty="0" err="1"/>
              <a:t>i</a:t>
            </a:r>
            <a:r>
              <a:rPr lang="en-US" altLang="zh-CN" b="1" dirty="0"/>
              <a:t> </a:t>
            </a:r>
            <a:r>
              <a:rPr lang="zh-CN" altLang="en-US" b="1" dirty="0"/>
              <a:t>个元素子序列</a:t>
            </a:r>
            <a:r>
              <a:rPr lang="en-US" altLang="zh-CN" b="1" dirty="0">
                <a:solidFill>
                  <a:srgbClr val="FFFF00"/>
                </a:solidFill>
              </a:rPr>
              <a:t>A</a:t>
            </a:r>
            <a:r>
              <a:rPr lang="en-US" altLang="zh-CN" b="1" baseline="-25000" dirty="0">
                <a:solidFill>
                  <a:srgbClr val="FFFF00"/>
                </a:solidFill>
              </a:rPr>
              <a:t>1</a:t>
            </a:r>
            <a:r>
              <a:rPr lang="en-US" altLang="zh-CN" b="1" dirty="0">
                <a:solidFill>
                  <a:srgbClr val="FFFF00"/>
                </a:solidFill>
              </a:rPr>
              <a:t>~A</a:t>
            </a:r>
            <a:r>
              <a:rPr lang="en-US" altLang="zh-CN" b="1" baseline="-25000" dirty="0">
                <a:solidFill>
                  <a:srgbClr val="FFFF00"/>
                </a:solidFill>
              </a:rPr>
              <a:t>i</a:t>
            </a:r>
            <a:r>
              <a:rPr lang="zh-CN" altLang="en-US" b="1" dirty="0"/>
              <a:t>已经递增，</a:t>
            </a:r>
            <a:endParaRPr lang="en-US" altLang="zh-CN" b="1" dirty="0"/>
          </a:p>
          <a:p>
            <a:pPr marL="57150">
              <a:spcBef>
                <a:spcPct val="0"/>
              </a:spcBef>
              <a:defRPr/>
            </a:pPr>
            <a:r>
              <a:rPr lang="zh-CN" altLang="en-US" b="1" dirty="0"/>
              <a:t>则加一个元素 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</a:rPr>
              <a:t>i+1</a:t>
            </a:r>
            <a:r>
              <a:rPr lang="zh-CN" altLang="en-US" b="1" dirty="0"/>
              <a:t>，把 </a:t>
            </a:r>
            <a:r>
              <a:rPr lang="en-US" altLang="zh-CN" b="1" dirty="0"/>
              <a:t>A</a:t>
            </a:r>
            <a:r>
              <a:rPr lang="en-US" altLang="zh-CN" b="1" baseline="-25000" dirty="0"/>
              <a:t>i+1</a:t>
            </a:r>
            <a:r>
              <a:rPr lang="en-US" altLang="zh-CN" b="1" dirty="0"/>
              <a:t> </a:t>
            </a:r>
            <a:r>
              <a:rPr lang="zh-CN" altLang="en-US" b="1" dirty="0"/>
              <a:t>插入到序列中一个适当位置，使 </a:t>
            </a:r>
            <a:r>
              <a:rPr lang="en-US" altLang="zh-CN" b="1" dirty="0"/>
              <a:t>i+1 </a:t>
            </a:r>
            <a:r>
              <a:rPr lang="zh-CN" altLang="en-US" b="1" dirty="0"/>
              <a:t>个元素的子序列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FFFF00"/>
                </a:solidFill>
              </a:rPr>
              <a:t>A</a:t>
            </a:r>
            <a:r>
              <a:rPr lang="en-US" altLang="zh-CN" b="1" baseline="-25000" dirty="0">
                <a:solidFill>
                  <a:srgbClr val="FFFF00"/>
                </a:solidFill>
              </a:rPr>
              <a:t>1</a:t>
            </a:r>
            <a:r>
              <a:rPr lang="en-US" altLang="zh-CN" b="1" dirty="0">
                <a:solidFill>
                  <a:srgbClr val="FFFF00"/>
                </a:solidFill>
              </a:rPr>
              <a:t>~A</a:t>
            </a:r>
            <a:r>
              <a:rPr lang="en-US" altLang="zh-CN" b="1" baseline="-25000" dirty="0">
                <a:solidFill>
                  <a:srgbClr val="FFFF00"/>
                </a:solidFill>
              </a:rPr>
              <a:t>i </a:t>
            </a:r>
            <a:r>
              <a:rPr lang="en-US" altLang="zh-CN" b="1" dirty="0">
                <a:solidFill>
                  <a:srgbClr val="FFFF00"/>
                </a:solidFill>
              </a:rPr>
              <a:t>A</a:t>
            </a:r>
            <a:r>
              <a:rPr lang="en-US" altLang="zh-CN" b="1" baseline="-25000" dirty="0">
                <a:solidFill>
                  <a:srgbClr val="FFFF00"/>
                </a:solidFill>
              </a:rPr>
              <a:t>i+1</a:t>
            </a:r>
            <a:r>
              <a:rPr lang="zh-CN" altLang="en-US" b="1" dirty="0"/>
              <a:t>也递增，</a:t>
            </a:r>
            <a:endParaRPr lang="en-US" altLang="zh-CN" b="1" dirty="0"/>
          </a:p>
          <a:p>
            <a:pPr marL="57150"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直到 </a:t>
            </a:r>
            <a:r>
              <a:rPr lang="en-US" altLang="zh-CN" b="1" dirty="0" err="1">
                <a:solidFill>
                  <a:srgbClr val="FF0000"/>
                </a:solidFill>
              </a:rPr>
              <a:t>i</a:t>
            </a:r>
            <a:r>
              <a:rPr lang="en-US" altLang="zh-CN" b="1" dirty="0">
                <a:solidFill>
                  <a:srgbClr val="FF0000"/>
                </a:solidFill>
              </a:rPr>
              <a:t>=n </a:t>
            </a:r>
            <a:r>
              <a:rPr lang="zh-CN" altLang="en-US" b="1" dirty="0">
                <a:solidFill>
                  <a:srgbClr val="FF0000"/>
                </a:solidFill>
              </a:rPr>
              <a:t>为止</a:t>
            </a:r>
            <a:endParaRPr lang="zh-CN" altLang="en-US" b="1" dirty="0">
              <a:solidFill>
                <a:srgbClr val="FF0000"/>
              </a:solidFill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2765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A121FAD-530C-4AAE-83ED-2C94A800D3E7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DF8DB15-8B4A-44A5-92E3-C60CA4263895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DD5812E-8122-4E12-B428-E35CF56153B6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3D7052E-B76B-407C-BA0E-3B96A1B4EF9F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75D877D-12F3-4A56-B0C8-CF453760D06B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A27398E-7517-4D0D-85C3-60E07DC6C7FC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C25818C-0B03-4797-BE81-C13CED5F9CD8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52533E3-825E-40A3-9A8E-7C102F68BFA2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FF54F77-A949-447E-A69E-C155F7AE659F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FE5F6AE-FC17-461E-A1C4-CFBCB2904154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F67B23F-00ED-4CD8-B5AC-DEABFFAF3A2F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077514D-9B57-4DCA-85CF-838A471668DE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52D72FD-E229-4850-A335-8E648393081E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08A5625-1929-4912-8A41-E5E8FAC5B009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7034F24-988D-4CE0-80B3-D1B9456D4343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70E18F6-60D9-423E-AF80-36AAD1531000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8F737EB-848C-4F14-9674-83969BC8B77A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83F4932-EB73-47CF-8230-82C1F0A1E70C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E2DA074-AA92-4DB7-9B4A-BFC3CFDEC598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9471893-C4EB-4AB3-9526-D53BCA9916D3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690C4CF-4A8B-4109-A167-C37BA78138C9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0FE4DB7-E773-4E48-BA4E-1E5801E2893D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87CE68F-E41F-438F-8EBA-20B336A2EE9F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03502-770E-41A8-A5EA-5E24D81DB6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F5045-E662-433B-9D85-D0F8E519A66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10C50-3036-4E1B-90CA-A6CCFB6A5F8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865C1-D350-46BE-AD48-13FAFD5BCBB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8816BD-D7B2-49A2-99B2-16CE3E4369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68100-EDA9-419F-8302-E36D4FEEB2A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DCE7F-5FDD-4F35-97E0-545AE55282A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018F94-B50F-40C9-BE21-0C688A3B09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97B1F-5B77-4060-8049-949C7DBBB13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D335F-9B94-4725-B002-32D8085243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B29CB8-4F70-4A3F-8647-A67D96A827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B4C0F-19E7-45AE-A276-011FAD2312B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AE4F2-A2E8-42AD-80E1-56E2A3257D8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F2076-4BB6-4D90-A2E3-FA3B6563AA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12C07-5FF6-444A-A782-FF6ECFA9902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3429E-53CD-4411-A974-7886BE697D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3E815-1565-4F9E-9253-66F5FF0AC0D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" Target="../slides/slid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950D4CFE-552F-418D-99B5-AFEB5ECF1A78}" type="slidenum">
              <a:rPr lang="en-US" altLang="zh-CN"/>
            </a:fld>
            <a:endParaRPr lang="en-US" altLang="zh-CN"/>
          </a:p>
        </p:txBody>
      </p:sp>
      <p:sp>
        <p:nvSpPr>
          <p:cNvPr id="11" name="AutoShape 5">
            <a:hlinkClick r:id="rId19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标题 1"/>
          <p:cNvSpPr>
            <a:spLocks noGrp="1" noChangeArrowheads="1"/>
          </p:cNvSpPr>
          <p:nvPr>
            <p:ph type="title"/>
          </p:nvPr>
        </p:nvSpPr>
        <p:spPr>
          <a:xfrm>
            <a:off x="227013" y="193675"/>
            <a:ext cx="7416800" cy="1196975"/>
          </a:xfrm>
        </p:spPr>
        <p:txBody>
          <a:bodyPr/>
          <a:lstStyle/>
          <a:p>
            <a:pPr algn="l">
              <a:defRPr/>
            </a:pPr>
            <a:r>
              <a:rPr lang="en-US" altLang="zh-CN" b="1" dirty="0">
                <a:solidFill>
                  <a:srgbClr val="FFC000"/>
                </a:solidFill>
              </a:rPr>
              <a:t>【</a:t>
            </a:r>
            <a:r>
              <a:rPr lang="zh-CN" altLang="en-US" b="1" dirty="0">
                <a:solidFill>
                  <a:srgbClr val="FFC000"/>
                </a:solidFill>
              </a:rPr>
              <a:t>例</a:t>
            </a:r>
            <a:r>
              <a:rPr lang="en-US" altLang="zh-CN" b="1" dirty="0">
                <a:solidFill>
                  <a:srgbClr val="FFC000"/>
                </a:solidFill>
              </a:rPr>
              <a:t>13.2】</a:t>
            </a:r>
            <a:r>
              <a:rPr lang="zh-CN" altLang="en-US" b="1" dirty="0">
                <a:solidFill>
                  <a:srgbClr val="FFC000"/>
                </a:solidFill>
              </a:rPr>
              <a:t>插入排序</a:t>
            </a:r>
            <a:br>
              <a:rPr lang="en-US" altLang="zh-CN" b="1" dirty="0">
                <a:solidFill>
                  <a:srgbClr val="FFC000"/>
                </a:solidFill>
              </a:rPr>
            </a:br>
            <a:r>
              <a:rPr lang="zh-CN" altLang="en-US" sz="2800" b="1" dirty="0">
                <a:solidFill>
                  <a:srgbClr val="FFC000"/>
                </a:solidFill>
              </a:rPr>
              <a:t>注：完整测试程序见 </a:t>
            </a:r>
            <a:r>
              <a:rPr lang="en-US" altLang="zh-CN" sz="2800" b="1" dirty="0">
                <a:solidFill>
                  <a:srgbClr val="FFC000"/>
                </a:solidFill>
                <a:hlinkClick r:id="rId1" action="ppaction://hlinksldjump"/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  <a:hlinkClick r:id="rId1" action="ppaction://hlinksldjump"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hlinkClick r:id="rId1" action="ppaction://hlinksldjump"/>
              </a:rPr>
              <a:t>1a】</a:t>
            </a:r>
            <a:r>
              <a:rPr lang="zh-CN" altLang="en-US" sz="2800" b="1" dirty="0">
                <a:solidFill>
                  <a:srgbClr val="FFC000"/>
                </a:solidFill>
                <a:hlinkClick r:id="rId1" action="ppaction://hlinksldjump"/>
              </a:rPr>
              <a:t>链表操作实例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  <p:sp>
        <p:nvSpPr>
          <p:cNvPr id="134147" name="内容占位符 2"/>
          <p:cNvSpPr>
            <a:spLocks noGrp="1"/>
          </p:cNvSpPr>
          <p:nvPr>
            <p:ph sz="quarter" idx="1"/>
          </p:nvPr>
        </p:nvSpPr>
        <p:spPr>
          <a:xfrm>
            <a:off x="1703388" y="1579563"/>
            <a:ext cx="4464050" cy="481012"/>
          </a:xfrm>
        </p:spPr>
        <p:txBody>
          <a:bodyPr/>
          <a:lstStyle/>
          <a:p>
            <a:pPr>
              <a:defRPr/>
            </a:pPr>
            <a:r>
              <a:rPr lang="zh-CN" altLang="en-US" sz="2400" b="1" dirty="0"/>
              <a:t>在单向链表上实现插入排序 </a:t>
            </a:r>
            <a:endParaRPr lang="zh-CN" altLang="en-US" sz="2400" b="1" dirty="0"/>
          </a:p>
        </p:txBody>
      </p:sp>
      <p:sp>
        <p:nvSpPr>
          <p:cNvPr id="13415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01BEF48-3511-4E49-A34A-7617DF0DBF92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34151" name="Rectangle 3"/>
          <p:cNvSpPr txBox="1">
            <a:spLocks noChangeArrowheads="1"/>
          </p:cNvSpPr>
          <p:nvPr/>
        </p:nvSpPr>
        <p:spPr bwMode="auto">
          <a:xfrm>
            <a:off x="2154429" y="2370207"/>
            <a:ext cx="7238809" cy="3547994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005" indent="-2730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typedef  ...  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datatype</a:t>
            </a:r>
            <a:r>
              <a:rPr lang="en-US" altLang="zh-CN" sz="3200" dirty="0"/>
              <a:t>; </a:t>
            </a:r>
            <a:endParaRPr lang="en-US" altLang="zh-CN" sz="3200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olidFill>
                  <a:srgbClr val="F52EFC"/>
                </a:solidFill>
              </a:rPr>
              <a:t>struct item</a:t>
            </a:r>
            <a:r>
              <a:rPr lang="en-US" altLang="zh-CN" sz="3200" dirty="0">
                <a:solidFill>
                  <a:srgbClr val="FF0000"/>
                </a:solidFill>
              </a:rPr>
              <a:t> </a:t>
            </a:r>
            <a:r>
              <a:rPr lang="en-US" altLang="zh-CN" sz="3200" dirty="0"/>
              <a:t>{</a:t>
            </a:r>
            <a:endParaRPr lang="en-US" altLang="zh-CN" sz="3200" dirty="0"/>
          </a:p>
          <a:p>
            <a:pPr marL="0" lvl="3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 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datatype  </a:t>
            </a:r>
            <a:r>
              <a:rPr lang="en-US" altLang="zh-CN" sz="3200" dirty="0"/>
              <a:t>data;</a:t>
            </a:r>
            <a:endParaRPr lang="en-US" altLang="zh-CN" sz="3200" dirty="0"/>
          </a:p>
          <a:p>
            <a:pPr marL="0" lvl="3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  int  key;</a:t>
            </a:r>
            <a:endParaRPr lang="en-US" altLang="zh-CN" sz="3200" dirty="0"/>
          </a:p>
          <a:p>
            <a:pPr marL="0" lvl="3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  struct item  *next; </a:t>
            </a:r>
            <a:endParaRPr lang="en-US" altLang="zh-CN" sz="3200" dirty="0"/>
          </a:p>
          <a:p>
            <a:pPr marL="0" lvl="3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};</a:t>
            </a:r>
            <a:endParaRPr lang="en-US" altLang="zh-CN" sz="3200" dirty="0"/>
          </a:p>
          <a:p>
            <a:pPr marL="0" lvl="3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typedef</a:t>
            </a:r>
            <a:r>
              <a:rPr lang="en-US" altLang="zh-CN" sz="3200" dirty="0">
                <a:solidFill>
                  <a:srgbClr val="F52EFC"/>
                </a:solidFill>
              </a:rPr>
              <a:t>  struct item *</a:t>
            </a:r>
            <a:r>
              <a:rPr lang="en-US" altLang="zh-CN" sz="3200" dirty="0">
                <a:solidFill>
                  <a:srgbClr val="FF0000"/>
                </a:solidFill>
              </a:rPr>
              <a:t>  </a:t>
            </a:r>
            <a:r>
              <a:rPr lang="en-US" altLang="zh-CN" sz="3200" dirty="0" err="1"/>
              <a:t>pt</a:t>
            </a:r>
            <a:r>
              <a:rPr lang="en-US" altLang="zh-CN" sz="3200" dirty="0"/>
              <a:t>;</a:t>
            </a:r>
            <a:endParaRPr lang="en-US" altLang="zh-CN" sz="3200" dirty="0"/>
          </a:p>
        </p:txBody>
      </p:sp>
      <p:sp>
        <p:nvSpPr>
          <p:cNvPr id="9" name="矩形标注 8"/>
          <p:cNvSpPr/>
          <p:nvPr/>
        </p:nvSpPr>
        <p:spPr>
          <a:xfrm>
            <a:off x="6752363" y="2895614"/>
            <a:ext cx="5186210" cy="457200"/>
          </a:xfrm>
          <a:prstGeom prst="wedgeRectCallout">
            <a:avLst>
              <a:gd name="adj1" fmla="val -70055"/>
              <a:gd name="adj2" fmla="val 359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dirty="0">
                <a:solidFill>
                  <a:srgbClr val="FFFF00"/>
                </a:solidFill>
              </a:rPr>
              <a:t>用于保存一个结点的数据结构</a:t>
            </a:r>
            <a:endParaRPr lang="en-US" altLang="zh-CN" sz="2800" dirty="0">
              <a:solidFill>
                <a:srgbClr val="FFFF00"/>
              </a:solidFill>
            </a:endParaRPr>
          </a:p>
        </p:txBody>
      </p:sp>
      <p:sp>
        <p:nvSpPr>
          <p:cNvPr id="10" name="矩形标注 9"/>
          <p:cNvSpPr/>
          <p:nvPr/>
        </p:nvSpPr>
        <p:spPr>
          <a:xfrm>
            <a:off x="7781925" y="5653088"/>
            <a:ext cx="2378075" cy="530225"/>
          </a:xfrm>
          <a:prstGeom prst="wedgeRectCallout">
            <a:avLst>
              <a:gd name="adj1" fmla="val -81914"/>
              <a:gd name="adj2" fmla="val 3772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dirty="0">
                <a:solidFill>
                  <a:srgbClr val="FFFF00"/>
                </a:solidFill>
              </a:rPr>
              <a:t>结点指针类型</a:t>
            </a:r>
            <a:endParaRPr lang="en-US" altLang="zh-CN" sz="2800" dirty="0">
              <a:solidFill>
                <a:srgbClr val="FFFF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09978" y="5845687"/>
            <a:ext cx="2535431" cy="502726"/>
          </a:xfrm>
          <a:prstGeom prst="rect">
            <a:avLst/>
          </a:prstGeom>
          <a:noFill/>
          <a:ln w="34925">
            <a:solidFill>
              <a:srgbClr val="F52EFC"/>
            </a:solidFill>
            <a:prstDash val="sysDash"/>
          </a:ln>
        </p:spPr>
        <p:txBody>
          <a:bodyPr wrap="square" lIns="0" rIns="0" rtlCol="0" anchor="ctr">
            <a:noAutofit/>
          </a:bodyPr>
          <a:lstStyle/>
          <a:p>
            <a:pPr algn="ctr"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/>
          <p:cNvSpPr>
            <a:spLocks noGrp="1" noChangeArrowheads="1"/>
          </p:cNvSpPr>
          <p:nvPr>
            <p:ph type="title"/>
          </p:nvPr>
        </p:nvSpPr>
        <p:spPr>
          <a:xfrm>
            <a:off x="10161588" y="12700"/>
            <a:ext cx="2030412" cy="893763"/>
          </a:xfrm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solidFill>
                  <a:srgbClr val="FFC000"/>
                </a:solidFill>
              </a:rPr>
              <a:t>插入排序</a:t>
            </a:r>
            <a:br>
              <a:rPr lang="en-US" altLang="zh-CN" sz="2800" b="1" dirty="0">
                <a:solidFill>
                  <a:srgbClr val="FFC000"/>
                </a:solidFill>
              </a:rPr>
            </a:br>
            <a:r>
              <a:rPr lang="zh-CN" altLang="en-US" sz="2800" b="1" dirty="0">
                <a:solidFill>
                  <a:srgbClr val="FFC000"/>
                </a:solidFill>
              </a:rPr>
              <a:t>算法思想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  <p:sp>
        <p:nvSpPr>
          <p:cNvPr id="13517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229975" y="6391275"/>
            <a:ext cx="428625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69CEAD1-2B65-420E-BED9-1BD89A2C3AB2}" type="slidenum">
              <a:rPr lang="en-US" altLang="zh-CN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26628" name="组合 38"/>
          <p:cNvGrpSpPr/>
          <p:nvPr/>
        </p:nvGrpSpPr>
        <p:grpSpPr bwMode="auto">
          <a:xfrm>
            <a:off x="1473200" y="152400"/>
            <a:ext cx="6370638" cy="1639888"/>
            <a:chOff x="502997" y="4711278"/>
            <a:chExt cx="6371286" cy="1640704"/>
          </a:xfrm>
        </p:grpSpPr>
        <p:grpSp>
          <p:nvGrpSpPr>
            <p:cNvPr id="26723" name="Group 3"/>
            <p:cNvGrpSpPr/>
            <p:nvPr/>
          </p:nvGrpSpPr>
          <p:grpSpPr bwMode="auto">
            <a:xfrm>
              <a:off x="502997" y="4711278"/>
              <a:ext cx="6371286" cy="1640704"/>
              <a:chOff x="4981" y="11162"/>
              <a:chExt cx="3822" cy="1111"/>
            </a:xfrm>
          </p:grpSpPr>
          <p:grpSp>
            <p:nvGrpSpPr>
              <p:cNvPr id="26728" name="Group 4"/>
              <p:cNvGrpSpPr/>
              <p:nvPr/>
            </p:nvGrpSpPr>
            <p:grpSpPr bwMode="auto">
              <a:xfrm>
                <a:off x="5609" y="11228"/>
                <a:ext cx="3194" cy="1045"/>
                <a:chOff x="1976" y="285"/>
                <a:chExt cx="14980" cy="23381"/>
              </a:xfrm>
            </p:grpSpPr>
            <p:sp>
              <p:nvSpPr>
                <p:cNvPr id="11" name="Rectangle 6"/>
                <p:cNvSpPr>
                  <a:spLocks noChangeArrowheads="1"/>
                </p:cNvSpPr>
                <p:nvPr/>
              </p:nvSpPr>
              <p:spPr bwMode="auto">
                <a:xfrm>
                  <a:off x="1974" y="276"/>
                  <a:ext cx="2242" cy="4259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12700" tIns="12700" rIns="12700" bIns="127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defRPr/>
                  </a:pPr>
                  <a:endParaRPr lang="zh-CN" altLang="zh-CN">
                    <a:latin typeface="+mn-lt"/>
                  </a:endParaRPr>
                </a:p>
              </p:txBody>
            </p:sp>
            <p:grpSp>
              <p:nvGrpSpPr>
                <p:cNvPr id="26731" name="Group 7"/>
                <p:cNvGrpSpPr/>
                <p:nvPr/>
              </p:nvGrpSpPr>
              <p:grpSpPr bwMode="auto">
                <a:xfrm>
                  <a:off x="4112" y="7204"/>
                  <a:ext cx="2313" cy="16462"/>
                  <a:chOff x="-1465" y="386"/>
                  <a:chExt cx="20088" cy="26489"/>
                </a:xfrm>
              </p:grpSpPr>
              <p:sp>
                <p:nvSpPr>
                  <p:cNvPr id="26746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-1914" y="351"/>
                    <a:ext cx="20522" cy="26524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A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80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33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-2457" y="18782"/>
                    <a:ext cx="2106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26732" name="Freeform 10"/>
                <p:cNvSpPr/>
                <p:nvPr/>
              </p:nvSpPr>
              <p:spPr bwMode="auto">
                <a:xfrm>
                  <a:off x="3067" y="2710"/>
                  <a:ext cx="1153" cy="54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60000 65536"/>
                    <a:gd name="T7" fmla="*/ 0 60000 65536"/>
                    <a:gd name="T8" fmla="*/ 0 60000 65536"/>
                    <a:gd name="T9" fmla="*/ 0 w 20000"/>
                    <a:gd name="T10" fmla="*/ 0 h 20000"/>
                    <a:gd name="T11" fmla="*/ 20000 w 20000"/>
                    <a:gd name="T12" fmla="*/ 20000 h 200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000" h="20000">
                      <a:moveTo>
                        <a:pt x="0" y="0"/>
                      </a:moveTo>
                      <a:lnTo>
                        <a:pt x="0" y="19945"/>
                      </a:lnTo>
                      <a:lnTo>
                        <a:pt x="19945" y="19945"/>
                      </a:lnTo>
                    </a:path>
                  </a:pathLst>
                </a:custGeom>
                <a:noFill/>
                <a:ln w="28575">
                  <a:solidFill>
                    <a:srgbClr val="FFFF00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733" name="Group 11"/>
                <p:cNvGrpSpPr/>
                <p:nvPr/>
              </p:nvGrpSpPr>
              <p:grpSpPr bwMode="auto">
                <a:xfrm>
                  <a:off x="7627" y="7180"/>
                  <a:ext cx="2465" cy="16486"/>
                  <a:chOff x="-1463" y="502"/>
                  <a:chExt cx="21405" cy="25682"/>
                </a:xfrm>
              </p:grpSpPr>
              <p:sp>
                <p:nvSpPr>
                  <p:cNvPr id="26744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-1482" y="468"/>
                    <a:ext cx="21411" cy="2571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B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rgbClr val="F52EFC"/>
                        </a:solidFill>
                      </a:rPr>
                      <a:t>59</a:t>
                    </a:r>
                    <a:endParaRPr lang="en-US" altLang="zh-CN" sz="2400">
                      <a:solidFill>
                        <a:srgbClr val="F52EFC"/>
                      </a:solidFill>
                    </a:endParaRPr>
                  </a:p>
                </p:txBody>
              </p:sp>
              <p:sp>
                <p:nvSpPr>
                  <p:cNvPr id="31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-1327" y="18312"/>
                    <a:ext cx="21256" cy="37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734" name="Group 14"/>
                <p:cNvGrpSpPr/>
                <p:nvPr/>
              </p:nvGrpSpPr>
              <p:grpSpPr bwMode="auto">
                <a:xfrm>
                  <a:off x="11138" y="6958"/>
                  <a:ext cx="2411" cy="16496"/>
                  <a:chOff x="-25897" y="-485"/>
                  <a:chExt cx="20936" cy="25911"/>
                </a:xfrm>
              </p:grpSpPr>
              <p:sp>
                <p:nvSpPr>
                  <p:cNvPr id="26742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-25063" y="-926"/>
                    <a:ext cx="20092" cy="26345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C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76</a:t>
                    </a:r>
                    <a:endParaRPr lang="en-US" altLang="zh-CN" sz="2400"/>
                  </a:p>
                </p:txBody>
              </p:sp>
              <p:sp>
                <p:nvSpPr>
                  <p:cNvPr id="29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-25955" y="17217"/>
                    <a:ext cx="2009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735" name="Group 17"/>
                <p:cNvGrpSpPr/>
                <p:nvPr/>
              </p:nvGrpSpPr>
              <p:grpSpPr bwMode="auto">
                <a:xfrm>
                  <a:off x="14652" y="6957"/>
                  <a:ext cx="2304" cy="16496"/>
                  <a:chOff x="-25897" y="-487"/>
                  <a:chExt cx="20011" cy="25911"/>
                </a:xfrm>
              </p:grpSpPr>
              <p:sp>
                <p:nvSpPr>
                  <p:cNvPr id="26740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-25905" y="-927"/>
                    <a:ext cx="20019" cy="26345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D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60</a:t>
                    </a:r>
                    <a:endParaRPr lang="en-US" altLang="zh-CN" sz="2400"/>
                  </a:p>
                </p:txBody>
              </p:sp>
              <p:sp>
                <p:nvSpPr>
                  <p:cNvPr id="27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-25672" y="17216"/>
                    <a:ext cx="1978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22" name="Line 25"/>
                <p:cNvSpPr>
                  <a:spLocks noChangeShapeType="1"/>
                </p:cNvSpPr>
                <p:nvPr/>
              </p:nvSpPr>
              <p:spPr bwMode="auto">
                <a:xfrm>
                  <a:off x="4217" y="13030"/>
                  <a:ext cx="2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dirty="0">
                    <a:latin typeface="+mn-lt"/>
                  </a:endParaRPr>
                </a:p>
              </p:txBody>
            </p:sp>
            <p:sp>
              <p:nvSpPr>
                <p:cNvPr id="23" name="Line 26"/>
                <p:cNvSpPr>
                  <a:spLocks noChangeShapeType="1"/>
                </p:cNvSpPr>
                <p:nvPr/>
              </p:nvSpPr>
              <p:spPr bwMode="auto">
                <a:xfrm>
                  <a:off x="7759" y="13078"/>
                  <a:ext cx="236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dirty="0">
                    <a:latin typeface="+mn-lt"/>
                  </a:endParaRPr>
                </a:p>
              </p:txBody>
            </p:sp>
            <p:sp>
              <p:nvSpPr>
                <p:cNvPr id="24" name="Line 27"/>
                <p:cNvSpPr>
                  <a:spLocks noChangeShapeType="1"/>
                </p:cNvSpPr>
                <p:nvPr/>
              </p:nvSpPr>
              <p:spPr bwMode="auto">
                <a:xfrm>
                  <a:off x="11136" y="12837"/>
                  <a:ext cx="230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25" name="Line 28"/>
                <p:cNvSpPr>
                  <a:spLocks noChangeShapeType="1"/>
                </p:cNvSpPr>
                <p:nvPr/>
              </p:nvSpPr>
              <p:spPr bwMode="auto">
                <a:xfrm>
                  <a:off x="14660" y="12813"/>
                  <a:ext cx="22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9" name="Text Box 29"/>
              <p:cNvSpPr txBox="1">
                <a:spLocks noChangeArrowheads="1"/>
              </p:cNvSpPr>
              <p:nvPr/>
            </p:nvSpPr>
            <p:spPr bwMode="auto">
              <a:xfrm>
                <a:off x="4981" y="11162"/>
                <a:ext cx="631" cy="256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base: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</p:txBody>
          </p:sp>
        </p:grpSp>
        <p:sp>
          <p:nvSpPr>
            <p:cNvPr id="26724" name="Freeform 25"/>
            <p:cNvSpPr/>
            <p:nvPr/>
          </p:nvSpPr>
          <p:spPr bwMode="auto">
            <a:xfrm flipH="1">
              <a:off x="2748253" y="5444817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5" name="Freeform 25"/>
            <p:cNvSpPr/>
            <p:nvPr/>
          </p:nvSpPr>
          <p:spPr bwMode="auto">
            <a:xfrm flipH="1">
              <a:off x="4062911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6" name="Freeform 25"/>
            <p:cNvSpPr/>
            <p:nvPr/>
          </p:nvSpPr>
          <p:spPr bwMode="auto">
            <a:xfrm flipH="1">
              <a:off x="5288122" y="5389908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6280498" y="5940614"/>
              <a:ext cx="333409" cy="37007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•</a:t>
              </a:r>
              <a:endPara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1"/>
          <p:cNvGrpSpPr/>
          <p:nvPr/>
        </p:nvGrpSpPr>
        <p:grpSpPr bwMode="auto">
          <a:xfrm>
            <a:off x="4651375" y="1819275"/>
            <a:ext cx="658813" cy="479686"/>
            <a:chOff x="3630426" y="5323431"/>
            <a:chExt cx="658813" cy="693916"/>
          </a:xfrm>
        </p:grpSpPr>
        <p:sp>
          <p:nvSpPr>
            <p:cNvPr id="26721" name="文本框 77"/>
            <p:cNvSpPr txBox="1">
              <a:spLocks noChangeArrowheads="1"/>
            </p:cNvSpPr>
            <p:nvPr/>
          </p:nvSpPr>
          <p:spPr bwMode="auto">
            <a:xfrm>
              <a:off x="3630426" y="5351367"/>
              <a:ext cx="658813" cy="665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722" name="直接箭头连接符 59"/>
            <p:cNvCxnSpPr>
              <a:cxnSpLocks noChangeShapeType="1"/>
            </p:cNvCxnSpPr>
            <p:nvPr/>
          </p:nvCxnSpPr>
          <p:spPr bwMode="auto">
            <a:xfrm>
              <a:off x="3956071" y="5323431"/>
              <a:ext cx="0" cy="461962"/>
            </a:xfrm>
            <a:prstGeom prst="straightConnector1">
              <a:avLst/>
            </a:prstGeom>
            <a:noFill/>
            <a:ln w="38100" algn="ctr">
              <a:solidFill>
                <a:srgbClr val="F52EFC"/>
              </a:solidFill>
              <a:round/>
              <a:head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" name="组合 38"/>
          <p:cNvGrpSpPr/>
          <p:nvPr/>
        </p:nvGrpSpPr>
        <p:grpSpPr bwMode="auto">
          <a:xfrm>
            <a:off x="1466850" y="1858963"/>
            <a:ext cx="6423025" cy="1639887"/>
            <a:chOff x="502997" y="4711278"/>
            <a:chExt cx="6422963" cy="1640704"/>
          </a:xfrm>
        </p:grpSpPr>
        <p:grpSp>
          <p:nvGrpSpPr>
            <p:cNvPr id="26696" name="Group 3"/>
            <p:cNvGrpSpPr/>
            <p:nvPr/>
          </p:nvGrpSpPr>
          <p:grpSpPr bwMode="auto">
            <a:xfrm>
              <a:off x="502997" y="4711278"/>
              <a:ext cx="6422963" cy="1640704"/>
              <a:chOff x="4981" y="11162"/>
              <a:chExt cx="3853" cy="1111"/>
            </a:xfrm>
          </p:grpSpPr>
          <p:grpSp>
            <p:nvGrpSpPr>
              <p:cNvPr id="26701" name="Group 4"/>
              <p:cNvGrpSpPr/>
              <p:nvPr/>
            </p:nvGrpSpPr>
            <p:grpSpPr bwMode="auto">
              <a:xfrm>
                <a:off x="5609" y="11228"/>
                <a:ext cx="3225" cy="1045"/>
                <a:chOff x="1974" y="276"/>
                <a:chExt cx="15126" cy="23390"/>
              </a:xfrm>
            </p:grpSpPr>
            <p:sp>
              <p:nvSpPr>
                <p:cNvPr id="47" name="Rectangle 6"/>
                <p:cNvSpPr>
                  <a:spLocks noChangeArrowheads="1"/>
                </p:cNvSpPr>
                <p:nvPr/>
              </p:nvSpPr>
              <p:spPr bwMode="auto">
                <a:xfrm>
                  <a:off x="1974" y="276"/>
                  <a:ext cx="2242" cy="4259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12700" tIns="12700" rIns="12700" bIns="127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defRPr/>
                  </a:pPr>
                  <a:endParaRPr lang="zh-CN" altLang="zh-CN">
                    <a:latin typeface="+mn-lt"/>
                  </a:endParaRPr>
                </a:p>
              </p:txBody>
            </p:sp>
            <p:grpSp>
              <p:nvGrpSpPr>
                <p:cNvPr id="26704" name="Group 7"/>
                <p:cNvGrpSpPr/>
                <p:nvPr/>
              </p:nvGrpSpPr>
              <p:grpSpPr bwMode="auto">
                <a:xfrm>
                  <a:off x="4112" y="7204"/>
                  <a:ext cx="2313" cy="16462"/>
                  <a:chOff x="-1465" y="386"/>
                  <a:chExt cx="20088" cy="26489"/>
                </a:xfrm>
              </p:grpSpPr>
              <p:sp>
                <p:nvSpPr>
                  <p:cNvPr id="26719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-1921" y="351"/>
                    <a:ext cx="20091" cy="26524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B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59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65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-2464" y="18782"/>
                    <a:ext cx="2009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26705" name="Freeform 10"/>
                <p:cNvSpPr/>
                <p:nvPr/>
              </p:nvSpPr>
              <p:spPr bwMode="auto">
                <a:xfrm>
                  <a:off x="3067" y="2710"/>
                  <a:ext cx="1153" cy="54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60000 65536"/>
                    <a:gd name="T7" fmla="*/ 0 60000 65536"/>
                    <a:gd name="T8" fmla="*/ 0 60000 65536"/>
                    <a:gd name="T9" fmla="*/ 0 w 20000"/>
                    <a:gd name="T10" fmla="*/ 0 h 20000"/>
                    <a:gd name="T11" fmla="*/ 20000 w 20000"/>
                    <a:gd name="T12" fmla="*/ 20000 h 200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000" h="20000">
                      <a:moveTo>
                        <a:pt x="0" y="0"/>
                      </a:moveTo>
                      <a:lnTo>
                        <a:pt x="0" y="19945"/>
                      </a:lnTo>
                      <a:lnTo>
                        <a:pt x="19945" y="19945"/>
                      </a:lnTo>
                    </a:path>
                  </a:pathLst>
                </a:custGeom>
                <a:noFill/>
                <a:ln w="28575">
                  <a:solidFill>
                    <a:srgbClr val="FFFF00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706" name="Group 11"/>
                <p:cNvGrpSpPr/>
                <p:nvPr/>
              </p:nvGrpSpPr>
              <p:grpSpPr bwMode="auto">
                <a:xfrm>
                  <a:off x="7627" y="7180"/>
                  <a:ext cx="2465" cy="16486"/>
                  <a:chOff x="-1463" y="502"/>
                  <a:chExt cx="21405" cy="25682"/>
                </a:xfrm>
              </p:grpSpPr>
              <p:sp>
                <p:nvSpPr>
                  <p:cNvPr id="26717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-1456" y="468"/>
                    <a:ext cx="21407" cy="2571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A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80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63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-1301" y="18312"/>
                    <a:ext cx="21251" cy="37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707" name="Group 14"/>
                <p:cNvGrpSpPr/>
                <p:nvPr/>
              </p:nvGrpSpPr>
              <p:grpSpPr bwMode="auto">
                <a:xfrm>
                  <a:off x="11275" y="6799"/>
                  <a:ext cx="2315" cy="16496"/>
                  <a:chOff x="-24709" y="-734"/>
                  <a:chExt cx="20104" cy="25911"/>
                </a:xfrm>
              </p:grpSpPr>
              <p:sp>
                <p:nvSpPr>
                  <p:cNvPr id="26715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-25162" y="-736"/>
                    <a:ext cx="20516" cy="25929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C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rgbClr val="F52EFC"/>
                        </a:solidFill>
                      </a:rPr>
                      <a:t>76</a:t>
                    </a:r>
                    <a:endParaRPr lang="en-US" altLang="zh-CN" sz="2400">
                      <a:solidFill>
                        <a:srgbClr val="F52EFC"/>
                      </a:solidFill>
                    </a:endParaRPr>
                  </a:p>
                </p:txBody>
              </p:sp>
              <p:sp>
                <p:nvSpPr>
                  <p:cNvPr id="61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-25666" y="17595"/>
                    <a:ext cx="21059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708" name="Group 17"/>
                <p:cNvGrpSpPr/>
                <p:nvPr/>
              </p:nvGrpSpPr>
              <p:grpSpPr bwMode="auto">
                <a:xfrm>
                  <a:off x="14687" y="6799"/>
                  <a:ext cx="2413" cy="16496"/>
                  <a:chOff x="-25598" y="-736"/>
                  <a:chExt cx="20958" cy="25911"/>
                </a:xfrm>
              </p:grpSpPr>
              <p:sp>
                <p:nvSpPr>
                  <p:cNvPr id="26713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-25586" y="-738"/>
                    <a:ext cx="20015" cy="25929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D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60</a:t>
                    </a:r>
                    <a:endParaRPr lang="en-US" altLang="zh-CN" sz="2400"/>
                  </a:p>
                </p:txBody>
              </p:sp>
              <p:sp>
                <p:nvSpPr>
                  <p:cNvPr id="59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-24422" y="17593"/>
                    <a:ext cx="1978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54" name="Line 25"/>
                <p:cNvSpPr>
                  <a:spLocks noChangeShapeType="1"/>
                </p:cNvSpPr>
                <p:nvPr/>
              </p:nvSpPr>
              <p:spPr bwMode="auto">
                <a:xfrm>
                  <a:off x="4003" y="13030"/>
                  <a:ext cx="2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55" name="Line 26"/>
                <p:cNvSpPr>
                  <a:spLocks noChangeShapeType="1"/>
                </p:cNvSpPr>
                <p:nvPr/>
              </p:nvSpPr>
              <p:spPr bwMode="auto">
                <a:xfrm>
                  <a:off x="7757" y="13078"/>
                  <a:ext cx="236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56" name="Line 27"/>
                <p:cNvSpPr>
                  <a:spLocks noChangeShapeType="1"/>
                </p:cNvSpPr>
                <p:nvPr/>
              </p:nvSpPr>
              <p:spPr bwMode="auto">
                <a:xfrm>
                  <a:off x="11330" y="12669"/>
                  <a:ext cx="23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57" name="Line 28"/>
                <p:cNvSpPr>
                  <a:spLocks noChangeShapeType="1"/>
                </p:cNvSpPr>
                <p:nvPr/>
              </p:nvSpPr>
              <p:spPr bwMode="auto">
                <a:xfrm>
                  <a:off x="14697" y="12669"/>
                  <a:ext cx="2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46" name="Text Box 29"/>
              <p:cNvSpPr txBox="1">
                <a:spLocks noChangeArrowheads="1"/>
              </p:cNvSpPr>
              <p:nvPr/>
            </p:nvSpPr>
            <p:spPr bwMode="auto">
              <a:xfrm>
                <a:off x="4981" y="11162"/>
                <a:ext cx="631" cy="256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base: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</p:txBody>
          </p:sp>
        </p:grpSp>
        <p:sp>
          <p:nvSpPr>
            <p:cNvPr id="26697" name="Freeform 25"/>
            <p:cNvSpPr/>
            <p:nvPr/>
          </p:nvSpPr>
          <p:spPr bwMode="auto">
            <a:xfrm flipH="1">
              <a:off x="2750100" y="5434690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8" name="Freeform 25"/>
            <p:cNvSpPr/>
            <p:nvPr/>
          </p:nvSpPr>
          <p:spPr bwMode="auto">
            <a:xfrm flipH="1">
              <a:off x="4062911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9" name="Freeform 25"/>
            <p:cNvSpPr/>
            <p:nvPr/>
          </p:nvSpPr>
          <p:spPr bwMode="auto">
            <a:xfrm flipH="1">
              <a:off x="5339246" y="5404199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6289379" y="5931085"/>
              <a:ext cx="333372" cy="370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•</a:t>
              </a:r>
              <a:endPara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组合 65"/>
          <p:cNvGrpSpPr/>
          <p:nvPr/>
        </p:nvGrpSpPr>
        <p:grpSpPr bwMode="auto">
          <a:xfrm>
            <a:off x="5913438" y="3475038"/>
            <a:ext cx="658812" cy="492125"/>
            <a:chOff x="3630426" y="5323431"/>
            <a:chExt cx="658813" cy="491486"/>
          </a:xfrm>
        </p:grpSpPr>
        <p:sp>
          <p:nvSpPr>
            <p:cNvPr id="26694" name="文本框 77"/>
            <p:cNvSpPr txBox="1">
              <a:spLocks noChangeArrowheads="1"/>
            </p:cNvSpPr>
            <p:nvPr/>
          </p:nvSpPr>
          <p:spPr bwMode="auto">
            <a:xfrm>
              <a:off x="3630426" y="5351367"/>
              <a:ext cx="658813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95" name="直接箭头连接符 59"/>
            <p:cNvCxnSpPr>
              <a:cxnSpLocks noChangeShapeType="1"/>
            </p:cNvCxnSpPr>
            <p:nvPr/>
          </p:nvCxnSpPr>
          <p:spPr bwMode="auto">
            <a:xfrm>
              <a:off x="3956071" y="5323431"/>
              <a:ext cx="0" cy="461962"/>
            </a:xfrm>
            <a:prstGeom prst="straightConnector1">
              <a:avLst/>
            </a:prstGeom>
            <a:noFill/>
            <a:ln w="38100" algn="ctr">
              <a:solidFill>
                <a:srgbClr val="F52EFC"/>
              </a:solidFill>
              <a:round/>
              <a:head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0" name="组合 38"/>
          <p:cNvGrpSpPr/>
          <p:nvPr/>
        </p:nvGrpSpPr>
        <p:grpSpPr bwMode="auto">
          <a:xfrm>
            <a:off x="1446213" y="3446463"/>
            <a:ext cx="6462712" cy="1655762"/>
            <a:chOff x="502998" y="4711282"/>
            <a:chExt cx="6462972" cy="1656949"/>
          </a:xfrm>
        </p:grpSpPr>
        <p:grpSp>
          <p:nvGrpSpPr>
            <p:cNvPr id="26669" name="Group 3"/>
            <p:cNvGrpSpPr/>
            <p:nvPr/>
          </p:nvGrpSpPr>
          <p:grpSpPr bwMode="auto">
            <a:xfrm>
              <a:off x="502998" y="4711282"/>
              <a:ext cx="6462972" cy="1656949"/>
              <a:chOff x="4981" y="11162"/>
              <a:chExt cx="3877" cy="1122"/>
            </a:xfrm>
          </p:grpSpPr>
          <p:grpSp>
            <p:nvGrpSpPr>
              <p:cNvPr id="26674" name="Group 4"/>
              <p:cNvGrpSpPr/>
              <p:nvPr/>
            </p:nvGrpSpPr>
            <p:grpSpPr bwMode="auto">
              <a:xfrm>
                <a:off x="5609" y="11228"/>
                <a:ext cx="3249" cy="1056"/>
                <a:chOff x="1976" y="285"/>
                <a:chExt cx="15234" cy="23625"/>
              </a:xfrm>
            </p:grpSpPr>
            <p:sp>
              <p:nvSpPr>
                <p:cNvPr id="78" name="Rectangle 6"/>
                <p:cNvSpPr>
                  <a:spLocks noChangeArrowheads="1"/>
                </p:cNvSpPr>
                <p:nvPr/>
              </p:nvSpPr>
              <p:spPr bwMode="auto">
                <a:xfrm>
                  <a:off x="1974" y="276"/>
                  <a:ext cx="2242" cy="426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12700" tIns="12700" rIns="12700" bIns="127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defRPr/>
                  </a:pPr>
                  <a:endParaRPr lang="zh-CN" altLang="zh-CN">
                    <a:latin typeface="+mn-lt"/>
                  </a:endParaRPr>
                </a:p>
              </p:txBody>
            </p:sp>
            <p:grpSp>
              <p:nvGrpSpPr>
                <p:cNvPr id="26677" name="Group 7"/>
                <p:cNvGrpSpPr/>
                <p:nvPr/>
              </p:nvGrpSpPr>
              <p:grpSpPr bwMode="auto">
                <a:xfrm>
                  <a:off x="4112" y="7204"/>
                  <a:ext cx="2313" cy="16462"/>
                  <a:chOff x="-1465" y="386"/>
                  <a:chExt cx="20088" cy="26489"/>
                </a:xfrm>
              </p:grpSpPr>
              <p:sp>
                <p:nvSpPr>
                  <p:cNvPr id="26692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-1921" y="353"/>
                    <a:ext cx="20089" cy="26527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B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59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96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-2464" y="18787"/>
                    <a:ext cx="20089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26678" name="Freeform 10"/>
                <p:cNvSpPr/>
                <p:nvPr/>
              </p:nvSpPr>
              <p:spPr bwMode="auto">
                <a:xfrm>
                  <a:off x="3067" y="2710"/>
                  <a:ext cx="1153" cy="54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60000 65536"/>
                    <a:gd name="T7" fmla="*/ 0 60000 65536"/>
                    <a:gd name="T8" fmla="*/ 0 60000 65536"/>
                    <a:gd name="T9" fmla="*/ 0 w 20000"/>
                    <a:gd name="T10" fmla="*/ 0 h 20000"/>
                    <a:gd name="T11" fmla="*/ 20000 w 20000"/>
                    <a:gd name="T12" fmla="*/ 20000 h 200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000" h="20000">
                      <a:moveTo>
                        <a:pt x="0" y="0"/>
                      </a:moveTo>
                      <a:lnTo>
                        <a:pt x="0" y="19945"/>
                      </a:lnTo>
                      <a:lnTo>
                        <a:pt x="19945" y="19945"/>
                      </a:lnTo>
                    </a:path>
                  </a:pathLst>
                </a:custGeom>
                <a:noFill/>
                <a:ln w="28575">
                  <a:solidFill>
                    <a:srgbClr val="FFFF00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679" name="Group 11"/>
                <p:cNvGrpSpPr/>
                <p:nvPr/>
              </p:nvGrpSpPr>
              <p:grpSpPr bwMode="auto">
                <a:xfrm>
                  <a:off x="7627" y="7180"/>
                  <a:ext cx="2465" cy="16486"/>
                  <a:chOff x="-1463" y="502"/>
                  <a:chExt cx="21405" cy="25682"/>
                </a:xfrm>
              </p:grpSpPr>
              <p:sp>
                <p:nvSpPr>
                  <p:cNvPr id="26690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-1461" y="470"/>
                    <a:ext cx="21404" cy="25719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C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76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94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-1305" y="18316"/>
                    <a:ext cx="21249" cy="3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680" name="Group 14"/>
                <p:cNvGrpSpPr/>
                <p:nvPr/>
              </p:nvGrpSpPr>
              <p:grpSpPr bwMode="auto">
                <a:xfrm>
                  <a:off x="11163" y="7414"/>
                  <a:ext cx="2411" cy="16496"/>
                  <a:chOff x="-25676" y="231"/>
                  <a:chExt cx="20934" cy="25911"/>
                </a:xfrm>
              </p:grpSpPr>
              <p:sp>
                <p:nvSpPr>
                  <p:cNvPr id="26688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-24777" y="-206"/>
                    <a:ext cx="20045" cy="26348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A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80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92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-25668" y="17939"/>
                    <a:ext cx="200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681" name="Group 17"/>
                <p:cNvGrpSpPr/>
                <p:nvPr/>
              </p:nvGrpSpPr>
              <p:grpSpPr bwMode="auto">
                <a:xfrm>
                  <a:off x="14862" y="6992"/>
                  <a:ext cx="2313" cy="16496"/>
                  <a:chOff x="-24075" y="-433"/>
                  <a:chExt cx="20087" cy="25911"/>
                </a:xfrm>
              </p:grpSpPr>
              <p:sp>
                <p:nvSpPr>
                  <p:cNvPr id="26686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-24004" y="-434"/>
                    <a:ext cx="20010" cy="25819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D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rgbClr val="F52EFC"/>
                        </a:solidFill>
                      </a:rPr>
                      <a:t>60</a:t>
                    </a:r>
                    <a:endParaRPr lang="en-US" altLang="zh-CN" sz="2400">
                      <a:solidFill>
                        <a:srgbClr val="F52EFC"/>
                      </a:solidFill>
                    </a:endParaRPr>
                  </a:p>
                </p:txBody>
              </p:sp>
              <p:sp>
                <p:nvSpPr>
                  <p:cNvPr id="90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-24082" y="17711"/>
                    <a:ext cx="19777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85" name="Line 25"/>
                <p:cNvSpPr>
                  <a:spLocks noChangeShapeType="1"/>
                </p:cNvSpPr>
                <p:nvPr/>
              </p:nvSpPr>
              <p:spPr bwMode="auto">
                <a:xfrm>
                  <a:off x="4216" y="13032"/>
                  <a:ext cx="233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86" name="Line 26"/>
                <p:cNvSpPr>
                  <a:spLocks noChangeShapeType="1"/>
                </p:cNvSpPr>
                <p:nvPr/>
              </p:nvSpPr>
              <p:spPr bwMode="auto">
                <a:xfrm>
                  <a:off x="7757" y="13080"/>
                  <a:ext cx="236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87" name="Line 27"/>
                <p:cNvSpPr>
                  <a:spLocks noChangeShapeType="1"/>
                </p:cNvSpPr>
                <p:nvPr/>
              </p:nvSpPr>
              <p:spPr bwMode="auto">
                <a:xfrm>
                  <a:off x="11159" y="13297"/>
                  <a:ext cx="23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88" name="Line 28"/>
                <p:cNvSpPr>
                  <a:spLocks noChangeShapeType="1"/>
                </p:cNvSpPr>
                <p:nvPr/>
              </p:nvSpPr>
              <p:spPr bwMode="auto">
                <a:xfrm>
                  <a:off x="14915" y="12502"/>
                  <a:ext cx="2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77" name="Text Box 29"/>
              <p:cNvSpPr txBox="1">
                <a:spLocks noChangeArrowheads="1"/>
              </p:cNvSpPr>
              <p:nvPr/>
            </p:nvSpPr>
            <p:spPr bwMode="auto">
              <a:xfrm>
                <a:off x="4981" y="11162"/>
                <a:ext cx="631" cy="256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base: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</p:txBody>
          </p:sp>
        </p:grpSp>
        <p:sp>
          <p:nvSpPr>
            <p:cNvPr id="26670" name="Freeform 25"/>
            <p:cNvSpPr/>
            <p:nvPr/>
          </p:nvSpPr>
          <p:spPr bwMode="auto">
            <a:xfrm flipH="1">
              <a:off x="2795093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1" name="Freeform 25"/>
            <p:cNvSpPr/>
            <p:nvPr/>
          </p:nvSpPr>
          <p:spPr bwMode="auto">
            <a:xfrm flipH="1">
              <a:off x="4062911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2" name="Freeform 25"/>
            <p:cNvSpPr/>
            <p:nvPr/>
          </p:nvSpPr>
          <p:spPr bwMode="auto">
            <a:xfrm flipH="1">
              <a:off x="5334012" y="545887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 bwMode="auto">
            <a:xfrm>
              <a:off x="6376984" y="5977426"/>
              <a:ext cx="333388" cy="3701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•</a:t>
              </a:r>
              <a:endPara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组合 96"/>
          <p:cNvGrpSpPr/>
          <p:nvPr/>
        </p:nvGrpSpPr>
        <p:grpSpPr bwMode="auto">
          <a:xfrm>
            <a:off x="7134225" y="5097463"/>
            <a:ext cx="658813" cy="490537"/>
            <a:chOff x="3630426" y="5323431"/>
            <a:chExt cx="658813" cy="491486"/>
          </a:xfrm>
        </p:grpSpPr>
        <p:sp>
          <p:nvSpPr>
            <p:cNvPr id="26667" name="文本框 77"/>
            <p:cNvSpPr txBox="1">
              <a:spLocks noChangeArrowheads="1"/>
            </p:cNvSpPr>
            <p:nvPr/>
          </p:nvSpPr>
          <p:spPr bwMode="auto">
            <a:xfrm>
              <a:off x="3630426" y="5351367"/>
              <a:ext cx="658813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68" name="直接箭头连接符 59"/>
            <p:cNvCxnSpPr>
              <a:cxnSpLocks noChangeShapeType="1"/>
            </p:cNvCxnSpPr>
            <p:nvPr/>
          </p:nvCxnSpPr>
          <p:spPr bwMode="auto">
            <a:xfrm>
              <a:off x="3956071" y="5323431"/>
              <a:ext cx="0" cy="461962"/>
            </a:xfrm>
            <a:prstGeom prst="straightConnector1">
              <a:avLst/>
            </a:prstGeom>
            <a:noFill/>
            <a:ln w="38100" algn="ctr">
              <a:solidFill>
                <a:srgbClr val="F52EFC"/>
              </a:solidFill>
              <a:round/>
              <a:head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6" name="组合 99"/>
          <p:cNvGrpSpPr/>
          <p:nvPr/>
        </p:nvGrpSpPr>
        <p:grpSpPr bwMode="auto">
          <a:xfrm>
            <a:off x="3373438" y="1835150"/>
            <a:ext cx="658812" cy="481013"/>
            <a:chOff x="3630426" y="5323431"/>
            <a:chExt cx="658813" cy="692729"/>
          </a:xfrm>
        </p:grpSpPr>
        <p:sp>
          <p:nvSpPr>
            <p:cNvPr id="26665" name="文本框 77"/>
            <p:cNvSpPr txBox="1">
              <a:spLocks noChangeArrowheads="1"/>
            </p:cNvSpPr>
            <p:nvPr/>
          </p:nvSpPr>
          <p:spPr bwMode="auto">
            <a:xfrm>
              <a:off x="3630426" y="5351367"/>
              <a:ext cx="658813" cy="664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66" name="直接箭头连接符 59"/>
            <p:cNvCxnSpPr>
              <a:cxnSpLocks noChangeShapeType="1"/>
            </p:cNvCxnSpPr>
            <p:nvPr/>
          </p:nvCxnSpPr>
          <p:spPr bwMode="auto">
            <a:xfrm>
              <a:off x="3956071" y="5323431"/>
              <a:ext cx="0" cy="461962"/>
            </a:xfrm>
            <a:prstGeom prst="straightConnector1">
              <a:avLst/>
            </a:prstGeom>
            <a:noFill/>
            <a:ln w="38100" algn="ctr">
              <a:solidFill>
                <a:srgbClr val="F52EFC"/>
              </a:solidFill>
              <a:round/>
              <a:head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7" name="组合 38"/>
          <p:cNvGrpSpPr/>
          <p:nvPr/>
        </p:nvGrpSpPr>
        <p:grpSpPr bwMode="auto">
          <a:xfrm>
            <a:off x="1446213" y="5040313"/>
            <a:ext cx="6621462" cy="1657350"/>
            <a:chOff x="502997" y="4711282"/>
            <a:chExt cx="6621337" cy="1656949"/>
          </a:xfrm>
        </p:grpSpPr>
        <p:grpSp>
          <p:nvGrpSpPr>
            <p:cNvPr id="26640" name="Group 3"/>
            <p:cNvGrpSpPr/>
            <p:nvPr/>
          </p:nvGrpSpPr>
          <p:grpSpPr bwMode="auto">
            <a:xfrm>
              <a:off x="502997" y="4711282"/>
              <a:ext cx="6621337" cy="1656949"/>
              <a:chOff x="4981" y="11162"/>
              <a:chExt cx="3972" cy="1122"/>
            </a:xfrm>
          </p:grpSpPr>
          <p:grpSp>
            <p:nvGrpSpPr>
              <p:cNvPr id="26645" name="Group 4"/>
              <p:cNvGrpSpPr/>
              <p:nvPr/>
            </p:nvGrpSpPr>
            <p:grpSpPr bwMode="auto">
              <a:xfrm>
                <a:off x="5609" y="11228"/>
                <a:ext cx="3344" cy="1056"/>
                <a:chOff x="1976" y="285"/>
                <a:chExt cx="15686" cy="23625"/>
              </a:xfrm>
            </p:grpSpPr>
            <p:sp>
              <p:nvSpPr>
                <p:cNvPr id="112" name="Rectangle 6"/>
                <p:cNvSpPr>
                  <a:spLocks noChangeArrowheads="1"/>
                </p:cNvSpPr>
                <p:nvPr/>
              </p:nvSpPr>
              <p:spPr bwMode="auto">
                <a:xfrm>
                  <a:off x="1974" y="275"/>
                  <a:ext cx="2242" cy="4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12700" tIns="12700" rIns="12700" bIns="127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defRPr/>
                  </a:pPr>
                  <a:endParaRPr lang="zh-CN" altLang="zh-CN">
                    <a:latin typeface="+mn-lt"/>
                  </a:endParaRPr>
                </a:p>
              </p:txBody>
            </p:sp>
            <p:grpSp>
              <p:nvGrpSpPr>
                <p:cNvPr id="26648" name="Group 7"/>
                <p:cNvGrpSpPr/>
                <p:nvPr/>
              </p:nvGrpSpPr>
              <p:grpSpPr bwMode="auto">
                <a:xfrm>
                  <a:off x="4112" y="7204"/>
                  <a:ext cx="2313" cy="16462"/>
                  <a:chOff x="-1465" y="386"/>
                  <a:chExt cx="20088" cy="26489"/>
                </a:xfrm>
              </p:grpSpPr>
              <p:sp>
                <p:nvSpPr>
                  <p:cNvPr id="26663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-1916" y="340"/>
                    <a:ext cx="20523" cy="265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B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59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130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-2460" y="18795"/>
                    <a:ext cx="2106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26649" name="Freeform 10"/>
                <p:cNvSpPr/>
                <p:nvPr/>
              </p:nvSpPr>
              <p:spPr bwMode="auto">
                <a:xfrm>
                  <a:off x="3067" y="2710"/>
                  <a:ext cx="1153" cy="54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60000 65536"/>
                    <a:gd name="T7" fmla="*/ 0 60000 65536"/>
                    <a:gd name="T8" fmla="*/ 0 60000 65536"/>
                    <a:gd name="T9" fmla="*/ 0 w 20000"/>
                    <a:gd name="T10" fmla="*/ 0 h 20000"/>
                    <a:gd name="T11" fmla="*/ 20000 w 20000"/>
                    <a:gd name="T12" fmla="*/ 20000 h 200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000" h="20000">
                      <a:moveTo>
                        <a:pt x="0" y="0"/>
                      </a:moveTo>
                      <a:lnTo>
                        <a:pt x="0" y="19945"/>
                      </a:lnTo>
                      <a:lnTo>
                        <a:pt x="19945" y="19945"/>
                      </a:lnTo>
                    </a:path>
                  </a:pathLst>
                </a:custGeom>
                <a:noFill/>
                <a:ln w="28575">
                  <a:solidFill>
                    <a:srgbClr val="FFFF00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650" name="Group 11"/>
                <p:cNvGrpSpPr/>
                <p:nvPr/>
              </p:nvGrpSpPr>
              <p:grpSpPr bwMode="auto">
                <a:xfrm>
                  <a:off x="7627" y="7180"/>
                  <a:ext cx="2465" cy="16486"/>
                  <a:chOff x="-1463" y="502"/>
                  <a:chExt cx="21405" cy="25682"/>
                </a:xfrm>
              </p:grpSpPr>
              <p:sp>
                <p:nvSpPr>
                  <p:cNvPr id="26661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-1910" y="458"/>
                    <a:ext cx="21838" cy="257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D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60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128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-2298" y="18324"/>
                    <a:ext cx="22226" cy="37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651" name="Group 14"/>
                <p:cNvGrpSpPr/>
                <p:nvPr/>
              </p:nvGrpSpPr>
              <p:grpSpPr bwMode="auto">
                <a:xfrm>
                  <a:off x="11163" y="7414"/>
                  <a:ext cx="2411" cy="16496"/>
                  <a:chOff x="-25676" y="231"/>
                  <a:chExt cx="20934" cy="25911"/>
                </a:xfrm>
              </p:grpSpPr>
              <p:sp>
                <p:nvSpPr>
                  <p:cNvPr id="26659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-24788" y="234"/>
                    <a:ext cx="20052" cy="25908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C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76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126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-25680" y="17947"/>
                    <a:ext cx="2005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652" name="Group 17"/>
                <p:cNvGrpSpPr/>
                <p:nvPr/>
              </p:nvGrpSpPr>
              <p:grpSpPr bwMode="auto">
                <a:xfrm>
                  <a:off x="15333" y="7362"/>
                  <a:ext cx="2329" cy="16496"/>
                  <a:chOff x="-19979" y="149"/>
                  <a:chExt cx="20226" cy="25911"/>
                </a:xfrm>
              </p:grpSpPr>
              <p:sp>
                <p:nvSpPr>
                  <p:cNvPr id="26657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-19964" y="-295"/>
                    <a:ext cx="19978" cy="26361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A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80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124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-19499" y="17758"/>
                    <a:ext cx="1974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119" name="Line 25"/>
                <p:cNvSpPr>
                  <a:spLocks noChangeShapeType="1"/>
                </p:cNvSpPr>
                <p:nvPr/>
              </p:nvSpPr>
              <p:spPr bwMode="auto">
                <a:xfrm>
                  <a:off x="4216" y="13018"/>
                  <a:ext cx="2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120" name="Line 26"/>
                <p:cNvSpPr>
                  <a:spLocks noChangeShapeType="1"/>
                </p:cNvSpPr>
                <p:nvPr/>
              </p:nvSpPr>
              <p:spPr bwMode="auto">
                <a:xfrm>
                  <a:off x="7759" y="13066"/>
                  <a:ext cx="236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121" name="Line 27"/>
                <p:cNvSpPr>
                  <a:spLocks noChangeShapeType="1"/>
                </p:cNvSpPr>
                <p:nvPr/>
              </p:nvSpPr>
              <p:spPr bwMode="auto">
                <a:xfrm>
                  <a:off x="11163" y="13307"/>
                  <a:ext cx="230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122" name="Line 28"/>
                <p:cNvSpPr>
                  <a:spLocks noChangeShapeType="1"/>
                </p:cNvSpPr>
                <p:nvPr/>
              </p:nvSpPr>
              <p:spPr bwMode="auto">
                <a:xfrm>
                  <a:off x="15339" y="12658"/>
                  <a:ext cx="22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111" name="Text Box 29"/>
              <p:cNvSpPr txBox="1">
                <a:spLocks noChangeArrowheads="1"/>
              </p:cNvSpPr>
              <p:nvPr/>
            </p:nvSpPr>
            <p:spPr bwMode="auto">
              <a:xfrm>
                <a:off x="4981" y="11162"/>
                <a:ext cx="631" cy="256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base: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</p:txBody>
          </p:sp>
        </p:grpSp>
        <p:sp>
          <p:nvSpPr>
            <p:cNvPr id="26641" name="Freeform 25"/>
            <p:cNvSpPr/>
            <p:nvPr/>
          </p:nvSpPr>
          <p:spPr bwMode="auto">
            <a:xfrm flipH="1">
              <a:off x="2795093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2" name="Freeform 25"/>
            <p:cNvSpPr/>
            <p:nvPr/>
          </p:nvSpPr>
          <p:spPr bwMode="auto">
            <a:xfrm flipH="1">
              <a:off x="4062911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3" name="Freeform 25"/>
            <p:cNvSpPr/>
            <p:nvPr/>
          </p:nvSpPr>
          <p:spPr bwMode="auto">
            <a:xfrm flipH="1">
              <a:off x="5538141" y="5422893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6544908" y="5988910"/>
              <a:ext cx="333369" cy="368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•</a:t>
              </a:r>
              <a:endPara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组合 130"/>
          <p:cNvGrpSpPr/>
          <p:nvPr/>
        </p:nvGrpSpPr>
        <p:grpSpPr bwMode="auto">
          <a:xfrm>
            <a:off x="8232775" y="6367463"/>
            <a:ext cx="658813" cy="490537"/>
            <a:chOff x="3630426" y="5323431"/>
            <a:chExt cx="658813" cy="470445"/>
          </a:xfrm>
        </p:grpSpPr>
        <p:sp>
          <p:nvSpPr>
            <p:cNvPr id="26638" name="文本框 77"/>
            <p:cNvSpPr txBox="1">
              <a:spLocks noChangeArrowheads="1"/>
            </p:cNvSpPr>
            <p:nvPr/>
          </p:nvSpPr>
          <p:spPr bwMode="auto">
            <a:xfrm>
              <a:off x="3630426" y="5351367"/>
              <a:ext cx="658813" cy="442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39" name="直接箭头连接符 59"/>
            <p:cNvCxnSpPr>
              <a:cxnSpLocks noChangeShapeType="1"/>
            </p:cNvCxnSpPr>
            <p:nvPr/>
          </p:nvCxnSpPr>
          <p:spPr bwMode="auto">
            <a:xfrm>
              <a:off x="3956071" y="5323431"/>
              <a:ext cx="0" cy="461962"/>
            </a:xfrm>
            <a:prstGeom prst="straightConnector1">
              <a:avLst/>
            </a:prstGeom>
            <a:noFill/>
            <a:ln w="38100" algn="ctr">
              <a:solidFill>
                <a:srgbClr val="F52EFC"/>
              </a:solidFill>
              <a:round/>
              <a:head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标题 1"/>
          <p:cNvSpPr>
            <a:spLocks noGrp="1" noChangeArrowheads="1"/>
          </p:cNvSpPr>
          <p:nvPr>
            <p:ph type="title"/>
          </p:nvPr>
        </p:nvSpPr>
        <p:spPr>
          <a:xfrm>
            <a:off x="1682750" y="6350"/>
            <a:ext cx="8229600" cy="573088"/>
          </a:xfrm>
        </p:spPr>
        <p:txBody>
          <a:bodyPr/>
          <a:lstStyle/>
          <a:p>
            <a:pPr>
              <a:defRPr/>
            </a:pPr>
            <a:r>
              <a:rPr lang="zh-CN" altLang="en-US"/>
              <a:t>插入排序</a:t>
            </a:r>
            <a:r>
              <a:rPr lang="en-US" altLang="zh-CN"/>
              <a:t>——PAD</a:t>
            </a:r>
            <a:endParaRPr lang="zh-CN" altLang="en-US"/>
          </a:p>
        </p:txBody>
      </p:sp>
      <p:sp>
        <p:nvSpPr>
          <p:cNvPr id="13619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057890" y="6248400"/>
            <a:ext cx="52451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BB29A85-AA9E-47FF-A1BD-5B21DD6A736B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组合 3"/>
          <p:cNvGrpSpPr/>
          <p:nvPr/>
        </p:nvGrpSpPr>
        <p:grpSpPr bwMode="auto">
          <a:xfrm>
            <a:off x="624694" y="1292225"/>
            <a:ext cx="7273924" cy="1916431"/>
            <a:chOff x="820257" y="1753596"/>
            <a:chExt cx="4808921" cy="1649822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947482" y="2309123"/>
              <a:ext cx="0" cy="4381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3177909" y="2085420"/>
              <a:ext cx="10075" cy="6226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28698" name="组合 2"/>
            <p:cNvGrpSpPr/>
            <p:nvPr/>
          </p:nvGrpSpPr>
          <p:grpSpPr bwMode="auto">
            <a:xfrm>
              <a:off x="820257" y="1753596"/>
              <a:ext cx="4808921" cy="1649822"/>
              <a:chOff x="820257" y="1753596"/>
              <a:chExt cx="4808921" cy="1649822"/>
            </a:xfrm>
          </p:grpSpPr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820257" y="2309143"/>
                <a:ext cx="1766701" cy="422247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sz="2800" dirty="0">
                    <a:latin typeface="+mn-lt"/>
                    <a:ea typeface="+mn-ea"/>
                  </a:rPr>
                  <a:t>p!=NULL</a:t>
                </a:r>
                <a:endParaRPr lang="en-US" altLang="zh-CN" sz="2800" dirty="0">
                  <a:latin typeface="+mn-lt"/>
                  <a:ea typeface="+mn-ea"/>
                </a:endParaRPr>
              </a:p>
            </p:txBody>
          </p:sp>
          <p:sp>
            <p:nvSpPr>
              <p:cNvPr id="14" name="Line 11"/>
              <p:cNvSpPr>
                <a:spLocks noChangeShapeType="1"/>
              </p:cNvSpPr>
              <p:nvPr/>
            </p:nvSpPr>
            <p:spPr bwMode="auto">
              <a:xfrm>
                <a:off x="2581597" y="2485354"/>
                <a:ext cx="5984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15" name="Rectangle 12"/>
              <p:cNvSpPr>
                <a:spLocks noChangeArrowheads="1"/>
              </p:cNvSpPr>
              <p:nvPr/>
            </p:nvSpPr>
            <p:spPr bwMode="auto">
              <a:xfrm>
                <a:off x="3187984" y="1753596"/>
                <a:ext cx="2441194" cy="422022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zh-CN" altLang="en-US" sz="2800" dirty="0">
                    <a:solidFill>
                      <a:srgbClr val="F52EFC"/>
                    </a:solidFill>
                    <a:latin typeface="+mn-lt"/>
                    <a:ea typeface="+mn-ea"/>
                  </a:rPr>
                  <a:t>使</a:t>
                </a:r>
                <a:r>
                  <a:rPr lang="en-US" altLang="zh-CN" sz="2800" dirty="0">
                    <a:solidFill>
                      <a:srgbClr val="F52EFC"/>
                    </a:solidFill>
                    <a:latin typeface="+mn-lt"/>
                    <a:ea typeface="+mn-ea"/>
                  </a:rPr>
                  <a:t>base</a:t>
                </a:r>
                <a:r>
                  <a:rPr lang="zh-CN" altLang="en-US" sz="2800" dirty="0">
                    <a:solidFill>
                      <a:srgbClr val="F52EFC"/>
                    </a:solidFill>
                    <a:latin typeface="+mn-lt"/>
                    <a:ea typeface="+mn-ea"/>
                  </a:rPr>
                  <a:t>～</a:t>
                </a:r>
                <a:r>
                  <a:rPr lang="en-US" altLang="zh-CN" sz="2800" dirty="0">
                    <a:solidFill>
                      <a:srgbClr val="F52EFC"/>
                    </a:solidFill>
                    <a:latin typeface="+mn-lt"/>
                    <a:ea typeface="+mn-ea"/>
                  </a:rPr>
                  <a:t>p</a:t>
                </a:r>
                <a:r>
                  <a:rPr lang="zh-CN" altLang="en-US" sz="2800" dirty="0">
                    <a:solidFill>
                      <a:srgbClr val="F52EFC"/>
                    </a:solidFill>
                    <a:latin typeface="+mn-lt"/>
                    <a:ea typeface="+mn-ea"/>
                  </a:rPr>
                  <a:t>递增</a:t>
                </a:r>
                <a:endParaRPr lang="zh-CN" altLang="en-US" sz="2800" dirty="0">
                  <a:solidFill>
                    <a:srgbClr val="F52EFC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3"/>
              <p:cNvSpPr>
                <a:spLocks noChangeArrowheads="1"/>
              </p:cNvSpPr>
              <p:nvPr/>
            </p:nvSpPr>
            <p:spPr bwMode="auto">
              <a:xfrm>
                <a:off x="3180163" y="2627182"/>
                <a:ext cx="2238139" cy="77623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457200" algn="l">
                  <a:defRPr/>
                </a:pPr>
                <a:r>
                  <a:rPr lang="en-US" altLang="zh-CN" sz="28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</a:rPr>
                  <a:t>p0=p;</a:t>
                </a:r>
                <a:endParaRPr lang="en-US" altLang="zh-CN" sz="28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endParaRPr>
              </a:p>
              <a:p>
                <a:pPr indent="457200" algn="l">
                  <a:defRPr/>
                </a:pPr>
                <a:r>
                  <a:rPr lang="en-US" altLang="zh-CN" sz="28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</a:rPr>
                  <a:t>p=p-&gt;next;</a:t>
                </a:r>
                <a:endParaRPr lang="en-US" altLang="zh-CN" sz="28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28677" name="组合 4"/>
          <p:cNvGrpSpPr/>
          <p:nvPr/>
        </p:nvGrpSpPr>
        <p:grpSpPr bwMode="auto">
          <a:xfrm>
            <a:off x="228600" y="298450"/>
            <a:ext cx="3413760" cy="3450590"/>
            <a:chOff x="352425" y="787083"/>
            <a:chExt cx="2257030" cy="2968942"/>
          </a:xfrm>
        </p:grpSpPr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609780" y="1274498"/>
              <a:ext cx="4763" cy="20099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28688" name="Group 3"/>
            <p:cNvGrpSpPr/>
            <p:nvPr/>
          </p:nvGrpSpPr>
          <p:grpSpPr bwMode="auto">
            <a:xfrm>
              <a:off x="352425" y="787083"/>
              <a:ext cx="919746" cy="447976"/>
              <a:chOff x="1906" y="6826"/>
              <a:chExt cx="691" cy="258"/>
            </a:xfrm>
          </p:grpSpPr>
          <p:sp>
            <p:nvSpPr>
              <p:cNvPr id="21" name="Rectangle 4"/>
              <p:cNvSpPr>
                <a:spLocks noChangeArrowheads="1"/>
              </p:cNvSpPr>
              <p:nvPr/>
            </p:nvSpPr>
            <p:spPr bwMode="auto">
              <a:xfrm>
                <a:off x="1906" y="6849"/>
                <a:ext cx="691" cy="211"/>
              </a:xfrm>
              <a:prstGeom prst="rect">
                <a:avLst/>
              </a:prstGeom>
              <a:noFill/>
              <a:ln w="57150" algn="ctr">
                <a:noFill/>
                <a:miter lim="800000"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zh-CN" altLang="en-US" sz="2800" dirty="0">
                    <a:latin typeface="+mn-lt"/>
                    <a:ea typeface="+mn-ea"/>
                  </a:rPr>
                  <a:t>开始</a:t>
                </a:r>
                <a:endParaRPr lang="zh-CN" altLang="en-US" sz="2800" dirty="0">
                  <a:latin typeface="+mn-lt"/>
                  <a:ea typeface="+mn-ea"/>
                </a:endParaRPr>
              </a:p>
            </p:txBody>
          </p:sp>
          <p:sp>
            <p:nvSpPr>
              <p:cNvPr id="22" name="Oval 5"/>
              <p:cNvSpPr>
                <a:spLocks noChangeArrowheads="1"/>
              </p:cNvSpPr>
              <p:nvPr/>
            </p:nvSpPr>
            <p:spPr bwMode="auto">
              <a:xfrm>
                <a:off x="1906" y="6826"/>
                <a:ext cx="691" cy="258"/>
              </a:xfrm>
              <a:prstGeom prst="ellipse">
                <a:avLst/>
              </a:prstGeom>
              <a:noFill/>
              <a:ln w="28575" algn="ctr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endParaRPr lang="zh-CN" altLang="en-US" sz="2800">
                  <a:latin typeface="+mn-lt"/>
                  <a:ea typeface="+mn-ea"/>
                </a:endParaRPr>
              </a:p>
            </p:txBody>
          </p:sp>
        </p:grp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609779" y="1257033"/>
              <a:ext cx="1766868" cy="816062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sz="28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p0=NULL</a:t>
              </a:r>
              <a:endPara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</a:endParaRPr>
            </a:p>
            <a:p>
              <a:pPr algn="ctr">
                <a:defRPr/>
              </a:pPr>
              <a:r>
                <a:rPr lang="en-US" altLang="zh-CN" sz="28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p = base</a:t>
              </a:r>
              <a:endPara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</a:endParaRPr>
            </a:p>
            <a:p>
              <a:pPr algn="ctr">
                <a:defRPr/>
              </a:pPr>
              <a:endParaRPr lang="en-US" altLang="zh-CN" sz="2800" dirty="0">
                <a:latin typeface="+mn-lt"/>
                <a:ea typeface="+mn-ea"/>
              </a:endParaRPr>
            </a:p>
          </p:txBody>
        </p:sp>
        <p:grpSp>
          <p:nvGrpSpPr>
            <p:cNvPr id="28690" name="Group 14"/>
            <p:cNvGrpSpPr/>
            <p:nvPr/>
          </p:nvGrpSpPr>
          <p:grpSpPr bwMode="auto">
            <a:xfrm>
              <a:off x="352425" y="3284793"/>
              <a:ext cx="922345" cy="471232"/>
              <a:chOff x="1874" y="7851"/>
              <a:chExt cx="693" cy="271"/>
            </a:xfrm>
          </p:grpSpPr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1874" y="7853"/>
                <a:ext cx="691" cy="211"/>
              </a:xfrm>
              <a:prstGeom prst="rect">
                <a:avLst/>
              </a:prstGeom>
              <a:noFill/>
              <a:ln w="57150" algn="ctr">
                <a:noFill/>
                <a:miter lim="800000"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zh-CN" altLang="en-US" sz="2800" dirty="0">
                    <a:latin typeface="+mn-lt"/>
                    <a:ea typeface="+mn-ea"/>
                  </a:rPr>
                  <a:t>结束</a:t>
                </a:r>
                <a:endParaRPr lang="zh-CN" altLang="en-US" sz="2800" dirty="0">
                  <a:latin typeface="+mn-lt"/>
                  <a:ea typeface="+mn-ea"/>
                </a:endParaRPr>
              </a:p>
            </p:txBody>
          </p:sp>
          <p:sp>
            <p:nvSpPr>
              <p:cNvPr id="20" name="Oval 16"/>
              <p:cNvSpPr>
                <a:spLocks noChangeArrowheads="1"/>
              </p:cNvSpPr>
              <p:nvPr/>
            </p:nvSpPr>
            <p:spPr bwMode="auto">
              <a:xfrm>
                <a:off x="1876" y="7851"/>
                <a:ext cx="691" cy="271"/>
              </a:xfrm>
              <a:prstGeom prst="ellipse">
                <a:avLst/>
              </a:prstGeom>
              <a:noFill/>
              <a:ln w="28575" algn="ctr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endParaRPr lang="zh-CN" altLang="en-US" sz="2800">
                  <a:latin typeface="+mn-lt"/>
                  <a:ea typeface="+mn-ea"/>
                </a:endParaRPr>
              </a:p>
            </p:txBody>
          </p:sp>
        </p:grp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604466" y="2762048"/>
              <a:ext cx="2004989" cy="450898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sz="28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return base</a:t>
              </a:r>
              <a:endPara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7" name="Group 18"/>
          <p:cNvGrpSpPr/>
          <p:nvPr/>
        </p:nvGrpSpPr>
        <p:grpSpPr bwMode="auto">
          <a:xfrm>
            <a:off x="4707890" y="3486785"/>
            <a:ext cx="6182995" cy="3110230"/>
            <a:chOff x="766" y="2600"/>
            <a:chExt cx="3537" cy="1562"/>
          </a:xfrm>
        </p:grpSpPr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766" y="2627"/>
              <a:ext cx="1623" cy="244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sz="2800" dirty="0">
                  <a:solidFill>
                    <a:srgbClr val="F52EFC"/>
                  </a:solidFill>
                  <a:latin typeface="+mn-lt"/>
                  <a:ea typeface="+mn-ea"/>
                </a:rPr>
                <a:t>使</a:t>
              </a:r>
              <a:r>
                <a:rPr lang="en-US" altLang="zh-CN" sz="2800" dirty="0">
                  <a:solidFill>
                    <a:srgbClr val="F52EFC"/>
                  </a:solidFill>
                  <a:latin typeface="+mn-lt"/>
                  <a:ea typeface="+mn-ea"/>
                </a:rPr>
                <a:t>base</a:t>
              </a:r>
              <a:r>
                <a:rPr lang="zh-CN" altLang="en-US" sz="2800" dirty="0">
                  <a:solidFill>
                    <a:srgbClr val="F52EFC"/>
                  </a:solidFill>
                  <a:latin typeface="+mn-lt"/>
                  <a:ea typeface="+mn-ea"/>
                </a:rPr>
                <a:t>～</a:t>
              </a:r>
              <a:r>
                <a:rPr lang="en-US" altLang="zh-CN" sz="2800" dirty="0">
                  <a:solidFill>
                    <a:srgbClr val="F52EFC"/>
                  </a:solidFill>
                  <a:latin typeface="+mn-lt"/>
                  <a:ea typeface="+mn-ea"/>
                </a:rPr>
                <a:t>p</a:t>
              </a:r>
              <a:r>
                <a:rPr lang="zh-CN" altLang="en-US" sz="2800" dirty="0">
                  <a:solidFill>
                    <a:srgbClr val="F52EFC"/>
                  </a:solidFill>
                  <a:latin typeface="+mn-lt"/>
                  <a:ea typeface="+mn-ea"/>
                </a:rPr>
                <a:t>递增</a:t>
              </a:r>
              <a:endParaRPr lang="zh-CN" altLang="en-US" sz="2800" dirty="0">
                <a:solidFill>
                  <a:srgbClr val="F52EFC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Oval 20"/>
            <p:cNvSpPr>
              <a:spLocks noChangeArrowheads="1"/>
            </p:cNvSpPr>
            <p:nvPr/>
          </p:nvSpPr>
          <p:spPr bwMode="auto">
            <a:xfrm>
              <a:off x="766" y="2600"/>
              <a:ext cx="1623" cy="33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2800">
                <a:latin typeface="+mn-lt"/>
                <a:ea typeface="+mn-ea"/>
              </a:endParaRPr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565" y="2938"/>
              <a:ext cx="0" cy="9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7" name="Rectangle 22"/>
            <p:cNvSpPr>
              <a:spLocks noChangeArrowheads="1"/>
            </p:cNvSpPr>
            <p:nvPr/>
          </p:nvSpPr>
          <p:spPr bwMode="auto">
            <a:xfrm>
              <a:off x="1565" y="3048"/>
              <a:ext cx="2738" cy="297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sz="2800" dirty="0">
                  <a:latin typeface="+mn-lt"/>
                  <a:ea typeface="+mn-ea"/>
                </a:rPr>
                <a:t>寻找</a:t>
              </a:r>
              <a:r>
                <a:rPr lang="en-US" altLang="zh-CN" sz="2800" dirty="0">
                  <a:latin typeface="+mn-lt"/>
                  <a:ea typeface="+mn-ea"/>
                </a:rPr>
                <a:t>p</a:t>
              </a:r>
              <a:r>
                <a:rPr lang="zh-CN" altLang="en-US" sz="2800" dirty="0">
                  <a:latin typeface="+mn-lt"/>
                  <a:ea typeface="+mn-ea"/>
                </a:rPr>
                <a:t>应插入的位置</a:t>
              </a:r>
              <a:r>
                <a:rPr lang="en-US" altLang="zh-CN" sz="2800" dirty="0">
                  <a:solidFill>
                    <a:srgbClr val="FFFF00"/>
                  </a:solidFill>
                  <a:latin typeface="+mn-lt"/>
                  <a:ea typeface="+mn-ea"/>
                </a:rPr>
                <a:t>r0</a:t>
              </a:r>
              <a:r>
                <a:rPr lang="zh-CN" altLang="en-US" sz="2800" dirty="0">
                  <a:solidFill>
                    <a:srgbClr val="FFFF00"/>
                  </a:solidFill>
                  <a:latin typeface="+mn-lt"/>
                  <a:ea typeface="+mn-ea"/>
                </a:rPr>
                <a:t>、</a:t>
              </a:r>
              <a:r>
                <a:rPr lang="en-US" altLang="zh-CN" sz="2800" dirty="0">
                  <a:solidFill>
                    <a:srgbClr val="FFFF00"/>
                  </a:solidFill>
                  <a:latin typeface="+mn-lt"/>
                  <a:ea typeface="+mn-ea"/>
                </a:rPr>
                <a:t>r</a:t>
              </a:r>
              <a:endParaRPr lang="en-US" altLang="zh-CN" sz="2800" dirty="0">
                <a:solidFill>
                  <a:srgbClr val="FFFF00"/>
                </a:solidFill>
                <a:latin typeface="+mn-lt"/>
                <a:ea typeface="+mn-ea"/>
              </a:endParaRPr>
            </a:p>
            <a:p>
              <a:pPr algn="ctr">
                <a:defRPr/>
              </a:pPr>
              <a:endParaRPr lang="en-US" altLang="zh-CN" sz="2800" dirty="0">
                <a:latin typeface="+mn-lt"/>
                <a:ea typeface="+mn-ea"/>
              </a:endParaRPr>
            </a:p>
          </p:txBody>
        </p:sp>
        <p:sp>
          <p:nvSpPr>
            <p:cNvPr id="28" name="Rectangle 23"/>
            <p:cNvSpPr>
              <a:spLocks noChangeArrowheads="1"/>
            </p:cNvSpPr>
            <p:nvPr/>
          </p:nvSpPr>
          <p:spPr bwMode="auto">
            <a:xfrm>
              <a:off x="1565" y="3482"/>
              <a:ext cx="2535" cy="273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sz="2800" dirty="0">
                  <a:solidFill>
                    <a:srgbClr val="FFFF00"/>
                  </a:solidFill>
                  <a:latin typeface="+mn-lt"/>
                  <a:ea typeface="+mn-ea"/>
                </a:rPr>
                <a:t>p</a:t>
              </a:r>
              <a:r>
                <a:rPr lang="zh-CN" altLang="en-US" sz="2800" dirty="0">
                  <a:solidFill>
                    <a:srgbClr val="FFFF00"/>
                  </a:solidFill>
                  <a:latin typeface="+mn-lt"/>
                  <a:ea typeface="+mn-ea"/>
                </a:rPr>
                <a:t>插入</a:t>
              </a:r>
              <a:r>
                <a:rPr lang="zh-CN" altLang="en-US" sz="2800" dirty="0">
                  <a:latin typeface="+mn-lt"/>
                  <a:ea typeface="+mn-ea"/>
                </a:rPr>
                <a:t>到 </a:t>
              </a:r>
              <a:r>
                <a:rPr lang="en-US" altLang="zh-CN" sz="2800" dirty="0">
                  <a:latin typeface="+mn-lt"/>
                  <a:ea typeface="+mn-ea"/>
                </a:rPr>
                <a:t>r0</a:t>
              </a:r>
              <a:r>
                <a:rPr lang="zh-CN" altLang="en-US" sz="2800" dirty="0">
                  <a:latin typeface="+mn-lt"/>
                  <a:ea typeface="+mn-ea"/>
                </a:rPr>
                <a:t>、</a:t>
              </a:r>
              <a:r>
                <a:rPr lang="en-US" altLang="zh-CN" sz="2800" dirty="0">
                  <a:latin typeface="+mn-lt"/>
                  <a:ea typeface="+mn-ea"/>
                </a:rPr>
                <a:t>r </a:t>
              </a:r>
              <a:r>
                <a:rPr lang="zh-CN" altLang="en-US" sz="2800" dirty="0">
                  <a:latin typeface="+mn-lt"/>
                  <a:ea typeface="+mn-ea"/>
                </a:rPr>
                <a:t>之间</a:t>
              </a:r>
              <a:endParaRPr lang="zh-CN" altLang="en-US" sz="2800" dirty="0">
                <a:latin typeface="+mn-lt"/>
                <a:ea typeface="+mn-ea"/>
              </a:endParaRPr>
            </a:p>
          </p:txBody>
        </p:sp>
        <p:sp>
          <p:nvSpPr>
            <p:cNvPr id="29" name="Rectangle 24"/>
            <p:cNvSpPr>
              <a:spLocks noChangeArrowheads="1"/>
            </p:cNvSpPr>
            <p:nvPr/>
          </p:nvSpPr>
          <p:spPr bwMode="auto">
            <a:xfrm>
              <a:off x="1257" y="3890"/>
              <a:ext cx="582" cy="272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sz="2800" dirty="0">
                  <a:latin typeface="+mn-lt"/>
                  <a:ea typeface="+mn-ea"/>
                </a:rPr>
                <a:t>结束</a:t>
              </a:r>
              <a:endParaRPr lang="zh-CN" altLang="en-US" sz="2800" dirty="0">
                <a:latin typeface="+mn-lt"/>
                <a:ea typeface="+mn-ea"/>
              </a:endParaRPr>
            </a:p>
          </p:txBody>
        </p:sp>
        <p:sp>
          <p:nvSpPr>
            <p:cNvPr id="30" name="Oval 25"/>
            <p:cNvSpPr>
              <a:spLocks noChangeArrowheads="1"/>
            </p:cNvSpPr>
            <p:nvPr/>
          </p:nvSpPr>
          <p:spPr bwMode="auto">
            <a:xfrm>
              <a:off x="1257" y="3884"/>
              <a:ext cx="582" cy="278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2800">
                <a:latin typeface="+mn-lt"/>
                <a:ea typeface="+mn-ea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4038600" y="1142365"/>
            <a:ext cx="4022725" cy="772160"/>
          </a:xfrm>
          <a:prstGeom prst="rect">
            <a:avLst/>
          </a:prstGeom>
          <a:noFill/>
          <a:ln w="34925">
            <a:solidFill>
              <a:srgbClr val="FFFF00"/>
            </a:solidFill>
            <a:prstDash val="sysDash"/>
          </a:ln>
        </p:spPr>
        <p:txBody>
          <a:bodyPr wrap="square" lIns="0" rIns="0" rtlCol="0" anchor="ctr">
            <a:noAutofit/>
          </a:bodyPr>
          <a:lstStyle/>
          <a:p>
            <a:pPr algn="ctr" eaLnBrk="1" hangingPunct="1">
              <a:buNone/>
            </a:pP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888990" y="4269105"/>
            <a:ext cx="5377180" cy="821055"/>
          </a:xfrm>
          <a:prstGeom prst="rect">
            <a:avLst/>
          </a:prstGeom>
          <a:noFill/>
          <a:ln w="34925">
            <a:solidFill>
              <a:srgbClr val="FFFF00"/>
            </a:solidFill>
            <a:prstDash val="sysDash"/>
          </a:ln>
        </p:spPr>
        <p:txBody>
          <a:bodyPr wrap="square" lIns="0" rIns="0" rtlCol="0" anchor="ctr">
            <a:noAutofit/>
          </a:bodyPr>
          <a:lstStyle/>
          <a:p>
            <a:pPr algn="ctr" eaLnBrk="1" hangingPunct="1">
              <a:buNone/>
            </a:pPr>
            <a:endParaRPr lang="zh-CN" altLang="en-US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组合 84"/>
          <p:cNvGrpSpPr/>
          <p:nvPr/>
        </p:nvGrpSpPr>
        <p:grpSpPr bwMode="auto">
          <a:xfrm>
            <a:off x="5638800" y="-17145"/>
            <a:ext cx="1849120" cy="561288"/>
            <a:chOff x="5588946" y="79193"/>
            <a:chExt cx="1832224" cy="561224"/>
          </a:xfrm>
        </p:grpSpPr>
        <p:sp>
          <p:nvSpPr>
            <p:cNvPr id="29723" name="文本框 3"/>
            <p:cNvSpPr txBox="1">
              <a:spLocks noChangeArrowheads="1"/>
            </p:cNvSpPr>
            <p:nvPr/>
          </p:nvSpPr>
          <p:spPr bwMode="auto">
            <a:xfrm>
              <a:off x="5588946" y="79193"/>
              <a:ext cx="658812" cy="460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24" name="文本框 76"/>
            <p:cNvSpPr txBox="1">
              <a:spLocks noChangeArrowheads="1"/>
            </p:cNvSpPr>
            <p:nvPr/>
          </p:nvSpPr>
          <p:spPr bwMode="auto">
            <a:xfrm>
              <a:off x="6762358" y="180094"/>
              <a:ext cx="658812" cy="460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cxnSp>
          <p:nvCxnSpPr>
            <p:cNvPr id="29725" name="直接箭头连接符 2"/>
            <p:cNvCxnSpPr>
              <a:cxnSpLocks noChangeShapeType="1"/>
            </p:cNvCxnSpPr>
            <p:nvPr/>
          </p:nvCxnSpPr>
          <p:spPr bwMode="auto">
            <a:xfrm>
              <a:off x="5588946" y="123643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6" name="直接箭头连接符 58"/>
            <p:cNvCxnSpPr>
              <a:cxnSpLocks noChangeShapeType="1"/>
            </p:cNvCxnSpPr>
            <p:nvPr/>
          </p:nvCxnSpPr>
          <p:spPr bwMode="auto">
            <a:xfrm>
              <a:off x="6784071" y="13316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0594" name="标题 1"/>
          <p:cNvSpPr>
            <a:spLocks noGrp="1" noChangeArrowheads="1"/>
          </p:cNvSpPr>
          <p:nvPr>
            <p:ph type="title"/>
          </p:nvPr>
        </p:nvSpPr>
        <p:spPr>
          <a:xfrm>
            <a:off x="219075" y="169863"/>
            <a:ext cx="2663825" cy="481012"/>
          </a:xfrm>
        </p:spPr>
        <p:txBody>
          <a:bodyPr/>
          <a:lstStyle/>
          <a:p>
            <a:pPr algn="l">
              <a:defRPr/>
            </a:pPr>
            <a:r>
              <a:rPr lang="zh-CN" altLang="en-US" dirty="0">
                <a:solidFill>
                  <a:srgbClr val="FFC000"/>
                </a:solidFill>
              </a:rPr>
              <a:t>插入排序</a:t>
            </a:r>
            <a:endParaRPr lang="zh-CN" altLang="en-US" dirty="0">
              <a:solidFill>
                <a:srgbClr val="FFC000"/>
              </a:solidFill>
            </a:endParaRPr>
          </a:p>
        </p:txBody>
      </p:sp>
      <p:grpSp>
        <p:nvGrpSpPr>
          <p:cNvPr id="29700" name="Group 23"/>
          <p:cNvGrpSpPr/>
          <p:nvPr/>
        </p:nvGrpSpPr>
        <p:grpSpPr bwMode="auto">
          <a:xfrm>
            <a:off x="0" y="2848970"/>
            <a:ext cx="7795169" cy="4085230"/>
            <a:chOff x="547" y="65"/>
            <a:chExt cx="5754" cy="1796"/>
          </a:xfrm>
        </p:grpSpPr>
        <p:sp>
          <p:nvSpPr>
            <p:cNvPr id="8" name="Rectangle 24"/>
            <p:cNvSpPr>
              <a:spLocks noChangeArrowheads="1"/>
            </p:cNvSpPr>
            <p:nvPr/>
          </p:nvSpPr>
          <p:spPr bwMode="auto">
            <a:xfrm>
              <a:off x="603" y="111"/>
              <a:ext cx="1759" cy="240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sz="2800" dirty="0">
                  <a:solidFill>
                    <a:srgbClr val="F52EFC"/>
                  </a:solidFill>
                  <a:latin typeface="+mn-lt"/>
                  <a:ea typeface="+mn-ea"/>
                </a:rPr>
                <a:t>寻找位置</a:t>
              </a:r>
              <a:r>
                <a:rPr lang="en-US" altLang="zh-CN" sz="2800" dirty="0">
                  <a:solidFill>
                    <a:srgbClr val="F52EFC"/>
                  </a:solidFill>
                  <a:latin typeface="+mn-lt"/>
                  <a:ea typeface="+mn-ea"/>
                </a:rPr>
                <a:t>r0,r</a:t>
              </a:r>
              <a:endParaRPr lang="en-US" altLang="zh-CN" sz="2800" dirty="0">
                <a:solidFill>
                  <a:srgbClr val="F52EFC"/>
                </a:solidFill>
                <a:latin typeface="+mn-lt"/>
                <a:ea typeface="+mn-ea"/>
              </a:endParaRPr>
            </a:p>
          </p:txBody>
        </p:sp>
        <p:sp>
          <p:nvSpPr>
            <p:cNvPr id="9" name="Oval 25"/>
            <p:cNvSpPr>
              <a:spLocks noChangeArrowheads="1"/>
            </p:cNvSpPr>
            <p:nvPr/>
          </p:nvSpPr>
          <p:spPr bwMode="auto">
            <a:xfrm>
              <a:off x="547" y="65"/>
              <a:ext cx="1926" cy="34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2800">
                <a:latin typeface="+mn-lt"/>
                <a:ea typeface="+mn-ea"/>
              </a:endParaRPr>
            </a:p>
          </p:txBody>
        </p:sp>
        <p:sp>
          <p:nvSpPr>
            <p:cNvPr id="10" name="Line 26"/>
            <p:cNvSpPr>
              <a:spLocks noChangeShapeType="1"/>
            </p:cNvSpPr>
            <p:nvPr/>
          </p:nvSpPr>
          <p:spPr bwMode="auto">
            <a:xfrm>
              <a:off x="1156" y="391"/>
              <a:ext cx="0" cy="11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1" name="Rectangle 27"/>
            <p:cNvSpPr>
              <a:spLocks noChangeArrowheads="1"/>
            </p:cNvSpPr>
            <p:nvPr/>
          </p:nvSpPr>
          <p:spPr bwMode="auto">
            <a:xfrm>
              <a:off x="1156" y="442"/>
              <a:ext cx="1516" cy="439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defRPr/>
              </a:pPr>
              <a:r>
                <a:rPr lang="en-US" altLang="zh-CN" sz="2800" dirty="0">
                  <a:solidFill>
                    <a:schemeClr val="tx1"/>
                  </a:solidFill>
                  <a:latin typeface="+mn-lt"/>
                  <a:ea typeface="+mn-ea"/>
                </a:rPr>
                <a:t>r0=</a:t>
              </a:r>
              <a:r>
                <a:rPr lang="en-US" altLang="zh-CN" sz="2800" dirty="0" err="1">
                  <a:solidFill>
                    <a:schemeClr val="tx1"/>
                  </a:solidFill>
                  <a:latin typeface="+mn-lt"/>
                  <a:ea typeface="+mn-ea"/>
                </a:rPr>
                <a:t>NULL;</a:t>
              </a:r>
              <a:endParaRPr lang="en-US" altLang="zh-CN" sz="2800" dirty="0" err="1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algn="l">
                <a:defRPr/>
              </a:pPr>
              <a:r>
                <a:rPr lang="en-US" altLang="zh-CN" sz="2800" dirty="0" err="1">
                  <a:solidFill>
                    <a:schemeClr val="tx1"/>
                  </a:solidFill>
                  <a:latin typeface="+mn-lt"/>
                  <a:ea typeface="+mn-ea"/>
                </a:rPr>
                <a:t>r</a:t>
              </a:r>
              <a:r>
                <a:rPr lang="en-US" altLang="zh-CN" sz="2800" dirty="0">
                  <a:solidFill>
                    <a:schemeClr val="tx1"/>
                  </a:solidFill>
                  <a:latin typeface="+mn-lt"/>
                  <a:ea typeface="+mn-ea"/>
                </a:rPr>
                <a:t> </a:t>
              </a:r>
              <a:r>
                <a:rPr lang="en-US" altLang="zh-CN" sz="2800" dirty="0">
                  <a:latin typeface="+mn-lt"/>
                  <a:ea typeface="+mn-ea"/>
                </a:rPr>
                <a:t>= base</a:t>
              </a:r>
              <a:endParaRPr lang="en-US" altLang="zh-CN" sz="2800" dirty="0">
                <a:latin typeface="+mn-lt"/>
                <a:ea typeface="+mn-ea"/>
              </a:endParaRPr>
            </a:p>
          </p:txBody>
        </p:sp>
        <p:sp>
          <p:nvSpPr>
            <p:cNvPr id="12" name="Rectangle 28"/>
            <p:cNvSpPr>
              <a:spLocks noChangeArrowheads="1"/>
            </p:cNvSpPr>
            <p:nvPr/>
          </p:nvSpPr>
          <p:spPr bwMode="auto">
            <a:xfrm>
              <a:off x="1156" y="981"/>
              <a:ext cx="2999" cy="499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sz="2800" dirty="0">
                  <a:latin typeface="+mn-lt"/>
                  <a:ea typeface="+mn-ea"/>
                </a:rPr>
                <a:t> r-&gt;key </a:t>
              </a:r>
              <a:r>
                <a:rPr lang="en-US" altLang="zh-CN" sz="28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&lt; </a:t>
              </a:r>
              <a:r>
                <a:rPr lang="en-US" altLang="zh-CN" sz="2800" dirty="0">
                  <a:latin typeface="+mn-lt"/>
                  <a:ea typeface="+mn-ea"/>
                </a:rPr>
                <a:t>p-&gt;key</a:t>
              </a:r>
              <a:endParaRPr lang="en-US" altLang="zh-CN" sz="2800" dirty="0">
                <a:latin typeface="+mn-lt"/>
                <a:ea typeface="+mn-ea"/>
              </a:endParaRPr>
            </a:p>
          </p:txBody>
        </p:sp>
        <p:sp>
          <p:nvSpPr>
            <p:cNvPr id="13" name="Line 29"/>
            <p:cNvSpPr>
              <a:spLocks noChangeShapeType="1"/>
            </p:cNvSpPr>
            <p:nvPr/>
          </p:nvSpPr>
          <p:spPr bwMode="auto">
            <a:xfrm>
              <a:off x="1291" y="981"/>
              <a:ext cx="0" cy="4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29783" name="Group 30"/>
            <p:cNvGrpSpPr/>
            <p:nvPr/>
          </p:nvGrpSpPr>
          <p:grpSpPr bwMode="auto">
            <a:xfrm>
              <a:off x="4155" y="980"/>
              <a:ext cx="2146" cy="499"/>
              <a:chOff x="6877" y="2172"/>
              <a:chExt cx="1429" cy="430"/>
            </a:xfrm>
          </p:grpSpPr>
          <p:sp>
            <p:nvSpPr>
              <p:cNvPr id="17" name="Line 31"/>
              <p:cNvSpPr>
                <a:spLocks noChangeShapeType="1"/>
              </p:cNvSpPr>
              <p:nvPr/>
            </p:nvSpPr>
            <p:spPr bwMode="auto">
              <a:xfrm>
                <a:off x="6877" y="2363"/>
                <a:ext cx="1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anchor="ctr"/>
              <a:lstStyle/>
              <a:p>
                <a:pPr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18" name="Rectangle 32"/>
              <p:cNvSpPr>
                <a:spLocks noChangeArrowheads="1"/>
              </p:cNvSpPr>
              <p:nvPr/>
            </p:nvSpPr>
            <p:spPr bwMode="auto">
              <a:xfrm>
                <a:off x="6984" y="2172"/>
                <a:ext cx="1322" cy="430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457200" algn="l">
                  <a:defRPr/>
                </a:pPr>
                <a:r>
                  <a:rPr lang="en-US" altLang="zh-CN" sz="2800" dirty="0">
                    <a:latin typeface="+mn-lt"/>
                    <a:ea typeface="+mn-ea"/>
                  </a:rPr>
                  <a:t>r0=r;</a:t>
                </a:r>
                <a:endParaRPr lang="en-US" altLang="zh-CN" sz="2800" dirty="0">
                  <a:latin typeface="+mn-lt"/>
                  <a:ea typeface="+mn-ea"/>
                </a:endParaRPr>
              </a:p>
              <a:p>
                <a:pPr indent="457200" algn="l">
                  <a:defRPr/>
                </a:pPr>
                <a:r>
                  <a:rPr lang="en-US" altLang="zh-CN" sz="2800" dirty="0">
                    <a:latin typeface="+mn-lt"/>
                    <a:ea typeface="+mn-ea"/>
                  </a:rPr>
                  <a:t>r=r-&gt;next; </a:t>
                </a:r>
                <a:endParaRPr lang="en-US" altLang="zh-CN" sz="2800" dirty="0">
                  <a:latin typeface="+mn-lt"/>
                  <a:ea typeface="+mn-ea"/>
                </a:endParaRPr>
              </a:p>
            </p:txBody>
          </p:sp>
        </p:grpSp>
        <p:sp>
          <p:nvSpPr>
            <p:cNvPr id="15" name="Rectangle 33"/>
            <p:cNvSpPr>
              <a:spLocks noChangeArrowheads="1"/>
            </p:cNvSpPr>
            <p:nvPr/>
          </p:nvSpPr>
          <p:spPr bwMode="auto">
            <a:xfrm>
              <a:off x="678" y="1603"/>
              <a:ext cx="901" cy="225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sz="2800" dirty="0">
                  <a:latin typeface="+mn-lt"/>
                  <a:ea typeface="+mn-ea"/>
                </a:rPr>
                <a:t>结束</a:t>
              </a:r>
              <a:endParaRPr lang="zh-CN" altLang="en-US" sz="2800" dirty="0">
                <a:latin typeface="+mn-lt"/>
                <a:ea typeface="+mn-ea"/>
              </a:endParaRPr>
            </a:p>
          </p:txBody>
        </p:sp>
        <p:sp>
          <p:nvSpPr>
            <p:cNvPr id="16" name="Oval 34"/>
            <p:cNvSpPr>
              <a:spLocks noChangeArrowheads="1"/>
            </p:cNvSpPr>
            <p:nvPr/>
          </p:nvSpPr>
          <p:spPr bwMode="auto">
            <a:xfrm>
              <a:off x="678" y="1570"/>
              <a:ext cx="901" cy="29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2800">
                <a:latin typeface="+mn-lt"/>
                <a:ea typeface="+mn-ea"/>
              </a:endParaRPr>
            </a:p>
          </p:txBody>
        </p:sp>
      </p:grpSp>
      <p:sp>
        <p:nvSpPr>
          <p:cNvPr id="29703" name="Oval 5"/>
          <p:cNvSpPr>
            <a:spLocks noChangeArrowheads="1"/>
          </p:cNvSpPr>
          <p:nvPr/>
        </p:nvSpPr>
        <p:spPr bwMode="auto">
          <a:xfrm>
            <a:off x="5199063" y="48482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9704" name="Oval 6"/>
          <p:cNvSpPr>
            <a:spLocks noChangeArrowheads="1"/>
          </p:cNvSpPr>
          <p:nvPr/>
        </p:nvSpPr>
        <p:spPr bwMode="auto">
          <a:xfrm>
            <a:off x="6646863" y="47212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9705" name="Line 7"/>
          <p:cNvSpPr>
            <a:spLocks noChangeShapeType="1"/>
          </p:cNvSpPr>
          <p:nvPr/>
        </p:nvSpPr>
        <p:spPr bwMode="auto">
          <a:xfrm>
            <a:off x="5922963" y="751523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6" name="Line 8"/>
          <p:cNvSpPr>
            <a:spLocks noChangeShapeType="1"/>
          </p:cNvSpPr>
          <p:nvPr/>
        </p:nvSpPr>
        <p:spPr bwMode="auto">
          <a:xfrm>
            <a:off x="7383463" y="751523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7" name="Oval 9"/>
          <p:cNvSpPr>
            <a:spLocks noChangeArrowheads="1"/>
          </p:cNvSpPr>
          <p:nvPr/>
        </p:nvSpPr>
        <p:spPr bwMode="auto">
          <a:xfrm>
            <a:off x="8107363" y="47212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9708" name="Oval 11"/>
          <p:cNvSpPr>
            <a:spLocks noChangeArrowheads="1"/>
          </p:cNvSpPr>
          <p:nvPr/>
        </p:nvSpPr>
        <p:spPr bwMode="auto">
          <a:xfrm>
            <a:off x="9580563" y="47212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9709" name="Line 12"/>
          <p:cNvSpPr>
            <a:spLocks noChangeShapeType="1"/>
          </p:cNvSpPr>
          <p:nvPr/>
        </p:nvSpPr>
        <p:spPr bwMode="auto">
          <a:xfrm>
            <a:off x="10317163" y="78009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Text Box 13"/>
          <p:cNvSpPr txBox="1">
            <a:spLocks noChangeArrowheads="1"/>
          </p:cNvSpPr>
          <p:nvPr/>
        </p:nvSpPr>
        <p:spPr bwMode="auto">
          <a:xfrm>
            <a:off x="5418138" y="484823"/>
            <a:ext cx="925512" cy="519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10</a:t>
            </a:r>
            <a:endParaRPr kumimoji="1" lang="en-US" altLang="zh-CN" sz="2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Text Box 14"/>
          <p:cNvSpPr txBox="1">
            <a:spLocks noChangeArrowheads="1"/>
          </p:cNvSpPr>
          <p:nvPr/>
        </p:nvSpPr>
        <p:spPr bwMode="auto">
          <a:xfrm>
            <a:off x="6816725" y="495935"/>
            <a:ext cx="70008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11</a:t>
            </a:r>
            <a:endParaRPr kumimoji="1" lang="en-US" altLang="zh-CN" sz="2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2" name="Text Box 15"/>
          <p:cNvSpPr txBox="1">
            <a:spLocks noChangeArrowheads="1"/>
          </p:cNvSpPr>
          <p:nvPr/>
        </p:nvSpPr>
        <p:spPr bwMode="auto">
          <a:xfrm>
            <a:off x="8166100" y="483235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F52EFC"/>
                </a:solidFill>
                <a:latin typeface="Times New Roman" panose="02020603050405020304" pitchFamily="18" charset="0"/>
              </a:rPr>
              <a:t>13</a:t>
            </a:r>
            <a:endParaRPr kumimoji="1" lang="en-US" altLang="zh-CN" sz="2800">
              <a:solidFill>
                <a:srgbClr val="F52EF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3" name="Text Box 16"/>
          <p:cNvSpPr txBox="1">
            <a:spLocks noChangeArrowheads="1"/>
          </p:cNvSpPr>
          <p:nvPr/>
        </p:nvSpPr>
        <p:spPr bwMode="auto">
          <a:xfrm>
            <a:off x="9675813" y="459423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12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9714" name="Group 17"/>
          <p:cNvGrpSpPr/>
          <p:nvPr/>
        </p:nvGrpSpPr>
        <p:grpSpPr bwMode="auto">
          <a:xfrm>
            <a:off x="11018838" y="487998"/>
            <a:ext cx="962025" cy="546100"/>
            <a:chOff x="4104" y="936"/>
            <a:chExt cx="711" cy="344"/>
          </a:xfrm>
        </p:grpSpPr>
        <p:sp>
          <p:nvSpPr>
            <p:cNvPr id="29756" name="Oval 18"/>
            <p:cNvSpPr>
              <a:spLocks noChangeArrowheads="1"/>
            </p:cNvSpPr>
            <p:nvPr/>
          </p:nvSpPr>
          <p:spPr bwMode="auto">
            <a:xfrm>
              <a:off x="4104" y="936"/>
              <a:ext cx="639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57" name="Text Box 19"/>
            <p:cNvSpPr txBox="1">
              <a:spLocks noChangeArrowheads="1"/>
            </p:cNvSpPr>
            <p:nvPr/>
          </p:nvSpPr>
          <p:spPr bwMode="auto">
            <a:xfrm>
              <a:off x="4240" y="946"/>
              <a:ext cx="5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43"/>
                  </a:solidFill>
                  <a:latin typeface="Times New Roman" panose="02020603050405020304" pitchFamily="18" charset="0"/>
                </a:rPr>
                <a:t>9</a:t>
              </a:r>
              <a:endPara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9715" name="文本框 77"/>
          <p:cNvSpPr txBox="1">
            <a:spLocks noChangeArrowheads="1"/>
          </p:cNvSpPr>
          <p:nvPr/>
        </p:nvSpPr>
        <p:spPr bwMode="auto">
          <a:xfrm>
            <a:off x="8709025" y="72390"/>
            <a:ext cx="65881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52EFC"/>
                </a:solidFill>
                <a:latin typeface="Arial" panose="020B0604020202020204" pitchFamily="34" charset="0"/>
              </a:rPr>
              <a:t>p</a:t>
            </a:r>
            <a:endParaRPr lang="en-US" altLang="zh-CN" sz="24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29716" name="Line 10"/>
          <p:cNvSpPr>
            <a:spLocks noChangeShapeType="1"/>
          </p:cNvSpPr>
          <p:nvPr/>
        </p:nvSpPr>
        <p:spPr bwMode="auto">
          <a:xfrm>
            <a:off x="8843963" y="745173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 bwMode="auto">
          <a:xfrm>
            <a:off x="7137400" y="635"/>
            <a:ext cx="1827213" cy="534988"/>
            <a:chOff x="7027478" y="63720"/>
            <a:chExt cx="1827212" cy="534988"/>
          </a:xfrm>
        </p:grpSpPr>
        <p:sp>
          <p:nvSpPr>
            <p:cNvPr id="29753" name="文本框 76"/>
            <p:cNvSpPr txBox="1">
              <a:spLocks noChangeArrowheads="1"/>
            </p:cNvSpPr>
            <p:nvPr/>
          </p:nvSpPr>
          <p:spPr bwMode="auto">
            <a:xfrm>
              <a:off x="8195878" y="135158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52" name="文本框 3"/>
            <p:cNvSpPr txBox="1">
              <a:spLocks noChangeArrowheads="1"/>
            </p:cNvSpPr>
            <p:nvPr/>
          </p:nvSpPr>
          <p:spPr bwMode="auto">
            <a:xfrm>
              <a:off x="7027478" y="63720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cxnSp>
          <p:nvCxnSpPr>
            <p:cNvPr id="29754" name="直接箭头连接符 2"/>
            <p:cNvCxnSpPr>
              <a:cxnSpLocks noChangeShapeType="1"/>
            </p:cNvCxnSpPr>
            <p:nvPr/>
          </p:nvCxnSpPr>
          <p:spPr bwMode="auto">
            <a:xfrm>
              <a:off x="7027478" y="108170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5" name="直接箭头连接符 58"/>
            <p:cNvCxnSpPr>
              <a:cxnSpLocks noChangeShapeType="1"/>
            </p:cNvCxnSpPr>
            <p:nvPr/>
          </p:nvCxnSpPr>
          <p:spPr bwMode="auto">
            <a:xfrm>
              <a:off x="8221913" y="117695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9718" name="直接箭头连接符 59"/>
          <p:cNvCxnSpPr>
            <a:cxnSpLocks noChangeShapeType="1"/>
          </p:cNvCxnSpPr>
          <p:nvPr/>
        </p:nvCxnSpPr>
        <p:spPr bwMode="auto">
          <a:xfrm>
            <a:off x="8633460" y="33973"/>
            <a:ext cx="0" cy="46196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组合 5"/>
          <p:cNvGrpSpPr/>
          <p:nvPr/>
        </p:nvGrpSpPr>
        <p:grpSpPr bwMode="auto">
          <a:xfrm>
            <a:off x="5183188" y="1448118"/>
            <a:ext cx="6781800" cy="1100137"/>
            <a:chOff x="5182803" y="1296601"/>
            <a:chExt cx="6781800" cy="1100333"/>
          </a:xfrm>
        </p:grpSpPr>
        <p:sp>
          <p:nvSpPr>
            <p:cNvPr id="29731" name="Oval 5"/>
            <p:cNvSpPr>
              <a:spLocks noChangeArrowheads="1"/>
            </p:cNvSpPr>
            <p:nvPr/>
          </p:nvSpPr>
          <p:spPr bwMode="auto">
            <a:xfrm>
              <a:off x="5182803" y="18476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32" name="Oval 6"/>
            <p:cNvSpPr>
              <a:spLocks noChangeArrowheads="1"/>
            </p:cNvSpPr>
            <p:nvPr/>
          </p:nvSpPr>
          <p:spPr bwMode="auto">
            <a:xfrm>
              <a:off x="66306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33" name="Line 7"/>
            <p:cNvSpPr>
              <a:spLocks noChangeShapeType="1"/>
            </p:cNvSpPr>
            <p:nvPr/>
          </p:nvSpPr>
          <p:spPr bwMode="auto">
            <a:xfrm>
              <a:off x="59067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4" name="Line 8"/>
            <p:cNvSpPr>
              <a:spLocks noChangeShapeType="1"/>
            </p:cNvSpPr>
            <p:nvPr/>
          </p:nvSpPr>
          <p:spPr bwMode="auto">
            <a:xfrm>
              <a:off x="73672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5" name="Oval 9"/>
            <p:cNvSpPr>
              <a:spLocks noChangeArrowheads="1"/>
            </p:cNvSpPr>
            <p:nvPr/>
          </p:nvSpPr>
          <p:spPr bwMode="auto">
            <a:xfrm>
              <a:off x="80911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36" name="Oval 11"/>
            <p:cNvSpPr>
              <a:spLocks noChangeArrowheads="1"/>
            </p:cNvSpPr>
            <p:nvPr/>
          </p:nvSpPr>
          <p:spPr bwMode="auto">
            <a:xfrm>
              <a:off x="95643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37" name="Line 12"/>
            <p:cNvSpPr>
              <a:spLocks noChangeShapeType="1"/>
            </p:cNvSpPr>
            <p:nvPr/>
          </p:nvSpPr>
          <p:spPr bwMode="auto">
            <a:xfrm>
              <a:off x="10300903" y="2142934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Text Box 13"/>
            <p:cNvSpPr txBox="1">
              <a:spLocks noChangeArrowheads="1"/>
            </p:cNvSpPr>
            <p:nvPr/>
          </p:nvSpPr>
          <p:spPr bwMode="auto">
            <a:xfrm>
              <a:off x="5401878" y="1847561"/>
              <a:ext cx="925512" cy="51920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10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Text Box 14"/>
            <p:cNvSpPr txBox="1">
              <a:spLocks noChangeArrowheads="1"/>
            </p:cNvSpPr>
            <p:nvPr/>
          </p:nvSpPr>
          <p:spPr bwMode="auto">
            <a:xfrm>
              <a:off x="6800465" y="1858676"/>
              <a:ext cx="700088" cy="5239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11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0" name="Text Box 15"/>
            <p:cNvSpPr txBox="1">
              <a:spLocks noChangeArrowheads="1"/>
            </p:cNvSpPr>
            <p:nvPr/>
          </p:nvSpPr>
          <p:spPr bwMode="auto">
            <a:xfrm>
              <a:off x="8283190" y="1846071"/>
              <a:ext cx="5429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13</a:t>
              </a:r>
              <a:endPara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1" name="Text Box 16"/>
            <p:cNvSpPr txBox="1">
              <a:spLocks noChangeArrowheads="1"/>
            </p:cNvSpPr>
            <p:nvPr/>
          </p:nvSpPr>
          <p:spPr bwMode="auto">
            <a:xfrm>
              <a:off x="9659553" y="182225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F52EFC"/>
                  </a:solidFill>
                  <a:latin typeface="Times New Roman" panose="02020603050405020304" pitchFamily="18" charset="0"/>
                </a:rPr>
                <a:t>12</a:t>
              </a:r>
              <a:endParaRPr kumimoji="1" lang="en-US" altLang="zh-CN" sz="2800">
                <a:solidFill>
                  <a:srgbClr val="F52EFC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9742" name="Group 17"/>
            <p:cNvGrpSpPr/>
            <p:nvPr/>
          </p:nvGrpSpPr>
          <p:grpSpPr bwMode="auto">
            <a:xfrm>
              <a:off x="11002578" y="1850834"/>
              <a:ext cx="962025" cy="546100"/>
              <a:chOff x="4104" y="936"/>
              <a:chExt cx="711" cy="344"/>
            </a:xfrm>
          </p:grpSpPr>
          <p:sp>
            <p:nvSpPr>
              <p:cNvPr id="29750" name="Oval 18"/>
              <p:cNvSpPr>
                <a:spLocks noChangeArrowheads="1"/>
              </p:cNvSpPr>
              <p:nvPr/>
            </p:nvSpPr>
            <p:spPr bwMode="auto">
              <a:xfrm>
                <a:off x="4104" y="936"/>
                <a:ext cx="639" cy="344"/>
              </a:xfrm>
              <a:prstGeom prst="ellipse">
                <a:avLst/>
              </a:prstGeom>
              <a:solidFill>
                <a:srgbClr val="66FFFF"/>
              </a:solidFill>
              <a:ln w="28575">
                <a:solidFill>
                  <a:srgbClr val="0000CC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51" name="Text Box 19"/>
              <p:cNvSpPr txBox="1">
                <a:spLocks noChangeArrowheads="1"/>
              </p:cNvSpPr>
              <p:nvPr/>
            </p:nvSpPr>
            <p:spPr bwMode="auto">
              <a:xfrm>
                <a:off x="4240" y="946"/>
                <a:ext cx="57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800">
                    <a:solidFill>
                      <a:srgbClr val="000043"/>
                    </a:solidFill>
                    <a:latin typeface="Times New Roman" panose="02020603050405020304" pitchFamily="18" charset="0"/>
                  </a:rPr>
                  <a:t>9</a:t>
                </a:r>
                <a:endParaRPr kumimoji="1" lang="en-US" altLang="zh-CN" sz="2800">
                  <a:solidFill>
                    <a:srgbClr val="000043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743" name="文本框 3"/>
            <p:cNvSpPr txBox="1">
              <a:spLocks noChangeArrowheads="1"/>
            </p:cNvSpPr>
            <p:nvPr/>
          </p:nvSpPr>
          <p:spPr bwMode="auto">
            <a:xfrm>
              <a:off x="7011603" y="1350771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44" name="文本框 76"/>
            <p:cNvSpPr txBox="1">
              <a:spLocks noChangeArrowheads="1"/>
            </p:cNvSpPr>
            <p:nvPr/>
          </p:nvSpPr>
          <p:spPr bwMode="auto">
            <a:xfrm>
              <a:off x="8447735" y="1296601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45" name="文本框 77"/>
            <p:cNvSpPr txBox="1">
              <a:spLocks noChangeArrowheads="1"/>
            </p:cNvSpPr>
            <p:nvPr/>
          </p:nvSpPr>
          <p:spPr bwMode="auto">
            <a:xfrm>
              <a:off x="9987372" y="1334896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46" name="Line 10"/>
            <p:cNvSpPr>
              <a:spLocks noChangeShapeType="1"/>
            </p:cNvSpPr>
            <p:nvPr/>
          </p:nvSpPr>
          <p:spPr bwMode="auto">
            <a:xfrm>
              <a:off x="8827703" y="210800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9747" name="直接箭头连接符 2"/>
            <p:cNvCxnSpPr>
              <a:cxnSpLocks noChangeShapeType="1"/>
            </p:cNvCxnSpPr>
            <p:nvPr/>
          </p:nvCxnSpPr>
          <p:spPr bwMode="auto">
            <a:xfrm>
              <a:off x="7011603" y="1395221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8" name="直接箭头连接符 58"/>
            <p:cNvCxnSpPr>
              <a:cxnSpLocks noChangeShapeType="1"/>
            </p:cNvCxnSpPr>
            <p:nvPr/>
          </p:nvCxnSpPr>
          <p:spPr bwMode="auto">
            <a:xfrm>
              <a:off x="8447735" y="139343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9" name="直接箭头连接符 59"/>
            <p:cNvCxnSpPr>
              <a:cxnSpLocks noChangeShapeType="1"/>
            </p:cNvCxnSpPr>
            <p:nvPr/>
          </p:nvCxnSpPr>
          <p:spPr bwMode="auto">
            <a:xfrm>
              <a:off x="10003247" y="1422209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组合 2"/>
          <p:cNvGrpSpPr/>
          <p:nvPr/>
        </p:nvGrpSpPr>
        <p:grpSpPr bwMode="auto">
          <a:xfrm>
            <a:off x="4108450" y="-16828"/>
            <a:ext cx="1928813" cy="515938"/>
            <a:chOff x="5588946" y="79193"/>
            <a:chExt cx="1928812" cy="515938"/>
          </a:xfrm>
        </p:grpSpPr>
        <p:sp>
          <p:nvSpPr>
            <p:cNvPr id="29727" name="文本框 3"/>
            <p:cNvSpPr txBox="1">
              <a:spLocks noChangeArrowheads="1"/>
            </p:cNvSpPr>
            <p:nvPr/>
          </p:nvSpPr>
          <p:spPr bwMode="auto">
            <a:xfrm>
              <a:off x="5588946" y="79193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28" name="文本框 76"/>
            <p:cNvSpPr txBox="1">
              <a:spLocks noChangeArrowheads="1"/>
            </p:cNvSpPr>
            <p:nvPr/>
          </p:nvSpPr>
          <p:spPr bwMode="auto">
            <a:xfrm>
              <a:off x="6858946" y="111896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cxnSp>
          <p:nvCxnSpPr>
            <p:cNvPr id="29729" name="直接箭头连接符 2"/>
            <p:cNvCxnSpPr>
              <a:cxnSpLocks noChangeShapeType="1"/>
            </p:cNvCxnSpPr>
            <p:nvPr/>
          </p:nvCxnSpPr>
          <p:spPr bwMode="auto">
            <a:xfrm>
              <a:off x="5588946" y="123643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0" name="直接箭头连接符 58"/>
            <p:cNvCxnSpPr>
              <a:cxnSpLocks noChangeShapeType="1"/>
            </p:cNvCxnSpPr>
            <p:nvPr/>
          </p:nvCxnSpPr>
          <p:spPr bwMode="auto">
            <a:xfrm>
              <a:off x="6858946" y="13316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组合 6"/>
          <p:cNvGrpSpPr/>
          <p:nvPr/>
        </p:nvGrpSpPr>
        <p:grpSpPr bwMode="auto">
          <a:xfrm>
            <a:off x="4645343" y="2697163"/>
            <a:ext cx="7442676" cy="1062037"/>
            <a:chOff x="4644958" y="1334708"/>
            <a:chExt cx="7442676" cy="1062226"/>
          </a:xfrm>
        </p:grpSpPr>
        <p:sp>
          <p:nvSpPr>
            <p:cNvPr id="14" name="Oval 5"/>
            <p:cNvSpPr>
              <a:spLocks noChangeArrowheads="1"/>
            </p:cNvSpPr>
            <p:nvPr/>
          </p:nvSpPr>
          <p:spPr bwMode="auto">
            <a:xfrm>
              <a:off x="5182803" y="18476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66306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9" name="Line 7"/>
            <p:cNvSpPr>
              <a:spLocks noChangeShapeType="1"/>
            </p:cNvSpPr>
            <p:nvPr/>
          </p:nvSpPr>
          <p:spPr bwMode="auto">
            <a:xfrm>
              <a:off x="59067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8"/>
            <p:cNvSpPr>
              <a:spLocks noChangeShapeType="1"/>
            </p:cNvSpPr>
            <p:nvPr/>
          </p:nvSpPr>
          <p:spPr bwMode="auto">
            <a:xfrm>
              <a:off x="73672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auto">
            <a:xfrm>
              <a:off x="80911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auto">
            <a:xfrm>
              <a:off x="95643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3" name="Line 12"/>
            <p:cNvSpPr>
              <a:spLocks noChangeShapeType="1"/>
            </p:cNvSpPr>
            <p:nvPr/>
          </p:nvSpPr>
          <p:spPr bwMode="auto">
            <a:xfrm>
              <a:off x="10300903" y="2142934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13"/>
            <p:cNvSpPr txBox="1">
              <a:spLocks noChangeArrowheads="1"/>
            </p:cNvSpPr>
            <p:nvPr/>
          </p:nvSpPr>
          <p:spPr bwMode="auto">
            <a:xfrm>
              <a:off x="5401878" y="1847561"/>
              <a:ext cx="925512" cy="51920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10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14"/>
            <p:cNvSpPr txBox="1">
              <a:spLocks noChangeArrowheads="1"/>
            </p:cNvSpPr>
            <p:nvPr/>
          </p:nvSpPr>
          <p:spPr bwMode="auto">
            <a:xfrm>
              <a:off x="6800465" y="1858676"/>
              <a:ext cx="700088" cy="5239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11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8283190" y="1846071"/>
              <a:ext cx="538480" cy="52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12</a:t>
              </a:r>
              <a:endPara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Text Box 16"/>
            <p:cNvSpPr txBox="1">
              <a:spLocks noChangeArrowheads="1"/>
            </p:cNvSpPr>
            <p:nvPr/>
          </p:nvSpPr>
          <p:spPr bwMode="auto">
            <a:xfrm>
              <a:off x="9659553" y="1822259"/>
              <a:ext cx="538480" cy="52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13</a:t>
              </a:r>
              <a:endParaRPr kumimoji="1" lang="en-US" altLang="zh-CN" sz="28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0" name="Group 17"/>
            <p:cNvGrpSpPr/>
            <p:nvPr/>
          </p:nvGrpSpPr>
          <p:grpSpPr bwMode="auto">
            <a:xfrm>
              <a:off x="11002578" y="1850834"/>
              <a:ext cx="962025" cy="546100"/>
              <a:chOff x="4104" y="936"/>
              <a:chExt cx="711" cy="344"/>
            </a:xfrm>
          </p:grpSpPr>
          <p:sp>
            <p:nvSpPr>
              <p:cNvPr id="51" name="Oval 18"/>
              <p:cNvSpPr>
                <a:spLocks noChangeArrowheads="1"/>
              </p:cNvSpPr>
              <p:nvPr/>
            </p:nvSpPr>
            <p:spPr bwMode="auto">
              <a:xfrm>
                <a:off x="4104" y="936"/>
                <a:ext cx="639" cy="344"/>
              </a:xfrm>
              <a:prstGeom prst="ellipse">
                <a:avLst/>
              </a:prstGeom>
              <a:solidFill>
                <a:srgbClr val="66FFFF"/>
              </a:solidFill>
              <a:ln w="28575">
                <a:solidFill>
                  <a:srgbClr val="0000CC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Text Box 19"/>
              <p:cNvSpPr txBox="1">
                <a:spLocks noChangeArrowheads="1"/>
              </p:cNvSpPr>
              <p:nvPr/>
            </p:nvSpPr>
            <p:spPr bwMode="auto">
              <a:xfrm>
                <a:off x="4240" y="946"/>
                <a:ext cx="57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800">
                    <a:solidFill>
                      <a:srgbClr val="F52EFC"/>
                    </a:solidFill>
                    <a:latin typeface="Times New Roman" panose="02020603050405020304" pitchFamily="18" charset="0"/>
                  </a:rPr>
                  <a:t>9</a:t>
                </a:r>
                <a:endParaRPr kumimoji="1" lang="en-US" altLang="zh-CN" sz="2800">
                  <a:solidFill>
                    <a:srgbClr val="F52EFC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3" name="文本框 3"/>
            <p:cNvSpPr txBox="1">
              <a:spLocks noChangeArrowheads="1"/>
            </p:cNvSpPr>
            <p:nvPr/>
          </p:nvSpPr>
          <p:spPr bwMode="auto">
            <a:xfrm>
              <a:off x="4644958" y="1360298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4" name="文本框 76"/>
            <p:cNvSpPr txBox="1">
              <a:spLocks noChangeArrowheads="1"/>
            </p:cNvSpPr>
            <p:nvPr/>
          </p:nvSpPr>
          <p:spPr bwMode="auto">
            <a:xfrm>
              <a:off x="5562295" y="1334708"/>
              <a:ext cx="658812" cy="52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Arial" panose="020B0604020202020204" pitchFamily="34" charset="0"/>
                </a:rPr>
                <a:t>r</a:t>
              </a:r>
              <a:endParaRPr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55" name="文本框 77"/>
            <p:cNvSpPr txBox="1">
              <a:spLocks noChangeArrowheads="1"/>
            </p:cNvSpPr>
            <p:nvPr/>
          </p:nvSpPr>
          <p:spPr bwMode="auto">
            <a:xfrm>
              <a:off x="11428822" y="1358395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" name="Line 10"/>
            <p:cNvSpPr>
              <a:spLocks noChangeShapeType="1"/>
            </p:cNvSpPr>
            <p:nvPr/>
          </p:nvSpPr>
          <p:spPr bwMode="auto">
            <a:xfrm>
              <a:off x="8827703" y="210800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7" name="直接箭头连接符 2"/>
            <p:cNvCxnSpPr>
              <a:cxnSpLocks noChangeShapeType="1"/>
            </p:cNvCxnSpPr>
            <p:nvPr/>
          </p:nvCxnSpPr>
          <p:spPr bwMode="auto">
            <a:xfrm>
              <a:off x="4644958" y="1412369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直接箭头连接符 58"/>
            <p:cNvCxnSpPr>
              <a:cxnSpLocks noChangeShapeType="1"/>
            </p:cNvCxnSpPr>
            <p:nvPr/>
          </p:nvCxnSpPr>
          <p:spPr bwMode="auto">
            <a:xfrm>
              <a:off x="5486095" y="1410586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直接箭头连接符 59"/>
            <p:cNvCxnSpPr>
              <a:cxnSpLocks noChangeShapeType="1"/>
            </p:cNvCxnSpPr>
            <p:nvPr/>
          </p:nvCxnSpPr>
          <p:spPr bwMode="auto">
            <a:xfrm>
              <a:off x="11352622" y="1397440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矩形标注 4"/>
          <p:cNvSpPr/>
          <p:nvPr/>
        </p:nvSpPr>
        <p:spPr>
          <a:xfrm>
            <a:off x="9308465" y="15875"/>
            <a:ext cx="1537335" cy="413385"/>
          </a:xfrm>
          <a:prstGeom prst="wedgeRectCallout">
            <a:avLst>
              <a:gd name="adj1" fmla="val -92093"/>
              <a:gd name="adj2" fmla="val 100230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800" dirty="0">
                <a:latin typeface="Arial" panose="020B0604020202020204" pitchFamily="34" charset="0"/>
              </a:rPr>
              <a:t>无需处理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20" name="矩形标注 19"/>
          <p:cNvSpPr/>
          <p:nvPr/>
        </p:nvSpPr>
        <p:spPr>
          <a:xfrm>
            <a:off x="5509260" y="1003935"/>
            <a:ext cx="1313815" cy="763905"/>
          </a:xfrm>
          <a:prstGeom prst="wedgeRectCallout">
            <a:avLst>
              <a:gd name="adj1" fmla="val 112155"/>
              <a:gd name="adj2" fmla="val 83832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插入位置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不在表头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1" name="矩形标注 20"/>
          <p:cNvSpPr/>
          <p:nvPr/>
        </p:nvSpPr>
        <p:spPr>
          <a:xfrm>
            <a:off x="4495800" y="3810000"/>
            <a:ext cx="1297940" cy="751840"/>
          </a:xfrm>
          <a:prstGeom prst="wedgeRectCallout">
            <a:avLst>
              <a:gd name="adj1" fmla="val -6802"/>
              <a:gd name="adj2" fmla="val -108654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插入位置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在表头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bldLvl="0" animBg="1"/>
      <p:bldP spid="21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/>
          <p:cNvSpPr>
            <a:spLocks noGrp="1" noChangeArrowheads="1"/>
          </p:cNvSpPr>
          <p:nvPr>
            <p:ph type="title"/>
          </p:nvPr>
        </p:nvSpPr>
        <p:spPr>
          <a:xfrm>
            <a:off x="219075" y="169863"/>
            <a:ext cx="2663825" cy="481012"/>
          </a:xfrm>
        </p:spPr>
        <p:txBody>
          <a:bodyPr/>
          <a:lstStyle/>
          <a:p>
            <a:pPr algn="l">
              <a:defRPr/>
            </a:pPr>
            <a:r>
              <a:rPr lang="zh-CN" altLang="en-US" dirty="0">
                <a:solidFill>
                  <a:srgbClr val="FFC000"/>
                </a:solidFill>
              </a:rPr>
              <a:t>插入排序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1372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43565" y="6400800"/>
            <a:ext cx="1055688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AFF8814-01A6-47AC-B5A8-09A99F730238}" type="slidenum">
              <a:rPr lang="en-US" altLang="zh-CN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oup 2"/>
          <p:cNvGrpSpPr/>
          <p:nvPr/>
        </p:nvGrpSpPr>
        <p:grpSpPr bwMode="auto">
          <a:xfrm>
            <a:off x="152400" y="2643505"/>
            <a:ext cx="9201785" cy="4059460"/>
            <a:chOff x="97238" y="1624"/>
            <a:chExt cx="7271965" cy="2577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97238" y="1805"/>
              <a:ext cx="1958628" cy="562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indent="0" algn="ctr" latinLnBrk="0">
                <a:lnSpc>
                  <a:spcPct val="100000"/>
                </a:lnSpc>
                <a:defRPr/>
              </a:pPr>
              <a:r>
                <a:rPr lang="en-US" altLang="zh-CN" sz="2800" dirty="0">
                  <a:solidFill>
                    <a:srgbClr val="F52EFC"/>
                  </a:solidFill>
                  <a:latin typeface="+mn-lt"/>
                  <a:ea typeface="+mn-ea"/>
                </a:rPr>
                <a:t>p</a:t>
              </a:r>
              <a:r>
                <a:rPr lang="zh-CN" altLang="en-US" sz="2800" dirty="0">
                  <a:solidFill>
                    <a:srgbClr val="F52EFC"/>
                  </a:solidFill>
                  <a:latin typeface="+mn-lt"/>
                  <a:ea typeface="+mn-ea"/>
                </a:rPr>
                <a:t>插入到</a:t>
              </a:r>
              <a:endParaRPr lang="zh-CN" altLang="en-US" sz="2800" dirty="0">
                <a:solidFill>
                  <a:srgbClr val="F52EFC"/>
                </a:solidFill>
                <a:latin typeface="+mn-lt"/>
                <a:ea typeface="+mn-ea"/>
              </a:endParaRPr>
            </a:p>
            <a:p>
              <a:pPr marL="0" indent="0" algn="ctr" latinLnBrk="0">
                <a:lnSpc>
                  <a:spcPct val="100000"/>
                </a:lnSpc>
                <a:defRPr/>
              </a:pPr>
              <a:r>
                <a:rPr lang="en-US" altLang="zh-CN" sz="2800" dirty="0">
                  <a:solidFill>
                    <a:srgbClr val="F52EFC"/>
                  </a:solidFill>
                  <a:latin typeface="+mn-lt"/>
                  <a:ea typeface="+mn-ea"/>
                </a:rPr>
                <a:t>r0</a:t>
              </a:r>
              <a:r>
                <a:rPr lang="zh-CN" altLang="en-US" sz="2800" dirty="0">
                  <a:solidFill>
                    <a:srgbClr val="F52EFC"/>
                  </a:solidFill>
                  <a:latin typeface="+mn-lt"/>
                  <a:ea typeface="+mn-ea"/>
                </a:rPr>
                <a:t>、</a:t>
              </a:r>
              <a:r>
                <a:rPr lang="en-US" altLang="zh-CN" sz="2800" dirty="0">
                  <a:solidFill>
                    <a:srgbClr val="F52EFC"/>
                  </a:solidFill>
                  <a:latin typeface="+mn-lt"/>
                  <a:ea typeface="+mn-ea"/>
                </a:rPr>
                <a:t>r</a:t>
              </a:r>
              <a:r>
                <a:rPr lang="zh-CN" altLang="en-US" sz="2800" dirty="0">
                  <a:solidFill>
                    <a:srgbClr val="F52EFC"/>
                  </a:solidFill>
                  <a:latin typeface="+mn-lt"/>
                  <a:ea typeface="+mn-ea"/>
                </a:rPr>
                <a:t>之间</a:t>
              </a:r>
              <a:endParaRPr lang="zh-CN" altLang="en-US" sz="2800" dirty="0">
                <a:solidFill>
                  <a:srgbClr val="F52EFC"/>
                </a:solidFill>
                <a:latin typeface="+mn-lt"/>
                <a:ea typeface="+mn-ea"/>
              </a:endParaRPr>
            </a:p>
          </p:txBody>
        </p:sp>
        <p:sp>
          <p:nvSpPr>
            <p:cNvPr id="21" name="Oval 4"/>
            <p:cNvSpPr>
              <a:spLocks noChangeArrowheads="1"/>
            </p:cNvSpPr>
            <p:nvPr/>
          </p:nvSpPr>
          <p:spPr bwMode="auto">
            <a:xfrm>
              <a:off x="156955" y="1782"/>
              <a:ext cx="1750872" cy="656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2800">
                <a:latin typeface="+mn-lt"/>
                <a:ea typeface="+mn-ea"/>
              </a:endParaRPr>
            </a:p>
          </p:txBody>
        </p:sp>
        <p:sp>
          <p:nvSpPr>
            <p:cNvPr id="22" name="Line 5"/>
            <p:cNvSpPr>
              <a:spLocks noChangeShapeType="1"/>
            </p:cNvSpPr>
            <p:nvPr/>
          </p:nvSpPr>
          <p:spPr bwMode="auto">
            <a:xfrm flipH="1">
              <a:off x="1019327" y="2417"/>
              <a:ext cx="0" cy="9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3" name="Rectangle 6"/>
            <p:cNvSpPr>
              <a:spLocks noChangeArrowheads="1"/>
            </p:cNvSpPr>
            <p:nvPr/>
          </p:nvSpPr>
          <p:spPr bwMode="auto">
            <a:xfrm>
              <a:off x="446394" y="3354"/>
              <a:ext cx="1098254" cy="232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sz="2800" dirty="0">
                  <a:latin typeface="+mn-lt"/>
                  <a:ea typeface="+mn-ea"/>
                </a:rPr>
                <a:t>结束</a:t>
              </a:r>
              <a:endParaRPr lang="zh-CN" altLang="en-US" sz="2800" dirty="0">
                <a:latin typeface="+mn-lt"/>
                <a:ea typeface="+mn-ea"/>
              </a:endParaRPr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446394" y="3357"/>
              <a:ext cx="1098254" cy="310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2800">
                <a:latin typeface="+mn-lt"/>
                <a:ea typeface="+mn-ea"/>
              </a:endParaRPr>
            </a:p>
          </p:txBody>
        </p:sp>
        <p:sp>
          <p:nvSpPr>
            <p:cNvPr id="25" name="Line 9"/>
            <p:cNvSpPr>
              <a:spLocks noChangeShapeType="1"/>
            </p:cNvSpPr>
            <p:nvPr/>
          </p:nvSpPr>
          <p:spPr bwMode="auto">
            <a:xfrm>
              <a:off x="1019327" y="2568"/>
              <a:ext cx="13823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 bwMode="auto">
            <a:xfrm flipV="1">
              <a:off x="1019327" y="3007"/>
              <a:ext cx="1098254" cy="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7" name="Line 11"/>
            <p:cNvSpPr>
              <a:spLocks noChangeShapeType="1"/>
            </p:cNvSpPr>
            <p:nvPr/>
          </p:nvSpPr>
          <p:spPr bwMode="auto">
            <a:xfrm flipH="1">
              <a:off x="1992202" y="2568"/>
              <a:ext cx="165056" cy="2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8" name="Line 12"/>
            <p:cNvSpPr>
              <a:spLocks noChangeShapeType="1"/>
            </p:cNvSpPr>
            <p:nvPr/>
          </p:nvSpPr>
          <p:spPr bwMode="auto">
            <a:xfrm flipH="1" flipV="1">
              <a:off x="1992202" y="2790"/>
              <a:ext cx="165056" cy="2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9" name="Rectangle 13"/>
            <p:cNvSpPr>
              <a:spLocks noChangeArrowheads="1"/>
            </p:cNvSpPr>
            <p:nvPr/>
          </p:nvSpPr>
          <p:spPr bwMode="auto">
            <a:xfrm>
              <a:off x="1087571" y="2624"/>
              <a:ext cx="815755" cy="353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sz="2800" dirty="0" err="1">
                  <a:latin typeface="+mn-lt"/>
                  <a:ea typeface="+mn-ea"/>
                </a:rPr>
                <a:t>r≠p</a:t>
              </a:r>
              <a:endParaRPr lang="en-US" altLang="zh-CN" sz="2800" dirty="0" err="1">
                <a:latin typeface="+mn-lt"/>
                <a:ea typeface="+mn-ea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401667" y="1624"/>
              <a:ext cx="3023373" cy="575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4000"/>
                </a:lnSpc>
                <a:defRPr/>
              </a:pPr>
              <a:endParaRPr lang="zh-CN" altLang="en-US" sz="2800" dirty="0">
                <a:solidFill>
                  <a:srgbClr val="FFC000"/>
                </a:solidFill>
                <a:latin typeface="+mn-lt"/>
                <a:ea typeface="+mn-ea"/>
              </a:endParaRPr>
            </a:p>
            <a:p>
              <a:pPr>
                <a:lnSpc>
                  <a:spcPct val="64000"/>
                </a:lnSpc>
                <a:defRPr/>
              </a:pPr>
              <a:r>
                <a:rPr lang="zh-CN" altLang="en-US" sz="2800" dirty="0">
                  <a:solidFill>
                    <a:srgbClr val="FFFF00"/>
                  </a:solidFill>
                  <a:latin typeface="+mn-lt"/>
                  <a:ea typeface="+mn-ea"/>
                </a:rPr>
                <a:t>把</a:t>
              </a:r>
              <a:r>
                <a:rPr lang="en-US" altLang="zh-CN" sz="2800" dirty="0">
                  <a:solidFill>
                    <a:srgbClr val="FFFF00"/>
                  </a:solidFill>
                  <a:latin typeface="+mn-lt"/>
                  <a:ea typeface="+mn-ea"/>
                </a:rPr>
                <a:t>p</a:t>
              </a:r>
              <a:r>
                <a:rPr lang="zh-CN" altLang="en-US" sz="2800" dirty="0">
                  <a:solidFill>
                    <a:srgbClr val="FFFF00"/>
                  </a:solidFill>
                  <a:latin typeface="+mn-lt"/>
                  <a:ea typeface="+mn-ea"/>
                </a:rPr>
                <a:t>摘出来</a:t>
              </a:r>
              <a:r>
                <a:rPr lang="zh-CN" altLang="en-US" sz="2800" dirty="0">
                  <a:solidFill>
                    <a:srgbClr val="FFFF00"/>
                  </a:solidFill>
                  <a:latin typeface="+mn-lt"/>
                  <a:ea typeface="+mn-ea"/>
                  <a:sym typeface="Wingdings" panose="05000000000000000000" pitchFamily="2" charset="2"/>
                </a:rPr>
                <a:t>给</a:t>
              </a:r>
              <a:r>
                <a:rPr lang="en-US" altLang="zh-CN" sz="2800" dirty="0">
                  <a:solidFill>
                    <a:srgbClr val="FFFF00"/>
                  </a:solidFill>
                  <a:latin typeface="+mn-lt"/>
                  <a:ea typeface="+mn-ea"/>
                </a:rPr>
                <a:t>q;</a:t>
              </a:r>
              <a:endParaRPr lang="en-US" altLang="zh-CN" sz="2800" dirty="0">
                <a:solidFill>
                  <a:srgbClr val="FFFF00"/>
                </a:solidFill>
                <a:latin typeface="+mn-lt"/>
                <a:ea typeface="+mn-ea"/>
              </a:endParaRPr>
            </a:p>
            <a:p>
              <a:pPr>
                <a:lnSpc>
                  <a:spcPct val="90000"/>
                </a:lnSpc>
                <a:defRPr/>
              </a:pPr>
              <a:r>
                <a:rPr lang="en-US" altLang="zh-CN" sz="2800" dirty="0">
                  <a:latin typeface="+mn-lt"/>
                  <a:ea typeface="+mn-ea"/>
                </a:rPr>
                <a:t>p</a:t>
              </a:r>
              <a:r>
                <a:rPr lang="zh-CN" altLang="en-US" sz="2800" dirty="0">
                  <a:latin typeface="+mn-lt"/>
                  <a:ea typeface="+mn-ea"/>
                </a:rPr>
                <a:t>退到</a:t>
              </a:r>
              <a:r>
                <a:rPr lang="en-US" altLang="zh-CN" sz="2800" dirty="0">
                  <a:latin typeface="+mn-lt"/>
                  <a:ea typeface="+mn-ea"/>
                </a:rPr>
                <a:t>p0;</a:t>
              </a:r>
              <a:endParaRPr lang="en-US" altLang="zh-CN" sz="2800" dirty="0">
                <a:latin typeface="+mn-lt"/>
                <a:ea typeface="+mn-ea"/>
              </a:endParaRPr>
            </a:p>
          </p:txBody>
        </p:sp>
        <p:sp>
          <p:nvSpPr>
            <p:cNvPr id="31" name="Rectangle 15"/>
            <p:cNvSpPr>
              <a:spLocks noChangeArrowheads="1"/>
            </p:cNvSpPr>
            <p:nvPr/>
          </p:nvSpPr>
          <p:spPr bwMode="auto">
            <a:xfrm>
              <a:off x="4417249" y="3395"/>
              <a:ext cx="2951954" cy="806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zh-CN" altLang="en-US" sz="2800" dirty="0">
                  <a:solidFill>
                    <a:srgbClr val="FFFF00"/>
                  </a:solidFill>
                  <a:latin typeface="+mn-lt"/>
                  <a:ea typeface="+mn-ea"/>
                </a:rPr>
                <a:t>插入到</a:t>
              </a:r>
              <a:r>
                <a:rPr lang="en-US" altLang="zh-CN" sz="2800" dirty="0">
                  <a:solidFill>
                    <a:srgbClr val="FFFF00"/>
                  </a:solidFill>
                  <a:latin typeface="+mn-lt"/>
                  <a:ea typeface="+mn-ea"/>
                </a:rPr>
                <a:t>r0,r</a:t>
              </a:r>
              <a:r>
                <a:rPr lang="zh-CN" altLang="en-US" sz="2800" dirty="0">
                  <a:solidFill>
                    <a:srgbClr val="FFFF00"/>
                  </a:solidFill>
                  <a:latin typeface="+mn-lt"/>
                  <a:ea typeface="+mn-ea"/>
                </a:rPr>
                <a:t>之间</a:t>
              </a:r>
              <a:r>
                <a:rPr lang="en-US" altLang="zh-CN" sz="2800" dirty="0">
                  <a:solidFill>
                    <a:srgbClr val="FFFF00"/>
                  </a:solidFill>
                  <a:latin typeface="+mn-lt"/>
                  <a:ea typeface="+mn-ea"/>
                </a:rPr>
                <a:t>:</a:t>
              </a:r>
              <a:endParaRPr lang="en-US" altLang="zh-CN" sz="2800" dirty="0">
                <a:solidFill>
                  <a:srgbClr val="FFFF00"/>
                </a:solidFill>
                <a:latin typeface="+mn-lt"/>
                <a:ea typeface="+mn-ea"/>
              </a:endParaRPr>
            </a:p>
            <a:p>
              <a:pPr>
                <a:defRPr/>
              </a:pPr>
              <a:r>
                <a:rPr lang="en-US" altLang="zh-CN" sz="2800" dirty="0">
                  <a:solidFill>
                    <a:srgbClr val="FFFF00"/>
                  </a:solidFill>
                  <a:latin typeface="+mn-lt"/>
                  <a:ea typeface="+mn-ea"/>
                </a:rPr>
                <a:t>q</a:t>
              </a:r>
              <a:r>
                <a:rPr lang="en-US" altLang="zh-CN" sz="2800" dirty="0">
                  <a:latin typeface="+mn-lt"/>
                  <a:ea typeface="+mn-ea"/>
                </a:rPr>
                <a:t>-&gt;next = r ; </a:t>
              </a:r>
              <a:endParaRPr lang="en-US" altLang="zh-CN" sz="2800" dirty="0">
                <a:latin typeface="+mn-lt"/>
                <a:ea typeface="+mn-ea"/>
              </a:endParaRPr>
            </a:p>
            <a:p>
              <a:pPr>
                <a:defRPr/>
              </a:pPr>
              <a:r>
                <a:rPr lang="en-US" altLang="zh-CN" sz="2800" dirty="0">
                  <a:latin typeface="+mn-lt"/>
                  <a:ea typeface="+mn-ea"/>
                </a:rPr>
                <a:t>r0-&gt;next = q</a:t>
              </a:r>
              <a:endParaRPr lang="en-US" altLang="zh-CN" sz="2800" dirty="0">
                <a:latin typeface="+mn-lt"/>
                <a:ea typeface="+mn-ea"/>
              </a:endParaRPr>
            </a:p>
          </p:txBody>
        </p:sp>
        <p:sp>
          <p:nvSpPr>
            <p:cNvPr id="32" name="Rectangle 16"/>
            <p:cNvSpPr>
              <a:spLocks noChangeArrowheads="1"/>
            </p:cNvSpPr>
            <p:nvPr/>
          </p:nvSpPr>
          <p:spPr bwMode="auto">
            <a:xfrm>
              <a:off x="4417249" y="2359"/>
              <a:ext cx="2951954" cy="966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4000"/>
                </a:lnSpc>
                <a:defRPr/>
              </a:pPr>
              <a:r>
                <a:rPr lang="zh-CN" altLang="en-US" sz="2800" dirty="0">
                  <a:solidFill>
                    <a:srgbClr val="FFFF00"/>
                  </a:solidFill>
                  <a:latin typeface="+mn-lt"/>
                  <a:ea typeface="+mn-ea"/>
                </a:rPr>
                <a:t>插入到表头</a:t>
              </a:r>
              <a:r>
                <a:rPr lang="en-US" altLang="zh-CN" sz="2800" dirty="0">
                  <a:solidFill>
                    <a:srgbClr val="FFFF00"/>
                  </a:solidFill>
                  <a:latin typeface="+mn-lt"/>
                  <a:ea typeface="+mn-ea"/>
                </a:rPr>
                <a:t>:</a:t>
              </a:r>
              <a:endParaRPr lang="en-US" altLang="zh-CN" sz="2800" dirty="0">
                <a:solidFill>
                  <a:srgbClr val="FFFF00"/>
                </a:solidFill>
                <a:latin typeface="+mn-lt"/>
                <a:ea typeface="+mn-ea"/>
              </a:endParaRPr>
            </a:p>
            <a:p>
              <a:pPr>
                <a:defRPr/>
              </a:pPr>
              <a:r>
                <a:rPr lang="en-US" altLang="zh-CN" sz="2800" dirty="0">
                  <a:solidFill>
                    <a:srgbClr val="FFFF00"/>
                  </a:solidFill>
                  <a:latin typeface="+mn-lt"/>
                  <a:ea typeface="+mn-ea"/>
                </a:rPr>
                <a:t>q</a:t>
              </a:r>
              <a:r>
                <a:rPr lang="en-US" altLang="zh-CN" sz="28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-&gt;next=base; </a:t>
              </a:r>
              <a:endPara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</a:endParaRPr>
            </a:p>
            <a:p>
              <a:pPr>
                <a:defRPr/>
              </a:pPr>
              <a:r>
                <a:rPr lang="en-US" altLang="zh-CN" sz="28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base=q;</a:t>
              </a:r>
              <a:endPara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33" name="Line 17"/>
            <p:cNvSpPr>
              <a:spLocks noChangeShapeType="1"/>
            </p:cNvSpPr>
            <p:nvPr/>
          </p:nvSpPr>
          <p:spPr bwMode="auto">
            <a:xfrm flipV="1">
              <a:off x="2401667" y="2779"/>
              <a:ext cx="20155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4" name="Line 18"/>
            <p:cNvSpPr>
              <a:spLocks noChangeShapeType="1"/>
            </p:cNvSpPr>
            <p:nvPr/>
          </p:nvSpPr>
          <p:spPr bwMode="auto">
            <a:xfrm>
              <a:off x="2392144" y="3696"/>
              <a:ext cx="20266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5" name="Line 19"/>
            <p:cNvSpPr>
              <a:spLocks noChangeShapeType="1"/>
            </p:cNvSpPr>
            <p:nvPr/>
          </p:nvSpPr>
          <p:spPr bwMode="auto">
            <a:xfrm flipH="1">
              <a:off x="3949063" y="2779"/>
              <a:ext cx="215842" cy="4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6" name="Line 20"/>
            <p:cNvSpPr>
              <a:spLocks noChangeShapeType="1"/>
            </p:cNvSpPr>
            <p:nvPr/>
          </p:nvSpPr>
          <p:spPr bwMode="auto">
            <a:xfrm flipH="1" flipV="1">
              <a:off x="3949063" y="3257"/>
              <a:ext cx="215842" cy="4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7" name="Rectangle 21"/>
            <p:cNvSpPr>
              <a:spLocks noChangeArrowheads="1"/>
            </p:cNvSpPr>
            <p:nvPr/>
          </p:nvSpPr>
          <p:spPr bwMode="auto">
            <a:xfrm>
              <a:off x="2317553" y="3057"/>
              <a:ext cx="1706102" cy="319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sz="2800" dirty="0">
                  <a:latin typeface="+mn-lt"/>
                  <a:ea typeface="+mn-ea"/>
                </a:rPr>
                <a:t>r==base</a:t>
              </a:r>
              <a:endParaRPr lang="en-US" altLang="zh-CN" sz="2800" dirty="0">
                <a:latin typeface="+mn-lt"/>
                <a:ea typeface="+mn-ea"/>
              </a:endParaRPr>
            </a:p>
          </p:txBody>
        </p:sp>
        <p:sp>
          <p:nvSpPr>
            <p:cNvPr id="38" name="Line 22"/>
            <p:cNvSpPr>
              <a:spLocks noChangeShapeType="1"/>
            </p:cNvSpPr>
            <p:nvPr/>
          </p:nvSpPr>
          <p:spPr bwMode="auto">
            <a:xfrm flipH="1">
              <a:off x="2401667" y="1805"/>
              <a:ext cx="0" cy="19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961640" y="2514600"/>
            <a:ext cx="4051300" cy="1163955"/>
          </a:xfrm>
          <a:prstGeom prst="rect">
            <a:avLst/>
          </a:prstGeom>
          <a:noFill/>
          <a:ln w="38100" algn="ctr">
            <a:solidFill>
              <a:srgbClr val="F52EFC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 bwMode="auto">
          <a:xfrm>
            <a:off x="5280978" y="1203008"/>
            <a:ext cx="6781800" cy="1100137"/>
            <a:chOff x="5182803" y="1296601"/>
            <a:chExt cx="6781800" cy="1100333"/>
          </a:xfrm>
        </p:grpSpPr>
        <p:sp>
          <p:nvSpPr>
            <p:cNvPr id="14" name="Oval 5"/>
            <p:cNvSpPr>
              <a:spLocks noChangeArrowheads="1"/>
            </p:cNvSpPr>
            <p:nvPr/>
          </p:nvSpPr>
          <p:spPr bwMode="auto">
            <a:xfrm>
              <a:off x="5182803" y="18476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66306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9" name="Line 7"/>
            <p:cNvSpPr>
              <a:spLocks noChangeShapeType="1"/>
            </p:cNvSpPr>
            <p:nvPr/>
          </p:nvSpPr>
          <p:spPr bwMode="auto">
            <a:xfrm>
              <a:off x="59067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8"/>
            <p:cNvSpPr>
              <a:spLocks noChangeShapeType="1"/>
            </p:cNvSpPr>
            <p:nvPr/>
          </p:nvSpPr>
          <p:spPr bwMode="auto">
            <a:xfrm>
              <a:off x="73672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auto">
            <a:xfrm>
              <a:off x="80911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auto">
            <a:xfrm>
              <a:off x="95643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3" name="Line 12"/>
            <p:cNvSpPr>
              <a:spLocks noChangeShapeType="1"/>
            </p:cNvSpPr>
            <p:nvPr/>
          </p:nvSpPr>
          <p:spPr bwMode="auto">
            <a:xfrm>
              <a:off x="10300903" y="2142934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13"/>
            <p:cNvSpPr txBox="1">
              <a:spLocks noChangeArrowheads="1"/>
            </p:cNvSpPr>
            <p:nvPr/>
          </p:nvSpPr>
          <p:spPr bwMode="auto">
            <a:xfrm>
              <a:off x="5401878" y="1847561"/>
              <a:ext cx="925512" cy="51920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10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14"/>
            <p:cNvSpPr txBox="1">
              <a:spLocks noChangeArrowheads="1"/>
            </p:cNvSpPr>
            <p:nvPr/>
          </p:nvSpPr>
          <p:spPr bwMode="auto">
            <a:xfrm>
              <a:off x="6800465" y="1858676"/>
              <a:ext cx="700088" cy="5239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11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8283190" y="1846071"/>
              <a:ext cx="5429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13</a:t>
              </a:r>
              <a:endPara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Text Box 16"/>
            <p:cNvSpPr txBox="1">
              <a:spLocks noChangeArrowheads="1"/>
            </p:cNvSpPr>
            <p:nvPr/>
          </p:nvSpPr>
          <p:spPr bwMode="auto">
            <a:xfrm>
              <a:off x="9659553" y="182225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F52EFC"/>
                  </a:solidFill>
                  <a:latin typeface="Times New Roman" panose="02020603050405020304" pitchFamily="18" charset="0"/>
                </a:rPr>
                <a:t>12</a:t>
              </a:r>
              <a:endParaRPr kumimoji="1" lang="en-US" altLang="zh-CN" sz="2800">
                <a:solidFill>
                  <a:srgbClr val="F52EFC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0" name="Group 17"/>
            <p:cNvGrpSpPr/>
            <p:nvPr/>
          </p:nvGrpSpPr>
          <p:grpSpPr bwMode="auto">
            <a:xfrm>
              <a:off x="11002578" y="1850834"/>
              <a:ext cx="962025" cy="546100"/>
              <a:chOff x="4104" y="936"/>
              <a:chExt cx="711" cy="344"/>
            </a:xfrm>
          </p:grpSpPr>
          <p:sp>
            <p:nvSpPr>
              <p:cNvPr id="51" name="Oval 18"/>
              <p:cNvSpPr>
                <a:spLocks noChangeArrowheads="1"/>
              </p:cNvSpPr>
              <p:nvPr/>
            </p:nvSpPr>
            <p:spPr bwMode="auto">
              <a:xfrm>
                <a:off x="4104" y="936"/>
                <a:ext cx="639" cy="344"/>
              </a:xfrm>
              <a:prstGeom prst="ellipse">
                <a:avLst/>
              </a:prstGeom>
              <a:solidFill>
                <a:srgbClr val="66FFFF"/>
              </a:solidFill>
              <a:ln w="28575">
                <a:solidFill>
                  <a:srgbClr val="0000CC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Text Box 19"/>
              <p:cNvSpPr txBox="1">
                <a:spLocks noChangeArrowheads="1"/>
              </p:cNvSpPr>
              <p:nvPr/>
            </p:nvSpPr>
            <p:spPr bwMode="auto">
              <a:xfrm>
                <a:off x="4240" y="946"/>
                <a:ext cx="57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800">
                    <a:solidFill>
                      <a:srgbClr val="000043"/>
                    </a:solidFill>
                    <a:latin typeface="Times New Roman" panose="02020603050405020304" pitchFamily="18" charset="0"/>
                  </a:rPr>
                  <a:t>9</a:t>
                </a:r>
                <a:endParaRPr kumimoji="1" lang="en-US" altLang="zh-CN" sz="2800">
                  <a:solidFill>
                    <a:srgbClr val="000043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3" name="文本框 3"/>
            <p:cNvSpPr txBox="1">
              <a:spLocks noChangeArrowheads="1"/>
            </p:cNvSpPr>
            <p:nvPr/>
          </p:nvSpPr>
          <p:spPr bwMode="auto">
            <a:xfrm>
              <a:off x="7011603" y="1350771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4" name="文本框 76"/>
            <p:cNvSpPr txBox="1">
              <a:spLocks noChangeArrowheads="1"/>
            </p:cNvSpPr>
            <p:nvPr/>
          </p:nvSpPr>
          <p:spPr bwMode="auto">
            <a:xfrm>
              <a:off x="8447735" y="1296601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5" name="文本框 77"/>
            <p:cNvSpPr txBox="1">
              <a:spLocks noChangeArrowheads="1"/>
            </p:cNvSpPr>
            <p:nvPr/>
          </p:nvSpPr>
          <p:spPr bwMode="auto">
            <a:xfrm>
              <a:off x="9987372" y="1334896"/>
              <a:ext cx="658812" cy="460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" name="Line 10"/>
            <p:cNvSpPr>
              <a:spLocks noChangeShapeType="1"/>
            </p:cNvSpPr>
            <p:nvPr/>
          </p:nvSpPr>
          <p:spPr bwMode="auto">
            <a:xfrm>
              <a:off x="8827703" y="210800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7" name="直接箭头连接符 2"/>
            <p:cNvCxnSpPr>
              <a:cxnSpLocks noChangeShapeType="1"/>
            </p:cNvCxnSpPr>
            <p:nvPr/>
          </p:nvCxnSpPr>
          <p:spPr bwMode="auto">
            <a:xfrm>
              <a:off x="7011603" y="1395221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直接箭头连接符 58"/>
            <p:cNvCxnSpPr>
              <a:cxnSpLocks noChangeShapeType="1"/>
            </p:cNvCxnSpPr>
            <p:nvPr/>
          </p:nvCxnSpPr>
          <p:spPr bwMode="auto">
            <a:xfrm>
              <a:off x="8447735" y="139343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直接箭头连接符 59"/>
            <p:cNvCxnSpPr>
              <a:cxnSpLocks noChangeShapeType="1"/>
            </p:cNvCxnSpPr>
            <p:nvPr/>
          </p:nvCxnSpPr>
          <p:spPr bwMode="auto">
            <a:xfrm>
              <a:off x="10003247" y="1422209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0" name="组合 59"/>
          <p:cNvGrpSpPr/>
          <p:nvPr/>
        </p:nvGrpSpPr>
        <p:grpSpPr bwMode="auto">
          <a:xfrm>
            <a:off x="4419283" y="157163"/>
            <a:ext cx="7744460" cy="1062037"/>
            <a:chOff x="4342698" y="1334708"/>
            <a:chExt cx="7744460" cy="1062226"/>
          </a:xfrm>
        </p:grpSpPr>
        <p:sp>
          <p:nvSpPr>
            <p:cNvPr id="61" name="Oval 5"/>
            <p:cNvSpPr>
              <a:spLocks noChangeArrowheads="1"/>
            </p:cNvSpPr>
            <p:nvPr/>
          </p:nvSpPr>
          <p:spPr bwMode="auto">
            <a:xfrm>
              <a:off x="5182803" y="18476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2" name="Oval 6"/>
            <p:cNvSpPr>
              <a:spLocks noChangeArrowheads="1"/>
            </p:cNvSpPr>
            <p:nvPr/>
          </p:nvSpPr>
          <p:spPr bwMode="auto">
            <a:xfrm>
              <a:off x="66306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3" name="Line 7"/>
            <p:cNvSpPr>
              <a:spLocks noChangeShapeType="1"/>
            </p:cNvSpPr>
            <p:nvPr/>
          </p:nvSpPr>
          <p:spPr bwMode="auto">
            <a:xfrm>
              <a:off x="59067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8"/>
            <p:cNvSpPr>
              <a:spLocks noChangeShapeType="1"/>
            </p:cNvSpPr>
            <p:nvPr/>
          </p:nvSpPr>
          <p:spPr bwMode="auto">
            <a:xfrm>
              <a:off x="73672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Oval 9"/>
            <p:cNvSpPr>
              <a:spLocks noChangeArrowheads="1"/>
            </p:cNvSpPr>
            <p:nvPr/>
          </p:nvSpPr>
          <p:spPr bwMode="auto">
            <a:xfrm>
              <a:off x="80911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" name="Oval 11"/>
            <p:cNvSpPr>
              <a:spLocks noChangeArrowheads="1"/>
            </p:cNvSpPr>
            <p:nvPr/>
          </p:nvSpPr>
          <p:spPr bwMode="auto">
            <a:xfrm>
              <a:off x="95643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9" name="Line 12"/>
            <p:cNvSpPr>
              <a:spLocks noChangeShapeType="1"/>
            </p:cNvSpPr>
            <p:nvPr/>
          </p:nvSpPr>
          <p:spPr bwMode="auto">
            <a:xfrm>
              <a:off x="10300903" y="2142934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Text Box 13"/>
            <p:cNvSpPr txBox="1">
              <a:spLocks noChangeArrowheads="1"/>
            </p:cNvSpPr>
            <p:nvPr/>
          </p:nvSpPr>
          <p:spPr bwMode="auto">
            <a:xfrm>
              <a:off x="5401878" y="1847561"/>
              <a:ext cx="925512" cy="51920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10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" name="Text Box 14"/>
            <p:cNvSpPr txBox="1">
              <a:spLocks noChangeArrowheads="1"/>
            </p:cNvSpPr>
            <p:nvPr/>
          </p:nvSpPr>
          <p:spPr bwMode="auto">
            <a:xfrm>
              <a:off x="6800465" y="1858676"/>
              <a:ext cx="700088" cy="5239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11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" name="Text Box 15"/>
            <p:cNvSpPr txBox="1">
              <a:spLocks noChangeArrowheads="1"/>
            </p:cNvSpPr>
            <p:nvPr/>
          </p:nvSpPr>
          <p:spPr bwMode="auto">
            <a:xfrm>
              <a:off x="8283190" y="1846071"/>
              <a:ext cx="538480" cy="52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12</a:t>
              </a:r>
              <a:endPara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" name="Text Box 16"/>
            <p:cNvSpPr txBox="1">
              <a:spLocks noChangeArrowheads="1"/>
            </p:cNvSpPr>
            <p:nvPr/>
          </p:nvSpPr>
          <p:spPr bwMode="auto">
            <a:xfrm>
              <a:off x="9659553" y="1822259"/>
              <a:ext cx="538480" cy="52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13</a:t>
              </a:r>
              <a:endParaRPr kumimoji="1" lang="en-US" altLang="zh-CN" sz="28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4" name="Group 17"/>
            <p:cNvGrpSpPr/>
            <p:nvPr/>
          </p:nvGrpSpPr>
          <p:grpSpPr bwMode="auto">
            <a:xfrm>
              <a:off x="11002578" y="1850834"/>
              <a:ext cx="962025" cy="546100"/>
              <a:chOff x="4104" y="936"/>
              <a:chExt cx="711" cy="344"/>
            </a:xfrm>
          </p:grpSpPr>
          <p:sp>
            <p:nvSpPr>
              <p:cNvPr id="75" name="Oval 18"/>
              <p:cNvSpPr>
                <a:spLocks noChangeArrowheads="1"/>
              </p:cNvSpPr>
              <p:nvPr/>
            </p:nvSpPr>
            <p:spPr bwMode="auto">
              <a:xfrm>
                <a:off x="4104" y="936"/>
                <a:ext cx="639" cy="344"/>
              </a:xfrm>
              <a:prstGeom prst="ellipse">
                <a:avLst/>
              </a:prstGeom>
              <a:solidFill>
                <a:srgbClr val="66FFFF"/>
              </a:solidFill>
              <a:ln w="28575">
                <a:solidFill>
                  <a:srgbClr val="0000CC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76" name="Text Box 19"/>
              <p:cNvSpPr txBox="1">
                <a:spLocks noChangeArrowheads="1"/>
              </p:cNvSpPr>
              <p:nvPr/>
            </p:nvSpPr>
            <p:spPr bwMode="auto">
              <a:xfrm>
                <a:off x="4240" y="946"/>
                <a:ext cx="57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800">
                    <a:solidFill>
                      <a:srgbClr val="F52EFC"/>
                    </a:solidFill>
                    <a:latin typeface="Times New Roman" panose="02020603050405020304" pitchFamily="18" charset="0"/>
                  </a:rPr>
                  <a:t>9</a:t>
                </a:r>
                <a:endParaRPr kumimoji="1" lang="en-US" altLang="zh-CN" sz="2800">
                  <a:solidFill>
                    <a:srgbClr val="F52EFC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7" name="文本框 3"/>
            <p:cNvSpPr txBox="1">
              <a:spLocks noChangeArrowheads="1"/>
            </p:cNvSpPr>
            <p:nvPr/>
          </p:nvSpPr>
          <p:spPr bwMode="auto">
            <a:xfrm>
              <a:off x="4342698" y="1360298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8" name="文本框 76"/>
            <p:cNvSpPr txBox="1">
              <a:spLocks noChangeArrowheads="1"/>
            </p:cNvSpPr>
            <p:nvPr/>
          </p:nvSpPr>
          <p:spPr bwMode="auto">
            <a:xfrm>
              <a:off x="5562295" y="1334708"/>
              <a:ext cx="658812" cy="52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Arial" panose="020B0604020202020204" pitchFamily="34" charset="0"/>
                </a:rPr>
                <a:t>r</a:t>
              </a:r>
              <a:endParaRPr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79" name="文本框 77"/>
            <p:cNvSpPr txBox="1">
              <a:spLocks noChangeArrowheads="1"/>
            </p:cNvSpPr>
            <p:nvPr/>
          </p:nvSpPr>
          <p:spPr bwMode="auto">
            <a:xfrm>
              <a:off x="11310553" y="1358207"/>
              <a:ext cx="776605" cy="460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0" name="Line 10"/>
            <p:cNvSpPr>
              <a:spLocks noChangeShapeType="1"/>
            </p:cNvSpPr>
            <p:nvPr/>
          </p:nvSpPr>
          <p:spPr bwMode="auto">
            <a:xfrm>
              <a:off x="8827703" y="210800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81" name="直接箭头连接符 2"/>
            <p:cNvCxnSpPr>
              <a:cxnSpLocks noChangeShapeType="1"/>
            </p:cNvCxnSpPr>
            <p:nvPr/>
          </p:nvCxnSpPr>
          <p:spPr bwMode="auto">
            <a:xfrm>
              <a:off x="4342698" y="1412369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直接箭头连接符 58"/>
            <p:cNvCxnSpPr>
              <a:cxnSpLocks noChangeShapeType="1"/>
            </p:cNvCxnSpPr>
            <p:nvPr/>
          </p:nvCxnSpPr>
          <p:spPr bwMode="auto">
            <a:xfrm>
              <a:off x="5486095" y="1410586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直接箭头连接符 59"/>
            <p:cNvCxnSpPr>
              <a:cxnSpLocks noChangeShapeType="1"/>
            </p:cNvCxnSpPr>
            <p:nvPr/>
          </p:nvCxnSpPr>
          <p:spPr bwMode="auto">
            <a:xfrm>
              <a:off x="11352622" y="1397440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4" name="矩形 83"/>
          <p:cNvSpPr>
            <a:spLocks noChangeArrowheads="1"/>
          </p:cNvSpPr>
          <p:nvPr/>
        </p:nvSpPr>
        <p:spPr bwMode="auto">
          <a:xfrm>
            <a:off x="9589135" y="1219200"/>
            <a:ext cx="1154430" cy="1198880"/>
          </a:xfrm>
          <a:prstGeom prst="rect">
            <a:avLst/>
          </a:prstGeom>
          <a:noFill/>
          <a:ln w="38100" algn="ctr">
            <a:solidFill>
              <a:srgbClr val="F52EFC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6" name="矩形 85"/>
          <p:cNvSpPr>
            <a:spLocks noChangeArrowheads="1"/>
          </p:cNvSpPr>
          <p:nvPr/>
        </p:nvSpPr>
        <p:spPr bwMode="auto">
          <a:xfrm>
            <a:off x="11047095" y="157480"/>
            <a:ext cx="994410" cy="1198880"/>
          </a:xfrm>
          <a:prstGeom prst="rect">
            <a:avLst/>
          </a:prstGeom>
          <a:noFill/>
          <a:ln w="38100" algn="ctr">
            <a:solidFill>
              <a:srgbClr val="F52EFC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2759075" y="576580"/>
            <a:ext cx="1297940" cy="751840"/>
          </a:xfrm>
          <a:prstGeom prst="wedgeRectCallout">
            <a:avLst>
              <a:gd name="adj1" fmla="val 122309"/>
              <a:gd name="adj2" fmla="val -6081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插入位置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在表头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4" name="矩形标注 3"/>
          <p:cNvSpPr/>
          <p:nvPr/>
        </p:nvSpPr>
        <p:spPr>
          <a:xfrm>
            <a:off x="2743200" y="1487805"/>
            <a:ext cx="1313815" cy="763905"/>
          </a:xfrm>
          <a:prstGeom prst="wedgeRectCallout">
            <a:avLst>
              <a:gd name="adj1" fmla="val 111575"/>
              <a:gd name="adj2" fmla="val 5361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插入位置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不在表头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500370" y="3581400"/>
            <a:ext cx="4089400" cy="1791335"/>
          </a:xfrm>
          <a:prstGeom prst="rect">
            <a:avLst/>
          </a:prstGeom>
          <a:noFill/>
          <a:ln w="38100" algn="ctr">
            <a:solidFill>
              <a:srgbClr val="F52EFC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9905365" y="2286000"/>
            <a:ext cx="776605" cy="556895"/>
            <a:chOff x="18357" y="183"/>
            <a:chExt cx="1223" cy="877"/>
          </a:xfrm>
        </p:grpSpPr>
        <p:sp>
          <p:nvSpPr>
            <p:cNvPr id="12" name="文本框 77"/>
            <p:cNvSpPr txBox="1">
              <a:spLocks noChangeArrowheads="1"/>
            </p:cNvSpPr>
            <p:nvPr/>
          </p:nvSpPr>
          <p:spPr bwMode="auto">
            <a:xfrm>
              <a:off x="18357" y="303"/>
              <a:ext cx="1223" cy="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q</a:t>
              </a:r>
              <a:endParaRPr lang="en-US" altLang="zh-CN" sz="24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3" name="直接箭头连接符 59"/>
            <p:cNvCxnSpPr>
              <a:cxnSpLocks noChangeShapeType="1"/>
            </p:cNvCxnSpPr>
            <p:nvPr/>
          </p:nvCxnSpPr>
          <p:spPr bwMode="auto">
            <a:xfrm flipV="1">
              <a:off x="18477" y="183"/>
              <a:ext cx="0" cy="720"/>
            </a:xfrm>
            <a:prstGeom prst="straightConnector1">
              <a:avLst/>
            </a:prstGeom>
            <a:noFill/>
            <a:ln w="25400" algn="ctr">
              <a:solidFill>
                <a:srgbClr val="FFFF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5" name="组合 14"/>
          <p:cNvGrpSpPr/>
          <p:nvPr/>
        </p:nvGrpSpPr>
        <p:grpSpPr>
          <a:xfrm>
            <a:off x="11387455" y="1219200"/>
            <a:ext cx="776605" cy="556895"/>
            <a:chOff x="18357" y="183"/>
            <a:chExt cx="1223" cy="877"/>
          </a:xfrm>
        </p:grpSpPr>
        <p:sp>
          <p:nvSpPr>
            <p:cNvPr id="16" name="文本框 77"/>
            <p:cNvSpPr txBox="1">
              <a:spLocks noChangeArrowheads="1"/>
            </p:cNvSpPr>
            <p:nvPr/>
          </p:nvSpPr>
          <p:spPr bwMode="auto">
            <a:xfrm>
              <a:off x="18357" y="303"/>
              <a:ext cx="1223" cy="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q</a:t>
              </a:r>
              <a:endParaRPr lang="en-US" altLang="zh-CN" sz="24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7" name="直接箭头连接符 59"/>
            <p:cNvCxnSpPr>
              <a:cxnSpLocks noChangeShapeType="1"/>
            </p:cNvCxnSpPr>
            <p:nvPr/>
          </p:nvCxnSpPr>
          <p:spPr bwMode="auto">
            <a:xfrm flipV="1">
              <a:off x="18477" y="183"/>
              <a:ext cx="0" cy="720"/>
            </a:xfrm>
            <a:prstGeom prst="straightConnector1">
              <a:avLst/>
            </a:prstGeom>
            <a:noFill/>
            <a:ln w="25400" algn="ctr">
              <a:solidFill>
                <a:srgbClr val="FFFF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84" grpId="0" bldLvl="0" animBg="1"/>
      <p:bldP spid="86" grpId="0" bldLvl="0" animBg="1"/>
      <p:bldP spid="6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687830" y="1460500"/>
            <a:ext cx="5801360" cy="1529080"/>
          </a:xfrm>
        </p:spPr>
        <p:txBody>
          <a:bodyPr/>
          <a:lstStyle/>
          <a:p>
            <a:pPr marL="0" indent="0">
              <a:lnSpc>
                <a:spcPts val="24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/>
              <a:t>把</a:t>
            </a:r>
            <a:r>
              <a:rPr lang="en-US" altLang="zh-CN" sz="2800" b="1" dirty="0"/>
              <a:t>p</a:t>
            </a:r>
            <a:r>
              <a:rPr lang="zh-CN" altLang="en-US" sz="2800" b="1" dirty="0"/>
              <a:t>摘</a:t>
            </a:r>
            <a:r>
              <a:rPr lang="zh-CN" altLang="en-US" sz="2800" b="1" dirty="0"/>
              <a:t>出来</a:t>
            </a:r>
            <a:r>
              <a:rPr lang="en-US" altLang="zh-CN" sz="2800" b="1" dirty="0">
                <a:sym typeface="Wingdings" panose="05000000000000000000" pitchFamily="2" charset="2"/>
              </a:rPr>
              <a:t></a:t>
            </a:r>
            <a:r>
              <a:rPr lang="en-US" altLang="zh-CN" sz="2800" b="1" dirty="0"/>
              <a:t>q</a:t>
            </a:r>
            <a:r>
              <a:rPr lang="zh-CN" altLang="en-US" sz="2800" b="1" dirty="0"/>
              <a:t>， </a:t>
            </a:r>
            <a:r>
              <a:rPr lang="en-US" altLang="zh-CN" sz="2800" b="1" dirty="0"/>
              <a:t>p</a:t>
            </a:r>
            <a:r>
              <a:rPr lang="zh-CN" altLang="en-US" sz="2800" b="1" dirty="0"/>
              <a:t>回退到</a:t>
            </a:r>
            <a:r>
              <a:rPr lang="en-US" altLang="zh-CN" sz="2800" b="1" dirty="0"/>
              <a:t>p0</a:t>
            </a:r>
            <a:endParaRPr lang="zh-CN" altLang="en-US" sz="2800" b="1" dirty="0"/>
          </a:p>
          <a:p>
            <a:pPr lvl="1">
              <a:lnSpc>
                <a:spcPts val="2400"/>
              </a:lnSpc>
              <a:defRPr/>
            </a:pPr>
            <a:r>
              <a:rPr lang="en-US" altLang="zh-CN" sz="2800" b="1" dirty="0">
                <a:solidFill>
                  <a:srgbClr val="F52EFC"/>
                </a:solidFill>
              </a:rPr>
              <a:t>q=p;</a:t>
            </a:r>
            <a:endParaRPr lang="en-US" altLang="zh-CN" sz="2800" b="1" dirty="0">
              <a:solidFill>
                <a:srgbClr val="F52EFC"/>
              </a:solidFill>
            </a:endParaRPr>
          </a:p>
          <a:p>
            <a:pPr lvl="1">
              <a:lnSpc>
                <a:spcPts val="2400"/>
              </a:lnSpc>
              <a:defRPr/>
            </a:pPr>
            <a:r>
              <a:rPr lang="en-US" altLang="zh-CN" sz="2800" b="1" dirty="0">
                <a:solidFill>
                  <a:srgbClr val="F52EFC"/>
                </a:solidFill>
              </a:rPr>
              <a:t>p0-&gt;next=p-&gt;next;</a:t>
            </a:r>
            <a:endParaRPr lang="en-US" altLang="zh-CN" sz="2800" b="1" dirty="0">
              <a:solidFill>
                <a:srgbClr val="F52EFC"/>
              </a:solidFill>
            </a:endParaRPr>
          </a:p>
          <a:p>
            <a:pPr lvl="1">
              <a:lnSpc>
                <a:spcPts val="2400"/>
              </a:lnSpc>
              <a:defRPr/>
            </a:pPr>
            <a:r>
              <a:rPr lang="en-US" altLang="zh-CN" sz="2800" b="1" dirty="0">
                <a:solidFill>
                  <a:srgbClr val="F52EFC"/>
                </a:solidFill>
              </a:rPr>
              <a:t>p=p0; 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//p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回退到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p0</a:t>
            </a:r>
            <a:endParaRPr lang="en-US" altLang="zh-CN" sz="2800" b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ts val="2400"/>
              </a:lnSpc>
              <a:defRPr/>
            </a:pPr>
            <a:endParaRPr lang="zh-CN" altLang="en-US" sz="2800" b="1" dirty="0"/>
          </a:p>
        </p:txBody>
      </p:sp>
      <p:sp>
        <p:nvSpPr>
          <p:cNvPr id="1392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6041E44-9F5C-47BE-8241-15AFDFAB61C2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1879600" y="4545013"/>
            <a:ext cx="647700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648075" y="5529263"/>
            <a:ext cx="500063" cy="36195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...</a:t>
            </a:r>
            <a:endParaRPr lang="en-US" altLang="zh-CN" dirty="0">
              <a:latin typeface="+mn-lt"/>
            </a:endParaRPr>
          </a:p>
        </p:txBody>
      </p:sp>
      <p:grpSp>
        <p:nvGrpSpPr>
          <p:cNvPr id="30726" name="组合 48"/>
          <p:cNvGrpSpPr/>
          <p:nvPr/>
        </p:nvGrpSpPr>
        <p:grpSpPr bwMode="auto">
          <a:xfrm>
            <a:off x="1879600" y="4984750"/>
            <a:ext cx="647700" cy="1047750"/>
            <a:chOff x="251520" y="4985387"/>
            <a:chExt cx="830211" cy="1047060"/>
          </a:xfrm>
        </p:grpSpPr>
        <p:grpSp>
          <p:nvGrpSpPr>
            <p:cNvPr id="30796" name="Group 7"/>
            <p:cNvGrpSpPr/>
            <p:nvPr/>
          </p:nvGrpSpPr>
          <p:grpSpPr bwMode="auto">
            <a:xfrm>
              <a:off x="262898" y="4985387"/>
              <a:ext cx="818833" cy="1047060"/>
              <a:chOff x="0" y="0"/>
              <a:chExt cx="20000" cy="25502"/>
            </a:xfrm>
          </p:grpSpPr>
          <p:sp>
            <p:nvSpPr>
              <p:cNvPr id="30798" name="Rectangle 8"/>
              <p:cNvSpPr>
                <a:spLocks noChangeArrowheads="1"/>
              </p:cNvSpPr>
              <p:nvPr/>
            </p:nvSpPr>
            <p:spPr bwMode="auto">
              <a:xfrm>
                <a:off x="20" y="0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……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34" name="Line 9"/>
              <p:cNvSpPr>
                <a:spLocks noChangeShapeType="1"/>
              </p:cNvSpPr>
              <p:nvPr/>
            </p:nvSpPr>
            <p:spPr bwMode="auto">
              <a:xfrm>
                <a:off x="20" y="18817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>
              <a:off x="251520" y="5389933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1677988" y="4149725"/>
            <a:ext cx="1050925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base:</a:t>
            </a:r>
            <a:endParaRPr lang="en-US" altLang="zh-CN" dirty="0">
              <a:latin typeface="+mn-lt"/>
            </a:endParaRPr>
          </a:p>
        </p:txBody>
      </p:sp>
      <p:sp>
        <p:nvSpPr>
          <p:cNvPr id="9" name="Freeform 25"/>
          <p:cNvSpPr/>
          <p:nvPr/>
        </p:nvSpPr>
        <p:spPr bwMode="auto">
          <a:xfrm flipH="1">
            <a:off x="2208213" y="5181600"/>
            <a:ext cx="668337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cxnSp>
        <p:nvCxnSpPr>
          <p:cNvPr id="30729" name="直接箭头连接符 35"/>
          <p:cNvCxnSpPr>
            <a:cxnSpLocks noChangeShapeType="1"/>
          </p:cNvCxnSpPr>
          <p:nvPr/>
        </p:nvCxnSpPr>
        <p:spPr bwMode="auto">
          <a:xfrm>
            <a:off x="2203450" y="4686300"/>
            <a:ext cx="0" cy="298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矩形 46"/>
          <p:cNvSpPr/>
          <p:nvPr/>
        </p:nvSpPr>
        <p:spPr bwMode="auto">
          <a:xfrm>
            <a:off x="9744075" y="5665153"/>
            <a:ext cx="33337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dirty="0">
                <a:solidFill>
                  <a:srgbClr val="F52EFC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•</a:t>
            </a:r>
            <a:endParaRPr lang="en-US" altLang="zh-CN" dirty="0">
              <a:solidFill>
                <a:srgbClr val="F52EFC"/>
              </a:solidFill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0731" name="组合 49"/>
          <p:cNvGrpSpPr/>
          <p:nvPr/>
        </p:nvGrpSpPr>
        <p:grpSpPr bwMode="auto">
          <a:xfrm>
            <a:off x="2855913" y="4984750"/>
            <a:ext cx="647700" cy="1047750"/>
            <a:chOff x="251520" y="4953321"/>
            <a:chExt cx="830211" cy="1047060"/>
          </a:xfrm>
        </p:grpSpPr>
        <p:grpSp>
          <p:nvGrpSpPr>
            <p:cNvPr id="30792" name="Group 7"/>
            <p:cNvGrpSpPr/>
            <p:nvPr/>
          </p:nvGrpSpPr>
          <p:grpSpPr bwMode="auto">
            <a:xfrm>
              <a:off x="262898" y="4953321"/>
              <a:ext cx="818833" cy="1047060"/>
              <a:chOff x="0" y="-781"/>
              <a:chExt cx="20000" cy="25502"/>
            </a:xfrm>
          </p:grpSpPr>
          <p:sp>
            <p:nvSpPr>
              <p:cNvPr id="30794" name="Rectangle 8"/>
              <p:cNvSpPr>
                <a:spLocks noChangeArrowheads="1"/>
              </p:cNvSpPr>
              <p:nvPr/>
            </p:nvSpPr>
            <p:spPr bwMode="auto">
              <a:xfrm>
                <a:off x="20" y="-781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……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2</a:t>
                </a:r>
                <a:endParaRPr lang="en-US" altLang="zh-CN" sz="2400"/>
              </a:p>
            </p:txBody>
          </p:sp>
          <p:sp>
            <p:nvSpPr>
              <p:cNvPr id="54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52" name="Line 25"/>
            <p:cNvSpPr>
              <a:spLocks noChangeShapeType="1"/>
            </p:cNvSpPr>
            <p:nvPr/>
          </p:nvSpPr>
          <p:spPr bwMode="auto">
            <a:xfrm>
              <a:off x="251520" y="5357867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55" name="Freeform 25"/>
          <p:cNvSpPr/>
          <p:nvPr/>
        </p:nvSpPr>
        <p:spPr bwMode="auto">
          <a:xfrm flipH="1">
            <a:off x="4008438" y="5170488"/>
            <a:ext cx="668337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0733" name="组合 55"/>
          <p:cNvGrpSpPr/>
          <p:nvPr/>
        </p:nvGrpSpPr>
        <p:grpSpPr bwMode="auto">
          <a:xfrm>
            <a:off x="4656138" y="4973638"/>
            <a:ext cx="647700" cy="1047750"/>
            <a:chOff x="251520" y="4953321"/>
            <a:chExt cx="830211" cy="1047060"/>
          </a:xfrm>
        </p:grpSpPr>
        <p:grpSp>
          <p:nvGrpSpPr>
            <p:cNvPr id="30788" name="Group 7"/>
            <p:cNvGrpSpPr/>
            <p:nvPr/>
          </p:nvGrpSpPr>
          <p:grpSpPr bwMode="auto">
            <a:xfrm>
              <a:off x="262898" y="4953321"/>
              <a:ext cx="818833" cy="1047060"/>
              <a:chOff x="0" y="-781"/>
              <a:chExt cx="20000" cy="25502"/>
            </a:xfrm>
          </p:grpSpPr>
          <p:sp>
            <p:nvSpPr>
              <p:cNvPr id="30790" name="Rectangle 8"/>
              <p:cNvSpPr>
                <a:spLocks noChangeArrowheads="1"/>
              </p:cNvSpPr>
              <p:nvPr/>
            </p:nvSpPr>
            <p:spPr bwMode="auto">
              <a:xfrm>
                <a:off x="20" y="-781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chemeClr val="tx1"/>
                    </a:solidFill>
                  </a:rPr>
                  <a:t>……</a:t>
                </a:r>
                <a:endParaRPr lang="en-US" altLang="zh-CN" sz="2400">
                  <a:solidFill>
                    <a:srgbClr val="FFFF00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FF00"/>
                    </a:solidFill>
                  </a:rPr>
                  <a:t>4</a:t>
                </a:r>
                <a:endParaRPr lang="en-US" altLang="zh-CN" sz="2400">
                  <a:solidFill>
                    <a:srgbClr val="FFFF00"/>
                  </a:solidFill>
                </a:endParaRPr>
              </a:p>
            </p:txBody>
          </p:sp>
          <p:sp>
            <p:nvSpPr>
              <p:cNvPr id="60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58" name="Line 25"/>
            <p:cNvSpPr>
              <a:spLocks noChangeShapeType="1"/>
            </p:cNvSpPr>
            <p:nvPr/>
          </p:nvSpPr>
          <p:spPr bwMode="auto">
            <a:xfrm>
              <a:off x="251520" y="5357866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61" name="Freeform 25"/>
          <p:cNvSpPr/>
          <p:nvPr/>
        </p:nvSpPr>
        <p:spPr bwMode="auto">
          <a:xfrm flipH="1">
            <a:off x="4994275" y="5167313"/>
            <a:ext cx="669925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0735" name="组合 61"/>
          <p:cNvGrpSpPr/>
          <p:nvPr/>
        </p:nvGrpSpPr>
        <p:grpSpPr bwMode="auto">
          <a:xfrm>
            <a:off x="5664200" y="5047613"/>
            <a:ext cx="647700" cy="1046163"/>
            <a:chOff x="251520" y="5104579"/>
            <a:chExt cx="830211" cy="1047060"/>
          </a:xfrm>
        </p:grpSpPr>
        <p:grpSp>
          <p:nvGrpSpPr>
            <p:cNvPr id="30784" name="Group 7"/>
            <p:cNvGrpSpPr/>
            <p:nvPr/>
          </p:nvGrpSpPr>
          <p:grpSpPr bwMode="auto">
            <a:xfrm>
              <a:off x="263717" y="5104579"/>
              <a:ext cx="818014" cy="1047060"/>
              <a:chOff x="20" y="2903"/>
              <a:chExt cx="19980" cy="25502"/>
            </a:xfrm>
          </p:grpSpPr>
          <p:sp>
            <p:nvSpPr>
              <p:cNvPr id="65" name="Rectangle 8"/>
              <p:cNvSpPr>
                <a:spLocks noChangeArrowheads="1"/>
              </p:cNvSpPr>
              <p:nvPr/>
            </p:nvSpPr>
            <p:spPr bwMode="auto">
              <a:xfrm>
                <a:off x="20" y="2903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sz="2000" dirty="0">
                    <a:solidFill>
                      <a:schemeClr val="tx1"/>
                    </a:solidFill>
                    <a:latin typeface="+mn-lt"/>
                  </a:rPr>
                  <a:t>……</a:t>
                </a:r>
                <a:endParaRPr lang="en-US" altLang="zh-CN" sz="2000" dirty="0">
                  <a:solidFill>
                    <a:srgbClr val="FFFF00"/>
                  </a:solidFill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sz="2000" dirty="0">
                    <a:solidFill>
                      <a:srgbClr val="FFFF00"/>
                    </a:solidFill>
                    <a:latin typeface="+mn-lt"/>
                  </a:rPr>
                  <a:t>15</a:t>
                </a:r>
                <a:endParaRPr lang="en-US" altLang="zh-CN" sz="2000" dirty="0">
                  <a:solidFill>
                    <a:srgbClr val="FFFF00"/>
                  </a:solidFill>
                  <a:latin typeface="+mn-lt"/>
                </a:endParaRPr>
              </a:p>
            </p:txBody>
          </p:sp>
          <p:sp>
            <p:nvSpPr>
              <p:cNvPr id="66" name="Line 9"/>
              <p:cNvSpPr>
                <a:spLocks noChangeShapeType="1"/>
              </p:cNvSpPr>
              <p:nvPr/>
            </p:nvSpPr>
            <p:spPr bwMode="auto">
              <a:xfrm>
                <a:off x="20" y="19713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64" name="Line 25"/>
            <p:cNvSpPr>
              <a:spLocks noChangeShapeType="1"/>
            </p:cNvSpPr>
            <p:nvPr/>
          </p:nvSpPr>
          <p:spPr bwMode="auto">
            <a:xfrm>
              <a:off x="251520" y="5434111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67" name="Freeform 25"/>
          <p:cNvSpPr/>
          <p:nvPr/>
        </p:nvSpPr>
        <p:spPr bwMode="auto">
          <a:xfrm flipH="1">
            <a:off x="5951538" y="5140325"/>
            <a:ext cx="669925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0737" name="组合 67"/>
          <p:cNvGrpSpPr/>
          <p:nvPr/>
        </p:nvGrpSpPr>
        <p:grpSpPr bwMode="auto">
          <a:xfrm>
            <a:off x="6600825" y="5047614"/>
            <a:ext cx="647700" cy="1046163"/>
            <a:chOff x="251520" y="5056377"/>
            <a:chExt cx="830211" cy="1047060"/>
          </a:xfrm>
        </p:grpSpPr>
        <p:grpSp>
          <p:nvGrpSpPr>
            <p:cNvPr id="30780" name="Group 7"/>
            <p:cNvGrpSpPr/>
            <p:nvPr/>
          </p:nvGrpSpPr>
          <p:grpSpPr bwMode="auto">
            <a:xfrm>
              <a:off x="263717" y="5056377"/>
              <a:ext cx="818014" cy="1047060"/>
              <a:chOff x="20" y="1729"/>
              <a:chExt cx="19980" cy="25502"/>
            </a:xfrm>
          </p:grpSpPr>
          <p:sp>
            <p:nvSpPr>
              <p:cNvPr id="71" name="Rectangle 8"/>
              <p:cNvSpPr>
                <a:spLocks noChangeArrowheads="1"/>
              </p:cNvSpPr>
              <p:nvPr/>
            </p:nvSpPr>
            <p:spPr bwMode="auto">
              <a:xfrm>
                <a:off x="20" y="1729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sz="2000" dirty="0">
                    <a:latin typeface="+mn-lt"/>
                  </a:rPr>
                  <a:t>……</a:t>
                </a:r>
                <a:endParaRPr lang="en-US" altLang="zh-CN" sz="2000" dirty="0"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sz="2000" dirty="0">
                    <a:latin typeface="+mn-lt"/>
                  </a:rPr>
                  <a:t>17</a:t>
                </a:r>
                <a:endParaRPr lang="en-US" altLang="zh-CN" sz="2000" dirty="0">
                  <a:latin typeface="+mn-lt"/>
                </a:endParaRPr>
              </a:p>
            </p:txBody>
          </p:sp>
          <p:sp>
            <p:nvSpPr>
              <p:cNvPr id="72" name="Line 9"/>
              <p:cNvSpPr>
                <a:spLocks noChangeShapeType="1"/>
              </p:cNvSpPr>
              <p:nvPr/>
            </p:nvSpPr>
            <p:spPr bwMode="auto">
              <a:xfrm>
                <a:off x="20" y="19724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70" name="Line 25"/>
            <p:cNvSpPr>
              <a:spLocks noChangeShapeType="1"/>
            </p:cNvSpPr>
            <p:nvPr/>
          </p:nvSpPr>
          <p:spPr bwMode="auto">
            <a:xfrm>
              <a:off x="251520" y="5358897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73" name="Freeform 25"/>
          <p:cNvSpPr/>
          <p:nvPr/>
        </p:nvSpPr>
        <p:spPr bwMode="auto">
          <a:xfrm flipH="1">
            <a:off x="6938963" y="5137150"/>
            <a:ext cx="669925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0739" name="组合 73"/>
          <p:cNvGrpSpPr/>
          <p:nvPr/>
        </p:nvGrpSpPr>
        <p:grpSpPr bwMode="auto">
          <a:xfrm>
            <a:off x="7608888" y="5047614"/>
            <a:ext cx="647700" cy="1046163"/>
            <a:chOff x="251520" y="5059210"/>
            <a:chExt cx="830211" cy="1047060"/>
          </a:xfrm>
        </p:grpSpPr>
        <p:grpSp>
          <p:nvGrpSpPr>
            <p:cNvPr id="30776" name="Group 7"/>
            <p:cNvGrpSpPr/>
            <p:nvPr/>
          </p:nvGrpSpPr>
          <p:grpSpPr bwMode="auto">
            <a:xfrm>
              <a:off x="263717" y="5059210"/>
              <a:ext cx="818014" cy="1047060"/>
              <a:chOff x="20" y="1798"/>
              <a:chExt cx="19980" cy="25502"/>
            </a:xfrm>
          </p:grpSpPr>
          <p:sp>
            <p:nvSpPr>
              <p:cNvPr id="77" name="Rectangle 8"/>
              <p:cNvSpPr>
                <a:spLocks noChangeArrowheads="1"/>
              </p:cNvSpPr>
              <p:nvPr/>
            </p:nvSpPr>
            <p:spPr bwMode="auto">
              <a:xfrm>
                <a:off x="20" y="1798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sz="2000" dirty="0">
                    <a:latin typeface="+mn-lt"/>
                  </a:rPr>
                  <a:t>……</a:t>
                </a:r>
                <a:endParaRPr lang="en-US" altLang="zh-CN" sz="2000" dirty="0"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sz="2000" dirty="0">
                    <a:solidFill>
                      <a:srgbClr val="FFFF00"/>
                    </a:solidFill>
                    <a:latin typeface="+mn-lt"/>
                  </a:rPr>
                  <a:t>18</a:t>
                </a:r>
                <a:endParaRPr lang="en-US" altLang="zh-CN" sz="2000" dirty="0">
                  <a:solidFill>
                    <a:srgbClr val="FFFF00"/>
                  </a:solidFill>
                  <a:latin typeface="+mn-lt"/>
                </a:endParaRPr>
              </a:p>
            </p:txBody>
          </p:sp>
          <p:sp>
            <p:nvSpPr>
              <p:cNvPr id="78" name="Line 9"/>
              <p:cNvSpPr>
                <a:spLocks noChangeShapeType="1"/>
              </p:cNvSpPr>
              <p:nvPr/>
            </p:nvSpPr>
            <p:spPr bwMode="auto">
              <a:xfrm>
                <a:off x="20" y="19715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76" name="Line 25"/>
            <p:cNvSpPr>
              <a:spLocks noChangeShapeType="1"/>
            </p:cNvSpPr>
            <p:nvPr/>
          </p:nvSpPr>
          <p:spPr bwMode="auto">
            <a:xfrm>
              <a:off x="251520" y="5358552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grpSp>
        <p:nvGrpSpPr>
          <p:cNvPr id="30740" name="组合 79"/>
          <p:cNvGrpSpPr/>
          <p:nvPr/>
        </p:nvGrpSpPr>
        <p:grpSpPr bwMode="auto">
          <a:xfrm>
            <a:off x="8543925" y="5031736"/>
            <a:ext cx="647700" cy="1062038"/>
            <a:chOff x="251520" y="5083270"/>
            <a:chExt cx="830211" cy="1061841"/>
          </a:xfrm>
        </p:grpSpPr>
        <p:grpSp>
          <p:nvGrpSpPr>
            <p:cNvPr id="30772" name="Group 7"/>
            <p:cNvGrpSpPr/>
            <p:nvPr/>
          </p:nvGrpSpPr>
          <p:grpSpPr bwMode="auto">
            <a:xfrm>
              <a:off x="263717" y="5083270"/>
              <a:ext cx="818014" cy="1061841"/>
              <a:chOff x="20" y="2384"/>
              <a:chExt cx="19980" cy="25862"/>
            </a:xfrm>
          </p:grpSpPr>
          <p:sp>
            <p:nvSpPr>
              <p:cNvPr id="83" name="Rectangle 8"/>
              <p:cNvSpPr>
                <a:spLocks noChangeArrowheads="1"/>
              </p:cNvSpPr>
              <p:nvPr/>
            </p:nvSpPr>
            <p:spPr bwMode="auto">
              <a:xfrm>
                <a:off x="20" y="2384"/>
                <a:ext cx="19980" cy="258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sz="2000" dirty="0">
                    <a:solidFill>
                      <a:schemeClr val="tx1"/>
                    </a:solidFill>
                    <a:latin typeface="+mn-lt"/>
                  </a:rPr>
                  <a:t>……</a:t>
                </a:r>
                <a:endParaRPr lang="en-US" altLang="zh-CN" sz="2000" dirty="0">
                  <a:solidFill>
                    <a:schemeClr val="tx1"/>
                  </a:solidFill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sz="20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+mn-lt"/>
                  </a:rPr>
                  <a:t>12</a:t>
                </a:r>
                <a:endParaRPr lang="en-US" altLang="zh-CN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84" name="Line 9"/>
              <p:cNvSpPr>
                <a:spLocks noChangeShapeType="1"/>
              </p:cNvSpPr>
              <p:nvPr/>
            </p:nvSpPr>
            <p:spPr bwMode="auto">
              <a:xfrm>
                <a:off x="20" y="19741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82" name="Line 25"/>
            <p:cNvSpPr>
              <a:spLocks noChangeShapeType="1"/>
            </p:cNvSpPr>
            <p:nvPr/>
          </p:nvSpPr>
          <p:spPr bwMode="auto">
            <a:xfrm>
              <a:off x="251520" y="5434047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dirty="0">
                <a:latin typeface="+mn-lt"/>
              </a:endParaRPr>
            </a:p>
          </p:txBody>
        </p:sp>
      </p:grpSp>
      <p:sp>
        <p:nvSpPr>
          <p:cNvPr id="85" name="Freeform 25"/>
          <p:cNvSpPr/>
          <p:nvPr/>
        </p:nvSpPr>
        <p:spPr bwMode="auto">
          <a:xfrm flipH="1">
            <a:off x="8883650" y="5095875"/>
            <a:ext cx="668338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0742" name="组合 85"/>
          <p:cNvGrpSpPr/>
          <p:nvPr/>
        </p:nvGrpSpPr>
        <p:grpSpPr bwMode="auto">
          <a:xfrm>
            <a:off x="9551988" y="5031740"/>
            <a:ext cx="647700" cy="1062038"/>
            <a:chOff x="251520" y="5010556"/>
            <a:chExt cx="830211" cy="1061841"/>
          </a:xfrm>
        </p:grpSpPr>
        <p:grpSp>
          <p:nvGrpSpPr>
            <p:cNvPr id="30768" name="Group 7"/>
            <p:cNvGrpSpPr/>
            <p:nvPr/>
          </p:nvGrpSpPr>
          <p:grpSpPr bwMode="auto">
            <a:xfrm>
              <a:off x="262898" y="5010556"/>
              <a:ext cx="818833" cy="1061841"/>
              <a:chOff x="0" y="613"/>
              <a:chExt cx="20000" cy="25862"/>
            </a:xfrm>
          </p:grpSpPr>
          <p:sp>
            <p:nvSpPr>
              <p:cNvPr id="30770" name="Rectangle 8"/>
              <p:cNvSpPr>
                <a:spLocks noChangeArrowheads="1"/>
              </p:cNvSpPr>
              <p:nvPr/>
            </p:nvSpPr>
            <p:spPr bwMode="auto">
              <a:xfrm>
                <a:off x="20" y="613"/>
                <a:ext cx="19980" cy="258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……</a:t>
                </a:r>
                <a:endParaRPr lang="en-US" altLang="zh-CN" sz="2000">
                  <a:solidFill>
                    <a:schemeClr val="tx1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solidFill>
                      <a:srgbClr val="FFFF00"/>
                    </a:solidFill>
                  </a:rPr>
                  <a:t>6</a:t>
                </a:r>
                <a:endParaRPr lang="en-US" altLang="zh-CN" sz="2000">
                  <a:solidFill>
                    <a:srgbClr val="FFFF00"/>
                  </a:solidFill>
                </a:endParaRPr>
              </a:p>
            </p:txBody>
          </p:sp>
          <p:sp>
            <p:nvSpPr>
              <p:cNvPr id="90" name="Line 9"/>
              <p:cNvSpPr>
                <a:spLocks noChangeShapeType="1"/>
              </p:cNvSpPr>
              <p:nvPr/>
            </p:nvSpPr>
            <p:spPr bwMode="auto">
              <a:xfrm>
                <a:off x="20" y="17893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88" name="Line 25"/>
            <p:cNvSpPr>
              <a:spLocks noChangeShapeType="1"/>
            </p:cNvSpPr>
            <p:nvPr/>
          </p:nvSpPr>
          <p:spPr bwMode="auto">
            <a:xfrm>
              <a:off x="251520" y="5358155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91" name="Freeform 25"/>
          <p:cNvSpPr/>
          <p:nvPr/>
        </p:nvSpPr>
        <p:spPr bwMode="auto">
          <a:xfrm flipH="1">
            <a:off x="3184525" y="5181600"/>
            <a:ext cx="668338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92" name="Rectangle 6"/>
          <p:cNvSpPr>
            <a:spLocks noChangeArrowheads="1"/>
          </p:cNvSpPr>
          <p:nvPr/>
        </p:nvSpPr>
        <p:spPr bwMode="auto">
          <a:xfrm>
            <a:off x="7616825" y="3852863"/>
            <a:ext cx="639763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93" name="Text Box 29"/>
          <p:cNvSpPr txBox="1">
            <a:spLocks noChangeArrowheads="1"/>
          </p:cNvSpPr>
          <p:nvPr/>
        </p:nvSpPr>
        <p:spPr bwMode="auto">
          <a:xfrm>
            <a:off x="7608888" y="3457575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p0:</a:t>
            </a:r>
            <a:endParaRPr lang="en-US" altLang="zh-CN" dirty="0">
              <a:latin typeface="+mn-lt"/>
            </a:endParaRPr>
          </a:p>
        </p:txBody>
      </p:sp>
      <p:cxnSp>
        <p:nvCxnSpPr>
          <p:cNvPr id="30746" name="直接箭头连接符 93"/>
          <p:cNvCxnSpPr>
            <a:cxnSpLocks noChangeShapeType="1"/>
            <a:endCxn id="77" idx="0"/>
          </p:cNvCxnSpPr>
          <p:nvPr/>
        </p:nvCxnSpPr>
        <p:spPr bwMode="auto">
          <a:xfrm>
            <a:off x="7937183" y="4066540"/>
            <a:ext cx="0" cy="9810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" name="Rectangle 6"/>
          <p:cNvSpPr>
            <a:spLocks noChangeArrowheads="1"/>
          </p:cNvSpPr>
          <p:nvPr/>
        </p:nvSpPr>
        <p:spPr bwMode="auto">
          <a:xfrm>
            <a:off x="8543925" y="3852863"/>
            <a:ext cx="647700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96" name="Text Box 29"/>
          <p:cNvSpPr txBox="1">
            <a:spLocks noChangeArrowheads="1"/>
          </p:cNvSpPr>
          <p:nvPr/>
        </p:nvSpPr>
        <p:spPr bwMode="auto">
          <a:xfrm>
            <a:off x="8535988" y="3457575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p:</a:t>
            </a:r>
            <a:endParaRPr lang="en-US" altLang="zh-CN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97" name="直接箭头连接符 96"/>
          <p:cNvCxnSpPr>
            <a:cxnSpLocks noChangeShapeType="1"/>
            <a:endCxn id="83" idx="0"/>
          </p:cNvCxnSpPr>
          <p:nvPr/>
        </p:nvCxnSpPr>
        <p:spPr bwMode="auto">
          <a:xfrm>
            <a:off x="8872538" y="4069715"/>
            <a:ext cx="0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0" name="Rectangle 6"/>
          <p:cNvSpPr>
            <a:spLocks noChangeArrowheads="1"/>
          </p:cNvSpPr>
          <p:nvPr/>
        </p:nvSpPr>
        <p:spPr bwMode="auto">
          <a:xfrm>
            <a:off x="4676775" y="3906838"/>
            <a:ext cx="627063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01" name="Text Box 29"/>
          <p:cNvSpPr txBox="1">
            <a:spLocks noChangeArrowheads="1"/>
          </p:cNvSpPr>
          <p:nvPr/>
        </p:nvSpPr>
        <p:spPr bwMode="auto">
          <a:xfrm>
            <a:off x="4656138" y="3511550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solidFill>
                  <a:srgbClr val="FFFF00"/>
                </a:solidFill>
                <a:latin typeface="+mn-lt"/>
              </a:rPr>
              <a:t>r0:</a:t>
            </a:r>
            <a:endParaRPr lang="en-US" altLang="zh-CN" dirty="0">
              <a:solidFill>
                <a:srgbClr val="FFFF00"/>
              </a:solidFill>
              <a:latin typeface="+mn-lt"/>
            </a:endParaRPr>
          </a:p>
        </p:txBody>
      </p:sp>
      <p:cxnSp>
        <p:nvCxnSpPr>
          <p:cNvPr id="30752" name="直接箭头连接符 101"/>
          <p:cNvCxnSpPr>
            <a:cxnSpLocks noChangeShapeType="1"/>
            <a:endCxn id="30790" idx="0"/>
          </p:cNvCxnSpPr>
          <p:nvPr/>
        </p:nvCxnSpPr>
        <p:spPr bwMode="auto">
          <a:xfrm flipH="1">
            <a:off x="4984750" y="4048125"/>
            <a:ext cx="6350" cy="9255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" name="Rectangle 6"/>
          <p:cNvSpPr>
            <a:spLocks noChangeArrowheads="1"/>
          </p:cNvSpPr>
          <p:nvPr/>
        </p:nvSpPr>
        <p:spPr bwMode="auto">
          <a:xfrm>
            <a:off x="5591175" y="3906838"/>
            <a:ext cx="649288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04" name="Text Box 29"/>
          <p:cNvSpPr txBox="1">
            <a:spLocks noChangeArrowheads="1"/>
          </p:cNvSpPr>
          <p:nvPr/>
        </p:nvSpPr>
        <p:spPr bwMode="auto">
          <a:xfrm>
            <a:off x="5583238" y="3511550"/>
            <a:ext cx="649287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solidFill>
                  <a:srgbClr val="FFFF00"/>
                </a:solidFill>
                <a:latin typeface="+mn-lt"/>
              </a:rPr>
              <a:t>r:</a:t>
            </a:r>
            <a:endParaRPr lang="en-US" altLang="zh-CN" dirty="0">
              <a:solidFill>
                <a:srgbClr val="FFFF00"/>
              </a:solidFill>
              <a:latin typeface="+mn-lt"/>
            </a:endParaRPr>
          </a:p>
        </p:txBody>
      </p:sp>
      <p:cxnSp>
        <p:nvCxnSpPr>
          <p:cNvPr id="30755" name="直接箭头连接符 104"/>
          <p:cNvCxnSpPr>
            <a:cxnSpLocks noChangeShapeType="1"/>
          </p:cNvCxnSpPr>
          <p:nvPr/>
        </p:nvCxnSpPr>
        <p:spPr bwMode="auto">
          <a:xfrm>
            <a:off x="5919788" y="4048125"/>
            <a:ext cx="0" cy="908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7" name="Rectangle 6"/>
          <p:cNvSpPr>
            <a:spLocks noChangeArrowheads="1"/>
          </p:cNvSpPr>
          <p:nvPr/>
        </p:nvSpPr>
        <p:spPr bwMode="auto">
          <a:xfrm>
            <a:off x="9526588" y="3836988"/>
            <a:ext cx="649287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28" name="Text Box 29"/>
          <p:cNvSpPr txBox="1">
            <a:spLocks noChangeArrowheads="1"/>
          </p:cNvSpPr>
          <p:nvPr/>
        </p:nvSpPr>
        <p:spPr bwMode="auto">
          <a:xfrm>
            <a:off x="9518650" y="3441700"/>
            <a:ext cx="649288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solidFill>
                  <a:srgbClr val="F52EFC"/>
                </a:solidFill>
                <a:latin typeface="+mn-lt"/>
              </a:rPr>
              <a:t>q:</a:t>
            </a:r>
            <a:endParaRPr lang="en-US" altLang="zh-CN" dirty="0">
              <a:solidFill>
                <a:srgbClr val="F52EFC"/>
              </a:solidFill>
              <a:latin typeface="+mn-lt"/>
            </a:endParaRPr>
          </a:p>
        </p:txBody>
      </p:sp>
      <p:cxnSp>
        <p:nvCxnSpPr>
          <p:cNvPr id="139305" name="直接箭头连接符 128"/>
          <p:cNvCxnSpPr>
            <a:cxnSpLocks noChangeShapeType="1"/>
            <a:endCxn id="83" idx="0"/>
          </p:cNvCxnSpPr>
          <p:nvPr/>
        </p:nvCxnSpPr>
        <p:spPr bwMode="auto">
          <a:xfrm flipH="1">
            <a:off x="8872538" y="4053840"/>
            <a:ext cx="982662" cy="977900"/>
          </a:xfrm>
          <a:prstGeom prst="straightConnector1">
            <a:avLst/>
          </a:prstGeom>
          <a:noFill/>
          <a:ln w="28575">
            <a:solidFill>
              <a:srgbClr val="F52EFC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7" name="组合 26"/>
          <p:cNvGrpSpPr/>
          <p:nvPr/>
        </p:nvGrpSpPr>
        <p:grpSpPr bwMode="auto">
          <a:xfrm>
            <a:off x="7923213" y="5339080"/>
            <a:ext cx="1638300" cy="1055688"/>
            <a:chOff x="6398419" y="5302083"/>
            <a:chExt cx="1638848" cy="941160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6412711" y="5831397"/>
              <a:ext cx="0" cy="410430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V="1">
              <a:off x="6398419" y="6234751"/>
              <a:ext cx="1500689" cy="1415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884816" y="5302083"/>
              <a:ext cx="1588" cy="941160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7872112" y="5309160"/>
              <a:ext cx="165155" cy="0"/>
            </a:xfrm>
            <a:prstGeom prst="straightConnector1">
              <a:avLst/>
            </a:prstGeom>
            <a:ln w="28575">
              <a:solidFill>
                <a:srgbClr val="F52EF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Freeform 83"/>
          <p:cNvSpPr/>
          <p:nvPr/>
        </p:nvSpPr>
        <p:spPr bwMode="auto">
          <a:xfrm>
            <a:off x="8112125" y="3990975"/>
            <a:ext cx="803275" cy="965200"/>
          </a:xfrm>
          <a:custGeom>
            <a:avLst/>
            <a:gdLst>
              <a:gd name="T0" fmla="*/ 2147483646 w 416"/>
              <a:gd name="T1" fmla="*/ 0 h 453"/>
              <a:gd name="T2" fmla="*/ 2147483646 w 416"/>
              <a:gd name="T3" fmla="*/ 2147483646 h 453"/>
              <a:gd name="T4" fmla="*/ 2147483646 w 416"/>
              <a:gd name="T5" fmla="*/ 2147483646 h 453"/>
              <a:gd name="T6" fmla="*/ 2147483646 w 416"/>
              <a:gd name="T7" fmla="*/ 2147483646 h 453"/>
              <a:gd name="T8" fmla="*/ 0 60000 65536"/>
              <a:gd name="T9" fmla="*/ 0 60000 65536"/>
              <a:gd name="T10" fmla="*/ 0 60000 65536"/>
              <a:gd name="T11" fmla="*/ 0 60000 65536"/>
              <a:gd name="T12" fmla="*/ 0 w 416"/>
              <a:gd name="T13" fmla="*/ 0 h 453"/>
              <a:gd name="T14" fmla="*/ 416 w 416"/>
              <a:gd name="T15" fmla="*/ 453 h 4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16" h="453">
                <a:moveTo>
                  <a:pt x="416" y="0"/>
                </a:moveTo>
                <a:cubicBezTo>
                  <a:pt x="401" y="91"/>
                  <a:pt x="386" y="182"/>
                  <a:pt x="326" y="227"/>
                </a:cubicBezTo>
                <a:cubicBezTo>
                  <a:pt x="266" y="272"/>
                  <a:pt x="106" y="234"/>
                  <a:pt x="53" y="272"/>
                </a:cubicBezTo>
                <a:cubicBezTo>
                  <a:pt x="0" y="310"/>
                  <a:pt x="4" y="381"/>
                  <a:pt x="8" y="453"/>
                </a:cubicBezTo>
              </a:path>
            </a:pathLst>
          </a:custGeom>
          <a:noFill/>
          <a:ln w="28575">
            <a:solidFill>
              <a:srgbClr val="F52EFC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25"/>
          <p:cNvSpPr/>
          <p:nvPr/>
        </p:nvSpPr>
        <p:spPr bwMode="auto">
          <a:xfrm flipH="1">
            <a:off x="7923213" y="5160328"/>
            <a:ext cx="668337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111658" name="标题 1"/>
          <p:cNvSpPr>
            <a:spLocks noGrp="1" noChangeArrowheads="1"/>
          </p:cNvSpPr>
          <p:nvPr>
            <p:ph type="title"/>
          </p:nvPr>
        </p:nvSpPr>
        <p:spPr>
          <a:xfrm>
            <a:off x="96838" y="-26988"/>
            <a:ext cx="7519987" cy="923926"/>
          </a:xfrm>
        </p:spPr>
        <p:txBody>
          <a:bodyPr/>
          <a:lstStyle/>
          <a:p>
            <a:pPr algn="l">
              <a:defRPr/>
            </a:pPr>
            <a:r>
              <a:rPr lang="zh-CN" altLang="en-US" b="1" dirty="0">
                <a:solidFill>
                  <a:srgbClr val="FFC000"/>
                </a:solidFill>
              </a:rPr>
              <a:t>插入排序</a:t>
            </a:r>
            <a:r>
              <a:rPr lang="en-US" altLang="zh-CN" b="1" dirty="0">
                <a:solidFill>
                  <a:srgbClr val="FFC000"/>
                </a:solidFill>
              </a:rPr>
              <a:t>——</a:t>
            </a:r>
            <a:r>
              <a:rPr lang="zh-CN" altLang="en-US" b="1" dirty="0">
                <a:solidFill>
                  <a:srgbClr val="FFC000"/>
                </a:solidFill>
              </a:rPr>
              <a:t>插入过程演示</a:t>
            </a:r>
            <a:endParaRPr lang="zh-CN" altLang="en-US" b="1" dirty="0">
              <a:solidFill>
                <a:srgbClr val="FFC000"/>
              </a:solidFill>
            </a:endParaRPr>
          </a:p>
        </p:txBody>
      </p:sp>
      <p:sp>
        <p:nvSpPr>
          <p:cNvPr id="30763" name="矩形 79"/>
          <p:cNvSpPr>
            <a:spLocks noChangeArrowheads="1"/>
          </p:cNvSpPr>
          <p:nvPr/>
        </p:nvSpPr>
        <p:spPr bwMode="auto">
          <a:xfrm>
            <a:off x="1678305" y="1371600"/>
            <a:ext cx="5260975" cy="536575"/>
          </a:xfrm>
          <a:prstGeom prst="rect">
            <a:avLst/>
          </a:prstGeom>
          <a:noFill/>
          <a:ln w="38100" algn="ctr">
            <a:solidFill>
              <a:srgbClr val="F52EFC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标题 1"/>
          <p:cNvSpPr>
            <a:spLocks noGrp="1" noChangeArrowheads="1"/>
          </p:cNvSpPr>
          <p:nvPr>
            <p:ph type="title"/>
          </p:nvPr>
        </p:nvSpPr>
        <p:spPr>
          <a:xfrm>
            <a:off x="122238" y="201613"/>
            <a:ext cx="7772400" cy="500062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C000"/>
                </a:solidFill>
              </a:rPr>
              <a:t>插入排序</a:t>
            </a:r>
            <a:r>
              <a:rPr lang="en-US" altLang="zh-CN" dirty="0">
                <a:solidFill>
                  <a:srgbClr val="FFC000"/>
                </a:solidFill>
              </a:rPr>
              <a:t>——</a:t>
            </a:r>
            <a:r>
              <a:rPr lang="zh-CN" altLang="en-US" dirty="0">
                <a:solidFill>
                  <a:srgbClr val="FFC000"/>
                </a:solidFill>
              </a:rPr>
              <a:t>插入过程演示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874838" y="1657350"/>
            <a:ext cx="8556625" cy="1258888"/>
          </a:xfrm>
        </p:spPr>
        <p:txBody>
          <a:bodyPr/>
          <a:lstStyle/>
          <a:p>
            <a:pPr>
              <a:lnSpc>
                <a:spcPts val="2400"/>
              </a:lnSpc>
              <a:defRPr/>
            </a:pPr>
            <a:r>
              <a:rPr lang="zh-CN" altLang="en-US" sz="2400" b="1" dirty="0"/>
              <a:t>把 </a:t>
            </a:r>
            <a:r>
              <a:rPr lang="en-US" altLang="zh-CN" sz="2400" b="1" dirty="0"/>
              <a:t>q </a:t>
            </a:r>
            <a:r>
              <a:rPr lang="zh-CN" altLang="en-US" sz="2400" b="1" dirty="0"/>
              <a:t>插入到</a:t>
            </a:r>
            <a:r>
              <a:rPr lang="en-US" altLang="zh-CN" sz="2400" b="1" dirty="0"/>
              <a:t>r0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之间</a:t>
            </a:r>
            <a:endParaRPr lang="en-US" altLang="zh-CN" sz="2400" b="1" dirty="0"/>
          </a:p>
          <a:p>
            <a:pPr lvl="1">
              <a:lnSpc>
                <a:spcPts val="2400"/>
              </a:lnSpc>
              <a:defRPr/>
            </a:pPr>
            <a:r>
              <a:rPr lang="en-US" altLang="zh-CN" sz="2400" b="1" dirty="0">
                <a:solidFill>
                  <a:srgbClr val="F52EFC"/>
                </a:solidFill>
              </a:rPr>
              <a:t>q-&gt;next=r;</a:t>
            </a:r>
            <a:endParaRPr lang="en-US" altLang="zh-CN" sz="2400" b="1" dirty="0">
              <a:solidFill>
                <a:srgbClr val="F52EFC"/>
              </a:solidFill>
            </a:endParaRPr>
          </a:p>
          <a:p>
            <a:pPr lvl="1">
              <a:lnSpc>
                <a:spcPts val="2400"/>
              </a:lnSpc>
              <a:defRPr/>
            </a:pPr>
            <a:r>
              <a:rPr lang="en-US" altLang="zh-CN" sz="2400" b="1" dirty="0">
                <a:solidFill>
                  <a:srgbClr val="F52EFC"/>
                </a:solidFill>
              </a:rPr>
              <a:t>r0-&gt;next=q;</a:t>
            </a:r>
            <a:endParaRPr lang="en-US" altLang="zh-CN" sz="2400" b="1" dirty="0">
              <a:solidFill>
                <a:srgbClr val="F52EFC"/>
              </a:solidFill>
            </a:endParaRPr>
          </a:p>
        </p:txBody>
      </p:sp>
      <p:sp>
        <p:nvSpPr>
          <p:cNvPr id="14336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AF904DA-5E7A-47AD-A07D-620C9F05A1E1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1879600" y="4545013"/>
            <a:ext cx="647700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648075" y="5529263"/>
            <a:ext cx="500063" cy="36195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...</a:t>
            </a:r>
            <a:endParaRPr lang="en-US" altLang="zh-CN" dirty="0">
              <a:latin typeface="+mn-lt"/>
            </a:endParaRPr>
          </a:p>
        </p:txBody>
      </p:sp>
      <p:grpSp>
        <p:nvGrpSpPr>
          <p:cNvPr id="31751" name="组合 48"/>
          <p:cNvGrpSpPr/>
          <p:nvPr/>
        </p:nvGrpSpPr>
        <p:grpSpPr bwMode="auto">
          <a:xfrm>
            <a:off x="1879600" y="4984750"/>
            <a:ext cx="647700" cy="1047750"/>
            <a:chOff x="251520" y="4985387"/>
            <a:chExt cx="830211" cy="1047060"/>
          </a:xfrm>
        </p:grpSpPr>
        <p:grpSp>
          <p:nvGrpSpPr>
            <p:cNvPr id="31830" name="Group 7"/>
            <p:cNvGrpSpPr/>
            <p:nvPr/>
          </p:nvGrpSpPr>
          <p:grpSpPr bwMode="auto">
            <a:xfrm>
              <a:off x="262898" y="4985387"/>
              <a:ext cx="818833" cy="1047060"/>
              <a:chOff x="0" y="0"/>
              <a:chExt cx="20000" cy="25502"/>
            </a:xfrm>
          </p:grpSpPr>
          <p:sp>
            <p:nvSpPr>
              <p:cNvPr id="31832" name="Rectangle 8"/>
              <p:cNvSpPr>
                <a:spLocks noChangeArrowheads="1"/>
              </p:cNvSpPr>
              <p:nvPr/>
            </p:nvSpPr>
            <p:spPr bwMode="auto">
              <a:xfrm>
                <a:off x="20" y="0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……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</p:txBody>
          </p:sp>
          <p:sp>
            <p:nvSpPr>
              <p:cNvPr id="34" name="Line 9"/>
              <p:cNvSpPr>
                <a:spLocks noChangeShapeType="1"/>
              </p:cNvSpPr>
              <p:nvPr/>
            </p:nvSpPr>
            <p:spPr bwMode="auto">
              <a:xfrm>
                <a:off x="20" y="18817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>
              <a:off x="251520" y="5389933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1677988" y="4149725"/>
            <a:ext cx="1050925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base:</a:t>
            </a:r>
            <a:endParaRPr lang="en-US" altLang="zh-CN" dirty="0">
              <a:latin typeface="+mn-lt"/>
            </a:endParaRPr>
          </a:p>
        </p:txBody>
      </p:sp>
      <p:sp>
        <p:nvSpPr>
          <p:cNvPr id="9" name="Freeform 25"/>
          <p:cNvSpPr/>
          <p:nvPr/>
        </p:nvSpPr>
        <p:spPr bwMode="auto">
          <a:xfrm flipH="1">
            <a:off x="2208213" y="5181600"/>
            <a:ext cx="668337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cxnSp>
        <p:nvCxnSpPr>
          <p:cNvPr id="31754" name="直接箭头连接符 35"/>
          <p:cNvCxnSpPr>
            <a:cxnSpLocks noChangeShapeType="1"/>
          </p:cNvCxnSpPr>
          <p:nvPr/>
        </p:nvCxnSpPr>
        <p:spPr bwMode="auto">
          <a:xfrm>
            <a:off x="2203450" y="4686300"/>
            <a:ext cx="0" cy="298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矩形 46"/>
          <p:cNvSpPr/>
          <p:nvPr/>
        </p:nvSpPr>
        <p:spPr bwMode="auto">
          <a:xfrm>
            <a:off x="9744075" y="5589588"/>
            <a:ext cx="33337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•</a:t>
            </a:r>
            <a:endParaRPr lang="en-US" altLang="zh-CN" dirty="0"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1756" name="组合 49"/>
          <p:cNvGrpSpPr/>
          <p:nvPr/>
        </p:nvGrpSpPr>
        <p:grpSpPr bwMode="auto">
          <a:xfrm>
            <a:off x="2855913" y="4984750"/>
            <a:ext cx="647700" cy="1047750"/>
            <a:chOff x="251520" y="4953321"/>
            <a:chExt cx="830211" cy="1047060"/>
          </a:xfrm>
        </p:grpSpPr>
        <p:grpSp>
          <p:nvGrpSpPr>
            <p:cNvPr id="31826" name="Group 7"/>
            <p:cNvGrpSpPr/>
            <p:nvPr/>
          </p:nvGrpSpPr>
          <p:grpSpPr bwMode="auto">
            <a:xfrm>
              <a:off x="262898" y="4953321"/>
              <a:ext cx="818833" cy="1047060"/>
              <a:chOff x="0" y="-781"/>
              <a:chExt cx="20000" cy="25502"/>
            </a:xfrm>
          </p:grpSpPr>
          <p:sp>
            <p:nvSpPr>
              <p:cNvPr id="31828" name="Rectangle 8"/>
              <p:cNvSpPr>
                <a:spLocks noChangeArrowheads="1"/>
              </p:cNvSpPr>
              <p:nvPr/>
            </p:nvSpPr>
            <p:spPr bwMode="auto">
              <a:xfrm>
                <a:off x="20" y="-781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……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2</a:t>
                </a:r>
                <a:endParaRPr lang="en-US" altLang="zh-CN" sz="2400"/>
              </a:p>
            </p:txBody>
          </p:sp>
          <p:sp>
            <p:nvSpPr>
              <p:cNvPr id="54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52" name="Line 25"/>
            <p:cNvSpPr>
              <a:spLocks noChangeShapeType="1"/>
            </p:cNvSpPr>
            <p:nvPr/>
          </p:nvSpPr>
          <p:spPr bwMode="auto">
            <a:xfrm>
              <a:off x="251520" y="5357867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55" name="Freeform 25"/>
          <p:cNvSpPr/>
          <p:nvPr/>
        </p:nvSpPr>
        <p:spPr bwMode="auto">
          <a:xfrm flipH="1">
            <a:off x="4008438" y="5170488"/>
            <a:ext cx="668337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1758" name="组合 55"/>
          <p:cNvGrpSpPr/>
          <p:nvPr/>
        </p:nvGrpSpPr>
        <p:grpSpPr bwMode="auto">
          <a:xfrm>
            <a:off x="4658678" y="4971743"/>
            <a:ext cx="647700" cy="1047750"/>
            <a:chOff x="251520" y="4877815"/>
            <a:chExt cx="830211" cy="1047060"/>
          </a:xfrm>
        </p:grpSpPr>
        <p:grpSp>
          <p:nvGrpSpPr>
            <p:cNvPr id="31822" name="Group 7"/>
            <p:cNvGrpSpPr/>
            <p:nvPr/>
          </p:nvGrpSpPr>
          <p:grpSpPr bwMode="auto">
            <a:xfrm>
              <a:off x="263717" y="4877815"/>
              <a:ext cx="818014" cy="1047060"/>
              <a:chOff x="20" y="-2620"/>
              <a:chExt cx="19980" cy="25502"/>
            </a:xfrm>
          </p:grpSpPr>
          <p:sp>
            <p:nvSpPr>
              <p:cNvPr id="31824" name="Rectangle 8"/>
              <p:cNvSpPr>
                <a:spLocks noChangeArrowheads="1"/>
              </p:cNvSpPr>
              <p:nvPr/>
            </p:nvSpPr>
            <p:spPr bwMode="auto">
              <a:xfrm>
                <a:off x="20" y="-2620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chemeClr val="tx1"/>
                    </a:solidFill>
                  </a:rPr>
                  <a:t>……</a:t>
                </a:r>
                <a:endParaRPr lang="en-US" altLang="zh-CN" sz="2400">
                  <a:solidFill>
                    <a:schemeClr val="tx1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FF00"/>
                    </a:solidFill>
                  </a:rPr>
                  <a:t>4</a:t>
                </a:r>
                <a:endParaRPr lang="en-US" altLang="zh-CN" sz="2400"/>
              </a:p>
            </p:txBody>
          </p:sp>
          <p:sp>
            <p:nvSpPr>
              <p:cNvPr id="60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58" name="Line 25"/>
            <p:cNvSpPr>
              <a:spLocks noChangeShapeType="1"/>
            </p:cNvSpPr>
            <p:nvPr/>
          </p:nvSpPr>
          <p:spPr bwMode="auto">
            <a:xfrm>
              <a:off x="251520" y="5282351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grpSp>
        <p:nvGrpSpPr>
          <p:cNvPr id="31759" name="组合 61"/>
          <p:cNvGrpSpPr/>
          <p:nvPr/>
        </p:nvGrpSpPr>
        <p:grpSpPr bwMode="auto">
          <a:xfrm>
            <a:off x="5664200" y="4972050"/>
            <a:ext cx="647700" cy="1046163"/>
            <a:chOff x="251520" y="4953321"/>
            <a:chExt cx="830211" cy="1047060"/>
          </a:xfrm>
        </p:grpSpPr>
        <p:grpSp>
          <p:nvGrpSpPr>
            <p:cNvPr id="31818" name="Group 7"/>
            <p:cNvGrpSpPr/>
            <p:nvPr/>
          </p:nvGrpSpPr>
          <p:grpSpPr bwMode="auto">
            <a:xfrm>
              <a:off x="262898" y="4953321"/>
              <a:ext cx="818833" cy="1047060"/>
              <a:chOff x="0" y="-781"/>
              <a:chExt cx="20000" cy="25502"/>
            </a:xfrm>
          </p:grpSpPr>
          <p:sp>
            <p:nvSpPr>
              <p:cNvPr id="65" name="Rectangle 8"/>
              <p:cNvSpPr>
                <a:spLocks noChangeArrowheads="1"/>
              </p:cNvSpPr>
              <p:nvPr/>
            </p:nvSpPr>
            <p:spPr bwMode="auto">
              <a:xfrm>
                <a:off x="20" y="-781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sz="2000" dirty="0">
                    <a:solidFill>
                      <a:schemeClr val="tx1"/>
                    </a:solidFill>
                    <a:latin typeface="+mn-lt"/>
                  </a:rPr>
                  <a:t>……</a:t>
                </a:r>
                <a:endParaRPr lang="en-US" altLang="zh-CN" sz="2000" dirty="0">
                  <a:solidFill>
                    <a:srgbClr val="FFFF00"/>
                  </a:solidFill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sz="2000" dirty="0">
                    <a:solidFill>
                      <a:srgbClr val="FFFF00"/>
                    </a:solidFill>
                    <a:latin typeface="+mn-lt"/>
                  </a:rPr>
                  <a:t>15</a:t>
                </a:r>
                <a:endParaRPr lang="en-US" altLang="zh-CN" sz="2000" dirty="0">
                  <a:solidFill>
                    <a:srgbClr val="FFFF00"/>
                  </a:solidFill>
                  <a:latin typeface="+mn-lt"/>
                </a:endParaRPr>
              </a:p>
            </p:txBody>
          </p:sp>
          <p:sp>
            <p:nvSpPr>
              <p:cNvPr id="66" name="Line 9"/>
              <p:cNvSpPr>
                <a:spLocks noChangeShapeType="1"/>
              </p:cNvSpPr>
              <p:nvPr/>
            </p:nvSpPr>
            <p:spPr bwMode="auto">
              <a:xfrm>
                <a:off x="20" y="17871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64" name="Line 25"/>
            <p:cNvSpPr>
              <a:spLocks noChangeShapeType="1"/>
            </p:cNvSpPr>
            <p:nvPr/>
          </p:nvSpPr>
          <p:spPr bwMode="auto">
            <a:xfrm>
              <a:off x="251520" y="5282851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67" name="Freeform 25"/>
          <p:cNvSpPr/>
          <p:nvPr/>
        </p:nvSpPr>
        <p:spPr bwMode="auto">
          <a:xfrm flipH="1">
            <a:off x="5951538" y="5140325"/>
            <a:ext cx="669925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1761" name="组合 67"/>
          <p:cNvGrpSpPr/>
          <p:nvPr/>
        </p:nvGrpSpPr>
        <p:grpSpPr bwMode="auto">
          <a:xfrm>
            <a:off x="6600825" y="4972050"/>
            <a:ext cx="647700" cy="1046163"/>
            <a:chOff x="251520" y="4980748"/>
            <a:chExt cx="830211" cy="1047060"/>
          </a:xfrm>
        </p:grpSpPr>
        <p:grpSp>
          <p:nvGrpSpPr>
            <p:cNvPr id="31814" name="Group 7"/>
            <p:cNvGrpSpPr/>
            <p:nvPr/>
          </p:nvGrpSpPr>
          <p:grpSpPr bwMode="auto">
            <a:xfrm>
              <a:off x="262898" y="4980748"/>
              <a:ext cx="818833" cy="1047060"/>
              <a:chOff x="0" y="-113"/>
              <a:chExt cx="20000" cy="25502"/>
            </a:xfrm>
          </p:grpSpPr>
          <p:sp>
            <p:nvSpPr>
              <p:cNvPr id="71" name="Rectangle 8"/>
              <p:cNvSpPr>
                <a:spLocks noChangeArrowheads="1"/>
              </p:cNvSpPr>
              <p:nvPr/>
            </p:nvSpPr>
            <p:spPr bwMode="auto">
              <a:xfrm>
                <a:off x="20" y="-113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sz="2000" dirty="0">
                    <a:latin typeface="+mn-lt"/>
                  </a:rPr>
                  <a:t>……</a:t>
                </a:r>
                <a:endParaRPr lang="en-US" altLang="zh-CN" sz="2000" dirty="0"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sz="2000" dirty="0">
                    <a:latin typeface="+mn-lt"/>
                  </a:rPr>
                  <a:t>17</a:t>
                </a:r>
                <a:endParaRPr lang="en-US" altLang="zh-CN" sz="2000" dirty="0">
                  <a:latin typeface="+mn-lt"/>
                </a:endParaRPr>
              </a:p>
            </p:txBody>
          </p:sp>
          <p:sp>
            <p:nvSpPr>
              <p:cNvPr id="72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70" name="Line 25"/>
            <p:cNvSpPr>
              <a:spLocks noChangeShapeType="1"/>
            </p:cNvSpPr>
            <p:nvPr/>
          </p:nvSpPr>
          <p:spPr bwMode="auto">
            <a:xfrm>
              <a:off x="251520" y="5283267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73" name="Freeform 25"/>
          <p:cNvSpPr/>
          <p:nvPr/>
        </p:nvSpPr>
        <p:spPr bwMode="auto">
          <a:xfrm flipH="1">
            <a:off x="6938963" y="5137150"/>
            <a:ext cx="669925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1763" name="组合 73"/>
          <p:cNvGrpSpPr/>
          <p:nvPr/>
        </p:nvGrpSpPr>
        <p:grpSpPr bwMode="auto">
          <a:xfrm>
            <a:off x="7608888" y="4972050"/>
            <a:ext cx="647700" cy="1046163"/>
            <a:chOff x="251520" y="4983581"/>
            <a:chExt cx="830211" cy="1047060"/>
          </a:xfrm>
        </p:grpSpPr>
        <p:grpSp>
          <p:nvGrpSpPr>
            <p:cNvPr id="31810" name="Group 7"/>
            <p:cNvGrpSpPr/>
            <p:nvPr/>
          </p:nvGrpSpPr>
          <p:grpSpPr bwMode="auto">
            <a:xfrm>
              <a:off x="262898" y="4983581"/>
              <a:ext cx="818833" cy="1047060"/>
              <a:chOff x="0" y="-44"/>
              <a:chExt cx="20000" cy="25502"/>
            </a:xfrm>
          </p:grpSpPr>
          <p:sp>
            <p:nvSpPr>
              <p:cNvPr id="77" name="Rectangle 8"/>
              <p:cNvSpPr>
                <a:spLocks noChangeArrowheads="1"/>
              </p:cNvSpPr>
              <p:nvPr/>
            </p:nvSpPr>
            <p:spPr bwMode="auto">
              <a:xfrm>
                <a:off x="20" y="-44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sz="2000" dirty="0">
                    <a:latin typeface="+mn-lt"/>
                  </a:rPr>
                  <a:t>……</a:t>
                </a:r>
                <a:endParaRPr lang="en-US" altLang="zh-CN" sz="2000" dirty="0"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sz="2000" dirty="0">
                    <a:latin typeface="+mn-lt"/>
                  </a:rPr>
                  <a:t>18</a:t>
                </a:r>
                <a:endParaRPr lang="en-US" altLang="zh-CN" sz="2000" dirty="0">
                  <a:latin typeface="+mn-lt"/>
                </a:endParaRPr>
              </a:p>
            </p:txBody>
          </p:sp>
          <p:sp>
            <p:nvSpPr>
              <p:cNvPr id="78" name="Line 9"/>
              <p:cNvSpPr>
                <a:spLocks noChangeShapeType="1"/>
              </p:cNvSpPr>
              <p:nvPr/>
            </p:nvSpPr>
            <p:spPr bwMode="auto">
              <a:xfrm>
                <a:off x="20" y="17873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76" name="Line 25"/>
            <p:cNvSpPr>
              <a:spLocks noChangeShapeType="1"/>
            </p:cNvSpPr>
            <p:nvPr/>
          </p:nvSpPr>
          <p:spPr bwMode="auto">
            <a:xfrm>
              <a:off x="251520" y="5282922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grpSp>
        <p:nvGrpSpPr>
          <p:cNvPr id="31764" name="组合 79"/>
          <p:cNvGrpSpPr/>
          <p:nvPr/>
        </p:nvGrpSpPr>
        <p:grpSpPr bwMode="auto">
          <a:xfrm>
            <a:off x="8543925" y="4956175"/>
            <a:ext cx="647700" cy="1062038"/>
            <a:chOff x="251520" y="5007723"/>
            <a:chExt cx="830211" cy="1061841"/>
          </a:xfrm>
        </p:grpSpPr>
        <p:grpSp>
          <p:nvGrpSpPr>
            <p:cNvPr id="31806" name="Group 7"/>
            <p:cNvGrpSpPr/>
            <p:nvPr/>
          </p:nvGrpSpPr>
          <p:grpSpPr bwMode="auto">
            <a:xfrm>
              <a:off x="262898" y="5007723"/>
              <a:ext cx="818833" cy="1061841"/>
              <a:chOff x="0" y="544"/>
              <a:chExt cx="20000" cy="25862"/>
            </a:xfrm>
          </p:grpSpPr>
          <p:sp>
            <p:nvSpPr>
              <p:cNvPr id="83" name="Rectangle 8"/>
              <p:cNvSpPr>
                <a:spLocks noChangeArrowheads="1"/>
              </p:cNvSpPr>
              <p:nvPr/>
            </p:nvSpPr>
            <p:spPr bwMode="auto">
              <a:xfrm>
                <a:off x="20" y="544"/>
                <a:ext cx="19980" cy="258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chemeClr val="tx1"/>
                    </a:solidFill>
                    <a:latin typeface="+mn-lt"/>
                  </a:rPr>
                  <a:t>……</a:t>
                </a:r>
                <a:endParaRPr lang="en-US" altLang="zh-CN" dirty="0">
                  <a:solidFill>
                    <a:schemeClr val="tx1"/>
                  </a:solidFill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+mn-lt"/>
                  </a:rPr>
                  <a:t>12</a:t>
                </a:r>
                <a:endPara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84" name="Line 9"/>
              <p:cNvSpPr>
                <a:spLocks noChangeShapeType="1"/>
              </p:cNvSpPr>
              <p:nvPr/>
            </p:nvSpPr>
            <p:spPr bwMode="auto">
              <a:xfrm>
                <a:off x="20" y="17901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82" name="Line 25"/>
            <p:cNvSpPr>
              <a:spLocks noChangeShapeType="1"/>
            </p:cNvSpPr>
            <p:nvPr/>
          </p:nvSpPr>
          <p:spPr bwMode="auto">
            <a:xfrm>
              <a:off x="251520" y="5282945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grpSp>
        <p:nvGrpSpPr>
          <p:cNvPr id="31765" name="组合 85"/>
          <p:cNvGrpSpPr/>
          <p:nvPr/>
        </p:nvGrpSpPr>
        <p:grpSpPr bwMode="auto">
          <a:xfrm>
            <a:off x="9551988" y="4956175"/>
            <a:ext cx="647700" cy="1062038"/>
            <a:chOff x="251520" y="5010556"/>
            <a:chExt cx="830211" cy="1061841"/>
          </a:xfrm>
        </p:grpSpPr>
        <p:grpSp>
          <p:nvGrpSpPr>
            <p:cNvPr id="31802" name="Group 7"/>
            <p:cNvGrpSpPr/>
            <p:nvPr/>
          </p:nvGrpSpPr>
          <p:grpSpPr bwMode="auto">
            <a:xfrm>
              <a:off x="262898" y="5010556"/>
              <a:ext cx="818833" cy="1061841"/>
              <a:chOff x="0" y="613"/>
              <a:chExt cx="20000" cy="25862"/>
            </a:xfrm>
          </p:grpSpPr>
          <p:sp>
            <p:nvSpPr>
              <p:cNvPr id="31804" name="Rectangle 8"/>
              <p:cNvSpPr>
                <a:spLocks noChangeArrowheads="1"/>
              </p:cNvSpPr>
              <p:nvPr/>
            </p:nvSpPr>
            <p:spPr bwMode="auto">
              <a:xfrm>
                <a:off x="20" y="613"/>
                <a:ext cx="19980" cy="258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/>
                  <a:t>……6</a:t>
                </a:r>
                <a:endParaRPr lang="en-US" altLang="zh-CN" sz="2000"/>
              </a:p>
            </p:txBody>
          </p:sp>
          <p:sp>
            <p:nvSpPr>
              <p:cNvPr id="90" name="Line 9"/>
              <p:cNvSpPr>
                <a:spLocks noChangeShapeType="1"/>
              </p:cNvSpPr>
              <p:nvPr/>
            </p:nvSpPr>
            <p:spPr bwMode="auto">
              <a:xfrm>
                <a:off x="20" y="17893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88" name="Line 25"/>
            <p:cNvSpPr>
              <a:spLocks noChangeShapeType="1"/>
            </p:cNvSpPr>
            <p:nvPr/>
          </p:nvSpPr>
          <p:spPr bwMode="auto">
            <a:xfrm>
              <a:off x="251520" y="5358155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91" name="Freeform 25"/>
          <p:cNvSpPr/>
          <p:nvPr/>
        </p:nvSpPr>
        <p:spPr bwMode="auto">
          <a:xfrm flipH="1">
            <a:off x="3184525" y="5181600"/>
            <a:ext cx="668338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92" name="Rectangle 6"/>
          <p:cNvSpPr>
            <a:spLocks noChangeArrowheads="1"/>
          </p:cNvSpPr>
          <p:nvPr/>
        </p:nvSpPr>
        <p:spPr bwMode="auto">
          <a:xfrm>
            <a:off x="7616825" y="3852863"/>
            <a:ext cx="639763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93" name="Text Box 29"/>
          <p:cNvSpPr txBox="1">
            <a:spLocks noChangeArrowheads="1"/>
          </p:cNvSpPr>
          <p:nvPr/>
        </p:nvSpPr>
        <p:spPr bwMode="auto">
          <a:xfrm>
            <a:off x="7608888" y="3457575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p0:</a:t>
            </a:r>
            <a:endParaRPr lang="en-US" altLang="zh-CN" dirty="0">
              <a:latin typeface="+mn-lt"/>
            </a:endParaRPr>
          </a:p>
        </p:txBody>
      </p:sp>
      <p:cxnSp>
        <p:nvCxnSpPr>
          <p:cNvPr id="31769" name="直接箭头连接符 93"/>
          <p:cNvCxnSpPr>
            <a:cxnSpLocks noChangeShapeType="1"/>
            <a:endCxn id="77" idx="0"/>
          </p:cNvCxnSpPr>
          <p:nvPr/>
        </p:nvCxnSpPr>
        <p:spPr bwMode="auto">
          <a:xfrm>
            <a:off x="7935913" y="3990975"/>
            <a:ext cx="0" cy="9810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" name="Rectangle 6"/>
          <p:cNvSpPr>
            <a:spLocks noChangeArrowheads="1"/>
          </p:cNvSpPr>
          <p:nvPr/>
        </p:nvSpPr>
        <p:spPr bwMode="auto">
          <a:xfrm>
            <a:off x="8543925" y="3852863"/>
            <a:ext cx="647700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96" name="Text Box 29"/>
          <p:cNvSpPr txBox="1">
            <a:spLocks noChangeArrowheads="1"/>
          </p:cNvSpPr>
          <p:nvPr/>
        </p:nvSpPr>
        <p:spPr bwMode="auto">
          <a:xfrm>
            <a:off x="8535988" y="3457575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p:</a:t>
            </a:r>
            <a:endParaRPr lang="en-US" altLang="zh-CN" dirty="0">
              <a:latin typeface="+mn-lt"/>
            </a:endParaRPr>
          </a:p>
        </p:txBody>
      </p:sp>
      <p:sp>
        <p:nvSpPr>
          <p:cNvPr id="100" name="Rectangle 6"/>
          <p:cNvSpPr>
            <a:spLocks noChangeArrowheads="1"/>
          </p:cNvSpPr>
          <p:nvPr/>
        </p:nvSpPr>
        <p:spPr bwMode="auto">
          <a:xfrm>
            <a:off x="4676775" y="3906838"/>
            <a:ext cx="627063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01" name="Text Box 29"/>
          <p:cNvSpPr txBox="1">
            <a:spLocks noChangeArrowheads="1"/>
          </p:cNvSpPr>
          <p:nvPr/>
        </p:nvSpPr>
        <p:spPr bwMode="auto">
          <a:xfrm>
            <a:off x="4656138" y="3511550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r0:</a:t>
            </a:r>
            <a:endParaRPr lang="en-US" altLang="zh-CN" dirty="0">
              <a:latin typeface="+mn-lt"/>
            </a:endParaRPr>
          </a:p>
        </p:txBody>
      </p:sp>
      <p:cxnSp>
        <p:nvCxnSpPr>
          <p:cNvPr id="31774" name="直接箭头连接符 101"/>
          <p:cNvCxnSpPr>
            <a:cxnSpLocks noChangeShapeType="1"/>
            <a:endCxn id="31824" idx="0"/>
          </p:cNvCxnSpPr>
          <p:nvPr/>
        </p:nvCxnSpPr>
        <p:spPr bwMode="auto">
          <a:xfrm flipH="1">
            <a:off x="4987290" y="4046220"/>
            <a:ext cx="6350" cy="9255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" name="Rectangle 6"/>
          <p:cNvSpPr>
            <a:spLocks noChangeArrowheads="1"/>
          </p:cNvSpPr>
          <p:nvPr/>
        </p:nvSpPr>
        <p:spPr bwMode="auto">
          <a:xfrm>
            <a:off x="5591175" y="3906838"/>
            <a:ext cx="649288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04" name="Text Box 29"/>
          <p:cNvSpPr txBox="1">
            <a:spLocks noChangeArrowheads="1"/>
          </p:cNvSpPr>
          <p:nvPr/>
        </p:nvSpPr>
        <p:spPr bwMode="auto">
          <a:xfrm>
            <a:off x="5583238" y="3511550"/>
            <a:ext cx="649287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r:</a:t>
            </a:r>
            <a:endParaRPr lang="en-US" altLang="zh-CN" dirty="0">
              <a:latin typeface="+mn-lt"/>
            </a:endParaRPr>
          </a:p>
        </p:txBody>
      </p:sp>
      <p:cxnSp>
        <p:nvCxnSpPr>
          <p:cNvPr id="31777" name="直接箭头连接符 104"/>
          <p:cNvCxnSpPr>
            <a:cxnSpLocks noChangeShapeType="1"/>
          </p:cNvCxnSpPr>
          <p:nvPr/>
        </p:nvCxnSpPr>
        <p:spPr bwMode="auto">
          <a:xfrm>
            <a:off x="5919788" y="4048125"/>
            <a:ext cx="0" cy="908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7" name="Rectangle 6"/>
          <p:cNvSpPr>
            <a:spLocks noChangeArrowheads="1"/>
          </p:cNvSpPr>
          <p:nvPr/>
        </p:nvSpPr>
        <p:spPr bwMode="auto">
          <a:xfrm>
            <a:off x="9526588" y="3836988"/>
            <a:ext cx="649287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28" name="Text Box 29"/>
          <p:cNvSpPr txBox="1">
            <a:spLocks noChangeArrowheads="1"/>
          </p:cNvSpPr>
          <p:nvPr/>
        </p:nvSpPr>
        <p:spPr bwMode="auto">
          <a:xfrm>
            <a:off x="9518650" y="3441700"/>
            <a:ext cx="649288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solidFill>
                  <a:srgbClr val="F52EFC"/>
                </a:solidFill>
                <a:latin typeface="+mn-lt"/>
              </a:rPr>
              <a:t>q:</a:t>
            </a:r>
            <a:endParaRPr lang="en-US" altLang="zh-CN" dirty="0">
              <a:solidFill>
                <a:srgbClr val="F52EFC"/>
              </a:solidFill>
              <a:latin typeface="+mn-lt"/>
            </a:endParaRPr>
          </a:p>
        </p:txBody>
      </p:sp>
      <p:cxnSp>
        <p:nvCxnSpPr>
          <p:cNvPr id="31780" name="直接箭头连接符 128"/>
          <p:cNvCxnSpPr>
            <a:cxnSpLocks noChangeShapeType="1"/>
            <a:endCxn id="83" idx="0"/>
          </p:cNvCxnSpPr>
          <p:nvPr/>
        </p:nvCxnSpPr>
        <p:spPr bwMode="auto">
          <a:xfrm flipH="1">
            <a:off x="8872538" y="3978275"/>
            <a:ext cx="982662" cy="977900"/>
          </a:xfrm>
          <a:prstGeom prst="straightConnector1">
            <a:avLst/>
          </a:prstGeom>
          <a:noFill/>
          <a:ln w="28575">
            <a:solidFill>
              <a:srgbClr val="F52EFC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1781" name="组合 26"/>
          <p:cNvGrpSpPr/>
          <p:nvPr/>
        </p:nvGrpSpPr>
        <p:grpSpPr bwMode="auto">
          <a:xfrm>
            <a:off x="7923213" y="5191125"/>
            <a:ext cx="1627187" cy="1052513"/>
            <a:chOff x="6398419" y="5295352"/>
            <a:chExt cx="1628468" cy="947891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6412717" y="5831490"/>
              <a:ext cx="0" cy="41032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V="1">
              <a:off x="6398419" y="6234665"/>
              <a:ext cx="1499780" cy="142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>
              <a:off x="7883900" y="5295352"/>
              <a:ext cx="0" cy="9478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7871190" y="5295352"/>
              <a:ext cx="15569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782" name="Freeform 83"/>
          <p:cNvSpPr/>
          <p:nvPr/>
        </p:nvSpPr>
        <p:spPr bwMode="auto">
          <a:xfrm>
            <a:off x="8112125" y="3990975"/>
            <a:ext cx="803275" cy="965200"/>
          </a:xfrm>
          <a:custGeom>
            <a:avLst/>
            <a:gdLst>
              <a:gd name="T0" fmla="*/ 2147483646 w 416"/>
              <a:gd name="T1" fmla="*/ 0 h 453"/>
              <a:gd name="T2" fmla="*/ 2147483646 w 416"/>
              <a:gd name="T3" fmla="*/ 2147483646 h 453"/>
              <a:gd name="T4" fmla="*/ 2147483646 w 416"/>
              <a:gd name="T5" fmla="*/ 2147483646 h 453"/>
              <a:gd name="T6" fmla="*/ 2147483646 w 416"/>
              <a:gd name="T7" fmla="*/ 2147483646 h 453"/>
              <a:gd name="T8" fmla="*/ 0 60000 65536"/>
              <a:gd name="T9" fmla="*/ 0 60000 65536"/>
              <a:gd name="T10" fmla="*/ 0 60000 65536"/>
              <a:gd name="T11" fmla="*/ 0 60000 65536"/>
              <a:gd name="T12" fmla="*/ 0 w 416"/>
              <a:gd name="T13" fmla="*/ 0 h 453"/>
              <a:gd name="T14" fmla="*/ 416 w 416"/>
              <a:gd name="T15" fmla="*/ 453 h 4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16" h="453">
                <a:moveTo>
                  <a:pt x="416" y="0"/>
                </a:moveTo>
                <a:cubicBezTo>
                  <a:pt x="401" y="91"/>
                  <a:pt x="386" y="182"/>
                  <a:pt x="326" y="227"/>
                </a:cubicBezTo>
                <a:cubicBezTo>
                  <a:pt x="266" y="272"/>
                  <a:pt x="106" y="234"/>
                  <a:pt x="53" y="272"/>
                </a:cubicBezTo>
                <a:cubicBezTo>
                  <a:pt x="0" y="310"/>
                  <a:pt x="4" y="381"/>
                  <a:pt x="8" y="453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5" name="组合 28"/>
          <p:cNvGrpSpPr/>
          <p:nvPr/>
        </p:nvGrpSpPr>
        <p:grpSpPr bwMode="auto">
          <a:xfrm>
            <a:off x="6153150" y="3470275"/>
            <a:ext cx="3122613" cy="2359025"/>
            <a:chOff x="4629180" y="3469492"/>
            <a:chExt cx="3121789" cy="235980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7341502" y="5818184"/>
              <a:ext cx="403119" cy="0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7738272" y="3469492"/>
              <a:ext cx="0" cy="2359808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4862481" y="3474257"/>
              <a:ext cx="2888488" cy="3176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4876765" y="3472668"/>
              <a:ext cx="3174" cy="1175140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4629180" y="4633516"/>
              <a:ext cx="250759" cy="0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>
              <a:off x="4643464" y="4630340"/>
              <a:ext cx="0" cy="325545"/>
            </a:xfrm>
            <a:prstGeom prst="straightConnector1">
              <a:avLst/>
            </a:prstGeom>
            <a:ln w="28575">
              <a:solidFill>
                <a:srgbClr val="F52EF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84"/>
          <p:cNvGrpSpPr/>
          <p:nvPr/>
        </p:nvGrpSpPr>
        <p:grpSpPr bwMode="auto">
          <a:xfrm>
            <a:off x="5014913" y="5222875"/>
            <a:ext cx="3538537" cy="958850"/>
            <a:chOff x="6408615" y="5286876"/>
            <a:chExt cx="1618272" cy="906741"/>
          </a:xfrm>
        </p:grpSpPr>
        <p:cxnSp>
          <p:nvCxnSpPr>
            <p:cNvPr id="97" name="直接连接符 96"/>
            <p:cNvCxnSpPr/>
            <p:nvPr/>
          </p:nvCxnSpPr>
          <p:spPr>
            <a:xfrm flipH="1">
              <a:off x="6408615" y="5864849"/>
              <a:ext cx="0" cy="328768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V="1">
              <a:off x="6412971" y="6178605"/>
              <a:ext cx="1541315" cy="1502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7948478" y="5286876"/>
              <a:ext cx="0" cy="893230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/>
            <p:cNvCxnSpPr/>
            <p:nvPr/>
          </p:nvCxnSpPr>
          <p:spPr>
            <a:xfrm>
              <a:off x="7949204" y="5295883"/>
              <a:ext cx="77683" cy="0"/>
            </a:xfrm>
            <a:prstGeom prst="straightConnector1">
              <a:avLst/>
            </a:prstGeom>
            <a:ln w="28575">
              <a:solidFill>
                <a:srgbClr val="F52EF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Freeform 25"/>
          <p:cNvSpPr/>
          <p:nvPr/>
        </p:nvSpPr>
        <p:spPr bwMode="auto">
          <a:xfrm flipH="1">
            <a:off x="8883650" y="5151438"/>
            <a:ext cx="668338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accent2">
                <a:lumMod val="60000"/>
                <a:lumOff val="40000"/>
              </a:schemeClr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102" name="Freeform 25"/>
          <p:cNvSpPr/>
          <p:nvPr/>
        </p:nvSpPr>
        <p:spPr bwMode="auto">
          <a:xfrm flipH="1">
            <a:off x="5010150" y="5154613"/>
            <a:ext cx="669925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accent2">
                <a:lumMod val="60000"/>
                <a:lumOff val="40000"/>
              </a:schemeClr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0D1D31C-F56D-46E2-9725-17994C199F35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524000" y="620713"/>
            <a:ext cx="9324975" cy="619283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005" indent="-2730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09728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 err="1">
                <a:solidFill>
                  <a:srgbClr val="FFFF00"/>
                </a:solidFill>
              </a:rPr>
              <a:t>pt</a:t>
            </a:r>
            <a:r>
              <a:rPr lang="en-US" altLang="zh-CN" sz="2800" dirty="0"/>
              <a:t>  </a:t>
            </a:r>
            <a:r>
              <a:rPr lang="en-US" altLang="zh-CN" sz="2800" dirty="0">
                <a:solidFill>
                  <a:srgbClr val="F52EFC"/>
                </a:solidFill>
              </a:rPr>
              <a:t>sort(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 err="1">
                <a:solidFill>
                  <a:srgbClr val="FFFF00"/>
                </a:solidFill>
              </a:rPr>
              <a:t>pt</a:t>
            </a:r>
            <a:r>
              <a:rPr lang="en-US" altLang="zh-CN" sz="2800" dirty="0"/>
              <a:t>  base </a:t>
            </a:r>
            <a:r>
              <a:rPr lang="en-US" altLang="zh-CN" sz="2800" dirty="0">
                <a:solidFill>
                  <a:srgbClr val="F52EFC"/>
                </a:solidFill>
              </a:rPr>
              <a:t>) {</a:t>
            </a: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链表排序，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base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为链首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FFF00"/>
                </a:solidFill>
              </a:rPr>
              <a:t>       </a:t>
            </a:r>
            <a:r>
              <a:rPr lang="en-US" altLang="zh-CN" sz="2800" dirty="0" err="1">
                <a:solidFill>
                  <a:srgbClr val="FFFF00"/>
                </a:solidFill>
              </a:rPr>
              <a:t>pt</a:t>
            </a:r>
            <a:r>
              <a:rPr lang="en-US" altLang="zh-CN" sz="2800" dirty="0">
                <a:solidFill>
                  <a:srgbClr val="FFFF00"/>
                </a:solidFill>
              </a:rPr>
              <a:t>  </a:t>
            </a:r>
            <a:r>
              <a:rPr lang="en-US" altLang="zh-CN" sz="2800" dirty="0"/>
              <a:t>p , p0 , r , r0 , q ;</a:t>
            </a: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p0=NULL ;</a:t>
            </a: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52EFC"/>
                </a:solidFill>
              </a:rPr>
              <a:t>       p=base ;</a:t>
            </a:r>
            <a:endParaRPr lang="en-US" altLang="zh-CN" sz="2800" dirty="0">
              <a:solidFill>
                <a:srgbClr val="F52EFC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while(p!=NULL) {	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</a:rPr>
              <a:t>//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逐项处理，把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</a:rPr>
              <a:t>p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加入到子序列中，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                                     	            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</a:rPr>
              <a:t>//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并保持“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</a:rPr>
              <a:t>base--p”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递增 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 p0=p;		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 p=p-&gt;next ;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//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前进一项</a:t>
            </a: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</a:t>
            </a: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   }</a:t>
            </a: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      </a:t>
            </a:r>
            <a:r>
              <a:rPr lang="en-US" altLang="zh-CN" sz="2800" dirty="0">
                <a:solidFill>
                  <a:srgbClr val="F52EFC"/>
                </a:solidFill>
              </a:rPr>
              <a:t>return base ;</a:t>
            </a:r>
            <a:endParaRPr lang="en-US" altLang="zh-CN" sz="2800" dirty="0">
              <a:solidFill>
                <a:srgbClr val="F52EFC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52EFC"/>
                </a:solidFill>
              </a:rPr>
              <a:t>}</a:t>
            </a:r>
            <a:endParaRPr lang="en-US" altLang="zh-CN" sz="2800" dirty="0">
              <a:solidFill>
                <a:srgbClr val="F52EFC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43200" y="3444875"/>
            <a:ext cx="2592388" cy="522288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800" dirty="0">
                <a:solidFill>
                  <a:srgbClr val="FFFF00"/>
                </a:solidFill>
                <a:latin typeface="+mn-lt"/>
                <a:ea typeface="+mn-ea"/>
              </a:rPr>
              <a:t>处理 </a:t>
            </a:r>
            <a:r>
              <a:rPr lang="en-US" altLang="zh-CN" sz="2800" dirty="0">
                <a:solidFill>
                  <a:srgbClr val="FFFF00"/>
                </a:solidFill>
                <a:latin typeface="+mn-lt"/>
                <a:ea typeface="+mn-ea"/>
              </a:rPr>
              <a:t>p </a:t>
            </a:r>
            <a:r>
              <a:rPr lang="zh-CN" altLang="en-US" sz="2800" dirty="0">
                <a:solidFill>
                  <a:srgbClr val="FFFF00"/>
                </a:solidFill>
                <a:latin typeface="+mn-lt"/>
                <a:ea typeface="+mn-ea"/>
              </a:rPr>
              <a:t>所指项</a:t>
            </a:r>
            <a:endParaRPr lang="zh-CN" altLang="en-US" sz="2800" dirty="0">
              <a:latin typeface="+mn-lt"/>
              <a:ea typeface="+mn-ea"/>
            </a:endParaRPr>
          </a:p>
        </p:txBody>
      </p:sp>
      <p:sp>
        <p:nvSpPr>
          <p:cNvPr id="32774" name="矩形 1"/>
          <p:cNvSpPr>
            <a:spLocks noChangeArrowheads="1"/>
          </p:cNvSpPr>
          <p:nvPr/>
        </p:nvSpPr>
        <p:spPr bwMode="auto">
          <a:xfrm>
            <a:off x="2208213" y="1412875"/>
            <a:ext cx="2016125" cy="863600"/>
          </a:xfrm>
          <a:prstGeom prst="rect">
            <a:avLst/>
          </a:prstGeom>
          <a:noFill/>
          <a:ln w="34925" algn="ctr">
            <a:solidFill>
              <a:srgbClr val="F52EFC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743200" y="4300538"/>
            <a:ext cx="2016125" cy="830262"/>
          </a:xfrm>
          <a:prstGeom prst="rect">
            <a:avLst/>
          </a:prstGeom>
          <a:noFill/>
          <a:ln w="34925" algn="ctr">
            <a:solidFill>
              <a:srgbClr val="F52EFC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90800" y="2971800"/>
            <a:ext cx="4648200" cy="220980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对话气泡: 椭圆形 2"/>
          <p:cNvSpPr>
            <a:spLocks noChangeArrowheads="1"/>
          </p:cNvSpPr>
          <p:nvPr/>
        </p:nvSpPr>
        <p:spPr bwMode="auto">
          <a:xfrm>
            <a:off x="7696200" y="2971800"/>
            <a:ext cx="1655763" cy="719138"/>
          </a:xfrm>
          <a:prstGeom prst="wedgeEllipseCallout">
            <a:avLst>
              <a:gd name="adj1" fmla="val -72606"/>
              <a:gd name="adj2" fmla="val 5931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见下页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298D5AC-3EB7-40EB-A8ED-7DE129EFD2C5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476376" y="14288"/>
            <a:ext cx="8867775" cy="6691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005" indent="-2730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09728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while ( p!=NULL ) {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逐项处理，把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p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加入子序列，并保持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</a:rPr>
              <a:t>base~p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递增 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 	</a:t>
            </a:r>
            <a:r>
              <a:rPr lang="en-US" altLang="zh-CN" sz="2400" dirty="0">
                <a:solidFill>
                  <a:schemeClr val="tx1"/>
                </a:solidFill>
              </a:rPr>
              <a:t>r0=</a:t>
            </a:r>
            <a:r>
              <a:rPr lang="en-US" altLang="zh-CN" sz="2400" dirty="0" err="1">
                <a:solidFill>
                  <a:schemeClr val="tx1"/>
                </a:solidFill>
              </a:rPr>
              <a:t>NULL;r</a:t>
            </a:r>
            <a:r>
              <a:rPr lang="en-US" altLang="zh-CN" sz="2400" dirty="0"/>
              <a:t>=base ;            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 	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while (</a:t>
            </a:r>
            <a:r>
              <a:rPr lang="en-US" altLang="zh-CN" sz="2400" dirty="0"/>
              <a:t> r-&gt;key&lt;p-&gt;key 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 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寻找位置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r0~r 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	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	{</a:t>
            </a:r>
            <a:r>
              <a:rPr lang="en-US" altLang="zh-CN" sz="2400" dirty="0"/>
              <a:t>r0=r; r=r-&gt;next;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  <a:endParaRPr lang="en-US" altLang="zh-C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     	</a:t>
            </a:r>
            <a:r>
              <a:rPr lang="en-US" altLang="zh-CN" sz="2400" dirty="0">
                <a:solidFill>
                  <a:srgbClr val="F52EFC"/>
                </a:solidFill>
              </a:rPr>
              <a:t>if (</a:t>
            </a:r>
            <a:r>
              <a:rPr lang="en-US" altLang="zh-CN" sz="2400" dirty="0"/>
              <a:t>r!=p</a:t>
            </a:r>
            <a:r>
              <a:rPr lang="en-US" altLang="zh-CN" sz="2400" dirty="0">
                <a:solidFill>
                  <a:srgbClr val="F52EFC"/>
                </a:solidFill>
              </a:rPr>
              <a:t>){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//p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插入到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r0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r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之间 ；若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r==p ,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则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p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已在链尾，则不用插入 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	</a:t>
            </a:r>
            <a:r>
              <a:rPr lang="en-US" altLang="zh-CN" sz="2400" dirty="0"/>
              <a:t> 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400" dirty="0"/>
              <a:t>      	q=p ;   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把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p</a:t>
            </a:r>
            <a:r>
              <a:rPr lang="zh-CN" sz="1600" dirty="0">
                <a:solidFill>
                  <a:schemeClr val="tx1">
                    <a:lumMod val="50000"/>
                  </a:schemeClr>
                </a:solidFill>
              </a:rPr>
              <a:t>摘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出来，令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q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指向它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      		p0-&gt;next = p-&gt;next ;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      		p=p0 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回退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      		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(</a:t>
            </a:r>
            <a:r>
              <a:rPr lang="en-US" altLang="zh-CN" sz="2400" dirty="0"/>
              <a:t>r==base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插在链首</a:t>
            </a:r>
            <a:endParaRPr lang="en-US" altLang="zh-C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		 </a:t>
            </a:r>
            <a:r>
              <a:rPr lang="en-US" altLang="zh-CN" sz="2400" dirty="0">
                <a:solidFill>
                  <a:srgbClr val="FF0000"/>
                </a:solidFill>
              </a:rPr>
              <a:t>       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   </a:t>
            </a:r>
            <a:r>
              <a:rPr lang="en-US" altLang="zh-CN" sz="2400" dirty="0"/>
              <a:t>q-&gt;next=base;    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			base=q ; 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		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  <a:endParaRPr lang="en-US" altLang="zh-C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		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插在链中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r0~r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		      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    </a:t>
            </a:r>
            <a:r>
              <a:rPr lang="en-US" altLang="zh-CN" sz="2400" dirty="0"/>
              <a:t>q-&gt;next=r;     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			r0-&gt;next=q;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1800" dirty="0"/>
              <a:t>         		</a:t>
            </a:r>
            <a:r>
              <a:rPr lang="en-US" altLang="zh-CN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  <a:endParaRPr lang="en-US" altLang="zh-CN" sz="1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1800" dirty="0"/>
              <a:t>      	</a:t>
            </a:r>
            <a:r>
              <a:rPr lang="en-US" altLang="zh-CN" sz="1800" dirty="0">
                <a:solidFill>
                  <a:srgbClr val="F52EFC"/>
                </a:solidFill>
              </a:rPr>
              <a:t>}//end if</a:t>
            </a:r>
            <a:endParaRPr lang="en-US" altLang="zh-CN" sz="1800" dirty="0">
              <a:solidFill>
                <a:srgbClr val="F52EFC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</a:rPr>
              <a:t>      </a:t>
            </a:r>
            <a:r>
              <a:rPr lang="en-US" altLang="zh-CN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p0=</a:t>
            </a:r>
            <a:r>
              <a:rPr lang="en-US" altLang="zh-CN" sz="1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p;p</a:t>
            </a:r>
            <a:r>
              <a:rPr lang="en-US" altLang="zh-CN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=p-&gt;next;</a:t>
            </a:r>
            <a:endParaRPr lang="en-US" altLang="zh-CN" sz="1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1800" dirty="0"/>
              <a:t>} //end while</a:t>
            </a:r>
            <a:endParaRPr lang="en-US" altLang="zh-CN" sz="1800" dirty="0"/>
          </a:p>
        </p:txBody>
      </p:sp>
      <p:sp>
        <p:nvSpPr>
          <p:cNvPr id="8" name="矩形 7"/>
          <p:cNvSpPr/>
          <p:nvPr/>
        </p:nvSpPr>
        <p:spPr>
          <a:xfrm>
            <a:off x="1703705" y="476250"/>
            <a:ext cx="8211820" cy="5624195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标注 8"/>
          <p:cNvSpPr/>
          <p:nvPr/>
        </p:nvSpPr>
        <p:spPr>
          <a:xfrm>
            <a:off x="10039350" y="2259013"/>
            <a:ext cx="503238" cy="3009900"/>
          </a:xfrm>
          <a:prstGeom prst="wedgeRectCallout">
            <a:avLst>
              <a:gd name="adj1" fmla="val -97379"/>
              <a:gd name="adj2" fmla="val -2299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rgbClr val="FFFF00"/>
                </a:solidFill>
              </a:rPr>
              <a:t>处理 </a:t>
            </a:r>
            <a:r>
              <a:rPr lang="en-US" altLang="zh-CN" dirty="0">
                <a:solidFill>
                  <a:srgbClr val="FFFF00"/>
                </a:solidFill>
              </a:rPr>
              <a:t>p </a:t>
            </a:r>
            <a:r>
              <a:rPr lang="zh-CN" altLang="en-US" dirty="0">
                <a:solidFill>
                  <a:srgbClr val="FFFF00"/>
                </a:solidFill>
              </a:rPr>
              <a:t>所指项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33798" name="矩形 1"/>
          <p:cNvSpPr>
            <a:spLocks noChangeArrowheads="1"/>
          </p:cNvSpPr>
          <p:nvPr/>
        </p:nvSpPr>
        <p:spPr bwMode="auto">
          <a:xfrm>
            <a:off x="6588125" y="6381750"/>
            <a:ext cx="33131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【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例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1a】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链表操作实例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-75565"/>
            <a:ext cx="7736840" cy="480250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005" indent="-2730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09728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3100" dirty="0"/>
              <a:t>while ( p!=NULL ) { </a:t>
            </a:r>
            <a:endParaRPr lang="en-US" altLang="zh-CN" sz="31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3100" dirty="0"/>
              <a:t>     	</a:t>
            </a:r>
            <a:r>
              <a:rPr lang="en-US" altLang="zh-CN" sz="3100" dirty="0">
                <a:solidFill>
                  <a:schemeClr val="tx1"/>
                </a:solidFill>
              </a:rPr>
              <a:t>r0=</a:t>
            </a:r>
            <a:r>
              <a:rPr lang="en-US" altLang="zh-CN" sz="3100" dirty="0" err="1">
                <a:solidFill>
                  <a:schemeClr val="tx1"/>
                </a:solidFill>
              </a:rPr>
              <a:t>NULL;r</a:t>
            </a:r>
            <a:r>
              <a:rPr lang="en-US" altLang="zh-CN" sz="3100" dirty="0"/>
              <a:t>=base ;            </a:t>
            </a:r>
            <a:endParaRPr lang="en-US" altLang="zh-CN" sz="31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3100" dirty="0"/>
              <a:t>     	</a:t>
            </a:r>
            <a:r>
              <a:rPr lang="en-US" altLang="zh-CN" sz="3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while (</a:t>
            </a:r>
            <a:r>
              <a:rPr lang="en-US" altLang="zh-CN" sz="3100" dirty="0"/>
              <a:t> r-&gt;key &lt; p-&gt;key</a:t>
            </a:r>
            <a:r>
              <a:rPr lang="en-US" altLang="zh-CN" sz="3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r>
              <a:rPr lang="en-US" altLang="zh-CN" sz="31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寻找位置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r0~r </a:t>
            </a:r>
            <a:endParaRPr lang="en-US" altLang="zh-CN" sz="18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3100" dirty="0"/>
              <a:t>    	</a:t>
            </a:r>
            <a:r>
              <a:rPr lang="en-US" altLang="zh-CN" sz="3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  <a:r>
              <a:rPr lang="en-US" altLang="zh-CN" sz="3100" dirty="0"/>
              <a:t>r0=r; r=r-&gt;next;</a:t>
            </a:r>
            <a:r>
              <a:rPr lang="en-US" altLang="zh-CN" sz="3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  <a:endParaRPr lang="en-US" altLang="zh-CN" sz="31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3100" dirty="0">
                <a:solidFill>
                  <a:srgbClr val="FF0000"/>
                </a:solidFill>
              </a:rPr>
              <a:t>     	</a:t>
            </a:r>
            <a:r>
              <a:rPr lang="en-US" altLang="zh-CN" sz="3100" dirty="0">
                <a:solidFill>
                  <a:srgbClr val="F52EFC"/>
                </a:solidFill>
              </a:rPr>
              <a:t>if (</a:t>
            </a:r>
            <a:r>
              <a:rPr lang="en-US" altLang="zh-CN" sz="3100" dirty="0"/>
              <a:t>r!=p</a:t>
            </a:r>
            <a:r>
              <a:rPr lang="en-US" altLang="zh-CN" sz="3100" dirty="0">
                <a:solidFill>
                  <a:srgbClr val="F52EFC"/>
                </a:solidFill>
              </a:rPr>
              <a:t>){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endParaRPr lang="en-US" altLang="zh-CN" sz="31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endParaRPr lang="en-US" altLang="zh-CN" sz="31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3100" dirty="0"/>
              <a:t>      	</a:t>
            </a:r>
            <a:r>
              <a:rPr lang="en-US" altLang="zh-CN" sz="3100" dirty="0">
                <a:solidFill>
                  <a:srgbClr val="F52EFC"/>
                </a:solidFill>
              </a:rPr>
              <a:t>}</a:t>
            </a: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</a:rPr>
              <a:t>//end if</a:t>
            </a:r>
            <a:endParaRPr lang="en-US" altLang="zh-CN" sz="2000" dirty="0">
              <a:solidFill>
                <a:schemeClr val="tx1">
                  <a:lumMod val="65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3100" dirty="0">
                <a:solidFill>
                  <a:srgbClr val="FF0000"/>
                </a:solidFill>
              </a:rPr>
              <a:t>       </a:t>
            </a:r>
            <a:r>
              <a:rPr lang="en-US" altLang="zh-CN" sz="3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p0=</a:t>
            </a:r>
            <a:r>
              <a:rPr lang="en-US" altLang="zh-CN" sz="3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p;p</a:t>
            </a:r>
            <a:r>
              <a:rPr lang="en-US" altLang="zh-CN" sz="3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=p-&gt;next;</a:t>
            </a:r>
            <a:endParaRPr lang="en-US" altLang="zh-CN" sz="31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3100" dirty="0"/>
              <a:t>} </a:t>
            </a:r>
            <a:endParaRPr lang="en-US" altLang="zh-CN" sz="2000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47800" y="2515235"/>
            <a:ext cx="5300345" cy="521970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800" dirty="0">
                <a:solidFill>
                  <a:srgbClr val="FFFF00"/>
                </a:solidFill>
                <a:latin typeface="+mn-lt"/>
                <a:ea typeface="+mn-ea"/>
              </a:rPr>
              <a:t>将 </a:t>
            </a:r>
            <a:r>
              <a:rPr lang="en-US" altLang="zh-CN" sz="2800" dirty="0">
                <a:solidFill>
                  <a:srgbClr val="FFFF00"/>
                </a:solidFill>
                <a:latin typeface="+mn-lt"/>
                <a:ea typeface="+mn-ea"/>
              </a:rPr>
              <a:t>p </a:t>
            </a:r>
            <a:r>
              <a:rPr lang="zh-CN" altLang="en-US" sz="2800" dirty="0">
                <a:solidFill>
                  <a:srgbClr val="FFFF00"/>
                </a:solidFill>
                <a:latin typeface="+mn-lt"/>
                <a:ea typeface="+mn-ea"/>
              </a:rPr>
              <a:t>所指项插入到</a:t>
            </a:r>
            <a:r>
              <a:rPr lang="en-US" altLang="zh-CN" sz="2800" dirty="0">
                <a:solidFill>
                  <a:srgbClr val="FFFF00"/>
                </a:solidFill>
                <a:latin typeface="+mn-lt"/>
                <a:ea typeface="+mn-ea"/>
              </a:rPr>
              <a:t>r0 </a:t>
            </a:r>
            <a:r>
              <a:rPr lang="zh-CN" altLang="en-US" sz="2800" dirty="0">
                <a:solidFill>
                  <a:srgbClr val="FFFF00"/>
                </a:solidFill>
                <a:latin typeface="+mn-lt"/>
                <a:ea typeface="+mn-ea"/>
              </a:rPr>
              <a:t>和</a:t>
            </a:r>
            <a:r>
              <a:rPr lang="en-US" altLang="zh-CN" sz="2800" dirty="0">
                <a:solidFill>
                  <a:srgbClr val="FFFF00"/>
                </a:solidFill>
                <a:latin typeface="+mn-lt"/>
                <a:ea typeface="+mn-ea"/>
              </a:rPr>
              <a:t>r</a:t>
            </a:r>
            <a:r>
              <a:rPr lang="zh-CN" altLang="en-US" sz="2800" dirty="0">
                <a:solidFill>
                  <a:srgbClr val="FFFF00"/>
                </a:solidFill>
                <a:latin typeface="+mn-lt"/>
                <a:ea typeface="+mn-ea"/>
              </a:rPr>
              <a:t>之间</a:t>
            </a:r>
            <a:endParaRPr lang="zh-CN" altLang="en-US" sz="280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3842385" y="5147945"/>
            <a:ext cx="7112000" cy="979469"/>
            <a:chOff x="4644958" y="1334708"/>
            <a:chExt cx="7442676" cy="1138426"/>
          </a:xfrm>
        </p:grpSpPr>
        <p:sp>
          <p:nvSpPr>
            <p:cNvPr id="14" name="Oval 5"/>
            <p:cNvSpPr>
              <a:spLocks noChangeArrowheads="1"/>
            </p:cNvSpPr>
            <p:nvPr/>
          </p:nvSpPr>
          <p:spPr bwMode="auto">
            <a:xfrm>
              <a:off x="5182803" y="18476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66306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9" name="Line 7"/>
            <p:cNvSpPr>
              <a:spLocks noChangeShapeType="1"/>
            </p:cNvSpPr>
            <p:nvPr/>
          </p:nvSpPr>
          <p:spPr bwMode="auto">
            <a:xfrm>
              <a:off x="59067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8"/>
            <p:cNvSpPr>
              <a:spLocks noChangeShapeType="1"/>
            </p:cNvSpPr>
            <p:nvPr/>
          </p:nvSpPr>
          <p:spPr bwMode="auto">
            <a:xfrm>
              <a:off x="73672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auto">
            <a:xfrm>
              <a:off x="80911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auto">
            <a:xfrm>
              <a:off x="95643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3" name="Line 12"/>
            <p:cNvSpPr>
              <a:spLocks noChangeShapeType="1"/>
            </p:cNvSpPr>
            <p:nvPr/>
          </p:nvSpPr>
          <p:spPr bwMode="auto">
            <a:xfrm>
              <a:off x="10300903" y="2142934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13"/>
            <p:cNvSpPr txBox="1">
              <a:spLocks noChangeArrowheads="1"/>
            </p:cNvSpPr>
            <p:nvPr/>
          </p:nvSpPr>
          <p:spPr bwMode="auto">
            <a:xfrm>
              <a:off x="5401878" y="1847561"/>
              <a:ext cx="925512" cy="60668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7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14"/>
            <p:cNvSpPr txBox="1">
              <a:spLocks noChangeArrowheads="1"/>
            </p:cNvSpPr>
            <p:nvPr/>
          </p:nvSpPr>
          <p:spPr bwMode="auto">
            <a:xfrm>
              <a:off x="6800465" y="1858676"/>
              <a:ext cx="700088" cy="60668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9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8283190" y="1846071"/>
              <a:ext cx="360680" cy="606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endPara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Text Box 16"/>
            <p:cNvSpPr txBox="1">
              <a:spLocks noChangeArrowheads="1"/>
            </p:cNvSpPr>
            <p:nvPr/>
          </p:nvSpPr>
          <p:spPr bwMode="auto">
            <a:xfrm>
              <a:off x="9659553" y="1822259"/>
              <a:ext cx="360680" cy="606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9</a:t>
              </a:r>
              <a:endParaRPr kumimoji="1" lang="en-US" altLang="zh-CN" sz="28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0" name="Group 17"/>
            <p:cNvGrpSpPr/>
            <p:nvPr/>
          </p:nvGrpSpPr>
          <p:grpSpPr bwMode="auto">
            <a:xfrm>
              <a:off x="11002578" y="1850834"/>
              <a:ext cx="962025" cy="622300"/>
              <a:chOff x="4104" y="936"/>
              <a:chExt cx="711" cy="392"/>
            </a:xfrm>
          </p:grpSpPr>
          <p:sp>
            <p:nvSpPr>
              <p:cNvPr id="51" name="Oval 18"/>
              <p:cNvSpPr>
                <a:spLocks noChangeArrowheads="1"/>
              </p:cNvSpPr>
              <p:nvPr/>
            </p:nvSpPr>
            <p:spPr bwMode="auto">
              <a:xfrm>
                <a:off x="4104" y="936"/>
                <a:ext cx="639" cy="344"/>
              </a:xfrm>
              <a:prstGeom prst="ellipse">
                <a:avLst/>
              </a:prstGeom>
              <a:solidFill>
                <a:srgbClr val="66FFFF"/>
              </a:solidFill>
              <a:ln w="28575">
                <a:solidFill>
                  <a:srgbClr val="0000CC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Text Box 19"/>
              <p:cNvSpPr txBox="1">
                <a:spLocks noChangeArrowheads="1"/>
              </p:cNvSpPr>
              <p:nvPr/>
            </p:nvSpPr>
            <p:spPr bwMode="auto">
              <a:xfrm>
                <a:off x="4240" y="946"/>
                <a:ext cx="575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800">
                    <a:solidFill>
                      <a:srgbClr val="F52EFC"/>
                    </a:solidFill>
                    <a:latin typeface="Times New Roman" panose="02020603050405020304" pitchFamily="18" charset="0"/>
                  </a:rPr>
                  <a:t>9</a:t>
                </a:r>
                <a:endParaRPr kumimoji="1" lang="en-US" altLang="zh-CN" sz="2800">
                  <a:solidFill>
                    <a:srgbClr val="F52EFC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3" name="文本框 3"/>
            <p:cNvSpPr txBox="1">
              <a:spLocks noChangeArrowheads="1"/>
            </p:cNvSpPr>
            <p:nvPr/>
          </p:nvSpPr>
          <p:spPr bwMode="auto">
            <a:xfrm>
              <a:off x="4644958" y="1360298"/>
              <a:ext cx="658812" cy="535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4" name="文本框 76"/>
            <p:cNvSpPr txBox="1">
              <a:spLocks noChangeArrowheads="1"/>
            </p:cNvSpPr>
            <p:nvPr/>
          </p:nvSpPr>
          <p:spPr bwMode="auto">
            <a:xfrm>
              <a:off x="5562295" y="1334708"/>
              <a:ext cx="658812" cy="606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Arial" panose="020B0604020202020204" pitchFamily="34" charset="0"/>
                </a:rPr>
                <a:t>r</a:t>
              </a:r>
              <a:endParaRPr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55" name="文本框 77"/>
            <p:cNvSpPr txBox="1">
              <a:spLocks noChangeArrowheads="1"/>
            </p:cNvSpPr>
            <p:nvPr/>
          </p:nvSpPr>
          <p:spPr bwMode="auto">
            <a:xfrm>
              <a:off x="11428822" y="1358395"/>
              <a:ext cx="658812" cy="535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" name="Line 10"/>
            <p:cNvSpPr>
              <a:spLocks noChangeShapeType="1"/>
            </p:cNvSpPr>
            <p:nvPr/>
          </p:nvSpPr>
          <p:spPr bwMode="auto">
            <a:xfrm>
              <a:off x="8827703" y="210800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7" name="直接箭头连接符 2"/>
            <p:cNvCxnSpPr>
              <a:cxnSpLocks noChangeShapeType="1"/>
            </p:cNvCxnSpPr>
            <p:nvPr/>
          </p:nvCxnSpPr>
          <p:spPr bwMode="auto">
            <a:xfrm>
              <a:off x="4644958" y="1412369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直接箭头连接符 58"/>
            <p:cNvCxnSpPr>
              <a:cxnSpLocks noChangeShapeType="1"/>
            </p:cNvCxnSpPr>
            <p:nvPr/>
          </p:nvCxnSpPr>
          <p:spPr bwMode="auto">
            <a:xfrm>
              <a:off x="5565173" y="1410586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直接箭头连接符 59"/>
            <p:cNvCxnSpPr>
              <a:cxnSpLocks noChangeShapeType="1"/>
            </p:cNvCxnSpPr>
            <p:nvPr/>
          </p:nvCxnSpPr>
          <p:spPr bwMode="auto">
            <a:xfrm>
              <a:off x="11352622" y="1397440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" name="矩形 5"/>
          <p:cNvSpPr/>
          <p:nvPr/>
        </p:nvSpPr>
        <p:spPr>
          <a:xfrm>
            <a:off x="609600" y="457835"/>
            <a:ext cx="6186170" cy="335280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矩形标注 1"/>
          <p:cNvSpPr/>
          <p:nvPr/>
        </p:nvSpPr>
        <p:spPr>
          <a:xfrm>
            <a:off x="6217920" y="152400"/>
            <a:ext cx="3497580" cy="1111885"/>
          </a:xfrm>
          <a:prstGeom prst="wedgeRectCallout">
            <a:avLst>
              <a:gd name="adj1" fmla="val -72458"/>
              <a:gd name="adj2" fmla="val 18360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【思考】对于图</a:t>
            </a:r>
            <a:r>
              <a:rPr lang="en-US" altLang="zh-CN" sz="3200" dirty="0">
                <a:latin typeface="Arial" panose="020B0604020202020204" pitchFamily="34" charset="0"/>
              </a:rPr>
              <a:t>2</a:t>
            </a:r>
            <a:r>
              <a:rPr lang="zh-CN" altLang="en-US" sz="3200" dirty="0">
                <a:latin typeface="Arial" panose="020B0604020202020204" pitchFamily="34" charset="0"/>
              </a:rPr>
              <a:t>，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sz="3200" dirty="0">
                <a:latin typeface="Arial" panose="020B0604020202020204" pitchFamily="34" charset="0"/>
              </a:rPr>
              <a:t>  r</a:t>
            </a:r>
            <a:r>
              <a:rPr lang="zh-CN" altLang="en-US" sz="3200" dirty="0">
                <a:latin typeface="Arial" panose="020B0604020202020204" pitchFamily="34" charset="0"/>
              </a:rPr>
              <a:t>会停在第几个</a:t>
            </a:r>
            <a:r>
              <a:rPr lang="en-US" altLang="zh-CN" sz="3200" dirty="0">
                <a:latin typeface="Arial" panose="020B0604020202020204" pitchFamily="34" charset="0"/>
              </a:rPr>
              <a:t>9</a:t>
            </a:r>
            <a:r>
              <a:rPr lang="zh-CN" altLang="en-US" sz="3200" dirty="0">
                <a:latin typeface="Arial" panose="020B0604020202020204" pitchFamily="34" charset="0"/>
              </a:rPr>
              <a:t>？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10" name="矩形标注 9"/>
          <p:cNvSpPr/>
          <p:nvPr/>
        </p:nvSpPr>
        <p:spPr>
          <a:xfrm>
            <a:off x="7029450" y="1410970"/>
            <a:ext cx="3949065" cy="1020445"/>
          </a:xfrm>
          <a:prstGeom prst="wedgeRectCallout">
            <a:avLst>
              <a:gd name="adj1" fmla="val -62140"/>
              <a:gd name="adj2" fmla="val 48082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【思考】是否执行了插入结点的操作？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9320" y="534035"/>
            <a:ext cx="4540250" cy="1383665"/>
          </a:xfrm>
          <a:prstGeom prst="rect">
            <a:avLst/>
          </a:prstGeom>
          <a:noFill/>
          <a:ln w="285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 bwMode="auto">
          <a:xfrm>
            <a:off x="4403725" y="4093845"/>
            <a:ext cx="6501820" cy="944454"/>
            <a:chOff x="5182803" y="1296601"/>
            <a:chExt cx="6838628" cy="1176533"/>
          </a:xfrm>
        </p:grpSpPr>
        <p:sp>
          <p:nvSpPr>
            <p:cNvPr id="17" name="Oval 5"/>
            <p:cNvSpPr>
              <a:spLocks noChangeArrowheads="1"/>
            </p:cNvSpPr>
            <p:nvPr/>
          </p:nvSpPr>
          <p:spPr bwMode="auto">
            <a:xfrm>
              <a:off x="5182803" y="18476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8" name="Oval 6"/>
            <p:cNvSpPr>
              <a:spLocks noChangeArrowheads="1"/>
            </p:cNvSpPr>
            <p:nvPr/>
          </p:nvSpPr>
          <p:spPr bwMode="auto">
            <a:xfrm>
              <a:off x="66306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" name="Line 7"/>
            <p:cNvSpPr>
              <a:spLocks noChangeShapeType="1"/>
            </p:cNvSpPr>
            <p:nvPr/>
          </p:nvSpPr>
          <p:spPr bwMode="auto">
            <a:xfrm>
              <a:off x="59067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8"/>
            <p:cNvSpPr>
              <a:spLocks noChangeShapeType="1"/>
            </p:cNvSpPr>
            <p:nvPr/>
          </p:nvSpPr>
          <p:spPr bwMode="auto">
            <a:xfrm>
              <a:off x="73672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9"/>
            <p:cNvSpPr>
              <a:spLocks noChangeArrowheads="1"/>
            </p:cNvSpPr>
            <p:nvPr/>
          </p:nvSpPr>
          <p:spPr bwMode="auto">
            <a:xfrm>
              <a:off x="80911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3" name="Oval 11"/>
            <p:cNvSpPr>
              <a:spLocks noChangeArrowheads="1"/>
            </p:cNvSpPr>
            <p:nvPr/>
          </p:nvSpPr>
          <p:spPr bwMode="auto">
            <a:xfrm>
              <a:off x="95643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4" name="Line 12"/>
            <p:cNvSpPr>
              <a:spLocks noChangeShapeType="1"/>
            </p:cNvSpPr>
            <p:nvPr/>
          </p:nvSpPr>
          <p:spPr bwMode="auto">
            <a:xfrm>
              <a:off x="10300903" y="2142934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13"/>
            <p:cNvSpPr txBox="1">
              <a:spLocks noChangeArrowheads="1"/>
            </p:cNvSpPr>
            <p:nvPr/>
          </p:nvSpPr>
          <p:spPr bwMode="auto">
            <a:xfrm>
              <a:off x="5401878" y="1847561"/>
              <a:ext cx="925512" cy="57350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4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10</a:t>
              </a:r>
              <a:endParaRPr kumimoji="1" lang="en-US" altLang="zh-CN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Text Box 14"/>
            <p:cNvSpPr txBox="1">
              <a:spLocks noChangeArrowheads="1"/>
            </p:cNvSpPr>
            <p:nvPr/>
          </p:nvSpPr>
          <p:spPr bwMode="auto">
            <a:xfrm>
              <a:off x="6800465" y="1858676"/>
              <a:ext cx="700088" cy="57350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4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11</a:t>
              </a:r>
              <a:endParaRPr kumimoji="1" lang="en-US" altLang="zh-CN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15"/>
            <p:cNvSpPr txBox="1">
              <a:spLocks noChangeArrowheads="1"/>
            </p:cNvSpPr>
            <p:nvPr/>
          </p:nvSpPr>
          <p:spPr bwMode="auto">
            <a:xfrm>
              <a:off x="8283190" y="1846071"/>
              <a:ext cx="542925" cy="573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13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Text Box 16"/>
            <p:cNvSpPr txBox="1">
              <a:spLocks noChangeArrowheads="1"/>
            </p:cNvSpPr>
            <p:nvPr/>
          </p:nvSpPr>
          <p:spPr bwMode="auto">
            <a:xfrm>
              <a:off x="9659553" y="1822259"/>
              <a:ext cx="543739" cy="573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F52EFC"/>
                  </a:solidFill>
                  <a:latin typeface="Times New Roman" panose="02020603050405020304" pitchFamily="18" charset="0"/>
                </a:rPr>
                <a:t>12</a:t>
              </a:r>
              <a:endParaRPr kumimoji="1" lang="en-US" altLang="zh-CN" sz="2400">
                <a:solidFill>
                  <a:srgbClr val="F52EFC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9" name="Group 17"/>
            <p:cNvGrpSpPr/>
            <p:nvPr/>
          </p:nvGrpSpPr>
          <p:grpSpPr bwMode="auto">
            <a:xfrm>
              <a:off x="11002578" y="1822259"/>
              <a:ext cx="1018853" cy="650875"/>
              <a:chOff x="4104" y="918"/>
              <a:chExt cx="753" cy="410"/>
            </a:xfrm>
          </p:grpSpPr>
          <p:sp>
            <p:nvSpPr>
              <p:cNvPr id="30" name="Oval 18"/>
              <p:cNvSpPr>
                <a:spLocks noChangeArrowheads="1"/>
              </p:cNvSpPr>
              <p:nvPr/>
            </p:nvSpPr>
            <p:spPr bwMode="auto">
              <a:xfrm>
                <a:off x="4104" y="936"/>
                <a:ext cx="639" cy="344"/>
              </a:xfrm>
              <a:prstGeom prst="ellipse">
                <a:avLst/>
              </a:prstGeom>
              <a:solidFill>
                <a:srgbClr val="66FFFF"/>
              </a:solidFill>
              <a:ln w="28575">
                <a:solidFill>
                  <a:srgbClr val="0000CC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" name="Text Box 19"/>
              <p:cNvSpPr txBox="1">
                <a:spLocks noChangeArrowheads="1"/>
              </p:cNvSpPr>
              <p:nvPr/>
            </p:nvSpPr>
            <p:spPr bwMode="auto">
              <a:xfrm>
                <a:off x="4282" y="918"/>
                <a:ext cx="575" cy="4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800">
                    <a:solidFill>
                      <a:srgbClr val="000043"/>
                    </a:solidFill>
                    <a:latin typeface="Times New Roman" panose="02020603050405020304" pitchFamily="18" charset="0"/>
                  </a:rPr>
                  <a:t>9</a:t>
                </a:r>
                <a:endParaRPr kumimoji="1" lang="en-US" altLang="zh-CN" sz="2800">
                  <a:solidFill>
                    <a:srgbClr val="000043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2" name="文本框 3"/>
            <p:cNvSpPr txBox="1">
              <a:spLocks noChangeArrowheads="1"/>
            </p:cNvSpPr>
            <p:nvPr/>
          </p:nvSpPr>
          <p:spPr bwMode="auto">
            <a:xfrm>
              <a:off x="7011603" y="1350771"/>
              <a:ext cx="658812" cy="573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3" name="文本框 76"/>
            <p:cNvSpPr txBox="1">
              <a:spLocks noChangeArrowheads="1"/>
            </p:cNvSpPr>
            <p:nvPr/>
          </p:nvSpPr>
          <p:spPr bwMode="auto">
            <a:xfrm>
              <a:off x="8447735" y="1296601"/>
              <a:ext cx="658812" cy="573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4" name="文本框 77"/>
            <p:cNvSpPr txBox="1">
              <a:spLocks noChangeArrowheads="1"/>
            </p:cNvSpPr>
            <p:nvPr/>
          </p:nvSpPr>
          <p:spPr bwMode="auto">
            <a:xfrm>
              <a:off x="9987372" y="1334896"/>
              <a:ext cx="658812" cy="573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Line 10"/>
            <p:cNvSpPr>
              <a:spLocks noChangeShapeType="1"/>
            </p:cNvSpPr>
            <p:nvPr/>
          </p:nvSpPr>
          <p:spPr bwMode="auto">
            <a:xfrm>
              <a:off x="8827703" y="210800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36" name="直接箭头连接符 2"/>
            <p:cNvCxnSpPr>
              <a:cxnSpLocks noChangeShapeType="1"/>
            </p:cNvCxnSpPr>
            <p:nvPr/>
          </p:nvCxnSpPr>
          <p:spPr bwMode="auto">
            <a:xfrm>
              <a:off x="7091082" y="1395221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直接箭头连接符 58"/>
            <p:cNvCxnSpPr>
              <a:cxnSpLocks noChangeShapeType="1"/>
            </p:cNvCxnSpPr>
            <p:nvPr/>
          </p:nvCxnSpPr>
          <p:spPr bwMode="auto">
            <a:xfrm>
              <a:off x="8447735" y="139343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直接箭头连接符 59"/>
            <p:cNvCxnSpPr>
              <a:cxnSpLocks noChangeShapeType="1"/>
            </p:cNvCxnSpPr>
            <p:nvPr/>
          </p:nvCxnSpPr>
          <p:spPr bwMode="auto">
            <a:xfrm>
              <a:off x="10003247" y="1422209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0" name="文本框 79"/>
          <p:cNvSpPr txBox="1"/>
          <p:nvPr/>
        </p:nvSpPr>
        <p:spPr>
          <a:xfrm>
            <a:off x="76200" y="5610860"/>
            <a:ext cx="101530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如何改成稳定排序？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修改后验证：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pPr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如果把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7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改成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9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，程序是否正确？如果仅有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个结点，程序是否正确？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09" name="组合 108"/>
          <p:cNvGrpSpPr/>
          <p:nvPr/>
        </p:nvGrpSpPr>
        <p:grpSpPr bwMode="auto">
          <a:xfrm>
            <a:off x="4356334" y="5147945"/>
            <a:ext cx="6598051" cy="979469"/>
            <a:chOff x="5182803" y="1334708"/>
            <a:chExt cx="6904831" cy="1138426"/>
          </a:xfrm>
        </p:grpSpPr>
        <p:sp>
          <p:nvSpPr>
            <p:cNvPr id="110" name="Oval 5"/>
            <p:cNvSpPr>
              <a:spLocks noChangeArrowheads="1"/>
            </p:cNvSpPr>
            <p:nvPr/>
          </p:nvSpPr>
          <p:spPr bwMode="auto">
            <a:xfrm>
              <a:off x="5182803" y="18476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11" name="Oval 6"/>
            <p:cNvSpPr>
              <a:spLocks noChangeArrowheads="1"/>
            </p:cNvSpPr>
            <p:nvPr/>
          </p:nvSpPr>
          <p:spPr bwMode="auto">
            <a:xfrm>
              <a:off x="66306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12" name="Line 7"/>
            <p:cNvSpPr>
              <a:spLocks noChangeShapeType="1"/>
            </p:cNvSpPr>
            <p:nvPr/>
          </p:nvSpPr>
          <p:spPr bwMode="auto">
            <a:xfrm>
              <a:off x="59067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" name="Line 8"/>
            <p:cNvSpPr>
              <a:spLocks noChangeShapeType="1"/>
            </p:cNvSpPr>
            <p:nvPr/>
          </p:nvSpPr>
          <p:spPr bwMode="auto">
            <a:xfrm>
              <a:off x="73672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Oval 9"/>
            <p:cNvSpPr>
              <a:spLocks noChangeArrowheads="1"/>
            </p:cNvSpPr>
            <p:nvPr/>
          </p:nvSpPr>
          <p:spPr bwMode="auto">
            <a:xfrm>
              <a:off x="80911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15" name="Oval 11"/>
            <p:cNvSpPr>
              <a:spLocks noChangeArrowheads="1"/>
            </p:cNvSpPr>
            <p:nvPr/>
          </p:nvSpPr>
          <p:spPr bwMode="auto">
            <a:xfrm>
              <a:off x="95643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16" name="Line 12"/>
            <p:cNvSpPr>
              <a:spLocks noChangeShapeType="1"/>
            </p:cNvSpPr>
            <p:nvPr/>
          </p:nvSpPr>
          <p:spPr bwMode="auto">
            <a:xfrm>
              <a:off x="10300903" y="2142934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" name="Text Box 13"/>
            <p:cNvSpPr txBox="1">
              <a:spLocks noChangeArrowheads="1"/>
            </p:cNvSpPr>
            <p:nvPr/>
          </p:nvSpPr>
          <p:spPr bwMode="auto">
            <a:xfrm>
              <a:off x="5401878" y="1847561"/>
              <a:ext cx="925512" cy="60668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7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8" name="Text Box 14"/>
            <p:cNvSpPr txBox="1">
              <a:spLocks noChangeArrowheads="1"/>
            </p:cNvSpPr>
            <p:nvPr/>
          </p:nvSpPr>
          <p:spPr bwMode="auto">
            <a:xfrm>
              <a:off x="6800465" y="1858676"/>
              <a:ext cx="700088" cy="60668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9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9" name="Text Box 15"/>
            <p:cNvSpPr txBox="1">
              <a:spLocks noChangeArrowheads="1"/>
            </p:cNvSpPr>
            <p:nvPr/>
          </p:nvSpPr>
          <p:spPr bwMode="auto">
            <a:xfrm>
              <a:off x="8283190" y="1846071"/>
              <a:ext cx="360680" cy="606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endPara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0" name="Text Box 16"/>
            <p:cNvSpPr txBox="1">
              <a:spLocks noChangeArrowheads="1"/>
            </p:cNvSpPr>
            <p:nvPr/>
          </p:nvSpPr>
          <p:spPr bwMode="auto">
            <a:xfrm>
              <a:off x="9659553" y="1822259"/>
              <a:ext cx="360680" cy="606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9</a:t>
              </a:r>
              <a:endParaRPr kumimoji="1" lang="en-US" altLang="zh-CN" sz="28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21" name="Group 17"/>
            <p:cNvGrpSpPr/>
            <p:nvPr/>
          </p:nvGrpSpPr>
          <p:grpSpPr bwMode="auto">
            <a:xfrm>
              <a:off x="11002578" y="1850834"/>
              <a:ext cx="962025" cy="622300"/>
              <a:chOff x="4104" y="936"/>
              <a:chExt cx="711" cy="392"/>
            </a:xfrm>
          </p:grpSpPr>
          <p:sp>
            <p:nvSpPr>
              <p:cNvPr id="122" name="Oval 18"/>
              <p:cNvSpPr>
                <a:spLocks noChangeArrowheads="1"/>
              </p:cNvSpPr>
              <p:nvPr/>
            </p:nvSpPr>
            <p:spPr bwMode="auto">
              <a:xfrm>
                <a:off x="4104" y="936"/>
                <a:ext cx="639" cy="344"/>
              </a:xfrm>
              <a:prstGeom prst="ellipse">
                <a:avLst/>
              </a:prstGeom>
              <a:solidFill>
                <a:srgbClr val="66FFFF"/>
              </a:solidFill>
              <a:ln w="28575">
                <a:solidFill>
                  <a:srgbClr val="0000CC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23" name="Text Box 19"/>
              <p:cNvSpPr txBox="1">
                <a:spLocks noChangeArrowheads="1"/>
              </p:cNvSpPr>
              <p:nvPr/>
            </p:nvSpPr>
            <p:spPr bwMode="auto">
              <a:xfrm>
                <a:off x="4240" y="946"/>
                <a:ext cx="575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800">
                    <a:solidFill>
                      <a:srgbClr val="F52EFC"/>
                    </a:solidFill>
                    <a:latin typeface="Times New Roman" panose="02020603050405020304" pitchFamily="18" charset="0"/>
                  </a:rPr>
                  <a:t>9</a:t>
                </a:r>
                <a:endParaRPr kumimoji="1" lang="en-US" altLang="zh-CN" sz="2800">
                  <a:solidFill>
                    <a:srgbClr val="F52EFC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24" name="文本框 3"/>
            <p:cNvSpPr txBox="1">
              <a:spLocks noChangeArrowheads="1"/>
            </p:cNvSpPr>
            <p:nvPr/>
          </p:nvSpPr>
          <p:spPr bwMode="auto">
            <a:xfrm>
              <a:off x="5535421" y="1358084"/>
              <a:ext cx="658812" cy="535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25" name="文本框 76"/>
            <p:cNvSpPr txBox="1">
              <a:spLocks noChangeArrowheads="1"/>
            </p:cNvSpPr>
            <p:nvPr/>
          </p:nvSpPr>
          <p:spPr bwMode="auto">
            <a:xfrm>
              <a:off x="6888022" y="1334708"/>
              <a:ext cx="658812" cy="606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Arial" panose="020B0604020202020204" pitchFamily="34" charset="0"/>
                </a:rPr>
                <a:t>r</a:t>
              </a:r>
              <a:endParaRPr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126" name="文本框 77"/>
            <p:cNvSpPr txBox="1">
              <a:spLocks noChangeArrowheads="1"/>
            </p:cNvSpPr>
            <p:nvPr/>
          </p:nvSpPr>
          <p:spPr bwMode="auto">
            <a:xfrm>
              <a:off x="11428822" y="1358395"/>
              <a:ext cx="658812" cy="535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7" name="Line 10"/>
            <p:cNvSpPr>
              <a:spLocks noChangeShapeType="1"/>
            </p:cNvSpPr>
            <p:nvPr/>
          </p:nvSpPr>
          <p:spPr bwMode="auto">
            <a:xfrm>
              <a:off x="8827703" y="210800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28" name="直接箭头连接符 2"/>
            <p:cNvCxnSpPr>
              <a:cxnSpLocks noChangeShapeType="1"/>
            </p:cNvCxnSpPr>
            <p:nvPr/>
          </p:nvCxnSpPr>
          <p:spPr bwMode="auto">
            <a:xfrm>
              <a:off x="5532098" y="143155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9" name="直接箭头连接符 58"/>
            <p:cNvCxnSpPr>
              <a:cxnSpLocks noChangeShapeType="1"/>
            </p:cNvCxnSpPr>
            <p:nvPr/>
          </p:nvCxnSpPr>
          <p:spPr bwMode="auto">
            <a:xfrm>
              <a:off x="6932100" y="1384016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0" name="直接箭头连接符 59"/>
            <p:cNvCxnSpPr>
              <a:cxnSpLocks noChangeShapeType="1"/>
            </p:cNvCxnSpPr>
            <p:nvPr/>
          </p:nvCxnSpPr>
          <p:spPr bwMode="auto">
            <a:xfrm>
              <a:off x="11352622" y="1397440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31" name="云形标注 130"/>
          <p:cNvSpPr/>
          <p:nvPr/>
        </p:nvSpPr>
        <p:spPr>
          <a:xfrm>
            <a:off x="10758805" y="5251450"/>
            <a:ext cx="1432560" cy="911225"/>
          </a:xfrm>
          <a:prstGeom prst="cloudCallout">
            <a:avLst>
              <a:gd name="adj1" fmla="val -60317"/>
              <a:gd name="adj2" fmla="val 19696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不稳定排序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0" grpId="0" bldLvl="0" animBg="1"/>
      <p:bldP spid="131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8425" y="223838"/>
            <a:ext cx="8229600" cy="633412"/>
          </a:xfrm>
        </p:spPr>
        <p:txBody>
          <a:bodyPr/>
          <a:lstStyle/>
          <a:p>
            <a:pPr algn="l">
              <a:defRPr/>
            </a:pPr>
            <a:r>
              <a:rPr lang="en-US" altLang="zh-CN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13.3】</a:t>
            </a:r>
            <a:r>
              <a:rPr lang="zh-CN" altLang="en-US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多项式加法</a:t>
            </a:r>
            <a:r>
              <a:rPr lang="zh-CN" altLang="en-US" sz="2800" dirty="0">
                <a:solidFill>
                  <a:srgbClr val="FFC000"/>
                </a:solidFill>
                <a:ea typeface="黑体" panose="02010609060101010101" pitchFamily="49" charset="-122"/>
              </a:rPr>
              <a:t> </a:t>
            </a:r>
            <a:endParaRPr lang="zh-CN" altLang="en-US" sz="2800" dirty="0">
              <a:solidFill>
                <a:srgbClr val="FFC000"/>
              </a:solidFill>
              <a:ea typeface="黑体" panose="02010609060101010101" pitchFamily="49" charset="-122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438" y="898525"/>
            <a:ext cx="8686800" cy="6477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effectLst/>
                <a:ea typeface="黑体" panose="02010609060101010101" pitchFamily="49" charset="-122"/>
              </a:rPr>
              <a:t>多项式可以用如下形式的链表来存储；</a:t>
            </a:r>
            <a:endParaRPr lang="zh-CN" altLang="en-US" sz="2800" b="1">
              <a:effectLst/>
              <a:ea typeface="黑体" panose="02010609060101010101" pitchFamily="49" charset="-122"/>
            </a:endParaRPr>
          </a:p>
        </p:txBody>
      </p:sp>
      <p:grpSp>
        <p:nvGrpSpPr>
          <p:cNvPr id="55300" name="Group 5"/>
          <p:cNvGrpSpPr/>
          <p:nvPr/>
        </p:nvGrpSpPr>
        <p:grpSpPr bwMode="auto">
          <a:xfrm>
            <a:off x="2209800" y="2362200"/>
            <a:ext cx="6848475" cy="1223963"/>
            <a:chOff x="476" y="1752"/>
            <a:chExt cx="4314" cy="771"/>
          </a:xfrm>
        </p:grpSpPr>
        <p:sp>
          <p:nvSpPr>
            <p:cNvPr id="55304" name="Rectangle 6"/>
            <p:cNvSpPr>
              <a:spLocks noChangeArrowheads="1"/>
            </p:cNvSpPr>
            <p:nvPr/>
          </p:nvSpPr>
          <p:spPr bwMode="auto">
            <a:xfrm>
              <a:off x="476" y="1752"/>
              <a:ext cx="504" cy="234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55305" name="Rectangle 7"/>
            <p:cNvSpPr>
              <a:spLocks noChangeArrowheads="1"/>
            </p:cNvSpPr>
            <p:nvPr/>
          </p:nvSpPr>
          <p:spPr bwMode="auto">
            <a:xfrm>
              <a:off x="1383" y="1797"/>
              <a:ext cx="518" cy="726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幂次</a:t>
              </a:r>
              <a:endParaRPr lang="zh-CN" altLang="en-US" sz="2400"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系数</a:t>
              </a: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55306" name="Line 8"/>
            <p:cNvSpPr>
              <a:spLocks noChangeShapeType="1"/>
            </p:cNvSpPr>
            <p:nvPr/>
          </p:nvSpPr>
          <p:spPr bwMode="auto">
            <a:xfrm>
              <a:off x="1383" y="2387"/>
              <a:ext cx="50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7" name="Rectangle 9"/>
            <p:cNvSpPr>
              <a:spLocks noChangeArrowheads="1"/>
            </p:cNvSpPr>
            <p:nvPr/>
          </p:nvSpPr>
          <p:spPr bwMode="auto">
            <a:xfrm>
              <a:off x="2934" y="2015"/>
              <a:ext cx="317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...</a:t>
              </a: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55308" name="Line 10"/>
            <p:cNvSpPr>
              <a:spLocks noChangeShapeType="1"/>
            </p:cNvSpPr>
            <p:nvPr/>
          </p:nvSpPr>
          <p:spPr bwMode="auto">
            <a:xfrm>
              <a:off x="1649" y="243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9" name="Line 11"/>
            <p:cNvSpPr>
              <a:spLocks noChangeShapeType="1"/>
            </p:cNvSpPr>
            <p:nvPr/>
          </p:nvSpPr>
          <p:spPr bwMode="auto">
            <a:xfrm>
              <a:off x="3137" y="2432"/>
              <a:ext cx="287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0" name="Line 12"/>
            <p:cNvSpPr>
              <a:spLocks noChangeShapeType="1"/>
            </p:cNvSpPr>
            <p:nvPr/>
          </p:nvSpPr>
          <p:spPr bwMode="auto">
            <a:xfrm>
              <a:off x="1383" y="2115"/>
              <a:ext cx="4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1" name="Line 13"/>
            <p:cNvSpPr>
              <a:spLocks noChangeShapeType="1"/>
            </p:cNvSpPr>
            <p:nvPr/>
          </p:nvSpPr>
          <p:spPr bwMode="auto">
            <a:xfrm>
              <a:off x="923" y="1915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2" name="Rectangle 14"/>
            <p:cNvSpPr>
              <a:spLocks noChangeArrowheads="1"/>
            </p:cNvSpPr>
            <p:nvPr/>
          </p:nvSpPr>
          <p:spPr bwMode="auto">
            <a:xfrm>
              <a:off x="2109" y="1797"/>
              <a:ext cx="518" cy="726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幂次</a:t>
              </a:r>
              <a:endParaRPr lang="zh-CN" altLang="en-US" sz="2400"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系数</a:t>
              </a: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55313" name="Line 15"/>
            <p:cNvSpPr>
              <a:spLocks noChangeShapeType="1"/>
            </p:cNvSpPr>
            <p:nvPr/>
          </p:nvSpPr>
          <p:spPr bwMode="auto">
            <a:xfrm>
              <a:off x="2109" y="2387"/>
              <a:ext cx="50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4" name="Line 16"/>
            <p:cNvSpPr>
              <a:spLocks noChangeShapeType="1"/>
            </p:cNvSpPr>
            <p:nvPr/>
          </p:nvSpPr>
          <p:spPr bwMode="auto">
            <a:xfrm>
              <a:off x="2336" y="243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5" name="Line 17"/>
            <p:cNvSpPr>
              <a:spLocks noChangeShapeType="1"/>
            </p:cNvSpPr>
            <p:nvPr/>
          </p:nvSpPr>
          <p:spPr bwMode="auto">
            <a:xfrm>
              <a:off x="2109" y="2115"/>
              <a:ext cx="4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6" name="Rectangle 18"/>
            <p:cNvSpPr>
              <a:spLocks noChangeArrowheads="1"/>
            </p:cNvSpPr>
            <p:nvPr/>
          </p:nvSpPr>
          <p:spPr bwMode="auto">
            <a:xfrm>
              <a:off x="3424" y="1797"/>
              <a:ext cx="518" cy="726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幂次</a:t>
              </a:r>
              <a:endParaRPr lang="zh-CN" altLang="en-US" sz="2400"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系数</a:t>
              </a: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55317" name="Line 19"/>
            <p:cNvSpPr>
              <a:spLocks noChangeShapeType="1"/>
            </p:cNvSpPr>
            <p:nvPr/>
          </p:nvSpPr>
          <p:spPr bwMode="auto">
            <a:xfrm>
              <a:off x="3424" y="2387"/>
              <a:ext cx="50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8" name="Line 20"/>
            <p:cNvSpPr>
              <a:spLocks noChangeShapeType="1"/>
            </p:cNvSpPr>
            <p:nvPr/>
          </p:nvSpPr>
          <p:spPr bwMode="auto">
            <a:xfrm>
              <a:off x="3787" y="243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9" name="Line 21"/>
            <p:cNvSpPr>
              <a:spLocks noChangeShapeType="1"/>
            </p:cNvSpPr>
            <p:nvPr/>
          </p:nvSpPr>
          <p:spPr bwMode="auto">
            <a:xfrm>
              <a:off x="3424" y="2115"/>
              <a:ext cx="4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0" name="Rectangle 22"/>
            <p:cNvSpPr>
              <a:spLocks noChangeArrowheads="1"/>
            </p:cNvSpPr>
            <p:nvPr/>
          </p:nvSpPr>
          <p:spPr bwMode="auto">
            <a:xfrm>
              <a:off x="4241" y="1797"/>
              <a:ext cx="518" cy="726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幂次</a:t>
              </a:r>
              <a:endParaRPr lang="zh-CN" altLang="en-US" sz="2400"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系数</a:t>
              </a:r>
              <a:endParaRPr lang="zh-CN" altLang="en-US" sz="2400"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55321" name="Line 23"/>
            <p:cNvSpPr>
              <a:spLocks noChangeShapeType="1"/>
            </p:cNvSpPr>
            <p:nvPr/>
          </p:nvSpPr>
          <p:spPr bwMode="auto">
            <a:xfrm>
              <a:off x="4241" y="2387"/>
              <a:ext cx="50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2" name="Line 24"/>
            <p:cNvSpPr>
              <a:spLocks noChangeShapeType="1"/>
            </p:cNvSpPr>
            <p:nvPr/>
          </p:nvSpPr>
          <p:spPr bwMode="auto">
            <a:xfrm>
              <a:off x="4241" y="2115"/>
              <a:ext cx="4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3" name="Rectangle 25"/>
            <p:cNvSpPr>
              <a:spLocks noChangeArrowheads="1"/>
            </p:cNvSpPr>
            <p:nvPr/>
          </p:nvSpPr>
          <p:spPr bwMode="auto">
            <a:xfrm>
              <a:off x="4286" y="2251"/>
              <a:ext cx="50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．</a:t>
              </a:r>
              <a:endParaRPr lang="zh-CN" altLang="en-US" sz="2400">
                <a:ea typeface="黑体" panose="02010609060101010101" pitchFamily="49" charset="-122"/>
              </a:endParaRPr>
            </a:p>
          </p:txBody>
        </p:sp>
      </p:grp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F431B77-DC8C-459E-B673-A9AFF94EC333}" type="slidenum">
              <a:rPr lang="en-US" altLang="zh-CN" b="0" smtClean="0"/>
            </a:fld>
            <a:endParaRPr lang="en-US" altLang="zh-CN" b="0"/>
          </a:p>
        </p:txBody>
      </p:sp>
      <p:sp>
        <p:nvSpPr>
          <p:cNvPr id="3" name="文本框 2"/>
          <p:cNvSpPr txBox="1"/>
          <p:nvPr/>
        </p:nvSpPr>
        <p:spPr>
          <a:xfrm>
            <a:off x="23813" y="5564188"/>
            <a:ext cx="8937625" cy="1200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【</a:t>
            </a:r>
            <a:r>
              <a:rPr lang="zh-CN" altLang="en-US" sz="2400" dirty="0"/>
              <a:t>对比实验</a:t>
            </a:r>
            <a:r>
              <a:rPr lang="en-US" altLang="zh-CN" sz="2400" dirty="0"/>
              <a:t>】</a:t>
            </a:r>
            <a:endParaRPr lang="en-US" altLang="zh-CN" sz="2400" dirty="0"/>
          </a:p>
          <a:p>
            <a:pPr>
              <a:defRPr/>
            </a:pPr>
            <a:r>
              <a:rPr lang="zh-CN" altLang="en-US" sz="2400" dirty="0"/>
              <a:t>改写</a:t>
            </a:r>
            <a:r>
              <a:rPr lang="en-US" altLang="zh-CN" sz="2400" dirty="0">
                <a:solidFill>
                  <a:schemeClr val="hlink"/>
                </a:solidFill>
              </a:rPr>
              <a:t>【</a:t>
            </a:r>
            <a:r>
              <a:rPr lang="zh-CN" altLang="en-US" sz="2400" dirty="0">
                <a:solidFill>
                  <a:schemeClr val="hlink"/>
                </a:solidFill>
              </a:rPr>
              <a:t>例</a:t>
            </a:r>
            <a:r>
              <a:rPr lang="en-US" altLang="zh-CN" sz="2400" dirty="0">
                <a:solidFill>
                  <a:schemeClr val="hlink"/>
                </a:solidFill>
              </a:rPr>
              <a:t>1】</a:t>
            </a:r>
            <a:r>
              <a:rPr lang="zh-CN" altLang="en-US" sz="2400" dirty="0">
                <a:solidFill>
                  <a:schemeClr val="hlink"/>
                </a:solidFill>
              </a:rPr>
              <a:t>单向链表操作示例</a:t>
            </a:r>
            <a:r>
              <a:rPr lang="zh-CN" altLang="en-US" sz="2400" dirty="0"/>
              <a:t>中的排序函数</a:t>
            </a:r>
            <a:endParaRPr lang="en-US" altLang="zh-CN" sz="2400" dirty="0"/>
          </a:p>
          <a:p>
            <a:pPr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link*  </a:t>
            </a:r>
            <a:r>
              <a:rPr lang="en-US" altLang="zh-CN" sz="24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sort(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struct link*  head </a:t>
            </a:r>
            <a:r>
              <a:rPr lang="en-US" altLang="zh-CN" sz="24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400" dirty="0"/>
              <a:t>——</a:t>
            </a:r>
            <a:r>
              <a:rPr lang="zh-CN" altLang="en-US" sz="2400" dirty="0"/>
              <a:t>加入哨兵结点，排序</a:t>
            </a:r>
            <a:endParaRPr lang="zh-CN" altLang="en-US" sz="24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ChangeArrowheads="1"/>
          </p:cNvSpPr>
          <p:nvPr/>
        </p:nvSpPr>
        <p:spPr bwMode="auto">
          <a:xfrm>
            <a:off x="109538" y="381000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例如多项式</a:t>
            </a: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57347" name="Rectangle 4"/>
          <p:cNvSpPr>
            <a:spLocks noChangeArrowheads="1"/>
          </p:cNvSpPr>
          <p:nvPr/>
        </p:nvSpPr>
        <p:spPr bwMode="auto">
          <a:xfrm>
            <a:off x="98425" y="990600"/>
            <a:ext cx="3052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可以表示成如下形式</a:t>
            </a:r>
            <a:r>
              <a:rPr lang="en-US" altLang="zh-CN" sz="2400">
                <a:ea typeface="黑体" panose="02010609060101010101" pitchFamily="49" charset="-122"/>
              </a:rPr>
              <a:t>:</a:t>
            </a:r>
            <a:endParaRPr lang="en-US" altLang="zh-CN" sz="2400">
              <a:ea typeface="黑体" panose="02010609060101010101" pitchFamily="49" charset="-122"/>
            </a:endParaRPr>
          </a:p>
        </p:txBody>
      </p:sp>
      <p:grpSp>
        <p:nvGrpSpPr>
          <p:cNvPr id="57348" name="Group 5"/>
          <p:cNvGrpSpPr/>
          <p:nvPr/>
        </p:nvGrpSpPr>
        <p:grpSpPr bwMode="auto">
          <a:xfrm>
            <a:off x="1082675" y="2286000"/>
            <a:ext cx="8104188" cy="3105150"/>
            <a:chOff x="270" y="1878"/>
            <a:chExt cx="5105" cy="1879"/>
          </a:xfrm>
        </p:grpSpPr>
        <p:sp>
          <p:nvSpPr>
            <p:cNvPr id="57352" name="Rectangle 6"/>
            <p:cNvSpPr>
              <a:spLocks noChangeArrowheads="1"/>
            </p:cNvSpPr>
            <p:nvPr/>
          </p:nvSpPr>
          <p:spPr bwMode="auto">
            <a:xfrm>
              <a:off x="703" y="1878"/>
              <a:ext cx="643" cy="285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ea typeface="黑体" panose="02010609060101010101" pitchFamily="49" charset="-122"/>
              </a:endParaRPr>
            </a:p>
          </p:txBody>
        </p:sp>
        <p:grpSp>
          <p:nvGrpSpPr>
            <p:cNvPr id="57353" name="Group 7"/>
            <p:cNvGrpSpPr/>
            <p:nvPr/>
          </p:nvGrpSpPr>
          <p:grpSpPr bwMode="auto">
            <a:xfrm>
              <a:off x="1749" y="1899"/>
              <a:ext cx="661" cy="830"/>
              <a:chOff x="0" y="0"/>
              <a:chExt cx="20000" cy="20000"/>
            </a:xfrm>
          </p:grpSpPr>
          <p:sp>
            <p:nvSpPr>
              <p:cNvPr id="57374" name="Rectangle 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0000"/>
                    </a:solidFill>
                    <a:ea typeface="黑体" panose="02010609060101010101" pitchFamily="49" charset="-122"/>
                  </a:rPr>
                  <a:t>   </a:t>
                </a:r>
                <a:r>
                  <a:rPr lang="en-US" altLang="zh-CN" sz="2400">
                    <a:solidFill>
                      <a:srgbClr val="F52EFC"/>
                    </a:solidFill>
                    <a:ea typeface="黑体" panose="02010609060101010101" pitchFamily="49" charset="-122"/>
                  </a:rPr>
                  <a:t>5</a:t>
                </a:r>
                <a:endParaRPr lang="en-US" altLang="zh-CN" sz="2400">
                  <a:solidFill>
                    <a:srgbClr val="FF0000"/>
                  </a:solidFill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6.5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57375" name="Line 9"/>
              <p:cNvSpPr>
                <a:spLocks noChangeShapeType="1"/>
              </p:cNvSpPr>
              <p:nvPr/>
            </p:nvSpPr>
            <p:spPr bwMode="auto">
              <a:xfrm>
                <a:off x="555" y="13812"/>
                <a:ext cx="19445" cy="25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7354" name="Group 10"/>
            <p:cNvGrpSpPr/>
            <p:nvPr/>
          </p:nvGrpSpPr>
          <p:grpSpPr bwMode="auto">
            <a:xfrm>
              <a:off x="2757" y="1892"/>
              <a:ext cx="662" cy="858"/>
              <a:chOff x="0" y="0"/>
              <a:chExt cx="20000" cy="20000"/>
            </a:xfrm>
          </p:grpSpPr>
          <p:sp>
            <p:nvSpPr>
              <p:cNvPr id="57372" name="Rectangl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0000"/>
                    </a:solidFill>
                    <a:ea typeface="黑体" panose="02010609060101010101" pitchFamily="49" charset="-122"/>
                  </a:rPr>
                  <a:t>    </a:t>
                </a:r>
                <a:r>
                  <a:rPr lang="en-US" altLang="zh-CN" sz="2400">
                    <a:solidFill>
                      <a:srgbClr val="F52EFC"/>
                    </a:solidFill>
                    <a:ea typeface="黑体" panose="02010609060101010101" pitchFamily="49" charset="-122"/>
                  </a:rPr>
                  <a:t>2</a:t>
                </a:r>
                <a:endParaRPr lang="en-US" altLang="zh-CN" sz="2400">
                  <a:solidFill>
                    <a:srgbClr val="F52EFC"/>
                  </a:solidFill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3.4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57373" name="Line 12"/>
              <p:cNvSpPr>
                <a:spLocks noChangeShapeType="1"/>
              </p:cNvSpPr>
              <p:nvPr/>
            </p:nvSpPr>
            <p:spPr bwMode="auto">
              <a:xfrm>
                <a:off x="555" y="13821"/>
                <a:ext cx="19445" cy="2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355" name="Line 13"/>
            <p:cNvSpPr>
              <a:spLocks noChangeShapeType="1"/>
            </p:cNvSpPr>
            <p:nvPr/>
          </p:nvSpPr>
          <p:spPr bwMode="auto">
            <a:xfrm>
              <a:off x="2116" y="2608"/>
              <a:ext cx="5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6" name="Line 14"/>
            <p:cNvSpPr>
              <a:spLocks noChangeShapeType="1"/>
            </p:cNvSpPr>
            <p:nvPr/>
          </p:nvSpPr>
          <p:spPr bwMode="auto">
            <a:xfrm>
              <a:off x="3180" y="2613"/>
              <a:ext cx="5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7" name="Line 15"/>
            <p:cNvSpPr>
              <a:spLocks noChangeShapeType="1"/>
            </p:cNvSpPr>
            <p:nvPr/>
          </p:nvSpPr>
          <p:spPr bwMode="auto">
            <a:xfrm>
              <a:off x="4088" y="2613"/>
              <a:ext cx="5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8" name="Line 16"/>
            <p:cNvSpPr>
              <a:spLocks noChangeShapeType="1"/>
            </p:cNvSpPr>
            <p:nvPr/>
          </p:nvSpPr>
          <p:spPr bwMode="auto">
            <a:xfrm>
              <a:off x="1749" y="2189"/>
              <a:ext cx="679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9" name="Line 17"/>
            <p:cNvSpPr>
              <a:spLocks noChangeShapeType="1"/>
            </p:cNvSpPr>
            <p:nvPr/>
          </p:nvSpPr>
          <p:spPr bwMode="auto">
            <a:xfrm>
              <a:off x="2757" y="2189"/>
              <a:ext cx="682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7360" name="Group 18"/>
            <p:cNvGrpSpPr/>
            <p:nvPr/>
          </p:nvGrpSpPr>
          <p:grpSpPr bwMode="auto">
            <a:xfrm>
              <a:off x="3683" y="1890"/>
              <a:ext cx="688" cy="849"/>
              <a:chOff x="4558" y="1886"/>
              <a:chExt cx="309" cy="1226"/>
            </a:xfrm>
          </p:grpSpPr>
          <p:grpSp>
            <p:nvGrpSpPr>
              <p:cNvPr id="57368" name="Group 19"/>
              <p:cNvGrpSpPr/>
              <p:nvPr/>
            </p:nvGrpSpPr>
            <p:grpSpPr bwMode="auto">
              <a:xfrm>
                <a:off x="4570" y="1886"/>
                <a:ext cx="297" cy="1226"/>
                <a:chOff x="0" y="0"/>
                <a:chExt cx="20000" cy="20000"/>
              </a:xfrm>
            </p:grpSpPr>
            <p:sp>
              <p:nvSpPr>
                <p:cNvPr id="57370" name="Rectangle 2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F52EFC"/>
                      </a:solidFill>
                      <a:ea typeface="黑体" panose="02010609060101010101" pitchFamily="49" charset="-122"/>
                    </a:rPr>
                    <a:t>1</a:t>
                  </a:r>
                  <a:endParaRPr lang="en-US" altLang="zh-CN" sz="2400">
                    <a:solidFill>
                      <a:srgbClr val="F52EFC"/>
                    </a:solidFill>
                    <a:ea typeface="黑体" panose="02010609060101010101" pitchFamily="49" charset="-122"/>
                  </a:endParaRPr>
                </a:p>
                <a:p>
                  <a:pPr algn="ctr"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1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7371" name="Line 21"/>
                <p:cNvSpPr>
                  <a:spLocks noChangeShapeType="1"/>
                </p:cNvSpPr>
                <p:nvPr/>
              </p:nvSpPr>
              <p:spPr bwMode="auto">
                <a:xfrm>
                  <a:off x="555" y="13817"/>
                  <a:ext cx="19445" cy="24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369" name="Line 22"/>
              <p:cNvSpPr>
                <a:spLocks noChangeShapeType="1"/>
              </p:cNvSpPr>
              <p:nvPr/>
            </p:nvSpPr>
            <p:spPr bwMode="auto">
              <a:xfrm>
                <a:off x="4558" y="2296"/>
                <a:ext cx="305" cy="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7361" name="Group 23"/>
            <p:cNvGrpSpPr/>
            <p:nvPr/>
          </p:nvGrpSpPr>
          <p:grpSpPr bwMode="auto">
            <a:xfrm>
              <a:off x="4694" y="1890"/>
              <a:ext cx="681" cy="849"/>
              <a:chOff x="5023" y="1886"/>
              <a:chExt cx="306" cy="1226"/>
            </a:xfrm>
          </p:grpSpPr>
          <p:grpSp>
            <p:nvGrpSpPr>
              <p:cNvPr id="57364" name="Group 24"/>
              <p:cNvGrpSpPr/>
              <p:nvPr/>
            </p:nvGrpSpPr>
            <p:grpSpPr bwMode="auto">
              <a:xfrm>
                <a:off x="5023" y="1886"/>
                <a:ext cx="298" cy="1226"/>
                <a:chOff x="0" y="0"/>
                <a:chExt cx="20000" cy="20000"/>
              </a:xfrm>
            </p:grpSpPr>
            <p:sp>
              <p:nvSpPr>
                <p:cNvPr id="57366" name="Rectangle 2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FF0000"/>
                      </a:solidFill>
                      <a:ea typeface="黑体" panose="02010609060101010101" pitchFamily="49" charset="-122"/>
                    </a:rPr>
                    <a:t>    </a:t>
                  </a:r>
                  <a:r>
                    <a:rPr lang="en-US" altLang="zh-CN" sz="2400">
                      <a:solidFill>
                        <a:srgbClr val="F52EFC"/>
                      </a:solidFill>
                      <a:ea typeface="黑体" panose="02010609060101010101" pitchFamily="49" charset="-122"/>
                    </a:rPr>
                    <a:t>0</a:t>
                  </a:r>
                  <a:endParaRPr lang="en-US" altLang="zh-CN" sz="2400">
                    <a:solidFill>
                      <a:srgbClr val="F52EFC"/>
                    </a:solidFill>
                    <a:ea typeface="黑体" panose="02010609060101010101" pitchFamily="49" charset="-122"/>
                  </a:endParaRPr>
                </a:p>
                <a:p>
                  <a:pPr algn="ctr"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0.5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     ·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7367" name="Line 26"/>
                <p:cNvSpPr>
                  <a:spLocks noChangeShapeType="1"/>
                </p:cNvSpPr>
                <p:nvPr/>
              </p:nvSpPr>
              <p:spPr bwMode="auto">
                <a:xfrm>
                  <a:off x="555" y="13817"/>
                  <a:ext cx="19445" cy="24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365" name="Line 27"/>
              <p:cNvSpPr>
                <a:spLocks noChangeShapeType="1"/>
              </p:cNvSpPr>
              <p:nvPr/>
            </p:nvSpPr>
            <p:spPr bwMode="auto">
              <a:xfrm>
                <a:off x="5023" y="2274"/>
                <a:ext cx="306" cy="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362" name="Line 28"/>
            <p:cNvSpPr>
              <a:spLocks noChangeShapeType="1"/>
            </p:cNvSpPr>
            <p:nvPr/>
          </p:nvSpPr>
          <p:spPr bwMode="auto">
            <a:xfrm>
              <a:off x="1126" y="2021"/>
              <a:ext cx="5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3" name="Rectangle 29"/>
            <p:cNvSpPr>
              <a:spLocks noChangeArrowheads="1"/>
            </p:cNvSpPr>
            <p:nvPr/>
          </p:nvSpPr>
          <p:spPr bwMode="auto">
            <a:xfrm>
              <a:off x="270" y="3105"/>
              <a:ext cx="4433" cy="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黑体" panose="02010609060101010101" pitchFamily="49" charset="-122"/>
                </a:rPr>
                <a:t>编函数，实现多项式加法：</a:t>
              </a:r>
              <a:endParaRPr lang="en-US" altLang="zh-CN"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ea typeface="黑体" panose="02010609060101010101" pitchFamily="49" charset="-122"/>
                </a:rPr>
                <a:t>	            </a:t>
              </a:r>
              <a:r>
                <a:rPr lang="en-US" altLang="zh-CN">
                  <a:solidFill>
                    <a:srgbClr val="FFFF00"/>
                  </a:solidFill>
                  <a:ea typeface="黑体" panose="02010609060101010101" pitchFamily="49" charset="-122"/>
                </a:rPr>
                <a:t>p(X)+q(X) =&gt; s(X) </a:t>
              </a:r>
              <a:endParaRPr lang="zh-CN" altLang="en-US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3E4F168-D8D6-442B-AFB1-B1A643CAB309}" type="slidenum">
              <a:rPr lang="zh-CN" altLang="en-US" b="0" smtClean="0"/>
            </a:fld>
            <a:endParaRPr lang="en-US" altLang="zh-CN" b="0"/>
          </a:p>
        </p:txBody>
      </p:sp>
      <p:pic>
        <p:nvPicPr>
          <p:cNvPr id="57351" name="Picture 33" descr="C:\Users\chuny\Desktop\图片2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304800"/>
            <a:ext cx="66563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160084C-9F70-4653-89C8-5DF591A27E76}" type="slidenum">
              <a:rPr lang="zh-CN" altLang="en-US" b="0" smtClean="0"/>
            </a:fld>
            <a:endParaRPr lang="en-US" altLang="zh-CN" b="0"/>
          </a:p>
        </p:txBody>
      </p:sp>
      <p:pic>
        <p:nvPicPr>
          <p:cNvPr id="5939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-55563"/>
            <a:ext cx="9144000" cy="691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7" name="TextBox 2"/>
          <p:cNvSpPr txBox="1">
            <a:spLocks noChangeArrowheads="1"/>
          </p:cNvSpPr>
          <p:nvPr/>
        </p:nvSpPr>
        <p:spPr bwMode="auto">
          <a:xfrm>
            <a:off x="4943475" y="908050"/>
            <a:ext cx="48704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p(x)=6.5X</a:t>
            </a:r>
            <a:r>
              <a:rPr lang="en-US" altLang="zh-CN" baseline="3000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altLang="zh-CN">
                <a:latin typeface="Arial" panose="020B0604020202020204" pitchFamily="34" charset="0"/>
              </a:rPr>
              <a:t>+3.4X</a:t>
            </a:r>
            <a:r>
              <a:rPr lang="en-US" altLang="zh-CN" baseline="30000">
                <a:solidFill>
                  <a:srgbClr val="FFFF00"/>
                </a:solidFill>
                <a:latin typeface="Arial" panose="020B0604020202020204" pitchFamily="34" charset="0"/>
              </a:rPr>
              <a:t>2</a:t>
            </a:r>
            <a:r>
              <a:rPr lang="en-US" altLang="zh-CN">
                <a:latin typeface="Arial" panose="020B0604020202020204" pitchFamily="34" charset="0"/>
              </a:rPr>
              <a:t>+X+0.5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6198" name="TextBox 8"/>
          <p:cNvSpPr txBox="1">
            <a:spLocks noChangeArrowheads="1"/>
          </p:cNvSpPr>
          <p:nvPr/>
        </p:nvSpPr>
        <p:spPr bwMode="auto">
          <a:xfrm>
            <a:off x="4725988" y="2997200"/>
            <a:ext cx="5942012" cy="10461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q(x)=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</a:rPr>
              <a:t>1.1X</a:t>
            </a:r>
            <a:r>
              <a:rPr lang="en-US" altLang="zh-CN" sz="3000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altLang="zh-CN" sz="3000" dirty="0">
                <a:latin typeface="Arial" panose="020B0604020202020204" pitchFamily="34" charset="0"/>
              </a:rPr>
              <a:t>+1.2X</a:t>
            </a:r>
            <a:r>
              <a:rPr lang="en-US" altLang="zh-CN" sz="3000" baseline="30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</a:rPr>
              <a:t>+1.3X</a:t>
            </a:r>
            <a:r>
              <a:rPr lang="en-US" altLang="zh-CN" sz="3000" baseline="30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</a:rPr>
              <a:t>+1.4X</a:t>
            </a:r>
            <a:r>
              <a:rPr lang="en-US" altLang="zh-CN" sz="3000" baseline="30000" dirty="0">
                <a:solidFill>
                  <a:srgbClr val="FFFF00"/>
                </a:solidFill>
                <a:latin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</a:rPr>
              <a:t>+1.5X</a:t>
            </a:r>
            <a:endParaRPr lang="zh-CN" altLang="en-US" sz="3000" dirty="0">
              <a:latin typeface="Arial" panose="020B0604020202020204" pitchFamily="34" charset="0"/>
            </a:endParaRPr>
          </a:p>
        </p:txBody>
      </p:sp>
      <p:sp>
        <p:nvSpPr>
          <p:cNvPr id="59399" name="TextBox 9"/>
          <p:cNvSpPr txBox="1">
            <a:spLocks noChangeArrowheads="1"/>
          </p:cNvSpPr>
          <p:nvPr/>
        </p:nvSpPr>
        <p:spPr bwMode="auto">
          <a:xfrm>
            <a:off x="3287713" y="5476875"/>
            <a:ext cx="7380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s(x)=</a:t>
            </a:r>
            <a:r>
              <a:rPr lang="en-US" altLang="zh-CN" sz="3000">
                <a:latin typeface="Arial" panose="020B0604020202020204" pitchFamily="34" charset="0"/>
              </a:rPr>
              <a:t>7.6X</a:t>
            </a:r>
            <a:r>
              <a:rPr lang="en-US" altLang="zh-CN" sz="3000" baseline="3000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altLang="zh-CN" sz="3000">
                <a:latin typeface="Arial" panose="020B0604020202020204" pitchFamily="34" charset="0"/>
              </a:rPr>
              <a:t>+1.2X</a:t>
            </a:r>
            <a:r>
              <a:rPr lang="en-US" altLang="zh-CN" sz="3000" baseline="30000">
                <a:solidFill>
                  <a:srgbClr val="99FF33"/>
                </a:solidFill>
                <a:latin typeface="Arial" panose="020B0604020202020204" pitchFamily="34" charset="0"/>
              </a:rPr>
              <a:t>4</a:t>
            </a:r>
            <a:r>
              <a:rPr lang="en-US" altLang="zh-CN" sz="3000">
                <a:latin typeface="Arial" panose="020B0604020202020204" pitchFamily="34" charset="0"/>
              </a:rPr>
              <a:t>+1.3X</a:t>
            </a:r>
            <a:r>
              <a:rPr lang="en-US" altLang="zh-CN" sz="3000" baseline="30000">
                <a:solidFill>
                  <a:srgbClr val="99FF33"/>
                </a:solidFill>
                <a:latin typeface="Arial" panose="020B0604020202020204" pitchFamily="34" charset="0"/>
              </a:rPr>
              <a:t>3</a:t>
            </a:r>
            <a:r>
              <a:rPr lang="en-US" altLang="zh-CN" sz="3000">
                <a:latin typeface="Arial" panose="020B0604020202020204" pitchFamily="34" charset="0"/>
              </a:rPr>
              <a:t>+4.8X</a:t>
            </a:r>
            <a:r>
              <a:rPr lang="en-US" altLang="zh-CN" sz="3000" baseline="30000">
                <a:solidFill>
                  <a:srgbClr val="FFFF00"/>
                </a:solidFill>
                <a:latin typeface="Arial" panose="020B0604020202020204" pitchFamily="34" charset="0"/>
              </a:rPr>
              <a:t>2</a:t>
            </a:r>
            <a:r>
              <a:rPr lang="en-US" altLang="zh-CN" sz="3000">
                <a:latin typeface="Arial" panose="020B0604020202020204" pitchFamily="34" charset="0"/>
              </a:rPr>
              <a:t>+2.5X+0.5</a:t>
            </a:r>
            <a:endParaRPr lang="zh-CN" altLang="en-US" sz="30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422275" y="477838"/>
            <a:ext cx="8677275" cy="4088130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dirty="0">
                <a:ea typeface="黑体" panose="02010609060101010101" pitchFamily="49" charset="-122"/>
              </a:rPr>
              <a:t>设有类型说明：</a:t>
            </a:r>
            <a:endParaRPr lang="zh-CN" altLang="en-US" dirty="0"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 err="1">
                <a:solidFill>
                  <a:srgbClr val="FFFF00"/>
                </a:solidFill>
                <a:ea typeface="黑体" panose="02010609060101010101" pitchFamily="49" charset="-122"/>
              </a:rPr>
              <a:t>struct</a:t>
            </a:r>
            <a:r>
              <a:rPr lang="en-US" altLang="zh-CN" sz="2400" dirty="0">
                <a:solidFill>
                  <a:srgbClr val="FFFF00"/>
                </a:solidFill>
                <a:ea typeface="黑体" panose="02010609060101010101" pitchFamily="49" charset="-122"/>
              </a:rPr>
              <a:t>  item { </a:t>
            </a:r>
            <a:endParaRPr lang="en-US" altLang="zh-CN" sz="2400" dirty="0">
              <a:solidFill>
                <a:srgbClr val="FFFF00"/>
              </a:solidFill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>
                <a:ea typeface="黑体" panose="02010609060101010101" pitchFamily="49" charset="-122"/>
              </a:rPr>
              <a:t>        </a:t>
            </a:r>
            <a:r>
              <a:rPr lang="en-US" altLang="zh-CN" sz="2400" dirty="0" err="1">
                <a:ea typeface="黑体" panose="02010609060101010101" pitchFamily="49" charset="-122"/>
                <a:sym typeface="+mn-ea"/>
              </a:rPr>
              <a:t>int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  </a:t>
            </a:r>
            <a:r>
              <a:rPr lang="en-US" altLang="zh-CN" sz="2400" dirty="0" err="1">
                <a:ea typeface="黑体" panose="02010609060101010101" pitchFamily="49" charset="-122"/>
                <a:sym typeface="+mn-ea"/>
              </a:rPr>
              <a:t>exp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; </a:t>
            </a:r>
            <a:r>
              <a:rPr lang="en-US" altLang="zh-CN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  <a:sym typeface="+mn-ea"/>
              </a:rPr>
              <a:t>//</a:t>
            </a: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  <a:sym typeface="+mn-ea"/>
              </a:rPr>
              <a:t>幂次</a:t>
            </a:r>
            <a:endParaRPr lang="zh-CN" altLang="en-US" sz="2400" dirty="0">
              <a:solidFill>
                <a:schemeClr val="tx1">
                  <a:lumMod val="65000"/>
                </a:schemeClr>
              </a:solidFill>
              <a:ea typeface="黑体" panose="02010609060101010101" pitchFamily="49" charset="-122"/>
              <a:sym typeface="+mn-ea"/>
            </a:endParaRPr>
          </a:p>
          <a:p>
            <a:pPr lvl="4" indent="457200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  <a:sym typeface="+mn-ea"/>
              </a:rPr>
              <a:t>  </a:t>
            </a:r>
            <a:r>
              <a:rPr lang="en-US" altLang="zh-CN" sz="2400" dirty="0">
                <a:ea typeface="黑体" panose="02010609060101010101" pitchFamily="49" charset="-122"/>
              </a:rPr>
              <a:t>float  </a:t>
            </a:r>
            <a:r>
              <a:rPr lang="en-US" altLang="zh-CN" sz="2400" dirty="0" err="1">
                <a:ea typeface="黑体" panose="02010609060101010101" pitchFamily="49" charset="-122"/>
              </a:rPr>
              <a:t>coef</a:t>
            </a:r>
            <a:r>
              <a:rPr lang="en-US" altLang="zh-CN" sz="2400" dirty="0">
                <a:ea typeface="黑体" panose="02010609060101010101" pitchFamily="49" charset="-122"/>
              </a:rPr>
              <a:t>; </a:t>
            </a:r>
            <a:r>
              <a:rPr lang="en-US" altLang="zh-CN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//</a:t>
            </a: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系数</a:t>
            </a:r>
            <a:r>
              <a:rPr lang="en-US" altLang="zh-CN" sz="2400" dirty="0">
                <a:ea typeface="黑体" panose="02010609060101010101" pitchFamily="49" charset="-122"/>
              </a:rPr>
              <a:t>        	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>
                <a:ea typeface="黑体" panose="02010609060101010101" pitchFamily="49" charset="-122"/>
              </a:rPr>
              <a:t>        </a:t>
            </a:r>
            <a:r>
              <a:rPr lang="en-US" altLang="zh-CN" sz="2400" dirty="0" err="1">
                <a:ea typeface="黑体" panose="02010609060101010101" pitchFamily="49" charset="-122"/>
              </a:rPr>
              <a:t>struct</a:t>
            </a:r>
            <a:r>
              <a:rPr lang="en-US" altLang="zh-CN" sz="2400" dirty="0">
                <a:ea typeface="黑体" panose="02010609060101010101" pitchFamily="49" charset="-122"/>
              </a:rPr>
              <a:t>  item  *next;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>
                <a:solidFill>
                  <a:srgbClr val="FFFF00"/>
                </a:solidFill>
                <a:ea typeface="黑体" panose="02010609060101010101" pitchFamily="49" charset="-122"/>
              </a:rPr>
              <a:t>};</a:t>
            </a:r>
            <a:endParaRPr lang="en-US" altLang="zh-CN" sz="2400" dirty="0">
              <a:solidFill>
                <a:srgbClr val="FFFF00"/>
              </a:solidFill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>
                <a:ea typeface="黑体" panose="02010609060101010101" pitchFamily="49" charset="-122"/>
              </a:rPr>
              <a:t>typedef  </a:t>
            </a:r>
            <a:r>
              <a:rPr lang="en-US" altLang="zh-CN" sz="2400" dirty="0" err="1">
                <a:solidFill>
                  <a:srgbClr val="FFFF00"/>
                </a:solidFill>
                <a:ea typeface="黑体" panose="02010609060101010101" pitchFamily="49" charset="-122"/>
              </a:rPr>
              <a:t>struct</a:t>
            </a:r>
            <a:r>
              <a:rPr lang="en-US" altLang="zh-CN" sz="2400" dirty="0">
                <a:solidFill>
                  <a:srgbClr val="FFFF00"/>
                </a:solidFill>
                <a:ea typeface="黑体" panose="02010609060101010101" pitchFamily="49" charset="-122"/>
              </a:rPr>
              <a:t> item * </a:t>
            </a:r>
            <a:r>
              <a:rPr lang="en-US" altLang="zh-CN" sz="2400" dirty="0" err="1">
                <a:ea typeface="黑体" panose="02010609060101010101" pitchFamily="49" charset="-122"/>
              </a:rPr>
              <a:t>polynome</a:t>
            </a:r>
            <a:r>
              <a:rPr lang="en-US" altLang="zh-CN" sz="2400" dirty="0">
                <a:ea typeface="黑体" panose="02010609060101010101" pitchFamily="49" charset="-122"/>
              </a:rPr>
              <a:t>;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zh-CN" sz="2400" dirty="0">
              <a:solidFill>
                <a:srgbClr val="F52EFC"/>
              </a:solidFill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F52EFC"/>
                </a:solidFill>
                <a:ea typeface="黑体" panose="02010609060101010101" pitchFamily="49" charset="-122"/>
              </a:rPr>
              <a:t>哨兵结点（哨兵项、哨兵变量）：</a:t>
            </a:r>
            <a:endParaRPr lang="en-US" altLang="zh-CN" sz="2400" dirty="0">
              <a:solidFill>
                <a:srgbClr val="F52EFC"/>
              </a:solidFill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a typeface="黑体" panose="02010609060101010101" pitchFamily="49" charset="-122"/>
              </a:rPr>
              <a:t>在链表的链首多加一节，使算法统一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a typeface="黑体" panose="02010609060101010101" pitchFamily="49" charset="-122"/>
              </a:rPr>
              <a:t>该节不存储有效的链表项的值，本程序的哨兵项是空值</a:t>
            </a:r>
            <a:endParaRPr lang="en-US" altLang="zh-CN" sz="2400" dirty="0">
              <a:ea typeface="黑体" panose="02010609060101010101" pitchFamily="49" charset="-122"/>
            </a:endParaRPr>
          </a:p>
        </p:txBody>
      </p:sp>
      <p:grpSp>
        <p:nvGrpSpPr>
          <p:cNvPr id="60419" name="Group 3"/>
          <p:cNvGrpSpPr/>
          <p:nvPr/>
        </p:nvGrpSpPr>
        <p:grpSpPr bwMode="auto">
          <a:xfrm>
            <a:off x="2998788" y="5229225"/>
            <a:ext cx="7489825" cy="1384300"/>
            <a:chOff x="385" y="3249"/>
            <a:chExt cx="4718" cy="872"/>
          </a:xfrm>
        </p:grpSpPr>
        <p:grpSp>
          <p:nvGrpSpPr>
            <p:cNvPr id="60426" name="Group 4"/>
            <p:cNvGrpSpPr/>
            <p:nvPr/>
          </p:nvGrpSpPr>
          <p:grpSpPr bwMode="auto">
            <a:xfrm>
              <a:off x="1477" y="3270"/>
              <a:ext cx="661" cy="830"/>
              <a:chOff x="0" y="0"/>
              <a:chExt cx="20000" cy="20000"/>
            </a:xfrm>
          </p:grpSpPr>
          <p:sp>
            <p:nvSpPr>
              <p:cNvPr id="60450" name="Rectangle 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5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6.5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60451" name="Line 6"/>
              <p:cNvSpPr>
                <a:spLocks noChangeShapeType="1"/>
              </p:cNvSpPr>
              <p:nvPr/>
            </p:nvSpPr>
            <p:spPr bwMode="auto">
              <a:xfrm>
                <a:off x="555" y="13812"/>
                <a:ext cx="19445" cy="25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0427" name="Group 7"/>
            <p:cNvGrpSpPr/>
            <p:nvPr/>
          </p:nvGrpSpPr>
          <p:grpSpPr bwMode="auto">
            <a:xfrm>
              <a:off x="2485" y="3263"/>
              <a:ext cx="662" cy="858"/>
              <a:chOff x="0" y="0"/>
              <a:chExt cx="20000" cy="20000"/>
            </a:xfrm>
          </p:grpSpPr>
          <p:sp>
            <p:nvSpPr>
              <p:cNvPr id="60448" name="Rectangle 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2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3.4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60449" name="Line 9"/>
              <p:cNvSpPr>
                <a:spLocks noChangeShapeType="1"/>
              </p:cNvSpPr>
              <p:nvPr/>
            </p:nvSpPr>
            <p:spPr bwMode="auto">
              <a:xfrm>
                <a:off x="555" y="13821"/>
                <a:ext cx="19445" cy="2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28" name="Line 10"/>
            <p:cNvSpPr>
              <a:spLocks noChangeShapeType="1"/>
            </p:cNvSpPr>
            <p:nvPr/>
          </p:nvSpPr>
          <p:spPr bwMode="auto">
            <a:xfrm>
              <a:off x="1844" y="3979"/>
              <a:ext cx="5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9" name="Line 11"/>
            <p:cNvSpPr>
              <a:spLocks noChangeShapeType="1"/>
            </p:cNvSpPr>
            <p:nvPr/>
          </p:nvSpPr>
          <p:spPr bwMode="auto">
            <a:xfrm>
              <a:off x="2908" y="3984"/>
              <a:ext cx="5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0" name="Line 12"/>
            <p:cNvSpPr>
              <a:spLocks noChangeShapeType="1"/>
            </p:cNvSpPr>
            <p:nvPr/>
          </p:nvSpPr>
          <p:spPr bwMode="auto">
            <a:xfrm>
              <a:off x="3816" y="3984"/>
              <a:ext cx="5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1" name="Line 13"/>
            <p:cNvSpPr>
              <a:spLocks noChangeShapeType="1"/>
            </p:cNvSpPr>
            <p:nvPr/>
          </p:nvSpPr>
          <p:spPr bwMode="auto">
            <a:xfrm>
              <a:off x="1477" y="3560"/>
              <a:ext cx="679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2" name="Line 14"/>
            <p:cNvSpPr>
              <a:spLocks noChangeShapeType="1"/>
            </p:cNvSpPr>
            <p:nvPr/>
          </p:nvSpPr>
          <p:spPr bwMode="auto">
            <a:xfrm>
              <a:off x="2485" y="3560"/>
              <a:ext cx="682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0433" name="Group 15"/>
            <p:cNvGrpSpPr/>
            <p:nvPr/>
          </p:nvGrpSpPr>
          <p:grpSpPr bwMode="auto">
            <a:xfrm>
              <a:off x="3411" y="3261"/>
              <a:ext cx="688" cy="849"/>
              <a:chOff x="4558" y="1886"/>
              <a:chExt cx="309" cy="1226"/>
            </a:xfrm>
          </p:grpSpPr>
          <p:grpSp>
            <p:nvGrpSpPr>
              <p:cNvPr id="60444" name="Group 16"/>
              <p:cNvGrpSpPr/>
              <p:nvPr/>
            </p:nvGrpSpPr>
            <p:grpSpPr bwMode="auto">
              <a:xfrm>
                <a:off x="4570" y="1886"/>
                <a:ext cx="297" cy="1226"/>
                <a:chOff x="0" y="0"/>
                <a:chExt cx="20000" cy="20000"/>
              </a:xfrm>
            </p:grpSpPr>
            <p:sp>
              <p:nvSpPr>
                <p:cNvPr id="60446" name="Rectangle 1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1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1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60447" name="Line 18"/>
                <p:cNvSpPr>
                  <a:spLocks noChangeShapeType="1"/>
                </p:cNvSpPr>
                <p:nvPr/>
              </p:nvSpPr>
              <p:spPr bwMode="auto">
                <a:xfrm>
                  <a:off x="555" y="13817"/>
                  <a:ext cx="19445" cy="24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0445" name="Line 19"/>
              <p:cNvSpPr>
                <a:spLocks noChangeShapeType="1"/>
              </p:cNvSpPr>
              <p:nvPr/>
            </p:nvSpPr>
            <p:spPr bwMode="auto">
              <a:xfrm>
                <a:off x="4558" y="2296"/>
                <a:ext cx="305" cy="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0434" name="Group 20"/>
            <p:cNvGrpSpPr/>
            <p:nvPr/>
          </p:nvGrpSpPr>
          <p:grpSpPr bwMode="auto">
            <a:xfrm>
              <a:off x="4422" y="3261"/>
              <a:ext cx="681" cy="849"/>
              <a:chOff x="5023" y="1886"/>
              <a:chExt cx="306" cy="1226"/>
            </a:xfrm>
          </p:grpSpPr>
          <p:grpSp>
            <p:nvGrpSpPr>
              <p:cNvPr id="60440" name="Group 21"/>
              <p:cNvGrpSpPr/>
              <p:nvPr/>
            </p:nvGrpSpPr>
            <p:grpSpPr bwMode="auto">
              <a:xfrm>
                <a:off x="5023" y="1886"/>
                <a:ext cx="298" cy="1226"/>
                <a:chOff x="0" y="0"/>
                <a:chExt cx="20000" cy="20000"/>
              </a:xfrm>
            </p:grpSpPr>
            <p:sp>
              <p:nvSpPr>
                <p:cNvPr id="60442" name="Rectangle 2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0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0.5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·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60443" name="Line 23"/>
                <p:cNvSpPr>
                  <a:spLocks noChangeShapeType="1"/>
                </p:cNvSpPr>
                <p:nvPr/>
              </p:nvSpPr>
              <p:spPr bwMode="auto">
                <a:xfrm>
                  <a:off x="555" y="13817"/>
                  <a:ext cx="19445" cy="24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0441" name="Line 24"/>
              <p:cNvSpPr>
                <a:spLocks noChangeShapeType="1"/>
              </p:cNvSpPr>
              <p:nvPr/>
            </p:nvSpPr>
            <p:spPr bwMode="auto">
              <a:xfrm>
                <a:off x="5023" y="2274"/>
                <a:ext cx="306" cy="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35" name="Line 25"/>
            <p:cNvSpPr>
              <a:spLocks noChangeShapeType="1"/>
            </p:cNvSpPr>
            <p:nvPr/>
          </p:nvSpPr>
          <p:spPr bwMode="auto">
            <a:xfrm>
              <a:off x="839" y="3974"/>
              <a:ext cx="5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0436" name="Group 26"/>
            <p:cNvGrpSpPr/>
            <p:nvPr/>
          </p:nvGrpSpPr>
          <p:grpSpPr bwMode="auto">
            <a:xfrm>
              <a:off x="385" y="3249"/>
              <a:ext cx="661" cy="830"/>
              <a:chOff x="0" y="0"/>
              <a:chExt cx="20000" cy="20000"/>
            </a:xfrm>
          </p:grpSpPr>
          <p:sp>
            <p:nvSpPr>
              <p:cNvPr id="2" name="Rectangle 2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altLang="zh-CN">
                  <a:latin typeface="Arial" panose="020B0604020202020204" pitchFamily="34" charset="0"/>
                </a:endParaRPr>
              </a:p>
              <a:p>
                <a:pPr eaLnBrk="1" hangingPunct="1">
                  <a:defRPr/>
                </a:pPr>
                <a:endParaRPr lang="en-US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81941" name="Line 28"/>
              <p:cNvSpPr>
                <a:spLocks noChangeShapeType="1"/>
              </p:cNvSpPr>
              <p:nvPr/>
            </p:nvSpPr>
            <p:spPr bwMode="auto">
              <a:xfrm>
                <a:off x="545" y="13807"/>
                <a:ext cx="19455" cy="24"/>
              </a:xfrm>
              <a:prstGeom prst="line">
                <a:avLst/>
              </a:prstGeom>
              <a:noFill/>
              <a:ln w="57150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" name="Line 29"/>
            <p:cNvSpPr>
              <a:spLocks noChangeShapeType="1"/>
            </p:cNvSpPr>
            <p:nvPr/>
          </p:nvSpPr>
          <p:spPr bwMode="auto">
            <a:xfrm>
              <a:off x="385" y="3566"/>
              <a:ext cx="679" cy="1"/>
            </a:xfrm>
            <a:prstGeom prst="line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</p:grpSp>
      <p:sp>
        <p:nvSpPr>
          <p:cNvPr id="60420" name="Rectangle 30"/>
          <p:cNvSpPr>
            <a:spLocks noChangeArrowheads="1"/>
          </p:cNvSpPr>
          <p:nvPr/>
        </p:nvSpPr>
        <p:spPr bwMode="auto">
          <a:xfrm>
            <a:off x="1524000" y="5300663"/>
            <a:ext cx="1020763" cy="452437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ea typeface="黑体" panose="02010609060101010101" pitchFamily="49" charset="-122"/>
            </a:endParaRPr>
          </a:p>
        </p:txBody>
      </p:sp>
      <p:sp>
        <p:nvSpPr>
          <p:cNvPr id="60421" name="Line 31"/>
          <p:cNvSpPr>
            <a:spLocks noChangeShapeType="1"/>
          </p:cNvSpPr>
          <p:nvPr/>
        </p:nvSpPr>
        <p:spPr bwMode="auto">
          <a:xfrm>
            <a:off x="2063750" y="5516563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0B9DC1B-B901-4EC6-AB89-E3A0A63BF33A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0424" name="TextBox 1"/>
          <p:cNvSpPr txBox="1">
            <a:spLocks noChangeArrowheads="1"/>
          </p:cNvSpPr>
          <p:nvPr/>
        </p:nvSpPr>
        <p:spPr bwMode="auto">
          <a:xfrm>
            <a:off x="2817813" y="4767263"/>
            <a:ext cx="1441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52EFC"/>
                </a:solidFill>
                <a:latin typeface="Arial" panose="020B0604020202020204" pitchFamily="34" charset="0"/>
              </a:rPr>
              <a:t>哨兵结点</a:t>
            </a:r>
            <a:endParaRPr lang="zh-CN" altLang="en-US" sz="24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60425" name="TextBox 34"/>
          <p:cNvSpPr txBox="1">
            <a:spLocks noChangeArrowheads="1"/>
          </p:cNvSpPr>
          <p:nvPr/>
        </p:nvSpPr>
        <p:spPr bwMode="auto">
          <a:xfrm>
            <a:off x="1476375" y="4852988"/>
            <a:ext cx="11160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F52EFC"/>
                </a:solidFill>
                <a:latin typeface="Arial" panose="020B0604020202020204" pitchFamily="34" charset="0"/>
              </a:rPr>
              <a:t>表头指针</a:t>
            </a:r>
            <a:endParaRPr lang="zh-CN" altLang="en-US" sz="18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6" name="Group 2"/>
          <p:cNvGrpSpPr/>
          <p:nvPr/>
        </p:nvGrpSpPr>
        <p:grpSpPr bwMode="auto">
          <a:xfrm>
            <a:off x="1400175" y="1319213"/>
            <a:ext cx="8893175" cy="4699000"/>
            <a:chOff x="158" y="185"/>
            <a:chExt cx="5602" cy="2960"/>
          </a:xfrm>
        </p:grpSpPr>
        <p:grpSp>
          <p:nvGrpSpPr>
            <p:cNvPr id="62474" name="Group 3"/>
            <p:cNvGrpSpPr/>
            <p:nvPr/>
          </p:nvGrpSpPr>
          <p:grpSpPr bwMode="auto">
            <a:xfrm>
              <a:off x="204" y="185"/>
              <a:ext cx="962" cy="395"/>
              <a:chOff x="340" y="2726"/>
              <a:chExt cx="758" cy="185"/>
            </a:xfrm>
          </p:grpSpPr>
          <p:sp>
            <p:nvSpPr>
              <p:cNvPr id="62506" name="Rectangle 4"/>
              <p:cNvSpPr>
                <a:spLocks noChangeArrowheads="1"/>
              </p:cNvSpPr>
              <p:nvPr/>
            </p:nvSpPr>
            <p:spPr bwMode="auto">
              <a:xfrm>
                <a:off x="464" y="2741"/>
                <a:ext cx="63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Arial" panose="020B0604020202020204" pitchFamily="34" charset="0"/>
                  </a:rPr>
                  <a:t>开始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2507" name="Oval 5"/>
              <p:cNvSpPr>
                <a:spLocks noChangeArrowheads="1"/>
              </p:cNvSpPr>
              <p:nvPr/>
            </p:nvSpPr>
            <p:spPr bwMode="auto">
              <a:xfrm>
                <a:off x="340" y="2726"/>
                <a:ext cx="678" cy="160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2475" name="Line 6"/>
            <p:cNvSpPr>
              <a:spLocks noChangeShapeType="1"/>
            </p:cNvSpPr>
            <p:nvPr/>
          </p:nvSpPr>
          <p:spPr bwMode="auto">
            <a:xfrm>
              <a:off x="567" y="527"/>
              <a:ext cx="0" cy="222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" name="Rectangle 7"/>
            <p:cNvSpPr>
              <a:spLocks noChangeArrowheads="1"/>
            </p:cNvSpPr>
            <p:nvPr/>
          </p:nvSpPr>
          <p:spPr bwMode="auto">
            <a:xfrm>
              <a:off x="3016" y="291"/>
              <a:ext cx="1814" cy="362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p</a:t>
              </a:r>
              <a:r>
                <a:rPr lang="en-US" altLang="zh-C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=&gt;</a:t>
              </a:r>
              <a:r>
                <a:rPr lang="en-US" altLang="zh-CN" sz="2400" dirty="0">
                  <a:latin typeface="Arial" panose="020B0604020202020204" pitchFamily="34" charset="0"/>
                </a:rPr>
                <a:t>s ; p = p-&gt;next </a:t>
              </a:r>
              <a:endParaRPr lang="en-US" altLang="zh-CN" sz="24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" name="Rectangle 8"/>
            <p:cNvSpPr>
              <a:spLocks noChangeArrowheads="1"/>
            </p:cNvSpPr>
            <p:nvPr/>
          </p:nvSpPr>
          <p:spPr bwMode="auto">
            <a:xfrm>
              <a:off x="3969" y="1253"/>
              <a:ext cx="1587" cy="77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latin typeface="Arial" panose="020B0604020202020204" pitchFamily="34" charset="0"/>
                </a:rPr>
                <a:t>　</a:t>
              </a:r>
              <a:r>
                <a:rPr lang="en-US" altLang="zh-CN" sz="2400" dirty="0" err="1">
                  <a:latin typeface="Arial" panose="020B0604020202020204" pitchFamily="34" charset="0"/>
                </a:rPr>
                <a:t>p+q</a:t>
              </a:r>
              <a:r>
                <a:rPr lang="en-US" altLang="zh-C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=&gt;</a:t>
              </a:r>
              <a:r>
                <a:rPr lang="en-US" altLang="zh-CN" sz="2400" dirty="0">
                  <a:latin typeface="Arial" panose="020B0604020202020204" pitchFamily="34" charset="0"/>
                </a:rPr>
                <a:t>s;</a:t>
              </a:r>
              <a:endParaRPr lang="en-US" altLang="zh-CN" sz="24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latin typeface="Arial" panose="020B0604020202020204" pitchFamily="34" charset="0"/>
                </a:rPr>
                <a:t>　</a:t>
              </a:r>
              <a:r>
                <a:rPr lang="en-US" altLang="zh-CN" sz="2400" dirty="0">
                  <a:latin typeface="Arial" panose="020B0604020202020204" pitchFamily="34" charset="0"/>
                </a:rPr>
                <a:t>q = q-&gt;next;</a:t>
              </a:r>
              <a:endParaRPr lang="en-US" altLang="zh-CN" sz="24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    p = p-&gt;next 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5" name="Rectangle 9"/>
            <p:cNvSpPr>
              <a:spLocks noChangeArrowheads="1"/>
            </p:cNvSpPr>
            <p:nvPr/>
          </p:nvSpPr>
          <p:spPr bwMode="auto">
            <a:xfrm>
              <a:off x="3969" y="709"/>
              <a:ext cx="1791" cy="254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q</a:t>
              </a:r>
              <a:r>
                <a:rPr lang="en-US" altLang="zh-C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=&gt;</a:t>
              </a:r>
              <a:r>
                <a:rPr lang="en-US" altLang="zh-CN" sz="2400" dirty="0">
                  <a:latin typeface="Arial" panose="020B0604020202020204" pitchFamily="34" charset="0"/>
                </a:rPr>
                <a:t>s; q = q-&gt;next 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62479" name="Group 10"/>
            <p:cNvGrpSpPr/>
            <p:nvPr/>
          </p:nvGrpSpPr>
          <p:grpSpPr bwMode="auto">
            <a:xfrm>
              <a:off x="158" y="2782"/>
              <a:ext cx="973" cy="363"/>
              <a:chOff x="1687" y="9889"/>
              <a:chExt cx="633" cy="247"/>
            </a:xfrm>
          </p:grpSpPr>
          <p:sp>
            <p:nvSpPr>
              <p:cNvPr id="62504" name="Rectangle 11"/>
              <p:cNvSpPr>
                <a:spLocks noChangeArrowheads="1"/>
              </p:cNvSpPr>
              <p:nvPr/>
            </p:nvSpPr>
            <p:spPr bwMode="auto">
              <a:xfrm>
                <a:off x="1760" y="9889"/>
                <a:ext cx="560" cy="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Arial" panose="020B0604020202020204" pitchFamily="34" charset="0"/>
                  </a:rPr>
                  <a:t>结束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2505" name="Oval 12"/>
              <p:cNvSpPr>
                <a:spLocks noChangeArrowheads="1"/>
              </p:cNvSpPr>
              <p:nvPr/>
            </p:nvSpPr>
            <p:spPr bwMode="auto">
              <a:xfrm>
                <a:off x="1687" y="9895"/>
                <a:ext cx="512" cy="199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2480" name="Group 13"/>
            <p:cNvGrpSpPr/>
            <p:nvPr/>
          </p:nvGrpSpPr>
          <p:grpSpPr bwMode="auto">
            <a:xfrm>
              <a:off x="586" y="527"/>
              <a:ext cx="1251" cy="635"/>
              <a:chOff x="305" y="0"/>
              <a:chExt cx="19695" cy="20000"/>
            </a:xfrm>
          </p:grpSpPr>
          <p:sp>
            <p:nvSpPr>
              <p:cNvPr id="62501" name="Rectangle 14"/>
              <p:cNvSpPr>
                <a:spLocks noChangeArrowheads="1"/>
              </p:cNvSpPr>
              <p:nvPr/>
            </p:nvSpPr>
            <p:spPr bwMode="auto">
              <a:xfrm>
                <a:off x="305" y="0"/>
                <a:ext cx="17851" cy="19838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64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  (p!=NULL)</a:t>
                </a:r>
                <a:endParaRPr lang="en-US" altLang="zh-CN" sz="2400">
                  <a:latin typeface="Arial" panose="020B0604020202020204" pitchFamily="34" charset="0"/>
                </a:endParaRPr>
              </a:p>
              <a:p>
                <a:pPr eaLnBrk="1" hangingPunct="1">
                  <a:lnSpc>
                    <a:spcPct val="64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52EFC"/>
                    </a:solidFill>
                    <a:latin typeface="Arial" panose="020B0604020202020204" pitchFamily="34" charset="0"/>
                  </a:rPr>
                  <a:t>   &amp;&amp;</a:t>
                </a:r>
                <a:endPara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endParaRPr>
              </a:p>
              <a:p>
                <a:pPr eaLnBrk="1" hangingPunct="1">
                  <a:lnSpc>
                    <a:spcPct val="64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  (q!=NULL)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2502" name="Line 15"/>
              <p:cNvSpPr>
                <a:spLocks noChangeShapeType="1"/>
              </p:cNvSpPr>
              <p:nvPr/>
            </p:nvSpPr>
            <p:spPr bwMode="auto">
              <a:xfrm>
                <a:off x="1455" y="462"/>
                <a:ext cx="17" cy="1953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62503" name="Line 16"/>
              <p:cNvSpPr>
                <a:spLocks noChangeShapeType="1"/>
              </p:cNvSpPr>
              <p:nvPr/>
            </p:nvSpPr>
            <p:spPr bwMode="auto">
              <a:xfrm>
                <a:off x="18164" y="9755"/>
                <a:ext cx="1836" cy="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62481" name="Rectangle 17"/>
            <p:cNvSpPr>
              <a:spLocks noChangeArrowheads="1"/>
            </p:cNvSpPr>
            <p:nvPr/>
          </p:nvSpPr>
          <p:spPr bwMode="auto">
            <a:xfrm>
              <a:off x="1891" y="578"/>
              <a:ext cx="1134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 -&gt;exp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algn="l" eaLnBrk="1" hangingPunct="1">
                <a:lnSpc>
                  <a:spcPct val="64000"/>
                </a:lnSpc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&gt;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  <a:p>
              <a:pPr eaLnBrk="1" hangingPunct="1">
                <a:lnSpc>
                  <a:spcPct val="6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q -&gt;exp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62482" name="Line 18"/>
            <p:cNvSpPr>
              <a:spLocks noChangeShapeType="1"/>
            </p:cNvSpPr>
            <p:nvPr/>
          </p:nvSpPr>
          <p:spPr bwMode="auto">
            <a:xfrm flipV="1">
              <a:off x="1837" y="482"/>
              <a:ext cx="117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3" name="Line 19"/>
            <p:cNvSpPr>
              <a:spLocks noChangeShapeType="1"/>
            </p:cNvSpPr>
            <p:nvPr/>
          </p:nvSpPr>
          <p:spPr bwMode="auto">
            <a:xfrm flipH="1">
              <a:off x="2789" y="482"/>
              <a:ext cx="227" cy="3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4" name="Line 20"/>
            <p:cNvSpPr>
              <a:spLocks noChangeShapeType="1"/>
            </p:cNvSpPr>
            <p:nvPr/>
          </p:nvSpPr>
          <p:spPr bwMode="auto">
            <a:xfrm>
              <a:off x="1837" y="1162"/>
              <a:ext cx="1151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5" name="Line 21"/>
            <p:cNvSpPr>
              <a:spLocks noChangeShapeType="1"/>
            </p:cNvSpPr>
            <p:nvPr/>
          </p:nvSpPr>
          <p:spPr bwMode="auto">
            <a:xfrm flipH="1" flipV="1">
              <a:off x="2789" y="845"/>
              <a:ext cx="182" cy="31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6" name="Line 22"/>
            <p:cNvSpPr>
              <a:spLocks noChangeShapeType="1"/>
            </p:cNvSpPr>
            <p:nvPr/>
          </p:nvSpPr>
          <p:spPr bwMode="auto">
            <a:xfrm>
              <a:off x="1837" y="482"/>
              <a:ext cx="0" cy="6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7" name="Rectangle 23"/>
            <p:cNvSpPr>
              <a:spLocks noChangeArrowheads="1"/>
            </p:cNvSpPr>
            <p:nvPr/>
          </p:nvSpPr>
          <p:spPr bwMode="auto">
            <a:xfrm>
              <a:off x="567" y="1616"/>
              <a:ext cx="1088" cy="31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p!=NULL 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62488" name="Line 24"/>
            <p:cNvSpPr>
              <a:spLocks noChangeShapeType="1"/>
            </p:cNvSpPr>
            <p:nvPr/>
          </p:nvSpPr>
          <p:spPr bwMode="auto">
            <a:xfrm>
              <a:off x="703" y="2160"/>
              <a:ext cx="0" cy="27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9" name="Line 25"/>
            <p:cNvSpPr>
              <a:spLocks noChangeShapeType="1"/>
            </p:cNvSpPr>
            <p:nvPr/>
          </p:nvSpPr>
          <p:spPr bwMode="auto">
            <a:xfrm>
              <a:off x="1655" y="1797"/>
              <a:ext cx="1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0" name="Rectangle 26"/>
            <p:cNvSpPr>
              <a:spLocks noChangeArrowheads="1"/>
            </p:cNvSpPr>
            <p:nvPr/>
          </p:nvSpPr>
          <p:spPr bwMode="auto">
            <a:xfrm>
              <a:off x="567" y="2160"/>
              <a:ext cx="1088" cy="272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q!=NULL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62491" name="Line 27"/>
            <p:cNvSpPr>
              <a:spLocks noChangeShapeType="1"/>
            </p:cNvSpPr>
            <p:nvPr/>
          </p:nvSpPr>
          <p:spPr bwMode="auto">
            <a:xfrm>
              <a:off x="748" y="1616"/>
              <a:ext cx="0" cy="31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2" name="Line 28"/>
            <p:cNvSpPr>
              <a:spLocks noChangeShapeType="1"/>
            </p:cNvSpPr>
            <p:nvPr/>
          </p:nvSpPr>
          <p:spPr bwMode="auto">
            <a:xfrm>
              <a:off x="1655" y="2341"/>
              <a:ext cx="1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29"/>
            <p:cNvSpPr>
              <a:spLocks noChangeArrowheads="1"/>
            </p:cNvSpPr>
            <p:nvPr/>
          </p:nvSpPr>
          <p:spPr bwMode="auto">
            <a:xfrm>
              <a:off x="1791" y="1616"/>
              <a:ext cx="1905" cy="359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 p</a:t>
              </a:r>
              <a:r>
                <a:rPr lang="en-US" altLang="zh-C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=&gt;</a:t>
              </a:r>
              <a:r>
                <a:rPr lang="en-US" altLang="zh-CN" sz="2400" dirty="0">
                  <a:latin typeface="Arial" panose="020B0604020202020204" pitchFamily="34" charset="0"/>
                </a:rPr>
                <a:t>s; p = p-&gt;next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6" name="Rectangle 30"/>
            <p:cNvSpPr>
              <a:spLocks noChangeArrowheads="1"/>
            </p:cNvSpPr>
            <p:nvPr/>
          </p:nvSpPr>
          <p:spPr bwMode="auto">
            <a:xfrm>
              <a:off x="1791" y="2160"/>
              <a:ext cx="1951" cy="317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 q</a:t>
              </a:r>
              <a:r>
                <a:rPr lang="en-US" altLang="zh-C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=&gt;</a:t>
              </a:r>
              <a:r>
                <a:rPr lang="en-US" altLang="zh-CN" sz="2400" dirty="0">
                  <a:latin typeface="Arial" panose="020B0604020202020204" pitchFamily="34" charset="0"/>
                </a:rPr>
                <a:t>s; q = q-&gt;next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62495" name="Rectangle 31"/>
            <p:cNvSpPr>
              <a:spLocks noChangeArrowheads="1"/>
            </p:cNvSpPr>
            <p:nvPr/>
          </p:nvSpPr>
          <p:spPr bwMode="auto">
            <a:xfrm>
              <a:off x="3016" y="913"/>
              <a:ext cx="851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p-&gt;exp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algn="l" eaLnBrk="1" hangingPunct="1">
                <a:lnSpc>
                  <a:spcPct val="64000"/>
                </a:lnSpc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&lt;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  <a:p>
              <a:pPr eaLnBrk="1" hangingPunct="1">
                <a:lnSpc>
                  <a:spcPct val="6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q-&gt;exp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62496" name="Line 32"/>
            <p:cNvSpPr>
              <a:spLocks noChangeShapeType="1"/>
            </p:cNvSpPr>
            <p:nvPr/>
          </p:nvSpPr>
          <p:spPr bwMode="auto">
            <a:xfrm>
              <a:off x="2971" y="890"/>
              <a:ext cx="1001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7" name="Line 33"/>
            <p:cNvSpPr>
              <a:spLocks noChangeShapeType="1"/>
            </p:cNvSpPr>
            <p:nvPr/>
          </p:nvSpPr>
          <p:spPr bwMode="auto">
            <a:xfrm flipH="1">
              <a:off x="3833" y="890"/>
              <a:ext cx="144" cy="22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8" name="Line 34"/>
            <p:cNvSpPr>
              <a:spLocks noChangeShapeType="1"/>
            </p:cNvSpPr>
            <p:nvPr/>
          </p:nvSpPr>
          <p:spPr bwMode="auto">
            <a:xfrm>
              <a:off x="2971" y="1434"/>
              <a:ext cx="1001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9" name="Line 35"/>
            <p:cNvSpPr>
              <a:spLocks noChangeShapeType="1"/>
            </p:cNvSpPr>
            <p:nvPr/>
          </p:nvSpPr>
          <p:spPr bwMode="auto">
            <a:xfrm flipH="1" flipV="1">
              <a:off x="3833" y="1117"/>
              <a:ext cx="136" cy="31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0" name="Line 36"/>
            <p:cNvSpPr>
              <a:spLocks noChangeShapeType="1"/>
            </p:cNvSpPr>
            <p:nvPr/>
          </p:nvSpPr>
          <p:spPr bwMode="auto">
            <a:xfrm>
              <a:off x="2971" y="890"/>
              <a:ext cx="0" cy="54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467" name="Rectangle 37"/>
          <p:cNvSpPr>
            <a:spLocks noChangeArrowheads="1"/>
          </p:cNvSpPr>
          <p:nvPr/>
        </p:nvSpPr>
        <p:spPr bwMode="auto">
          <a:xfrm>
            <a:off x="133350" y="230188"/>
            <a:ext cx="9037638" cy="763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由于利用了</a:t>
            </a:r>
            <a:r>
              <a:rPr lang="zh-CN" altLang="en-US" sz="240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哨兵变量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，所以处理统一了</a:t>
            </a:r>
            <a:endParaRPr lang="en-US" altLang="zh-CN" sz="240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多项式加法的算法如下：</a:t>
            </a:r>
            <a:endParaRPr lang="zh-CN" altLang="en-US" sz="24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1" name="灯片编号占位符 40"/>
          <p:cNvSpPr>
            <a:spLocks noGrp="1"/>
          </p:cNvSpPr>
          <p:nvPr>
            <p:ph type="sldNum" sz="quarter" idx="12"/>
          </p:nvPr>
        </p:nvSpPr>
        <p:spPr>
          <a:xfrm>
            <a:off x="9409113" y="6248400"/>
            <a:ext cx="80168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C1F0FE9-B118-4D99-A3F2-8C415545223F}" type="slidenum">
              <a:rPr lang="zh-CN" altLang="en-US" smtClean="0"/>
            </a:fld>
            <a:endParaRPr lang="en-US" altLang="zh-CN"/>
          </a:p>
        </p:txBody>
      </p:sp>
      <p:sp>
        <p:nvSpPr>
          <p:cNvPr id="62470" name="矩形 6"/>
          <p:cNvSpPr>
            <a:spLocks noChangeArrowheads="1"/>
          </p:cNvSpPr>
          <p:nvPr/>
        </p:nvSpPr>
        <p:spPr bwMode="auto">
          <a:xfrm>
            <a:off x="9170988" y="0"/>
            <a:ext cx="3021012" cy="1631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Arial" panose="020B0604020202020204" pitchFamily="34" charset="0"/>
              </a:rPr>
              <a:t>struct  item { </a:t>
            </a:r>
            <a:endParaRPr lang="en-US" altLang="zh-CN" sz="200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        float  coef;//</a:t>
            </a:r>
            <a:r>
              <a:rPr lang="zh-CN" altLang="en-US" sz="2000">
                <a:latin typeface="Arial" panose="020B0604020202020204" pitchFamily="34" charset="0"/>
              </a:rPr>
              <a:t>系数</a:t>
            </a:r>
            <a:endParaRPr lang="en-US" altLang="zh-CN" sz="2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        int  exp;//</a:t>
            </a:r>
            <a:r>
              <a:rPr lang="zh-CN" altLang="en-US" sz="2000">
                <a:latin typeface="Arial" panose="020B0604020202020204" pitchFamily="34" charset="0"/>
              </a:rPr>
              <a:t>幂次</a:t>
            </a:r>
            <a:endParaRPr lang="en-US" altLang="zh-CN" sz="2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        struct  item  *next;</a:t>
            </a:r>
            <a:endParaRPr lang="en-US" altLang="zh-CN" sz="2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Arial" panose="020B0604020202020204" pitchFamily="34" charset="0"/>
              </a:rPr>
              <a:t>};</a:t>
            </a:r>
            <a:endParaRPr lang="en-US" altLang="zh-CN" sz="200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62471" name="TextBox 2"/>
          <p:cNvSpPr txBox="1">
            <a:spLocks noChangeArrowheads="1"/>
          </p:cNvSpPr>
          <p:nvPr/>
        </p:nvSpPr>
        <p:spPr bwMode="auto">
          <a:xfrm>
            <a:off x="3097213" y="5102225"/>
            <a:ext cx="4870450" cy="5835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52EFC"/>
                </a:solidFill>
                <a:latin typeface="Arial" panose="020B0604020202020204" pitchFamily="34" charset="0"/>
              </a:rPr>
              <a:t>p(x)=</a:t>
            </a:r>
            <a:r>
              <a:rPr lang="en-US" altLang="zh-CN">
                <a:latin typeface="Arial" panose="020B0604020202020204" pitchFamily="34" charset="0"/>
              </a:rPr>
              <a:t>6.5X</a:t>
            </a:r>
            <a:r>
              <a:rPr lang="en-US" altLang="zh-CN" baseline="30000">
                <a:solidFill>
                  <a:srgbClr val="F52EFC"/>
                </a:solidFill>
                <a:latin typeface="Arial" panose="020B0604020202020204" pitchFamily="34" charset="0"/>
              </a:rPr>
              <a:t>5</a:t>
            </a:r>
            <a:r>
              <a:rPr lang="en-US" altLang="zh-CN">
                <a:latin typeface="Arial" panose="020B0604020202020204" pitchFamily="34" charset="0"/>
              </a:rPr>
              <a:t>+3.4X</a:t>
            </a:r>
            <a:r>
              <a:rPr lang="en-US" altLang="zh-CN" baseline="30000">
                <a:solidFill>
                  <a:srgbClr val="F52EFC"/>
                </a:solidFill>
                <a:latin typeface="Arial" panose="020B0604020202020204" pitchFamily="34" charset="0"/>
              </a:rPr>
              <a:t>2</a:t>
            </a:r>
            <a:r>
              <a:rPr lang="en-US" altLang="zh-CN">
                <a:latin typeface="Arial" panose="020B0604020202020204" pitchFamily="34" charset="0"/>
              </a:rPr>
              <a:t>+X+0.5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2472" name="TextBox 8"/>
          <p:cNvSpPr txBox="1">
            <a:spLocks noChangeArrowheads="1"/>
          </p:cNvSpPr>
          <p:nvPr/>
        </p:nvSpPr>
        <p:spPr bwMode="auto">
          <a:xfrm>
            <a:off x="3116263" y="5654675"/>
            <a:ext cx="6853237" cy="5835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52EFC"/>
                </a:solidFill>
                <a:latin typeface="Arial" panose="020B0604020202020204" pitchFamily="34" charset="0"/>
              </a:rPr>
              <a:t>q(x)=</a:t>
            </a:r>
            <a:r>
              <a:rPr lang="en-US" altLang="zh-CN" sz="3000">
                <a:latin typeface="Arial" panose="020B0604020202020204" pitchFamily="34" charset="0"/>
              </a:rPr>
              <a:t>1.1X</a:t>
            </a:r>
            <a:r>
              <a:rPr lang="en-US" altLang="zh-CN" sz="3200" baseline="30000">
                <a:solidFill>
                  <a:srgbClr val="F52EFC"/>
                </a:solidFill>
                <a:latin typeface="Arial" panose="020B0604020202020204" pitchFamily="34" charset="0"/>
              </a:rPr>
              <a:t>5</a:t>
            </a:r>
            <a:r>
              <a:rPr lang="en-US" altLang="zh-CN" sz="3000">
                <a:latin typeface="Arial" panose="020B0604020202020204" pitchFamily="34" charset="0"/>
              </a:rPr>
              <a:t>+1.2X</a:t>
            </a:r>
            <a:r>
              <a:rPr lang="en-US" altLang="zh-CN" sz="3000" baseline="30000">
                <a:solidFill>
                  <a:srgbClr val="99FF33"/>
                </a:solidFill>
                <a:latin typeface="Arial" panose="020B0604020202020204" pitchFamily="34" charset="0"/>
              </a:rPr>
              <a:t>4</a:t>
            </a:r>
            <a:r>
              <a:rPr lang="en-US" altLang="zh-CN" sz="3000">
                <a:latin typeface="Arial" panose="020B0604020202020204" pitchFamily="34" charset="0"/>
              </a:rPr>
              <a:t>+1.3X</a:t>
            </a:r>
            <a:r>
              <a:rPr lang="en-US" altLang="zh-CN" sz="3000" baseline="30000">
                <a:solidFill>
                  <a:srgbClr val="99FF33"/>
                </a:solidFill>
                <a:latin typeface="Arial" panose="020B0604020202020204" pitchFamily="34" charset="0"/>
              </a:rPr>
              <a:t>3</a:t>
            </a:r>
            <a:r>
              <a:rPr lang="en-US" altLang="zh-CN" sz="3000">
                <a:latin typeface="Arial" panose="020B0604020202020204" pitchFamily="34" charset="0"/>
              </a:rPr>
              <a:t>+1.4X</a:t>
            </a:r>
            <a:r>
              <a:rPr lang="en-US" altLang="zh-CN" sz="3200" baseline="30000">
                <a:solidFill>
                  <a:srgbClr val="F52EFC"/>
                </a:solidFill>
                <a:latin typeface="Arial" panose="020B0604020202020204" pitchFamily="34" charset="0"/>
              </a:rPr>
              <a:t>2</a:t>
            </a:r>
            <a:r>
              <a:rPr lang="en-US" altLang="zh-CN" sz="3000">
                <a:latin typeface="Arial" panose="020B0604020202020204" pitchFamily="34" charset="0"/>
              </a:rPr>
              <a:t>+1.5X</a:t>
            </a:r>
            <a:endParaRPr lang="zh-CN" altLang="en-US" sz="3000">
              <a:latin typeface="Arial" panose="020B0604020202020204" pitchFamily="34" charset="0"/>
            </a:endParaRPr>
          </a:p>
        </p:txBody>
      </p:sp>
      <p:sp>
        <p:nvSpPr>
          <p:cNvPr id="62473" name="TextBox 9"/>
          <p:cNvSpPr txBox="1">
            <a:spLocks noChangeArrowheads="1"/>
          </p:cNvSpPr>
          <p:nvPr/>
        </p:nvSpPr>
        <p:spPr bwMode="auto">
          <a:xfrm>
            <a:off x="3071813" y="6165850"/>
            <a:ext cx="7380287" cy="58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52EFC"/>
                </a:solidFill>
                <a:latin typeface="Arial" panose="020B0604020202020204" pitchFamily="34" charset="0"/>
              </a:rPr>
              <a:t>s(x)=</a:t>
            </a:r>
            <a:r>
              <a:rPr lang="en-US" altLang="zh-CN" sz="3000">
                <a:latin typeface="Arial" panose="020B0604020202020204" pitchFamily="34" charset="0"/>
              </a:rPr>
              <a:t>7.6X</a:t>
            </a:r>
            <a:r>
              <a:rPr lang="en-US" altLang="zh-CN" sz="3000" baseline="30000">
                <a:latin typeface="Arial" panose="020B0604020202020204" pitchFamily="34" charset="0"/>
              </a:rPr>
              <a:t>5</a:t>
            </a:r>
            <a:r>
              <a:rPr lang="en-US" altLang="zh-CN" sz="3000">
                <a:latin typeface="Arial" panose="020B0604020202020204" pitchFamily="34" charset="0"/>
              </a:rPr>
              <a:t>+1.2X</a:t>
            </a:r>
            <a:r>
              <a:rPr lang="en-US" altLang="zh-CN" sz="3000" baseline="30000">
                <a:latin typeface="Arial" panose="020B0604020202020204" pitchFamily="34" charset="0"/>
              </a:rPr>
              <a:t>4</a:t>
            </a:r>
            <a:r>
              <a:rPr lang="en-US" altLang="zh-CN" sz="3000">
                <a:latin typeface="Arial" panose="020B0604020202020204" pitchFamily="34" charset="0"/>
              </a:rPr>
              <a:t>+1.3X</a:t>
            </a:r>
            <a:r>
              <a:rPr lang="en-US" altLang="zh-CN" sz="3000" baseline="30000">
                <a:latin typeface="Arial" panose="020B0604020202020204" pitchFamily="34" charset="0"/>
              </a:rPr>
              <a:t>3</a:t>
            </a:r>
            <a:r>
              <a:rPr lang="en-US" altLang="zh-CN" sz="3000">
                <a:latin typeface="Arial" panose="020B0604020202020204" pitchFamily="34" charset="0"/>
              </a:rPr>
              <a:t>+4.8X</a:t>
            </a:r>
            <a:r>
              <a:rPr lang="en-US" altLang="zh-CN" sz="3000" baseline="30000">
                <a:latin typeface="Arial" panose="020B0604020202020204" pitchFamily="34" charset="0"/>
              </a:rPr>
              <a:t>2</a:t>
            </a:r>
            <a:r>
              <a:rPr lang="en-US" altLang="zh-CN" sz="3000">
                <a:latin typeface="Arial" panose="020B0604020202020204" pitchFamily="34" charset="0"/>
              </a:rPr>
              <a:t>+2.5X+0.5</a:t>
            </a:r>
            <a:endParaRPr lang="zh-CN" altLang="en-US" sz="30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DA9682C-C8EC-49D7-BB4D-A55F5069CBA8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4515" name="矩形 6"/>
          <p:cNvSpPr>
            <a:spLocks noChangeArrowheads="1"/>
          </p:cNvSpPr>
          <p:nvPr/>
        </p:nvSpPr>
        <p:spPr bwMode="auto">
          <a:xfrm>
            <a:off x="1600200" y="1066800"/>
            <a:ext cx="7286625" cy="4128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#include&lt;stdio.h&gt;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#include&lt;stdlib.h&gt;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struct  item { </a:t>
            </a:r>
            <a:endParaRPr lang="en-US" altLang="zh-CN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457200" lvl="1" indent="457200" algn="l" eaLnBrk="1" hangingPunct="1">
              <a:buClrTx/>
              <a:buSzTx/>
              <a:buFontTx/>
              <a:buNone/>
            </a:pPr>
            <a:r>
              <a:rPr lang="en-US" altLang="zh-CN" sz="3200">
                <a:latin typeface="Arial" panose="020B0604020202020204" pitchFamily="34" charset="0"/>
                <a:sym typeface="+mn-ea"/>
              </a:rPr>
              <a:t>int  exp;</a:t>
            </a:r>
            <a:r>
              <a:rPr lang="zh-CN" altLang="en-US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//幂次</a:t>
            </a:r>
            <a:endParaRPr lang="zh-CN" altLang="en-US" sz="200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marL="457200" lvl="1" indent="4572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>
                <a:latin typeface="Arial" panose="020B0604020202020204" pitchFamily="34" charset="0"/>
              </a:rPr>
              <a:t>float  coef;</a:t>
            </a:r>
            <a:r>
              <a:rPr lang="en-US" altLang="zh-CN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系数</a:t>
            </a:r>
            <a:endParaRPr lang="en-US" altLang="zh-CN" sz="200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        struct  item  *next;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};</a:t>
            </a:r>
            <a:endParaRPr lang="en-US" altLang="zh-CN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typedef  </a:t>
            </a: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struct item * </a:t>
            </a:r>
            <a:r>
              <a:rPr lang="en-US" altLang="zh-CN">
                <a:latin typeface="Arial" panose="020B0604020202020204" pitchFamily="34" charset="0"/>
              </a:rPr>
              <a:t>polynome;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4516" name="TextBox 7"/>
          <p:cNvSpPr txBox="1">
            <a:spLocks noChangeArrowheads="1"/>
          </p:cNvSpPr>
          <p:nvPr/>
        </p:nvSpPr>
        <p:spPr bwMode="auto">
          <a:xfrm>
            <a:off x="6350" y="0"/>
            <a:ext cx="2071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完整程序</a:t>
            </a:r>
            <a:r>
              <a:rPr lang="en-US" altLang="zh-CN">
                <a:latin typeface="Arial" panose="020B0604020202020204" pitchFamily="34" charset="0"/>
              </a:rPr>
              <a:t>:</a:t>
            </a:r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249BED4-DB7A-4DC0-A183-825CA3E3CA80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4995" name="矩形 6"/>
          <p:cNvSpPr>
            <a:spLocks noChangeArrowheads="1"/>
          </p:cNvSpPr>
          <p:nvPr/>
        </p:nvSpPr>
        <p:spPr bwMode="auto">
          <a:xfrm>
            <a:off x="457200" y="152400"/>
            <a:ext cx="11184890" cy="6468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创建多项式（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n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项）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polynome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create(</a:t>
            </a:r>
            <a:r>
              <a:rPr lang="en-US" altLang="zh-CN" dirty="0" err="1">
                <a:latin typeface="Arial" panose="020B0604020202020204" pitchFamily="34" charset="0"/>
                <a:sym typeface="+mn-ea"/>
              </a:rPr>
              <a:t>int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n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);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遍历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  <a:sym typeface="+mn-ea"/>
              </a:rPr>
              <a:t>void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print(</a:t>
            </a:r>
            <a:r>
              <a:rPr lang="en-US" altLang="zh-CN" dirty="0" err="1">
                <a:latin typeface="Arial" panose="020B0604020202020204" pitchFamily="34" charset="0"/>
                <a:sym typeface="+mn-ea"/>
              </a:rPr>
              <a:t>polynome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head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);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</a:t>
            </a:r>
            <a:endParaRPr lang="en-US" altLang="zh-CN" dirty="0">
              <a:latin typeface="Arial" panose="020B0604020202020204" pitchFamily="34" charset="0"/>
              <a:sym typeface="+mn-ea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创建求和链表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s(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p+q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=&gt;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s)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polynome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dirty="0" err="1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addPolynome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( </a:t>
            </a:r>
            <a:r>
              <a:rPr lang="en-US" altLang="zh-CN" dirty="0" err="1">
                <a:latin typeface="Arial" panose="020B0604020202020204" pitchFamily="34" charset="0"/>
                <a:sym typeface="+mn-ea"/>
              </a:rPr>
              <a:t>polynome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p, </a:t>
            </a:r>
            <a:r>
              <a:rPr lang="en-US" altLang="zh-CN" dirty="0" err="1">
                <a:latin typeface="Arial" panose="020B0604020202020204" pitchFamily="34" charset="0"/>
                <a:sym typeface="+mn-ea"/>
              </a:rPr>
              <a:t>polynome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q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);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</a:t>
            </a:r>
            <a:endParaRPr lang="en-US" altLang="zh-CN" dirty="0">
              <a:latin typeface="Arial" panose="020B0604020202020204" pitchFamily="34" charset="0"/>
              <a:sym typeface="+mn-ea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*在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的表尾结点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rr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后边加入一项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p+q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=&gt;s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的过程中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,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把指定结点加入到 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rr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-&gt;next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）*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void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adds(</a:t>
            </a:r>
            <a:r>
              <a:rPr lang="en-US" altLang="zh-CN" dirty="0" err="1">
                <a:latin typeface="Arial" panose="020B0604020202020204" pitchFamily="34" charset="0"/>
              </a:rPr>
              <a:t>int</a:t>
            </a:r>
            <a:r>
              <a:rPr lang="en-US" altLang="zh-CN" dirty="0">
                <a:latin typeface="Arial" panose="020B0604020202020204" pitchFamily="34" charset="0"/>
              </a:rPr>
              <a:t> exp0,float coef0,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rr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);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  <a:p>
            <a:pPr algn="l" eaLnBrk="1" hangingPunct="1"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  <a:sym typeface="+mn-ea"/>
              </a:rPr>
              <a:t>void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freePolynome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(</a:t>
            </a:r>
            <a:r>
              <a:rPr lang="en-US" altLang="zh-CN" dirty="0" err="1">
                <a:latin typeface="Arial" panose="020B0604020202020204" pitchFamily="34" charset="0"/>
                <a:sym typeface="+mn-ea"/>
              </a:rPr>
              <a:t>polynome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head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);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//释放链表内存</a:t>
            </a:r>
            <a:endParaRPr lang="en-US" altLang="zh-CN" sz="2800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5351DC2-3DF8-4E6E-BC80-06DFC5FBE3F2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8611" name="矩形 6"/>
          <p:cNvSpPr>
            <a:spLocks noChangeArrowheads="1"/>
          </p:cNvSpPr>
          <p:nvPr/>
        </p:nvSpPr>
        <p:spPr bwMode="auto">
          <a:xfrm>
            <a:off x="76835" y="685800"/>
            <a:ext cx="9000490" cy="5830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int 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main()</a:t>
            </a:r>
            <a:endParaRPr lang="en-US" altLang="zh-CN" dirty="0" err="1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{</a:t>
            </a:r>
            <a:r>
              <a:rPr lang="en-US" altLang="zh-CN">
                <a:latin typeface="Arial" panose="020B0604020202020204" pitchFamily="34" charset="0"/>
                <a:sym typeface="+mn-ea"/>
              </a:rPr>
              <a:t> </a:t>
            </a:r>
            <a:endParaRPr lang="en-US" altLang="zh-CN">
              <a:latin typeface="Arial" panose="020B0604020202020204" pitchFamily="34" charset="0"/>
              <a:sym typeface="+mn-ea"/>
            </a:endParaRPr>
          </a:p>
          <a:p>
            <a:pPr marL="457200" lvl="1" indent="4572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//</a:t>
            </a:r>
            <a:r>
              <a:rPr lang="zh-CN" altLang="en-US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分别指向多项式</a:t>
            </a:r>
            <a:r>
              <a:rPr lang="en-US" altLang="zh-CN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、多项式</a:t>
            </a:r>
            <a:r>
              <a:rPr lang="en-US" altLang="zh-CN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、求和结果</a:t>
            </a:r>
            <a:endParaRPr lang="en-US" altLang="zh-CN" sz="2000" dirty="0" err="1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</a:t>
            </a: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>
                <a:latin typeface="Arial" panose="020B0604020202020204" pitchFamily="34" charset="0"/>
              </a:rPr>
              <a:t> h1=NULL,h2</a:t>
            </a:r>
            <a:r>
              <a:rPr lang="en-US" altLang="zh-CN">
                <a:latin typeface="Arial" panose="020B0604020202020204" pitchFamily="34" charset="0"/>
                <a:sym typeface="+mn-ea"/>
              </a:rPr>
              <a:t>=NULL</a:t>
            </a:r>
            <a:r>
              <a:rPr lang="en-US" altLang="zh-CN">
                <a:latin typeface="Arial" panose="020B0604020202020204" pitchFamily="34" charset="0"/>
              </a:rPr>
              <a:t>,h3</a:t>
            </a:r>
            <a:r>
              <a:rPr lang="en-US" altLang="zh-CN">
                <a:latin typeface="Arial" panose="020B0604020202020204" pitchFamily="34" charset="0"/>
                <a:sym typeface="+mn-ea"/>
              </a:rPr>
              <a:t>=NULL</a:t>
            </a:r>
            <a:r>
              <a:rPr lang="en-US" altLang="zh-CN">
                <a:latin typeface="Arial" panose="020B0604020202020204" pitchFamily="34" charset="0"/>
              </a:rPr>
              <a:t>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	</a:t>
            </a:r>
            <a:r>
              <a:rPr lang="en-US" altLang="zh-CN" sz="1800">
                <a:latin typeface="Arial" panose="020B0604020202020204" pitchFamily="34" charset="0"/>
              </a:rPr>
              <a:t>printf("</a:t>
            </a:r>
            <a:r>
              <a:rPr lang="zh-CN" altLang="en-US" sz="1800">
                <a:latin typeface="Arial" panose="020B0604020202020204" pitchFamily="34" charset="0"/>
              </a:rPr>
              <a:t>开始创建链表</a:t>
            </a:r>
            <a:r>
              <a:rPr lang="en-US" altLang="zh-CN" sz="1800">
                <a:latin typeface="Arial" panose="020B0604020202020204" pitchFamily="34" charset="0"/>
              </a:rPr>
              <a:t>...\n");</a:t>
            </a:r>
            <a:endParaRPr lang="en-US" altLang="zh-CN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h1=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create(</a:t>
            </a:r>
            <a:r>
              <a:rPr lang="en-US" altLang="zh-CN">
                <a:latin typeface="Arial" panose="020B0604020202020204" pitchFamily="34" charset="0"/>
              </a:rPr>
              <a:t>4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r>
              <a:rPr lang="en-US" altLang="zh-CN">
                <a:latin typeface="Arial" panose="020B0604020202020204" pitchFamily="34" charset="0"/>
              </a:rPr>
              <a:t>; </a:t>
            </a:r>
            <a:r>
              <a:rPr lang="en-US" altLang="zh-CN" sz="1800">
                <a:latin typeface="Arial" panose="020B0604020202020204" pitchFamily="34" charset="0"/>
              </a:rPr>
              <a:t>//</a:t>
            </a:r>
            <a:r>
              <a:rPr lang="zh-CN" altLang="en-US" sz="1800">
                <a:latin typeface="Arial" panose="020B0604020202020204" pitchFamily="34" charset="0"/>
              </a:rPr>
              <a:t>调用函数，创建多项式</a:t>
            </a:r>
            <a:r>
              <a:rPr lang="en-US" altLang="zh-CN" sz="1800">
                <a:latin typeface="Arial" panose="020B0604020202020204" pitchFamily="34" charset="0"/>
              </a:rPr>
              <a:t>1</a:t>
            </a:r>
            <a:r>
              <a:rPr lang="zh-CN" altLang="en-US" sz="1800">
                <a:latin typeface="Arial" panose="020B0604020202020204" pitchFamily="34" charset="0"/>
              </a:rPr>
              <a:t>，共</a:t>
            </a:r>
            <a:r>
              <a:rPr lang="en-US" altLang="zh-CN" sz="1800">
                <a:latin typeface="Arial" panose="020B0604020202020204" pitchFamily="34" charset="0"/>
              </a:rPr>
              <a:t>4</a:t>
            </a:r>
            <a:r>
              <a:rPr lang="zh-CN" altLang="en-US" sz="1800">
                <a:latin typeface="Arial" panose="020B0604020202020204" pitchFamily="34" charset="0"/>
              </a:rPr>
              <a:t>项</a:t>
            </a:r>
            <a:endParaRPr lang="zh-CN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	</a:t>
            </a:r>
            <a:r>
              <a:rPr lang="en-US" altLang="zh-CN" sz="1800">
                <a:latin typeface="Arial" panose="020B0604020202020204" pitchFamily="34" charset="0"/>
              </a:rPr>
              <a:t>printf("</a:t>
            </a:r>
            <a:r>
              <a:rPr lang="zh-CN" altLang="en-US" sz="1800">
                <a:latin typeface="Arial" panose="020B0604020202020204" pitchFamily="34" charset="0"/>
              </a:rPr>
              <a:t>链表已创建</a:t>
            </a:r>
            <a:r>
              <a:rPr lang="en-US" altLang="zh-CN" sz="1800">
                <a:latin typeface="Arial" panose="020B0604020202020204" pitchFamily="34" charset="0"/>
              </a:rPr>
              <a:t>...\n\n");</a:t>
            </a:r>
            <a:endParaRPr lang="en-US" altLang="zh-CN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</a:t>
            </a:r>
            <a:r>
              <a:rPr lang="en-US" altLang="zh-CN" sz="1800">
                <a:latin typeface="Arial" panose="020B0604020202020204" pitchFamily="34" charset="0"/>
              </a:rPr>
              <a:t>printf("</a:t>
            </a:r>
            <a:r>
              <a:rPr lang="zh-CN" altLang="en-US" sz="1800">
                <a:latin typeface="Arial" panose="020B0604020202020204" pitchFamily="34" charset="0"/>
              </a:rPr>
              <a:t>开始创建链表</a:t>
            </a:r>
            <a:r>
              <a:rPr lang="en-US" altLang="zh-CN" sz="1800">
                <a:latin typeface="Arial" panose="020B0604020202020204" pitchFamily="34" charset="0"/>
              </a:rPr>
              <a:t>...\n");</a:t>
            </a:r>
            <a:endParaRPr lang="en-US" altLang="zh-CN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h2=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create(</a:t>
            </a:r>
            <a:r>
              <a:rPr lang="en-US" altLang="zh-CN">
                <a:latin typeface="Arial" panose="020B0604020202020204" pitchFamily="34" charset="0"/>
              </a:rPr>
              <a:t>5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r>
              <a:rPr lang="en-US" altLang="zh-CN">
                <a:latin typeface="Arial" panose="020B0604020202020204" pitchFamily="34" charset="0"/>
              </a:rPr>
              <a:t>; </a:t>
            </a:r>
            <a:r>
              <a:rPr lang="en-US" altLang="zh-CN" sz="1800">
                <a:latin typeface="Arial" panose="020B0604020202020204" pitchFamily="34" charset="0"/>
              </a:rPr>
              <a:t>//</a:t>
            </a:r>
            <a:r>
              <a:rPr lang="zh-CN" altLang="en-US" sz="1800">
                <a:latin typeface="Arial" panose="020B0604020202020204" pitchFamily="34" charset="0"/>
              </a:rPr>
              <a:t>调用函数，创建多项式</a:t>
            </a:r>
            <a:r>
              <a:rPr lang="en-US" altLang="zh-CN" sz="1800">
                <a:latin typeface="Arial" panose="020B0604020202020204" pitchFamily="34" charset="0"/>
              </a:rPr>
              <a:t>2</a:t>
            </a:r>
            <a:r>
              <a:rPr lang="zh-CN" altLang="en-US" sz="1800">
                <a:latin typeface="Arial" panose="020B0604020202020204" pitchFamily="34" charset="0"/>
              </a:rPr>
              <a:t>，共</a:t>
            </a:r>
            <a:r>
              <a:rPr lang="en-US" altLang="zh-CN" sz="1800">
                <a:latin typeface="Arial" panose="020B0604020202020204" pitchFamily="34" charset="0"/>
              </a:rPr>
              <a:t>5</a:t>
            </a:r>
            <a:r>
              <a:rPr lang="zh-CN" altLang="en-US" sz="1800">
                <a:latin typeface="Arial" panose="020B0604020202020204" pitchFamily="34" charset="0"/>
              </a:rPr>
              <a:t>项</a:t>
            </a:r>
            <a:endParaRPr lang="zh-CN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	</a:t>
            </a:r>
            <a:r>
              <a:rPr lang="en-US" altLang="zh-CN" sz="1800">
                <a:latin typeface="Arial" panose="020B0604020202020204" pitchFamily="34" charset="0"/>
              </a:rPr>
              <a:t>printf("</a:t>
            </a:r>
            <a:r>
              <a:rPr lang="zh-CN" altLang="en-US" sz="1800">
                <a:latin typeface="Arial" panose="020B0604020202020204" pitchFamily="34" charset="0"/>
              </a:rPr>
              <a:t>链表已创建</a:t>
            </a:r>
            <a:r>
              <a:rPr lang="en-US" altLang="zh-CN" sz="1800">
                <a:latin typeface="Arial" panose="020B0604020202020204" pitchFamily="34" charset="0"/>
              </a:rPr>
              <a:t>...\n\n");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grpSp>
        <p:nvGrpSpPr>
          <p:cNvPr id="68613" name="组合 7"/>
          <p:cNvGrpSpPr/>
          <p:nvPr/>
        </p:nvGrpSpPr>
        <p:grpSpPr bwMode="auto">
          <a:xfrm>
            <a:off x="2819650" y="228600"/>
            <a:ext cx="5484245" cy="1374775"/>
            <a:chOff x="1567214" y="663080"/>
            <a:chExt cx="7576786" cy="1149199"/>
          </a:xfrm>
        </p:grpSpPr>
        <p:sp>
          <p:nvSpPr>
            <p:cNvPr id="68614" name="矩形 1"/>
            <p:cNvSpPr>
              <a:spLocks noChangeArrowheads="1"/>
            </p:cNvSpPr>
            <p:nvPr/>
          </p:nvSpPr>
          <p:spPr bwMode="auto">
            <a:xfrm>
              <a:off x="2198515" y="663080"/>
              <a:ext cx="6945485" cy="6937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已有类型定义：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typedef  </a:t>
              </a: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struct item * </a:t>
              </a:r>
              <a:r>
                <a:rPr lang="en-US" altLang="zh-CN" sz="2400">
                  <a:latin typeface="Arial" panose="020B0604020202020204" pitchFamily="34" charset="0"/>
                </a:rPr>
                <a:t>polynome;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cxnSp>
          <p:nvCxnSpPr>
            <p:cNvPr id="68615" name="直接箭头连接符 6"/>
            <p:cNvCxnSpPr>
              <a:cxnSpLocks noChangeShapeType="1"/>
            </p:cNvCxnSpPr>
            <p:nvPr/>
          </p:nvCxnSpPr>
          <p:spPr bwMode="auto">
            <a:xfrm flipV="1">
              <a:off x="1567214" y="1363747"/>
              <a:ext cx="631647" cy="448532"/>
            </a:xfrm>
            <a:prstGeom prst="straightConnector1">
              <a:avLst/>
            </a:prstGeom>
            <a:noFill/>
            <a:ln w="476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600EF79-3A9A-421B-8DBF-17C9A054FD2C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70659" name="矩形 6"/>
          <p:cNvSpPr>
            <a:spLocks noChangeArrowheads="1"/>
          </p:cNvSpPr>
          <p:nvPr/>
        </p:nvSpPr>
        <p:spPr bwMode="auto">
          <a:xfrm>
            <a:off x="685800" y="381000"/>
            <a:ext cx="9636125" cy="4954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printf("\n</a:t>
            </a:r>
            <a:r>
              <a:rPr lang="zh-CN" altLang="en-US" sz="2800">
                <a:latin typeface="Arial" panose="020B0604020202020204" pitchFamily="34" charset="0"/>
              </a:rPr>
              <a:t>多项式加法</a:t>
            </a:r>
            <a:r>
              <a:rPr lang="en-US" altLang="zh-CN" sz="2800">
                <a:latin typeface="Arial" panose="020B0604020202020204" pitchFamily="34" charset="0"/>
              </a:rPr>
              <a:t>...\n");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</a:t>
            </a:r>
            <a:r>
              <a:rPr lang="en-US" altLang="zh-CN" sz="2800">
                <a:solidFill>
                  <a:srgbClr val="FFFF00"/>
                </a:solidFill>
                <a:latin typeface="Arial" panose="020B0604020202020204" pitchFamily="34" charset="0"/>
              </a:rPr>
              <a:t>h3=</a:t>
            </a:r>
            <a:r>
              <a:rPr lang="en-US" altLang="zh-CN" sz="3200" dirty="0" err="1">
                <a:solidFill>
                  <a:srgbClr val="F52EFC"/>
                </a:solidFill>
                <a:latin typeface="Arial" panose="020B0604020202020204" pitchFamily="34" charset="0"/>
              </a:rPr>
              <a:t>addPolynome(</a:t>
            </a:r>
            <a:r>
              <a:rPr lang="en-US" altLang="zh-CN" sz="2800">
                <a:latin typeface="Arial" panose="020B0604020202020204" pitchFamily="34" charset="0"/>
              </a:rPr>
              <a:t>h1,h2</a:t>
            </a:r>
            <a:r>
              <a:rPr lang="en-US" altLang="zh-CN" sz="3200" dirty="0" err="1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800">
                <a:latin typeface="Arial" panose="020B0604020202020204" pitchFamily="34" charset="0"/>
              </a:rPr>
              <a:t>; </a:t>
            </a:r>
            <a:r>
              <a:rPr lang="en-US" altLang="zh-CN" sz="2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调用函数，多项式加法</a:t>
            </a:r>
            <a:endParaRPr lang="zh-CN" altLang="en-US" sz="280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	</a:t>
            </a:r>
            <a:r>
              <a:rPr lang="en-US" altLang="zh-CN" sz="2800">
                <a:latin typeface="Arial" panose="020B0604020202020204" pitchFamily="34" charset="0"/>
              </a:rPr>
              <a:t>printf("\n</a:t>
            </a:r>
            <a:r>
              <a:rPr lang="zh-CN" altLang="en-US" sz="2800">
                <a:latin typeface="Arial" panose="020B0604020202020204" pitchFamily="34" charset="0"/>
              </a:rPr>
              <a:t>输出结果</a:t>
            </a:r>
            <a:r>
              <a:rPr lang="en-US" altLang="zh-CN" sz="2800">
                <a:latin typeface="Arial" panose="020B0604020202020204" pitchFamily="34" charset="0"/>
              </a:rPr>
              <a:t>...\n");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</a:t>
            </a:r>
            <a:r>
              <a:rPr lang="en-US" altLang="zh-CN" sz="3200" dirty="0" err="1">
                <a:solidFill>
                  <a:srgbClr val="F52EFC"/>
                </a:solidFill>
                <a:latin typeface="Arial" panose="020B0604020202020204" pitchFamily="34" charset="0"/>
              </a:rPr>
              <a:t>print(</a:t>
            </a:r>
            <a:r>
              <a:rPr lang="en-US" altLang="zh-CN" sz="2800">
                <a:latin typeface="Arial" panose="020B0604020202020204" pitchFamily="34" charset="0"/>
              </a:rPr>
              <a:t>h3</a:t>
            </a:r>
            <a:r>
              <a:rPr lang="en-US" altLang="zh-CN" sz="3200" dirty="0" err="1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800">
                <a:latin typeface="Arial" panose="020B0604020202020204" pitchFamily="34" charset="0"/>
              </a:rPr>
              <a:t>; </a:t>
            </a:r>
            <a:r>
              <a:rPr lang="en-US" altLang="zh-CN" sz="2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调用函数，遍历</a:t>
            </a:r>
            <a:endParaRPr lang="zh-CN" altLang="en-US" sz="280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457200" lvl="1" indent="45720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>
              <a:latin typeface="Arial" panose="020B0604020202020204" pitchFamily="34" charset="0"/>
            </a:endParaRPr>
          </a:p>
          <a:p>
            <a:pPr marL="457200" lvl="1" indent="4572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freePolynome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(h1);</a:t>
            </a:r>
            <a:endParaRPr lang="en-US" altLang="zh-CN" dirty="0">
              <a:latin typeface="Arial" panose="020B0604020202020204" pitchFamily="34" charset="0"/>
              <a:sym typeface="+mn-ea"/>
            </a:endParaRPr>
          </a:p>
          <a:p>
            <a:pPr marL="457200" lvl="1" indent="4572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Arial" panose="020B0604020202020204" pitchFamily="34" charset="0"/>
                <a:sym typeface="+mn-ea"/>
              </a:rPr>
              <a:t>freePolynome(h2);</a:t>
            </a:r>
            <a:endParaRPr lang="en-US" altLang="zh-CN" dirty="0">
              <a:latin typeface="Arial" panose="020B0604020202020204" pitchFamily="34" charset="0"/>
              <a:sym typeface="+mn-ea"/>
            </a:endParaRPr>
          </a:p>
          <a:p>
            <a:pPr marL="457200" lvl="1" indent="4572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Arial" panose="020B0604020202020204" pitchFamily="34" charset="0"/>
                <a:sym typeface="+mn-ea"/>
              </a:rPr>
              <a:t>freePolynome(h3);</a:t>
            </a:r>
            <a:endParaRPr lang="zh-CN" altLang="en-US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	</a:t>
            </a:r>
            <a:r>
              <a:rPr lang="en-US" altLang="zh-CN" sz="2800">
                <a:latin typeface="Arial" panose="020B0604020202020204" pitchFamily="34" charset="0"/>
              </a:rPr>
              <a:t>return 0;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}</a:t>
            </a:r>
            <a:endParaRPr lang="en-US" altLang="zh-CN" sz="2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15C6840-7342-4056-A27D-CC4A812BD15D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9091" name="矩形 6"/>
          <p:cNvSpPr>
            <a:spLocks noChangeArrowheads="1"/>
          </p:cNvSpPr>
          <p:nvPr/>
        </p:nvSpPr>
        <p:spPr bwMode="auto">
          <a:xfrm>
            <a:off x="228600" y="757238"/>
            <a:ext cx="9144000" cy="61601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 err="1">
                <a:latin typeface="Arial" panose="020B0604020202020204" pitchFamily="34" charset="0"/>
              </a:rPr>
              <a:t>polynome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addPolynome(</a:t>
            </a:r>
            <a:r>
              <a:rPr lang="en-US" altLang="zh-CN" sz="2800" dirty="0" err="1">
                <a:latin typeface="Arial" panose="020B0604020202020204" pitchFamily="34" charset="0"/>
              </a:rPr>
              <a:t>polynome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 err="1">
                <a:latin typeface="Arial" panose="020B0604020202020204" pitchFamily="34" charset="0"/>
              </a:rPr>
              <a:t>p,polynome</a:t>
            </a:r>
            <a:r>
              <a:rPr lang="en-US" altLang="zh-CN" sz="2800" dirty="0">
                <a:latin typeface="Arial" panose="020B0604020202020204" pitchFamily="34" charset="0"/>
              </a:rPr>
              <a:t> q</a:t>
            </a:r>
            <a:r>
              <a:rPr lang="en-US" altLang="zh-CN" sz="3200" dirty="0" err="1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endParaRPr lang="en-US" altLang="zh-CN" sz="3200" dirty="0" err="1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{</a:t>
            </a:r>
            <a:endParaRPr lang="en-US" altLang="zh-CN" dirty="0" err="1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</a:rPr>
              <a:t>   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//s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为结果多项式链首；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r 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始终指向结果多项式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s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的最低次幂项</a:t>
            </a:r>
            <a:endParaRPr lang="zh-CN" altLang="en-US" sz="1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   </a:t>
            </a:r>
            <a:r>
              <a:rPr lang="en-US" altLang="zh-CN" dirty="0" err="1"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s=NULL</a:t>
            </a:r>
            <a:r>
              <a:rPr lang="en-US" altLang="zh-CN" dirty="0" err="1">
                <a:latin typeface="Arial" panose="020B0604020202020204" pitchFamily="34" charset="0"/>
              </a:rPr>
              <a:t>,</a:t>
            </a:r>
            <a:r>
              <a:rPr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</a:rPr>
              <a:t>   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申请一个哨兵变量 ，以便算法统一</a:t>
            </a:r>
            <a:endParaRPr lang="zh-CN" altLang="en-US" sz="1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 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s = (polynome)malloc( sizeof(struct  item) );</a:t>
            </a:r>
            <a:endParaRPr lang="en-US" altLang="zh-CN" dirty="0" err="1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 =</a:t>
            </a:r>
            <a:r>
              <a:rPr lang="en-US" altLang="zh-CN" dirty="0">
                <a:latin typeface="Arial" panose="020B0604020202020204" pitchFamily="34" charset="0"/>
              </a:rPr>
              <a:t> s; 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 r 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始终指向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s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的最低次幂项</a:t>
            </a:r>
            <a:endParaRPr lang="en-US" altLang="zh-CN" sz="1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while ( </a:t>
            </a:r>
            <a:r>
              <a:rPr lang="en-US" altLang="zh-CN" dirty="0">
                <a:latin typeface="Arial" panose="020B0604020202020204" pitchFamily="34" charset="0"/>
              </a:rPr>
              <a:t>(p!=NULL)&amp;&amp;(q!=NULL)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){ </a:t>
            </a:r>
            <a:r>
              <a:rPr lang="en-US" altLang="zh-CN" dirty="0">
                <a:latin typeface="Arial" panose="020B0604020202020204" pitchFamily="34" charset="0"/>
              </a:rPr>
              <a:t>          </a:t>
            </a:r>
            <a:endParaRPr lang="en-US" altLang="zh-CN" dirty="0">
              <a:latin typeface="Arial" panose="020B0604020202020204" pitchFamily="34" charset="0"/>
            </a:endParaRPr>
          </a:p>
          <a:p>
            <a:pPr algn="l" eaLnBrk="1" hangingPunct="1"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 if ( </a:t>
            </a:r>
            <a:r>
              <a:rPr lang="en-US" altLang="zh-CN" dirty="0">
                <a:latin typeface="Arial" panose="020B0604020202020204" pitchFamily="34" charset="0"/>
              </a:rPr>
              <a:t>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&gt; </a:t>
            </a:r>
            <a:r>
              <a:rPr lang="en-US" altLang="zh-CN" dirty="0">
                <a:latin typeface="Arial" panose="020B0604020202020204" pitchFamily="34" charset="0"/>
              </a:rPr>
              <a:t>q-&gt;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) 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//比较幂次</a:t>
            </a:r>
            <a:endParaRPr lang="zh-CN" altLang="en-US" sz="1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 {	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adds(</a:t>
            </a:r>
            <a:r>
              <a:rPr lang="en-US" altLang="zh-CN" dirty="0">
                <a:solidFill>
                  <a:srgbClr val="FF99FF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, p-&gt;</a:t>
            </a:r>
            <a:r>
              <a:rPr lang="en-US" altLang="zh-CN" dirty="0" err="1">
                <a:latin typeface="Arial" panose="020B0604020202020204" pitchFamily="34" charset="0"/>
              </a:rPr>
              <a:t>coef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dirty="0">
                <a:solidFill>
                  <a:srgbClr val="99FF33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	p = p-&gt;next;	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 }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72709" name="组合 9"/>
          <p:cNvGrpSpPr/>
          <p:nvPr/>
        </p:nvGrpSpPr>
        <p:grpSpPr bwMode="auto">
          <a:xfrm>
            <a:off x="1905000" y="117475"/>
            <a:ext cx="8524875" cy="796925"/>
            <a:chOff x="793589" y="79719"/>
            <a:chExt cx="8115273" cy="622011"/>
          </a:xfrm>
        </p:grpSpPr>
        <p:sp>
          <p:nvSpPr>
            <p:cNvPr id="72710" name="矩形 4"/>
            <p:cNvSpPr>
              <a:spLocks noChangeArrowheads="1"/>
            </p:cNvSpPr>
            <p:nvPr/>
          </p:nvSpPr>
          <p:spPr bwMode="auto">
            <a:xfrm>
              <a:off x="1694198" y="79719"/>
              <a:ext cx="7214664" cy="313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已有类型定义：</a:t>
              </a:r>
              <a:r>
                <a:rPr lang="en-US" altLang="zh-CN" sz="2400">
                  <a:latin typeface="Arial" panose="020B0604020202020204" pitchFamily="34" charset="0"/>
                </a:rPr>
                <a:t>typedef  </a:t>
              </a: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struct item * </a:t>
              </a:r>
              <a:r>
                <a:rPr lang="en-US" altLang="zh-CN" sz="2400">
                  <a:latin typeface="Arial" panose="020B0604020202020204" pitchFamily="34" charset="0"/>
                </a:rPr>
                <a:t>polynome;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cxnSp>
          <p:nvCxnSpPr>
            <p:cNvPr id="72711" name="直接箭头连接符 2"/>
            <p:cNvCxnSpPr>
              <a:cxnSpLocks noChangeShapeType="1"/>
              <a:endCxn id="72710" idx="1"/>
            </p:cNvCxnSpPr>
            <p:nvPr/>
          </p:nvCxnSpPr>
          <p:spPr bwMode="auto">
            <a:xfrm flipV="1">
              <a:off x="793589" y="236456"/>
              <a:ext cx="900609" cy="465274"/>
            </a:xfrm>
            <a:prstGeom prst="straightConnector1">
              <a:avLst/>
            </a:prstGeom>
            <a:noFill/>
            <a:ln w="476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9B7556B-5B07-4A7F-AED9-3E4569E1EC21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90115" name="矩形 6"/>
          <p:cNvSpPr>
            <a:spLocks noChangeArrowheads="1"/>
          </p:cNvSpPr>
          <p:nvPr/>
        </p:nvSpPr>
        <p:spPr bwMode="auto">
          <a:xfrm>
            <a:off x="1022350" y="608013"/>
            <a:ext cx="9144000" cy="550799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else if ( </a:t>
            </a:r>
            <a:r>
              <a:rPr lang="en-US" altLang="zh-CN" dirty="0">
                <a:latin typeface="Arial" panose="020B0604020202020204" pitchFamily="34" charset="0"/>
              </a:rPr>
              <a:t>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&lt;</a:t>
            </a:r>
            <a:r>
              <a:rPr lang="en-US" altLang="zh-CN" dirty="0">
                <a:latin typeface="Arial" panose="020B0604020202020204" pitchFamily="34" charset="0"/>
              </a:rPr>
              <a:t> q-&gt;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 {	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adds(</a:t>
            </a:r>
            <a:r>
              <a:rPr lang="en-US" altLang="zh-CN" dirty="0">
                <a:latin typeface="Arial" panose="020B0604020202020204" pitchFamily="34" charset="0"/>
              </a:rPr>
              <a:t>q-&gt;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, q-&gt;</a:t>
            </a:r>
            <a:r>
              <a:rPr lang="en-US" altLang="zh-CN" dirty="0" err="1">
                <a:latin typeface="Arial" panose="020B0604020202020204" pitchFamily="34" charset="0"/>
              </a:rPr>
              <a:t>coef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dirty="0">
                <a:solidFill>
                  <a:srgbClr val="99FF33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);</a:t>
            </a:r>
            <a:endParaRPr lang="en-US" altLang="zh-CN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q = q-&gt;next;    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}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else</a:t>
            </a:r>
            <a:endParaRPr lang="en-US" altLang="zh-CN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{ 	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adds(</a:t>
            </a:r>
            <a:r>
              <a:rPr lang="en-US" altLang="zh-CN" dirty="0">
                <a:latin typeface="Arial" panose="020B0604020202020204" pitchFamily="34" charset="0"/>
              </a:rPr>
              <a:t>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, p-&gt;</a:t>
            </a:r>
            <a:r>
              <a:rPr lang="en-US" altLang="zh-CN" dirty="0" err="1">
                <a:latin typeface="Arial" panose="020B0604020202020204" pitchFamily="34" charset="0"/>
              </a:rPr>
              <a:t>coef 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+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latin typeface="Arial" panose="020B0604020202020204" pitchFamily="34" charset="0"/>
              </a:rPr>
              <a:t>q</a:t>
            </a:r>
            <a:r>
              <a:rPr lang="en-US" altLang="zh-CN" dirty="0">
                <a:latin typeface="Arial" panose="020B0604020202020204" pitchFamily="34" charset="0"/>
              </a:rPr>
              <a:t>-&gt;</a:t>
            </a:r>
            <a:r>
              <a:rPr lang="en-US" altLang="zh-CN" dirty="0" err="1">
                <a:latin typeface="Arial" panose="020B0604020202020204" pitchFamily="34" charset="0"/>
              </a:rPr>
              <a:t>coef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dirty="0">
                <a:solidFill>
                  <a:srgbClr val="99FF33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);</a:t>
            </a:r>
            <a:endParaRPr lang="en-US" altLang="zh-CN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		q = q-&gt;next;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		p = p-&gt;next;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}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 r=r-&gt;next; //</a:t>
            </a:r>
            <a:r>
              <a:rPr lang="zh-CN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让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zh-CN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指向新的尾结点</a:t>
            </a:r>
            <a:endParaRPr lang="en-US" altLang="zh-CN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}  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//while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结束</a:t>
            </a:r>
            <a:endParaRPr lang="zh-CN" altLang="en-US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F5DB018-93FC-4054-ACC2-842AD7738EFF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91139" name="矩形 2"/>
          <p:cNvSpPr>
            <a:spLocks noChangeArrowheads="1"/>
          </p:cNvSpPr>
          <p:nvPr/>
        </p:nvSpPr>
        <p:spPr bwMode="auto">
          <a:xfrm>
            <a:off x="1371600" y="246063"/>
            <a:ext cx="8001000" cy="60023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   //p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多项式尾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while (</a:t>
            </a:r>
            <a:r>
              <a:rPr lang="en-US" altLang="zh-CN" dirty="0">
                <a:latin typeface="Arial" panose="020B0604020202020204" pitchFamily="34" charset="0"/>
              </a:rPr>
              <a:t>p!=NULL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 {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       adds( 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, p-&gt;</a:t>
            </a:r>
            <a:r>
              <a:rPr lang="en-US" altLang="zh-CN" dirty="0" err="1">
                <a:latin typeface="Arial" panose="020B0604020202020204" pitchFamily="34" charset="0"/>
              </a:rPr>
              <a:t>coef,</a:t>
            </a:r>
            <a:r>
              <a:rPr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 );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       p = p-&gt;next;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  r=r-&gt;next;</a:t>
            </a:r>
            <a:endParaRPr lang="en-US" altLang="zh-CN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   } 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 //q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多项式尾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while (</a:t>
            </a:r>
            <a:r>
              <a:rPr lang="en-US" altLang="zh-CN" dirty="0">
                <a:latin typeface="Arial" panose="020B0604020202020204" pitchFamily="34" charset="0"/>
              </a:rPr>
              <a:t>q!=NULL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 {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        adds( q-&gt;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, q-&gt;</a:t>
            </a:r>
            <a:r>
              <a:rPr lang="en-US" altLang="zh-CN" dirty="0" err="1">
                <a:latin typeface="Arial" panose="020B0604020202020204" pitchFamily="34" charset="0"/>
              </a:rPr>
              <a:t>coef,</a:t>
            </a:r>
            <a:r>
              <a:rPr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 );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        q = q-&gt;next;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   r=r-&gt;next;</a:t>
            </a:r>
            <a:endParaRPr lang="en-US" altLang="zh-CN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   } 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矩形 2"/>
          <p:cNvSpPr>
            <a:spLocks noChangeArrowheads="1"/>
          </p:cNvSpPr>
          <p:nvPr/>
        </p:nvSpPr>
        <p:spPr bwMode="auto">
          <a:xfrm>
            <a:off x="1524000" y="260350"/>
            <a:ext cx="8686800" cy="304609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释放哨兵变量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r </a:t>
            </a:r>
            <a:r>
              <a:rPr lang="en-US" altLang="zh-CN" dirty="0">
                <a:latin typeface="Arial" panose="020B0604020202020204" pitchFamily="34" charset="0"/>
              </a:rPr>
              <a:t>= s; 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//r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保存哨兵结点地址，为释放做准备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s = s-&gt;next;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指向真正的表头结点（哨兵结点的下一个结点）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   free(r);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求和已完成，释放哨兵结点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 return  s ;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返回求和多项式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的表头指针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}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函数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addpolynome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结束</a:t>
            </a:r>
            <a:endParaRPr lang="zh-CN" alt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77828" name="Group 4"/>
          <p:cNvGrpSpPr/>
          <p:nvPr/>
        </p:nvGrpSpPr>
        <p:grpSpPr bwMode="auto">
          <a:xfrm>
            <a:off x="4732338" y="4495800"/>
            <a:ext cx="1049337" cy="1317625"/>
            <a:chOff x="0" y="0"/>
            <a:chExt cx="20000" cy="20000"/>
          </a:xfrm>
        </p:grpSpPr>
        <p:sp>
          <p:nvSpPr>
            <p:cNvPr id="7786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5</a:t>
              </a:r>
              <a:endParaRPr lang="en-US" altLang="zh-CN" sz="2400"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6.5</a:t>
              </a: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77865" name="Line 6"/>
            <p:cNvSpPr>
              <a:spLocks noChangeShapeType="1"/>
            </p:cNvSpPr>
            <p:nvPr/>
          </p:nvSpPr>
          <p:spPr bwMode="auto">
            <a:xfrm>
              <a:off x="555" y="13812"/>
              <a:ext cx="19445" cy="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7829" name="Group 7"/>
          <p:cNvGrpSpPr/>
          <p:nvPr/>
        </p:nvGrpSpPr>
        <p:grpSpPr bwMode="auto">
          <a:xfrm>
            <a:off x="6332538" y="4484688"/>
            <a:ext cx="1050925" cy="1362075"/>
            <a:chOff x="0" y="0"/>
            <a:chExt cx="20000" cy="20000"/>
          </a:xfrm>
        </p:grpSpPr>
        <p:sp>
          <p:nvSpPr>
            <p:cNvPr id="77862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2</a:t>
              </a:r>
              <a:endParaRPr lang="en-US" altLang="zh-CN" sz="2400"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3.4</a:t>
              </a: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77863" name="Line 9"/>
            <p:cNvSpPr>
              <a:spLocks noChangeShapeType="1"/>
            </p:cNvSpPr>
            <p:nvPr/>
          </p:nvSpPr>
          <p:spPr bwMode="auto">
            <a:xfrm>
              <a:off x="555" y="13821"/>
              <a:ext cx="19445" cy="2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7830" name="Line 10"/>
          <p:cNvSpPr>
            <a:spLocks noChangeShapeType="1"/>
          </p:cNvSpPr>
          <p:nvPr/>
        </p:nvSpPr>
        <p:spPr bwMode="auto">
          <a:xfrm>
            <a:off x="5314950" y="5621338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1" name="Line 11"/>
          <p:cNvSpPr>
            <a:spLocks noChangeShapeType="1"/>
          </p:cNvSpPr>
          <p:nvPr/>
        </p:nvSpPr>
        <p:spPr bwMode="auto">
          <a:xfrm>
            <a:off x="7004050" y="5629275"/>
            <a:ext cx="933450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2" name="Line 12"/>
          <p:cNvSpPr>
            <a:spLocks noChangeShapeType="1"/>
          </p:cNvSpPr>
          <p:nvPr/>
        </p:nvSpPr>
        <p:spPr bwMode="auto">
          <a:xfrm>
            <a:off x="8445500" y="5629275"/>
            <a:ext cx="933450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3" name="Line 13"/>
          <p:cNvSpPr>
            <a:spLocks noChangeShapeType="1"/>
          </p:cNvSpPr>
          <p:nvPr/>
        </p:nvSpPr>
        <p:spPr bwMode="auto">
          <a:xfrm>
            <a:off x="4732338" y="4956175"/>
            <a:ext cx="1077912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4" name="Line 14"/>
          <p:cNvSpPr>
            <a:spLocks noChangeShapeType="1"/>
          </p:cNvSpPr>
          <p:nvPr/>
        </p:nvSpPr>
        <p:spPr bwMode="auto">
          <a:xfrm>
            <a:off x="6332538" y="4956175"/>
            <a:ext cx="1082675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7835" name="Group 15"/>
          <p:cNvGrpSpPr/>
          <p:nvPr/>
        </p:nvGrpSpPr>
        <p:grpSpPr bwMode="auto">
          <a:xfrm>
            <a:off x="7802563" y="4481513"/>
            <a:ext cx="1092200" cy="1347787"/>
            <a:chOff x="4558" y="1886"/>
            <a:chExt cx="309" cy="1226"/>
          </a:xfrm>
        </p:grpSpPr>
        <p:grpSp>
          <p:nvGrpSpPr>
            <p:cNvPr id="77858" name="Group 16"/>
            <p:cNvGrpSpPr/>
            <p:nvPr/>
          </p:nvGrpSpPr>
          <p:grpSpPr bwMode="auto">
            <a:xfrm>
              <a:off x="4570" y="1886"/>
              <a:ext cx="297" cy="1226"/>
              <a:chOff x="0" y="0"/>
              <a:chExt cx="20000" cy="20000"/>
            </a:xfrm>
          </p:grpSpPr>
          <p:sp>
            <p:nvSpPr>
              <p:cNvPr id="77860" name="Rectangle 1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1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1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77861" name="Line 18"/>
              <p:cNvSpPr>
                <a:spLocks noChangeShapeType="1"/>
              </p:cNvSpPr>
              <p:nvPr/>
            </p:nvSpPr>
            <p:spPr bwMode="auto">
              <a:xfrm>
                <a:off x="555" y="13817"/>
                <a:ext cx="19445" cy="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7859" name="Line 19"/>
            <p:cNvSpPr>
              <a:spLocks noChangeShapeType="1"/>
            </p:cNvSpPr>
            <p:nvPr/>
          </p:nvSpPr>
          <p:spPr bwMode="auto">
            <a:xfrm>
              <a:off x="4558" y="2296"/>
              <a:ext cx="305" cy="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7836" name="Group 20"/>
          <p:cNvGrpSpPr/>
          <p:nvPr/>
        </p:nvGrpSpPr>
        <p:grpSpPr bwMode="auto">
          <a:xfrm>
            <a:off x="9407525" y="4481513"/>
            <a:ext cx="1081088" cy="1347787"/>
            <a:chOff x="5023" y="1886"/>
            <a:chExt cx="306" cy="1226"/>
          </a:xfrm>
        </p:grpSpPr>
        <p:grpSp>
          <p:nvGrpSpPr>
            <p:cNvPr id="77854" name="Group 21"/>
            <p:cNvGrpSpPr/>
            <p:nvPr/>
          </p:nvGrpSpPr>
          <p:grpSpPr bwMode="auto">
            <a:xfrm>
              <a:off x="5023" y="1886"/>
              <a:ext cx="298" cy="1226"/>
              <a:chOff x="0" y="0"/>
              <a:chExt cx="20000" cy="20000"/>
            </a:xfrm>
          </p:grpSpPr>
          <p:sp>
            <p:nvSpPr>
              <p:cNvPr id="77856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0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0.5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·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77857" name="Line 23"/>
              <p:cNvSpPr>
                <a:spLocks noChangeShapeType="1"/>
              </p:cNvSpPr>
              <p:nvPr/>
            </p:nvSpPr>
            <p:spPr bwMode="auto">
              <a:xfrm>
                <a:off x="555" y="13817"/>
                <a:ext cx="19445" cy="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7855" name="Line 24"/>
            <p:cNvSpPr>
              <a:spLocks noChangeShapeType="1"/>
            </p:cNvSpPr>
            <p:nvPr/>
          </p:nvSpPr>
          <p:spPr bwMode="auto">
            <a:xfrm>
              <a:off x="5023" y="2274"/>
              <a:ext cx="306" cy="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" name="Line 25"/>
          <p:cNvSpPr>
            <a:spLocks noChangeShapeType="1"/>
          </p:cNvSpPr>
          <p:nvPr/>
        </p:nvSpPr>
        <p:spPr bwMode="auto">
          <a:xfrm>
            <a:off x="3719513" y="5613400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26"/>
          <p:cNvGrpSpPr/>
          <p:nvPr/>
        </p:nvGrpSpPr>
        <p:grpSpPr bwMode="auto">
          <a:xfrm>
            <a:off x="2998788" y="4462463"/>
            <a:ext cx="1049337" cy="1317625"/>
            <a:chOff x="0" y="0"/>
            <a:chExt cx="20000" cy="20000"/>
          </a:xfrm>
        </p:grpSpPr>
        <p:sp>
          <p:nvSpPr>
            <p:cNvPr id="18" name="Rectangle 27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  <a:p>
              <a:pPr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9" name="Line 28"/>
            <p:cNvSpPr>
              <a:spLocks noChangeShapeType="1"/>
            </p:cNvSpPr>
            <p:nvPr/>
          </p:nvSpPr>
          <p:spPr bwMode="auto">
            <a:xfrm>
              <a:off x="545" y="13807"/>
              <a:ext cx="19455" cy="24"/>
            </a:xfrm>
            <a:prstGeom prst="line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</p:grpSp>
      <p:sp>
        <p:nvSpPr>
          <p:cNvPr id="17" name="Line 29"/>
          <p:cNvSpPr>
            <a:spLocks noChangeShapeType="1"/>
          </p:cNvSpPr>
          <p:nvPr/>
        </p:nvSpPr>
        <p:spPr bwMode="auto">
          <a:xfrm>
            <a:off x="2998788" y="4965700"/>
            <a:ext cx="1077912" cy="1588"/>
          </a:xfrm>
          <a:prstGeom prst="line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7840" name="Rectangle 30"/>
          <p:cNvSpPr>
            <a:spLocks noChangeArrowheads="1"/>
          </p:cNvSpPr>
          <p:nvPr/>
        </p:nvSpPr>
        <p:spPr bwMode="auto">
          <a:xfrm>
            <a:off x="1524000" y="4533900"/>
            <a:ext cx="1020763" cy="452438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ea typeface="黑体" panose="02010609060101010101" pitchFamily="49" charset="-122"/>
            </a:endParaRPr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2063750" y="4749800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灯片编号占位符 33"/>
          <p:cNvSpPr txBox="1"/>
          <p:nvPr/>
        </p:nvSpPr>
        <p:spPr bwMode="auto">
          <a:xfrm>
            <a:off x="9393238" y="6308725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52957DC1-971B-4D2C-9234-766D77FD97D5}" type="slidenum">
              <a:rPr lang="zh-CN" altLang="en-US" sz="120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fld>
            <a:endParaRPr lang="en-US" altLang="zh-CN" sz="12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5" name="TextBox 1"/>
          <p:cNvSpPr txBox="1">
            <a:spLocks noChangeArrowheads="1"/>
          </p:cNvSpPr>
          <p:nvPr/>
        </p:nvSpPr>
        <p:spPr bwMode="auto">
          <a:xfrm>
            <a:off x="2744788" y="5846763"/>
            <a:ext cx="1441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52EFC"/>
                </a:solidFill>
                <a:latin typeface="Arial" panose="020B0604020202020204" pitchFamily="34" charset="0"/>
              </a:rPr>
              <a:t>哨兵结点</a:t>
            </a:r>
            <a:endParaRPr lang="zh-CN" altLang="en-US" sz="24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77844" name="TextBox 34"/>
          <p:cNvSpPr txBox="1">
            <a:spLocks noChangeArrowheads="1"/>
          </p:cNvSpPr>
          <p:nvPr/>
        </p:nvSpPr>
        <p:spPr bwMode="auto">
          <a:xfrm>
            <a:off x="1719263" y="4003675"/>
            <a:ext cx="803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52EFC"/>
                </a:solidFill>
                <a:latin typeface="Arial" panose="020B0604020202020204" pitchFamily="34" charset="0"/>
              </a:rPr>
              <a:t>s</a:t>
            </a:r>
            <a:endParaRPr lang="en-US" altLang="zh-CN" sz="28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grpSp>
        <p:nvGrpSpPr>
          <p:cNvPr id="9" name="组合 37"/>
          <p:cNvGrpSpPr/>
          <p:nvPr/>
        </p:nvGrpSpPr>
        <p:grpSpPr bwMode="auto">
          <a:xfrm>
            <a:off x="3132138" y="3644900"/>
            <a:ext cx="803275" cy="801688"/>
            <a:chOff x="1547955" y="3645024"/>
            <a:chExt cx="803201" cy="801018"/>
          </a:xfrm>
        </p:grpSpPr>
        <p:sp>
          <p:nvSpPr>
            <p:cNvPr id="77850" name="TextBox 34"/>
            <p:cNvSpPr txBox="1">
              <a:spLocks noChangeArrowheads="1"/>
            </p:cNvSpPr>
            <p:nvPr/>
          </p:nvSpPr>
          <p:spPr bwMode="auto">
            <a:xfrm>
              <a:off x="1547955" y="3645024"/>
              <a:ext cx="80320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52EFC"/>
                  </a:solidFill>
                  <a:latin typeface="Arial" panose="020B0604020202020204" pitchFamily="34" charset="0"/>
                </a:rPr>
                <a:t>r</a:t>
              </a:r>
              <a:endParaRPr lang="en-US" altLang="zh-CN" sz="28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77851" name="直接箭头连接符 3"/>
            <p:cNvCxnSpPr>
              <a:cxnSpLocks noChangeShapeType="1"/>
            </p:cNvCxnSpPr>
            <p:nvPr/>
          </p:nvCxnSpPr>
          <p:spPr bwMode="auto">
            <a:xfrm>
              <a:off x="1937836" y="3890446"/>
              <a:ext cx="0" cy="555596"/>
            </a:xfrm>
            <a:prstGeom prst="straightConnector1">
              <a:avLst/>
            </a:prstGeom>
            <a:noFill/>
            <a:ln w="349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1" name="Line 31"/>
          <p:cNvSpPr>
            <a:spLocks noChangeShapeType="1"/>
          </p:cNvSpPr>
          <p:nvPr/>
        </p:nvSpPr>
        <p:spPr bwMode="auto">
          <a:xfrm>
            <a:off x="2055813" y="4724400"/>
            <a:ext cx="25971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组合 43"/>
          <p:cNvGrpSpPr/>
          <p:nvPr/>
        </p:nvGrpSpPr>
        <p:grpSpPr bwMode="auto">
          <a:xfrm>
            <a:off x="9532938" y="3635375"/>
            <a:ext cx="803275" cy="801688"/>
            <a:chOff x="1547955" y="3645024"/>
            <a:chExt cx="803201" cy="801018"/>
          </a:xfrm>
        </p:grpSpPr>
        <p:sp>
          <p:nvSpPr>
            <p:cNvPr id="77848" name="TextBox 34"/>
            <p:cNvSpPr txBox="1">
              <a:spLocks noChangeArrowheads="1"/>
            </p:cNvSpPr>
            <p:nvPr/>
          </p:nvSpPr>
          <p:spPr bwMode="auto">
            <a:xfrm>
              <a:off x="1547955" y="3645024"/>
              <a:ext cx="80320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52EFC"/>
                  </a:solidFill>
                  <a:latin typeface="Arial" panose="020B0604020202020204" pitchFamily="34" charset="0"/>
                </a:rPr>
                <a:t>r</a:t>
              </a:r>
              <a:endParaRPr lang="en-US" altLang="zh-CN" sz="28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77849" name="直接箭头连接符 45"/>
            <p:cNvCxnSpPr>
              <a:cxnSpLocks noChangeShapeType="1"/>
            </p:cNvCxnSpPr>
            <p:nvPr/>
          </p:nvCxnSpPr>
          <p:spPr bwMode="auto">
            <a:xfrm>
              <a:off x="1937836" y="3890446"/>
              <a:ext cx="0" cy="555596"/>
            </a:xfrm>
            <a:prstGeom prst="straightConnector1">
              <a:avLst/>
            </a:prstGeom>
            <a:noFill/>
            <a:ln w="349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矩形 5"/>
          <p:cNvSpPr>
            <a:spLocks noChangeArrowheads="1"/>
          </p:cNvSpPr>
          <p:nvPr/>
        </p:nvSpPr>
        <p:spPr bwMode="auto">
          <a:xfrm>
            <a:off x="110883" y="26662"/>
            <a:ext cx="12192000" cy="344614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void 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adds(</a:t>
            </a:r>
            <a:r>
              <a:rPr lang="en-US" altLang="zh-CN" dirty="0">
                <a:latin typeface="Arial" panose="020B0604020202020204" pitchFamily="34" charset="0"/>
              </a:rPr>
              <a:t>int exp0,float coef0,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rr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将新结点加入表尾（入队算法）</a:t>
            </a:r>
            <a:endParaRPr lang="en-US" altLang="zh-CN" sz="18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FFC000"/>
                </a:solidFill>
                <a:latin typeface="Arial" panose="020B0604020202020204" pitchFamily="34" charset="0"/>
              </a:rPr>
              <a:t>{ </a:t>
            </a:r>
            <a:r>
              <a:rPr lang="zh-CN" altLang="en-US" sz="1800" dirty="0">
                <a:latin typeface="Arial" panose="020B0604020202020204" pitchFamily="34" charset="0"/>
              </a:rPr>
              <a:t>   </a:t>
            </a:r>
            <a:r>
              <a:rPr lang="en-US" altLang="zh-CN" sz="1800" dirty="0">
                <a:latin typeface="Arial" panose="020B0604020202020204" pitchFamily="34" charset="0"/>
              </a:rPr>
              <a:t>     </a:t>
            </a:r>
            <a:r>
              <a:rPr lang="en-US" altLang="zh-CN" sz="2400" dirty="0" err="1">
                <a:solidFill>
                  <a:srgbClr val="F52EFC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 sz="2400" dirty="0">
                <a:solidFill>
                  <a:srgbClr val="F52EFC"/>
                </a:solidFill>
                <a:latin typeface="Arial" panose="020B0604020202020204" pitchFamily="34" charset="0"/>
              </a:rPr>
              <a:t> r0;</a:t>
            </a:r>
            <a:r>
              <a:rPr lang="en-US" altLang="zh-CN" sz="1800" dirty="0">
                <a:solidFill>
                  <a:srgbClr val="F52EFC"/>
                </a:solidFill>
                <a:latin typeface="Arial" panose="020B0604020202020204" pitchFamily="34" charset="0"/>
              </a:rPr>
              <a:t> //</a:t>
            </a:r>
            <a:r>
              <a:rPr lang="zh-CN" altLang="en-US" sz="1800" dirty="0">
                <a:solidFill>
                  <a:srgbClr val="F52EFC"/>
                </a:solidFill>
                <a:latin typeface="Arial" panose="020B0604020202020204" pitchFamily="34" charset="0"/>
              </a:rPr>
              <a:t>指针变量    </a:t>
            </a:r>
            <a:endParaRPr lang="en-US" altLang="zh-CN" sz="1800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      r0=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en-US" altLang="zh-CN" dirty="0" err="1">
                <a:solidFill>
                  <a:srgbClr val="FFC000"/>
                </a:solidFill>
                <a:latin typeface="Arial" panose="020B0604020202020204" pitchFamily="34" charset="0"/>
              </a:rPr>
              <a:t>malloc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sizeof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struct</a:t>
            </a:r>
            <a:r>
              <a:rPr lang="en-US" altLang="zh-CN" dirty="0">
                <a:latin typeface="Arial" panose="020B0604020202020204" pitchFamily="34" charset="0"/>
              </a:rPr>
              <a:t> item)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</a:rPr>
              <a:t>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创建新结点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      </a:t>
            </a:r>
            <a:r>
              <a:rPr lang="en-US" altLang="zh-CN" sz="2400" dirty="0">
                <a:latin typeface="Arial" panose="020B0604020202020204" pitchFamily="34" charset="0"/>
              </a:rPr>
              <a:t>r0-&gt;exp = exp0;  </a:t>
            </a:r>
            <a:r>
              <a:rPr lang="en-US" altLang="zh-CN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数据域：幂次</a:t>
            </a:r>
            <a:endParaRPr lang="zh-CN" altLang="en-US" sz="24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Arial" panose="020B0604020202020204" pitchFamily="34" charset="0"/>
              </a:rPr>
              <a:t>        </a:t>
            </a:r>
            <a:r>
              <a:rPr lang="en-US" altLang="zh-CN" sz="2400" dirty="0">
                <a:latin typeface="Arial" panose="020B0604020202020204" pitchFamily="34" charset="0"/>
              </a:rPr>
              <a:t>r0-&gt;</a:t>
            </a:r>
            <a:r>
              <a:rPr lang="en-US" altLang="zh-CN" sz="2400" dirty="0" err="1">
                <a:latin typeface="Arial" panose="020B0604020202020204" pitchFamily="34" charset="0"/>
              </a:rPr>
              <a:t>coef</a:t>
            </a:r>
            <a:r>
              <a:rPr lang="en-US" altLang="zh-CN" sz="2400" dirty="0">
                <a:latin typeface="Arial" panose="020B0604020202020204" pitchFamily="34" charset="0"/>
              </a:rPr>
              <a:t> = coef0; </a:t>
            </a:r>
            <a:r>
              <a:rPr lang="en-US" altLang="zh-CN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数据域：系数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Arial" panose="020B0604020202020204" pitchFamily="34" charset="0"/>
              </a:rPr>
              <a:t>        </a:t>
            </a:r>
            <a:r>
              <a:rPr lang="en-US" altLang="zh-CN" sz="2400" dirty="0">
                <a:latin typeface="Arial" panose="020B0604020202020204" pitchFamily="34" charset="0"/>
              </a:rPr>
              <a:t>r0-&gt;next = NULL; </a:t>
            </a:r>
            <a:r>
              <a:rPr lang="en-US" altLang="zh-CN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指针域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rgbClr val="F52EFC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rr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-&gt;next= r0;</a:t>
            </a:r>
            <a:r>
              <a:rPr lang="zh-CN" alt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//加到表尾</a:t>
            </a:r>
            <a:endParaRPr lang="zh-CN" altLang="en-US" sz="18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FFC000"/>
                </a:solidFill>
                <a:latin typeface="Arial" panose="020B0604020202020204" pitchFamily="34" charset="0"/>
              </a:rPr>
              <a:t>}</a:t>
            </a:r>
            <a:endParaRPr lang="zh-CN" altLang="en-US" sz="1800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50588" y="6350000"/>
            <a:ext cx="60960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E59FF5C-D61A-4044-B007-89D8B5F2989F}" type="slidenum">
              <a:rPr lang="zh-CN" altLang="en-US" b="0" smtClean="0"/>
            </a:fld>
            <a:endParaRPr lang="en-US" altLang="zh-CN" b="0" dirty="0"/>
          </a:p>
        </p:txBody>
      </p:sp>
      <p:sp>
        <p:nvSpPr>
          <p:cNvPr id="78853" name="Rectangle 3"/>
          <p:cNvSpPr>
            <a:spLocks noChangeArrowheads="1"/>
          </p:cNvSpPr>
          <p:nvPr/>
        </p:nvSpPr>
        <p:spPr bwMode="auto">
          <a:xfrm flipH="1">
            <a:off x="6096000" y="4187825"/>
            <a:ext cx="2181225" cy="477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FF00"/>
                </a:solidFill>
                <a:latin typeface="Arial" panose="020B0604020202020204" pitchFamily="34" charset="0"/>
              </a:rPr>
              <a:t>表头指针</a:t>
            </a:r>
            <a:r>
              <a:rPr lang="en-US" altLang="zh-CN" sz="2800">
                <a:solidFill>
                  <a:srgbClr val="FFFF00"/>
                </a:solidFill>
                <a:latin typeface="Arial" panose="020B0604020202020204" pitchFamily="34" charset="0"/>
              </a:rPr>
              <a:t> s</a:t>
            </a:r>
            <a:endParaRPr lang="en-US" altLang="zh-CN" sz="280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grpSp>
        <p:nvGrpSpPr>
          <p:cNvPr id="78855" name="Group 5"/>
          <p:cNvGrpSpPr/>
          <p:nvPr/>
        </p:nvGrpSpPr>
        <p:grpSpPr bwMode="auto">
          <a:xfrm flipH="1">
            <a:off x="9859963" y="4805363"/>
            <a:ext cx="736600" cy="708025"/>
            <a:chOff x="0" y="0"/>
            <a:chExt cx="20000" cy="20000"/>
          </a:xfrm>
        </p:grpSpPr>
        <p:sp>
          <p:nvSpPr>
            <p:cNvPr id="78888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8889" name="Line 7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78856" name="Freeform 11"/>
          <p:cNvSpPr/>
          <p:nvPr/>
        </p:nvSpPr>
        <p:spPr bwMode="auto">
          <a:xfrm flipH="1">
            <a:off x="9145588" y="4908550"/>
            <a:ext cx="676275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8857" name="Group 14"/>
          <p:cNvGrpSpPr/>
          <p:nvPr/>
        </p:nvGrpSpPr>
        <p:grpSpPr bwMode="auto">
          <a:xfrm flipH="1">
            <a:off x="8399463" y="4824413"/>
            <a:ext cx="733425" cy="722312"/>
            <a:chOff x="0" y="0"/>
            <a:chExt cx="20000" cy="20000"/>
          </a:xfrm>
        </p:grpSpPr>
        <p:sp>
          <p:nvSpPr>
            <p:cNvPr id="78886" name="Rectangle 1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8887" name="Line 16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78858" name="Group 17"/>
          <p:cNvGrpSpPr/>
          <p:nvPr/>
        </p:nvGrpSpPr>
        <p:grpSpPr bwMode="auto">
          <a:xfrm flipH="1">
            <a:off x="7278688" y="4824413"/>
            <a:ext cx="733425" cy="722312"/>
            <a:chOff x="0" y="0"/>
            <a:chExt cx="20000" cy="20000"/>
          </a:xfrm>
        </p:grpSpPr>
        <p:sp>
          <p:nvSpPr>
            <p:cNvPr id="78884" name="Rectangle 18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rgbClr val="FFFF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8885" name="Line 19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78859" name="Freeform 20"/>
          <p:cNvSpPr/>
          <p:nvPr/>
        </p:nvSpPr>
        <p:spPr bwMode="auto">
          <a:xfrm flipH="1">
            <a:off x="7688263" y="4908550"/>
            <a:ext cx="669925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860" name="Freeform 22"/>
          <p:cNvSpPr/>
          <p:nvPr/>
        </p:nvSpPr>
        <p:spPr bwMode="auto">
          <a:xfrm flipH="1">
            <a:off x="6886575" y="4767263"/>
            <a:ext cx="373063" cy="2286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>
            <a:off x="10055225" y="4902200"/>
            <a:ext cx="638175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sp>
        <p:nvSpPr>
          <p:cNvPr id="78862" name="Text Box 39"/>
          <p:cNvSpPr txBox="1">
            <a:spLocks noChangeArrowheads="1"/>
          </p:cNvSpPr>
          <p:nvPr/>
        </p:nvSpPr>
        <p:spPr bwMode="auto">
          <a:xfrm>
            <a:off x="7464425" y="4759325"/>
            <a:ext cx="5746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endParaRPr lang="en-US" altLang="zh-CN" sz="10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endParaRPr lang="en-US" altLang="zh-CN" sz="1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8863" name="Text Box 40"/>
          <p:cNvSpPr txBox="1">
            <a:spLocks noChangeArrowheads="1"/>
          </p:cNvSpPr>
          <p:nvPr/>
        </p:nvSpPr>
        <p:spPr bwMode="auto">
          <a:xfrm>
            <a:off x="8607425" y="4759325"/>
            <a:ext cx="5746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latin typeface="Arial" panose="020B0604020202020204" pitchFamily="34" charset="0"/>
              </a:rPr>
              <a:t>…</a:t>
            </a:r>
            <a:endParaRPr lang="en-US" altLang="zh-CN" sz="100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latin typeface="Arial" panose="020B0604020202020204" pitchFamily="34" charset="0"/>
              </a:rPr>
              <a:t>…</a:t>
            </a:r>
            <a:endParaRPr lang="en-US" altLang="zh-CN" sz="1000">
              <a:latin typeface="Arial" panose="020B0604020202020204" pitchFamily="34" charset="0"/>
            </a:endParaRPr>
          </a:p>
        </p:txBody>
      </p:sp>
      <p:sp>
        <p:nvSpPr>
          <p:cNvPr id="78864" name="Text Box 42"/>
          <p:cNvSpPr txBox="1">
            <a:spLocks noChangeArrowheads="1"/>
          </p:cNvSpPr>
          <p:nvPr/>
        </p:nvSpPr>
        <p:spPr bwMode="auto">
          <a:xfrm>
            <a:off x="9979025" y="4835525"/>
            <a:ext cx="609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latin typeface="Arial" panose="020B0604020202020204" pitchFamily="34" charset="0"/>
              </a:rPr>
              <a:t>…</a:t>
            </a:r>
            <a:endParaRPr lang="en-US" altLang="zh-CN" sz="100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latin typeface="Arial" panose="020B0604020202020204" pitchFamily="34" charset="0"/>
              </a:rPr>
              <a:t>…</a:t>
            </a:r>
            <a:endParaRPr lang="en-US" altLang="zh-CN" sz="1000">
              <a:latin typeface="Arial" panose="020B0604020202020204" pitchFamily="34" charset="0"/>
            </a:endParaRPr>
          </a:p>
        </p:txBody>
      </p:sp>
      <p:cxnSp>
        <p:nvCxnSpPr>
          <p:cNvPr id="78865" name="直接连接符 30"/>
          <p:cNvCxnSpPr/>
          <p:nvPr/>
        </p:nvCxnSpPr>
        <p:spPr bwMode="auto">
          <a:xfrm flipV="1">
            <a:off x="110883" y="3534569"/>
            <a:ext cx="11668125" cy="41275"/>
          </a:xfrm>
          <a:prstGeom prst="line">
            <a:avLst/>
          </a:prstGeom>
          <a:noFill/>
          <a:ln w="25400" algn="ctr">
            <a:solidFill>
              <a:srgbClr val="F52EFC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文本框 55"/>
          <p:cNvSpPr txBox="1">
            <a:spLocks noChangeArrowheads="1"/>
          </p:cNvSpPr>
          <p:nvPr/>
        </p:nvSpPr>
        <p:spPr bwMode="auto">
          <a:xfrm>
            <a:off x="9067800" y="2990850"/>
            <a:ext cx="10242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F52EFC"/>
                </a:solidFill>
              </a:rPr>
              <a:t>形参 </a:t>
            </a:r>
            <a:r>
              <a:rPr lang="en-US" altLang="zh-CN" sz="1800">
                <a:solidFill>
                  <a:srgbClr val="F52EFC"/>
                </a:solidFill>
              </a:rPr>
              <a:t>rr</a:t>
            </a:r>
            <a:endParaRPr lang="en-US" altLang="zh-CN" sz="1800">
              <a:solidFill>
                <a:srgbClr val="F52EFC"/>
              </a:solidFill>
            </a:endParaRPr>
          </a:p>
        </p:txBody>
      </p:sp>
      <p:grpSp>
        <p:nvGrpSpPr>
          <p:cNvPr id="8" name="组合 49"/>
          <p:cNvGrpSpPr/>
          <p:nvPr/>
        </p:nvGrpSpPr>
        <p:grpSpPr bwMode="auto">
          <a:xfrm>
            <a:off x="11350625" y="2165394"/>
            <a:ext cx="685800" cy="1065213"/>
            <a:chOff x="9448712" y="3231932"/>
            <a:chExt cx="685782" cy="1065435"/>
          </a:xfrm>
        </p:grpSpPr>
        <p:grpSp>
          <p:nvGrpSpPr>
            <p:cNvPr id="78879" name="Group 5"/>
            <p:cNvGrpSpPr/>
            <p:nvPr/>
          </p:nvGrpSpPr>
          <p:grpSpPr bwMode="auto">
            <a:xfrm flipH="1">
              <a:off x="9448712" y="3231932"/>
              <a:ext cx="685022" cy="752697"/>
              <a:chOff x="0" y="0"/>
              <a:chExt cx="20000" cy="20000"/>
            </a:xfrm>
          </p:grpSpPr>
          <p:sp>
            <p:nvSpPr>
              <p:cNvPr id="78882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78883" name="Line 7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78880" name="Text Box 23"/>
            <p:cNvSpPr txBox="1">
              <a:spLocks noChangeArrowheads="1"/>
            </p:cNvSpPr>
            <p:nvPr/>
          </p:nvSpPr>
          <p:spPr bwMode="auto">
            <a:xfrm>
              <a:off x="9534437" y="3333712"/>
              <a:ext cx="593489" cy="963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sp>
          <p:nvSpPr>
            <p:cNvPr id="78881" name="Text Box 42"/>
            <p:cNvSpPr txBox="1">
              <a:spLocks noChangeArrowheads="1"/>
            </p:cNvSpPr>
            <p:nvPr/>
          </p:nvSpPr>
          <p:spPr bwMode="auto">
            <a:xfrm>
              <a:off x="9567594" y="3276604"/>
              <a:ext cx="566900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Arial" panose="020B0604020202020204" pitchFamily="34" charset="0"/>
                </a:rPr>
                <a:t>…</a:t>
              </a:r>
              <a:endParaRPr lang="en-US" altLang="zh-CN" sz="10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Arial" panose="020B0604020202020204" pitchFamily="34" charset="0"/>
                </a:rPr>
                <a:t>…</a:t>
              </a:r>
              <a:endParaRPr lang="en-US" altLang="zh-CN" sz="1000" dirty="0">
                <a:latin typeface="Arial" panose="020B0604020202020204" pitchFamily="34" charset="0"/>
              </a:endParaRPr>
            </a:p>
          </p:txBody>
        </p:sp>
      </p:grpSp>
      <p:sp>
        <p:nvSpPr>
          <p:cNvPr id="44" name="文本框 55"/>
          <p:cNvSpPr txBox="1">
            <a:spLocks noChangeArrowheads="1"/>
          </p:cNvSpPr>
          <p:nvPr/>
        </p:nvSpPr>
        <p:spPr bwMode="auto">
          <a:xfrm>
            <a:off x="11214100" y="1744345"/>
            <a:ext cx="666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52EFC"/>
                </a:solidFill>
              </a:rPr>
              <a:t>r0</a:t>
            </a:r>
            <a:endParaRPr lang="en-US" altLang="zh-CN" sz="1800">
              <a:solidFill>
                <a:srgbClr val="F52EFC"/>
              </a:solidFill>
            </a:endParaRPr>
          </a:p>
        </p:txBody>
      </p:sp>
      <p:sp>
        <p:nvSpPr>
          <p:cNvPr id="45" name="Freeform 11"/>
          <p:cNvSpPr/>
          <p:nvPr/>
        </p:nvSpPr>
        <p:spPr bwMode="auto">
          <a:xfrm flipH="1">
            <a:off x="10283825" y="2376532"/>
            <a:ext cx="1066800" cy="302573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accent2">
                <a:lumMod val="60000"/>
                <a:lumOff val="40000"/>
              </a:schemeClr>
            </a:solidFill>
            <a:round/>
            <a:headEnd type="none" w="sm" len="sm"/>
            <a:tailEnd type="triangle" w="med" len="lg"/>
          </a:ln>
        </p:spPr>
        <p:txBody>
          <a:bodyPr/>
          <a:lstStyle/>
          <a:p>
            <a:pPr>
              <a:defRPr/>
            </a:pPr>
            <a:endParaRPr lang="zh-CN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8872" name="文本框 55"/>
          <p:cNvSpPr txBox="1">
            <a:spLocks noChangeArrowheads="1"/>
          </p:cNvSpPr>
          <p:nvPr/>
        </p:nvSpPr>
        <p:spPr bwMode="auto">
          <a:xfrm>
            <a:off x="8915400" y="5910580"/>
            <a:ext cx="1918970" cy="487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FF00"/>
                </a:solidFill>
              </a:rPr>
              <a:t>表尾指针 </a:t>
            </a:r>
            <a:r>
              <a:rPr lang="en-US" altLang="zh-CN" sz="2800">
                <a:solidFill>
                  <a:srgbClr val="FFFF00"/>
                </a:solidFill>
              </a:rPr>
              <a:t>r</a:t>
            </a:r>
            <a:endParaRPr lang="zh-CN" altLang="en-US" sz="2800">
              <a:solidFill>
                <a:srgbClr val="FFFF00"/>
              </a:solidFill>
            </a:endParaRPr>
          </a:p>
        </p:txBody>
      </p:sp>
      <p:cxnSp>
        <p:nvCxnSpPr>
          <p:cNvPr id="48" name="直接箭头连接符 47"/>
          <p:cNvCxnSpPr/>
          <p:nvPr/>
        </p:nvCxnSpPr>
        <p:spPr bwMode="auto">
          <a:xfrm>
            <a:off x="10207625" y="5511800"/>
            <a:ext cx="0" cy="398463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矩形 52"/>
          <p:cNvSpPr>
            <a:spLocks noChangeArrowheads="1"/>
          </p:cNvSpPr>
          <p:nvPr/>
        </p:nvSpPr>
        <p:spPr bwMode="auto">
          <a:xfrm>
            <a:off x="-20280" y="3581396"/>
            <a:ext cx="6064250" cy="316928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 err="1">
                <a:solidFill>
                  <a:srgbClr val="F52EFC"/>
                </a:solidFill>
                <a:latin typeface="Arial" panose="020B0604020202020204" pitchFamily="34" charset="0"/>
              </a:rPr>
              <a:t>addPolynome</a:t>
            </a:r>
            <a:r>
              <a:rPr lang="zh-CN" altLang="en-US" sz="2800" dirty="0">
                <a:solidFill>
                  <a:srgbClr val="F52EFC"/>
                </a:solidFill>
                <a:latin typeface="Arial" panose="020B0604020202020204" pitchFamily="34" charset="0"/>
              </a:rPr>
              <a:t>函数：</a:t>
            </a:r>
            <a:endParaRPr lang="en-US" altLang="zh-CN" sz="2800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已有</a:t>
            </a:r>
            <a:r>
              <a:rPr lang="en-US" altLang="zh-CN" sz="2400" dirty="0" err="1">
                <a:latin typeface="Arial" panose="020B0604020202020204" pitchFamily="34" charset="0"/>
              </a:rPr>
              <a:t>polynome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dirty="0" err="1">
                <a:solidFill>
                  <a:srgbClr val="FFFF00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400" dirty="0" err="1">
                <a:latin typeface="Arial" panose="020B0604020202020204" pitchFamily="34" charset="0"/>
              </a:rPr>
              <a:t>,</a:t>
            </a:r>
            <a:r>
              <a:rPr lang="en-US" altLang="zh-CN" sz="2400" dirty="0" err="1">
                <a:solidFill>
                  <a:srgbClr val="FFFF00"/>
                </a:solidFill>
                <a:latin typeface="Arial" panose="020B0604020202020204" pitchFamily="34" charset="0"/>
              </a:rPr>
              <a:t>r</a:t>
            </a:r>
            <a:r>
              <a:rPr lang="en-US" altLang="zh-CN" sz="2400" dirty="0">
                <a:latin typeface="Arial" panose="020B0604020202020204" pitchFamily="34" charset="0"/>
              </a:rPr>
              <a:t>; 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表头指针和表尾指针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300" dirty="0"/>
              <a:t>while ( p!=NULL)&amp;&amp;(q!=NULL) )</a:t>
            </a:r>
            <a:endParaRPr lang="en-US" altLang="zh-CN" sz="23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{ </a:t>
            </a:r>
            <a:r>
              <a:rPr lang="en-US" altLang="zh-CN" sz="1800" dirty="0"/>
              <a:t>if ( p-&gt;exp &gt; q-&gt;exp ) </a:t>
            </a:r>
            <a:r>
              <a:rPr lang="zh-CN" altLang="en-US" sz="1800" dirty="0"/>
              <a:t>	</a:t>
            </a:r>
            <a:r>
              <a:rPr lang="en-US" altLang="zh-CN" sz="1800" dirty="0">
                <a:solidFill>
                  <a:srgbClr val="FF99FF"/>
                </a:solidFill>
                <a:latin typeface="Arial" panose="020B0604020202020204" pitchFamily="34" charset="0"/>
              </a:rPr>
              <a:t> </a:t>
            </a:r>
            <a:endParaRPr lang="en-US" altLang="zh-CN" sz="1800" dirty="0">
              <a:solidFill>
                <a:srgbClr val="FF99FF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99FF"/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dirty="0">
                <a:latin typeface="Arial" panose="020B0604020202020204" pitchFamily="34" charset="0"/>
              </a:rPr>
              <a:t>{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F52EFC"/>
                </a:solidFill>
                <a:latin typeface="Arial" panose="020B0604020202020204" pitchFamily="34" charset="0"/>
              </a:rPr>
              <a:t>adds( </a:t>
            </a:r>
            <a:r>
              <a:rPr lang="en-US" altLang="zh-CN" sz="2400" dirty="0">
                <a:latin typeface="Arial" panose="020B0604020202020204" pitchFamily="34" charset="0"/>
              </a:rPr>
              <a:t>p-&gt;exp , p-&gt;</a:t>
            </a:r>
            <a:r>
              <a:rPr lang="en-US" altLang="zh-CN" sz="2400" dirty="0" err="1">
                <a:latin typeface="Arial" panose="020B0604020202020204" pitchFamily="34" charset="0"/>
              </a:rPr>
              <a:t>coef</a:t>
            </a:r>
            <a:r>
              <a:rPr lang="en-US" altLang="zh-CN" sz="2400" dirty="0">
                <a:latin typeface="Arial" panose="020B0604020202020204" pitchFamily="34" charset="0"/>
              </a:rPr>
              <a:t>, </a:t>
            </a:r>
            <a:r>
              <a:rPr lang="en-US" altLang="zh-CN" sz="2400" dirty="0">
                <a:solidFill>
                  <a:srgbClr val="FFFF00"/>
                </a:solidFill>
                <a:latin typeface="Arial" panose="020B0604020202020204" pitchFamily="34" charset="0"/>
              </a:rPr>
              <a:t>r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400" dirty="0">
                <a:latin typeface="Arial" panose="020B0604020202020204" pitchFamily="34" charset="0"/>
              </a:rPr>
              <a:t>; </a:t>
            </a:r>
            <a:r>
              <a:rPr lang="en-US" altLang="zh-CN" sz="1800" dirty="0"/>
              <a:t>……}</a:t>
            </a: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else if(……</a:t>
            </a:r>
            <a:r>
              <a:rPr lang="zh-CN" altLang="en-US" sz="1800" dirty="0"/>
              <a:t>）	</a:t>
            </a:r>
            <a:r>
              <a:rPr lang="en-US" altLang="zh-CN" sz="1800" dirty="0">
                <a:solidFill>
                  <a:srgbClr val="F52EFC"/>
                </a:solidFill>
              </a:rPr>
              <a:t>……</a:t>
            </a:r>
            <a:endParaRPr lang="en-US" altLang="zh-CN" sz="1800" dirty="0">
              <a:solidFill>
                <a:srgbClr val="F52EFC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else		</a:t>
            </a:r>
            <a:r>
              <a:rPr lang="en-US" altLang="zh-CN" sz="1800" dirty="0">
                <a:solidFill>
                  <a:srgbClr val="F52EFC"/>
                </a:solidFill>
              </a:rPr>
              <a:t>……</a:t>
            </a:r>
            <a:endParaRPr lang="en-US" altLang="zh-CN" sz="1800" dirty="0">
              <a:solidFill>
                <a:srgbClr val="F52EFC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</a:t>
            </a:r>
            <a:r>
              <a:rPr lang="en-US" altLang="zh-CN" sz="2300" dirty="0">
                <a:solidFill>
                  <a:srgbClr val="FFFF00"/>
                </a:solidFill>
              </a:rPr>
              <a:t>r=r-&gt;next; </a:t>
            </a:r>
            <a:r>
              <a:rPr lang="en-US" altLang="zh-CN" sz="1800" dirty="0">
                <a:solidFill>
                  <a:srgbClr val="FFFF00"/>
                </a:solidFill>
              </a:rPr>
              <a:t>//</a:t>
            </a:r>
            <a:r>
              <a:rPr lang="zh-CN" altLang="en-US" sz="1800" dirty="0">
                <a:solidFill>
                  <a:srgbClr val="FFFF00"/>
                </a:solidFill>
              </a:rPr>
              <a:t>让</a:t>
            </a:r>
            <a:r>
              <a:rPr lang="en-US" altLang="zh-CN" sz="1800" dirty="0">
                <a:solidFill>
                  <a:srgbClr val="FFFF00"/>
                </a:solidFill>
              </a:rPr>
              <a:t>r</a:t>
            </a:r>
            <a:r>
              <a:rPr lang="zh-CN" altLang="en-US" sz="1800" dirty="0">
                <a:solidFill>
                  <a:srgbClr val="FFFF00"/>
                </a:solidFill>
              </a:rPr>
              <a:t>指向新的尾结点</a:t>
            </a:r>
            <a:endParaRPr lang="zh-CN" altLang="en-US" sz="1800" dirty="0">
              <a:solidFill>
                <a:srgbClr val="FFFF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  <p:cxnSp>
        <p:nvCxnSpPr>
          <p:cNvPr id="64" name="直接箭头连接符 63"/>
          <p:cNvCxnSpPr/>
          <p:nvPr/>
        </p:nvCxnSpPr>
        <p:spPr bwMode="auto">
          <a:xfrm>
            <a:off x="9979025" y="2990894"/>
            <a:ext cx="0" cy="1809706"/>
          </a:xfrm>
          <a:prstGeom prst="straightConnector1">
            <a:avLst/>
          </a:prstGeom>
          <a:noFill/>
          <a:ln w="50800" algn="ctr">
            <a:solidFill>
              <a:srgbClr val="F52EFC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" name="组合 78"/>
          <p:cNvGrpSpPr/>
          <p:nvPr/>
        </p:nvGrpSpPr>
        <p:grpSpPr bwMode="auto">
          <a:xfrm>
            <a:off x="10817225" y="2941012"/>
            <a:ext cx="762000" cy="3154988"/>
            <a:chOff x="6019802" y="3962386"/>
            <a:chExt cx="685782" cy="2666930"/>
          </a:xfrm>
        </p:grpSpPr>
        <p:cxnSp>
          <p:nvCxnSpPr>
            <p:cNvPr id="78877" name="直接连接符 71"/>
            <p:cNvCxnSpPr>
              <a:cxnSpLocks noChangeShapeType="1"/>
            </p:cNvCxnSpPr>
            <p:nvPr/>
          </p:nvCxnSpPr>
          <p:spPr bwMode="auto">
            <a:xfrm>
              <a:off x="6019802" y="6629316"/>
              <a:ext cx="685782" cy="0"/>
            </a:xfrm>
            <a:prstGeom prst="line">
              <a:avLst/>
            </a:prstGeom>
            <a:noFill/>
            <a:ln w="50800" algn="ctr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878" name="直接箭头连接符 75"/>
            <p:cNvCxnSpPr>
              <a:cxnSpLocks noChangeShapeType="1"/>
            </p:cNvCxnSpPr>
            <p:nvPr/>
          </p:nvCxnSpPr>
          <p:spPr bwMode="auto">
            <a:xfrm flipV="1">
              <a:off x="6705584" y="3962386"/>
              <a:ext cx="0" cy="2666930"/>
            </a:xfrm>
            <a:prstGeom prst="straightConnector1">
              <a:avLst/>
            </a:prstGeom>
            <a:noFill/>
            <a:ln w="50800" algn="ctr">
              <a:solidFill>
                <a:schemeClr val="accent2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3" name="直接箭头连接符 2"/>
          <p:cNvCxnSpPr/>
          <p:nvPr/>
        </p:nvCxnSpPr>
        <p:spPr bwMode="auto">
          <a:xfrm flipV="1">
            <a:off x="4648238" y="533477"/>
            <a:ext cx="3625812" cy="470209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52EFC"/>
            </a:solidFill>
            <a:prstDash val="solid"/>
            <a:round/>
            <a:headEnd type="none" w="med" len="med"/>
            <a:tailEnd type="stealth"/>
          </a:ln>
        </p:spPr>
      </p:cxnSp>
      <p:cxnSp>
        <p:nvCxnSpPr>
          <p:cNvPr id="4" name="直接箭头连接符 3"/>
          <p:cNvCxnSpPr/>
          <p:nvPr/>
        </p:nvCxnSpPr>
        <p:spPr bwMode="auto">
          <a:xfrm flipV="1">
            <a:off x="11734800" y="1906905"/>
            <a:ext cx="0" cy="304800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文本框 5"/>
          <p:cNvSpPr txBox="1"/>
          <p:nvPr/>
        </p:nvSpPr>
        <p:spPr>
          <a:xfrm>
            <a:off x="7304405" y="5594350"/>
            <a:ext cx="708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哨兵</a:t>
            </a:r>
            <a:r>
              <a:rPr lang="zh-CN" altLang="en-US"/>
              <a:t>结点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6" grpId="0"/>
      <p:bldP spid="44" grpId="0"/>
      <p:bldP spid="53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9CE02E8-E3E2-4207-BEBF-1B0965F025A9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93187" name="矩形 2"/>
          <p:cNvSpPr>
            <a:spLocks noChangeArrowheads="1"/>
          </p:cNvSpPr>
          <p:nvPr/>
        </p:nvSpPr>
        <p:spPr bwMode="auto">
          <a:xfrm>
            <a:off x="1105031" y="0"/>
            <a:ext cx="9981938" cy="67703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创建链表，共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n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项，即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n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个结点（假定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n&gt;=1)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 err="1"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create(</a:t>
            </a:r>
            <a:r>
              <a:rPr lang="en-US" altLang="zh-CN" dirty="0" err="1">
                <a:latin typeface="Arial" panose="020B0604020202020204" pitchFamily="34" charset="0"/>
              </a:rPr>
              <a:t>int</a:t>
            </a:r>
            <a:r>
              <a:rPr lang="en-US" altLang="zh-CN" dirty="0">
                <a:latin typeface="Arial" panose="020B0604020202020204" pitchFamily="34" charset="0"/>
              </a:rPr>
              <a:t> n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{</a:t>
            </a: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//p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指向新结点，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p0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指向其前驱结点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	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solidFill>
                  <a:srgbClr val="FFFF00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 head=NULL,p0,p; 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创建第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项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    p=(</a:t>
            </a:r>
            <a:r>
              <a:rPr lang="en-US" altLang="zh-CN" dirty="0" err="1"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en-US" altLang="zh-CN" dirty="0" err="1">
                <a:solidFill>
                  <a:srgbClr val="FFFF00"/>
                </a:solidFill>
                <a:latin typeface="Arial" panose="020B0604020202020204" pitchFamily="34" charset="0"/>
              </a:rPr>
              <a:t>malloc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sizeof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struct</a:t>
            </a:r>
            <a:r>
              <a:rPr lang="en-US" altLang="zh-CN" dirty="0">
                <a:latin typeface="Arial" panose="020B0604020202020204" pitchFamily="34" charset="0"/>
              </a:rPr>
              <a:t> item)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</a:rPr>
              <a:t>; 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sz="2000" dirty="0" err="1">
                <a:latin typeface="Arial" panose="020B0604020202020204" pitchFamily="34" charset="0"/>
              </a:rPr>
              <a:t>printf</a:t>
            </a:r>
            <a:r>
              <a:rPr lang="en-US" altLang="zh-CN" sz="2000" dirty="0">
                <a:latin typeface="Arial" panose="020B0604020202020204" pitchFamily="34" charset="0"/>
              </a:rPr>
              <a:t>(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"</a:t>
            </a:r>
            <a:r>
              <a:rPr lang="zh-CN" altLang="en-US" sz="2000" dirty="0">
                <a:latin typeface="Arial" panose="020B0604020202020204" pitchFamily="34" charset="0"/>
              </a:rPr>
              <a:t>请输入该项的系数</a:t>
            </a:r>
            <a:r>
              <a:rPr lang="en-US" altLang="zh-CN" sz="2000" dirty="0">
                <a:latin typeface="Arial" panose="020B0604020202020204" pitchFamily="34" charset="0"/>
              </a:rPr>
              <a:t>:");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scanf</a:t>
            </a:r>
            <a:r>
              <a:rPr lang="en-US" altLang="zh-CN" dirty="0">
                <a:latin typeface="Arial" panose="020B0604020202020204" pitchFamily="34" charset="0"/>
              </a:rPr>
              <a:t>("%f", &amp;p-&gt;</a:t>
            </a:r>
            <a:r>
              <a:rPr lang="en-US" altLang="zh-CN" dirty="0" err="1">
                <a:latin typeface="Arial" panose="020B0604020202020204" pitchFamily="34" charset="0"/>
              </a:rPr>
              <a:t>coef</a:t>
            </a:r>
            <a:r>
              <a:rPr lang="en-US" altLang="zh-CN" dirty="0">
                <a:latin typeface="Arial" panose="020B0604020202020204" pitchFamily="34" charset="0"/>
              </a:rPr>
              <a:t>);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sz="2000" dirty="0" err="1">
                <a:latin typeface="Arial" panose="020B0604020202020204" pitchFamily="34" charset="0"/>
              </a:rPr>
              <a:t>printf</a:t>
            </a:r>
            <a:r>
              <a:rPr lang="en-US" altLang="zh-CN" sz="2000" dirty="0">
                <a:latin typeface="Arial" panose="020B0604020202020204" pitchFamily="34" charset="0"/>
              </a:rPr>
              <a:t>("</a:t>
            </a:r>
            <a:r>
              <a:rPr lang="zh-CN" altLang="en-US" sz="2000" dirty="0">
                <a:latin typeface="Arial" panose="020B0604020202020204" pitchFamily="34" charset="0"/>
              </a:rPr>
              <a:t>请输入该项的幂次</a:t>
            </a:r>
            <a:r>
              <a:rPr lang="en-US" altLang="zh-CN" sz="2000" dirty="0">
                <a:latin typeface="Arial" panose="020B0604020202020204" pitchFamily="34" charset="0"/>
              </a:rPr>
              <a:t>:");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scanf</a:t>
            </a:r>
            <a:r>
              <a:rPr lang="en-US" altLang="zh-CN" dirty="0">
                <a:latin typeface="Arial" panose="020B0604020202020204" pitchFamily="34" charset="0"/>
              </a:rPr>
              <a:t>("%d", &amp;p-&gt;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);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p-&gt;next=NULL;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52B657B-5E1D-4BD4-B053-75249F50F19B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94211" name="矩形 2"/>
          <p:cNvSpPr>
            <a:spLocks noChangeArrowheads="1"/>
          </p:cNvSpPr>
          <p:nvPr/>
        </p:nvSpPr>
        <p:spPr bwMode="auto">
          <a:xfrm>
            <a:off x="1524000" y="28575"/>
            <a:ext cx="10788650" cy="67506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head=p; 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52EFC"/>
                </a:solidFill>
                <a:latin typeface="Arial" panose="020B0604020202020204" pitchFamily="34" charset="0"/>
              </a:rPr>
              <a:t>while(--n)//</a:t>
            </a:r>
            <a:r>
              <a:rPr lang="zh-CN" altLang="en-US" sz="2800" dirty="0">
                <a:solidFill>
                  <a:srgbClr val="F52EFC"/>
                </a:solidFill>
                <a:latin typeface="Arial" panose="020B0604020202020204" pitchFamily="34" charset="0"/>
              </a:rPr>
              <a:t>入队算法</a:t>
            </a:r>
            <a:endParaRPr lang="zh-CN" altLang="en-US" sz="2800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F52EFC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52EFC"/>
                </a:solidFill>
                <a:latin typeface="Arial" panose="020B0604020202020204" pitchFamily="34" charset="0"/>
              </a:rPr>
              <a:t>{</a:t>
            </a:r>
            <a:r>
              <a:rPr lang="en-US" altLang="zh-CN" sz="2800" dirty="0">
                <a:latin typeface="Arial" panose="020B0604020202020204" pitchFamily="34" charset="0"/>
              </a:rPr>
              <a:t>	p0=p; 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//使p0指向当前的表尾结点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	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	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l" eaLnBrk="1" hangingPunct="1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 		p=(</a:t>
            </a:r>
            <a:r>
              <a:rPr lang="en-US" altLang="zh-CN" sz="2800" dirty="0" err="1">
                <a:latin typeface="Arial" panose="020B0604020202020204" pitchFamily="34" charset="0"/>
              </a:rPr>
              <a:t>polynome</a:t>
            </a:r>
            <a:r>
              <a:rPr lang="en-US" altLang="zh-CN" sz="2800" dirty="0">
                <a:latin typeface="Arial" panose="020B0604020202020204" pitchFamily="34" charset="0"/>
              </a:rPr>
              <a:t>)</a:t>
            </a:r>
            <a:r>
              <a:rPr lang="en-US" altLang="zh-CN" sz="2800" dirty="0" err="1">
                <a:latin typeface="Arial" panose="020B0604020202020204" pitchFamily="34" charset="0"/>
              </a:rPr>
              <a:t>malloc</a:t>
            </a:r>
            <a:r>
              <a:rPr lang="en-US" altLang="zh-CN" sz="2800" dirty="0">
                <a:latin typeface="Arial" panose="020B0604020202020204" pitchFamily="34" charset="0"/>
              </a:rPr>
              <a:t>(</a:t>
            </a:r>
            <a:r>
              <a:rPr lang="en-US" altLang="zh-CN" sz="2800" dirty="0" err="1">
                <a:latin typeface="Arial" panose="020B0604020202020204" pitchFamily="34" charset="0"/>
              </a:rPr>
              <a:t>sizeof</a:t>
            </a:r>
            <a:r>
              <a:rPr lang="en-US" altLang="zh-CN" sz="2800" dirty="0">
                <a:latin typeface="Arial" panose="020B0604020202020204" pitchFamily="34" charset="0"/>
              </a:rPr>
              <a:t>(</a:t>
            </a:r>
            <a:r>
              <a:rPr lang="en-US" altLang="zh-CN" sz="2800" dirty="0" err="1">
                <a:latin typeface="Arial" panose="020B0604020202020204" pitchFamily="34" charset="0"/>
              </a:rPr>
              <a:t>struct</a:t>
            </a:r>
            <a:r>
              <a:rPr lang="en-US" altLang="zh-CN" sz="2800" dirty="0">
                <a:latin typeface="Arial" panose="020B0604020202020204" pitchFamily="34" charset="0"/>
              </a:rPr>
              <a:t> item));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//申请新结点</a:t>
            </a:r>
            <a:endParaRPr lang="zh-CN" altLang="en-US" sz="20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</a:t>
            </a:r>
            <a:r>
              <a:rPr lang="en-US" altLang="zh-CN" sz="2000" dirty="0" err="1">
                <a:latin typeface="Arial" panose="020B0604020202020204" pitchFamily="34" charset="0"/>
              </a:rPr>
              <a:t>printf</a:t>
            </a:r>
            <a:r>
              <a:rPr lang="en-US" altLang="zh-CN" sz="2000" dirty="0">
                <a:latin typeface="Arial" panose="020B0604020202020204" pitchFamily="34" charset="0"/>
              </a:rPr>
              <a:t>(</a:t>
            </a:r>
            <a:r>
              <a:rPr lang="en-US" altLang="zh-CN" sz="2000">
                <a:latin typeface="Arial" panose="020B0604020202020204" pitchFamily="34" charset="0"/>
                <a:sym typeface="+mn-ea"/>
              </a:rPr>
              <a:t>"</a:t>
            </a:r>
            <a:r>
              <a:rPr lang="zh-CN" altLang="en-US" sz="2000" dirty="0">
                <a:latin typeface="Arial" panose="020B0604020202020204" pitchFamily="34" charset="0"/>
              </a:rPr>
              <a:t>请输入该项的系数：</a:t>
            </a:r>
            <a:r>
              <a:rPr lang="en-US" altLang="zh-CN" sz="200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000" dirty="0">
                <a:latin typeface="Arial" panose="020B0604020202020204" pitchFamily="34" charset="0"/>
              </a:rPr>
              <a:t>); </a:t>
            </a: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数据域</a:t>
            </a:r>
            <a:endParaRPr lang="en-US" altLang="zh-CN" sz="20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</a:t>
            </a:r>
            <a:r>
              <a:rPr lang="en-US" altLang="zh-CN" sz="2800" dirty="0" err="1">
                <a:latin typeface="Arial" panose="020B0604020202020204" pitchFamily="34" charset="0"/>
              </a:rPr>
              <a:t>scanf</a:t>
            </a:r>
            <a:r>
              <a:rPr lang="en-US" altLang="zh-CN" sz="2800" dirty="0">
                <a:latin typeface="Arial" panose="020B0604020202020204" pitchFamily="34" charset="0"/>
              </a:rPr>
              <a:t>("%f", &amp;p-&gt;</a:t>
            </a:r>
            <a:r>
              <a:rPr lang="en-US" altLang="zh-CN" sz="2800" dirty="0" err="1">
                <a:latin typeface="Arial" panose="020B0604020202020204" pitchFamily="34" charset="0"/>
              </a:rPr>
              <a:t>coef</a:t>
            </a:r>
            <a:r>
              <a:rPr lang="en-US" altLang="zh-CN" sz="2800" dirty="0">
                <a:latin typeface="Arial" panose="020B0604020202020204" pitchFamily="34" charset="0"/>
              </a:rPr>
              <a:t>);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</a:t>
            </a:r>
            <a:r>
              <a:rPr lang="en-US" altLang="zh-CN" sz="2000" dirty="0" err="1">
                <a:latin typeface="Arial" panose="020B0604020202020204" pitchFamily="34" charset="0"/>
              </a:rPr>
              <a:t>printf</a:t>
            </a:r>
            <a:r>
              <a:rPr lang="en-US" altLang="zh-CN" sz="2000" dirty="0">
                <a:latin typeface="Arial" panose="020B0604020202020204" pitchFamily="34" charset="0"/>
              </a:rPr>
              <a:t>("</a:t>
            </a:r>
            <a:r>
              <a:rPr lang="zh-CN" altLang="en-US" sz="2000" dirty="0">
                <a:latin typeface="Arial" panose="020B0604020202020204" pitchFamily="34" charset="0"/>
              </a:rPr>
              <a:t>请输入该项的幂次：</a:t>
            </a:r>
            <a:r>
              <a:rPr lang="en-US" altLang="zh-CN" sz="2000" dirty="0">
                <a:latin typeface="Arial" panose="020B0604020202020204" pitchFamily="34" charset="0"/>
              </a:rPr>
              <a:t>");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</a:t>
            </a:r>
            <a:r>
              <a:rPr lang="en-US" altLang="zh-CN" sz="2800" dirty="0" err="1">
                <a:latin typeface="Arial" panose="020B0604020202020204" pitchFamily="34" charset="0"/>
              </a:rPr>
              <a:t>scanf</a:t>
            </a:r>
            <a:r>
              <a:rPr lang="en-US" altLang="zh-CN" sz="2800" dirty="0">
                <a:latin typeface="Arial" panose="020B0604020202020204" pitchFamily="34" charset="0"/>
              </a:rPr>
              <a:t>("%d", &amp;p-&gt;</a:t>
            </a:r>
            <a:r>
              <a:rPr lang="en-US" altLang="zh-CN" sz="2800" dirty="0" err="1">
                <a:latin typeface="Arial" panose="020B0604020202020204" pitchFamily="34" charset="0"/>
              </a:rPr>
              <a:t>exp</a:t>
            </a:r>
            <a:r>
              <a:rPr lang="en-US" altLang="zh-CN" sz="2800" dirty="0">
                <a:latin typeface="Arial" panose="020B0604020202020204" pitchFamily="34" charset="0"/>
              </a:rPr>
              <a:t>);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algn="l" eaLnBrk="1" hangingPunct="1"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 		p-&gt;next=NULL; 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//指针域</a:t>
            </a:r>
            <a:endParaRPr lang="zh-CN" altLang="en-US" sz="20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l" eaLnBrk="1" hangingPunct="1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p0-&gt;next=p; 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//加入链表</a:t>
            </a:r>
            <a:endParaRPr lang="zh-CN" altLang="en-US" sz="20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52EFC"/>
                </a:solidFill>
                <a:latin typeface="Arial" panose="020B0604020202020204" pitchFamily="34" charset="0"/>
              </a:rPr>
              <a:t>} </a:t>
            </a:r>
            <a:endParaRPr lang="en-US" altLang="zh-CN" sz="2800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52EFC"/>
                </a:solidFill>
                <a:latin typeface="Arial" panose="020B0604020202020204" pitchFamily="34" charset="0"/>
              </a:rPr>
              <a:t>	return head; </a:t>
            </a:r>
            <a:endParaRPr lang="en-US" altLang="zh-CN" sz="2800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52EFC"/>
                </a:solidFill>
                <a:latin typeface="Arial" panose="020B0604020202020204" pitchFamily="34" charset="0"/>
              </a:rPr>
              <a:t>}</a:t>
            </a:r>
            <a:endParaRPr lang="en-US" altLang="zh-CN" sz="2800" dirty="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B2F9C68-4118-4347-8679-FD7AEE335167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2947" name="矩形 2"/>
          <p:cNvSpPr>
            <a:spLocks noChangeArrowheads="1"/>
          </p:cNvSpPr>
          <p:nvPr/>
        </p:nvSpPr>
        <p:spPr bwMode="auto">
          <a:xfrm>
            <a:off x="1230312" y="54077"/>
            <a:ext cx="8929688" cy="6739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void </a:t>
            </a: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print(</a:t>
            </a:r>
            <a:r>
              <a:rPr lang="en-US" altLang="zh-CN" sz="3600" dirty="0" err="1">
                <a:latin typeface="Arial" panose="020B0604020202020204" pitchFamily="34" charset="0"/>
              </a:rPr>
              <a:t>polynome</a:t>
            </a:r>
            <a:r>
              <a:rPr lang="en-US" altLang="zh-CN" sz="3600" dirty="0">
                <a:latin typeface="Arial" panose="020B0604020202020204" pitchFamily="34" charset="0"/>
              </a:rPr>
              <a:t> head</a:t>
            </a: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r>
              <a:rPr lang="en-US" altLang="zh-CN" sz="3600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3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3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输出链表</a:t>
            </a:r>
            <a:endParaRPr lang="zh-CN" altLang="en-US" sz="3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{</a:t>
            </a:r>
            <a:endParaRPr lang="en-US" altLang="zh-CN" sz="3600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</a:t>
            </a:r>
            <a:r>
              <a:rPr lang="en-US" altLang="zh-CN" sz="3600" dirty="0" err="1">
                <a:latin typeface="Arial" panose="020B0604020202020204" pitchFamily="34" charset="0"/>
              </a:rPr>
              <a:t>polynome</a:t>
            </a:r>
            <a:r>
              <a:rPr lang="en-US" altLang="zh-CN" sz="3600" dirty="0">
                <a:latin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srgbClr val="FFFF00"/>
                </a:solidFill>
                <a:latin typeface="Arial" panose="020B0604020202020204" pitchFamily="34" charset="0"/>
              </a:rPr>
              <a:t>current</a:t>
            </a:r>
            <a:r>
              <a:rPr lang="en-US" altLang="zh-CN" sz="3600" dirty="0">
                <a:solidFill>
                  <a:srgbClr val="FFFF00"/>
                </a:solidFill>
                <a:latin typeface="Arial" panose="020B0604020202020204" pitchFamily="34" charset="0"/>
              </a:rPr>
              <a:t>=head</a:t>
            </a:r>
            <a:r>
              <a:rPr lang="en-US" altLang="zh-CN" sz="3600" dirty="0">
                <a:latin typeface="Arial" panose="020B0604020202020204" pitchFamily="34" charset="0"/>
              </a:rPr>
              <a:t>; 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 	while(current!=NULL)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   	{ 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	</a:t>
            </a:r>
            <a:r>
              <a:rPr lang="en-US" altLang="zh-CN" sz="3600" dirty="0" err="1">
                <a:latin typeface="Arial" panose="020B0604020202020204" pitchFamily="34" charset="0"/>
              </a:rPr>
              <a:t>printf</a:t>
            </a:r>
            <a:r>
              <a:rPr lang="en-US" altLang="zh-CN" sz="3600" dirty="0">
                <a:latin typeface="Arial" panose="020B0604020202020204" pitchFamily="34" charset="0"/>
              </a:rPr>
              <a:t>("%5.2f", current-&gt;</a:t>
            </a:r>
            <a:r>
              <a:rPr lang="en-US" altLang="zh-CN" sz="3600" dirty="0" err="1">
                <a:latin typeface="Arial" panose="020B0604020202020204" pitchFamily="34" charset="0"/>
              </a:rPr>
              <a:t>coef</a:t>
            </a:r>
            <a:r>
              <a:rPr lang="en-US" altLang="zh-CN" sz="3600" dirty="0">
                <a:latin typeface="Arial" panose="020B0604020202020204" pitchFamily="34" charset="0"/>
              </a:rPr>
              <a:t>);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	</a:t>
            </a:r>
            <a:r>
              <a:rPr lang="en-US" altLang="zh-CN" sz="3600" dirty="0" err="1">
                <a:latin typeface="Arial" panose="020B0604020202020204" pitchFamily="34" charset="0"/>
              </a:rPr>
              <a:t>printf</a:t>
            </a:r>
            <a:r>
              <a:rPr lang="en-US" altLang="zh-CN" sz="3600" dirty="0">
                <a:latin typeface="Arial" panose="020B0604020202020204" pitchFamily="34" charset="0"/>
              </a:rPr>
              <a:t>("%5d", current-&gt;exp);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	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	</a:t>
            </a:r>
            <a:r>
              <a:rPr lang="en-US" altLang="zh-CN" sz="3600" dirty="0">
                <a:solidFill>
                  <a:srgbClr val="FFFF00"/>
                </a:solidFill>
                <a:latin typeface="Arial" panose="020B0604020202020204" pitchFamily="34" charset="0"/>
              </a:rPr>
              <a:t>current</a:t>
            </a:r>
            <a:r>
              <a:rPr lang="en-US" altLang="zh-CN" sz="3600" dirty="0">
                <a:solidFill>
                  <a:srgbClr val="FFFF00"/>
                </a:solidFill>
                <a:latin typeface="Arial" panose="020B0604020202020204" pitchFamily="34" charset="0"/>
              </a:rPr>
              <a:t>=current-&gt;next;</a:t>
            </a:r>
            <a:endParaRPr lang="en-US" altLang="zh-CN" sz="36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}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</a:t>
            </a:r>
            <a:r>
              <a:rPr lang="en-US" altLang="zh-CN" sz="3600" dirty="0" err="1">
                <a:latin typeface="Arial" panose="020B0604020202020204" pitchFamily="34" charset="0"/>
              </a:rPr>
              <a:t>printf</a:t>
            </a:r>
            <a:r>
              <a:rPr lang="en-US" altLang="zh-CN" sz="3600" dirty="0">
                <a:latin typeface="Arial" panose="020B0604020202020204" pitchFamily="34" charset="0"/>
              </a:rPr>
              <a:t>("\n");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}</a:t>
            </a:r>
            <a:endParaRPr lang="en-US" altLang="zh-CN" sz="3600" dirty="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14400" y="228600"/>
            <a:ext cx="9817735" cy="6240780"/>
          </a:xfrm>
          <a:prstGeom prst="rect">
            <a:avLst/>
          </a:prstGeom>
        </p:spPr>
        <p:txBody>
          <a:bodyPr>
            <a:noAutofit/>
          </a:bodyPr>
          <a:p>
            <a:pPr marL="0" algn="l" eaLnBrk="1" hangingPunct="1">
              <a:buClrTx/>
              <a:buSzTx/>
              <a:buFontTx/>
            </a:pPr>
            <a:r>
              <a:rPr lang="en-US" altLang="zh-CN" sz="3600" dirty="0" err="1">
                <a:latin typeface="Arial" panose="020B0604020202020204" pitchFamily="34" charset="0"/>
              </a:rPr>
              <a:t>void </a:t>
            </a:r>
            <a:r>
              <a:rPr lang="en-US" altLang="zh-CN" sz="3600" dirty="0" err="1">
                <a:solidFill>
                  <a:srgbClr val="FFFF00"/>
                </a:solidFill>
                <a:latin typeface="Arial" panose="020B0604020202020204" pitchFamily="34" charset="0"/>
              </a:rPr>
              <a:t>free</a:t>
            </a:r>
            <a:r>
              <a:rPr lang="en-US" altLang="zh-CN" sz="3600" dirty="0" err="1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Polynome</a:t>
            </a:r>
            <a:r>
              <a:rPr lang="en-US" altLang="zh-CN" sz="3600" dirty="0" err="1">
                <a:latin typeface="Arial" panose="020B0604020202020204" pitchFamily="34" charset="0"/>
              </a:rPr>
              <a:t>(</a:t>
            </a:r>
            <a:r>
              <a:rPr lang="en-US" altLang="zh-CN" sz="3600" dirty="0" err="1">
                <a:latin typeface="Arial" panose="020B0604020202020204" pitchFamily="34" charset="0"/>
                <a:sym typeface="+mn-ea"/>
              </a:rPr>
              <a:t>polynome head</a:t>
            </a:r>
            <a:r>
              <a:rPr lang="en-US" altLang="zh-CN" sz="3600" dirty="0" err="1">
                <a:latin typeface="Arial" panose="020B0604020202020204" pitchFamily="34" charset="0"/>
              </a:rPr>
              <a:t>)</a:t>
            </a:r>
            <a:r>
              <a:rPr lang="en-US" altLang="zh-CN" sz="2000" dirty="0" err="1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//释放链表内存</a:t>
            </a:r>
            <a:endParaRPr lang="en-US" altLang="zh-CN" sz="2000" dirty="0" err="1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marL="0" algn="l" eaLnBrk="1" hangingPunct="1">
              <a:buClrTx/>
              <a:buSzTx/>
              <a:buFontTx/>
            </a:pPr>
            <a:r>
              <a:rPr lang="en-US" altLang="zh-CN" sz="3600" dirty="0" err="1">
                <a:latin typeface="Arial" panose="020B0604020202020204" pitchFamily="34" charset="0"/>
              </a:rPr>
              <a:t>{</a:t>
            </a:r>
            <a:endParaRPr lang="en-US" altLang="zh-CN" sz="3600" dirty="0" err="1">
              <a:latin typeface="Arial" panose="020B0604020202020204" pitchFamily="34" charset="0"/>
            </a:endParaRPr>
          </a:p>
          <a:p>
            <a:pPr lvl="2" algn="l" eaLnBrk="1" hangingPunct="1">
              <a:buClrTx/>
              <a:buSzTx/>
              <a:buFontTx/>
            </a:pPr>
            <a:r>
              <a:rPr lang="en-US" altLang="zh-CN" sz="3600" dirty="0" err="1">
                <a:latin typeface="Arial" panose="020B0604020202020204" pitchFamily="34" charset="0"/>
                <a:sym typeface="+mn-ea"/>
              </a:rPr>
              <a:t>polynome</a:t>
            </a:r>
            <a:r>
              <a:rPr lang="en-US" altLang="zh-CN" sz="3600" dirty="0" err="1">
                <a:latin typeface="Arial" panose="020B0604020202020204" pitchFamily="34" charset="0"/>
              </a:rPr>
              <a:t> </a:t>
            </a:r>
            <a:r>
              <a:rPr lang="en-US" altLang="zh-CN" sz="3600" dirty="0" err="1">
                <a:solidFill>
                  <a:srgbClr val="F52EFC"/>
                </a:solidFill>
                <a:latin typeface="Arial" panose="020B0604020202020204" pitchFamily="34" charset="0"/>
              </a:rPr>
              <a:t>current</a:t>
            </a:r>
            <a:r>
              <a:rPr lang="en-US" altLang="zh-CN" sz="3600" dirty="0" err="1">
                <a:latin typeface="Arial" panose="020B0604020202020204" pitchFamily="34" charset="0"/>
              </a:rPr>
              <a:t> = head;</a:t>
            </a:r>
            <a:endParaRPr lang="en-US" altLang="zh-CN" sz="3600" dirty="0" err="1">
              <a:latin typeface="Arial" panose="020B0604020202020204" pitchFamily="34" charset="0"/>
            </a:endParaRPr>
          </a:p>
          <a:p>
            <a:pPr lvl="2" algn="l" eaLnBrk="1" hangingPunct="1">
              <a:buClrTx/>
              <a:buSzTx/>
              <a:buFontTx/>
            </a:pPr>
            <a:r>
              <a:rPr lang="en-US" altLang="zh-CN" sz="3600" dirty="0" err="1">
                <a:latin typeface="Arial" panose="020B0604020202020204" pitchFamily="34" charset="0"/>
                <a:sym typeface="+mn-ea"/>
              </a:rPr>
              <a:t>polynome</a:t>
            </a:r>
            <a:r>
              <a:rPr lang="en-US" altLang="zh-CN" sz="3600" dirty="0" err="1">
                <a:latin typeface="Arial" panose="020B0604020202020204" pitchFamily="34" charset="0"/>
              </a:rPr>
              <a:t> </a:t>
            </a:r>
            <a:r>
              <a:rPr lang="en-US" altLang="zh-CN" sz="3600" dirty="0" err="1">
                <a:solidFill>
                  <a:srgbClr val="F52EFC"/>
                </a:solidFill>
                <a:latin typeface="Arial" panose="020B0604020202020204" pitchFamily="34" charset="0"/>
              </a:rPr>
              <a:t>nextNode</a:t>
            </a:r>
            <a:r>
              <a:rPr lang="en-US" altLang="zh-CN" sz="3600" dirty="0" err="1">
                <a:latin typeface="Arial" panose="020B0604020202020204" pitchFamily="34" charset="0"/>
              </a:rPr>
              <a:t>;</a:t>
            </a:r>
            <a:endParaRPr lang="en-US" altLang="zh-CN" sz="3600" dirty="0" err="1">
              <a:latin typeface="Arial" panose="020B0604020202020204" pitchFamily="34" charset="0"/>
            </a:endParaRPr>
          </a:p>
          <a:p>
            <a:pPr lvl="2" algn="l" eaLnBrk="1" hangingPunct="1">
              <a:buClrTx/>
              <a:buSzTx/>
              <a:buFontTx/>
            </a:pPr>
            <a:r>
              <a:rPr lang="en-US" altLang="zh-CN" sz="3600" dirty="0" err="1">
                <a:latin typeface="Arial" panose="020B0604020202020204" pitchFamily="34" charset="0"/>
              </a:rPr>
              <a:t>while(current != NULL)</a:t>
            </a:r>
            <a:endParaRPr lang="en-US" altLang="zh-CN" sz="3600" dirty="0" err="1">
              <a:latin typeface="Arial" panose="020B0604020202020204" pitchFamily="34" charset="0"/>
            </a:endParaRPr>
          </a:p>
          <a:p>
            <a:pPr lvl="2" algn="l" eaLnBrk="1" hangingPunct="1">
              <a:buClrTx/>
              <a:buSzTx/>
              <a:buFontTx/>
            </a:pPr>
            <a:r>
              <a:rPr lang="en-US" altLang="zh-CN" sz="3600" dirty="0" err="1">
                <a:latin typeface="Arial" panose="020B0604020202020204" pitchFamily="34" charset="0"/>
              </a:rPr>
              <a:t>{</a:t>
            </a:r>
            <a:endParaRPr lang="en-US" altLang="zh-CN" sz="3600" dirty="0" err="1">
              <a:latin typeface="Arial" panose="020B0604020202020204" pitchFamily="34" charset="0"/>
            </a:endParaRPr>
          </a:p>
          <a:p>
            <a:pPr marL="1828800" lvl="6" algn="l" eaLnBrk="1" hangingPunct="1">
              <a:buClrTx/>
              <a:buSzTx/>
              <a:buFontTx/>
            </a:pPr>
            <a:r>
              <a:rPr lang="en-US" altLang="zh-CN" sz="3600" dirty="0" err="1">
                <a:latin typeface="Arial" panose="020B0604020202020204" pitchFamily="34" charset="0"/>
              </a:rPr>
              <a:t>nextNode = current-&gt;next;</a:t>
            </a:r>
            <a:endParaRPr lang="en-US" altLang="zh-CN" sz="3600" dirty="0" err="1">
              <a:latin typeface="Arial" panose="020B0604020202020204" pitchFamily="34" charset="0"/>
            </a:endParaRPr>
          </a:p>
          <a:p>
            <a:pPr marL="1828800" lvl="6" algn="l" eaLnBrk="1" hangingPunct="1">
              <a:buClrTx/>
              <a:buSzTx/>
              <a:buFontTx/>
            </a:pPr>
            <a:r>
              <a:rPr lang="en-US" altLang="zh-CN" sz="3600" dirty="0" err="1">
                <a:solidFill>
                  <a:srgbClr val="FFFF00"/>
                </a:solidFill>
                <a:latin typeface="Arial" panose="020B0604020202020204" pitchFamily="34" charset="0"/>
              </a:rPr>
              <a:t>free(</a:t>
            </a:r>
            <a:r>
              <a:rPr lang="en-US" altLang="zh-CN" sz="3600" dirty="0" err="1">
                <a:solidFill>
                  <a:srgbClr val="F52EFC"/>
                </a:solidFill>
                <a:latin typeface="Arial" panose="020B0604020202020204" pitchFamily="34" charset="0"/>
              </a:rPr>
              <a:t>curren</a:t>
            </a:r>
            <a:r>
              <a:rPr lang="en-US" altLang="zh-CN" sz="3600" dirty="0" err="1">
                <a:latin typeface="Arial" panose="020B0604020202020204" pitchFamily="34" charset="0"/>
              </a:rPr>
              <a:t>t</a:t>
            </a:r>
            <a:r>
              <a:rPr lang="en-US" altLang="zh-CN" sz="3600" dirty="0" err="1">
                <a:solidFill>
                  <a:srgbClr val="FFFF00"/>
                </a:solidFill>
                <a:latin typeface="Arial" panose="020B0604020202020204" pitchFamily="34" charset="0"/>
              </a:rPr>
              <a:t>);</a:t>
            </a:r>
            <a:endParaRPr lang="en-US" altLang="zh-CN" sz="3600" dirty="0" err="1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1828800" lvl="6" algn="l" eaLnBrk="1" hangingPunct="1">
              <a:buClrTx/>
              <a:buSzTx/>
              <a:buFontTx/>
            </a:pPr>
            <a:r>
              <a:rPr lang="en-US" altLang="zh-CN" sz="3600" dirty="0" err="1">
                <a:latin typeface="Arial" panose="020B0604020202020204" pitchFamily="34" charset="0"/>
              </a:rPr>
              <a:t>current = nextNode;</a:t>
            </a:r>
            <a:endParaRPr lang="en-US" altLang="zh-CN" sz="3600" dirty="0" err="1">
              <a:latin typeface="Arial" panose="020B0604020202020204" pitchFamily="34" charset="0"/>
            </a:endParaRPr>
          </a:p>
          <a:p>
            <a:pPr lvl="2" algn="l" eaLnBrk="1" hangingPunct="1">
              <a:buClrTx/>
              <a:buSzTx/>
              <a:buFontTx/>
            </a:pPr>
            <a:r>
              <a:rPr lang="en-US" altLang="zh-CN" sz="3600" dirty="0" err="1">
                <a:latin typeface="Arial" panose="020B0604020202020204" pitchFamily="34" charset="0"/>
              </a:rPr>
              <a:t>}</a:t>
            </a:r>
            <a:endParaRPr lang="en-US" altLang="zh-CN" sz="3600" dirty="0" err="1">
              <a:latin typeface="Arial" panose="020B0604020202020204" pitchFamily="34" charset="0"/>
            </a:endParaRPr>
          </a:p>
          <a:p>
            <a:pPr marL="0" algn="l" eaLnBrk="1" hangingPunct="1">
              <a:buClrTx/>
              <a:buSzTx/>
              <a:buFontTx/>
            </a:pPr>
            <a:r>
              <a:rPr lang="en-US" altLang="zh-CN" sz="3600" dirty="0" err="1">
                <a:latin typeface="Arial" panose="020B0604020202020204" pitchFamily="34" charset="0"/>
              </a:rPr>
              <a:t>}</a:t>
            </a:r>
            <a:endParaRPr lang="en-US" altLang="zh-CN" sz="3600" dirty="0" err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67124A0-3AEA-4694-84F4-2546B4BA07B2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3971" name="文本框 2"/>
          <p:cNvSpPr txBox="1">
            <a:spLocks noChangeArrowheads="1"/>
          </p:cNvSpPr>
          <p:nvPr/>
        </p:nvSpPr>
        <p:spPr bwMode="auto">
          <a:xfrm>
            <a:off x="-76200" y="33655"/>
            <a:ext cx="505015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3600">
                <a:solidFill>
                  <a:srgbClr val="FFC000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3600">
                <a:solidFill>
                  <a:srgbClr val="FFC000"/>
                </a:solidFill>
                <a:latin typeface="Arial" panose="020B0604020202020204" pitchFamily="34" charset="0"/>
              </a:rPr>
              <a:t>13.4】n</a:t>
            </a:r>
            <a:r>
              <a:rPr lang="zh-CN" altLang="en-US" sz="3600">
                <a:solidFill>
                  <a:srgbClr val="FFC000"/>
                </a:solidFill>
                <a:latin typeface="Arial" panose="020B0604020202020204" pitchFamily="34" charset="0"/>
              </a:rPr>
              <a:t>阶法雷序列</a:t>
            </a:r>
            <a:endParaRPr lang="zh-CN" altLang="en-US" sz="360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164868" name="文本框 3"/>
          <p:cNvSpPr txBox="1">
            <a:spLocks noChangeArrowheads="1"/>
          </p:cNvSpPr>
          <p:nvPr/>
        </p:nvSpPr>
        <p:spPr bwMode="auto">
          <a:xfrm>
            <a:off x="123190" y="1807210"/>
            <a:ext cx="12150090" cy="1198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0/1，</a:t>
            </a:r>
            <a:r>
              <a:rPr lang="en-US" altLang="zh-CN" dirty="0">
                <a:latin typeface="Arial" panose="020B0604020202020204" pitchFamily="34" charset="0"/>
              </a:rPr>
              <a:t>1/8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1/7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1/6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99FFCC"/>
                </a:solidFill>
                <a:latin typeface="Arial" panose="020B0604020202020204" pitchFamily="34" charset="0"/>
              </a:rPr>
              <a:t>1/5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1/4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2/7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1/3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3/8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2/5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3/7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1/2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4/7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3/5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5/8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2/3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5/7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3/4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4/5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5/6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6/7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7/8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1/1</a:t>
            </a:r>
            <a:endParaRPr lang="en-US" altLang="zh-CN" sz="3600" dirty="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0" y="3670300"/>
            <a:ext cx="8751888" cy="316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</a:rPr>
              <a:t>关键思路：</a:t>
            </a:r>
            <a:endParaRPr lang="en-US" altLang="zh-CN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for(</a:t>
            </a:r>
            <a:r>
              <a:rPr lang="en-US" altLang="zh-CN" sz="2800" dirty="0">
                <a:solidFill>
                  <a:srgbClr val="F52EFC"/>
                </a:solidFill>
                <a:latin typeface="Arial" panose="020B0604020202020204" pitchFamily="34" charset="0"/>
              </a:rPr>
              <a:t>i=2;i&lt;=n;</a:t>
            </a:r>
            <a:r>
              <a:rPr lang="en-US" altLang="zh-CN" sz="2800">
                <a:latin typeface="Arial" panose="020B0604020202020204" pitchFamily="34" charset="0"/>
              </a:rPr>
              <a:t>i++)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for(</a:t>
            </a:r>
            <a:r>
              <a:rPr lang="en-US" altLang="zh-CN" sz="2800" dirty="0">
                <a:solidFill>
                  <a:srgbClr val="F52EFC"/>
                </a:solidFill>
                <a:latin typeface="Arial" panose="020B0604020202020204" pitchFamily="34" charset="0"/>
              </a:rPr>
              <a:t>j=1;j&lt;i;</a:t>
            </a:r>
            <a:r>
              <a:rPr lang="en-US" altLang="zh-CN" sz="2800">
                <a:latin typeface="Arial" panose="020B0604020202020204" pitchFamily="34" charset="0"/>
              </a:rPr>
              <a:t>j++)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if(</a:t>
            </a:r>
            <a:r>
              <a:rPr lang="zh-CN" altLang="en-US" sz="2800">
                <a:latin typeface="Arial" panose="020B0604020202020204" pitchFamily="34" charset="0"/>
              </a:rPr>
              <a:t>分子和分母不可约分）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{	</a:t>
            </a:r>
            <a:r>
              <a:rPr lang="zh-CN" altLang="en-US" sz="2800">
                <a:latin typeface="Arial" panose="020B0604020202020204" pitchFamily="34" charset="0"/>
              </a:rPr>
              <a:t>寻找</a:t>
            </a:r>
            <a:r>
              <a:rPr lang="en-US" altLang="zh-CN" sz="2800">
                <a:latin typeface="Arial" panose="020B0604020202020204" pitchFamily="34" charset="0"/>
              </a:rPr>
              <a:t>j/i</a:t>
            </a:r>
            <a:r>
              <a:rPr lang="zh-CN" altLang="en-US" sz="2800">
                <a:latin typeface="Arial" panose="020B0604020202020204" pitchFamily="34" charset="0"/>
              </a:rPr>
              <a:t>的位置</a:t>
            </a:r>
            <a:r>
              <a:rPr lang="en-US" altLang="zh-CN" sz="2800">
                <a:latin typeface="Arial" panose="020B0604020202020204" pitchFamily="34" charset="0"/>
              </a:rPr>
              <a:t>(</a:t>
            </a:r>
            <a:r>
              <a:rPr lang="zh-CN" altLang="en-US" sz="2800">
                <a:latin typeface="Arial" panose="020B0604020202020204" pitchFamily="34" charset="0"/>
              </a:rPr>
              <a:t>在</a:t>
            </a:r>
            <a:r>
              <a:rPr lang="en-US" altLang="zh-CN" sz="2800">
                <a:latin typeface="Arial" panose="020B0604020202020204" pitchFamily="34" charset="0"/>
              </a:rPr>
              <a:t>r0</a:t>
            </a:r>
            <a:r>
              <a:rPr lang="zh-CN" altLang="en-US" sz="2800">
                <a:latin typeface="Arial" panose="020B0604020202020204" pitchFamily="34" charset="0"/>
              </a:rPr>
              <a:t>和</a:t>
            </a:r>
            <a:r>
              <a:rPr lang="en-US" altLang="zh-CN" sz="2800">
                <a:latin typeface="Arial" panose="020B0604020202020204" pitchFamily="34" charset="0"/>
              </a:rPr>
              <a:t>r</a:t>
            </a:r>
            <a:r>
              <a:rPr lang="zh-CN" altLang="en-US" sz="2800">
                <a:latin typeface="Arial" panose="020B0604020202020204" pitchFamily="34" charset="0"/>
              </a:rPr>
              <a:t>之间</a:t>
            </a:r>
            <a:r>
              <a:rPr lang="en-US" altLang="zh-CN" sz="2800">
                <a:latin typeface="Arial" panose="020B0604020202020204" pitchFamily="34" charset="0"/>
              </a:rPr>
              <a:t>)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	</a:t>
            </a:r>
            <a:r>
              <a:rPr lang="zh-CN" altLang="en-US" sz="2800">
                <a:latin typeface="Arial" panose="020B0604020202020204" pitchFamily="34" charset="0"/>
              </a:rPr>
              <a:t>构造</a:t>
            </a:r>
            <a:r>
              <a:rPr lang="en-US" altLang="zh-CN" sz="2800">
                <a:latin typeface="Arial" panose="020B0604020202020204" pitchFamily="34" charset="0"/>
              </a:rPr>
              <a:t>j/i</a:t>
            </a:r>
            <a:r>
              <a:rPr lang="zh-CN" altLang="en-US" sz="2800">
                <a:latin typeface="Arial" panose="020B0604020202020204" pitchFamily="34" charset="0"/>
              </a:rPr>
              <a:t>、并插入到</a:t>
            </a:r>
            <a:r>
              <a:rPr lang="en-US" altLang="zh-CN" sz="2800">
                <a:latin typeface="Arial" panose="020B0604020202020204" pitchFamily="34" charset="0"/>
              </a:rPr>
              <a:t>r0</a:t>
            </a:r>
            <a:r>
              <a:rPr lang="zh-CN" altLang="en-US" sz="2800">
                <a:latin typeface="Arial" panose="020B0604020202020204" pitchFamily="34" charset="0"/>
              </a:rPr>
              <a:t>和</a:t>
            </a:r>
            <a:r>
              <a:rPr lang="en-US" altLang="zh-CN" sz="2800">
                <a:latin typeface="Arial" panose="020B0604020202020204" pitchFamily="34" charset="0"/>
              </a:rPr>
              <a:t>r</a:t>
            </a:r>
            <a:r>
              <a:rPr lang="zh-CN" altLang="en-US" sz="2800">
                <a:latin typeface="Arial" panose="020B0604020202020204" pitchFamily="34" charset="0"/>
              </a:rPr>
              <a:t>之间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}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8101648" y="4415473"/>
            <a:ext cx="2228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 flipV="1">
            <a:off x="5112385" y="4509135"/>
            <a:ext cx="5365750" cy="269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8" name="Oval 5"/>
          <p:cNvSpPr>
            <a:spLocks noChangeArrowheads="1"/>
          </p:cNvSpPr>
          <p:nvPr/>
        </p:nvSpPr>
        <p:spPr bwMode="auto">
          <a:xfrm>
            <a:off x="4398010" y="414242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5609" name="Oval 6"/>
          <p:cNvSpPr>
            <a:spLocks noChangeArrowheads="1"/>
          </p:cNvSpPr>
          <p:nvPr/>
        </p:nvSpPr>
        <p:spPr bwMode="auto">
          <a:xfrm>
            <a:off x="10457498" y="411067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5134610" y="4415473"/>
            <a:ext cx="22304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5134610" y="431704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8114348" y="429799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4411980" y="4142423"/>
            <a:ext cx="9255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0/1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4" name="Text Box 14"/>
          <p:cNvSpPr txBox="1">
            <a:spLocks noChangeArrowheads="1"/>
          </p:cNvSpPr>
          <p:nvPr/>
        </p:nvSpPr>
        <p:spPr bwMode="auto">
          <a:xfrm>
            <a:off x="10497185" y="4134485"/>
            <a:ext cx="7092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1/1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17"/>
          <p:cNvGrpSpPr/>
          <p:nvPr/>
        </p:nvGrpSpPr>
        <p:grpSpPr bwMode="auto">
          <a:xfrm>
            <a:off x="8838248" y="4105910"/>
            <a:ext cx="904875" cy="546100"/>
            <a:chOff x="3085" y="911"/>
            <a:chExt cx="669" cy="344"/>
          </a:xfrm>
        </p:grpSpPr>
        <p:sp>
          <p:nvSpPr>
            <p:cNvPr id="25624" name="Oval 18"/>
            <p:cNvSpPr>
              <a:spLocks noChangeArrowheads="1"/>
            </p:cNvSpPr>
            <p:nvPr/>
          </p:nvSpPr>
          <p:spPr bwMode="auto">
            <a:xfrm>
              <a:off x="3085" y="911"/>
              <a:ext cx="639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3179" y="918"/>
              <a:ext cx="575" cy="32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2/3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0" name="Line 10"/>
          <p:cNvSpPr>
            <a:spLocks noChangeShapeType="1"/>
          </p:cNvSpPr>
          <p:nvPr/>
        </p:nvSpPr>
        <p:spPr bwMode="auto">
          <a:xfrm>
            <a:off x="6571298" y="429799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12"/>
          <p:cNvSpPr>
            <a:spLocks noChangeShapeType="1"/>
          </p:cNvSpPr>
          <p:nvPr/>
        </p:nvSpPr>
        <p:spPr bwMode="auto">
          <a:xfrm>
            <a:off x="9701848" y="4301173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组合 24"/>
          <p:cNvGrpSpPr/>
          <p:nvPr/>
        </p:nvGrpSpPr>
        <p:grpSpPr bwMode="auto">
          <a:xfrm>
            <a:off x="5787073" y="4094798"/>
            <a:ext cx="1095375" cy="546100"/>
            <a:chOff x="1801742" y="921018"/>
            <a:chExt cx="1095235" cy="546100"/>
          </a:xfrm>
        </p:grpSpPr>
        <p:sp>
          <p:nvSpPr>
            <p:cNvPr id="25622" name="Oval 9"/>
            <p:cNvSpPr>
              <a:spLocks noChangeArrowheads="1"/>
            </p:cNvSpPr>
            <p:nvPr/>
          </p:nvSpPr>
          <p:spPr bwMode="auto">
            <a:xfrm>
              <a:off x="1849354" y="921018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5623" name="Text Box 15"/>
            <p:cNvSpPr txBox="1">
              <a:spLocks noChangeArrowheads="1"/>
            </p:cNvSpPr>
            <p:nvPr/>
          </p:nvSpPr>
          <p:spPr bwMode="auto">
            <a:xfrm>
              <a:off x="1801742" y="965998"/>
              <a:ext cx="109523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CC0000"/>
                  </a:solidFill>
                  <a:latin typeface="Times New Roman" panose="02020603050405020304" pitchFamily="18" charset="0"/>
                </a:rPr>
                <a:t>1/3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组合 4"/>
          <p:cNvGrpSpPr/>
          <p:nvPr/>
        </p:nvGrpSpPr>
        <p:grpSpPr bwMode="auto">
          <a:xfrm>
            <a:off x="7365048" y="4142423"/>
            <a:ext cx="849312" cy="546100"/>
            <a:chOff x="3334562" y="969211"/>
            <a:chExt cx="850020" cy="546100"/>
          </a:xfrm>
        </p:grpSpPr>
        <p:sp>
          <p:nvSpPr>
            <p:cNvPr id="25620" name="Oval 11"/>
            <p:cNvSpPr>
              <a:spLocks noChangeArrowheads="1"/>
            </p:cNvSpPr>
            <p:nvPr/>
          </p:nvSpPr>
          <p:spPr bwMode="auto">
            <a:xfrm>
              <a:off x="3334562" y="969211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5621" name="Text Box 16"/>
            <p:cNvSpPr txBox="1">
              <a:spLocks noChangeArrowheads="1"/>
            </p:cNvSpPr>
            <p:nvPr/>
          </p:nvSpPr>
          <p:spPr bwMode="auto">
            <a:xfrm>
              <a:off x="3371539" y="992807"/>
              <a:ext cx="813043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1/2</a:t>
              </a:r>
              <a:endParaRPr kumimoji="1" lang="zh-CN" altLang="en-US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52400" y="685800"/>
            <a:ext cx="1161605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C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对任意给定的自然数</a:t>
            </a:r>
            <a:r>
              <a:rPr lang="en-US" altLang="zh-CN" sz="2800">
                <a:solidFill>
                  <a:srgbClr val="FFC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en-US" sz="2800">
                <a:solidFill>
                  <a:srgbClr val="FFC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，把如下所有形式的</a:t>
            </a:r>
            <a:r>
              <a:rPr lang="zh-CN" altLang="en-US" sz="2800">
                <a:solidFill>
                  <a:srgbClr val="F52EF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不可约分数</a:t>
            </a:r>
            <a:r>
              <a:rPr lang="en-US" altLang="zh-CN" sz="2800">
                <a:solidFill>
                  <a:srgbClr val="F52EF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j/i </a:t>
            </a:r>
            <a:endParaRPr lang="en-US" altLang="zh-CN" sz="2800">
              <a:solidFill>
                <a:srgbClr val="F52EFC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800">
                <a:solidFill>
                  <a:srgbClr val="FFC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( 0&lt;i&lt;=n; 0&lt;=j&lt;=i )</a:t>
            </a:r>
            <a:r>
              <a:rPr lang="zh-CN" altLang="en-US" sz="2800">
                <a:solidFill>
                  <a:srgbClr val="FFC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按递增顺序排列起来，称</a:t>
            </a:r>
            <a:r>
              <a:rPr lang="en-US" altLang="zh-CN" sz="2800">
                <a:solidFill>
                  <a:srgbClr val="FFC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en-US" sz="2800">
                <a:solidFill>
                  <a:srgbClr val="FFC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阶法雷序列</a:t>
            </a:r>
            <a:r>
              <a:rPr lang="en-US" altLang="zh-CN" sz="2800">
                <a:solidFill>
                  <a:srgbClr val="FFC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Fn</a:t>
            </a:r>
            <a:r>
              <a:rPr lang="zh-CN" altLang="en-US" sz="2800">
                <a:solidFill>
                  <a:srgbClr val="FFC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，例如</a:t>
            </a:r>
            <a:r>
              <a:rPr lang="en-US" altLang="zh-CN" sz="2800">
                <a:solidFill>
                  <a:srgbClr val="FFC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F8</a:t>
            </a:r>
            <a:endParaRPr lang="en-US" altLang="zh-CN" sz="2800">
              <a:solidFill>
                <a:srgbClr val="FFC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EBE8E77-0410-438A-9E7C-C14C105B6BF7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4995" name="Oval 5"/>
          <p:cNvSpPr>
            <a:spLocks noChangeArrowheads="1"/>
          </p:cNvSpPr>
          <p:nvPr/>
        </p:nvSpPr>
        <p:spPr bwMode="auto">
          <a:xfrm>
            <a:off x="1927225" y="1466850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4996" name="Oval 6"/>
          <p:cNvSpPr>
            <a:spLocks noChangeArrowheads="1"/>
          </p:cNvSpPr>
          <p:nvPr/>
        </p:nvSpPr>
        <p:spPr bwMode="auto">
          <a:xfrm>
            <a:off x="3375025" y="1454150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4997" name="Line 7"/>
          <p:cNvSpPr>
            <a:spLocks noChangeShapeType="1"/>
          </p:cNvSpPr>
          <p:nvPr/>
        </p:nvSpPr>
        <p:spPr bwMode="auto">
          <a:xfrm>
            <a:off x="2651125" y="1733550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8" name="Line 8"/>
          <p:cNvSpPr>
            <a:spLocks noChangeShapeType="1"/>
          </p:cNvSpPr>
          <p:nvPr/>
        </p:nvSpPr>
        <p:spPr bwMode="auto">
          <a:xfrm>
            <a:off x="4111625" y="1733550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9" name="Oval 9"/>
          <p:cNvSpPr>
            <a:spLocks noChangeArrowheads="1"/>
          </p:cNvSpPr>
          <p:nvPr/>
        </p:nvSpPr>
        <p:spPr bwMode="auto">
          <a:xfrm>
            <a:off x="4835525" y="1454150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5000" name="Oval 11"/>
          <p:cNvSpPr>
            <a:spLocks noChangeArrowheads="1"/>
          </p:cNvSpPr>
          <p:nvPr/>
        </p:nvSpPr>
        <p:spPr bwMode="auto">
          <a:xfrm>
            <a:off x="4308475" y="2484438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 flipV="1">
            <a:off x="5062538" y="1943100"/>
            <a:ext cx="1576387" cy="815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2" name="Text Box 13"/>
          <p:cNvSpPr txBox="1">
            <a:spLocks noChangeArrowheads="1"/>
          </p:cNvSpPr>
          <p:nvPr/>
        </p:nvSpPr>
        <p:spPr bwMode="auto">
          <a:xfrm>
            <a:off x="2006600" y="1485900"/>
            <a:ext cx="925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0/1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3452813" y="1477963"/>
            <a:ext cx="700087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1/3</a:t>
            </a:r>
            <a:endParaRPr kumimoji="1" lang="en-US" altLang="zh-CN" sz="2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85004" name="Text Box 15"/>
          <p:cNvSpPr txBox="1">
            <a:spLocks noChangeArrowheads="1"/>
          </p:cNvSpPr>
          <p:nvPr/>
        </p:nvSpPr>
        <p:spPr bwMode="auto">
          <a:xfrm>
            <a:off x="4943475" y="1465263"/>
            <a:ext cx="642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2060"/>
                </a:solidFill>
                <a:latin typeface="Times New Roman" panose="02020603050405020304" pitchFamily="18" charset="0"/>
              </a:rPr>
              <a:t>1/2</a:t>
            </a:r>
            <a:endParaRPr kumimoji="1" lang="en-US" altLang="zh-CN" sz="280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4343400" y="2484438"/>
            <a:ext cx="642938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2/3</a:t>
            </a:r>
            <a:endParaRPr kumimoji="1" lang="en-US" altLang="zh-CN" sz="2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5006" name="Group 17"/>
          <p:cNvGrpSpPr/>
          <p:nvPr/>
        </p:nvGrpSpPr>
        <p:grpSpPr bwMode="auto">
          <a:xfrm>
            <a:off x="6270625" y="1385888"/>
            <a:ext cx="962025" cy="546100"/>
            <a:chOff x="4104" y="936"/>
            <a:chExt cx="711" cy="344"/>
          </a:xfrm>
        </p:grpSpPr>
        <p:sp>
          <p:nvSpPr>
            <p:cNvPr id="85030" name="Oval 18"/>
            <p:cNvSpPr>
              <a:spLocks noChangeArrowheads="1"/>
            </p:cNvSpPr>
            <p:nvPr/>
          </p:nvSpPr>
          <p:spPr bwMode="auto">
            <a:xfrm>
              <a:off x="4104" y="936"/>
              <a:ext cx="639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85031" name="Text Box 19"/>
            <p:cNvSpPr txBox="1">
              <a:spLocks noChangeArrowheads="1"/>
            </p:cNvSpPr>
            <p:nvPr/>
          </p:nvSpPr>
          <p:spPr bwMode="auto">
            <a:xfrm>
              <a:off x="4240" y="946"/>
              <a:ext cx="5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1/1</a:t>
              </a:r>
              <a:endPara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7" name="Line 10"/>
          <p:cNvSpPr>
            <a:spLocks noChangeShapeType="1"/>
          </p:cNvSpPr>
          <p:nvPr/>
        </p:nvSpPr>
        <p:spPr bwMode="auto">
          <a:xfrm flipH="1">
            <a:off x="4794250" y="1938338"/>
            <a:ext cx="149225" cy="523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8" name="文本框 20"/>
          <p:cNvSpPr txBox="1">
            <a:spLocks noChangeArrowheads="1"/>
          </p:cNvSpPr>
          <p:nvPr/>
        </p:nvSpPr>
        <p:spPr bwMode="auto">
          <a:xfrm>
            <a:off x="458788" y="3597275"/>
            <a:ext cx="8753475" cy="3107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C000"/>
                </a:solidFill>
                <a:latin typeface="Arial" panose="020B0604020202020204" pitchFamily="34" charset="0"/>
              </a:rPr>
              <a:t>关键思路：</a:t>
            </a:r>
            <a:endParaRPr lang="en-US" altLang="zh-CN" sz="280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for(</a:t>
            </a:r>
            <a:r>
              <a:rPr lang="en-US" altLang="zh-CN" sz="2800">
                <a:solidFill>
                  <a:srgbClr val="F52EFC"/>
                </a:solidFill>
                <a:latin typeface="Arial" panose="020B0604020202020204" pitchFamily="34" charset="0"/>
              </a:rPr>
              <a:t>i=2;i&lt;=n;</a:t>
            </a:r>
            <a:r>
              <a:rPr lang="en-US" altLang="zh-CN" sz="2800">
                <a:latin typeface="Arial" panose="020B0604020202020204" pitchFamily="34" charset="0"/>
              </a:rPr>
              <a:t>i++)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for(</a:t>
            </a:r>
            <a:r>
              <a:rPr lang="en-US" altLang="zh-CN" sz="2800">
                <a:solidFill>
                  <a:srgbClr val="F52EFC"/>
                </a:solidFill>
                <a:latin typeface="Arial" panose="020B0604020202020204" pitchFamily="34" charset="0"/>
              </a:rPr>
              <a:t>j=1;j&lt;i;</a:t>
            </a:r>
            <a:r>
              <a:rPr lang="en-US" altLang="zh-CN" sz="2800">
                <a:latin typeface="Arial" panose="020B0604020202020204" pitchFamily="34" charset="0"/>
              </a:rPr>
              <a:t>j++)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if(</a:t>
            </a:r>
            <a:r>
              <a:rPr lang="zh-CN" altLang="en-US" sz="2800">
                <a:latin typeface="Arial" panose="020B0604020202020204" pitchFamily="34" charset="0"/>
              </a:rPr>
              <a:t>分子和分母不可约分）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{	</a:t>
            </a:r>
            <a:r>
              <a:rPr lang="zh-CN" altLang="en-US" sz="2800">
                <a:latin typeface="Arial" panose="020B0604020202020204" pitchFamily="34" charset="0"/>
              </a:rPr>
              <a:t>寻找</a:t>
            </a:r>
            <a:r>
              <a:rPr lang="en-US" altLang="zh-CN" sz="2800">
                <a:latin typeface="Arial" panose="020B0604020202020204" pitchFamily="34" charset="0"/>
              </a:rPr>
              <a:t>j/i</a:t>
            </a:r>
            <a:r>
              <a:rPr lang="zh-CN" altLang="en-US" sz="2800">
                <a:latin typeface="Arial" panose="020B0604020202020204" pitchFamily="34" charset="0"/>
              </a:rPr>
              <a:t>的位置，在</a:t>
            </a:r>
            <a:r>
              <a:rPr lang="en-US" altLang="zh-CN" sz="2800">
                <a:latin typeface="Arial" panose="020B0604020202020204" pitchFamily="34" charset="0"/>
              </a:rPr>
              <a:t>r0</a:t>
            </a:r>
            <a:r>
              <a:rPr lang="zh-CN" altLang="en-US" sz="2800">
                <a:latin typeface="Arial" panose="020B0604020202020204" pitchFamily="34" charset="0"/>
              </a:rPr>
              <a:t>和</a:t>
            </a:r>
            <a:r>
              <a:rPr lang="en-US" altLang="zh-CN" sz="2800">
                <a:latin typeface="Arial" panose="020B0604020202020204" pitchFamily="34" charset="0"/>
              </a:rPr>
              <a:t>r</a:t>
            </a:r>
            <a:r>
              <a:rPr lang="zh-CN" altLang="en-US" sz="2800">
                <a:latin typeface="Arial" panose="020B0604020202020204" pitchFamily="34" charset="0"/>
              </a:rPr>
              <a:t>之间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	</a:t>
            </a:r>
            <a:r>
              <a:rPr lang="zh-CN" altLang="en-US" sz="2800">
                <a:latin typeface="Arial" panose="020B0604020202020204" pitchFamily="34" charset="0"/>
              </a:rPr>
              <a:t>构造</a:t>
            </a:r>
            <a:r>
              <a:rPr lang="en-US" altLang="zh-CN" sz="2800">
                <a:latin typeface="Arial" panose="020B0604020202020204" pitchFamily="34" charset="0"/>
              </a:rPr>
              <a:t>j/i</a:t>
            </a:r>
            <a:r>
              <a:rPr lang="zh-CN" altLang="en-US" sz="2800">
                <a:latin typeface="Arial" panose="020B0604020202020204" pitchFamily="34" charset="0"/>
              </a:rPr>
              <a:t>并插入到</a:t>
            </a:r>
            <a:r>
              <a:rPr lang="en-US" altLang="zh-CN" sz="2800">
                <a:latin typeface="Arial" panose="020B0604020202020204" pitchFamily="34" charset="0"/>
              </a:rPr>
              <a:t>r0</a:t>
            </a:r>
            <a:r>
              <a:rPr lang="zh-CN" altLang="en-US" sz="2800">
                <a:latin typeface="Arial" panose="020B0604020202020204" pitchFamily="34" charset="0"/>
              </a:rPr>
              <a:t>和</a:t>
            </a:r>
            <a:r>
              <a:rPr lang="en-US" altLang="zh-CN" sz="2800">
                <a:latin typeface="Arial" panose="020B0604020202020204" pitchFamily="34" charset="0"/>
              </a:rPr>
              <a:t>r</a:t>
            </a:r>
            <a:r>
              <a:rPr lang="zh-CN" altLang="en-US" sz="2800">
                <a:latin typeface="Arial" panose="020B0604020202020204" pitchFamily="34" charset="0"/>
              </a:rPr>
              <a:t>之间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}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grpSp>
        <p:nvGrpSpPr>
          <p:cNvPr id="4" name="组合 33"/>
          <p:cNvGrpSpPr/>
          <p:nvPr/>
        </p:nvGrpSpPr>
        <p:grpSpPr bwMode="auto">
          <a:xfrm>
            <a:off x="3375025" y="1003300"/>
            <a:ext cx="504825" cy="504825"/>
            <a:chOff x="1851422" y="1003348"/>
            <a:chExt cx="504044" cy="504661"/>
          </a:xfrm>
        </p:grpSpPr>
        <p:cxnSp>
          <p:nvCxnSpPr>
            <p:cNvPr id="85028" name="直接箭头连接符 2"/>
            <p:cNvCxnSpPr>
              <a:cxnSpLocks noChangeShapeType="1"/>
            </p:cNvCxnSpPr>
            <p:nvPr/>
          </p:nvCxnSpPr>
          <p:spPr bwMode="auto">
            <a:xfrm>
              <a:off x="2279204" y="100334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29" name="文本框 21"/>
            <p:cNvSpPr txBox="1">
              <a:spLocks noChangeArrowheads="1"/>
            </p:cNvSpPr>
            <p:nvPr/>
          </p:nvSpPr>
          <p:spPr bwMode="auto">
            <a:xfrm>
              <a:off x="1851422" y="1046344"/>
              <a:ext cx="5040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组合 34"/>
          <p:cNvGrpSpPr/>
          <p:nvPr/>
        </p:nvGrpSpPr>
        <p:grpSpPr bwMode="auto">
          <a:xfrm>
            <a:off x="5092700" y="947738"/>
            <a:ext cx="504825" cy="550862"/>
            <a:chOff x="3462926" y="977414"/>
            <a:chExt cx="504048" cy="549645"/>
          </a:xfrm>
        </p:grpSpPr>
        <p:cxnSp>
          <p:nvCxnSpPr>
            <p:cNvPr id="85026" name="直接箭头连接符 59"/>
            <p:cNvCxnSpPr>
              <a:cxnSpLocks noChangeShapeType="1"/>
            </p:cNvCxnSpPr>
            <p:nvPr/>
          </p:nvCxnSpPr>
          <p:spPr bwMode="auto">
            <a:xfrm>
              <a:off x="3740574" y="977414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27" name="文本框 22"/>
            <p:cNvSpPr txBox="1">
              <a:spLocks noChangeArrowheads="1"/>
            </p:cNvSpPr>
            <p:nvPr/>
          </p:nvSpPr>
          <p:spPr bwMode="auto">
            <a:xfrm>
              <a:off x="3462926" y="1065394"/>
              <a:ext cx="50404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85011" name="文本框 25"/>
          <p:cNvSpPr txBox="1">
            <a:spLocks noChangeArrowheads="1"/>
          </p:cNvSpPr>
          <p:nvPr/>
        </p:nvSpPr>
        <p:spPr bwMode="auto">
          <a:xfrm>
            <a:off x="5003800" y="2822575"/>
            <a:ext cx="635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j/i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pic>
        <p:nvPicPr>
          <p:cNvPr id="85012" name="图片 2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3" y="-12700"/>
            <a:ext cx="11557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图片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963" y="676275"/>
            <a:ext cx="19431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图片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963" y="1654175"/>
            <a:ext cx="1943100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015" name="矩形 29"/>
          <p:cNvSpPr>
            <a:spLocks noChangeArrowheads="1"/>
          </p:cNvSpPr>
          <p:nvPr/>
        </p:nvSpPr>
        <p:spPr bwMode="auto">
          <a:xfrm>
            <a:off x="385763" y="144463"/>
            <a:ext cx="68580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如何寻找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j/i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的位置？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(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如何定位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r0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和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r?)</a:t>
            </a:r>
            <a:endParaRPr lang="en-US" altLang="zh-CN" sz="240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——</a:t>
            </a:r>
            <a:r>
              <a:rPr lang="zh-CN" altLang="en-US" sz="2400">
                <a:latin typeface="Arial" panose="020B0604020202020204" pitchFamily="34" charset="0"/>
              </a:rPr>
              <a:t>比较 </a:t>
            </a:r>
            <a:r>
              <a:rPr lang="en-US" altLang="zh-CN" sz="2400">
                <a:latin typeface="Arial" panose="020B0604020202020204" pitchFamily="34" charset="0"/>
              </a:rPr>
              <a:t>j/i </a:t>
            </a:r>
            <a:r>
              <a:rPr lang="zh-CN" altLang="en-US" sz="2400">
                <a:latin typeface="Arial" panose="020B0604020202020204" pitchFamily="34" charset="0"/>
              </a:rPr>
              <a:t>和 </a:t>
            </a:r>
            <a:r>
              <a:rPr lang="en-US" altLang="zh-CN" sz="2400">
                <a:latin typeface="Arial" panose="020B0604020202020204" pitchFamily="34" charset="0"/>
              </a:rPr>
              <a:t>r</a:t>
            </a:r>
            <a:r>
              <a:rPr lang="zh-CN" altLang="en-US" sz="2400">
                <a:latin typeface="Arial" panose="020B0604020202020204" pitchFamily="34" charset="0"/>
              </a:rPr>
              <a:t>的大小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grpSp>
        <p:nvGrpSpPr>
          <p:cNvPr id="6" name="组合 41"/>
          <p:cNvGrpSpPr/>
          <p:nvPr/>
        </p:nvGrpSpPr>
        <p:grpSpPr bwMode="auto">
          <a:xfrm>
            <a:off x="6415088" y="3954463"/>
            <a:ext cx="5497512" cy="1525587"/>
            <a:chOff x="4007274" y="3950563"/>
            <a:chExt cx="5496650" cy="1525255"/>
          </a:xfrm>
        </p:grpSpPr>
        <p:sp>
          <p:nvSpPr>
            <p:cNvPr id="85024" name="文本框 24"/>
            <p:cNvSpPr txBox="1">
              <a:spLocks noChangeArrowheads="1"/>
            </p:cNvSpPr>
            <p:nvPr/>
          </p:nvSpPr>
          <p:spPr bwMode="auto">
            <a:xfrm>
              <a:off x="4007274" y="3950563"/>
              <a:ext cx="5496650" cy="8297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  while (</a:t>
              </a:r>
              <a:r>
                <a:rPr lang="en-US" altLang="zh-CN" sz="2400">
                  <a:latin typeface="Arial" panose="020B0604020202020204" pitchFamily="34" charset="0"/>
                </a:rPr>
                <a:t>(r</a:t>
              </a:r>
              <a:r>
                <a:rPr lang="zh-CN" altLang="zh-CN" sz="2400">
                  <a:latin typeface="Arial" panose="020B0604020202020204" pitchFamily="34" charset="0"/>
                </a:rPr>
                <a:t>的分子</a:t>
              </a:r>
              <a:r>
                <a:rPr lang="en-US" altLang="zh-CN" sz="2400">
                  <a:latin typeface="Arial" panose="020B0604020202020204" pitchFamily="34" charset="0"/>
                </a:rPr>
                <a:t>) * i </a:t>
              </a: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&lt;</a:t>
              </a:r>
              <a:r>
                <a:rPr lang="en-US" altLang="zh-CN" sz="2400">
                  <a:latin typeface="Arial" panose="020B0604020202020204" pitchFamily="34" charset="0"/>
                </a:rPr>
                <a:t> j * (r</a:t>
              </a:r>
              <a:r>
                <a:rPr lang="zh-CN" altLang="zh-CN" sz="2400">
                  <a:latin typeface="Arial" panose="020B0604020202020204" pitchFamily="34" charset="0"/>
                </a:rPr>
                <a:t>的分母</a:t>
              </a:r>
              <a:r>
                <a:rPr lang="en-US" altLang="zh-CN" sz="2400">
                  <a:latin typeface="Arial" panose="020B0604020202020204" pitchFamily="34" charset="0"/>
                </a:rPr>
                <a:t>)</a:t>
              </a: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)</a:t>
              </a:r>
              <a:endParaRPr lang="en-US" altLang="zh-CN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	</a:t>
              </a: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r0和r后移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85025" name="直接箭头连接符 31"/>
            <p:cNvCxnSpPr>
              <a:cxnSpLocks noChangeShapeType="1"/>
            </p:cNvCxnSpPr>
            <p:nvPr/>
          </p:nvCxnSpPr>
          <p:spPr bwMode="auto">
            <a:xfrm flipH="1">
              <a:off x="4890860" y="4958808"/>
              <a:ext cx="951717" cy="517010"/>
            </a:xfrm>
            <a:prstGeom prst="straightConnector1">
              <a:avLst/>
            </a:prstGeom>
            <a:noFill/>
            <a:ln w="44450" algn="ctr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3" name="Line 8"/>
          <p:cNvSpPr>
            <a:spLocks noChangeShapeType="1"/>
          </p:cNvSpPr>
          <p:nvPr/>
        </p:nvSpPr>
        <p:spPr bwMode="auto">
          <a:xfrm>
            <a:off x="5572125" y="172243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组合 35"/>
          <p:cNvGrpSpPr/>
          <p:nvPr/>
        </p:nvGrpSpPr>
        <p:grpSpPr bwMode="auto">
          <a:xfrm>
            <a:off x="4568825" y="968375"/>
            <a:ext cx="503238" cy="504825"/>
            <a:chOff x="1851422" y="1003348"/>
            <a:chExt cx="504044" cy="504661"/>
          </a:xfrm>
        </p:grpSpPr>
        <p:cxnSp>
          <p:nvCxnSpPr>
            <p:cNvPr id="85022" name="直接箭头连接符 2"/>
            <p:cNvCxnSpPr>
              <a:cxnSpLocks noChangeShapeType="1"/>
            </p:cNvCxnSpPr>
            <p:nvPr/>
          </p:nvCxnSpPr>
          <p:spPr bwMode="auto">
            <a:xfrm>
              <a:off x="2279204" y="100334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23" name="文本框 37"/>
            <p:cNvSpPr txBox="1">
              <a:spLocks noChangeArrowheads="1"/>
            </p:cNvSpPr>
            <p:nvPr/>
          </p:nvSpPr>
          <p:spPr bwMode="auto">
            <a:xfrm>
              <a:off x="1851422" y="1046344"/>
              <a:ext cx="5040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组合 38"/>
          <p:cNvGrpSpPr/>
          <p:nvPr/>
        </p:nvGrpSpPr>
        <p:grpSpPr bwMode="auto">
          <a:xfrm>
            <a:off x="6432550" y="941388"/>
            <a:ext cx="503238" cy="550862"/>
            <a:chOff x="3462926" y="977414"/>
            <a:chExt cx="504048" cy="549645"/>
          </a:xfrm>
        </p:grpSpPr>
        <p:cxnSp>
          <p:nvCxnSpPr>
            <p:cNvPr id="85020" name="直接箭头连接符 59"/>
            <p:cNvCxnSpPr>
              <a:cxnSpLocks noChangeShapeType="1"/>
            </p:cNvCxnSpPr>
            <p:nvPr/>
          </p:nvCxnSpPr>
          <p:spPr bwMode="auto">
            <a:xfrm>
              <a:off x="3740574" y="977414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21" name="文本框 40"/>
            <p:cNvSpPr txBox="1">
              <a:spLocks noChangeArrowheads="1"/>
            </p:cNvSpPr>
            <p:nvPr/>
          </p:nvSpPr>
          <p:spPr bwMode="auto">
            <a:xfrm>
              <a:off x="3462926" y="1065394"/>
              <a:ext cx="50404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>
                <a:solidFill>
                  <a:srgbClr val="FFC000"/>
                </a:solidFill>
                <a:ea typeface="黑体" panose="02010609060101010101" pitchFamily="49" charset="-122"/>
              </a:rPr>
              <a:t>§13.3.2  </a:t>
            </a:r>
            <a:r>
              <a:rPr lang="zh-CN" altLang="en-US" b="1">
                <a:solidFill>
                  <a:srgbClr val="FFC000"/>
                </a:solidFill>
                <a:ea typeface="黑体" panose="02010609060101010101" pitchFamily="49" charset="-122"/>
              </a:rPr>
              <a:t>栈</a:t>
            </a:r>
            <a:endParaRPr lang="zh-CN" altLang="en-US" b="1">
              <a:solidFill>
                <a:srgbClr val="FFC000"/>
              </a:solidFill>
              <a:ea typeface="黑体" panose="02010609060101010101" pitchFamily="49" charset="-122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362950" cy="3700463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数组实现（第</a:t>
            </a:r>
            <a:r>
              <a:rPr lang="en-US" altLang="zh-CN" b="1" dirty="0">
                <a:effectLst/>
                <a:ea typeface="黑体" panose="02010609060101010101" pitchFamily="49" charset="-122"/>
              </a:rPr>
              <a:t>6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章）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链表实现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栈的操作：</a:t>
            </a:r>
            <a:endParaRPr lang="en-US" altLang="zh-CN" b="1" dirty="0">
              <a:solidFill>
                <a:srgbClr val="FFC000"/>
              </a:solidFill>
              <a:effectLst/>
              <a:ea typeface="黑体" panose="02010609060101010101" pitchFamily="49" charset="-122"/>
            </a:endParaRPr>
          </a:p>
          <a:p>
            <a:pPr lvl="1">
              <a:buFontTx/>
              <a:buNone/>
              <a:defRPr/>
            </a:pPr>
            <a:r>
              <a:rPr lang="en-US" altLang="zh-CN" sz="3200" b="1" dirty="0">
                <a:effectLst/>
                <a:ea typeface="黑体" panose="02010609060101010101" pitchFamily="49" charset="-122"/>
              </a:rPr>
              <a:t>    ① </a:t>
            </a:r>
            <a:r>
              <a:rPr lang="zh-CN" altLang="en-US" sz="3200" b="1" dirty="0">
                <a:effectLst/>
                <a:ea typeface="黑体" panose="02010609060101010101" pitchFamily="49" charset="-122"/>
              </a:rPr>
              <a:t>初始化：</a:t>
            </a:r>
            <a:r>
              <a:rPr lang="en-US" altLang="zh-CN" sz="3200" b="1" dirty="0" err="1">
                <a:effectLst/>
                <a:ea typeface="黑体" panose="02010609060101010101" pitchFamily="49" charset="-122"/>
              </a:rPr>
              <a:t>stackintial</a:t>
            </a:r>
            <a:endParaRPr lang="en-US" altLang="zh-CN" sz="3200" b="1" dirty="0">
              <a:effectLst/>
              <a:ea typeface="黑体" panose="02010609060101010101" pitchFamily="49" charset="-122"/>
            </a:endParaRPr>
          </a:p>
          <a:p>
            <a:pPr lvl="1">
              <a:buFontTx/>
              <a:buNone/>
              <a:defRPr/>
            </a:pPr>
            <a:r>
              <a:rPr lang="en-US" altLang="zh-CN" sz="3200" b="1" dirty="0">
                <a:effectLst/>
                <a:ea typeface="黑体" panose="02010609060101010101" pitchFamily="49" charset="-122"/>
              </a:rPr>
              <a:t>    ② </a:t>
            </a:r>
            <a:r>
              <a:rPr lang="zh-CN" altLang="en-US" sz="3200" b="1" dirty="0">
                <a:effectLst/>
                <a:ea typeface="黑体" panose="02010609060101010101" pitchFamily="49" charset="-122"/>
              </a:rPr>
              <a:t>压栈：</a:t>
            </a:r>
            <a:r>
              <a:rPr lang="en-US" altLang="zh-CN" sz="3200" b="1" dirty="0" err="1">
                <a:effectLst/>
                <a:ea typeface="黑体" panose="02010609060101010101" pitchFamily="49" charset="-122"/>
              </a:rPr>
              <a:t>stackpush</a:t>
            </a:r>
            <a:endParaRPr lang="en-US" altLang="zh-CN" sz="3200" b="1" dirty="0">
              <a:effectLst/>
              <a:ea typeface="黑体" panose="02010609060101010101" pitchFamily="49" charset="-122"/>
            </a:endParaRPr>
          </a:p>
          <a:p>
            <a:pPr lvl="1">
              <a:buFontTx/>
              <a:buNone/>
              <a:defRPr/>
            </a:pPr>
            <a:r>
              <a:rPr lang="en-US" altLang="zh-CN" sz="3200" b="1" dirty="0">
                <a:effectLst/>
                <a:ea typeface="黑体" panose="02010609060101010101" pitchFamily="49" charset="-122"/>
              </a:rPr>
              <a:t>    ③ </a:t>
            </a:r>
            <a:r>
              <a:rPr lang="zh-CN" altLang="en-US" sz="3200" b="1" dirty="0">
                <a:effectLst/>
                <a:ea typeface="黑体" panose="02010609060101010101" pitchFamily="49" charset="-122"/>
              </a:rPr>
              <a:t>弹栈：</a:t>
            </a:r>
            <a:r>
              <a:rPr lang="en-US" altLang="zh-CN" sz="3200" b="1" dirty="0" err="1">
                <a:effectLst/>
                <a:ea typeface="黑体" panose="02010609060101010101" pitchFamily="49" charset="-122"/>
              </a:rPr>
              <a:t>stackpop</a:t>
            </a:r>
            <a:endParaRPr lang="en-US" altLang="zh-CN" sz="3200" b="1" dirty="0">
              <a:effectLst/>
              <a:ea typeface="黑体" panose="02010609060101010101" pitchFamily="49" charset="-122"/>
            </a:endParaRPr>
          </a:p>
          <a:p>
            <a:pPr>
              <a:defRPr/>
            </a:pPr>
            <a:endParaRPr lang="en-US" altLang="zh-CN" sz="2800" dirty="0">
              <a:effectLst/>
              <a:ea typeface="黑体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B016E2C-A47B-4940-A467-46BFC89C5B29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3330575"/>
            <a:ext cx="6443663" cy="3527425"/>
          </a:xfrm>
        </p:spPr>
        <p:txBody>
          <a:bodyPr/>
          <a:lstStyle/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latin typeface="Arial" panose="020B0604020202020204" pitchFamily="34" charset="0"/>
              </a:rPr>
              <a:t>设有声明</a:t>
            </a:r>
            <a:r>
              <a:rPr lang="en-US" altLang="zh-CN" sz="2400" b="1">
                <a:effectLst/>
                <a:latin typeface="Arial" panose="020B0604020202020204" pitchFamily="34" charset="0"/>
              </a:rPr>
              <a:t>: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typedef  ...  items ; 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typedef  struct  stackcell { 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      items   data  ;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      </a:t>
            </a:r>
            <a:r>
              <a:rPr lang="en-US" altLang="zh-CN" sz="2400" b="1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struct  stackcell    *</a:t>
            </a:r>
            <a:r>
              <a:rPr lang="en-US" altLang="zh-CN" sz="2400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predocessor</a:t>
            </a:r>
            <a:r>
              <a:rPr lang="en-US" altLang="zh-CN" sz="2400" b="1">
                <a:effectLst/>
                <a:latin typeface="Arial" panose="020B0604020202020204" pitchFamily="34" charset="0"/>
              </a:rPr>
              <a:t> ;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} stackcelltype ;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typedef  </a:t>
            </a:r>
            <a:r>
              <a:rPr lang="en-US" altLang="zh-CN" sz="2400" b="1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stackcelltype  *</a:t>
            </a:r>
            <a:r>
              <a:rPr lang="en-US" altLang="zh-CN" sz="2400" b="1">
                <a:effectLst/>
                <a:latin typeface="Arial" panose="020B0604020202020204" pitchFamily="34" charset="0"/>
              </a:rPr>
              <a:t>pstacktype ;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pstacktype  top ;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</p:txBody>
      </p:sp>
      <p:grpSp>
        <p:nvGrpSpPr>
          <p:cNvPr id="36867" name="Group 31"/>
          <p:cNvGrpSpPr/>
          <p:nvPr/>
        </p:nvGrpSpPr>
        <p:grpSpPr bwMode="auto">
          <a:xfrm>
            <a:off x="7943850" y="304800"/>
            <a:ext cx="4033838" cy="5397500"/>
            <a:chOff x="3243" y="391"/>
            <a:chExt cx="2541" cy="3400"/>
          </a:xfrm>
        </p:grpSpPr>
        <p:sp>
          <p:nvSpPr>
            <p:cNvPr id="36879" name="Rectangle 6"/>
            <p:cNvSpPr>
              <a:spLocks noChangeArrowheads="1"/>
            </p:cNvSpPr>
            <p:nvPr/>
          </p:nvSpPr>
          <p:spPr bwMode="auto">
            <a:xfrm>
              <a:off x="3243" y="391"/>
              <a:ext cx="517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top: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6880" name="Rectangle 7"/>
            <p:cNvSpPr>
              <a:spLocks noChangeArrowheads="1"/>
            </p:cNvSpPr>
            <p:nvPr/>
          </p:nvSpPr>
          <p:spPr bwMode="auto">
            <a:xfrm>
              <a:off x="3833" y="391"/>
              <a:ext cx="496" cy="18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6881" name="Rectangle 8"/>
            <p:cNvSpPr>
              <a:spLocks noChangeArrowheads="1"/>
            </p:cNvSpPr>
            <p:nvPr/>
          </p:nvSpPr>
          <p:spPr bwMode="auto">
            <a:xfrm>
              <a:off x="4740" y="1525"/>
              <a:ext cx="57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... ...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6882" name="Rectangle 9"/>
            <p:cNvSpPr>
              <a:spLocks noChangeArrowheads="1"/>
            </p:cNvSpPr>
            <p:nvPr/>
          </p:nvSpPr>
          <p:spPr bwMode="auto">
            <a:xfrm>
              <a:off x="4961" y="2931"/>
              <a:ext cx="262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grpSp>
          <p:nvGrpSpPr>
            <p:cNvPr id="36883" name="Group 10"/>
            <p:cNvGrpSpPr/>
            <p:nvPr/>
          </p:nvGrpSpPr>
          <p:grpSpPr bwMode="auto">
            <a:xfrm>
              <a:off x="4558" y="391"/>
              <a:ext cx="998" cy="680"/>
              <a:chOff x="0" y="0"/>
              <a:chExt cx="20002" cy="20001"/>
            </a:xfrm>
          </p:grpSpPr>
          <p:sp>
            <p:nvSpPr>
              <p:cNvPr id="36897" name="Rectangl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6845" cy="1352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6898" name="Line 12"/>
              <p:cNvSpPr>
                <a:spLocks noChangeShapeType="1"/>
              </p:cNvSpPr>
              <p:nvPr/>
            </p:nvSpPr>
            <p:spPr bwMode="auto">
              <a:xfrm>
                <a:off x="0" y="8843"/>
                <a:ext cx="17109" cy="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9" name="Freeform 13"/>
              <p:cNvSpPr/>
              <p:nvPr/>
            </p:nvSpPr>
            <p:spPr bwMode="auto">
              <a:xfrm>
                <a:off x="11572" y="11186"/>
                <a:ext cx="8430" cy="881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0" y="0"/>
                    </a:moveTo>
                    <a:lnTo>
                      <a:pt x="19969" y="0"/>
                    </a:lnTo>
                    <a:lnTo>
                      <a:pt x="19969" y="19934"/>
                    </a:lnTo>
                    <a:lnTo>
                      <a:pt x="14977" y="1993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884" name="Group 18"/>
            <p:cNvGrpSpPr/>
            <p:nvPr/>
          </p:nvGrpSpPr>
          <p:grpSpPr bwMode="auto">
            <a:xfrm>
              <a:off x="4558" y="2115"/>
              <a:ext cx="998" cy="771"/>
              <a:chOff x="0" y="0"/>
              <a:chExt cx="20000" cy="20000"/>
            </a:xfrm>
          </p:grpSpPr>
          <p:sp>
            <p:nvSpPr>
              <p:cNvPr id="36894" name="Rectangle 1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6845" cy="1352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6895" name="Line 20"/>
              <p:cNvSpPr>
                <a:spLocks noChangeShapeType="1"/>
              </p:cNvSpPr>
              <p:nvPr/>
            </p:nvSpPr>
            <p:spPr bwMode="auto">
              <a:xfrm>
                <a:off x="0" y="8844"/>
                <a:ext cx="17107" cy="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6" name="Freeform 21"/>
              <p:cNvSpPr/>
              <p:nvPr/>
            </p:nvSpPr>
            <p:spPr bwMode="auto">
              <a:xfrm>
                <a:off x="11571" y="11188"/>
                <a:ext cx="8429" cy="8812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0" y="0"/>
                    </a:moveTo>
                    <a:lnTo>
                      <a:pt x="19969" y="0"/>
                    </a:lnTo>
                    <a:lnTo>
                      <a:pt x="19969" y="19934"/>
                    </a:lnTo>
                    <a:lnTo>
                      <a:pt x="14977" y="1993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885" name="Freeform 22"/>
            <p:cNvSpPr/>
            <p:nvPr/>
          </p:nvSpPr>
          <p:spPr bwMode="auto">
            <a:xfrm>
              <a:off x="5148" y="1979"/>
              <a:ext cx="408" cy="27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0"/>
                  </a:moveTo>
                  <a:lnTo>
                    <a:pt x="19966" y="0"/>
                  </a:lnTo>
                  <a:lnTo>
                    <a:pt x="19966" y="19938"/>
                  </a:lnTo>
                  <a:lnTo>
                    <a:pt x="14458" y="19938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6" name="Rectangle 23"/>
            <p:cNvSpPr>
              <a:spLocks noChangeArrowheads="1"/>
            </p:cNvSpPr>
            <p:nvPr/>
          </p:nvSpPr>
          <p:spPr bwMode="auto">
            <a:xfrm>
              <a:off x="4558" y="2795"/>
              <a:ext cx="839" cy="54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6887" name="Line 24"/>
            <p:cNvSpPr>
              <a:spLocks noChangeShapeType="1"/>
            </p:cNvSpPr>
            <p:nvPr/>
          </p:nvSpPr>
          <p:spPr bwMode="auto">
            <a:xfrm>
              <a:off x="4558" y="3113"/>
              <a:ext cx="852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8" name="Line 25"/>
            <p:cNvSpPr>
              <a:spLocks noChangeShapeType="1"/>
            </p:cNvSpPr>
            <p:nvPr/>
          </p:nvSpPr>
          <p:spPr bwMode="auto">
            <a:xfrm>
              <a:off x="4150" y="482"/>
              <a:ext cx="42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9" name="Text Box 26"/>
            <p:cNvSpPr txBox="1">
              <a:spLocks noChangeArrowheads="1"/>
            </p:cNvSpPr>
            <p:nvPr/>
          </p:nvSpPr>
          <p:spPr bwMode="auto">
            <a:xfrm>
              <a:off x="4274" y="3553"/>
              <a:ext cx="151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</a:rPr>
                <a:t>      栈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36890" name="Group 27"/>
            <p:cNvGrpSpPr/>
            <p:nvPr/>
          </p:nvGrpSpPr>
          <p:grpSpPr bwMode="auto">
            <a:xfrm>
              <a:off x="4558" y="981"/>
              <a:ext cx="998" cy="771"/>
              <a:chOff x="0" y="0"/>
              <a:chExt cx="20002" cy="20001"/>
            </a:xfrm>
          </p:grpSpPr>
          <p:sp>
            <p:nvSpPr>
              <p:cNvPr id="36891" name="Rectangle 2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6845" cy="1352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6892" name="Line 29"/>
              <p:cNvSpPr>
                <a:spLocks noChangeShapeType="1"/>
              </p:cNvSpPr>
              <p:nvPr/>
            </p:nvSpPr>
            <p:spPr bwMode="auto">
              <a:xfrm>
                <a:off x="0" y="8843"/>
                <a:ext cx="17109" cy="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3" name="Freeform 30"/>
              <p:cNvSpPr/>
              <p:nvPr/>
            </p:nvSpPr>
            <p:spPr bwMode="auto">
              <a:xfrm>
                <a:off x="11572" y="11186"/>
                <a:ext cx="8430" cy="881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0" y="0"/>
                    </a:moveTo>
                    <a:lnTo>
                      <a:pt x="19969" y="0"/>
                    </a:lnTo>
                    <a:lnTo>
                      <a:pt x="19969" y="19934"/>
                    </a:lnTo>
                    <a:lnTo>
                      <a:pt x="14977" y="1993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9D645B3-6385-42A6-84C6-C50B0BB9E79F}" type="slidenum">
              <a:rPr lang="zh-CN" altLang="en-US" b="0" smtClean="0"/>
            </a:fld>
            <a:endParaRPr lang="en-US" altLang="zh-CN" b="0"/>
          </a:p>
        </p:txBody>
      </p:sp>
      <p:grpSp>
        <p:nvGrpSpPr>
          <p:cNvPr id="36870" name="Group 23"/>
          <p:cNvGrpSpPr/>
          <p:nvPr/>
        </p:nvGrpSpPr>
        <p:grpSpPr bwMode="auto">
          <a:xfrm>
            <a:off x="4763" y="4149725"/>
            <a:ext cx="5905500" cy="1628775"/>
            <a:chOff x="657" y="1253"/>
            <a:chExt cx="3130" cy="1315"/>
          </a:xfrm>
        </p:grpSpPr>
        <p:sp>
          <p:nvSpPr>
            <p:cNvPr id="36871" name="Line 15"/>
            <p:cNvSpPr>
              <a:spLocks noChangeShapeType="1"/>
            </p:cNvSpPr>
            <p:nvPr/>
          </p:nvSpPr>
          <p:spPr bwMode="auto">
            <a:xfrm flipV="1">
              <a:off x="1573" y="1253"/>
              <a:ext cx="2214" cy="7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2" name="Line 16"/>
            <p:cNvSpPr>
              <a:spLocks noChangeShapeType="1"/>
            </p:cNvSpPr>
            <p:nvPr/>
          </p:nvSpPr>
          <p:spPr bwMode="auto">
            <a:xfrm>
              <a:off x="1573" y="1260"/>
              <a:ext cx="0" cy="317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3" name="Line 17"/>
            <p:cNvSpPr>
              <a:spLocks noChangeShapeType="1"/>
            </p:cNvSpPr>
            <p:nvPr/>
          </p:nvSpPr>
          <p:spPr bwMode="auto">
            <a:xfrm flipH="1">
              <a:off x="1066" y="1558"/>
              <a:ext cx="507" cy="12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4" name="Line 18"/>
            <p:cNvSpPr>
              <a:spLocks noChangeShapeType="1"/>
            </p:cNvSpPr>
            <p:nvPr/>
          </p:nvSpPr>
          <p:spPr bwMode="auto">
            <a:xfrm flipH="1">
              <a:off x="657" y="1570"/>
              <a:ext cx="409" cy="998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5" name="Line 19"/>
            <p:cNvSpPr>
              <a:spLocks noChangeShapeType="1"/>
            </p:cNvSpPr>
            <p:nvPr/>
          </p:nvSpPr>
          <p:spPr bwMode="auto">
            <a:xfrm>
              <a:off x="657" y="2568"/>
              <a:ext cx="363" cy="0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6" name="Line 20"/>
            <p:cNvSpPr>
              <a:spLocks noChangeShapeType="1"/>
            </p:cNvSpPr>
            <p:nvPr/>
          </p:nvSpPr>
          <p:spPr bwMode="auto">
            <a:xfrm flipV="1">
              <a:off x="1020" y="2205"/>
              <a:ext cx="0" cy="363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7" name="Line 21"/>
            <p:cNvSpPr>
              <a:spLocks noChangeShapeType="1"/>
            </p:cNvSpPr>
            <p:nvPr/>
          </p:nvSpPr>
          <p:spPr bwMode="auto">
            <a:xfrm>
              <a:off x="1020" y="2205"/>
              <a:ext cx="2722" cy="0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8" name="Line 22"/>
            <p:cNvSpPr>
              <a:spLocks noChangeShapeType="1"/>
            </p:cNvSpPr>
            <p:nvPr/>
          </p:nvSpPr>
          <p:spPr bwMode="auto">
            <a:xfrm>
              <a:off x="3742" y="1253"/>
              <a:ext cx="0" cy="952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9063" y="161925"/>
            <a:ext cx="5543550" cy="2592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栈的三个操作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:</a:t>
            </a:r>
            <a:endParaRPr lang="en-US" altLang="zh-CN" sz="2400" b="1">
              <a:effectLst/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20000"/>
              </a:lnSpc>
              <a:buFontTx/>
              <a:buAutoNum type="arabicPeriod"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初始化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(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stackinitail)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20000"/>
              </a:lnSpc>
              <a:buFontTx/>
              <a:buAutoNum type="arabicPeriod"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调用一次 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stackpush(1)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20000"/>
              </a:lnSpc>
              <a:buFontTx/>
              <a:buAutoNum type="arabicPeriod"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再调用一次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stackpush(2)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20000"/>
              </a:lnSpc>
              <a:buFontTx/>
              <a:buAutoNum type="arabicPeriod"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调用一次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stackpop(&amp;b)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</p:txBody>
      </p:sp>
      <p:grpSp>
        <p:nvGrpSpPr>
          <p:cNvPr id="2" name="Group 47"/>
          <p:cNvGrpSpPr/>
          <p:nvPr/>
        </p:nvGrpSpPr>
        <p:grpSpPr bwMode="auto">
          <a:xfrm>
            <a:off x="1776413" y="3548063"/>
            <a:ext cx="2157412" cy="431800"/>
            <a:chOff x="2859" y="482"/>
            <a:chExt cx="1359" cy="148"/>
          </a:xfrm>
        </p:grpSpPr>
        <p:sp>
          <p:nvSpPr>
            <p:cNvPr id="38936" name="Rectangle 5"/>
            <p:cNvSpPr>
              <a:spLocks noChangeArrowheads="1"/>
            </p:cNvSpPr>
            <p:nvPr/>
          </p:nvSpPr>
          <p:spPr bwMode="auto">
            <a:xfrm>
              <a:off x="2859" y="482"/>
              <a:ext cx="874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top: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37" name="Rectangle 6"/>
            <p:cNvSpPr>
              <a:spLocks noChangeArrowheads="1"/>
            </p:cNvSpPr>
            <p:nvPr/>
          </p:nvSpPr>
          <p:spPr bwMode="auto">
            <a:xfrm>
              <a:off x="3251" y="492"/>
              <a:ext cx="967" cy="13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13"/>
          <p:cNvGrpSpPr/>
          <p:nvPr/>
        </p:nvGrpSpPr>
        <p:grpSpPr bwMode="auto">
          <a:xfrm>
            <a:off x="5303838" y="4556125"/>
            <a:ext cx="1216025" cy="863600"/>
            <a:chOff x="0" y="0"/>
            <a:chExt cx="20000" cy="20000"/>
          </a:xfrm>
        </p:grpSpPr>
        <p:sp>
          <p:nvSpPr>
            <p:cNvPr id="38934" name="Rectangle 14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 1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 .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35" name="Line 15"/>
            <p:cNvSpPr>
              <a:spLocks noChangeShapeType="1"/>
            </p:cNvSpPr>
            <p:nvPr/>
          </p:nvSpPr>
          <p:spPr bwMode="auto">
            <a:xfrm>
              <a:off x="0" y="12569"/>
              <a:ext cx="20000" cy="3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3503613" y="3692525"/>
            <a:ext cx="18002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24"/>
          <p:cNvGrpSpPr/>
          <p:nvPr/>
        </p:nvGrpSpPr>
        <p:grpSpPr bwMode="auto">
          <a:xfrm>
            <a:off x="5303838" y="3476625"/>
            <a:ext cx="1193800" cy="792163"/>
            <a:chOff x="0" y="0"/>
            <a:chExt cx="20000" cy="20000"/>
          </a:xfrm>
        </p:grpSpPr>
        <p:sp>
          <p:nvSpPr>
            <p:cNvPr id="38932" name="Rectangle 2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  2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33" name="Line 26"/>
            <p:cNvSpPr>
              <a:spLocks noChangeShapeType="1"/>
            </p:cNvSpPr>
            <p:nvPr/>
          </p:nvSpPr>
          <p:spPr bwMode="auto">
            <a:xfrm>
              <a:off x="0" y="12569"/>
              <a:ext cx="20000" cy="3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43" name="Freeform 31"/>
          <p:cNvSpPr/>
          <p:nvPr/>
        </p:nvSpPr>
        <p:spPr bwMode="auto">
          <a:xfrm>
            <a:off x="6024563" y="4124325"/>
            <a:ext cx="904875" cy="792163"/>
          </a:xfrm>
          <a:custGeom>
            <a:avLst/>
            <a:gdLst>
              <a:gd name="T0" fmla="*/ 0 w 20000"/>
              <a:gd name="T1" fmla="*/ 0 h 20000"/>
              <a:gd name="T2" fmla="*/ 2147483646 w 20000"/>
              <a:gd name="T3" fmla="*/ 0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0"/>
                </a:moveTo>
                <a:lnTo>
                  <a:pt x="19966" y="0"/>
                </a:lnTo>
                <a:lnTo>
                  <a:pt x="19966" y="19955"/>
                </a:lnTo>
                <a:lnTo>
                  <a:pt x="16095" y="19955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43"/>
          <p:cNvGrpSpPr/>
          <p:nvPr/>
        </p:nvGrpSpPr>
        <p:grpSpPr bwMode="auto">
          <a:xfrm>
            <a:off x="1703388" y="5060950"/>
            <a:ext cx="2376487" cy="360363"/>
            <a:chOff x="-1" y="-3"/>
            <a:chExt cx="20001" cy="20003"/>
          </a:xfrm>
        </p:grpSpPr>
        <p:sp>
          <p:nvSpPr>
            <p:cNvPr id="38930" name="Rectangle 44"/>
            <p:cNvSpPr>
              <a:spLocks noChangeArrowheads="1"/>
            </p:cNvSpPr>
            <p:nvPr/>
          </p:nvSpPr>
          <p:spPr bwMode="auto">
            <a:xfrm>
              <a:off x="3627" y="-3"/>
              <a:ext cx="16373" cy="20003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31" name="Rectangle 45"/>
            <p:cNvSpPr>
              <a:spLocks noChangeArrowheads="1"/>
            </p:cNvSpPr>
            <p:nvPr/>
          </p:nvSpPr>
          <p:spPr bwMode="auto">
            <a:xfrm>
              <a:off x="-1" y="1112"/>
              <a:ext cx="5720" cy="17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b</a:t>
              </a:r>
              <a:r>
                <a:rPr lang="en-US" altLang="zh-CN" sz="2400">
                  <a:latin typeface="Arial" panose="020B0604020202020204" pitchFamily="34" charset="0"/>
                </a:rPr>
                <a:t>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</p:grpSp>
      <p:sp>
        <p:nvSpPr>
          <p:cNvPr id="13360" name="Freeform 48"/>
          <p:cNvSpPr/>
          <p:nvPr/>
        </p:nvSpPr>
        <p:spPr bwMode="auto">
          <a:xfrm>
            <a:off x="3503613" y="3836988"/>
            <a:ext cx="1800225" cy="863600"/>
          </a:xfrm>
          <a:custGeom>
            <a:avLst/>
            <a:gdLst>
              <a:gd name="T0" fmla="*/ 0 w 862"/>
              <a:gd name="T1" fmla="*/ 0 h 998"/>
              <a:gd name="T2" fmla="*/ 2147483646 w 862"/>
              <a:gd name="T3" fmla="*/ 0 h 998"/>
              <a:gd name="T4" fmla="*/ 2147483646 w 862"/>
              <a:gd name="T5" fmla="*/ 2147483646 h 998"/>
              <a:gd name="T6" fmla="*/ 2147483646 w 862"/>
              <a:gd name="T7" fmla="*/ 2147483646 h 998"/>
              <a:gd name="T8" fmla="*/ 0 60000 65536"/>
              <a:gd name="T9" fmla="*/ 0 60000 65536"/>
              <a:gd name="T10" fmla="*/ 0 60000 65536"/>
              <a:gd name="T11" fmla="*/ 0 60000 65536"/>
              <a:gd name="T12" fmla="*/ 0 w 862"/>
              <a:gd name="T13" fmla="*/ 0 h 998"/>
              <a:gd name="T14" fmla="*/ 862 w 862"/>
              <a:gd name="T15" fmla="*/ 998 h 9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2" h="998">
                <a:moveTo>
                  <a:pt x="0" y="0"/>
                </a:moveTo>
                <a:lnTo>
                  <a:pt x="590" y="0"/>
                </a:lnTo>
                <a:lnTo>
                  <a:pt x="590" y="998"/>
                </a:lnTo>
                <a:lnTo>
                  <a:pt x="862" y="998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61" name="Text Box 49"/>
          <p:cNvSpPr txBox="1">
            <a:spLocks noChangeArrowheads="1"/>
          </p:cNvSpPr>
          <p:nvPr/>
        </p:nvSpPr>
        <p:spPr bwMode="auto">
          <a:xfrm>
            <a:off x="2890838" y="4987925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52EFC"/>
                </a:solidFill>
                <a:latin typeface="Arial" panose="020B0604020202020204" pitchFamily="34" charset="0"/>
              </a:rPr>
              <a:t>2</a:t>
            </a:r>
            <a:endParaRPr lang="en-US" altLang="zh-CN" sz="24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BB38297-9EE5-44B2-8A0B-469826647FF4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676525" y="3554413"/>
            <a:ext cx="12239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NULL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 bwMode="auto">
          <a:xfrm>
            <a:off x="6519863" y="3230563"/>
            <a:ext cx="2960687" cy="635000"/>
            <a:chOff x="4923979" y="-99392"/>
            <a:chExt cx="2961805" cy="633236"/>
          </a:xfrm>
        </p:grpSpPr>
        <p:sp>
          <p:nvSpPr>
            <p:cNvPr id="38927" name="Rectangle 5"/>
            <p:cNvSpPr>
              <a:spLocks noChangeArrowheads="1"/>
            </p:cNvSpPr>
            <p:nvPr/>
          </p:nvSpPr>
          <p:spPr bwMode="auto">
            <a:xfrm>
              <a:off x="5940152" y="-99392"/>
              <a:ext cx="138747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2400">
                  <a:latin typeface="Arial" panose="020B0604020202020204" pitchFamily="34" charset="0"/>
                </a:rPr>
                <a:t>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28" name="Rectangle 6"/>
            <p:cNvSpPr>
              <a:spLocks noChangeArrowheads="1"/>
            </p:cNvSpPr>
            <p:nvPr/>
          </p:nvSpPr>
          <p:spPr bwMode="auto">
            <a:xfrm>
              <a:off x="6350671" y="131220"/>
              <a:ext cx="1535113" cy="402624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29" name="Line 16"/>
            <p:cNvSpPr>
              <a:spLocks noChangeShapeType="1"/>
            </p:cNvSpPr>
            <p:nvPr/>
          </p:nvSpPr>
          <p:spPr bwMode="auto">
            <a:xfrm>
              <a:off x="4923979" y="342963"/>
              <a:ext cx="180022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arrow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61" grpId="0"/>
      <p:bldP spid="6" grpId="0"/>
      <p:bldP spid="6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84150" y="125413"/>
            <a:ext cx="9251950" cy="6864350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如下实现栈的操作：</a:t>
            </a:r>
            <a:endParaRPr lang="en-US" altLang="zh-CN" sz="3000" b="1" dirty="0"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altLang="zh-CN" sz="3000" b="1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1.</a:t>
            </a:r>
            <a:r>
              <a:rPr lang="zh-CN" altLang="en-US" sz="3000" b="1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初始化</a:t>
            </a:r>
            <a:endParaRPr lang="en-US" altLang="zh-CN" sz="3000" b="1" dirty="0">
              <a:solidFill>
                <a:srgbClr val="F52EFC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</a:t>
            </a:r>
            <a:r>
              <a:rPr lang="zh-CN" altLang="en-US" sz="3000" b="1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sz="3000" b="1" dirty="0">
                <a:effectLst/>
                <a:latin typeface="Arial" panose="020B0604020202020204" pitchFamily="34" charset="0"/>
              </a:rPr>
              <a:t>void </a:t>
            </a:r>
            <a:r>
              <a:rPr lang="en-US" altLang="zh-CN" sz="3000" b="1" dirty="0" err="1">
                <a:effectLst/>
                <a:latin typeface="Arial" panose="020B0604020202020204" pitchFamily="34" charset="0"/>
              </a:rPr>
              <a:t>stackinitial</a:t>
            </a:r>
            <a:r>
              <a:rPr lang="en-US" altLang="zh-CN" sz="3000" b="1" dirty="0">
                <a:effectLst/>
                <a:latin typeface="Arial" panose="020B0604020202020204" pitchFamily="34" charset="0"/>
              </a:rPr>
              <a:t>(void) {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         top = NULL ;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}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altLang="zh-CN" sz="3000" b="1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2.</a:t>
            </a:r>
            <a:r>
              <a:rPr lang="zh-CN" altLang="en-US" sz="3000" b="1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压栈</a:t>
            </a:r>
            <a:endParaRPr lang="en-US" altLang="zh-CN" sz="3000" b="1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void </a:t>
            </a:r>
            <a:r>
              <a:rPr lang="en-US" altLang="zh-CN" sz="3000" b="1" dirty="0" err="1">
                <a:effectLst/>
                <a:latin typeface="Arial" panose="020B0604020202020204" pitchFamily="34" charset="0"/>
              </a:rPr>
              <a:t>stackpush</a:t>
            </a:r>
            <a:r>
              <a:rPr lang="en-US" altLang="zh-CN" sz="3000" b="1" dirty="0">
                <a:effectLst/>
                <a:latin typeface="Arial" panose="020B0604020202020204" pitchFamily="34" charset="0"/>
              </a:rPr>
              <a:t> ( items x ) {  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     </a:t>
            </a:r>
            <a:r>
              <a:rPr lang="en-US" altLang="zh-CN" sz="3000" b="1" dirty="0" err="1">
                <a:effectLst/>
                <a:latin typeface="Arial" panose="020B0604020202020204" pitchFamily="34" charset="0"/>
              </a:rPr>
              <a:t>pstacktype</a:t>
            </a:r>
            <a:r>
              <a:rPr lang="en-US" altLang="zh-CN" sz="3000" b="1" dirty="0">
                <a:effectLst/>
                <a:latin typeface="Arial" panose="020B0604020202020204" pitchFamily="34" charset="0"/>
              </a:rPr>
              <a:t>   p ;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900" b="1" dirty="0">
                <a:effectLst/>
                <a:latin typeface="Arial" panose="020B0604020202020204" pitchFamily="34" charset="0"/>
              </a:rPr>
              <a:t>        </a:t>
            </a:r>
            <a:r>
              <a:rPr lang="en-US" altLang="zh-CN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 = (</a:t>
            </a:r>
            <a:r>
              <a:rPr lang="en-US" altLang="zh-CN" sz="2900" b="1" dirty="0" err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pstacktype</a:t>
            </a:r>
            <a:r>
              <a:rPr lang="en-US" altLang="zh-CN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)malloc(</a:t>
            </a:r>
            <a:r>
              <a:rPr lang="en-US" altLang="zh-CN" sz="2900" b="1" dirty="0" err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sizeof</a:t>
            </a:r>
            <a:r>
              <a:rPr lang="en-US" altLang="zh-CN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zh-CN" sz="2900" b="1" dirty="0" err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stackcelltype</a:t>
            </a:r>
            <a:r>
              <a:rPr lang="en-US" altLang="zh-CN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));</a:t>
            </a:r>
            <a:endParaRPr lang="en-US" altLang="zh-CN" sz="29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     p-&gt;data  =  x ; </a:t>
            </a:r>
            <a:r>
              <a:rPr lang="en-US" altLang="zh-CN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数据域</a:t>
            </a:r>
            <a:endParaRPr lang="en-US" altLang="zh-CN" sz="3000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     p-&gt;</a:t>
            </a:r>
            <a:r>
              <a:rPr lang="en-US" altLang="zh-CN" sz="3000" b="1" dirty="0" err="1">
                <a:effectLst/>
                <a:latin typeface="Arial" panose="020B0604020202020204" pitchFamily="34" charset="0"/>
              </a:rPr>
              <a:t>prodocessor</a:t>
            </a:r>
            <a:r>
              <a:rPr lang="en-US" altLang="zh-CN" sz="3000" b="1" dirty="0">
                <a:effectLst/>
                <a:latin typeface="Arial" panose="020B0604020202020204" pitchFamily="34" charset="0"/>
              </a:rPr>
              <a:t>  =  top ; </a:t>
            </a:r>
            <a:r>
              <a:rPr lang="en-US" altLang="zh-CN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指针域</a:t>
            </a:r>
            <a:endParaRPr lang="en-US" altLang="zh-CN" sz="3000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     top  =  p ; </a:t>
            </a:r>
            <a:r>
              <a:rPr lang="en-US" altLang="zh-CN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修正表头</a:t>
            </a:r>
            <a:endParaRPr lang="en-US" altLang="zh-CN" sz="3000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}    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F074970-70C4-41D4-9B0B-2934FA35992C}" type="slidenum">
              <a:rPr lang="zh-CN" altLang="en-US" b="0" smtClean="0"/>
            </a:fld>
            <a:endParaRPr lang="en-US" altLang="zh-CN" b="0"/>
          </a:p>
        </p:txBody>
      </p:sp>
      <p:grpSp>
        <p:nvGrpSpPr>
          <p:cNvPr id="40965" name="组合 3"/>
          <p:cNvGrpSpPr/>
          <p:nvPr/>
        </p:nvGrpSpPr>
        <p:grpSpPr bwMode="auto">
          <a:xfrm>
            <a:off x="3048001" y="2205038"/>
            <a:ext cx="6719889" cy="1223963"/>
            <a:chOff x="2051720" y="313317"/>
            <a:chExt cx="7092280" cy="1243476"/>
          </a:xfrm>
        </p:grpSpPr>
        <p:sp>
          <p:nvSpPr>
            <p:cNvPr id="40966" name="TextBox 5"/>
            <p:cNvSpPr txBox="1">
              <a:spLocks noChangeArrowheads="1"/>
            </p:cNvSpPr>
            <p:nvPr/>
          </p:nvSpPr>
          <p:spPr bwMode="auto">
            <a:xfrm>
              <a:off x="3530324" y="313317"/>
              <a:ext cx="5613676" cy="969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压栈算法同</a:t>
              </a:r>
              <a:r>
                <a:rPr lang="zh-CN" altLang="en-US" sz="2800" dirty="0">
                  <a:solidFill>
                    <a:srgbClr val="F52EFC"/>
                  </a:solidFill>
                  <a:latin typeface="Arial" panose="020B0604020202020204" pitchFamily="34" charset="0"/>
                </a:rPr>
                <a:t>创建链表</a:t>
              </a:r>
              <a:r>
                <a:rPr lang="zh-CN" altLang="en-US" sz="1600" dirty="0">
                  <a:solidFill>
                    <a:srgbClr val="F52EFC"/>
                  </a:solidFill>
                  <a:latin typeface="Arial" panose="020B0604020202020204" pitchFamily="34" charset="0"/>
                </a:rPr>
                <a:t>（压栈算法）</a:t>
              </a:r>
              <a:endParaRPr lang="en-US" altLang="zh-CN" sz="16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演示见本章前面</a:t>
              </a:r>
              <a:r>
                <a:rPr lang="en-US" altLang="zh-CN" sz="2800" dirty="0">
                  <a:latin typeface="Arial" panose="020B0604020202020204" pitchFamily="34" charset="0"/>
                </a:rPr>
                <a:t>PPT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cxnSp>
          <p:nvCxnSpPr>
            <p:cNvPr id="40967" name="直接箭头连接符 2"/>
            <p:cNvCxnSpPr>
              <a:cxnSpLocks noChangeShapeType="1"/>
            </p:cNvCxnSpPr>
            <p:nvPr/>
          </p:nvCxnSpPr>
          <p:spPr bwMode="auto">
            <a:xfrm flipV="1">
              <a:off x="2051720" y="954107"/>
              <a:ext cx="1478603" cy="602685"/>
            </a:xfrm>
            <a:prstGeom prst="straightConnector1">
              <a:avLst/>
            </a:prstGeom>
            <a:noFill/>
            <a:ln w="349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47"/>
          <p:cNvGrpSpPr/>
          <p:nvPr/>
        </p:nvGrpSpPr>
        <p:grpSpPr bwMode="auto">
          <a:xfrm>
            <a:off x="1704975" y="187325"/>
            <a:ext cx="2157413" cy="431800"/>
            <a:chOff x="2859" y="482"/>
            <a:chExt cx="1359" cy="148"/>
          </a:xfrm>
        </p:grpSpPr>
        <p:sp>
          <p:nvSpPr>
            <p:cNvPr id="43033" name="Rectangle 5"/>
            <p:cNvSpPr>
              <a:spLocks noChangeArrowheads="1"/>
            </p:cNvSpPr>
            <p:nvPr/>
          </p:nvSpPr>
          <p:spPr bwMode="auto">
            <a:xfrm>
              <a:off x="2859" y="482"/>
              <a:ext cx="874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top: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34" name="Rectangle 6"/>
            <p:cNvSpPr>
              <a:spLocks noChangeArrowheads="1"/>
            </p:cNvSpPr>
            <p:nvPr/>
          </p:nvSpPr>
          <p:spPr bwMode="auto">
            <a:xfrm>
              <a:off x="3251" y="492"/>
              <a:ext cx="967" cy="13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43011" name="Group 13"/>
          <p:cNvGrpSpPr/>
          <p:nvPr/>
        </p:nvGrpSpPr>
        <p:grpSpPr bwMode="auto">
          <a:xfrm>
            <a:off x="5232400" y="1195388"/>
            <a:ext cx="1216025" cy="863600"/>
            <a:chOff x="0" y="0"/>
            <a:chExt cx="20000" cy="20000"/>
          </a:xfrm>
        </p:grpSpPr>
        <p:sp>
          <p:nvSpPr>
            <p:cNvPr id="43031" name="Rectangle 14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 1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  .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32" name="Line 15"/>
            <p:cNvSpPr>
              <a:spLocks noChangeShapeType="1"/>
            </p:cNvSpPr>
            <p:nvPr/>
          </p:nvSpPr>
          <p:spPr bwMode="auto">
            <a:xfrm>
              <a:off x="0" y="12569"/>
              <a:ext cx="20000" cy="3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3432175" y="331788"/>
            <a:ext cx="18002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24"/>
          <p:cNvGrpSpPr/>
          <p:nvPr/>
        </p:nvGrpSpPr>
        <p:grpSpPr bwMode="auto">
          <a:xfrm>
            <a:off x="5232400" y="115888"/>
            <a:ext cx="1193800" cy="792162"/>
            <a:chOff x="0" y="0"/>
            <a:chExt cx="20000" cy="20000"/>
          </a:xfrm>
        </p:grpSpPr>
        <p:sp>
          <p:nvSpPr>
            <p:cNvPr id="43029" name="Rectangle 2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     </a:t>
              </a: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 2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30" name="Line 26"/>
            <p:cNvSpPr>
              <a:spLocks noChangeShapeType="1"/>
            </p:cNvSpPr>
            <p:nvPr/>
          </p:nvSpPr>
          <p:spPr bwMode="auto">
            <a:xfrm>
              <a:off x="0" y="12569"/>
              <a:ext cx="20000" cy="3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43" name="Freeform 31"/>
          <p:cNvSpPr/>
          <p:nvPr/>
        </p:nvSpPr>
        <p:spPr bwMode="auto">
          <a:xfrm>
            <a:off x="5953125" y="763588"/>
            <a:ext cx="904875" cy="792162"/>
          </a:xfrm>
          <a:custGeom>
            <a:avLst/>
            <a:gdLst>
              <a:gd name="T0" fmla="*/ 0 w 20000"/>
              <a:gd name="T1" fmla="*/ 0 h 20000"/>
              <a:gd name="T2" fmla="*/ 2147483646 w 20000"/>
              <a:gd name="T3" fmla="*/ 0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0"/>
                </a:moveTo>
                <a:lnTo>
                  <a:pt x="19966" y="0"/>
                </a:lnTo>
                <a:lnTo>
                  <a:pt x="19966" y="19955"/>
                </a:lnTo>
                <a:lnTo>
                  <a:pt x="16095" y="19955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43"/>
          <p:cNvGrpSpPr/>
          <p:nvPr/>
        </p:nvGrpSpPr>
        <p:grpSpPr bwMode="auto">
          <a:xfrm>
            <a:off x="1774825" y="836613"/>
            <a:ext cx="2449513" cy="450850"/>
            <a:chOff x="-610" y="-4990"/>
            <a:chExt cx="20610" cy="24990"/>
          </a:xfrm>
        </p:grpSpPr>
        <p:sp>
          <p:nvSpPr>
            <p:cNvPr id="43027" name="Rectangle 44"/>
            <p:cNvSpPr>
              <a:spLocks noChangeArrowheads="1"/>
            </p:cNvSpPr>
            <p:nvPr/>
          </p:nvSpPr>
          <p:spPr bwMode="auto">
            <a:xfrm>
              <a:off x="3627" y="-3"/>
              <a:ext cx="16373" cy="20003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28" name="Rectangle 45"/>
            <p:cNvSpPr>
              <a:spLocks noChangeArrowheads="1"/>
            </p:cNvSpPr>
            <p:nvPr/>
          </p:nvSpPr>
          <p:spPr bwMode="auto">
            <a:xfrm>
              <a:off x="-610" y="-4990"/>
              <a:ext cx="5720" cy="17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b: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360" name="Freeform 48"/>
          <p:cNvSpPr/>
          <p:nvPr/>
        </p:nvSpPr>
        <p:spPr bwMode="auto">
          <a:xfrm>
            <a:off x="3432175" y="476250"/>
            <a:ext cx="1800225" cy="863600"/>
          </a:xfrm>
          <a:custGeom>
            <a:avLst/>
            <a:gdLst>
              <a:gd name="T0" fmla="*/ 0 w 862"/>
              <a:gd name="T1" fmla="*/ 0 h 998"/>
              <a:gd name="T2" fmla="*/ 2147483646 w 862"/>
              <a:gd name="T3" fmla="*/ 0 h 998"/>
              <a:gd name="T4" fmla="*/ 2147483646 w 862"/>
              <a:gd name="T5" fmla="*/ 2147483646 h 998"/>
              <a:gd name="T6" fmla="*/ 2147483646 w 862"/>
              <a:gd name="T7" fmla="*/ 2147483646 h 998"/>
              <a:gd name="T8" fmla="*/ 0 60000 65536"/>
              <a:gd name="T9" fmla="*/ 0 60000 65536"/>
              <a:gd name="T10" fmla="*/ 0 60000 65536"/>
              <a:gd name="T11" fmla="*/ 0 60000 65536"/>
              <a:gd name="T12" fmla="*/ 0 w 862"/>
              <a:gd name="T13" fmla="*/ 0 h 998"/>
              <a:gd name="T14" fmla="*/ 862 w 862"/>
              <a:gd name="T15" fmla="*/ 998 h 9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2" h="998">
                <a:moveTo>
                  <a:pt x="0" y="0"/>
                </a:moveTo>
                <a:lnTo>
                  <a:pt x="590" y="0"/>
                </a:lnTo>
                <a:lnTo>
                  <a:pt x="590" y="998"/>
                </a:lnTo>
                <a:lnTo>
                  <a:pt x="862" y="998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61" name="Text Box 49"/>
          <p:cNvSpPr txBox="1">
            <a:spLocks noChangeArrowheads="1"/>
          </p:cNvSpPr>
          <p:nvPr/>
        </p:nvSpPr>
        <p:spPr bwMode="auto">
          <a:xfrm>
            <a:off x="3035300" y="876300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52EFC"/>
                </a:solidFill>
                <a:latin typeface="Arial" panose="020B0604020202020204" pitchFamily="34" charset="0"/>
              </a:rPr>
              <a:t>2</a:t>
            </a:r>
            <a:endParaRPr lang="en-US" altLang="zh-CN" sz="24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>
          <a:xfrm>
            <a:off x="9625013" y="6248400"/>
            <a:ext cx="51435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E5A92F1-5075-4F77-8EF5-00CDC747B39A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28600" y="1771650"/>
            <a:ext cx="9072563" cy="50158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3.</a:t>
            </a:r>
            <a:r>
              <a:rPr lang="zh-CN" altLang="en-US" dirty="0">
                <a:solidFill>
                  <a:srgbClr val="F52EFC"/>
                </a:solidFill>
                <a:latin typeface="Arial" panose="020B0604020202020204" pitchFamily="34" charset="0"/>
              </a:rPr>
              <a:t>出栈</a:t>
            </a:r>
            <a:endParaRPr lang="en-US" altLang="zh-CN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void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stackpop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 (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items *x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) {</a:t>
            </a:r>
            <a:endParaRPr lang="en-US" altLang="zh-CN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 err="1">
                <a:latin typeface="Arial" panose="020B0604020202020204" pitchFamily="34" charset="0"/>
              </a:rPr>
              <a:t>pstacktype</a:t>
            </a:r>
            <a:r>
              <a:rPr lang="en-US" altLang="zh-CN" sz="3200" dirty="0">
                <a:latin typeface="Arial" panose="020B0604020202020204" pitchFamily="34" charset="0"/>
              </a:rPr>
              <a:t>  p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if ( </a:t>
            </a:r>
            <a:r>
              <a:rPr lang="en-US" altLang="zh-CN" sz="3200" dirty="0">
                <a:latin typeface="Arial" panose="020B0604020202020204" pitchFamily="34" charset="0"/>
              </a:rPr>
              <a:t>top</a:t>
            </a:r>
            <a:r>
              <a:rPr lang="en-US" altLang="zh-CN" sz="3200" dirty="0">
                <a:solidFill>
                  <a:srgbClr val="F52EFC"/>
                </a:solidFill>
                <a:latin typeface="Arial" panose="020B0604020202020204" pitchFamily="34" charset="0"/>
              </a:rPr>
              <a:t>!=</a:t>
            </a:r>
            <a:r>
              <a:rPr lang="en-US" altLang="zh-CN" sz="3200" dirty="0">
                <a:latin typeface="Arial" panose="020B0604020202020204" pitchFamily="34" charset="0"/>
              </a:rPr>
              <a:t>NULL 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) {</a:t>
            </a:r>
            <a:endParaRPr lang="en-US" altLang="zh-CN" sz="32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        	 *x  =  top-&gt;data;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取出数据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solidFill>
                  <a:srgbClr val="FFFF00"/>
                </a:solidFill>
                <a:latin typeface="Arial" panose="020B0604020202020204" pitchFamily="34" charset="0"/>
              </a:rPr>
              <a:t>          	p  =  top 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记录要删除的位置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</a:rPr>
              <a:t>            	</a:t>
            </a:r>
            <a:r>
              <a:rPr lang="en-US" altLang="zh-CN" sz="3200" dirty="0">
                <a:latin typeface="Arial" panose="020B0604020202020204" pitchFamily="34" charset="0"/>
              </a:rPr>
              <a:t>top  =  top-&gt;predecessor ;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修正表头（栈顶）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</a:rPr>
              <a:t>     	free(p);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hlink"/>
                </a:solidFill>
                <a:latin typeface="Arial" panose="020B0604020202020204" pitchFamily="34" charset="0"/>
              </a:rPr>
              <a:t>删除</a:t>
            </a:r>
            <a:endParaRPr lang="en-US" altLang="zh-CN" sz="1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} else  </a:t>
            </a:r>
            <a:r>
              <a:rPr lang="en-US" altLang="zh-CN" sz="3200" dirty="0" err="1">
                <a:latin typeface="Arial" panose="020B0604020202020204" pitchFamily="34" charset="0"/>
              </a:rPr>
              <a:t>printf</a:t>
            </a:r>
            <a:r>
              <a:rPr lang="en-US" altLang="zh-CN" sz="3200" dirty="0">
                <a:latin typeface="Arial" panose="020B0604020202020204" pitchFamily="34" charset="0"/>
              </a:rPr>
              <a:t>( </a:t>
            </a:r>
            <a:r>
              <a:rPr lang="en-US" altLang="zh-CN" sz="3200">
                <a:latin typeface="Arial" panose="020B0604020202020204" pitchFamily="34" charset="0"/>
                <a:sym typeface="+mn-ea"/>
              </a:rPr>
              <a:t>"</a:t>
            </a:r>
            <a:r>
              <a:rPr lang="zh-CN" altLang="en-US" sz="3200" dirty="0">
                <a:latin typeface="Arial" panose="020B0604020202020204" pitchFamily="34" charset="0"/>
              </a:rPr>
              <a:t>栈下溢</a:t>
            </a:r>
            <a:r>
              <a:rPr lang="en-US" altLang="zh-CN" sz="3200" dirty="0">
                <a:latin typeface="Arial" panose="020B0604020202020204" pitchFamily="34" charset="0"/>
              </a:rPr>
              <a:t>\n</a:t>
            </a:r>
            <a:r>
              <a:rPr lang="en-US" altLang="zh-CN" sz="320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3200" dirty="0">
                <a:latin typeface="Arial" panose="020B0604020202020204" pitchFamily="34" charset="0"/>
              </a:rPr>
              <a:t> );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}</a:t>
            </a:r>
            <a:endParaRPr lang="en-US" altLang="zh-CN" dirty="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 bwMode="auto">
          <a:xfrm>
            <a:off x="6448425" y="-100013"/>
            <a:ext cx="2960688" cy="633413"/>
            <a:chOff x="4923979" y="-99392"/>
            <a:chExt cx="2961805" cy="633236"/>
          </a:xfrm>
        </p:grpSpPr>
        <p:sp>
          <p:nvSpPr>
            <p:cNvPr id="43024" name="Rectangle 5"/>
            <p:cNvSpPr>
              <a:spLocks noChangeArrowheads="1"/>
            </p:cNvSpPr>
            <p:nvPr/>
          </p:nvSpPr>
          <p:spPr bwMode="auto">
            <a:xfrm>
              <a:off x="5940152" y="-99392"/>
              <a:ext cx="138747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25" name="Rectangle 6"/>
            <p:cNvSpPr>
              <a:spLocks noChangeArrowheads="1"/>
            </p:cNvSpPr>
            <p:nvPr/>
          </p:nvSpPr>
          <p:spPr bwMode="auto">
            <a:xfrm>
              <a:off x="6350671" y="131220"/>
              <a:ext cx="1535113" cy="402624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26" name="Line 16"/>
            <p:cNvSpPr>
              <a:spLocks noChangeShapeType="1"/>
            </p:cNvSpPr>
            <p:nvPr/>
          </p:nvSpPr>
          <p:spPr bwMode="auto">
            <a:xfrm>
              <a:off x="4923979" y="342963"/>
              <a:ext cx="180022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arrow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1981200" y="4267200"/>
            <a:ext cx="7075170" cy="1524635"/>
          </a:xfrm>
          <a:prstGeom prst="rect">
            <a:avLst/>
          </a:prstGeom>
          <a:noFill/>
          <a:ln w="34925" algn="ctr">
            <a:solidFill>
              <a:srgbClr val="F52EFC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61" grpId="0"/>
      <p:bldP spid="25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0725" y="28575"/>
            <a:ext cx="8229600" cy="808038"/>
          </a:xfrm>
        </p:spPr>
        <p:txBody>
          <a:bodyPr/>
          <a:lstStyle/>
          <a:p>
            <a:pPr>
              <a:defRPr/>
            </a:pPr>
            <a:r>
              <a:rPr lang="en-US" altLang="zh-CN" b="1">
                <a:solidFill>
                  <a:srgbClr val="FFC000"/>
                </a:solidFill>
                <a:ea typeface="黑体" panose="02010609060101010101" pitchFamily="49" charset="-122"/>
              </a:rPr>
              <a:t>§13.3.3  </a:t>
            </a:r>
            <a:r>
              <a:rPr lang="zh-CN" altLang="en-US" b="1">
                <a:solidFill>
                  <a:srgbClr val="FFC000"/>
                </a:solidFill>
                <a:ea typeface="黑体" panose="02010609060101010101" pitchFamily="49" charset="-122"/>
              </a:rPr>
              <a:t>队列</a:t>
            </a:r>
            <a:endParaRPr lang="zh-CN" altLang="en-US" b="1">
              <a:solidFill>
                <a:srgbClr val="FFC000"/>
              </a:solidFill>
              <a:ea typeface="黑体" panose="02010609060101010101" pitchFamily="49" charset="-122"/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847725"/>
            <a:ext cx="8861425" cy="367188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数组实现（第</a:t>
            </a:r>
            <a:r>
              <a:rPr lang="en-US" altLang="zh-CN" b="1" dirty="0">
                <a:effectLst/>
                <a:ea typeface="黑体" panose="02010609060101010101" pitchFamily="49" charset="-122"/>
              </a:rPr>
              <a:t>6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章）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链表实现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   队列的操作：</a:t>
            </a:r>
            <a:endParaRPr lang="zh-CN" altLang="en-US" b="1" dirty="0">
              <a:solidFill>
                <a:srgbClr val="FFC000"/>
              </a:solidFill>
              <a:effectLst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	① 初始化（ </a:t>
            </a:r>
            <a:r>
              <a:rPr lang="en-US" altLang="zh-CN" b="1" dirty="0" err="1">
                <a:effectLst/>
                <a:ea typeface="黑体" panose="02010609060101010101" pitchFamily="49" charset="-122"/>
              </a:rPr>
              <a:t>queueinitial</a:t>
            </a:r>
            <a:r>
              <a:rPr lang="en-US" altLang="zh-CN" b="1" dirty="0">
                <a:effectLst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）</a:t>
            </a:r>
            <a:endParaRPr lang="zh-CN" altLang="en-US" b="1" dirty="0">
              <a:effectLst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	② 入队──排在队尾（</a:t>
            </a:r>
            <a:r>
              <a:rPr lang="en-US" altLang="zh-CN" b="1" dirty="0" err="1">
                <a:effectLst/>
                <a:ea typeface="黑体" panose="02010609060101010101" pitchFamily="49" charset="-122"/>
              </a:rPr>
              <a:t>inqueue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）</a:t>
            </a:r>
            <a:endParaRPr lang="zh-CN" altLang="en-US" b="1" dirty="0">
              <a:effectLst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	③ 出队──从队头删一项（</a:t>
            </a:r>
            <a:r>
              <a:rPr lang="en-US" altLang="zh-CN" b="1" dirty="0" err="1">
                <a:effectLst/>
                <a:ea typeface="黑体" panose="02010609060101010101" pitchFamily="49" charset="-122"/>
              </a:rPr>
              <a:t>outqueue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）</a:t>
            </a:r>
            <a:endParaRPr lang="zh-CN" altLang="en-US" b="1" dirty="0">
              <a:effectLst/>
              <a:ea typeface="黑体" panose="02010609060101010101" pitchFamily="49" charset="-122"/>
            </a:endParaRPr>
          </a:p>
          <a:p>
            <a:pPr>
              <a:defRPr/>
            </a:pPr>
            <a:endParaRPr lang="en-US" altLang="zh-CN" dirty="0">
              <a:effectLst/>
              <a:ea typeface="黑体" panose="02010609060101010101" pitchFamily="49" charset="-122"/>
            </a:endParaRPr>
          </a:p>
        </p:txBody>
      </p:sp>
      <p:grpSp>
        <p:nvGrpSpPr>
          <p:cNvPr id="45060" name="Group 58"/>
          <p:cNvGrpSpPr/>
          <p:nvPr/>
        </p:nvGrpSpPr>
        <p:grpSpPr bwMode="auto">
          <a:xfrm>
            <a:off x="2279650" y="4868863"/>
            <a:ext cx="7200900" cy="1657350"/>
            <a:chOff x="476" y="3067"/>
            <a:chExt cx="4536" cy="1044"/>
          </a:xfrm>
        </p:grpSpPr>
        <p:sp>
          <p:nvSpPr>
            <p:cNvPr id="45063" name="Rectangle 33"/>
            <p:cNvSpPr>
              <a:spLocks noChangeArrowheads="1"/>
            </p:cNvSpPr>
            <p:nvPr/>
          </p:nvSpPr>
          <p:spPr bwMode="auto">
            <a:xfrm flipH="1">
              <a:off x="4150" y="3067"/>
              <a:ext cx="46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rear: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5064" name="Rectangle 34"/>
            <p:cNvSpPr>
              <a:spLocks noChangeArrowheads="1"/>
            </p:cNvSpPr>
            <p:nvPr/>
          </p:nvSpPr>
          <p:spPr bwMode="auto">
            <a:xfrm flipH="1">
              <a:off x="4562" y="3161"/>
              <a:ext cx="450" cy="21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5065" name="Freeform 35"/>
            <p:cNvSpPr/>
            <p:nvPr/>
          </p:nvSpPr>
          <p:spPr bwMode="auto">
            <a:xfrm flipH="1">
              <a:off x="4562" y="3285"/>
              <a:ext cx="231" cy="25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32"/>
                  </a:lnTo>
                  <a:lnTo>
                    <a:pt x="19945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6" name="Rectangle 37"/>
            <p:cNvSpPr>
              <a:spLocks noChangeArrowheads="1"/>
            </p:cNvSpPr>
            <p:nvPr/>
          </p:nvSpPr>
          <p:spPr bwMode="auto">
            <a:xfrm flipH="1">
              <a:off x="476" y="3173"/>
              <a:ext cx="4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front: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5067" name="Rectangle 38"/>
            <p:cNvSpPr>
              <a:spLocks noChangeArrowheads="1"/>
            </p:cNvSpPr>
            <p:nvPr/>
          </p:nvSpPr>
          <p:spPr bwMode="auto">
            <a:xfrm flipH="1">
              <a:off x="923" y="3225"/>
              <a:ext cx="425" cy="1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45068" name="Group 39"/>
            <p:cNvGrpSpPr/>
            <p:nvPr/>
          </p:nvGrpSpPr>
          <p:grpSpPr bwMode="auto">
            <a:xfrm flipH="1">
              <a:off x="4042" y="3468"/>
              <a:ext cx="463" cy="446"/>
              <a:chOff x="0" y="0"/>
              <a:chExt cx="20000" cy="20000"/>
            </a:xfrm>
          </p:grpSpPr>
          <p:sp>
            <p:nvSpPr>
              <p:cNvPr id="45085" name="Rectangle 4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86" name="Line 41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45069" name="Group 42"/>
            <p:cNvGrpSpPr/>
            <p:nvPr/>
          </p:nvGrpSpPr>
          <p:grpSpPr bwMode="auto">
            <a:xfrm flipH="1">
              <a:off x="3337" y="3464"/>
              <a:ext cx="462" cy="461"/>
              <a:chOff x="0" y="0"/>
              <a:chExt cx="20000" cy="20000"/>
            </a:xfrm>
          </p:grpSpPr>
          <p:sp>
            <p:nvSpPr>
              <p:cNvPr id="45083" name="Rectangle 4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84" name="Line 44"/>
              <p:cNvSpPr>
                <a:spLocks noChangeShapeType="1"/>
              </p:cNvSpPr>
              <p:nvPr/>
            </p:nvSpPr>
            <p:spPr bwMode="auto">
              <a:xfrm>
                <a:off x="557" y="1380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45070" name="Freeform 45"/>
            <p:cNvSpPr/>
            <p:nvPr/>
          </p:nvSpPr>
          <p:spPr bwMode="auto">
            <a:xfrm flipH="1">
              <a:off x="3592" y="3533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1" name="Freeform 46"/>
            <p:cNvSpPr/>
            <p:nvPr/>
          </p:nvSpPr>
          <p:spPr bwMode="auto">
            <a:xfrm flipH="1">
              <a:off x="2886" y="3533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2" name="Freeform 47"/>
            <p:cNvSpPr/>
            <p:nvPr/>
          </p:nvSpPr>
          <p:spPr bwMode="auto">
            <a:xfrm flipH="1">
              <a:off x="2309" y="3533"/>
              <a:ext cx="424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073" name="Group 48"/>
            <p:cNvGrpSpPr/>
            <p:nvPr/>
          </p:nvGrpSpPr>
          <p:grpSpPr bwMode="auto">
            <a:xfrm flipH="1">
              <a:off x="2066" y="3480"/>
              <a:ext cx="462" cy="455"/>
              <a:chOff x="0" y="0"/>
              <a:chExt cx="20000" cy="20000"/>
            </a:xfrm>
          </p:grpSpPr>
          <p:sp>
            <p:nvSpPr>
              <p:cNvPr id="45081" name="Rectangle 4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82" name="Line 50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45074" name="Group 51"/>
            <p:cNvGrpSpPr/>
            <p:nvPr/>
          </p:nvGrpSpPr>
          <p:grpSpPr bwMode="auto">
            <a:xfrm flipH="1">
              <a:off x="1360" y="3480"/>
              <a:ext cx="462" cy="455"/>
              <a:chOff x="0" y="0"/>
              <a:chExt cx="20000" cy="20000"/>
            </a:xfrm>
          </p:grpSpPr>
          <p:sp>
            <p:nvSpPr>
              <p:cNvPr id="45079" name="Rectangle 5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80" name="Line 5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45075" name="Freeform 54"/>
            <p:cNvSpPr/>
            <p:nvPr/>
          </p:nvSpPr>
          <p:spPr bwMode="auto">
            <a:xfrm flipH="1">
              <a:off x="1617" y="3533"/>
              <a:ext cx="423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6" name="Rectangle 55"/>
            <p:cNvSpPr>
              <a:spLocks noChangeArrowheads="1"/>
            </p:cNvSpPr>
            <p:nvPr/>
          </p:nvSpPr>
          <p:spPr bwMode="auto">
            <a:xfrm flipH="1">
              <a:off x="2669" y="3479"/>
              <a:ext cx="57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...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sp>
          <p:nvSpPr>
            <p:cNvPr id="45077" name="Freeform 56"/>
            <p:cNvSpPr/>
            <p:nvPr/>
          </p:nvSpPr>
          <p:spPr bwMode="auto">
            <a:xfrm flipH="1">
              <a:off x="1115" y="3331"/>
              <a:ext cx="233" cy="25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8" name="Text Box 57"/>
            <p:cNvSpPr txBox="1">
              <a:spLocks noChangeArrowheads="1"/>
            </p:cNvSpPr>
            <p:nvPr/>
          </p:nvSpPr>
          <p:spPr bwMode="auto">
            <a:xfrm>
              <a:off x="4096" y="3540"/>
              <a:ext cx="402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</p:grp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2132308-63CB-413A-BA51-5A856CABEFB2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98450" y="333375"/>
            <a:ext cx="705802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队列的三个操作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:</a:t>
            </a:r>
            <a:endParaRPr lang="en-US" altLang="zh-CN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ea typeface="黑体" panose="02010609060101010101" pitchFamily="49" charset="-122"/>
              </a:rPr>
              <a:t> 1. 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初始化（调用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queueinitail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）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 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2. 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inqueue(1)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     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inqueue(2)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     调用 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inqueue(3)</a:t>
            </a:r>
            <a:endParaRPr lang="en-US" altLang="zh-CN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ea typeface="黑体" panose="02010609060101010101" pitchFamily="49" charset="-122"/>
              </a:rPr>
              <a:t> 3. 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outqueue(&amp;a) 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     调用 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outqueue(&amp;b)  </a:t>
            </a:r>
            <a:endParaRPr lang="en-US" altLang="zh-CN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ea typeface="黑体" panose="02010609060101010101" pitchFamily="49" charset="-122"/>
              </a:rPr>
              <a:t>     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outqueue(&amp;a) 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3935413" y="5516563"/>
            <a:ext cx="936625" cy="720725"/>
            <a:chOff x="3878" y="300"/>
            <a:chExt cx="591" cy="346"/>
          </a:xfrm>
        </p:grpSpPr>
        <p:sp>
          <p:nvSpPr>
            <p:cNvPr id="47147" name="Rectangle 4"/>
            <p:cNvSpPr>
              <a:spLocks noChangeArrowheads="1"/>
            </p:cNvSpPr>
            <p:nvPr/>
          </p:nvSpPr>
          <p:spPr bwMode="auto">
            <a:xfrm flipH="1">
              <a:off x="3878" y="300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1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·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7148" name="Line 5"/>
            <p:cNvSpPr>
              <a:spLocks noChangeShapeType="1"/>
            </p:cNvSpPr>
            <p:nvPr/>
          </p:nvSpPr>
          <p:spPr bwMode="auto">
            <a:xfrm flipH="1">
              <a:off x="3878" y="482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26" name="Freeform 6"/>
          <p:cNvSpPr/>
          <p:nvPr/>
        </p:nvSpPr>
        <p:spPr bwMode="auto">
          <a:xfrm flipH="1">
            <a:off x="4800600" y="5013325"/>
            <a:ext cx="5111750" cy="720725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0" y="0"/>
                </a:moveTo>
                <a:lnTo>
                  <a:pt x="0" y="19934"/>
                </a:lnTo>
                <a:lnTo>
                  <a:pt x="19945" y="19934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27" name="Freeform 7"/>
          <p:cNvSpPr/>
          <p:nvPr/>
        </p:nvSpPr>
        <p:spPr bwMode="auto">
          <a:xfrm flipH="1">
            <a:off x="3143250" y="5157788"/>
            <a:ext cx="792163" cy="4318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58" y="0"/>
                </a:moveTo>
                <a:lnTo>
                  <a:pt x="19958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28" name="Freeform 8"/>
          <p:cNvSpPr/>
          <p:nvPr/>
        </p:nvSpPr>
        <p:spPr bwMode="auto">
          <a:xfrm flipH="1">
            <a:off x="4440238" y="5805488"/>
            <a:ext cx="1223962" cy="325437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64" y="19950"/>
                </a:moveTo>
                <a:lnTo>
                  <a:pt x="6667" y="19950"/>
                </a:lnTo>
                <a:lnTo>
                  <a:pt x="666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9"/>
          <p:cNvGrpSpPr/>
          <p:nvPr/>
        </p:nvGrpSpPr>
        <p:grpSpPr bwMode="auto">
          <a:xfrm>
            <a:off x="8759825" y="2997200"/>
            <a:ext cx="1657350" cy="627063"/>
            <a:chOff x="4828" y="2441"/>
            <a:chExt cx="624" cy="187"/>
          </a:xfrm>
        </p:grpSpPr>
        <p:sp>
          <p:nvSpPr>
            <p:cNvPr id="47145" name="Rectangle 10"/>
            <p:cNvSpPr>
              <a:spLocks noChangeArrowheads="1"/>
            </p:cNvSpPr>
            <p:nvPr/>
          </p:nvSpPr>
          <p:spPr bwMode="auto">
            <a:xfrm flipH="1">
              <a:off x="4828" y="2441"/>
              <a:ext cx="264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52EFC"/>
                  </a:solidFill>
                  <a:latin typeface="Arial" panose="020B0604020202020204" pitchFamily="34" charset="0"/>
                </a:rPr>
                <a:t>a:</a:t>
              </a:r>
              <a:endParaRPr lang="en-US" altLang="zh-CN" sz="20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146" name="Rectangle 11"/>
            <p:cNvSpPr>
              <a:spLocks noChangeArrowheads="1"/>
            </p:cNvSpPr>
            <p:nvPr/>
          </p:nvSpPr>
          <p:spPr bwMode="auto">
            <a:xfrm flipH="1">
              <a:off x="5012" y="2478"/>
              <a:ext cx="440" cy="15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12"/>
          <p:cNvGrpSpPr/>
          <p:nvPr/>
        </p:nvGrpSpPr>
        <p:grpSpPr bwMode="auto">
          <a:xfrm>
            <a:off x="8472488" y="4622800"/>
            <a:ext cx="1944687" cy="504825"/>
            <a:chOff x="0" y="0"/>
            <a:chExt cx="19999" cy="20000"/>
          </a:xfrm>
        </p:grpSpPr>
        <p:sp>
          <p:nvSpPr>
            <p:cNvPr id="47143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11619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  <a:latin typeface="Arial" panose="020B0604020202020204" pitchFamily="34" charset="0"/>
                </a:rPr>
                <a:t>rear:</a:t>
              </a:r>
              <a:endParaRPr lang="en-US" altLang="zh-CN" sz="20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144" name="Rectangle 14"/>
            <p:cNvSpPr>
              <a:spLocks noChangeArrowheads="1"/>
            </p:cNvSpPr>
            <p:nvPr/>
          </p:nvSpPr>
          <p:spPr bwMode="auto">
            <a:xfrm>
              <a:off x="8701" y="0"/>
              <a:ext cx="11298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15"/>
          <p:cNvGrpSpPr/>
          <p:nvPr/>
        </p:nvGrpSpPr>
        <p:grpSpPr bwMode="auto">
          <a:xfrm>
            <a:off x="1774825" y="4941888"/>
            <a:ext cx="1727200" cy="431800"/>
            <a:chOff x="0" y="0"/>
            <a:chExt cx="20000" cy="20000"/>
          </a:xfrm>
        </p:grpSpPr>
        <p:sp>
          <p:nvSpPr>
            <p:cNvPr id="47141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10915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  <a:latin typeface="Arial" panose="020B0604020202020204" pitchFamily="34" charset="0"/>
                </a:rPr>
                <a:t>front:</a:t>
              </a:r>
              <a:endParaRPr lang="en-US" altLang="zh-CN" sz="20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142" name="Rectangle 17"/>
            <p:cNvSpPr>
              <a:spLocks noChangeArrowheads="1"/>
            </p:cNvSpPr>
            <p:nvPr/>
          </p:nvSpPr>
          <p:spPr bwMode="auto">
            <a:xfrm>
              <a:off x="9992" y="1377"/>
              <a:ext cx="10008" cy="18083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18"/>
          <p:cNvGrpSpPr/>
          <p:nvPr/>
        </p:nvGrpSpPr>
        <p:grpSpPr bwMode="auto">
          <a:xfrm>
            <a:off x="5622925" y="5518150"/>
            <a:ext cx="904875" cy="719138"/>
            <a:chOff x="3878" y="300"/>
            <a:chExt cx="591" cy="346"/>
          </a:xfrm>
        </p:grpSpPr>
        <p:sp>
          <p:nvSpPr>
            <p:cNvPr id="47139" name="Rectangle 19"/>
            <p:cNvSpPr>
              <a:spLocks noChangeArrowheads="1"/>
            </p:cNvSpPr>
            <p:nvPr/>
          </p:nvSpPr>
          <p:spPr bwMode="auto">
            <a:xfrm flipH="1">
              <a:off x="3878" y="300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2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  ·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7140" name="Line 20"/>
            <p:cNvSpPr>
              <a:spLocks noChangeShapeType="1"/>
            </p:cNvSpPr>
            <p:nvPr/>
          </p:nvSpPr>
          <p:spPr bwMode="auto">
            <a:xfrm flipH="1">
              <a:off x="3878" y="482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41" name="Freeform 21"/>
          <p:cNvSpPr/>
          <p:nvPr/>
        </p:nvSpPr>
        <p:spPr bwMode="auto">
          <a:xfrm flipH="1">
            <a:off x="6527800" y="5013325"/>
            <a:ext cx="3384550" cy="576263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0" y="0"/>
                </a:moveTo>
                <a:lnTo>
                  <a:pt x="0" y="19934"/>
                </a:lnTo>
                <a:lnTo>
                  <a:pt x="19945" y="19934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22"/>
          <p:cNvGrpSpPr/>
          <p:nvPr/>
        </p:nvGrpSpPr>
        <p:grpSpPr bwMode="auto">
          <a:xfrm>
            <a:off x="7319963" y="5516563"/>
            <a:ext cx="908050" cy="790575"/>
            <a:chOff x="3878" y="300"/>
            <a:chExt cx="591" cy="346"/>
          </a:xfrm>
        </p:grpSpPr>
        <p:sp>
          <p:nvSpPr>
            <p:cNvPr id="47137" name="Rectangle 23"/>
            <p:cNvSpPr>
              <a:spLocks noChangeArrowheads="1"/>
            </p:cNvSpPr>
            <p:nvPr/>
          </p:nvSpPr>
          <p:spPr bwMode="auto">
            <a:xfrm flipH="1">
              <a:off x="3878" y="300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3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·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7138" name="Line 24"/>
            <p:cNvSpPr>
              <a:spLocks noChangeShapeType="1"/>
            </p:cNvSpPr>
            <p:nvPr/>
          </p:nvSpPr>
          <p:spPr bwMode="auto">
            <a:xfrm flipH="1">
              <a:off x="3878" y="482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45" name="Freeform 25"/>
          <p:cNvSpPr/>
          <p:nvPr/>
        </p:nvSpPr>
        <p:spPr bwMode="auto">
          <a:xfrm flipH="1">
            <a:off x="8183563" y="5084763"/>
            <a:ext cx="1728787" cy="576262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0" y="0"/>
                </a:moveTo>
                <a:lnTo>
                  <a:pt x="0" y="19934"/>
                </a:lnTo>
                <a:lnTo>
                  <a:pt x="19945" y="19934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46" name="Freeform 26"/>
          <p:cNvSpPr/>
          <p:nvPr/>
        </p:nvSpPr>
        <p:spPr bwMode="auto">
          <a:xfrm flipH="1">
            <a:off x="6024563" y="5734050"/>
            <a:ext cx="1295400" cy="358775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64" y="19950"/>
                </a:moveTo>
                <a:lnTo>
                  <a:pt x="6667" y="19950"/>
                </a:lnTo>
                <a:lnTo>
                  <a:pt x="666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47" name="Text Box 27"/>
          <p:cNvSpPr txBox="1">
            <a:spLocks noChangeArrowheads="1"/>
          </p:cNvSpPr>
          <p:nvPr/>
        </p:nvSpPr>
        <p:spPr bwMode="auto">
          <a:xfrm>
            <a:off x="9551988" y="3123248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52EFC"/>
                </a:solidFill>
                <a:latin typeface="Arial" panose="020B0604020202020204" pitchFamily="34" charset="0"/>
              </a:rPr>
              <a:t>1</a:t>
            </a:r>
            <a:endParaRPr lang="en-US" altLang="zh-CN" sz="20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grpSp>
        <p:nvGrpSpPr>
          <p:cNvPr id="8" name="Group 28"/>
          <p:cNvGrpSpPr/>
          <p:nvPr/>
        </p:nvGrpSpPr>
        <p:grpSpPr bwMode="auto">
          <a:xfrm>
            <a:off x="1774825" y="5805488"/>
            <a:ext cx="1625600" cy="431800"/>
            <a:chOff x="0" y="0"/>
            <a:chExt cx="20000" cy="20000"/>
          </a:xfrm>
        </p:grpSpPr>
        <p:sp>
          <p:nvSpPr>
            <p:cNvPr id="47135" name="Rectangle 29"/>
            <p:cNvSpPr>
              <a:spLocks noChangeArrowheads="1"/>
            </p:cNvSpPr>
            <p:nvPr/>
          </p:nvSpPr>
          <p:spPr bwMode="auto">
            <a:xfrm>
              <a:off x="0" y="0"/>
              <a:ext cx="10915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p: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7136" name="Rectangle 30"/>
            <p:cNvSpPr>
              <a:spLocks noChangeArrowheads="1"/>
            </p:cNvSpPr>
            <p:nvPr/>
          </p:nvSpPr>
          <p:spPr bwMode="auto">
            <a:xfrm>
              <a:off x="9992" y="1377"/>
              <a:ext cx="10008" cy="18083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sp>
        <p:nvSpPr>
          <p:cNvPr id="107551" name="Freeform 31"/>
          <p:cNvSpPr/>
          <p:nvPr/>
        </p:nvSpPr>
        <p:spPr bwMode="auto">
          <a:xfrm>
            <a:off x="2927350" y="5734050"/>
            <a:ext cx="1009650" cy="360363"/>
          </a:xfrm>
          <a:custGeom>
            <a:avLst/>
            <a:gdLst>
              <a:gd name="T0" fmla="*/ 0 w 636"/>
              <a:gd name="T1" fmla="*/ 2147483646 h 227"/>
              <a:gd name="T2" fmla="*/ 2147483646 w 636"/>
              <a:gd name="T3" fmla="*/ 2147483646 h 227"/>
              <a:gd name="T4" fmla="*/ 2147483646 w 636"/>
              <a:gd name="T5" fmla="*/ 0 h 227"/>
              <a:gd name="T6" fmla="*/ 2147483646 w 636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636"/>
              <a:gd name="T13" fmla="*/ 0 h 227"/>
              <a:gd name="T14" fmla="*/ 636 w 636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6" h="227">
                <a:moveTo>
                  <a:pt x="0" y="227"/>
                </a:moveTo>
                <a:lnTo>
                  <a:pt x="409" y="227"/>
                </a:lnTo>
                <a:lnTo>
                  <a:pt x="409" y="0"/>
                </a:lnTo>
                <a:lnTo>
                  <a:pt x="636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2" name="Freeform 32"/>
          <p:cNvSpPr/>
          <p:nvPr/>
        </p:nvSpPr>
        <p:spPr bwMode="auto">
          <a:xfrm>
            <a:off x="3071813" y="5157788"/>
            <a:ext cx="2592387" cy="431800"/>
          </a:xfrm>
          <a:custGeom>
            <a:avLst/>
            <a:gdLst>
              <a:gd name="T0" fmla="*/ 0 w 1542"/>
              <a:gd name="T1" fmla="*/ 0 h 272"/>
              <a:gd name="T2" fmla="*/ 2147483646 w 1542"/>
              <a:gd name="T3" fmla="*/ 0 h 272"/>
              <a:gd name="T4" fmla="*/ 2147483646 w 1542"/>
              <a:gd name="T5" fmla="*/ 2147483646 h 272"/>
              <a:gd name="T6" fmla="*/ 2147483646 w 1542"/>
              <a:gd name="T7" fmla="*/ 2147483646 h 272"/>
              <a:gd name="T8" fmla="*/ 0 60000 65536"/>
              <a:gd name="T9" fmla="*/ 0 60000 65536"/>
              <a:gd name="T10" fmla="*/ 0 60000 65536"/>
              <a:gd name="T11" fmla="*/ 0 60000 65536"/>
              <a:gd name="T12" fmla="*/ 0 w 1542"/>
              <a:gd name="T13" fmla="*/ 0 h 272"/>
              <a:gd name="T14" fmla="*/ 1542 w 1542"/>
              <a:gd name="T15" fmla="*/ 272 h 2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2" h="272">
                <a:moveTo>
                  <a:pt x="0" y="0"/>
                </a:moveTo>
                <a:lnTo>
                  <a:pt x="1180" y="0"/>
                </a:lnTo>
                <a:lnTo>
                  <a:pt x="1180" y="272"/>
                </a:lnTo>
                <a:lnTo>
                  <a:pt x="1542" y="27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33"/>
          <p:cNvGrpSpPr/>
          <p:nvPr/>
        </p:nvGrpSpPr>
        <p:grpSpPr bwMode="auto">
          <a:xfrm>
            <a:off x="8789988" y="3716338"/>
            <a:ext cx="1627187" cy="571500"/>
            <a:chOff x="4811" y="2441"/>
            <a:chExt cx="641" cy="187"/>
          </a:xfrm>
        </p:grpSpPr>
        <p:sp>
          <p:nvSpPr>
            <p:cNvPr id="47133" name="Rectangle 34"/>
            <p:cNvSpPr>
              <a:spLocks noChangeArrowheads="1"/>
            </p:cNvSpPr>
            <p:nvPr/>
          </p:nvSpPr>
          <p:spPr bwMode="auto">
            <a:xfrm flipH="1">
              <a:off x="4811" y="2441"/>
              <a:ext cx="264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52EFC"/>
                  </a:solidFill>
                  <a:latin typeface="Arial" panose="020B0604020202020204" pitchFamily="34" charset="0"/>
                </a:rPr>
                <a:t>b:</a:t>
              </a:r>
              <a:endParaRPr lang="en-US" altLang="zh-CN" sz="20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134" name="Rectangle 35"/>
            <p:cNvSpPr>
              <a:spLocks noChangeArrowheads="1"/>
            </p:cNvSpPr>
            <p:nvPr/>
          </p:nvSpPr>
          <p:spPr bwMode="auto">
            <a:xfrm flipH="1">
              <a:off x="5012" y="2478"/>
              <a:ext cx="440" cy="15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sp>
        <p:nvSpPr>
          <p:cNvPr id="107556" name="Text Box 36"/>
          <p:cNvSpPr txBox="1">
            <a:spLocks noChangeArrowheads="1"/>
          </p:cNvSpPr>
          <p:nvPr/>
        </p:nvSpPr>
        <p:spPr bwMode="auto">
          <a:xfrm>
            <a:off x="9551988" y="3860800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52EFC"/>
                </a:solidFill>
                <a:latin typeface="Arial" panose="020B0604020202020204" pitchFamily="34" charset="0"/>
              </a:rPr>
              <a:t>2</a:t>
            </a:r>
            <a:endParaRPr lang="en-US" altLang="zh-CN" sz="20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107557" name="Freeform 37"/>
          <p:cNvSpPr/>
          <p:nvPr/>
        </p:nvSpPr>
        <p:spPr bwMode="auto">
          <a:xfrm>
            <a:off x="3000375" y="5661025"/>
            <a:ext cx="2663825" cy="360363"/>
          </a:xfrm>
          <a:custGeom>
            <a:avLst/>
            <a:gdLst>
              <a:gd name="T0" fmla="*/ 0 w 636"/>
              <a:gd name="T1" fmla="*/ 2147483646 h 227"/>
              <a:gd name="T2" fmla="*/ 2147483646 w 636"/>
              <a:gd name="T3" fmla="*/ 2147483646 h 227"/>
              <a:gd name="T4" fmla="*/ 2147483646 w 636"/>
              <a:gd name="T5" fmla="*/ 0 h 227"/>
              <a:gd name="T6" fmla="*/ 2147483646 w 636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636"/>
              <a:gd name="T13" fmla="*/ 0 h 227"/>
              <a:gd name="T14" fmla="*/ 636 w 636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6" h="227">
                <a:moveTo>
                  <a:pt x="0" y="227"/>
                </a:moveTo>
                <a:lnTo>
                  <a:pt x="409" y="227"/>
                </a:lnTo>
                <a:lnTo>
                  <a:pt x="409" y="0"/>
                </a:lnTo>
                <a:lnTo>
                  <a:pt x="636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8" name="Freeform 38"/>
          <p:cNvSpPr/>
          <p:nvPr/>
        </p:nvSpPr>
        <p:spPr bwMode="auto">
          <a:xfrm>
            <a:off x="3143250" y="5157788"/>
            <a:ext cx="4176713" cy="503237"/>
          </a:xfrm>
          <a:custGeom>
            <a:avLst/>
            <a:gdLst>
              <a:gd name="T0" fmla="*/ 0 w 2631"/>
              <a:gd name="T1" fmla="*/ 0 h 317"/>
              <a:gd name="T2" fmla="*/ 2147483646 w 2631"/>
              <a:gd name="T3" fmla="*/ 0 h 317"/>
              <a:gd name="T4" fmla="*/ 2147483646 w 2631"/>
              <a:gd name="T5" fmla="*/ 2147483646 h 317"/>
              <a:gd name="T6" fmla="*/ 2147483646 w 2631"/>
              <a:gd name="T7" fmla="*/ 2147483646 h 317"/>
              <a:gd name="T8" fmla="*/ 0 60000 65536"/>
              <a:gd name="T9" fmla="*/ 0 60000 65536"/>
              <a:gd name="T10" fmla="*/ 0 60000 65536"/>
              <a:gd name="T11" fmla="*/ 0 60000 65536"/>
              <a:gd name="T12" fmla="*/ 0 w 2631"/>
              <a:gd name="T13" fmla="*/ 0 h 317"/>
              <a:gd name="T14" fmla="*/ 2631 w 2631"/>
              <a:gd name="T15" fmla="*/ 317 h 3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31" h="317">
                <a:moveTo>
                  <a:pt x="0" y="0"/>
                </a:moveTo>
                <a:lnTo>
                  <a:pt x="2268" y="0"/>
                </a:lnTo>
                <a:lnTo>
                  <a:pt x="2268" y="317"/>
                </a:lnTo>
                <a:lnTo>
                  <a:pt x="2631" y="31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9" name="Text Box 39"/>
          <p:cNvSpPr txBox="1">
            <a:spLocks noChangeArrowheads="1"/>
          </p:cNvSpPr>
          <p:nvPr/>
        </p:nvSpPr>
        <p:spPr bwMode="auto">
          <a:xfrm>
            <a:off x="9580563" y="3123883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52EFC"/>
                </a:solidFill>
                <a:latin typeface="Arial" panose="020B0604020202020204" pitchFamily="34" charset="0"/>
              </a:rPr>
              <a:t>3</a:t>
            </a:r>
            <a:endParaRPr lang="en-US" altLang="zh-CN" sz="20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107560" name="Freeform 40"/>
          <p:cNvSpPr/>
          <p:nvPr/>
        </p:nvSpPr>
        <p:spPr bwMode="auto">
          <a:xfrm>
            <a:off x="3000375" y="5589588"/>
            <a:ext cx="4321175" cy="360362"/>
          </a:xfrm>
          <a:custGeom>
            <a:avLst/>
            <a:gdLst>
              <a:gd name="T0" fmla="*/ 0 w 636"/>
              <a:gd name="T1" fmla="*/ 2147483646 h 227"/>
              <a:gd name="T2" fmla="*/ 2147483646 w 636"/>
              <a:gd name="T3" fmla="*/ 2147483646 h 227"/>
              <a:gd name="T4" fmla="*/ 2147483646 w 636"/>
              <a:gd name="T5" fmla="*/ 0 h 227"/>
              <a:gd name="T6" fmla="*/ 2147483646 w 636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636"/>
              <a:gd name="T13" fmla="*/ 0 h 227"/>
              <a:gd name="T14" fmla="*/ 636 w 636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6" h="227">
                <a:moveTo>
                  <a:pt x="0" y="227"/>
                </a:moveTo>
                <a:lnTo>
                  <a:pt x="409" y="227"/>
                </a:lnTo>
                <a:lnTo>
                  <a:pt x="409" y="0"/>
                </a:lnTo>
                <a:lnTo>
                  <a:pt x="636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61" name="Text Box 41"/>
          <p:cNvSpPr txBox="1">
            <a:spLocks noChangeArrowheads="1"/>
          </p:cNvSpPr>
          <p:nvPr/>
        </p:nvSpPr>
        <p:spPr bwMode="auto">
          <a:xfrm>
            <a:off x="2640013" y="4941888"/>
            <a:ext cx="86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NULL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107562" name="Text Box 42"/>
          <p:cNvSpPr txBox="1">
            <a:spLocks noChangeArrowheads="1"/>
          </p:cNvSpPr>
          <p:nvPr/>
        </p:nvSpPr>
        <p:spPr bwMode="auto">
          <a:xfrm>
            <a:off x="9409113" y="4724400"/>
            <a:ext cx="86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NULL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6" name="灯片编号占位符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D0B0ADB-05D7-492A-A059-A9526B82A375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7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7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0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07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07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7" dur="500"/>
                                        <p:tgtEl>
                                          <p:spTgt spid="1075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0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075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107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0" dur="5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107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1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4" dur="500"/>
                                        <p:tgtEl>
                                          <p:spTgt spid="107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1075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1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1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5" dur="500"/>
                                        <p:tgtEl>
                                          <p:spTgt spid="107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1" dur="500"/>
                                        <p:tgtEl>
                                          <p:spTgt spid="10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8" dur="500"/>
                                        <p:tgtEl>
                                          <p:spTgt spid="107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1" dur="500"/>
                                        <p:tgtEl>
                                          <p:spTgt spid="107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0" dur="500"/>
                                        <p:tgtEl>
                                          <p:spTgt spid="1075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4" dur="500"/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8" dur="500"/>
                                        <p:tgtEl>
                                          <p:spTgt spid="10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6" dur="500"/>
                                        <p:tgtEl>
                                          <p:spTgt spid="10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0" dur="500"/>
                                        <p:tgtEl>
                                          <p:spTgt spid="1075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6" dur="500"/>
                                        <p:tgtEl>
                                          <p:spTgt spid="107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0" dur="500"/>
                                        <p:tgtEl>
                                          <p:spTgt spid="107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6" dur="500"/>
                                        <p:tgtEl>
                                          <p:spTgt spid="10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3" dur="500"/>
                                        <p:tgtEl>
                                          <p:spTgt spid="107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47" grpId="0" build="allAtOnce"/>
      <p:bldP spid="107556" grpId="0"/>
      <p:bldP spid="107559" grpId="0"/>
      <p:bldP spid="107561" grpId="0"/>
      <p:bldP spid="107561" grpId="1"/>
      <p:bldP spid="107561" grpId="2"/>
      <p:bldP spid="107562" grpId="0"/>
      <p:bldP spid="107562" grpId="1"/>
      <p:bldP spid="107562" grpId="2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31763" y="0"/>
            <a:ext cx="8424862" cy="6964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000" b="1">
                <a:effectLst/>
                <a:ea typeface="黑体" panose="02010609060101010101" pitchFamily="49" charset="-122"/>
              </a:rPr>
              <a:t>设有如下说明</a:t>
            </a:r>
            <a:r>
              <a:rPr lang="en-US" altLang="zh-CN" sz="2000" b="1">
                <a:effectLst/>
                <a:ea typeface="黑体" panose="02010609060101010101" pitchFamily="49" charset="-122"/>
              </a:rPr>
              <a:t>:</a:t>
            </a:r>
            <a:endParaRPr lang="en-US" altLang="zh-CN" sz="2000" b="1"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effectLst/>
                <a:ea typeface="黑体" panose="02010609060101010101" pitchFamily="49" charset="-122"/>
              </a:rPr>
              <a:t>         typedef  ...  items ; </a:t>
            </a:r>
            <a:endParaRPr lang="en-US" altLang="zh-CN" b="1"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         typedef  </a:t>
            </a:r>
            <a:r>
              <a:rPr lang="en-US" altLang="zh-CN" b="1">
                <a:effectLst/>
                <a:ea typeface="黑体" panose="02010609060101010101" pitchFamily="49" charset="-122"/>
              </a:rPr>
              <a:t>struct  queue { </a:t>
            </a:r>
            <a:endParaRPr lang="en-US" altLang="zh-CN" b="1"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effectLst/>
                <a:ea typeface="黑体" panose="02010609060101010101" pitchFamily="49" charset="-122"/>
              </a:rPr>
              <a:t>             items data ; </a:t>
            </a:r>
            <a:endParaRPr lang="en-US" altLang="zh-CN" b="1"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effectLst/>
                <a:ea typeface="黑体" panose="02010609060101010101" pitchFamily="49" charset="-122"/>
              </a:rPr>
              <a:t>             struct  queue  *next ;</a:t>
            </a:r>
            <a:endParaRPr lang="en-US" altLang="zh-CN" b="1"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effectLst/>
                <a:ea typeface="黑体" panose="02010609060101010101" pitchFamily="49" charset="-122"/>
              </a:rPr>
              <a:t>         </a:t>
            </a: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} queuetype ;</a:t>
            </a:r>
            <a:endParaRPr lang="en-US" altLang="zh-CN" b="1">
              <a:solidFill>
                <a:srgbClr val="FFFF00"/>
              </a:solidFill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         typedef  </a:t>
            </a:r>
            <a:r>
              <a:rPr lang="en-US" altLang="zh-CN" b="1">
                <a:effectLst/>
                <a:ea typeface="黑体" panose="02010609060101010101" pitchFamily="49" charset="-122"/>
              </a:rPr>
              <a:t>queuetype  * </a:t>
            </a: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p</a:t>
            </a:r>
            <a:r>
              <a:rPr lang="en-US" altLang="zh-CN" b="1">
                <a:effectLst/>
                <a:ea typeface="黑体" panose="02010609060101010101" pitchFamily="49" charset="-122"/>
              </a:rPr>
              <a:t>queuetype</a:t>
            </a: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 ;</a:t>
            </a:r>
            <a:endParaRPr lang="en-US" altLang="zh-CN" b="1">
              <a:solidFill>
                <a:srgbClr val="FFFF00"/>
              </a:solidFill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effectLst/>
                <a:ea typeface="黑体" panose="02010609060101010101" pitchFamily="49" charset="-122"/>
              </a:rPr>
              <a:t>         </a:t>
            </a: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p</a:t>
            </a:r>
            <a:r>
              <a:rPr lang="en-US" altLang="zh-CN" b="1">
                <a:effectLst/>
                <a:ea typeface="黑体" panose="02010609060101010101" pitchFamily="49" charset="-122"/>
              </a:rPr>
              <a:t>queuetype  front,rear ;</a:t>
            </a:r>
            <a:endParaRPr lang="en-US" altLang="zh-CN" b="1"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52EFC"/>
                </a:solidFill>
                <a:effectLst/>
                <a:ea typeface="黑体" panose="02010609060101010101" pitchFamily="49" charset="-122"/>
              </a:rPr>
              <a:t>操作：</a:t>
            </a:r>
            <a:endParaRPr lang="zh-CN" altLang="en-US" sz="2800" b="1">
              <a:solidFill>
                <a:srgbClr val="F52EFC"/>
              </a:solidFill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F52EFC"/>
                </a:solidFill>
                <a:effectLst/>
                <a:ea typeface="黑体" panose="02010609060101010101" pitchFamily="49" charset="-122"/>
              </a:rPr>
              <a:t>1.</a:t>
            </a:r>
            <a:r>
              <a:rPr lang="zh-CN" altLang="en-US" sz="2800" b="1">
                <a:solidFill>
                  <a:srgbClr val="F52EFC"/>
                </a:solidFill>
                <a:effectLst/>
                <a:ea typeface="黑体" panose="02010609060101010101" pitchFamily="49" charset="-122"/>
              </a:rPr>
              <a:t>初始化队列          </a:t>
            </a:r>
            <a:r>
              <a:rPr lang="zh-CN" altLang="en-US" sz="2800" b="1">
                <a:solidFill>
                  <a:srgbClr val="FF0000"/>
                </a:solidFill>
                <a:effectLst/>
                <a:ea typeface="黑体" panose="02010609060101010101" pitchFamily="49" charset="-122"/>
              </a:rPr>
              <a:t>  </a:t>
            </a:r>
            <a:endParaRPr lang="en-US" altLang="zh-CN" sz="2800" b="1">
              <a:solidFill>
                <a:srgbClr val="FF0000"/>
              </a:solidFill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effectLst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effectLst/>
                <a:ea typeface="黑体" panose="02010609060101010101" pitchFamily="49" charset="-122"/>
              </a:rPr>
              <a:t>void </a:t>
            </a:r>
            <a:r>
              <a:rPr lang="en-US" altLang="zh-CN" sz="2800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queueinitial</a:t>
            </a:r>
            <a:r>
              <a:rPr lang="en-US" altLang="zh-CN" sz="2800" b="1">
                <a:effectLst/>
                <a:ea typeface="黑体" panose="02010609060101010101" pitchFamily="49" charset="-122"/>
              </a:rPr>
              <a:t>( ) {</a:t>
            </a:r>
            <a:endParaRPr lang="en-US" altLang="zh-CN" sz="2800" b="1"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effectLst/>
                <a:ea typeface="黑体" panose="02010609060101010101" pitchFamily="49" charset="-122"/>
              </a:rPr>
              <a:t>                   front  =  NULL ;</a:t>
            </a:r>
            <a:endParaRPr lang="en-US" altLang="zh-CN" sz="2800" b="1"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effectLst/>
                <a:ea typeface="黑体" panose="02010609060101010101" pitchFamily="49" charset="-122"/>
              </a:rPr>
              <a:t>                   rear  =  NULL ;</a:t>
            </a:r>
            <a:endParaRPr lang="en-US" altLang="zh-CN" sz="2800" b="1"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effectLst/>
                <a:ea typeface="黑体" panose="02010609060101010101" pitchFamily="49" charset="-122"/>
              </a:rPr>
              <a:t>  }</a:t>
            </a:r>
            <a:endParaRPr lang="en-US" altLang="zh-CN" sz="2800" b="1">
              <a:effectLst/>
              <a:ea typeface="黑体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1E9DB0B-8F08-4B42-9D35-8EF3BB1F1B03}" type="slidenum">
              <a:rPr lang="zh-CN" altLang="en-US" b="0" smtClean="0"/>
            </a:fld>
            <a:endParaRPr lang="en-US" altLang="zh-CN" b="0"/>
          </a:p>
        </p:txBody>
      </p:sp>
      <p:grpSp>
        <p:nvGrpSpPr>
          <p:cNvPr id="49157" name="Group 23"/>
          <p:cNvGrpSpPr/>
          <p:nvPr/>
        </p:nvGrpSpPr>
        <p:grpSpPr bwMode="auto">
          <a:xfrm>
            <a:off x="1212850" y="871538"/>
            <a:ext cx="4895850" cy="1843087"/>
            <a:chOff x="543" y="1253"/>
            <a:chExt cx="2595" cy="1489"/>
          </a:xfrm>
        </p:grpSpPr>
        <p:sp>
          <p:nvSpPr>
            <p:cNvPr id="49158" name="Line 15"/>
            <p:cNvSpPr>
              <a:spLocks noChangeShapeType="1"/>
            </p:cNvSpPr>
            <p:nvPr/>
          </p:nvSpPr>
          <p:spPr bwMode="auto">
            <a:xfrm flipV="1">
              <a:off x="1573" y="1253"/>
              <a:ext cx="1565" cy="7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59" name="Line 16"/>
            <p:cNvSpPr>
              <a:spLocks noChangeShapeType="1"/>
            </p:cNvSpPr>
            <p:nvPr/>
          </p:nvSpPr>
          <p:spPr bwMode="auto">
            <a:xfrm>
              <a:off x="1573" y="1260"/>
              <a:ext cx="0" cy="317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0" name="Line 17"/>
            <p:cNvSpPr>
              <a:spLocks noChangeShapeType="1"/>
            </p:cNvSpPr>
            <p:nvPr/>
          </p:nvSpPr>
          <p:spPr bwMode="auto">
            <a:xfrm flipH="1">
              <a:off x="1066" y="1558"/>
              <a:ext cx="507" cy="12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1" name="Line 18"/>
            <p:cNvSpPr>
              <a:spLocks noChangeShapeType="1"/>
            </p:cNvSpPr>
            <p:nvPr/>
          </p:nvSpPr>
          <p:spPr bwMode="auto">
            <a:xfrm flipH="1">
              <a:off x="543" y="1570"/>
              <a:ext cx="523" cy="1172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2" name="Line 19"/>
            <p:cNvSpPr>
              <a:spLocks noChangeShapeType="1"/>
            </p:cNvSpPr>
            <p:nvPr/>
          </p:nvSpPr>
          <p:spPr bwMode="auto">
            <a:xfrm>
              <a:off x="543" y="2742"/>
              <a:ext cx="363" cy="0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3" name="Line 20"/>
            <p:cNvSpPr>
              <a:spLocks noChangeShapeType="1"/>
            </p:cNvSpPr>
            <p:nvPr/>
          </p:nvSpPr>
          <p:spPr bwMode="auto">
            <a:xfrm flipV="1">
              <a:off x="924" y="2379"/>
              <a:ext cx="0" cy="363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4" name="Line 21"/>
            <p:cNvSpPr>
              <a:spLocks noChangeShapeType="1"/>
            </p:cNvSpPr>
            <p:nvPr/>
          </p:nvSpPr>
          <p:spPr bwMode="auto">
            <a:xfrm flipV="1">
              <a:off x="1020" y="2386"/>
              <a:ext cx="2118" cy="8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5" name="Line 22"/>
            <p:cNvSpPr>
              <a:spLocks noChangeShapeType="1"/>
            </p:cNvSpPr>
            <p:nvPr/>
          </p:nvSpPr>
          <p:spPr bwMode="auto">
            <a:xfrm>
              <a:off x="3138" y="1347"/>
              <a:ext cx="0" cy="952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6350"/>
            <a:ext cx="9966325" cy="6281738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2.</a:t>
            </a:r>
            <a:r>
              <a:rPr lang="zh-CN" altLang="en-US" sz="2800" b="1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入队</a:t>
            </a:r>
            <a:endParaRPr lang="en-US" altLang="zh-CN" sz="2800" b="1" dirty="0">
              <a:solidFill>
                <a:srgbClr val="F52EFC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void </a:t>
            </a:r>
            <a:r>
              <a:rPr lang="en-US" altLang="zh-CN" sz="2800" b="1" dirty="0" err="1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inqueue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(item x) {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</a:t>
            </a:r>
            <a:r>
              <a:rPr lang="en-US" altLang="zh-CN" b="1" dirty="0" err="1">
                <a:effectLst/>
                <a:latin typeface="Arial" panose="020B0604020202020204" pitchFamily="34" charset="0"/>
              </a:rPr>
              <a:t>pqueuetype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  p;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p = (</a:t>
            </a:r>
            <a:r>
              <a:rPr lang="en-US" altLang="zh-CN" b="1" dirty="0" err="1">
                <a:effectLst/>
                <a:latin typeface="Arial" panose="020B0604020202020204" pitchFamily="34" charset="0"/>
              </a:rPr>
              <a:t>pqueuetype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)malloc(</a:t>
            </a:r>
            <a:r>
              <a:rPr lang="en-US" altLang="zh-CN" b="1" dirty="0" err="1">
                <a:effectLst/>
                <a:latin typeface="Arial" panose="020B0604020202020204" pitchFamily="34" charset="0"/>
              </a:rPr>
              <a:t>sizeof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(</a:t>
            </a:r>
            <a:r>
              <a:rPr lang="en-US" altLang="zh-CN" b="1" dirty="0" err="1">
                <a:effectLst/>
                <a:latin typeface="Arial" panose="020B0604020202020204" pitchFamily="34" charset="0"/>
              </a:rPr>
              <a:t>queuetype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));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p-&gt; data  =  x 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p-&gt; next  =  NULL 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if ( rear==NULL )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 { 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队空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修正表头和表尾指针</a:t>
            </a:r>
            <a:endParaRPr lang="en-US" altLang="zh-CN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       rear  =  p 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       front  =  p 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} else { //</a:t>
            </a:r>
            <a:r>
              <a:rPr lang="zh-CN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队不空</a:t>
            </a: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       </a:t>
            </a:r>
            <a:endParaRPr lang="en-US" altLang="zh-CN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		      rear-&gt; next  =  p ; 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加入链尾</a:t>
            </a:r>
            <a:endParaRPr lang="en-US" altLang="zh-CN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       rear  =  p ; 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修正表尾指针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rear</a:t>
            </a:r>
            <a:endParaRPr lang="en-US" altLang="zh-CN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}</a:t>
            </a:r>
            <a:endParaRPr lang="en-US" altLang="zh-CN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}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</p:txBody>
      </p:sp>
      <p:grpSp>
        <p:nvGrpSpPr>
          <p:cNvPr id="51203" name="Group 3"/>
          <p:cNvGrpSpPr/>
          <p:nvPr/>
        </p:nvGrpSpPr>
        <p:grpSpPr bwMode="auto">
          <a:xfrm>
            <a:off x="2711450" y="5200650"/>
            <a:ext cx="7200900" cy="1657350"/>
            <a:chOff x="476" y="3067"/>
            <a:chExt cx="4536" cy="1044"/>
          </a:xfrm>
        </p:grpSpPr>
        <p:sp>
          <p:nvSpPr>
            <p:cNvPr id="51207" name="Rectangle 4"/>
            <p:cNvSpPr>
              <a:spLocks noChangeArrowheads="1"/>
            </p:cNvSpPr>
            <p:nvPr/>
          </p:nvSpPr>
          <p:spPr bwMode="auto">
            <a:xfrm flipH="1">
              <a:off x="4150" y="3067"/>
              <a:ext cx="46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rear: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1208" name="Rectangle 5"/>
            <p:cNvSpPr>
              <a:spLocks noChangeArrowheads="1"/>
            </p:cNvSpPr>
            <p:nvPr/>
          </p:nvSpPr>
          <p:spPr bwMode="auto">
            <a:xfrm flipH="1">
              <a:off x="4562" y="3161"/>
              <a:ext cx="450" cy="21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1209" name="Freeform 6"/>
            <p:cNvSpPr/>
            <p:nvPr/>
          </p:nvSpPr>
          <p:spPr bwMode="auto">
            <a:xfrm flipH="1">
              <a:off x="4562" y="3285"/>
              <a:ext cx="231" cy="25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32"/>
                  </a:lnTo>
                  <a:lnTo>
                    <a:pt x="19945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0" name="Rectangle 7"/>
            <p:cNvSpPr>
              <a:spLocks noChangeArrowheads="1"/>
            </p:cNvSpPr>
            <p:nvPr/>
          </p:nvSpPr>
          <p:spPr bwMode="auto">
            <a:xfrm flipH="1">
              <a:off x="476" y="3173"/>
              <a:ext cx="4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front: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1211" name="Rectangle 8"/>
            <p:cNvSpPr>
              <a:spLocks noChangeArrowheads="1"/>
            </p:cNvSpPr>
            <p:nvPr/>
          </p:nvSpPr>
          <p:spPr bwMode="auto">
            <a:xfrm flipH="1">
              <a:off x="923" y="3225"/>
              <a:ext cx="425" cy="1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51212" name="Group 9"/>
            <p:cNvGrpSpPr/>
            <p:nvPr/>
          </p:nvGrpSpPr>
          <p:grpSpPr bwMode="auto">
            <a:xfrm flipH="1">
              <a:off x="4042" y="3468"/>
              <a:ext cx="463" cy="446"/>
              <a:chOff x="0" y="0"/>
              <a:chExt cx="20000" cy="20000"/>
            </a:xfrm>
          </p:grpSpPr>
          <p:sp>
            <p:nvSpPr>
              <p:cNvPr id="51229" name="Rectangle 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1230" name="Line 11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51213" name="Group 12"/>
            <p:cNvGrpSpPr/>
            <p:nvPr/>
          </p:nvGrpSpPr>
          <p:grpSpPr bwMode="auto">
            <a:xfrm flipH="1">
              <a:off x="3337" y="3464"/>
              <a:ext cx="462" cy="461"/>
              <a:chOff x="0" y="0"/>
              <a:chExt cx="20000" cy="20000"/>
            </a:xfrm>
          </p:grpSpPr>
          <p:sp>
            <p:nvSpPr>
              <p:cNvPr id="51227" name="Rectangle 1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1228" name="Line 14"/>
              <p:cNvSpPr>
                <a:spLocks noChangeShapeType="1"/>
              </p:cNvSpPr>
              <p:nvPr/>
            </p:nvSpPr>
            <p:spPr bwMode="auto">
              <a:xfrm>
                <a:off x="557" y="1380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51214" name="Freeform 15"/>
            <p:cNvSpPr/>
            <p:nvPr/>
          </p:nvSpPr>
          <p:spPr bwMode="auto">
            <a:xfrm flipH="1">
              <a:off x="3592" y="3533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5" name="Freeform 16"/>
            <p:cNvSpPr/>
            <p:nvPr/>
          </p:nvSpPr>
          <p:spPr bwMode="auto">
            <a:xfrm flipH="1">
              <a:off x="2886" y="3533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6" name="Freeform 17"/>
            <p:cNvSpPr/>
            <p:nvPr/>
          </p:nvSpPr>
          <p:spPr bwMode="auto">
            <a:xfrm flipH="1">
              <a:off x="2309" y="3533"/>
              <a:ext cx="424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1217" name="Group 18"/>
            <p:cNvGrpSpPr/>
            <p:nvPr/>
          </p:nvGrpSpPr>
          <p:grpSpPr bwMode="auto">
            <a:xfrm flipH="1">
              <a:off x="2066" y="3480"/>
              <a:ext cx="462" cy="455"/>
              <a:chOff x="0" y="0"/>
              <a:chExt cx="20000" cy="20000"/>
            </a:xfrm>
          </p:grpSpPr>
          <p:sp>
            <p:nvSpPr>
              <p:cNvPr id="51225" name="Rectangle 1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1226" name="Line 20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51218" name="Group 21"/>
            <p:cNvGrpSpPr/>
            <p:nvPr/>
          </p:nvGrpSpPr>
          <p:grpSpPr bwMode="auto">
            <a:xfrm flipH="1">
              <a:off x="1360" y="3480"/>
              <a:ext cx="462" cy="455"/>
              <a:chOff x="0" y="0"/>
              <a:chExt cx="20000" cy="20000"/>
            </a:xfrm>
          </p:grpSpPr>
          <p:sp>
            <p:nvSpPr>
              <p:cNvPr id="51223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1224" name="Line 2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51219" name="Freeform 24"/>
            <p:cNvSpPr/>
            <p:nvPr/>
          </p:nvSpPr>
          <p:spPr bwMode="auto">
            <a:xfrm flipH="1">
              <a:off x="1617" y="3533"/>
              <a:ext cx="423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0" name="Rectangle 25"/>
            <p:cNvSpPr>
              <a:spLocks noChangeArrowheads="1"/>
            </p:cNvSpPr>
            <p:nvPr/>
          </p:nvSpPr>
          <p:spPr bwMode="auto">
            <a:xfrm flipH="1">
              <a:off x="2669" y="3479"/>
              <a:ext cx="57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...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sp>
          <p:nvSpPr>
            <p:cNvPr id="51221" name="Freeform 26"/>
            <p:cNvSpPr/>
            <p:nvPr/>
          </p:nvSpPr>
          <p:spPr bwMode="auto">
            <a:xfrm flipH="1">
              <a:off x="1115" y="3331"/>
              <a:ext cx="233" cy="25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2" name="Text Box 27"/>
            <p:cNvSpPr txBox="1">
              <a:spLocks noChangeArrowheads="1"/>
            </p:cNvSpPr>
            <p:nvPr/>
          </p:nvSpPr>
          <p:spPr bwMode="auto">
            <a:xfrm>
              <a:off x="4096" y="3540"/>
              <a:ext cx="402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</p:grp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C0BAA76-4A72-4258-BF9A-EF8E5FD9746D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1206" name="TextBox 1"/>
          <p:cNvSpPr txBox="1">
            <a:spLocks noChangeArrowheads="1"/>
          </p:cNvSpPr>
          <p:nvPr/>
        </p:nvSpPr>
        <p:spPr bwMode="auto">
          <a:xfrm>
            <a:off x="7354888" y="-6350"/>
            <a:ext cx="4837112" cy="9540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" panose="020B0604020202020204" pitchFamily="34" charset="0"/>
              </a:rPr>
              <a:t>算法同</a:t>
            </a:r>
            <a:r>
              <a:rPr lang="zh-CN" altLang="en-US" sz="2800" dirty="0">
                <a:solidFill>
                  <a:srgbClr val="F52EFC"/>
                </a:solidFill>
                <a:latin typeface="Arial" panose="020B0604020202020204" pitchFamily="34" charset="0"/>
              </a:rPr>
              <a:t>创建链表（入队算法）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" panose="020B0604020202020204" pitchFamily="34" charset="0"/>
              </a:rPr>
              <a:t>演示见本章前面</a:t>
            </a:r>
            <a:r>
              <a:rPr lang="en-US" altLang="zh-CN" sz="2800">
                <a:latin typeface="Arial" panose="020B0604020202020204" pitchFamily="34" charset="0"/>
              </a:rPr>
              <a:t>PPT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2"/>
          <p:cNvSpPr txBox="1">
            <a:spLocks noChangeArrowheads="1"/>
          </p:cNvSpPr>
          <p:nvPr/>
        </p:nvSpPr>
        <p:spPr bwMode="auto">
          <a:xfrm>
            <a:off x="300038" y="31750"/>
            <a:ext cx="7235825" cy="60975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3.</a:t>
            </a:r>
            <a:r>
              <a:rPr lang="zh-CN" altLang="en-US" sz="2800" kern="0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出队</a:t>
            </a:r>
            <a:endParaRPr lang="en-US" altLang="zh-CN" sz="2800" kern="0" dirty="0">
              <a:solidFill>
                <a:srgbClr val="F52EFC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void  </a:t>
            </a:r>
            <a:r>
              <a:rPr lang="en-US" altLang="zh-CN" sz="2800" kern="0" dirty="0" err="1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outqueue</a:t>
            </a:r>
            <a:r>
              <a:rPr lang="en-US" altLang="zh-CN" sz="2800" kern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( item *x ) {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     </a:t>
            </a:r>
            <a:r>
              <a:rPr lang="en-US" altLang="zh-CN" sz="2800" kern="0" dirty="0" err="1">
                <a:effectLst/>
                <a:latin typeface="Arial" panose="020B0604020202020204" pitchFamily="34" charset="0"/>
              </a:rPr>
              <a:t>pqueuetype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 p;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     if ( front==NULL )    </a:t>
            </a:r>
            <a:r>
              <a:rPr lang="en-US" altLang="zh-CN" sz="2800" kern="0" dirty="0" err="1">
                <a:effectLst/>
                <a:latin typeface="Arial" panose="020B0604020202020204" pitchFamily="34" charset="0"/>
              </a:rPr>
              <a:t>printf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( </a:t>
            </a:r>
            <a:r>
              <a:rPr lang="en-US" altLang="zh-CN" sz="2800">
                <a:latin typeface="Arial" panose="020B0604020202020204" pitchFamily="34" charset="0"/>
                <a:sym typeface="+mn-ea"/>
              </a:rPr>
              <a:t>"</a:t>
            </a:r>
            <a:r>
              <a:rPr lang="zh-CN" altLang="en-US" sz="2800" kern="0" dirty="0">
                <a:effectLst/>
                <a:latin typeface="Arial" panose="020B0604020202020204" pitchFamily="34" charset="0"/>
              </a:rPr>
              <a:t>队空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\n</a:t>
            </a:r>
            <a:r>
              <a:rPr lang="en-US" altLang="zh-CN" sz="280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 );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     else {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          *x = front-&gt;data ;</a:t>
            </a:r>
            <a:endParaRPr lang="en-US" altLang="zh-CN" sz="2800" kern="0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        </a:t>
            </a:r>
            <a:r>
              <a:rPr lang="en-US" altLang="zh-CN" sz="2800" kern="0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p=front ;</a:t>
            </a:r>
            <a:endParaRPr lang="en-US" altLang="zh-CN" sz="2800" kern="0" dirty="0">
              <a:solidFill>
                <a:srgbClr val="F52EFC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           front = front-&gt; next;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       </a:t>
            </a:r>
            <a:r>
              <a:rPr lang="en-US" altLang="zh-CN" sz="2800" kern="0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free(p);</a:t>
            </a:r>
            <a:endParaRPr lang="en-US" altLang="zh-CN" sz="2800" kern="0" dirty="0">
              <a:solidFill>
                <a:srgbClr val="F52EFC"/>
              </a:solidFill>
              <a:effectLst/>
              <a:latin typeface="Arial" panose="020B0604020202020204" pitchFamily="34" charset="0"/>
            </a:endParaRPr>
          </a:p>
          <a:p>
            <a:pPr indent="457200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</a:t>
            </a:r>
            <a:r>
              <a:rPr lang="en-US" altLang="zh-CN" sz="2800" kern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sym typeface="+mn-ea"/>
              </a:rPr>
              <a:t>if ( front==NULL )</a:t>
            </a:r>
            <a:endParaRPr lang="en-US" altLang="zh-CN" sz="2800" kern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sym typeface="+mn-ea"/>
              </a:rPr>
              <a:t>                  rear  =  NULL ; </a:t>
            </a:r>
            <a:endParaRPr lang="en-US" altLang="zh-CN" sz="2800" kern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zh-CN" sz="2800" kern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effectLst/>
                <a:latin typeface="Arial" panose="020B0604020202020204" pitchFamily="34" charset="0"/>
              </a:rPr>
              <a:t>      }</a:t>
            </a:r>
            <a:endParaRPr lang="en-US" altLang="zh-CN" sz="20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effectLst/>
                <a:latin typeface="Arial" panose="020B0604020202020204" pitchFamily="34" charset="0"/>
              </a:rPr>
              <a:t>}</a:t>
            </a:r>
            <a:endParaRPr lang="en-US" altLang="zh-CN" sz="2000" kern="0" dirty="0"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4079875" y="5949950"/>
            <a:ext cx="946150" cy="720725"/>
            <a:chOff x="3855" y="283"/>
            <a:chExt cx="597" cy="346"/>
          </a:xfrm>
        </p:grpSpPr>
        <p:sp>
          <p:nvSpPr>
            <p:cNvPr id="53291" name="Rectangle 4"/>
            <p:cNvSpPr>
              <a:spLocks noChangeArrowheads="1"/>
            </p:cNvSpPr>
            <p:nvPr/>
          </p:nvSpPr>
          <p:spPr bwMode="auto">
            <a:xfrm flipH="1">
              <a:off x="3855" y="283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 1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 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92" name="Line 5"/>
            <p:cNvSpPr>
              <a:spLocks noChangeShapeType="1"/>
            </p:cNvSpPr>
            <p:nvPr/>
          </p:nvSpPr>
          <p:spPr bwMode="auto">
            <a:xfrm flipH="1">
              <a:off x="3878" y="482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27" name="Freeform 7"/>
          <p:cNvSpPr/>
          <p:nvPr/>
        </p:nvSpPr>
        <p:spPr bwMode="auto">
          <a:xfrm flipH="1">
            <a:off x="3324225" y="5626100"/>
            <a:ext cx="792163" cy="4318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58" y="0"/>
                </a:moveTo>
                <a:lnTo>
                  <a:pt x="19958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28" name="Freeform 8"/>
          <p:cNvSpPr/>
          <p:nvPr/>
        </p:nvSpPr>
        <p:spPr bwMode="auto">
          <a:xfrm flipH="1">
            <a:off x="4621213" y="6273800"/>
            <a:ext cx="1223962" cy="325438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64" y="19950"/>
                </a:moveTo>
                <a:lnTo>
                  <a:pt x="6667" y="19950"/>
                </a:lnTo>
                <a:lnTo>
                  <a:pt x="666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3255" name="Group 12"/>
          <p:cNvGrpSpPr/>
          <p:nvPr/>
        </p:nvGrpSpPr>
        <p:grpSpPr bwMode="auto">
          <a:xfrm>
            <a:off x="8653463" y="5121275"/>
            <a:ext cx="1944687" cy="504825"/>
            <a:chOff x="0" y="0"/>
            <a:chExt cx="19999" cy="20000"/>
          </a:xfrm>
        </p:grpSpPr>
        <p:sp>
          <p:nvSpPr>
            <p:cNvPr id="53287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11619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rear: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88" name="Rectangle 14"/>
            <p:cNvSpPr>
              <a:spLocks noChangeArrowheads="1"/>
            </p:cNvSpPr>
            <p:nvPr/>
          </p:nvSpPr>
          <p:spPr bwMode="auto">
            <a:xfrm>
              <a:off x="8701" y="0"/>
              <a:ext cx="11298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53256" name="Group 15"/>
          <p:cNvGrpSpPr/>
          <p:nvPr/>
        </p:nvGrpSpPr>
        <p:grpSpPr bwMode="auto">
          <a:xfrm>
            <a:off x="1955800" y="5410200"/>
            <a:ext cx="1727200" cy="431800"/>
            <a:chOff x="0" y="0"/>
            <a:chExt cx="20000" cy="20000"/>
          </a:xfrm>
        </p:grpSpPr>
        <p:sp>
          <p:nvSpPr>
            <p:cNvPr id="53285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10915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front: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86" name="Rectangle 17"/>
            <p:cNvSpPr>
              <a:spLocks noChangeArrowheads="1"/>
            </p:cNvSpPr>
            <p:nvPr/>
          </p:nvSpPr>
          <p:spPr bwMode="auto">
            <a:xfrm>
              <a:off x="9992" y="1377"/>
              <a:ext cx="10008" cy="18083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18"/>
          <p:cNvGrpSpPr/>
          <p:nvPr/>
        </p:nvGrpSpPr>
        <p:grpSpPr bwMode="auto">
          <a:xfrm>
            <a:off x="5803900" y="5949950"/>
            <a:ext cx="904875" cy="719138"/>
            <a:chOff x="3878" y="1043"/>
            <a:chExt cx="591" cy="346"/>
          </a:xfrm>
        </p:grpSpPr>
        <p:sp>
          <p:nvSpPr>
            <p:cNvPr id="53283" name="Rectangle 19"/>
            <p:cNvSpPr>
              <a:spLocks noChangeArrowheads="1"/>
            </p:cNvSpPr>
            <p:nvPr/>
          </p:nvSpPr>
          <p:spPr bwMode="auto">
            <a:xfrm flipH="1">
              <a:off x="3878" y="1043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2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84" name="Line 20"/>
            <p:cNvSpPr>
              <a:spLocks noChangeShapeType="1"/>
            </p:cNvSpPr>
            <p:nvPr/>
          </p:nvSpPr>
          <p:spPr bwMode="auto">
            <a:xfrm flipH="1">
              <a:off x="3878" y="1225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22"/>
          <p:cNvGrpSpPr/>
          <p:nvPr/>
        </p:nvGrpSpPr>
        <p:grpSpPr bwMode="auto">
          <a:xfrm>
            <a:off x="7500938" y="5948363"/>
            <a:ext cx="908050" cy="790575"/>
            <a:chOff x="3878" y="284"/>
            <a:chExt cx="591" cy="346"/>
          </a:xfrm>
        </p:grpSpPr>
        <p:sp>
          <p:nvSpPr>
            <p:cNvPr id="53281" name="Rectangle 23"/>
            <p:cNvSpPr>
              <a:spLocks noChangeArrowheads="1"/>
            </p:cNvSpPr>
            <p:nvPr/>
          </p:nvSpPr>
          <p:spPr bwMode="auto">
            <a:xfrm flipH="1">
              <a:off x="3878" y="284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 3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  ·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82" name="Line 24"/>
            <p:cNvSpPr>
              <a:spLocks noChangeShapeType="1"/>
            </p:cNvSpPr>
            <p:nvPr/>
          </p:nvSpPr>
          <p:spPr bwMode="auto">
            <a:xfrm flipH="1">
              <a:off x="3878" y="474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45" name="Freeform 25"/>
          <p:cNvSpPr/>
          <p:nvPr/>
        </p:nvSpPr>
        <p:spPr bwMode="auto">
          <a:xfrm flipH="1">
            <a:off x="8364538" y="5553075"/>
            <a:ext cx="1728787" cy="576263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0" y="0"/>
                </a:moveTo>
                <a:lnTo>
                  <a:pt x="0" y="19934"/>
                </a:lnTo>
                <a:lnTo>
                  <a:pt x="19945" y="19934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46" name="Freeform 26"/>
          <p:cNvSpPr/>
          <p:nvPr/>
        </p:nvSpPr>
        <p:spPr bwMode="auto">
          <a:xfrm flipH="1">
            <a:off x="6205538" y="6202363"/>
            <a:ext cx="1295400" cy="358775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64" y="19950"/>
                </a:moveTo>
                <a:lnTo>
                  <a:pt x="6667" y="19950"/>
                </a:lnTo>
                <a:lnTo>
                  <a:pt x="666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灯片编号占位符 45"/>
          <p:cNvSpPr>
            <a:spLocks noGrp="1"/>
          </p:cNvSpPr>
          <p:nvPr>
            <p:ph type="sldNum" sz="quarter" idx="12"/>
          </p:nvPr>
        </p:nvSpPr>
        <p:spPr>
          <a:xfrm>
            <a:off x="10972800" y="6437313"/>
            <a:ext cx="549275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78C69D7-4EAF-485A-9662-146B8661D2B0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371600" y="3930015"/>
            <a:ext cx="3500755" cy="875665"/>
          </a:xfrm>
          <a:prstGeom prst="rect">
            <a:avLst/>
          </a:prstGeom>
          <a:noFill/>
          <a:ln w="34925" algn="ctr">
            <a:solidFill>
              <a:srgbClr val="F52EFC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FE889B1-B970-46A8-9374-81AAE7F028AF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05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47800" y="1066800"/>
            <a:ext cx="8395335" cy="5291455"/>
          </a:xfrm>
        </p:spPr>
        <p:txBody>
          <a:bodyPr/>
          <a:lstStyle/>
          <a:p>
            <a:pPr eaLnBrk="1" hangingPunct="1"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3600" b="1" dirty="0"/>
              <a:t>动态数据结构概念</a:t>
            </a:r>
            <a:endParaRPr lang="zh-CN" altLang="en-US" sz="3600" b="1" dirty="0"/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600" b="1" dirty="0"/>
              <a:t>单向链表操作（熟练掌握）</a:t>
            </a:r>
            <a:endParaRPr lang="en-US" altLang="zh-CN" sz="3600" b="1" dirty="0"/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/>
              <a:t>创建、遍历和检索</a:t>
            </a:r>
            <a:endParaRPr lang="en-US" altLang="zh-CN" sz="3200" b="1" dirty="0"/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/>
              <a:t>插入、删除</a:t>
            </a:r>
            <a:endParaRPr lang="en-US" altLang="zh-CN" sz="3200" b="1" dirty="0"/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/>
              <a:t>交换</a:t>
            </a:r>
            <a:endParaRPr lang="en-US" altLang="zh-CN" sz="3200" b="1" dirty="0"/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/>
              <a:t>插入排序</a:t>
            </a:r>
            <a:endParaRPr lang="zh-CN" altLang="en-US" sz="3200" b="1" dirty="0"/>
          </a:p>
          <a:p>
            <a:pPr lvl="0" algn="l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600" b="1" dirty="0"/>
              <a:t>重点：链表应用</a:t>
            </a:r>
            <a:endParaRPr lang="zh-CN" altLang="en-US" sz="3600" b="1" dirty="0"/>
          </a:p>
          <a:p>
            <a:pPr lvl="0" algn="l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600" b="1" dirty="0"/>
              <a:t>难点：指针</a:t>
            </a:r>
            <a:endParaRPr lang="zh-CN" altLang="en-US" sz="3600" b="1" dirty="0"/>
          </a:p>
        </p:txBody>
      </p:sp>
      <p:sp>
        <p:nvSpPr>
          <p:cNvPr id="166916" name="Rectangle 3"/>
          <p:cNvSpPr>
            <a:spLocks noGrp="1" noChangeArrowheads="1"/>
          </p:cNvSpPr>
          <p:nvPr>
            <p:ph type="title"/>
          </p:nvPr>
        </p:nvSpPr>
        <p:spPr>
          <a:xfrm>
            <a:off x="1774825" y="0"/>
            <a:ext cx="8229600" cy="7651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>
                <a:solidFill>
                  <a:srgbClr val="FFC000"/>
                </a:solidFill>
              </a:rPr>
              <a:t>本章小结</a:t>
            </a:r>
            <a:endParaRPr lang="zh-CN" altLang="en-US" b="1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652780"/>
          </a:xfrm>
        </p:spPr>
        <p:txBody>
          <a:bodyPr/>
          <a:p>
            <a:r>
              <a:rPr lang="zh-CN" altLang="en-US" b="1"/>
              <a:t>总评成绩说明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27735"/>
            <a:ext cx="12192635" cy="5628640"/>
          </a:xfrm>
        </p:spPr>
        <p:txBody>
          <a:bodyPr/>
          <a:p>
            <a:r>
              <a:rPr lang="zh-CN" altLang="en-US" b="1"/>
              <a:t>阶段测</a:t>
            </a:r>
            <a:r>
              <a:rPr lang="en-US" altLang="zh-CN" b="1"/>
              <a:t>3</a:t>
            </a:r>
            <a:r>
              <a:rPr lang="zh-CN" altLang="en-US" b="1"/>
              <a:t>：</a:t>
            </a:r>
            <a:r>
              <a:rPr lang="en-US" altLang="zh-CN" b="1"/>
              <a:t> </a:t>
            </a:r>
            <a:r>
              <a:rPr lang="zh-CN" altLang="en-US" b="1"/>
              <a:t>共</a:t>
            </a:r>
            <a:r>
              <a:rPr lang="en-US" altLang="zh-CN" b="1"/>
              <a:t>4</a:t>
            </a:r>
            <a:r>
              <a:rPr lang="zh-CN" altLang="en-US" b="1"/>
              <a:t>题，</a:t>
            </a:r>
            <a:r>
              <a:rPr lang="en-US" altLang="zh-CN" b="1"/>
              <a:t>120</a:t>
            </a:r>
            <a:r>
              <a:rPr lang="zh-CN" altLang="en-US" b="1"/>
              <a:t>分钟，罚时：</a:t>
            </a:r>
            <a:r>
              <a:rPr lang="en-US" altLang="zh-CN" b="1"/>
              <a:t>10</a:t>
            </a:r>
            <a:r>
              <a:rPr lang="zh-CN" altLang="en-US" b="1"/>
              <a:t>分钟，提交次数：</a:t>
            </a:r>
            <a:r>
              <a:rPr lang="en-US" altLang="zh-CN" b="1"/>
              <a:t>15</a:t>
            </a:r>
            <a:r>
              <a:rPr lang="zh-CN" altLang="en-US" b="1"/>
              <a:t>次</a:t>
            </a:r>
            <a:endParaRPr lang="en-US" altLang="zh-CN" b="1"/>
          </a:p>
          <a:p>
            <a:r>
              <a:rPr lang="zh-CN" altLang="en-US" b="1"/>
              <a:t>期末考试：共</a:t>
            </a:r>
            <a:r>
              <a:rPr lang="en-US" altLang="zh-CN" b="1"/>
              <a:t>5</a:t>
            </a:r>
            <a:r>
              <a:rPr lang="zh-CN" altLang="en-US" b="1"/>
              <a:t>题，</a:t>
            </a:r>
            <a:r>
              <a:rPr lang="en-US" altLang="zh-CN" b="1"/>
              <a:t>150</a:t>
            </a:r>
            <a:r>
              <a:rPr lang="zh-CN" altLang="en-US" b="1"/>
              <a:t>分钟，</a:t>
            </a:r>
            <a:r>
              <a:rPr lang="zh-CN" altLang="en-US" b="1">
                <a:sym typeface="+mn-ea"/>
              </a:rPr>
              <a:t>罚时：</a:t>
            </a:r>
            <a:r>
              <a:rPr lang="en-US" altLang="zh-CN" b="1">
                <a:sym typeface="+mn-ea"/>
              </a:rPr>
              <a:t>10</a:t>
            </a:r>
            <a:r>
              <a:rPr lang="zh-CN" altLang="en-US" b="1">
                <a:sym typeface="+mn-ea"/>
              </a:rPr>
              <a:t>分钟，提交次数：</a:t>
            </a:r>
            <a:r>
              <a:rPr lang="en-US" altLang="zh-CN" b="1">
                <a:sym typeface="+mn-ea"/>
              </a:rPr>
              <a:t>15</a:t>
            </a:r>
            <a:r>
              <a:rPr lang="zh-CN" altLang="en-US" b="1">
                <a:sym typeface="+mn-ea"/>
              </a:rPr>
              <a:t>次</a:t>
            </a:r>
            <a:endParaRPr lang="zh-CN" altLang="en-US" b="1">
              <a:sym typeface="+mn-ea"/>
            </a:endParaRPr>
          </a:p>
          <a:p>
            <a:pPr marL="0" indent="0">
              <a:buNone/>
            </a:pPr>
            <a:endParaRPr lang="zh-CN" altLang="en-US" sz="2900" b="1">
              <a:solidFill>
                <a:srgbClr val="FFFF00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 sz="2900" b="1">
                <a:solidFill>
                  <a:srgbClr val="FFFF00"/>
                </a:solidFill>
                <a:sym typeface="+mn-ea"/>
              </a:rPr>
              <a:t>总评成绩</a:t>
            </a:r>
            <a:r>
              <a:rPr lang="en-US" altLang="zh-CN" sz="2900" b="1">
                <a:solidFill>
                  <a:srgbClr val="FFFF00"/>
                </a:solidFill>
                <a:sym typeface="+mn-ea"/>
              </a:rPr>
              <a:t>=A</a:t>
            </a:r>
            <a:r>
              <a:rPr lang="zh-CN" altLang="en-US" sz="2900" b="1">
                <a:solidFill>
                  <a:srgbClr val="FFFF00"/>
                </a:solidFill>
                <a:sym typeface="+mn-ea"/>
              </a:rPr>
              <a:t>超星成绩</a:t>
            </a:r>
            <a:r>
              <a:rPr lang="en-US" altLang="zh-CN" sz="2900" b="1">
                <a:solidFill>
                  <a:srgbClr val="FFFF00"/>
                </a:solidFill>
                <a:sym typeface="+mn-ea"/>
              </a:rPr>
              <a:t>*0.3  + B</a:t>
            </a:r>
            <a:r>
              <a:rPr lang="zh-CN" altLang="en-US" sz="2900" b="1">
                <a:solidFill>
                  <a:srgbClr val="FFFF00"/>
                </a:solidFill>
                <a:sym typeface="+mn-ea"/>
              </a:rPr>
              <a:t>实验成绩</a:t>
            </a:r>
            <a:r>
              <a:rPr lang="en-US" altLang="zh-CN" sz="2900" b="1">
                <a:solidFill>
                  <a:srgbClr val="FFFF00"/>
                </a:solidFill>
                <a:sym typeface="+mn-ea"/>
              </a:rPr>
              <a:t>*0.45 + C</a:t>
            </a:r>
            <a:r>
              <a:rPr lang="zh-CN" altLang="en-US" sz="2900" b="1">
                <a:solidFill>
                  <a:srgbClr val="FFFF00"/>
                </a:solidFill>
                <a:sym typeface="+mn-ea"/>
              </a:rPr>
              <a:t>期末考试成绩</a:t>
            </a:r>
            <a:r>
              <a:rPr lang="en-US" altLang="zh-CN" sz="2900" b="1">
                <a:solidFill>
                  <a:srgbClr val="FFFF00"/>
                </a:solidFill>
                <a:sym typeface="+mn-ea"/>
              </a:rPr>
              <a:t>*0.25</a:t>
            </a:r>
            <a:endParaRPr lang="en-US" altLang="zh-CN" sz="2900" b="1">
              <a:solidFill>
                <a:srgbClr val="FFFF00"/>
              </a:solidFill>
              <a:sym typeface="+mn-ea"/>
            </a:endParaRPr>
          </a:p>
          <a:p>
            <a:pPr marL="914400" lvl="1" indent="-457200">
              <a:buFont typeface="Wingdings" panose="05000000000000000000" charset="0"/>
              <a:buChar char="Ø"/>
            </a:pPr>
            <a:r>
              <a:rPr lang="en-US" altLang="zh-CN" b="1"/>
              <a:t>A</a:t>
            </a:r>
            <a:r>
              <a:rPr lang="zh-CN" altLang="en-US" b="1"/>
              <a:t>超星成绩：满分</a:t>
            </a:r>
            <a:r>
              <a:rPr lang="en-US" altLang="zh-CN" b="1"/>
              <a:t>100</a:t>
            </a:r>
            <a:r>
              <a:rPr lang="zh-CN" altLang="en-US" b="1"/>
              <a:t>分</a:t>
            </a:r>
            <a:endParaRPr lang="zh-CN" altLang="en-US" b="1"/>
          </a:p>
          <a:p>
            <a:pPr marL="457200" lvl="1" indent="457200">
              <a:buFont typeface="Wingdings" panose="05000000000000000000" charset="0"/>
              <a:buNone/>
            </a:pPr>
            <a:r>
              <a:rPr lang="zh-CN" altLang="en-US" b="1"/>
              <a:t>作业</a:t>
            </a:r>
            <a:r>
              <a:rPr lang="en-US" altLang="zh-CN" b="1"/>
              <a:t>60</a:t>
            </a:r>
            <a:r>
              <a:rPr lang="zh-CN" altLang="en-US" b="1"/>
              <a:t>分</a:t>
            </a:r>
            <a:r>
              <a:rPr lang="en-US" altLang="zh-CN" b="1"/>
              <a:t>+</a:t>
            </a:r>
            <a:r>
              <a:rPr lang="zh-CN" altLang="en-US" b="1"/>
              <a:t>章节测验</a:t>
            </a:r>
            <a:r>
              <a:rPr lang="en-US" altLang="zh-CN" b="1"/>
              <a:t>10</a:t>
            </a:r>
            <a:r>
              <a:rPr lang="zh-CN" altLang="en-US" b="1"/>
              <a:t>分</a:t>
            </a:r>
            <a:r>
              <a:rPr lang="en-US" altLang="zh-CN" b="1"/>
              <a:t>+</a:t>
            </a:r>
            <a:r>
              <a:rPr lang="zh-CN" altLang="en-US" b="1"/>
              <a:t>视频任务点</a:t>
            </a:r>
            <a:r>
              <a:rPr lang="en-US" altLang="zh-CN" b="1"/>
              <a:t>10</a:t>
            </a:r>
            <a:r>
              <a:rPr lang="zh-CN" altLang="en-US" b="1"/>
              <a:t>分</a:t>
            </a:r>
            <a:r>
              <a:rPr lang="en-US" altLang="zh-CN" b="1"/>
              <a:t>+</a:t>
            </a:r>
            <a:r>
              <a:rPr lang="zh-CN" altLang="en-US" b="1"/>
              <a:t>讨论</a:t>
            </a:r>
            <a:r>
              <a:rPr lang="en-US" altLang="zh-CN" b="1"/>
              <a:t>10</a:t>
            </a:r>
            <a:r>
              <a:rPr lang="zh-CN" altLang="en-US" b="1"/>
              <a:t>分</a:t>
            </a:r>
            <a:r>
              <a:rPr lang="en-US" altLang="zh-CN" b="1"/>
              <a:t>+</a:t>
            </a:r>
            <a:r>
              <a:rPr lang="zh-CN" altLang="en-US" b="1"/>
              <a:t>互动</a:t>
            </a:r>
            <a:r>
              <a:rPr lang="en-US" altLang="zh-CN" b="1"/>
              <a:t>10</a:t>
            </a:r>
            <a:r>
              <a:rPr lang="zh-CN" altLang="en-US" b="1"/>
              <a:t>分</a:t>
            </a:r>
            <a:endParaRPr lang="zh-CN" altLang="en-US" b="1"/>
          </a:p>
          <a:p>
            <a:pPr marL="914400" lvl="1" indent="-457200">
              <a:buFont typeface="Wingdings" panose="05000000000000000000" charset="0"/>
              <a:buChar char="Ø"/>
            </a:pPr>
            <a:r>
              <a:rPr lang="en-US" altLang="zh-CN" b="1"/>
              <a:t>B</a:t>
            </a:r>
            <a:r>
              <a:rPr lang="zh-CN" altLang="en-US" b="1"/>
              <a:t>实验成绩：满分</a:t>
            </a:r>
            <a:r>
              <a:rPr lang="en-US" altLang="zh-CN" b="1"/>
              <a:t>100</a:t>
            </a:r>
            <a:r>
              <a:rPr lang="zh-CN" altLang="en-US" b="1"/>
              <a:t>分，三次阶段测成绩的平均分取整</a:t>
            </a:r>
            <a:endParaRPr lang="zh-CN" altLang="en-US" b="1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zh-CN" altLang="en-US" b="1"/>
              <a:t>符合要求的缺考，取期末成绩作为本次阶段测的成绩</a:t>
            </a:r>
            <a:endParaRPr lang="zh-CN" altLang="en-US" b="1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CN" b="1">
                <a:sym typeface="+mn-ea"/>
              </a:rPr>
              <a:t>6</a:t>
            </a:r>
            <a:r>
              <a:rPr lang="zh-CN" altLang="en-US" b="1">
                <a:sym typeface="+mn-ea"/>
              </a:rPr>
              <a:t>次实验课至多缺一次课</a:t>
            </a:r>
            <a:endParaRPr lang="en-US" altLang="zh-CN" b="1"/>
          </a:p>
          <a:p>
            <a:pPr marL="914400" lvl="1" indent="-457200">
              <a:buFont typeface="Wingdings" panose="05000000000000000000" charset="0"/>
              <a:buChar char="Ø"/>
            </a:pPr>
            <a:r>
              <a:rPr lang="en-US" altLang="zh-CN" b="1"/>
              <a:t>C</a:t>
            </a:r>
            <a:r>
              <a:rPr lang="zh-CN" altLang="en-US" b="1"/>
              <a:t>期末测：满分</a:t>
            </a:r>
            <a:r>
              <a:rPr lang="en-US" altLang="zh-CN" b="1"/>
              <a:t>100</a:t>
            </a:r>
            <a:r>
              <a:rPr lang="zh-CN" altLang="en-US" b="1"/>
              <a:t>分</a:t>
            </a:r>
            <a:endParaRPr lang="zh-CN" altLang="en-US" b="1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zh-CN" altLang="en-US" b="1"/>
              <a:t>符合要求的缺考，必须办理缓考，和</a:t>
            </a:r>
            <a:r>
              <a:rPr lang="en-US" altLang="zh-CN" b="1"/>
              <a:t>26</a:t>
            </a:r>
            <a:r>
              <a:rPr lang="zh-CN" altLang="en-US" b="1"/>
              <a:t>级一起全部重来</a:t>
            </a:r>
            <a:endParaRPr lang="zh-CN" altLang="en-US" b="1"/>
          </a:p>
          <a:p>
            <a:pPr marL="914400" lvl="2" indent="457200">
              <a:buFont typeface="Wingdings" panose="05000000000000000000" charset="0"/>
              <a:buNone/>
            </a:pPr>
            <a:endParaRPr lang="en-US" altLang="zh-CN" b="1"/>
          </a:p>
          <a:p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295400"/>
            <a:ext cx="9241790" cy="3751580"/>
          </a:xfrm>
        </p:spPr>
        <p:txBody>
          <a:bodyPr/>
          <a:p>
            <a:r>
              <a:rPr lang="zh-CN" altLang="en-US" sz="3600" b="1"/>
              <a:t>答疑</a:t>
            </a:r>
            <a:endParaRPr lang="zh-CN" altLang="en-US" sz="3600" b="1"/>
          </a:p>
          <a:p>
            <a:r>
              <a:rPr lang="zh-CN" altLang="en-US" sz="3600" b="1"/>
              <a:t>寒假</a:t>
            </a:r>
            <a:endParaRPr lang="zh-CN" altLang="en-US" sz="3600" b="1"/>
          </a:p>
          <a:p>
            <a:pPr lvl="1">
              <a:buFont typeface="Wingdings" panose="05000000000000000000" charset="0"/>
              <a:buChar char="Ø"/>
            </a:pPr>
            <a:r>
              <a:rPr lang="zh-CN" altLang="en-US" sz="3200" b="1"/>
              <a:t>文件操作：</a:t>
            </a:r>
            <a:r>
              <a:rPr lang="en-US" altLang="zh-CN" sz="3200" b="1"/>
              <a:t>PPT+</a:t>
            </a:r>
            <a:r>
              <a:rPr lang="zh-CN" altLang="en-US" sz="3200" b="1"/>
              <a:t>视频，课程设计要用</a:t>
            </a:r>
            <a:endParaRPr lang="zh-CN" altLang="en-US" sz="3200" b="1"/>
          </a:p>
          <a:p>
            <a:pPr lvl="1">
              <a:buFont typeface="Wingdings" panose="05000000000000000000" charset="0"/>
              <a:buChar char="Ø"/>
            </a:pPr>
            <a:r>
              <a:rPr lang="zh-CN" altLang="en-US" sz="3200" b="1"/>
              <a:t>蓝桥杯：省赛（</a:t>
            </a:r>
            <a:r>
              <a:rPr lang="en-US" altLang="zh-CN" sz="3200" b="1"/>
              <a:t>4</a:t>
            </a:r>
            <a:r>
              <a:rPr lang="zh-CN" altLang="en-US" sz="3200" b="1"/>
              <a:t>月），决赛（</a:t>
            </a:r>
            <a:r>
              <a:rPr lang="en-US" altLang="zh-CN" sz="3200" b="1"/>
              <a:t>6</a:t>
            </a:r>
            <a:r>
              <a:rPr lang="zh-CN" altLang="en-US" sz="3200" b="1"/>
              <a:t>月）</a:t>
            </a:r>
            <a:endParaRPr lang="zh-CN" altLang="en-US" sz="3200" b="1"/>
          </a:p>
          <a:p>
            <a:pPr lvl="2">
              <a:buFont typeface="Wingdings" panose="05000000000000000000" charset="0"/>
              <a:buChar char="Ø"/>
            </a:pPr>
            <a:r>
              <a:rPr lang="zh-CN" altLang="en-US" sz="3200" b="1"/>
              <a:t>官网：历年题目、竞赛宣讲和培训（每周）</a:t>
            </a:r>
            <a:endParaRPr lang="zh-CN" altLang="en-US" sz="3200" b="1"/>
          </a:p>
          <a:p>
            <a:pPr lvl="2">
              <a:buFont typeface="Wingdings" panose="05000000000000000000" charset="0"/>
              <a:buChar char="Ø"/>
            </a:pPr>
            <a:r>
              <a:rPr lang="zh-CN" altLang="en-US" sz="3200" b="1"/>
              <a:t>洛谷：红橙</a:t>
            </a:r>
            <a:r>
              <a:rPr lang="zh-CN" altLang="en-US" sz="3200" b="1">
                <a:solidFill>
                  <a:srgbClr val="FFFF00"/>
                </a:solidFill>
              </a:rPr>
              <a:t>黄绿</a:t>
            </a:r>
            <a:r>
              <a:rPr lang="zh-CN" altLang="en-US" sz="3200" b="1">
                <a:solidFill>
                  <a:srgbClr val="F52EFC"/>
                </a:solidFill>
              </a:rPr>
              <a:t>蓝紫</a:t>
            </a:r>
            <a:r>
              <a:rPr lang="zh-CN" altLang="en-US" sz="3200" b="1"/>
              <a:t>黑</a:t>
            </a:r>
            <a:endParaRPr lang="en-US" altLang="zh-CN" sz="2665" b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495800" y="2590800"/>
            <a:ext cx="347345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感</a:t>
            </a:r>
            <a:r>
              <a:rPr lang="en-US" altLang="zh-CN" sz="72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 </a:t>
            </a:r>
            <a:r>
              <a:rPr lang="zh-CN" altLang="en-US" sz="72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谢！</a:t>
            </a:r>
            <a:endParaRPr lang="zh-CN" altLang="en-US" sz="72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9319</Words>
  <Application>WPS 演示</Application>
  <PresentationFormat>宽屏</PresentationFormat>
  <Paragraphs>1215</Paragraphs>
  <Slides>44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1" baseType="lpstr">
      <vt:lpstr>Arial</vt:lpstr>
      <vt:lpstr>宋体</vt:lpstr>
      <vt:lpstr>Wingdings</vt:lpstr>
      <vt:lpstr>Tahoma</vt:lpstr>
      <vt:lpstr>Wingdings 3</vt:lpstr>
      <vt:lpstr>Symbol</vt:lpstr>
      <vt:lpstr>黑体</vt:lpstr>
      <vt:lpstr>Times New Roman</vt:lpstr>
      <vt:lpstr>微软雅黑</vt:lpstr>
      <vt:lpstr>Arial Unicode MS</vt:lpstr>
      <vt:lpstr>等线</vt:lpstr>
      <vt:lpstr>Wingdings</vt:lpstr>
      <vt:lpstr>仿宋</vt:lpstr>
      <vt:lpstr>楷体</vt:lpstr>
      <vt:lpstr>新宋体</vt:lpstr>
      <vt:lpstr>Microsoft PhagsPa</vt:lpstr>
      <vt:lpstr>1_Slit</vt:lpstr>
      <vt:lpstr>【例13.2】插入排序 注：完整测试程序见 【例1a】链表操作实例</vt:lpstr>
      <vt:lpstr>插入排序 算法思想</vt:lpstr>
      <vt:lpstr>插入排序——PAD</vt:lpstr>
      <vt:lpstr>插入排序</vt:lpstr>
      <vt:lpstr>插入排序</vt:lpstr>
      <vt:lpstr>插入排序——插入过程演示</vt:lpstr>
      <vt:lpstr>插入排序——插入过程演示</vt:lpstr>
      <vt:lpstr>PowerPoint 演示文稿</vt:lpstr>
      <vt:lpstr>PowerPoint 演示文稿</vt:lpstr>
      <vt:lpstr>PowerPoint 演示文稿</vt:lpstr>
      <vt:lpstr>【例13.3】多项式加法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§13.3.2  栈</vt:lpstr>
      <vt:lpstr>PowerPoint 演示文稿</vt:lpstr>
      <vt:lpstr>PowerPoint 演示文稿</vt:lpstr>
      <vt:lpstr>PowerPoint 演示文稿</vt:lpstr>
      <vt:lpstr>PowerPoint 演示文稿</vt:lpstr>
      <vt:lpstr>§13.3.3  队列</vt:lpstr>
      <vt:lpstr>PowerPoint 演示文稿</vt:lpstr>
      <vt:lpstr>PowerPoint 演示文稿</vt:lpstr>
      <vt:lpstr>PowerPoint 演示文稿</vt:lpstr>
      <vt:lpstr>PowerPoint 演示文稿</vt:lpstr>
      <vt:lpstr>本章小结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826</cp:revision>
  <dcterms:created xsi:type="dcterms:W3CDTF">2019-09-21T08:05:00Z</dcterms:created>
  <dcterms:modified xsi:type="dcterms:W3CDTF">2025-11-27T13:39:12Z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2052-12.1.0.23125</vt:lpwstr>
  </property>
  <property fmtid="{D5CDD505-2E9C-101B-9397-08002B2CF9AE}" pid="4" name="ICV">
    <vt:lpwstr>9BD7FD4C16C24B4B82DB3AD4D6EF1091_12</vt:lpwstr>
  </property>
</Properties>
</file>