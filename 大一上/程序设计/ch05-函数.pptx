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81" r:id="rId3"/>
    <p:sldId id="494" r:id="rId4"/>
    <p:sldId id="495" r:id="rId5"/>
    <p:sldId id="493" r:id="rId6"/>
    <p:sldId id="603" r:id="rId8"/>
    <p:sldId id="604" r:id="rId9"/>
    <p:sldId id="497" r:id="rId10"/>
    <p:sldId id="455" r:id="rId11"/>
    <p:sldId id="383" r:id="rId12"/>
    <p:sldId id="498" r:id="rId13"/>
    <p:sldId id="413" r:id="rId14"/>
    <p:sldId id="414" r:id="rId15"/>
    <p:sldId id="416" r:id="rId16"/>
    <p:sldId id="458" r:id="rId17"/>
    <p:sldId id="422" r:id="rId18"/>
    <p:sldId id="456" r:id="rId19"/>
    <p:sldId id="457" r:id="rId20"/>
    <p:sldId id="459" r:id="rId21"/>
    <p:sldId id="460" r:id="rId22"/>
    <p:sldId id="499" r:id="rId23"/>
    <p:sldId id="488" r:id="rId24"/>
    <p:sldId id="461" r:id="rId25"/>
    <p:sldId id="462" r:id="rId26"/>
    <p:sldId id="518" r:id="rId27"/>
    <p:sldId id="563" r:id="rId28"/>
    <p:sldId id="562" r:id="rId29"/>
    <p:sldId id="564" r:id="rId30"/>
    <p:sldId id="557" r:id="rId31"/>
    <p:sldId id="483" r:id="rId32"/>
    <p:sldId id="524" r:id="rId33"/>
    <p:sldId id="730" r:id="rId34"/>
    <p:sldId id="731" r:id="rId35"/>
    <p:sldId id="732" r:id="rId36"/>
    <p:sldId id="735" r:id="rId37"/>
    <p:sldId id="736" r:id="rId38"/>
    <p:sldId id="737" r:id="rId39"/>
    <p:sldId id="738" r:id="rId40"/>
    <p:sldId id="739" r:id="rId41"/>
    <p:sldId id="740" r:id="rId42"/>
    <p:sldId id="741" r:id="rId43"/>
    <p:sldId id="742" r:id="rId44"/>
    <p:sldId id="743" r:id="rId45"/>
    <p:sldId id="744" r:id="rId46"/>
    <p:sldId id="745" r:id="rId47"/>
    <p:sldId id="746" r:id="rId48"/>
    <p:sldId id="747" r:id="rId49"/>
    <p:sldId id="748" r:id="rId50"/>
    <p:sldId id="749" r:id="rId51"/>
    <p:sldId id="750" r:id="rId52"/>
    <p:sldId id="751" r:id="rId53"/>
    <p:sldId id="752" r:id="rId54"/>
    <p:sldId id="753" r:id="rId55"/>
    <p:sldId id="754" r:id="rId56"/>
    <p:sldId id="755" r:id="rId57"/>
    <p:sldId id="756" r:id="rId58"/>
    <p:sldId id="757" r:id="rId59"/>
    <p:sldId id="758" r:id="rId60"/>
    <p:sldId id="759" r:id="rId61"/>
    <p:sldId id="760" r:id="rId62"/>
    <p:sldId id="761" r:id="rId63"/>
    <p:sldId id="762" r:id="rId64"/>
    <p:sldId id="763" r:id="rId65"/>
    <p:sldId id="764" r:id="rId66"/>
    <p:sldId id="765" r:id="rId67"/>
    <p:sldId id="766" r:id="rId68"/>
    <p:sldId id="767" r:id="rId69"/>
    <p:sldId id="768" r:id="rId70"/>
    <p:sldId id="769" r:id="rId71"/>
    <p:sldId id="770" r:id="rId72"/>
    <p:sldId id="771" r:id="rId73"/>
    <p:sldId id="772" r:id="rId74"/>
  </p:sldIdLst>
  <p:sldSz cx="12192000" cy="6858000"/>
  <p:notesSz cx="6858000" cy="9144000"/>
  <p:custDataLst>
    <p:tags r:id="rId7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A04F2"/>
    <a:srgbClr val="FFFFFF"/>
    <a:srgbClr val="00FFFF"/>
    <a:srgbClr val="FF0000"/>
    <a:srgbClr val="FDF731"/>
    <a:srgbClr val="00B0F0"/>
    <a:srgbClr val="FFE705"/>
    <a:srgbClr val="9C1489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5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123"/>
        <p:guide pos="3864"/>
      </p:guideLst>
    </p:cSldViewPr>
  </p:slideViewPr>
  <p:outlineViewPr>
    <p:cViewPr>
      <p:scale>
        <a:sx n="33" d="100"/>
        <a:sy n="33" d="100"/>
      </p:scale>
      <p:origin x="0" y="-8257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tags" Target="tags/tag1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BCB330-A607-4F65-A2A6-6EA0454F7F0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1788" y="666750"/>
            <a:ext cx="6194425" cy="3484563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904875" y="4373563"/>
            <a:ext cx="5048250" cy="4078287"/>
          </a:xfrm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程序设计方法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1788" y="666750"/>
            <a:ext cx="6194425" cy="3484563"/>
          </a:xfrm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904875" y="4373563"/>
            <a:ext cx="5048250" cy="4078287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思考：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1.</a:t>
            </a:r>
            <a:r>
              <a:rPr lang="zh-CN" altLang="en-US" dirty="0"/>
              <a:t>“只能返回一个值”是否等价于“只能有一个</a:t>
            </a:r>
            <a:r>
              <a:rPr lang="en-US" altLang="zh-CN" dirty="0"/>
              <a:t>return</a:t>
            </a:r>
            <a:r>
              <a:rPr lang="zh-CN" altLang="en-US" dirty="0"/>
              <a:t>语句”？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2.</a:t>
            </a:r>
            <a:r>
              <a:rPr lang="zh-CN" altLang="en-US" dirty="0"/>
              <a:t>如需返回多个值，如何处理？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/>
            <a:r>
              <a:rPr lang="zh-CN" altLang="en-US" dirty="0"/>
              <a:t>计算机在执行程序时，从主函数</a:t>
            </a:r>
            <a:r>
              <a:rPr lang="en-US" altLang="zh-CN" dirty="0"/>
              <a:t>main</a:t>
            </a:r>
            <a:r>
              <a:rPr lang="zh-CN" altLang="en-US" dirty="0"/>
              <a:t>开始执行，如果遇到某个函数调用，主函数被暂停执行，转而执行相应的函数，该函数执行完后，将返回主函数，然后再从原先暂停的位置继续执行。</a:t>
            </a:r>
            <a:endParaRPr lang="zh-CN" altLang="en-US" dirty="0"/>
          </a:p>
          <a:p>
            <a:pPr lvl="0" algn="just" eaLnBrk="1" hangingPunct="1"/>
            <a:r>
              <a:rPr lang="zh-CN" altLang="en-US" dirty="0"/>
              <a:t>函数遇</a:t>
            </a:r>
            <a:r>
              <a:rPr lang="en-US" altLang="zh-CN" dirty="0"/>
              <a:t>return</a:t>
            </a:r>
            <a:r>
              <a:rPr lang="zh-CN" altLang="en-US" dirty="0"/>
              <a:t>或最后的大括号，返回主函数</a:t>
            </a:r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Point</a:t>
            </a:r>
            <a:r>
              <a:rPr lang="zh-CN" altLang="en-US" dirty="0"/>
              <a:t>：</a:t>
            </a:r>
            <a:endParaRPr lang="en-US" altLang="zh-CN" dirty="0"/>
          </a:p>
          <a:p>
            <a:pPr lvl="0"/>
            <a:r>
              <a:rPr lang="en-US" altLang="zh-CN" dirty="0"/>
              <a:t>1.</a:t>
            </a:r>
            <a:r>
              <a:rPr lang="zh-CN" altLang="en-US" dirty="0"/>
              <a:t>局部变量</a:t>
            </a:r>
            <a:r>
              <a:rPr lang="en-US" altLang="zh-CN" dirty="0"/>
              <a:t>vp</a:t>
            </a:r>
            <a:r>
              <a:rPr lang="zh-CN" altLang="en-US" dirty="0"/>
              <a:t>需定义；</a:t>
            </a:r>
            <a:endParaRPr lang="en-US" altLang="zh-CN" dirty="0"/>
          </a:p>
          <a:p>
            <a:pPr lvl="0"/>
            <a:r>
              <a:rPr lang="en-US" altLang="zh-CN" dirty="0"/>
              <a:t>2.</a:t>
            </a:r>
            <a:r>
              <a:rPr lang="zh-CN" altLang="en-US" dirty="0"/>
              <a:t>返回语句</a:t>
            </a:r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>
                <a:latin typeface="Times New Roman" panose="02020603050405020304" pitchFamily="18" charset="0"/>
              </a:rPr>
            </a:fld>
            <a:endParaRPr lang="zh-CN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A37F0B-447D-4B67-AF34-D913FC2991A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E05A5B-2A59-41CF-8F90-B3FF2384AA5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C1ED07-0364-4FC5-AF9B-A33CE4F9FB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A52D77-F85F-4A97-B7B2-AFD507989AA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9A664A-3FA6-4824-A27F-6B327645D61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7FF0CE-D886-4366-821E-FB63B79005F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FEE5BD-CFA8-49AE-B1F4-88FE94CA60F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284703-9217-47F7-B529-4DDAA368E8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C594B8-2869-44A3-9680-4E72E49F4A5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9C2829-7DBF-4C8C-A8EC-1D9C1D4A0BF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E78B4D-4274-4469-B7F5-7A42AD6A461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8D1B7E-AC06-4BF3-9B06-50F80C04357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8E26C1-F595-4C0C-AAAD-D52C4BFCC4E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C38117-7DB9-489B-AF9C-04255151692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CE828-37AD-4C67-A3B1-8856ED51853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FA7207-917C-48C9-98C3-D6D1212C78C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CCAFB0-3B77-41D9-84C5-1C52794D7AF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738D3E-E0AD-4958-873E-F67E70D7947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65.xml"/><Relationship Id="rId8" Type="http://schemas.openxmlformats.org/officeDocument/2006/relationships/slide" Target="slide1.xml"/><Relationship Id="rId7" Type="http://schemas.openxmlformats.org/officeDocument/2006/relationships/slide" Target="slide39.xml"/><Relationship Id="rId6" Type="http://schemas.openxmlformats.org/officeDocument/2006/relationships/slide" Target="slide35.xml"/><Relationship Id="rId5" Type="http://schemas.openxmlformats.org/officeDocument/2006/relationships/slide" Target="slide28.xml"/><Relationship Id="rId4" Type="http://schemas.openxmlformats.org/officeDocument/2006/relationships/slide" Target="slide18.xml"/><Relationship Id="rId3" Type="http://schemas.openxmlformats.org/officeDocument/2006/relationships/slide" Target="slide12.xml"/><Relationship Id="rId2" Type="http://schemas.openxmlformats.org/officeDocument/2006/relationships/slide" Target="slide8.xml"/><Relationship Id="rId13" Type="http://schemas.openxmlformats.org/officeDocument/2006/relationships/slideLayout" Target="../slideLayouts/slideLayout2.xml"/><Relationship Id="rId12" Type="http://schemas.openxmlformats.org/officeDocument/2006/relationships/slide" Target="slide70.xml"/><Relationship Id="rId11" Type="http://schemas.openxmlformats.org/officeDocument/2006/relationships/slide" Target="slide69.xml"/><Relationship Id="rId10" Type="http://schemas.openxmlformats.org/officeDocument/2006/relationships/slide" Target="slide20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slide" Target="slide18.xml"/><Relationship Id="rId1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slide" Target="slide32.xml"/><Relationship Id="rId2" Type="http://schemas.openxmlformats.org/officeDocument/2006/relationships/slide" Target="slide30.xml"/><Relationship Id="rId1" Type="http://schemas.openxmlformats.org/officeDocument/2006/relationships/slide" Target="slide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61.xml"/><Relationship Id="rId3" Type="http://schemas.openxmlformats.org/officeDocument/2006/relationships/slide" Target="slide47.xml"/><Relationship Id="rId2" Type="http://schemas.openxmlformats.org/officeDocument/2006/relationships/slide" Target="slide43.xml"/><Relationship Id="rId1" Type="http://schemas.openxmlformats.org/officeDocument/2006/relationships/slide" Target="slide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hyperlink" Target="&#20363;&#39064;&#31243;&#24207;201409\ch05\ch05_05\ch05_05.exe" TargetMode="External"/><Relationship Id="rId1" Type="http://schemas.openxmlformats.org/officeDocument/2006/relationships/slide" Target="slide8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6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DC4985-F61B-49FC-975C-385F2BBE26A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229600" cy="836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章  模块化程序设计－函数 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25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7200900" cy="4340225"/>
          </a:xfrm>
        </p:spPr>
        <p:txBody>
          <a:bodyPr vert="horz" wrap="square" lIns="9000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" action="ppaction://hlinksldjump"/>
              </a:rPr>
              <a:t>§5.1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" action="ppaction://hlinksldjump"/>
              </a:rPr>
              <a:t>模块化程序设计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§5.2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函数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3" action="ppaction://hlinksldjump"/>
              </a:rPr>
              <a:t>§5.2.1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3" action="ppaction://hlinksldjump"/>
              </a:rPr>
              <a:t>函数定义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4" action="ppaction://hlinksldjump"/>
              </a:rPr>
              <a:t>§5.2.2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4" action="ppaction://hlinksldjump"/>
              </a:rPr>
              <a:t>函数调用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5" action="ppaction://hlinksldjump"/>
              </a:rPr>
              <a:t>练习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6" action="ppaction://hlinksldjump"/>
              </a:rPr>
              <a:t>§5.2.3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6" action="ppaction://hlinksldjump"/>
              </a:rPr>
              <a:t>先调用后定义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7" action="ppaction://hlinksldjump"/>
              </a:rPr>
              <a:t>§5.3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7" action="ppaction://hlinksldjump"/>
              </a:rPr>
              <a:t>程序设计实例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  <a:hlinkClick r:id="rId7" action="ppaction://hlinksldjump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8" action="ppaction://hlinksldjump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exit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函数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,return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语句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,break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  <a:hlinkClick r:id="rId9" action="ppaction://hlinksldjump"/>
              </a:rPr>
              <a:t>语句</a:t>
            </a:r>
            <a:r>
              <a:rPr lang="en-US" altLang="zh-CN" b="1" dirty="0">
                <a:solidFill>
                  <a:schemeClr val="hlink"/>
                </a:solidFill>
                <a:effectLst/>
                <a:sym typeface="+mn-ea"/>
                <a:hlinkClick r:id="rId10" action="ppaction://hlinksldjump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1" action="ppaction://hlinksldjump"/>
              </a:rPr>
              <a:t>§5.4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1" action="ppaction://hlinksldjump"/>
              </a:rPr>
              <a:t>程序调试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2" action="ppaction://hlinksldjump"/>
              </a:rPr>
              <a:t>本章小结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009063" y="3341688"/>
            <a:ext cx="3162300" cy="35052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算法的组成：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p4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基本操作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读（输入）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表达式及给变量赋值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写（输出）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顺序控制结构√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分支控制结构√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循环控制结构√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函数调用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函数返回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9AB552-C848-42BB-9E32-61CD3D4A90C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6467" name="Rectangle 3"/>
          <p:cNvSpPr>
            <a:spLocks noGrp="1" noChangeArrowheads="1"/>
          </p:cNvSpPr>
          <p:nvPr>
            <p:ph idx="1"/>
          </p:nvPr>
        </p:nvSpPr>
        <p:spPr>
          <a:xfrm>
            <a:off x="0" y="165100"/>
            <a:ext cx="5010150" cy="6156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5.1.1】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求两个整数最大值。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 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a,b,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	a=2; b=3;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	if(a&gt;b)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c=a;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	else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c=b;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	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("c=%d\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n",c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return 0;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58738" y="6151563"/>
            <a:ext cx="3429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A6A6A6"/>
                </a:solidFill>
                <a:latin typeface="宋体" panose="02010600030101010101" pitchFamily="2" charset="-122"/>
                <a:ea typeface="仿宋_GB2312"/>
              </a:rPr>
              <a:t>输出结果：</a:t>
            </a:r>
            <a:r>
              <a:rPr lang="en-US" altLang="zh-CN" sz="2800" b="1" dirty="0">
                <a:solidFill>
                  <a:srgbClr val="A6A6A6"/>
                </a:solidFill>
                <a:latin typeface="宋体" panose="02010600030101010101" pitchFamily="2" charset="-122"/>
                <a:ea typeface="仿宋_GB2312"/>
              </a:rPr>
              <a:t>c=3</a:t>
            </a:r>
            <a:endParaRPr lang="zh-CN" altLang="en-US" sz="2800" b="1" dirty="0">
              <a:solidFill>
                <a:srgbClr val="A6A6A6"/>
              </a:solidFill>
              <a:latin typeface="宋体" panose="02010600030101010101" pitchFamily="2" charset="-122"/>
              <a:ea typeface="仿宋_GB231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729288" y="207963"/>
            <a:ext cx="6169025" cy="674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5.1.2】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求两组整数的最大值。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 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int 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a,b,c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m,n,q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a=2; b=3;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m=5;n=-1;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if(a&gt;b)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c=a;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else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c=b;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else 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("c=%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=%d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,q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653088" y="6278563"/>
            <a:ext cx="392747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输出结果：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c=3,q=5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2843213" y="2119313"/>
            <a:ext cx="3252787" cy="1814830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int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max(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int x,int y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);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则有：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c=max(a,b);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q=max(m,n);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6096000" y="2057400"/>
            <a:ext cx="1828800" cy="16256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13" name="Rectangle 7"/>
          <p:cNvSpPr/>
          <p:nvPr/>
        </p:nvSpPr>
        <p:spPr>
          <a:xfrm>
            <a:off x="6096000" y="3810000"/>
            <a:ext cx="1828800" cy="1728788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l" eaLnBrk="1" hangingPunct="1">
              <a:buNone/>
            </a:pPr>
            <a:endParaRPr lang="zh-CN" altLang="en-US" sz="2400" b="1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92745" y="2459355"/>
            <a:ext cx="4116705" cy="1568450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计算过程一致，参与运算的数据不同</a:t>
            </a: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—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子程序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仿宋_GB2312"/>
            </a:endParaRPr>
          </a:p>
          <a:p>
            <a:pPr marL="457200" lvl="0" indent="-4572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在 </a:t>
            </a: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C </a:t>
            </a: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语言中，子程序体现为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函数</a:t>
            </a: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(function)</a:t>
            </a:r>
            <a:endParaRPr lang="zh-CN" altLang="en-US" sz="2400" b="1" dirty="0">
              <a:latin typeface="Arial" panose="020B0604020202020204" pitchFamily="34" charset="0"/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5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7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70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201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9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08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1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26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33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45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53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63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bldLvl="0" animBg="1"/>
      <p:bldP spid="13" grpId="0" bldLvl="0" animBg="1"/>
      <p:bldP spid="2" grpId="0" bldLvl="0" animBg="1"/>
      <p:bldP spid="11" grpId="0" bldLvl="0" animBg="1"/>
      <p:bldP spid="1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3F39B3-BE4B-40DA-9B96-4B270BEBFFB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7491" name="Rectangle 3"/>
          <p:cNvSpPr>
            <a:spLocks noGrp="1" noChangeArrowheads="1"/>
          </p:cNvSpPr>
          <p:nvPr>
            <p:ph idx="1"/>
          </p:nvPr>
        </p:nvSpPr>
        <p:spPr>
          <a:xfrm>
            <a:off x="0" y="304800"/>
            <a:ext cx="7155815" cy="67424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#include &lt;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stdio.h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&gt;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max(int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x, 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y)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u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;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 if(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x&gt;y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)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u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=x;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 else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u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=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;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return u;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main( 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{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	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a,b,c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,m,n,q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a=2; b=3;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m=5;n=-1;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	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c=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max(a,b)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;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q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=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max(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m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n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	 	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printf(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c=%d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q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=%d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\n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"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,c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q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	 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return 0;</a:t>
            </a:r>
            <a:endParaRPr kumimoji="0" lang="zh-CN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}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438400" y="6243638"/>
            <a:ext cx="35258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仿宋_GB2312"/>
                <a:cs typeface="仿宋_GB2312"/>
              </a:rPr>
              <a:t>输出结果：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仿宋_GB2312"/>
                <a:cs typeface="仿宋_GB2312"/>
              </a:rPr>
              <a:t>c=3,q=5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仿宋_GB2312"/>
              <a:cs typeface="仿宋_GB231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67165" y="3657600"/>
            <a:ext cx="2579370" cy="181483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</a:rPr>
              <a:t>优势：</a:t>
            </a:r>
            <a:endParaRPr lang="zh-CN" altLang="en-US" sz="2800" b="1" dirty="0">
              <a:solidFill>
                <a:srgbClr val="FFFF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提高可读性</a:t>
            </a:r>
            <a:endParaRPr lang="zh-CN" altLang="en-US" sz="2800" b="1" dirty="0"/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复用性</a:t>
            </a:r>
            <a:endParaRPr lang="zh-CN" altLang="en-US" sz="2800" b="1" dirty="0"/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3.</a:t>
            </a:r>
            <a:r>
              <a:rPr lang="zh-CN" altLang="en-US" sz="2800" b="1" dirty="0"/>
              <a:t>可维护性</a:t>
            </a:r>
            <a:endParaRPr lang="en-US" altLang="zh-CN" sz="2800" b="1" dirty="0"/>
          </a:p>
        </p:txBody>
      </p:sp>
      <p:sp>
        <p:nvSpPr>
          <p:cNvPr id="22534" name="矩形 1"/>
          <p:cNvSpPr/>
          <p:nvPr/>
        </p:nvSpPr>
        <p:spPr>
          <a:xfrm>
            <a:off x="-76200" y="0"/>
            <a:ext cx="1968500" cy="40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【</a:t>
            </a:r>
            <a:r>
              <a:rPr lang="zh-CN" altLang="en-US" sz="2400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例</a:t>
            </a:r>
            <a:r>
              <a:rPr lang="en-US" altLang="zh-CN" sz="2400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5.1.3】</a:t>
            </a:r>
            <a:endParaRPr lang="zh-CN" altLang="en-US" sz="2400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749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79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7491">
                                            <p:txEl>
                                              <p:charRg st="79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7491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94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7491">
                                            <p:txEl>
                                              <p:charRg st="94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174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charRg st="192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E2FBEA-B58A-424A-AC7C-FB0DE600615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2895600"/>
            <a:ext cx="12039600" cy="224917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模块化程序设计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（百度百科）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在进行程序设计时，将一个大程序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按照功能划分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为若干小程序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ea"/>
              </a:rPr>
              <a:t>模块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00FF00"/>
              </a:highlight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每个小程序模块完成一个确定的功能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并在这些模块之间建立必要的联系，通过模块的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ea"/>
              </a:rPr>
              <a:t>互相协作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完成整个功能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23556" name="矩形 1"/>
          <p:cNvSpPr/>
          <p:nvPr/>
        </p:nvSpPr>
        <p:spPr>
          <a:xfrm>
            <a:off x="1703388" y="4132263"/>
            <a:ext cx="8929687" cy="442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533400" lvl="0" indent="-533400" eaLnBrk="1" hangingPunct="1">
              <a:lnSpc>
                <a:spcPct val="9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 </a:t>
            </a:r>
            <a:endParaRPr lang="zh-CN" altLang="en-US" sz="2400" b="1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200400" y="1676400"/>
            <a:ext cx="6400800" cy="6397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5.1 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模块化程序设计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7A8476-84E8-4C94-9D92-3BA4B82F41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441"/>
          <a:stretch>
            <a:fillRect/>
          </a:stretch>
        </p:blipFill>
        <p:spPr>
          <a:xfrm>
            <a:off x="2868295" y="635"/>
            <a:ext cx="9323705" cy="64560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67600" y="6456680"/>
            <a:ext cx="213487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23</a:t>
            </a:r>
            <a:r>
              <a:rPr lang="zh-CN" altLang="en-US" sz="2400"/>
              <a:t>级王炅昊</a:t>
            </a:r>
            <a:endParaRPr lang="zh-CN" altLang="en-US" sz="2400"/>
          </a:p>
        </p:txBody>
      </p:sp>
      <p:sp>
        <p:nvSpPr>
          <p:cNvPr id="8" name="圆角矩形标注 7"/>
          <p:cNvSpPr/>
          <p:nvPr/>
        </p:nvSpPr>
        <p:spPr>
          <a:xfrm>
            <a:off x="152400" y="3751580"/>
            <a:ext cx="2522220" cy="2938145"/>
          </a:xfrm>
          <a:prstGeom prst="wedgeRoundRectCallout">
            <a:avLst>
              <a:gd name="adj1" fmla="val 57729"/>
              <a:gd name="adj2" fmla="val -6426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400" u="sng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C</a:t>
            </a:r>
            <a:r>
              <a:rPr lang="zh-CN" altLang="en-US" sz="2400" u="sng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语言如何实现模块化程序设计思想？</a:t>
            </a: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把一个大问题分成若干个小问题，把每个小问题编成一个函数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800" y="152400"/>
            <a:ext cx="1685290" cy="3481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基本思想：</a:t>
            </a:r>
            <a:endParaRPr lang="zh-CN" altLang="en-US" sz="24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自顶向下</a:t>
            </a: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逐步分解</a:t>
            </a: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分而治之</a:t>
            </a: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分解原则：</a:t>
            </a:r>
            <a:endParaRPr lang="zh-CN" altLang="en-US" sz="24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模块独立</a:t>
            </a: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规模适当</a:t>
            </a: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sym typeface="+mn-ea"/>
              </a:rPr>
              <a:t>注意层次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endParaRPr lang="zh-CN" altLang="en-US" sz="24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2C3060-1AAB-4BF5-B630-ACC115DF1A7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4838" cy="909638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函数和Ｃ程序结构</a:t>
            </a:r>
            <a:endParaRPr kumimoji="0" lang="zh-CN" altLang="zh-CN" sz="4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0" y="1798638"/>
            <a:ext cx="12192000" cy="4144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函数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是指完成一个特定工作的独立程序模块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,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它是Ｃ程序的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基本单位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一个Ｃ程序由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ea"/>
              </a:rPr>
              <a:t>若干个函数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构成，由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ea"/>
              </a:rPr>
              <a:t>主函数开始执行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主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调用子函数，子函数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之间可以相互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调用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Ｃ函数分为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标准库函数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自定义函数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两种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1028700" marR="0" lvl="1" indent="-4572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标准库函数：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1428750" marR="0" lvl="2" indent="-3810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如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 ()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 ()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getchar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()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</a:rPr>
              <a:t>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162E89-AB8B-4080-A0BF-52A9F270534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9538" name="Rectangle 2"/>
          <p:cNvSpPr>
            <a:spLocks noGrp="1" noChangeArrowheads="1"/>
          </p:cNvSpPr>
          <p:nvPr>
            <p:ph idx="1"/>
          </p:nvPr>
        </p:nvSpPr>
        <p:spPr>
          <a:xfrm>
            <a:off x="1295400" y="1328738"/>
            <a:ext cx="72390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main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函数作为</a:t>
            </a:r>
            <a:r>
              <a:rPr kumimoji="0" lang="zh-CN" altLang="en-US" sz="3600" b="1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主调函数</a:t>
            </a:r>
            <a:endParaRPr kumimoji="0" lang="zh-CN" altLang="en-US" sz="3600" b="1" i="0" u="sng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已定义好的库函数作为</a:t>
            </a:r>
            <a:r>
              <a:rPr kumimoji="0" lang="zh-CN" altLang="en-US" sz="3600" b="1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被调函数</a:t>
            </a:r>
            <a:endParaRPr kumimoji="0" lang="en-US" altLang="zh-CN" sz="3600" b="1" i="0" u="sng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600" b="1" i="0" u="sng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#include &lt;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stdio.h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&gt;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int main( 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{ 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char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ch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ch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=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getchar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( 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+1;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putchar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ch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);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 return 0;  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}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7058025" cy="13525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标准库函数举例</a:t>
            </a:r>
            <a:endParaRPr kumimoji="0" lang="zh-CN" altLang="en-US" sz="5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9" name="Rectangle 4"/>
          <p:cNvSpPr/>
          <p:nvPr/>
        </p:nvSpPr>
        <p:spPr>
          <a:xfrm>
            <a:off x="9067800" y="3121025"/>
            <a:ext cx="1622425" cy="310832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运行：</a:t>
            </a:r>
            <a:br>
              <a:rPr lang="zh-CN" altLang="en-US" sz="2800" b="1" dirty="0">
                <a:latin typeface="Arial" panose="020B0604020202020204" pitchFamily="34" charset="0"/>
                <a:ea typeface="仿宋_GB2312"/>
              </a:rPr>
            </a:b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输入 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a</a:t>
            </a:r>
            <a:br>
              <a:rPr lang="en-US" altLang="zh-CN" sz="2800" b="1" dirty="0">
                <a:latin typeface="Arial" panose="020B0604020202020204" pitchFamily="34" charset="0"/>
                <a:ea typeface="仿宋_GB2312"/>
              </a:rPr>
            </a:b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输出 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b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en-US" altLang="zh-CN" sz="2800" b="1" dirty="0">
                <a:latin typeface="Arial" panose="020B0604020202020204" pitchFamily="34" charset="0"/>
                <a:ea typeface="仿宋_GB2312"/>
              </a:rPr>
            </a:b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再运行：</a:t>
            </a:r>
            <a:br>
              <a:rPr lang="zh-CN" altLang="en-US" sz="2800" b="1" dirty="0">
                <a:latin typeface="Arial" panose="020B0604020202020204" pitchFamily="34" charset="0"/>
                <a:ea typeface="仿宋_GB2312"/>
              </a:rPr>
            </a:b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输入 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7</a:t>
            </a:r>
            <a:br>
              <a:rPr lang="en-US" altLang="zh-CN" sz="2800" b="1" dirty="0">
                <a:latin typeface="Arial" panose="020B0604020202020204" pitchFamily="34" charset="0"/>
                <a:ea typeface="仿宋_GB2312"/>
              </a:rPr>
            </a:b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输出 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8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29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6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74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9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10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>
                                            <p:txEl>
                                              <p:charRg st="12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B4CA8-182E-4B98-A4C2-08080D9B50EA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17825" y="990600"/>
            <a:ext cx="67373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5.2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8099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2500313"/>
            <a:ext cx="7543800" cy="2665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5.2.1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 计算圆柱体积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1" action="ppaction://hlinksldjump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 5.2.1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函数的定义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 5.2.2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函数的调用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hlinkClick r:id="rId3" action="ppaction://hlinksldjump"/>
              </a:rPr>
              <a:t>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 5.2.3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先调用后定义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  <a:hlinkClick r:id="rId3" action="ppaction://hlinksldjump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函数声明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2FC2EA-047A-48CB-825F-E268DAC7E3D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6386" name="Rectangle 18"/>
          <p:cNvSpPr>
            <a:spLocks noGrp="1" noChangeArrowheads="1"/>
          </p:cNvSpPr>
          <p:nvPr>
            <p:ph idx="1"/>
          </p:nvPr>
        </p:nvSpPr>
        <p:spPr>
          <a:xfrm>
            <a:off x="76200" y="549275"/>
            <a:ext cx="10820400" cy="5832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5.2.1】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输入圆柱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体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的高和半径，求圆柱体积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v=</a:t>
            </a: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PI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*r</a:t>
            </a:r>
            <a:r>
              <a:rPr kumimoji="0" lang="en-US" altLang="zh-CN" sz="3600" b="1" i="0" u="none" strike="noStrike" kern="0" cap="none" spc="0" normalizeH="0" baseline="30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*h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要求定义和调用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cylinder ,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计算圆柱体的体积。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函数定义要点：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计算出何种结果？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返回类型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传递哪些数据？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形式参数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如何计算？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函数体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944493-9D77-4BDE-8924-C2E4FB63DBF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62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419100"/>
            <a:ext cx="10014585" cy="601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定义函数，求圆柱体积的函数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A04F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cylinder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double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double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result;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result =3.1415926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//计算体积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result;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返回结果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animBg="1" uiExpand="1" build="p"/>
      <p:bldP spid="450562" grpId="1" animBg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4EE66-8F1F-429D-995D-DE91400835E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98" name="Rectangle 18"/>
          <p:cNvSpPr>
            <a:spLocks noGrp="1" noChangeArrowheads="1"/>
          </p:cNvSpPr>
          <p:nvPr>
            <p:ph idx="1"/>
          </p:nvPr>
        </p:nvSpPr>
        <p:spPr>
          <a:xfrm>
            <a:off x="-317" y="0"/>
            <a:ext cx="9518650" cy="5695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计算圆柱体积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double </a:t>
            </a:r>
            <a:r>
              <a:rPr lang="en-US" altLang="zh-CN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cylinder (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double r, double h</a:t>
            </a:r>
            <a:r>
              <a:rPr lang="en-US" altLang="zh-CN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)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{	……}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height, radius,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volume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("Enter radius and height:\n ");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("%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lf%lf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 &amp;radius, &amp;height);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	/*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调用函数，返回值赋给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volume */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cylinder 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radius, height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(“volume = %.3lf\n",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volume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return 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4" name="Rectangle 20"/>
          <p:cNvSpPr/>
          <p:nvPr/>
        </p:nvSpPr>
        <p:spPr>
          <a:xfrm>
            <a:off x="8386763" y="927100"/>
            <a:ext cx="3805237" cy="1201738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Enter radius and height: </a:t>
            </a:r>
            <a:endParaRPr lang="en-US" altLang="zh-CN" sz="24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3.0  10</a:t>
            </a:r>
            <a:endParaRPr lang="en-US" altLang="zh-CN" sz="24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仿宋_GB2312"/>
              </a:rPr>
              <a:t>volume = 282.743</a:t>
            </a:r>
            <a:endParaRPr lang="zh-CN" altLang="en-US" sz="2400" b="1" dirty="0">
              <a:latin typeface="Arial" panose="020B0604020202020204" pitchFamily="34" charset="0"/>
              <a:ea typeface="仿宋_GB231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4191000"/>
            <a:ext cx="6611620" cy="450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0" y="6247765"/>
            <a:ext cx="11765280" cy="64897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或</a:t>
            </a:r>
            <a:r>
              <a:rPr lang="en-US" altLang="zh-CN" b="1" dirty="0"/>
              <a:t>  printf (“volume = </a:t>
            </a:r>
            <a:r>
              <a:rPr lang="en-US" altLang="zh-CN" b="1" dirty="0">
                <a:solidFill>
                  <a:srgbClr val="FF0000"/>
                </a:solidFill>
              </a:rPr>
              <a:t>%.3lf</a:t>
            </a:r>
            <a:r>
              <a:rPr lang="en-US" altLang="zh-CN" b="1" dirty="0"/>
              <a:t>\n", </a:t>
            </a:r>
            <a:r>
              <a:rPr lang="en-US" altLang="zh-CN" b="1" dirty="0">
                <a:solidFill>
                  <a:srgbClr val="FF0000"/>
                </a:solidFill>
              </a:rPr>
              <a:t>cylinder(radius, height)</a:t>
            </a:r>
            <a:r>
              <a:rPr lang="en-US" altLang="zh-CN" b="1" dirty="0"/>
              <a:t>);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4953000" y="4267200"/>
            <a:ext cx="381000" cy="228600"/>
          </a:xfrm>
          <a:prstGeom prst="rightArrow">
            <a:avLst/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26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>
                                            <p:txEl>
                                              <p:charRg st="79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>
                                            <p:txEl>
                                              <p:charRg st="122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>
                                            <p:txEl>
                                              <p:charRg st="224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4F6ED2-047D-42A5-B1D5-22C2566B773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6314" name="Rectangle 10"/>
          <p:cNvSpPr>
            <a:spLocks noGrp="1" noChangeArrowheads="1"/>
          </p:cNvSpPr>
          <p:nvPr>
            <p:ph type="title"/>
          </p:nvPr>
        </p:nvSpPr>
        <p:spPr>
          <a:xfrm>
            <a:off x="2801938" y="495300"/>
            <a:ext cx="5170488" cy="9334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5.2.1 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函数的定义 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6315" name="Rectangle 11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10744200" cy="3581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返回运算结果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的函数定义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函数经过运算，得到一个明确的运算结果，并需要回送该结果。例如，函数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cylinder()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返回圆柱的体积。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2.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不返回运算结果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的函数定义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函数完成一系列操作步骤，不需要回送任何运算结果。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828088" y="6364288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2C46C9-EF98-4BD9-B287-885C6B80272D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9387" name="Rectangle 11"/>
          <p:cNvSpPr>
            <a:spLocks noGrp="1" noChangeArrowheads="1"/>
          </p:cNvSpPr>
          <p:nvPr>
            <p:ph type="title"/>
          </p:nvPr>
        </p:nvSpPr>
        <p:spPr>
          <a:xfrm>
            <a:off x="5181600" y="304800"/>
            <a:ext cx="6705600" cy="1368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．返回运算结果的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9388" name="Rectangle 12"/>
          <p:cNvSpPr>
            <a:spLocks noGrp="1" noChangeArrowheads="1"/>
          </p:cNvSpPr>
          <p:nvPr>
            <p:ph idx="1"/>
          </p:nvPr>
        </p:nvSpPr>
        <p:spPr>
          <a:xfrm>
            <a:off x="285750" y="2968625"/>
            <a:ext cx="8569325" cy="3529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24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函数类型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函数名（形参列表）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函数首部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4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                     	                    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函数体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4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函数实现过程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4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表达式；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4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7893" name="Rectangle 4"/>
          <p:cNvSpPr/>
          <p:nvPr/>
        </p:nvSpPr>
        <p:spPr>
          <a:xfrm>
            <a:off x="419100" y="2343150"/>
            <a:ext cx="8686800" cy="434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229390" name="Line 14"/>
          <p:cNvSpPr/>
          <p:nvPr/>
        </p:nvSpPr>
        <p:spPr>
          <a:xfrm>
            <a:off x="1941513" y="3617913"/>
            <a:ext cx="685800" cy="1371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391" name="Text Box 15"/>
          <p:cNvSpPr txBox="1"/>
          <p:nvPr/>
        </p:nvSpPr>
        <p:spPr>
          <a:xfrm>
            <a:off x="212725" y="5921375"/>
            <a:ext cx="5041900" cy="4572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把函数运算的结果回送给主调函数</a:t>
            </a:r>
            <a:endParaRPr lang="zh-CN" altLang="en-US" sz="2400" b="1" dirty="0"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229393" name="Text Box 17"/>
          <p:cNvSpPr txBox="1"/>
          <p:nvPr/>
        </p:nvSpPr>
        <p:spPr>
          <a:xfrm>
            <a:off x="4021138" y="4876800"/>
            <a:ext cx="2684462" cy="519113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只能返回一个值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29395" name="Line 19"/>
          <p:cNvSpPr/>
          <p:nvPr/>
        </p:nvSpPr>
        <p:spPr>
          <a:xfrm flipH="1">
            <a:off x="1509713" y="2320925"/>
            <a:ext cx="0" cy="79216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9396" name="Rectangle 20"/>
          <p:cNvSpPr/>
          <p:nvPr/>
        </p:nvSpPr>
        <p:spPr>
          <a:xfrm>
            <a:off x="501650" y="1817688"/>
            <a:ext cx="3041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函数返回值的类型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29397" name="AutoShape 21"/>
          <p:cNvSpPr/>
          <p:nvPr/>
        </p:nvSpPr>
        <p:spPr>
          <a:xfrm>
            <a:off x="5087938" y="1962150"/>
            <a:ext cx="1606550" cy="519113"/>
          </a:xfrm>
          <a:prstGeom prst="wedgeRectCallout">
            <a:avLst>
              <a:gd name="adj1" fmla="val -28949"/>
              <a:gd name="adj2" fmla="val 203569"/>
            </a:avLst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没有分号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37900" name="Rectangle 23"/>
          <p:cNvSpPr/>
          <p:nvPr/>
        </p:nvSpPr>
        <p:spPr>
          <a:xfrm>
            <a:off x="430213" y="233363"/>
            <a:ext cx="4608512" cy="16256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rPr>
              <a:t>double </a:t>
            </a:r>
            <a:r>
              <a:rPr lang="en-US" altLang="zh-CN" sz="2000" b="1" dirty="0">
                <a:latin typeface="Arial" panose="020B0604020202020204" pitchFamily="34" charset="0"/>
              </a:rPr>
              <a:t>cylinder (double r, double h)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{   double result;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result = 3.1415926 * r * r * h;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</a:t>
            </a: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rPr>
              <a:t>return result;</a:t>
            </a:r>
            <a:endParaRPr lang="en-US" altLang="zh-CN" sz="20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229400" name="Line 24"/>
          <p:cNvSpPr/>
          <p:nvPr/>
        </p:nvSpPr>
        <p:spPr>
          <a:xfrm flipH="1" flipV="1">
            <a:off x="1870075" y="5345113"/>
            <a:ext cx="0" cy="6492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1" grpId="0" animBg="1"/>
      <p:bldP spid="229393" grpId="0" animBg="1"/>
      <p:bldP spid="229396" grpId="0"/>
      <p:bldP spid="2293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07E5B1-BC89-48E7-A78F-00C83226F934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84363" y="341313"/>
            <a:ext cx="1660525" cy="6207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形参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2195" name="Rectangle 3"/>
          <p:cNvSpPr>
            <a:spLocks noGrp="1" noChangeArrowheads="1"/>
          </p:cNvSpPr>
          <p:nvPr>
            <p:ph idx="1"/>
          </p:nvPr>
        </p:nvSpPr>
        <p:spPr>
          <a:xfrm>
            <a:off x="1627188" y="4414838"/>
            <a:ext cx="7442200" cy="938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，类型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 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……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，类型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参数之间用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逗号分隔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，每个参数前面的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类型都必须分别写明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941" name="Rectangle 4"/>
          <p:cNvSpPr/>
          <p:nvPr/>
        </p:nvSpPr>
        <p:spPr>
          <a:xfrm>
            <a:off x="5410200" y="990600"/>
            <a:ext cx="4103688" cy="19304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函数类型 函数名（</a:t>
            </a: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形参列表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>
                <a:latin typeface="Arial" panose="020B0604020202020204" pitchFamily="34" charset="0"/>
              </a:rPr>
              <a:t>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Arial" panose="020B0604020202020204" pitchFamily="34" charset="0"/>
              </a:rPr>
              <a:t>函数实现过程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</a:rPr>
              <a:t>return </a:t>
            </a:r>
            <a:r>
              <a:rPr lang="zh-CN" altLang="en-US" sz="2400" b="1" dirty="0">
                <a:latin typeface="Arial" panose="020B0604020202020204" pitchFamily="34" charset="0"/>
              </a:rPr>
              <a:t>表达式；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92197" name="Rectangle 5"/>
          <p:cNvSpPr/>
          <p:nvPr/>
        </p:nvSpPr>
        <p:spPr>
          <a:xfrm>
            <a:off x="1752600" y="1206500"/>
            <a:ext cx="3894138" cy="523875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不能缩写成 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double r, h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39943" name="Rectangle 6"/>
          <p:cNvSpPr/>
          <p:nvPr/>
        </p:nvSpPr>
        <p:spPr>
          <a:xfrm>
            <a:off x="728663" y="2214563"/>
            <a:ext cx="4608512" cy="1625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double cylinder (</a:t>
            </a: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rPr>
              <a:t>double r, double h</a:t>
            </a:r>
            <a:r>
              <a:rPr lang="en-US" altLang="zh-CN" sz="2000" b="1" dirty="0">
                <a:latin typeface="Arial" panose="020B0604020202020204" pitchFamily="34" charset="0"/>
              </a:rPr>
              <a:t>)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{   double result;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result =3.1415926 * r * r * h;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return result;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392199" name="Line 7"/>
          <p:cNvSpPr/>
          <p:nvPr/>
        </p:nvSpPr>
        <p:spPr>
          <a:xfrm flipH="1">
            <a:off x="6921500" y="1493838"/>
            <a:ext cx="1584325" cy="2663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92200" name="Line 8"/>
          <p:cNvSpPr/>
          <p:nvPr/>
        </p:nvSpPr>
        <p:spPr>
          <a:xfrm flipH="1">
            <a:off x="4329113" y="1709738"/>
            <a:ext cx="0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2195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/>
      <p:bldP spid="39219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686800" y="64008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4EB476-37C2-44A6-BA9C-118886EA317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7573" name="Rectangle 5"/>
          <p:cNvSpPr>
            <a:spLocks noGrp="1" noChangeArrowheads="1"/>
          </p:cNvSpPr>
          <p:nvPr>
            <p:ph idx="1"/>
          </p:nvPr>
        </p:nvSpPr>
        <p:spPr>
          <a:xfrm>
            <a:off x="750888" y="2152650"/>
            <a:ext cx="8569325" cy="3816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cylinder (double r, double h)        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函数首部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4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函数体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在一对大括号内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double result;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result =3.1415926 * r * r * h;        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计算圆柱体积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result;		                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返回运算结果*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7577" name="Rectangle 9"/>
          <p:cNvSpPr>
            <a:spLocks noGrp="1" noChangeArrowheads="1"/>
          </p:cNvSpPr>
          <p:nvPr>
            <p:ph type="title"/>
          </p:nvPr>
        </p:nvSpPr>
        <p:spPr>
          <a:xfrm>
            <a:off x="8128000" y="117475"/>
            <a:ext cx="3960813" cy="9556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分析函数的定义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7578" name="Line 10"/>
          <p:cNvSpPr/>
          <p:nvPr/>
        </p:nvSpPr>
        <p:spPr>
          <a:xfrm flipH="1">
            <a:off x="1325563" y="1593850"/>
            <a:ext cx="0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7579" name="Rectangle 11"/>
          <p:cNvSpPr/>
          <p:nvPr/>
        </p:nvSpPr>
        <p:spPr>
          <a:xfrm>
            <a:off x="649288" y="1073150"/>
            <a:ext cx="1612900" cy="519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函数类型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37580" name="Line 12"/>
          <p:cNvSpPr/>
          <p:nvPr/>
        </p:nvSpPr>
        <p:spPr>
          <a:xfrm flipH="1">
            <a:off x="2693988" y="1666875"/>
            <a:ext cx="0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7581" name="Line 13"/>
          <p:cNvSpPr/>
          <p:nvPr/>
        </p:nvSpPr>
        <p:spPr>
          <a:xfrm flipH="1">
            <a:off x="4422775" y="1647825"/>
            <a:ext cx="0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7582" name="Rectangle 14"/>
          <p:cNvSpPr/>
          <p:nvPr/>
        </p:nvSpPr>
        <p:spPr>
          <a:xfrm>
            <a:off x="2452688" y="1216025"/>
            <a:ext cx="1250950" cy="519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函数名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37583" name="Rectangle 15"/>
          <p:cNvSpPr/>
          <p:nvPr/>
        </p:nvSpPr>
        <p:spPr>
          <a:xfrm>
            <a:off x="4040188" y="1235075"/>
            <a:ext cx="1606550" cy="519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形参列表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37584" name="Rectangle 16"/>
          <p:cNvSpPr/>
          <p:nvPr/>
        </p:nvSpPr>
        <p:spPr>
          <a:xfrm>
            <a:off x="1652588" y="5537200"/>
            <a:ext cx="2684462" cy="519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与函数类型一致</a:t>
            </a:r>
            <a:endParaRPr lang="en-US" altLang="zh-CN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237585" name="Line 17"/>
          <p:cNvSpPr/>
          <p:nvPr/>
        </p:nvSpPr>
        <p:spPr>
          <a:xfrm flipH="1" flipV="1">
            <a:off x="2695575" y="4889500"/>
            <a:ext cx="0" cy="57626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9" grpId="0" animBg="1"/>
      <p:bldP spid="237582" grpId="0" animBg="1"/>
      <p:bldP spid="237583" grpId="0" animBg="1"/>
      <p:bldP spid="23758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C71675-E5CC-4FA2-97B6-5D7221C1414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24600" y="88900"/>
            <a:ext cx="5761038" cy="10271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．不返回运算结果的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8569325" cy="2808288"/>
          </a:xfrm>
          <a:ln w="38100">
            <a:solidFill>
              <a:schemeClr val="tx1"/>
            </a:solidFill>
          </a:ln>
        </p:spPr>
        <p:txBody>
          <a:bodyPr vert="horz" wrap="none" lIns="91440" tIns="45720" rIns="91440" bIns="45720" numCol="1" anchor="ctr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函数名（形参列表）  	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函数首部 *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                 			/*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函数体 *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函数实现过程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		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可以省略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*/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0148" name="Text Box 4"/>
          <p:cNvSpPr txBox="1"/>
          <p:nvPr/>
        </p:nvSpPr>
        <p:spPr>
          <a:xfrm>
            <a:off x="4248150" y="4341813"/>
            <a:ext cx="4827588" cy="519112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这类函数通常用于屏幕输出等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390151" name="Line 7"/>
          <p:cNvSpPr/>
          <p:nvPr/>
        </p:nvSpPr>
        <p:spPr>
          <a:xfrm flipH="1">
            <a:off x="1260475" y="1189038"/>
            <a:ext cx="0" cy="504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0152" name="Rectangle 8"/>
          <p:cNvSpPr/>
          <p:nvPr/>
        </p:nvSpPr>
        <p:spPr>
          <a:xfrm>
            <a:off x="434975" y="615950"/>
            <a:ext cx="2684463" cy="51911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表示不返回结果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390153" name="Rectangle 9"/>
          <p:cNvSpPr/>
          <p:nvPr/>
        </p:nvSpPr>
        <p:spPr>
          <a:xfrm>
            <a:off x="449263" y="5165725"/>
            <a:ext cx="5711825" cy="954088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函数类型为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void</a:t>
            </a: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时，不能省略</a:t>
            </a:r>
            <a:r>
              <a:rPr lang="en-US" altLang="zh-CN" sz="2800" b="1" dirty="0">
                <a:latin typeface="Arial" panose="020B0604020202020204" pitchFamily="34" charset="0"/>
                <a:ea typeface="仿宋_GB2312"/>
              </a:rPr>
              <a:t>void,</a:t>
            </a:r>
            <a:endParaRPr lang="zh-CN" altLang="en-US" sz="2800" b="1" dirty="0">
              <a:latin typeface="Arial" panose="020B0604020202020204" pitchFamily="34" charset="0"/>
              <a:ea typeface="仿宋_GB231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否则函数类型被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默认</a:t>
            </a:r>
            <a:r>
              <a:rPr lang="zh-CN" altLang="en-US" sz="2800" b="1" dirty="0">
                <a:latin typeface="Arial" panose="020B0604020202020204" pitchFamily="34" charset="0"/>
                <a:ea typeface="仿宋_GB2312"/>
              </a:rPr>
              <a:t>定义为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int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390154" name="Line 10"/>
          <p:cNvSpPr/>
          <p:nvPr/>
        </p:nvSpPr>
        <p:spPr>
          <a:xfrm flipH="1" flipV="1">
            <a:off x="973138" y="2181225"/>
            <a:ext cx="0" cy="2879725"/>
          </a:xfrm>
          <a:prstGeom prst="line">
            <a:avLst/>
          </a:prstGeom>
          <a:ln w="38100" cap="flat" cmpd="sng">
            <a:solidFill>
              <a:schemeClr val="tx1">
                <a:lumMod val="95000"/>
              </a:schemeClr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8" grpId="0" animBg="1"/>
      <p:bldP spid="390152" grpId="0" animBg="1"/>
      <p:bldP spid="3901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055100" y="5819775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232ED-251C-4D93-B269-688CE4D5997A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-495300" y="-152400"/>
            <a:ext cx="8820150" cy="771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5.2.2】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编函数，输出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行数字金字塔。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539750"/>
            <a:ext cx="8585200" cy="6165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输出数字金字塔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pyramid (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	/* 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i, j;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1;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&lt;= 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              /* 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需要输出的行数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for (j = 1; j &lt;= n-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j++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	/* 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输出每行左边的空格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 ");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for (j = 1; j &lt;=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j++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 	        /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 输出每行的数字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 %d ",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/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 每个数字的前后各有一个空格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putchar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('\n');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 (){   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pyramid(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调用函数，输出数字金字塔 *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return 0;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013" name="Text Box 4"/>
          <p:cNvSpPr txBox="1"/>
          <p:nvPr/>
        </p:nvSpPr>
        <p:spPr>
          <a:xfrm>
            <a:off x="9385300" y="4343400"/>
            <a:ext cx="1943100" cy="1930400"/>
          </a:xfrm>
          <a:prstGeom prst="rect">
            <a:avLst/>
          </a:prstGeom>
          <a:solidFill>
            <a:srgbClr val="008080"/>
          </a:solidFill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2  2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3  3  3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4  4  4  4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5  5  5  5  5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85300" y="5208588"/>
            <a:ext cx="503238" cy="215900"/>
          </a:xfrm>
          <a:prstGeom prst="rect">
            <a:avLst/>
          </a:prstGeom>
          <a:noFill/>
          <a:ln w="349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9904413" y="5200650"/>
            <a:ext cx="1062037" cy="215900"/>
          </a:xfrm>
          <a:prstGeom prst="rect">
            <a:avLst/>
          </a:prstGeom>
          <a:noFill/>
          <a:ln w="349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10966450" y="5200650"/>
            <a:ext cx="360363" cy="215900"/>
          </a:xfrm>
          <a:prstGeom prst="rect">
            <a:avLst/>
          </a:prstGeom>
          <a:solidFill>
            <a:srgbClr val="008080"/>
          </a:solidFill>
          <a:ln w="349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1100" b="1" dirty="0"/>
              <a:t>\n</a:t>
            </a:r>
            <a:endParaRPr lang="zh-CN" altLang="en-US" sz="1100" b="1" dirty="0"/>
          </a:p>
        </p:txBody>
      </p:sp>
      <p:sp>
        <p:nvSpPr>
          <p:cNvPr id="43017" name="Text Box 4"/>
          <p:cNvSpPr txBox="1"/>
          <p:nvPr/>
        </p:nvSpPr>
        <p:spPr>
          <a:xfrm>
            <a:off x="9637713" y="2828925"/>
            <a:ext cx="1346200" cy="1200150"/>
          </a:xfrm>
          <a:prstGeom prst="rect">
            <a:avLst/>
          </a:prstGeom>
          <a:solidFill>
            <a:srgbClr val="008080"/>
          </a:solidFill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2  2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3  3  3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0" name="对话气泡: 圆角矩形 9"/>
          <p:cNvSpPr/>
          <p:nvPr/>
        </p:nvSpPr>
        <p:spPr>
          <a:xfrm>
            <a:off x="3351213" y="477838"/>
            <a:ext cx="5945187" cy="436562"/>
          </a:xfrm>
          <a:prstGeom prst="wedgeRoundRectCallout">
            <a:avLst>
              <a:gd name="adj1" fmla="val -62648"/>
              <a:gd name="adj2" fmla="val 138315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latin typeface="Arial" panose="020B0604020202020204" pitchFamily="34" charset="0"/>
              </a:rPr>
              <a:t>思考</a:t>
            </a:r>
            <a:r>
              <a:rPr lang="en-US" altLang="zh-CN" sz="2400" b="1" dirty="0">
                <a:latin typeface="Arial" panose="020B0604020202020204" pitchFamily="34" charset="0"/>
              </a:rPr>
              <a:t>】</a:t>
            </a:r>
            <a:r>
              <a:rPr lang="zh-CN" altLang="en-US" sz="2400" b="1" dirty="0">
                <a:latin typeface="Arial" panose="020B0604020202020204" pitchFamily="34" charset="0"/>
              </a:rPr>
              <a:t>形参变量是否可以写到大括号里？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117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1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1171">
                                            <p:txEl>
                                              <p:charRg st="14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91171">
                                            <p:txEl>
                                              <p:charRg st="33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8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91171">
                                            <p:txEl>
                                              <p:charRg st="8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66" end="3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91171">
                                            <p:txEl>
                                              <p:charRg st="366" end="3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95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1171">
                                            <p:txEl>
                                              <p:charRg st="95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14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1171">
                                            <p:txEl>
                                              <p:charRg st="149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53" end="3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91171">
                                            <p:txEl>
                                              <p:charRg st="353" end="3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157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1171">
                                            <p:txEl>
                                              <p:charRg st="157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206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1171">
                                            <p:txEl>
                                              <p:charRg st="206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231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91171">
                                            <p:txEl>
                                              <p:charRg st="231" end="2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286" end="3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91171">
                                            <p:txEl>
                                              <p:charRg st="286" end="3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32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91171">
                                            <p:txEl>
                                              <p:charRg st="332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84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91171">
                                            <p:txEl>
                                              <p:charRg st="84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69" end="3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91171">
                                            <p:txEl>
                                              <p:charRg st="369" end="3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417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91171">
                                            <p:txEl>
                                              <p:charRg st="417" end="4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43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91171">
                                            <p:txEl>
                                              <p:charRg st="431" end="4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charRg st="385" end="4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91171">
                                            <p:txEl>
                                              <p:charRg st="385" end="4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0F61E4-5153-499B-A20C-B72F0A02B634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7788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5.2.2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函数的调用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55738"/>
            <a:ext cx="1089660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一个函数后，就可以在程序中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这个函数。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标准库函数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在程序的最前面用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命令包含相应的头文件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自定义函数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程序中必须有相对应的函数定义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3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6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1B6032-4926-4E0F-9349-2D4DD71A250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19375" y="96838"/>
            <a:ext cx="7335838" cy="6683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．函数调用的形式和过程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2427288"/>
            <a:ext cx="8640763" cy="4437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使用返回值：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volume 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cylinder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radius, height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%lf\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volume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或者：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%lf\n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cylinder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radius, height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无返回值：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pyramid(5);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5061" name="Rectangle 8"/>
          <p:cNvSpPr/>
          <p:nvPr/>
        </p:nvSpPr>
        <p:spPr>
          <a:xfrm>
            <a:off x="-26987" y="1563688"/>
            <a:ext cx="3708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bg2"/>
              </a:buClr>
              <a:buSzPct val="75000"/>
              <a:buNone/>
            </a:pPr>
            <a:r>
              <a:rPr lang="zh-CN" altLang="en-US" b="1" dirty="0">
                <a:latin typeface="Arial" panose="020B0604020202020204" pitchFamily="34" charset="0"/>
              </a:rPr>
              <a:t>函数名（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实参列表</a:t>
            </a:r>
            <a:r>
              <a:rPr lang="zh-CN" altLang="en-US" b="1" dirty="0">
                <a:latin typeface="Arial" panose="020B0604020202020204" pitchFamily="34" charset="0"/>
              </a:rPr>
              <a:t>）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2" name="椭圆形标注 1"/>
          <p:cNvSpPr/>
          <p:nvPr/>
        </p:nvSpPr>
        <p:spPr>
          <a:xfrm>
            <a:off x="2600325" y="725488"/>
            <a:ext cx="4276725" cy="863600"/>
          </a:xfrm>
          <a:prstGeom prst="wedgeEllipseCallout">
            <a:avLst>
              <a:gd name="adj1" fmla="val -51125"/>
              <a:gd name="adj2" fmla="val 57796"/>
            </a:avLst>
          </a:prstGeom>
          <a:solidFill>
            <a:srgbClr val="00808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常量、变量、表达式</a:t>
            </a:r>
            <a:endParaRPr lang="zh-CN" altLang="en-US" sz="2400" b="1" dirty="0">
              <a:latin typeface="Arial" panose="020B0604020202020204" pitchFamily="34" charset="0"/>
              <a:ea typeface="仿宋_GB2312"/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3" name="线形标注 1 2"/>
          <p:cNvSpPr/>
          <p:nvPr/>
        </p:nvSpPr>
        <p:spPr>
          <a:xfrm>
            <a:off x="3465513" y="2143125"/>
            <a:ext cx="4535487" cy="431800"/>
          </a:xfrm>
          <a:prstGeom prst="borderCallout1">
            <a:avLst>
              <a:gd name="adj1" fmla="val 39912"/>
              <a:gd name="adj2" fmla="val -1278"/>
              <a:gd name="adj3" fmla="val 231389"/>
              <a:gd name="adj4" fmla="val -27069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常用于有返回结果的函数的调用</a:t>
            </a:r>
            <a:endParaRPr lang="zh-CN" altLang="en-US" sz="2400" b="1" dirty="0">
              <a:latin typeface="仿宋_GB2312"/>
              <a:ea typeface="仿宋_GB2312"/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12" name="线形标注 1 11"/>
          <p:cNvSpPr/>
          <p:nvPr/>
        </p:nvSpPr>
        <p:spPr bwMode="auto">
          <a:xfrm>
            <a:off x="3392488" y="5661025"/>
            <a:ext cx="4321175" cy="431800"/>
          </a:xfrm>
          <a:prstGeom prst="borderCallout1">
            <a:avLst>
              <a:gd name="adj1" fmla="val 39914"/>
              <a:gd name="adj2" fmla="val -1278"/>
              <a:gd name="adj3" fmla="val 124259"/>
              <a:gd name="adj4" fmla="val -222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常用于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void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类型函数的调用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4243">
                                            <p:txEl>
                                              <p:charRg st="7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4243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6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4243">
                                            <p:txEl>
                                              <p:charRg st="68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7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4243">
                                            <p:txEl>
                                              <p:charRg st="72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12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4243">
                                            <p:txEl>
                                              <p:charRg st="120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12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4243">
                                            <p:txEl>
                                              <p:charRg st="12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uiExpand="1" build="p"/>
      <p:bldP spid="2" grpId="0" animBg="1"/>
      <p:bldP spid="3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5C2402-75C8-459F-9757-3FC4D9C5270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/>
          <p:cNvSpPr/>
          <p:nvPr/>
        </p:nvSpPr>
        <p:spPr>
          <a:xfrm>
            <a:off x="3373438" y="765175"/>
            <a:ext cx="1582737" cy="560388"/>
          </a:xfrm>
          <a:prstGeom prst="rect">
            <a:avLst/>
          </a:prstGeom>
          <a:noFill/>
          <a:ln w="9525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主程序</a:t>
            </a:r>
            <a:endParaRPr lang="zh-CN" altLang="en-US" sz="2800" b="1" dirty="0"/>
          </a:p>
        </p:txBody>
      </p:sp>
      <p:sp>
        <p:nvSpPr>
          <p:cNvPr id="451587" name="Rectangle 3"/>
          <p:cNvSpPr/>
          <p:nvPr/>
        </p:nvSpPr>
        <p:spPr>
          <a:xfrm>
            <a:off x="3071813" y="3068638"/>
            <a:ext cx="2058987" cy="504825"/>
          </a:xfrm>
          <a:prstGeom prst="rect">
            <a:avLst/>
          </a:prstGeom>
          <a:noFill/>
          <a:ln w="9525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调用函数</a:t>
            </a:r>
            <a:endParaRPr lang="zh-CN" altLang="en-US" sz="2800" b="1" dirty="0"/>
          </a:p>
        </p:txBody>
      </p:sp>
      <p:sp>
        <p:nvSpPr>
          <p:cNvPr id="451588" name="Rectangle 4"/>
          <p:cNvSpPr/>
          <p:nvPr/>
        </p:nvSpPr>
        <p:spPr>
          <a:xfrm>
            <a:off x="7967663" y="4581525"/>
            <a:ext cx="1225550" cy="549275"/>
          </a:xfrm>
          <a:prstGeom prst="rect">
            <a:avLst/>
          </a:prstGeom>
          <a:noFill/>
          <a:ln w="9525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返回</a:t>
            </a:r>
            <a:endParaRPr lang="zh-CN" altLang="en-US" sz="2800" b="1" dirty="0"/>
          </a:p>
        </p:txBody>
      </p:sp>
      <p:sp>
        <p:nvSpPr>
          <p:cNvPr id="451589" name="Rectangle 5"/>
          <p:cNvSpPr/>
          <p:nvPr/>
        </p:nvSpPr>
        <p:spPr>
          <a:xfrm>
            <a:off x="3143250" y="5373688"/>
            <a:ext cx="1825625" cy="544512"/>
          </a:xfrm>
          <a:prstGeom prst="rect">
            <a:avLst/>
          </a:prstGeom>
          <a:noFill/>
          <a:ln w="9525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结束</a:t>
            </a:r>
            <a:endParaRPr lang="zh-CN" altLang="en-US" sz="2800" b="1" dirty="0"/>
          </a:p>
        </p:txBody>
      </p:sp>
      <p:sp>
        <p:nvSpPr>
          <p:cNvPr id="451590" name="Rectangle 6"/>
          <p:cNvSpPr/>
          <p:nvPr/>
        </p:nvSpPr>
        <p:spPr>
          <a:xfrm>
            <a:off x="8045450" y="2124075"/>
            <a:ext cx="1003300" cy="566738"/>
          </a:xfrm>
          <a:prstGeom prst="rect">
            <a:avLst/>
          </a:prstGeom>
          <a:noFill/>
          <a:ln w="9525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函数</a:t>
            </a:r>
            <a:endParaRPr lang="zh-CN" altLang="en-US" sz="2800" b="1" dirty="0"/>
          </a:p>
        </p:txBody>
      </p:sp>
      <p:sp>
        <p:nvSpPr>
          <p:cNvPr id="451591" name="Line 7"/>
          <p:cNvSpPr/>
          <p:nvPr/>
        </p:nvSpPr>
        <p:spPr>
          <a:xfrm>
            <a:off x="4079875" y="1412875"/>
            <a:ext cx="0" cy="1520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lg" len="med"/>
          </a:ln>
        </p:spPr>
      </p:sp>
      <p:sp>
        <p:nvSpPr>
          <p:cNvPr id="451592" name="Line 8"/>
          <p:cNvSpPr/>
          <p:nvPr/>
        </p:nvSpPr>
        <p:spPr>
          <a:xfrm>
            <a:off x="4079875" y="3716338"/>
            <a:ext cx="0" cy="16795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lg" len="med"/>
          </a:ln>
        </p:spPr>
      </p:sp>
      <p:sp>
        <p:nvSpPr>
          <p:cNvPr id="451593" name="Line 9"/>
          <p:cNvSpPr/>
          <p:nvPr/>
        </p:nvSpPr>
        <p:spPr>
          <a:xfrm flipV="1">
            <a:off x="5114925" y="2446338"/>
            <a:ext cx="2851150" cy="7985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lg" len="med"/>
          </a:ln>
        </p:spPr>
      </p:sp>
      <p:sp>
        <p:nvSpPr>
          <p:cNvPr id="451594" name="Line 10"/>
          <p:cNvSpPr/>
          <p:nvPr/>
        </p:nvSpPr>
        <p:spPr>
          <a:xfrm>
            <a:off x="8521700" y="2686050"/>
            <a:ext cx="7938" cy="190976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lg" len="med"/>
          </a:ln>
        </p:spPr>
      </p:sp>
      <p:sp>
        <p:nvSpPr>
          <p:cNvPr id="451595" name="Line 11"/>
          <p:cNvSpPr/>
          <p:nvPr/>
        </p:nvSpPr>
        <p:spPr>
          <a:xfrm flipH="1" flipV="1">
            <a:off x="5037138" y="3484563"/>
            <a:ext cx="3087687" cy="12795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arrow" w="lg" len="med"/>
          </a:ln>
        </p:spPr>
      </p:sp>
      <p:sp>
        <p:nvSpPr>
          <p:cNvPr id="46093" name="Rectangle 12"/>
          <p:cNvSpPr/>
          <p:nvPr/>
        </p:nvSpPr>
        <p:spPr>
          <a:xfrm>
            <a:off x="3838575" y="6108700"/>
            <a:ext cx="4867275" cy="523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调用一个函数的大致执行过程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5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5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/>
      <p:bldP spid="451588" grpId="0"/>
      <p:bldP spid="451589" grpId="0"/>
      <p:bldP spid="4515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8049" name="Line 17"/>
          <p:cNvSpPr/>
          <p:nvPr/>
        </p:nvSpPr>
        <p:spPr>
          <a:xfrm flipV="1">
            <a:off x="4414838" y="685800"/>
            <a:ext cx="65087" cy="4800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8050" name="Line 18"/>
          <p:cNvSpPr/>
          <p:nvPr/>
        </p:nvSpPr>
        <p:spPr>
          <a:xfrm flipV="1">
            <a:off x="5926138" y="679450"/>
            <a:ext cx="322262" cy="4800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36E10B-5B45-4C9A-922B-764FDF7241F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943850" y="31750"/>
            <a:ext cx="4183063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函数调用的过程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28035" name="Rectangle 3"/>
          <p:cNvSpPr>
            <a:spLocks noGrp="1" noChangeArrowheads="1"/>
          </p:cNvSpPr>
          <p:nvPr>
            <p:ph idx="1"/>
          </p:nvPr>
        </p:nvSpPr>
        <p:spPr>
          <a:xfrm>
            <a:off x="52388" y="0"/>
            <a:ext cx="7891463" cy="6357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cylinder (double r, double h)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double result;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result =3.1415926 * r * r * h;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result;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00FF00"/>
                </a:highligh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00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 height, radius, volume;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("Enter radius and height: ");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lf%lf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 &amp;radius, &amp;height);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volume 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cylinder (radius, height 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("Volume = %.3lf\n", volume);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return 0;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8045" name="Rectangle 13"/>
          <p:cNvSpPr/>
          <p:nvPr/>
        </p:nvSpPr>
        <p:spPr>
          <a:xfrm>
            <a:off x="4333875" y="5013325"/>
            <a:ext cx="1800225" cy="523875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调用</a:t>
            </a:r>
            <a:r>
              <a:rPr lang="zh-CN" altLang="en-US" sz="2400" b="1" dirty="0">
                <a:latin typeface="Arial" panose="020B0604020202020204" pitchFamily="34" charset="0"/>
              </a:rPr>
              <a:t>函数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428051" name="Line 19"/>
          <p:cNvSpPr/>
          <p:nvPr/>
        </p:nvSpPr>
        <p:spPr>
          <a:xfrm>
            <a:off x="1552575" y="2120900"/>
            <a:ext cx="895350" cy="33750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8048" name="Rectangle 16"/>
          <p:cNvSpPr/>
          <p:nvPr/>
        </p:nvSpPr>
        <p:spPr>
          <a:xfrm>
            <a:off x="536575" y="2120900"/>
            <a:ext cx="3395663" cy="461963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返回至</a:t>
            </a: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调用它的地方</a:t>
            </a:r>
            <a:endParaRPr lang="zh-CN" altLang="en-US" sz="2400" b="1" dirty="0"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428046" name="Rectangle 14"/>
          <p:cNvSpPr/>
          <p:nvPr/>
        </p:nvSpPr>
        <p:spPr>
          <a:xfrm>
            <a:off x="4303713" y="2217738"/>
            <a:ext cx="1944687" cy="457200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实参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形参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仿宋_GB2312"/>
            </a:endParaRPr>
          </a:p>
        </p:txBody>
      </p:sp>
      <p:sp>
        <p:nvSpPr>
          <p:cNvPr id="428052" name="Rectangle 20"/>
          <p:cNvSpPr/>
          <p:nvPr/>
        </p:nvSpPr>
        <p:spPr>
          <a:xfrm>
            <a:off x="7851775" y="5699125"/>
            <a:ext cx="3152775" cy="1006475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仿宋_GB2312"/>
              </a:rPr>
              <a:t>Enter radius and height: </a:t>
            </a:r>
            <a:endParaRPr lang="en-US" altLang="zh-CN" sz="20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仿宋_GB2312"/>
              </a:rPr>
              <a:t>3.0  10</a:t>
            </a:r>
            <a:endParaRPr lang="en-US" altLang="zh-CN" sz="2000" b="1" dirty="0">
              <a:latin typeface="Arial" panose="020B0604020202020204" pitchFamily="34" charset="0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仿宋_GB2312"/>
              </a:rPr>
              <a:t>volume = 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仿宋_GB2312"/>
              </a:rPr>
              <a:t>282.743</a:t>
            </a:r>
            <a:endParaRPr lang="zh-CN" altLang="en-US" sz="2000" b="1" dirty="0">
              <a:solidFill>
                <a:srgbClr val="FF3300"/>
              </a:solidFill>
              <a:latin typeface="Arial" panose="020B0604020202020204" pitchFamily="34" charset="0"/>
              <a:ea typeface="仿宋_GB2312"/>
            </a:endParaRPr>
          </a:p>
        </p:txBody>
      </p:sp>
      <p:grpSp>
        <p:nvGrpSpPr>
          <p:cNvPr id="48140" name="Group 29"/>
          <p:cNvGrpSpPr/>
          <p:nvPr/>
        </p:nvGrpSpPr>
        <p:grpSpPr>
          <a:xfrm>
            <a:off x="7620000" y="3489325"/>
            <a:ext cx="2879725" cy="720725"/>
            <a:chOff x="3696" y="1797"/>
            <a:chExt cx="1814" cy="454"/>
          </a:xfrm>
        </p:grpSpPr>
        <p:sp>
          <p:nvSpPr>
            <p:cNvPr id="48157" name="Rectangle 23"/>
            <p:cNvSpPr/>
            <p:nvPr/>
          </p:nvSpPr>
          <p:spPr>
            <a:xfrm>
              <a:off x="3878" y="2024"/>
              <a:ext cx="68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/>
            </a:p>
          </p:txBody>
        </p:sp>
        <p:sp>
          <p:nvSpPr>
            <p:cNvPr id="48158" name="Rectangle 24"/>
            <p:cNvSpPr/>
            <p:nvPr/>
          </p:nvSpPr>
          <p:spPr>
            <a:xfrm>
              <a:off x="4830" y="2024"/>
              <a:ext cx="68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/>
            </a:p>
          </p:txBody>
        </p:sp>
        <p:sp>
          <p:nvSpPr>
            <p:cNvPr id="48159" name="Text Box 25"/>
            <p:cNvSpPr txBox="1"/>
            <p:nvPr/>
          </p:nvSpPr>
          <p:spPr>
            <a:xfrm>
              <a:off x="3696" y="1797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radius</a:t>
              </a:r>
              <a:endParaRPr lang="en-US" altLang="zh-CN" sz="1800" dirty="0"/>
            </a:p>
          </p:txBody>
        </p:sp>
        <p:sp>
          <p:nvSpPr>
            <p:cNvPr id="48160" name="Text Box 26"/>
            <p:cNvSpPr txBox="1"/>
            <p:nvPr/>
          </p:nvSpPr>
          <p:spPr>
            <a:xfrm>
              <a:off x="4649" y="1797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height</a:t>
              </a:r>
              <a:endParaRPr lang="en-US" altLang="zh-CN" sz="1800" dirty="0"/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7661275" y="1774825"/>
            <a:ext cx="2735263" cy="720725"/>
            <a:chOff x="3787" y="1162"/>
            <a:chExt cx="1723" cy="454"/>
          </a:xfrm>
        </p:grpSpPr>
        <p:sp>
          <p:nvSpPr>
            <p:cNvPr id="48153" name="Rectangle 21"/>
            <p:cNvSpPr/>
            <p:nvPr/>
          </p:nvSpPr>
          <p:spPr>
            <a:xfrm>
              <a:off x="3878" y="1389"/>
              <a:ext cx="68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3300"/>
                  </a:solidFill>
                </a:rPr>
                <a:t>3.0</a:t>
              </a:r>
              <a:endParaRPr lang="en-US" altLang="zh-CN" sz="1800" b="1" dirty="0">
                <a:solidFill>
                  <a:srgbClr val="FF3300"/>
                </a:solidFill>
              </a:endParaRPr>
            </a:p>
          </p:txBody>
        </p:sp>
        <p:sp>
          <p:nvSpPr>
            <p:cNvPr id="48154" name="Rectangle 22"/>
            <p:cNvSpPr/>
            <p:nvPr/>
          </p:nvSpPr>
          <p:spPr>
            <a:xfrm>
              <a:off x="4830" y="1389"/>
              <a:ext cx="68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3300"/>
                  </a:solidFill>
                </a:rPr>
                <a:t>10</a:t>
              </a:r>
              <a:endParaRPr lang="en-US" altLang="zh-CN" sz="1800" b="1" dirty="0">
                <a:solidFill>
                  <a:srgbClr val="FF3300"/>
                </a:solidFill>
              </a:endParaRPr>
            </a:p>
          </p:txBody>
        </p:sp>
        <p:sp>
          <p:nvSpPr>
            <p:cNvPr id="48155" name="Text Box 27"/>
            <p:cNvSpPr txBox="1"/>
            <p:nvPr/>
          </p:nvSpPr>
          <p:spPr>
            <a:xfrm>
              <a:off x="3787" y="1162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r</a:t>
              </a:r>
              <a:endParaRPr lang="en-US" altLang="zh-CN" sz="1800" dirty="0"/>
            </a:p>
          </p:txBody>
        </p:sp>
        <p:sp>
          <p:nvSpPr>
            <p:cNvPr id="48156" name="Text Box 28"/>
            <p:cNvSpPr txBox="1"/>
            <p:nvPr/>
          </p:nvSpPr>
          <p:spPr>
            <a:xfrm>
              <a:off x="4740" y="1162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h</a:t>
              </a:r>
              <a:endParaRPr lang="en-US" altLang="zh-CN" sz="1800" dirty="0"/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8124825" y="3843338"/>
            <a:ext cx="2089150" cy="366712"/>
            <a:chOff x="4014" y="2069"/>
            <a:chExt cx="1316" cy="231"/>
          </a:xfrm>
        </p:grpSpPr>
        <p:sp>
          <p:nvSpPr>
            <p:cNvPr id="48151" name="Text Box 31"/>
            <p:cNvSpPr txBox="1"/>
            <p:nvPr/>
          </p:nvSpPr>
          <p:spPr>
            <a:xfrm>
              <a:off x="4014" y="2069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3.0</a:t>
              </a:r>
              <a:endParaRPr lang="en-US" altLang="zh-CN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48152" name="Text Box 32"/>
            <p:cNvSpPr txBox="1"/>
            <p:nvPr/>
          </p:nvSpPr>
          <p:spPr>
            <a:xfrm>
              <a:off x="4967" y="2069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10</a:t>
              </a:r>
              <a:endParaRPr lang="en-US" altLang="zh-CN" sz="1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28066" name="Text Box 34"/>
          <p:cNvSpPr txBox="1"/>
          <p:nvPr/>
        </p:nvSpPr>
        <p:spPr>
          <a:xfrm>
            <a:off x="7837488" y="2846388"/>
            <a:ext cx="10795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endParaRPr lang="en-US" altLang="zh-CN" sz="1400" b="1" dirty="0"/>
          </a:p>
        </p:txBody>
      </p:sp>
      <p:sp>
        <p:nvSpPr>
          <p:cNvPr id="48144" name="Text Box 35"/>
          <p:cNvSpPr txBox="1"/>
          <p:nvPr/>
        </p:nvSpPr>
        <p:spPr>
          <a:xfrm>
            <a:off x="7581900" y="4216400"/>
            <a:ext cx="10795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r>
              <a:rPr lang="en-US" altLang="zh-CN" sz="1800" b="1" dirty="0"/>
              <a:t>volume</a:t>
            </a:r>
            <a:endParaRPr lang="en-US" altLang="zh-CN" sz="1800" b="1" dirty="0"/>
          </a:p>
        </p:txBody>
      </p:sp>
      <p:sp>
        <p:nvSpPr>
          <p:cNvPr id="428069" name="Text Box 37"/>
          <p:cNvSpPr txBox="1"/>
          <p:nvPr/>
        </p:nvSpPr>
        <p:spPr>
          <a:xfrm>
            <a:off x="7837488" y="2841625"/>
            <a:ext cx="10795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r>
              <a:rPr lang="en-US" altLang="zh-CN" sz="1400" b="1" dirty="0">
                <a:solidFill>
                  <a:srgbClr val="FF3300"/>
                </a:solidFill>
              </a:rPr>
              <a:t>282.743</a:t>
            </a:r>
            <a:endParaRPr lang="en-US" altLang="zh-CN" sz="1400" b="1" dirty="0">
              <a:solidFill>
                <a:srgbClr val="FF3300"/>
              </a:solidFill>
            </a:endParaRPr>
          </a:p>
        </p:txBody>
      </p:sp>
      <p:sp>
        <p:nvSpPr>
          <p:cNvPr id="48146" name="Line 38"/>
          <p:cNvSpPr/>
          <p:nvPr/>
        </p:nvSpPr>
        <p:spPr>
          <a:xfrm>
            <a:off x="7691438" y="3429000"/>
            <a:ext cx="33131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" name="Text Box 35"/>
          <p:cNvSpPr txBox="1"/>
          <p:nvPr/>
        </p:nvSpPr>
        <p:spPr>
          <a:xfrm>
            <a:off x="7705725" y="2541588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r>
              <a:rPr lang="en-US" altLang="zh-CN" sz="1400" b="1" dirty="0"/>
              <a:t>result</a:t>
            </a:r>
            <a:endParaRPr lang="en-US" altLang="zh-CN" sz="1400" b="1" dirty="0"/>
          </a:p>
        </p:txBody>
      </p:sp>
      <p:sp>
        <p:nvSpPr>
          <p:cNvPr id="48148" name="Text Box 37"/>
          <p:cNvSpPr txBox="1"/>
          <p:nvPr/>
        </p:nvSpPr>
        <p:spPr>
          <a:xfrm>
            <a:off x="7893050" y="4678363"/>
            <a:ext cx="122555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endParaRPr lang="en-US" altLang="zh-CN" sz="1400" b="1" dirty="0">
              <a:solidFill>
                <a:srgbClr val="FF3300"/>
              </a:solidFill>
            </a:endParaRPr>
          </a:p>
        </p:txBody>
      </p:sp>
      <p:sp>
        <p:nvSpPr>
          <p:cNvPr id="30" name="Text Box 37"/>
          <p:cNvSpPr txBox="1"/>
          <p:nvPr/>
        </p:nvSpPr>
        <p:spPr>
          <a:xfrm>
            <a:off x="7893050" y="4664075"/>
            <a:ext cx="122555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r>
              <a:rPr lang="en-US" altLang="zh-CN" sz="1400" b="1" dirty="0">
                <a:solidFill>
                  <a:srgbClr val="FF3300"/>
                </a:solidFill>
              </a:rPr>
              <a:t>282.743</a:t>
            </a:r>
            <a:endParaRPr lang="en-US" altLang="zh-CN" sz="1400" b="1" dirty="0">
              <a:solidFill>
                <a:srgbClr val="FF3300"/>
              </a:solidFill>
            </a:endParaRPr>
          </a:p>
        </p:txBody>
      </p:sp>
      <p:sp>
        <p:nvSpPr>
          <p:cNvPr id="428047" name="Rectangle 15"/>
          <p:cNvSpPr/>
          <p:nvPr/>
        </p:nvSpPr>
        <p:spPr>
          <a:xfrm>
            <a:off x="5876925" y="1198563"/>
            <a:ext cx="3241675" cy="461962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仿宋_GB2312"/>
              </a:rPr>
              <a:t>执行</a:t>
            </a:r>
            <a:r>
              <a:rPr lang="zh-CN" altLang="en-US" sz="2400" b="1" dirty="0">
                <a:latin typeface="Arial" panose="020B0604020202020204" pitchFamily="34" charset="0"/>
                <a:ea typeface="仿宋_GB2312"/>
              </a:rPr>
              <a:t>函数体中的语句</a:t>
            </a:r>
            <a:endParaRPr lang="zh-CN" altLang="en-US" sz="2400" b="1" dirty="0">
              <a:latin typeface="Arial" panose="020B0604020202020204" pitchFamily="34" charset="0"/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>
                                            <p:txEl>
                                              <p:charRg st="26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1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5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73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106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15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28052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45" grpId="0" animBg="1"/>
      <p:bldP spid="428048" grpId="0" bldLvl="0" animBg="1"/>
      <p:bldP spid="428046" grpId="0" bldLvl="0" animBg="1"/>
      <p:bldP spid="428052" grpId="0" animBg="1" build="allAtOnce"/>
      <p:bldP spid="428066" grpId="0" animBg="1"/>
      <p:bldP spid="428066" grpId="1" animBg="1"/>
      <p:bldP spid="428069" grpId="0" animBg="1"/>
      <p:bldP spid="428069" grpId="1" animBg="1"/>
      <p:bldP spid="32" grpId="0"/>
      <p:bldP spid="32" grpId="1"/>
      <p:bldP spid="30" grpId="0" animBg="1"/>
      <p:bldP spid="4280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11D9E-32DD-4684-915E-66FDA92EE4ED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30588" y="338138"/>
            <a:ext cx="4264025" cy="996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．参数传递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-46037" y="1357313"/>
            <a:ext cx="6856413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时的参数被称为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形式参数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（简称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形参：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变量，用于接受实参传递过来的值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double cylinder (double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double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{……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时的参数被称为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实际参数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（简称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实参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常量、变量或表达式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volume = cylinder 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radius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height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volume = cylinder (9.3, 10);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8" name="Line 17"/>
          <p:cNvSpPr/>
          <p:nvPr/>
        </p:nvSpPr>
        <p:spPr>
          <a:xfrm flipV="1">
            <a:off x="4367213" y="2632075"/>
            <a:ext cx="176212" cy="21685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" name="Line 17"/>
          <p:cNvSpPr/>
          <p:nvPr/>
        </p:nvSpPr>
        <p:spPr>
          <a:xfrm flipV="1">
            <a:off x="5562600" y="2744788"/>
            <a:ext cx="504825" cy="20558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矩形 1"/>
          <p:cNvSpPr/>
          <p:nvPr/>
        </p:nvSpPr>
        <p:spPr>
          <a:xfrm>
            <a:off x="6773863" y="2192338"/>
            <a:ext cx="2971800" cy="24733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</a:rPr>
              <a:t>实参</a:t>
            </a:r>
            <a:r>
              <a:rPr lang="en-US" altLang="zh-CN" sz="2800" b="1" dirty="0">
                <a:sym typeface="Wingdings" panose="05000000000000000000" pitchFamily="2" charset="2"/>
              </a:rPr>
              <a:t></a:t>
            </a:r>
            <a:r>
              <a:rPr lang="zh-CN" altLang="en-US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形参</a:t>
            </a:r>
            <a:endParaRPr lang="en-US" altLang="zh-CN" sz="2800" b="1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800100" lvl="1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1" dirty="0"/>
              <a:t>单向</a:t>
            </a:r>
            <a:endParaRPr lang="en-US" altLang="zh-CN" sz="2400" b="1" dirty="0"/>
          </a:p>
          <a:p>
            <a:pPr marL="800100" lvl="1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1" dirty="0"/>
              <a:t>传值</a:t>
            </a:r>
            <a:endParaRPr lang="zh-CN" altLang="en-US" sz="2400" b="1" dirty="0">
              <a:sym typeface="Wingdings" panose="05000000000000000000" pitchFamily="2" charset="2"/>
            </a:endParaRPr>
          </a:p>
          <a:p>
            <a:pPr marL="800100" lvl="1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1" dirty="0"/>
              <a:t>一一对应</a:t>
            </a:r>
            <a:endParaRPr lang="en-US" altLang="zh-CN" sz="2400" b="1" dirty="0"/>
          </a:p>
          <a:p>
            <a:pPr marL="1257300" lvl="2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FF00"/>
                </a:solidFill>
              </a:rPr>
              <a:t>数量一致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1257300" lvl="2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FF00"/>
                </a:solidFill>
              </a:rPr>
              <a:t>类型一致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1257300" lvl="2" indent="-342900" algn="just" eaLnBrk="1" hangingPunct="1">
              <a:lnSpc>
                <a:spcPct val="9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FF00"/>
                </a:solidFill>
              </a:rPr>
              <a:t>顺序一致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95270" name="Text Box 6"/>
          <p:cNvSpPr txBox="1"/>
          <p:nvPr/>
        </p:nvSpPr>
        <p:spPr>
          <a:xfrm>
            <a:off x="4267200" y="3197225"/>
            <a:ext cx="2022475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仿宋_GB2312"/>
              </a:rPr>
              <a:t>单向、传值</a:t>
            </a: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527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055A61-BFA5-48CC-8846-2419B4AEE18C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304800"/>
            <a:ext cx="5684838" cy="996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．函数结果返回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>
          <a:xfrm>
            <a:off x="0" y="1557338"/>
            <a:ext cx="12192000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函数返回形式：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）完成确定的运算，有一个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运算结果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返回给主调函数。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表达式；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  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表达式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）完成指定工作，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没有运算结果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需返回给主调函数（函数类型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return;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根据算法需要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charRg st="6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charRg st="9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AB61F-2669-40FA-A734-83021216F75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61913"/>
            <a:ext cx="4140200" cy="14319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函数设计要点：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7187" name="Rectangle 3"/>
          <p:cNvSpPr>
            <a:spLocks noGrp="1" noChangeArrowheads="1"/>
          </p:cNvSpPr>
          <p:nvPr>
            <p:ph idx="1"/>
          </p:nvPr>
        </p:nvSpPr>
        <p:spPr>
          <a:xfrm>
            <a:off x="0" y="2060575"/>
            <a:ext cx="9048750" cy="4502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(1)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你想得到什么样的函数值？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  <a:sym typeface="Wingdings" panose="05000000000000000000" pitchFamily="2" charset="2"/>
              </a:rPr>
              <a:t>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确定返回值类型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(2)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你需要提供什么样的数据？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  <a:sym typeface="Wingdings" panose="05000000000000000000" pitchFamily="2" charset="2"/>
              </a:rPr>
              <a:t>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确定形参个数及类型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(3)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你要怎样完成相应的功能？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  <a:sym typeface="Wingdings" panose="05000000000000000000" pitchFamily="2" charset="2"/>
              </a:rPr>
              <a:t>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设计函数体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</p:txBody>
      </p:sp>
      <p:sp>
        <p:nvSpPr>
          <p:cNvPr id="477188" name="Text Box 4"/>
          <p:cNvSpPr txBox="1"/>
          <p:nvPr/>
        </p:nvSpPr>
        <p:spPr>
          <a:xfrm>
            <a:off x="8382000" y="4484688"/>
            <a:ext cx="3744913" cy="1938337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doulbe</a:t>
            </a:r>
            <a:r>
              <a:rPr lang="en-US" altLang="zh-CN" sz="2400" b="1" dirty="0"/>
              <a:t> sqrt( </a:t>
            </a:r>
            <a:r>
              <a:rPr lang="en-US" altLang="zh-CN" sz="2400" b="1" dirty="0">
                <a:solidFill>
                  <a:srgbClr val="FFFF00"/>
                </a:solidFill>
              </a:rPr>
              <a:t>doulbe a</a:t>
            </a:r>
            <a:r>
              <a:rPr lang="en-US" altLang="zh-CN" sz="2400" b="1" dirty="0"/>
              <a:t> 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//</a:t>
            </a:r>
            <a:r>
              <a:rPr lang="en-US" altLang="zh-CN" sz="2400" b="1" dirty="0">
                <a:latin typeface="Arial" panose="020B0604020202020204" pitchFamily="34" charset="0"/>
              </a:rPr>
              <a:t>……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return…;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  <p:sp>
        <p:nvSpPr>
          <p:cNvPr id="477189" name="Text Box 5"/>
          <p:cNvSpPr txBox="1"/>
          <p:nvPr/>
        </p:nvSpPr>
        <p:spPr>
          <a:xfrm>
            <a:off x="6942138" y="47625"/>
            <a:ext cx="5184775" cy="1938338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float</a:t>
            </a:r>
            <a:r>
              <a:rPr lang="en-US" altLang="zh-CN" sz="2400" b="1" dirty="0"/>
              <a:t> sum( </a:t>
            </a:r>
            <a:r>
              <a:rPr lang="en-US" altLang="zh-CN" sz="2400" b="1" dirty="0">
                <a:solidFill>
                  <a:srgbClr val="FFFF00"/>
                </a:solidFill>
              </a:rPr>
              <a:t>float a,float b,float c</a:t>
            </a:r>
            <a:r>
              <a:rPr lang="en-US" altLang="zh-CN" sz="2400" b="1" dirty="0"/>
              <a:t> 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//</a:t>
            </a:r>
            <a:r>
              <a:rPr lang="en-US" altLang="zh-CN" sz="2400" b="1" dirty="0">
                <a:latin typeface="Arial" panose="020B0604020202020204" pitchFamily="34" charset="0"/>
              </a:rPr>
              <a:t>……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return …;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  <p:sp>
        <p:nvSpPr>
          <p:cNvPr id="477190" name="Text Box 6"/>
          <p:cNvSpPr txBox="1"/>
          <p:nvPr/>
        </p:nvSpPr>
        <p:spPr>
          <a:xfrm>
            <a:off x="8382000" y="2060575"/>
            <a:ext cx="3744913" cy="1570038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void</a:t>
            </a:r>
            <a:r>
              <a:rPr lang="en-US" altLang="zh-CN" sz="2400" b="1" dirty="0"/>
              <a:t> prtData( </a:t>
            </a:r>
            <a:r>
              <a:rPr lang="en-US" altLang="zh-CN" sz="2400" b="1" dirty="0">
                <a:solidFill>
                  <a:srgbClr val="FFFF00"/>
                </a:solidFill>
              </a:rPr>
              <a:t>char ch</a:t>
            </a:r>
            <a:r>
              <a:rPr lang="en-US" altLang="zh-CN" sz="2400" b="1" dirty="0"/>
              <a:t> 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//</a:t>
            </a:r>
            <a:r>
              <a:rPr lang="en-US" altLang="zh-CN" sz="2400" b="1" dirty="0">
                <a:latin typeface="Arial" panose="020B0604020202020204" pitchFamily="34" charset="0"/>
              </a:rPr>
              <a:t>……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2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4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charRg st="7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 uiExpand="1" build="p"/>
      <p:bldP spid="477188" grpId="0" animBg="1"/>
      <p:bldP spid="477189" grpId="0" animBg="1" uiExpand="1"/>
      <p:bldP spid="477190" grpId="0" animBg="1" uiExpan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07D3FC-9CB2-44E1-A039-03707FCC7C9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188913"/>
            <a:ext cx="4918075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函数调用示意图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+mj-ea"/>
              <a:cs typeface="+mj-cs"/>
            </a:endParaRPr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>
          <a:xfrm>
            <a:off x="1919288" y="1412875"/>
            <a:ext cx="8507413" cy="5445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int  main(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{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......                  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函数定义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形实结合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函数调用；     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.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执行函数体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......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返回主调函数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.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                                函数执行结束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主调函数                     被调函数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</p:txBody>
      </p:sp>
      <p:sp>
        <p:nvSpPr>
          <p:cNvPr id="52229" name="Line 4"/>
          <p:cNvSpPr/>
          <p:nvPr/>
        </p:nvSpPr>
        <p:spPr>
          <a:xfrm>
            <a:off x="7032625" y="2636838"/>
            <a:ext cx="0" cy="172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0" name="Line 5"/>
          <p:cNvSpPr/>
          <p:nvPr/>
        </p:nvSpPr>
        <p:spPr>
          <a:xfrm flipV="1">
            <a:off x="4224338" y="2708275"/>
            <a:ext cx="1800225" cy="9366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1" name="Line 6"/>
          <p:cNvSpPr/>
          <p:nvPr/>
        </p:nvSpPr>
        <p:spPr>
          <a:xfrm flipH="1" flipV="1">
            <a:off x="4151313" y="3716338"/>
            <a:ext cx="1873250" cy="649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2" name="Rectangle 7"/>
          <p:cNvSpPr/>
          <p:nvPr/>
        </p:nvSpPr>
        <p:spPr>
          <a:xfrm>
            <a:off x="6024563" y="2276475"/>
            <a:ext cx="2663825" cy="3457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52233" name="Rectangle 8"/>
          <p:cNvSpPr/>
          <p:nvPr/>
        </p:nvSpPr>
        <p:spPr>
          <a:xfrm>
            <a:off x="1919288" y="1268413"/>
            <a:ext cx="2663825" cy="4464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E58184-3832-455D-B7A6-E16F683694C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3874" name="Rectangle 2"/>
          <p:cNvSpPr>
            <a:spLocks noGrp="1" noChangeArrowheads="1"/>
          </p:cNvSpPr>
          <p:nvPr>
            <p:ph idx="1"/>
          </p:nvPr>
        </p:nvSpPr>
        <p:spPr>
          <a:xfrm>
            <a:off x="47625" y="12700"/>
            <a:ext cx="9553575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课堂练习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函数参数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】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void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swap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x,int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y)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函数定义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int t;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00FF00"/>
              </a:highlight>
              <a:uLnTx/>
              <a:uFillTx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 t=x;    x=y;    y=t;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 main( )</a:t>
            </a:r>
            <a:r>
              <a:rPr lang="en-US" altLang="zh-CN" sz="2800" b="1" noProof="0" dirty="0">
                <a:ln>
                  <a:noFill/>
                </a:ln>
                <a:solidFill>
                  <a:srgbClr val="FFCCFF"/>
                </a:solidFill>
                <a:uLnTx/>
                <a:uFillTx/>
                <a:latin typeface="Verdana" panose="020B0604030504040204" pitchFamily="34" charset="0"/>
                <a:ea typeface="隶书" pitchFamily="49" charset="-122"/>
                <a:sym typeface="+mn-ea"/>
              </a:rPr>
              <a:t>// </a:t>
            </a:r>
            <a:r>
              <a:rPr lang="zh-CN" altLang="en-US" sz="2800" b="1" noProof="0" dirty="0">
                <a:ln>
                  <a:noFill/>
                </a:ln>
                <a:solidFill>
                  <a:srgbClr val="FFCCFF"/>
                </a:solidFill>
                <a:uLnTx/>
                <a:uFillTx/>
                <a:latin typeface="Verdana" panose="020B0604030504040204" pitchFamily="34" charset="0"/>
                <a:ea typeface="隶书" pitchFamily="49" charset="-122"/>
                <a:sym typeface="+mn-ea"/>
              </a:rPr>
              <a:t>主调函数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a=2 ; b=5;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swap(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);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函数调用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("a=%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d,b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=%d\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n",a,b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}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</p:txBody>
      </p:sp>
      <p:sp>
        <p:nvSpPr>
          <p:cNvPr id="463878" name="Rectangle 6"/>
          <p:cNvSpPr/>
          <p:nvPr/>
        </p:nvSpPr>
        <p:spPr>
          <a:xfrm>
            <a:off x="8183563" y="5373688"/>
            <a:ext cx="2339975" cy="136842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buClr>
                <a:schemeClr val="accent2"/>
              </a:buClr>
              <a:buNone/>
            </a:pPr>
            <a:r>
              <a:rPr lang="zh-CN" altLang="en-US" sz="3600" dirty="0">
                <a:solidFill>
                  <a:srgbClr val="B2B2B2"/>
                </a:solidFill>
                <a:ea typeface="隶书" pitchFamily="49" charset="-122"/>
              </a:rPr>
              <a:t>输出：</a:t>
            </a:r>
            <a:endParaRPr lang="zh-CN" altLang="en-US" sz="3600" dirty="0">
              <a:solidFill>
                <a:srgbClr val="B2B2B2"/>
              </a:solidFill>
              <a:ea typeface="隶书" pitchFamily="49" charset="-122"/>
            </a:endParaRPr>
          </a:p>
          <a:p>
            <a:pPr marL="0" lvl="0" indent="0"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chemeClr val="bg1"/>
                </a:solidFill>
                <a:ea typeface="隶书" pitchFamily="49" charset="-122"/>
              </a:rPr>
              <a:t>a=2 , b=5</a:t>
            </a:r>
            <a:endParaRPr lang="zh-CN" altLang="en-US" sz="3600" dirty="0">
              <a:solidFill>
                <a:schemeClr val="bg1"/>
              </a:solidFill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DDACCD-F1AC-4415-929C-4D7EC910BC4C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0018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306388"/>
            <a:ext cx="7559675" cy="6115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void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swap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x,int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y)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函数定义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{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 t=x;    x=y;    y=t;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("x=%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d,y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=%d\n",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x,y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}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main(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a=2 ; b=5;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swap(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);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函数调用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("a=%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d,b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=%d\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n",a,b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</p:txBody>
      </p:sp>
      <p:sp>
        <p:nvSpPr>
          <p:cNvPr id="55300" name="Rectangle 4"/>
          <p:cNvSpPr/>
          <p:nvPr/>
        </p:nvSpPr>
        <p:spPr>
          <a:xfrm>
            <a:off x="9805988" y="0"/>
            <a:ext cx="2339975" cy="180022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buClr>
                <a:schemeClr val="accent2"/>
              </a:buClr>
              <a:buNone/>
            </a:pPr>
            <a:r>
              <a:rPr lang="zh-CN" altLang="en-US" sz="3600" dirty="0">
                <a:solidFill>
                  <a:srgbClr val="B2B2B2"/>
                </a:solidFill>
                <a:ea typeface="隶书" pitchFamily="49" charset="-122"/>
              </a:rPr>
              <a:t>输出：</a:t>
            </a:r>
            <a:endParaRPr lang="zh-CN" altLang="en-US" sz="3600" dirty="0">
              <a:solidFill>
                <a:srgbClr val="B2B2B2"/>
              </a:solidFill>
              <a:ea typeface="隶书" pitchFamily="49" charset="-122"/>
            </a:endParaRPr>
          </a:p>
          <a:p>
            <a:pPr marL="0" lvl="0" indent="0"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chemeClr val="bg1"/>
                </a:solidFill>
                <a:ea typeface="隶书" pitchFamily="49" charset="-122"/>
              </a:rPr>
              <a:t>x=5 , y=2</a:t>
            </a:r>
            <a:endParaRPr lang="en-US" altLang="zh-CN" sz="3600" dirty="0">
              <a:solidFill>
                <a:schemeClr val="bg1"/>
              </a:solidFill>
              <a:ea typeface="隶书" pitchFamily="49" charset="-122"/>
            </a:endParaRPr>
          </a:p>
          <a:p>
            <a:pPr marL="0" lvl="0" indent="0"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chemeClr val="bg1"/>
                </a:solidFill>
                <a:ea typeface="隶书" pitchFamily="49" charset="-122"/>
              </a:rPr>
              <a:t>a=2 , b=5</a:t>
            </a:r>
            <a:endParaRPr lang="zh-CN" altLang="en-US" sz="3600" dirty="0">
              <a:solidFill>
                <a:schemeClr val="bg1"/>
              </a:solidFill>
              <a:ea typeface="隶书" pitchFamily="49" charset="-122"/>
            </a:endParaRPr>
          </a:p>
        </p:txBody>
      </p:sp>
      <p:sp>
        <p:nvSpPr>
          <p:cNvPr id="470022" name="Rectangle 6"/>
          <p:cNvSpPr/>
          <p:nvPr/>
        </p:nvSpPr>
        <p:spPr>
          <a:xfrm>
            <a:off x="9048750" y="4646613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70023" name="Rectangle 7"/>
          <p:cNvSpPr/>
          <p:nvPr/>
        </p:nvSpPr>
        <p:spPr>
          <a:xfrm>
            <a:off x="9048750" y="4214813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70024" name="Text Box 8"/>
          <p:cNvSpPr txBox="1"/>
          <p:nvPr/>
        </p:nvSpPr>
        <p:spPr>
          <a:xfrm>
            <a:off x="8328025" y="4718050"/>
            <a:ext cx="5762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b: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25" name="Text Box 9"/>
          <p:cNvSpPr txBox="1"/>
          <p:nvPr/>
        </p:nvSpPr>
        <p:spPr>
          <a:xfrm>
            <a:off x="8328025" y="4214813"/>
            <a:ext cx="576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a: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26" name="Rectangle 10"/>
          <p:cNvSpPr/>
          <p:nvPr/>
        </p:nvSpPr>
        <p:spPr>
          <a:xfrm>
            <a:off x="9048750" y="3429000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5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27" name="Rectangle 11"/>
          <p:cNvSpPr/>
          <p:nvPr/>
        </p:nvSpPr>
        <p:spPr>
          <a:xfrm>
            <a:off x="9048750" y="2995613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2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28" name="Text Box 12"/>
          <p:cNvSpPr txBox="1"/>
          <p:nvPr/>
        </p:nvSpPr>
        <p:spPr>
          <a:xfrm>
            <a:off x="8328025" y="3500438"/>
            <a:ext cx="576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y: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29" name="Text Box 13"/>
          <p:cNvSpPr txBox="1"/>
          <p:nvPr/>
        </p:nvSpPr>
        <p:spPr>
          <a:xfrm>
            <a:off x="8328025" y="2997200"/>
            <a:ext cx="5762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X: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70030" name="Rectangle 14"/>
          <p:cNvSpPr/>
          <p:nvPr/>
        </p:nvSpPr>
        <p:spPr>
          <a:xfrm>
            <a:off x="9061450" y="2995613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</a:rPr>
              <a:t>5</a:t>
            </a:r>
            <a:endParaRPr lang="en-US" altLang="zh-CN" b="1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470031" name="Rectangle 15"/>
          <p:cNvSpPr/>
          <p:nvPr/>
        </p:nvSpPr>
        <p:spPr>
          <a:xfrm>
            <a:off x="9048750" y="3427413"/>
            <a:ext cx="1150938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</a:rPr>
              <a:t>2</a:t>
            </a:r>
            <a:endParaRPr lang="en-US" altLang="zh-CN" b="1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470032" name="Rectangle 16"/>
          <p:cNvSpPr/>
          <p:nvPr/>
        </p:nvSpPr>
        <p:spPr>
          <a:xfrm>
            <a:off x="3286125" y="6248400"/>
            <a:ext cx="6913563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00FF00"/>
                </a:highlight>
                <a:uLnTx/>
                <a:uFillTx/>
                <a:cs typeface="+mn-ea"/>
              </a:rPr>
              <a:t>简单变量做参数，不能实现a,b的交换</a:t>
            </a:r>
            <a:endParaRPr lang="zh-CN" altLang="en-US" sz="2800" b="1" kern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00FF00"/>
              </a:highlight>
              <a:uLnTx/>
              <a:uFillTx/>
              <a:cs typeface="+mn-ea"/>
            </a:endParaRPr>
          </a:p>
        </p:txBody>
      </p:sp>
      <p:sp>
        <p:nvSpPr>
          <p:cNvPr id="16" name="Line 17"/>
          <p:cNvSpPr/>
          <p:nvPr/>
        </p:nvSpPr>
        <p:spPr>
          <a:xfrm flipV="1">
            <a:off x="1955800" y="1082675"/>
            <a:ext cx="1295400" cy="36353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" name="Line 17"/>
          <p:cNvSpPr/>
          <p:nvPr/>
        </p:nvSpPr>
        <p:spPr>
          <a:xfrm flipV="1">
            <a:off x="2386013" y="1176338"/>
            <a:ext cx="1873250" cy="34496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cxnSp>
        <p:nvCxnSpPr>
          <p:cNvPr id="3" name="直接连接符 2"/>
          <p:cNvCxnSpPr/>
          <p:nvPr/>
        </p:nvCxnSpPr>
        <p:spPr>
          <a:xfrm>
            <a:off x="7978775" y="4038600"/>
            <a:ext cx="3744913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7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charRg st="8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charRg st="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charRg st="1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nimBg="1"/>
      <p:bldP spid="470026" grpId="0" animBg="1"/>
      <p:bldP spid="470027" grpId="0" animBg="1"/>
      <p:bldP spid="470028" grpId="0"/>
      <p:bldP spid="470029" grpId="0"/>
      <p:bldP spid="470030" grpId="0" animBg="1"/>
      <p:bldP spid="470031" grpId="0" animBg="1"/>
      <p:bldP spid="4700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E5A716-DC49-4775-B3DD-2CFA1CE7269B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914400"/>
            <a:ext cx="8458200" cy="763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函数定义、调用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392363"/>
            <a:ext cx="11963400" cy="23806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1" action="ppaction://hlinksldjump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1" action="ppaction://hlinksldjump"/>
              </a:rPr>
              <a:t>课堂练习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1" action="ppaction://hlinksldjump"/>
              </a:rPr>
              <a:t>1】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1" action="ppaction://hlinksldjump"/>
              </a:rPr>
              <a:t>定义判断奇偶数的函数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  <a:hlinkClick r:id="rId2" action="ppaction://hlinksldjump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  <a:hlinkClick r:id="rId2" action="ppaction://hlinksldjump"/>
              </a:rPr>
              <a:t>课堂练习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  <a:hlinkClick r:id="rId2" action="ppaction://hlinksldjump"/>
              </a:rPr>
              <a:t>2】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2" action="ppaction://hlinksldjump"/>
              </a:rPr>
              <a:t>编函数，求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2" action="ppaction://hlinksldjump"/>
              </a:rPr>
              <a:t>n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2" action="ppaction://hlinksldjump"/>
              </a:rPr>
              <a:t>！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hlinkClick r:id="rId2" action="ppaction://hlinksldjump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  <a:hlinkClick r:id="rId3" action="ppaction://hlinksldjump"/>
              </a:rPr>
              <a:t>【</a:t>
            </a:r>
            <a:r>
              <a:rPr lang="zh-CN" altLang="en-US" sz="320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  <a:hlinkClick r:id="rId3" action="ppaction://hlinksldjump"/>
              </a:rPr>
              <a:t>课堂练习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  <a:hlinkClick r:id="rId3" action="ppaction://hlinksldjump"/>
              </a:rPr>
              <a:t>3】</a:t>
            </a:r>
            <a:r>
              <a:rPr lang="zh-CN" altLang="en-US" sz="32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编函数，求组合</a:t>
            </a:r>
            <a:r>
              <a:rPr lang="zh-CN" altLang="en-US" sz="3200" u="sng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数</a:t>
            </a:r>
            <a:r>
              <a:rPr lang="en-US" altLang="zh-CN" sz="3200" u="sng" baseline="-25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 </a:t>
            </a:r>
            <a:r>
              <a:rPr lang="en-US" altLang="zh-CN" sz="3200" u="sng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C</a:t>
            </a:r>
            <a:r>
              <a:rPr lang="en-US" altLang="zh-CN" sz="3200" u="sng" baseline="30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3</a:t>
            </a:r>
            <a:r>
              <a:rPr lang="en-US" altLang="zh-CN" sz="3200" u="sng" baseline="-25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9 </a:t>
            </a:r>
            <a:r>
              <a:rPr lang="zh-CN" altLang="en-US" sz="3200" u="sng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，</a:t>
            </a:r>
            <a:r>
              <a:rPr lang="en-US" altLang="zh-CN" sz="3200" u="sng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C</a:t>
            </a:r>
            <a:r>
              <a:rPr lang="en-US" altLang="zh-CN" sz="3200" u="sng" baseline="30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5</a:t>
            </a:r>
            <a:r>
              <a:rPr lang="en-US" altLang="zh-CN" sz="3200" u="sng" baseline="-25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  <a:hlinkClick r:id="rId3" action="ppaction://hlinksldjump"/>
              </a:rPr>
              <a:t>8   </a:t>
            </a:r>
            <a:endParaRPr kumimoji="0" lang="en-US" altLang="zh-CN" sz="3200" b="1" i="0" u="sng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sng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hlinkClick r:id="rId4" action="ppaction://hlinksldjump"/>
              </a:rPr>
              <a:t>  </a:t>
            </a:r>
            <a:endParaRPr kumimoji="0" lang="en-US" altLang="zh-CN" sz="3200" b="1" i="0" u="sng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37BBFD-FB54-4B8A-B027-1254217FF43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-11112" y="77788"/>
            <a:ext cx="12098338" cy="5873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定义判断奇偶数的函数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even (n)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，偶数返回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，奇数返回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2291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09713"/>
            <a:ext cx="5054600" cy="4154488"/>
          </a:xfrm>
          <a:ln w="25400">
            <a:solidFill>
              <a:srgbClr val="FFFF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even (int n)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函数首部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			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if(n%2 == 0)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1;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偶数返回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	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奇数返回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	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397" name="Rectangle 4"/>
          <p:cNvSpPr/>
          <p:nvPr/>
        </p:nvSpPr>
        <p:spPr>
          <a:xfrm>
            <a:off x="6134577" y="941388"/>
            <a:ext cx="5642610" cy="52197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仿宋_GB2312"/>
              </a:rPr>
              <a:t>如何</a:t>
            </a:r>
            <a:r>
              <a:rPr lang="en-US" altLang="zh-CN" sz="28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调用</a:t>
            </a:r>
            <a:r>
              <a:rPr lang="zh-CN" altLang="en-US" sz="2400" b="1" dirty="0">
                <a:latin typeface="宋体" panose="02010600030101010101" pitchFamily="2" charset="-122"/>
              </a:rPr>
              <a:t>函数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使输出所有三位的偶数？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6326" name="AutoShape 5">
            <a:hlinkClick r:id="rId1" action="ppaction://hlinksldjump"/>
          </p:cNvPr>
          <p:cNvSpPr/>
          <p:nvPr/>
        </p:nvSpPr>
        <p:spPr>
          <a:xfrm>
            <a:off x="11318875" y="5988050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300788" y="1509713"/>
            <a:ext cx="5257800" cy="3721100"/>
          </a:xfrm>
          <a:prstGeom prst="rect">
            <a:avLst/>
          </a:prstGeom>
          <a:noFill/>
          <a:ln w="25400" algn="ctr">
            <a:solidFill>
              <a:srgbClr val="FFFF00"/>
            </a:solidFill>
            <a:rou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for 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=100;i&lt;=999;i++)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 if(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even(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==1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(“%4d”,i);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8" name="矩形 2"/>
          <p:cNvSpPr/>
          <p:nvPr/>
        </p:nvSpPr>
        <p:spPr>
          <a:xfrm>
            <a:off x="430213" y="908050"/>
            <a:ext cx="5054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/>
              <a:t>如何定义函数？</a:t>
            </a:r>
            <a:endParaRPr lang="en-US" altLang="zh-CN" sz="2400" b="1" dirty="0"/>
          </a:p>
        </p:txBody>
      </p:sp>
      <p:sp>
        <p:nvSpPr>
          <p:cNvPr id="5" name="对话气泡: 圆角矩形 4"/>
          <p:cNvSpPr/>
          <p:nvPr/>
        </p:nvSpPr>
        <p:spPr>
          <a:xfrm>
            <a:off x="3389313" y="4635500"/>
            <a:ext cx="4078288" cy="2209800"/>
          </a:xfrm>
          <a:prstGeom prst="wedgeRoundRectCallout">
            <a:avLst>
              <a:gd name="adj1" fmla="val -42743"/>
              <a:gd name="adj2" fmla="val -62293"/>
              <a:gd name="adj3" fmla="val 16667"/>
            </a:avLst>
          </a:prstGeom>
          <a:solidFill>
            <a:schemeClr val="tx2">
              <a:lumMod val="75000"/>
            </a:schemeClr>
          </a:solidFill>
        </p:spPr>
        <p:txBody>
          <a:bodyPr lIns="0" rIns="0" anchor="ctr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函数定义能否改成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even (int n) {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if(n%2 == 0)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1;		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72400" y="2819400"/>
            <a:ext cx="2397125" cy="46037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even(i)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291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2915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95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2915">
                                            <p:txEl>
                                              <p:charRg st="95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2915">
                                            <p:txEl>
                                              <p:charRg st="32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4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22915">
                                            <p:txEl>
                                              <p:charRg st="4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6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2915">
                                            <p:txEl>
                                              <p:charRg st="67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2915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9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5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2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  <p:bldP spid="2" grpId="0" bldLvl="0" animBg="1"/>
      <p:bldP spid="5" grpId="0" bldLvl="0" animBg="1"/>
      <p:bldP spid="10" grpId="0" bldLvl="0" animBg="1"/>
      <p:bldP spid="10" grpId="1" bldLvl="0" animBg="1"/>
      <p:bldP spid="10" grpId="2" animBg="1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8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115425" y="62484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784698-437C-4CD3-BD02-5CCB77E645D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-111125" y="6015038"/>
            <a:ext cx="6210300" cy="8429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课堂练习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2】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编函数求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n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！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+mj-ea"/>
              <a:cs typeface="+mj-cs"/>
            </a:endParaRPr>
          </a:p>
        </p:txBody>
      </p:sp>
      <p:sp>
        <p:nvSpPr>
          <p:cNvPr id="48333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200025" y="360363"/>
            <a:ext cx="4932363" cy="4465638"/>
          </a:xfrm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&gt;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main(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num,v,s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=1;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请输入一个整数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(”%d”, 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num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);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for(v=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; v&lt;=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num;v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     s=s*v;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("%d\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n",s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  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</p:txBody>
      </p:sp>
      <p:sp>
        <p:nvSpPr>
          <p:cNvPr id="483333" name="Rectangle 5"/>
          <p:cNvSpPr/>
          <p:nvPr/>
        </p:nvSpPr>
        <p:spPr>
          <a:xfrm>
            <a:off x="6626225" y="3749675"/>
            <a:ext cx="4968875" cy="310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	int num,s;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printf("</a:t>
            </a:r>
            <a:r>
              <a:rPr lang="zh-CN" altLang="en-US" sz="2400" b="1" dirty="0"/>
              <a:t>请输入一个整数</a:t>
            </a:r>
            <a:r>
              <a:rPr lang="en-US" altLang="zh-CN" sz="2400" b="1" dirty="0"/>
              <a:t>:");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scanf("%d",&amp;num);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>
                <a:solidFill>
                  <a:srgbClr val="FFFF00"/>
                </a:solidFill>
              </a:rPr>
              <a:t>s=fac(num);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printf("%d\n",s);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Verdana" panose="020B0604030504040204" pitchFamily="34" charset="0"/>
                <a:ea typeface="隶书" pitchFamily="49" charset="-122"/>
              </a:rPr>
              <a:t>         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sp>
        <p:nvSpPr>
          <p:cNvPr id="4833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702425" y="228600"/>
            <a:ext cx="4284663" cy="3573463"/>
          </a:xfrm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fac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(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){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	int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v,p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p=1;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	for(v=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; v&lt;=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;v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++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     	p=p*v;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return p;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}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1663" y="2997200"/>
            <a:ext cx="4427538" cy="863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传递给函数的数据：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num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返回的计算结果：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33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83331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11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3331">
                                            <p:txEl>
                                              <p:charRg st="113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4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3331">
                                            <p:txEl>
                                              <p:charRg st="4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59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83331">
                                            <p:txEl>
                                              <p:charRg st="59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8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83331">
                                            <p:txEl>
                                              <p:charRg st="82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83331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98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3331">
                                            <p:txEl>
                                              <p:charRg st="98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3" grpId="0"/>
      <p:bldP spid="483331" grpId="0" animBg="1" build="p"/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E9E16-1846-42E0-AB9B-C5ADF4FDED7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4354" name="Rectangle 2"/>
          <p:cNvSpPr>
            <a:spLocks noGrp="1" noChangeArrowheads="1"/>
          </p:cNvSpPr>
          <p:nvPr>
            <p:ph idx="1"/>
          </p:nvPr>
        </p:nvSpPr>
        <p:spPr>
          <a:xfrm>
            <a:off x="0" y="-4762"/>
            <a:ext cx="7924800" cy="3890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#include 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&gt;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fac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n)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{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int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v,p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=1;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	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for(v=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; v&lt;=n; v++ 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   	p*=v;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	return p;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  <a:p>
            <a:pPr marL="342900" marR="0" lvl="0" indent="381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Gungsuh" pitchFamily="18" charset="-127"/>
              <a:cs typeface="+mn-cs"/>
            </a:endParaRPr>
          </a:p>
        </p:txBody>
      </p:sp>
      <p:sp>
        <p:nvSpPr>
          <p:cNvPr id="60420" name="Rectangle 4"/>
          <p:cNvSpPr/>
          <p:nvPr/>
        </p:nvSpPr>
        <p:spPr>
          <a:xfrm>
            <a:off x="2057400" y="3429000"/>
            <a:ext cx="914400" cy="9144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60421" name="Text Box 7"/>
          <p:cNvSpPr txBox="1"/>
          <p:nvPr/>
        </p:nvSpPr>
        <p:spPr>
          <a:xfrm>
            <a:off x="6477000" y="2895600"/>
            <a:ext cx="4726940" cy="539750"/>
          </a:xfrm>
          <a:prstGeom prst="rect">
            <a:avLst/>
          </a:prstGeom>
          <a:noFill/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【</a:t>
            </a:r>
            <a:r>
              <a:rPr lang="zh-CN" altLang="en-US" sz="2400" b="1" dirty="0">
                <a:solidFill>
                  <a:schemeClr val="tx1"/>
                </a:solidFill>
              </a:rPr>
              <a:t>思考</a:t>
            </a:r>
            <a:r>
              <a:rPr lang="en-US" altLang="zh-CN" sz="2400" b="1" dirty="0">
                <a:solidFill>
                  <a:schemeClr val="tx1"/>
                </a:solidFill>
              </a:rPr>
              <a:t>】</a:t>
            </a:r>
            <a:r>
              <a:rPr lang="zh-CN" altLang="en-US" sz="2400" b="1" dirty="0">
                <a:solidFill>
                  <a:schemeClr val="tx1"/>
                </a:solidFill>
              </a:rPr>
              <a:t>此程序实现什么功能？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0422" name="AutoShape 5">
            <a:hlinkClick r:id="rId1" action="ppaction://hlinksldjump"/>
          </p:cNvPr>
          <p:cNvSpPr/>
          <p:nvPr/>
        </p:nvSpPr>
        <p:spPr>
          <a:xfrm>
            <a:off x="11283950" y="5805488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60423" name="矩形 1"/>
          <p:cNvSpPr/>
          <p:nvPr/>
        </p:nvSpPr>
        <p:spPr>
          <a:xfrm>
            <a:off x="3200400" y="3512820"/>
            <a:ext cx="7603490" cy="319278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int main()</a:t>
            </a:r>
            <a:endParaRPr lang="en-US" altLang="zh-CN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{</a:t>
            </a:r>
            <a:endParaRPr lang="en-US" altLang="zh-CN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	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int i;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	for(i=1;i&lt;=8;++i)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    		printf(“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%d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\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n",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fac(i)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); 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	return 0;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3810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}</a:t>
            </a:r>
            <a:endParaRPr lang="en-US" altLang="zh-CN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61442" name="矩形 1"/>
          <p:cNvSpPr/>
          <p:nvPr/>
        </p:nvSpPr>
        <p:spPr>
          <a:xfrm>
            <a:off x="3276600" y="2776538"/>
            <a:ext cx="8393113" cy="4078605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int main()</a:t>
            </a:r>
            <a:endParaRPr lang="en-US" altLang="zh-CN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Gungsuh" pitchFamily="18" charset="-127"/>
              </a:rPr>
              <a:t>{</a:t>
            </a:r>
            <a:endParaRPr lang="en-US" altLang="zh-CN" b="1" dirty="0">
              <a:solidFill>
                <a:srgbClr val="FFFF00"/>
              </a:solidFill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</a:rPr>
              <a:t>	float c93,c85;</a:t>
            </a:r>
            <a:endParaRPr lang="en-US" altLang="zh-CN" b="1" dirty="0"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 	</a:t>
            </a:r>
            <a:r>
              <a:rPr lang="en-US" altLang="zh-CN" b="1" dirty="0">
                <a:solidFill>
                  <a:srgbClr val="FF3300"/>
                </a:solidFill>
                <a:latin typeface="Verdana" panose="020B0604030504040204" pitchFamily="34" charset="0"/>
                <a:ea typeface="Gungsuh" pitchFamily="18" charset="-127"/>
              </a:rPr>
              <a:t>c93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=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fac(</a:t>
            </a:r>
            <a:r>
              <a:rPr lang="en-US" altLang="zh-CN" b="1" dirty="0">
                <a:latin typeface="Verdana" panose="020B0604030504040204" pitchFamily="34" charset="0"/>
              </a:rPr>
              <a:t>9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)</a:t>
            </a:r>
            <a:r>
              <a:rPr lang="en-US" altLang="zh-CN" b="1" dirty="0">
                <a:latin typeface="Verdana" panose="020B0604030504040204" pitchFamily="34" charset="0"/>
              </a:rPr>
              <a:t>/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fac(</a:t>
            </a:r>
            <a:r>
              <a:rPr lang="en-US" altLang="zh-CN" b="1" dirty="0">
                <a:latin typeface="Verdana" panose="020B0604030504040204" pitchFamily="34" charset="0"/>
              </a:rPr>
              <a:t>3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)</a:t>
            </a:r>
            <a:r>
              <a:rPr lang="en-US" altLang="zh-CN" b="1" dirty="0">
                <a:latin typeface="Verdana" panose="020B0604030504040204" pitchFamily="34" charset="0"/>
              </a:rPr>
              <a:t>/ 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fac(</a:t>
            </a:r>
            <a:r>
              <a:rPr lang="en-US" altLang="zh-CN" b="1" dirty="0">
                <a:latin typeface="Verdana" panose="020B0604030504040204" pitchFamily="34" charset="0"/>
              </a:rPr>
              <a:t>9-3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)</a:t>
            </a:r>
            <a:r>
              <a:rPr lang="en-US" altLang="zh-CN" b="1" dirty="0">
                <a:latin typeface="Verdana" panose="020B0604030504040204" pitchFamily="34" charset="0"/>
              </a:rPr>
              <a:t>;</a:t>
            </a:r>
            <a:endParaRPr lang="en-US" altLang="zh-CN" b="1" dirty="0"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 	</a:t>
            </a:r>
            <a:r>
              <a:rPr lang="en-US" altLang="zh-CN" b="1" dirty="0">
                <a:solidFill>
                  <a:srgbClr val="FF3300"/>
                </a:solidFill>
                <a:latin typeface="Verdana" panose="020B0604030504040204" pitchFamily="34" charset="0"/>
                <a:ea typeface="Gungsuh" pitchFamily="18" charset="-127"/>
              </a:rPr>
              <a:t>c85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=</a:t>
            </a:r>
            <a:r>
              <a:rPr lang="en-US" altLang="zh-CN" b="1" dirty="0">
                <a:latin typeface="Verdana" panose="020B0604030504040204" pitchFamily="34" charset="0"/>
              </a:rPr>
              <a:t>fac(8)/fac(5)/ fac(8-5);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 	printf("c93=%f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\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n", </a:t>
            </a:r>
            <a:r>
              <a:rPr lang="en-US" altLang="zh-CN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c93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); </a:t>
            </a:r>
            <a:endParaRPr lang="en-US" altLang="zh-CN" b="1" dirty="0">
              <a:latin typeface="Verdana" panose="020B0604030504040204" pitchFamily="34" charset="0"/>
              <a:ea typeface="Gungsuh" pitchFamily="18" charset="-127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  	printf("c85=%f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\</a:t>
            </a:r>
            <a:r>
              <a:rPr lang="en-US" altLang="zh-CN" b="1" dirty="0">
                <a:latin typeface="Verdana" panose="020B0604030504040204" pitchFamily="34" charset="0"/>
                <a:ea typeface="Gungsuh" pitchFamily="18" charset="-127"/>
              </a:rPr>
              <a:t>n", </a:t>
            </a:r>
            <a:r>
              <a:rPr lang="en-US" altLang="zh-CN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c85</a:t>
            </a:r>
            <a:r>
              <a:rPr lang="en-US" altLang="zh-CN" b="1" dirty="0">
                <a:latin typeface="Verdana" panose="020B0604030504040204" pitchFamily="34" charset="0"/>
              </a:rPr>
              <a:t>);</a:t>
            </a:r>
            <a:endParaRPr lang="en-US" altLang="zh-CN" b="1" dirty="0"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 	return 0;</a:t>
            </a:r>
            <a:r>
              <a:rPr lang="en-US" altLang="zh-CN" b="1" dirty="0">
                <a:latin typeface="Verdana" panose="020B0604030504040204" pitchFamily="34" charset="0"/>
              </a:rPr>
              <a:t>  </a:t>
            </a:r>
            <a:endParaRPr lang="en-US" altLang="zh-CN" b="1" dirty="0"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</a:rPr>
              <a:t> }</a:t>
            </a:r>
            <a:r>
              <a:rPr lang="en-US" altLang="zh-CN" b="1" dirty="0">
                <a:latin typeface="Verdana" panose="020B0604030504040204" pitchFamily="34" charset="0"/>
                <a:ea typeface="楷体_GB2312"/>
              </a:rPr>
              <a:t>                               </a:t>
            </a:r>
            <a:r>
              <a:rPr lang="en-US" altLang="zh-CN" b="1" dirty="0">
                <a:solidFill>
                  <a:schemeClr val="accent1"/>
                </a:solidFill>
                <a:latin typeface="Verdana" panose="020B0604030504040204" pitchFamily="34" charset="0"/>
                <a:ea typeface="楷体_GB2312"/>
              </a:rPr>
              <a:t> </a:t>
            </a:r>
            <a:endParaRPr lang="en-US" altLang="zh-CN" b="1" dirty="0">
              <a:solidFill>
                <a:schemeClr val="accent1"/>
              </a:solidFill>
              <a:latin typeface="Verdana" panose="020B0604030504040204" pitchFamily="34" charset="0"/>
              <a:ea typeface="楷体_GB2312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B3F937-09E3-44C8-93B2-30BF6C571A0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0" name="Rectangle 2"/>
          <p:cNvSpPr>
            <a:spLocks noGrp="1" noChangeArrowheads="1"/>
          </p:cNvSpPr>
          <p:nvPr>
            <p:ph idx="1"/>
          </p:nvPr>
        </p:nvSpPr>
        <p:spPr>
          <a:xfrm>
            <a:off x="0" y="80963"/>
            <a:ext cx="5181600" cy="3432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float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fac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k)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float  f;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for( f=1.0; k&gt;1; k--)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	f*=k;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return f;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title"/>
          </p:nvPr>
        </p:nvSpPr>
        <p:spPr>
          <a:xfrm>
            <a:off x="4495800" y="0"/>
            <a:ext cx="7696200" cy="6207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课堂练习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3】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编函数，求组合数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C</a:t>
            </a:r>
            <a:r>
              <a:rPr kumimoji="0" lang="en-US" altLang="zh-CN" sz="3200" b="1" i="0" u="none" strike="noStrike" kern="0" cap="none" spc="0" normalizeH="0" baseline="30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3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9   ,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C</a:t>
            </a:r>
            <a:r>
              <a:rPr kumimoji="0" lang="en-US" altLang="zh-CN" sz="3200" b="1" i="0" u="none" strike="noStrike" kern="0" cap="none" spc="0" normalizeH="0" baseline="30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5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8   </a:t>
            </a:r>
            <a:r>
              <a:rPr kumimoji="0" lang="zh-CN" altLang="en-US" sz="3200" b="1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+mj-ea"/>
              <a:cs typeface="+mj-cs"/>
            </a:endParaRPr>
          </a:p>
        </p:txBody>
      </p:sp>
      <p:pic>
        <p:nvPicPr>
          <p:cNvPr id="61446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350" y="639763"/>
            <a:ext cx="4657725" cy="140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4267200" y="4191000"/>
            <a:ext cx="7086600" cy="83185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solidFill>
                  <a:srgbClr val="FF0000"/>
                </a:solidFill>
                <a:ea typeface="黑体" panose="02010609060101010101" pitchFamily="49" charset="-122"/>
              </a:rPr>
              <a:t>？？？</a:t>
            </a:r>
            <a:endParaRPr lang="zh-CN" altLang="en-US" sz="4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6349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0863" y="549275"/>
            <a:ext cx="4657725" cy="140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30436-4FFF-4DAD-9479-8C3D6DE4D8A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34925" y="93663"/>
            <a:ext cx="9013825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k)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	float  f;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for( f=1.0; k&gt;1; k--)  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f*=k;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return f;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 c(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(m)/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(n)/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(m-n)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int main()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{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("c93=%f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\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c(9,3)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  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("c85=%f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\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n",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c(8,5)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493" name="AutoShape 5">
            <a:hlinkClick r:id="rId2" action="ppaction://hlinksldjump"/>
          </p:cNvPr>
          <p:cNvSpPr/>
          <p:nvPr/>
        </p:nvSpPr>
        <p:spPr>
          <a:xfrm>
            <a:off x="11283950" y="5851525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6035675" y="4559300"/>
            <a:ext cx="6021070" cy="1056005"/>
          </a:xfrm>
          <a:prstGeom prst="wedgeRoundRectCallout">
            <a:avLst>
              <a:gd name="adj1" fmla="val -55566"/>
              <a:gd name="adj2" fmla="val -65385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float s=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(m)/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(n)/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(m-n)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s;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7475" y="0"/>
            <a:ext cx="5724525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编函数，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求组合数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C</a:t>
            </a:r>
            <a:r>
              <a:rPr kumimoji="0" lang="en-US" altLang="zh-CN" sz="3200" b="1" i="0" u="none" strike="noStrike" kern="0" cap="none" spc="0" normalizeH="0" baseline="30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3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9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C</a:t>
            </a:r>
            <a:r>
              <a:rPr kumimoji="0" lang="en-US" altLang="zh-CN" sz="3200" b="1" i="0" u="none" strike="noStrike" kern="0" cap="none" spc="0" normalizeH="0" baseline="30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5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8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+mj-ea"/>
                <a:cs typeface="+mj-cs"/>
              </a:rPr>
              <a:t>   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+mj-ea"/>
              <a:cs typeface="+mj-cs"/>
            </a:endParaRPr>
          </a:p>
        </p:txBody>
      </p:sp>
      <p:sp>
        <p:nvSpPr>
          <p:cNvPr id="3" name="对话气泡: 矩形 2"/>
          <p:cNvSpPr/>
          <p:nvPr/>
        </p:nvSpPr>
        <p:spPr>
          <a:xfrm>
            <a:off x="4970463" y="1828800"/>
            <a:ext cx="3767138" cy="1676400"/>
          </a:xfrm>
          <a:prstGeom prst="wedgeRectCallout">
            <a:avLst>
              <a:gd name="adj1" fmla="val -70945"/>
              <a:gd name="adj2" fmla="val 89227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注意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】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函数的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定义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里面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即函数体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调用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函数，但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不能定义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函数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03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charRg st="103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2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4595">
                                            <p:txEl>
                                              <p:charRg st="125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6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4595">
                                            <p:txEl>
                                              <p:charRg st="163" end="1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29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4595">
                                            <p:txEl>
                                              <p:charRg st="129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3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7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8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charRg st="10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783638" y="63500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E62648-68F4-46BB-83D4-7A03E5919B4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Line 2"/>
          <p:cNvSpPr/>
          <p:nvPr/>
        </p:nvSpPr>
        <p:spPr>
          <a:xfrm>
            <a:off x="566738" y="2800985"/>
            <a:ext cx="1587" cy="345916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88" name="Rectangle 3"/>
          <p:cNvSpPr/>
          <p:nvPr/>
        </p:nvSpPr>
        <p:spPr>
          <a:xfrm>
            <a:off x="568325" y="3821748"/>
            <a:ext cx="2384425" cy="1350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    </a:t>
            </a:r>
            <a:r>
              <a:rPr lang="en-US" altLang="zh-CN" sz="2800" b="1" dirty="0">
                <a:latin typeface="Arial" panose="020B0604020202020204" pitchFamily="34" charset="0"/>
              </a:rPr>
              <a:t>for (i=2;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  i&lt;=100;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  i++)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grpSp>
        <p:nvGrpSpPr>
          <p:cNvPr id="67589" name="Group 4"/>
          <p:cNvGrpSpPr/>
          <p:nvPr/>
        </p:nvGrpSpPr>
        <p:grpSpPr>
          <a:xfrm>
            <a:off x="273050" y="2227898"/>
            <a:ext cx="1468438" cy="573087"/>
            <a:chOff x="340" y="890"/>
            <a:chExt cx="813" cy="257"/>
          </a:xfrm>
        </p:grpSpPr>
        <p:sp>
          <p:nvSpPr>
            <p:cNvPr id="67619" name="Rectangle 5"/>
            <p:cNvSpPr/>
            <p:nvPr/>
          </p:nvSpPr>
          <p:spPr>
            <a:xfrm>
              <a:off x="385" y="930"/>
              <a:ext cx="719" cy="17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开始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67620" name="Oval 6"/>
            <p:cNvSpPr/>
            <p:nvPr/>
          </p:nvSpPr>
          <p:spPr>
            <a:xfrm>
              <a:off x="340" y="890"/>
              <a:ext cx="813" cy="25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7590" name="Group 7"/>
          <p:cNvGrpSpPr/>
          <p:nvPr/>
        </p:nvGrpSpPr>
        <p:grpSpPr>
          <a:xfrm>
            <a:off x="-34925" y="6196648"/>
            <a:ext cx="1771650" cy="468312"/>
            <a:chOff x="239" y="1583"/>
            <a:chExt cx="980" cy="210"/>
          </a:xfrm>
        </p:grpSpPr>
        <p:sp>
          <p:nvSpPr>
            <p:cNvPr id="67617" name="Rectangle 8"/>
            <p:cNvSpPr/>
            <p:nvPr/>
          </p:nvSpPr>
          <p:spPr>
            <a:xfrm>
              <a:off x="239" y="1583"/>
              <a:ext cx="980" cy="19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结束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67618" name="Oval 9"/>
            <p:cNvSpPr/>
            <p:nvPr/>
          </p:nvSpPr>
          <p:spPr>
            <a:xfrm>
              <a:off x="437" y="1596"/>
              <a:ext cx="552" cy="19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</p:grpSp>
      <p:sp>
        <p:nvSpPr>
          <p:cNvPr id="67591" name="Line 10"/>
          <p:cNvSpPr/>
          <p:nvPr/>
        </p:nvSpPr>
        <p:spPr>
          <a:xfrm>
            <a:off x="871538" y="3828098"/>
            <a:ext cx="0" cy="13446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92" name="Line 11"/>
          <p:cNvSpPr/>
          <p:nvPr/>
        </p:nvSpPr>
        <p:spPr>
          <a:xfrm>
            <a:off x="2986088" y="4480560"/>
            <a:ext cx="260350" cy="31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93" name="Rectangle 12"/>
          <p:cNvSpPr/>
          <p:nvPr/>
        </p:nvSpPr>
        <p:spPr>
          <a:xfrm>
            <a:off x="4483100" y="5820410"/>
            <a:ext cx="1417638" cy="5842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打印 </a:t>
            </a:r>
            <a:r>
              <a:rPr lang="en-US" altLang="zh-CN" sz="2800" b="1" dirty="0">
                <a:latin typeface="宋体" panose="02010600030101010101" pitchFamily="2" charset="-122"/>
              </a:rPr>
              <a:t>i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67594" name="Rectangle 13"/>
          <p:cNvSpPr/>
          <p:nvPr/>
        </p:nvSpPr>
        <p:spPr>
          <a:xfrm>
            <a:off x="3246438" y="6268085"/>
            <a:ext cx="1236662" cy="409575"/>
          </a:xfrm>
          <a:prstGeom prst="rect">
            <a:avLst/>
          </a:prstGeom>
          <a:noFill/>
          <a:ln w="38100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flag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67595" name="Group 14"/>
          <p:cNvGrpSpPr/>
          <p:nvPr/>
        </p:nvGrpSpPr>
        <p:grpSpPr>
          <a:xfrm>
            <a:off x="3246438" y="6112510"/>
            <a:ext cx="1236662" cy="723900"/>
            <a:chOff x="3334" y="1253"/>
            <a:chExt cx="1179" cy="456"/>
          </a:xfrm>
        </p:grpSpPr>
        <p:sp>
          <p:nvSpPr>
            <p:cNvPr id="67612" name="Line 15"/>
            <p:cNvSpPr/>
            <p:nvPr/>
          </p:nvSpPr>
          <p:spPr>
            <a:xfrm flipV="1">
              <a:off x="3334" y="1253"/>
              <a:ext cx="11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13" name="Line 16"/>
            <p:cNvSpPr/>
            <p:nvPr/>
          </p:nvSpPr>
          <p:spPr>
            <a:xfrm>
              <a:off x="3334" y="1253"/>
              <a:ext cx="0" cy="4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14" name="Line 17"/>
            <p:cNvSpPr/>
            <p:nvPr/>
          </p:nvSpPr>
          <p:spPr>
            <a:xfrm>
              <a:off x="3334" y="1706"/>
              <a:ext cx="11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5" name="Line 18"/>
            <p:cNvSpPr/>
            <p:nvPr/>
          </p:nvSpPr>
          <p:spPr>
            <a:xfrm flipH="1">
              <a:off x="4377" y="1253"/>
              <a:ext cx="136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6" name="Line 19"/>
            <p:cNvSpPr/>
            <p:nvPr/>
          </p:nvSpPr>
          <p:spPr>
            <a:xfrm>
              <a:off x="4377" y="1480"/>
              <a:ext cx="136" cy="2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7596" name="Line 20"/>
          <p:cNvSpPr/>
          <p:nvPr/>
        </p:nvSpPr>
        <p:spPr>
          <a:xfrm>
            <a:off x="3246438" y="3316923"/>
            <a:ext cx="0" cy="3519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97" name="Rectangle 21"/>
          <p:cNvSpPr/>
          <p:nvPr/>
        </p:nvSpPr>
        <p:spPr>
          <a:xfrm>
            <a:off x="6732588" y="3907473"/>
            <a:ext cx="2016125" cy="5762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flag = false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7598" name="Rectangle 22"/>
          <p:cNvSpPr/>
          <p:nvPr/>
        </p:nvSpPr>
        <p:spPr>
          <a:xfrm>
            <a:off x="3246438" y="4196398"/>
            <a:ext cx="2084387" cy="138112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   </a:t>
            </a:r>
            <a:r>
              <a:rPr lang="en-US" altLang="zh-CN" sz="2800" b="1" dirty="0">
                <a:latin typeface="Arial" panose="020B0604020202020204" pitchFamily="34" charset="0"/>
              </a:rPr>
              <a:t>for (j=i/2;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j&gt;=2;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 j--)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67599" name="Line 23"/>
          <p:cNvSpPr/>
          <p:nvPr/>
        </p:nvSpPr>
        <p:spPr>
          <a:xfrm>
            <a:off x="3475038" y="4196398"/>
            <a:ext cx="0" cy="13811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600" name="Freeform 24"/>
          <p:cNvSpPr/>
          <p:nvPr/>
        </p:nvSpPr>
        <p:spPr>
          <a:xfrm>
            <a:off x="5302250" y="4931410"/>
            <a:ext cx="268288" cy="1588"/>
          </a:xfrm>
          <a:custGeom>
            <a:avLst/>
            <a:gdLst>
              <a:gd name="txL" fmla="*/ 0 w 169"/>
              <a:gd name="txT" fmla="*/ 0 h 1"/>
              <a:gd name="txR" fmla="*/ 169 w 169"/>
              <a:gd name="txB" fmla="*/ 1 h 1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169" h="1">
                <a:moveTo>
                  <a:pt x="0" y="0"/>
                </a:moveTo>
                <a:lnTo>
                  <a:pt x="169" y="1"/>
                </a:lnTo>
              </a:path>
            </a:pathLst>
          </a:custGeom>
          <a:solidFill>
            <a:srgbClr val="FFFFFF">
              <a:alpha val="100000"/>
            </a:srgbClr>
          </a:solidFill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7601" name="Rectangle 25"/>
          <p:cNvSpPr/>
          <p:nvPr/>
        </p:nvSpPr>
        <p:spPr>
          <a:xfrm>
            <a:off x="3246438" y="3324860"/>
            <a:ext cx="2016125" cy="50323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flag = true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7602" name="Rectangle 26"/>
          <p:cNvSpPr/>
          <p:nvPr/>
        </p:nvSpPr>
        <p:spPr>
          <a:xfrm>
            <a:off x="5591175" y="4428173"/>
            <a:ext cx="1141413" cy="833437"/>
          </a:xfrm>
          <a:prstGeom prst="rect">
            <a:avLst/>
          </a:prstGeom>
          <a:noFill/>
          <a:ln w="38100">
            <a:noFill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  </a:t>
            </a:r>
            <a:r>
              <a:rPr lang="en-US" altLang="zh-CN" sz="2800" b="1" dirty="0">
                <a:latin typeface="Arial" panose="020B0604020202020204" pitchFamily="34" charset="0"/>
              </a:rPr>
              <a:t>i%j </a:t>
            </a:r>
            <a:br>
              <a:rPr lang="en-US" altLang="zh-CN" sz="2800" b="1" dirty="0">
                <a:latin typeface="Arial" panose="020B0604020202020204" pitchFamily="34" charset="0"/>
              </a:rPr>
            </a:br>
            <a:r>
              <a:rPr lang="en-US" altLang="zh-CN" sz="2800" b="1" dirty="0">
                <a:latin typeface="Arial" panose="020B0604020202020204" pitchFamily="34" charset="0"/>
              </a:rPr>
              <a:t>  == 0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grpSp>
        <p:nvGrpSpPr>
          <p:cNvPr id="67603" name="Group 27"/>
          <p:cNvGrpSpPr/>
          <p:nvPr/>
        </p:nvGrpSpPr>
        <p:grpSpPr>
          <a:xfrm>
            <a:off x="5591175" y="4345623"/>
            <a:ext cx="1141413" cy="1096962"/>
            <a:chOff x="3334" y="1253"/>
            <a:chExt cx="1179" cy="456"/>
          </a:xfrm>
        </p:grpSpPr>
        <p:sp>
          <p:nvSpPr>
            <p:cNvPr id="67607" name="Line 28"/>
            <p:cNvSpPr/>
            <p:nvPr/>
          </p:nvSpPr>
          <p:spPr>
            <a:xfrm flipV="1">
              <a:off x="3334" y="1253"/>
              <a:ext cx="11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08" name="Line 29"/>
            <p:cNvSpPr/>
            <p:nvPr/>
          </p:nvSpPr>
          <p:spPr>
            <a:xfrm>
              <a:off x="3334" y="1253"/>
              <a:ext cx="0" cy="4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09" name="Line 30"/>
            <p:cNvSpPr/>
            <p:nvPr/>
          </p:nvSpPr>
          <p:spPr>
            <a:xfrm>
              <a:off x="3334" y="1706"/>
              <a:ext cx="117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0" name="Line 31"/>
            <p:cNvSpPr/>
            <p:nvPr/>
          </p:nvSpPr>
          <p:spPr>
            <a:xfrm flipH="1">
              <a:off x="4377" y="1253"/>
              <a:ext cx="136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1" name="Line 32"/>
            <p:cNvSpPr/>
            <p:nvPr/>
          </p:nvSpPr>
          <p:spPr>
            <a:xfrm>
              <a:off x="4377" y="1480"/>
              <a:ext cx="136" cy="2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矩形 1"/>
          <p:cNvSpPr/>
          <p:nvPr/>
        </p:nvSpPr>
        <p:spPr>
          <a:xfrm>
            <a:off x="3116263" y="3164523"/>
            <a:ext cx="5867400" cy="2519362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3" name="矩形 2"/>
          <p:cNvSpPr/>
          <p:nvPr/>
        </p:nvSpPr>
        <p:spPr>
          <a:xfrm>
            <a:off x="8609965" y="288290"/>
            <a:ext cx="3036888" cy="193802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bool </a:t>
            </a:r>
            <a:r>
              <a:rPr lang="en-US" altLang="zh-CN" sz="2400" b="1" dirty="0">
                <a:solidFill>
                  <a:srgbClr val="FFFF00"/>
                </a:solidFill>
              </a:rPr>
              <a:t>prime(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 i </a:t>
            </a:r>
            <a:r>
              <a:rPr lang="en-US" altLang="zh-CN" sz="2400" b="1" dirty="0">
                <a:solidFill>
                  <a:srgbClr val="FFFF00"/>
                </a:solidFill>
              </a:rPr>
              <a:t>) 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{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   ……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   return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flag</a:t>
            </a:r>
            <a:r>
              <a:rPr lang="en-US" altLang="zh-CN" sz="2400" b="1" dirty="0">
                <a:solidFill>
                  <a:srgbClr val="FFFF00"/>
                </a:solidFill>
              </a:rPr>
              <a:t>;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}</a:t>
            </a:r>
            <a:endParaRPr lang="zh-CN" altLang="en-US" sz="2400" b="1" dirty="0"/>
          </a:p>
        </p:txBody>
      </p:sp>
      <p:sp>
        <p:nvSpPr>
          <p:cNvPr id="5" name="上箭头 4"/>
          <p:cNvSpPr/>
          <p:nvPr/>
        </p:nvSpPr>
        <p:spPr>
          <a:xfrm>
            <a:off x="8609965" y="2286000"/>
            <a:ext cx="465138" cy="846138"/>
          </a:xfrm>
          <a:prstGeom prst="upArrow">
            <a:avLst>
              <a:gd name="adj1" fmla="val 50000"/>
              <a:gd name="adj2" fmla="val 49865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502786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-1270"/>
            <a:ext cx="6082665" cy="1617980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§5.2.3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先调用后定义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函数原型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5.3】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4.9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打印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以内素数。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734149-6524-43F2-A945-FC97CB1AF77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834" name="Rectangle 2"/>
          <p:cNvSpPr>
            <a:spLocks noGrp="1" noChangeArrowheads="1"/>
          </p:cNvSpPr>
          <p:nvPr>
            <p:ph idx="1"/>
          </p:nvPr>
        </p:nvSpPr>
        <p:spPr>
          <a:xfrm>
            <a:off x="50800" y="152400"/>
            <a:ext cx="8686800" cy="670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§5.2.3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先调用后定义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函数原型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5.3】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重新写第四章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【4.9】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，打印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以内素数。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bool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prime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) {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int  j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for ( j = n / 2 ; j &gt;= 2 ; j--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	if (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n%j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0 )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return  false ;</a:t>
            </a:r>
            <a:endParaRPr kumimoji="0" lang="en-US" altLang="zh-CN" sz="2400" b="1" i="0" u="none" strike="noStrike" kern="1200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return  true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00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 ) {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i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for ( i = 2 ;i &lt;= 100 ; i++ )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if (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prime(i)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("%5d\n" , i )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		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57800" y="1371600"/>
            <a:ext cx="5638800" cy="3416300"/>
          </a:xfrm>
          <a:prstGeom prst="rect">
            <a:avLst/>
          </a:prstGeom>
          <a:solidFill>
            <a:srgbClr val="00808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</a:rPr>
              <a:t>思考</a:t>
            </a:r>
            <a:r>
              <a:rPr lang="en-US" altLang="zh-CN" sz="2400" b="1" dirty="0">
                <a:solidFill>
                  <a:srgbClr val="C00000"/>
                </a:solidFill>
              </a:rPr>
              <a:t>】</a:t>
            </a:r>
            <a:r>
              <a:rPr lang="zh-CN" altLang="en-US" sz="2400" b="1" dirty="0">
                <a:solidFill>
                  <a:srgbClr val="C00000"/>
                </a:solidFill>
              </a:rPr>
              <a:t>能否改成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bool prime( int n ) </a:t>
            </a:r>
            <a:endParaRPr lang="en-US" altLang="zh-CN" sz="2400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{   int  j ;</a:t>
            </a:r>
            <a:endParaRPr lang="en-US" altLang="zh-CN" sz="2400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     for ( j = n / 2 ; j &gt;= 2 ; j-- )</a:t>
            </a:r>
            <a:endParaRPr lang="en-US" altLang="zh-CN" sz="2400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             if ( n%j == 0 )</a:t>
            </a:r>
            <a:endParaRPr lang="en-US" altLang="zh-CN" sz="2400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		        return  false ;</a:t>
            </a:r>
            <a:endParaRPr lang="en-US" altLang="zh-CN" sz="2400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             else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                   return  true ;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charRg st="9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charRg st="109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charRg st="143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charRg st="17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charRg st="189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CC9003-326D-4D36-B6D0-2D10992734EA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5682" name="Rectangle 2"/>
          <p:cNvSpPr>
            <a:spLocks noGrp="1" noChangeArrowheads="1"/>
          </p:cNvSpPr>
          <p:nvPr>
            <p:ph idx="1"/>
          </p:nvPr>
        </p:nvSpPr>
        <p:spPr>
          <a:xfrm>
            <a:off x="0" y="76200"/>
            <a:ext cx="10514330" cy="670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5.4】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引进函数原型重写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5.3】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程序，打印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以内素数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prime(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int 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函数原型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main( ) {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	 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i 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for ( i = 2 ;i &lt;= 100 ; i++ 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(i)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("%5d\n" , i )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 		 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prime(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 {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j 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for ( j = n / 2 ; j &gt;= 2 ; j--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if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n%j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0 )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return 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 true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6477000" y="533400"/>
            <a:ext cx="5549900" cy="1753235"/>
          </a:xfrm>
          <a:prstGeom prst="wedgeRoundRectCallout">
            <a:avLst>
              <a:gd name="adj1" fmla="val -79233"/>
              <a:gd name="adj2" fmla="val -14360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spcAft>
                <a:spcPct val="10000"/>
              </a:spcAft>
            </a:pPr>
            <a:r>
              <a:rPr lang="zh-CN" altLang="en-US" sz="2400" dirty="0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功能：</a:t>
            </a:r>
            <a:endParaRPr lang="zh-CN" altLang="en-US" sz="2400" dirty="0">
              <a:solidFill>
                <a:srgbClr val="FFFF00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eaLnBrk="1" hangingPunct="1">
              <a:spcAft>
                <a:spcPct val="10000"/>
              </a:spcAft>
            </a:pPr>
            <a:r>
              <a:rPr lang="en-US" altLang="zh-CN" sz="2400" dirty="0">
                <a:effectLst/>
                <a:latin typeface="Arial" panose="020B0604020202020204" pitchFamily="34" charset="0"/>
                <a:sym typeface="+mn-ea"/>
              </a:rPr>
              <a:t>1.</a:t>
            </a: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满足了</a:t>
            </a:r>
            <a:r>
              <a:rPr lang="en-US" altLang="zh-CN" sz="2400" dirty="0">
                <a:effectLst/>
                <a:latin typeface="Arial" panose="020B0604020202020204" pitchFamily="34" charset="0"/>
                <a:sym typeface="+mn-ea"/>
              </a:rPr>
              <a:t>C</a:t>
            </a: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标识符</a:t>
            </a:r>
            <a:r>
              <a:rPr lang="zh-CN" altLang="en-US" sz="2400" dirty="0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先定义后使用</a:t>
            </a: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的要求</a:t>
            </a:r>
            <a:endParaRPr lang="zh-CN" altLang="en-US" sz="2400" dirty="0">
              <a:effectLst/>
              <a:latin typeface="Arial" panose="020B0604020202020204" pitchFamily="34" charset="0"/>
              <a:sym typeface="+mn-ea"/>
            </a:endParaRPr>
          </a:p>
          <a:p>
            <a:pPr eaLnBrk="1" hangingPunct="1">
              <a:spcAft>
                <a:spcPct val="10000"/>
              </a:spcAft>
            </a:pPr>
            <a:r>
              <a:rPr lang="en-US" altLang="zh-CN" sz="2400" dirty="0">
                <a:effectLst/>
                <a:latin typeface="Arial" panose="020B0604020202020204" pitchFamily="34" charset="0"/>
                <a:sym typeface="+mn-ea"/>
              </a:rPr>
              <a:t>2.</a:t>
            </a:r>
            <a:r>
              <a:rPr lang="zh-CN" altLang="en-US" sz="2400" dirty="0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向编译系统提供</a:t>
            </a: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所调用函数的</a:t>
            </a:r>
            <a:r>
              <a:rPr lang="zh-CN" altLang="en-US" sz="2400" dirty="0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信息：</a:t>
            </a:r>
            <a:endParaRPr lang="zh-CN" altLang="en-US" sz="2400" dirty="0">
              <a:solidFill>
                <a:srgbClr val="FFFF00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eaLnBrk="1" hangingPunct="1">
              <a:spcAft>
                <a:spcPct val="10000"/>
              </a:spcAft>
            </a:pP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参数个数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、</a:t>
            </a:r>
            <a:r>
              <a:rPr lang="zh-CN" altLang="en-US" sz="2400" dirty="0">
                <a:effectLst/>
                <a:latin typeface="Arial" panose="020B0604020202020204" pitchFamily="34" charset="0"/>
                <a:sym typeface="+mn-ea"/>
              </a:rPr>
              <a:t>参数特性、返回类型</a:t>
            </a:r>
            <a:endParaRPr lang="zh-CN" altLang="en-US" sz="2400" kern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20099-E15F-4410-B4EE-6B231A343C0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8" name="Rectangle 3"/>
          <p:cNvSpPr/>
          <p:nvPr/>
        </p:nvSpPr>
        <p:spPr>
          <a:xfrm>
            <a:off x="76200" y="2540"/>
            <a:ext cx="9808210" cy="6703060"/>
          </a:xfrm>
          <a:prstGeom prst="rect">
            <a:avLst/>
          </a:prstGeom>
          <a:noFill/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kern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bool prime( int i);</a:t>
            </a:r>
            <a:r>
              <a:rPr lang="en-US" altLang="zh-CN" sz="2400" b="1" dirty="0">
                <a:solidFill>
                  <a:srgbClr val="FFFF00"/>
                </a:solidFill>
              </a:rPr>
              <a:t>//</a:t>
            </a:r>
            <a:r>
              <a:rPr lang="zh-CN" altLang="en-US" sz="2400" b="1" dirty="0">
                <a:solidFill>
                  <a:srgbClr val="FFFF00"/>
                </a:solidFill>
              </a:rPr>
              <a:t>函数原型</a:t>
            </a:r>
            <a:r>
              <a:rPr lang="en-US" altLang="zh-CN" sz="2400" b="1" dirty="0">
                <a:solidFill>
                  <a:srgbClr val="FFFF00"/>
                </a:solidFill>
              </a:rPr>
              <a:t> </a:t>
            </a:r>
            <a:endParaRPr lang="en-US" altLang="zh-CN" sz="2400" b="1" dirty="0">
              <a:solidFill>
                <a:schemeClr val="tx1">
                  <a:lumMod val="75000"/>
                </a:schemeClr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000" b="1" dirty="0"/>
              <a:t>int main( ) { </a:t>
            </a:r>
            <a:endParaRPr lang="en-US" altLang="zh-CN" sz="20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/>
              <a:t>          int  i ;</a:t>
            </a:r>
            <a:endParaRPr lang="en-US" altLang="zh-CN" sz="24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/>
              <a:t>          for ( i = 2 ;i &lt;= 100 ; i++ ) </a:t>
            </a:r>
            <a:endParaRPr lang="en-US" altLang="zh-CN" sz="24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/>
              <a:t>                   if ( </a:t>
            </a:r>
            <a:r>
              <a:rPr lang="en-US" altLang="zh-CN" sz="2400" b="1" dirty="0">
                <a:solidFill>
                  <a:srgbClr val="FFFF00"/>
                </a:solidFill>
              </a:rPr>
              <a:t>prime(i) </a:t>
            </a:r>
            <a:r>
              <a:rPr lang="en-US" altLang="zh-CN" sz="2400" b="1" dirty="0"/>
              <a:t>) </a:t>
            </a:r>
            <a:r>
              <a:rPr lang="en-US" altLang="zh-CN" sz="2400" b="1" dirty="0">
                <a:solidFill>
                  <a:srgbClr val="FFFF00"/>
                </a:solidFill>
              </a:rPr>
              <a:t>//</a:t>
            </a:r>
            <a:r>
              <a:rPr lang="zh-CN" altLang="en-US" sz="2400" b="1" dirty="0">
                <a:solidFill>
                  <a:srgbClr val="FFFF00"/>
                </a:solidFill>
              </a:rPr>
              <a:t>函数调用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/>
              <a:t>                          printf(</a:t>
            </a:r>
            <a:r>
              <a:rPr lang="en-US" altLang="zh-CN" sz="2400" b="1" dirty="0">
                <a:latin typeface="Arial" panose="020B0604020202020204" pitchFamily="34" charset="0"/>
              </a:rPr>
              <a:t>“</a:t>
            </a:r>
            <a:r>
              <a:rPr lang="en-US" altLang="zh-CN" sz="2400" b="1" dirty="0"/>
              <a:t>%5d\n</a:t>
            </a:r>
            <a:r>
              <a:rPr lang="en-US" altLang="zh-CN" sz="2400" b="1" dirty="0">
                <a:latin typeface="Arial" panose="020B0604020202020204" pitchFamily="34" charset="0"/>
              </a:rPr>
              <a:t>”</a:t>
            </a:r>
            <a:r>
              <a:rPr lang="en-US" altLang="zh-CN" sz="2400" b="1" dirty="0"/>
              <a:t> , i ) ;</a:t>
            </a:r>
            <a:endParaRPr lang="en-US" altLang="zh-CN" sz="2400" b="1" dirty="0"/>
          </a:p>
          <a:p>
            <a:pPr marL="342900" lvl="0" indent="4572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1800" b="1" dirty="0"/>
              <a:t>return 0;</a:t>
            </a:r>
            <a:endParaRPr lang="en-US" altLang="zh-CN" sz="18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000" b="1" dirty="0"/>
              <a:t>}</a:t>
            </a:r>
            <a:endParaRPr lang="en-US" altLang="zh-CN" sz="2000" b="1" dirty="0"/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bool prime( int n )    //</a:t>
            </a:r>
            <a:r>
              <a:rPr lang="zh-CN" altLang="en-US" sz="2400" b="1" dirty="0">
                <a:solidFill>
                  <a:srgbClr val="FFFF00"/>
                </a:solidFill>
              </a:rPr>
              <a:t>函数定义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{ 	 int  j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for ( j = n / 2 ; j &gt;= 2 ; j-- )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        if ( n%j == 0 )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		return  false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        return  true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lnSpc>
                <a:spcPct val="100000"/>
              </a:lnSpc>
              <a:buSzPct val="70000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}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4648200" y="0"/>
            <a:ext cx="5107940" cy="916940"/>
          </a:xfrm>
          <a:prstGeom prst="wedgeRoundRectCallout">
            <a:avLst>
              <a:gd name="adj1" fmla="val -75416"/>
              <a:gd name="adj2" fmla="val -1360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函数原型的</a:t>
            </a:r>
            <a:r>
              <a:rPr lang="en-US" altLang="zh-CN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参数可以只写类型</a:t>
            </a:r>
            <a:endParaRPr lang="en-US" altLang="zh-CN" sz="2400" kern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bool prime( int ) ;</a:t>
            </a:r>
            <a:endParaRPr lang="en-US" altLang="zh-CN" sz="24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2819400" y="3204845"/>
            <a:ext cx="5625465" cy="448945"/>
          </a:xfrm>
          <a:prstGeom prst="wedgeRoundRectCallout">
            <a:avLst>
              <a:gd name="adj1" fmla="val -50451"/>
              <a:gd name="adj2" fmla="val 9738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函数定义的</a:t>
            </a:r>
            <a:r>
              <a:rPr lang="en-US" altLang="zh-CN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参数</a:t>
            </a: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要写出类型及参数名</a:t>
            </a:r>
            <a:endParaRPr lang="zh-CN" altLang="en-US" sz="2400" kern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20099-E15F-4410-B4EE-6B231A343C0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13335"/>
            <a:ext cx="5496560" cy="37636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59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9515"/>
            <a:ext cx="5495925" cy="2991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5715000" y="76200"/>
            <a:ext cx="6205855" cy="1216025"/>
          </a:xfrm>
          <a:prstGeom prst="wedgeRoundRectCallout">
            <a:avLst>
              <a:gd name="adj1" fmla="val -78282"/>
              <a:gd name="adj2" fmla="val 86298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程序设计</a:t>
            </a: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风格：</a:t>
            </a:r>
            <a:endParaRPr lang="zh-CN" altLang="en-US" sz="2400" kern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把所有自定义函数的函数原型集中写在前面，提高程序</a:t>
            </a: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可读性</a:t>
            </a:r>
            <a:endParaRPr lang="zh-CN" altLang="en-US" sz="2400" kern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95925" y="6362700"/>
            <a:ext cx="400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来源：</a:t>
            </a:r>
            <a:r>
              <a:rPr lang="en-US" altLang="zh-CN"/>
              <a:t>23</a:t>
            </a:r>
            <a:r>
              <a:rPr lang="zh-CN" altLang="en-US"/>
              <a:t>级金俊辉</a:t>
            </a:r>
            <a:r>
              <a:rPr lang="en-US" altLang="zh-CN"/>
              <a:t> </a:t>
            </a:r>
            <a:r>
              <a:rPr lang="zh-CN" altLang="en-US"/>
              <a:t>课程设计</a:t>
            </a:r>
            <a:r>
              <a:rPr lang="zh-CN" altLang="en-US"/>
              <a:t>报告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55F713-CCCD-4E56-BB7E-ECC6D1C5317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§5.3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程序设计实例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81200"/>
            <a:ext cx="11734800" cy="3962400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C000"/>
                </a:solidFill>
                <a:effectLst/>
                <a:hlinkClick r:id="rId1" action="ppaction://hlinksldjump"/>
              </a:rPr>
              <a:t>【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1" action="ppaction://hlinksldjump"/>
              </a:rPr>
              <a:t>例</a:t>
            </a:r>
            <a:r>
              <a:rPr lang="en-US" altLang="zh-CN" sz="3600" b="1" dirty="0">
                <a:solidFill>
                  <a:schemeClr val="hlink"/>
                </a:solidFill>
                <a:effectLst/>
                <a:hlinkClick r:id="rId1" action="ppaction://hlinksldjump"/>
              </a:rPr>
              <a:t>5.5</a:t>
            </a:r>
            <a:r>
              <a:rPr lang="en-US" altLang="zh-CN" sz="3600" b="1" dirty="0">
                <a:solidFill>
                  <a:schemeClr val="hlink"/>
                </a:solidFill>
                <a:effectLst/>
                <a:hlinkClick r:id="rId1" action="ppaction://hlinksldjump"/>
              </a:rPr>
              <a:t>】 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1" action="ppaction://hlinksldjump"/>
              </a:rPr>
              <a:t>打印字符图形</a:t>
            </a:r>
            <a:endParaRPr lang="en-US" altLang="zh-CN" sz="3600" b="1" dirty="0">
              <a:solidFill>
                <a:schemeClr val="hlink"/>
              </a:solidFill>
              <a:effectLst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chemeClr val="hlink"/>
                </a:solidFill>
                <a:effectLst/>
              </a:rPr>
              <a:t>		</a:t>
            </a:r>
            <a:r>
              <a:rPr lang="zh-CN" altLang="en-US" sz="2400" b="1" dirty="0">
                <a:solidFill>
                  <a:schemeClr val="tx1"/>
                </a:solidFill>
                <a:effectLst/>
              </a:rPr>
              <a:t>（自学）看教材 或 中国大学慕课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effectLst/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effectLst/>
              </a:rPr>
              <a:t>讲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effectLst/>
              </a:rPr>
              <a:t>视频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5.3.1</a:t>
            </a:r>
            <a:endParaRPr lang="zh-CN" altLang="en-US" sz="2400" b="1" dirty="0">
              <a:solidFill>
                <a:schemeClr val="tx1"/>
              </a:solidFill>
              <a:effectLst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chemeClr val="hlink"/>
                </a:solidFill>
                <a:effectLst/>
                <a:hlinkClick r:id="rId2" action="ppaction://hlinksldjump"/>
              </a:rPr>
              <a:t>【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2" action="ppaction://hlinksldjump"/>
              </a:rPr>
              <a:t>例</a:t>
            </a:r>
            <a:r>
              <a:rPr lang="en-US" altLang="zh-CN" sz="3600" b="1" dirty="0">
                <a:solidFill>
                  <a:schemeClr val="hlink"/>
                </a:solidFill>
                <a:effectLst/>
                <a:hlinkClick r:id="rId2" action="ppaction://hlinksldjump"/>
              </a:rPr>
              <a:t>5.6】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2" action="ppaction://hlinksldjump"/>
              </a:rPr>
              <a:t>验证哥德巴赫猜想</a:t>
            </a:r>
            <a:endParaRPr lang="en-US" altLang="zh-CN" sz="3600" b="1" dirty="0">
              <a:solidFill>
                <a:schemeClr val="hlink"/>
              </a:solidFill>
              <a:effectLst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chemeClr val="hlink"/>
                </a:solidFill>
                <a:effectLst/>
                <a:hlinkClick r:id="rId3" action="ppaction://hlinksldjump"/>
              </a:rPr>
              <a:t>【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3" action="ppaction://hlinksldjump"/>
              </a:rPr>
              <a:t>例</a:t>
            </a:r>
            <a:r>
              <a:rPr lang="en-US" altLang="zh-CN" sz="3600" b="1" dirty="0">
                <a:solidFill>
                  <a:schemeClr val="hlink"/>
                </a:solidFill>
                <a:effectLst/>
                <a:hlinkClick r:id="rId3" action="ppaction://hlinksldjump"/>
              </a:rPr>
              <a:t>5.1】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3" action="ppaction://hlinksldjump"/>
              </a:rPr>
              <a:t>求给定三角形的重心</a:t>
            </a:r>
            <a:endParaRPr lang="zh-CN" altLang="en-US" sz="3600" b="1" dirty="0">
              <a:solidFill>
                <a:schemeClr val="hlink"/>
              </a:solidFill>
              <a:effectLst/>
              <a:hlinkClick r:id="rId3" action="ppaction://hlinksldjump"/>
            </a:endParaRPr>
          </a:p>
          <a:p>
            <a:pPr indent="457200" algn="l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effectLst/>
                <a:sym typeface="+mn-ea"/>
              </a:rPr>
              <a:t>（自学）【网盘视频-例5.1、例5.2】</a:t>
            </a:r>
            <a:endParaRPr lang="zh-CN" altLang="en-US" sz="2400" b="1" dirty="0">
              <a:effectLst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chemeClr val="hlink"/>
                </a:solidFill>
                <a:effectLst/>
                <a:hlinkClick r:id="rId4" action="ppaction://hlinksldjump"/>
              </a:rPr>
              <a:t>【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4" action="ppaction://hlinksldjump"/>
              </a:rPr>
              <a:t>例</a:t>
            </a:r>
            <a:r>
              <a:rPr lang="en-US" altLang="zh-CN" sz="3600" b="1" dirty="0">
                <a:solidFill>
                  <a:schemeClr val="hlink"/>
                </a:solidFill>
                <a:effectLst/>
                <a:hlinkClick r:id="rId4" action="ppaction://hlinksldjump"/>
              </a:rPr>
              <a:t>5.2】</a:t>
            </a:r>
            <a:r>
              <a:rPr lang="zh-CN" altLang="en-US" sz="3600" b="1" dirty="0">
                <a:solidFill>
                  <a:schemeClr val="hlink"/>
                </a:solidFill>
                <a:effectLst/>
                <a:hlinkClick r:id="rId4" action="ppaction://hlinksldjump"/>
              </a:rPr>
              <a:t>编函数，求给定三角形的重心</a:t>
            </a:r>
            <a:r>
              <a:rPr lang="en-US" altLang="zh-CN" b="1" dirty="0">
                <a:solidFill>
                  <a:schemeClr val="hlink"/>
                </a:solidFill>
                <a:effectLst/>
              </a:rPr>
              <a:t> 	</a:t>
            </a:r>
            <a:endParaRPr lang="en-US" altLang="zh-CN" b="1" dirty="0">
              <a:solidFill>
                <a:schemeClr val="hlink"/>
              </a:solidFill>
              <a:effectLst/>
              <a:hlinkClick r:id="rId5" action="ppaction://hlinksldjump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3600" b="1" dirty="0">
              <a:solidFill>
                <a:schemeClr val="hlink"/>
              </a:solidFill>
              <a:effectLst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10113645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5.5】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改写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P106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4.12】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，打印字符图形（自学）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" name="Line 18"/>
          <p:cNvSpPr>
            <a:spLocks noChangeShapeType="1"/>
          </p:cNvSpPr>
          <p:nvPr/>
        </p:nvSpPr>
        <p:spPr bwMode="auto">
          <a:xfrm>
            <a:off x="6742113" y="2776538"/>
            <a:ext cx="0" cy="1763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6743700" y="2946400"/>
            <a:ext cx="2882900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打印前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6745288" y="3870325"/>
            <a:ext cx="2857500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打印后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1441CF-0B1C-44E8-92B1-233755720792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3252" name="Picture 20" descr="字符方阵"/>
          <p:cNvPicPr>
            <a:picLocks noChangeAspect="1"/>
          </p:cNvPicPr>
          <p:nvPr/>
        </p:nvPicPr>
        <p:blipFill>
          <a:blip r:embed="rId1"/>
          <a:srcRect t="10321"/>
          <a:stretch>
            <a:fillRect/>
          </a:stretch>
        </p:blipFill>
        <p:spPr>
          <a:xfrm>
            <a:off x="1292860" y="1905000"/>
            <a:ext cx="3174365" cy="3099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869950" y="2895600"/>
            <a:ext cx="6030913" cy="3400425"/>
            <a:chOff x="385" y="1756"/>
            <a:chExt cx="3799" cy="2142"/>
          </a:xfrm>
        </p:grpSpPr>
        <p:sp>
          <p:nvSpPr>
            <p:cNvPr id="79890" name="Line 5"/>
            <p:cNvSpPr/>
            <p:nvPr/>
          </p:nvSpPr>
          <p:spPr>
            <a:xfrm>
              <a:off x="928" y="2063"/>
              <a:ext cx="2" cy="1509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9891" name="Group 6"/>
            <p:cNvGrpSpPr/>
            <p:nvPr/>
          </p:nvGrpSpPr>
          <p:grpSpPr>
            <a:xfrm>
              <a:off x="397" y="1756"/>
              <a:ext cx="1070" cy="332"/>
              <a:chOff x="2802" y="7781"/>
              <a:chExt cx="890" cy="346"/>
            </a:xfrm>
          </p:grpSpPr>
          <p:sp>
            <p:nvSpPr>
              <p:cNvPr id="79898" name="Rectangle 7"/>
              <p:cNvSpPr/>
              <p:nvPr/>
            </p:nvSpPr>
            <p:spPr>
              <a:xfrm>
                <a:off x="2814" y="7823"/>
                <a:ext cx="788" cy="238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SzPct val="70000"/>
                  <a:buNone/>
                </a:pPr>
                <a:r>
                  <a:rPr lang="zh-CN" altLang="en-US" sz="2400" b="1" dirty="0">
                    <a:solidFill>
                      <a:srgbClr val="FFFF00"/>
                    </a:solidFill>
                    <a:ea typeface="黑体" panose="02010609060101010101" pitchFamily="49" charset="-122"/>
                  </a:rPr>
                  <a:t>打印一行</a:t>
                </a:r>
                <a:endParaRPr lang="zh-CN" altLang="en-US" sz="2400" b="1" dirty="0">
                  <a:solidFill>
                    <a:srgbClr val="FFFF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9899" name="Oval 8"/>
              <p:cNvSpPr/>
              <p:nvPr/>
            </p:nvSpPr>
            <p:spPr>
              <a:xfrm>
                <a:off x="2802" y="7781"/>
                <a:ext cx="890" cy="346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Pct val="70000"/>
                  <a:buNone/>
                </a:pPr>
                <a:endParaRPr lang="zh-CN" altLang="en-US" sz="2400" b="1" dirty="0"/>
              </a:p>
            </p:txBody>
          </p:sp>
        </p:grpSp>
        <p:grpSp>
          <p:nvGrpSpPr>
            <p:cNvPr id="79892" name="Group 9"/>
            <p:cNvGrpSpPr/>
            <p:nvPr/>
          </p:nvGrpSpPr>
          <p:grpSpPr>
            <a:xfrm>
              <a:off x="385" y="3566"/>
              <a:ext cx="1070" cy="332"/>
              <a:chOff x="2515" y="4294"/>
              <a:chExt cx="749" cy="346"/>
            </a:xfrm>
          </p:grpSpPr>
          <p:sp>
            <p:nvSpPr>
              <p:cNvPr id="79896" name="Rectangle 10"/>
              <p:cNvSpPr/>
              <p:nvPr/>
            </p:nvSpPr>
            <p:spPr>
              <a:xfrm>
                <a:off x="2525" y="4348"/>
                <a:ext cx="663" cy="238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SzPct val="70000"/>
                  <a:buNone/>
                </a:pPr>
                <a:r>
                  <a:rPr lang="zh-CN" altLang="en-US" sz="2400" b="1" dirty="0">
                    <a:ea typeface="黑体" panose="02010609060101010101" pitchFamily="49" charset="-122"/>
                  </a:rPr>
                  <a:t>返回</a:t>
                </a:r>
                <a:endParaRPr lang="zh-CN" altLang="en-US" sz="24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79897" name="Oval 11"/>
              <p:cNvSpPr/>
              <p:nvPr/>
            </p:nvSpPr>
            <p:spPr>
              <a:xfrm>
                <a:off x="2515" y="4294"/>
                <a:ext cx="749" cy="346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Pct val="70000"/>
                  <a:buNone/>
                </a:pPr>
                <a:endParaRPr lang="zh-CN" altLang="en-US" sz="2400" b="1" dirty="0"/>
              </a:p>
            </p:txBody>
          </p:sp>
        </p:grpSp>
        <p:sp>
          <p:nvSpPr>
            <p:cNvPr id="79893" name="Rectangle 12"/>
            <p:cNvSpPr/>
            <p:nvPr/>
          </p:nvSpPr>
          <p:spPr>
            <a:xfrm>
              <a:off x="926" y="2256"/>
              <a:ext cx="3258" cy="312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打印：</a:t>
              </a:r>
              <a:r>
                <a:rPr lang="en-US" altLang="zh-CN" sz="2800" b="1" kern="0" noProof="0" dirty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uLnTx/>
                  <a:uFillTx/>
                </a:rPr>
                <a:t>5-(x-‘A’)</a:t>
              </a:r>
              <a:r>
                <a:rPr lang="zh-CN" altLang="en-US" sz="2400" b="1" dirty="0">
                  <a:ea typeface="黑体" panose="02010609060101010101" pitchFamily="49" charset="-122"/>
                </a:rPr>
                <a:t>个  □ □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79894" name="Rectangle 13"/>
            <p:cNvSpPr/>
            <p:nvPr/>
          </p:nvSpPr>
          <p:spPr>
            <a:xfrm>
              <a:off x="926" y="2697"/>
              <a:ext cx="3043" cy="31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打印：</a:t>
              </a:r>
              <a:r>
                <a:rPr lang="en-US" altLang="zh-CN" sz="2800" b="1" kern="0" noProof="0" dirty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uLnTx/>
                  <a:uFillTx/>
                </a:rPr>
                <a:t>2*(x-'A')+1</a:t>
              </a:r>
              <a:r>
                <a:rPr lang="zh-CN" altLang="en-US" sz="2400" b="1" dirty="0">
                  <a:ea typeface="黑体" panose="02010609060101010101" pitchFamily="49" charset="-122"/>
                </a:rPr>
                <a:t>个  □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x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79895" name="Rectangle 14"/>
            <p:cNvSpPr/>
            <p:nvPr/>
          </p:nvSpPr>
          <p:spPr>
            <a:xfrm>
              <a:off x="926" y="3139"/>
              <a:ext cx="1897" cy="31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打印：回车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79875" name="Line 18"/>
          <p:cNvSpPr/>
          <p:nvPr/>
        </p:nvSpPr>
        <p:spPr>
          <a:xfrm>
            <a:off x="833438" y="457200"/>
            <a:ext cx="0" cy="14716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2339" name="Text Box 19"/>
          <p:cNvSpPr txBox="1"/>
          <p:nvPr/>
        </p:nvSpPr>
        <p:spPr>
          <a:xfrm>
            <a:off x="817563" y="466725"/>
            <a:ext cx="2878137" cy="46196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SzPct val="70000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打印前 </a:t>
            </a:r>
            <a:r>
              <a:rPr lang="en-US" altLang="zh-CN" sz="2400" b="1" dirty="0">
                <a:latin typeface="Arial" panose="020B0604020202020204" pitchFamily="34" charset="0"/>
              </a:rPr>
              <a:t>6 </a:t>
            </a:r>
            <a:r>
              <a:rPr lang="zh-CN" altLang="en-US" sz="2400" b="1" dirty="0">
                <a:latin typeface="Arial" panose="020B0604020202020204" pitchFamily="34" charset="0"/>
              </a:rPr>
              <a:t>行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312340" name="Text Box 20"/>
          <p:cNvSpPr txBox="1"/>
          <p:nvPr/>
        </p:nvSpPr>
        <p:spPr>
          <a:xfrm>
            <a:off x="833438" y="1390650"/>
            <a:ext cx="2878137" cy="46196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SzPct val="70000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打印后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5" name="Group 21"/>
          <p:cNvGrpSpPr/>
          <p:nvPr/>
        </p:nvGrpSpPr>
        <p:grpSpPr>
          <a:xfrm>
            <a:off x="815975" y="457200"/>
            <a:ext cx="5446713" cy="523875"/>
            <a:chOff x="2171" y="3381"/>
            <a:chExt cx="3431" cy="330"/>
          </a:xfrm>
        </p:grpSpPr>
        <p:sp>
          <p:nvSpPr>
            <p:cNvPr id="79886" name="Rectangle 22"/>
            <p:cNvSpPr/>
            <p:nvPr/>
          </p:nvSpPr>
          <p:spPr>
            <a:xfrm>
              <a:off x="2171" y="3381"/>
              <a:ext cx="85" cy="3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9887" name="Text Box 23"/>
            <p:cNvSpPr txBox="1"/>
            <p:nvPr/>
          </p:nvSpPr>
          <p:spPr>
            <a:xfrm>
              <a:off x="2256" y="3381"/>
              <a:ext cx="1955" cy="29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SzPct val="70000"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for(x=‘A’;x&lt;=‘F’;x++)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9888" name="Line 24"/>
            <p:cNvSpPr/>
            <p:nvPr/>
          </p:nvSpPr>
          <p:spPr>
            <a:xfrm>
              <a:off x="4211" y="3514"/>
              <a:ext cx="31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89" name="Text Box 25"/>
            <p:cNvSpPr txBox="1"/>
            <p:nvPr/>
          </p:nvSpPr>
          <p:spPr>
            <a:xfrm>
              <a:off x="4523" y="3381"/>
              <a:ext cx="1079" cy="3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SzPct val="70000"/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打印一行</a:t>
              </a:r>
              <a:endPara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833438" y="1404938"/>
            <a:ext cx="5446712" cy="523875"/>
            <a:chOff x="2171" y="3946"/>
            <a:chExt cx="3431" cy="330"/>
          </a:xfrm>
        </p:grpSpPr>
        <p:sp>
          <p:nvSpPr>
            <p:cNvPr id="79882" name="Line 27"/>
            <p:cNvSpPr/>
            <p:nvPr/>
          </p:nvSpPr>
          <p:spPr>
            <a:xfrm>
              <a:off x="4211" y="4108"/>
              <a:ext cx="31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83" name="Text Box 28"/>
            <p:cNvSpPr txBox="1"/>
            <p:nvPr/>
          </p:nvSpPr>
          <p:spPr>
            <a:xfrm>
              <a:off x="4523" y="3946"/>
              <a:ext cx="1079" cy="3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SzPct val="70000"/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打印一行</a:t>
              </a:r>
              <a:endPara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884" name="Rectangle 29"/>
            <p:cNvSpPr/>
            <p:nvPr/>
          </p:nvSpPr>
          <p:spPr>
            <a:xfrm>
              <a:off x="2171" y="3955"/>
              <a:ext cx="85" cy="3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9885" name="Text Box 30"/>
            <p:cNvSpPr txBox="1"/>
            <p:nvPr/>
          </p:nvSpPr>
          <p:spPr>
            <a:xfrm>
              <a:off x="2256" y="3955"/>
              <a:ext cx="1955" cy="29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SzPct val="70000"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for(x=‘E’;x&gt;=‘A’;x--)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F5ADEC-9155-4BE6-A8DF-7B66BDAFBB62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3252" name="Picture 20" descr="字符方阵"/>
          <p:cNvPicPr>
            <a:picLocks noChangeAspect="1"/>
          </p:cNvPicPr>
          <p:nvPr/>
        </p:nvPicPr>
        <p:blipFill>
          <a:blip r:embed="rId1"/>
          <a:srcRect t="10321"/>
          <a:stretch>
            <a:fillRect/>
          </a:stretch>
        </p:blipFill>
        <p:spPr>
          <a:xfrm>
            <a:off x="9017635" y="0"/>
            <a:ext cx="3174365" cy="3099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39" grpId="0" bldLvl="0" animBg="1"/>
      <p:bldP spid="31234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100330" y="62230"/>
            <a:ext cx="7936230" cy="67360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&gt;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void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writelinex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char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u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){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打印第u行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j 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for( j=1;j&lt;=5-(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u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-'A'); j++)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("  "); 	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for( j=1;j&lt;=2*(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u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-'A')+1;j++)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(" %c",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u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("\n");		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//换行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main( ) {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char x ; 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for (x='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A';x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&lt;='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F';x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++)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//前6行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writelinex(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for ( x='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E';x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&gt;='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A';x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--) 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//后5行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writelinex(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return 0;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0899" name="AutoShape 5">
            <a:hlinkClick r:id="rId1" action="ppaction://hlinksldjump"/>
          </p:cNvPr>
          <p:cNvSpPr/>
          <p:nvPr/>
        </p:nvSpPr>
        <p:spPr>
          <a:xfrm>
            <a:off x="11218863" y="5808663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80900" name="AutoShape 3"/>
          <p:cNvSpPr/>
          <p:nvPr/>
        </p:nvSpPr>
        <p:spPr>
          <a:xfrm>
            <a:off x="10058400" y="34925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Pct val="70000"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2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29C6BC-9DB0-4FA5-B3E8-E82179B50871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3252" name="Picture 20" descr="字符方阵"/>
          <p:cNvPicPr>
            <a:picLocks noChangeAspect="1"/>
          </p:cNvPicPr>
          <p:nvPr/>
        </p:nvPicPr>
        <p:blipFill>
          <a:blip r:embed="rId3"/>
          <a:srcRect t="10321"/>
          <a:stretch>
            <a:fillRect/>
          </a:stretch>
        </p:blipFill>
        <p:spPr>
          <a:xfrm>
            <a:off x="9051290" y="34925"/>
            <a:ext cx="3140710" cy="3067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FFC63-219A-4B4D-A871-B7EF75F329A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2"/>
          <p:cNvSpPr>
            <a:spLocks noChangeArrowheads="1"/>
          </p:cNvSpPr>
          <p:nvPr/>
        </p:nvSpPr>
        <p:spPr bwMode="auto">
          <a:xfrm>
            <a:off x="76200" y="152400"/>
            <a:ext cx="11811000" cy="26752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5.6】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验证哥德巴赫猜想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P128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任意一个大偶数都可以分解为两个素数之和。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编程序，输入若干个大偶数进行验证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并对每个偶数输出分解结果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（输入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或负数退出）。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28283" y="3401378"/>
            <a:ext cx="6249987" cy="2235200"/>
            <a:chOff x="720" y="1344"/>
            <a:chExt cx="3937" cy="1408"/>
          </a:xfrm>
        </p:grpSpPr>
        <p:sp>
          <p:nvSpPr>
            <p:cNvPr id="77855" name="Line 4"/>
            <p:cNvSpPr/>
            <p:nvPr/>
          </p:nvSpPr>
          <p:spPr>
            <a:xfrm>
              <a:off x="924" y="1637"/>
              <a:ext cx="1" cy="7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56" name="Rectangle 5"/>
            <p:cNvSpPr/>
            <p:nvPr/>
          </p:nvSpPr>
          <p:spPr>
            <a:xfrm>
              <a:off x="924" y="1761"/>
              <a:ext cx="1218" cy="19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输入偶数</a:t>
              </a:r>
              <a:r>
                <a: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77857" name="Rectangle 6"/>
            <p:cNvSpPr/>
            <p:nvPr/>
          </p:nvSpPr>
          <p:spPr>
            <a:xfrm>
              <a:off x="816" y="1400"/>
              <a:ext cx="349" cy="209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开始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77858" name="Rectangle 7"/>
            <p:cNvSpPr/>
            <p:nvPr/>
          </p:nvSpPr>
          <p:spPr>
            <a:xfrm>
              <a:off x="792" y="2459"/>
              <a:ext cx="385" cy="29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结束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77859" name="Oval 8"/>
            <p:cNvSpPr/>
            <p:nvPr/>
          </p:nvSpPr>
          <p:spPr>
            <a:xfrm>
              <a:off x="744" y="2417"/>
              <a:ext cx="409" cy="27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7860" name="Oval 9"/>
            <p:cNvSpPr/>
            <p:nvPr/>
          </p:nvSpPr>
          <p:spPr>
            <a:xfrm>
              <a:off x="720" y="2403"/>
              <a:ext cx="385" cy="280"/>
            </a:xfrm>
            <a:prstGeom prst="ellipse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7861" name="Oval 10"/>
            <p:cNvSpPr/>
            <p:nvPr/>
          </p:nvSpPr>
          <p:spPr>
            <a:xfrm>
              <a:off x="732" y="1344"/>
              <a:ext cx="384" cy="27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7862" name="Rectangle 11"/>
            <p:cNvSpPr/>
            <p:nvPr/>
          </p:nvSpPr>
          <p:spPr>
            <a:xfrm>
              <a:off x="924" y="2039"/>
              <a:ext cx="1454" cy="24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while  N &gt; 0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77863" name="Line 12"/>
            <p:cNvSpPr/>
            <p:nvPr/>
          </p:nvSpPr>
          <p:spPr>
            <a:xfrm>
              <a:off x="1038" y="2039"/>
              <a:ext cx="0" cy="2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64" name="Line 13"/>
            <p:cNvSpPr/>
            <p:nvPr/>
          </p:nvSpPr>
          <p:spPr>
            <a:xfrm>
              <a:off x="2379" y="2170"/>
              <a:ext cx="19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7865" name="Group 14"/>
            <p:cNvGrpSpPr/>
            <p:nvPr/>
          </p:nvGrpSpPr>
          <p:grpSpPr>
            <a:xfrm>
              <a:off x="2577" y="1582"/>
              <a:ext cx="2080" cy="901"/>
              <a:chOff x="6254" y="14278"/>
              <a:chExt cx="2487" cy="907"/>
            </a:xfrm>
          </p:grpSpPr>
          <p:sp>
            <p:nvSpPr>
              <p:cNvPr id="77866" name="Rectangle 15"/>
              <p:cNvSpPr/>
              <p:nvPr/>
            </p:nvSpPr>
            <p:spPr>
              <a:xfrm>
                <a:off x="6254" y="14958"/>
                <a:ext cx="1267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algn="ctr" eaLnBrk="1" hangingPunct="1"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输入偶数→N</a:t>
                </a:r>
                <a:endPara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867" name="Line 16"/>
              <p:cNvSpPr/>
              <p:nvPr/>
            </p:nvSpPr>
            <p:spPr>
              <a:xfrm>
                <a:off x="6254" y="14421"/>
                <a:ext cx="0" cy="61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68" name="Line 17"/>
              <p:cNvSpPr/>
              <p:nvPr/>
            </p:nvSpPr>
            <p:spPr>
              <a:xfrm>
                <a:off x="6254" y="14421"/>
                <a:ext cx="1177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69" name="Rectangle 18"/>
              <p:cNvSpPr/>
              <p:nvPr/>
            </p:nvSpPr>
            <p:spPr>
              <a:xfrm>
                <a:off x="6326" y="14477"/>
                <a:ext cx="1018" cy="1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2000" b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可分解</a:t>
                </a:r>
                <a:endParaRPr lang="zh-CN" altLang="en-US" sz="2000" b="1" dirty="0">
                  <a:solidFill>
                    <a:srgbClr val="00FFFF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77870" name="Line 19"/>
              <p:cNvSpPr/>
              <p:nvPr/>
            </p:nvSpPr>
            <p:spPr>
              <a:xfrm flipH="1">
                <a:off x="7115" y="14421"/>
                <a:ext cx="144" cy="1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71" name="Line 20"/>
              <p:cNvSpPr/>
              <p:nvPr/>
            </p:nvSpPr>
            <p:spPr>
              <a:xfrm>
                <a:off x="6254" y="14716"/>
                <a:ext cx="100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72" name="Line 21"/>
              <p:cNvSpPr/>
              <p:nvPr/>
            </p:nvSpPr>
            <p:spPr>
              <a:xfrm flipH="1" flipV="1">
                <a:off x="7115" y="14561"/>
                <a:ext cx="144" cy="1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73" name="Line 22"/>
              <p:cNvSpPr/>
              <p:nvPr/>
            </p:nvSpPr>
            <p:spPr>
              <a:xfrm rot="-5400000">
                <a:off x="7251" y="14528"/>
                <a:ext cx="0" cy="37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74" name="Rectangle 23"/>
              <p:cNvSpPr/>
              <p:nvPr/>
            </p:nvSpPr>
            <p:spPr>
              <a:xfrm>
                <a:off x="7431" y="14278"/>
                <a:ext cx="1310" cy="2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输出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YES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！</a:t>
                </a:r>
                <a:endPara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华文彩云" pitchFamily="2" charset="-122"/>
                </a:endParaRPr>
              </a:p>
            </p:txBody>
          </p:sp>
          <p:sp>
            <p:nvSpPr>
              <p:cNvPr id="77875" name="Rectangle 24"/>
              <p:cNvSpPr/>
              <p:nvPr/>
            </p:nvSpPr>
            <p:spPr>
              <a:xfrm>
                <a:off x="7431" y="14618"/>
                <a:ext cx="1290" cy="2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输出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NO!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华文彩云" pitchFamily="2" charset="-122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227455"/>
            <a:ext cx="3076575" cy="1343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1930"/>
          <a:stretch>
            <a:fillRect/>
          </a:stretch>
        </p:blipFill>
        <p:spPr>
          <a:xfrm>
            <a:off x="8229600" y="2570480"/>
            <a:ext cx="3084195" cy="2839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6897" b="6437"/>
          <a:stretch>
            <a:fillRect/>
          </a:stretch>
        </p:blipFill>
        <p:spPr>
          <a:xfrm>
            <a:off x="8153400" y="5410200"/>
            <a:ext cx="3038475" cy="957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FFC63-219A-4B4D-A871-B7EF75F329A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2"/>
          <p:cNvSpPr>
            <a:spLocks noChangeArrowheads="1"/>
          </p:cNvSpPr>
          <p:nvPr/>
        </p:nvSpPr>
        <p:spPr bwMode="auto">
          <a:xfrm>
            <a:off x="76200" y="152400"/>
            <a:ext cx="11811000" cy="788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5.6】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验证哥德巴赫猜想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P128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任意一个大偶数都可以分解为两个素数之和。输入若干个大偶数进行验证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并对每个偶数输出分解结果。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25"/>
          <p:cNvGrpSpPr/>
          <p:nvPr/>
        </p:nvGrpSpPr>
        <p:grpSpPr>
          <a:xfrm>
            <a:off x="685800" y="2033905"/>
            <a:ext cx="9296400" cy="3090647"/>
            <a:chOff x="3181" y="2514"/>
            <a:chExt cx="6040" cy="2159"/>
          </a:xfrm>
        </p:grpSpPr>
        <p:sp>
          <p:nvSpPr>
            <p:cNvPr id="77830" name="Line 26"/>
            <p:cNvSpPr/>
            <p:nvPr/>
          </p:nvSpPr>
          <p:spPr>
            <a:xfrm>
              <a:off x="5505" y="3487"/>
              <a:ext cx="176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31" name="Line 27"/>
            <p:cNvSpPr/>
            <p:nvPr/>
          </p:nvSpPr>
          <p:spPr>
            <a:xfrm>
              <a:off x="3421" y="2858"/>
              <a:ext cx="5" cy="12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32" name="Rectangle 28"/>
            <p:cNvSpPr/>
            <p:nvPr/>
          </p:nvSpPr>
          <p:spPr>
            <a:xfrm>
              <a:off x="3267" y="4112"/>
              <a:ext cx="460" cy="29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结束</a:t>
              </a:r>
              <a:endParaRPr lang="zh-CN" altLang="en-US" sz="20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77833" name="Oval 29"/>
            <p:cNvSpPr/>
            <p:nvPr/>
          </p:nvSpPr>
          <p:spPr>
            <a:xfrm>
              <a:off x="3210" y="4070"/>
              <a:ext cx="489" cy="281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sp>
          <p:nvSpPr>
            <p:cNvPr id="77834" name="Oval 30"/>
            <p:cNvSpPr/>
            <p:nvPr/>
          </p:nvSpPr>
          <p:spPr>
            <a:xfrm>
              <a:off x="3181" y="4055"/>
              <a:ext cx="460" cy="282"/>
            </a:xfrm>
            <a:prstGeom prst="ellipse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70000"/>
                <a:buNone/>
              </a:pPr>
              <a:endParaRPr lang="zh-CN" altLang="en-US" sz="2400" b="1" dirty="0"/>
            </a:p>
          </p:txBody>
        </p:sp>
        <p:grpSp>
          <p:nvGrpSpPr>
            <p:cNvPr id="77835" name="Group 31"/>
            <p:cNvGrpSpPr/>
            <p:nvPr/>
          </p:nvGrpSpPr>
          <p:grpSpPr>
            <a:xfrm>
              <a:off x="3195" y="2514"/>
              <a:ext cx="828" cy="364"/>
              <a:chOff x="3195" y="2906"/>
              <a:chExt cx="828" cy="364"/>
            </a:xfrm>
          </p:grpSpPr>
          <p:sp>
            <p:nvSpPr>
              <p:cNvPr id="77853" name="Rectangle 32"/>
              <p:cNvSpPr/>
              <p:nvPr/>
            </p:nvSpPr>
            <p:spPr>
              <a:xfrm>
                <a:off x="3289" y="2995"/>
                <a:ext cx="662" cy="25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1800" b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可分解</a:t>
                </a:r>
                <a:r>
                  <a:rPr lang="en-US" altLang="zh-CN" sz="1800" b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?</a:t>
                </a:r>
                <a:endParaRPr lang="zh-CN" altLang="en-US" sz="1800" b="1" dirty="0">
                  <a:solidFill>
                    <a:srgbClr val="00FFFF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77854" name="Oval 33"/>
              <p:cNvSpPr/>
              <p:nvPr/>
            </p:nvSpPr>
            <p:spPr>
              <a:xfrm>
                <a:off x="3195" y="2906"/>
                <a:ext cx="828" cy="3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Pct val="70000"/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77836" name="Line 34"/>
            <p:cNvSpPr/>
            <p:nvPr/>
          </p:nvSpPr>
          <p:spPr>
            <a:xfrm>
              <a:off x="5715" y="3327"/>
              <a:ext cx="0" cy="3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37" name="Line 35"/>
            <p:cNvSpPr/>
            <p:nvPr/>
          </p:nvSpPr>
          <p:spPr>
            <a:xfrm>
              <a:off x="5701" y="3330"/>
              <a:ext cx="2240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838" name="Rectangle 36"/>
            <p:cNvSpPr/>
            <p:nvPr/>
          </p:nvSpPr>
          <p:spPr>
            <a:xfrm>
              <a:off x="5801" y="3373"/>
              <a:ext cx="1860" cy="2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n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是素数 </a:t>
              </a: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&amp;&amp;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N-n</a:t>
              </a: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是素数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77839" name="Line 37"/>
            <p:cNvSpPr/>
            <p:nvPr/>
          </p:nvSpPr>
          <p:spPr>
            <a:xfrm>
              <a:off x="5701" y="3625"/>
              <a:ext cx="204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7840" name="Group 38"/>
            <p:cNvGrpSpPr/>
            <p:nvPr/>
          </p:nvGrpSpPr>
          <p:grpSpPr>
            <a:xfrm>
              <a:off x="7581" y="3338"/>
              <a:ext cx="169" cy="287"/>
              <a:chOff x="7457" y="3330"/>
              <a:chExt cx="293" cy="295"/>
            </a:xfrm>
          </p:grpSpPr>
          <p:sp>
            <p:nvSpPr>
              <p:cNvPr id="77851" name="Line 39"/>
              <p:cNvSpPr/>
              <p:nvPr/>
            </p:nvSpPr>
            <p:spPr>
              <a:xfrm flipH="1">
                <a:off x="7457" y="3330"/>
                <a:ext cx="293" cy="1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52" name="Line 40"/>
              <p:cNvSpPr/>
              <p:nvPr/>
            </p:nvSpPr>
            <p:spPr>
              <a:xfrm flipH="1" flipV="1">
                <a:off x="7457" y="3470"/>
                <a:ext cx="293" cy="1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77841" name="Group 41"/>
            <p:cNvGrpSpPr/>
            <p:nvPr/>
          </p:nvGrpSpPr>
          <p:grpSpPr>
            <a:xfrm>
              <a:off x="7941" y="3050"/>
              <a:ext cx="1280" cy="548"/>
              <a:chOff x="9501" y="4881"/>
              <a:chExt cx="790" cy="548"/>
            </a:xfrm>
          </p:grpSpPr>
          <p:sp>
            <p:nvSpPr>
              <p:cNvPr id="77848" name="Line 42"/>
              <p:cNvSpPr/>
              <p:nvPr/>
            </p:nvSpPr>
            <p:spPr>
              <a:xfrm>
                <a:off x="9501" y="4952"/>
                <a:ext cx="0" cy="37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7849" name="Rectangle 43"/>
              <p:cNvSpPr/>
              <p:nvPr/>
            </p:nvSpPr>
            <p:spPr>
              <a:xfrm>
                <a:off x="9501" y="4881"/>
                <a:ext cx="776" cy="24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输出 </a:t>
                </a:r>
                <a:r>
                  <a: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N=n+(N-n</a:t>
                </a:r>
                <a:r>
                  <a:rPr lang="en-US" altLang="zh-CN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)</a:t>
                </a:r>
                <a:endParaRPr lang="en-US" altLang="zh-CN" sz="20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77850" name="Rectangle 44"/>
              <p:cNvSpPr/>
              <p:nvPr/>
            </p:nvSpPr>
            <p:spPr>
              <a:xfrm>
                <a:off x="9501" y="5218"/>
                <a:ext cx="790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flag = true</a:t>
                </a:r>
                <a:endPara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彩云" pitchFamily="2" charset="-122"/>
                </a:endParaRPr>
              </a:p>
            </p:txBody>
          </p:sp>
        </p:grpSp>
        <p:sp>
          <p:nvSpPr>
            <p:cNvPr id="77842" name="Text Box 45"/>
            <p:cNvSpPr txBox="1"/>
            <p:nvPr/>
          </p:nvSpPr>
          <p:spPr>
            <a:xfrm>
              <a:off x="5954" y="4394"/>
              <a:ext cx="1365" cy="27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图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5.6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可分解？</a:t>
              </a:r>
              <a:endPara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华文彩云" pitchFamily="2" charset="-122"/>
              </a:endParaRPr>
            </a:p>
          </p:txBody>
        </p:sp>
        <p:grpSp>
          <p:nvGrpSpPr>
            <p:cNvPr id="77843" name="Group 46"/>
            <p:cNvGrpSpPr/>
            <p:nvPr/>
          </p:nvGrpSpPr>
          <p:grpSpPr>
            <a:xfrm>
              <a:off x="3425" y="3367"/>
              <a:ext cx="2076" cy="285"/>
              <a:chOff x="3885" y="2958"/>
              <a:chExt cx="2076" cy="285"/>
            </a:xfrm>
          </p:grpSpPr>
          <p:sp>
            <p:nvSpPr>
              <p:cNvPr id="77846" name="Rectangle 47"/>
              <p:cNvSpPr/>
              <p:nvPr/>
            </p:nvSpPr>
            <p:spPr>
              <a:xfrm>
                <a:off x="3885" y="2958"/>
                <a:ext cx="2076" cy="285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  for ( n=N-2; n &gt;=N/2; n-- )</a:t>
                </a:r>
                <a:endParaRPr lang="en-US" altLang="zh-CN" sz="20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  <p:sp>
            <p:nvSpPr>
              <p:cNvPr id="77847" name="Line 48"/>
              <p:cNvSpPr/>
              <p:nvPr/>
            </p:nvSpPr>
            <p:spPr>
              <a:xfrm>
                <a:off x="4021" y="2958"/>
                <a:ext cx="0" cy="27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7844" name="Text Box 49"/>
            <p:cNvSpPr txBox="1"/>
            <p:nvPr/>
          </p:nvSpPr>
          <p:spPr>
            <a:xfrm>
              <a:off x="3421" y="3727"/>
              <a:ext cx="1220" cy="2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return </a:t>
              </a: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flag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77845" name="Text Box 50"/>
            <p:cNvSpPr txBox="1"/>
            <p:nvPr/>
          </p:nvSpPr>
          <p:spPr>
            <a:xfrm>
              <a:off x="3421" y="2998"/>
              <a:ext cx="1220" cy="2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flag = false</a:t>
              </a:r>
              <a:endParaRPr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5063C0-C805-4740-900C-C6DB5A2D527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42" name="Rectangle 2"/>
          <p:cNvSpPr>
            <a:spLocks noChangeArrowheads="1"/>
          </p:cNvSpPr>
          <p:nvPr/>
        </p:nvSpPr>
        <p:spPr bwMode="auto">
          <a:xfrm>
            <a:off x="1066800" y="-27146"/>
            <a:ext cx="8229600" cy="704723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indent="146685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bool  analyze( int );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bool prime( int ) ;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main(){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主函数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N;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N:");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scanf("%d",&amp;N);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while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N&gt;0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if( 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analyze(N)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)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	printf("\n-</a:t>
            </a:r>
            <a:r>
              <a:rPr kumimoji="0" lang="en-US" alt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YES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!-\n");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else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	printf("\n-NO!-\n");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printf(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"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N:");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scanf("%d",&amp;N);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pt-BR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0;</a:t>
            </a:r>
            <a:endParaRPr kumimoji="0" lang="pt-BR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1466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2" name="矩形 1"/>
          <p:cNvSpPr/>
          <p:nvPr/>
        </p:nvSpPr>
        <p:spPr>
          <a:xfrm>
            <a:off x="2895600" y="1978025"/>
            <a:ext cx="4598670" cy="845185"/>
          </a:xfrm>
          <a:prstGeom prst="rect">
            <a:avLst/>
          </a:prstGeom>
          <a:noFill/>
          <a:ln w="47625" cap="flat" cmpd="sng">
            <a:solidFill>
              <a:schemeClr val="accent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800" b="1" dirty="0"/>
          </a:p>
        </p:txBody>
      </p:sp>
      <p:sp>
        <p:nvSpPr>
          <p:cNvPr id="78853" name="矩形 5"/>
          <p:cNvSpPr/>
          <p:nvPr/>
        </p:nvSpPr>
        <p:spPr>
          <a:xfrm>
            <a:off x="3810000" y="4953000"/>
            <a:ext cx="4724400" cy="827088"/>
          </a:xfrm>
          <a:prstGeom prst="rect">
            <a:avLst/>
          </a:prstGeom>
          <a:noFill/>
          <a:ln w="47625" cap="flat" cmpd="sng">
            <a:solidFill>
              <a:schemeClr val="accent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1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42">
                                            <p:txEl>
                                              <p:charRg st="1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4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42">
                                            <p:txEl>
                                              <p:charRg st="49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309046-AC20-448E-9875-D10CEB30BFE6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/>
          <p:cNvSpPr/>
          <p:nvPr/>
        </p:nvSpPr>
        <p:spPr>
          <a:xfrm>
            <a:off x="222250" y="233045"/>
            <a:ext cx="11055350" cy="63696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1466850" algn="l" eaLnBrk="1" hangingPunct="1">
              <a:buClrTx/>
              <a:buSzTx/>
              <a:buFontTx/>
              <a:buNone/>
            </a:pPr>
            <a:r>
              <a:rPr lang="pt-BR" altLang="zh-CN" sz="2400" b="1" dirty="0">
                <a:solidFill>
                  <a:srgbClr val="33CC33"/>
                </a:solidFill>
              </a:rPr>
              <a:t>bool</a:t>
            </a:r>
            <a:r>
              <a:rPr lang="pt-BR" altLang="zh-CN" sz="2400" b="1" dirty="0">
                <a:solidFill>
                  <a:srgbClr val="FFFF00"/>
                </a:solidFill>
              </a:rPr>
              <a:t>  analyze( int N ){</a:t>
            </a:r>
            <a:r>
              <a:rPr lang="pt-BR" altLang="zh-CN" sz="2400" b="1" dirty="0"/>
              <a:t>	</a:t>
            </a:r>
            <a:r>
              <a:rPr lang="en-US" altLang="pt-BR" sz="2400" b="1" dirty="0"/>
              <a:t>	</a:t>
            </a:r>
            <a:r>
              <a:rPr lang="en-US" altLang="zh-CN" sz="2400" b="1" dirty="0">
                <a:solidFill>
                  <a:schemeClr val="tx1">
                    <a:lumMod val="85000"/>
                  </a:schemeClr>
                </a:solidFill>
              </a:rPr>
              <a:t>//分解</a:t>
            </a:r>
            <a:endParaRPr lang="en-US" altLang="zh-CN" sz="24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</a:t>
            </a:r>
            <a:r>
              <a:rPr lang="pt-BR" altLang="zh-CN" sz="2400" b="1" dirty="0"/>
              <a:t>int n;</a:t>
            </a:r>
            <a:endParaRPr lang="pt-BR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 b="1" dirty="0"/>
              <a:t>	</a:t>
            </a:r>
            <a:r>
              <a:rPr lang="pt-BR" altLang="zh-CN" sz="2400" b="1" dirty="0">
                <a:solidFill>
                  <a:srgbClr val="33CC33"/>
                </a:solidFill>
              </a:rPr>
              <a:t>bool fl</a:t>
            </a:r>
            <a:r>
              <a:rPr lang="en-US" altLang="zh-CN" sz="2400" b="1" dirty="0">
                <a:solidFill>
                  <a:srgbClr val="33CC33"/>
                </a:solidFill>
              </a:rPr>
              <a:t>ag = false;</a:t>
            </a:r>
            <a:r>
              <a:rPr lang="en-US" altLang="zh-CN" sz="2400" b="1" dirty="0"/>
              <a:t>	</a:t>
            </a:r>
            <a:endParaRPr lang="zh-CN" altLang="pt-BR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for ( n=N-2; n&gt;=N/2; n-- )</a:t>
            </a:r>
            <a:endParaRPr lang="en-US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	if(</a:t>
            </a:r>
            <a:r>
              <a:rPr lang="en-US" altLang="zh-CN" sz="2400" b="1" dirty="0">
                <a:solidFill>
                  <a:srgbClr val="00FFFF"/>
                </a:solidFill>
              </a:rPr>
              <a:t> prime(n) &amp;&amp; prime(N-n)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/>
              <a:t>){</a:t>
            </a:r>
            <a:endParaRPr lang="zh-CN" altLang="en-US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			</a:t>
            </a:r>
            <a:r>
              <a:rPr lang="en-US" altLang="zh-CN" sz="2400" b="1" dirty="0"/>
              <a:t>printf(" %d=%d+%d\n",N,</a:t>
            </a:r>
            <a:r>
              <a:rPr lang="en-US" altLang="zh-CN" sz="2400" b="1" dirty="0">
                <a:solidFill>
                  <a:srgbClr val="00FFFF"/>
                </a:solidFill>
              </a:rPr>
              <a:t>n,N-n</a:t>
            </a:r>
            <a:r>
              <a:rPr lang="en-US" altLang="zh-CN" sz="2400" b="1" dirty="0"/>
              <a:t>);</a:t>
            </a:r>
            <a:endParaRPr lang="en-US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		</a:t>
            </a:r>
            <a:r>
              <a:rPr lang="en-US" altLang="zh-CN" sz="2400" b="1" dirty="0">
                <a:solidFill>
                  <a:srgbClr val="33CC33"/>
                </a:solidFill>
              </a:rPr>
              <a:t>flag = true;	</a:t>
            </a:r>
            <a:endParaRPr lang="zh-CN" altLang="pt-BR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400" b="1" dirty="0"/>
              <a:t>		</a:t>
            </a:r>
            <a:r>
              <a:rPr lang="pt-BR" altLang="zh-CN" sz="2400" b="1" dirty="0"/>
              <a:t>}</a:t>
            </a:r>
            <a:endParaRPr lang="pt-BR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>
                <a:solidFill>
                  <a:srgbClr val="33CC33"/>
                </a:solidFill>
              </a:rPr>
              <a:t>return flag;	</a:t>
            </a:r>
            <a:r>
              <a:rPr lang="en-US" altLang="zh-CN" sz="2400" b="1" dirty="0"/>
              <a:t>		</a:t>
            </a:r>
            <a:endParaRPr lang="zh-CN" altLang="en-US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}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CC33"/>
                </a:solidFill>
              </a:rPr>
              <a:t>bool </a:t>
            </a:r>
            <a:r>
              <a:rPr lang="en-US" altLang="zh-CN" sz="2400" b="1" dirty="0">
                <a:solidFill>
                  <a:srgbClr val="00FFFF"/>
                </a:solidFill>
              </a:rPr>
              <a:t>prime( int n ) </a:t>
            </a:r>
            <a:r>
              <a:rPr lang="en-US" altLang="zh-CN" sz="2400" b="1" dirty="0">
                <a:solidFill>
                  <a:schemeClr val="tx1"/>
                </a:solidFill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/>
              <a:t>		</a:t>
            </a:r>
            <a:r>
              <a:rPr lang="en-US" altLang="zh-CN" sz="2400" b="1" dirty="0">
                <a:solidFill>
                  <a:schemeClr val="tx1">
                    <a:lumMod val="85000"/>
                  </a:schemeClr>
                </a:solidFill>
              </a:rPr>
              <a:t>//</a:t>
            </a:r>
            <a:r>
              <a:rPr lang="zh-CN" altLang="en-US" sz="2400" b="1" dirty="0">
                <a:solidFill>
                  <a:schemeClr val="tx1">
                    <a:lumMod val="85000"/>
                  </a:schemeClr>
                </a:solidFill>
              </a:rPr>
              <a:t>判断</a:t>
            </a:r>
            <a:r>
              <a:rPr lang="en-US" altLang="zh-CN" sz="2400" b="1" dirty="0">
                <a:solidFill>
                  <a:schemeClr val="tx1">
                    <a:lumMod val="85000"/>
                  </a:schemeClr>
                </a:solidFill>
              </a:rPr>
              <a:t>n</a:t>
            </a:r>
            <a:r>
              <a:rPr lang="zh-CN" altLang="en-US" sz="2400" b="1" dirty="0">
                <a:solidFill>
                  <a:schemeClr val="tx1">
                    <a:lumMod val="85000"/>
                  </a:schemeClr>
                </a:solidFill>
              </a:rPr>
              <a:t>是否素数</a:t>
            </a:r>
            <a:endParaRPr lang="zh-CN" altLang="en-US" sz="24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   int  j ;</a:t>
            </a:r>
            <a:endParaRPr lang="en-US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  for ( j = n / 2 ; j &gt;= 2 ; j-- )</a:t>
            </a:r>
            <a:endParaRPr lang="en-US" altLang="zh-CN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          if ( n%j == 0 )	</a:t>
            </a:r>
            <a:endParaRPr lang="zh-CN" altLang="en-US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		</a:t>
            </a:r>
            <a:r>
              <a:rPr lang="en-US" altLang="zh-CN" sz="2400" b="1" dirty="0"/>
              <a:t>	</a:t>
            </a:r>
            <a:r>
              <a:rPr lang="en-US" altLang="zh-CN" sz="2400" b="1" dirty="0">
                <a:solidFill>
                  <a:srgbClr val="33CC33"/>
                </a:solidFill>
              </a:rPr>
              <a:t>return  false ;</a:t>
            </a:r>
            <a:endParaRPr lang="en-US" altLang="zh-CN" sz="2400" b="1" dirty="0">
              <a:solidFill>
                <a:srgbClr val="33CC33"/>
              </a:solidFill>
            </a:endParaRPr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  </a:t>
            </a:r>
            <a:r>
              <a:rPr lang="en-US" altLang="zh-CN" sz="2400" b="1" dirty="0">
                <a:solidFill>
                  <a:srgbClr val="33CC33"/>
                </a:solidFill>
              </a:rPr>
              <a:t>return  true ;	</a:t>
            </a:r>
            <a:endParaRPr lang="zh-CN" altLang="en-US" sz="2400" b="1" dirty="0"/>
          </a:p>
          <a:p>
            <a:pPr marL="0" lvl="0" indent="14668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79877" name="AutoShape 5">
            <a:hlinkClick r:id="rId1" action="ppaction://hlinksldjump"/>
          </p:cNvPr>
          <p:cNvSpPr/>
          <p:nvPr/>
        </p:nvSpPr>
        <p:spPr>
          <a:xfrm>
            <a:off x="11145838" y="5816600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188" y="5245100"/>
            <a:ext cx="5599113" cy="50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三角形的重心是三条中线的交点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A23A0-A6D8-41D0-BFD7-AA9C0BB67165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0900" name="Group 4"/>
          <p:cNvGrpSpPr/>
          <p:nvPr/>
        </p:nvGrpSpPr>
        <p:grpSpPr>
          <a:xfrm>
            <a:off x="439738" y="1874838"/>
            <a:ext cx="4356100" cy="3141662"/>
            <a:chOff x="1372" y="1655"/>
            <a:chExt cx="2482" cy="1761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11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18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21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0922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0923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27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28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29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30" name="Text Box 25"/>
            <p:cNvSpPr txBox="1"/>
            <p:nvPr/>
          </p:nvSpPr>
          <p:spPr>
            <a:xfrm>
              <a:off x="2545" y="2134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27"/>
          <p:cNvGrpSpPr/>
          <p:nvPr/>
        </p:nvGrpSpPr>
        <p:grpSpPr>
          <a:xfrm>
            <a:off x="7634288" y="2595563"/>
            <a:ext cx="4100512" cy="2663825"/>
            <a:chOff x="3408" y="1255"/>
            <a:chExt cx="2013" cy="1816"/>
          </a:xfrm>
        </p:grpSpPr>
        <p:sp>
          <p:nvSpPr>
            <p:cNvPr id="80904" name="Line 28"/>
            <p:cNvSpPr/>
            <p:nvPr/>
          </p:nvSpPr>
          <p:spPr>
            <a:xfrm flipH="1">
              <a:off x="3408" y="1255"/>
              <a:ext cx="1" cy="1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0905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0906" name="Rectangle 30"/>
            <p:cNvSpPr/>
            <p:nvPr/>
          </p:nvSpPr>
          <p:spPr>
            <a:xfrm>
              <a:off x="3409" y="1689"/>
              <a:ext cx="2012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AD</a:t>
              </a:r>
              <a:endParaRPr lang="en-US" altLang="zh-CN" sz="20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07" name="Rectangle 31"/>
            <p:cNvSpPr/>
            <p:nvPr/>
          </p:nvSpPr>
          <p:spPr>
            <a:xfrm>
              <a:off x="3410" y="2029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BE</a:t>
              </a:r>
              <a:endParaRPr lang="en-US" altLang="zh-CN" sz="20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08" name="Rectangle 32"/>
            <p:cNvSpPr/>
            <p:nvPr/>
          </p:nvSpPr>
          <p:spPr>
            <a:xfrm>
              <a:off x="3408" y="2397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（重心）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的坐标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0909" name="Rectangle 33"/>
            <p:cNvSpPr/>
            <p:nvPr/>
          </p:nvSpPr>
          <p:spPr>
            <a:xfrm>
              <a:off x="3410" y="275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O点</a:t>
              </a:r>
              <a:r>
                <a:rPr lang="zh-CN" altLang="en-US" sz="2000" b="1" dirty="0">
                  <a:ea typeface="黑体" panose="02010609060101010101" pitchFamily="49" charset="-122"/>
                </a:rPr>
                <a:t>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5" y="635"/>
            <a:ext cx="12099290" cy="1876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5.1】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P118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已知三角形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个顶点坐标，求该三角形的重心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【网盘视频-</a:t>
            </a:r>
            <a:r>
              <a:rPr kumimoji="0" lang="zh-CN" altLang="en-US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5.1</a:t>
            </a:r>
            <a:r>
              <a:rPr kumimoji="0" lang="zh-CN" altLang="en-US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、例</a:t>
            </a:r>
            <a:r>
              <a:rPr kumimoji="0" lang="en-US" altLang="zh-CN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5.2】</a:t>
            </a:r>
            <a:endParaRPr kumimoji="0" lang="en-US" altLang="zh-CN" sz="2800" b="1" i="0" u="none" strike="noStrike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5.2思考】一个函数至多只能带回一个返回值，那么，函数lines是如何将 斜率和截距 这两个数据传回给主函数的？</a:t>
            </a:r>
            <a:endParaRPr kumimoji="0" lang="en-US" altLang="zh-CN" sz="2800" b="1" i="0" u="none" strike="noStrike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53463" y="5348288"/>
            <a:ext cx="168910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cap="none" spc="0" normalizeH="0" baseline="0" dirty="0">
                <a:solidFill>
                  <a:srgbClr val="FFFF00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PAD——顶层</a:t>
            </a:r>
            <a:endParaRPr kumimoji="0" lang="en-US" altLang="zh-CN" sz="2000" b="1" i="0" u="none" strike="noStrike" kern="1200" cap="none" spc="0" normalizeH="0" baseline="0" dirty="0">
              <a:solidFill>
                <a:srgbClr val="FFFF00"/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11200765" y="5858510"/>
            <a:ext cx="914400" cy="381000"/>
          </a:xfrm>
          <a:prstGeom prst="rightArrow">
            <a:avLst/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00CA7A-2C0A-435A-9D38-7094E3B37C93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1923" name="Group 27"/>
          <p:cNvGrpSpPr/>
          <p:nvPr/>
        </p:nvGrpSpPr>
        <p:grpSpPr>
          <a:xfrm>
            <a:off x="7754938" y="2503488"/>
            <a:ext cx="3603625" cy="1655762"/>
            <a:chOff x="3409" y="1575"/>
            <a:chExt cx="2012" cy="906"/>
          </a:xfrm>
        </p:grpSpPr>
        <p:sp>
          <p:nvSpPr>
            <p:cNvPr id="81949" name="Line 28"/>
            <p:cNvSpPr/>
            <p:nvPr/>
          </p:nvSpPr>
          <p:spPr>
            <a:xfrm flipH="1">
              <a:off x="3410" y="1575"/>
              <a:ext cx="0" cy="9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1950" name="Rectangle 30"/>
            <p:cNvSpPr/>
            <p:nvPr/>
          </p:nvSpPr>
          <p:spPr>
            <a:xfrm>
              <a:off x="3409" y="1689"/>
              <a:ext cx="2012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400" b="1" dirty="0">
                  <a:ea typeface="黑体" panose="02010609060101010101" pitchFamily="49" charset="-122"/>
                </a:rPr>
                <a:t>BC</a:t>
              </a:r>
              <a:r>
                <a:rPr lang="zh-CN" altLang="en-US" sz="2400" b="1" dirty="0">
                  <a:ea typeface="黑体" panose="02010609060101010101" pitchFamily="49" charset="-122"/>
                </a:rPr>
                <a:t>边的中点</a:t>
              </a:r>
              <a:r>
                <a:rPr lang="en-US" altLang="zh-CN" sz="24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24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951" name="Rectangle 31"/>
            <p:cNvSpPr/>
            <p:nvPr/>
          </p:nvSpPr>
          <p:spPr>
            <a:xfrm>
              <a:off x="3410" y="2029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zh-CN" sz="2400" b="1" dirty="0">
                  <a:ea typeface="黑体" panose="02010609060101010101" pitchFamily="49" charset="-122"/>
                </a:rPr>
                <a:t>求过</a:t>
              </a:r>
              <a:r>
                <a:rPr lang="en-US" altLang="zh-CN" sz="2400" b="1" dirty="0">
                  <a:ea typeface="黑体" panose="02010609060101010101" pitchFamily="49" charset="-122"/>
                </a:rPr>
                <a:t>A</a:t>
              </a:r>
              <a:r>
                <a:rPr lang="zh-CN" altLang="en-US" sz="24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4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r>
                <a:rPr lang="zh-CN" altLang="en-US" sz="2400" b="1" dirty="0">
                  <a:ea typeface="黑体" panose="02010609060101010101" pitchFamily="49" charset="-122"/>
                </a:rPr>
                <a:t>两点的直线方程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81924" name="Group 4"/>
          <p:cNvGrpSpPr/>
          <p:nvPr/>
        </p:nvGrpSpPr>
        <p:grpSpPr>
          <a:xfrm>
            <a:off x="609600" y="1223963"/>
            <a:ext cx="4356100" cy="3141662"/>
            <a:chOff x="1372" y="1655"/>
            <a:chExt cx="2482" cy="1761"/>
          </a:xfrm>
        </p:grpSpPr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2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47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194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194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59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4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94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94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948" name="Text Box 25"/>
            <p:cNvSpPr txBox="1"/>
            <p:nvPr/>
          </p:nvSpPr>
          <p:spPr>
            <a:xfrm>
              <a:off x="2545" y="2134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8" name="矩形 67"/>
          <p:cNvSpPr/>
          <p:nvPr/>
        </p:nvSpPr>
        <p:spPr>
          <a:xfrm>
            <a:off x="788988" y="195263"/>
            <a:ext cx="8353425" cy="768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求中线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AD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6" name="Rectangle 29"/>
          <p:cNvSpPr/>
          <p:nvPr/>
        </p:nvSpPr>
        <p:spPr>
          <a:xfrm>
            <a:off x="377825" y="4370388"/>
            <a:ext cx="5910263" cy="23082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求</a:t>
            </a:r>
            <a:r>
              <a:rPr lang="en-US" altLang="zh-CN" sz="2400" b="1" dirty="0">
                <a:ea typeface="黑体" panose="02010609060101010101" pitchFamily="49" charset="-122"/>
              </a:rPr>
              <a:t>BC</a:t>
            </a:r>
            <a:r>
              <a:rPr lang="zh-CN" altLang="en-US" sz="2400" b="1" dirty="0">
                <a:ea typeface="黑体" panose="02010609060101010101" pitchFamily="49" charset="-122"/>
              </a:rPr>
              <a:t>中点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xd,yd</a:t>
            </a:r>
            <a:r>
              <a:rPr lang="zh-CN" altLang="en-US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ea typeface="黑体" panose="02010609060101010101" pitchFamily="49" charset="-122"/>
              </a:rPr>
              <a:t>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xd=(xb+xc)/2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yd=(yb+yc)/2 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求过</a:t>
            </a: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ea typeface="黑体" panose="02010609060101010101" pitchFamily="49" charset="-122"/>
              </a:rPr>
              <a:t>两点的直线方程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y=a1*x+b1</a:t>
            </a:r>
            <a:r>
              <a:rPr lang="zh-CN" altLang="en-US" sz="2400" b="1" dirty="0">
                <a:ea typeface="黑体" panose="02010609060101010101" pitchFamily="49" charset="-122"/>
              </a:rPr>
              <a:t>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a1=(ya-yd)/(xa-xd)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b1=ya-a1*xa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610600" y="4464050"/>
            <a:ext cx="231076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cap="none" spc="0" normalizeH="0" baseline="0" dirty="0">
                <a:solidFill>
                  <a:srgbClr val="FFFF00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PAD——求中线AD</a:t>
            </a:r>
            <a:endParaRPr kumimoji="0" lang="en-US" altLang="zh-CN" sz="2000" b="1" i="0" u="none" strike="noStrike" kern="1200" cap="none" spc="0" normalizeH="0" baseline="0" dirty="0">
              <a:solidFill>
                <a:srgbClr val="FFFF00"/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53ADD0-782C-4C9E-86AF-BBE18F4B6E70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2947" name="Group 27"/>
          <p:cNvGrpSpPr/>
          <p:nvPr/>
        </p:nvGrpSpPr>
        <p:grpSpPr>
          <a:xfrm>
            <a:off x="7439025" y="2486025"/>
            <a:ext cx="3603625" cy="1655763"/>
            <a:chOff x="3409" y="1575"/>
            <a:chExt cx="2012" cy="906"/>
          </a:xfrm>
        </p:grpSpPr>
        <p:sp>
          <p:nvSpPr>
            <p:cNvPr id="82973" name="Line 28"/>
            <p:cNvSpPr/>
            <p:nvPr/>
          </p:nvSpPr>
          <p:spPr>
            <a:xfrm flipH="1">
              <a:off x="3410" y="1575"/>
              <a:ext cx="0" cy="9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2974" name="Rectangle 30"/>
            <p:cNvSpPr/>
            <p:nvPr/>
          </p:nvSpPr>
          <p:spPr>
            <a:xfrm>
              <a:off x="3409" y="1689"/>
              <a:ext cx="2012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400" b="1" dirty="0">
                  <a:ea typeface="黑体" panose="02010609060101010101" pitchFamily="49" charset="-122"/>
                </a:rPr>
                <a:t>AC</a:t>
              </a:r>
              <a:r>
                <a:rPr lang="zh-CN" altLang="en-US" sz="2400" b="1" dirty="0">
                  <a:ea typeface="黑体" panose="02010609060101010101" pitchFamily="49" charset="-122"/>
                </a:rPr>
                <a:t>边的中点</a:t>
              </a:r>
              <a:r>
                <a:rPr lang="en-US" altLang="zh-CN" sz="24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24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975" name="Rectangle 31"/>
            <p:cNvSpPr/>
            <p:nvPr/>
          </p:nvSpPr>
          <p:spPr>
            <a:xfrm>
              <a:off x="3410" y="2029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zh-CN" sz="2400" b="1" dirty="0">
                  <a:ea typeface="黑体" panose="02010609060101010101" pitchFamily="49" charset="-122"/>
                </a:rPr>
                <a:t>求过</a:t>
              </a:r>
              <a:r>
                <a:rPr lang="en-US" altLang="zh-CN" sz="2400" b="1" dirty="0">
                  <a:ea typeface="黑体" panose="02010609060101010101" pitchFamily="49" charset="-122"/>
                </a:rPr>
                <a:t>B</a:t>
              </a:r>
              <a:r>
                <a:rPr lang="zh-CN" altLang="en-US" sz="24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4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r>
                <a:rPr lang="zh-CN" altLang="en-US" sz="2400" b="1" dirty="0">
                  <a:ea typeface="黑体" panose="02010609060101010101" pitchFamily="49" charset="-122"/>
                </a:rPr>
                <a:t>两点的直线方程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82948" name="Group 4"/>
          <p:cNvGrpSpPr/>
          <p:nvPr/>
        </p:nvGrpSpPr>
        <p:grpSpPr>
          <a:xfrm>
            <a:off x="363538" y="1185863"/>
            <a:ext cx="4356100" cy="3141662"/>
            <a:chOff x="1372" y="1655"/>
            <a:chExt cx="2482" cy="1761"/>
          </a:xfrm>
        </p:grpSpPr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3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47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60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63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2964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2965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59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69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970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971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972" name="Text Box 25"/>
            <p:cNvSpPr txBox="1"/>
            <p:nvPr/>
          </p:nvSpPr>
          <p:spPr>
            <a:xfrm>
              <a:off x="2545" y="2134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8" name="矩形 67"/>
          <p:cNvSpPr/>
          <p:nvPr/>
        </p:nvSpPr>
        <p:spPr>
          <a:xfrm>
            <a:off x="363538" y="71438"/>
            <a:ext cx="8353425" cy="768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求中线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BE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50" name="Rectangle 29"/>
          <p:cNvSpPr/>
          <p:nvPr/>
        </p:nvSpPr>
        <p:spPr>
          <a:xfrm>
            <a:off x="131763" y="4332288"/>
            <a:ext cx="5910262" cy="23082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求</a:t>
            </a:r>
            <a:r>
              <a:rPr lang="en-US" altLang="zh-CN" sz="2400" b="1" dirty="0">
                <a:ea typeface="黑体" panose="02010609060101010101" pitchFamily="49" charset="-122"/>
              </a:rPr>
              <a:t>AC</a:t>
            </a:r>
            <a:r>
              <a:rPr lang="zh-CN" altLang="en-US" sz="2400" b="1" dirty="0">
                <a:ea typeface="黑体" panose="02010609060101010101" pitchFamily="49" charset="-122"/>
              </a:rPr>
              <a:t>中点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E</a:t>
            </a:r>
            <a:r>
              <a:rPr lang="zh-CN" altLang="en-US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xe,ye</a:t>
            </a:r>
            <a:r>
              <a:rPr lang="zh-CN" altLang="en-US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ea typeface="黑体" panose="02010609060101010101" pitchFamily="49" charset="-122"/>
              </a:rPr>
              <a:t>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xe=(xa+xc)/2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ye=(ya+yc)/2 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求过</a:t>
            </a:r>
            <a:r>
              <a:rPr lang="en-US" altLang="zh-CN" sz="2400" b="1" dirty="0"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ea typeface="黑体" panose="02010609060101010101" pitchFamily="49" charset="-122"/>
              </a:rPr>
              <a:t>E</a:t>
            </a:r>
            <a:r>
              <a:rPr lang="zh-CN" altLang="en-US" sz="2400" b="1" dirty="0">
                <a:ea typeface="黑体" panose="02010609060101010101" pitchFamily="49" charset="-122"/>
              </a:rPr>
              <a:t>两点的直线方程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y=a2*x+b2</a:t>
            </a:r>
            <a:r>
              <a:rPr lang="zh-CN" altLang="en-US" sz="2400" b="1" dirty="0">
                <a:ea typeface="黑体" panose="02010609060101010101" pitchFamily="49" charset="-122"/>
              </a:rPr>
              <a:t>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a2=(yb-ye)/(xb-xe)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b2=yb-a2*xb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93088" y="4389438"/>
            <a:ext cx="227457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cap="none" spc="0" normalizeH="0" baseline="0" dirty="0">
                <a:solidFill>
                  <a:srgbClr val="FFFF00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PAD——求中线BE</a:t>
            </a:r>
            <a:endParaRPr kumimoji="0" lang="en-US" altLang="zh-CN" sz="2000" b="1" i="0" u="none" strike="noStrike" kern="1200" cap="none" spc="0" normalizeH="0" baseline="0" dirty="0">
              <a:solidFill>
                <a:srgbClr val="FFFF00"/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1573A6-99BD-47E9-8D5C-9F5C609D17F0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" name="Rectangle 30"/>
          <p:cNvSpPr/>
          <p:nvPr/>
        </p:nvSpPr>
        <p:spPr>
          <a:xfrm>
            <a:off x="188913" y="4505008"/>
            <a:ext cx="7185025" cy="224536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求</a:t>
            </a:r>
            <a:r>
              <a:rPr lang="en-US" altLang="zh-CN" sz="2400" b="1" dirty="0">
                <a:ea typeface="黑体" panose="02010609060101010101" pitchFamily="49" charset="-122"/>
              </a:rPr>
              <a:t>AD</a:t>
            </a:r>
            <a:r>
              <a:rPr lang="zh-CN" altLang="en-US" sz="2400" b="1" dirty="0"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ea typeface="黑体" panose="02010609060101010101" pitchFamily="49" charset="-122"/>
              </a:rPr>
              <a:t>BE</a:t>
            </a:r>
            <a:r>
              <a:rPr lang="zh-CN" altLang="en-US" sz="2400" b="1" dirty="0">
                <a:ea typeface="黑体" panose="02010609060101010101" pitchFamily="49" charset="-122"/>
              </a:rPr>
              <a:t>交点</a:t>
            </a:r>
            <a:r>
              <a:rPr lang="en-US" altLang="zh-CN" sz="2400" b="1" dirty="0">
                <a:ea typeface="黑体" panose="02010609060101010101" pitchFamily="49" charset="-122"/>
              </a:rPr>
              <a:t>O,</a:t>
            </a:r>
            <a:r>
              <a:rPr lang="zh-CN" altLang="en-US" sz="2400" b="1" dirty="0">
                <a:ea typeface="黑体" panose="02010609060101010101" pitchFamily="49" charset="-122"/>
              </a:rPr>
              <a:t>就是解方程组：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       </a:t>
            </a:r>
            <a:r>
              <a:rPr lang="en-US" altLang="zh-CN" sz="2400" b="1" dirty="0">
                <a:ea typeface="黑体" panose="02010609060101010101" pitchFamily="49" charset="-122"/>
              </a:rPr>
              <a:t>y=a1*x+b1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y=a2*x+b2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也只是两个公式计算：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xo= -(b2-b1)/(a2-a1)</a:t>
            </a:r>
            <a:endParaRPr lang="en-US" altLang="zh-CN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       yo=a1*xo+b1</a:t>
            </a:r>
            <a:endParaRPr lang="en-US" altLang="zh-CN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grpSp>
        <p:nvGrpSpPr>
          <p:cNvPr id="83972" name="Group 4"/>
          <p:cNvGrpSpPr/>
          <p:nvPr/>
        </p:nvGrpSpPr>
        <p:grpSpPr>
          <a:xfrm>
            <a:off x="0" y="1273175"/>
            <a:ext cx="4356100" cy="3141663"/>
            <a:chOff x="1372" y="1655"/>
            <a:chExt cx="2482" cy="1761"/>
          </a:xfrm>
        </p:grpSpPr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83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69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90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6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93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3994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3995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1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99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00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01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02" name="Text Box 25"/>
            <p:cNvSpPr txBox="1"/>
            <p:nvPr/>
          </p:nvSpPr>
          <p:spPr>
            <a:xfrm>
              <a:off x="2545" y="2134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0" y="158750"/>
            <a:ext cx="8353425" cy="768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AD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BE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的交点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27"/>
          <p:cNvGrpSpPr/>
          <p:nvPr/>
        </p:nvGrpSpPr>
        <p:grpSpPr>
          <a:xfrm>
            <a:off x="6948488" y="1989138"/>
            <a:ext cx="4135437" cy="2663825"/>
            <a:chOff x="3408" y="1255"/>
            <a:chExt cx="2013" cy="1816"/>
          </a:xfrm>
        </p:grpSpPr>
        <p:sp>
          <p:nvSpPr>
            <p:cNvPr id="83976" name="Line 28"/>
            <p:cNvSpPr/>
            <p:nvPr/>
          </p:nvSpPr>
          <p:spPr>
            <a:xfrm flipH="1">
              <a:off x="3408" y="1255"/>
              <a:ext cx="1" cy="1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3977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3978" name="Rectangle 30"/>
            <p:cNvSpPr/>
            <p:nvPr/>
          </p:nvSpPr>
          <p:spPr>
            <a:xfrm>
              <a:off x="3409" y="1689"/>
              <a:ext cx="2012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AD</a:t>
              </a:r>
              <a:endParaRPr lang="en-US" altLang="zh-CN" sz="20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979" name="Rectangle 31"/>
            <p:cNvSpPr/>
            <p:nvPr/>
          </p:nvSpPr>
          <p:spPr>
            <a:xfrm>
              <a:off x="3410" y="2029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BE</a:t>
              </a:r>
              <a:endParaRPr lang="en-US" altLang="zh-CN" sz="20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980" name="Rectangle 32"/>
            <p:cNvSpPr/>
            <p:nvPr/>
          </p:nvSpPr>
          <p:spPr>
            <a:xfrm>
              <a:off x="3408" y="2397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O（重心）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的坐标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3981" name="Rectangle 33"/>
            <p:cNvSpPr/>
            <p:nvPr/>
          </p:nvSpPr>
          <p:spPr>
            <a:xfrm>
              <a:off x="3410" y="275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O点</a:t>
              </a:r>
              <a:r>
                <a:rPr lang="zh-CN" altLang="en-US" sz="2000" b="1" dirty="0">
                  <a:ea typeface="黑体" panose="02010609060101010101" pitchFamily="49" charset="-122"/>
                </a:rPr>
                <a:t>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8029575" y="4797425"/>
            <a:ext cx="155575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顶层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52565" y="3600450"/>
            <a:ext cx="4876800" cy="1200150"/>
          </a:xfrm>
          <a:prstGeom prst="rect">
            <a:avLst/>
          </a:prstGeom>
          <a:noFill/>
          <a:ln w="28575" cmpd="sng">
            <a:solidFill>
              <a:srgbClr val="FFFF00"/>
            </a:solidFill>
            <a:prstDash val="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7690DB-E8CC-454F-9B65-CF94F48484F4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5" name="Group 27"/>
          <p:cNvGrpSpPr/>
          <p:nvPr/>
        </p:nvGrpSpPr>
        <p:grpSpPr>
          <a:xfrm>
            <a:off x="1990725" y="1206500"/>
            <a:ext cx="3025775" cy="5030788"/>
            <a:chOff x="3407" y="1255"/>
            <a:chExt cx="2014" cy="3723"/>
          </a:xfrm>
        </p:grpSpPr>
        <p:sp>
          <p:nvSpPr>
            <p:cNvPr id="85019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5020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5021" name="Rectangle 30"/>
            <p:cNvSpPr/>
            <p:nvPr/>
          </p:nvSpPr>
          <p:spPr>
            <a:xfrm>
              <a:off x="3409" y="2118"/>
              <a:ext cx="2012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AD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22" name="Rectangle 31"/>
            <p:cNvSpPr/>
            <p:nvPr/>
          </p:nvSpPr>
          <p:spPr>
            <a:xfrm>
              <a:off x="3410" y="3060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求中线BE</a:t>
              </a:r>
              <a:endPara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23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hangingPunct="1"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求AD、BE交点O</a:t>
              </a:r>
              <a:endPara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5024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13" y="2235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algn="ctr" eaLnBrk="1" hangingPunct="1"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CE98B8-8C81-4C13-BE84-44387D00DBBA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6019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86044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6045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6046" name="Rectangle 30"/>
            <p:cNvSpPr/>
            <p:nvPr/>
          </p:nvSpPr>
          <p:spPr>
            <a:xfrm>
              <a:off x="3406" y="1781"/>
              <a:ext cx="2012" cy="249"/>
            </a:xfrm>
            <a:prstGeom prst="rect">
              <a:avLst/>
            </a:prstGeom>
            <a:solidFill>
              <a:srgbClr val="00B0F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ea typeface="黑体" panose="02010609060101010101" pitchFamily="49" charset="-122"/>
                </a:rPr>
                <a:t>BC</a:t>
              </a:r>
              <a:r>
                <a:rPr lang="zh-CN" altLang="en-US" sz="2000" b="1" dirty="0">
                  <a:ea typeface="黑体" panose="02010609060101010101" pitchFamily="49" charset="-122"/>
                </a:rPr>
                <a:t>边的中点</a:t>
              </a:r>
              <a:r>
                <a:rPr lang="en-US" altLang="zh-CN" sz="2000" b="1" dirty="0">
                  <a:ea typeface="黑体" panose="02010609060101010101" pitchFamily="49" charset="-122"/>
                </a:rPr>
                <a:t>D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6047" name="Rectangle 31"/>
            <p:cNvSpPr/>
            <p:nvPr/>
          </p:nvSpPr>
          <p:spPr>
            <a:xfrm>
              <a:off x="3410" y="3060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6048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6049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6020" name="Rectangle 30"/>
          <p:cNvSpPr/>
          <p:nvPr/>
        </p:nvSpPr>
        <p:spPr>
          <a:xfrm>
            <a:off x="1993900" y="2733675"/>
            <a:ext cx="3024188" cy="33655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b="1" dirty="0">
                <a:ea typeface="黑体" panose="02010609060101010101" pitchFamily="49" charset="-122"/>
              </a:rPr>
              <a:t>求过</a:t>
            </a:r>
            <a:r>
              <a:rPr lang="en-US" altLang="zh-CN" sz="2000" b="1" dirty="0">
                <a:ea typeface="黑体" panose="02010609060101010101" pitchFamily="49" charset="-122"/>
              </a:rPr>
              <a:t>A</a:t>
            </a:r>
            <a:r>
              <a:rPr lang="zh-CN" altLang="en-US" sz="2000" b="1" dirty="0"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ea typeface="黑体" panose="02010609060101010101" pitchFamily="49" charset="-122"/>
              </a:rPr>
              <a:t>两点的直线方程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55F945-03C2-4670-97AD-34ABBC3510E0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7043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87068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7069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7070" name="Rectangle 30"/>
            <p:cNvSpPr/>
            <p:nvPr/>
          </p:nvSpPr>
          <p:spPr>
            <a:xfrm>
              <a:off x="3406" y="1727"/>
              <a:ext cx="2012" cy="532"/>
            </a:xfrm>
            <a:prstGeom prst="rect">
              <a:avLst/>
            </a:prstGeom>
            <a:solidFill>
              <a:srgbClr val="00B0F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xd=(xb+xc)/2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yd=(yb+yc)/2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7071" name="Rectangle 31"/>
            <p:cNvSpPr/>
            <p:nvPr/>
          </p:nvSpPr>
          <p:spPr>
            <a:xfrm>
              <a:off x="3410" y="3060"/>
              <a:ext cx="2008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求中线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7072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7073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7044" name="Rectangle 30"/>
          <p:cNvSpPr/>
          <p:nvPr/>
        </p:nvSpPr>
        <p:spPr>
          <a:xfrm>
            <a:off x="1993900" y="2708275"/>
            <a:ext cx="3017838" cy="360363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Pct val="70000"/>
              <a:buNone/>
            </a:pPr>
            <a:r>
              <a:rPr lang="zh-CN" altLang="zh-CN" sz="2000" b="1" dirty="0">
                <a:ea typeface="黑体" panose="02010609060101010101" pitchFamily="49" charset="-122"/>
              </a:rPr>
              <a:t>求过</a:t>
            </a:r>
            <a:r>
              <a:rPr lang="en-US" altLang="zh-CN" sz="2000" b="1" dirty="0">
                <a:ea typeface="黑体" panose="02010609060101010101" pitchFamily="49" charset="-122"/>
              </a:rPr>
              <a:t>A</a:t>
            </a:r>
            <a:r>
              <a:rPr lang="zh-CN" altLang="en-US" sz="2000" b="1" dirty="0"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ea typeface="黑体" panose="02010609060101010101" pitchFamily="49" charset="-122"/>
              </a:rPr>
              <a:t>D</a:t>
            </a:r>
            <a:r>
              <a:rPr lang="zh-CN" altLang="en-US" sz="2000" b="1" dirty="0">
                <a:ea typeface="黑体" panose="02010609060101010101" pitchFamily="49" charset="-122"/>
              </a:rPr>
              <a:t>两点的直线方程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A56C7D-BBD1-4D0E-9043-D2FE4D7586D6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1988538" y="1205829"/>
            <a:ext cx="3027340" cy="5031265"/>
            <a:chOff x="3406" y="1255"/>
            <a:chExt cx="2015" cy="3723"/>
          </a:xfrm>
          <a:noFill/>
        </p:grpSpPr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H="1">
              <a:off x="3408" y="1255"/>
              <a:ext cx="1" cy="3723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med"/>
              <a:tailEnd type="none" w="sm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3408" y="1315"/>
              <a:ext cx="2013" cy="249"/>
            </a:xfrm>
            <a:prstGeom prst="rect">
              <a:avLst/>
            </a:prstGeom>
            <a:grp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输入三个顶点坐标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3406" y="1675"/>
              <a:ext cx="2012" cy="533"/>
            </a:xfrm>
            <a:prstGeom prst="rect">
              <a:avLst/>
            </a:prstGeom>
            <a:solidFill>
              <a:srgbClr val="00B0F0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xb+xc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yb+yc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31"/>
            <p:cNvSpPr>
              <a:spLocks noChangeArrowheads="1"/>
            </p:cNvSpPr>
            <p:nvPr/>
          </p:nvSpPr>
          <p:spPr bwMode="auto">
            <a:xfrm>
              <a:off x="3410" y="3060"/>
              <a:ext cx="2008" cy="249"/>
            </a:xfrm>
            <a:prstGeom prst="rect">
              <a:avLst/>
            </a:prstGeom>
            <a:grp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求中线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BE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>
              <a:off x="3408" y="4143"/>
              <a:ext cx="2013" cy="249"/>
            </a:xfrm>
            <a:prstGeom prst="rect">
              <a:avLst/>
            </a:prstGeom>
            <a:grp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求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AD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BE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交点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O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>
              <a:off x="3407" y="4677"/>
              <a:ext cx="2011" cy="248"/>
            </a:xfrm>
            <a:prstGeom prst="rect">
              <a:avLst/>
            </a:prstGeom>
            <a:grp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O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点即为重心，输出其坐标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88068" name="Rectangle 30"/>
          <p:cNvSpPr/>
          <p:nvPr/>
        </p:nvSpPr>
        <p:spPr>
          <a:xfrm>
            <a:off x="1993900" y="2636838"/>
            <a:ext cx="3017838" cy="720725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a1=(ya-yd)/(xa-xd)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b1=ya-a1*xa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3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4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162EFE-A048-4875-B601-083A662FF3A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9091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89118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89119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3406" y="1676"/>
              <a:ext cx="2012" cy="53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xb+xc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yb+yc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121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9122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1993900" y="2636838"/>
            <a:ext cx="3017838" cy="7207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a1=(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ya-yd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xa-xd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b1=ya-a1*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3" name="Rectangle 30"/>
          <p:cNvSpPr/>
          <p:nvPr/>
        </p:nvSpPr>
        <p:spPr>
          <a:xfrm>
            <a:off x="1989138" y="3597275"/>
            <a:ext cx="3022600" cy="33655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求</a:t>
            </a:r>
            <a:r>
              <a:rPr lang="en-US" altLang="zh-CN" sz="2000" b="1" dirty="0">
                <a:ea typeface="黑体" panose="02010609060101010101" pitchFamily="49" charset="-122"/>
              </a:rPr>
              <a:t>AC</a:t>
            </a:r>
            <a:r>
              <a:rPr lang="zh-CN" altLang="en-US" sz="2000" b="1" dirty="0">
                <a:ea typeface="黑体" panose="02010609060101010101" pitchFamily="49" charset="-122"/>
              </a:rPr>
              <a:t>边的中点</a:t>
            </a:r>
            <a:r>
              <a:rPr lang="en-US" altLang="zh-CN" sz="2000" b="1" dirty="0">
                <a:ea typeface="黑体" panose="02010609060101010101" pitchFamily="49" charset="-122"/>
              </a:rPr>
              <a:t>E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89094" name="Rectangle 30"/>
          <p:cNvSpPr/>
          <p:nvPr/>
        </p:nvSpPr>
        <p:spPr>
          <a:xfrm>
            <a:off x="1993900" y="4316413"/>
            <a:ext cx="3024188" cy="33655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b="1" dirty="0">
                <a:ea typeface="黑体" panose="02010609060101010101" pitchFamily="49" charset="-122"/>
              </a:rPr>
              <a:t>求过</a:t>
            </a:r>
            <a:r>
              <a:rPr lang="en-US" altLang="zh-CN" sz="2000" b="1" dirty="0">
                <a:ea typeface="黑体" panose="02010609060101010101" pitchFamily="49" charset="-122"/>
              </a:rPr>
              <a:t>B</a:t>
            </a:r>
            <a:r>
              <a:rPr lang="zh-CN" altLang="en-US" sz="2000" b="1" dirty="0"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ea typeface="黑体" panose="02010609060101010101" pitchFamily="49" charset="-122"/>
              </a:rPr>
              <a:t>E</a:t>
            </a:r>
            <a:r>
              <a:rPr lang="zh-CN" altLang="en-US" sz="2000" b="1" dirty="0">
                <a:ea typeface="黑体" panose="02010609060101010101" pitchFamily="49" charset="-122"/>
              </a:rPr>
              <a:t>两点的直线方程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124F3E-9A61-4723-BBA1-BA25097F9B8C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0115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90142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90143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3406" y="1676"/>
              <a:ext cx="2012" cy="53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xb+xc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yb+yc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145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0146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1993900" y="2636838"/>
            <a:ext cx="3017838" cy="7207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a1=(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ya-yd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xa-xd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b1=ya-a1*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0117" name="Rectangle 30"/>
          <p:cNvSpPr/>
          <p:nvPr/>
        </p:nvSpPr>
        <p:spPr>
          <a:xfrm>
            <a:off x="1989138" y="3500438"/>
            <a:ext cx="3022600" cy="649287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xe=(xa+xc)/2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ye=(ya+yc)/2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90118" name="Rectangle 30"/>
          <p:cNvSpPr/>
          <p:nvPr/>
        </p:nvSpPr>
        <p:spPr>
          <a:xfrm>
            <a:off x="1993900" y="4316413"/>
            <a:ext cx="3024188" cy="33655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Pct val="70000"/>
              <a:buNone/>
            </a:pPr>
            <a:r>
              <a:rPr lang="zh-CN" altLang="zh-CN" sz="2000" b="1" dirty="0">
                <a:ea typeface="黑体" panose="02010609060101010101" pitchFamily="49" charset="-122"/>
              </a:rPr>
              <a:t>求过</a:t>
            </a:r>
            <a:r>
              <a:rPr lang="en-US" altLang="zh-CN" sz="2000" b="1" dirty="0">
                <a:ea typeface="黑体" panose="02010609060101010101" pitchFamily="49" charset="-122"/>
              </a:rPr>
              <a:t>B</a:t>
            </a:r>
            <a:r>
              <a:rPr lang="zh-CN" altLang="en-US" sz="2000" b="1" dirty="0"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ea typeface="黑体" panose="02010609060101010101" pitchFamily="49" charset="-122"/>
              </a:rPr>
              <a:t>E</a:t>
            </a:r>
            <a:r>
              <a:rPr lang="zh-CN" altLang="en-US" sz="2000" b="1" dirty="0">
                <a:ea typeface="黑体" panose="02010609060101010101" pitchFamily="49" charset="-122"/>
              </a:rPr>
              <a:t>两点的直线方程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736330-D4D0-44AD-B905-75222FC1B29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1139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91166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91167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3406" y="1676"/>
              <a:ext cx="2012" cy="53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xb+xc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yb+yc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69" name="Rectangle 32"/>
            <p:cNvSpPr/>
            <p:nvPr/>
          </p:nvSpPr>
          <p:spPr>
            <a:xfrm>
              <a:off x="3408" y="4143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求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AD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BE</a:t>
              </a:r>
              <a:r>
                <a:rPr lang="zh-CN" altLang="en-US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交点</a:t>
              </a:r>
              <a:r>
                <a:rPr lang="en-US" altLang="zh-CN" sz="20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1170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1993900" y="2636838"/>
            <a:ext cx="3017838" cy="7207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a1=(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ya-yd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xa-xd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b1=ya-a1*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1989138" y="3500438"/>
            <a:ext cx="3022600" cy="649288"/>
          </a:xfrm>
          <a:prstGeom prst="rect">
            <a:avLst/>
          </a:prstGeom>
          <a:solidFill>
            <a:srgbClr val="00B0F0"/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xa+xc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ye=(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ya+yc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142" name="Rectangle 30"/>
          <p:cNvSpPr/>
          <p:nvPr/>
        </p:nvSpPr>
        <p:spPr>
          <a:xfrm>
            <a:off x="1993900" y="4316413"/>
            <a:ext cx="3024188" cy="625475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a2=(yb-ye)/(xb-xe)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b2=yb-a1*xb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857588-27AB-4428-9EC2-7A1BC13E616E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163" name="Group 27"/>
          <p:cNvGrpSpPr/>
          <p:nvPr/>
        </p:nvGrpSpPr>
        <p:grpSpPr>
          <a:xfrm>
            <a:off x="1989138" y="1206500"/>
            <a:ext cx="3027362" cy="5030788"/>
            <a:chOff x="3406" y="1255"/>
            <a:chExt cx="2015" cy="3723"/>
          </a:xfrm>
        </p:grpSpPr>
        <p:sp>
          <p:nvSpPr>
            <p:cNvPr id="92190" name="Line 28"/>
            <p:cNvSpPr/>
            <p:nvPr/>
          </p:nvSpPr>
          <p:spPr>
            <a:xfrm flipH="1">
              <a:off x="3408" y="1255"/>
              <a:ext cx="1" cy="37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med"/>
              <a:tailEnd type="none" w="sm" len="med"/>
            </a:ln>
          </p:spPr>
        </p:sp>
        <p:sp>
          <p:nvSpPr>
            <p:cNvPr id="92191" name="Rectangle 29"/>
            <p:cNvSpPr/>
            <p:nvPr/>
          </p:nvSpPr>
          <p:spPr>
            <a:xfrm>
              <a:off x="3408" y="1315"/>
              <a:ext cx="2013" cy="249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输入三个顶点坐标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3406" y="1676"/>
              <a:ext cx="2012" cy="53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xb+xc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yd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=(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yb+yc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)/2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2193" name="Rectangle 32"/>
            <p:cNvSpPr/>
            <p:nvPr/>
          </p:nvSpPr>
          <p:spPr>
            <a:xfrm>
              <a:off x="3408" y="4143"/>
              <a:ext cx="2013" cy="483"/>
            </a:xfrm>
            <a:prstGeom prst="rect">
              <a:avLst/>
            </a:prstGeom>
            <a:solidFill>
              <a:srgbClr val="00B0F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xo= -(b2-b1)/(a2-a1)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yo=a1*xo+b1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92194" name="Rectangle 33"/>
            <p:cNvSpPr/>
            <p:nvPr/>
          </p:nvSpPr>
          <p:spPr>
            <a:xfrm>
              <a:off x="3407" y="4677"/>
              <a:ext cx="2011" cy="24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O</a:t>
              </a:r>
              <a:r>
                <a:rPr lang="zh-CN" altLang="en-US" sz="2000" b="1" dirty="0">
                  <a:ea typeface="黑体" panose="02010609060101010101" pitchFamily="49" charset="-122"/>
                </a:rPr>
                <a:t>点即为重心，输出其坐标</a:t>
              </a:r>
              <a:endParaRPr lang="zh-CN" altLang="en-US" sz="20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SzPct val="70000"/>
                <a:buNone/>
              </a:pP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1993900" y="2636838"/>
            <a:ext cx="3017838" cy="7207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a1=(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ya-yd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xa-xd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b1=ya-a1*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1989138" y="3500438"/>
            <a:ext cx="3022600" cy="649288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xa+xc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ye=(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ya+yc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)/2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1993900" y="4316413"/>
            <a:ext cx="3024188" cy="62547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a2=(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-ye)/(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xb-xe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b2=yb-a1*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xb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022475" y="333375"/>
            <a:ext cx="318293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PAD——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自顶向下、逐步求精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996" name="Group 4"/>
          <p:cNvGrpSpPr/>
          <p:nvPr/>
        </p:nvGrpSpPr>
        <p:grpSpPr>
          <a:xfrm>
            <a:off x="6099175" y="1130300"/>
            <a:ext cx="4966335" cy="3669030"/>
            <a:chOff x="1372" y="1655"/>
            <a:chExt cx="2482" cy="1761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Text Box 6"/>
            <p:cNvSpPr txBox="1"/>
            <p:nvPr/>
          </p:nvSpPr>
          <p:spPr>
            <a:xfrm>
              <a:off x="1757" y="2228"/>
              <a:ext cx="3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6" name="Text Box 13"/>
            <p:cNvSpPr txBox="1"/>
            <p:nvPr/>
          </p:nvSpPr>
          <p:spPr>
            <a:xfrm>
              <a:off x="3271" y="2781"/>
              <a:ext cx="2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85011" name="Text Box 18"/>
            <p:cNvSpPr txBox="1"/>
            <p:nvPr/>
          </p:nvSpPr>
          <p:spPr>
            <a:xfrm>
              <a:off x="2830" y="1661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6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7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18" name="Text Box 25"/>
            <p:cNvSpPr txBox="1"/>
            <p:nvPr/>
          </p:nvSpPr>
          <p:spPr>
            <a:xfrm>
              <a:off x="2560" y="2204"/>
              <a:ext cx="317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BC44DB-DA79-4203-AFDF-0FB416BF50DD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2" name="Rectangle 2"/>
          <p:cNvSpPr>
            <a:spLocks noGrp="1"/>
          </p:cNvSpPr>
          <p:nvPr>
            <p:ph idx="1"/>
          </p:nvPr>
        </p:nvSpPr>
        <p:spPr>
          <a:xfrm>
            <a:off x="100013" y="-11112"/>
            <a:ext cx="9144000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	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 ) {	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xa,ya,xb,yb,xc,yc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三角形顶点坐标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float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xd,yd,xe,ye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 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中点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坐标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float  a1,b1,a2,b2;	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中线方程系数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float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xo,yo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		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重心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的坐标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("please input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xa,ya,xb,yb,xc,yc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f%f%f%f%f%f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",&amp;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xa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ya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xb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yb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,&amp;xc,&amp;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yc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xb+xc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)/2;         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yb+yc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)/2;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a1=(ya-yd)/(xa-xd);  //求AD直线方程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	b1=ya-a1*xa;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xa+xc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)/2;         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ye=(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ya+yc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)/2;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a2=(yb-ye)/(xb-xe);   //求BE直线方程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	b2=yb-a2*xb;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6564" name="矩形 2"/>
          <p:cNvSpPr/>
          <p:nvPr/>
        </p:nvSpPr>
        <p:spPr>
          <a:xfrm>
            <a:off x="350838" y="2625725"/>
            <a:ext cx="3889375" cy="1800225"/>
          </a:xfrm>
          <a:prstGeom prst="rect">
            <a:avLst/>
          </a:prstGeom>
          <a:noFill/>
          <a:ln w="31750" cap="flat" cmpd="sng">
            <a:solidFill>
              <a:srgbClr val="FFE705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66565" name="矩形 11"/>
          <p:cNvSpPr/>
          <p:nvPr/>
        </p:nvSpPr>
        <p:spPr>
          <a:xfrm>
            <a:off x="350838" y="4641850"/>
            <a:ext cx="3889375" cy="1800225"/>
          </a:xfrm>
          <a:prstGeom prst="rect">
            <a:avLst/>
          </a:prstGeom>
          <a:noFill/>
          <a:ln w="31750" cap="flat" cmpd="sng">
            <a:solidFill>
              <a:srgbClr val="FFFF00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grpSp>
        <p:nvGrpSpPr>
          <p:cNvPr id="93190" name="Group 4"/>
          <p:cNvGrpSpPr/>
          <p:nvPr/>
        </p:nvGrpSpPr>
        <p:grpSpPr>
          <a:xfrm>
            <a:off x="6859270" y="200025"/>
            <a:ext cx="5046980" cy="3194685"/>
            <a:chOff x="1372" y="1655"/>
            <a:chExt cx="2482" cy="1761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192" name="Text Box 6"/>
            <p:cNvSpPr txBox="1"/>
            <p:nvPr/>
          </p:nvSpPr>
          <p:spPr>
            <a:xfrm>
              <a:off x="1757" y="2228"/>
              <a:ext cx="308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999" y="2466"/>
              <a:ext cx="0" cy="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rot="16200000" flipH="1">
              <a:off x="2401" y="2091"/>
              <a:ext cx="2" cy="16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rot="16200000">
              <a:off x="1792" y="2228"/>
              <a:ext cx="1" cy="4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199" name="Text Box 13"/>
            <p:cNvSpPr txBox="1"/>
            <p:nvPr/>
          </p:nvSpPr>
          <p:spPr>
            <a:xfrm>
              <a:off x="3271" y="2781"/>
              <a:ext cx="262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02" name="Text Box 16"/>
            <p:cNvSpPr txBox="1"/>
            <p:nvPr/>
          </p:nvSpPr>
          <p:spPr>
            <a:xfrm>
              <a:off x="1372" y="1664"/>
              <a:ext cx="237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3203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3204" name="Text Box 18"/>
            <p:cNvSpPr txBox="1"/>
            <p:nvPr/>
          </p:nvSpPr>
          <p:spPr>
            <a:xfrm>
              <a:off x="2830" y="1661"/>
              <a:ext cx="31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2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08" name="Text Box 22"/>
            <p:cNvSpPr txBox="1"/>
            <p:nvPr/>
          </p:nvSpPr>
          <p:spPr>
            <a:xfrm>
              <a:off x="2420" y="2679"/>
              <a:ext cx="864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黑体" panose="02010609060101010101" pitchFamily="49" charset="-122"/>
                </a:rPr>
                <a:t>D(xd,yd)</a:t>
              </a:r>
              <a:endParaRPr lang="en-US" altLang="zh-CN" sz="1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3209" name="Text Box 23"/>
            <p:cNvSpPr txBox="1"/>
            <p:nvPr/>
          </p:nvSpPr>
          <p:spPr>
            <a:xfrm>
              <a:off x="2208" y="1966"/>
              <a:ext cx="1109" cy="22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黑体" panose="02010609060101010101" pitchFamily="49" charset="-122"/>
                </a:rPr>
                <a:t>E(xe,ye)</a:t>
              </a:r>
              <a:endParaRPr lang="en-US" altLang="zh-CN" sz="1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3210" name="Text Box 24"/>
            <p:cNvSpPr txBox="1"/>
            <p:nvPr/>
          </p:nvSpPr>
          <p:spPr>
            <a:xfrm>
              <a:off x="3051" y="2280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3211" name="Text Box 25"/>
            <p:cNvSpPr txBox="1"/>
            <p:nvPr/>
          </p:nvSpPr>
          <p:spPr>
            <a:xfrm>
              <a:off x="2565" y="2195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268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301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316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348" end="3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364" end="3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399" end="4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414" end="4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447" end="4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bldLvl="0" animBg="1"/>
      <p:bldP spid="66565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784F6F-5408-4A45-BE56-98DB4EEC09FE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2" name="Rectangle 2"/>
          <p:cNvSpPr>
            <a:spLocks noGrp="1"/>
          </p:cNvSpPr>
          <p:nvPr>
            <p:ph idx="1"/>
          </p:nvPr>
        </p:nvSpPr>
        <p:spPr>
          <a:xfrm>
            <a:off x="1525588" y="1989138"/>
            <a:ext cx="9144000" cy="1989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xo= -(b2-b1)/(a2-a1);   //求AD、BE交点O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	yo=a1*xo+b1;</a:t>
            </a:r>
            <a:endParaRPr kumimoji="0" lang="en-US" altLang="zh-CN" sz="2800" b="1" i="0" u="none" strike="noStrike" kern="1200" cap="none" spc="0" normalizeH="0" baseline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重心坐标：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x=%10.3f  y=%10.3f \n”,</a:t>
            </a:r>
            <a:r>
              <a:rPr kumimoji="0" lang="en-US" altLang="zh-CN" sz="2800" b="1" i="0" u="none" strike="noStrike" kern="1200" cap="none" spc="0" normalizeH="0" baseline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xo,yo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4212" name="AutoShape 5">
            <a:hlinkClick r:id="rId1" action="ppaction://hlinksldjump"/>
          </p:cNvPr>
          <p:cNvSpPr/>
          <p:nvPr/>
        </p:nvSpPr>
        <p:spPr>
          <a:xfrm>
            <a:off x="11318875" y="5792788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F01B17-6189-4BBE-851B-082899D8AE29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235" name="Rectangle 2"/>
          <p:cNvSpPr/>
          <p:nvPr/>
        </p:nvSpPr>
        <p:spPr>
          <a:xfrm>
            <a:off x="6350" y="1430020"/>
            <a:ext cx="11360785" cy="54336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#include &lt;stdio.h&gt;	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a typeface="黑体" panose="02010609060101010101" pitchFamily="49" charset="-122"/>
              </a:rPr>
              <a:t>float a; 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过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U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直线的斜率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en-US" altLang="zh-CN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//求：通过R点的中线RU</a:t>
            </a:r>
            <a:endParaRPr lang="en-US" altLang="zh-CN" sz="2800" b="1" dirty="0">
              <a:solidFill>
                <a:schemeClr val="accent6">
                  <a:lumMod val="20000"/>
                  <a:lumOff val="80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float  </a:t>
            </a: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lines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( </a:t>
            </a:r>
            <a:r>
              <a:rPr lang="en-US" altLang="zh-CN" sz="2800" b="1" dirty="0">
                <a:ea typeface="黑体" panose="02010609060101010101" pitchFamily="49" charset="-122"/>
              </a:rPr>
              <a:t>float xr, float yr,  </a:t>
            </a:r>
            <a:r>
              <a:rPr lang="en-US" altLang="zh-CN" sz="2800" b="1" dirty="0">
                <a:solidFill>
                  <a:srgbClr val="FF9933"/>
                </a:solidFill>
                <a:ea typeface="黑体" panose="02010609060101010101" pitchFamily="49" charset="-122"/>
              </a:rPr>
              <a:t>float xs,float ys,float xt,float yt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{</a:t>
            </a:r>
            <a:r>
              <a:rPr lang="en-US" altLang="zh-CN" sz="2800" b="1" dirty="0">
                <a:ea typeface="黑体" panose="02010609060101010101" pitchFamily="49" charset="-122"/>
              </a:rPr>
              <a:t>  float xu,yu;           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xu=(xs+xt)/2; 		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求线段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st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的中点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U(xu,yu)</a:t>
            </a:r>
            <a:endParaRPr lang="en-US" altLang="zh-CN" sz="2800" b="1" dirty="0">
              <a:solidFill>
                <a:schemeClr val="tx1">
                  <a:lumMod val="7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yu=(ys+yt)/2;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	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algn="l" eaLnBrk="1" hangingPunct="1"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a typeface="黑体" panose="02010609060101010101" pitchFamily="49" charset="-122"/>
              </a:rPr>
              <a:t>a=</a:t>
            </a:r>
            <a:r>
              <a:rPr lang="en-US" altLang="zh-CN" sz="2800" b="1" dirty="0">
                <a:ea typeface="黑体" panose="02010609060101010101" pitchFamily="49" charset="-122"/>
              </a:rPr>
              <a:t>(yr-yu)/(xr-xu); 	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//求直线RU的斜率</a:t>
            </a:r>
            <a:endParaRPr lang="en-US" altLang="zh-CN" sz="2800" b="1" dirty="0">
              <a:solidFill>
                <a:schemeClr val="tx1">
                  <a:lumMod val="75000"/>
                </a:schemeClr>
              </a:solidFill>
              <a:ea typeface="黑体" panose="02010609060101010101" pitchFamily="49" charset="-122"/>
            </a:endParaRPr>
          </a:p>
          <a:p>
            <a:pPr marL="0" lvl="0" algn="l" eaLnBrk="1" hangingPunct="1">
              <a:buSzPct val="70000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return  yr-a*xr ;   		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a typeface="黑体" panose="02010609060101010101" pitchFamily="49" charset="-122"/>
              </a:rPr>
              <a:t>//返回直线RU截距</a:t>
            </a:r>
            <a:endParaRPr lang="en-US" altLang="zh-CN" sz="2800" b="1" dirty="0">
              <a:solidFill>
                <a:schemeClr val="tx1">
                  <a:lumMod val="7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}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grpSp>
        <p:nvGrpSpPr>
          <p:cNvPr id="95236" name="Group 4"/>
          <p:cNvGrpSpPr/>
          <p:nvPr/>
        </p:nvGrpSpPr>
        <p:grpSpPr>
          <a:xfrm>
            <a:off x="7772400" y="76200"/>
            <a:ext cx="4356100" cy="3141663"/>
            <a:chOff x="1372" y="1655"/>
            <a:chExt cx="2482" cy="1761"/>
          </a:xfrm>
        </p:grpSpPr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2900" y="1909"/>
              <a:ext cx="0" cy="13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1609" y="2228"/>
              <a:ext cx="707" cy="2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S(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xs,ys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1999" y="2465"/>
              <a:ext cx="0" cy="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 rot="16200000" flipH="1">
              <a:off x="2402" y="2090"/>
              <a:ext cx="2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3271" y="2781"/>
              <a:ext cx="583" cy="2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T(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xt,yt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Line 14"/>
            <p:cNvSpPr>
              <a:spLocks noChangeShapeType="1"/>
            </p:cNvSpPr>
            <p:nvPr/>
          </p:nvSpPr>
          <p:spPr bwMode="auto">
            <a:xfrm flipV="1">
              <a:off x="1490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249" name="Text Box 16"/>
            <p:cNvSpPr txBox="1"/>
            <p:nvPr/>
          </p:nvSpPr>
          <p:spPr>
            <a:xfrm>
              <a:off x="1372" y="1663"/>
              <a:ext cx="23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5250" name="Text Box 17"/>
            <p:cNvSpPr txBox="1"/>
            <p:nvPr/>
          </p:nvSpPr>
          <p:spPr>
            <a:xfrm>
              <a:off x="3616" y="3111"/>
              <a:ext cx="238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2830" y="1661"/>
              <a:ext cx="702" cy="2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R(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xr,yr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" name="Line 19"/>
            <p:cNvSpPr>
              <a:spLocks noChangeShapeType="1"/>
            </p:cNvSpPr>
            <p:nvPr/>
          </p:nvSpPr>
          <p:spPr bwMode="auto">
            <a:xfrm>
              <a:off x="2430" y="2182"/>
              <a:ext cx="814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21"/>
            <p:cNvSpPr>
              <a:spLocks noChangeShapeType="1"/>
            </p:cNvSpPr>
            <p:nvPr/>
          </p:nvSpPr>
          <p:spPr bwMode="auto">
            <a:xfrm flipH="1">
              <a:off x="2003" y="2400"/>
              <a:ext cx="1064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2126" y="2674"/>
              <a:ext cx="637" cy="2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U(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xu,yu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-1587" y="-66675"/>
            <a:ext cx="52705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5.2】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P120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用函数重写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5.1】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程序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10435" y="3225165"/>
            <a:ext cx="2974975" cy="508635"/>
          </a:xfrm>
          <a:prstGeom prst="rect">
            <a:avLst/>
          </a:prstGeom>
          <a:noFill/>
          <a:ln w="28575" cmpd="sng">
            <a:solidFill>
              <a:srgbClr val="FFFF00"/>
            </a:solidFill>
            <a:prstDash val="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3365" y="3162300"/>
            <a:ext cx="5604510" cy="557530"/>
          </a:xfrm>
          <a:prstGeom prst="rect">
            <a:avLst/>
          </a:prstGeom>
          <a:noFill/>
          <a:ln w="28575" cmpd="sng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bldLvl="0" animBg="1"/>
      <p:bldP spid="4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1762BA-019F-4D6B-97F7-86293CB71558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2"/>
          <p:cNvSpPr/>
          <p:nvPr/>
        </p:nvSpPr>
        <p:spPr>
          <a:xfrm>
            <a:off x="120650" y="328771"/>
            <a:ext cx="8532813" cy="646239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int main( ) {</a:t>
            </a:r>
            <a:endParaRPr lang="en-US" altLang="zh-CN" sz="2800" b="1" dirty="0">
              <a:solidFill>
                <a:schemeClr val="tx2">
                  <a:lumMod val="50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Pct val="76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ea typeface="黑体" panose="02010609060101010101" pitchFamily="49" charset="-122"/>
              </a:rPr>
              <a:t>float  xa,ya,xb,yb,xc,yc;//</a:t>
            </a:r>
            <a:r>
              <a:rPr lang="zh-CN" altLang="en-US" sz="1800" b="1" dirty="0">
                <a:ea typeface="黑体" panose="02010609060101010101" pitchFamily="49" charset="-122"/>
              </a:rPr>
              <a:t>三角形顶点坐标</a:t>
            </a:r>
            <a:endParaRPr lang="zh-CN" altLang="en-US" sz="1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Pct val="76000"/>
              <a:buNone/>
            </a:pPr>
            <a:r>
              <a:rPr lang="en-US" altLang="zh-CN" sz="1800" b="1" dirty="0">
                <a:ea typeface="黑体" panose="02010609060101010101" pitchFamily="49" charset="-122"/>
              </a:rPr>
              <a:t>      float  xd,yd,xe,ye ;        //</a:t>
            </a:r>
            <a:r>
              <a:rPr lang="zh-CN" altLang="en-US" sz="1800" b="1" dirty="0">
                <a:ea typeface="黑体" panose="02010609060101010101" pitchFamily="49" charset="-122"/>
              </a:rPr>
              <a:t>中点</a:t>
            </a:r>
            <a:r>
              <a:rPr lang="en-US" altLang="zh-CN" sz="1800" b="1" dirty="0">
                <a:ea typeface="黑体" panose="02010609060101010101" pitchFamily="49" charset="-122"/>
              </a:rPr>
              <a:t>D</a:t>
            </a:r>
            <a:r>
              <a:rPr lang="zh-CN" altLang="en-US" sz="1800" b="1" dirty="0">
                <a:ea typeface="黑体" panose="02010609060101010101" pitchFamily="49" charset="-122"/>
              </a:rPr>
              <a:t>、</a:t>
            </a:r>
            <a:r>
              <a:rPr lang="en-US" altLang="zh-CN" sz="1800" b="1" dirty="0">
                <a:ea typeface="黑体" panose="02010609060101010101" pitchFamily="49" charset="-122"/>
              </a:rPr>
              <a:t>E</a:t>
            </a:r>
            <a:r>
              <a:rPr lang="zh-CN" altLang="en-US" sz="1800" b="1" dirty="0">
                <a:ea typeface="黑体" panose="02010609060101010101" pitchFamily="49" charset="-122"/>
              </a:rPr>
              <a:t>坐标</a:t>
            </a:r>
            <a:endParaRPr lang="zh-CN" altLang="en-US" sz="1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Pct val="76000"/>
              <a:buNone/>
            </a:pPr>
            <a:r>
              <a:rPr lang="en-US" altLang="zh-CN" sz="1800" b="1" dirty="0">
                <a:ea typeface="黑体" panose="02010609060101010101" pitchFamily="49" charset="-122"/>
              </a:rPr>
              <a:t>      float  a1,b1,a2,b2;	//</a:t>
            </a:r>
            <a:r>
              <a:rPr lang="zh-CN" altLang="en-US" sz="1800" b="1" dirty="0">
                <a:ea typeface="黑体" panose="02010609060101010101" pitchFamily="49" charset="-122"/>
              </a:rPr>
              <a:t>中线方程系数</a:t>
            </a:r>
            <a:endParaRPr lang="zh-CN" altLang="en-US" sz="1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Pct val="76000"/>
              <a:buNone/>
            </a:pPr>
            <a:r>
              <a:rPr lang="en-US" altLang="zh-CN" sz="1800" b="1" dirty="0">
                <a:ea typeface="黑体" panose="02010609060101010101" pitchFamily="49" charset="-122"/>
              </a:rPr>
              <a:t>      float  xo,yo;		//</a:t>
            </a:r>
            <a:r>
              <a:rPr lang="zh-CN" altLang="en-US" sz="1800" b="1" dirty="0">
                <a:ea typeface="黑体" panose="02010609060101010101" pitchFamily="49" charset="-122"/>
              </a:rPr>
              <a:t>重心</a:t>
            </a:r>
            <a:r>
              <a:rPr lang="en-US" altLang="zh-CN" sz="1800" b="1" dirty="0">
                <a:ea typeface="黑体" panose="02010609060101010101" pitchFamily="49" charset="-122"/>
              </a:rPr>
              <a:t>O</a:t>
            </a:r>
            <a:r>
              <a:rPr lang="zh-CN" altLang="en-US" sz="1800" b="1" dirty="0">
                <a:ea typeface="黑体" panose="02010609060101010101" pitchFamily="49" charset="-122"/>
              </a:rPr>
              <a:t>的坐标	                            </a:t>
            </a:r>
            <a:endParaRPr lang="en-US" altLang="zh-CN" sz="1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    printf("please input xa,ya,xb,yb,xc,yc:\n");     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scanf("%f%f%f%f%f%f",&amp;xa,&amp;ya,&amp;xb,&amp;yb,&amp;c,&amp;yc);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  b1=</a:t>
            </a: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lines(</a:t>
            </a:r>
            <a:r>
              <a:rPr lang="en-US" altLang="zh-CN" sz="2800" b="1" dirty="0">
                <a:ea typeface="黑体" panose="02010609060101010101" pitchFamily="49" charset="-122"/>
              </a:rPr>
              <a:t>xa,ya,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xb,yb,xc,yc</a:t>
            </a: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)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; //求直线AD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      </a:t>
            </a:r>
            <a:endParaRPr lang="en-US" altLang="zh-CN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  a1=a;</a:t>
            </a:r>
            <a:endParaRPr lang="en-US" altLang="zh-CN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b2=</a:t>
            </a: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lines(</a:t>
            </a:r>
            <a:r>
              <a:rPr lang="en-US" altLang="zh-CN" sz="2800" b="1" dirty="0">
                <a:ea typeface="黑体" panose="02010609060101010101" pitchFamily="49" charset="-122"/>
              </a:rPr>
              <a:t>xb,yb,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xa,ya,xc,yc</a:t>
            </a: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)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; //求直线BE</a:t>
            </a:r>
            <a:endParaRPr lang="en-US" altLang="zh-CN" sz="2800" b="1" dirty="0">
              <a:solidFill>
                <a:schemeClr val="tx2">
                  <a:lumMod val="50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ea typeface="黑体" panose="02010609060101010101" pitchFamily="49" charset="-122"/>
              </a:rPr>
              <a:t> a2=a;	</a:t>
            </a:r>
            <a:r>
              <a:rPr lang="en-US" altLang="zh-CN" sz="2800" b="1" dirty="0">
                <a:ea typeface="黑体" panose="02010609060101010101" pitchFamily="49" charset="-122"/>
              </a:rPr>
              <a:t>	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xo</a:t>
            </a:r>
            <a:r>
              <a:rPr lang="en-US" altLang="zh-CN" sz="2800" b="1" dirty="0">
                <a:ea typeface="黑体" panose="02010609060101010101" pitchFamily="49" charset="-122"/>
              </a:rPr>
              <a:t>= -(b2-b1)/(a2-a1); 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yo</a:t>
            </a:r>
            <a:r>
              <a:rPr lang="en-US" altLang="zh-CN" sz="2800" b="1" dirty="0">
                <a:ea typeface="黑体" panose="02010609060101010101" pitchFamily="49" charset="-122"/>
              </a:rPr>
              <a:t>=a1*xo+b1;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ea typeface="黑体" panose="02010609060101010101" pitchFamily="49" charset="-122"/>
              </a:rPr>
              <a:t>printf(“</a:t>
            </a:r>
            <a:r>
              <a:rPr lang="zh-CN" altLang="en-US" sz="2400" b="1" dirty="0">
                <a:ea typeface="黑体" panose="02010609060101010101" pitchFamily="49" charset="-122"/>
              </a:rPr>
              <a:t>重心坐标：</a:t>
            </a:r>
            <a:r>
              <a:rPr lang="en-US" altLang="zh-CN" sz="2400" b="1" dirty="0">
                <a:ea typeface="黑体" panose="02010609060101010101" pitchFamily="49" charset="-122"/>
              </a:rPr>
              <a:t>x=%10.3f  y=%10.3f \n”,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xo,yo</a:t>
            </a:r>
            <a:r>
              <a:rPr lang="en-US" altLang="zh-CN" sz="2400" b="1" dirty="0">
                <a:ea typeface="黑体" panose="02010609060101010101" pitchFamily="49" charset="-122"/>
              </a:rPr>
              <a:t>);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return 0;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} 					       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grpSp>
        <p:nvGrpSpPr>
          <p:cNvPr id="96260" name="Group 4"/>
          <p:cNvGrpSpPr/>
          <p:nvPr/>
        </p:nvGrpSpPr>
        <p:grpSpPr>
          <a:xfrm>
            <a:off x="8764588" y="355600"/>
            <a:ext cx="2987675" cy="2278063"/>
            <a:chOff x="1372" y="1655"/>
            <a:chExt cx="2482" cy="1761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2901" y="1909"/>
              <a:ext cx="0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65" name="Text Box 6"/>
            <p:cNvSpPr txBox="1"/>
            <p:nvPr/>
          </p:nvSpPr>
          <p:spPr>
            <a:xfrm>
              <a:off x="1757" y="2228"/>
              <a:ext cx="309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 rot="1230394">
              <a:off x="2101" y="1872"/>
              <a:ext cx="1324" cy="83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>
              <a:off x="3249" y="2926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1998" y="2465"/>
              <a:ext cx="0" cy="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rot="16200000" flipH="1">
              <a:off x="2401" y="2090"/>
              <a:ext cx="1" cy="1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rot="16200000">
              <a:off x="1791" y="2227"/>
              <a:ext cx="1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rot="16200000">
              <a:off x="2250" y="1224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2" name="Text Box 13"/>
            <p:cNvSpPr txBox="1"/>
            <p:nvPr/>
          </p:nvSpPr>
          <p:spPr>
            <a:xfrm>
              <a:off x="3271" y="2782"/>
              <a:ext cx="261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1489" y="3249"/>
              <a:ext cx="211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rot="16200000" flipV="1">
              <a:off x="713" y="2519"/>
              <a:ext cx="172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5" name="Text Box 16"/>
            <p:cNvSpPr txBox="1"/>
            <p:nvPr/>
          </p:nvSpPr>
          <p:spPr>
            <a:xfrm>
              <a:off x="1372" y="1664"/>
              <a:ext cx="237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Y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6276" name="Text Box 17"/>
            <p:cNvSpPr txBox="1"/>
            <p:nvPr/>
          </p:nvSpPr>
          <p:spPr>
            <a:xfrm>
              <a:off x="3617" y="3110"/>
              <a:ext cx="237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X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96277" name="Text Box 18"/>
            <p:cNvSpPr txBox="1"/>
            <p:nvPr/>
          </p:nvSpPr>
          <p:spPr>
            <a:xfrm>
              <a:off x="2831" y="1661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430" y="2181"/>
              <a:ext cx="814" cy="7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>
              <a:off x="2589" y="1898"/>
              <a:ext cx="310" cy="7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2002" y="2400"/>
              <a:ext cx="1063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81" name="Text Box 22"/>
            <p:cNvSpPr txBox="1"/>
            <p:nvPr/>
          </p:nvSpPr>
          <p:spPr>
            <a:xfrm>
              <a:off x="2376" y="2610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6282" name="Text Box 23"/>
            <p:cNvSpPr txBox="1"/>
            <p:nvPr/>
          </p:nvSpPr>
          <p:spPr>
            <a:xfrm>
              <a:off x="2252" y="2017"/>
              <a:ext cx="315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6283" name="Text Box 24"/>
            <p:cNvSpPr txBox="1"/>
            <p:nvPr/>
          </p:nvSpPr>
          <p:spPr>
            <a:xfrm>
              <a:off x="3051" y="2280"/>
              <a:ext cx="314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B050"/>
                  </a:solidFill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rgbClr val="00B05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6284" name="Text Box 25"/>
            <p:cNvSpPr txBox="1"/>
            <p:nvPr/>
          </p:nvSpPr>
          <p:spPr>
            <a:xfrm>
              <a:off x="2544" y="2134"/>
              <a:ext cx="315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O</a:t>
              </a:r>
              <a:endPara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6" name="矩形 2"/>
          <p:cNvSpPr/>
          <p:nvPr/>
        </p:nvSpPr>
        <p:spPr>
          <a:xfrm>
            <a:off x="558800" y="2903538"/>
            <a:ext cx="7662863" cy="792162"/>
          </a:xfrm>
          <a:prstGeom prst="rect">
            <a:avLst/>
          </a:prstGeom>
          <a:noFill/>
          <a:ln w="31750" cap="flat" cmpd="sng">
            <a:solidFill>
              <a:schemeClr val="tx2">
                <a:lumMod val="9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27" name="矩形 2"/>
          <p:cNvSpPr/>
          <p:nvPr/>
        </p:nvSpPr>
        <p:spPr>
          <a:xfrm>
            <a:off x="549275" y="3767138"/>
            <a:ext cx="7661275" cy="873125"/>
          </a:xfrm>
          <a:prstGeom prst="rect">
            <a:avLst/>
          </a:prstGeom>
          <a:noFill/>
          <a:ln w="31750" cap="flat" cmpd="sng">
            <a:solidFill>
              <a:schemeClr val="tx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96263" name="AutoShape 5">
            <a:hlinkClick r:id="rId1" action="ppaction://hlinksldjump"/>
          </p:cNvPr>
          <p:cNvSpPr/>
          <p:nvPr/>
        </p:nvSpPr>
        <p:spPr>
          <a:xfrm>
            <a:off x="11315700" y="5715000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290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38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48" end="3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89" end="4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401" end="4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42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椭圆 1"/>
          <p:cNvSpPr/>
          <p:nvPr/>
        </p:nvSpPr>
        <p:spPr>
          <a:xfrm>
            <a:off x="2063750" y="2627313"/>
            <a:ext cx="1728788" cy="576262"/>
          </a:xfrm>
          <a:prstGeom prst="ellipse">
            <a:avLst/>
          </a:prstGeom>
          <a:solidFill>
            <a:srgbClr val="00B0F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FontTx/>
              <a:buNone/>
            </a:pPr>
            <a:r>
              <a:rPr lang="en-US" altLang="zh-CN" sz="1800" b="1" dirty="0">
                <a:ea typeface="黑体" panose="02010609060101010101" pitchFamily="49" charset="-122"/>
              </a:rPr>
              <a:t>main</a:t>
            </a:r>
            <a:endParaRPr lang="zh-CN" altLang="en-US" sz="1800" b="1" dirty="0">
              <a:ea typeface="黑体" panose="02010609060101010101" pitchFamily="49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187825" y="1700213"/>
            <a:ext cx="5148263" cy="828675"/>
          </a:xfrm>
          <a:prstGeom prst="ellipse">
            <a:avLst/>
          </a:prstGeom>
          <a:solidFill>
            <a:srgbClr val="00B0F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Pct val="70000"/>
              <a:buFontTx/>
              <a:buNone/>
            </a:pPr>
            <a:r>
              <a:rPr lang="en-US" altLang="zh-CN" sz="2300" b="1" dirty="0">
                <a:solidFill>
                  <a:srgbClr val="FFFF00"/>
                </a:solidFill>
                <a:ea typeface="黑体" panose="02010609060101010101" pitchFamily="49" charset="-122"/>
              </a:rPr>
              <a:t>lines(</a:t>
            </a:r>
            <a:r>
              <a:rPr lang="en-US" altLang="zh-CN" sz="2300" b="1" dirty="0">
                <a:ea typeface="黑体" panose="02010609060101010101" pitchFamily="49" charset="-122"/>
              </a:rPr>
              <a:t>xa,ya,</a:t>
            </a:r>
            <a:r>
              <a:rPr lang="en-US" altLang="zh-CN" sz="2300" b="1" dirty="0">
                <a:solidFill>
                  <a:srgbClr val="FFFF00"/>
                </a:solidFill>
                <a:ea typeface="黑体" panose="02010609060101010101" pitchFamily="49" charset="-122"/>
              </a:rPr>
              <a:t>xb,yb,xc,yc)</a:t>
            </a:r>
            <a:endParaRPr lang="en-US" altLang="zh-CN" sz="23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683000" y="2276475"/>
            <a:ext cx="504825" cy="504825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3" name="组合 30"/>
          <p:cNvGrpSpPr/>
          <p:nvPr/>
        </p:nvGrpSpPr>
        <p:grpSpPr>
          <a:xfrm>
            <a:off x="3700690" y="3048273"/>
            <a:ext cx="5743174" cy="1100806"/>
            <a:chOff x="1645586" y="2429272"/>
            <a:chExt cx="4543081" cy="1100806"/>
          </a:xfrm>
          <a:solidFill>
            <a:srgbClr val="00B0F0"/>
          </a:solidFill>
        </p:grpSpPr>
        <p:sp>
          <p:nvSpPr>
            <p:cNvPr id="5" name="椭圆 4"/>
            <p:cNvSpPr/>
            <p:nvPr/>
          </p:nvSpPr>
          <p:spPr bwMode="auto">
            <a:xfrm>
              <a:off x="2144421" y="2686223"/>
              <a:ext cx="4044246" cy="843855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Tx/>
                <a:buNone/>
                <a:defRPr/>
              </a:pPr>
              <a:r>
                <a:rPr kumimoji="0" lang="en-US" altLang="zh-CN" sz="2300" b="1" i="0" u="none" strike="noStrike" kern="1200" cap="none" spc="0" normalizeH="0" baseline="0" dirty="0">
                  <a:solidFill>
                    <a:srgbClr val="FFFF00"/>
                  </a:solidFill>
                  <a:effectLst/>
                  <a:latin typeface="+mn-lt"/>
                  <a:ea typeface="黑体" panose="02010609060101010101" pitchFamily="49" charset="-122"/>
                  <a:cs typeface="+mn-cs"/>
                </a:rPr>
                <a:t>lines(</a:t>
              </a:r>
              <a:r>
                <a:rPr kumimoji="0" lang="en-US" altLang="zh-CN" sz="23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xb,yb,</a:t>
              </a:r>
              <a:r>
                <a:rPr kumimoji="0" lang="en-US" altLang="zh-CN" sz="2300" b="1" i="0" u="none" strike="noStrike" kern="1200" cap="none" spc="0" normalizeH="0" baseline="0" dirty="0">
                  <a:solidFill>
                    <a:srgbClr val="FFFF00"/>
                  </a:solidFill>
                  <a:effectLst/>
                  <a:latin typeface="+mn-lt"/>
                  <a:ea typeface="黑体" panose="02010609060101010101" pitchFamily="49" charset="-122"/>
                  <a:cs typeface="+mn-cs"/>
                </a:rPr>
                <a:t>xa,ya,xc,yc)</a:t>
              </a:r>
              <a:endParaRPr kumimoji="0" lang="en-US" altLang="zh-CN" sz="2300" b="1" i="0" u="none" strike="noStrike" kern="1200" cap="none" spc="0" normalizeH="0" baseline="0" dirty="0">
                <a:solidFill>
                  <a:srgbClr val="FFFF00"/>
                </a:solidFill>
                <a:effectLst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13" name="直接箭头连接符 12"/>
            <p:cNvCxnSpPr>
              <a:endCxn id="5" idx="2"/>
            </p:cNvCxnSpPr>
            <p:nvPr/>
          </p:nvCxnSpPr>
          <p:spPr bwMode="auto">
            <a:xfrm>
              <a:off x="1645586" y="2429272"/>
              <a:ext cx="498835" cy="678879"/>
            </a:xfrm>
            <a:prstGeom prst="straightConnector1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97286" name="TextBox 59395"/>
          <p:cNvSpPr txBox="1"/>
          <p:nvPr/>
        </p:nvSpPr>
        <p:spPr>
          <a:xfrm>
            <a:off x="192088" y="381000"/>
            <a:ext cx="27368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zh-CN" altLang="en-US" sz="2400" b="1" dirty="0"/>
              <a:t>函数调用示意图：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7869238" y="5851525"/>
            <a:ext cx="19050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B9B27E-2470-4EFC-8700-1D50DEF87C3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>
          <a:xfrm>
            <a:off x="1558925" y="692150"/>
            <a:ext cx="3538538" cy="5832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int main(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{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  ......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函数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调用；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  ......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函数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调用；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  ......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函数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调用；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......                  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4511675" y="547688"/>
            <a:ext cx="5534025" cy="4176712"/>
            <a:chOff x="2102763" y="2976005"/>
            <a:chExt cx="5533598" cy="4176712"/>
          </a:xfrm>
        </p:grpSpPr>
        <p:grpSp>
          <p:nvGrpSpPr>
            <p:cNvPr id="98320" name="组合 9"/>
            <p:cNvGrpSpPr/>
            <p:nvPr/>
          </p:nvGrpSpPr>
          <p:grpSpPr>
            <a:xfrm>
              <a:off x="2102763" y="3407805"/>
              <a:ext cx="2590800" cy="3744912"/>
              <a:chOff x="2916560" y="872257"/>
              <a:chExt cx="2590800" cy="3744912"/>
            </a:xfrm>
          </p:grpSpPr>
          <p:sp>
            <p:nvSpPr>
              <p:cNvPr id="98324" name="Line 8"/>
              <p:cNvSpPr/>
              <p:nvPr/>
            </p:nvSpPr>
            <p:spPr>
              <a:xfrm flipV="1">
                <a:off x="2916560" y="872257"/>
                <a:ext cx="2590800" cy="3600450"/>
              </a:xfrm>
              <a:prstGeom prst="line">
                <a:avLst/>
              </a:prstGeom>
              <a:ln w="19050" cap="flat" cmpd="sng">
                <a:solidFill>
                  <a:schemeClr val="hlink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8325" name="Line 9"/>
              <p:cNvSpPr/>
              <p:nvPr/>
            </p:nvSpPr>
            <p:spPr>
              <a:xfrm flipH="1">
                <a:off x="2916560" y="2816944"/>
                <a:ext cx="2590800" cy="1800225"/>
              </a:xfrm>
              <a:prstGeom prst="line">
                <a:avLst/>
              </a:prstGeom>
              <a:ln w="19050" cap="flat" cmpd="sng">
                <a:solidFill>
                  <a:schemeClr val="hlink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8321" name="组合 5"/>
            <p:cNvGrpSpPr/>
            <p:nvPr/>
          </p:nvGrpSpPr>
          <p:grpSpPr>
            <a:xfrm>
              <a:off x="4683611" y="2976005"/>
              <a:ext cx="2952750" cy="2592387"/>
              <a:chOff x="7480075" y="-2304156"/>
              <a:chExt cx="2952750" cy="2592387"/>
            </a:xfrm>
          </p:grpSpPr>
          <p:sp>
            <p:nvSpPr>
              <p:cNvPr id="98322" name="Rectangle 6"/>
              <p:cNvSpPr/>
              <p:nvPr/>
            </p:nvSpPr>
            <p:spPr>
              <a:xfrm>
                <a:off x="7480075" y="-2304156"/>
                <a:ext cx="2952750" cy="25923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函数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1(</a:t>
                </a: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定义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)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 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endParaRPr lang="zh-CN" altLang="en-US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函数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1</a:t>
                </a: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结束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</p:txBody>
          </p:sp>
          <p:sp>
            <p:nvSpPr>
              <p:cNvPr id="98323" name="Line 10"/>
              <p:cNvSpPr/>
              <p:nvPr/>
            </p:nvSpPr>
            <p:spPr>
              <a:xfrm>
                <a:off x="8160552" y="-1799332"/>
                <a:ext cx="0" cy="15827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5" name="组合 1"/>
          <p:cNvGrpSpPr/>
          <p:nvPr/>
        </p:nvGrpSpPr>
        <p:grpSpPr>
          <a:xfrm>
            <a:off x="4440238" y="3392488"/>
            <a:ext cx="5472112" cy="2592387"/>
            <a:chOff x="3276600" y="3789363"/>
            <a:chExt cx="5472286" cy="2591965"/>
          </a:xfrm>
        </p:grpSpPr>
        <p:sp>
          <p:nvSpPr>
            <p:cNvPr id="98316" name="Rectangle 7"/>
            <p:cNvSpPr/>
            <p:nvPr/>
          </p:nvSpPr>
          <p:spPr>
            <a:xfrm>
              <a:off x="5796136" y="3861966"/>
              <a:ext cx="2952750" cy="2519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buClr>
                  <a:schemeClr val="accent2"/>
                </a:buClr>
                <a:buNone/>
              </a:pPr>
              <a:r>
                <a:rPr lang="zh-CN" altLang="en-US" sz="3600" dirty="0">
                  <a:latin typeface="Courier New" panose="02070309020205020404" pitchFamily="49" charset="0"/>
                  <a:ea typeface="隶书" pitchFamily="49" charset="-122"/>
                </a:rPr>
                <a:t>函数</a:t>
              </a:r>
              <a:r>
                <a:rPr lang="en-US" altLang="zh-CN" sz="3600" dirty="0">
                  <a:latin typeface="Courier New" panose="02070309020205020404" pitchFamily="49" charset="0"/>
                  <a:ea typeface="隶书" pitchFamily="49" charset="-122"/>
                </a:rPr>
                <a:t>2(</a:t>
              </a:r>
              <a:r>
                <a:rPr lang="zh-CN" altLang="en-US" sz="3600" dirty="0">
                  <a:latin typeface="Courier New" panose="02070309020205020404" pitchFamily="49" charset="0"/>
                  <a:ea typeface="隶书" pitchFamily="49" charset="-122"/>
                </a:rPr>
                <a:t>定义</a:t>
              </a:r>
              <a:r>
                <a:rPr lang="en-US" altLang="zh-CN" sz="3600" dirty="0">
                  <a:latin typeface="Courier New" panose="02070309020205020404" pitchFamily="49" charset="0"/>
                  <a:ea typeface="隶书" pitchFamily="49" charset="-122"/>
                </a:rPr>
                <a:t>)</a:t>
              </a:r>
              <a:endParaRPr lang="en-US" altLang="zh-CN" sz="3600" dirty="0">
                <a:latin typeface="Courier New" panose="02070309020205020404" pitchFamily="49" charset="0"/>
                <a:ea typeface="隶书" pitchFamily="49" charset="-122"/>
              </a:endParaRPr>
            </a:p>
            <a:p>
              <a:pPr marL="0" lvl="0" indent="0">
                <a:buClr>
                  <a:schemeClr val="accent2"/>
                </a:buClr>
                <a:buNone/>
              </a:pPr>
              <a:r>
                <a:rPr lang="en-US" altLang="zh-CN" sz="3600" dirty="0">
                  <a:latin typeface="Courier New" panose="02070309020205020404" pitchFamily="49" charset="0"/>
                  <a:ea typeface="隶书" pitchFamily="49" charset="-122"/>
                </a:rPr>
                <a:t> </a:t>
              </a:r>
              <a:endParaRPr lang="en-US" altLang="zh-CN" sz="3600" dirty="0">
                <a:latin typeface="Courier New" panose="02070309020205020404" pitchFamily="49" charset="0"/>
                <a:ea typeface="隶书" pitchFamily="49" charset="-122"/>
              </a:endParaRPr>
            </a:p>
            <a:p>
              <a:pPr marL="0" lvl="0" indent="0">
                <a:buClr>
                  <a:schemeClr val="accent2"/>
                </a:buClr>
                <a:buNone/>
              </a:pPr>
              <a:endParaRPr lang="en-US" altLang="zh-CN" sz="3600" dirty="0">
                <a:latin typeface="Courier New" panose="02070309020205020404" pitchFamily="49" charset="0"/>
                <a:ea typeface="隶书" pitchFamily="49" charset="-122"/>
              </a:endParaRPr>
            </a:p>
            <a:p>
              <a:pPr marL="0" lvl="0" indent="0">
                <a:buClr>
                  <a:schemeClr val="accent2"/>
                </a:buClr>
                <a:buNone/>
              </a:pPr>
              <a:r>
                <a:rPr lang="zh-CN" altLang="en-US" sz="3600" dirty="0">
                  <a:latin typeface="Courier New" panose="02070309020205020404" pitchFamily="49" charset="0"/>
                  <a:ea typeface="隶书" pitchFamily="49" charset="-122"/>
                </a:rPr>
                <a:t>函数</a:t>
              </a:r>
              <a:r>
                <a:rPr lang="en-US" altLang="zh-CN" sz="3600" dirty="0">
                  <a:latin typeface="Courier New" panose="02070309020205020404" pitchFamily="49" charset="0"/>
                  <a:ea typeface="隶书" pitchFamily="49" charset="-122"/>
                </a:rPr>
                <a:t>2</a:t>
              </a:r>
              <a:r>
                <a:rPr lang="zh-CN" altLang="en-US" sz="3600" dirty="0">
                  <a:latin typeface="Courier New" panose="02070309020205020404" pitchFamily="49" charset="0"/>
                  <a:ea typeface="隶书" pitchFamily="49" charset="-122"/>
                </a:rPr>
                <a:t>结束</a:t>
              </a:r>
              <a:endParaRPr lang="en-US" altLang="zh-CN" sz="3600" dirty="0">
                <a:latin typeface="Courier New" panose="02070309020205020404" pitchFamily="49" charset="0"/>
                <a:ea typeface="隶书" pitchFamily="49" charset="-122"/>
              </a:endParaRPr>
            </a:p>
          </p:txBody>
        </p:sp>
        <p:sp>
          <p:nvSpPr>
            <p:cNvPr id="98317" name="Line 11"/>
            <p:cNvSpPr/>
            <p:nvPr/>
          </p:nvSpPr>
          <p:spPr>
            <a:xfrm>
              <a:off x="6588125" y="4437063"/>
              <a:ext cx="0" cy="15827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8" name="Line 12"/>
            <p:cNvSpPr/>
            <p:nvPr/>
          </p:nvSpPr>
          <p:spPr>
            <a:xfrm>
              <a:off x="3276600" y="3789363"/>
              <a:ext cx="2590800" cy="431800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9" name="Line 13"/>
            <p:cNvSpPr/>
            <p:nvPr/>
          </p:nvSpPr>
          <p:spPr>
            <a:xfrm flipH="1" flipV="1">
              <a:off x="3276600" y="3933825"/>
              <a:ext cx="2590800" cy="2232025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组合 8"/>
          <p:cNvGrpSpPr/>
          <p:nvPr/>
        </p:nvGrpSpPr>
        <p:grpSpPr>
          <a:xfrm>
            <a:off x="4440238" y="549275"/>
            <a:ext cx="5616575" cy="2592388"/>
            <a:chOff x="2916560" y="548678"/>
            <a:chExt cx="5616575" cy="2592387"/>
          </a:xfrm>
        </p:grpSpPr>
        <p:sp>
          <p:nvSpPr>
            <p:cNvPr id="98311" name="Line 4"/>
            <p:cNvSpPr/>
            <p:nvPr/>
          </p:nvSpPr>
          <p:spPr>
            <a:xfrm flipV="1">
              <a:off x="2916560" y="729382"/>
              <a:ext cx="2663825" cy="1511300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12" name="Line 5"/>
            <p:cNvSpPr/>
            <p:nvPr/>
          </p:nvSpPr>
          <p:spPr>
            <a:xfrm flipH="1" flipV="1">
              <a:off x="2916560" y="2385144"/>
              <a:ext cx="2590800" cy="287338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8313" name="组合 23"/>
            <p:cNvGrpSpPr/>
            <p:nvPr/>
          </p:nvGrpSpPr>
          <p:grpSpPr>
            <a:xfrm>
              <a:off x="5580385" y="548678"/>
              <a:ext cx="2952750" cy="2592387"/>
              <a:chOff x="9683402" y="944737"/>
              <a:chExt cx="2952750" cy="2592387"/>
            </a:xfrm>
          </p:grpSpPr>
          <p:sp>
            <p:nvSpPr>
              <p:cNvPr id="98314" name="Rectangle 6"/>
              <p:cNvSpPr/>
              <p:nvPr/>
            </p:nvSpPr>
            <p:spPr>
              <a:xfrm>
                <a:off x="9683402" y="944737"/>
                <a:ext cx="2952750" cy="25923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函数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1(</a:t>
                </a: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定义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)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 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endParaRPr lang="zh-CN" altLang="en-US" sz="3600" dirty="0">
                  <a:latin typeface="Courier New" panose="02070309020205020404" pitchFamily="49" charset="0"/>
                  <a:ea typeface="隶书" pitchFamily="49" charset="-122"/>
                </a:endParaRPr>
              </a:p>
              <a:p>
                <a:pPr marL="0" lvl="0" indent="0">
                  <a:buClr>
                    <a:schemeClr val="accent2"/>
                  </a:buClr>
                  <a:buNone/>
                </a:pP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函数</a:t>
                </a:r>
                <a:r>
                  <a:rPr lang="en-US" altLang="zh-CN" sz="3600" dirty="0">
                    <a:latin typeface="Courier New" panose="02070309020205020404" pitchFamily="49" charset="0"/>
                    <a:ea typeface="隶书" pitchFamily="49" charset="-122"/>
                  </a:rPr>
                  <a:t>1</a:t>
                </a:r>
                <a:r>
                  <a:rPr lang="zh-CN" altLang="en-US" sz="3600" dirty="0">
                    <a:latin typeface="Courier New" panose="02070309020205020404" pitchFamily="49" charset="0"/>
                    <a:ea typeface="隶书" pitchFamily="49" charset="-122"/>
                  </a:rPr>
                  <a:t>结束</a:t>
                </a:r>
                <a:endParaRPr lang="en-US" altLang="zh-CN" sz="3600" dirty="0">
                  <a:latin typeface="Courier New" panose="02070309020205020404" pitchFamily="49" charset="0"/>
                  <a:ea typeface="隶书" pitchFamily="49" charset="-122"/>
                </a:endParaRPr>
              </a:p>
            </p:txBody>
          </p:sp>
          <p:sp>
            <p:nvSpPr>
              <p:cNvPr id="98315" name="Line 10"/>
              <p:cNvSpPr/>
              <p:nvPr/>
            </p:nvSpPr>
            <p:spPr>
              <a:xfrm>
                <a:off x="10327328" y="1449561"/>
                <a:ext cx="0" cy="15827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1986A6-0496-4AEF-B865-8715CF12950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22438" y="0"/>
            <a:ext cx="8747125" cy="8207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exit()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return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break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09625"/>
            <a:ext cx="6529705" cy="6048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  <a:cs typeface="+mn-cs"/>
              </a:rPr>
              <a:t>exit()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  <a:cs typeface="+mn-cs"/>
              </a:rPr>
              <a:t>函数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功 能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终止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正在执行的程序。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stdlib.h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	if(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打开文件失败）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exit(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	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	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	//……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185759-2D2C-497D-9C0B-1024793B5C3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return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xfrm>
            <a:off x="-10795" y="1554480"/>
            <a:ext cx="12127230" cy="4435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函数中可以有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cs typeface="+mn-cs"/>
              </a:rPr>
              <a:t>多个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return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语句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当执行到其中任意一个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return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语句时，都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cs typeface="+mn-cs"/>
              </a:rPr>
              <a:t>返回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主调函数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如果不需要函数返回值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则函数中可以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cs typeface="+mn-cs"/>
              </a:rPr>
              <a:t>没有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return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语句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或直接写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cs typeface="+mn-cs"/>
              </a:rPr>
              <a:t>return;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E9AAA-7843-4632-94C5-EED484499193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title"/>
          </p:nvPr>
        </p:nvSpPr>
        <p:spPr>
          <a:xfrm>
            <a:off x="3516313" y="228600"/>
            <a:ext cx="4319588" cy="8953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return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语句举例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1380" name="AutoShape 5">
            <a:hlinkClick r:id="rId1" action="ppaction://hlinksldjump"/>
          </p:cNvPr>
          <p:cNvSpPr/>
          <p:nvPr/>
        </p:nvSpPr>
        <p:spPr>
          <a:xfrm>
            <a:off x="11201400" y="5816600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33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zh-CN" altLang="en-US" sz="2400" b="1" dirty="0"/>
          </a:p>
        </p:txBody>
      </p:sp>
      <p:sp>
        <p:nvSpPr>
          <p:cNvPr id="101381" name="矩形 2"/>
          <p:cNvSpPr/>
          <p:nvPr/>
        </p:nvSpPr>
        <p:spPr>
          <a:xfrm>
            <a:off x="381000" y="1676400"/>
            <a:ext cx="7489825" cy="3983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SzPct val="70000"/>
              <a:buNone/>
            </a:pPr>
            <a:r>
              <a:rPr lang="zh-CN" altLang="en-US" b="1" dirty="0"/>
              <a:t>判断是否是素数？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bool prime( int n ) 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{</a:t>
            </a:r>
            <a:r>
              <a:rPr lang="en-US" altLang="zh-CN" b="1" dirty="0">
                <a:solidFill>
                  <a:srgbClr val="FFFF00"/>
                </a:solidFill>
              </a:rPr>
              <a:t> </a:t>
            </a:r>
            <a:r>
              <a:rPr lang="en-US" altLang="zh-CN" b="1" dirty="0"/>
              <a:t>  int  j ;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     for ( j = n / 2 ; j &gt;= 2 ; j-- )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             if ( n%j == 0 )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			</a:t>
            </a:r>
            <a:r>
              <a:rPr lang="en-US" altLang="zh-CN" b="1" dirty="0">
                <a:solidFill>
                  <a:srgbClr val="FFFF00"/>
                </a:solidFill>
              </a:rPr>
              <a:t>return  false ;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FFFF00"/>
                </a:solidFill>
              </a:rPr>
              <a:t>     return  true ;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/>
              <a:t>}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4C867-53B9-45CD-97FE-0CAF745BC62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3505200" cy="6937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break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xfrm>
            <a:off x="-380047" y="1066483"/>
            <a:ext cx="4254500" cy="2052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退出当前循环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退出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楷体_GB2312" pitchFamily="49" charset="-122"/>
              </a:rPr>
              <a:t>switch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267200" y="152400"/>
            <a:ext cx="7162800" cy="6553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【例4.9】的算法改进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 {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</a:t>
            </a:r>
            <a:r>
              <a:rPr lang="en-US" altLang="zh-CN" noProof="0" dirty="0">
                <a:ln>
                  <a:noFill/>
                </a:ln>
                <a:uLnTx/>
                <a:uFillTx/>
                <a:sym typeface="+mn-ea"/>
              </a:rPr>
              <a:t> ,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 ; bool flag;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 i = 2 ;i &lt;= 100 ; i++ ) {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flag=true;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 = i / 2 ; j &gt;= 2 ; j--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if ( i % j == 0 )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flag=false;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 }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if ( flag )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("%5d\n" , i ) 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2"/>
          <p:cNvSpPr/>
          <p:nvPr/>
        </p:nvSpPr>
        <p:spPr>
          <a:xfrm>
            <a:off x="0" y="1530668"/>
            <a:ext cx="9220200" cy="50158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自学内容：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视频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资源：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CodeBlocks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函数调试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.mp4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P130【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5.7】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5.7】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中查找素数的过程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zh-CN" altLang="en-US" b="1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</a:rPr>
              <a:t>【必做作业】</a:t>
            </a:r>
            <a:endParaRPr lang="zh-CN" altLang="en-US" b="1" kern="0" noProof="0" dirty="0">
              <a:ln>
                <a:noFill/>
              </a:ln>
              <a:solidFill>
                <a:schemeClr val="tx1"/>
              </a:solidFill>
              <a:uLnTx/>
              <a:uFillTx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调试方法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程序中适当增加打印语句（中间过程）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调试练习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P130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5.7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调试方法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IDE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Debugger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调试练习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P146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习题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5.8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3000375" y="304800"/>
            <a:ext cx="5160963" cy="8207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§5.4 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程序调试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B91938-B2B7-43C4-8113-5C629AD3061C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idx="1"/>
          </p:nvPr>
        </p:nvSpPr>
        <p:spPr>
          <a:xfrm>
            <a:off x="1371600" y="990600"/>
            <a:ext cx="94488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重点： 模块化程序设计</a:t>
            </a:r>
            <a:endParaRPr kumimoji="0" lang="zh-CN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难点： 函数参数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函数的定义：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类型符 函数名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形式参数表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) {...}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函数的调用：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实际参数表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)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40005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函数的参数：形式参数  实际参数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形实结合：将实参的值传递给形参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——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值传递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          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将实参的值依次一一对应传递给形参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40005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</a:rPr>
              <a:t>函数的类型：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return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语句带回返回值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原型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：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调用函数前,要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用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函数原型进行声明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隶书" pitchFamily="49" charset="-122"/>
                <a:cs typeface="+mn-cs"/>
              </a:rPr>
              <a:t>函数调试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隶书" pitchFamily="49" charset="-122"/>
              <a:cs typeface="+mn-cs"/>
            </a:endParaRPr>
          </a:p>
        </p:txBody>
      </p:sp>
      <p:sp>
        <p:nvSpPr>
          <p:cNvPr id="487429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200025"/>
            <a:ext cx="8229600" cy="5619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本章小结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B91938-B2B7-43C4-8113-5C629AD3061C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7429" name="Rectangle 5"/>
          <p:cNvSpPr>
            <a:spLocks noGrp="1" noChangeArrowheads="1"/>
          </p:cNvSpPr>
          <p:nvPr>
            <p:ph type="title"/>
          </p:nvPr>
        </p:nvSpPr>
        <p:spPr>
          <a:xfrm>
            <a:off x="8148955" y="0"/>
            <a:ext cx="4043045" cy="5619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前五章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总结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6365" y="1245870"/>
            <a:ext cx="6985635" cy="50907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48400" cy="4187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14999</Words>
  <Application>WPS 演示</Application>
  <PresentationFormat>宽屏</PresentationFormat>
  <Paragraphs>1731</Paragraphs>
  <Slides>71</Slides>
  <Notes>15</Notes>
  <HiddenSlides>3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99" baseType="lpstr">
      <vt:lpstr>Arial</vt:lpstr>
      <vt:lpstr>宋体</vt:lpstr>
      <vt:lpstr>Wingdings</vt:lpstr>
      <vt:lpstr>Tahoma</vt:lpstr>
      <vt:lpstr>华文隶书</vt:lpstr>
      <vt:lpstr>微软雅黑</vt:lpstr>
      <vt:lpstr>Verdana</vt:lpstr>
      <vt:lpstr>Gungsuh</vt:lpstr>
      <vt:lpstr>Malgun Gothic</vt:lpstr>
      <vt:lpstr>仿宋_GB2312</vt:lpstr>
      <vt:lpstr>隶书</vt:lpstr>
      <vt:lpstr>Times New Roman</vt:lpstr>
      <vt:lpstr>Arial</vt:lpstr>
      <vt:lpstr>Arial Unicode MS</vt:lpstr>
      <vt:lpstr>仿宋</vt:lpstr>
      <vt:lpstr>仿宋_GB2312</vt:lpstr>
      <vt:lpstr>楷体_GB2312</vt:lpstr>
      <vt:lpstr>黑体</vt:lpstr>
      <vt:lpstr>Wingdings 3</vt:lpstr>
      <vt:lpstr>Symbol</vt:lpstr>
      <vt:lpstr>Monotype Corsiva</vt:lpstr>
      <vt:lpstr>Segoe Print</vt:lpstr>
      <vt:lpstr>华文彩云</vt:lpstr>
      <vt:lpstr>Tahoma</vt:lpstr>
      <vt:lpstr>Courier New</vt:lpstr>
      <vt:lpstr>楷体_GB2312</vt:lpstr>
      <vt:lpstr>新宋体</vt:lpstr>
      <vt:lpstr>1_Slit</vt:lpstr>
      <vt:lpstr>第5章  模块化程序设计－函数 </vt:lpstr>
      <vt:lpstr>PowerPoint 演示文稿</vt:lpstr>
      <vt:lpstr>PowerPoint 演示文稿</vt:lpstr>
      <vt:lpstr>PowerPoint 演示文稿</vt:lpstr>
      <vt:lpstr>PowerPoint 演示文稿</vt:lpstr>
      <vt:lpstr>函数和Ｃ程序结构</vt:lpstr>
      <vt:lpstr>标准库函数举例</vt:lpstr>
      <vt:lpstr>§ 5.2  函数</vt:lpstr>
      <vt:lpstr>PowerPoint 演示文稿</vt:lpstr>
      <vt:lpstr>PowerPoint 演示文稿</vt:lpstr>
      <vt:lpstr>PowerPoint 演示文稿</vt:lpstr>
      <vt:lpstr>§ 5.2.1  函数的定义 </vt:lpstr>
      <vt:lpstr>1．返回运算结果的函数定义</vt:lpstr>
      <vt:lpstr>形参</vt:lpstr>
      <vt:lpstr>分析函数的定义</vt:lpstr>
      <vt:lpstr>2．不返回运算结果的函数定义</vt:lpstr>
      <vt:lpstr>【例5.2.2】编函数，输出n行数字金字塔。</vt:lpstr>
      <vt:lpstr>§ 5.2.2  函数的调用</vt:lpstr>
      <vt:lpstr>1．函数调用的形式和过程</vt:lpstr>
      <vt:lpstr>PowerPoint 演示文稿</vt:lpstr>
      <vt:lpstr>函数调用的过程</vt:lpstr>
      <vt:lpstr>2．参数传递</vt:lpstr>
      <vt:lpstr>3．函数结果返回</vt:lpstr>
      <vt:lpstr>函数设计要点：</vt:lpstr>
      <vt:lpstr>函数调用示意图</vt:lpstr>
      <vt:lpstr>PowerPoint 演示文稿</vt:lpstr>
      <vt:lpstr>PowerPoint 演示文稿</vt:lpstr>
      <vt:lpstr>【课堂练习】函数定义、调用</vt:lpstr>
      <vt:lpstr>【课堂练习1】定义判断奇偶数的函数even (n)，偶数返回1，奇数返回0。</vt:lpstr>
      <vt:lpstr>【课堂练习2】编函数求n！</vt:lpstr>
      <vt:lpstr>PowerPoint 演示文稿</vt:lpstr>
      <vt:lpstr>【课堂练习3】编函数，求组合数 C39   ,C58    </vt:lpstr>
      <vt:lpstr>编函数，求组合数 C39    C58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§5.3  程序设计实例</vt:lpstr>
      <vt:lpstr>【例5.5】改写P106【例4.12】，打印字符图形（自学）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exit()函数, return语句, break语句</vt:lpstr>
      <vt:lpstr>return语句</vt:lpstr>
      <vt:lpstr>return语句举例</vt:lpstr>
      <vt:lpstr>break语句</vt:lpstr>
      <vt:lpstr>PowerPoint 演示文稿</vt:lpstr>
      <vt:lpstr>本章小结</vt:lpstr>
      <vt:lpstr>前五章 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783</cp:revision>
  <dcterms:created xsi:type="dcterms:W3CDTF">2019-09-21T08:05:00Z</dcterms:created>
  <dcterms:modified xsi:type="dcterms:W3CDTF">2025-10-10T11:09:24Z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CF9E2A9498994611B5E36403C959A15F_12</vt:lpwstr>
  </property>
</Properties>
</file>