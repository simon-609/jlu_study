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6"/>
  </p:notesMasterIdLst>
  <p:sldIdLst>
    <p:sldId id="262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7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9A34C-D5C8-4CB1-9387-C1AA4C5C74B6}" type="datetimeFigureOut">
              <a:rPr lang="zh-CN" altLang="en-US" smtClean="0"/>
              <a:t>2023/4/15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67440-C326-43E2-8ADA-BBDF44432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63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847175C-04BA-411C-ABC3-D66BC7686B57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573589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CAADC97-1937-418B-AD72-28358E206343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546127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5A61E18-C8DF-473C-A198-DBF636F0CDAB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969252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DBB9AB8-1F76-4C85-8ECA-A96ABB467BCE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5011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96 w 1722"/>
                <a:gd name="T1" fmla="*/ 53 h 66"/>
                <a:gd name="T2" fmla="*/ 1696 w 1722"/>
                <a:gd name="T3" fmla="*/ 47 h 66"/>
                <a:gd name="T4" fmla="*/ 0 w 1722"/>
                <a:gd name="T5" fmla="*/ 0 h 66"/>
                <a:gd name="T6" fmla="*/ 0 w 1722"/>
                <a:gd name="T7" fmla="*/ 35 h 66"/>
                <a:gd name="T8" fmla="*/ 1696 w 1722"/>
                <a:gd name="T9" fmla="*/ 53 h 66"/>
                <a:gd name="T10" fmla="*/ 1696 w 1722"/>
                <a:gd name="T11" fmla="*/ 5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2 w 975"/>
                <a:gd name="T1" fmla="*/ 48 h 101"/>
                <a:gd name="T2" fmla="*/ 96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2 w 975"/>
                <a:gd name="T9" fmla="*/ 48 h 101"/>
                <a:gd name="T10" fmla="*/ 96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1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15 w 2141"/>
                <a:gd name="T7" fmla="*/ 0 h 198"/>
                <a:gd name="T8" fmla="*/ 211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43 w 2517"/>
                <a:gd name="T1" fmla="*/ 276 h 276"/>
                <a:gd name="T2" fmla="*/ 2478 w 2517"/>
                <a:gd name="T3" fmla="*/ 204 h 276"/>
                <a:gd name="T4" fmla="*/ 2221 w 2517"/>
                <a:gd name="T5" fmla="*/ 0 h 276"/>
                <a:gd name="T6" fmla="*/ 0 w 2517"/>
                <a:gd name="T7" fmla="*/ 276 h 276"/>
                <a:gd name="T8" fmla="*/ 2143 w 2517"/>
                <a:gd name="T9" fmla="*/ 276 h 276"/>
                <a:gd name="T10" fmla="*/ 214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1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16 w 729"/>
                <a:gd name="T7" fmla="*/ 240 h 240"/>
                <a:gd name="T8" fmla="*/ 71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16 w 729"/>
                <a:gd name="T1" fmla="*/ 318 h 318"/>
                <a:gd name="T2" fmla="*/ 71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16 w 729"/>
                <a:gd name="T9" fmla="*/ 318 h 318"/>
                <a:gd name="T10" fmla="*/ 71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9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25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5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7C0070F-7EA2-4F6A-BC68-298622D889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4656378"/>
      </p:ext>
    </p:extLst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2ABB1F1-2216-45CA-95B1-5B8CC43748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9641583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54D984B-48B8-42D0-AC8B-88A3E640AE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1185412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CD1E0E5-6434-46C3-A33B-218D00BDF3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1285490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F8AA3F2-5598-4960-917C-72999597DF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8070629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2ECDE46-B54C-44C9-B547-2F92164B31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54843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2000865-0EC7-4730-910D-C6E9D6E7F8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791880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547BBB-0F20-4348-835E-EDBC20D4F6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9314261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E5415F-219A-4A93-908C-7921530777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8997167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9462DB-04E6-4618-AD03-C3662B364A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78543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4988" y="277813"/>
            <a:ext cx="225901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363" y="277813"/>
            <a:ext cx="6626225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1910EC1-B96A-4BF4-8BBA-55218A8279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6859689"/>
      </p:ext>
    </p:extLst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750" y="277813"/>
            <a:ext cx="89852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B2E0855-9011-44D6-AFE2-7B9EBCF5C3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0259690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819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9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9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9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96 w 1722"/>
                <a:gd name="T1" fmla="*/ 53 h 66"/>
                <a:gd name="T2" fmla="*/ 1696 w 1722"/>
                <a:gd name="T3" fmla="*/ 47 h 66"/>
                <a:gd name="T4" fmla="*/ 0 w 1722"/>
                <a:gd name="T5" fmla="*/ 0 h 66"/>
                <a:gd name="T6" fmla="*/ 0 w 1722"/>
                <a:gd name="T7" fmla="*/ 35 h 66"/>
                <a:gd name="T8" fmla="*/ 1696 w 1722"/>
                <a:gd name="T9" fmla="*/ 53 h 66"/>
                <a:gd name="T10" fmla="*/ 1696 w 1722"/>
                <a:gd name="T11" fmla="*/ 5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61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2 w 975"/>
                <a:gd name="T1" fmla="*/ 48 h 101"/>
                <a:gd name="T2" fmla="*/ 962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2 w 975"/>
                <a:gd name="T9" fmla="*/ 48 h 101"/>
                <a:gd name="T10" fmla="*/ 962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62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1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15 w 2141"/>
                <a:gd name="T7" fmla="*/ 0 h 198"/>
                <a:gd name="T8" fmla="*/ 211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64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43 w 2517"/>
                <a:gd name="T1" fmla="*/ 276 h 276"/>
                <a:gd name="T2" fmla="*/ 2478 w 2517"/>
                <a:gd name="T3" fmla="*/ 204 h 276"/>
                <a:gd name="T4" fmla="*/ 2221 w 2517"/>
                <a:gd name="T5" fmla="*/ 0 h 276"/>
                <a:gd name="T6" fmla="*/ 0 w 2517"/>
                <a:gd name="T7" fmla="*/ 276 h 276"/>
                <a:gd name="T8" fmla="*/ 2143 w 2517"/>
                <a:gd name="T9" fmla="*/ 276 h 276"/>
                <a:gd name="T10" fmla="*/ 2143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66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16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16 w 729"/>
                <a:gd name="T7" fmla="*/ 240 h 240"/>
                <a:gd name="T8" fmla="*/ 716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68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16 w 729"/>
                <a:gd name="T1" fmla="*/ 318 h 318"/>
                <a:gd name="T2" fmla="*/ 716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16 w 729"/>
                <a:gd name="T9" fmla="*/ 318 h 318"/>
                <a:gd name="T10" fmla="*/ 716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72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1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74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1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78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1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81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99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2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83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2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3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092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23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3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823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158750" y="277813"/>
            <a:ext cx="898525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23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63" y="1600200"/>
            <a:ext cx="8929687" cy="453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23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3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3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77F766-134D-48E0-91DE-F039ED676DB9}" type="slidenum">
              <a:rPr lang="en-US" altLang="zh-CN"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784590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ransition>
    <p:blinds dir="vert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4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32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buFont typeface="Times New Roman" panose="02020603050405020304" pitchFamily="18" charset="0"/>
        <a:buChar char="♫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har char="–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275" y="628650"/>
            <a:ext cx="8985250" cy="60912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给出满足公式</a:t>
            </a:r>
            <a:r>
              <a:rPr lang="en-US" altLang="zh-CN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(P→Q)→P</a:t>
            </a:r>
            <a:r>
              <a:rPr lang="en-US" altLang="zh-CN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zh-CN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的一个解释和弄假它的一个解释。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 smtClean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答：</a:t>
            </a:r>
            <a:r>
              <a:rPr lang="en-US" altLang="zh-CN" dirty="0" smtClean="0">
                <a:effectLst/>
              </a:rPr>
              <a:t> G =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(P →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Q)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→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</a:rPr>
              <a:t>Q</a:t>
            </a:r>
            <a:endParaRPr lang="zh-CN" altLang="zh-CN" dirty="0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effectLst/>
              </a:rPr>
              <a:t>            </a:t>
            </a:r>
            <a:r>
              <a:rPr lang="en-US" altLang="zh-CN" dirty="0" smtClean="0">
                <a:effectLst/>
              </a:rPr>
              <a:t>=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(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</a:rPr>
              <a:t> 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</a:rPr>
              <a:t>Q) →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</a:rPr>
              <a:t>Q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effectLst/>
              </a:rPr>
              <a:t>            </a:t>
            </a:r>
            <a:r>
              <a:rPr lang="en-US" altLang="zh-CN" dirty="0" smtClean="0">
                <a:effectLst/>
              </a:rPr>
              <a:t>=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 </a:t>
            </a:r>
            <a:r>
              <a:rPr lang="en-US" altLang="zh-CN" dirty="0" smtClean="0">
                <a:effectLst/>
              </a:rPr>
              <a:t>(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</a:rPr>
              <a:t>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</a:rPr>
              <a:t>Q) 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</a:rPr>
              <a:t> (P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</a:rPr>
              <a:t>Q)</a:t>
            </a:r>
            <a:r>
              <a:rPr lang="zh-CN" altLang="zh-CN" dirty="0" smtClean="0">
                <a:effectLst/>
              </a:rPr>
              <a:t> </a:t>
            </a:r>
            <a:endParaRPr lang="en-US" altLang="zh-CN" dirty="0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effectLst/>
              </a:rPr>
              <a:t>            </a:t>
            </a:r>
            <a:r>
              <a:rPr lang="en-US" altLang="zh-CN" dirty="0" smtClean="0">
                <a:effectLst/>
              </a:rPr>
              <a:t>= (P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</a:t>
            </a:r>
            <a:r>
              <a:rPr lang="en-US" altLang="zh-CN" dirty="0" smtClean="0">
                <a:effectLst/>
              </a:rPr>
              <a:t> Q) 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</a:rPr>
              <a:t> (P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</a:rPr>
              <a:t>Q)</a:t>
            </a:r>
            <a:r>
              <a:rPr lang="zh-CN" altLang="zh-CN" dirty="0" smtClean="0">
                <a:effectLst/>
              </a:rPr>
              <a:t> </a:t>
            </a:r>
            <a:endParaRPr lang="en-US" altLang="zh-CN" dirty="0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effectLst/>
              </a:rPr>
              <a:t>            </a:t>
            </a:r>
            <a:r>
              <a:rPr lang="en-US" altLang="zh-CN" dirty="0" smtClean="0">
                <a:effectLst/>
              </a:rPr>
              <a:t>=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</a:rPr>
              <a:t>(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</a:rPr>
              <a:t> Q 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</a:rPr>
              <a:t> Q)</a:t>
            </a:r>
            <a:r>
              <a:rPr lang="zh-CN" altLang="zh-CN" dirty="0" smtClean="0">
                <a:effectLst/>
              </a:rPr>
              <a:t> </a:t>
            </a:r>
            <a:endParaRPr lang="en-US" altLang="zh-CN" dirty="0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effectLst/>
              </a:rPr>
              <a:t>            </a:t>
            </a:r>
            <a:r>
              <a:rPr lang="en-US" altLang="zh-CN" dirty="0" smtClean="0">
                <a:effectLst/>
              </a:rPr>
              <a:t>= P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</a:rPr>
              <a:t>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effectLst/>
              </a:rPr>
              <a:t>            </a:t>
            </a:r>
            <a:r>
              <a:rPr lang="en-US" altLang="zh-CN" dirty="0" smtClean="0">
                <a:effectLst/>
              </a:rPr>
              <a:t>=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P</a:t>
            </a:r>
            <a:endParaRPr lang="zh-CN" altLang="zh-CN" dirty="0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zh-CN" dirty="0" smtClean="0">
                <a:effectLst/>
              </a:rPr>
              <a:t>满足它的解释可以是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{P, 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</a:rPr>
              <a:t>Q}</a:t>
            </a:r>
            <a:r>
              <a:rPr lang="zh-CN" altLang="zh-CN" dirty="0" smtClean="0">
                <a:effectLst/>
              </a:rPr>
              <a:t>，或者</a:t>
            </a:r>
            <a:r>
              <a:rPr lang="en-US" altLang="zh-CN" dirty="0" smtClean="0">
                <a:effectLst/>
              </a:rPr>
              <a:t>{P, Q}</a:t>
            </a:r>
            <a:endParaRPr lang="zh-CN" altLang="zh-CN" dirty="0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zh-CN" dirty="0" smtClean="0">
                <a:effectLst/>
              </a:rPr>
              <a:t>弄假它的解释可以是</a:t>
            </a:r>
            <a:r>
              <a:rPr lang="zh-CN" altLang="en-US" dirty="0" smtClean="0">
                <a:effectLst/>
              </a:rPr>
              <a:t> </a:t>
            </a:r>
            <a:r>
              <a:rPr lang="en-US" altLang="zh-CN" dirty="0" smtClean="0">
                <a:effectLst/>
              </a:rPr>
              <a:t>{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</a:rPr>
              <a:t>P, Q}</a:t>
            </a:r>
            <a:r>
              <a:rPr lang="zh-CN" altLang="zh-CN" dirty="0" smtClean="0">
                <a:effectLst/>
              </a:rPr>
              <a:t>，或</a:t>
            </a:r>
            <a:r>
              <a:rPr lang="en-US" altLang="zh-CN" dirty="0" smtClean="0">
                <a:effectLst/>
              </a:rPr>
              <a:t>{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</a:rPr>
              <a:t>P, </a:t>
            </a:r>
            <a:r>
              <a:rPr lang="en-US" altLang="zh-CN" dirty="0" smtClean="0">
                <a:effectLst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</a:rPr>
              <a:t>Q}</a:t>
            </a:r>
            <a:endParaRPr lang="zh-CN" altLang="zh-CN" dirty="0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 dirty="0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 dirty="0" smtClean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37565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200" dirty="0" smtClean="0">
                <a:solidFill>
                  <a:srgbClr val="FFC000"/>
                </a:solidFill>
                <a:effectLst/>
              </a:rPr>
              <a:t>4</a:t>
            </a:r>
            <a:r>
              <a:rPr lang="zh-CN" altLang="en-US" sz="32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200" dirty="0" smtClean="0">
              <a:solidFill>
                <a:srgbClr val="FFC000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42901" y="1941513"/>
            <a:ext cx="8107136" cy="2971800"/>
          </a:xfrm>
          <a:prstGeom prst="rect">
            <a:avLst/>
          </a:prstGeom>
          <a:solidFill>
            <a:srgbClr val="F8F6B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存在的问题：</a:t>
            </a:r>
            <a:endParaRPr lang="en-US" altLang="zh-CN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1.</a:t>
            </a: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部分同学忽略了逻辑联结词的优</a:t>
            </a:r>
            <a:endParaRPr lang="en-US" altLang="zh-CN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先级顺序，导致结果出错。</a:t>
            </a:r>
            <a:endParaRPr lang="en-US" altLang="zh-CN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”的优先级次序高于“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endParaRPr lang="en-US" altLang="zh-CN" b="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2.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解释如果写成集合形式，可以写成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Arial"/>
                <a:ea typeface="楷体_GB2312"/>
              </a:rPr>
              <a:t>{P,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Arial"/>
                <a:ea typeface="楷体_GB2312"/>
                <a:sym typeface="Symbol" panose="05050102010706020507" pitchFamily="18" charset="2"/>
              </a:rPr>
              <a:t>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Arial"/>
                <a:ea typeface="楷体_GB2312"/>
              </a:rPr>
              <a:t>Q}</a:t>
            </a:r>
            <a:r>
              <a:rPr lang="zh-CN" altLang="zh-CN" dirty="0" smtClean="0">
                <a:solidFill>
                  <a:schemeClr val="bg2">
                    <a:lumMod val="50000"/>
                  </a:schemeClr>
                </a:solidFill>
                <a:latin typeface="Arial"/>
                <a:ea typeface="楷体_GB2312"/>
              </a:rPr>
              <a:t>，</a:t>
            </a:r>
            <a:endParaRPr lang="en-US" altLang="zh-CN" dirty="0" smtClean="0">
              <a:solidFill>
                <a:schemeClr val="bg2">
                  <a:lumMod val="50000"/>
                </a:schemeClr>
              </a:solidFill>
              <a:latin typeface="Arial"/>
              <a:ea typeface="楷体_GB231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Arial"/>
                <a:ea typeface="楷体_GB2312"/>
              </a:rPr>
              <a:t>不</a:t>
            </a:r>
            <a:r>
              <a:rPr lang="zh-CN" altLang="en-US" b="0" dirty="0" smtClean="0">
                <a:solidFill>
                  <a:schemeClr val="bg2">
                    <a:lumMod val="50000"/>
                  </a:schemeClr>
                </a:solidFill>
                <a:latin typeface="Arial"/>
                <a:ea typeface="楷体_GB2312"/>
              </a:rPr>
              <a:t>可以写成</a:t>
            </a:r>
            <a:r>
              <a:rPr lang="en-US" altLang="zh-CN" b="0" dirty="0" smtClean="0">
                <a:solidFill>
                  <a:schemeClr val="bg2">
                    <a:lumMod val="50000"/>
                  </a:schemeClr>
                </a:solidFill>
                <a:latin typeface="Arial"/>
                <a:ea typeface="楷体_GB2312"/>
              </a:rPr>
              <a:t>{1,0}</a:t>
            </a:r>
            <a:endParaRPr lang="zh-CN" altLang="en-US" b="0" dirty="0">
              <a:solidFill>
                <a:schemeClr val="bg2">
                  <a:lumMod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4D7C6-F6F3-4CD3-A63B-6A895F1919E9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551325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0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0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0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0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038" y="609600"/>
            <a:ext cx="8985250" cy="60912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zh-CN" smtClean="0">
              <a:effectLst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 smtClean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14325" y="1028700"/>
          <a:ext cx="8515351" cy="48006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7593"/>
                <a:gridCol w="1215989"/>
                <a:gridCol w="1596728"/>
                <a:gridCol w="1219365"/>
                <a:gridCol w="3505676"/>
              </a:tblGrid>
              <a:tr h="1600201"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P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Q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P →Q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P</a:t>
                      </a:r>
                      <a:r>
                        <a:rPr lang="en-US" sz="4000" kern="100" dirty="0">
                          <a:effectLst/>
                          <a:sym typeface="Symbol" pitchFamily="2" charset="2"/>
                        </a:rPr>
                        <a:t></a:t>
                      </a:r>
                      <a:r>
                        <a:rPr lang="en-US" sz="4000" kern="100" dirty="0">
                          <a:effectLst/>
                        </a:rPr>
                        <a:t>Q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(P →Q)→P</a:t>
                      </a:r>
                      <a:r>
                        <a:rPr lang="en-US" sz="4000" kern="100" dirty="0">
                          <a:effectLst/>
                          <a:sym typeface="Symbol" pitchFamily="2" charset="2"/>
                        </a:rPr>
                        <a:t></a:t>
                      </a:r>
                      <a:r>
                        <a:rPr lang="en-US" sz="4000" kern="100" dirty="0">
                          <a:effectLst/>
                        </a:rPr>
                        <a:t>Q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</a:tr>
              <a:tr h="800100"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0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0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1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0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</a:tr>
              <a:tr h="800100"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0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1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1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effectLst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</a:tr>
              <a:tr h="800100"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zh-CN" sz="3200" kern="100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0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0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0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zh-CN" sz="3200" kern="100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</a:tr>
              <a:tr h="800100"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zh-CN" sz="3200" kern="100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1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1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>
                          <a:effectLst/>
                        </a:rPr>
                        <a:t>1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4000" kern="100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zh-CN" sz="3200" kern="100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732FBC-6495-41A8-B5BC-6D3504B5566B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64358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1638" y="739775"/>
            <a:ext cx="8285162" cy="55324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 = 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R))</a:t>
            </a:r>
            <a:r>
              <a:rPr lang="zh-CN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的主析取范式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endParaRPr lang="en-US" altLang="zh-CN" dirty="0" smtClean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</a:t>
            </a:r>
            <a:r>
              <a:rPr lang="zh-CN" altLang="en-US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R))</a:t>
            </a:r>
            <a:endParaRPr lang="zh-CN" altLang="zh-CN" dirty="0" smtClean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endParaRPr lang="zh-CN" altLang="zh-CN" dirty="0" smtClean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endParaRPr lang="zh-CN" altLang="zh-CN" dirty="0" smtClean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((P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           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P)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endParaRPr lang="en-US" altLang="zh-CN" dirty="0" smtClean="0">
              <a:solidFill>
                <a:srgbClr val="FFC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endParaRPr lang="zh-CN" altLang="zh-CN" dirty="0" smtClean="0">
              <a:solidFill>
                <a:srgbClr val="FFC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 dirty="0" smtClean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 dirty="0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37565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200" dirty="0" smtClean="0">
                <a:solidFill>
                  <a:srgbClr val="FFC000"/>
                </a:solidFill>
                <a:effectLst/>
              </a:rPr>
              <a:t>4</a:t>
            </a:r>
            <a:r>
              <a:rPr lang="zh-CN" altLang="en-US" sz="32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200" dirty="0" smtClean="0">
              <a:solidFill>
                <a:srgbClr val="FFC000"/>
              </a:solidFill>
            </a:endParaRPr>
          </a:p>
        </p:txBody>
      </p:sp>
      <p:sp>
        <p:nvSpPr>
          <p:cNvPr id="151557" name="矩形 1"/>
          <p:cNvSpPr>
            <a:spLocks noChangeArrowheads="1"/>
          </p:cNvSpPr>
          <p:nvPr/>
        </p:nvSpPr>
        <p:spPr bwMode="auto">
          <a:xfrm>
            <a:off x="1066800" y="1752600"/>
            <a:ext cx="6934200" cy="4297136"/>
          </a:xfrm>
          <a:prstGeom prst="rect">
            <a:avLst/>
          </a:prstGeom>
          <a:solidFill>
            <a:srgbClr val="F8F6B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</a:rPr>
              <a:t>存在的问题：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</a:rPr>
              <a:t>1.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</a:rPr>
              <a:t>最后给出的短语，没有按照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</a:rPr>
              <a:t>P,Q,R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</a:rPr>
              <a:t>的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</a:rPr>
              <a:t>顺序，不是极小项。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</a:rPr>
              <a:t>2.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</a:rPr>
              <a:t>如有重复的极小项，只保留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个。</a:t>
            </a: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3.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没有掌握用推导法求主析取范式的方法！</a:t>
            </a: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4.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主析取范式极小项之间用“</a:t>
            </a:r>
            <a:r>
              <a:rPr lang="en-US" altLang="zh-CN" sz="2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”连接，</a:t>
            </a: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不可以用“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”连接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514350" indent="-51435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lang="en-US" altLang="zh-CN" sz="2800" b="0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P</a:t>
            </a:r>
            <a:r>
              <a:rPr lang="zh-CN" altLang="en-US" sz="2800" b="0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，而不是</a:t>
            </a:r>
            <a:r>
              <a:rPr lang="en-US" altLang="zh-CN" sz="2800" b="0" dirty="0" smtClean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 sz="2800" b="0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6.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极小项没有用括弧括起来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72A04-C9DE-4AB0-A8A2-623B494CDC73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cxnSp>
        <p:nvCxnSpPr>
          <p:cNvPr id="11" name="直接连接符 10"/>
          <p:cNvCxnSpPr/>
          <p:nvPr/>
        </p:nvCxnSpPr>
        <p:spPr bwMode="auto">
          <a:xfrm>
            <a:off x="3534662" y="4802520"/>
            <a:ext cx="215146" cy="0"/>
          </a:xfrm>
          <a:prstGeom prst="line">
            <a:avLst/>
          </a:prstGeom>
          <a:ln w="28575">
            <a:headEnd type="none" w="med" len="med"/>
            <a:tailEnd type="none" w="med" len="med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22681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685800"/>
            <a:ext cx="8985250" cy="57864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用形式演绎法证明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{P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Q, Q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R, P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M, 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M}</a:t>
            </a:r>
            <a:r>
              <a:rPr lang="zh-CN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共同蕴涵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zh-CN" altLang="zh-CN" sz="330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3300" smtClean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M			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sz="3300" smtClean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(2) P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M		</a:t>
            </a: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sz="3300" smtClean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P			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3300" smtClean="0">
                <a:solidFill>
                  <a:srgbClr val="FFC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en-US" altLang="zh-CN" sz="3300" smtClean="0">
                <a:solidFill>
                  <a:srgbClr val="FFFF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(1),(2)</a:t>
            </a:r>
            <a:endParaRPr lang="zh-CN" altLang="zh-CN" sz="3300" smtClean="0">
              <a:solidFill>
                <a:srgbClr val="FFFF00"/>
              </a:solidFill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(4) P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Q			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sz="3300" smtClean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(5) Q			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3300" smtClean="0">
                <a:solidFill>
                  <a:srgbClr val="FFC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en-US" altLang="zh-CN" sz="3300" smtClean="0">
                <a:solidFill>
                  <a:srgbClr val="FFC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(3),(4)</a:t>
            </a:r>
            <a:endParaRPr lang="zh-CN" altLang="zh-CN" sz="3300" smtClean="0">
              <a:solidFill>
                <a:srgbClr val="FFC000"/>
              </a:solidFill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(6) Q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R		</a:t>
            </a: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sz="3300" smtClean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(7) R			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3300" smtClean="0">
                <a:solidFill>
                  <a:srgbClr val="FFC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en-US" altLang="zh-CN" sz="3300" smtClean="0">
                <a:solidFill>
                  <a:srgbClr val="FFC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(5),(6)</a:t>
            </a:r>
            <a:endParaRPr lang="zh-CN" altLang="zh-CN" sz="3300" smtClean="0">
              <a:solidFill>
                <a:srgbClr val="FFC000"/>
              </a:solidFill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(8) R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Q)		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r>
              <a:rPr lang="en-US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30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3300" smtClean="0">
                <a:solidFill>
                  <a:srgbClr val="FFC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en-US" altLang="zh-CN" sz="3300" smtClean="0">
                <a:solidFill>
                  <a:srgbClr val="FFC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(4),(7)</a:t>
            </a:r>
            <a:endParaRPr lang="zh-CN" altLang="zh-CN" sz="3300" smtClean="0">
              <a:solidFill>
                <a:srgbClr val="FFC000"/>
              </a:solidFill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 smtClean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37565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C000"/>
                </a:solidFill>
                <a:effectLst/>
              </a:rPr>
              <a:t>第</a:t>
            </a:r>
            <a:r>
              <a:rPr lang="en-US" altLang="zh-CN" sz="3200" dirty="0" smtClean="0">
                <a:solidFill>
                  <a:srgbClr val="FFC000"/>
                </a:solidFill>
                <a:effectLst/>
              </a:rPr>
              <a:t>4</a:t>
            </a:r>
            <a:r>
              <a:rPr lang="zh-CN" altLang="en-US" sz="3200" dirty="0" smtClean="0">
                <a:solidFill>
                  <a:srgbClr val="FFC000"/>
                </a:solidFill>
                <a:effectLst/>
              </a:rPr>
              <a:t>次作业</a:t>
            </a:r>
            <a:endParaRPr lang="zh-CN" altLang="en-US" sz="3200" dirty="0" smtClean="0">
              <a:solidFill>
                <a:srgbClr val="FFC000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524000" y="1981199"/>
            <a:ext cx="6819900" cy="3929743"/>
          </a:xfrm>
          <a:prstGeom prst="rect">
            <a:avLst/>
          </a:prstGeom>
          <a:solidFill>
            <a:srgbClr val="F8F6B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存在的问题：</a:t>
            </a:r>
            <a:endParaRPr lang="en-US" altLang="zh-CN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1.</a:t>
            </a: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不写规则，不写根据</a:t>
            </a:r>
            <a:endParaRPr lang="en-US" altLang="zh-CN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2.</a:t>
            </a: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规则</a:t>
            </a:r>
            <a:r>
              <a:rPr lang="en-US" altLang="zh-CN" b="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，根据一堆公式，是</a:t>
            </a:r>
            <a:endParaRPr lang="en-US" altLang="zh-CN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错误的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endParaRPr lang="en-US" altLang="zh-CN" b="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3.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把</a:t>
            </a: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个已知</a:t>
            </a: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规则</a:t>
            </a: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连着写是不对的</a:t>
            </a:r>
            <a:endParaRPr lang="en-US" altLang="zh-CN" b="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4.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规则</a:t>
            </a: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，后面根据不能超过</a:t>
            </a: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个公式</a:t>
            </a:r>
            <a:endParaRPr lang="en-US" altLang="zh-CN" b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5.</a:t>
            </a:r>
            <a:r>
              <a:rPr lang="zh-CN" altLang="en-US" b="0" dirty="0">
                <a:solidFill>
                  <a:srgbClr val="000000"/>
                </a:solidFill>
                <a:ea typeface="宋体" panose="02010600030101010101" pitchFamily="2" charset="-122"/>
              </a:rPr>
              <a:t>没有掌握形式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演绎法！</a:t>
            </a:r>
            <a:endParaRPr lang="en-US" altLang="zh-CN" b="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 smtClean="0">
                <a:solidFill>
                  <a:srgbClr val="000000"/>
                </a:solidFill>
                <a:ea typeface="宋体" panose="02010600030101010101" pitchFamily="2" charset="-122"/>
              </a:rPr>
              <a:t>6.</a:t>
            </a:r>
            <a:r>
              <a:rPr lang="zh-CN" altLang="en-US" b="0" dirty="0" smtClean="0">
                <a:solidFill>
                  <a:srgbClr val="000000"/>
                </a:solidFill>
                <a:ea typeface="宋体" panose="02010600030101010101" pitchFamily="2" charset="-122"/>
              </a:rPr>
              <a:t>用其他非形式演绎法解题都是错的！</a:t>
            </a:r>
            <a:endParaRPr lang="zh-CN" altLang="en-US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5127A-11DF-435C-95AC-BD9C6A17B181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620877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2_LiSanfinalll">
  <a:themeElements>
    <a:clrScheme name="LiSanfinalll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LiSanfinalll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iSanfinalll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603</Words>
  <Application>Microsoft Office PowerPoint</Application>
  <PresentationFormat>全屏显示(4:3)</PresentationFormat>
  <Paragraphs>88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楷体_GB2312</vt:lpstr>
      <vt:lpstr>宋体</vt:lpstr>
      <vt:lpstr>Arial</vt:lpstr>
      <vt:lpstr>Calibri</vt:lpstr>
      <vt:lpstr>Symbol</vt:lpstr>
      <vt:lpstr>Times New Roman</vt:lpstr>
      <vt:lpstr>Wingdings</vt:lpstr>
      <vt:lpstr>2_LiSanfinalll</vt:lpstr>
      <vt:lpstr>第4次作业</vt:lpstr>
      <vt:lpstr>PowerPoint 演示文稿</vt:lpstr>
      <vt:lpstr>第4次作业</vt:lpstr>
      <vt:lpstr>第4次作业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11</cp:revision>
  <dcterms:created xsi:type="dcterms:W3CDTF">2022-04-09T04:12:56Z</dcterms:created>
  <dcterms:modified xsi:type="dcterms:W3CDTF">2023-04-15T01:39:02Z</dcterms:modified>
</cp:coreProperties>
</file>