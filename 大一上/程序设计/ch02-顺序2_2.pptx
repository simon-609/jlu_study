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89" r:id="rId3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699" r:id="rId14"/>
    <p:sldId id="700" r:id="rId15"/>
    <p:sldId id="633" r:id="rId16"/>
    <p:sldId id="634" r:id="rId17"/>
    <p:sldId id="635" r:id="rId18"/>
    <p:sldId id="636" r:id="rId19"/>
    <p:sldId id="637" r:id="rId20"/>
    <p:sldId id="638" r:id="rId21"/>
    <p:sldId id="639" r:id="rId22"/>
    <p:sldId id="640" r:id="rId23"/>
    <p:sldId id="641" r:id="rId24"/>
    <p:sldId id="688" r:id="rId25"/>
    <p:sldId id="687" r:id="rId26"/>
    <p:sldId id="686" r:id="rId27"/>
    <p:sldId id="645" r:id="rId28"/>
    <p:sldId id="646" r:id="rId29"/>
    <p:sldId id="647" r:id="rId30"/>
    <p:sldId id="648" r:id="rId31"/>
    <p:sldId id="649" r:id="rId32"/>
    <p:sldId id="650" r:id="rId33"/>
    <p:sldId id="652" r:id="rId34"/>
    <p:sldId id="653" r:id="rId35"/>
    <p:sldId id="655" r:id="rId36"/>
    <p:sldId id="656" r:id="rId37"/>
    <p:sldId id="658" r:id="rId38"/>
    <p:sldId id="407" r:id="rId39"/>
    <p:sldId id="354" r:id="rId40"/>
    <p:sldId id="565" r:id="rId41"/>
    <p:sldId id="355" r:id="rId42"/>
    <p:sldId id="357" r:id="rId43"/>
    <p:sldId id="509" r:id="rId44"/>
    <p:sldId id="510" r:id="rId45"/>
    <p:sldId id="511" r:id="rId46"/>
    <p:sldId id="512" r:id="rId47"/>
    <p:sldId id="550" r:id="rId48"/>
    <p:sldId id="552" r:id="rId49"/>
    <p:sldId id="513" r:id="rId50"/>
    <p:sldId id="514" r:id="rId51"/>
    <p:sldId id="515" r:id="rId52"/>
    <p:sldId id="364" r:id="rId53"/>
    <p:sldId id="527" r:id="rId54"/>
    <p:sldId id="367" r:id="rId55"/>
    <p:sldId id="516" r:id="rId56"/>
    <p:sldId id="517" r:id="rId57"/>
    <p:sldId id="370" r:id="rId58"/>
  </p:sldIdLst>
  <p:sldSz cx="12192000" cy="6858000"/>
  <p:notesSz cx="6858000" cy="9144000"/>
  <p:custDataLst>
    <p:tags r:id="rId6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705"/>
    <a:srgbClr val="9C1489"/>
    <a:srgbClr val="00FFFF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67"/>
      </p:cViewPr>
      <p:guideLst>
        <p:guide orient="horz" pos="2119"/>
        <p:guide pos="3744"/>
      </p:guideLst>
    </p:cSldViewPr>
  </p:slideViewPr>
  <p:outlineViewPr>
    <p:cViewPr>
      <p:scale>
        <a:sx n="33" d="100"/>
        <a:sy n="33" d="100"/>
      </p:scale>
      <p:origin x="0" y="165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tags" Target="tags/tag1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10D71E-61AD-428A-9ACA-E6248420309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78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98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952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972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993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013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float</a:t>
            </a:r>
            <a:r>
              <a:rPr lang="zh-CN" altLang="en-US" dirty="0"/>
              <a:t>和</a:t>
            </a:r>
            <a:r>
              <a:rPr lang="en-US" altLang="zh-CN" dirty="0"/>
              <a:t>double</a:t>
            </a:r>
            <a:r>
              <a:rPr lang="zh-CN" altLang="en-US" dirty="0"/>
              <a:t>的精度是由尾数的位数来决定的</a:t>
            </a:r>
            <a:endParaRPr lang="en-US" altLang="zh-CN" dirty="0"/>
          </a:p>
          <a:p>
            <a:pPr lvl="0"/>
            <a:r>
              <a:rPr lang="en-US" altLang="zh-CN" dirty="0"/>
              <a:t>float</a:t>
            </a:r>
            <a:r>
              <a:rPr lang="zh-CN" altLang="en-US" dirty="0"/>
              <a:t>：</a:t>
            </a:r>
            <a:r>
              <a:rPr lang="en-US" altLang="zh-CN" dirty="0"/>
              <a:t>  1bit</a:t>
            </a:r>
            <a:r>
              <a:rPr lang="zh-CN" altLang="en-US" dirty="0"/>
              <a:t>（符号位） </a:t>
            </a:r>
            <a:r>
              <a:rPr lang="en-US" altLang="zh-CN" dirty="0"/>
              <a:t>8bits</a:t>
            </a:r>
            <a:r>
              <a:rPr lang="zh-CN" altLang="en-US" dirty="0"/>
              <a:t>（指数位） </a:t>
            </a:r>
            <a:r>
              <a:rPr lang="en-US" altLang="zh-CN" dirty="0"/>
              <a:t>23bits</a:t>
            </a:r>
            <a:r>
              <a:rPr lang="zh-CN" altLang="en-US" dirty="0"/>
              <a:t>（尾数位）</a:t>
            </a:r>
            <a:br>
              <a:rPr lang="zh-CN" altLang="en-US" dirty="0"/>
            </a:br>
            <a:r>
              <a:rPr lang="en-US" altLang="zh-CN" dirty="0"/>
              <a:t>double</a:t>
            </a:r>
            <a:r>
              <a:rPr lang="zh-CN" altLang="en-US" dirty="0"/>
              <a:t>：</a:t>
            </a:r>
            <a:r>
              <a:rPr lang="en-US" altLang="zh-CN" dirty="0"/>
              <a:t>  1bit</a:t>
            </a:r>
            <a:r>
              <a:rPr lang="zh-CN" altLang="en-US" dirty="0"/>
              <a:t>（符号位） </a:t>
            </a:r>
            <a:r>
              <a:rPr lang="en-US" altLang="zh-CN" dirty="0"/>
              <a:t>11bits</a:t>
            </a:r>
            <a:r>
              <a:rPr lang="zh-CN" altLang="en-US" dirty="0"/>
              <a:t>（指数位） </a:t>
            </a:r>
            <a:r>
              <a:rPr lang="en-US" altLang="zh-CN" dirty="0"/>
              <a:t>52bits</a:t>
            </a:r>
            <a:r>
              <a:rPr lang="zh-CN" altLang="en-US" dirty="0"/>
              <a:t>（尾数位）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float</a:t>
            </a:r>
            <a:r>
              <a:rPr lang="zh-CN" altLang="en-US" dirty="0"/>
              <a:t>：</a:t>
            </a:r>
            <a:r>
              <a:rPr lang="en-US" altLang="zh-CN" dirty="0"/>
              <a:t>2^23 = 8388608</a:t>
            </a:r>
            <a:r>
              <a:rPr lang="zh-CN" altLang="en-US" dirty="0"/>
              <a:t>，一共七位，这意味着最多能有</a:t>
            </a:r>
            <a:r>
              <a:rPr lang="en-US" altLang="zh-CN" dirty="0"/>
              <a:t>7</a:t>
            </a:r>
            <a:r>
              <a:rPr lang="zh-CN" altLang="en-US" dirty="0"/>
              <a:t>位有效数字，但绝对能保证的为</a:t>
            </a:r>
            <a:r>
              <a:rPr lang="en-US" altLang="zh-CN" dirty="0"/>
              <a:t>6</a:t>
            </a:r>
            <a:r>
              <a:rPr lang="zh-CN" altLang="en-US" dirty="0"/>
              <a:t>位，也即</a:t>
            </a:r>
            <a:r>
              <a:rPr lang="en-US" altLang="zh-CN" dirty="0"/>
              <a:t>float</a:t>
            </a:r>
            <a:r>
              <a:rPr lang="zh-CN" altLang="en-US" dirty="0"/>
              <a:t>的精度为</a:t>
            </a:r>
            <a:r>
              <a:rPr lang="en-US" altLang="zh-CN" dirty="0"/>
              <a:t>6~7</a:t>
            </a:r>
            <a:r>
              <a:rPr lang="zh-CN" altLang="en-US" dirty="0"/>
              <a:t>位有效数字；</a:t>
            </a:r>
            <a:br>
              <a:rPr lang="zh-CN" altLang="en-US" dirty="0"/>
            </a:br>
            <a:r>
              <a:rPr lang="en-US" altLang="zh-CN" dirty="0"/>
              <a:t>double</a:t>
            </a:r>
            <a:r>
              <a:rPr lang="zh-CN" altLang="en-US" dirty="0"/>
              <a:t>：</a:t>
            </a:r>
            <a:r>
              <a:rPr lang="en-US" altLang="zh-CN" dirty="0"/>
              <a:t>2^52 = 4503599627370496</a:t>
            </a:r>
            <a:r>
              <a:rPr lang="zh-CN" altLang="en-US" dirty="0"/>
              <a:t>，一共</a:t>
            </a:r>
            <a:r>
              <a:rPr lang="en-US" altLang="zh-CN" dirty="0"/>
              <a:t>16</a:t>
            </a:r>
            <a:r>
              <a:rPr lang="zh-CN" altLang="en-US" dirty="0"/>
              <a:t>位，同理，</a:t>
            </a:r>
            <a:r>
              <a:rPr lang="en-US" altLang="zh-CN" dirty="0"/>
              <a:t>double</a:t>
            </a:r>
            <a:r>
              <a:rPr lang="zh-CN" altLang="en-US" dirty="0"/>
              <a:t>的精度为</a:t>
            </a:r>
            <a:r>
              <a:rPr lang="en-US" altLang="zh-CN" dirty="0"/>
              <a:t>15~16</a:t>
            </a:r>
            <a:r>
              <a:rPr lang="zh-CN" altLang="en-US" dirty="0"/>
              <a:t>位。</a:t>
            </a:r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054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075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095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36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x</a:t>
            </a:r>
            <a:r>
              <a:rPr lang="zh-CN" altLang="en-US" dirty="0"/>
              <a:t>的值被强制转换为实型，但是并不改变的</a:t>
            </a:r>
            <a:r>
              <a:rPr lang="en-US" altLang="zh-CN" dirty="0"/>
              <a:t>x</a:t>
            </a:r>
            <a:r>
              <a:rPr lang="zh-CN" altLang="en-US" dirty="0"/>
              <a:t>类型是整型。只是在参与运算处理时按照实型处理。 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57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77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208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228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269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290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331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buChar char="•"/>
            </a:pPr>
            <a:r>
              <a:rPr lang="zh-CN" altLang="en-US" dirty="0"/>
              <a:t>先将较低类型的数据提升为较高的类型，从而使两者的数据类型一致（但数值不变），然后再进行计算，其结果是较高类型的数据。</a:t>
            </a:r>
            <a:endParaRPr lang="zh-CN" altLang="en-US" dirty="0"/>
          </a:p>
          <a:p>
            <a:pPr lvl="0" eaLnBrk="1" hangingPunct="1">
              <a:buChar char="•"/>
            </a:pPr>
            <a:r>
              <a:rPr lang="zh-CN" altLang="en-US" dirty="0"/>
              <a:t>数据类型的高低是根据其类型所占空间的大小来判定，占用空间越大，类型越高。反之越低。 </a:t>
            </a:r>
            <a:endParaRPr lang="zh-CN" altLang="en-US" dirty="0"/>
          </a:p>
          <a:p>
            <a:pPr lvl="0" eaLnBrk="1" hangingPunct="1">
              <a:buChar char="•"/>
            </a:pPr>
            <a:r>
              <a:rPr lang="zh-CN" altLang="en-US" dirty="0"/>
              <a:t>如果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的类型都是</a:t>
            </a:r>
            <a:r>
              <a:rPr lang="en-US" altLang="zh-CN" dirty="0"/>
              <a:t>int</a:t>
            </a:r>
            <a:r>
              <a:rPr lang="zh-CN" altLang="en-US" dirty="0"/>
              <a:t>型变量，则</a:t>
            </a:r>
            <a:r>
              <a:rPr lang="en-US" altLang="zh-CN" dirty="0"/>
              <a:t>x+y</a:t>
            </a:r>
            <a:r>
              <a:rPr lang="zh-CN" altLang="en-US" dirty="0"/>
              <a:t>的结果自然是</a:t>
            </a:r>
            <a:r>
              <a:rPr lang="en-US" altLang="zh-CN" dirty="0"/>
              <a:t>int</a:t>
            </a:r>
            <a:r>
              <a:rPr lang="zh-CN" altLang="en-US" dirty="0"/>
              <a:t>型。如果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short</a:t>
            </a:r>
            <a:r>
              <a:rPr lang="zh-CN" altLang="en-US" dirty="0"/>
              <a:t>型而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int</a:t>
            </a:r>
            <a:r>
              <a:rPr lang="zh-CN" altLang="en-US" dirty="0"/>
              <a:t>型，则需要首先将</a:t>
            </a:r>
            <a:r>
              <a:rPr lang="en-US" altLang="zh-CN" dirty="0"/>
              <a:t>x</a:t>
            </a:r>
            <a:r>
              <a:rPr lang="zh-CN" altLang="en-US" dirty="0"/>
              <a:t>转换为</a:t>
            </a:r>
            <a:r>
              <a:rPr lang="en-US" altLang="zh-CN" dirty="0"/>
              <a:t>int</a:t>
            </a:r>
            <a:r>
              <a:rPr lang="zh-CN" altLang="en-US" dirty="0"/>
              <a:t>型，然后再与</a:t>
            </a:r>
            <a:r>
              <a:rPr lang="en-US" altLang="zh-CN" dirty="0"/>
              <a:t>y</a:t>
            </a:r>
            <a:r>
              <a:rPr lang="zh-CN" altLang="en-US" dirty="0"/>
              <a:t>进行加法计算，表达式的结果为</a:t>
            </a:r>
            <a:r>
              <a:rPr lang="en-US" altLang="zh-CN" dirty="0"/>
              <a:t>int</a:t>
            </a:r>
            <a:r>
              <a:rPr lang="zh-CN" altLang="en-US" dirty="0"/>
              <a:t>型。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351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/>
              <a:t>在赋值类型转换时要注意数值的范围不能溢出。即要在该数据类型允许的范围内。</a:t>
            </a:r>
            <a:endParaRPr lang="zh-CN" altLang="en-US" b="1" dirty="0"/>
          </a:p>
          <a:p>
            <a:pPr lvl="0" eaLnBrk="1" hangingPunct="1"/>
            <a:r>
              <a:rPr lang="zh-CN" altLang="en-US" b="1" dirty="0"/>
              <a:t>如果右侧变量数据类型长度比左侧的长时，将丢失一部分数据，从而造成数据精度的降低。 </a:t>
            </a:r>
            <a:br>
              <a:rPr lang="zh-CN" altLang="en-US" b="1" dirty="0"/>
            </a:br>
            <a:endParaRPr lang="zh-CN" altLang="en-US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392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x</a:t>
            </a:r>
            <a:r>
              <a:rPr lang="zh-CN" altLang="en-US" dirty="0"/>
              <a:t>的值被强制转换为实型，但是并不改变的</a:t>
            </a:r>
            <a:r>
              <a:rPr lang="en-US" altLang="zh-CN" dirty="0"/>
              <a:t>x</a:t>
            </a:r>
            <a:r>
              <a:rPr lang="zh-CN" altLang="en-US" dirty="0"/>
              <a:t>类型是整型。只是在参与运算处理时按照实型处理。 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65+48=113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96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37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（例：</a:t>
            </a:r>
            <a:r>
              <a:rPr lang="en-US" altLang="zh-CN" dirty="0"/>
              <a:t>ch02_scanf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614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举两个变量互换值的例子和函数体的意义，尤其强调</a:t>
            </a:r>
            <a:r>
              <a:rPr lang="en-US" altLang="zh-CN" dirty="0"/>
              <a:t>return</a:t>
            </a:r>
            <a:r>
              <a:rPr lang="zh-CN" altLang="en-US" dirty="0"/>
              <a:t>语句的意义是改变程序执行的顺序。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11277600" cy="5943600"/>
            <a:chOff x="0" y="0"/>
            <a:chExt cx="5328" cy="3744"/>
          </a:xfrm>
        </p:grpSpPr>
        <p:sp>
          <p:nvSpPr>
            <p:cNvPr id="13" name="Freeform 3"/>
            <p:cNvSpPr/>
            <p:nvPr/>
          </p:nvSpPr>
          <p:spPr bwMode="hidden">
            <a:xfrm>
              <a:off x="0" y="1440"/>
              <a:ext cx="5155" cy="2304"/>
            </a:xfrm>
            <a:custGeom>
              <a:avLst/>
              <a:gdLst/>
              <a:ahLst/>
              <a:cxnLst>
                <a:cxn ang="0">
                  <a:pos x="5154" y="1769"/>
                </a:cxn>
                <a:cxn ang="0">
                  <a:pos x="0" y="2304"/>
                </a:cxn>
                <a:cxn ang="0">
                  <a:pos x="0" y="1252"/>
                </a:cxn>
                <a:cxn ang="0">
                  <a:pos x="5155" y="0"/>
                </a:cxn>
                <a:cxn ang="0">
                  <a:pos x="5155" y="1416"/>
                </a:cxn>
                <a:cxn ang="0">
                  <a:pos x="5154" y="1769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Freeform 4"/>
            <p:cNvSpPr/>
            <p:nvPr/>
          </p:nvSpPr>
          <p:spPr>
            <a:xfrm>
              <a:off x="0" y="0"/>
              <a:ext cx="5328" cy="3689"/>
            </a:xfrm>
            <a:custGeom>
              <a:avLst/>
              <a:gdLst/>
              <a:ahLst/>
              <a:cxnLst>
                <a:cxn ang="0">
                  <a:pos x="5311" y="3209"/>
                </a:cxn>
                <a:cxn ang="0">
                  <a:pos x="0" y="3689"/>
                </a:cxn>
                <a:cxn ang="0">
                  <a:pos x="0" y="9"/>
                </a:cxn>
                <a:cxn ang="0">
                  <a:pos x="5328" y="0"/>
                </a:cxn>
                <a:cxn ang="0">
                  <a:pos x="5311" y="3209"/>
                </a:cxn>
              </a:cxnLst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6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C3677F-34AD-46F0-9896-E3014D98A0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2A79A1-872A-45FB-9AD2-1897B388214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EF22B5-22BD-4B35-84F0-FF3FA153D09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4FD892-1007-49BD-AD23-41507F5E678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35820B-5347-4EF3-A604-5DE14DD8B6D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4F88AD-82A4-4BB7-9D33-854DE4CA0EF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6BA98B-D907-4921-9B3D-86140E39C15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1B786C-B93E-4A4A-AB04-FE238EFCB3C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4FED80-7669-454D-AABA-987213C1990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94538-F277-4FF5-B65A-8D1ACF67522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19D908-C46E-4341-A716-5003915A8E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951C83-C2FD-4572-9B2A-4A132066AE5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8441F6-8E27-47B9-BB54-6266B9F1B8B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0C6E87-3EC7-4F78-AFB1-10E6E7A65F7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D12F23-1C0A-4DFF-867D-B823FC15BFD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34479-BDDB-4408-827E-BEC99F0F7EE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C28EA1-2F1D-4A15-B035-98386C07DB9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656763" cy="1981200"/>
            <a:chOff x="0" y="0"/>
            <a:chExt cx="4562" cy="1248"/>
          </a:xfrm>
        </p:grpSpPr>
        <p:sp>
          <p:nvSpPr>
            <p:cNvPr id="10243" name="Freeform 3"/>
            <p:cNvSpPr/>
            <p:nvPr/>
          </p:nvSpPr>
          <p:spPr bwMode="hidden">
            <a:xfrm>
              <a:off x="0" y="583"/>
              <a:ext cx="4487" cy="665"/>
            </a:xfrm>
            <a:custGeom>
              <a:avLst/>
              <a:gdLst/>
              <a:ahLst/>
              <a:cxnLst>
                <a:cxn ang="0">
                  <a:pos x="4800" y="299"/>
                </a:cxn>
                <a:cxn ang="0">
                  <a:pos x="0" y="665"/>
                </a:cxn>
                <a:cxn ang="0">
                  <a:pos x="0" y="0"/>
                </a:cxn>
                <a:cxn ang="0">
                  <a:pos x="4806" y="1"/>
                </a:cxn>
                <a:cxn ang="0">
                  <a:pos x="4800" y="153"/>
                </a:cxn>
                <a:cxn ang="0">
                  <a:pos x="4800" y="299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Freeform 4"/>
            <p:cNvSpPr/>
            <p:nvPr/>
          </p:nvSpPr>
          <p:spPr>
            <a:xfrm>
              <a:off x="0" y="0"/>
              <a:ext cx="4562" cy="1199"/>
            </a:xfrm>
            <a:custGeom>
              <a:avLst/>
              <a:gdLst/>
              <a:ahLst/>
              <a:cxnLst>
                <a:cxn ang="0">
                  <a:pos x="4560" y="932"/>
                </a:cxn>
                <a:cxn ang="0">
                  <a:pos x="0" y="1199"/>
                </a:cxn>
                <a:cxn ang="0">
                  <a:pos x="0" y="0"/>
                </a:cxn>
                <a:cxn ang="0">
                  <a:pos x="4562" y="0"/>
                </a:cxn>
                <a:cxn ang="0">
                  <a:pos x="4560" y="932"/>
                </a:cxn>
              </a:cxnLst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575B91-D421-472E-9E00-DA5A8D960BF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hyperlink" Target="&#20363;&#39064;&#31243;&#24207;201409\ch02\ch02_define\Debug\defineTest.exe" TargetMode="External"/><Relationship Id="rId1" Type="http://schemas.openxmlformats.org/officeDocument/2006/relationships/hyperlink" Target="file:///C:\Documents%20and%20Settings\Administrator\&#26700;&#38754;\&#36719;&#20214;&#23398;&#38498;2008&#32423;&#19978;&#35838;\&#20363;&#39064;&#31243;&#24207;\ch02\ch02_01\Debug\ch02_01.ex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slide" Target="slide5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slide" Target="slide39.xml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" Target="slide39.xml"/><Relationship Id="rId1" Type="http://schemas.openxmlformats.org/officeDocument/2006/relationships/slide" Target="slide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9C0E38-7756-40A6-B53D-7B259DD9DA6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6402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2192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(ii)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反斜杠后跟一个八进制或十六进制整数，表示的字符是：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ASCII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码值为相应整数的字符。例如   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\52’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</a:t>
            </a:r>
            <a:r>
              <a:rPr lang="en-US" altLang="zh-CN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\101’ 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\141’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</a:t>
            </a:r>
            <a:r>
              <a:rPr lang="en-US" altLang="zh-CN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\x41’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\x61’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\0’ 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6403" name="Text Box 3"/>
          <p:cNvSpPr txBox="1">
            <a:spLocks noChangeArrowheads="1"/>
          </p:cNvSpPr>
          <p:nvPr/>
        </p:nvSpPr>
        <p:spPr bwMode="auto">
          <a:xfrm>
            <a:off x="7138988" y="1358900"/>
            <a:ext cx="5029200" cy="547751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如何将字符常量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’A’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存入变量</a:t>
            </a:r>
            <a:r>
              <a:rPr kumimoji="0" lang="en-US" altLang="zh-CN" sz="2800" kern="1200" cap="none" spc="0" normalizeH="0" baseline="0" noProof="0" dirty="0" err="1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？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 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\101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\x41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65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2800" noProof="0" dirty="0">
                <a:sym typeface="+mn-ea"/>
              </a:rPr>
              <a:t>”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%c”,&amp;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//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(); //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64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64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23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6403">
                                            <p:txEl>
                                              <p:charRg st="23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3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6403">
                                            <p:txEl>
                                              <p:charRg st="32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6403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6403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6403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6403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6403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6403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6403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6403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110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6403">
                                            <p:txEl>
                                              <p:charRg st="110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6403">
                                            <p:txEl>
                                              <p:charRg st="110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uiExpan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E883A7-88B7-48F8-8F86-D7FDA645466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229600" cy="609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(2)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符号常量</a:t>
            </a: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: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用一个标识符代表常量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>
          <a:xfrm>
            <a:off x="0" y="685800"/>
            <a:ext cx="10668000" cy="6172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为什么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一个常量多次用到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方便修改常量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数据保护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如何声明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#define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标识符  常量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PASS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60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#define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3.14159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#define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EPS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1E-5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习惯上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符号常量用大写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变量名用小写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以示区别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103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8451">
                                            <p:txEl>
                                              <p:charRg st="103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97F84A-6495-409D-AD21-C4EE249FC0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9474" name="Rectangle 2"/>
          <p:cNvSpPr>
            <a:spLocks noGrp="1" noChangeArrowheads="1"/>
          </p:cNvSpPr>
          <p:nvPr>
            <p:ph idx="1"/>
          </p:nvPr>
        </p:nvSpPr>
        <p:spPr>
          <a:xfrm>
            <a:off x="887730" y="973455"/>
            <a:ext cx="4477385" cy="4711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#define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3.1415926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#define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10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float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x=2*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y=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9475" name="Rectangle 3"/>
          <p:cNvSpPr>
            <a:spLocks noChangeArrowheads="1"/>
          </p:cNvSpPr>
          <p:nvPr/>
        </p:nvSpPr>
        <p:spPr bwMode="auto">
          <a:xfrm>
            <a:off x="6960235" y="1117600"/>
            <a:ext cx="5154295" cy="34912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float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x=2*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3.1415926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y=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3.1415926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return 0;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9476" name="AutoShape 4"/>
          <p:cNvSpPr/>
          <p:nvPr/>
        </p:nvSpPr>
        <p:spPr>
          <a:xfrm>
            <a:off x="4979988" y="2781300"/>
            <a:ext cx="1081087" cy="647700"/>
          </a:xfrm>
          <a:prstGeom prst="rightArrow">
            <a:avLst>
              <a:gd name="adj1" fmla="val 50000"/>
              <a:gd name="adj2" fmla="val 4172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76806" name="Text Box 5"/>
          <p:cNvSpPr txBox="1"/>
          <p:nvPr/>
        </p:nvSpPr>
        <p:spPr>
          <a:xfrm>
            <a:off x="2971800" y="5715000"/>
            <a:ext cx="5257800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宏替换：简单的字符替换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76807" name="AutoShape 7"/>
          <p:cNvSpPr/>
          <p:nvPr/>
        </p:nvSpPr>
        <p:spPr>
          <a:xfrm>
            <a:off x="1052513" y="228600"/>
            <a:ext cx="1524000" cy="609600"/>
          </a:xfrm>
          <a:prstGeom prst="wedgeEllipseCallout">
            <a:avLst>
              <a:gd name="adj1" fmla="val 51250"/>
              <a:gd name="adj2" fmla="val 825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宏名</a:t>
            </a:r>
            <a:endParaRPr lang="zh-CN" altLang="en-US" b="1" dirty="0"/>
          </a:p>
        </p:txBody>
      </p:sp>
      <p:sp>
        <p:nvSpPr>
          <p:cNvPr id="76808" name="AutoShape 8"/>
          <p:cNvSpPr/>
          <p:nvPr/>
        </p:nvSpPr>
        <p:spPr>
          <a:xfrm>
            <a:off x="3455988" y="258763"/>
            <a:ext cx="1524000" cy="609600"/>
          </a:xfrm>
          <a:prstGeom prst="wedgeEllipseCallout">
            <a:avLst>
              <a:gd name="adj1" fmla="val -38125"/>
              <a:gd name="adj2" fmla="val 8489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宏体</a:t>
            </a:r>
            <a:endParaRPr lang="zh-CN" alt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5" grpId="0" bldLvl="0" animBg="1"/>
      <p:bldP spid="48947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01CE0C-1A41-47E1-8907-6CC7919A6EA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241300"/>
            <a:ext cx="4191000" cy="5194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思考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运行结果？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#include&lt;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#define M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3+4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int main(){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y=M*M;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printf(“%d\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n”,y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return 0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}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3571" name="AutoShape 3"/>
          <p:cNvSpPr/>
          <p:nvPr/>
        </p:nvSpPr>
        <p:spPr>
          <a:xfrm>
            <a:off x="5167313" y="2514600"/>
            <a:ext cx="1081087" cy="647700"/>
          </a:xfrm>
          <a:prstGeom prst="rightArrow">
            <a:avLst>
              <a:gd name="adj1" fmla="val 50000"/>
              <a:gd name="adj2" fmla="val 4172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493572" name="Rectangle 4"/>
          <p:cNvSpPr>
            <a:spLocks noChangeArrowheads="1"/>
          </p:cNvSpPr>
          <p:nvPr/>
        </p:nvSpPr>
        <p:spPr bwMode="auto">
          <a:xfrm>
            <a:off x="7620000" y="0"/>
            <a:ext cx="3886200" cy="464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y;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y=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3+4*3+4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printf(“%d\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n”,y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return 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4" name="AutoShape 5">
            <a:hlinkClick r:id="rId1" action="ppaction://program"/>
          </p:cNvPr>
          <p:cNvSpPr/>
          <p:nvPr/>
        </p:nvSpPr>
        <p:spPr>
          <a:xfrm>
            <a:off x="263525" y="5989638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2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493574" name="Text Box 6"/>
          <p:cNvSpPr txBox="1">
            <a:spLocks noChangeArrowheads="1"/>
          </p:cNvSpPr>
          <p:nvPr/>
        </p:nvSpPr>
        <p:spPr bwMode="auto">
          <a:xfrm>
            <a:off x="3602038" y="5337175"/>
            <a:ext cx="8596313" cy="1169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符号常量在其作用域内不能改变，也不能再被赋值</a:t>
            </a:r>
            <a:endParaRPr kumimoji="0" lang="en-US" altLang="zh-CN" sz="28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M=40;</a:t>
            </a:r>
            <a:endParaRPr kumimoji="0" lang="en-US" altLang="zh-CN" sz="28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5032375" y="6096000"/>
            <a:ext cx="271463" cy="381000"/>
            <a:chOff x="2789" y="482"/>
            <a:chExt cx="2767" cy="2540"/>
          </a:xfrm>
        </p:grpSpPr>
        <p:sp>
          <p:nvSpPr>
            <p:cNvPr id="78858" name="Line 8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59" name="Line 9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8090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3" y="5618163"/>
            <a:ext cx="2514600" cy="1235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1" grpId="0" bldLvl="0" animBg="1"/>
      <p:bldP spid="493572" grpId="0" bldLvl="0" animBg="1"/>
      <p:bldP spid="49357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F8FCD1-0D23-4FD4-873C-FE0D0B772CD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31" name="Text Box 11"/>
          <p:cNvSpPr txBox="1"/>
          <p:nvPr/>
        </p:nvSpPr>
        <p:spPr>
          <a:xfrm>
            <a:off x="457200" y="152400"/>
            <a:ext cx="10532745" cy="353822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1" dirty="0"/>
              <a:t>宏定义是预处理命令</a:t>
            </a:r>
            <a:r>
              <a:rPr lang="en-US" altLang="zh-CN" b="1" dirty="0"/>
              <a:t>,</a:t>
            </a:r>
            <a:r>
              <a:rPr lang="zh-CN" altLang="en-US" b="1" dirty="0"/>
              <a:t>不是</a:t>
            </a:r>
            <a:r>
              <a:rPr lang="en-US" altLang="zh-CN" b="1" dirty="0"/>
              <a:t>C</a:t>
            </a:r>
            <a:r>
              <a:rPr lang="zh-CN" altLang="en-US" b="1" dirty="0"/>
              <a:t>语句，不能有分号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/>
              <a:t>#define PI 3.14;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1" dirty="0"/>
              <a:t>一个宏定义占一行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#define PI 3.14 #define R 10</a:t>
            </a:r>
            <a:endParaRPr lang="zh-CN" altLang="en-US" b="1" dirty="0"/>
          </a:p>
        </p:txBody>
      </p:sp>
      <p:grpSp>
        <p:nvGrpSpPr>
          <p:cNvPr id="3" name="Group 13"/>
          <p:cNvGrpSpPr/>
          <p:nvPr/>
        </p:nvGrpSpPr>
        <p:grpSpPr>
          <a:xfrm>
            <a:off x="6705600" y="3124200"/>
            <a:ext cx="304800" cy="541338"/>
            <a:chOff x="2789" y="482"/>
            <a:chExt cx="2767" cy="2540"/>
          </a:xfrm>
        </p:grpSpPr>
        <p:sp>
          <p:nvSpPr>
            <p:cNvPr id="80906" name="Line 14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07" name="Line 15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0904" name="AutoShape 10">
            <a:hlinkClick r:id="rId1" action="ppaction://hlinksldjump"/>
          </p:cNvPr>
          <p:cNvSpPr/>
          <p:nvPr/>
        </p:nvSpPr>
        <p:spPr>
          <a:xfrm>
            <a:off x="11506200" y="5700713"/>
            <a:ext cx="685800" cy="457200"/>
          </a:xfrm>
          <a:prstGeom prst="curvedUpArrow">
            <a:avLst>
              <a:gd name="adj1" fmla="val 30000"/>
              <a:gd name="adj2" fmla="val 60000"/>
              <a:gd name="adj3" fmla="val 33328"/>
            </a:avLst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384810" y="4191000"/>
            <a:ext cx="11807190" cy="2553335"/>
          </a:xfrm>
          <a:prstGeom prst="rect">
            <a:avLst/>
          </a:prstGeom>
          <a:noFill/>
          <a:ln>
            <a:solidFill>
              <a:srgbClr val="92D050"/>
            </a:solidFill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预处理：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预处理过程先于编译器对源代码进行处理，该过程扫描源代码，对其进行初步的转换，产生新的源代码提供给编译器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文件包含 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宏定义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条件编译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4343400" y="990600"/>
            <a:ext cx="304800" cy="541338"/>
            <a:chOff x="2789" y="482"/>
            <a:chExt cx="2767" cy="2540"/>
          </a:xfrm>
        </p:grpSpPr>
        <p:sp>
          <p:nvSpPr>
            <p:cNvPr id="4" name="Line 14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" name="Line 15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6" name="图片 3"/>
          <p:cNvPicPr>
            <a:picLocks noChangeAspect="1"/>
          </p:cNvPicPr>
          <p:nvPr/>
        </p:nvPicPr>
        <p:blipFill>
          <a:blip r:embed="rId1"/>
          <a:srcRect t="61867"/>
          <a:stretch>
            <a:fillRect/>
          </a:stretch>
        </p:blipFill>
        <p:spPr>
          <a:xfrm>
            <a:off x="0" y="4191000"/>
            <a:ext cx="10608310" cy="2573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0" y="0"/>
            <a:ext cx="82296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2948" name="图片 3"/>
          <p:cNvPicPr>
            <a:picLocks noChangeAspect="1"/>
          </p:cNvPicPr>
          <p:nvPr/>
        </p:nvPicPr>
        <p:blipFill>
          <a:blip r:embed="rId1"/>
          <a:srcRect b="46754"/>
          <a:stretch>
            <a:fillRect/>
          </a:stretch>
        </p:blipFill>
        <p:spPr>
          <a:xfrm>
            <a:off x="0" y="609600"/>
            <a:ext cx="10608310" cy="36220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85F73C-25AD-4B03-8CB2-E5D0383203D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  量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4575175"/>
            <a:ext cx="10304463" cy="1444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这些在程序执行期间值可变的数据对象称为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(Variable)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程序设计语言中变量的概念与数学中变量的概念类似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5620" name="Rectangle 4"/>
          <p:cNvSpPr>
            <a:spLocks noChangeArrowheads="1"/>
          </p:cNvSpPr>
          <p:nvPr/>
        </p:nvSpPr>
        <p:spPr bwMode="auto">
          <a:xfrm>
            <a:off x="180975" y="454025"/>
            <a:ext cx="10133013" cy="365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1.1】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鸡兔同笼问题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 ,y;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=(4*35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94)/2;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计算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=35-x;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printf("%d %d",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return 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601200" y="6324283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B20912-B299-440D-B090-6F66035E96B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6642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52400"/>
            <a:ext cx="9753600" cy="5410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是程序执行期间值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可变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的数据对象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变量值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：程序运行某一刻，变量具有的值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变量属性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名字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数据类型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存储空间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存储地址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作用域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72005" y="5377180"/>
            <a:ext cx="8747760" cy="1069340"/>
            <a:chOff x="3263" y="8468"/>
            <a:chExt cx="13776" cy="1684"/>
          </a:xfrm>
        </p:grpSpPr>
        <p:grpSp>
          <p:nvGrpSpPr>
            <p:cNvPr id="2" name="Group 3"/>
            <p:cNvGrpSpPr/>
            <p:nvPr/>
          </p:nvGrpSpPr>
          <p:grpSpPr>
            <a:xfrm>
              <a:off x="5647" y="8640"/>
              <a:ext cx="5273" cy="1513"/>
              <a:chOff x="1375" y="3421"/>
              <a:chExt cx="1967" cy="605"/>
            </a:xfrm>
          </p:grpSpPr>
          <p:sp>
            <p:nvSpPr>
              <p:cNvPr id="86026" name="Text Box 4"/>
              <p:cNvSpPr txBox="1"/>
              <p:nvPr/>
            </p:nvSpPr>
            <p:spPr>
              <a:xfrm>
                <a:off x="2201" y="3737"/>
                <a:ext cx="1141" cy="2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5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86027" name="Text Box 5"/>
              <p:cNvSpPr txBox="1"/>
              <p:nvPr/>
            </p:nvSpPr>
            <p:spPr>
              <a:xfrm>
                <a:off x="2201" y="3421"/>
                <a:ext cx="335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V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86028" name="Text Box 6"/>
              <p:cNvSpPr txBox="1"/>
              <p:nvPr/>
            </p:nvSpPr>
            <p:spPr>
              <a:xfrm>
                <a:off x="1375" y="3697"/>
                <a:ext cx="76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/>
                  <a:t>0F000:</a:t>
                </a:r>
                <a:endParaRPr lang="en-US" altLang="zh-CN" sz="2400" b="1" dirty="0"/>
              </a:p>
            </p:txBody>
          </p:sp>
        </p:grpSp>
        <p:sp>
          <p:nvSpPr>
            <p:cNvPr id="497671" name="AutoShape 7"/>
            <p:cNvSpPr/>
            <p:nvPr/>
          </p:nvSpPr>
          <p:spPr>
            <a:xfrm>
              <a:off x="3263" y="8468"/>
              <a:ext cx="3577" cy="792"/>
            </a:xfrm>
            <a:prstGeom prst="wedgeEllipseCallout">
              <a:avLst>
                <a:gd name="adj1" fmla="val 62815"/>
                <a:gd name="adj2" fmla="val 70190"/>
              </a:avLst>
            </a:prstGeom>
            <a:noFill/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变量地址</a:t>
              </a:r>
              <a:endParaRPr lang="zh-CN" altLang="en-US" sz="2400" b="1" dirty="0"/>
            </a:p>
          </p:txBody>
        </p:sp>
        <p:sp>
          <p:nvSpPr>
            <p:cNvPr id="497674" name="AutoShape 10"/>
            <p:cNvSpPr/>
            <p:nvPr/>
          </p:nvSpPr>
          <p:spPr>
            <a:xfrm>
              <a:off x="11995" y="9120"/>
              <a:ext cx="5045" cy="950"/>
            </a:xfrm>
            <a:prstGeom prst="wedgeEllipseCallout">
              <a:avLst>
                <a:gd name="adj1" fmla="val -73968"/>
                <a:gd name="adj2" fmla="val 17630"/>
              </a:avLst>
            </a:prstGeom>
            <a:noFill/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变量的存储区</a:t>
              </a:r>
              <a:endParaRPr lang="zh-CN" altLang="en-US" sz="2400" b="1" dirty="0"/>
            </a:p>
          </p:txBody>
        </p:sp>
      </p:grpSp>
      <p:sp>
        <p:nvSpPr>
          <p:cNvPr id="497675" name="Rectangle 11"/>
          <p:cNvSpPr>
            <a:spLocks noChangeArrowheads="1"/>
          </p:cNvSpPr>
          <p:nvPr/>
        </p:nvSpPr>
        <p:spPr bwMode="auto">
          <a:xfrm>
            <a:off x="4519930" y="3645535"/>
            <a:ext cx="2638425" cy="645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v=5;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91E9A-B132-4966-99A8-B8B70E01095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10398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变量定义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99715" name="Rectangle 3"/>
          <p:cNvSpPr>
            <a:spLocks noGrp="1" noChangeArrowheads="1"/>
          </p:cNvSpPr>
          <p:nvPr>
            <p:ph idx="1"/>
          </p:nvPr>
        </p:nvSpPr>
        <p:spPr>
          <a:xfrm>
            <a:off x="3175" y="1202055"/>
            <a:ext cx="7037070" cy="507809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引进新变量，并规定所引变量的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属性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一般形式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id , id , ... , id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float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ab,bd,ad,bc,cd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;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b="1" kern="12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int</a:t>
            </a:r>
            <a:r>
              <a:rPr lang="en-US" altLang="zh-CN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i , j , k=5 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	</a:t>
            </a:r>
            <a:r>
              <a:rPr lang="en-US" altLang="zh-CN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char</a:t>
            </a: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c 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</a:t>
            </a:r>
            <a:r>
              <a:rPr lang="en-US" altLang="zh-CN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</a:t>
            </a:r>
            <a:r>
              <a:rPr lang="en-US" altLang="zh-CN" b="1" kern="12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bool</a:t>
            </a: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flag 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914981-04C3-4C50-B242-BD90DA32ACE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239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变量地址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01763" name="Rectangle 3"/>
          <p:cNvSpPr>
            <a:spLocks noGrp="1" noChangeArrowheads="1"/>
          </p:cNvSpPr>
          <p:nvPr>
            <p:ph idx="1"/>
          </p:nvPr>
        </p:nvSpPr>
        <p:spPr>
          <a:xfrm>
            <a:off x="0" y="1125538"/>
            <a:ext cx="10668000" cy="4973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变量地址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变量在内存中的所在位置，即内存地址。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求地址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将单目运算符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&amp;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，缀在变量前，求相应变量地址。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被分配在内存地址为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0F000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开始的存储区域的变量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V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&amp;V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的值就是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0F000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，也称为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的指针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102AEA-A880-424F-A19D-BFC90AFE9A0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3810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457200"/>
            <a:ext cx="12115800" cy="3733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课后实践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printf("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的值是：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printf("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系统为变量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分配的存储空间为：首地址为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的连续的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个字节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sizeof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(v)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3812" name="Rectangle 4"/>
          <p:cNvSpPr>
            <a:spLocks noChangeArrowheads="1"/>
          </p:cNvSpPr>
          <p:nvPr/>
        </p:nvSpPr>
        <p:spPr bwMode="auto">
          <a:xfrm>
            <a:off x="7029450" y="17463"/>
            <a:ext cx="5133975" cy="1447800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变量的属性：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名字、数据类型、作用域、值、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存储空间、地址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DDB1B6-CF3F-4E37-B06B-7F28832FF62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981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变量初始化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048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12115800" cy="5732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形式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 =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初值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u,v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=5;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=0 , j=1 , k=100*2, m=k*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*j;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		char   c=‘A’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enum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tLight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red,yellow,green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} light1 = red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变量在定义时被赋以初值，则在程序开始运行时，它便取得了相应值。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4836" name="Text Box 4"/>
          <p:cNvSpPr txBox="1">
            <a:spLocks noChangeArrowheads="1"/>
          </p:cNvSpPr>
          <p:nvPr/>
        </p:nvSpPr>
        <p:spPr bwMode="auto">
          <a:xfrm>
            <a:off x="6948488" y="1196975"/>
            <a:ext cx="5105400" cy="21240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整数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acter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字符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ing point numbers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浮点数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enumerate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9CEA4B-D29C-47D3-9778-A4CCB1D0AA3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§2.3.1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数据类型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P49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0" y="1557338"/>
            <a:ext cx="1203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是计算机处理的对象，类型是数据的一种属性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数据类型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的含义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确定一个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值集合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，该类型的数据能够取值的范围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确定一个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运算集合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，能够施于该类型数据上进行的运算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94213" name="Text Box 5"/>
          <p:cNvSpPr txBox="1"/>
          <p:nvPr/>
        </p:nvSpPr>
        <p:spPr>
          <a:xfrm>
            <a:off x="9677400" y="1522413"/>
            <a:ext cx="1447800" cy="101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FF"/>
                </a:solidFill>
              </a:rPr>
              <a:t>int a,b;</a:t>
            </a:r>
            <a:endParaRPr lang="en-US" altLang="zh-CN" sz="24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FF"/>
                </a:solidFill>
              </a:rPr>
              <a:t>float c,d;</a:t>
            </a:r>
            <a:endParaRPr lang="en-US" altLang="zh-CN" sz="2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A3A9E0-0163-4B63-9D69-FBC0C3D04BA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76900" y="525463"/>
            <a:ext cx="1855788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</a:rPr>
              <a:t>11111111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6260" name="TextBox 10"/>
          <p:cNvSpPr txBox="1"/>
          <p:nvPr/>
        </p:nvSpPr>
        <p:spPr>
          <a:xfrm>
            <a:off x="152400" y="3175"/>
            <a:ext cx="12192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char</a:t>
            </a:r>
            <a:r>
              <a:rPr lang="zh-CN" altLang="en-US" sz="2800" b="1" dirty="0">
                <a:solidFill>
                  <a:srgbClr val="FFC000"/>
                </a:solidFill>
              </a:rPr>
              <a:t>和</a:t>
            </a:r>
            <a:r>
              <a:rPr lang="en-US" altLang="zh-CN" sz="2800" b="1" dirty="0">
                <a:solidFill>
                  <a:srgbClr val="FFC000"/>
                </a:solidFill>
              </a:rPr>
              <a:t>int </a:t>
            </a:r>
            <a:r>
              <a:rPr lang="zh-CN" altLang="en-US" sz="2800" b="1" dirty="0">
                <a:solidFill>
                  <a:srgbClr val="FFC000"/>
                </a:solidFill>
              </a:rPr>
              <a:t>的存储方式</a:t>
            </a:r>
            <a:r>
              <a:rPr lang="zh-CN" altLang="en-US" sz="2800" b="1" dirty="0">
                <a:solidFill>
                  <a:srgbClr val="7F7F7F"/>
                </a:solidFill>
              </a:rPr>
              <a:t>（以</a:t>
            </a:r>
            <a:r>
              <a:rPr lang="en-US" altLang="zh-CN" sz="2800" b="1" dirty="0">
                <a:solidFill>
                  <a:srgbClr val="7F7F7F"/>
                </a:solidFill>
              </a:rPr>
              <a:t>unsigned char</a:t>
            </a:r>
            <a:r>
              <a:rPr lang="zh-CN" altLang="en-US" sz="2800" b="1" dirty="0">
                <a:solidFill>
                  <a:srgbClr val="7F7F7F"/>
                </a:solidFill>
              </a:rPr>
              <a:t>和</a:t>
            </a:r>
            <a:r>
              <a:rPr lang="en-US" altLang="zh-CN" sz="2800" b="1" dirty="0">
                <a:solidFill>
                  <a:srgbClr val="7F7F7F"/>
                </a:solidFill>
              </a:rPr>
              <a:t>unsigned int</a:t>
            </a:r>
            <a:r>
              <a:rPr lang="zh-CN" altLang="en-US" sz="2800" b="1" dirty="0">
                <a:solidFill>
                  <a:srgbClr val="7F7F7F"/>
                </a:solidFill>
              </a:rPr>
              <a:t>为例）</a:t>
            </a:r>
            <a:r>
              <a:rPr lang="zh-CN" altLang="en-US" sz="2800" b="1" dirty="0">
                <a:solidFill>
                  <a:srgbClr val="FFC000"/>
                </a:solidFill>
              </a:rPr>
              <a:t>：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96261" name="矩形 24"/>
          <p:cNvSpPr/>
          <p:nvPr/>
        </p:nvSpPr>
        <p:spPr>
          <a:xfrm>
            <a:off x="7616825" y="523875"/>
            <a:ext cx="1857375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</a:rPr>
              <a:t>11111111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28800" y="527050"/>
            <a:ext cx="1855788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</a:rPr>
              <a:t>11111111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768725" y="525463"/>
            <a:ext cx="1857375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</a:rPr>
              <a:t>11111111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188" y="4186238"/>
            <a:ext cx="37973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double</a:t>
            </a:r>
            <a:r>
              <a:rPr lang="zh-CN" altLang="en-US" sz="2800" b="1" dirty="0">
                <a:solidFill>
                  <a:srgbClr val="FFC000"/>
                </a:solidFill>
              </a:rPr>
              <a:t>的存储方式：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600" y="1765300"/>
            <a:ext cx="37988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float</a:t>
            </a:r>
            <a:r>
              <a:rPr lang="zh-CN" altLang="en-US" sz="2800" b="1" dirty="0">
                <a:solidFill>
                  <a:srgbClr val="FFC000"/>
                </a:solidFill>
              </a:rPr>
              <a:t>的存储方式：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03400" y="2490788"/>
          <a:ext cx="7645400" cy="40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101"/>
                <a:gridCol w="1828752"/>
                <a:gridCol w="5435547"/>
              </a:tblGrid>
              <a:tr h="409575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r>
                        <a:rPr lang="zh-CN" altLang="en-US" sz="1800" dirty="0"/>
                        <a:t>位</a:t>
                      </a:r>
                      <a:endParaRPr lang="zh-CN" altLang="en-US" sz="18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23</a:t>
                      </a:r>
                      <a:r>
                        <a:rPr lang="zh-CN" altLang="en-US" sz="1800" dirty="0"/>
                        <a:t>位</a:t>
                      </a:r>
                      <a:endParaRPr lang="zh-CN" altLang="en-US" sz="1800" dirty="0"/>
                    </a:p>
                  </a:txBody>
                  <a:tcPr marT="45702" marB="45702"/>
                </a:tc>
              </a:tr>
            </a:tbl>
          </a:graphicData>
        </a:graphic>
      </p:graphicFrame>
      <p:grpSp>
        <p:nvGrpSpPr>
          <p:cNvPr id="96276" name="组合 12"/>
          <p:cNvGrpSpPr/>
          <p:nvPr/>
        </p:nvGrpSpPr>
        <p:grpSpPr>
          <a:xfrm>
            <a:off x="1619250" y="2900363"/>
            <a:ext cx="5581650" cy="730250"/>
            <a:chOff x="1645139" y="2503055"/>
            <a:chExt cx="5581336" cy="730411"/>
          </a:xfrm>
        </p:grpSpPr>
        <p:grpSp>
          <p:nvGrpSpPr>
            <p:cNvPr id="96297" name="组合 10"/>
            <p:cNvGrpSpPr/>
            <p:nvPr/>
          </p:nvGrpSpPr>
          <p:grpSpPr>
            <a:xfrm>
              <a:off x="1645139" y="2534624"/>
              <a:ext cx="914370" cy="698842"/>
              <a:chOff x="1828915" y="4920424"/>
              <a:chExt cx="914370" cy="698842"/>
            </a:xfrm>
          </p:grpSpPr>
          <p:cxnSp>
            <p:nvCxnSpPr>
              <p:cNvPr id="96302" name="直接箭头连接符 6"/>
              <p:cNvCxnSpPr/>
              <p:nvPr/>
            </p:nvCxnSpPr>
            <p:spPr>
              <a:xfrm flipV="1">
                <a:off x="2286100" y="4920424"/>
                <a:ext cx="0" cy="38099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96303" name="文本框 9"/>
              <p:cNvSpPr txBox="1"/>
              <p:nvPr/>
            </p:nvSpPr>
            <p:spPr>
              <a:xfrm>
                <a:off x="1828915" y="5249934"/>
                <a:ext cx="914370" cy="3693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>
                    <a:solidFill>
                      <a:srgbClr val="FFFFFF"/>
                    </a:solidFill>
                  </a:rPr>
                  <a:t>符号位</a:t>
                </a:r>
                <a:endParaRPr lang="zh-CN" altLang="en-US" sz="1800" b="1" dirty="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96298" name="直接箭头连接符 19"/>
            <p:cNvCxnSpPr/>
            <p:nvPr/>
          </p:nvCxnSpPr>
          <p:spPr>
            <a:xfrm flipV="1">
              <a:off x="3298932" y="2503055"/>
              <a:ext cx="0" cy="38099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6299" name="文本框 20"/>
            <p:cNvSpPr txBox="1"/>
            <p:nvPr/>
          </p:nvSpPr>
          <p:spPr>
            <a:xfrm>
              <a:off x="2841747" y="2837866"/>
              <a:ext cx="91437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FFFFFF"/>
                  </a:solidFill>
                </a:rPr>
                <a:t>指数位</a:t>
              </a:r>
              <a:endParaRPr lang="zh-CN" altLang="en-US" sz="1800" b="1" dirty="0">
                <a:solidFill>
                  <a:srgbClr val="FFFFFF"/>
                </a:solidFill>
              </a:endParaRPr>
            </a:p>
          </p:txBody>
        </p:sp>
        <p:cxnSp>
          <p:nvCxnSpPr>
            <p:cNvPr id="96300" name="直接箭头连接符 21"/>
            <p:cNvCxnSpPr/>
            <p:nvPr/>
          </p:nvCxnSpPr>
          <p:spPr>
            <a:xfrm flipV="1">
              <a:off x="6388296" y="2515593"/>
              <a:ext cx="0" cy="38099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6301" name="文本框 22"/>
            <p:cNvSpPr txBox="1"/>
            <p:nvPr/>
          </p:nvSpPr>
          <p:spPr>
            <a:xfrm>
              <a:off x="5854916" y="2808239"/>
              <a:ext cx="1371559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FFFFFF"/>
                  </a:solidFill>
                </a:rPr>
                <a:t>尾数部分</a:t>
              </a:r>
              <a:endParaRPr lang="zh-CN" altLang="en-US" sz="18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96277" name="文本框 11"/>
          <p:cNvSpPr txBox="1"/>
          <p:nvPr/>
        </p:nvSpPr>
        <p:spPr>
          <a:xfrm>
            <a:off x="9575800" y="2505075"/>
            <a:ext cx="1066800" cy="381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共</a:t>
            </a:r>
            <a:r>
              <a:rPr lang="en-US" altLang="zh-CN" sz="1800" b="1" dirty="0">
                <a:solidFill>
                  <a:srgbClr val="FFFFFF"/>
                </a:solidFill>
              </a:rPr>
              <a:t>32</a:t>
            </a:r>
            <a:r>
              <a:rPr lang="zh-CN" altLang="en-US" sz="1800" b="1" dirty="0">
                <a:solidFill>
                  <a:srgbClr val="FFFFFF"/>
                </a:solidFill>
              </a:rPr>
              <a:t>位</a:t>
            </a:r>
            <a:endParaRPr lang="zh-CN" altLang="en-US" sz="1800" b="1" dirty="0">
              <a:solidFill>
                <a:srgbClr val="FFFFFF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793875" y="4854575"/>
          <a:ext cx="8797925" cy="40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51"/>
                <a:gridCol w="2495218"/>
                <a:gridCol w="5864156"/>
              </a:tblGrid>
              <a:tr h="409575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r>
                        <a:rPr lang="zh-CN" altLang="en-US" sz="1800" dirty="0"/>
                        <a:t>位</a:t>
                      </a:r>
                      <a:endParaRPr lang="zh-CN" altLang="en-US" sz="1800" dirty="0"/>
                    </a:p>
                  </a:txBody>
                  <a:tcPr marL="91443" marR="91443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52</a:t>
                      </a:r>
                      <a:r>
                        <a:rPr lang="zh-CN" altLang="en-US" sz="1800" dirty="0"/>
                        <a:t>位</a:t>
                      </a:r>
                      <a:endParaRPr lang="zh-CN" altLang="en-US" sz="1800" dirty="0"/>
                    </a:p>
                  </a:txBody>
                  <a:tcPr marL="91443" marR="91443" marT="45702" marB="45702"/>
                </a:tc>
              </a:tr>
            </a:tbl>
          </a:graphicData>
        </a:graphic>
      </p:graphicFrame>
      <p:grpSp>
        <p:nvGrpSpPr>
          <p:cNvPr id="96288" name="组合 31"/>
          <p:cNvGrpSpPr/>
          <p:nvPr/>
        </p:nvGrpSpPr>
        <p:grpSpPr>
          <a:xfrm>
            <a:off x="1535113" y="5307013"/>
            <a:ext cx="933450" cy="698500"/>
            <a:chOff x="1828915" y="4920424"/>
            <a:chExt cx="914370" cy="698842"/>
          </a:xfrm>
        </p:grpSpPr>
        <p:cxnSp>
          <p:nvCxnSpPr>
            <p:cNvPr id="96295" name="直接箭头连接符 36"/>
            <p:cNvCxnSpPr/>
            <p:nvPr/>
          </p:nvCxnSpPr>
          <p:spPr>
            <a:xfrm flipV="1">
              <a:off x="2286100" y="4920424"/>
              <a:ext cx="0" cy="38099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6296" name="文本框 37"/>
            <p:cNvSpPr txBox="1"/>
            <p:nvPr/>
          </p:nvSpPr>
          <p:spPr>
            <a:xfrm>
              <a:off x="1828915" y="5249934"/>
              <a:ext cx="91437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FFFFFF"/>
                  </a:solidFill>
                </a:rPr>
                <a:t>符号位</a:t>
              </a:r>
              <a:endParaRPr lang="zh-CN" altLang="en-US" sz="1800" b="1" dirty="0">
                <a:solidFill>
                  <a:srgbClr val="FFFFFF"/>
                </a:solidFill>
              </a:endParaRPr>
            </a:p>
          </p:txBody>
        </p:sp>
      </p:grpSp>
      <p:cxnSp>
        <p:nvCxnSpPr>
          <p:cNvPr id="96289" name="直接箭头连接符 32"/>
          <p:cNvCxnSpPr/>
          <p:nvPr/>
        </p:nvCxnSpPr>
        <p:spPr>
          <a:xfrm flipV="1">
            <a:off x="3465513" y="5275263"/>
            <a:ext cx="0" cy="3810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6290" name="文本框 33"/>
          <p:cNvSpPr txBox="1"/>
          <p:nvPr/>
        </p:nvSpPr>
        <p:spPr>
          <a:xfrm>
            <a:off x="3055938" y="5632450"/>
            <a:ext cx="9318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指数位</a:t>
            </a:r>
            <a:endParaRPr lang="zh-CN" altLang="en-US" sz="1800" b="1" dirty="0">
              <a:solidFill>
                <a:srgbClr val="FFFFFF"/>
              </a:solidFill>
            </a:endParaRPr>
          </a:p>
        </p:txBody>
      </p:sp>
      <p:cxnSp>
        <p:nvCxnSpPr>
          <p:cNvPr id="96291" name="直接箭头连接符 34"/>
          <p:cNvCxnSpPr/>
          <p:nvPr/>
        </p:nvCxnSpPr>
        <p:spPr>
          <a:xfrm flipV="1">
            <a:off x="7618413" y="5275263"/>
            <a:ext cx="0" cy="3810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6292" name="文本框 35"/>
          <p:cNvSpPr txBox="1"/>
          <p:nvPr/>
        </p:nvSpPr>
        <p:spPr>
          <a:xfrm>
            <a:off x="7146925" y="5572125"/>
            <a:ext cx="13985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尾数部分</a:t>
            </a:r>
            <a:endParaRPr lang="zh-CN" altLang="en-US" sz="1800" b="1" dirty="0">
              <a:solidFill>
                <a:srgbClr val="FFFFFF"/>
              </a:solidFill>
            </a:endParaRPr>
          </a:p>
        </p:txBody>
      </p:sp>
      <p:sp>
        <p:nvSpPr>
          <p:cNvPr id="96293" name="文本框 38"/>
          <p:cNvSpPr txBox="1"/>
          <p:nvPr/>
        </p:nvSpPr>
        <p:spPr>
          <a:xfrm>
            <a:off x="10702925" y="4894263"/>
            <a:ext cx="1066800" cy="381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共</a:t>
            </a:r>
            <a:r>
              <a:rPr lang="en-US" altLang="zh-CN" sz="1800" b="1" dirty="0">
                <a:solidFill>
                  <a:srgbClr val="FFFFFF"/>
                </a:solidFill>
              </a:rPr>
              <a:t>64</a:t>
            </a:r>
            <a:r>
              <a:rPr lang="zh-CN" altLang="en-US" sz="1800" b="1" dirty="0">
                <a:solidFill>
                  <a:srgbClr val="FFFFFF"/>
                </a:solidFill>
              </a:rPr>
              <a:t>位</a:t>
            </a:r>
            <a:endParaRPr lang="zh-CN" altLang="en-US" sz="1800" b="1" dirty="0">
              <a:solidFill>
                <a:srgbClr val="FFFFFF"/>
              </a:solidFill>
            </a:endParaRPr>
          </a:p>
        </p:txBody>
      </p:sp>
      <p:sp>
        <p:nvSpPr>
          <p:cNvPr id="96294" name="文本框 39"/>
          <p:cNvSpPr txBox="1"/>
          <p:nvPr/>
        </p:nvSpPr>
        <p:spPr>
          <a:xfrm>
            <a:off x="9593263" y="550863"/>
            <a:ext cx="1066800" cy="381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共</a:t>
            </a:r>
            <a:r>
              <a:rPr lang="en-US" altLang="zh-CN" sz="1800" b="1" dirty="0">
                <a:solidFill>
                  <a:srgbClr val="FFFFFF"/>
                </a:solidFill>
              </a:rPr>
              <a:t>32</a:t>
            </a:r>
            <a:r>
              <a:rPr lang="zh-CN" altLang="en-US" sz="1800" b="1" dirty="0">
                <a:solidFill>
                  <a:srgbClr val="FFFFFF"/>
                </a:solidFill>
              </a:rPr>
              <a:t>位</a:t>
            </a:r>
            <a:endParaRPr lang="zh-CN" altLang="en-US" sz="1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6" grpId="0" bldLvl="0" animBg="1"/>
      <p:bldP spid="27" grpId="0" bldLvl="0" animBg="1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7DD66F-A361-4414-8045-AE8C7200382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8307" name="Group 2"/>
          <p:cNvGrpSpPr/>
          <p:nvPr/>
        </p:nvGrpSpPr>
        <p:grpSpPr>
          <a:xfrm>
            <a:off x="1524000" y="333375"/>
            <a:ext cx="8850313" cy="5975350"/>
            <a:chOff x="0" y="0"/>
            <a:chExt cx="5575" cy="3974"/>
          </a:xfrm>
        </p:grpSpPr>
        <p:sp>
          <p:nvSpPr>
            <p:cNvPr id="98308" name="Rectangle 3"/>
            <p:cNvSpPr/>
            <p:nvPr/>
          </p:nvSpPr>
          <p:spPr>
            <a:xfrm>
              <a:off x="4740" y="1207"/>
              <a:ext cx="723" cy="323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枚举型</a:t>
              </a:r>
              <a:endPara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98309" name="Group 4"/>
            <p:cNvGrpSpPr/>
            <p:nvPr/>
          </p:nvGrpSpPr>
          <p:grpSpPr>
            <a:xfrm>
              <a:off x="2035" y="495"/>
              <a:ext cx="337" cy="740"/>
              <a:chOff x="3195" y="1614"/>
              <a:chExt cx="238" cy="581"/>
            </a:xfrm>
          </p:grpSpPr>
          <p:sp>
            <p:nvSpPr>
              <p:cNvPr id="98337" name="Freeform 5"/>
              <p:cNvSpPr/>
              <p:nvPr/>
            </p:nvSpPr>
            <p:spPr>
              <a:xfrm>
                <a:off x="3324" y="1614"/>
                <a:ext cx="109" cy="58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9917" y="0"/>
                    </a:moveTo>
                    <a:lnTo>
                      <a:pt x="0" y="0"/>
                    </a:lnTo>
                    <a:lnTo>
                      <a:pt x="0" y="19975"/>
                    </a:lnTo>
                    <a:lnTo>
                      <a:pt x="19917" y="19975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8" name="Line 6"/>
              <p:cNvSpPr/>
              <p:nvPr/>
            </p:nvSpPr>
            <p:spPr>
              <a:xfrm>
                <a:off x="3195" y="1914"/>
                <a:ext cx="109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98310" name="Rectangle 7"/>
            <p:cNvSpPr/>
            <p:nvPr/>
          </p:nvSpPr>
          <p:spPr>
            <a:xfrm>
              <a:off x="2396" y="310"/>
              <a:ext cx="1057" cy="29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E701"/>
                  </a:solidFill>
                  <a:latin typeface="宋体" panose="02010600030101010101" pitchFamily="2" charset="-122"/>
                </a:rPr>
                <a:t>算术类型</a:t>
              </a:r>
              <a:endParaRPr lang="zh-CN" altLang="en-US" sz="2800" b="1" dirty="0">
                <a:solidFill>
                  <a:srgbClr val="FFE70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11" name="Rectangle 8"/>
            <p:cNvSpPr/>
            <p:nvPr/>
          </p:nvSpPr>
          <p:spPr>
            <a:xfrm>
              <a:off x="2345" y="1052"/>
              <a:ext cx="1327" cy="25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指针类型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98312" name="Group 9"/>
            <p:cNvGrpSpPr/>
            <p:nvPr/>
          </p:nvGrpSpPr>
          <p:grpSpPr>
            <a:xfrm>
              <a:off x="1984" y="1919"/>
              <a:ext cx="210" cy="738"/>
              <a:chOff x="4102" y="2618"/>
              <a:chExt cx="148" cy="580"/>
            </a:xfrm>
          </p:grpSpPr>
          <p:sp>
            <p:nvSpPr>
              <p:cNvPr id="98335" name="Freeform 10"/>
              <p:cNvSpPr/>
              <p:nvPr/>
            </p:nvSpPr>
            <p:spPr>
              <a:xfrm>
                <a:off x="4173" y="2618"/>
                <a:ext cx="77" cy="5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9917" y="0"/>
                    </a:moveTo>
                    <a:lnTo>
                      <a:pt x="0" y="0"/>
                    </a:lnTo>
                    <a:lnTo>
                      <a:pt x="0" y="19975"/>
                    </a:lnTo>
                    <a:lnTo>
                      <a:pt x="19917" y="19975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6" name="Line 11"/>
              <p:cNvSpPr/>
              <p:nvPr/>
            </p:nvSpPr>
            <p:spPr>
              <a:xfrm>
                <a:off x="4102" y="2907"/>
                <a:ext cx="7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98313" name="Rectangle 12"/>
            <p:cNvSpPr/>
            <p:nvPr/>
          </p:nvSpPr>
          <p:spPr>
            <a:xfrm>
              <a:off x="0" y="2229"/>
              <a:ext cx="953" cy="4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数据类型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14" name="Rectangle 13"/>
            <p:cNvSpPr/>
            <p:nvPr/>
          </p:nvSpPr>
          <p:spPr>
            <a:xfrm>
              <a:off x="2249" y="2148"/>
              <a:ext cx="1479" cy="29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结构体类型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15" name="Text Box 14"/>
            <p:cNvSpPr txBox="1"/>
            <p:nvPr/>
          </p:nvSpPr>
          <p:spPr>
            <a:xfrm>
              <a:off x="1108" y="681"/>
              <a:ext cx="130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标量类型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98316" name="Group 15"/>
            <p:cNvGrpSpPr/>
            <p:nvPr/>
          </p:nvGrpSpPr>
          <p:grpSpPr>
            <a:xfrm>
              <a:off x="850" y="928"/>
              <a:ext cx="256" cy="2955"/>
              <a:chOff x="2024" y="1994"/>
              <a:chExt cx="180" cy="1666"/>
            </a:xfrm>
          </p:grpSpPr>
          <p:sp>
            <p:nvSpPr>
              <p:cNvPr id="98333" name="Freeform 16"/>
              <p:cNvSpPr/>
              <p:nvPr/>
            </p:nvSpPr>
            <p:spPr>
              <a:xfrm>
                <a:off x="2124" y="1994"/>
                <a:ext cx="80" cy="16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9917" y="0"/>
                    </a:moveTo>
                    <a:lnTo>
                      <a:pt x="0" y="0"/>
                    </a:lnTo>
                    <a:lnTo>
                      <a:pt x="0" y="19991"/>
                    </a:lnTo>
                    <a:lnTo>
                      <a:pt x="19917" y="19991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4" name="Line 17"/>
              <p:cNvSpPr/>
              <p:nvPr/>
            </p:nvSpPr>
            <p:spPr>
              <a:xfrm>
                <a:off x="2024" y="2834"/>
                <a:ext cx="104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98317" name="Group 18"/>
            <p:cNvGrpSpPr/>
            <p:nvPr/>
          </p:nvGrpSpPr>
          <p:grpSpPr>
            <a:xfrm>
              <a:off x="3272" y="124"/>
              <a:ext cx="338" cy="740"/>
              <a:chOff x="3195" y="1614"/>
              <a:chExt cx="238" cy="581"/>
            </a:xfrm>
          </p:grpSpPr>
          <p:sp>
            <p:nvSpPr>
              <p:cNvPr id="98331" name="Freeform 19"/>
              <p:cNvSpPr/>
              <p:nvPr/>
            </p:nvSpPr>
            <p:spPr>
              <a:xfrm>
                <a:off x="3324" y="1614"/>
                <a:ext cx="109" cy="58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9917" y="0"/>
                    </a:moveTo>
                    <a:lnTo>
                      <a:pt x="0" y="0"/>
                    </a:lnTo>
                    <a:lnTo>
                      <a:pt x="0" y="19975"/>
                    </a:lnTo>
                    <a:lnTo>
                      <a:pt x="19917" y="19975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2" name="Line 20"/>
              <p:cNvSpPr/>
              <p:nvPr/>
            </p:nvSpPr>
            <p:spPr>
              <a:xfrm>
                <a:off x="3195" y="1914"/>
                <a:ext cx="109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98318" name="Rectangle 21"/>
            <p:cNvSpPr/>
            <p:nvPr/>
          </p:nvSpPr>
          <p:spPr>
            <a:xfrm>
              <a:off x="3581" y="0"/>
              <a:ext cx="1328" cy="25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E701"/>
                  </a:solidFill>
                  <a:latin typeface="宋体" panose="02010600030101010101" pitchFamily="2" charset="-122"/>
                </a:rPr>
                <a:t>浮点类型</a:t>
              </a:r>
              <a:endParaRPr lang="zh-CN" altLang="en-US" sz="2800" b="1" dirty="0">
                <a:solidFill>
                  <a:srgbClr val="FFE70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19" name="Rectangle 22"/>
            <p:cNvSpPr/>
            <p:nvPr/>
          </p:nvSpPr>
          <p:spPr>
            <a:xfrm>
              <a:off x="3581" y="681"/>
              <a:ext cx="1134" cy="26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E701"/>
                  </a:solidFill>
                  <a:latin typeface="宋体" panose="02010600030101010101" pitchFamily="2" charset="-122"/>
                </a:rPr>
                <a:t>整数类型</a:t>
              </a:r>
              <a:endParaRPr lang="zh-CN" altLang="en-US" sz="2800" b="1" dirty="0">
                <a:solidFill>
                  <a:srgbClr val="FFE701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98320" name="Group 23"/>
            <p:cNvGrpSpPr/>
            <p:nvPr/>
          </p:nvGrpSpPr>
          <p:grpSpPr>
            <a:xfrm>
              <a:off x="4422" y="210"/>
              <a:ext cx="338" cy="1176"/>
              <a:chOff x="3195" y="1614"/>
              <a:chExt cx="238" cy="581"/>
            </a:xfrm>
          </p:grpSpPr>
          <p:sp>
            <p:nvSpPr>
              <p:cNvPr id="98329" name="Freeform 24"/>
              <p:cNvSpPr/>
              <p:nvPr/>
            </p:nvSpPr>
            <p:spPr>
              <a:xfrm>
                <a:off x="3324" y="1614"/>
                <a:ext cx="109" cy="58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9917" y="0"/>
                    </a:moveTo>
                    <a:lnTo>
                      <a:pt x="0" y="0"/>
                    </a:lnTo>
                    <a:lnTo>
                      <a:pt x="0" y="19975"/>
                    </a:lnTo>
                    <a:lnTo>
                      <a:pt x="19917" y="19975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0" name="Line 25"/>
              <p:cNvSpPr/>
              <p:nvPr/>
            </p:nvSpPr>
            <p:spPr>
              <a:xfrm>
                <a:off x="3195" y="1914"/>
                <a:ext cx="109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98321" name="Rectangle 26"/>
            <p:cNvSpPr/>
            <p:nvPr/>
          </p:nvSpPr>
          <p:spPr>
            <a:xfrm>
              <a:off x="4785" y="0"/>
              <a:ext cx="680" cy="25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E701"/>
                  </a:solidFill>
                  <a:latin typeface="宋体" panose="02010600030101010101" pitchFamily="2" charset="-122"/>
                </a:rPr>
                <a:t>整型</a:t>
              </a:r>
              <a:endParaRPr lang="zh-CN" altLang="en-US" sz="2800" b="1" dirty="0">
                <a:solidFill>
                  <a:srgbClr val="FFE70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2" name="Rectangle 27"/>
            <p:cNvSpPr/>
            <p:nvPr/>
          </p:nvSpPr>
          <p:spPr>
            <a:xfrm>
              <a:off x="4740" y="391"/>
              <a:ext cx="835" cy="28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E701"/>
                  </a:solidFill>
                  <a:latin typeface="宋体" panose="02010600030101010101" pitchFamily="2" charset="-122"/>
                </a:rPr>
                <a:t>字符型</a:t>
              </a:r>
              <a:endParaRPr lang="zh-CN" altLang="en-US" sz="2800" b="1" dirty="0">
                <a:solidFill>
                  <a:srgbClr val="FFE70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3" name="Rectangle 28"/>
            <p:cNvSpPr/>
            <p:nvPr/>
          </p:nvSpPr>
          <p:spPr>
            <a:xfrm>
              <a:off x="4740" y="754"/>
              <a:ext cx="789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布尔型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4" name="Rectangle 29"/>
            <p:cNvSpPr/>
            <p:nvPr/>
          </p:nvSpPr>
          <p:spPr>
            <a:xfrm>
              <a:off x="1108" y="2167"/>
              <a:ext cx="991" cy="26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组合类型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5" name="Rectangle 30"/>
            <p:cNvSpPr/>
            <p:nvPr/>
          </p:nvSpPr>
          <p:spPr>
            <a:xfrm>
              <a:off x="2242" y="1733"/>
              <a:ext cx="990" cy="33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数组类型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6" name="Rectangle 31"/>
            <p:cNvSpPr/>
            <p:nvPr/>
          </p:nvSpPr>
          <p:spPr>
            <a:xfrm>
              <a:off x="2249" y="2527"/>
              <a:ext cx="1237" cy="26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7F7F7F"/>
                  </a:solidFill>
                  <a:latin typeface="宋体" panose="02010600030101010101" pitchFamily="2" charset="-122"/>
                </a:rPr>
                <a:t>联合体类型</a:t>
              </a:r>
              <a:endParaRPr lang="zh-CN" altLang="en-US" sz="2800" b="1" dirty="0">
                <a:solidFill>
                  <a:srgbClr val="7F7F7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7" name="Rectangle 32"/>
            <p:cNvSpPr/>
            <p:nvPr/>
          </p:nvSpPr>
          <p:spPr>
            <a:xfrm>
              <a:off x="1108" y="3342"/>
              <a:ext cx="991" cy="263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7F7F7F"/>
                  </a:solidFill>
                  <a:latin typeface="宋体" panose="02010600030101010101" pitchFamily="2" charset="-122"/>
                </a:rPr>
                <a:t>函数类型</a:t>
              </a:r>
              <a:endParaRPr lang="zh-CN" altLang="en-US" sz="2800" b="1" dirty="0">
                <a:solidFill>
                  <a:srgbClr val="7F7F7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328" name="Rectangle 33"/>
            <p:cNvSpPr/>
            <p:nvPr/>
          </p:nvSpPr>
          <p:spPr>
            <a:xfrm>
              <a:off x="1108" y="3715"/>
              <a:ext cx="991" cy="25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void</a:t>
              </a:r>
              <a:r>
                <a:rPr lang="zh-CN" altLang="en-US" sz="2800" b="1" dirty="0">
                  <a:solidFill>
                    <a:srgbClr val="FFFFFF"/>
                  </a:solidFill>
                  <a:latin typeface="宋体" panose="02010600030101010101" pitchFamily="2" charset="-122"/>
                </a:rPr>
                <a:t>类型</a:t>
              </a:r>
              <a:endPara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989570" y="2800985"/>
            <a:ext cx="2410460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2">
                    <a:lumMod val="60000"/>
                    <a:lumOff val="40000"/>
                  </a:schemeClr>
                </a:solidFill>
              </a:rPr>
              <a:t>bool flag;</a:t>
            </a:r>
            <a:endParaRPr lang="en-US" altLang="zh-CN" sz="240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flag=true; </a:t>
            </a:r>
            <a:r>
              <a:rPr lang="zh-CN" altLang="en-US" sz="2400">
                <a:solidFill>
                  <a:schemeClr val="tx1"/>
                </a:solidFill>
              </a:rPr>
              <a:t>或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flag=false;</a:t>
            </a:r>
            <a:endParaRPr lang="en-US" altLang="zh-CN" sz="2400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8381365" y="1828800"/>
            <a:ext cx="838200" cy="1066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文本框 2"/>
          <p:cNvSpPr txBox="1"/>
          <p:nvPr/>
        </p:nvSpPr>
        <p:spPr>
          <a:xfrm>
            <a:off x="10438765" y="2785110"/>
            <a:ext cx="1662430" cy="1219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accent2">
                    <a:lumMod val="60000"/>
                    <a:lumOff val="40000"/>
                  </a:schemeClr>
                </a:solidFill>
              </a:rPr>
              <a:t>int flag;</a:t>
            </a:r>
            <a:endParaRPr lang="en-US" altLang="zh-CN" sz="240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flag=1;</a:t>
            </a:r>
            <a:r>
              <a:rPr lang="zh-CN" altLang="en-US" sz="2400">
                <a:solidFill>
                  <a:schemeClr val="tx1"/>
                </a:solidFill>
              </a:rPr>
              <a:t>或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flag=0;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EDD704-A884-4B77-9995-DDF2EAC9559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1.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浮点类型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0083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600200"/>
            <a:ext cx="9144000" cy="4924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抽象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float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类型对应实数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实际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float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类型是实数的一个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子集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9F0E93-639B-45A9-82D3-E747047B8E0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2130" name="Group 2"/>
          <p:cNvGraphicFramePr>
            <a:graphicFrameLocks noGrp="1"/>
          </p:cNvGraphicFramePr>
          <p:nvPr>
            <p:ph idx="1"/>
          </p:nvPr>
        </p:nvGraphicFramePr>
        <p:xfrm>
          <a:off x="152400" y="1828800"/>
          <a:ext cx="11582400" cy="2860675"/>
        </p:xfrm>
        <a:graphic>
          <a:graphicData uri="http://schemas.openxmlformats.org/drawingml/2006/table">
            <a:tbl>
              <a:tblPr/>
              <a:tblGrid>
                <a:gridCol w="2362200"/>
                <a:gridCol w="1905000"/>
                <a:gridCol w="990600"/>
                <a:gridCol w="4419600"/>
                <a:gridCol w="1905000"/>
              </a:tblGrid>
              <a:tr h="8229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类型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说明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长度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字节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表示范围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精度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7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float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浮点型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-3.4*10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38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~3.4*10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位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7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双精度型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-1.7*10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308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~1.7*10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308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-16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位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42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long double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长双精度型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-3.4*10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4932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~1.1*10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4932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19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位有效位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2162" name="Text Box 34"/>
          <p:cNvSpPr txBox="1">
            <a:spLocks noChangeArrowheads="1"/>
          </p:cNvSpPr>
          <p:nvPr/>
        </p:nvSpPr>
        <p:spPr bwMode="auto">
          <a:xfrm>
            <a:off x="0" y="819150"/>
            <a:ext cx="4953000" cy="646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浮点类型</a:t>
            </a:r>
            <a:r>
              <a:rPr kumimoji="0" lang="zh-CN" altLang="en-US" sz="36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的数据范围：</a:t>
            </a:r>
            <a:endParaRPr kumimoji="0" lang="en-US" altLang="zh-CN" sz="36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6" name="矩形 1"/>
          <p:cNvSpPr/>
          <p:nvPr/>
        </p:nvSpPr>
        <p:spPr>
          <a:xfrm>
            <a:off x="20638" y="5410200"/>
            <a:ext cx="78406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注：</a:t>
            </a:r>
            <a:r>
              <a:rPr lang="en-US" altLang="zh-CN" sz="2400" b="1" dirty="0">
                <a:solidFill>
                  <a:schemeClr val="tx1"/>
                </a:solidFill>
              </a:rPr>
              <a:t>float</a:t>
            </a:r>
            <a:r>
              <a:rPr lang="zh-CN" altLang="en-US" sz="2400" b="1" dirty="0">
                <a:solidFill>
                  <a:schemeClr val="tx1"/>
                </a:solidFill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</a:rPr>
              <a:t>double</a:t>
            </a:r>
            <a:r>
              <a:rPr lang="zh-CN" altLang="en-US" sz="2400" b="1" dirty="0">
                <a:solidFill>
                  <a:schemeClr val="tx1"/>
                </a:solidFill>
              </a:rPr>
              <a:t>的精度由尾数的位数决定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3F0AA8-EA1F-4896-BC28-A0A8DA138A8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3154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829800" cy="6400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封闭于浮点类型的运算包括：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   -    *    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注意精度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若除数的绝对值很小，结果很可能引起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溢出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可能产生积累误差，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个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1/n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相加，结果不一定是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在比较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y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两个浮点值是否相等时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一般不使用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if(x==y)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和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if (x-y==0.0)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取而代之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的是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|x-y|&lt;ε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96200" y="3468688"/>
            <a:ext cx="4495800" cy="3395663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#define EPS 1E-5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int main(){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	//   ……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	if (fabs(x-y)&lt;EPS)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		{//……}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	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charRg st="104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charRg st="136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64FE2F-C4BD-4777-B2BB-2CE255E0B73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整数类型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5203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12192000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中整数类型包括各种长度的、带符号的、不带符号的整数类型：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short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long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unsigned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signed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以及它们的组合。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978AC0-6688-4274-A544-5E2416AAEF5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8274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0668000" cy="289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封闭于整数类型的运算（运算分量和结果都是整数类型）包括：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       -      *     /      %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  -   *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普通数学意义   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小学算术除法，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舍弃余数（不四舍五入）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8548" name="Rectangle 3"/>
          <p:cNvSpPr/>
          <p:nvPr/>
        </p:nvSpPr>
        <p:spPr>
          <a:xfrm>
            <a:off x="2930525" y="2489200"/>
            <a:ext cx="4337050" cy="954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Black" panose="020B0A04020102020204" pitchFamily="34" charset="0"/>
              </a:rPr>
              <a:t>５ </a:t>
            </a:r>
            <a:r>
              <a:rPr lang="en-US" altLang="zh-CN" sz="2800" b="1" dirty="0">
                <a:solidFill>
                  <a:srgbClr val="FFFFFF"/>
                </a:solidFill>
                <a:latin typeface="Arial Black" panose="020B0A04020102020204" pitchFamily="34" charset="0"/>
              </a:rPr>
              <a:t>/ </a:t>
            </a:r>
            <a:r>
              <a:rPr lang="zh-CN" altLang="en-US" sz="2800" b="1" dirty="0">
                <a:solidFill>
                  <a:srgbClr val="FFFFFF"/>
                </a:solidFill>
                <a:latin typeface="Arial Black" panose="020B0A04020102020204" pitchFamily="34" charset="0"/>
              </a:rPr>
              <a:t>３      得　１</a:t>
            </a:r>
            <a:endParaRPr lang="zh-CN" altLang="en-US" sz="28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Black" panose="020B0A04020102020204" pitchFamily="34" charset="0"/>
              </a:rPr>
              <a:t>３ </a:t>
            </a:r>
            <a:r>
              <a:rPr lang="en-US" altLang="zh-CN" sz="2800" b="1" dirty="0">
                <a:solidFill>
                  <a:srgbClr val="FFFFFF"/>
                </a:solidFill>
                <a:latin typeface="Arial Black" panose="020B0A04020102020204" pitchFamily="34" charset="0"/>
              </a:rPr>
              <a:t>/ </a:t>
            </a:r>
            <a:r>
              <a:rPr lang="zh-CN" altLang="en-US" sz="2800" b="1" dirty="0">
                <a:solidFill>
                  <a:srgbClr val="FFFFFF"/>
                </a:solidFill>
                <a:latin typeface="Arial Black" panose="020B0A04020102020204" pitchFamily="34" charset="0"/>
              </a:rPr>
              <a:t>５      得　０ </a:t>
            </a:r>
            <a:endParaRPr lang="zh-CN" altLang="en-US" sz="28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108549" name="Rectangle 4"/>
          <p:cNvSpPr/>
          <p:nvPr/>
        </p:nvSpPr>
        <p:spPr>
          <a:xfrm>
            <a:off x="3657600" y="4495800"/>
            <a:ext cx="3352800" cy="15700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FF"/>
                </a:solidFill>
                <a:latin typeface="Arial Black" panose="020B0A04020102020204" pitchFamily="34" charset="0"/>
              </a:rPr>
              <a:t>7 % 3    </a:t>
            </a:r>
            <a:r>
              <a:rPr lang="zh-CN" altLang="en-US" sz="2400" b="1" dirty="0">
                <a:solidFill>
                  <a:srgbClr val="FFFFFF"/>
                </a:solidFill>
                <a:latin typeface="Arial Black" panose="020B0A04020102020204" pitchFamily="34" charset="0"/>
              </a:rPr>
              <a:t>得　１  </a:t>
            </a:r>
            <a:endParaRPr lang="en-US" altLang="zh-CN" sz="24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FF"/>
                </a:solidFill>
                <a:latin typeface="Arial Black" panose="020B0A04020102020204" pitchFamily="34" charset="0"/>
              </a:rPr>
              <a:t>3 % 7    </a:t>
            </a:r>
            <a:r>
              <a:rPr lang="zh-CN" altLang="en-US" sz="2400" b="1" dirty="0">
                <a:solidFill>
                  <a:srgbClr val="FFFFFF"/>
                </a:solidFill>
                <a:latin typeface="Arial Black" panose="020B0A04020102020204" pitchFamily="34" charset="0"/>
              </a:rPr>
              <a:t>得　３  </a:t>
            </a:r>
            <a:endParaRPr lang="en-US" altLang="zh-CN" sz="24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-7 % 0   { </a:t>
            </a:r>
            <a:r>
              <a:rPr lang="zh-CN" alt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错误 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}   </a:t>
            </a:r>
            <a:endParaRPr lang="en-US" altLang="zh-CN" sz="2400" dirty="0">
              <a:solidFill>
                <a:schemeClr val="accent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5.1%2  { </a:t>
            </a:r>
            <a:r>
              <a:rPr lang="zh-CN" alt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错误 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}</a:t>
            </a:r>
            <a:endParaRPr lang="en-US" altLang="zh-CN" sz="2400" dirty="0">
              <a:solidFill>
                <a:schemeClr val="accent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8550" name="矩形 1"/>
          <p:cNvSpPr/>
          <p:nvPr/>
        </p:nvSpPr>
        <p:spPr>
          <a:xfrm>
            <a:off x="0" y="3640138"/>
            <a:ext cx="8001000" cy="487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FF00"/>
                </a:solidFill>
              </a:rPr>
              <a:t>%</a:t>
            </a:r>
            <a:r>
              <a:rPr lang="en-US" altLang="zh-CN" sz="2400" b="1" dirty="0">
                <a:solidFill>
                  <a:srgbClr val="FFFFFF"/>
                </a:solidFill>
              </a:rPr>
              <a:t>			</a:t>
            </a:r>
            <a:r>
              <a:rPr lang="zh-CN" altLang="en-US" sz="2400" b="1" dirty="0">
                <a:solidFill>
                  <a:srgbClr val="FFFFFF"/>
                </a:solidFill>
              </a:rPr>
              <a:t>求余数：</a:t>
            </a:r>
            <a:r>
              <a:rPr lang="en-US" altLang="zh-CN" sz="2400" b="1" dirty="0">
                <a:solidFill>
                  <a:srgbClr val="FFFFFF"/>
                </a:solidFill>
              </a:rPr>
              <a:t>i%j=i-(i/j)*j</a:t>
            </a:r>
            <a:endParaRPr lang="en-US" altLang="zh-CN" sz="2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3"/>
          <p:cNvSpPr>
            <a:spLocks noGrp="1"/>
          </p:cNvSpPr>
          <p:nvPr>
            <p:ph idx="1"/>
          </p:nvPr>
        </p:nvSpPr>
        <p:spPr>
          <a:xfrm>
            <a:off x="22225" y="-49212"/>
            <a:ext cx="8640763" cy="5492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  <a:buNone/>
            </a:pPr>
            <a:r>
              <a:rPr lang="zh-CN" altLang="en-US" sz="2800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整数类型的数据范围（</a:t>
            </a:r>
            <a:r>
              <a:rPr lang="en-US" altLang="zh-CN" sz="2800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64</a:t>
            </a:r>
            <a:r>
              <a:rPr lang="zh-CN" altLang="en-US" sz="2800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位系统）</a:t>
            </a:r>
            <a:endParaRPr lang="zh-CN" altLang="en-US" sz="2800" b="1" dirty="0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4536DF-1F83-4A27-A4FE-317768A04A4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0" y="548680"/>
          <a:ext cx="12191999" cy="53132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6324"/>
                <a:gridCol w="1146118"/>
                <a:gridCol w="2226944"/>
                <a:gridCol w="5562613"/>
              </a:tblGrid>
              <a:tr h="3932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数据类型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所占</a:t>
                      </a:r>
                      <a:endParaRPr lang="zh-CN" sz="14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字节数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可表达的</a:t>
                      </a:r>
                      <a:endParaRPr lang="zh-CN" sz="14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数据范围（位数）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可表达的</a:t>
                      </a:r>
                      <a:endParaRPr lang="zh-CN" sz="14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数据范围（数值）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7865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int</a:t>
                      </a:r>
                      <a:endParaRPr lang="en-US" sz="28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(long int)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r>
                        <a:rPr lang="en-US" sz="28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 ~ 2</a:t>
                      </a:r>
                      <a:r>
                        <a:rPr lang="en-US" sz="280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-21 4748 3648 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～ 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2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1 4748 3647 </a:t>
                      </a:r>
                      <a:r>
                        <a:rPr lang="en-US" sz="2800" kern="100" dirty="0">
                          <a:effectLst/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zh-CN" altLang="en-US" sz="2800" kern="100" dirty="0">
                          <a:effectLst/>
                          <a:highlight>
                            <a:srgbClr val="FFFF00"/>
                          </a:highlight>
                        </a:rPr>
                        <a:t>约</a:t>
                      </a:r>
                      <a:r>
                        <a:rPr lang="en-US" sz="2800" kern="100" dirty="0">
                          <a:effectLst/>
                          <a:highlight>
                            <a:srgbClr val="FFFF00"/>
                          </a:highlight>
                        </a:rPr>
                        <a:t>2.1E9)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11798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unsigned int</a:t>
                      </a:r>
                      <a:endParaRPr lang="zh-CN" sz="28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(unsigned long</a:t>
                      </a:r>
                      <a:r>
                        <a:rPr lang="zh-CN" sz="2800" kern="100" dirty="0">
                          <a:effectLst/>
                        </a:rPr>
                        <a:t>）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0 ~ 2</a:t>
                      </a:r>
                      <a:r>
                        <a:rPr lang="en-US" sz="280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en-US" alt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altLang="en-US" sz="280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0 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～ 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42 9496 7295 (4.2E9)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15730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long </a:t>
                      </a:r>
                      <a:r>
                        <a:rPr lang="en-US" sz="2800" kern="100" dirty="0" err="1">
                          <a:effectLst/>
                        </a:rPr>
                        <a:t>long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 -2</a:t>
                      </a:r>
                      <a:r>
                        <a:rPr lang="en-US" sz="280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 ~ 2</a:t>
                      </a:r>
                      <a:r>
                        <a:rPr lang="en-US" sz="280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-922 3372 0368 5477 5808 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～ 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r>
                        <a:rPr lang="en-US" sz="2800" kern="100" dirty="0">
                          <a:effectLst/>
                        </a:rPr>
                        <a:t> 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3372 0368 5477 5807 </a:t>
                      </a:r>
                      <a:endParaRPr lang="en-US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zh-CN" altLang="en-US" sz="2800" kern="100" dirty="0">
                          <a:effectLst/>
                          <a:highlight>
                            <a:srgbClr val="FFFF00"/>
                          </a:highlight>
                        </a:rPr>
                        <a:t>约</a:t>
                      </a:r>
                      <a:r>
                        <a:rPr lang="en-US" sz="2800" kern="100" dirty="0">
                          <a:effectLst/>
                          <a:highlight>
                            <a:srgbClr val="FFFF00"/>
                          </a:highlight>
                        </a:rPr>
                        <a:t>9.22E18)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11798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unsigned long </a:t>
                      </a:r>
                      <a:r>
                        <a:rPr lang="en-US" sz="2800" kern="100" dirty="0" err="1">
                          <a:effectLst/>
                        </a:rPr>
                        <a:t>long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0 ~2</a:t>
                      </a:r>
                      <a:r>
                        <a:rPr lang="en-US" sz="280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en-US" alt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altLang="en-US" sz="280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</a:t>
                      </a:r>
                      <a:r>
                        <a:rPr lang="zh-CN" altLang="en-US" sz="2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 </a:t>
                      </a:r>
                      <a:endParaRPr lang="zh-CN" altLang="en-US" sz="2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 6744 0737 0955 1615 (1.844E19)</a:t>
                      </a:r>
                      <a:endParaRPr lang="zh-CN" altLang="en-US" sz="2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175" y="5959475"/>
            <a:ext cx="65563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/ long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位数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long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long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(18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位数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" y="152400"/>
            <a:ext cx="5230495" cy="713105"/>
          </a:xfrm>
        </p:spPr>
        <p:txBody>
          <a:bodyPr/>
          <a:p>
            <a:pPr algn="l"/>
            <a:r>
              <a:rPr lang="zh-CN" altLang="en-US"/>
              <a:t>【溢出】</a:t>
            </a:r>
            <a:endParaRPr lang="zh-CN" altLang="en-US"/>
          </a:p>
        </p:txBody>
      </p:sp>
      <p:pic>
        <p:nvPicPr>
          <p:cNvPr id="48130" name="图片 3"/>
          <p:cNvPicPr>
            <a:picLocks noChangeAspect="1"/>
          </p:cNvPicPr>
          <p:nvPr/>
        </p:nvPicPr>
        <p:blipFill>
          <a:blip r:embed="rId1"/>
          <a:srcRect r="34206"/>
          <a:stretch>
            <a:fillRect/>
          </a:stretch>
        </p:blipFill>
        <p:spPr>
          <a:xfrm>
            <a:off x="2667000" y="26988"/>
            <a:ext cx="3362325" cy="678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678" r="32899"/>
          <a:stretch>
            <a:fillRect/>
          </a:stretch>
        </p:blipFill>
        <p:spPr>
          <a:xfrm>
            <a:off x="6105525" y="71438"/>
            <a:ext cx="4419600" cy="678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2667000" y="2590800"/>
            <a:ext cx="3200400" cy="457200"/>
          </a:xfrm>
          <a:prstGeom prst="rect">
            <a:avLst/>
          </a:prstGeom>
          <a:noFill/>
          <a:ln w="25400" cmpd="sng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05525" y="2362200"/>
            <a:ext cx="2872740" cy="457200"/>
          </a:xfrm>
          <a:prstGeom prst="rect">
            <a:avLst/>
          </a:prstGeom>
          <a:noFill/>
          <a:ln w="25400" cmpd="sng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6" grpId="0" bldLvl="0" animBg="1"/>
      <p:bldP spid="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635"/>
            <a:ext cx="11940540" cy="913765"/>
          </a:xfrm>
        </p:spPr>
        <p:txBody>
          <a:bodyPr/>
          <a:p>
            <a:pPr algn="l"/>
            <a:r>
              <a:rPr lang="zh-CN" altLang="en-US" sz="3200" b="1"/>
              <a:t>【调试技巧】增加辅助输出</a:t>
            </a:r>
            <a:br>
              <a:rPr lang="zh-CN" altLang="en-US" sz="3200" b="1"/>
            </a:br>
            <a:r>
              <a:rPr lang="zh-CN" altLang="en-US" sz="3200" b="1"/>
              <a:t>观察中间计算过程，查找错误，调通后注释掉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743710"/>
            <a:ext cx="8835390" cy="511429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#include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stdio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h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main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()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{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3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i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320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/>
                <a:ea typeface="Consolas" panose="020B0609020204030204"/>
              </a:rPr>
              <a:t>fac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30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for(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++)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   fac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*=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printf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("%d</a:t>
            </a:r>
            <a:r>
              <a:rPr lang="zh-CN" altLang="en-US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的阶乘为：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%d",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fac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32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0</a:t>
            </a:r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}</a:t>
            </a:r>
            <a:endParaRPr lang="en-US" altLang="zh-CN" sz="3200" b="1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9" name="图片 8" descr="fe7afe1a-b69d-4d70-ba8e-08a080ebfb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914400"/>
            <a:ext cx="7639050" cy="4772025"/>
          </a:xfrm>
          <a:prstGeom prst="rect">
            <a:avLst/>
          </a:prstGeom>
        </p:spPr>
      </p:pic>
      <p:pic>
        <p:nvPicPr>
          <p:cNvPr id="10" name="图片 9" descr="f3b3aaee-cac2-4619-85b2-a5b778ddbb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5181600"/>
            <a:ext cx="668655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0" y="6172200"/>
            <a:ext cx="5255895" cy="570230"/>
          </a:xfrm>
        </p:spPr>
        <p:txBody>
          <a:bodyPr/>
          <a:p>
            <a:r>
              <a:rPr lang="zh-CN" altLang="en-US" sz="3200"/>
              <a:t>【调试技巧】辅助输出</a:t>
            </a: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2390"/>
          <a:stretch>
            <a:fillRect/>
          </a:stretch>
        </p:blipFill>
        <p:spPr>
          <a:xfrm>
            <a:off x="831215" y="1744980"/>
            <a:ext cx="2826385" cy="3086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5255" t="1356"/>
          <a:stretch>
            <a:fillRect/>
          </a:stretch>
        </p:blipFill>
        <p:spPr>
          <a:xfrm>
            <a:off x="4343400" y="1752600"/>
            <a:ext cx="2873375" cy="30022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2854"/>
          <a:stretch>
            <a:fillRect/>
          </a:stretch>
        </p:blipFill>
        <p:spPr>
          <a:xfrm>
            <a:off x="8001000" y="1735455"/>
            <a:ext cx="2831465" cy="3019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1A2809-CDC0-42E8-B402-8B45AF750F5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401300" cy="15128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zh-CN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已知摄氏温度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与华氏温度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</a:t>
            </a:r>
            <a:r>
              <a:rPr kumimoji="0" lang="zh-CN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的转换关系是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12644" name="矩形 2"/>
          <p:cNvSpPr/>
          <p:nvPr/>
        </p:nvSpPr>
        <p:spPr>
          <a:xfrm>
            <a:off x="0" y="2743200"/>
            <a:ext cx="11811000" cy="615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400" b="1" dirty="0">
                <a:solidFill>
                  <a:srgbClr val="FFFFFF"/>
                </a:solidFill>
              </a:rPr>
              <a:t>编写一个摄氏温度与华氏温度转换的程序，输入</a:t>
            </a:r>
            <a:r>
              <a:rPr lang="en-US" altLang="zh-CN" sz="3400" b="1" dirty="0">
                <a:solidFill>
                  <a:srgbClr val="FFFFFF"/>
                </a:solidFill>
              </a:rPr>
              <a:t>C</a:t>
            </a:r>
            <a:r>
              <a:rPr lang="zh-CN" altLang="zh-CN" sz="3400" b="1" dirty="0">
                <a:solidFill>
                  <a:srgbClr val="FFFFFF"/>
                </a:solidFill>
              </a:rPr>
              <a:t>，输出</a:t>
            </a:r>
            <a:r>
              <a:rPr lang="en-US" altLang="zh-CN" sz="3400" b="1" dirty="0">
                <a:solidFill>
                  <a:srgbClr val="FFFFFF"/>
                </a:solidFill>
              </a:rPr>
              <a:t>F</a:t>
            </a:r>
            <a:r>
              <a:rPr lang="zh-CN" altLang="en-US" sz="3400" b="1" dirty="0">
                <a:solidFill>
                  <a:srgbClr val="FFFFFF"/>
                </a:solidFill>
              </a:rPr>
              <a:t>。</a:t>
            </a:r>
            <a:endParaRPr lang="zh-CN" altLang="zh-CN" sz="3400" b="1" dirty="0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52400" y="95250"/>
            <a:ext cx="5029200" cy="6159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2.4】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P65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64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888" y="1420813"/>
            <a:ext cx="3567112" cy="94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1E45CD-A140-4A9D-BD3D-370B1EA6038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1" name="矩形 3"/>
          <p:cNvSpPr/>
          <p:nvPr/>
        </p:nvSpPr>
        <p:spPr>
          <a:xfrm>
            <a:off x="0" y="-100012"/>
            <a:ext cx="10248900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#include&lt;stdio.h&gt;</a:t>
            </a:r>
            <a:endParaRPr lang="zh-CN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int main(){</a:t>
            </a:r>
            <a:endParaRPr lang="zh-CN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	float f,c;</a:t>
            </a:r>
            <a:endParaRPr lang="zh-CN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	printf("</a:t>
            </a:r>
            <a:r>
              <a:rPr lang="zh-CN" altLang="zh-CN" b="1" dirty="0">
                <a:solidFill>
                  <a:srgbClr val="FFFFFF"/>
                </a:solidFill>
              </a:rPr>
              <a:t>请输入摄氏温度的值</a:t>
            </a:r>
            <a:r>
              <a:rPr lang="en-US" altLang="zh-CN" b="1" dirty="0">
                <a:solidFill>
                  <a:srgbClr val="FFFFFF"/>
                </a:solidFill>
              </a:rPr>
              <a:t>:\n");</a:t>
            </a:r>
            <a:endParaRPr lang="zh-CN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	scanf("%f",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&amp;</a:t>
            </a:r>
            <a:r>
              <a:rPr lang="en-US" altLang="zh-CN" b="1" dirty="0">
                <a:solidFill>
                  <a:srgbClr val="FFFFFF"/>
                </a:solidFill>
              </a:rPr>
              <a:t>c);            </a:t>
            </a:r>
            <a:r>
              <a:rPr lang="en-US" altLang="zh-CN" b="1" dirty="0">
                <a:solidFill>
                  <a:srgbClr val="FFC000"/>
                </a:solidFill>
              </a:rPr>
              <a:t>//</a:t>
            </a:r>
            <a:r>
              <a:rPr lang="zh-CN" altLang="zh-CN" b="1" dirty="0">
                <a:solidFill>
                  <a:srgbClr val="FFC000"/>
                </a:solidFill>
              </a:rPr>
              <a:t>输入</a:t>
            </a:r>
            <a:r>
              <a:rPr lang="en-US" altLang="zh-CN" b="1" dirty="0">
                <a:solidFill>
                  <a:srgbClr val="FFC000"/>
                </a:solidFill>
              </a:rPr>
              <a:t>33</a:t>
            </a:r>
            <a:endParaRPr lang="zh-CN" altLang="zh-CN" b="1" dirty="0">
              <a:solidFill>
                <a:srgbClr val="FFC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	</a:t>
            </a:r>
            <a:r>
              <a:rPr lang="en-US" altLang="zh-CN" b="1" dirty="0">
                <a:solidFill>
                  <a:srgbClr val="FFC000"/>
                </a:solidFill>
              </a:rPr>
              <a:t>f=9/5*c+32; 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	printf("</a:t>
            </a:r>
            <a:r>
              <a:rPr lang="zh-CN" altLang="zh-CN" b="1" dirty="0">
                <a:solidFill>
                  <a:srgbClr val="FFFFFF"/>
                </a:solidFill>
              </a:rPr>
              <a:t>转换为华氏温度是：</a:t>
            </a:r>
            <a:r>
              <a:rPr lang="en-US" altLang="zh-CN" b="1" dirty="0">
                <a:solidFill>
                  <a:srgbClr val="FFFFFF"/>
                </a:solidFill>
              </a:rPr>
              <a:t>%f\n",f);</a:t>
            </a:r>
            <a:endParaRPr lang="en-US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	return 0;</a:t>
            </a:r>
            <a:endParaRPr lang="zh-CN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}</a:t>
            </a:r>
            <a:endParaRPr lang="zh-CN" altLang="zh-CN" b="1" dirty="0">
              <a:solidFill>
                <a:srgbClr val="FFFFFF"/>
              </a:solidFill>
            </a:endParaRPr>
          </a:p>
        </p:txBody>
      </p:sp>
      <p:sp>
        <p:nvSpPr>
          <p:cNvPr id="114692" name="矩形 1"/>
          <p:cNvSpPr/>
          <p:nvPr/>
        </p:nvSpPr>
        <p:spPr>
          <a:xfrm>
            <a:off x="8382000" y="0"/>
            <a:ext cx="3810000" cy="584200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程序运行结果</a:t>
            </a:r>
            <a:r>
              <a:rPr lang="zh-CN" altLang="zh-CN" b="1" dirty="0">
                <a:solidFill>
                  <a:srgbClr val="FFFFFF"/>
                </a:solidFill>
              </a:rPr>
              <a:t>为</a:t>
            </a:r>
            <a:r>
              <a:rPr lang="en-US" altLang="zh-CN" b="1" dirty="0">
                <a:solidFill>
                  <a:srgbClr val="FFFFFF"/>
                </a:solidFill>
              </a:rPr>
              <a:t>65</a:t>
            </a:r>
            <a:endParaRPr lang="zh-CN" altLang="zh-CN" b="1" dirty="0">
              <a:solidFill>
                <a:srgbClr val="FFFFFF"/>
              </a:solidFill>
            </a:endParaRPr>
          </a:p>
        </p:txBody>
      </p:sp>
      <p:sp>
        <p:nvSpPr>
          <p:cNvPr id="114693" name="矩形 10"/>
          <p:cNvSpPr/>
          <p:nvPr/>
        </p:nvSpPr>
        <p:spPr>
          <a:xfrm>
            <a:off x="8382000" y="584200"/>
            <a:ext cx="3810000" cy="1077913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FF"/>
                </a:solidFill>
              </a:rPr>
              <a:t>正确结果应该是</a:t>
            </a:r>
            <a:r>
              <a:rPr lang="en-US" altLang="zh-CN" b="1" dirty="0">
                <a:solidFill>
                  <a:srgbClr val="FFFFFF"/>
                </a:solidFill>
              </a:rPr>
              <a:t>91.4</a:t>
            </a:r>
            <a:r>
              <a:rPr lang="zh-CN" altLang="en-US" b="1" dirty="0">
                <a:solidFill>
                  <a:srgbClr val="FFFFFF"/>
                </a:solidFill>
              </a:rPr>
              <a:t>，如何修改？</a:t>
            </a:r>
            <a:endParaRPr lang="zh-CN" altLang="zh-CN" b="1" dirty="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05400" y="5176838"/>
            <a:ext cx="7086600" cy="583565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f=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9.0</a:t>
            </a:r>
            <a:r>
              <a:rPr lang="en-US" altLang="zh-CN" b="1" dirty="0">
                <a:solidFill>
                  <a:srgbClr val="FFFFFF"/>
                </a:solidFill>
              </a:rPr>
              <a:t>/5*c+32;  //</a:t>
            </a:r>
            <a:r>
              <a:rPr lang="zh-CN" altLang="zh-CN" b="1" dirty="0">
                <a:solidFill>
                  <a:srgbClr val="FFFFFF"/>
                </a:solidFill>
              </a:rPr>
              <a:t>结果为</a:t>
            </a:r>
            <a:r>
              <a:rPr lang="en-US" altLang="zh-CN" b="1" dirty="0">
                <a:solidFill>
                  <a:srgbClr val="FFFFFF"/>
                </a:solidFill>
              </a:rPr>
              <a:t>91.4</a:t>
            </a:r>
            <a:endParaRPr lang="zh-CN" altLang="zh-CN" b="1" dirty="0">
              <a:solidFill>
                <a:srgbClr val="FFFFFF"/>
              </a:solidFill>
            </a:endParaRPr>
          </a:p>
        </p:txBody>
      </p:sp>
      <p:sp>
        <p:nvSpPr>
          <p:cNvPr id="9" name="矩形 2"/>
          <p:cNvSpPr/>
          <p:nvPr/>
        </p:nvSpPr>
        <p:spPr>
          <a:xfrm>
            <a:off x="5105400" y="6253163"/>
            <a:ext cx="7086600" cy="583565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或：</a:t>
            </a:r>
            <a:r>
              <a:rPr lang="en-US" altLang="zh-CN" b="1" dirty="0">
                <a:solidFill>
                  <a:srgbClr val="FFFFFF"/>
                </a:solidFill>
              </a:rPr>
              <a:t>f=9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*c</a:t>
            </a:r>
            <a:r>
              <a:rPr lang="en-US" altLang="zh-CN" b="1" dirty="0">
                <a:solidFill>
                  <a:srgbClr val="FFFFFF"/>
                </a:solidFill>
              </a:rPr>
              <a:t>/5+32;      //</a:t>
            </a:r>
            <a:r>
              <a:rPr lang="zh-CN" altLang="en-US" b="1" dirty="0">
                <a:solidFill>
                  <a:srgbClr val="FFFFFF"/>
                </a:solidFill>
              </a:rPr>
              <a:t>结果为</a:t>
            </a:r>
            <a:r>
              <a:rPr lang="en-US" altLang="zh-CN" b="1" dirty="0">
                <a:solidFill>
                  <a:srgbClr val="FFFFFF"/>
                </a:solidFill>
              </a:rPr>
              <a:t>91.4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05400" y="5719763"/>
            <a:ext cx="7086600" cy="583565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或：</a:t>
            </a:r>
            <a:r>
              <a:rPr lang="en-US" altLang="zh-CN" b="1" dirty="0">
                <a:solidFill>
                  <a:srgbClr val="FFFFFF"/>
                </a:solidFill>
              </a:rPr>
              <a:t>f=9/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5.0</a:t>
            </a:r>
            <a:r>
              <a:rPr lang="en-US" altLang="zh-CN" b="1" dirty="0">
                <a:solidFill>
                  <a:srgbClr val="FFFFFF"/>
                </a:solidFill>
              </a:rPr>
              <a:t>*c+32;   //</a:t>
            </a:r>
            <a:r>
              <a:rPr lang="zh-CN" altLang="zh-CN" b="1" dirty="0">
                <a:solidFill>
                  <a:srgbClr val="FFFFFF"/>
                </a:solidFill>
              </a:rPr>
              <a:t>结果为</a:t>
            </a:r>
            <a:r>
              <a:rPr lang="en-US" altLang="zh-CN" b="1" dirty="0">
                <a:solidFill>
                  <a:srgbClr val="FFFFFF"/>
                </a:solidFill>
              </a:rPr>
              <a:t>91.4</a:t>
            </a:r>
            <a:endParaRPr lang="zh-CN" altLang="zh-CN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 bldLvl="0" animBg="1"/>
      <p:bldP spid="10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BA223E-267C-4CA6-B4CE-09F2ABEDDBD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字符类型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2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219200"/>
            <a:ext cx="12039600" cy="76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字符类型就是单个字符，在内存中占据一个字节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0324" name="Text Box 4"/>
          <p:cNvSpPr txBox="1">
            <a:spLocks noChangeArrowheads="1"/>
          </p:cNvSpPr>
          <p:nvPr/>
        </p:nvSpPr>
        <p:spPr bwMode="auto">
          <a:xfrm>
            <a:off x="76200" y="2438400"/>
            <a:ext cx="12039600" cy="4619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中把</a:t>
            </a:r>
            <a:r>
              <a:rPr kumimoji="0" lang="zh-CN" altLang="en-US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字符类型</a:t>
            </a:r>
            <a:r>
              <a:rPr kumimoji="0" lang="zh-CN" altLang="en-US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看成</a:t>
            </a:r>
            <a:r>
              <a:rPr kumimoji="0" lang="zh-CN" altLang="en-US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整数类型</a:t>
            </a:r>
            <a:r>
              <a:rPr kumimoji="0" lang="zh-CN" altLang="en-US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，其整数值是在计算机系统字符集中的编码。</a:t>
            </a:r>
            <a:endParaRPr kumimoji="0" lang="zh-CN" altLang="en-US" sz="24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6742" name="Group 5"/>
          <p:cNvGrpSpPr/>
          <p:nvPr/>
        </p:nvGrpSpPr>
        <p:grpSpPr>
          <a:xfrm>
            <a:off x="8610600" y="836613"/>
            <a:ext cx="1828800" cy="457200"/>
            <a:chOff x="720" y="1248"/>
            <a:chExt cx="1152" cy="288"/>
          </a:xfrm>
        </p:grpSpPr>
        <p:sp>
          <p:nvSpPr>
            <p:cNvPr id="116745" name="Rectangle 6"/>
            <p:cNvSpPr/>
            <p:nvPr/>
          </p:nvSpPr>
          <p:spPr>
            <a:xfrm>
              <a:off x="720" y="1248"/>
              <a:ext cx="1152" cy="28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solidFill>
                  <a:srgbClr val="FFFFFF"/>
                </a:solidFill>
              </a:endParaRPr>
            </a:p>
          </p:txBody>
        </p:sp>
        <p:sp>
          <p:nvSpPr>
            <p:cNvPr id="116746" name="Line 7"/>
            <p:cNvSpPr/>
            <p:nvPr/>
          </p:nvSpPr>
          <p:spPr>
            <a:xfrm>
              <a:off x="1296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47" name="Line 8"/>
            <p:cNvSpPr/>
            <p:nvPr/>
          </p:nvSpPr>
          <p:spPr>
            <a:xfrm>
              <a:off x="1584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48" name="Line 9"/>
            <p:cNvSpPr/>
            <p:nvPr/>
          </p:nvSpPr>
          <p:spPr>
            <a:xfrm>
              <a:off x="1152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49" name="Line 10"/>
            <p:cNvSpPr/>
            <p:nvPr/>
          </p:nvSpPr>
          <p:spPr>
            <a:xfrm>
              <a:off x="1440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50" name="Line 11"/>
            <p:cNvSpPr/>
            <p:nvPr/>
          </p:nvSpPr>
          <p:spPr>
            <a:xfrm>
              <a:off x="1728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51" name="Line 12"/>
            <p:cNvSpPr/>
            <p:nvPr/>
          </p:nvSpPr>
          <p:spPr>
            <a:xfrm>
              <a:off x="1008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52" name="Line 13"/>
            <p:cNvSpPr/>
            <p:nvPr/>
          </p:nvSpPr>
          <p:spPr>
            <a:xfrm>
              <a:off x="864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0334" name="Rectangle 14"/>
          <p:cNvSpPr>
            <a:spLocks noChangeArrowheads="1"/>
          </p:cNvSpPr>
          <p:nvPr/>
        </p:nvSpPr>
        <p:spPr bwMode="auto">
          <a:xfrm>
            <a:off x="76200" y="3657600"/>
            <a:ext cx="11963400" cy="1219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由于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把字符类型看成整数类型，还定义了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带符号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不带符号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的字符类型。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35" name="Text Box 15"/>
          <p:cNvSpPr txBox="1">
            <a:spLocks noChangeArrowheads="1"/>
          </p:cNvSpPr>
          <p:nvPr/>
        </p:nvSpPr>
        <p:spPr bwMode="auto">
          <a:xfrm>
            <a:off x="381000" y="4572000"/>
            <a:ext cx="5410200" cy="18018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例如：</a:t>
            </a:r>
            <a:endParaRPr kumimoji="0" lang="zh-CN" altLang="en-US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 a; </a:t>
            </a:r>
            <a:endParaRPr kumimoji="0" lang="en-US" altLang="zh-CN" sz="2800" kern="1200" cap="none" spc="0" normalizeH="0" baseline="0" noProof="0" dirty="0"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unsigned char b;</a:t>
            </a:r>
            <a:endParaRPr kumimoji="0" lang="en-US" altLang="zh-CN" sz="2800" kern="1200" cap="none" spc="0" normalizeH="0" baseline="0" noProof="0" dirty="0"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4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34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5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60BA8A-67FE-4B7D-B8BB-97CC31462B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4451" name="Group 2"/>
          <p:cNvGrpSpPr/>
          <p:nvPr/>
        </p:nvGrpSpPr>
        <p:grpSpPr>
          <a:xfrm>
            <a:off x="3429000" y="4800600"/>
            <a:ext cx="5181600" cy="381000"/>
            <a:chOff x="720" y="2832"/>
            <a:chExt cx="3264" cy="240"/>
          </a:xfrm>
        </p:grpSpPr>
        <p:sp>
          <p:nvSpPr>
            <p:cNvPr id="442371" name="Rectangle 3"/>
            <p:cNvSpPr>
              <a:spLocks noChangeArrowheads="1"/>
            </p:cNvSpPr>
            <p:nvPr/>
          </p:nvSpPr>
          <p:spPr bwMode="auto">
            <a:xfrm>
              <a:off x="2784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01111111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372" name="Rectangle 4"/>
            <p:cNvSpPr>
              <a:spLocks noChangeArrowheads="1"/>
            </p:cNvSpPr>
            <p:nvPr/>
          </p:nvSpPr>
          <p:spPr bwMode="auto">
            <a:xfrm>
              <a:off x="720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10000000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808" name="Line 5"/>
            <p:cNvSpPr/>
            <p:nvPr/>
          </p:nvSpPr>
          <p:spPr>
            <a:xfrm>
              <a:off x="2016" y="292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2374" name="Text Box 6"/>
          <p:cNvSpPr txBox="1">
            <a:spLocks noChangeArrowheads="1"/>
          </p:cNvSpPr>
          <p:nvPr/>
        </p:nvSpPr>
        <p:spPr bwMode="auto">
          <a:xfrm>
            <a:off x="2133600" y="3886200"/>
            <a:ext cx="48768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 </a:t>
            </a: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型变量的取值范围：</a:t>
            </a:r>
            <a:endParaRPr kumimoji="0" lang="zh-CN" altLang="en-US" sz="2800" kern="1200" cap="none" spc="0" normalizeH="0" baseline="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3429000" y="5638800"/>
            <a:ext cx="5181600" cy="381000"/>
            <a:chOff x="720" y="2832"/>
            <a:chExt cx="3264" cy="240"/>
          </a:xfrm>
        </p:grpSpPr>
        <p:sp>
          <p:nvSpPr>
            <p:cNvPr id="442376" name="Rectangle 8"/>
            <p:cNvSpPr>
              <a:spLocks noChangeArrowheads="1"/>
            </p:cNvSpPr>
            <p:nvPr/>
          </p:nvSpPr>
          <p:spPr bwMode="auto">
            <a:xfrm>
              <a:off x="2784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2800" b="1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-1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377" name="Rectangle 9"/>
            <p:cNvSpPr>
              <a:spLocks noChangeArrowheads="1"/>
            </p:cNvSpPr>
            <p:nvPr/>
          </p:nvSpPr>
          <p:spPr bwMode="auto">
            <a:xfrm>
              <a:off x="720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-2</a:t>
              </a:r>
              <a:r>
                <a:rPr kumimoji="0" lang="en-US" altLang="zh-CN" sz="2800" b="1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7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805" name="Line 10"/>
            <p:cNvSpPr/>
            <p:nvPr/>
          </p:nvSpPr>
          <p:spPr>
            <a:xfrm>
              <a:off x="2016" y="292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2388" name="Text Box 20"/>
          <p:cNvSpPr txBox="1">
            <a:spLocks noChangeArrowheads="1"/>
          </p:cNvSpPr>
          <p:nvPr/>
        </p:nvSpPr>
        <p:spPr bwMode="auto">
          <a:xfrm>
            <a:off x="1524000" y="4800600"/>
            <a:ext cx="1600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二进制：</a:t>
            </a:r>
            <a:endParaRPr kumimoji="0" lang="zh-CN" altLang="en-US" sz="2800" kern="1200" cap="none" spc="0" normalizeH="0" baseline="0" noProof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2389" name="Text Box 21"/>
          <p:cNvSpPr txBox="1">
            <a:spLocks noChangeArrowheads="1"/>
          </p:cNvSpPr>
          <p:nvPr/>
        </p:nvSpPr>
        <p:spPr bwMode="auto">
          <a:xfrm>
            <a:off x="1524000" y="5562600"/>
            <a:ext cx="1600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十进制：</a:t>
            </a:r>
            <a:endParaRPr kumimoji="0" lang="zh-CN" altLang="en-US" sz="2800" kern="1200" cap="none" spc="0" normalizeH="0" baseline="0" noProof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133600" y="1100138"/>
            <a:ext cx="67818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unsigned char </a:t>
            </a: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型变量的取值范围：</a:t>
            </a:r>
            <a:endParaRPr kumimoji="0" lang="zh-CN" altLang="en-US" sz="2800" kern="1200" cap="none" spc="0" normalizeH="0" baseline="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" name="Group 12"/>
          <p:cNvGrpSpPr/>
          <p:nvPr/>
        </p:nvGrpSpPr>
        <p:grpSpPr>
          <a:xfrm>
            <a:off x="3429000" y="1862138"/>
            <a:ext cx="5181600" cy="381000"/>
            <a:chOff x="720" y="2832"/>
            <a:chExt cx="3264" cy="240"/>
          </a:xfrm>
        </p:grpSpPr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2784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11111111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720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00000000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802" name="Line 15"/>
            <p:cNvSpPr/>
            <p:nvPr/>
          </p:nvSpPr>
          <p:spPr>
            <a:xfrm>
              <a:off x="2016" y="292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" name="Group 16"/>
          <p:cNvGrpSpPr/>
          <p:nvPr/>
        </p:nvGrpSpPr>
        <p:grpSpPr>
          <a:xfrm>
            <a:off x="3429000" y="2547938"/>
            <a:ext cx="5181600" cy="381000"/>
            <a:chOff x="720" y="2832"/>
            <a:chExt cx="3264" cy="240"/>
          </a:xfrm>
        </p:grpSpPr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2784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2800" b="1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-1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Rectangle 18"/>
            <p:cNvSpPr>
              <a:spLocks noChangeArrowheads="1"/>
            </p:cNvSpPr>
            <p:nvPr/>
          </p:nvSpPr>
          <p:spPr bwMode="auto">
            <a:xfrm>
              <a:off x="720" y="2832"/>
              <a:ext cx="1200" cy="240"/>
            </a:xfrm>
            <a:prstGeom prst="rect">
              <a:avLst/>
            </a:prstGeom>
            <a:solidFill>
              <a:schemeClr val="accent2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799" name="Line 19"/>
            <p:cNvSpPr/>
            <p:nvPr/>
          </p:nvSpPr>
          <p:spPr>
            <a:xfrm>
              <a:off x="2016" y="292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" name="Text Box 22"/>
          <p:cNvSpPr txBox="1">
            <a:spLocks noChangeArrowheads="1"/>
          </p:cNvSpPr>
          <p:nvPr/>
        </p:nvSpPr>
        <p:spPr bwMode="auto">
          <a:xfrm>
            <a:off x="1752600" y="1709738"/>
            <a:ext cx="1600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二进制：</a:t>
            </a:r>
            <a:endParaRPr kumimoji="0" lang="zh-CN" altLang="en-US" sz="2800" kern="1200" cap="none" spc="0" normalizeH="0" baseline="0" noProof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>
            <a:off x="1752600" y="2471738"/>
            <a:ext cx="1600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十进制：</a:t>
            </a:r>
            <a:endParaRPr kumimoji="0" lang="zh-CN" altLang="en-US" sz="2800" kern="1200" cap="none" spc="0" normalizeH="0" baseline="0" noProof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88" grpId="0" bldLvl="0" animBg="1"/>
      <p:bldP spid="442389" grpId="0" bldLvl="0" animBg="1"/>
      <p:bldP spid="35" grpId="0" bldLvl="0" animBg="1"/>
      <p:bldP spid="3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E56DD0-D66A-4B7D-BAC9-A1419B902FC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6466" name="Rectangle 2"/>
          <p:cNvSpPr>
            <a:spLocks noGrp="1" noChangeArrowheads="1"/>
          </p:cNvSpPr>
          <p:nvPr>
            <p:ph idx="1"/>
          </p:nvPr>
        </p:nvSpPr>
        <p:spPr>
          <a:xfrm>
            <a:off x="0" y="296863"/>
            <a:ext cx="12192000" cy="504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中，所有关于在整数类型的运算定义，自然也都适用于字符类型。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6467" name="Text Box 3"/>
          <p:cNvSpPr txBox="1">
            <a:spLocks noChangeArrowheads="1"/>
          </p:cNvSpPr>
          <p:nvPr/>
        </p:nvSpPr>
        <p:spPr bwMode="auto">
          <a:xfrm>
            <a:off x="76200" y="1066800"/>
            <a:ext cx="8566785" cy="49523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课后实践</a:t>
            </a: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大小写字母的转换</a:t>
            </a: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kern="1200" cap="none" spc="0" normalizeH="0" baseline="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400" kern="1200" cap="none" spc="0" normalizeH="0" baseline="0" noProof="0" dirty="0" err="1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kern="1200" cap="none" spc="0" normalizeH="0" baseline="0" noProof="0" dirty="0"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2400" kern="1200" cap="none" spc="0" normalizeH="0" baseline="0" noProof="0" dirty="0"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400" kern="1200" cap="none" spc="0" normalizeH="0" baseline="0" noProof="0" dirty="0"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char c1,c2;</a:t>
            </a:r>
            <a:endParaRPr kumimoji="0" lang="en-US" altLang="zh-CN" sz="24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c1='a';</a:t>
            </a:r>
            <a:endParaRPr kumimoji="0" lang="en-US" altLang="zh-CN" sz="32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c2='B’;</a:t>
            </a:r>
            <a:endParaRPr kumimoji="0" lang="en-US" altLang="zh-CN" sz="32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printf("%c %c\n",c1-32,c2+32;</a:t>
            </a:r>
            <a:endParaRPr kumimoji="0" lang="en-US" altLang="zh-CN" sz="32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return 0;</a:t>
            </a:r>
            <a:endParaRPr kumimoji="0" lang="en-US" altLang="zh-CN" sz="24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kern="1200" cap="none" spc="0" normalizeH="0" baseline="0" noProof="0" dirty="0"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813" name="TextBox 1"/>
          <p:cNvSpPr txBox="1"/>
          <p:nvPr/>
        </p:nvSpPr>
        <p:spPr>
          <a:xfrm>
            <a:off x="7543800" y="914400"/>
            <a:ext cx="3540125" cy="15700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FF"/>
                </a:solidFill>
              </a:rPr>
              <a:t>提示：</a:t>
            </a:r>
            <a:endParaRPr lang="en-US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FF"/>
                </a:solidFill>
              </a:rPr>
              <a:t>参考</a:t>
            </a:r>
            <a:r>
              <a:rPr lang="en-US" altLang="zh-CN" b="1" dirty="0">
                <a:solidFill>
                  <a:srgbClr val="FFE701"/>
                </a:solidFill>
              </a:rPr>
              <a:t>P400 </a:t>
            </a:r>
            <a:r>
              <a:rPr lang="zh-CN" altLang="en-US" b="1" dirty="0">
                <a:solidFill>
                  <a:srgbClr val="FFFFFF"/>
                </a:solidFill>
              </a:rPr>
              <a:t>附录</a:t>
            </a:r>
            <a:r>
              <a:rPr lang="en-US" altLang="zh-CN" b="1" dirty="0">
                <a:solidFill>
                  <a:srgbClr val="FFFFFF"/>
                </a:solidFill>
              </a:rPr>
              <a:t>1</a:t>
            </a:r>
            <a:endParaRPr lang="en-US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FF"/>
                </a:solidFill>
              </a:rPr>
              <a:t>“</a:t>
            </a:r>
            <a:r>
              <a:rPr lang="en-US" altLang="zh-CN" b="1" dirty="0">
                <a:solidFill>
                  <a:srgbClr val="FFFFFF"/>
                </a:solidFill>
              </a:rPr>
              <a:t>ASCII</a:t>
            </a:r>
            <a:r>
              <a:rPr lang="zh-CN" altLang="en-US" b="1" dirty="0">
                <a:solidFill>
                  <a:srgbClr val="FFFFFF"/>
                </a:solidFill>
              </a:rPr>
              <a:t>字符集”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  <p:pic>
        <p:nvPicPr>
          <p:cNvPr id="119814" name="Picture 8"/>
          <p:cNvPicPr>
            <a:picLocks noChangeAspect="1"/>
          </p:cNvPicPr>
          <p:nvPr/>
        </p:nvPicPr>
        <p:blipFill>
          <a:blip r:embed="rId1"/>
          <a:srcRect t="50000"/>
          <a:stretch>
            <a:fillRect/>
          </a:stretch>
        </p:blipFill>
        <p:spPr>
          <a:xfrm>
            <a:off x="1981200" y="5867400"/>
            <a:ext cx="2286000" cy="646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58339C-23C2-4AD1-A637-2B0D580D386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表达式计算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P56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8515" name="Rectangle 3"/>
          <p:cNvSpPr>
            <a:spLocks noGrp="1" noChangeArrowheads="1"/>
          </p:cNvSpPr>
          <p:nvPr>
            <p:ph idx="1"/>
          </p:nvPr>
        </p:nvSpPr>
        <p:spPr>
          <a:xfrm>
            <a:off x="79375" y="1258888"/>
            <a:ext cx="1203325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中只有两种简单类型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算术型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浮点类型：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float, double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整数类型：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char, bool,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enum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, 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算术运算：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可施于算术型上的运算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混合运算：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在日常习惯上，人们往往不区分算术型中的浮点类型和整数类型。为了照顾这种习惯，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允许在浮点类型和整数类型之间进行混合运算，混合运算后结果为浮点类型。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698C4C-ACCF-43FD-84E6-B8BADC40A83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5.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类型转换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P56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5261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268413"/>
            <a:ext cx="10340975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为什么要进行类型转换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对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C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而言，各种不同类型及其数据是有区别的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 main(){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x=1,y=0;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	float z=2.4;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  float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u=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x+y+z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	……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}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B3395A-6CD4-4688-86D4-3458424EAC6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隐式类型转换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5465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28775"/>
            <a:ext cx="10160000" cy="4498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对象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各种浮点类型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各种整数类型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转换的原因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每一类型数据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存储长度、表示形式不同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F87B37-5EF8-4E8D-915E-2212828E4D6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8754" name="Rectangle 2"/>
          <p:cNvSpPr>
            <a:spLocks noChangeArrowheads="1"/>
          </p:cNvSpPr>
          <p:nvPr/>
        </p:nvSpPr>
        <p:spPr bwMode="auto">
          <a:xfrm>
            <a:off x="76200" y="1196340"/>
            <a:ext cx="11506200" cy="23152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算术运算中的数据转换 </a:t>
            </a:r>
            <a:b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运算分量类型不同，计算时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自动转换为同一种数据类型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，以便进行运算。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自动转换遵循原则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——“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类型提升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转换按数据类型提升（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由低向高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）的方向进行，以保证不降低精度。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8755" name="Text Box 3"/>
          <p:cNvSpPr txBox="1">
            <a:spLocks noChangeArrowheads="1"/>
          </p:cNvSpPr>
          <p:nvPr/>
        </p:nvSpPr>
        <p:spPr bwMode="auto">
          <a:xfrm>
            <a:off x="304800" y="152400"/>
            <a:ext cx="4419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双目和三目运算：</a:t>
            </a:r>
            <a:endParaRPr kumimoji="0" lang="zh-CN" altLang="en-US" sz="36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000" y="3505200"/>
            <a:ext cx="60960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sym typeface="+mn-ea"/>
              </a:rPr>
              <a:t>【</a:t>
            </a:r>
            <a:r>
              <a:rPr lang="zh-CN" altLang="en-US" sz="28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sym typeface="+mn-ea"/>
              </a:rPr>
              <a:t>思考</a:t>
            </a:r>
            <a:r>
              <a:rPr lang="en-US" altLang="zh-CN" sz="28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sym typeface="+mn-ea"/>
              </a:rPr>
              <a:t>】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+mn-ea"/>
              </a:rPr>
              <a:t>   char x=’A’; int y=1;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+mn-ea"/>
              </a:rPr>
              <a:t>float z=1.3; double m=3.17;       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+mn-ea"/>
              </a:rPr>
              <a:t>    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x+y的结果类型？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+mn-ea"/>
              </a:rPr>
              <a:t>    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x+y+z的结果类型？</a:t>
            </a:r>
            <a:endParaRPr lang="en-US" altLang="zh-CN" sz="280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z+m</a:t>
            </a:r>
            <a:r>
              <a:rPr lang="zh-CN" altLang="en-US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的结果</a:t>
            </a:r>
            <a:r>
              <a:rPr lang="zh-CN" altLang="en-US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类型？</a:t>
            </a:r>
            <a:endParaRPr lang="zh-CN" altLang="en-US" sz="280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458754" grpId="1" animBg="1"/>
      <p:bldP spid="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FBA135-12D7-4FF1-B5F0-01A6D049A7C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02" name="Rectangle 2"/>
          <p:cNvSpPr/>
          <p:nvPr/>
        </p:nvSpPr>
        <p:spPr>
          <a:xfrm>
            <a:off x="152400" y="733584"/>
            <a:ext cx="11811000" cy="52622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2.</a:t>
            </a:r>
            <a:r>
              <a:rPr lang="zh-CN" altLang="en-US" sz="2800" b="1" dirty="0">
                <a:solidFill>
                  <a:srgbClr val="FFFFFF"/>
                </a:solidFill>
              </a:rPr>
              <a:t>赋值运算的类型转换 </a:t>
            </a:r>
            <a:br>
              <a:rPr lang="zh-CN" altLang="en-US" sz="2800" b="1" dirty="0">
                <a:solidFill>
                  <a:srgbClr val="FFFFFF"/>
                </a:solidFill>
              </a:rPr>
            </a:br>
            <a:r>
              <a:rPr lang="en-US" altLang="zh-CN" sz="2800" b="1" dirty="0">
                <a:solidFill>
                  <a:srgbClr val="FFFFFF"/>
                </a:solidFill>
              </a:rPr>
              <a:t>       </a:t>
            </a:r>
            <a:r>
              <a:rPr lang="zh-CN" altLang="en-US" sz="2800" b="1" dirty="0">
                <a:solidFill>
                  <a:srgbClr val="FFFFFF"/>
                </a:solidFill>
              </a:rPr>
              <a:t>若运算符两侧的数据类型不同，</a:t>
            </a:r>
            <a:r>
              <a:rPr lang="zh-CN" altLang="en-US" sz="2800" b="1" dirty="0">
                <a:solidFill>
                  <a:srgbClr val="FFE701"/>
                </a:solidFill>
              </a:rPr>
              <a:t>赋值号右侧</a:t>
            </a:r>
            <a:r>
              <a:rPr lang="zh-CN" altLang="en-US" sz="2800" b="1" dirty="0">
                <a:solidFill>
                  <a:srgbClr val="FFFFFF"/>
                </a:solidFill>
              </a:rPr>
              <a:t>表达式类型的数据将</a:t>
            </a:r>
            <a:r>
              <a:rPr lang="zh-CN" altLang="en-US" sz="2800" b="1" dirty="0">
                <a:solidFill>
                  <a:srgbClr val="FFE701"/>
                </a:solidFill>
              </a:rPr>
              <a:t>转换为赋值号左侧</a:t>
            </a:r>
            <a:r>
              <a:rPr lang="zh-CN" altLang="en-US" sz="2800" b="1" dirty="0">
                <a:solidFill>
                  <a:srgbClr val="FFFFFF"/>
                </a:solidFill>
              </a:rPr>
              <a:t>变量的类型。</a:t>
            </a:r>
            <a:br>
              <a:rPr lang="zh-CN" altLang="en-US" sz="2800" b="1" dirty="0">
                <a:solidFill>
                  <a:srgbClr val="FFFFFF"/>
                </a:solidFill>
              </a:rPr>
            </a:br>
            <a:endParaRPr lang="zh-CN" altLang="en-US" sz="28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转换原则是：</a:t>
            </a:r>
            <a:endParaRPr lang="zh-CN" altLang="en-US" sz="28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    </a:t>
            </a:r>
            <a:r>
              <a:rPr lang="zh-CN" alt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dirty="0">
                <a:solidFill>
                  <a:srgbClr val="FFFFFF"/>
                </a:solidFill>
              </a:rPr>
              <a:t>=</a:t>
            </a: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dirty="0">
                <a:solidFill>
                  <a:srgbClr val="FFFFFF"/>
                </a:solidFill>
              </a:rPr>
              <a:t>右侧表达式的值被计算出来后，不论是什么类型，都一律转换为</a:t>
            </a:r>
            <a:r>
              <a:rPr lang="zh-CN" alt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dirty="0">
                <a:solidFill>
                  <a:srgbClr val="FFFFFF"/>
                </a:solidFill>
              </a:rPr>
              <a:t>=</a:t>
            </a: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dirty="0">
                <a:solidFill>
                  <a:srgbClr val="FFFFFF"/>
                </a:solidFill>
              </a:rPr>
              <a:t>左侧的变量的类型，然后再赋值给左侧的变量。</a:t>
            </a:r>
            <a:br>
              <a:rPr lang="zh-CN" altLang="en-US" sz="2800" b="1" dirty="0">
                <a:solidFill>
                  <a:srgbClr val="FFFFFF"/>
                </a:solidFill>
              </a:rPr>
            </a:br>
            <a:endParaRPr lang="zh-CN" altLang="en-US" sz="28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例如：</a:t>
            </a:r>
            <a:endParaRPr lang="en-US" altLang="zh-CN" sz="28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char ch=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+mn-ea"/>
              </a:rPr>
              <a:t>’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B’+1</a:t>
            </a:r>
            <a:r>
              <a:rPr lang="en-US" altLang="zh-CN" sz="2800" b="1" dirty="0">
                <a:solidFill>
                  <a:srgbClr val="FFFF00"/>
                </a:solidFill>
              </a:rPr>
              <a:t>;</a:t>
            </a:r>
            <a:endParaRPr lang="zh-CN" altLang="en-US" sz="28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E701"/>
                </a:solidFill>
              </a:rPr>
              <a:t>float a=10;      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  <a:t>/*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</a:rPr>
              <a:t>结果为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  <a:t>a=10.000000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</a:rPr>
              <a:t>（数据填充）*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  <a:t>/</a:t>
            </a:r>
            <a:b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2800" b="1" dirty="0">
                <a:solidFill>
                  <a:srgbClr val="FFE701"/>
                </a:solidFill>
              </a:rPr>
              <a:t>int a=15.5 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  <a:t>/* 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</a:rPr>
              <a:t>结果为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  <a:t>a=15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</a:rPr>
              <a:t>（数据截取）*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</a:rPr>
              <a:t>/</a:t>
            </a:r>
            <a:endParaRPr lang="zh-CN" altLang="en-US" sz="2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FD133B-D19C-45F2-9167-DAFAB098E0E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强制类型转换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11659870" cy="3133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形式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E70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（类型名）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表达式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5.2 / 2                        	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结果为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类型的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(float)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5 / 2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5/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(float)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2    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结果为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float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类型的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2.500000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    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(float)</a:t>
            </a:r>
            <a:r>
              <a:rPr lang="en-US" altLang="zh-CN" sz="24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 (5 / 2)                     		</a:t>
            </a:r>
            <a:r>
              <a:rPr lang="zh-CN" altLang="en-US" sz="24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结果为</a:t>
            </a:r>
            <a:r>
              <a:rPr lang="en-US" altLang="zh-CN" sz="24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float</a:t>
            </a:r>
            <a:r>
              <a:rPr lang="zh-CN" altLang="en-US" sz="24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类型的</a:t>
            </a:r>
            <a:r>
              <a:rPr lang="en-US" altLang="zh-CN" sz="24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2.000000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sp>
        <p:nvSpPr>
          <p:cNvPr id="70664" name="矩形 2"/>
          <p:cNvSpPr/>
          <p:nvPr/>
        </p:nvSpPr>
        <p:spPr>
          <a:xfrm>
            <a:off x="228600" y="5105400"/>
            <a:ext cx="11419840" cy="1568450"/>
          </a:xfrm>
          <a:prstGeom prst="rect">
            <a:avLst/>
          </a:prstGeom>
          <a:noFill/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cs typeface="+mn-ea"/>
              </a:rPr>
              <a:t>【思考】例2.5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chemeClr val="tx1">
                    <a:lumMod val="65000"/>
                  </a:schemeClr>
                </a:solidFill>
              </a:rPr>
              <a:t>教材</a:t>
            </a:r>
            <a:r>
              <a:rPr lang="en-US" altLang="zh-CN" b="1" dirty="0">
                <a:solidFill>
                  <a:schemeClr val="tx1">
                    <a:lumMod val="65000"/>
                  </a:schemeClr>
                </a:solidFill>
              </a:rPr>
              <a:t>P66 </a:t>
            </a:r>
            <a:r>
              <a:rPr lang="zh-CN" altLang="en-US" b="1" dirty="0">
                <a:solidFill>
                  <a:schemeClr val="tx1">
                    <a:lumMod val="65000"/>
                  </a:schemeClr>
                </a:solidFill>
              </a:rPr>
              <a:t>对比：</a:t>
            </a:r>
            <a:r>
              <a:rPr lang="en-US" altLang="zh-CN" b="1" dirty="0">
                <a:solidFill>
                  <a:srgbClr val="FF0000"/>
                </a:solidFill>
              </a:rPr>
              <a:t>  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  <a:sym typeface="+mn-ea"/>
              </a:rPr>
              <a:t>f= 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(float)</a:t>
            </a:r>
            <a:r>
              <a:rPr lang="en-US" altLang="zh-CN" b="1" dirty="0">
                <a:solidFill>
                  <a:srgbClr val="FFFFFF"/>
                </a:solidFill>
                <a:sym typeface="+mn-ea"/>
              </a:rPr>
              <a:t>9/5*c+32;</a:t>
            </a:r>
            <a:endParaRPr lang="en-US" altLang="zh-CN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FF"/>
                </a:solidFill>
              </a:rPr>
              <a:t>f=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cs typeface="+mn-ea"/>
              </a:rPr>
              <a:t> (float)</a:t>
            </a:r>
            <a:r>
              <a:rPr lang="en-US" altLang="zh-CN" b="1" dirty="0">
                <a:solidFill>
                  <a:srgbClr val="FFFFFF"/>
                </a:solidFill>
              </a:rPr>
              <a:t>(9/5*c+32); 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  <p:pic>
        <p:nvPicPr>
          <p:cNvPr id="11264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83" y="4125278"/>
            <a:ext cx="3567112" cy="94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4" grpId="0" bldLvl="0" animBg="1"/>
      <p:bldP spid="70664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62DBF2-3621-4C62-9559-B0AAF154072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2.6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输入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/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输出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(I/O)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P60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-50800" y="1228725"/>
            <a:ext cx="7594600" cy="5019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1.3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“鸡兔同笼”程序中的程序行：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printf(</a:t>
            </a:r>
            <a:r>
              <a:rPr lang="en-US" altLang="zh-CN" sz="28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   %d\n</a:t>
            </a:r>
            <a:r>
              <a:rPr lang="en-US" altLang="zh-CN" sz="28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“求加权平均分”程序中的程序行：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printf(</a:t>
            </a:r>
            <a:r>
              <a:rPr lang="en-US" altLang="zh-CN" sz="28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%6.2f\n”, average);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考虑如下需求：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如果鸡兔的总头数、总脚数发生改变怎么办？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需要计算其他同学的加权成绩怎么办？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5877" name="Rectangle 5"/>
          <p:cNvSpPr>
            <a:spLocks noChangeArrowheads="1"/>
          </p:cNvSpPr>
          <p:nvPr/>
        </p:nvSpPr>
        <p:spPr bwMode="auto">
          <a:xfrm>
            <a:off x="7661275" y="2057400"/>
            <a:ext cx="3908425" cy="224536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一个计算机程序应能对不同数据进行加工，并能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按用户要求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用理想的格式输出结果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charRg st="108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B48173-B3DD-4A61-8728-EFDCA90A2BB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38" name="Rectangle 2"/>
          <p:cNvSpPr>
            <a:spLocks noGrp="1" noChangeArrowheads="1"/>
          </p:cNvSpPr>
          <p:nvPr>
            <p:ph idx="1"/>
          </p:nvPr>
        </p:nvSpPr>
        <p:spPr>
          <a:xfrm>
            <a:off x="0" y="152400"/>
            <a:ext cx="10439400" cy="6408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标准库函数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有若干标准函数库：字符和字符串处理函数库、输入输出函数库、数学函数库、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…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每个标准函数库包含若干标准函数，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每个标准函数库有一个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头文件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     *******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.h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命令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意义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将源文件包含到当前源程序文件中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形式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#include  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文件名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#include 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文件名”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标准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I/O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函数头文件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741680"/>
          </a:xfrm>
        </p:spPr>
        <p:txBody>
          <a:bodyPr/>
          <a:p>
            <a:pPr algn="l"/>
            <a:r>
              <a:rPr lang="zh-CN" altLang="en-US"/>
              <a:t>课程设计界面展示（23</a:t>
            </a:r>
            <a:r>
              <a:rPr lang="zh-CN" altLang="en-US"/>
              <a:t>级李昊轩）</a:t>
            </a:r>
            <a:endParaRPr lang="zh-CN" altLang="en-US"/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rcRect t="54437"/>
          <a:stretch>
            <a:fillRect/>
          </a:stretch>
        </p:blipFill>
        <p:spPr>
          <a:xfrm>
            <a:off x="76200" y="777875"/>
            <a:ext cx="7750810" cy="2995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975" y="1079500"/>
            <a:ext cx="7185025" cy="57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33221E-821A-4A2F-B774-CCC858C06EC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10972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§2.6.1 ~ 2.6.2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字符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I/O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5813425" cy="265049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输入函数 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getchar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功能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从标准输入设备（键盘）上读入一个字符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Arial" panose="020B0604020202020204" pitchFamily="34" charset="0"/>
                <a:cs typeface="+mn-ea"/>
                <a:sym typeface="+mn-ea"/>
                <a:hlinkClick r:id="rId1" action="ppaction://hlinksldjump"/>
              </a:rPr>
              <a:t>【概念】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  <a:hlinkClick r:id="rId1" action="ppaction://hlinksldjump"/>
              </a:rPr>
              <a:t>函数原型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getchar(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void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);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函数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的返回值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成功：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读入字符的ASCII码（整数）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失败或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结束：EOF(-1)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【概念】函数调用</a:t>
            </a:r>
            <a:endParaRPr lang="zh-CN" altLang="en-US" sz="1400" b="1" noProof="0" dirty="0">
              <a:ln>
                <a:noFill/>
              </a:ln>
              <a:solidFill>
                <a:schemeClr val="tx1"/>
              </a:solidFill>
              <a:uLnTx/>
              <a:uFillTx/>
              <a:latin typeface="Arial" panose="020B0604020202020204" pitchFamily="34" charset="0"/>
              <a:cs typeface="+mn-ea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1400" b="1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      </a:t>
            </a: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char ch=getchar();</a:t>
            </a:r>
            <a:endParaRPr lang="zh-CN" altLang="en-US" sz="1400" b="1" noProof="0" dirty="0">
              <a:ln>
                <a:noFill/>
              </a:ln>
              <a:solidFill>
                <a:schemeClr val="tx1"/>
              </a:solidFill>
              <a:uLnTx/>
              <a:uFillTx/>
              <a:latin typeface="Arial" panose="020B0604020202020204" pitchFamily="34" charset="0"/>
              <a:cs typeface="+mn-ea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  <a:sym typeface="+mn-ea"/>
            </a:endParaRPr>
          </a:p>
        </p:txBody>
      </p:sp>
      <p:sp>
        <p:nvSpPr>
          <p:cNvPr id="508932" name="Text Box 4"/>
          <p:cNvSpPr txBox="1">
            <a:spLocks noChangeArrowheads="1"/>
          </p:cNvSpPr>
          <p:nvPr/>
        </p:nvSpPr>
        <p:spPr bwMode="auto">
          <a:xfrm>
            <a:off x="5715000" y="1297305"/>
            <a:ext cx="4572000" cy="5035550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</a:ln>
          <a:effectLst/>
        </p:spPr>
        <p:txBody>
          <a:bodyPr>
            <a:noAutofit/>
          </a:bodyPr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课后实践</a:t>
            </a: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该程序功能？</a:t>
            </a:r>
            <a:endParaRPr kumimoji="0" lang="en-US" altLang="zh-CN" sz="2800" kern="1200" cap="none" spc="0" normalizeH="0" baseline="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800" kern="1200" cap="none" spc="0" normalizeH="0" baseline="0" noProof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char </a:t>
            </a:r>
            <a:r>
              <a:rPr kumimoji="0" lang="en-US" altLang="zh-CN" sz="2800" kern="1200" cap="none" spc="0" normalizeH="0" baseline="0" noProof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kern="1200" cap="none" spc="0" normalizeH="0" baseline="0" noProof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0" lang="en-US" altLang="zh-CN" sz="2800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()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kern="1200" cap="none" spc="0" normalizeH="0" baseline="0" noProof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putchar</a:t>
            </a:r>
            <a:r>
              <a:rPr kumimoji="0" lang="en-US" altLang="zh-CN" sz="2800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ch+3</a:t>
            </a:r>
            <a:r>
              <a:rPr kumimoji="0" lang="en-US" altLang="zh-CN" sz="2800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	return 0;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3827780"/>
            <a:ext cx="4733925" cy="3030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输出函数 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putchar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(int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型表达式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功能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将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型表达式的值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转换成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char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型，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输出到标准输出设备（显示器）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函数原型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putchar(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)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;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函数的返回值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成功：所输出的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int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型整数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失败或结束：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EOF(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-1)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R="0" lvl="1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函数调用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char 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ch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=‘c’;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putchar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ch+3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)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;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9C8ECD-2761-4EDE-8A7A-900A67455AB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683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§2.6.3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格式输入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0" y="1341438"/>
            <a:ext cx="11277600" cy="5040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形式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( 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格式控制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输入列表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功能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	其操作是从标准输入设备上读入一系列数据，按格式控制的要求进行转换并送入输入列表所列的诸变量中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返回值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输入的数据个数          如果输入操作正确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EOF                   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否则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A8B85B-A8A2-420B-A17C-125C7FD2162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814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676400"/>
            <a:ext cx="8640763" cy="167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格式控制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“%d %c %f %d”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地址列表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, 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v2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, 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v3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, … , &amp;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vn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8147" name="Rectangle 3"/>
          <p:cNvSpPr>
            <a:spLocks noChangeArrowheads="1"/>
          </p:cNvSpPr>
          <p:nvPr/>
        </p:nvSpPr>
        <p:spPr bwMode="auto">
          <a:xfrm>
            <a:off x="1676400" y="838200"/>
            <a:ext cx="6545263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  (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&lt;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格式控制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&lt;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输入列表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74385A-074D-49BE-8902-7023AEEFFEC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867" name="Group 36"/>
          <p:cNvGrpSpPr/>
          <p:nvPr/>
        </p:nvGrpSpPr>
        <p:grpSpPr>
          <a:xfrm>
            <a:off x="0" y="1219200"/>
            <a:ext cx="8569325" cy="3962400"/>
            <a:chOff x="192" y="144"/>
            <a:chExt cx="5398" cy="2496"/>
          </a:xfrm>
        </p:grpSpPr>
        <p:sp>
          <p:nvSpPr>
            <p:cNvPr id="520196" name="Rectangle 4"/>
            <p:cNvSpPr>
              <a:spLocks noChangeArrowheads="1"/>
            </p:cNvSpPr>
            <p:nvPr/>
          </p:nvSpPr>
          <p:spPr bwMode="auto">
            <a:xfrm>
              <a:off x="4071" y="2296"/>
              <a:ext cx="1519" cy="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%e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0197" name="Rectangle 5"/>
            <p:cNvSpPr>
              <a:spLocks noChangeArrowheads="1"/>
            </p:cNvSpPr>
            <p:nvPr/>
          </p:nvSpPr>
          <p:spPr bwMode="auto">
            <a:xfrm>
              <a:off x="4071" y="1938"/>
              <a:ext cx="1519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%f 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0198" name="Rectangle 6"/>
            <p:cNvSpPr>
              <a:spLocks noChangeArrowheads="1"/>
            </p:cNvSpPr>
            <p:nvPr/>
          </p:nvSpPr>
          <p:spPr bwMode="auto">
            <a:xfrm>
              <a:off x="1878" y="1938"/>
              <a:ext cx="2193" cy="7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以小数或指数形式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199" name="Rectangle 7"/>
            <p:cNvSpPr>
              <a:spLocks noChangeArrowheads="1"/>
            </p:cNvSpPr>
            <p:nvPr/>
          </p:nvSpPr>
          <p:spPr bwMode="auto">
            <a:xfrm>
              <a:off x="192" y="1938"/>
              <a:ext cx="1686" cy="7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浮点数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0" name="Rectangle 8"/>
            <p:cNvSpPr>
              <a:spLocks noChangeArrowheads="1"/>
            </p:cNvSpPr>
            <p:nvPr/>
          </p:nvSpPr>
          <p:spPr bwMode="auto">
            <a:xfrm>
              <a:off x="4071" y="1578"/>
              <a:ext cx="1519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%s</a:t>
              </a:r>
              <a:endPara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0201" name="Rectangle 9"/>
            <p:cNvSpPr>
              <a:spLocks noChangeArrowheads="1"/>
            </p:cNvSpPr>
            <p:nvPr/>
          </p:nvSpPr>
          <p:spPr bwMode="auto">
            <a:xfrm>
              <a:off x="1878" y="1578"/>
              <a:ext cx="2193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2" name="Rectangle 10"/>
            <p:cNvSpPr>
              <a:spLocks noChangeArrowheads="1"/>
            </p:cNvSpPr>
            <p:nvPr/>
          </p:nvSpPr>
          <p:spPr bwMode="auto">
            <a:xfrm>
              <a:off x="192" y="1578"/>
              <a:ext cx="1686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字符串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3" name="Rectangle 11"/>
            <p:cNvSpPr>
              <a:spLocks noChangeArrowheads="1"/>
            </p:cNvSpPr>
            <p:nvPr/>
          </p:nvSpPr>
          <p:spPr bwMode="auto">
            <a:xfrm>
              <a:off x="4071" y="1220"/>
              <a:ext cx="1519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%c</a:t>
              </a:r>
              <a:endPara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0204" name="Rectangle 12"/>
            <p:cNvSpPr>
              <a:spLocks noChangeArrowheads="1"/>
            </p:cNvSpPr>
            <p:nvPr/>
          </p:nvSpPr>
          <p:spPr bwMode="auto">
            <a:xfrm>
              <a:off x="1878" y="1220"/>
              <a:ext cx="2193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5" name="Rectangle 13"/>
            <p:cNvSpPr>
              <a:spLocks noChangeArrowheads="1"/>
            </p:cNvSpPr>
            <p:nvPr/>
          </p:nvSpPr>
          <p:spPr bwMode="auto">
            <a:xfrm>
              <a:off x="192" y="1220"/>
              <a:ext cx="1686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单个字符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6" name="Rectangle 14"/>
            <p:cNvSpPr>
              <a:spLocks noChangeArrowheads="1"/>
            </p:cNvSpPr>
            <p:nvPr/>
          </p:nvSpPr>
          <p:spPr bwMode="auto">
            <a:xfrm>
              <a:off x="4071" y="862"/>
              <a:ext cx="1519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%u</a:t>
              </a:r>
              <a:endPara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7" name="Rectangle 15"/>
            <p:cNvSpPr>
              <a:spLocks noChangeArrowheads="1"/>
            </p:cNvSpPr>
            <p:nvPr/>
          </p:nvSpPr>
          <p:spPr bwMode="auto">
            <a:xfrm>
              <a:off x="1878" y="862"/>
              <a:ext cx="2193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无符号</a:t>
              </a: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进制整数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08" name="Rectangle 16"/>
            <p:cNvSpPr>
              <a:spLocks noChangeArrowheads="1"/>
            </p:cNvSpPr>
            <p:nvPr/>
          </p:nvSpPr>
          <p:spPr bwMode="auto">
            <a:xfrm>
              <a:off x="4071" y="502"/>
              <a:ext cx="1519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%d</a:t>
              </a:r>
              <a:endPara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0209" name="Rectangle 17"/>
            <p:cNvSpPr>
              <a:spLocks noChangeArrowheads="1"/>
            </p:cNvSpPr>
            <p:nvPr/>
          </p:nvSpPr>
          <p:spPr bwMode="auto">
            <a:xfrm>
              <a:off x="1878" y="502"/>
              <a:ext cx="2193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带符号</a:t>
              </a: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进制整数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10" name="Rectangle 18"/>
            <p:cNvSpPr>
              <a:spLocks noChangeArrowheads="1"/>
            </p:cNvSpPr>
            <p:nvPr/>
          </p:nvSpPr>
          <p:spPr bwMode="auto">
            <a:xfrm>
              <a:off x="192" y="502"/>
              <a:ext cx="1686" cy="7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整数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11" name="Rectangle 19"/>
            <p:cNvSpPr>
              <a:spLocks noChangeArrowheads="1"/>
            </p:cNvSpPr>
            <p:nvPr/>
          </p:nvSpPr>
          <p:spPr bwMode="auto">
            <a:xfrm>
              <a:off x="4071" y="144"/>
              <a:ext cx="1519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格式控制符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12" name="Rectangle 20"/>
            <p:cNvSpPr>
              <a:spLocks noChangeArrowheads="1"/>
            </p:cNvSpPr>
            <p:nvPr/>
          </p:nvSpPr>
          <p:spPr bwMode="auto">
            <a:xfrm>
              <a:off x="1878" y="144"/>
              <a:ext cx="2193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输入要求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0213" name="Rectangle 21"/>
            <p:cNvSpPr>
              <a:spLocks noChangeArrowheads="1"/>
            </p:cNvSpPr>
            <p:nvPr/>
          </p:nvSpPr>
          <p:spPr bwMode="auto">
            <a:xfrm>
              <a:off x="192" y="144"/>
              <a:ext cx="1686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输入数据类型</a:t>
              </a: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88" name="Line 22"/>
            <p:cNvSpPr/>
            <p:nvPr/>
          </p:nvSpPr>
          <p:spPr>
            <a:xfrm>
              <a:off x="192" y="144"/>
              <a:ext cx="539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9" name="Line 23"/>
            <p:cNvSpPr/>
            <p:nvPr/>
          </p:nvSpPr>
          <p:spPr>
            <a:xfrm>
              <a:off x="192" y="502"/>
              <a:ext cx="539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0" name="Line 24"/>
            <p:cNvSpPr/>
            <p:nvPr/>
          </p:nvSpPr>
          <p:spPr>
            <a:xfrm>
              <a:off x="192" y="1220"/>
              <a:ext cx="539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1" name="Line 25"/>
            <p:cNvSpPr/>
            <p:nvPr/>
          </p:nvSpPr>
          <p:spPr>
            <a:xfrm>
              <a:off x="192" y="1578"/>
              <a:ext cx="539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2" name="Line 26"/>
            <p:cNvSpPr/>
            <p:nvPr/>
          </p:nvSpPr>
          <p:spPr>
            <a:xfrm>
              <a:off x="192" y="1938"/>
              <a:ext cx="539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3" name="Line 27"/>
            <p:cNvSpPr/>
            <p:nvPr/>
          </p:nvSpPr>
          <p:spPr>
            <a:xfrm>
              <a:off x="192" y="144"/>
              <a:ext cx="0" cy="2496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4" name="Line 28"/>
            <p:cNvSpPr/>
            <p:nvPr/>
          </p:nvSpPr>
          <p:spPr>
            <a:xfrm flipH="1">
              <a:off x="1872" y="144"/>
              <a:ext cx="6" cy="2496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5" name="Line 29"/>
            <p:cNvSpPr/>
            <p:nvPr/>
          </p:nvSpPr>
          <p:spPr>
            <a:xfrm>
              <a:off x="4071" y="144"/>
              <a:ext cx="9" cy="2496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6" name="Line 31"/>
            <p:cNvSpPr/>
            <p:nvPr/>
          </p:nvSpPr>
          <p:spPr>
            <a:xfrm>
              <a:off x="1878" y="862"/>
              <a:ext cx="3712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7" name="Line 32"/>
            <p:cNvSpPr/>
            <p:nvPr/>
          </p:nvSpPr>
          <p:spPr>
            <a:xfrm>
              <a:off x="4071" y="2296"/>
              <a:ext cx="1519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0227" name="Text Box 35"/>
          <p:cNvSpPr txBox="1">
            <a:spLocks noChangeArrowheads="1"/>
          </p:cNvSpPr>
          <p:nvPr/>
        </p:nvSpPr>
        <p:spPr bwMode="auto">
          <a:xfrm>
            <a:off x="8588375" y="1806575"/>
            <a:ext cx="1927225" cy="4619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ts val="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r>
              <a:rPr kumimoji="0" lang="en-US" altLang="zh-CN" sz="2400" kern="1200" cap="none" spc="0" normalizeH="0" baseline="0" noProof="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ld</a:t>
            </a:r>
            <a:r>
              <a:rPr kumimoji="0" lang="en-US" altLang="zh-CN" sz="24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, %</a:t>
            </a:r>
            <a:r>
              <a:rPr kumimoji="0" lang="en-US" altLang="zh-CN" sz="2400" kern="1200" cap="none" spc="0" normalizeH="0" baseline="0" noProof="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lld</a:t>
            </a:r>
            <a:endParaRPr kumimoji="0" lang="en-US" altLang="zh-CN" sz="2400" kern="1200" cap="none" spc="0" normalizeH="0" baseline="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588375" y="4144963"/>
            <a:ext cx="10668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lf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7309CF-8787-44AA-9C81-D7F054B2AFD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42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333375"/>
            <a:ext cx="12039600" cy="6372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设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型变量、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char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型变量、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float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型变量、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型变量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“%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d%c%f%d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 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 , &amp;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, &amp;v , &amp;k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从键盘上输入数据             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1234 □ □ 123e+2 □ □987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↙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得到整数数据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1234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得到字符型数据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空格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得到浮点型数据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12300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k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得到整数数据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987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300"/>
                                        <p:tgtEl>
                                          <p:spTgt spid="522242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300"/>
                                        <p:tgtEl>
                                          <p:spTgt spid="522242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300"/>
                                        <p:tgtEl>
                                          <p:spTgt spid="522242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>
                                            <p:txEl>
                                              <p:charRg st="14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22242">
                                            <p:txEl>
                                              <p:charRg st="140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>
                                            <p:txEl>
                                              <p:charRg st="158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42">
                                            <p:txEl>
                                              <p:charRg st="158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>
                                            <p:txEl>
                                              <p:charRg st="175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22242">
                                            <p:txEl>
                                              <p:charRg st="175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>
                                            <p:txEl>
                                              <p:charRg st="193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22242">
                                            <p:txEl>
                                              <p:charRg st="193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0A4990-D58F-491D-8A7E-06EB9B4D134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76200"/>
            <a:ext cx="91440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输入数据时时应注意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分离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提示信息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输入部分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4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09638"/>
            <a:ext cx="6400800" cy="2438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d%d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",&amp;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a,&amp;b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%d",&amp;a,&amp;b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 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d",&amp;a,&amp;b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a=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 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,b=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d",&amp;a,&amp;b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4292" name="Rectangle 4"/>
          <p:cNvSpPr>
            <a:spLocks noChangeArrowheads="1"/>
          </p:cNvSpPr>
          <p:nvPr/>
        </p:nvSpPr>
        <p:spPr bwMode="auto">
          <a:xfrm>
            <a:off x="7315200" y="838200"/>
            <a:ext cx="3200400" cy="2133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4  5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5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   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a=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,b=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298450" y="4156075"/>
            <a:ext cx="7239000" cy="12192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的值：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\n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d%d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",&amp;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a,&amp;b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76213" y="3271838"/>
            <a:ext cx="8810625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的值：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\n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d%d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",&amp;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a,&amp;b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Group 3"/>
          <p:cNvGrpSpPr/>
          <p:nvPr/>
        </p:nvGrpSpPr>
        <p:grpSpPr>
          <a:xfrm>
            <a:off x="2057400" y="3200400"/>
            <a:ext cx="3124200" cy="833438"/>
            <a:chOff x="4014" y="3475"/>
            <a:chExt cx="590" cy="454"/>
          </a:xfrm>
        </p:grpSpPr>
        <p:sp>
          <p:nvSpPr>
            <p:cNvPr id="40972" name="Line 4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3" name="Line 5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3"/>
          <p:cNvGrpSpPr/>
          <p:nvPr/>
        </p:nvGrpSpPr>
        <p:grpSpPr>
          <a:xfrm flipH="1">
            <a:off x="323850" y="1493838"/>
            <a:ext cx="762000" cy="1431925"/>
            <a:chOff x="4014" y="3475"/>
            <a:chExt cx="590" cy="454"/>
          </a:xfrm>
        </p:grpSpPr>
        <p:sp>
          <p:nvSpPr>
            <p:cNvPr id="40970" name="Line 4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1" name="Line 5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0"/>
            <a:ext cx="6250940" cy="678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1" name="图片 4"/>
          <p:cNvPicPr>
            <a:picLocks noChangeAspect="1"/>
          </p:cNvPicPr>
          <p:nvPr/>
        </p:nvPicPr>
        <p:blipFill>
          <a:blip r:embed="rId2"/>
          <a:srcRect t="28649" r="35879"/>
          <a:stretch>
            <a:fillRect/>
          </a:stretch>
        </p:blipFill>
        <p:spPr>
          <a:xfrm>
            <a:off x="6324600" y="381000"/>
            <a:ext cx="5551805" cy="3105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395085" y="3886200"/>
            <a:ext cx="548132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highlight>
                  <a:srgbClr val="FF0000"/>
                </a:highlight>
              </a:rPr>
              <a:t>OJ</a:t>
            </a:r>
            <a:r>
              <a:rPr lang="zh-CN" altLang="en-US" sz="2400" b="1" dirty="0">
                <a:highlight>
                  <a:srgbClr val="FF0000"/>
                </a:highlight>
              </a:rPr>
              <a:t>类型的题目中，</a:t>
            </a:r>
            <a:r>
              <a:rPr lang="en-US" altLang="zh-CN" sz="2400" b="1" dirty="0">
                <a:highlight>
                  <a:srgbClr val="FF0000"/>
                </a:highlight>
              </a:rPr>
              <a:t>I/O</a:t>
            </a:r>
            <a:r>
              <a:rPr lang="zh-CN" altLang="en-US" sz="2400" b="1" dirty="0">
                <a:highlight>
                  <a:srgbClr val="FF0000"/>
                </a:highlight>
              </a:rPr>
              <a:t>不要出现与题目样例不符的多余信息！</a:t>
            </a:r>
            <a:r>
              <a:rPr lang="zh-CN" altLang="en-US" sz="2400" b="1" dirty="0"/>
              <a:t>例如：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trike="sngStrike" dirty="0"/>
              <a:t>printf(“</a:t>
            </a:r>
            <a:r>
              <a:rPr lang="en-US" altLang="zh-CN" sz="2000" b="1" strike="sngStrike" dirty="0"/>
              <a:t>Please enter x1,x2,x3:\n”</a:t>
            </a:r>
            <a:r>
              <a:rPr lang="en-US" altLang="zh-CN" sz="2400" b="1" strike="sngStrike" dirty="0"/>
              <a:t>);</a:t>
            </a:r>
            <a:endParaRPr lang="en-US" altLang="zh-CN" sz="2400" b="1" strike="sngStrike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……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printf(“</a:t>
            </a:r>
            <a:r>
              <a:rPr lang="en-US" altLang="zh-CN" sz="2400" b="1" strike="sngStrike" dirty="0">
                <a:solidFill>
                  <a:schemeClr val="tx1"/>
                </a:solidFill>
              </a:rPr>
              <a:t>d=</a:t>
            </a:r>
            <a:r>
              <a:rPr lang="en-US" altLang="zh-CN" sz="2400" b="1" dirty="0"/>
              <a:t>%.3f”,d);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图片 3"/>
          <p:cNvPicPr>
            <a:picLocks noChangeAspect="1"/>
          </p:cNvPicPr>
          <p:nvPr/>
        </p:nvPicPr>
        <p:blipFill>
          <a:blip r:embed="rId1"/>
          <a:srcRect b="29169"/>
          <a:stretch>
            <a:fillRect/>
          </a:stretch>
        </p:blipFill>
        <p:spPr>
          <a:xfrm>
            <a:off x="152400" y="152400"/>
            <a:ext cx="7391400" cy="259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6200" y="2667000"/>
            <a:ext cx="8246110" cy="397891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【注意】源程序的命名</a:t>
            </a:r>
            <a:endParaRPr kumimoji="0" lang="en-US" altLang="zh-CN" sz="2800" kern="1200" cap="none" spc="0" normalizeH="0" baseline="0" noProof="0" dirty="0">
              <a:solidFill>
                <a:schemeClr val="accent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不要使用汉字（用英文单词）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_ 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替代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noProof="0" dirty="0">
                <a:sym typeface="+mn-ea"/>
              </a:rPr>
              <a:t>空格</a:t>
            </a:r>
            <a:endParaRPr lang="zh-CN" altLang="en-US" sz="2800" noProof="0" dirty="0">
              <a:sym typeface="+mn-ea"/>
            </a:endParaRPr>
          </a:p>
          <a:p>
            <a:pPr marL="457200" marR="0" indent="-457200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例如：</a:t>
            </a:r>
            <a:r>
              <a:rPr kumimoji="0" lang="en-US" altLang="zh-CN" sz="28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ex03_01.c</a:t>
            </a:r>
            <a:endParaRPr kumimoji="0" lang="en-US" altLang="zh-CN" sz="2800" kern="1200" cap="none" spc="0" normalizeH="0" baseline="0" noProof="0" dirty="0">
              <a:solidFill>
                <a:schemeClr val="accent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defTabSz="914400"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800" kern="1200" cap="none" spc="0" normalizeH="0" baseline="0" noProof="0" dirty="0">
              <a:solidFill>
                <a:schemeClr val="accent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不建议：</a:t>
            </a:r>
            <a:endParaRPr kumimoji="0" lang="zh-CN" altLang="en-US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lvl="1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ex03 01.c</a:t>
            </a:r>
            <a:endParaRPr kumimoji="0" lang="en-US" altLang="zh-CN" sz="2800" kern="1200" cap="none" spc="0" normalizeH="0" baseline="0" noProof="0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lvl="1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ex03.01.c</a:t>
            </a:r>
            <a:endParaRPr kumimoji="0" lang="en-US" altLang="zh-CN" sz="2800" kern="1200" cap="none" spc="0" normalizeH="0" baseline="0" noProof="0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lvl="1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温度转换</a:t>
            </a:r>
            <a:r>
              <a:rPr kumimoji="0" lang="en-US" altLang="zh-CN" sz="2800" kern="1200" cap="none" spc="0" normalizeH="0" baseline="0" noProof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.c</a:t>
            </a:r>
            <a:endParaRPr kumimoji="0" lang="en-US" altLang="zh-CN" sz="2800" kern="1200" cap="none" spc="0" normalizeH="0" baseline="0" noProof="0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defTabSz="914400"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800" kern="1200" cap="none" spc="0" normalizeH="0" baseline="0" noProof="0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086485" y="76200"/>
            <a:ext cx="1275715" cy="609600"/>
          </a:xfrm>
          <a:prstGeom prst="ellipse">
            <a:avLst/>
          </a:prstGeom>
          <a:noFill/>
          <a:ln w="34925">
            <a:solidFill>
              <a:srgbClr val="FF0066"/>
            </a:solidFill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2F55AD-8C96-4032-8BDD-D60DBCABEA0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§2.6.4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格式输出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341438"/>
            <a:ext cx="11734800" cy="511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形式</a:t>
            </a:r>
            <a:b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  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格式控制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输出列表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功能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其操作是按照格式控制的要求，把输出列表上的数据转换成字符串，送入标准输出设备上输出。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函数值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输出的字符个数         如果输出操作正确；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EOF                        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否则。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27E01D-C038-4FF3-A060-5EC33E2D7F5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73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22238" y="65088"/>
            <a:ext cx="8686800" cy="2057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输出列表 </a:t>
            </a:r>
            <a:r>
              <a:rPr kumimoji="0" lang="en-US" altLang="zh-CN" sz="28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e1 , e2 , e3 , … , en</a:t>
            </a:r>
            <a:endParaRPr kumimoji="0" lang="en-US" altLang="zh-CN" sz="2800" b="1" i="1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age=18; float score=90;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“%d %f”, age, score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);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注意：输出列表中无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14300" y="2646363"/>
            <a:ext cx="11963400" cy="4059237"/>
            <a:chOff x="295" y="1480"/>
            <a:chExt cx="5307" cy="2557"/>
          </a:xfrm>
        </p:grpSpPr>
        <p:sp>
          <p:nvSpPr>
            <p:cNvPr id="527364" name="Rectangle 4"/>
            <p:cNvSpPr>
              <a:spLocks noChangeArrowheads="1"/>
            </p:cNvSpPr>
            <p:nvPr/>
          </p:nvSpPr>
          <p:spPr bwMode="auto">
            <a:xfrm>
              <a:off x="3788" y="3520"/>
              <a:ext cx="1814" cy="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以字符形式输出一个字符：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65" name="Rectangle 5"/>
            <p:cNvSpPr>
              <a:spLocks noChangeArrowheads="1"/>
            </p:cNvSpPr>
            <p:nvPr/>
          </p:nvSpPr>
          <p:spPr bwMode="auto">
            <a:xfrm>
              <a:off x="2835" y="3520"/>
              <a:ext cx="953" cy="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66" name="Rectangle 6"/>
            <p:cNvSpPr>
              <a:spLocks noChangeArrowheads="1"/>
            </p:cNvSpPr>
            <p:nvPr/>
          </p:nvSpPr>
          <p:spPr bwMode="auto">
            <a:xfrm>
              <a:off x="1928" y="3520"/>
              <a:ext cx="907" cy="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67" name="Rectangle 7"/>
            <p:cNvSpPr>
              <a:spLocks noChangeArrowheads="1"/>
            </p:cNvSpPr>
            <p:nvPr/>
          </p:nvSpPr>
          <p:spPr bwMode="auto">
            <a:xfrm>
              <a:off x="1021" y="3520"/>
              <a:ext cx="907" cy="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%c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68" name="Rectangle 8"/>
            <p:cNvSpPr>
              <a:spLocks noChangeArrowheads="1"/>
            </p:cNvSpPr>
            <p:nvPr/>
          </p:nvSpPr>
          <p:spPr bwMode="auto">
            <a:xfrm>
              <a:off x="295" y="3520"/>
              <a:ext cx="726" cy="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7369" name="Rectangle 9"/>
            <p:cNvSpPr>
              <a:spLocks noChangeArrowheads="1"/>
            </p:cNvSpPr>
            <p:nvPr/>
          </p:nvSpPr>
          <p:spPr bwMode="auto">
            <a:xfrm>
              <a:off x="1021" y="3233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%-mu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0" name="Rectangle 10"/>
            <p:cNvSpPr>
              <a:spLocks noChangeArrowheads="1"/>
            </p:cNvSpPr>
            <p:nvPr/>
          </p:nvSpPr>
          <p:spPr bwMode="auto">
            <a:xfrm>
              <a:off x="1021" y="2946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%mu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1" name="Rectangle 11"/>
            <p:cNvSpPr>
              <a:spLocks noChangeArrowheads="1"/>
            </p:cNvSpPr>
            <p:nvPr/>
          </p:nvSpPr>
          <p:spPr bwMode="auto">
            <a:xfrm>
              <a:off x="3788" y="2659"/>
              <a:ext cx="1814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以无符号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进制形式输出整数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2" name="Rectangle 12"/>
            <p:cNvSpPr>
              <a:spLocks noChangeArrowheads="1"/>
            </p:cNvSpPr>
            <p:nvPr/>
          </p:nvSpPr>
          <p:spPr bwMode="auto">
            <a:xfrm>
              <a:off x="2835" y="2659"/>
              <a:ext cx="953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3" name="Rectangle 13"/>
            <p:cNvSpPr>
              <a:spLocks noChangeArrowheads="1"/>
            </p:cNvSpPr>
            <p:nvPr/>
          </p:nvSpPr>
          <p:spPr bwMode="auto">
            <a:xfrm>
              <a:off x="1928" y="2659"/>
              <a:ext cx="907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4" name="Rectangle 14"/>
            <p:cNvSpPr>
              <a:spLocks noChangeArrowheads="1"/>
            </p:cNvSpPr>
            <p:nvPr/>
          </p:nvSpPr>
          <p:spPr bwMode="auto">
            <a:xfrm>
              <a:off x="1021" y="2659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%u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5" name="Rectangle 15"/>
            <p:cNvSpPr>
              <a:spLocks noChangeArrowheads="1"/>
            </p:cNvSpPr>
            <p:nvPr/>
          </p:nvSpPr>
          <p:spPr bwMode="auto">
            <a:xfrm>
              <a:off x="295" y="2659"/>
              <a:ext cx="726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6" name="Rectangle 16"/>
            <p:cNvSpPr>
              <a:spLocks noChangeArrowheads="1"/>
            </p:cNvSpPr>
            <p:nvPr/>
          </p:nvSpPr>
          <p:spPr bwMode="auto">
            <a:xfrm>
              <a:off x="1021" y="2372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md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7" name="Rectangle 17"/>
            <p:cNvSpPr>
              <a:spLocks noChangeArrowheads="1"/>
            </p:cNvSpPr>
            <p:nvPr/>
          </p:nvSpPr>
          <p:spPr bwMode="auto">
            <a:xfrm>
              <a:off x="1021" y="2085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8" name="Rectangle 18"/>
            <p:cNvSpPr>
              <a:spLocks noChangeArrowheads="1"/>
            </p:cNvSpPr>
            <p:nvPr/>
          </p:nvSpPr>
          <p:spPr bwMode="auto">
            <a:xfrm>
              <a:off x="3788" y="1798"/>
              <a:ext cx="1814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以带符号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进制形式输出整数（正数不输出符号）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79" name="Rectangle 19"/>
            <p:cNvSpPr>
              <a:spLocks noChangeArrowheads="1"/>
            </p:cNvSpPr>
            <p:nvPr/>
          </p:nvSpPr>
          <p:spPr bwMode="auto">
            <a:xfrm>
              <a:off x="2835" y="1798"/>
              <a:ext cx="953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0" name="Rectangle 20"/>
            <p:cNvSpPr>
              <a:spLocks noChangeArrowheads="1"/>
            </p:cNvSpPr>
            <p:nvPr/>
          </p:nvSpPr>
          <p:spPr bwMode="auto">
            <a:xfrm>
              <a:off x="1928" y="1798"/>
              <a:ext cx="907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1" name="Rectangle 21"/>
            <p:cNvSpPr>
              <a:spLocks noChangeArrowheads="1"/>
            </p:cNvSpPr>
            <p:nvPr/>
          </p:nvSpPr>
          <p:spPr bwMode="auto">
            <a:xfrm>
              <a:off x="1021" y="1798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%d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2" name="Rectangle 22"/>
            <p:cNvSpPr>
              <a:spLocks noChangeArrowheads="1"/>
            </p:cNvSpPr>
            <p:nvPr/>
          </p:nvSpPr>
          <p:spPr bwMode="auto">
            <a:xfrm>
              <a:off x="295" y="1798"/>
              <a:ext cx="726" cy="8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7383" name="Rectangle 23"/>
            <p:cNvSpPr>
              <a:spLocks noChangeArrowheads="1"/>
            </p:cNvSpPr>
            <p:nvPr/>
          </p:nvSpPr>
          <p:spPr bwMode="auto">
            <a:xfrm>
              <a:off x="3788" y="1480"/>
              <a:ext cx="1814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说明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4" name="Rectangle 24"/>
            <p:cNvSpPr>
              <a:spLocks noChangeArrowheads="1"/>
            </p:cNvSpPr>
            <p:nvPr/>
          </p:nvSpPr>
          <p:spPr bwMode="auto">
            <a:xfrm>
              <a:off x="2835" y="1480"/>
              <a:ext cx="953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省缺值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5" name="Rectangle 25"/>
            <p:cNvSpPr>
              <a:spLocks noChangeArrowheads="1"/>
            </p:cNvSpPr>
            <p:nvPr/>
          </p:nvSpPr>
          <p:spPr bwMode="auto">
            <a:xfrm>
              <a:off x="1928" y="1480"/>
              <a:ext cx="907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省缺值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6" name="Rectangle 26"/>
            <p:cNvSpPr>
              <a:spLocks noChangeArrowheads="1"/>
            </p:cNvSpPr>
            <p:nvPr/>
          </p:nvSpPr>
          <p:spPr bwMode="auto">
            <a:xfrm>
              <a:off x="1021" y="1480"/>
              <a:ext cx="907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使用形式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7387" name="Rectangle 27"/>
            <p:cNvSpPr>
              <a:spLocks noChangeArrowheads="1"/>
            </p:cNvSpPr>
            <p:nvPr/>
          </p:nvSpPr>
          <p:spPr bwMode="auto">
            <a:xfrm>
              <a:off x="295" y="1480"/>
              <a:ext cx="72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格式符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158" name="Line 28"/>
            <p:cNvSpPr/>
            <p:nvPr/>
          </p:nvSpPr>
          <p:spPr>
            <a:xfrm>
              <a:off x="295" y="1480"/>
              <a:ext cx="53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9" name="Line 29"/>
            <p:cNvSpPr/>
            <p:nvPr/>
          </p:nvSpPr>
          <p:spPr>
            <a:xfrm>
              <a:off x="295" y="1798"/>
              <a:ext cx="53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0" name="Line 30"/>
            <p:cNvSpPr/>
            <p:nvPr/>
          </p:nvSpPr>
          <p:spPr>
            <a:xfrm>
              <a:off x="295" y="2659"/>
              <a:ext cx="53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1" name="Line 31"/>
            <p:cNvSpPr/>
            <p:nvPr/>
          </p:nvSpPr>
          <p:spPr>
            <a:xfrm>
              <a:off x="295" y="3520"/>
              <a:ext cx="53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2" name="Line 32"/>
            <p:cNvSpPr/>
            <p:nvPr/>
          </p:nvSpPr>
          <p:spPr>
            <a:xfrm>
              <a:off x="295" y="4037"/>
              <a:ext cx="53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3" name="Line 33"/>
            <p:cNvSpPr/>
            <p:nvPr/>
          </p:nvSpPr>
          <p:spPr>
            <a:xfrm>
              <a:off x="295" y="1480"/>
              <a:ext cx="0" cy="2557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4" name="Line 34"/>
            <p:cNvSpPr/>
            <p:nvPr/>
          </p:nvSpPr>
          <p:spPr>
            <a:xfrm>
              <a:off x="1021" y="1480"/>
              <a:ext cx="0" cy="2557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5" name="Line 35"/>
            <p:cNvSpPr/>
            <p:nvPr/>
          </p:nvSpPr>
          <p:spPr>
            <a:xfrm>
              <a:off x="1928" y="1480"/>
              <a:ext cx="0" cy="2557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6" name="Line 36"/>
            <p:cNvSpPr/>
            <p:nvPr/>
          </p:nvSpPr>
          <p:spPr>
            <a:xfrm>
              <a:off x="2835" y="1480"/>
              <a:ext cx="0" cy="2557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7" name="Line 37"/>
            <p:cNvSpPr/>
            <p:nvPr/>
          </p:nvSpPr>
          <p:spPr>
            <a:xfrm>
              <a:off x="3788" y="1480"/>
              <a:ext cx="0" cy="2557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8" name="Line 38"/>
            <p:cNvSpPr/>
            <p:nvPr/>
          </p:nvSpPr>
          <p:spPr>
            <a:xfrm>
              <a:off x="5602" y="1480"/>
              <a:ext cx="0" cy="2557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9" name="Line 39"/>
            <p:cNvSpPr/>
            <p:nvPr/>
          </p:nvSpPr>
          <p:spPr>
            <a:xfrm>
              <a:off x="1021" y="2085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0" name="Line 40"/>
            <p:cNvSpPr/>
            <p:nvPr/>
          </p:nvSpPr>
          <p:spPr>
            <a:xfrm>
              <a:off x="1021" y="2372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1" name="Line 41"/>
            <p:cNvSpPr/>
            <p:nvPr/>
          </p:nvSpPr>
          <p:spPr>
            <a:xfrm>
              <a:off x="1021" y="2946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2" name="Line 42"/>
            <p:cNvSpPr/>
            <p:nvPr/>
          </p:nvSpPr>
          <p:spPr>
            <a:xfrm>
              <a:off x="1021" y="3233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7403" name="Rectangle 43"/>
          <p:cNvSpPr>
            <a:spLocks noChangeArrowheads="1"/>
          </p:cNvSpPr>
          <p:nvPr/>
        </p:nvSpPr>
        <p:spPr bwMode="auto">
          <a:xfrm>
            <a:off x="114300" y="2151063"/>
            <a:ext cx="3733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格式控制</a:t>
            </a:r>
            <a:r>
              <a:rPr kumimoji="0" lang="en-US" altLang="zh-CN" sz="2800" b="1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b="1" i="1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1746E8-A1FD-4898-841B-2F373D9B69B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0179" name="Group 2"/>
          <p:cNvGrpSpPr/>
          <p:nvPr/>
        </p:nvGrpSpPr>
        <p:grpSpPr>
          <a:xfrm>
            <a:off x="0" y="0"/>
            <a:ext cx="12192000" cy="5832475"/>
            <a:chOff x="204" y="210"/>
            <a:chExt cx="5380" cy="3674"/>
          </a:xfrm>
        </p:grpSpPr>
        <p:sp>
          <p:nvSpPr>
            <p:cNvPr id="529411" name="Rectangle 3"/>
            <p:cNvSpPr>
              <a:spLocks noChangeArrowheads="1"/>
            </p:cNvSpPr>
            <p:nvPr/>
          </p:nvSpPr>
          <p:spPr bwMode="auto">
            <a:xfrm>
              <a:off x="944" y="3439"/>
              <a:ext cx="907" cy="4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12" name="Rectangle 4"/>
            <p:cNvSpPr>
              <a:spLocks noChangeArrowheads="1"/>
            </p:cNvSpPr>
            <p:nvPr/>
          </p:nvSpPr>
          <p:spPr bwMode="auto">
            <a:xfrm>
              <a:off x="944" y="3097"/>
              <a:ext cx="907" cy="3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%m.ne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13" name="Rectangle 5"/>
            <p:cNvSpPr>
              <a:spLocks noChangeArrowheads="1"/>
            </p:cNvSpPr>
            <p:nvPr/>
          </p:nvSpPr>
          <p:spPr bwMode="auto">
            <a:xfrm>
              <a:off x="3665" y="2754"/>
              <a:ext cx="1919" cy="1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以指数形式输出实数：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±x.xx…xe±xxx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14" name="Rectangle 6"/>
            <p:cNvSpPr>
              <a:spLocks noChangeArrowheads="1"/>
            </p:cNvSpPr>
            <p:nvPr/>
          </p:nvSpPr>
          <p:spPr bwMode="auto">
            <a:xfrm>
              <a:off x="2713" y="2754"/>
              <a:ext cx="952" cy="1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9415" name="Rectangle 7"/>
            <p:cNvSpPr>
              <a:spLocks noChangeArrowheads="1"/>
            </p:cNvSpPr>
            <p:nvPr/>
          </p:nvSpPr>
          <p:spPr bwMode="auto">
            <a:xfrm>
              <a:off x="1851" y="2754"/>
              <a:ext cx="862" cy="1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16" name="Rectangle 8"/>
            <p:cNvSpPr>
              <a:spLocks noChangeArrowheads="1"/>
            </p:cNvSpPr>
            <p:nvPr/>
          </p:nvSpPr>
          <p:spPr bwMode="auto">
            <a:xfrm>
              <a:off x="944" y="2754"/>
              <a:ext cx="90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%e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17" name="Rectangle 9"/>
            <p:cNvSpPr>
              <a:spLocks noChangeArrowheads="1"/>
            </p:cNvSpPr>
            <p:nvPr/>
          </p:nvSpPr>
          <p:spPr bwMode="auto">
            <a:xfrm>
              <a:off x="204" y="2754"/>
              <a:ext cx="740" cy="1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9418" name="Rectangle 10"/>
            <p:cNvSpPr>
              <a:spLocks noChangeArrowheads="1"/>
            </p:cNvSpPr>
            <p:nvPr/>
          </p:nvSpPr>
          <p:spPr bwMode="auto">
            <a:xfrm>
              <a:off x="944" y="2411"/>
              <a:ext cx="90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%-m.nf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19" name="Rectangle 11"/>
            <p:cNvSpPr>
              <a:spLocks noChangeArrowheads="1"/>
            </p:cNvSpPr>
            <p:nvPr/>
          </p:nvSpPr>
          <p:spPr bwMode="auto">
            <a:xfrm>
              <a:off x="944" y="2069"/>
              <a:ext cx="907" cy="3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m.n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0" name="Rectangle 12"/>
            <p:cNvSpPr>
              <a:spLocks noChangeArrowheads="1"/>
            </p:cNvSpPr>
            <p:nvPr/>
          </p:nvSpPr>
          <p:spPr bwMode="auto">
            <a:xfrm>
              <a:off x="3665" y="1726"/>
              <a:ext cx="1919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以小数形式输出实数：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±xx…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x.xx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…x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1" name="Rectangle 13"/>
            <p:cNvSpPr>
              <a:spLocks noChangeArrowheads="1"/>
            </p:cNvSpPr>
            <p:nvPr/>
          </p:nvSpPr>
          <p:spPr bwMode="auto">
            <a:xfrm>
              <a:off x="2713" y="1726"/>
              <a:ext cx="952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9422" name="Rectangle 14"/>
            <p:cNvSpPr>
              <a:spLocks noChangeArrowheads="1"/>
            </p:cNvSpPr>
            <p:nvPr/>
          </p:nvSpPr>
          <p:spPr bwMode="auto">
            <a:xfrm>
              <a:off x="1851" y="1726"/>
              <a:ext cx="862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3" name="Rectangle 15"/>
            <p:cNvSpPr>
              <a:spLocks noChangeArrowheads="1"/>
            </p:cNvSpPr>
            <p:nvPr/>
          </p:nvSpPr>
          <p:spPr bwMode="auto">
            <a:xfrm>
              <a:off x="944" y="1726"/>
              <a:ext cx="90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%f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4" name="Rectangle 16"/>
            <p:cNvSpPr>
              <a:spLocks noChangeArrowheads="1"/>
            </p:cNvSpPr>
            <p:nvPr/>
          </p:nvSpPr>
          <p:spPr bwMode="auto">
            <a:xfrm>
              <a:off x="204" y="1726"/>
              <a:ext cx="740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9425" name="Rectangle 17"/>
            <p:cNvSpPr>
              <a:spLocks noChangeArrowheads="1"/>
            </p:cNvSpPr>
            <p:nvPr/>
          </p:nvSpPr>
          <p:spPr bwMode="auto">
            <a:xfrm>
              <a:off x="944" y="1383"/>
              <a:ext cx="90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%-ms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6" name="Rectangle 18"/>
            <p:cNvSpPr>
              <a:spLocks noChangeArrowheads="1"/>
            </p:cNvSpPr>
            <p:nvPr/>
          </p:nvSpPr>
          <p:spPr bwMode="auto">
            <a:xfrm>
              <a:off x="944" y="1041"/>
              <a:ext cx="907" cy="3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%ms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7" name="Rectangle 19"/>
            <p:cNvSpPr>
              <a:spLocks noChangeArrowheads="1"/>
            </p:cNvSpPr>
            <p:nvPr/>
          </p:nvSpPr>
          <p:spPr bwMode="auto">
            <a:xfrm>
              <a:off x="3665" y="698"/>
              <a:ext cx="1919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输出字符串：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cc…c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8" name="Rectangle 20"/>
            <p:cNvSpPr>
              <a:spLocks noChangeArrowheads="1"/>
            </p:cNvSpPr>
            <p:nvPr/>
          </p:nvSpPr>
          <p:spPr bwMode="auto">
            <a:xfrm>
              <a:off x="2713" y="698"/>
              <a:ext cx="952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29" name="Rectangle 21"/>
            <p:cNvSpPr>
              <a:spLocks noChangeArrowheads="1"/>
            </p:cNvSpPr>
            <p:nvPr/>
          </p:nvSpPr>
          <p:spPr bwMode="auto">
            <a:xfrm>
              <a:off x="1851" y="698"/>
              <a:ext cx="862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字符串长度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30" name="Rectangle 22"/>
            <p:cNvSpPr>
              <a:spLocks noChangeArrowheads="1"/>
            </p:cNvSpPr>
            <p:nvPr/>
          </p:nvSpPr>
          <p:spPr bwMode="auto">
            <a:xfrm>
              <a:off x="944" y="698"/>
              <a:ext cx="90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%s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31" name="Rectangle 23"/>
            <p:cNvSpPr>
              <a:spLocks noChangeArrowheads="1"/>
            </p:cNvSpPr>
            <p:nvPr/>
          </p:nvSpPr>
          <p:spPr bwMode="auto">
            <a:xfrm>
              <a:off x="204" y="698"/>
              <a:ext cx="740" cy="10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9432" name="Rectangle 24"/>
            <p:cNvSpPr>
              <a:spLocks noChangeArrowheads="1"/>
            </p:cNvSpPr>
            <p:nvPr/>
          </p:nvSpPr>
          <p:spPr bwMode="auto">
            <a:xfrm>
              <a:off x="3665" y="210"/>
              <a:ext cx="1919" cy="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说明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33" name="Rectangle 25"/>
            <p:cNvSpPr>
              <a:spLocks noChangeArrowheads="1"/>
            </p:cNvSpPr>
            <p:nvPr/>
          </p:nvSpPr>
          <p:spPr bwMode="auto">
            <a:xfrm>
              <a:off x="2713" y="210"/>
              <a:ext cx="952" cy="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省缺值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34" name="Rectangle 26"/>
            <p:cNvSpPr>
              <a:spLocks noChangeArrowheads="1"/>
            </p:cNvSpPr>
            <p:nvPr/>
          </p:nvSpPr>
          <p:spPr bwMode="auto">
            <a:xfrm>
              <a:off x="1851" y="210"/>
              <a:ext cx="952" cy="4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省缺值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35" name="Rectangle 27"/>
            <p:cNvSpPr>
              <a:spLocks noChangeArrowheads="1"/>
            </p:cNvSpPr>
            <p:nvPr/>
          </p:nvSpPr>
          <p:spPr bwMode="auto">
            <a:xfrm>
              <a:off x="944" y="210"/>
              <a:ext cx="907" cy="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使用形式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9436" name="Rectangle 28"/>
            <p:cNvSpPr>
              <a:spLocks noChangeArrowheads="1"/>
            </p:cNvSpPr>
            <p:nvPr/>
          </p:nvSpPr>
          <p:spPr bwMode="auto">
            <a:xfrm>
              <a:off x="204" y="210"/>
              <a:ext cx="740" cy="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格式符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8" name="Line 29"/>
            <p:cNvSpPr/>
            <p:nvPr/>
          </p:nvSpPr>
          <p:spPr>
            <a:xfrm>
              <a:off x="204" y="210"/>
              <a:ext cx="538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9" name="Line 30"/>
            <p:cNvSpPr/>
            <p:nvPr/>
          </p:nvSpPr>
          <p:spPr>
            <a:xfrm>
              <a:off x="204" y="698"/>
              <a:ext cx="538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0" name="Line 31"/>
            <p:cNvSpPr/>
            <p:nvPr/>
          </p:nvSpPr>
          <p:spPr>
            <a:xfrm>
              <a:off x="204" y="1726"/>
              <a:ext cx="538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1" name="Line 32"/>
            <p:cNvSpPr/>
            <p:nvPr/>
          </p:nvSpPr>
          <p:spPr>
            <a:xfrm>
              <a:off x="204" y="2754"/>
              <a:ext cx="538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2" name="Line 33"/>
            <p:cNvSpPr/>
            <p:nvPr/>
          </p:nvSpPr>
          <p:spPr>
            <a:xfrm>
              <a:off x="204" y="210"/>
              <a:ext cx="0" cy="3674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3" name="Line 34"/>
            <p:cNvSpPr/>
            <p:nvPr/>
          </p:nvSpPr>
          <p:spPr>
            <a:xfrm>
              <a:off x="944" y="210"/>
              <a:ext cx="0" cy="32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4" name="Line 35"/>
            <p:cNvSpPr/>
            <p:nvPr/>
          </p:nvSpPr>
          <p:spPr>
            <a:xfrm>
              <a:off x="1851" y="210"/>
              <a:ext cx="0" cy="32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5" name="Line 36"/>
            <p:cNvSpPr/>
            <p:nvPr/>
          </p:nvSpPr>
          <p:spPr>
            <a:xfrm>
              <a:off x="2713" y="210"/>
              <a:ext cx="0" cy="3674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6" name="Line 37"/>
            <p:cNvSpPr/>
            <p:nvPr/>
          </p:nvSpPr>
          <p:spPr>
            <a:xfrm>
              <a:off x="3665" y="210"/>
              <a:ext cx="0" cy="3674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7" name="Line 38"/>
            <p:cNvSpPr/>
            <p:nvPr/>
          </p:nvSpPr>
          <p:spPr>
            <a:xfrm>
              <a:off x="5584" y="210"/>
              <a:ext cx="0" cy="3674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8" name="Line 39"/>
            <p:cNvSpPr/>
            <p:nvPr/>
          </p:nvSpPr>
          <p:spPr>
            <a:xfrm>
              <a:off x="944" y="1041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9" name="Line 40"/>
            <p:cNvSpPr/>
            <p:nvPr/>
          </p:nvSpPr>
          <p:spPr>
            <a:xfrm>
              <a:off x="944" y="1383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0" name="Line 41"/>
            <p:cNvSpPr/>
            <p:nvPr/>
          </p:nvSpPr>
          <p:spPr>
            <a:xfrm>
              <a:off x="944" y="2069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1" name="Line 42"/>
            <p:cNvSpPr/>
            <p:nvPr/>
          </p:nvSpPr>
          <p:spPr>
            <a:xfrm>
              <a:off x="944" y="2411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2" name="Line 43"/>
            <p:cNvSpPr/>
            <p:nvPr/>
          </p:nvSpPr>
          <p:spPr>
            <a:xfrm>
              <a:off x="944" y="3097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3" name="Line 44"/>
            <p:cNvSpPr/>
            <p:nvPr/>
          </p:nvSpPr>
          <p:spPr>
            <a:xfrm>
              <a:off x="944" y="3439"/>
              <a:ext cx="90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4" name="Line 45"/>
            <p:cNvSpPr/>
            <p:nvPr/>
          </p:nvSpPr>
          <p:spPr>
            <a:xfrm>
              <a:off x="944" y="3439"/>
              <a:ext cx="0" cy="4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5" name="Line 46"/>
            <p:cNvSpPr/>
            <p:nvPr/>
          </p:nvSpPr>
          <p:spPr>
            <a:xfrm>
              <a:off x="1851" y="3439"/>
              <a:ext cx="0" cy="4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9455" name="Rectangle 47"/>
            <p:cNvSpPr>
              <a:spLocks noChangeArrowheads="1"/>
            </p:cNvSpPr>
            <p:nvPr/>
          </p:nvSpPr>
          <p:spPr bwMode="auto">
            <a:xfrm>
              <a:off x="975" y="3475"/>
              <a:ext cx="906" cy="3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E701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%-m.ne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29456" name="Text Box 48"/>
          <p:cNvSpPr txBox="1">
            <a:spLocks noChangeArrowheads="1"/>
          </p:cNvSpPr>
          <p:nvPr/>
        </p:nvSpPr>
        <p:spPr bwMode="auto">
          <a:xfrm>
            <a:off x="0" y="5791200"/>
            <a:ext cx="899160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en-US" altLang="zh-CN" sz="2400" kern="1200" cap="none" spc="0" normalizeH="0" baseline="0" noProof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%g</a:t>
            </a:r>
            <a:r>
              <a:rPr kumimoji="0" lang="en-US" altLang="zh-CN" sz="24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sz="24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自动选择</a:t>
            </a:r>
            <a:r>
              <a:rPr kumimoji="0" lang="en-US" altLang="zh-CN" sz="24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%f</a:t>
            </a:r>
            <a:r>
              <a:rPr kumimoji="0" lang="zh-CN" altLang="en-US" sz="24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4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%e</a:t>
            </a:r>
            <a:r>
              <a:rPr kumimoji="0" lang="zh-CN" altLang="en-US" sz="2400" kern="1200" cap="none" spc="0" normalizeH="0" baseline="0" noProof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二者格式中输出宽度较短的一种形式</a:t>
            </a:r>
            <a:endParaRPr kumimoji="0" lang="zh-CN" altLang="en-US" sz="2400" kern="1200" cap="none" spc="0" normalizeH="0" baseline="0" noProof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52EAAE-1B1A-4A33-AA5E-AE63EAC32F5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341313" y="261938"/>
            <a:ext cx="9144000" cy="1063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</a:rPr>
              <a:t>printf(“  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num1=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%-5d 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flag=’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%c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’ \n  area=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%10.3f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 num2=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%5d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\n”,      </a:t>
            </a:r>
            <a:endParaRPr lang="en-US" altLang="zh-CN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	   </a:t>
            </a:r>
            <a:r>
              <a:rPr lang="en-US" altLang="zh-CN" sz="2400" b="1" dirty="0">
                <a:solidFill>
                  <a:srgbClr val="FFE701"/>
                </a:solidFill>
                <a:latin typeface="Arial" panose="020B0604020202020204" pitchFamily="34" charset="0"/>
              </a:rPr>
              <a:t>25 , ‘A’ , 123.0/2 , 987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);</a:t>
            </a:r>
            <a:endParaRPr lang="en-US" altLang="zh-CN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19" name="Rectangle 3"/>
          <p:cNvSpPr/>
          <p:nvPr/>
        </p:nvSpPr>
        <p:spPr>
          <a:xfrm>
            <a:off x="-9525" y="1614488"/>
            <a:ext cx="22526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‖□□num1=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0" name="Rectangle 4"/>
          <p:cNvSpPr/>
          <p:nvPr/>
        </p:nvSpPr>
        <p:spPr>
          <a:xfrm>
            <a:off x="2130425" y="1619250"/>
            <a:ext cx="1820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25□□□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1" name="Rectangle 5"/>
          <p:cNvSpPr/>
          <p:nvPr/>
        </p:nvSpPr>
        <p:spPr>
          <a:xfrm>
            <a:off x="3735388" y="1603375"/>
            <a:ext cx="1944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□□flag=’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2" name="Rectangle 6"/>
          <p:cNvSpPr/>
          <p:nvPr/>
        </p:nvSpPr>
        <p:spPr>
          <a:xfrm>
            <a:off x="5407025" y="1614488"/>
            <a:ext cx="5746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3" name="Rectangle 7"/>
          <p:cNvSpPr/>
          <p:nvPr/>
        </p:nvSpPr>
        <p:spPr>
          <a:xfrm>
            <a:off x="63500" y="2117725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□□area=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4" name="Rectangle 8"/>
          <p:cNvSpPr/>
          <p:nvPr/>
        </p:nvSpPr>
        <p:spPr>
          <a:xfrm>
            <a:off x="1860550" y="2108200"/>
            <a:ext cx="27035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□□□□61.500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5" name="Rectangle 9"/>
          <p:cNvSpPr/>
          <p:nvPr/>
        </p:nvSpPr>
        <p:spPr>
          <a:xfrm>
            <a:off x="4383088" y="2117725"/>
            <a:ext cx="2089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□□</a:t>
            </a: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num2=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6" name="Rectangle 10"/>
          <p:cNvSpPr/>
          <p:nvPr/>
        </p:nvSpPr>
        <p:spPr>
          <a:xfrm>
            <a:off x="6269038" y="2108200"/>
            <a:ext cx="15081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□□987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27" name="Line 11"/>
          <p:cNvSpPr/>
          <p:nvPr/>
        </p:nvSpPr>
        <p:spPr>
          <a:xfrm>
            <a:off x="1255713" y="693738"/>
            <a:ext cx="115093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8" name="Line 12"/>
          <p:cNvSpPr/>
          <p:nvPr/>
        </p:nvSpPr>
        <p:spPr>
          <a:xfrm flipV="1">
            <a:off x="2489200" y="690563"/>
            <a:ext cx="649288" cy="635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9" name="Line 13"/>
          <p:cNvSpPr/>
          <p:nvPr/>
        </p:nvSpPr>
        <p:spPr>
          <a:xfrm>
            <a:off x="3190875" y="693738"/>
            <a:ext cx="836613" cy="12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0" name="Line 14"/>
          <p:cNvSpPr/>
          <p:nvPr/>
        </p:nvSpPr>
        <p:spPr>
          <a:xfrm>
            <a:off x="4095750" y="706438"/>
            <a:ext cx="360363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1" name="Line 15"/>
          <p:cNvSpPr/>
          <p:nvPr/>
        </p:nvSpPr>
        <p:spPr>
          <a:xfrm>
            <a:off x="5165725" y="704850"/>
            <a:ext cx="79057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2" name="Line 16"/>
          <p:cNvSpPr/>
          <p:nvPr/>
        </p:nvSpPr>
        <p:spPr>
          <a:xfrm>
            <a:off x="6030913" y="711200"/>
            <a:ext cx="863600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3" name="Line 17"/>
          <p:cNvSpPr/>
          <p:nvPr/>
        </p:nvSpPr>
        <p:spPr>
          <a:xfrm flipV="1">
            <a:off x="6943725" y="693738"/>
            <a:ext cx="1079500" cy="1111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4" name="Line 18"/>
          <p:cNvSpPr/>
          <p:nvPr/>
        </p:nvSpPr>
        <p:spPr>
          <a:xfrm>
            <a:off x="8113713" y="711200"/>
            <a:ext cx="64928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5" name="Rectangle 19"/>
          <p:cNvSpPr/>
          <p:nvPr/>
        </p:nvSpPr>
        <p:spPr>
          <a:xfrm>
            <a:off x="-9525" y="2117725"/>
            <a:ext cx="3619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‖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5236" name="Rectangle 20"/>
          <p:cNvSpPr>
            <a:spLocks noChangeArrowheads="1"/>
          </p:cNvSpPr>
          <p:nvPr/>
        </p:nvSpPr>
        <p:spPr bwMode="auto">
          <a:xfrm>
            <a:off x="-9525" y="2622550"/>
            <a:ext cx="11509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‖■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5237" name="Line 21"/>
          <p:cNvSpPr/>
          <p:nvPr/>
        </p:nvSpPr>
        <p:spPr>
          <a:xfrm flipV="1">
            <a:off x="8837613" y="714375"/>
            <a:ext cx="354012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8" name="Line 22"/>
          <p:cNvSpPr/>
          <p:nvPr/>
        </p:nvSpPr>
        <p:spPr>
          <a:xfrm>
            <a:off x="4702175" y="706438"/>
            <a:ext cx="287338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9" name="Line 23"/>
          <p:cNvSpPr/>
          <p:nvPr/>
        </p:nvSpPr>
        <p:spPr>
          <a:xfrm>
            <a:off x="4554538" y="704850"/>
            <a:ext cx="7143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0" name="Rectangle 24"/>
          <p:cNvSpPr/>
          <p:nvPr/>
        </p:nvSpPr>
        <p:spPr>
          <a:xfrm>
            <a:off x="5673725" y="1609725"/>
            <a:ext cx="574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’</a:t>
            </a:r>
            <a:endParaRPr lang="en-US" altLang="zh-CN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113" y="3521075"/>
            <a:ext cx="11749087" cy="2678113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</a:rPr>
              <a:t>课后实践</a:t>
            </a:r>
            <a:r>
              <a:rPr lang="en-US" altLang="zh-CN" sz="2800" b="1" dirty="0">
                <a:solidFill>
                  <a:srgbClr val="FFFF00"/>
                </a:solidFill>
              </a:rPr>
              <a:t>】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1)</a:t>
            </a:r>
            <a:r>
              <a:rPr lang="zh-CN" altLang="en-US" sz="2800" b="1" dirty="0">
                <a:solidFill>
                  <a:srgbClr val="FFFFFF"/>
                </a:solidFill>
              </a:rPr>
              <a:t>将上述程序片段补充完整，使能运行，观察程序的执行结果。</a:t>
            </a:r>
            <a:endParaRPr lang="en-US" altLang="zh-CN" sz="2800" b="1" dirty="0">
              <a:solidFill>
                <a:srgbClr val="FFFFFF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2)</a:t>
            </a:r>
            <a:r>
              <a:rPr lang="zh-CN" altLang="en-US" sz="2800" b="1" dirty="0">
                <a:solidFill>
                  <a:srgbClr val="FFFFFF"/>
                </a:solidFill>
              </a:rPr>
              <a:t>在</a:t>
            </a:r>
            <a:r>
              <a:rPr lang="en-US" altLang="zh-CN" sz="2800" b="1" dirty="0">
                <a:solidFill>
                  <a:srgbClr val="FFFFFF"/>
                </a:solidFill>
              </a:rPr>
              <a:t>1)</a:t>
            </a:r>
            <a:r>
              <a:rPr lang="zh-CN" altLang="en-US" sz="2800" b="1" dirty="0">
                <a:solidFill>
                  <a:srgbClr val="FFFFFF"/>
                </a:solidFill>
              </a:rPr>
              <a:t>基础上，将</a:t>
            </a:r>
            <a:r>
              <a:rPr lang="en-US" altLang="zh-CN" sz="2800" b="1" dirty="0">
                <a:solidFill>
                  <a:srgbClr val="FFFFFF"/>
                </a:solidFill>
              </a:rPr>
              <a:t>area</a:t>
            </a:r>
            <a:r>
              <a:rPr lang="zh-CN" altLang="en-US" sz="2800" b="1" dirty="0">
                <a:solidFill>
                  <a:srgbClr val="FFFFFF"/>
                </a:solidFill>
              </a:rPr>
              <a:t>的输出格式改为左对齐、总输出宽度为</a:t>
            </a:r>
            <a:r>
              <a:rPr lang="en-US" altLang="zh-CN" sz="2800" b="1" dirty="0">
                <a:solidFill>
                  <a:srgbClr val="FFFFFF"/>
                </a:solidFill>
              </a:rPr>
              <a:t>16</a:t>
            </a:r>
            <a:r>
              <a:rPr lang="zh-CN" altLang="en-US" sz="2800" b="1" dirty="0">
                <a:solidFill>
                  <a:srgbClr val="FFFFFF"/>
                </a:solidFill>
              </a:rPr>
              <a:t>位，</a:t>
            </a:r>
            <a:endParaRPr lang="en-US" altLang="zh-CN" sz="2800" b="1" dirty="0">
              <a:solidFill>
                <a:srgbClr val="FFFFFF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   </a:t>
            </a:r>
            <a:r>
              <a:rPr lang="zh-CN" altLang="en-US" sz="2800" b="1" dirty="0">
                <a:solidFill>
                  <a:srgbClr val="FFFFFF"/>
                </a:solidFill>
              </a:rPr>
              <a:t>小数点后占</a:t>
            </a:r>
            <a:r>
              <a:rPr lang="en-US" altLang="zh-CN" sz="2800" b="1" dirty="0">
                <a:solidFill>
                  <a:srgbClr val="FFFFFF"/>
                </a:solidFill>
              </a:rPr>
              <a:t>2</a:t>
            </a:r>
            <a:r>
              <a:rPr lang="zh-CN" altLang="en-US" sz="2800" b="1" dirty="0">
                <a:solidFill>
                  <a:srgbClr val="FFFFFF"/>
                </a:solidFill>
              </a:rPr>
              <a:t>位，重新编译、连接、执行。</a:t>
            </a:r>
            <a:endParaRPr lang="en-US" altLang="zh-CN" sz="2800" b="1" dirty="0">
              <a:solidFill>
                <a:srgbClr val="FFFFFF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3)</a:t>
            </a:r>
            <a:r>
              <a:rPr lang="zh-CN" altLang="en-US" sz="2800" b="1" dirty="0">
                <a:solidFill>
                  <a:srgbClr val="FFFFFF"/>
                </a:solidFill>
              </a:rPr>
              <a:t>将</a:t>
            </a:r>
            <a:r>
              <a:rPr lang="en-US" altLang="zh-CN" sz="2800" b="1" dirty="0">
                <a:solidFill>
                  <a:srgbClr val="FFFFFF"/>
                </a:solidFill>
              </a:rPr>
              <a:t>%5d</a:t>
            </a:r>
            <a:r>
              <a:rPr lang="zh-CN" altLang="en-US" sz="2800" b="1" dirty="0">
                <a:solidFill>
                  <a:srgbClr val="FFFFFF"/>
                </a:solidFill>
              </a:rPr>
              <a:t>改为</a:t>
            </a:r>
            <a:r>
              <a:rPr lang="en-US" altLang="zh-CN" sz="2800" b="1" dirty="0">
                <a:solidFill>
                  <a:srgbClr val="FFFFFF"/>
                </a:solidFill>
              </a:rPr>
              <a:t>%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</a:t>
            </a:r>
            <a:r>
              <a:rPr lang="en-US" altLang="zh-CN" sz="2800" b="1" dirty="0">
                <a:solidFill>
                  <a:srgbClr val="FFFFFF"/>
                </a:solidFill>
              </a:rPr>
              <a:t>9d,</a:t>
            </a:r>
            <a:r>
              <a:rPr lang="zh-CN" altLang="en-US" sz="2800" b="1" dirty="0">
                <a:solidFill>
                  <a:srgbClr val="FFFFFF"/>
                </a:solidFill>
              </a:rPr>
              <a:t>对比执行结果。</a:t>
            </a:r>
            <a:endParaRPr lang="en-US" altLang="zh-CN" sz="2800" b="1" dirty="0">
              <a:solidFill>
                <a:srgbClr val="FFFFFF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FF"/>
                </a:solidFill>
              </a:rPr>
              <a:t>4)</a:t>
            </a:r>
            <a:r>
              <a:rPr lang="zh-CN" altLang="en-US" sz="2800" b="1" dirty="0">
                <a:solidFill>
                  <a:srgbClr val="FFFFFF"/>
                </a:solidFill>
              </a:rPr>
              <a:t>同理测试 </a:t>
            </a:r>
            <a:r>
              <a:rPr lang="en-US" altLang="zh-CN" sz="2800" b="1" dirty="0">
                <a:solidFill>
                  <a:srgbClr val="FFFFFF"/>
                </a:solidFill>
              </a:rPr>
              <a:t>%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</a:t>
            </a:r>
            <a:r>
              <a:rPr lang="en-US" altLang="zh-CN" sz="2800" b="1" dirty="0">
                <a:solidFill>
                  <a:srgbClr val="FFFFFF"/>
                </a:solidFill>
              </a:rPr>
              <a:t>d</a:t>
            </a:r>
            <a:r>
              <a:rPr lang="zh-CN" altLang="en-US" sz="2800" b="1" dirty="0">
                <a:solidFill>
                  <a:srgbClr val="FFFFFF"/>
                </a:solidFill>
              </a:rPr>
              <a:t>。</a:t>
            </a:r>
            <a:endParaRPr lang="en-US" altLang="zh-CN" sz="2800" b="1" dirty="0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17763" y="106363"/>
            <a:ext cx="784225" cy="749300"/>
          </a:xfrm>
          <a:prstGeom prst="rect">
            <a:avLst/>
          </a:prstGeom>
          <a:noFill/>
          <a:ln w="44450" cap="flat" cmpd="sng">
            <a:solidFill>
              <a:srgbClr val="FFE705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198688" y="1603375"/>
            <a:ext cx="1516062" cy="544513"/>
          </a:xfrm>
          <a:prstGeom prst="rect">
            <a:avLst/>
          </a:prstGeom>
          <a:noFill/>
          <a:ln w="44450" cap="flat" cmpd="sng">
            <a:solidFill>
              <a:srgbClr val="FFE705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093075" y="182563"/>
            <a:ext cx="690563" cy="660400"/>
          </a:xfrm>
          <a:prstGeom prst="rect">
            <a:avLst/>
          </a:prstGeom>
          <a:noFill/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txBody>
          <a:bodyPr lIns="0" r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369050" y="2025650"/>
            <a:ext cx="1335088" cy="723900"/>
          </a:xfrm>
          <a:prstGeom prst="rect">
            <a:avLst/>
          </a:prstGeom>
          <a:noFill/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txBody>
          <a:bodyPr lIns="0" r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对话气泡: 矩形 3"/>
          <p:cNvSpPr/>
          <p:nvPr/>
        </p:nvSpPr>
        <p:spPr>
          <a:xfrm>
            <a:off x="7239000" y="5588000"/>
            <a:ext cx="4953000" cy="1265238"/>
          </a:xfrm>
          <a:prstGeom prst="wedgeRectCallout">
            <a:avLst>
              <a:gd name="adj1" fmla="val -60847"/>
              <a:gd name="adj2" fmla="val -52602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</a:rPr>
              <a:t>思考</a:t>
            </a:r>
            <a:r>
              <a:rPr lang="en-US" altLang="zh-CN" sz="2800" b="1" dirty="0">
                <a:solidFill>
                  <a:srgbClr val="FFFF00"/>
                </a:solidFill>
              </a:rPr>
              <a:t>】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0</a:t>
            </a:r>
            <a:r>
              <a:rPr lang="zh-CN" altLang="en-US" sz="2800" b="1" dirty="0">
                <a:solidFill>
                  <a:srgbClr val="FFFFFF"/>
                </a:solidFill>
              </a:rPr>
              <a:t>和</a:t>
            </a:r>
            <a:r>
              <a:rPr lang="en-US" altLang="zh-CN" sz="2800" b="1" dirty="0">
                <a:solidFill>
                  <a:srgbClr val="FFFF00"/>
                </a:solidFill>
              </a:rPr>
              <a:t>+</a:t>
            </a:r>
            <a:r>
              <a:rPr lang="zh-CN" altLang="en-US" sz="2800" b="1" dirty="0">
                <a:solidFill>
                  <a:srgbClr val="FFFFFF"/>
                </a:solidFill>
              </a:rPr>
              <a:t>在输出整数时起何作用</a:t>
            </a:r>
            <a:r>
              <a:rPr lang="en-US" altLang="zh-CN" sz="2800" b="1" dirty="0">
                <a:solidFill>
                  <a:srgbClr val="FFFFFF"/>
                </a:solidFill>
              </a:rPr>
              <a:t>?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/>
      <p:bldP spid="265220" grpId="0"/>
      <p:bldP spid="265221" grpId="0"/>
      <p:bldP spid="265222" grpId="0"/>
      <p:bldP spid="265223" grpId="0"/>
      <p:bldP spid="265224" grpId="0"/>
      <p:bldP spid="265225" grpId="0"/>
      <p:bldP spid="265226" grpId="0"/>
      <p:bldP spid="265235" grpId="0"/>
      <p:bldP spid="265236" grpId="0"/>
      <p:bldP spid="265240" grpId="0"/>
      <p:bldP spid="2" grpId="0" bldLvl="0" animBg="1"/>
      <p:bldP spid="3" grpId="0" bldLvl="0" animBg="1"/>
      <p:bldP spid="28" grpId="0" bldLvl="0" animBg="1"/>
      <p:bldP spid="29" grpId="0" animBg="1"/>
      <p:bldP spid="31" grpId="0" animBg="1"/>
      <p:bldP spid="4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7488238" y="617220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AFEFD1-4B38-4CCF-9ADD-06226DAF496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266" name="Rectangle 2"/>
          <p:cNvSpPr>
            <a:spLocks noGrp="1" noChangeArrowheads="1"/>
          </p:cNvSpPr>
          <p:nvPr>
            <p:ph idx="1"/>
          </p:nvPr>
        </p:nvSpPr>
        <p:spPr>
          <a:xfrm>
            <a:off x="-76200" y="762000"/>
            <a:ext cx="1222756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【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2-3】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输入成绩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main( ){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程序、英语、哲学、数学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float  program, English, philosophy,  mathematics;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float  average, sum ;  //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平均成绩、总学分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baseline="0" noProof="0" dirty="0" err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f%f%f%f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", &amp;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program,&amp;English,&amp;philosophy,&amp;mathematics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average = (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program+English+philosophy+mathematics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)/4;  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printf("%6.2f\n", average);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输出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sum = 4+2+1+3;     //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总学分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average = program*(4/sum)+English*(2/ sum)+philosophy*(1/ sum)+mathematics*(3/sum) 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printf("%6.2f\n", average);  /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输出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l="22446" t="56766" r="48097" b="22838"/>
          <a:stretch>
            <a:fillRect/>
          </a:stretch>
        </p:blipFill>
        <p:spPr>
          <a:xfrm>
            <a:off x="8990965" y="3657600"/>
            <a:ext cx="2352675" cy="3816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9"/>
          <p:cNvPicPr>
            <a:picLocks noChangeAspect="1"/>
          </p:cNvPicPr>
          <p:nvPr/>
        </p:nvPicPr>
        <p:blipFill>
          <a:blip r:embed="rId1"/>
          <a:srcRect t="47444" r="70277" b="37745"/>
          <a:stretch>
            <a:fillRect/>
          </a:stretch>
        </p:blipFill>
        <p:spPr>
          <a:xfrm>
            <a:off x="8990965" y="3409315"/>
            <a:ext cx="2352675" cy="2482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rcRect l="22441" t="79508" r="48095" b="-2178"/>
          <a:stretch>
            <a:fillRect/>
          </a:stretch>
        </p:blipFill>
        <p:spPr>
          <a:xfrm>
            <a:off x="8990965" y="4039235"/>
            <a:ext cx="2352675" cy="3803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562600" y="0"/>
            <a:ext cx="6568440" cy="1937385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>
            <a:solidFill>
              <a:srgbClr val="FFFF00"/>
            </a:solidFill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2-2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program  90	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程序设计成绩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english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60		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英语成绩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philosophy  85	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哲学成绩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mathematics  70	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数学成绩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77E63-FF94-41E6-8887-A2AD8C46E7E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847850" y="188913"/>
            <a:ext cx="8540750" cy="8509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ffectLst/>
                <a:latin typeface="Arial" panose="020B0604020202020204" pitchFamily="34" charset="0"/>
              </a:rPr>
              <a:t>顺序</a:t>
            </a:r>
            <a:r>
              <a:rPr lang="zh-CN" altLang="en-US" b="1" dirty="0">
                <a:effectLst/>
              </a:rPr>
              <a:t>控制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结构</a:t>
            </a:r>
            <a:endParaRPr lang="zh-CN" altLang="en-US" b="1" dirty="0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76200" y="911225"/>
            <a:ext cx="10339388" cy="51847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buNone/>
            </a:pP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某部分若执行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zh-CN" altLang="en-US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则语句顺序全部被执行</a:t>
            </a:r>
            <a:endParaRPr lang="zh-CN" altLang="en-US" sz="29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若不执行，则全部语句一个也不执行</a:t>
            </a:r>
            <a:endParaRPr lang="zh-CN" altLang="en-US" sz="29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形式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{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DS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DS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… …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DS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}</a:t>
            </a:r>
            <a:endParaRPr lang="en-US" altLang="zh-CN" sz="2500" b="1" dirty="0"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70DAFD-069D-4000-82CD-8567BFA5EFE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6038"/>
            <a:ext cx="769620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P404    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常用的数学函数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36579" name="Group 3"/>
          <p:cNvGraphicFramePr>
            <a:graphicFrameLocks noGrp="1"/>
          </p:cNvGraphicFramePr>
          <p:nvPr>
            <p:ph type="tbl" idx="1"/>
          </p:nvPr>
        </p:nvGraphicFramePr>
        <p:xfrm>
          <a:off x="0" y="609600"/>
          <a:ext cx="11810850" cy="5924066"/>
        </p:xfrm>
        <a:graphic>
          <a:graphicData uri="http://schemas.openxmlformats.org/drawingml/2006/table">
            <a:tbl>
              <a:tblPr/>
              <a:tblGrid>
                <a:gridCol w="1181085"/>
                <a:gridCol w="4035374"/>
                <a:gridCol w="1870051"/>
                <a:gridCol w="1968475"/>
                <a:gridCol w="2755865"/>
              </a:tblGrid>
              <a:tr h="7173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函数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名称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函数</a:t>
                      </a:r>
                      <a:r>
                        <a:rPr kumimoji="0" lang="zh-CN" altLang="en-US" sz="3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原型</a:t>
                      </a:r>
                      <a:endParaRPr kumimoji="0" lang="zh-CN" altLang="en-US" sz="3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功能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返回值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调用</a:t>
                      </a:r>
                      <a:endParaRPr kumimoji="0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形式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0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sqrt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sqrt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(double x);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sz="1700" b="1" dirty="0"/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1">
                      <a:blip r:embed="rId1"/>
                      <a:stretch>
                        <a:fillRect l="-250799" t="-153165" r="-131629" b="-670886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300" b="1" dirty="0"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y=</a:t>
                      </a:r>
                      <a:r>
                        <a:rPr lang="en-US" altLang="zh-CN" sz="23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sqrt</a:t>
                      </a:r>
                      <a:r>
                        <a:rPr lang="en-US" altLang="zh-CN" sz="23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(x);</a:t>
                      </a:r>
                      <a:endParaRPr kumimoji="0" lang="zh-CN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abs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abs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x);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求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|x|</a:t>
                      </a:r>
                      <a:endParaRPr kumimoji="0" lang="zh-CN" altLang="en-US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y=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abs(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;</a:t>
                      </a:r>
                      <a:endParaRPr kumimoji="0" lang="zh-CN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fabs</a:t>
                      </a:r>
                      <a:endParaRPr kumimoji="0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fabs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(double x);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求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|x|</a:t>
                      </a:r>
                      <a:endParaRPr kumimoji="0" lang="zh-CN" altLang="en-US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y=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fabs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(x);</a:t>
                      </a:r>
                      <a:endParaRPr kumimoji="0" lang="zh-CN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0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exp</a:t>
                      </a:r>
                      <a:endParaRPr kumimoji="0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(double x);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sz="1700" b="1" dirty="0"/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1">
                      <a:blip r:embed="rId1"/>
                      <a:stretch>
                        <a:fillRect l="-250799" t="-546667" r="-131629" b="-326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y=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(x);</a:t>
                      </a:r>
                      <a:endParaRPr kumimoji="0" lang="zh-CN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9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log</a:t>
                      </a:r>
                      <a:endParaRPr kumimoji="0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log(double x);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求以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为底的对数值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y=log(x);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log10</a:t>
                      </a:r>
                      <a:endParaRPr kumimoji="0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log10(double x);</a:t>
                      </a: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求以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为底的对数值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y=log10(100)</a:t>
                      </a:r>
                      <a:endParaRPr kumimoji="0" lang="zh-CN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3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pow</a:t>
                      </a:r>
                      <a:endParaRPr kumimoji="0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pow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(double x, double y);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sz="1700" b="1" dirty="0"/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1">
                      <a:blip r:embed="rId1"/>
                      <a:stretch>
                        <a:fillRect l="-250799" t="-380952" r="-131629" b="-15646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z=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pow(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x,y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;</a:t>
                      </a:r>
                      <a:endParaRPr kumimoji="0" lang="zh-CN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2999" marB="42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06000" y="152400"/>
            <a:ext cx="2133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3" action="ppaction://hlinksldjump"/>
              </a:rPr>
              <a:t>【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3" action="ppaction://hlinksldjump"/>
              </a:rPr>
              <a:t>概念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3" action="ppaction://hlinksldjump"/>
              </a:rPr>
              <a:t>】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3" action="ppaction://hlinksldjump"/>
              </a:rPr>
              <a:t>函数原型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8D9E0E-5E34-498B-B455-7357C909E8B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>
          <a:xfrm>
            <a:off x="-23812" y="36513"/>
            <a:ext cx="822960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常用的数学函数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endParaRPr kumimoji="0" lang="en-US" altLang="zh-CN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37603" name="Group 3"/>
          <p:cNvGraphicFramePr>
            <a:graphicFrameLocks noGrp="1"/>
          </p:cNvGraphicFramePr>
          <p:nvPr>
            <p:ph idx="1"/>
          </p:nvPr>
        </p:nvGraphicFramePr>
        <p:xfrm>
          <a:off x="152400" y="1060768"/>
          <a:ext cx="11887201" cy="5049520"/>
        </p:xfrm>
        <a:graphic>
          <a:graphicData uri="http://schemas.openxmlformats.org/drawingml/2006/table">
            <a:tbl>
              <a:tblPr/>
              <a:tblGrid>
                <a:gridCol w="927735"/>
                <a:gridCol w="3678591"/>
                <a:gridCol w="2971722"/>
                <a:gridCol w="1857327"/>
                <a:gridCol w="2451826"/>
              </a:tblGrid>
              <a:tr h="769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函数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名称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函数原型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功能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返回值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说明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59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sin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sin(double x);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sinx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的值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单位为弧度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59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cos(double x);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cosx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的值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单位为弧度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59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tan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 tan(double x);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tanx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的值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计算结果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单位为弧度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rand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rand(void);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-90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32767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间的随机整数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随机整数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1" marR="91441"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7647" name="Text Box 47"/>
          <p:cNvSpPr txBox="1">
            <a:spLocks noChangeArrowheads="1"/>
          </p:cNvSpPr>
          <p:nvPr/>
        </p:nvSpPr>
        <p:spPr bwMode="auto">
          <a:xfrm>
            <a:off x="-152400" y="519113"/>
            <a:ext cx="89154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使用数学函数时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要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800" kern="1200" cap="none" spc="0" normalizeH="0" baseline="0" noProof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math.h</a:t>
            </a:r>
            <a:r>
              <a:rPr kumimoji="0" lang="en-US" altLang="zh-CN" sz="2800" kern="1200" cap="none" spc="0" normalizeH="0" baseline="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800" kern="1200" cap="none" spc="0" normalizeH="0" baseline="0" noProof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7649" name="Text Box 49"/>
          <p:cNvSpPr txBox="1">
            <a:spLocks noChangeArrowheads="1"/>
          </p:cNvSpPr>
          <p:nvPr/>
        </p:nvSpPr>
        <p:spPr bwMode="auto">
          <a:xfrm>
            <a:off x="38100" y="6140450"/>
            <a:ext cx="52578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rgbClr val="FFE701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其它</a:t>
            </a: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800" kern="1200" cap="none" spc="0" normalizeH="0" baseline="0" noProof="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atan</a:t>
            </a: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800" kern="1200" cap="none" spc="0" normalizeH="0" baseline="0" noProof="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asin</a:t>
            </a:r>
            <a:r>
              <a:rPr kumimoji="0" lang="en-US" altLang="zh-CN" sz="2800" kern="1200" cap="none" spc="0" normalizeH="0" baseline="0" noProof="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800" kern="1200" cap="none" spc="0" normalizeH="0" baseline="0" noProof="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acos</a:t>
            </a:r>
            <a:endParaRPr kumimoji="0" lang="en-US" altLang="zh-CN" sz="2800" kern="1200" cap="none" spc="0" normalizeH="0" baseline="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hlinkClick r:id="rId1" action="ppaction://hlinksldjump"/>
          </p:cNvPr>
          <p:cNvSpPr txBox="1"/>
          <p:nvPr/>
        </p:nvSpPr>
        <p:spPr>
          <a:xfrm>
            <a:off x="9906000" y="152400"/>
            <a:ext cx="2133600" cy="369888"/>
          </a:xfrm>
          <a:prstGeom prst="rect">
            <a:avLst/>
          </a:prstGeom>
          <a:noFill/>
        </p:spPr>
        <p:txBody>
          <a:bodyPr>
            <a:spAutoFit/>
          </a:bodyPr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2" action="ppaction://hlinksldjump"/>
              </a:rPr>
              <a:t>【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2" action="ppaction://hlinksldjump"/>
              </a:rPr>
              <a:t>概念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2" action="ppaction://hlinksldjump"/>
              </a:rPr>
              <a:t>】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2" action="ppaction://hlinksldjump"/>
              </a:rPr>
              <a:t>函数原型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79DCBC-E5AA-4CDE-8378-E530B20333B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本章小结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545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295400"/>
            <a:ext cx="41148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表达式语句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基本符号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特定符：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关键字、分隔符、运算符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标识符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间隔符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注释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00800" y="1371600"/>
            <a:ext cx="2895600" cy="304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简单数据类型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类型转换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E701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E70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I/O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E70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9088</Words>
  <Application>WPS 演示</Application>
  <PresentationFormat>宽屏</PresentationFormat>
  <Paragraphs>1176</Paragraphs>
  <Slides>55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Arial</vt:lpstr>
      <vt:lpstr>宋体</vt:lpstr>
      <vt:lpstr>Wingdings</vt:lpstr>
      <vt:lpstr>Tahoma</vt:lpstr>
      <vt:lpstr>Arial</vt:lpstr>
      <vt:lpstr>Monotype Corsiva</vt:lpstr>
      <vt:lpstr>Segoe Print</vt:lpstr>
      <vt:lpstr>华文彩云</vt:lpstr>
      <vt:lpstr>微软雅黑</vt:lpstr>
      <vt:lpstr>Arial Unicode MS</vt:lpstr>
      <vt:lpstr>Arial Black</vt:lpstr>
      <vt:lpstr>等线</vt:lpstr>
      <vt:lpstr>Times New Roman</vt:lpstr>
      <vt:lpstr>Consolas</vt:lpstr>
      <vt:lpstr>1_Slit</vt:lpstr>
      <vt:lpstr>PowerPoint 演示文稿</vt:lpstr>
      <vt:lpstr>(2)符号常量:用一个标识符代表常量</vt:lpstr>
      <vt:lpstr>PowerPoint 演示文稿</vt:lpstr>
      <vt:lpstr>PowerPoint 演示文稿</vt:lpstr>
      <vt:lpstr>PowerPoint 演示文稿</vt:lpstr>
      <vt:lpstr>PowerPoint 演示文稿</vt:lpstr>
      <vt:lpstr>变  量</vt:lpstr>
      <vt:lpstr>PowerPoint 演示文稿</vt:lpstr>
      <vt:lpstr>变量定义</vt:lpstr>
      <vt:lpstr>变量地址</vt:lpstr>
      <vt:lpstr>PowerPoint 演示文稿</vt:lpstr>
      <vt:lpstr>变量初始化</vt:lpstr>
      <vt:lpstr>§2.3.1  数据类型 教材P49</vt:lpstr>
      <vt:lpstr>PowerPoint 演示文稿</vt:lpstr>
      <vt:lpstr>PowerPoint 演示文稿</vt:lpstr>
      <vt:lpstr>1. 浮点类型</vt:lpstr>
      <vt:lpstr>PowerPoint 演示文稿</vt:lpstr>
      <vt:lpstr>PowerPoint 演示文稿</vt:lpstr>
      <vt:lpstr>2. 整数类型</vt:lpstr>
      <vt:lpstr>PowerPoint 演示文稿</vt:lpstr>
      <vt:lpstr>PowerPoint 演示文稿</vt:lpstr>
      <vt:lpstr>【溢出】</vt:lpstr>
      <vt:lpstr>【调试技巧】增加辅助输出 观察中间计算过程，查找错误，调通后注释掉</vt:lpstr>
      <vt:lpstr>【调试技巧】辅助输出</vt:lpstr>
      <vt:lpstr> 已知摄氏温度C与华氏温度F的转换关系是</vt:lpstr>
      <vt:lpstr>PowerPoint 演示文稿</vt:lpstr>
      <vt:lpstr>3. 字符类型</vt:lpstr>
      <vt:lpstr>PowerPoint 演示文稿</vt:lpstr>
      <vt:lpstr>PowerPoint 演示文稿</vt:lpstr>
      <vt:lpstr>4. 表达式计算 教材P56</vt:lpstr>
      <vt:lpstr>5. 类型转换 教材P56</vt:lpstr>
      <vt:lpstr>隐式类型转换</vt:lpstr>
      <vt:lpstr>PowerPoint 演示文稿</vt:lpstr>
      <vt:lpstr>PowerPoint 演示文稿</vt:lpstr>
      <vt:lpstr>强制类型转换</vt:lpstr>
      <vt:lpstr>§2.6  输入/输出 (I/O) 教材P60</vt:lpstr>
      <vt:lpstr>PowerPoint 演示文稿</vt:lpstr>
      <vt:lpstr>课程设计界面展示（23级李昊轩）</vt:lpstr>
      <vt:lpstr>§2.6.1 ~ 2.6.2  字符I/O</vt:lpstr>
      <vt:lpstr>§2.6.3  格式输入</vt:lpstr>
      <vt:lpstr>PowerPoint 演示文稿</vt:lpstr>
      <vt:lpstr>PowerPoint 演示文稿</vt:lpstr>
      <vt:lpstr>PowerPoint 演示文稿</vt:lpstr>
      <vt:lpstr>输入数据时时应注意分离提示信息与输入部分:</vt:lpstr>
      <vt:lpstr>PowerPoint 演示文稿</vt:lpstr>
      <vt:lpstr>PowerPoint 演示文稿</vt:lpstr>
      <vt:lpstr>§2.6.4 格式输出</vt:lpstr>
      <vt:lpstr>PowerPoint 演示文稿</vt:lpstr>
      <vt:lpstr>PowerPoint 演示文稿</vt:lpstr>
      <vt:lpstr>PowerPoint 演示文稿</vt:lpstr>
      <vt:lpstr>PowerPoint 演示文稿</vt:lpstr>
      <vt:lpstr>顺序控制结构</vt:lpstr>
      <vt:lpstr>教材P404     常用的数学函数:</vt:lpstr>
      <vt:lpstr>常用的数学函数: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729</cp:revision>
  <dcterms:created xsi:type="dcterms:W3CDTF">2019-09-21T08:05:00Z</dcterms:created>
  <dcterms:modified xsi:type="dcterms:W3CDTF">2025-09-23T03:12:22Z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92DBEF7FD8F247C3A48542DBE288C97F_13</vt:lpwstr>
  </property>
</Properties>
</file>