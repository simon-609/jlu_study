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22" r:id="rId3"/>
    <p:sldId id="1023" r:id="rId5"/>
    <p:sldId id="1024" r:id="rId6"/>
    <p:sldId id="1025" r:id="rId7"/>
    <p:sldId id="560" r:id="rId8"/>
    <p:sldId id="613" r:id="rId9"/>
    <p:sldId id="973" r:id="rId10"/>
    <p:sldId id="562" r:id="rId11"/>
    <p:sldId id="563" r:id="rId12"/>
    <p:sldId id="565" r:id="rId13"/>
    <p:sldId id="566" r:id="rId14"/>
    <p:sldId id="567" r:id="rId15"/>
    <p:sldId id="978" r:id="rId16"/>
    <p:sldId id="974" r:id="rId17"/>
    <p:sldId id="568" r:id="rId18"/>
    <p:sldId id="614" r:id="rId19"/>
    <p:sldId id="570" r:id="rId20"/>
    <p:sldId id="571" r:id="rId21"/>
    <p:sldId id="960" r:id="rId22"/>
    <p:sldId id="572" r:id="rId23"/>
    <p:sldId id="1014" r:id="rId24"/>
    <p:sldId id="1015" r:id="rId25"/>
    <p:sldId id="1016" r:id="rId26"/>
    <p:sldId id="1017" r:id="rId27"/>
    <p:sldId id="1018" r:id="rId28"/>
    <p:sldId id="1019" r:id="rId29"/>
    <p:sldId id="1020" r:id="rId30"/>
    <p:sldId id="1021" r:id="rId31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6FA"/>
    <a:srgbClr val="000000"/>
    <a:srgbClr val="FF0000"/>
    <a:srgbClr val="FF99FF"/>
    <a:srgbClr val="CC00CC"/>
    <a:srgbClr val="0000FF"/>
    <a:srgbClr val="FFE705"/>
    <a:srgbClr val="00FFFF"/>
    <a:srgbClr val="9C1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62" autoAdjust="0"/>
    <p:restoredTop sz="82165" autoAdjust="0"/>
  </p:normalViewPr>
  <p:slideViewPr>
    <p:cSldViewPr showGuides="1">
      <p:cViewPr varScale="1">
        <p:scale>
          <a:sx n="52" d="100"/>
          <a:sy n="52" d="100"/>
        </p:scale>
        <p:origin x="53" y="490"/>
      </p:cViewPr>
      <p:guideLst>
        <p:guide orient="horz" pos="2160"/>
        <p:guide pos="3844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3C0DFE-70C1-434B-B28D-3D85D02FFB1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0F50735-6270-4DEA-BAD5-0261BB0DAD5D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91384BF-339B-4D08-9EE3-6CCBED6E6D41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26A53A2-8413-4FC4-9E26-FDE3CA80F681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没有哨兵</a:t>
            </a:r>
            <a:endParaRPr lang="en-US" altLang="zh-CN"/>
          </a:p>
          <a:p>
            <a:pPr eaLnBrk="1" hangingPunct="1"/>
            <a:r>
              <a:rPr lang="zh-CN" altLang="en-US"/>
              <a:t>创建链表时就加入哨兵</a:t>
            </a:r>
            <a:endParaRPr lang="en-US" altLang="zh-CN"/>
          </a:p>
          <a:p>
            <a:pPr eaLnBrk="1" hangingPunct="1"/>
            <a:r>
              <a:rPr lang="zh-CN" altLang="en-US"/>
              <a:t>原链表中没有哨兵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FCF6602-7211-403F-9F0E-279DAAEA4EEA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AAED09A-C988-4CE5-8210-A662891F5EA3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438F500-448B-43FD-ACF6-FE39E421D1D8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A2AD831-BD2C-41DE-901A-944B4C4658A6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B3A2D1B-EE84-4946-A9E3-AAFB69D1C7DA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584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05F541C-5381-4BAE-8462-F924882AE272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/>
              <a:t>内存：全局段、代码段、堆栈、堆</a:t>
            </a:r>
            <a:endParaRPr lang="en-US" altLang="zh-CN" dirty="0"/>
          </a:p>
          <a:p>
            <a:r>
              <a:rPr lang="zh-CN" altLang="en-US" dirty="0"/>
              <a:t>堆栈：返回一个指向局部变量的指针，运行会出错</a:t>
            </a:r>
            <a:endParaRPr lang="en-US" altLang="zh-CN" dirty="0"/>
          </a:p>
          <a:p>
            <a:r>
              <a:rPr lang="zh-CN" altLang="en-US" dirty="0"/>
              <a:t>堆：返回一个指向动态申请的空间的指针，谁申请，谁释放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5844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05F541C-5381-4BAE-8462-F924882AE272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3552B43-DEFA-403D-B400-BBFA6EE70CB0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104C13-2F73-4A16-B00A-05AA556A9A31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5D795D-D408-433B-A712-232E34473DFA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5D795D-D408-433B-A712-232E34473DFA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5D795D-D408-433B-A712-232E34473DFA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4BFF60-DC4A-48B9-AC07-7927AB11B9B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AC47F2-9D5D-4A95-92A4-C0587AB2AF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D8882C-6FD0-4CC6-A8F9-F9AE03DBA82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EEF71-B373-4EEC-BABD-EB58835052E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24BD29-397E-4419-B21E-AF7174AE6C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68342-1CCF-41B2-B537-8D940844516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B22D74-A33A-496A-BE83-88734004915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CEE76-4FE8-48D4-B492-225618C5D9F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6F17A-8F42-4841-A823-6CA8090B7BD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F05BBC-BB6D-4238-8CB1-4EA6A1226F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F88CE6-38A9-4E73-858B-D9F94AC1740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1A364B-8B91-465C-A6D7-B762782E417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F01DE2-5CF4-4408-8570-BC41D5507B6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DDC3C8-FF17-475A-B733-EDC6D21028F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F52F7-52EA-4CF5-9CE3-6BDD74149F7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7E8715-D5BC-48CB-A266-C4EEB3B94AB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C00BC2-D6C7-4F28-8D2A-FCAA5B7BA7C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5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32405A0E-CBA3-41F2-B1E7-45B8AFBFE655}" type="slidenum">
              <a:rPr lang="en-US" altLang="zh-CN"/>
            </a:fld>
            <a:endParaRPr lang="en-US" altLang="zh-CN"/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slide" Target="slide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slide" Target="slide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19063" y="150813"/>
            <a:ext cx="8856662" cy="2208212"/>
          </a:xfrm>
        </p:spPr>
        <p:txBody>
          <a:bodyPr/>
          <a:lstStyle/>
          <a:p>
            <a:pPr eaLnBrk="1" hangingPunct="1"/>
            <a:r>
              <a:rPr lang="en-US" altLang="zh-CN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6.</a:t>
            </a:r>
            <a:r>
              <a:rPr lang="zh-CN" altLang="en-US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交换单向链表上两项</a:t>
            </a:r>
            <a:r>
              <a:rPr lang="en-US" altLang="zh-CN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zh-CN" b="1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latin typeface="Arial" panose="020B0604020202020204" pitchFamily="34" charset="0"/>
              </a:rPr>
              <a:t>    </a:t>
            </a:r>
            <a:r>
              <a:rPr lang="zh-CN" altLang="en-US" sz="2000" b="1">
                <a:effectLst/>
                <a:latin typeface="Arial" panose="020B0604020202020204" pitchFamily="34" charset="0"/>
              </a:rPr>
              <a:t>设有如图所示链表</a:t>
            </a:r>
            <a:r>
              <a:rPr lang="en-US" altLang="zh-CN" sz="2000" b="1">
                <a:effectLst/>
                <a:latin typeface="Arial" panose="020B0604020202020204" pitchFamily="34" charset="0"/>
              </a:rPr>
              <a:t>,</a:t>
            </a:r>
            <a:r>
              <a:rPr lang="zh-CN" altLang="en-US" sz="2000" b="1">
                <a:effectLst/>
                <a:latin typeface="Arial" panose="020B0604020202020204" pitchFamily="34" charset="0"/>
              </a:rPr>
              <a:t>现在要把 </a:t>
            </a:r>
            <a:r>
              <a:rPr lang="en-US" altLang="zh-CN" sz="2000" b="1">
                <a:effectLst/>
                <a:latin typeface="Arial" panose="020B0604020202020204" pitchFamily="34" charset="0"/>
              </a:rPr>
              <a:t>p </a:t>
            </a:r>
            <a:r>
              <a:rPr lang="zh-CN" altLang="en-US" sz="2000" b="1">
                <a:effectLst/>
                <a:latin typeface="Arial" panose="020B0604020202020204" pitchFamily="34" charset="0"/>
              </a:rPr>
              <a:t>所指的项与 </a:t>
            </a:r>
            <a:r>
              <a:rPr lang="en-US" altLang="zh-CN" sz="2000" b="1">
                <a:effectLst/>
                <a:latin typeface="Arial" panose="020B0604020202020204" pitchFamily="34" charset="0"/>
              </a:rPr>
              <a:t>q </a:t>
            </a:r>
            <a:r>
              <a:rPr lang="zh-CN" altLang="en-US" sz="2000" b="1">
                <a:effectLst/>
                <a:latin typeface="Arial" panose="020B0604020202020204" pitchFamily="34" charset="0"/>
              </a:rPr>
              <a:t>所指的项交换 </a:t>
            </a:r>
            <a:r>
              <a:rPr lang="en-US" altLang="zh-CN" sz="2000" b="1">
                <a:effectLst/>
                <a:latin typeface="Arial" panose="020B0604020202020204" pitchFamily="34" charset="0"/>
              </a:rPr>
              <a:t>,</a:t>
            </a:r>
            <a:endParaRPr lang="zh-CN" altLang="en-US" sz="2000" b="1">
              <a:effectLst/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>
                <a:effectLst/>
                <a:latin typeface="Arial" panose="020B0604020202020204" pitchFamily="34" charset="0"/>
              </a:rPr>
              <a:t>      为了表示操作方便，把该链表分两段画出。</a:t>
            </a:r>
            <a:endParaRPr lang="zh-CN" altLang="en-US" sz="2000">
              <a:effectLst/>
              <a:latin typeface="Arial" panose="020B0604020202020204" pitchFamily="34" charset="0"/>
            </a:endParaRPr>
          </a:p>
        </p:txBody>
      </p:sp>
      <p:grpSp>
        <p:nvGrpSpPr>
          <p:cNvPr id="65539" name="Group 3"/>
          <p:cNvGrpSpPr/>
          <p:nvPr/>
        </p:nvGrpSpPr>
        <p:grpSpPr bwMode="auto">
          <a:xfrm>
            <a:off x="1560513" y="3211513"/>
            <a:ext cx="9144000" cy="1081087"/>
            <a:chOff x="0" y="0"/>
            <a:chExt cx="20006" cy="19999"/>
          </a:xfrm>
        </p:grpSpPr>
        <p:sp>
          <p:nvSpPr>
            <p:cNvPr id="65540" name="Rectangle 4"/>
            <p:cNvSpPr>
              <a:spLocks noChangeArrowheads="1"/>
            </p:cNvSpPr>
            <p:nvPr/>
          </p:nvSpPr>
          <p:spPr bwMode="auto">
            <a:xfrm>
              <a:off x="0" y="910"/>
              <a:ext cx="1358" cy="8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p0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5541" name="Rectangle 5"/>
            <p:cNvSpPr>
              <a:spLocks noChangeArrowheads="1"/>
            </p:cNvSpPr>
            <p:nvPr/>
          </p:nvSpPr>
          <p:spPr bwMode="auto">
            <a:xfrm>
              <a:off x="963" y="1776"/>
              <a:ext cx="1291" cy="446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5542" name="Group 6"/>
            <p:cNvGrpSpPr/>
            <p:nvPr/>
          </p:nvGrpSpPr>
          <p:grpSpPr bwMode="auto">
            <a:xfrm>
              <a:off x="3147" y="0"/>
              <a:ext cx="1963" cy="8013"/>
              <a:chOff x="0" y="0"/>
              <a:chExt cx="19999" cy="20000"/>
            </a:xfrm>
          </p:grpSpPr>
          <p:sp>
            <p:nvSpPr>
              <p:cNvPr id="65580" name="Rectangle 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9159" cy="20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Arial" panose="020B0604020202020204" pitchFamily="34" charset="0"/>
                  </a:rPr>
                  <a:t>p</a:t>
                </a:r>
                <a:endParaRPr lang="en-US" altLang="zh-CN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5581" name="Rectangle 8"/>
              <p:cNvSpPr>
                <a:spLocks noChangeArrowheads="1"/>
              </p:cNvSpPr>
              <p:nvPr/>
            </p:nvSpPr>
            <p:spPr bwMode="auto">
              <a:xfrm>
                <a:off x="6846" y="4433"/>
                <a:ext cx="13153" cy="11134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5543" name="Group 9"/>
            <p:cNvGrpSpPr/>
            <p:nvPr/>
          </p:nvGrpSpPr>
          <p:grpSpPr bwMode="auto">
            <a:xfrm>
              <a:off x="2755" y="10210"/>
              <a:ext cx="1067" cy="8901"/>
              <a:chOff x="0" y="0"/>
              <a:chExt cx="20000" cy="20000"/>
            </a:xfrm>
          </p:grpSpPr>
          <p:sp>
            <p:nvSpPr>
              <p:cNvPr id="65578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1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5579" name="Line 11"/>
              <p:cNvSpPr>
                <a:spLocks noChangeShapeType="1"/>
              </p:cNvSpPr>
              <p:nvPr/>
            </p:nvSpPr>
            <p:spPr bwMode="auto">
              <a:xfrm>
                <a:off x="0" y="13965"/>
                <a:ext cx="1895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5544" name="Group 12"/>
            <p:cNvGrpSpPr/>
            <p:nvPr/>
          </p:nvGrpSpPr>
          <p:grpSpPr bwMode="auto">
            <a:xfrm>
              <a:off x="4995" y="10654"/>
              <a:ext cx="1067" cy="8901"/>
              <a:chOff x="0" y="0"/>
              <a:chExt cx="20000" cy="20000"/>
            </a:xfrm>
          </p:grpSpPr>
          <p:sp>
            <p:nvSpPr>
              <p:cNvPr id="65576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Arial" panose="020B0604020202020204" pitchFamily="34" charset="0"/>
                  </a:rPr>
                  <a:t>5</a:t>
                </a:r>
                <a:endParaRPr lang="en-US" altLang="zh-CN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5577" name="Line 14"/>
              <p:cNvSpPr>
                <a:spLocks noChangeShapeType="1"/>
              </p:cNvSpPr>
              <p:nvPr/>
            </p:nvSpPr>
            <p:spPr bwMode="auto">
              <a:xfrm>
                <a:off x="0" y="13965"/>
                <a:ext cx="1895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5545" name="Group 15"/>
            <p:cNvGrpSpPr/>
            <p:nvPr/>
          </p:nvGrpSpPr>
          <p:grpSpPr bwMode="auto">
            <a:xfrm>
              <a:off x="7403" y="11098"/>
              <a:ext cx="1067" cy="8901"/>
              <a:chOff x="0" y="0"/>
              <a:chExt cx="20000" cy="20000"/>
            </a:xfrm>
          </p:grpSpPr>
          <p:sp>
            <p:nvSpPr>
              <p:cNvPr id="65574" name="Rectangle 1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3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5575" name="Line 17"/>
              <p:cNvSpPr>
                <a:spLocks noChangeShapeType="1"/>
              </p:cNvSpPr>
              <p:nvPr/>
            </p:nvSpPr>
            <p:spPr bwMode="auto">
              <a:xfrm>
                <a:off x="0" y="13965"/>
                <a:ext cx="1895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546" name="Freeform 18"/>
            <p:cNvSpPr/>
            <p:nvPr/>
          </p:nvSpPr>
          <p:spPr bwMode="auto">
            <a:xfrm>
              <a:off x="1635" y="4439"/>
              <a:ext cx="1067" cy="62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17082"/>
                  </a:lnTo>
                  <a:lnTo>
                    <a:pt x="105" y="18861"/>
                  </a:lnTo>
                  <a:lnTo>
                    <a:pt x="105" y="19929"/>
                  </a:lnTo>
                  <a:lnTo>
                    <a:pt x="19948" y="1992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7" name="Freeform 19"/>
            <p:cNvSpPr/>
            <p:nvPr/>
          </p:nvSpPr>
          <p:spPr bwMode="auto">
            <a:xfrm>
              <a:off x="3427" y="12874"/>
              <a:ext cx="1515" cy="53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8" name="Freeform 20"/>
            <p:cNvSpPr/>
            <p:nvPr/>
          </p:nvSpPr>
          <p:spPr bwMode="auto">
            <a:xfrm>
              <a:off x="5723" y="12874"/>
              <a:ext cx="1515" cy="53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49" name="Freeform 21"/>
            <p:cNvSpPr/>
            <p:nvPr/>
          </p:nvSpPr>
          <p:spPr bwMode="auto">
            <a:xfrm>
              <a:off x="4379" y="4439"/>
              <a:ext cx="563" cy="579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17088"/>
                  </a:lnTo>
                  <a:lnTo>
                    <a:pt x="100" y="18851"/>
                  </a:lnTo>
                  <a:lnTo>
                    <a:pt x="100" y="19923"/>
                  </a:lnTo>
                  <a:lnTo>
                    <a:pt x="19900" y="1992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0" name="Freeform 22"/>
            <p:cNvSpPr/>
            <p:nvPr/>
          </p:nvSpPr>
          <p:spPr bwMode="auto">
            <a:xfrm>
              <a:off x="1187" y="13318"/>
              <a:ext cx="1515" cy="53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1" name="Rectangle 23"/>
            <p:cNvSpPr>
              <a:spLocks noChangeArrowheads="1"/>
            </p:cNvSpPr>
            <p:nvPr/>
          </p:nvSpPr>
          <p:spPr bwMode="auto">
            <a:xfrm>
              <a:off x="123" y="11098"/>
              <a:ext cx="1291" cy="6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...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5552" name="Freeform 24"/>
            <p:cNvSpPr/>
            <p:nvPr/>
          </p:nvSpPr>
          <p:spPr bwMode="auto">
            <a:xfrm>
              <a:off x="8019" y="13318"/>
              <a:ext cx="1515" cy="53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53" name="Rectangle 25"/>
            <p:cNvSpPr>
              <a:spLocks noChangeArrowheads="1"/>
            </p:cNvSpPr>
            <p:nvPr/>
          </p:nvSpPr>
          <p:spPr bwMode="auto">
            <a:xfrm>
              <a:off x="9195" y="0"/>
              <a:ext cx="1123" cy="8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q0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5554" name="Rectangle 26"/>
            <p:cNvSpPr>
              <a:spLocks noChangeArrowheads="1"/>
            </p:cNvSpPr>
            <p:nvPr/>
          </p:nvSpPr>
          <p:spPr bwMode="auto">
            <a:xfrm>
              <a:off x="10091" y="1776"/>
              <a:ext cx="1291" cy="446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5555" name="Rectangle 27"/>
            <p:cNvSpPr>
              <a:spLocks noChangeArrowheads="1"/>
            </p:cNvSpPr>
            <p:nvPr/>
          </p:nvSpPr>
          <p:spPr bwMode="auto">
            <a:xfrm>
              <a:off x="12051" y="0"/>
              <a:ext cx="1123" cy="8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800">
                  <a:latin typeface="Arial" panose="020B0604020202020204" pitchFamily="34" charset="0"/>
                </a:rPr>
                <a:t> </a:t>
              </a:r>
              <a:r>
                <a:rPr lang="en-US" altLang="zh-CN" sz="1800">
                  <a:solidFill>
                    <a:srgbClr val="FF0000"/>
                  </a:solidFill>
                  <a:latin typeface="Arial" panose="020B0604020202020204" pitchFamily="34" charset="0"/>
                </a:rPr>
                <a:t>q</a:t>
              </a:r>
              <a:endParaRPr lang="en-US" altLang="zh-CN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556" name="Rectangle 28"/>
            <p:cNvSpPr>
              <a:spLocks noChangeArrowheads="1"/>
            </p:cNvSpPr>
            <p:nvPr/>
          </p:nvSpPr>
          <p:spPr bwMode="auto">
            <a:xfrm>
              <a:off x="12947" y="1776"/>
              <a:ext cx="1291" cy="446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5557" name="Group 29"/>
            <p:cNvGrpSpPr/>
            <p:nvPr/>
          </p:nvGrpSpPr>
          <p:grpSpPr bwMode="auto">
            <a:xfrm>
              <a:off x="11883" y="10210"/>
              <a:ext cx="1067" cy="8901"/>
              <a:chOff x="0" y="0"/>
              <a:chExt cx="20000" cy="20000"/>
            </a:xfrm>
          </p:grpSpPr>
          <p:sp>
            <p:nvSpPr>
              <p:cNvPr id="65572" name="Rectangle 3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4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5573" name="Line 31"/>
              <p:cNvSpPr>
                <a:spLocks noChangeShapeType="1"/>
              </p:cNvSpPr>
              <p:nvPr/>
            </p:nvSpPr>
            <p:spPr bwMode="auto">
              <a:xfrm>
                <a:off x="0" y="13965"/>
                <a:ext cx="1895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5558" name="Group 32"/>
            <p:cNvGrpSpPr/>
            <p:nvPr/>
          </p:nvGrpSpPr>
          <p:grpSpPr bwMode="auto">
            <a:xfrm>
              <a:off x="14123" y="10654"/>
              <a:ext cx="1067" cy="8901"/>
              <a:chOff x="0" y="0"/>
              <a:chExt cx="20000" cy="20000"/>
            </a:xfrm>
          </p:grpSpPr>
          <p:sp>
            <p:nvSpPr>
              <p:cNvPr id="65570" name="Rectangle 3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solidFill>
                      <a:srgbClr val="FF0000"/>
                    </a:solidFill>
                    <a:latin typeface="Arial" panose="020B0604020202020204" pitchFamily="34" charset="0"/>
                  </a:rPr>
                  <a:t>2</a:t>
                </a:r>
                <a:endParaRPr lang="en-US" altLang="zh-CN" sz="18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5571" name="Line 34"/>
              <p:cNvSpPr>
                <a:spLocks noChangeShapeType="1"/>
              </p:cNvSpPr>
              <p:nvPr/>
            </p:nvSpPr>
            <p:spPr bwMode="auto">
              <a:xfrm>
                <a:off x="0" y="13965"/>
                <a:ext cx="1895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5559" name="Group 35"/>
            <p:cNvGrpSpPr/>
            <p:nvPr/>
          </p:nvGrpSpPr>
          <p:grpSpPr bwMode="auto">
            <a:xfrm>
              <a:off x="16531" y="11098"/>
              <a:ext cx="1067" cy="8901"/>
              <a:chOff x="0" y="0"/>
              <a:chExt cx="20000" cy="20000"/>
            </a:xfrm>
          </p:grpSpPr>
          <p:sp>
            <p:nvSpPr>
              <p:cNvPr id="65568" name="Rectangle 3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>
                    <a:latin typeface="Arial" panose="020B0604020202020204" pitchFamily="34" charset="0"/>
                  </a:rPr>
                  <a:t>6</a:t>
                </a:r>
                <a:endParaRPr lang="en-US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5569" name="Line 37"/>
              <p:cNvSpPr>
                <a:spLocks noChangeShapeType="1"/>
              </p:cNvSpPr>
              <p:nvPr/>
            </p:nvSpPr>
            <p:spPr bwMode="auto">
              <a:xfrm>
                <a:off x="0" y="13965"/>
                <a:ext cx="18950" cy="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560" name="Freeform 38"/>
            <p:cNvSpPr/>
            <p:nvPr/>
          </p:nvSpPr>
          <p:spPr bwMode="auto">
            <a:xfrm>
              <a:off x="10763" y="4439"/>
              <a:ext cx="1067" cy="62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17082"/>
                  </a:lnTo>
                  <a:lnTo>
                    <a:pt x="105" y="18861"/>
                  </a:lnTo>
                  <a:lnTo>
                    <a:pt x="105" y="19929"/>
                  </a:lnTo>
                  <a:lnTo>
                    <a:pt x="19948" y="19929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1" name="Freeform 39"/>
            <p:cNvSpPr/>
            <p:nvPr/>
          </p:nvSpPr>
          <p:spPr bwMode="auto">
            <a:xfrm>
              <a:off x="12555" y="12874"/>
              <a:ext cx="1515" cy="53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2" name="Freeform 40"/>
            <p:cNvSpPr/>
            <p:nvPr/>
          </p:nvSpPr>
          <p:spPr bwMode="auto">
            <a:xfrm>
              <a:off x="14851" y="12874"/>
              <a:ext cx="1515" cy="53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3" name="Freeform 41"/>
            <p:cNvSpPr/>
            <p:nvPr/>
          </p:nvSpPr>
          <p:spPr bwMode="auto">
            <a:xfrm>
              <a:off x="13507" y="4439"/>
              <a:ext cx="563" cy="579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000"/>
                <a:gd name="T16" fmla="*/ 0 h 20000"/>
                <a:gd name="T17" fmla="*/ 20000 w 20000"/>
                <a:gd name="T18" fmla="*/ 20000 h 2000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000" h="20000">
                  <a:moveTo>
                    <a:pt x="0" y="0"/>
                  </a:moveTo>
                  <a:lnTo>
                    <a:pt x="0" y="17088"/>
                  </a:lnTo>
                  <a:lnTo>
                    <a:pt x="100" y="18851"/>
                  </a:lnTo>
                  <a:lnTo>
                    <a:pt x="100" y="19923"/>
                  </a:lnTo>
                  <a:lnTo>
                    <a:pt x="19900" y="19923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4" name="Freeform 42"/>
            <p:cNvSpPr/>
            <p:nvPr/>
          </p:nvSpPr>
          <p:spPr bwMode="auto">
            <a:xfrm>
              <a:off x="10315" y="13318"/>
              <a:ext cx="1515" cy="53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5" name="Rectangle 43"/>
            <p:cNvSpPr>
              <a:spLocks noChangeArrowheads="1"/>
            </p:cNvSpPr>
            <p:nvPr/>
          </p:nvSpPr>
          <p:spPr bwMode="auto">
            <a:xfrm>
              <a:off x="9755" y="11098"/>
              <a:ext cx="1291" cy="6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...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5566" name="Freeform 44"/>
            <p:cNvSpPr/>
            <p:nvPr/>
          </p:nvSpPr>
          <p:spPr bwMode="auto">
            <a:xfrm>
              <a:off x="17147" y="13318"/>
              <a:ext cx="1515" cy="5349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7" name="Rectangle 45"/>
            <p:cNvSpPr>
              <a:spLocks noChangeArrowheads="1"/>
            </p:cNvSpPr>
            <p:nvPr/>
          </p:nvSpPr>
          <p:spPr bwMode="auto">
            <a:xfrm>
              <a:off x="18715" y="11520"/>
              <a:ext cx="1291" cy="6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...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reeform 2"/>
          <p:cNvSpPr/>
          <p:nvPr/>
        </p:nvSpPr>
        <p:spPr bwMode="auto">
          <a:xfrm>
            <a:off x="6507163" y="2855913"/>
            <a:ext cx="454025" cy="395287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00"/>
              <a:gd name="T16" fmla="*/ 0 h 20000"/>
              <a:gd name="T17" fmla="*/ 20000 w 20000"/>
              <a:gd name="T18" fmla="*/ 20000 h 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00" h="20000">
                <a:moveTo>
                  <a:pt x="0" y="0"/>
                </a:moveTo>
                <a:lnTo>
                  <a:pt x="0" y="17082"/>
                </a:lnTo>
                <a:lnTo>
                  <a:pt x="105" y="18861"/>
                </a:lnTo>
                <a:lnTo>
                  <a:pt x="105" y="19929"/>
                </a:lnTo>
                <a:lnTo>
                  <a:pt x="19948" y="19929"/>
                </a:lnTo>
              </a:path>
            </a:pathLst>
          </a:custGeom>
          <a:noFill/>
          <a:ln w="9525">
            <a:solidFill>
              <a:srgbClr val="99FF33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587" name="Freeform 3"/>
          <p:cNvSpPr/>
          <p:nvPr/>
        </p:nvSpPr>
        <p:spPr bwMode="auto">
          <a:xfrm>
            <a:off x="6361113" y="4287838"/>
            <a:ext cx="671512" cy="338137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17"/>
                </a:moveTo>
                <a:lnTo>
                  <a:pt x="8872" y="19917"/>
                </a:lnTo>
                <a:lnTo>
                  <a:pt x="14787" y="0"/>
                </a:lnTo>
                <a:lnTo>
                  <a:pt x="19963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388" name="Freeform 4"/>
          <p:cNvSpPr/>
          <p:nvPr/>
        </p:nvSpPr>
        <p:spPr bwMode="auto">
          <a:xfrm>
            <a:off x="7864475" y="2828925"/>
            <a:ext cx="290513" cy="384175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2147483646 w 20000"/>
              <a:gd name="T9" fmla="*/ 2147483646 h 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00"/>
              <a:gd name="T16" fmla="*/ 0 h 20000"/>
              <a:gd name="T17" fmla="*/ 20000 w 20000"/>
              <a:gd name="T18" fmla="*/ 20000 h 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00" h="20000">
                <a:moveTo>
                  <a:pt x="0" y="0"/>
                </a:moveTo>
                <a:lnTo>
                  <a:pt x="0" y="17080"/>
                </a:lnTo>
                <a:lnTo>
                  <a:pt x="100" y="18832"/>
                </a:lnTo>
                <a:lnTo>
                  <a:pt x="100" y="19927"/>
                </a:lnTo>
                <a:lnTo>
                  <a:pt x="19900" y="19927"/>
                </a:lnTo>
              </a:path>
            </a:pathLst>
          </a:custGeom>
          <a:noFill/>
          <a:ln w="9525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pSp>
        <p:nvGrpSpPr>
          <p:cNvPr id="67589" name="Group 5"/>
          <p:cNvGrpSpPr/>
          <p:nvPr/>
        </p:nvGrpSpPr>
        <p:grpSpPr bwMode="auto">
          <a:xfrm>
            <a:off x="5627688" y="2555875"/>
            <a:ext cx="4932362" cy="2898775"/>
            <a:chOff x="884" y="2082"/>
            <a:chExt cx="3107" cy="1826"/>
          </a:xfrm>
        </p:grpSpPr>
        <p:sp>
          <p:nvSpPr>
            <p:cNvPr id="67609" name="Rectangle 6"/>
            <p:cNvSpPr>
              <a:spLocks noChangeArrowheads="1"/>
            </p:cNvSpPr>
            <p:nvPr/>
          </p:nvSpPr>
          <p:spPr bwMode="auto">
            <a:xfrm>
              <a:off x="1102" y="2082"/>
              <a:ext cx="380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p0: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67610" name="Rectangle 7"/>
            <p:cNvSpPr>
              <a:spLocks noChangeArrowheads="1"/>
            </p:cNvSpPr>
            <p:nvPr/>
          </p:nvSpPr>
          <p:spPr bwMode="auto">
            <a:xfrm>
              <a:off x="1419" y="2114"/>
              <a:ext cx="367" cy="17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611" name="Rectangle 8"/>
            <p:cNvSpPr>
              <a:spLocks noChangeArrowheads="1"/>
            </p:cNvSpPr>
            <p:nvPr/>
          </p:nvSpPr>
          <p:spPr bwMode="auto">
            <a:xfrm>
              <a:off x="1921" y="2082"/>
              <a:ext cx="224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000">
                  <a:latin typeface="Arial" panose="020B0604020202020204" pitchFamily="34" charset="0"/>
                </a:rPr>
                <a:t>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67612" name="Rectangle 9"/>
            <p:cNvSpPr>
              <a:spLocks noChangeArrowheads="1"/>
            </p:cNvSpPr>
            <p:nvPr/>
          </p:nvSpPr>
          <p:spPr bwMode="auto">
            <a:xfrm>
              <a:off x="2151" y="2114"/>
              <a:ext cx="321" cy="17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7613" name="Group 10"/>
            <p:cNvGrpSpPr/>
            <p:nvPr/>
          </p:nvGrpSpPr>
          <p:grpSpPr bwMode="auto">
            <a:xfrm>
              <a:off x="1911" y="2450"/>
              <a:ext cx="265" cy="355"/>
              <a:chOff x="0" y="0"/>
              <a:chExt cx="20000" cy="20000"/>
            </a:xfrm>
          </p:grpSpPr>
          <p:sp>
            <p:nvSpPr>
              <p:cNvPr id="67640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1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7641" name="Line 12"/>
              <p:cNvSpPr>
                <a:spLocks noChangeShapeType="1"/>
              </p:cNvSpPr>
              <p:nvPr/>
            </p:nvSpPr>
            <p:spPr bwMode="auto">
              <a:xfrm>
                <a:off x="0" y="13968"/>
                <a:ext cx="18946" cy="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7614" name="Group 13"/>
            <p:cNvGrpSpPr/>
            <p:nvPr/>
          </p:nvGrpSpPr>
          <p:grpSpPr bwMode="auto">
            <a:xfrm>
              <a:off x="2469" y="2468"/>
              <a:ext cx="266" cy="354"/>
              <a:chOff x="0" y="0"/>
              <a:chExt cx="20000" cy="20000"/>
            </a:xfrm>
          </p:grpSpPr>
          <p:sp>
            <p:nvSpPr>
              <p:cNvPr id="67638" name="Rectangle 1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rgbClr val="FF0000"/>
                    </a:solidFill>
                    <a:latin typeface="Arial" panose="020B0604020202020204" pitchFamily="34" charset="0"/>
                  </a:rPr>
                  <a:t>5</a:t>
                </a:r>
                <a:endParaRPr lang="en-US" altLang="zh-CN" sz="200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7639" name="Line 15"/>
              <p:cNvSpPr>
                <a:spLocks noChangeShapeType="1"/>
              </p:cNvSpPr>
              <p:nvPr/>
            </p:nvSpPr>
            <p:spPr bwMode="auto">
              <a:xfrm>
                <a:off x="0" y="13968"/>
                <a:ext cx="18946" cy="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7615" name="Group 16"/>
            <p:cNvGrpSpPr/>
            <p:nvPr/>
          </p:nvGrpSpPr>
          <p:grpSpPr bwMode="auto">
            <a:xfrm>
              <a:off x="3069" y="2486"/>
              <a:ext cx="266" cy="353"/>
              <a:chOff x="0" y="0"/>
              <a:chExt cx="20000" cy="20000"/>
            </a:xfrm>
          </p:grpSpPr>
          <p:sp>
            <p:nvSpPr>
              <p:cNvPr id="67636" name="Rectangle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3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7637" name="Line 18"/>
              <p:cNvSpPr>
                <a:spLocks noChangeShapeType="1"/>
              </p:cNvSpPr>
              <p:nvPr/>
            </p:nvSpPr>
            <p:spPr bwMode="auto">
              <a:xfrm>
                <a:off x="0" y="13968"/>
                <a:ext cx="18946" cy="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616" name="Freeform 19"/>
            <p:cNvSpPr/>
            <p:nvPr/>
          </p:nvSpPr>
          <p:spPr bwMode="auto">
            <a:xfrm>
              <a:off x="1520" y="2574"/>
              <a:ext cx="377" cy="2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7" name="Rectangle 20"/>
            <p:cNvSpPr>
              <a:spLocks noChangeArrowheads="1"/>
            </p:cNvSpPr>
            <p:nvPr/>
          </p:nvSpPr>
          <p:spPr bwMode="auto">
            <a:xfrm>
              <a:off x="1256" y="2486"/>
              <a:ext cx="32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...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67618" name="Freeform 21"/>
            <p:cNvSpPr/>
            <p:nvPr/>
          </p:nvSpPr>
          <p:spPr bwMode="auto">
            <a:xfrm>
              <a:off x="3224" y="2574"/>
              <a:ext cx="376" cy="2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19" name="Rectangle 22"/>
            <p:cNvSpPr>
              <a:spLocks noChangeArrowheads="1"/>
            </p:cNvSpPr>
            <p:nvPr/>
          </p:nvSpPr>
          <p:spPr bwMode="auto">
            <a:xfrm>
              <a:off x="884" y="3589"/>
              <a:ext cx="370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q0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67620" name="Rectangle 23"/>
            <p:cNvSpPr>
              <a:spLocks noChangeArrowheads="1"/>
            </p:cNvSpPr>
            <p:nvPr/>
          </p:nvSpPr>
          <p:spPr bwMode="auto">
            <a:xfrm>
              <a:off x="1292" y="3584"/>
              <a:ext cx="340" cy="191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621" name="Rectangle 24"/>
            <p:cNvSpPr>
              <a:spLocks noChangeArrowheads="1"/>
            </p:cNvSpPr>
            <p:nvPr/>
          </p:nvSpPr>
          <p:spPr bwMode="auto">
            <a:xfrm>
              <a:off x="2110" y="3589"/>
              <a:ext cx="279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chemeClr val="hlink"/>
                  </a:solidFill>
                  <a:latin typeface="Arial" panose="020B0604020202020204" pitchFamily="34" charset="0"/>
                </a:rPr>
                <a:t>q:</a:t>
              </a:r>
              <a:endParaRPr lang="en-US" altLang="zh-CN" sz="200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7622" name="Rectangle 25"/>
            <p:cNvSpPr>
              <a:spLocks noChangeArrowheads="1"/>
            </p:cNvSpPr>
            <p:nvPr/>
          </p:nvSpPr>
          <p:spPr bwMode="auto">
            <a:xfrm>
              <a:off x="2328" y="3635"/>
              <a:ext cx="323" cy="178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7623" name="Group 26"/>
            <p:cNvGrpSpPr/>
            <p:nvPr/>
          </p:nvGrpSpPr>
          <p:grpSpPr bwMode="auto">
            <a:xfrm>
              <a:off x="1925" y="3052"/>
              <a:ext cx="265" cy="354"/>
              <a:chOff x="0" y="0"/>
              <a:chExt cx="20000" cy="20000"/>
            </a:xfrm>
          </p:grpSpPr>
          <p:sp>
            <p:nvSpPr>
              <p:cNvPr id="67634" name="Rectangle 2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4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7635" name="Line 28"/>
              <p:cNvSpPr>
                <a:spLocks noChangeShapeType="1"/>
              </p:cNvSpPr>
              <p:nvPr/>
            </p:nvSpPr>
            <p:spPr bwMode="auto">
              <a:xfrm>
                <a:off x="0" y="13962"/>
                <a:ext cx="18946" cy="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7624" name="Group 29"/>
            <p:cNvGrpSpPr/>
            <p:nvPr/>
          </p:nvGrpSpPr>
          <p:grpSpPr bwMode="auto">
            <a:xfrm>
              <a:off x="2484" y="3070"/>
              <a:ext cx="264" cy="354"/>
              <a:chOff x="0" y="0"/>
              <a:chExt cx="20000" cy="20000"/>
            </a:xfrm>
          </p:grpSpPr>
          <p:sp>
            <p:nvSpPr>
              <p:cNvPr id="67632" name="Rectangle 3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solidFill>
                      <a:schemeClr val="hlink"/>
                    </a:solidFill>
                    <a:latin typeface="Arial" panose="020B0604020202020204" pitchFamily="34" charset="0"/>
                  </a:rPr>
                  <a:t>2</a:t>
                </a:r>
                <a:endParaRPr lang="en-US" altLang="zh-CN" sz="2000">
                  <a:solidFill>
                    <a:schemeClr val="hlink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7633" name="Line 31"/>
              <p:cNvSpPr>
                <a:spLocks noChangeShapeType="1"/>
              </p:cNvSpPr>
              <p:nvPr/>
            </p:nvSpPr>
            <p:spPr bwMode="auto">
              <a:xfrm>
                <a:off x="0" y="13968"/>
                <a:ext cx="18946" cy="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7625" name="Group 32"/>
            <p:cNvGrpSpPr/>
            <p:nvPr/>
          </p:nvGrpSpPr>
          <p:grpSpPr bwMode="auto">
            <a:xfrm>
              <a:off x="3083" y="3087"/>
              <a:ext cx="266" cy="355"/>
              <a:chOff x="0" y="0"/>
              <a:chExt cx="20000" cy="20000"/>
            </a:xfrm>
          </p:grpSpPr>
          <p:sp>
            <p:nvSpPr>
              <p:cNvPr id="67630" name="Rectangle 3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9525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Arial" panose="020B0604020202020204" pitchFamily="34" charset="0"/>
                  </a:rPr>
                  <a:t>6</a:t>
                </a:r>
                <a:endParaRPr lang="en-US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7631" name="Line 34"/>
              <p:cNvSpPr>
                <a:spLocks noChangeShapeType="1"/>
              </p:cNvSpPr>
              <p:nvPr/>
            </p:nvSpPr>
            <p:spPr bwMode="auto">
              <a:xfrm>
                <a:off x="0" y="13966"/>
                <a:ext cx="18946" cy="4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626" name="Rectangle 35"/>
            <p:cNvSpPr>
              <a:spLocks noChangeArrowheads="1"/>
            </p:cNvSpPr>
            <p:nvPr/>
          </p:nvSpPr>
          <p:spPr bwMode="auto">
            <a:xfrm>
              <a:off x="1311" y="3087"/>
              <a:ext cx="32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...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67627" name="Freeform 36"/>
            <p:cNvSpPr/>
            <p:nvPr/>
          </p:nvSpPr>
          <p:spPr bwMode="auto">
            <a:xfrm>
              <a:off x="3237" y="3176"/>
              <a:ext cx="378" cy="2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17"/>
                  </a:moveTo>
                  <a:lnTo>
                    <a:pt x="8872" y="19917"/>
                  </a:lnTo>
                  <a:lnTo>
                    <a:pt x="14787" y="0"/>
                  </a:lnTo>
                  <a:lnTo>
                    <a:pt x="19963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28" name="Rectangle 37"/>
            <p:cNvSpPr>
              <a:spLocks noChangeArrowheads="1"/>
            </p:cNvSpPr>
            <p:nvPr/>
          </p:nvSpPr>
          <p:spPr bwMode="auto">
            <a:xfrm>
              <a:off x="3627" y="3104"/>
              <a:ext cx="323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…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67629" name="Rectangle 38"/>
            <p:cNvSpPr>
              <a:spLocks noChangeArrowheads="1"/>
            </p:cNvSpPr>
            <p:nvPr/>
          </p:nvSpPr>
          <p:spPr bwMode="auto">
            <a:xfrm>
              <a:off x="3669" y="2486"/>
              <a:ext cx="32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…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400423" name="Freeform 39"/>
          <p:cNvSpPr/>
          <p:nvPr/>
        </p:nvSpPr>
        <p:spPr bwMode="auto">
          <a:xfrm>
            <a:off x="8297863" y="3429000"/>
            <a:ext cx="782637" cy="1177925"/>
          </a:xfrm>
          <a:custGeom>
            <a:avLst/>
            <a:gdLst>
              <a:gd name="T0" fmla="*/ 0 w 493"/>
              <a:gd name="T1" fmla="*/ 2147483646 h 742"/>
              <a:gd name="T2" fmla="*/ 2147483646 w 493"/>
              <a:gd name="T3" fmla="*/ 2147483646 h 742"/>
              <a:gd name="T4" fmla="*/ 2147483646 w 493"/>
              <a:gd name="T5" fmla="*/ 0 h 742"/>
              <a:gd name="T6" fmla="*/ 2147483646 w 493"/>
              <a:gd name="T7" fmla="*/ 2147483646 h 742"/>
              <a:gd name="T8" fmla="*/ 0 60000 65536"/>
              <a:gd name="T9" fmla="*/ 0 60000 65536"/>
              <a:gd name="T10" fmla="*/ 0 60000 65536"/>
              <a:gd name="T11" fmla="*/ 0 60000 65536"/>
              <a:gd name="T12" fmla="*/ 0 w 493"/>
              <a:gd name="T13" fmla="*/ 0 h 742"/>
              <a:gd name="T14" fmla="*/ 493 w 493"/>
              <a:gd name="T15" fmla="*/ 742 h 7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3" h="742">
                <a:moveTo>
                  <a:pt x="0" y="732"/>
                </a:moveTo>
                <a:lnTo>
                  <a:pt x="251" y="742"/>
                </a:lnTo>
                <a:lnTo>
                  <a:pt x="251" y="0"/>
                </a:lnTo>
                <a:lnTo>
                  <a:pt x="493" y="2"/>
                </a:lnTo>
              </a:path>
            </a:pathLst>
          </a:custGeom>
          <a:noFill/>
          <a:ln w="28575">
            <a:solidFill>
              <a:schemeClr val="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424" name="Freeform 40"/>
          <p:cNvSpPr/>
          <p:nvPr/>
        </p:nvSpPr>
        <p:spPr bwMode="auto">
          <a:xfrm>
            <a:off x="8297863" y="3703638"/>
            <a:ext cx="822325" cy="665162"/>
          </a:xfrm>
          <a:custGeom>
            <a:avLst/>
            <a:gdLst>
              <a:gd name="T0" fmla="*/ 0 w 518"/>
              <a:gd name="T1" fmla="*/ 0 h 419"/>
              <a:gd name="T2" fmla="*/ 2147483646 w 518"/>
              <a:gd name="T3" fmla="*/ 0 h 419"/>
              <a:gd name="T4" fmla="*/ 2147483646 w 518"/>
              <a:gd name="T5" fmla="*/ 2147483646 h 419"/>
              <a:gd name="T6" fmla="*/ 2147483646 w 518"/>
              <a:gd name="T7" fmla="*/ 2147483646 h 419"/>
              <a:gd name="T8" fmla="*/ 0 60000 65536"/>
              <a:gd name="T9" fmla="*/ 0 60000 65536"/>
              <a:gd name="T10" fmla="*/ 0 60000 65536"/>
              <a:gd name="T11" fmla="*/ 0 60000 65536"/>
              <a:gd name="T12" fmla="*/ 0 w 518"/>
              <a:gd name="T13" fmla="*/ 0 h 419"/>
              <a:gd name="T14" fmla="*/ 518 w 518"/>
              <a:gd name="T15" fmla="*/ 419 h 41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8" h="419">
                <a:moveTo>
                  <a:pt x="0" y="0"/>
                </a:moveTo>
                <a:lnTo>
                  <a:pt x="206" y="0"/>
                </a:lnTo>
                <a:lnTo>
                  <a:pt x="413" y="415"/>
                </a:lnTo>
                <a:lnTo>
                  <a:pt x="518" y="419"/>
                </a:lnTo>
              </a:path>
            </a:pathLst>
          </a:custGeom>
          <a:noFill/>
          <a:ln w="28575">
            <a:solidFill>
              <a:schemeClr val="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425" name="Freeform 41"/>
          <p:cNvSpPr/>
          <p:nvPr/>
        </p:nvSpPr>
        <p:spPr bwMode="auto">
          <a:xfrm>
            <a:off x="7421563" y="3357563"/>
            <a:ext cx="733425" cy="1235075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77"/>
                </a:moveTo>
                <a:lnTo>
                  <a:pt x="7843" y="19977"/>
                </a:lnTo>
                <a:lnTo>
                  <a:pt x="13547" y="0"/>
                </a:lnTo>
                <a:lnTo>
                  <a:pt x="19964" y="0"/>
                </a:lnTo>
              </a:path>
            </a:pathLst>
          </a:custGeom>
          <a:noFill/>
          <a:ln w="28575">
            <a:solidFill>
              <a:schemeClr val="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426" name="Freeform 42"/>
          <p:cNvSpPr/>
          <p:nvPr/>
        </p:nvSpPr>
        <p:spPr bwMode="auto">
          <a:xfrm>
            <a:off x="7391400" y="3630613"/>
            <a:ext cx="793750" cy="588962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7573" y="0"/>
                </a:lnTo>
                <a:lnTo>
                  <a:pt x="15146" y="19952"/>
                </a:lnTo>
                <a:lnTo>
                  <a:pt x="19966" y="19952"/>
                </a:lnTo>
              </a:path>
            </a:pathLst>
          </a:custGeom>
          <a:noFill/>
          <a:ln w="28575">
            <a:solidFill>
              <a:schemeClr val="hlink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27" name="Freeform 43"/>
          <p:cNvSpPr/>
          <p:nvPr/>
        </p:nvSpPr>
        <p:spPr bwMode="auto">
          <a:xfrm>
            <a:off x="6338888" y="4435475"/>
            <a:ext cx="693737" cy="808038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2147483646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67"/>
                </a:moveTo>
                <a:lnTo>
                  <a:pt x="14048" y="19967"/>
                </a:lnTo>
                <a:lnTo>
                  <a:pt x="14048" y="7987"/>
                </a:lnTo>
                <a:lnTo>
                  <a:pt x="19963" y="0"/>
                </a:lnTo>
              </a:path>
            </a:pathLst>
          </a:custGeom>
          <a:noFill/>
          <a:ln w="9525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00428" name="Freeform 44"/>
          <p:cNvSpPr/>
          <p:nvPr/>
        </p:nvSpPr>
        <p:spPr bwMode="auto">
          <a:xfrm>
            <a:off x="7770813" y="4327525"/>
            <a:ext cx="527050" cy="84455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w 20000"/>
              <a:gd name="T7" fmla="*/ 2147483646 h 20000"/>
              <a:gd name="T8" fmla="*/ 2147483646 w 20000"/>
              <a:gd name="T9" fmla="*/ 0 h 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000"/>
              <a:gd name="T16" fmla="*/ 0 h 20000"/>
              <a:gd name="T17" fmla="*/ 20000 w 20000"/>
              <a:gd name="T18" fmla="*/ 20000 h 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000" h="20000">
                <a:moveTo>
                  <a:pt x="19929" y="19967"/>
                </a:moveTo>
                <a:lnTo>
                  <a:pt x="19929" y="12646"/>
                </a:lnTo>
                <a:lnTo>
                  <a:pt x="0" y="12646"/>
                </a:lnTo>
                <a:lnTo>
                  <a:pt x="0" y="6656"/>
                </a:lnTo>
                <a:lnTo>
                  <a:pt x="15658" y="0"/>
                </a:lnTo>
              </a:path>
            </a:pathLst>
          </a:custGeom>
          <a:noFill/>
          <a:ln w="9525">
            <a:solidFill>
              <a:schemeClr val="accent2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grpSp>
        <p:nvGrpSpPr>
          <p:cNvPr id="9" name="Group 45"/>
          <p:cNvGrpSpPr/>
          <p:nvPr/>
        </p:nvGrpSpPr>
        <p:grpSpPr bwMode="auto">
          <a:xfrm>
            <a:off x="8153400" y="2060575"/>
            <a:ext cx="846138" cy="506413"/>
            <a:chOff x="5057" y="663"/>
            <a:chExt cx="533" cy="319"/>
          </a:xfrm>
        </p:grpSpPr>
        <p:sp>
          <p:nvSpPr>
            <p:cNvPr id="67607" name="Rectangle 46"/>
            <p:cNvSpPr>
              <a:spLocks noChangeArrowheads="1"/>
            </p:cNvSpPr>
            <p:nvPr/>
          </p:nvSpPr>
          <p:spPr bwMode="auto">
            <a:xfrm>
              <a:off x="5057" y="663"/>
              <a:ext cx="266" cy="3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600">
                  <a:latin typeface="Arial" panose="020B0604020202020204" pitchFamily="34" charset="0"/>
                </a:rPr>
                <a:t> </a:t>
              </a:r>
              <a:r>
                <a:rPr lang="en-US" altLang="zh-CN" sz="1600">
                  <a:latin typeface="Arial" panose="020B0604020202020204" pitchFamily="34" charset="0"/>
                </a:rPr>
                <a:t>g:</a:t>
              </a:r>
              <a:endParaRPr lang="en-US" altLang="zh-CN" sz="1600">
                <a:latin typeface="Arial" panose="020B0604020202020204" pitchFamily="34" charset="0"/>
              </a:endParaRPr>
            </a:p>
          </p:txBody>
        </p:sp>
        <p:sp>
          <p:nvSpPr>
            <p:cNvPr id="67608" name="Rectangle 47"/>
            <p:cNvSpPr>
              <a:spLocks noChangeArrowheads="1"/>
            </p:cNvSpPr>
            <p:nvPr/>
          </p:nvSpPr>
          <p:spPr bwMode="auto">
            <a:xfrm>
              <a:off x="5284" y="709"/>
              <a:ext cx="306" cy="177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62478" name="Freeform 48"/>
          <p:cNvSpPr/>
          <p:nvPr/>
        </p:nvSpPr>
        <p:spPr bwMode="auto">
          <a:xfrm>
            <a:off x="7434263" y="3284538"/>
            <a:ext cx="720725" cy="360362"/>
          </a:xfrm>
          <a:custGeom>
            <a:avLst/>
            <a:gdLst>
              <a:gd name="T0" fmla="*/ 0 w 363"/>
              <a:gd name="T1" fmla="*/ 2147483646 h 227"/>
              <a:gd name="T2" fmla="*/ 2147483646 w 363"/>
              <a:gd name="T3" fmla="*/ 2147483646 h 227"/>
              <a:gd name="T4" fmla="*/ 2147483646 w 363"/>
              <a:gd name="T5" fmla="*/ 0 h 227"/>
              <a:gd name="T6" fmla="*/ 2147483646 w 363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363"/>
              <a:gd name="T13" fmla="*/ 0 h 227"/>
              <a:gd name="T14" fmla="*/ 363 w 363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3" h="227">
                <a:moveTo>
                  <a:pt x="0" y="227"/>
                </a:moveTo>
                <a:lnTo>
                  <a:pt x="136" y="227"/>
                </a:lnTo>
                <a:lnTo>
                  <a:pt x="226" y="0"/>
                </a:lnTo>
                <a:lnTo>
                  <a:pt x="363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79" name="Freeform 49"/>
          <p:cNvSpPr/>
          <p:nvPr/>
        </p:nvSpPr>
        <p:spPr bwMode="auto">
          <a:xfrm>
            <a:off x="8297863" y="3355975"/>
            <a:ext cx="796925" cy="288925"/>
          </a:xfrm>
          <a:custGeom>
            <a:avLst/>
            <a:gdLst>
              <a:gd name="T0" fmla="*/ 0 w 502"/>
              <a:gd name="T1" fmla="*/ 2147483646 h 229"/>
              <a:gd name="T2" fmla="*/ 2147483646 w 502"/>
              <a:gd name="T3" fmla="*/ 2147483646 h 229"/>
              <a:gd name="T4" fmla="*/ 2147483646 w 502"/>
              <a:gd name="T5" fmla="*/ 2147483646 h 229"/>
              <a:gd name="T6" fmla="*/ 2147483646 w 502"/>
              <a:gd name="T7" fmla="*/ 0 h 229"/>
              <a:gd name="T8" fmla="*/ 0 60000 65536"/>
              <a:gd name="T9" fmla="*/ 0 60000 65536"/>
              <a:gd name="T10" fmla="*/ 0 60000 65536"/>
              <a:gd name="T11" fmla="*/ 0 60000 65536"/>
              <a:gd name="T12" fmla="*/ 0 w 502"/>
              <a:gd name="T13" fmla="*/ 0 h 229"/>
              <a:gd name="T14" fmla="*/ 502 w 502"/>
              <a:gd name="T15" fmla="*/ 229 h 2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2" h="229">
                <a:moveTo>
                  <a:pt x="0" y="229"/>
                </a:moveTo>
                <a:lnTo>
                  <a:pt x="136" y="229"/>
                </a:lnTo>
                <a:lnTo>
                  <a:pt x="226" y="2"/>
                </a:lnTo>
                <a:lnTo>
                  <a:pt x="502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0" name="Freeform 50"/>
          <p:cNvSpPr/>
          <p:nvPr/>
        </p:nvSpPr>
        <p:spPr bwMode="auto">
          <a:xfrm>
            <a:off x="7434263" y="4221163"/>
            <a:ext cx="720725" cy="360362"/>
          </a:xfrm>
          <a:custGeom>
            <a:avLst/>
            <a:gdLst>
              <a:gd name="T0" fmla="*/ 0 w 363"/>
              <a:gd name="T1" fmla="*/ 2147483646 h 227"/>
              <a:gd name="T2" fmla="*/ 2147483646 w 363"/>
              <a:gd name="T3" fmla="*/ 2147483646 h 227"/>
              <a:gd name="T4" fmla="*/ 2147483646 w 363"/>
              <a:gd name="T5" fmla="*/ 0 h 227"/>
              <a:gd name="T6" fmla="*/ 2147483646 w 363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363"/>
              <a:gd name="T13" fmla="*/ 0 h 227"/>
              <a:gd name="T14" fmla="*/ 363 w 363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3" h="227">
                <a:moveTo>
                  <a:pt x="0" y="227"/>
                </a:moveTo>
                <a:lnTo>
                  <a:pt x="136" y="227"/>
                </a:lnTo>
                <a:lnTo>
                  <a:pt x="226" y="0"/>
                </a:lnTo>
                <a:lnTo>
                  <a:pt x="363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481" name="Freeform 51"/>
          <p:cNvSpPr/>
          <p:nvPr/>
        </p:nvSpPr>
        <p:spPr bwMode="auto">
          <a:xfrm>
            <a:off x="8297863" y="4208463"/>
            <a:ext cx="822325" cy="373062"/>
          </a:xfrm>
          <a:custGeom>
            <a:avLst/>
            <a:gdLst>
              <a:gd name="T0" fmla="*/ 0 w 518"/>
              <a:gd name="T1" fmla="*/ 2147483646 h 235"/>
              <a:gd name="T2" fmla="*/ 2147483646 w 518"/>
              <a:gd name="T3" fmla="*/ 2147483646 h 235"/>
              <a:gd name="T4" fmla="*/ 2147483646 w 518"/>
              <a:gd name="T5" fmla="*/ 2147483646 h 235"/>
              <a:gd name="T6" fmla="*/ 2147483646 w 518"/>
              <a:gd name="T7" fmla="*/ 0 h 235"/>
              <a:gd name="T8" fmla="*/ 0 60000 65536"/>
              <a:gd name="T9" fmla="*/ 0 60000 65536"/>
              <a:gd name="T10" fmla="*/ 0 60000 65536"/>
              <a:gd name="T11" fmla="*/ 0 60000 65536"/>
              <a:gd name="T12" fmla="*/ 0 w 518"/>
              <a:gd name="T13" fmla="*/ 0 h 235"/>
              <a:gd name="T14" fmla="*/ 518 w 518"/>
              <a:gd name="T15" fmla="*/ 235 h 2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8" h="235">
                <a:moveTo>
                  <a:pt x="0" y="235"/>
                </a:moveTo>
                <a:lnTo>
                  <a:pt x="204" y="235"/>
                </a:lnTo>
                <a:lnTo>
                  <a:pt x="339" y="8"/>
                </a:lnTo>
                <a:lnTo>
                  <a:pt x="518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436" name="Freeform 52"/>
          <p:cNvSpPr/>
          <p:nvPr/>
        </p:nvSpPr>
        <p:spPr bwMode="auto">
          <a:xfrm>
            <a:off x="8513763" y="2274888"/>
            <a:ext cx="566737" cy="1009650"/>
          </a:xfrm>
          <a:custGeom>
            <a:avLst/>
            <a:gdLst>
              <a:gd name="T0" fmla="*/ 2147483646 w 357"/>
              <a:gd name="T1" fmla="*/ 0 h 617"/>
              <a:gd name="T2" fmla="*/ 2147483646 w 357"/>
              <a:gd name="T3" fmla="*/ 2147483646 h 617"/>
              <a:gd name="T4" fmla="*/ 0 w 357"/>
              <a:gd name="T5" fmla="*/ 2147483646 h 617"/>
              <a:gd name="T6" fmla="*/ 2147483646 w 357"/>
              <a:gd name="T7" fmla="*/ 2147483646 h 617"/>
              <a:gd name="T8" fmla="*/ 0 60000 65536"/>
              <a:gd name="T9" fmla="*/ 0 60000 65536"/>
              <a:gd name="T10" fmla="*/ 0 60000 65536"/>
              <a:gd name="T11" fmla="*/ 0 60000 65536"/>
              <a:gd name="T12" fmla="*/ 0 w 357"/>
              <a:gd name="T13" fmla="*/ 0 h 617"/>
              <a:gd name="T14" fmla="*/ 357 w 357"/>
              <a:gd name="T15" fmla="*/ 617 h 6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7" h="617">
                <a:moveTo>
                  <a:pt x="149" y="0"/>
                </a:moveTo>
                <a:lnTo>
                  <a:pt x="182" y="183"/>
                </a:lnTo>
                <a:lnTo>
                  <a:pt x="0" y="410"/>
                </a:lnTo>
                <a:lnTo>
                  <a:pt x="357" y="617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434" name="Rectangle 56"/>
          <p:cNvSpPr>
            <a:spLocks noChangeArrowheads="1"/>
          </p:cNvSpPr>
          <p:nvPr/>
        </p:nvSpPr>
        <p:spPr bwMode="auto">
          <a:xfrm>
            <a:off x="0" y="0"/>
            <a:ext cx="5622925" cy="433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tabLst>
                <a:tab pos="1261745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261745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/*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交换 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p0 -&gt; next 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q0 -&gt; next */</a:t>
            </a:r>
            <a:endParaRPr lang="en-US" altLang="zh-CN" sz="28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p0-&gt;next=q;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q0-&gt;next=p;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/*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交换 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p -&gt; next 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q -&gt; next */</a:t>
            </a:r>
            <a:endParaRPr lang="en-US" altLang="zh-CN" sz="28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g=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p-&gt;next</a:t>
            </a:r>
            <a:r>
              <a:rPr lang="en-US" altLang="zh-CN" sz="2800">
                <a:latin typeface="Arial" panose="020B0604020202020204" pitchFamily="34" charset="0"/>
              </a:rPr>
              <a:t>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p-&gt;next=q-&gt;next;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q-&gt;next</a:t>
            </a:r>
            <a:r>
              <a:rPr lang="en-US" altLang="zh-CN" sz="2800">
                <a:latin typeface="Arial" panose="020B0604020202020204" pitchFamily="34" charset="0"/>
              </a:rPr>
              <a:t>=g;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/*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交换 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p 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q */</a:t>
            </a:r>
            <a:endParaRPr lang="en-US" altLang="zh-CN" sz="28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p=p0-&gt;next;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  q=q0-&gt;next;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83" name="Freeform 53"/>
          <p:cNvSpPr/>
          <p:nvPr/>
        </p:nvSpPr>
        <p:spPr bwMode="auto">
          <a:xfrm>
            <a:off x="7772400" y="2749550"/>
            <a:ext cx="384175" cy="1593850"/>
          </a:xfrm>
          <a:custGeom>
            <a:avLst/>
            <a:gdLst>
              <a:gd name="T0" fmla="*/ 0 w 242"/>
              <a:gd name="T1" fmla="*/ 0 h 918"/>
              <a:gd name="T2" fmla="*/ 0 w 242"/>
              <a:gd name="T3" fmla="*/ 2147483647 h 918"/>
              <a:gd name="T4" fmla="*/ 2147483647 w 242"/>
              <a:gd name="T5" fmla="*/ 2147483647 h 918"/>
              <a:gd name="T6" fmla="*/ 0 60000 65536"/>
              <a:gd name="T7" fmla="*/ 0 60000 65536"/>
              <a:gd name="T8" fmla="*/ 0 60000 65536"/>
              <a:gd name="T9" fmla="*/ 0 w 242"/>
              <a:gd name="T10" fmla="*/ 0 h 918"/>
              <a:gd name="T11" fmla="*/ 242 w 242"/>
              <a:gd name="T12" fmla="*/ 918 h 9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2" h="918">
                <a:moveTo>
                  <a:pt x="0" y="0"/>
                </a:moveTo>
                <a:lnTo>
                  <a:pt x="0" y="909"/>
                </a:lnTo>
                <a:lnTo>
                  <a:pt x="242" y="918"/>
                </a:lnTo>
              </a:path>
            </a:pathLst>
          </a:custGeom>
          <a:noFill/>
          <a:ln w="28575">
            <a:solidFill>
              <a:schemeClr val="accent6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84" name="Freeform 54"/>
          <p:cNvSpPr/>
          <p:nvPr/>
        </p:nvSpPr>
        <p:spPr bwMode="auto">
          <a:xfrm>
            <a:off x="7989888" y="3429000"/>
            <a:ext cx="174625" cy="1708150"/>
          </a:xfrm>
          <a:custGeom>
            <a:avLst/>
            <a:gdLst>
              <a:gd name="T0" fmla="*/ 2147483647 w 84"/>
              <a:gd name="T1" fmla="*/ 2147483647 h 1076"/>
              <a:gd name="T2" fmla="*/ 0 w 84"/>
              <a:gd name="T3" fmla="*/ 2147483647 h 1076"/>
              <a:gd name="T4" fmla="*/ 2147483647 w 84"/>
              <a:gd name="T5" fmla="*/ 0 h 1076"/>
              <a:gd name="T6" fmla="*/ 0 60000 65536"/>
              <a:gd name="T7" fmla="*/ 0 60000 65536"/>
              <a:gd name="T8" fmla="*/ 0 60000 65536"/>
              <a:gd name="T9" fmla="*/ 0 w 84"/>
              <a:gd name="T10" fmla="*/ 0 h 1076"/>
              <a:gd name="T11" fmla="*/ 84 w 84"/>
              <a:gd name="T12" fmla="*/ 1076 h 10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4" h="1076">
                <a:moveTo>
                  <a:pt x="25" y="1076"/>
                </a:moveTo>
                <a:lnTo>
                  <a:pt x="0" y="8"/>
                </a:lnTo>
                <a:lnTo>
                  <a:pt x="84" y="0"/>
                </a:lnTo>
              </a:path>
            </a:pathLst>
          </a:custGeom>
          <a:noFill/>
          <a:ln w="28575">
            <a:solidFill>
              <a:schemeClr val="accent6">
                <a:lumMod val="60000"/>
                <a:lumOff val="40000"/>
              </a:schemeClr>
            </a:solidFill>
            <a:round/>
            <a:tailEnd type="triangle" w="med" len="med"/>
          </a:ln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6" name="TextBox 56"/>
          <p:cNvSpPr txBox="1">
            <a:spLocks noChangeArrowheads="1"/>
          </p:cNvSpPr>
          <p:nvPr/>
        </p:nvSpPr>
        <p:spPr bwMode="auto">
          <a:xfrm>
            <a:off x="5791200" y="0"/>
            <a:ext cx="6400800" cy="4619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【</a:t>
            </a:r>
            <a:r>
              <a:rPr lang="zh-CN" altLang="en-US" sz="2400">
                <a:latin typeface="Arial" panose="020B0604020202020204" pitchFamily="34" charset="0"/>
              </a:rPr>
              <a:t>思考</a:t>
            </a:r>
            <a:r>
              <a:rPr lang="en-US" altLang="zh-CN" sz="2400">
                <a:latin typeface="Arial" panose="020B0604020202020204" pitchFamily="34" charset="0"/>
              </a:rPr>
              <a:t>】</a:t>
            </a:r>
            <a:r>
              <a:rPr lang="zh-CN" altLang="en-US" sz="2400">
                <a:latin typeface="Arial" panose="020B0604020202020204" pitchFamily="34" charset="0"/>
              </a:rPr>
              <a:t>如果</a:t>
            </a: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交换</a:t>
            </a:r>
            <a:r>
              <a:rPr lang="zh-CN" altLang="en-US" sz="2400">
                <a:latin typeface="Arial" panose="020B0604020202020204" pitchFamily="34" charset="0"/>
              </a:rPr>
              <a:t>的位置在表头</a:t>
            </a:r>
            <a:r>
              <a:rPr lang="en-US" altLang="zh-CN" sz="2400">
                <a:latin typeface="Arial" panose="020B0604020202020204" pitchFamily="34" charset="0"/>
              </a:rPr>
              <a:t>,</a:t>
            </a:r>
            <a:r>
              <a:rPr lang="zh-CN" altLang="en-US" sz="2400">
                <a:latin typeface="Arial" panose="020B0604020202020204" pitchFamily="34" charset="0"/>
              </a:rPr>
              <a:t>算法的改动？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7" name="TextBox 1"/>
          <p:cNvSpPr txBox="1">
            <a:spLocks noChangeArrowheads="1"/>
          </p:cNvSpPr>
          <p:nvPr/>
        </p:nvSpPr>
        <p:spPr bwMode="auto">
          <a:xfrm>
            <a:off x="5957888" y="1173163"/>
            <a:ext cx="28114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  <a:latin typeface="Arial" panose="020B0604020202020204" pitchFamily="34" charset="0"/>
              </a:rPr>
              <a:t>哨兵结点</a:t>
            </a:r>
            <a:r>
              <a:rPr lang="zh-CN" altLang="en-US" sz="2400">
                <a:latin typeface="Arial" panose="020B0604020202020204" pitchFamily="34" charset="0"/>
              </a:rPr>
              <a:t>的概念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00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00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0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0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0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5" dur="2000" fill="hold"/>
                                        <p:tgtEl>
                                          <p:spTgt spid="5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ldLvl="0" animBg="1"/>
      <p:bldP spid="57" grpId="0"/>
      <p:bldP spid="5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2"/>
          <p:cNvSpPr>
            <a:spLocks noChangeArrowheads="1"/>
          </p:cNvSpPr>
          <p:nvPr/>
        </p:nvSpPr>
        <p:spPr bwMode="auto">
          <a:xfrm>
            <a:off x="6872288" y="25400"/>
            <a:ext cx="5262562" cy="949325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ea typeface="黑体" panose="02010609060101010101" pitchFamily="49" charset="-122"/>
              </a:rPr>
              <a:t>哨兵结点（哨兵项、哨兵变量）：</a:t>
            </a:r>
            <a:endParaRPr lang="en-US" altLang="zh-CN" sz="2400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800" dirty="0">
                <a:ea typeface="黑体" panose="02010609060101010101" pitchFamily="49" charset="-122"/>
              </a:rPr>
              <a:t>在链表的链首多加一节，使算法统一</a:t>
            </a:r>
            <a:endParaRPr lang="en-US" altLang="zh-CN" sz="1800" dirty="0"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800" dirty="0">
                <a:ea typeface="黑体" panose="02010609060101010101" pitchFamily="49" charset="-122"/>
              </a:rPr>
              <a:t>该节不存储有效的链表项的值（数据域）</a:t>
            </a:r>
            <a:endParaRPr lang="en-US" altLang="zh-CN" sz="1800" dirty="0">
              <a:ea typeface="黑体" panose="02010609060101010101" pitchFamily="49" charset="-122"/>
            </a:endParaRPr>
          </a:p>
        </p:txBody>
      </p:sp>
      <p:sp>
        <p:nvSpPr>
          <p:cNvPr id="169" name="TextBox 34"/>
          <p:cNvSpPr txBox="1">
            <a:spLocks noChangeArrowheads="1"/>
          </p:cNvSpPr>
          <p:nvPr/>
        </p:nvSpPr>
        <p:spPr bwMode="auto">
          <a:xfrm>
            <a:off x="1430338" y="2900363"/>
            <a:ext cx="14033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</a:rPr>
              <a:t>表头指针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</a:rPr>
              <a:t>head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Group 4"/>
          <p:cNvGrpSpPr/>
          <p:nvPr/>
        </p:nvGrpSpPr>
        <p:grpSpPr bwMode="auto">
          <a:xfrm>
            <a:off x="4694238" y="3462338"/>
            <a:ext cx="1049337" cy="1317625"/>
            <a:chOff x="0" y="0"/>
            <a:chExt cx="20000" cy="20000"/>
          </a:xfrm>
        </p:grpSpPr>
        <p:sp>
          <p:nvSpPr>
            <p:cNvPr id="69728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5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6.5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69729" name="Line 6"/>
            <p:cNvSpPr>
              <a:spLocks noChangeShapeType="1"/>
            </p:cNvSpPr>
            <p:nvPr/>
          </p:nvSpPr>
          <p:spPr bwMode="auto">
            <a:xfrm>
              <a:off x="555" y="13812"/>
              <a:ext cx="19445" cy="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/>
          <p:nvPr/>
        </p:nvGrpSpPr>
        <p:grpSpPr bwMode="auto">
          <a:xfrm>
            <a:off x="6294438" y="3451225"/>
            <a:ext cx="1050925" cy="1362075"/>
            <a:chOff x="0" y="0"/>
            <a:chExt cx="20000" cy="20000"/>
          </a:xfrm>
        </p:grpSpPr>
        <p:sp>
          <p:nvSpPr>
            <p:cNvPr id="69726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2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3.4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69727" name="Line 9"/>
            <p:cNvSpPr>
              <a:spLocks noChangeShapeType="1"/>
            </p:cNvSpPr>
            <p:nvPr/>
          </p:nvSpPr>
          <p:spPr bwMode="auto">
            <a:xfrm>
              <a:off x="555" y="13821"/>
              <a:ext cx="19445" cy="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6" name="Line 10"/>
          <p:cNvSpPr>
            <a:spLocks noChangeShapeType="1"/>
          </p:cNvSpPr>
          <p:nvPr/>
        </p:nvSpPr>
        <p:spPr bwMode="auto">
          <a:xfrm>
            <a:off x="5360988" y="4587875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" name="Line 11"/>
          <p:cNvSpPr>
            <a:spLocks noChangeShapeType="1"/>
          </p:cNvSpPr>
          <p:nvPr/>
        </p:nvSpPr>
        <p:spPr bwMode="auto">
          <a:xfrm>
            <a:off x="6878638" y="4587875"/>
            <a:ext cx="93345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8" name="Line 12"/>
          <p:cNvSpPr>
            <a:spLocks noChangeShapeType="1"/>
          </p:cNvSpPr>
          <p:nvPr/>
        </p:nvSpPr>
        <p:spPr bwMode="auto">
          <a:xfrm>
            <a:off x="8407400" y="4595813"/>
            <a:ext cx="933450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9" name="Line 13"/>
          <p:cNvSpPr>
            <a:spLocks noChangeShapeType="1"/>
          </p:cNvSpPr>
          <p:nvPr/>
        </p:nvSpPr>
        <p:spPr bwMode="auto">
          <a:xfrm>
            <a:off x="4694238" y="3922713"/>
            <a:ext cx="1077912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" name="Line 14"/>
          <p:cNvSpPr>
            <a:spLocks noChangeShapeType="1"/>
          </p:cNvSpPr>
          <p:nvPr/>
        </p:nvSpPr>
        <p:spPr bwMode="auto">
          <a:xfrm>
            <a:off x="6294438" y="3922713"/>
            <a:ext cx="108267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5"/>
          <p:cNvGrpSpPr/>
          <p:nvPr/>
        </p:nvGrpSpPr>
        <p:grpSpPr bwMode="auto">
          <a:xfrm>
            <a:off x="7764463" y="3448050"/>
            <a:ext cx="1092200" cy="1347788"/>
            <a:chOff x="4558" y="1886"/>
            <a:chExt cx="309" cy="1226"/>
          </a:xfrm>
        </p:grpSpPr>
        <p:grpSp>
          <p:nvGrpSpPr>
            <p:cNvPr id="69722" name="Group 16"/>
            <p:cNvGrpSpPr/>
            <p:nvPr/>
          </p:nvGrpSpPr>
          <p:grpSpPr bwMode="auto">
            <a:xfrm>
              <a:off x="4570" y="1886"/>
              <a:ext cx="297" cy="1226"/>
              <a:chOff x="0" y="0"/>
              <a:chExt cx="20000" cy="20000"/>
            </a:xfrm>
          </p:grpSpPr>
          <p:sp>
            <p:nvSpPr>
              <p:cNvPr id="69724" name="Rectangle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9725" name="Line 18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723" name="Line 19"/>
            <p:cNvSpPr>
              <a:spLocks noChangeShapeType="1"/>
            </p:cNvSpPr>
            <p:nvPr/>
          </p:nvSpPr>
          <p:spPr bwMode="auto">
            <a:xfrm>
              <a:off x="4558" y="2296"/>
              <a:ext cx="305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0"/>
          <p:cNvGrpSpPr/>
          <p:nvPr/>
        </p:nvGrpSpPr>
        <p:grpSpPr bwMode="auto">
          <a:xfrm>
            <a:off x="9369425" y="3448050"/>
            <a:ext cx="1081088" cy="1347788"/>
            <a:chOff x="5023" y="1886"/>
            <a:chExt cx="306" cy="1226"/>
          </a:xfrm>
        </p:grpSpPr>
        <p:grpSp>
          <p:nvGrpSpPr>
            <p:cNvPr id="69718" name="Group 21"/>
            <p:cNvGrpSpPr/>
            <p:nvPr/>
          </p:nvGrpSpPr>
          <p:grpSpPr bwMode="auto">
            <a:xfrm>
              <a:off x="5023" y="1886"/>
              <a:ext cx="298" cy="1226"/>
              <a:chOff x="0" y="0"/>
              <a:chExt cx="20000" cy="20000"/>
            </a:xfrm>
          </p:grpSpPr>
          <p:sp>
            <p:nvSpPr>
              <p:cNvPr id="69720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0.5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·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9721" name="Line 23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719" name="Line 24"/>
            <p:cNvSpPr>
              <a:spLocks noChangeShapeType="1"/>
            </p:cNvSpPr>
            <p:nvPr/>
          </p:nvSpPr>
          <p:spPr bwMode="auto">
            <a:xfrm>
              <a:off x="5023" y="2274"/>
              <a:ext cx="306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1" name="Line 25"/>
          <p:cNvSpPr>
            <a:spLocks noChangeShapeType="1"/>
          </p:cNvSpPr>
          <p:nvPr/>
        </p:nvSpPr>
        <p:spPr bwMode="auto">
          <a:xfrm>
            <a:off x="3798888" y="4587875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26"/>
          <p:cNvGrpSpPr/>
          <p:nvPr/>
        </p:nvGrpSpPr>
        <p:grpSpPr bwMode="auto">
          <a:xfrm>
            <a:off x="2960688" y="3429000"/>
            <a:ext cx="1049337" cy="1317625"/>
            <a:chOff x="0" y="0"/>
            <a:chExt cx="20000" cy="20000"/>
          </a:xfrm>
        </p:grpSpPr>
        <p:sp>
          <p:nvSpPr>
            <p:cNvPr id="193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4" name="Line 28"/>
            <p:cNvSpPr>
              <a:spLocks noChangeShapeType="1"/>
            </p:cNvSpPr>
            <p:nvPr/>
          </p:nvSpPr>
          <p:spPr bwMode="auto">
            <a:xfrm>
              <a:off x="545" y="13807"/>
              <a:ext cx="19455" cy="24"/>
            </a:xfrm>
            <a:prstGeom prst="line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195" name="Line 29"/>
          <p:cNvSpPr>
            <a:spLocks noChangeShapeType="1"/>
          </p:cNvSpPr>
          <p:nvPr/>
        </p:nvSpPr>
        <p:spPr bwMode="auto">
          <a:xfrm>
            <a:off x="2960688" y="3932238"/>
            <a:ext cx="1077912" cy="1587"/>
          </a:xfrm>
          <a:prstGeom prst="line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96" name="Rectangle 30"/>
          <p:cNvSpPr>
            <a:spLocks noChangeArrowheads="1"/>
          </p:cNvSpPr>
          <p:nvPr/>
        </p:nvSpPr>
        <p:spPr bwMode="auto">
          <a:xfrm>
            <a:off x="1606550" y="3546475"/>
            <a:ext cx="1020763" cy="45243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197" name="Line 31"/>
          <p:cNvSpPr>
            <a:spLocks noChangeShapeType="1"/>
          </p:cNvSpPr>
          <p:nvPr/>
        </p:nvSpPr>
        <p:spPr bwMode="auto">
          <a:xfrm>
            <a:off x="2025650" y="3821113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8" name="TextBox 1"/>
          <p:cNvSpPr txBox="1">
            <a:spLocks noChangeArrowheads="1"/>
          </p:cNvSpPr>
          <p:nvPr/>
        </p:nvSpPr>
        <p:spPr bwMode="auto">
          <a:xfrm>
            <a:off x="2795588" y="4667250"/>
            <a:ext cx="1441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Arial" panose="020B0604020202020204" pitchFamily="34" charset="0"/>
              </a:rPr>
              <a:t>哨兵结点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0" name="组合 37"/>
          <p:cNvGrpSpPr/>
          <p:nvPr/>
        </p:nvGrpSpPr>
        <p:grpSpPr bwMode="auto">
          <a:xfrm>
            <a:off x="2795588" y="2806700"/>
            <a:ext cx="803275" cy="611188"/>
            <a:chOff x="1249080" y="3377451"/>
            <a:chExt cx="803201" cy="801020"/>
          </a:xfrm>
        </p:grpSpPr>
        <p:sp>
          <p:nvSpPr>
            <p:cNvPr id="69714" name="TextBox 34"/>
            <p:cNvSpPr txBox="1">
              <a:spLocks noChangeArrowheads="1"/>
            </p:cNvSpPr>
            <p:nvPr/>
          </p:nvSpPr>
          <p:spPr bwMode="auto">
            <a:xfrm>
              <a:off x="1249080" y="3377451"/>
              <a:ext cx="803201" cy="685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9715" name="直接箭头连接符 3"/>
            <p:cNvCxnSpPr>
              <a:cxnSpLocks noChangeShapeType="1"/>
            </p:cNvCxnSpPr>
            <p:nvPr/>
          </p:nvCxnSpPr>
          <p:spPr bwMode="auto">
            <a:xfrm>
              <a:off x="1638961" y="3622875"/>
              <a:ext cx="0" cy="555596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3" name="Line 31"/>
          <p:cNvSpPr>
            <a:spLocks noChangeShapeType="1"/>
          </p:cNvSpPr>
          <p:nvPr/>
        </p:nvSpPr>
        <p:spPr bwMode="auto">
          <a:xfrm>
            <a:off x="2097088" y="3678238"/>
            <a:ext cx="2597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3" name="TextBox 34"/>
          <p:cNvSpPr txBox="1">
            <a:spLocks noChangeArrowheads="1"/>
          </p:cNvSpPr>
          <p:nvPr/>
        </p:nvSpPr>
        <p:spPr bwMode="auto">
          <a:xfrm>
            <a:off x="1517650" y="938213"/>
            <a:ext cx="14033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</a:rPr>
              <a:t>表头指针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</a:rPr>
              <a:t>head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69654" name="Group 4"/>
          <p:cNvGrpSpPr/>
          <p:nvPr/>
        </p:nvGrpSpPr>
        <p:grpSpPr bwMode="auto">
          <a:xfrm>
            <a:off x="3340100" y="1627188"/>
            <a:ext cx="1049338" cy="1317625"/>
            <a:chOff x="0" y="0"/>
            <a:chExt cx="20000" cy="20000"/>
          </a:xfrm>
        </p:grpSpPr>
        <p:sp>
          <p:nvSpPr>
            <p:cNvPr id="6971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5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6.5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69713" name="Line 6"/>
            <p:cNvSpPr>
              <a:spLocks noChangeShapeType="1"/>
            </p:cNvSpPr>
            <p:nvPr/>
          </p:nvSpPr>
          <p:spPr bwMode="auto">
            <a:xfrm>
              <a:off x="555" y="13812"/>
              <a:ext cx="19445" cy="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55" name="Group 7"/>
          <p:cNvGrpSpPr/>
          <p:nvPr/>
        </p:nvGrpSpPr>
        <p:grpSpPr bwMode="auto">
          <a:xfrm>
            <a:off x="4940300" y="1616075"/>
            <a:ext cx="1050925" cy="1362075"/>
            <a:chOff x="0" y="0"/>
            <a:chExt cx="20000" cy="20000"/>
          </a:xfrm>
        </p:grpSpPr>
        <p:sp>
          <p:nvSpPr>
            <p:cNvPr id="69710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2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3.4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69711" name="Line 9"/>
            <p:cNvSpPr>
              <a:spLocks noChangeShapeType="1"/>
            </p:cNvSpPr>
            <p:nvPr/>
          </p:nvSpPr>
          <p:spPr bwMode="auto">
            <a:xfrm>
              <a:off x="555" y="13821"/>
              <a:ext cx="19445" cy="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56" name="Line 10"/>
          <p:cNvSpPr>
            <a:spLocks noChangeShapeType="1"/>
          </p:cNvSpPr>
          <p:nvPr/>
        </p:nvSpPr>
        <p:spPr bwMode="auto">
          <a:xfrm>
            <a:off x="3922713" y="2752725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7" name="Line 11"/>
          <p:cNvSpPr>
            <a:spLocks noChangeShapeType="1"/>
          </p:cNvSpPr>
          <p:nvPr/>
        </p:nvSpPr>
        <p:spPr bwMode="auto">
          <a:xfrm>
            <a:off x="5611813" y="2760663"/>
            <a:ext cx="933450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8" name="Line 12"/>
          <p:cNvSpPr>
            <a:spLocks noChangeShapeType="1"/>
          </p:cNvSpPr>
          <p:nvPr/>
        </p:nvSpPr>
        <p:spPr bwMode="auto">
          <a:xfrm>
            <a:off x="7053263" y="2760663"/>
            <a:ext cx="933450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59" name="Line 13"/>
          <p:cNvSpPr>
            <a:spLocks noChangeShapeType="1"/>
          </p:cNvSpPr>
          <p:nvPr/>
        </p:nvSpPr>
        <p:spPr bwMode="auto">
          <a:xfrm>
            <a:off x="3340100" y="2087563"/>
            <a:ext cx="1077913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660" name="Line 14"/>
          <p:cNvSpPr>
            <a:spLocks noChangeShapeType="1"/>
          </p:cNvSpPr>
          <p:nvPr/>
        </p:nvSpPr>
        <p:spPr bwMode="auto">
          <a:xfrm>
            <a:off x="4940300" y="2087563"/>
            <a:ext cx="108267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9661" name="Group 15"/>
          <p:cNvGrpSpPr/>
          <p:nvPr/>
        </p:nvGrpSpPr>
        <p:grpSpPr bwMode="auto">
          <a:xfrm>
            <a:off x="6410325" y="1612900"/>
            <a:ext cx="1092200" cy="1347788"/>
            <a:chOff x="4558" y="1886"/>
            <a:chExt cx="309" cy="1226"/>
          </a:xfrm>
        </p:grpSpPr>
        <p:grpSp>
          <p:nvGrpSpPr>
            <p:cNvPr id="69706" name="Group 16"/>
            <p:cNvGrpSpPr/>
            <p:nvPr/>
          </p:nvGrpSpPr>
          <p:grpSpPr bwMode="auto">
            <a:xfrm>
              <a:off x="4570" y="1886"/>
              <a:ext cx="297" cy="1226"/>
              <a:chOff x="0" y="0"/>
              <a:chExt cx="20000" cy="20000"/>
            </a:xfrm>
          </p:grpSpPr>
          <p:sp>
            <p:nvSpPr>
              <p:cNvPr id="69708" name="Rectangle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9709" name="Line 18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707" name="Line 19"/>
            <p:cNvSpPr>
              <a:spLocks noChangeShapeType="1"/>
            </p:cNvSpPr>
            <p:nvPr/>
          </p:nvSpPr>
          <p:spPr bwMode="auto">
            <a:xfrm>
              <a:off x="4558" y="2296"/>
              <a:ext cx="305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9662" name="Group 20"/>
          <p:cNvGrpSpPr/>
          <p:nvPr/>
        </p:nvGrpSpPr>
        <p:grpSpPr bwMode="auto">
          <a:xfrm>
            <a:off x="8015288" y="1612900"/>
            <a:ext cx="1081087" cy="1347788"/>
            <a:chOff x="5023" y="1886"/>
            <a:chExt cx="306" cy="1226"/>
          </a:xfrm>
        </p:grpSpPr>
        <p:grpSp>
          <p:nvGrpSpPr>
            <p:cNvPr id="69702" name="Group 21"/>
            <p:cNvGrpSpPr/>
            <p:nvPr/>
          </p:nvGrpSpPr>
          <p:grpSpPr bwMode="auto">
            <a:xfrm>
              <a:off x="5023" y="1886"/>
              <a:ext cx="298" cy="1226"/>
              <a:chOff x="0" y="0"/>
              <a:chExt cx="20000" cy="20000"/>
            </a:xfrm>
          </p:grpSpPr>
          <p:sp>
            <p:nvSpPr>
              <p:cNvPr id="69704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0.5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·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9705" name="Line 23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703" name="Line 24"/>
            <p:cNvSpPr>
              <a:spLocks noChangeShapeType="1"/>
            </p:cNvSpPr>
            <p:nvPr/>
          </p:nvSpPr>
          <p:spPr bwMode="auto">
            <a:xfrm>
              <a:off x="5023" y="2274"/>
              <a:ext cx="306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9663" name="Rectangle 30"/>
          <p:cNvSpPr>
            <a:spLocks noChangeArrowheads="1"/>
          </p:cNvSpPr>
          <p:nvPr/>
        </p:nvSpPr>
        <p:spPr bwMode="auto">
          <a:xfrm>
            <a:off x="1635125" y="1658938"/>
            <a:ext cx="1020763" cy="452437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69664" name="Line 31"/>
          <p:cNvSpPr>
            <a:spLocks noChangeShapeType="1"/>
          </p:cNvSpPr>
          <p:nvPr/>
        </p:nvSpPr>
        <p:spPr bwMode="auto">
          <a:xfrm>
            <a:off x="2406650" y="1878013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7" name="连接符: 曲线 6"/>
          <p:cNvCxnSpPr/>
          <p:nvPr/>
        </p:nvCxnSpPr>
        <p:spPr bwMode="auto">
          <a:xfrm rot="5400000">
            <a:off x="2918619" y="994569"/>
            <a:ext cx="854075" cy="519113"/>
          </a:xfrm>
          <a:prstGeom prst="curvedConnector3">
            <a:avLst>
              <a:gd name="adj1" fmla="val 50000"/>
            </a:avLst>
          </a:prstGeom>
          <a:noFill/>
          <a:ln w="31750" algn="ctr">
            <a:solidFill>
              <a:srgbClr val="FF0000"/>
            </a:solidFill>
            <a:prstDash val="sys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" name="连接符: 曲线 74"/>
          <p:cNvCxnSpPr/>
          <p:nvPr/>
        </p:nvCxnSpPr>
        <p:spPr bwMode="auto">
          <a:xfrm rot="5400000">
            <a:off x="3717131" y="954882"/>
            <a:ext cx="854075" cy="519112"/>
          </a:xfrm>
          <a:prstGeom prst="curvedConnector3">
            <a:avLst/>
          </a:prstGeom>
          <a:solidFill>
            <a:schemeClr val="accent1"/>
          </a:solidFill>
          <a:ln w="31750" cap="flat" cmpd="sng" algn="ctr">
            <a:solidFill>
              <a:schemeClr val="accent2">
                <a:lumMod val="60000"/>
                <a:lumOff val="40000"/>
              </a:schemeClr>
            </a:solidFill>
            <a:prstDash val="sysDash"/>
            <a:round/>
            <a:headEnd type="triangle" w="med" len="med"/>
            <a:tailEnd type="none"/>
          </a:ln>
          <a:effectLst/>
        </p:spPr>
      </p:cxn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2760663" y="857250"/>
            <a:ext cx="933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0000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插入</a:t>
            </a:r>
            <a:endParaRPr lang="zh-CN" altLang="en-US" sz="2400">
              <a:solidFill>
                <a:srgbClr val="FF0000"/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616325" y="857250"/>
            <a:ext cx="93345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删除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78" name="TextBox 34"/>
          <p:cNvSpPr txBox="1">
            <a:spLocks noChangeArrowheads="1"/>
          </p:cNvSpPr>
          <p:nvPr/>
        </p:nvSpPr>
        <p:spPr bwMode="auto">
          <a:xfrm>
            <a:off x="1582738" y="4768850"/>
            <a:ext cx="1403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0000"/>
                </a:solidFill>
                <a:latin typeface="Arial" panose="020B0604020202020204" pitchFamily="34" charset="0"/>
              </a:rPr>
              <a:t>表头指针</a:t>
            </a:r>
            <a:r>
              <a:rPr lang="en-US" altLang="zh-CN" sz="1800">
                <a:solidFill>
                  <a:srgbClr val="FF0000"/>
                </a:solidFill>
                <a:latin typeface="Arial" panose="020B0604020202020204" pitchFamily="34" charset="0"/>
              </a:rPr>
              <a:t>head</a:t>
            </a:r>
            <a:endParaRPr lang="zh-CN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18" name="Group 4"/>
          <p:cNvGrpSpPr/>
          <p:nvPr/>
        </p:nvGrpSpPr>
        <p:grpSpPr bwMode="auto">
          <a:xfrm>
            <a:off x="4732338" y="5478463"/>
            <a:ext cx="1049337" cy="1317625"/>
            <a:chOff x="0" y="0"/>
            <a:chExt cx="20000" cy="20000"/>
          </a:xfrm>
        </p:grpSpPr>
        <p:sp>
          <p:nvSpPr>
            <p:cNvPr id="69700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5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6.5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69701" name="Line 6"/>
            <p:cNvSpPr>
              <a:spLocks noChangeShapeType="1"/>
            </p:cNvSpPr>
            <p:nvPr/>
          </p:nvSpPr>
          <p:spPr bwMode="auto">
            <a:xfrm>
              <a:off x="555" y="13812"/>
              <a:ext cx="19445" cy="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7"/>
          <p:cNvGrpSpPr/>
          <p:nvPr/>
        </p:nvGrpSpPr>
        <p:grpSpPr bwMode="auto">
          <a:xfrm>
            <a:off x="6332538" y="5467350"/>
            <a:ext cx="1050925" cy="1362075"/>
            <a:chOff x="0" y="0"/>
            <a:chExt cx="20000" cy="20000"/>
          </a:xfrm>
        </p:grpSpPr>
        <p:sp>
          <p:nvSpPr>
            <p:cNvPr id="69698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2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3.4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69699" name="Line 9"/>
            <p:cNvSpPr>
              <a:spLocks noChangeShapeType="1"/>
            </p:cNvSpPr>
            <p:nvPr/>
          </p:nvSpPr>
          <p:spPr bwMode="auto">
            <a:xfrm>
              <a:off x="555" y="13821"/>
              <a:ext cx="19445" cy="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5" name="Line 10"/>
          <p:cNvSpPr>
            <a:spLocks noChangeShapeType="1"/>
          </p:cNvSpPr>
          <p:nvPr/>
        </p:nvSpPr>
        <p:spPr bwMode="auto">
          <a:xfrm>
            <a:off x="5427663" y="6610350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Line 11"/>
          <p:cNvSpPr>
            <a:spLocks noChangeShapeType="1"/>
          </p:cNvSpPr>
          <p:nvPr/>
        </p:nvSpPr>
        <p:spPr bwMode="auto">
          <a:xfrm>
            <a:off x="6910388" y="6640513"/>
            <a:ext cx="933450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Line 12"/>
          <p:cNvSpPr>
            <a:spLocks noChangeShapeType="1"/>
          </p:cNvSpPr>
          <p:nvPr/>
        </p:nvSpPr>
        <p:spPr bwMode="auto">
          <a:xfrm>
            <a:off x="8445500" y="6611938"/>
            <a:ext cx="933450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Line 13"/>
          <p:cNvSpPr>
            <a:spLocks noChangeShapeType="1"/>
          </p:cNvSpPr>
          <p:nvPr/>
        </p:nvSpPr>
        <p:spPr bwMode="auto">
          <a:xfrm>
            <a:off x="4732338" y="5938838"/>
            <a:ext cx="1077912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Line 14"/>
          <p:cNvSpPr>
            <a:spLocks noChangeShapeType="1"/>
          </p:cNvSpPr>
          <p:nvPr/>
        </p:nvSpPr>
        <p:spPr bwMode="auto">
          <a:xfrm>
            <a:off x="6332538" y="5938838"/>
            <a:ext cx="108267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" name="Group 15"/>
          <p:cNvGrpSpPr/>
          <p:nvPr/>
        </p:nvGrpSpPr>
        <p:grpSpPr bwMode="auto">
          <a:xfrm>
            <a:off x="7802563" y="5464175"/>
            <a:ext cx="1092200" cy="1347788"/>
            <a:chOff x="4558" y="1886"/>
            <a:chExt cx="309" cy="1226"/>
          </a:xfrm>
        </p:grpSpPr>
        <p:grpSp>
          <p:nvGrpSpPr>
            <p:cNvPr id="69694" name="Group 16"/>
            <p:cNvGrpSpPr/>
            <p:nvPr/>
          </p:nvGrpSpPr>
          <p:grpSpPr bwMode="auto">
            <a:xfrm>
              <a:off x="4570" y="1886"/>
              <a:ext cx="297" cy="1226"/>
              <a:chOff x="0" y="0"/>
              <a:chExt cx="20000" cy="20000"/>
            </a:xfrm>
          </p:grpSpPr>
          <p:sp>
            <p:nvSpPr>
              <p:cNvPr id="69696" name="Rectangle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9697" name="Line 18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695" name="Line 19"/>
            <p:cNvSpPr>
              <a:spLocks noChangeShapeType="1"/>
            </p:cNvSpPr>
            <p:nvPr/>
          </p:nvSpPr>
          <p:spPr bwMode="auto">
            <a:xfrm>
              <a:off x="4558" y="2296"/>
              <a:ext cx="305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2" name="Group 20"/>
          <p:cNvGrpSpPr/>
          <p:nvPr/>
        </p:nvGrpSpPr>
        <p:grpSpPr bwMode="auto">
          <a:xfrm>
            <a:off x="9407525" y="5464175"/>
            <a:ext cx="1081088" cy="1347788"/>
            <a:chOff x="5023" y="1886"/>
            <a:chExt cx="306" cy="1226"/>
          </a:xfrm>
        </p:grpSpPr>
        <p:grpSp>
          <p:nvGrpSpPr>
            <p:cNvPr id="69690" name="Group 21"/>
            <p:cNvGrpSpPr/>
            <p:nvPr/>
          </p:nvGrpSpPr>
          <p:grpSpPr bwMode="auto">
            <a:xfrm>
              <a:off x="5023" y="1886"/>
              <a:ext cx="298" cy="1226"/>
              <a:chOff x="0" y="0"/>
              <a:chExt cx="20000" cy="20000"/>
            </a:xfrm>
          </p:grpSpPr>
          <p:sp>
            <p:nvSpPr>
              <p:cNvPr id="69692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0.5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·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9693" name="Line 23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691" name="Line 24"/>
            <p:cNvSpPr>
              <a:spLocks noChangeShapeType="1"/>
            </p:cNvSpPr>
            <p:nvPr/>
          </p:nvSpPr>
          <p:spPr bwMode="auto">
            <a:xfrm>
              <a:off x="5023" y="2274"/>
              <a:ext cx="306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0" name="Line 25"/>
          <p:cNvSpPr>
            <a:spLocks noChangeShapeType="1"/>
          </p:cNvSpPr>
          <p:nvPr/>
        </p:nvSpPr>
        <p:spPr bwMode="auto">
          <a:xfrm>
            <a:off x="3798888" y="6594475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4" name="Group 26"/>
          <p:cNvGrpSpPr/>
          <p:nvPr/>
        </p:nvGrpSpPr>
        <p:grpSpPr bwMode="auto">
          <a:xfrm>
            <a:off x="2998788" y="5445125"/>
            <a:ext cx="1049337" cy="1317625"/>
            <a:chOff x="0" y="0"/>
            <a:chExt cx="20000" cy="20000"/>
          </a:xfrm>
        </p:grpSpPr>
        <p:sp>
          <p:nvSpPr>
            <p:cNvPr id="102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03" name="Line 28"/>
            <p:cNvSpPr>
              <a:spLocks noChangeShapeType="1"/>
            </p:cNvSpPr>
            <p:nvPr/>
          </p:nvSpPr>
          <p:spPr bwMode="auto">
            <a:xfrm>
              <a:off x="545" y="13807"/>
              <a:ext cx="19455" cy="24"/>
            </a:xfrm>
            <a:prstGeom prst="line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104" name="Line 29"/>
          <p:cNvSpPr>
            <a:spLocks noChangeShapeType="1"/>
          </p:cNvSpPr>
          <p:nvPr/>
        </p:nvSpPr>
        <p:spPr bwMode="auto">
          <a:xfrm>
            <a:off x="2998788" y="5948363"/>
            <a:ext cx="1077912" cy="1587"/>
          </a:xfrm>
          <a:prstGeom prst="line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5" name="Rectangle 30"/>
          <p:cNvSpPr>
            <a:spLocks noChangeArrowheads="1"/>
          </p:cNvSpPr>
          <p:nvPr/>
        </p:nvSpPr>
        <p:spPr bwMode="auto">
          <a:xfrm>
            <a:off x="1646238" y="5454650"/>
            <a:ext cx="1020762" cy="45243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106" name="Line 31"/>
          <p:cNvSpPr>
            <a:spLocks noChangeShapeType="1"/>
          </p:cNvSpPr>
          <p:nvPr/>
        </p:nvSpPr>
        <p:spPr bwMode="auto">
          <a:xfrm>
            <a:off x="2093913" y="5805488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5" name="组合 37"/>
          <p:cNvGrpSpPr/>
          <p:nvPr/>
        </p:nvGrpSpPr>
        <p:grpSpPr bwMode="auto">
          <a:xfrm>
            <a:off x="2917825" y="4937125"/>
            <a:ext cx="803275" cy="523875"/>
            <a:chOff x="1547955" y="3645024"/>
            <a:chExt cx="803201" cy="877094"/>
          </a:xfrm>
        </p:grpSpPr>
        <p:sp>
          <p:nvSpPr>
            <p:cNvPr id="69686" name="TextBox 34"/>
            <p:cNvSpPr txBox="1">
              <a:spLocks noChangeArrowheads="1"/>
            </p:cNvSpPr>
            <p:nvPr/>
          </p:nvSpPr>
          <p:spPr bwMode="auto">
            <a:xfrm>
              <a:off x="1547955" y="3645024"/>
              <a:ext cx="803201" cy="877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69687" name="直接箭头连接符 3"/>
            <p:cNvCxnSpPr>
              <a:cxnSpLocks noChangeShapeType="1"/>
            </p:cNvCxnSpPr>
            <p:nvPr/>
          </p:nvCxnSpPr>
          <p:spPr bwMode="auto">
            <a:xfrm>
              <a:off x="1937836" y="3890446"/>
              <a:ext cx="0" cy="555596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1" name="Line 31"/>
          <p:cNvSpPr>
            <a:spLocks noChangeShapeType="1"/>
          </p:cNvSpPr>
          <p:nvPr/>
        </p:nvSpPr>
        <p:spPr bwMode="auto">
          <a:xfrm>
            <a:off x="2117725" y="5662613"/>
            <a:ext cx="2597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" grpId="0"/>
      <p:bldP spid="196" grpId="0" bldLvl="0" animBg="1"/>
      <p:bldP spid="198" grpId="0"/>
      <p:bldP spid="198" grpId="1"/>
      <p:bldP spid="12" grpId="0"/>
      <p:bldP spid="77" grpId="0"/>
      <p:bldP spid="78" grpId="0"/>
      <p:bldP spid="10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482138" y="6369050"/>
            <a:ext cx="2133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0E9A03E-3866-42C3-8126-3E1421A57C4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2483" name="Rectangle 56"/>
          <p:cNvSpPr>
            <a:spLocks noChangeArrowheads="1"/>
          </p:cNvSpPr>
          <p:nvPr/>
        </p:nvSpPr>
        <p:spPr bwMode="auto">
          <a:xfrm>
            <a:off x="155575" y="103188"/>
            <a:ext cx="6842125" cy="1379537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tabLst>
                <a:tab pos="1261745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tabLst>
                <a:tab pos="1261745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tabLst>
                <a:tab pos="126174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200" dirty="0">
                <a:solidFill>
                  <a:srgbClr val="FF0000"/>
                </a:solidFill>
                <a:latin typeface="Arial" panose="020B0604020202020204" pitchFamily="34" charset="0"/>
              </a:rPr>
              <a:t>如果要交换的结点相邻，前页代码也是正确的。</a:t>
            </a:r>
            <a:endParaRPr lang="en-US" altLang="zh-CN" sz="2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/*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交换 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p0 -&gt; next 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q0 -&gt; next */</a:t>
            </a:r>
            <a:endParaRPr lang="en-US" altLang="zh-CN" sz="2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/*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交换 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 -&gt; next 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q -&gt; next */</a:t>
            </a:r>
            <a:endParaRPr lang="en-US" altLang="zh-CN" sz="2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/*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交换 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 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、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q——</a:t>
            </a:r>
            <a:r>
              <a:rPr lang="zh-CN" altLang="en-US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下图动画省略了此步骤</a:t>
            </a:r>
            <a:r>
              <a:rPr lang="en-US" altLang="zh-CN" sz="2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*/</a:t>
            </a:r>
            <a:endParaRPr lang="en-US" altLang="zh-CN" sz="2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71684" name="Oval 5"/>
          <p:cNvSpPr>
            <a:spLocks noChangeArrowheads="1"/>
          </p:cNvSpPr>
          <p:nvPr/>
        </p:nvSpPr>
        <p:spPr bwMode="auto">
          <a:xfrm>
            <a:off x="1908175" y="2003425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1685" name="Oval 6"/>
          <p:cNvSpPr>
            <a:spLocks noChangeArrowheads="1"/>
          </p:cNvSpPr>
          <p:nvPr/>
        </p:nvSpPr>
        <p:spPr bwMode="auto">
          <a:xfrm>
            <a:off x="3355975" y="1990725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1686" name="Line 7"/>
          <p:cNvSpPr>
            <a:spLocks noChangeShapeType="1"/>
          </p:cNvSpPr>
          <p:nvPr/>
        </p:nvSpPr>
        <p:spPr bwMode="auto">
          <a:xfrm>
            <a:off x="2632075" y="2270125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7" name="Line 8"/>
          <p:cNvSpPr>
            <a:spLocks noChangeShapeType="1"/>
          </p:cNvSpPr>
          <p:nvPr/>
        </p:nvSpPr>
        <p:spPr bwMode="auto">
          <a:xfrm>
            <a:off x="4092575" y="2270125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88" name="Oval 9"/>
          <p:cNvSpPr>
            <a:spLocks noChangeArrowheads="1"/>
          </p:cNvSpPr>
          <p:nvPr/>
        </p:nvSpPr>
        <p:spPr bwMode="auto">
          <a:xfrm>
            <a:off x="4816475" y="1990725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67" name="Line 10"/>
          <p:cNvSpPr>
            <a:spLocks noChangeShapeType="1"/>
          </p:cNvSpPr>
          <p:nvPr/>
        </p:nvSpPr>
        <p:spPr bwMode="auto">
          <a:xfrm>
            <a:off x="5572125" y="414655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0" name="Oval 11"/>
          <p:cNvSpPr>
            <a:spLocks noChangeArrowheads="1"/>
          </p:cNvSpPr>
          <p:nvPr/>
        </p:nvSpPr>
        <p:spPr bwMode="auto">
          <a:xfrm>
            <a:off x="6289675" y="1990725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1691" name="Line 12"/>
          <p:cNvSpPr>
            <a:spLocks noChangeShapeType="1"/>
          </p:cNvSpPr>
          <p:nvPr/>
        </p:nvSpPr>
        <p:spPr bwMode="auto">
          <a:xfrm>
            <a:off x="7026275" y="229870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692" name="Text Box 13"/>
          <p:cNvSpPr txBox="1">
            <a:spLocks noChangeArrowheads="1"/>
          </p:cNvSpPr>
          <p:nvPr/>
        </p:nvSpPr>
        <p:spPr bwMode="auto">
          <a:xfrm>
            <a:off x="2127250" y="2003425"/>
            <a:ext cx="92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3" name="Text Box 14"/>
          <p:cNvSpPr txBox="1">
            <a:spLocks noChangeArrowheads="1"/>
          </p:cNvSpPr>
          <p:nvPr/>
        </p:nvSpPr>
        <p:spPr bwMode="auto">
          <a:xfrm>
            <a:off x="3525838" y="2014538"/>
            <a:ext cx="5032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94" name="Text Box 15"/>
          <p:cNvSpPr txBox="1">
            <a:spLocks noChangeArrowheads="1"/>
          </p:cNvSpPr>
          <p:nvPr/>
        </p:nvSpPr>
        <p:spPr bwMode="auto">
          <a:xfrm>
            <a:off x="5008563" y="2001838"/>
            <a:ext cx="3635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71695" name="Text Box 16"/>
          <p:cNvSpPr txBox="1">
            <a:spLocks noChangeArrowheads="1"/>
          </p:cNvSpPr>
          <p:nvPr/>
        </p:nvSpPr>
        <p:spPr bwMode="auto">
          <a:xfrm>
            <a:off x="6492875" y="2012950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1696" name="Group 17"/>
          <p:cNvGrpSpPr/>
          <p:nvPr/>
        </p:nvGrpSpPr>
        <p:grpSpPr bwMode="auto">
          <a:xfrm>
            <a:off x="7727950" y="2006600"/>
            <a:ext cx="1066800" cy="546100"/>
            <a:chOff x="4104" y="936"/>
            <a:chExt cx="788" cy="344"/>
          </a:xfrm>
        </p:grpSpPr>
        <p:sp>
          <p:nvSpPr>
            <p:cNvPr id="71747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48" name="Text Box 19"/>
            <p:cNvSpPr txBox="1">
              <a:spLocks noChangeArrowheads="1"/>
            </p:cNvSpPr>
            <p:nvPr/>
          </p:nvSpPr>
          <p:spPr bwMode="auto">
            <a:xfrm>
              <a:off x="4317" y="946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1697" name="组合 2"/>
          <p:cNvGrpSpPr/>
          <p:nvPr/>
        </p:nvGrpSpPr>
        <p:grpSpPr bwMode="auto">
          <a:xfrm>
            <a:off x="3370263" y="1484313"/>
            <a:ext cx="3656012" cy="500062"/>
            <a:chOff x="1846473" y="1484784"/>
            <a:chExt cx="3656096" cy="499477"/>
          </a:xfrm>
        </p:grpSpPr>
        <p:sp>
          <p:nvSpPr>
            <p:cNvPr id="71743" name="文本框 3"/>
            <p:cNvSpPr txBox="1">
              <a:spLocks noChangeArrowheads="1"/>
            </p:cNvSpPr>
            <p:nvPr/>
          </p:nvSpPr>
          <p:spPr bwMode="auto">
            <a:xfrm>
              <a:off x="1846473" y="1516246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44" name="文本框 76"/>
            <p:cNvSpPr txBox="1">
              <a:spLocks noChangeArrowheads="1"/>
            </p:cNvSpPr>
            <p:nvPr/>
          </p:nvSpPr>
          <p:spPr bwMode="auto">
            <a:xfrm>
              <a:off x="3292153" y="1492449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45" name="文本框 77"/>
            <p:cNvSpPr txBox="1">
              <a:spLocks noChangeArrowheads="1"/>
            </p:cNvSpPr>
            <p:nvPr/>
          </p:nvSpPr>
          <p:spPr bwMode="auto">
            <a:xfrm>
              <a:off x="3584457" y="1522596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q0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746" name="文本框 78"/>
            <p:cNvSpPr txBox="1">
              <a:spLocks noChangeArrowheads="1"/>
            </p:cNvSpPr>
            <p:nvPr/>
          </p:nvSpPr>
          <p:spPr bwMode="auto">
            <a:xfrm>
              <a:off x="4844153" y="1484784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q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80" name="Oval 5"/>
          <p:cNvSpPr>
            <a:spLocks noChangeArrowheads="1"/>
          </p:cNvSpPr>
          <p:nvPr/>
        </p:nvSpPr>
        <p:spPr bwMode="auto">
          <a:xfrm>
            <a:off x="1919288" y="387350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1" name="Oval 6"/>
          <p:cNvSpPr>
            <a:spLocks noChangeArrowheads="1"/>
          </p:cNvSpPr>
          <p:nvPr/>
        </p:nvSpPr>
        <p:spPr bwMode="auto">
          <a:xfrm>
            <a:off x="3367088" y="386080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2" name="Line 7"/>
          <p:cNvSpPr>
            <a:spLocks noChangeShapeType="1"/>
          </p:cNvSpPr>
          <p:nvPr/>
        </p:nvSpPr>
        <p:spPr bwMode="auto">
          <a:xfrm>
            <a:off x="2643188" y="414020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" name="Oval 9"/>
          <p:cNvSpPr>
            <a:spLocks noChangeArrowheads="1"/>
          </p:cNvSpPr>
          <p:nvPr/>
        </p:nvSpPr>
        <p:spPr bwMode="auto">
          <a:xfrm>
            <a:off x="4827588" y="386080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6" name="Oval 11"/>
          <p:cNvSpPr>
            <a:spLocks noChangeArrowheads="1"/>
          </p:cNvSpPr>
          <p:nvPr/>
        </p:nvSpPr>
        <p:spPr bwMode="auto">
          <a:xfrm>
            <a:off x="6300788" y="386080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7" name="Line 12"/>
          <p:cNvSpPr>
            <a:spLocks noChangeShapeType="1"/>
          </p:cNvSpPr>
          <p:nvPr/>
        </p:nvSpPr>
        <p:spPr bwMode="auto">
          <a:xfrm>
            <a:off x="7037388" y="4168775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" name="Text Box 13"/>
          <p:cNvSpPr txBox="1">
            <a:spLocks noChangeArrowheads="1"/>
          </p:cNvSpPr>
          <p:nvPr/>
        </p:nvSpPr>
        <p:spPr bwMode="auto">
          <a:xfrm>
            <a:off x="2138363" y="3875088"/>
            <a:ext cx="925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" name="Text Box 14"/>
          <p:cNvSpPr txBox="1">
            <a:spLocks noChangeArrowheads="1"/>
          </p:cNvSpPr>
          <p:nvPr/>
        </p:nvSpPr>
        <p:spPr bwMode="auto">
          <a:xfrm>
            <a:off x="3538538" y="3884613"/>
            <a:ext cx="501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" name="Text Box 15"/>
          <p:cNvSpPr txBox="1">
            <a:spLocks noChangeArrowheads="1"/>
          </p:cNvSpPr>
          <p:nvPr/>
        </p:nvSpPr>
        <p:spPr bwMode="auto">
          <a:xfrm>
            <a:off x="5019675" y="3871913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91" name="Text Box 16"/>
          <p:cNvSpPr txBox="1">
            <a:spLocks noChangeArrowheads="1"/>
          </p:cNvSpPr>
          <p:nvPr/>
        </p:nvSpPr>
        <p:spPr bwMode="auto">
          <a:xfrm>
            <a:off x="6505575" y="3884613"/>
            <a:ext cx="3635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17"/>
          <p:cNvGrpSpPr/>
          <p:nvPr/>
        </p:nvGrpSpPr>
        <p:grpSpPr bwMode="auto">
          <a:xfrm>
            <a:off x="7739063" y="3876675"/>
            <a:ext cx="1055687" cy="546100"/>
            <a:chOff x="4104" y="936"/>
            <a:chExt cx="779" cy="344"/>
          </a:xfrm>
        </p:grpSpPr>
        <p:sp>
          <p:nvSpPr>
            <p:cNvPr id="71741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42" name="Text Box 19"/>
            <p:cNvSpPr txBox="1">
              <a:spLocks noChangeArrowheads="1"/>
            </p:cNvSpPr>
            <p:nvPr/>
          </p:nvSpPr>
          <p:spPr bwMode="auto">
            <a:xfrm>
              <a:off x="4308" y="948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5" name="任意多边形: 形状 94"/>
          <p:cNvSpPr/>
          <p:nvPr/>
        </p:nvSpPr>
        <p:spPr bwMode="auto">
          <a:xfrm>
            <a:off x="4051300" y="4184650"/>
            <a:ext cx="2540000" cy="655638"/>
          </a:xfrm>
          <a:custGeom>
            <a:avLst/>
            <a:gdLst>
              <a:gd name="T0" fmla="*/ 0 w 2485378"/>
              <a:gd name="T1" fmla="*/ 0 h 903441"/>
              <a:gd name="T2" fmla="*/ 3823431 w 2485378"/>
              <a:gd name="T3" fmla="*/ 1 h 903441"/>
              <a:gd name="T4" fmla="*/ 7708522 w 2485378"/>
              <a:gd name="T5" fmla="*/ 1 h 903441"/>
              <a:gd name="T6" fmla="*/ 8047701 w 2485378"/>
              <a:gd name="T7" fmla="*/ 1 h 903441"/>
              <a:gd name="T8" fmla="*/ 0 60000 65536"/>
              <a:gd name="T9" fmla="*/ 0 60000 65536"/>
              <a:gd name="T10" fmla="*/ 0 60000 65536"/>
              <a:gd name="T11" fmla="*/ 0 60000 65536"/>
              <a:gd name="T12" fmla="*/ 0 w 2485378"/>
              <a:gd name="T13" fmla="*/ 0 h 903441"/>
              <a:gd name="T14" fmla="*/ 2485378 w 2485378"/>
              <a:gd name="T15" fmla="*/ 903441 h 9034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5378" h="903441">
                <a:moveTo>
                  <a:pt x="0" y="0"/>
                </a:moveTo>
                <a:cubicBezTo>
                  <a:pt x="384110" y="412101"/>
                  <a:pt x="768221" y="824203"/>
                  <a:pt x="1156996" y="895738"/>
                </a:cubicBezTo>
                <a:cubicBezTo>
                  <a:pt x="1545772" y="967273"/>
                  <a:pt x="2119604" y="519404"/>
                  <a:pt x="2332653" y="429208"/>
                </a:cubicBezTo>
                <a:cubicBezTo>
                  <a:pt x="2545702" y="339012"/>
                  <a:pt x="2490496" y="346787"/>
                  <a:pt x="2435290" y="354563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6" name="Oval 5"/>
          <p:cNvSpPr>
            <a:spLocks noChangeArrowheads="1"/>
          </p:cNvSpPr>
          <p:nvPr/>
        </p:nvSpPr>
        <p:spPr bwMode="auto">
          <a:xfrm>
            <a:off x="1957388" y="581818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7" name="Oval 6"/>
          <p:cNvSpPr>
            <a:spLocks noChangeArrowheads="1"/>
          </p:cNvSpPr>
          <p:nvPr/>
        </p:nvSpPr>
        <p:spPr bwMode="auto">
          <a:xfrm>
            <a:off x="3405188" y="580548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8" name="Line 7"/>
          <p:cNvSpPr>
            <a:spLocks noChangeShapeType="1"/>
          </p:cNvSpPr>
          <p:nvPr/>
        </p:nvSpPr>
        <p:spPr bwMode="auto">
          <a:xfrm>
            <a:off x="2681288" y="608488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Oval 9"/>
          <p:cNvSpPr>
            <a:spLocks noChangeArrowheads="1"/>
          </p:cNvSpPr>
          <p:nvPr/>
        </p:nvSpPr>
        <p:spPr bwMode="auto">
          <a:xfrm>
            <a:off x="4865688" y="580548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02" name="Oval 11"/>
          <p:cNvSpPr>
            <a:spLocks noChangeArrowheads="1"/>
          </p:cNvSpPr>
          <p:nvPr/>
        </p:nvSpPr>
        <p:spPr bwMode="auto">
          <a:xfrm>
            <a:off x="6338888" y="580548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04" name="Text Box 13"/>
          <p:cNvSpPr txBox="1">
            <a:spLocks noChangeArrowheads="1"/>
          </p:cNvSpPr>
          <p:nvPr/>
        </p:nvSpPr>
        <p:spPr bwMode="auto">
          <a:xfrm>
            <a:off x="2176463" y="5818188"/>
            <a:ext cx="9255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" name="Text Box 14"/>
          <p:cNvSpPr txBox="1">
            <a:spLocks noChangeArrowheads="1"/>
          </p:cNvSpPr>
          <p:nvPr/>
        </p:nvSpPr>
        <p:spPr bwMode="auto">
          <a:xfrm>
            <a:off x="3576638" y="5829300"/>
            <a:ext cx="501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2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6" name="Text Box 15"/>
          <p:cNvSpPr txBox="1">
            <a:spLocks noChangeArrowheads="1"/>
          </p:cNvSpPr>
          <p:nvPr/>
        </p:nvSpPr>
        <p:spPr bwMode="auto">
          <a:xfrm>
            <a:off x="5057775" y="5816600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07" name="Text Box 16"/>
          <p:cNvSpPr txBox="1">
            <a:spLocks noChangeArrowheads="1"/>
          </p:cNvSpPr>
          <p:nvPr/>
        </p:nvSpPr>
        <p:spPr bwMode="auto">
          <a:xfrm>
            <a:off x="6543675" y="5827713"/>
            <a:ext cx="363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3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" name="Group 17"/>
          <p:cNvGrpSpPr/>
          <p:nvPr/>
        </p:nvGrpSpPr>
        <p:grpSpPr bwMode="auto">
          <a:xfrm>
            <a:off x="7777163" y="5821363"/>
            <a:ext cx="1055687" cy="546100"/>
            <a:chOff x="4104" y="936"/>
            <a:chExt cx="779" cy="344"/>
          </a:xfrm>
        </p:grpSpPr>
        <p:sp>
          <p:nvSpPr>
            <p:cNvPr id="71739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40" name="Text Box 19"/>
            <p:cNvSpPr txBox="1">
              <a:spLocks noChangeArrowheads="1"/>
            </p:cNvSpPr>
            <p:nvPr/>
          </p:nvSpPr>
          <p:spPr bwMode="auto">
            <a:xfrm>
              <a:off x="4308" y="948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rPr>
                <a:t>5</a:t>
              </a:r>
              <a:endPara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11" name="任意多边形: 形状 110"/>
          <p:cNvSpPr/>
          <p:nvPr/>
        </p:nvSpPr>
        <p:spPr bwMode="auto">
          <a:xfrm>
            <a:off x="4067175" y="6156325"/>
            <a:ext cx="2540000" cy="655638"/>
          </a:xfrm>
          <a:custGeom>
            <a:avLst/>
            <a:gdLst>
              <a:gd name="T0" fmla="*/ 0 w 2485378"/>
              <a:gd name="T1" fmla="*/ 0 h 903441"/>
              <a:gd name="T2" fmla="*/ 3823431 w 2485378"/>
              <a:gd name="T3" fmla="*/ 1 h 903441"/>
              <a:gd name="T4" fmla="*/ 7708522 w 2485378"/>
              <a:gd name="T5" fmla="*/ 1 h 903441"/>
              <a:gd name="T6" fmla="*/ 8047701 w 2485378"/>
              <a:gd name="T7" fmla="*/ 1 h 903441"/>
              <a:gd name="T8" fmla="*/ 0 60000 65536"/>
              <a:gd name="T9" fmla="*/ 0 60000 65536"/>
              <a:gd name="T10" fmla="*/ 0 60000 65536"/>
              <a:gd name="T11" fmla="*/ 0 60000 65536"/>
              <a:gd name="T12" fmla="*/ 0 w 2485378"/>
              <a:gd name="T13" fmla="*/ 0 h 903441"/>
              <a:gd name="T14" fmla="*/ 2485378 w 2485378"/>
              <a:gd name="T15" fmla="*/ 903441 h 9034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5378" h="903441">
                <a:moveTo>
                  <a:pt x="0" y="0"/>
                </a:moveTo>
                <a:cubicBezTo>
                  <a:pt x="384110" y="412101"/>
                  <a:pt x="768221" y="824203"/>
                  <a:pt x="1156996" y="895738"/>
                </a:cubicBezTo>
                <a:cubicBezTo>
                  <a:pt x="1545772" y="967273"/>
                  <a:pt x="2119604" y="519404"/>
                  <a:pt x="2332653" y="429208"/>
                </a:cubicBezTo>
                <a:cubicBezTo>
                  <a:pt x="2545702" y="339012"/>
                  <a:pt x="2490496" y="346787"/>
                  <a:pt x="2435290" y="354563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任意多边形: 形状 1"/>
          <p:cNvSpPr/>
          <p:nvPr/>
        </p:nvSpPr>
        <p:spPr bwMode="auto">
          <a:xfrm>
            <a:off x="5378450" y="3881438"/>
            <a:ext cx="608013" cy="517525"/>
          </a:xfrm>
          <a:custGeom>
            <a:avLst/>
            <a:gdLst>
              <a:gd name="T0" fmla="*/ 11498 w 607908"/>
              <a:gd name="T1" fmla="*/ 504225 h 517800"/>
              <a:gd name="T2" fmla="*/ 613016 w 607908"/>
              <a:gd name="T3" fmla="*/ 175157 h 517800"/>
              <a:gd name="T4" fmla="*/ 71633 w 607908"/>
              <a:gd name="T5" fmla="*/ 10604 h 517800"/>
              <a:gd name="T6" fmla="*/ 21537 w 607908"/>
              <a:gd name="T7" fmla="*/ 29983 h 517800"/>
              <a:gd name="T8" fmla="*/ 0 60000 65536"/>
              <a:gd name="T9" fmla="*/ 0 60000 65536"/>
              <a:gd name="T10" fmla="*/ 0 60000 65536"/>
              <a:gd name="T11" fmla="*/ 0 60000 65536"/>
              <a:gd name="T12" fmla="*/ 0 w 607908"/>
              <a:gd name="T13" fmla="*/ 0 h 517800"/>
              <a:gd name="T14" fmla="*/ 607908 w 607908"/>
              <a:gd name="T15" fmla="*/ 517800 h 517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7908" h="517800">
                <a:moveTo>
                  <a:pt x="11398" y="517800"/>
                </a:moveTo>
                <a:cubicBezTo>
                  <a:pt x="304602" y="391076"/>
                  <a:pt x="597807" y="264353"/>
                  <a:pt x="607746" y="179870"/>
                </a:cubicBezTo>
                <a:cubicBezTo>
                  <a:pt x="617685" y="95387"/>
                  <a:pt x="168768" y="35752"/>
                  <a:pt x="71033" y="10904"/>
                </a:cubicBezTo>
                <a:cubicBezTo>
                  <a:pt x="-26702" y="-13944"/>
                  <a:pt x="-2683" y="8419"/>
                  <a:pt x="21337" y="30783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3" name="任意多边形: 形状 112"/>
          <p:cNvSpPr/>
          <p:nvPr/>
        </p:nvSpPr>
        <p:spPr bwMode="auto">
          <a:xfrm>
            <a:off x="5441950" y="6218238"/>
            <a:ext cx="2540000" cy="655637"/>
          </a:xfrm>
          <a:custGeom>
            <a:avLst/>
            <a:gdLst>
              <a:gd name="T0" fmla="*/ 0 w 2485378"/>
              <a:gd name="T1" fmla="*/ 0 h 903441"/>
              <a:gd name="T2" fmla="*/ 3823431 w 2485378"/>
              <a:gd name="T3" fmla="*/ 1 h 903441"/>
              <a:gd name="T4" fmla="*/ 7708522 w 2485378"/>
              <a:gd name="T5" fmla="*/ 1 h 903441"/>
              <a:gd name="T6" fmla="*/ 8047701 w 2485378"/>
              <a:gd name="T7" fmla="*/ 1 h 903441"/>
              <a:gd name="T8" fmla="*/ 0 60000 65536"/>
              <a:gd name="T9" fmla="*/ 0 60000 65536"/>
              <a:gd name="T10" fmla="*/ 0 60000 65536"/>
              <a:gd name="T11" fmla="*/ 0 60000 65536"/>
              <a:gd name="T12" fmla="*/ 0 w 2485378"/>
              <a:gd name="T13" fmla="*/ 0 h 903441"/>
              <a:gd name="T14" fmla="*/ 2485378 w 2485378"/>
              <a:gd name="T15" fmla="*/ 903441 h 9034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85378" h="903441">
                <a:moveTo>
                  <a:pt x="0" y="0"/>
                </a:moveTo>
                <a:cubicBezTo>
                  <a:pt x="384110" y="412101"/>
                  <a:pt x="768221" y="824203"/>
                  <a:pt x="1156996" y="895738"/>
                </a:cubicBezTo>
                <a:cubicBezTo>
                  <a:pt x="1545772" y="967273"/>
                  <a:pt x="2119604" y="519404"/>
                  <a:pt x="2332653" y="429208"/>
                </a:cubicBezTo>
                <a:cubicBezTo>
                  <a:pt x="2545702" y="339012"/>
                  <a:pt x="2490496" y="346787"/>
                  <a:pt x="2435290" y="354563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4" name="Line 12"/>
          <p:cNvSpPr>
            <a:spLocks noChangeShapeType="1"/>
          </p:cNvSpPr>
          <p:nvPr/>
        </p:nvSpPr>
        <p:spPr bwMode="auto">
          <a:xfrm>
            <a:off x="5602288" y="6103938"/>
            <a:ext cx="7239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5" name="Line 8"/>
          <p:cNvSpPr>
            <a:spLocks noChangeShapeType="1"/>
          </p:cNvSpPr>
          <p:nvPr/>
        </p:nvSpPr>
        <p:spPr bwMode="auto">
          <a:xfrm>
            <a:off x="4092575" y="410686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725" name="Line 10"/>
          <p:cNvSpPr>
            <a:spLocks noChangeShapeType="1"/>
          </p:cNvSpPr>
          <p:nvPr/>
        </p:nvSpPr>
        <p:spPr bwMode="auto">
          <a:xfrm>
            <a:off x="5553075" y="2263775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9" name="任意多边形: 形状 118"/>
          <p:cNvSpPr/>
          <p:nvPr/>
        </p:nvSpPr>
        <p:spPr bwMode="auto">
          <a:xfrm>
            <a:off x="5413375" y="5815013"/>
            <a:ext cx="608013" cy="517525"/>
          </a:xfrm>
          <a:custGeom>
            <a:avLst/>
            <a:gdLst>
              <a:gd name="T0" fmla="*/ 11498 w 607908"/>
              <a:gd name="T1" fmla="*/ 504225 h 517800"/>
              <a:gd name="T2" fmla="*/ 613016 w 607908"/>
              <a:gd name="T3" fmla="*/ 175157 h 517800"/>
              <a:gd name="T4" fmla="*/ 71633 w 607908"/>
              <a:gd name="T5" fmla="*/ 10604 h 517800"/>
              <a:gd name="T6" fmla="*/ 21537 w 607908"/>
              <a:gd name="T7" fmla="*/ 29983 h 517800"/>
              <a:gd name="T8" fmla="*/ 0 60000 65536"/>
              <a:gd name="T9" fmla="*/ 0 60000 65536"/>
              <a:gd name="T10" fmla="*/ 0 60000 65536"/>
              <a:gd name="T11" fmla="*/ 0 60000 65536"/>
              <a:gd name="T12" fmla="*/ 0 w 607908"/>
              <a:gd name="T13" fmla="*/ 0 h 517800"/>
              <a:gd name="T14" fmla="*/ 607908 w 607908"/>
              <a:gd name="T15" fmla="*/ 517800 h 517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7908" h="517800">
                <a:moveTo>
                  <a:pt x="11398" y="517800"/>
                </a:moveTo>
                <a:cubicBezTo>
                  <a:pt x="304602" y="391076"/>
                  <a:pt x="597807" y="264353"/>
                  <a:pt x="607746" y="179870"/>
                </a:cubicBezTo>
                <a:cubicBezTo>
                  <a:pt x="617685" y="95387"/>
                  <a:pt x="168768" y="35752"/>
                  <a:pt x="71033" y="10904"/>
                </a:cubicBezTo>
                <a:cubicBezTo>
                  <a:pt x="-26702" y="-13944"/>
                  <a:pt x="-2683" y="8419"/>
                  <a:pt x="21337" y="30783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0" name="Line 12"/>
          <p:cNvSpPr>
            <a:spLocks noChangeShapeType="1"/>
          </p:cNvSpPr>
          <p:nvPr/>
        </p:nvSpPr>
        <p:spPr bwMode="auto">
          <a:xfrm>
            <a:off x="7075488" y="608488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组合 120"/>
          <p:cNvGrpSpPr/>
          <p:nvPr/>
        </p:nvGrpSpPr>
        <p:grpSpPr bwMode="auto">
          <a:xfrm>
            <a:off x="3576638" y="5343525"/>
            <a:ext cx="3656012" cy="498475"/>
            <a:chOff x="1846473" y="1484784"/>
            <a:chExt cx="3656096" cy="499477"/>
          </a:xfrm>
        </p:grpSpPr>
        <p:sp>
          <p:nvSpPr>
            <p:cNvPr id="71735" name="文本框 121"/>
            <p:cNvSpPr txBox="1">
              <a:spLocks noChangeArrowheads="1"/>
            </p:cNvSpPr>
            <p:nvPr/>
          </p:nvSpPr>
          <p:spPr bwMode="auto">
            <a:xfrm>
              <a:off x="1846473" y="1516246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36" name="文本框 122"/>
            <p:cNvSpPr txBox="1">
              <a:spLocks noChangeArrowheads="1"/>
            </p:cNvSpPr>
            <p:nvPr/>
          </p:nvSpPr>
          <p:spPr bwMode="auto">
            <a:xfrm>
              <a:off x="3292153" y="1492449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37" name="文本框 123"/>
            <p:cNvSpPr txBox="1">
              <a:spLocks noChangeArrowheads="1"/>
            </p:cNvSpPr>
            <p:nvPr/>
          </p:nvSpPr>
          <p:spPr bwMode="auto">
            <a:xfrm>
              <a:off x="3584457" y="1522596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q0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738" name="文本框 124"/>
            <p:cNvSpPr txBox="1">
              <a:spLocks noChangeArrowheads="1"/>
            </p:cNvSpPr>
            <p:nvPr/>
          </p:nvSpPr>
          <p:spPr bwMode="auto">
            <a:xfrm>
              <a:off x="4844153" y="1484784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q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8" name="组合 125"/>
          <p:cNvGrpSpPr/>
          <p:nvPr/>
        </p:nvGrpSpPr>
        <p:grpSpPr bwMode="auto">
          <a:xfrm>
            <a:off x="3494088" y="3335338"/>
            <a:ext cx="3656012" cy="500062"/>
            <a:chOff x="1846473" y="1484784"/>
            <a:chExt cx="3656096" cy="499477"/>
          </a:xfrm>
        </p:grpSpPr>
        <p:sp>
          <p:nvSpPr>
            <p:cNvPr id="71731" name="文本框 126"/>
            <p:cNvSpPr txBox="1">
              <a:spLocks noChangeArrowheads="1"/>
            </p:cNvSpPr>
            <p:nvPr/>
          </p:nvSpPr>
          <p:spPr bwMode="auto">
            <a:xfrm>
              <a:off x="1846473" y="1516246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32" name="文本框 127"/>
            <p:cNvSpPr txBox="1">
              <a:spLocks noChangeArrowheads="1"/>
            </p:cNvSpPr>
            <p:nvPr/>
          </p:nvSpPr>
          <p:spPr bwMode="auto">
            <a:xfrm>
              <a:off x="3292153" y="1492449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1733" name="文本框 128"/>
            <p:cNvSpPr txBox="1">
              <a:spLocks noChangeArrowheads="1"/>
            </p:cNvSpPr>
            <p:nvPr/>
          </p:nvSpPr>
          <p:spPr bwMode="auto">
            <a:xfrm>
              <a:off x="3584457" y="1522596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q0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734" name="文本框 129"/>
            <p:cNvSpPr txBox="1">
              <a:spLocks noChangeArrowheads="1"/>
            </p:cNvSpPr>
            <p:nvPr/>
          </p:nvSpPr>
          <p:spPr bwMode="auto">
            <a:xfrm>
              <a:off x="4844153" y="1484784"/>
              <a:ext cx="65841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q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1730" name="文本框 4"/>
          <p:cNvSpPr txBox="1">
            <a:spLocks noChangeArrowheads="1"/>
          </p:cNvSpPr>
          <p:nvPr/>
        </p:nvSpPr>
        <p:spPr bwMode="auto">
          <a:xfrm>
            <a:off x="1630363" y="1484313"/>
            <a:ext cx="18208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交换前：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62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2000" fill="hold"/>
                                        <p:tgtEl>
                                          <p:spTgt spid="62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2000" fill="hold"/>
                                        <p:tgtEl>
                                          <p:spTgt spid="62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bldLvl="0" animBg="1"/>
      <p:bldP spid="81" grpId="0" bldLvl="0" animBg="1"/>
      <p:bldP spid="84" grpId="0" bldLvl="0" animBg="1"/>
      <p:bldP spid="86" grpId="0" bldLvl="0" animBg="1"/>
      <p:bldP spid="88" grpId="0"/>
      <p:bldP spid="89" grpId="0"/>
      <p:bldP spid="90" grpId="0"/>
      <p:bldP spid="91" grpId="0"/>
      <p:bldP spid="96" grpId="0" bldLvl="0" animBg="1"/>
      <p:bldP spid="97" grpId="0" bldLvl="0" animBg="1"/>
      <p:bldP spid="100" grpId="0" bldLvl="0" animBg="1"/>
      <p:bldP spid="102" grpId="0" bldLvl="0" animBg="1"/>
      <p:bldP spid="104" grpId="0"/>
      <p:bldP spid="105" grpId="0"/>
      <p:bldP spid="106" grpId="0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88913" y="344488"/>
            <a:ext cx="8507412" cy="4318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【</a:t>
            </a:r>
            <a:r>
              <a:rPr lang="zh-CN" altLang="en-US" sz="2800" b="1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例</a:t>
            </a:r>
            <a:r>
              <a:rPr lang="en-US" altLang="zh-CN" sz="2800" b="1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13.1】</a:t>
            </a:r>
            <a:r>
              <a:rPr lang="zh-CN" altLang="en-US" sz="2800" b="1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使用链表结构，表示</a:t>
            </a:r>
            <a:r>
              <a:rPr lang="en-US" altLang="zh-CN" sz="2800" b="1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[0,1]</a:t>
            </a:r>
            <a:r>
              <a:rPr lang="zh-CN" altLang="en-US" sz="2800" b="1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实数序列。</a:t>
            </a:r>
            <a:endParaRPr lang="zh-CN" altLang="en-US" sz="2800" b="1">
              <a:solidFill>
                <a:srgbClr val="FFC000"/>
              </a:solidFill>
              <a:effectLst/>
              <a:ea typeface="黑体" panose="02010609060101010101" pitchFamily="49" charset="-122"/>
            </a:endParaRP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1524000" y="2984500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524000" y="3003550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3733" name="Rectangle 30"/>
          <p:cNvSpPr>
            <a:spLocks noChangeArrowheads="1"/>
          </p:cNvSpPr>
          <p:nvPr/>
        </p:nvSpPr>
        <p:spPr bwMode="auto">
          <a:xfrm>
            <a:off x="0" y="1092200"/>
            <a:ext cx="12039600" cy="1135063"/>
          </a:xfrm>
          <a:prstGeom prst="rect">
            <a:avLst/>
          </a:prstGeom>
          <a:noFill/>
          <a:ln w="12700" algn="ctr">
            <a:noFill/>
            <a:miter lim="800000"/>
          </a:ln>
        </p:spPr>
        <p:txBody>
          <a:bodyPr lIns="12700" tIns="12700" rIns="12700" bIns="12700" anchor="ctr">
            <a:spAutoFit/>
          </a:bodyPr>
          <a:lstStyle/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实数序列的各项均在区间 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[ 0 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1 ] 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之间</a:t>
            </a:r>
            <a:endParaRPr lang="en-US" altLang="zh-CN" sz="2400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 先把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0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放入链表中</a:t>
            </a:r>
            <a:endParaRPr lang="en-US" altLang="zh-CN" sz="2400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 再逐步输入实数，插入到链表的合适位置上，使链表仍保持递增顺序</a:t>
            </a:r>
            <a:endParaRPr lang="zh-CN" altLang="en-US" sz="2400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26" name="灯片编号占位符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8D6FAC2-9F3C-47EE-AEB4-85B229E448A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3559" name="TextBox 26"/>
          <p:cNvSpPr txBox="1">
            <a:spLocks noChangeArrowheads="1"/>
          </p:cNvSpPr>
          <p:nvPr/>
        </p:nvSpPr>
        <p:spPr bwMode="auto">
          <a:xfrm>
            <a:off x="4238625" y="3500438"/>
            <a:ext cx="42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60" name="TextBox 27"/>
          <p:cNvSpPr txBox="1">
            <a:spLocks noChangeArrowheads="1"/>
          </p:cNvSpPr>
          <p:nvPr/>
        </p:nvSpPr>
        <p:spPr bwMode="auto">
          <a:xfrm>
            <a:off x="9096375" y="3429000"/>
            <a:ext cx="42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3561" name="TextBox 28"/>
          <p:cNvSpPr txBox="1">
            <a:spLocks noChangeArrowheads="1"/>
          </p:cNvSpPr>
          <p:nvPr/>
        </p:nvSpPr>
        <p:spPr bwMode="auto">
          <a:xfrm>
            <a:off x="5310188" y="3357563"/>
            <a:ext cx="785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0.13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3562" name="TextBox 29"/>
          <p:cNvSpPr txBox="1">
            <a:spLocks noChangeArrowheads="1"/>
          </p:cNvSpPr>
          <p:nvPr/>
        </p:nvSpPr>
        <p:spPr bwMode="auto">
          <a:xfrm>
            <a:off x="7596188" y="3429000"/>
            <a:ext cx="785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0.79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23564" name="Group 31"/>
          <p:cNvGrpSpPr/>
          <p:nvPr/>
        </p:nvGrpSpPr>
        <p:grpSpPr bwMode="auto">
          <a:xfrm>
            <a:off x="1919288" y="2781300"/>
            <a:ext cx="7777162" cy="1584325"/>
            <a:chOff x="179" y="1480"/>
            <a:chExt cx="2521" cy="848"/>
          </a:xfrm>
        </p:grpSpPr>
        <p:sp>
          <p:nvSpPr>
            <p:cNvPr id="23566" name="Rectangle 32"/>
            <p:cNvSpPr>
              <a:spLocks noChangeArrowheads="1"/>
            </p:cNvSpPr>
            <p:nvPr/>
          </p:nvSpPr>
          <p:spPr bwMode="auto">
            <a:xfrm>
              <a:off x="179" y="1480"/>
              <a:ext cx="344" cy="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pHead: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3567" name="Rectangle 33"/>
            <p:cNvSpPr>
              <a:spLocks noChangeArrowheads="1"/>
            </p:cNvSpPr>
            <p:nvPr/>
          </p:nvSpPr>
          <p:spPr bwMode="auto">
            <a:xfrm>
              <a:off x="573" y="1493"/>
              <a:ext cx="265" cy="18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3568" name="Rectangle 34"/>
            <p:cNvSpPr>
              <a:spLocks noChangeArrowheads="1"/>
            </p:cNvSpPr>
            <p:nvPr/>
          </p:nvSpPr>
          <p:spPr bwMode="auto">
            <a:xfrm>
              <a:off x="846" y="1775"/>
              <a:ext cx="272" cy="527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3569" name="Line 35"/>
            <p:cNvSpPr>
              <a:spLocks noChangeShapeType="1"/>
            </p:cNvSpPr>
            <p:nvPr/>
          </p:nvSpPr>
          <p:spPr bwMode="auto">
            <a:xfrm>
              <a:off x="854" y="2139"/>
              <a:ext cx="26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0" name="Freeform 36"/>
            <p:cNvSpPr/>
            <p:nvPr/>
          </p:nvSpPr>
          <p:spPr bwMode="auto">
            <a:xfrm>
              <a:off x="702" y="1594"/>
              <a:ext cx="136" cy="2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43"/>
                  </a:lnTo>
                  <a:lnTo>
                    <a:pt x="19945" y="19943"/>
                  </a:lnTo>
                </a:path>
              </a:pathLst>
            </a:custGeom>
            <a:noFill/>
            <a:ln w="571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1" name="Rectangle 37"/>
            <p:cNvSpPr>
              <a:spLocks noChangeArrowheads="1"/>
            </p:cNvSpPr>
            <p:nvPr/>
          </p:nvSpPr>
          <p:spPr bwMode="auto">
            <a:xfrm>
              <a:off x="1262" y="1771"/>
              <a:ext cx="272" cy="544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3572" name="Line 38"/>
            <p:cNvSpPr>
              <a:spLocks noChangeShapeType="1"/>
            </p:cNvSpPr>
            <p:nvPr/>
          </p:nvSpPr>
          <p:spPr bwMode="auto">
            <a:xfrm>
              <a:off x="1270" y="2147"/>
              <a:ext cx="26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3" name="Rectangle 39"/>
            <p:cNvSpPr>
              <a:spLocks noChangeArrowheads="1"/>
            </p:cNvSpPr>
            <p:nvPr/>
          </p:nvSpPr>
          <p:spPr bwMode="auto">
            <a:xfrm>
              <a:off x="2011" y="1788"/>
              <a:ext cx="273" cy="54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3574" name="Line 40"/>
            <p:cNvSpPr>
              <a:spLocks noChangeShapeType="1"/>
            </p:cNvSpPr>
            <p:nvPr/>
          </p:nvSpPr>
          <p:spPr bwMode="auto">
            <a:xfrm>
              <a:off x="2019" y="2161"/>
              <a:ext cx="265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5" name="Rectangle 41"/>
            <p:cNvSpPr>
              <a:spLocks noChangeArrowheads="1"/>
            </p:cNvSpPr>
            <p:nvPr/>
          </p:nvSpPr>
          <p:spPr bwMode="auto">
            <a:xfrm>
              <a:off x="2427" y="1788"/>
              <a:ext cx="273" cy="54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3576" name="Line 42"/>
            <p:cNvSpPr>
              <a:spLocks noChangeShapeType="1"/>
            </p:cNvSpPr>
            <p:nvPr/>
          </p:nvSpPr>
          <p:spPr bwMode="auto">
            <a:xfrm>
              <a:off x="2435" y="2161"/>
              <a:ext cx="265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7" name="Rectangle 43"/>
            <p:cNvSpPr>
              <a:spLocks noChangeArrowheads="1"/>
            </p:cNvSpPr>
            <p:nvPr/>
          </p:nvSpPr>
          <p:spPr bwMode="auto">
            <a:xfrm>
              <a:off x="1685" y="1930"/>
              <a:ext cx="16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...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3578" name="Line 44"/>
            <p:cNvSpPr>
              <a:spLocks noChangeShapeType="1"/>
            </p:cNvSpPr>
            <p:nvPr/>
          </p:nvSpPr>
          <p:spPr bwMode="auto">
            <a:xfrm>
              <a:off x="997" y="2226"/>
              <a:ext cx="24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Line 45"/>
            <p:cNvSpPr>
              <a:spLocks noChangeShapeType="1"/>
            </p:cNvSpPr>
            <p:nvPr/>
          </p:nvSpPr>
          <p:spPr bwMode="auto">
            <a:xfrm>
              <a:off x="1417" y="2239"/>
              <a:ext cx="24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0" name="Line 46"/>
            <p:cNvSpPr>
              <a:spLocks noChangeShapeType="1"/>
            </p:cNvSpPr>
            <p:nvPr/>
          </p:nvSpPr>
          <p:spPr bwMode="auto">
            <a:xfrm>
              <a:off x="1844" y="2239"/>
              <a:ext cx="15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1" name="Line 47"/>
            <p:cNvSpPr>
              <a:spLocks noChangeShapeType="1"/>
            </p:cNvSpPr>
            <p:nvPr/>
          </p:nvSpPr>
          <p:spPr bwMode="auto">
            <a:xfrm>
              <a:off x="2170" y="2239"/>
              <a:ext cx="24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Rectangle 48"/>
            <p:cNvSpPr>
              <a:spLocks noChangeArrowheads="1"/>
            </p:cNvSpPr>
            <p:nvPr/>
          </p:nvSpPr>
          <p:spPr bwMode="auto">
            <a:xfrm>
              <a:off x="316" y="1914"/>
              <a:ext cx="458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23565" name="TextBox 1"/>
          <p:cNvSpPr txBox="1">
            <a:spLocks noChangeArrowheads="1"/>
          </p:cNvSpPr>
          <p:nvPr/>
        </p:nvSpPr>
        <p:spPr bwMode="auto">
          <a:xfrm>
            <a:off x="9191625" y="3838575"/>
            <a:ext cx="4286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.</a:t>
            </a:r>
            <a:endParaRPr lang="zh-CN" altLang="en-US" sz="2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595938" y="1243013"/>
            <a:ext cx="2228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 flipV="1">
            <a:off x="2606675" y="1336675"/>
            <a:ext cx="5365750" cy="26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80C5E6E-BB53-483C-9D02-F31539A0572D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" name="TextBox 2"/>
          <p:cNvSpPr txBox="1"/>
          <p:nvPr/>
        </p:nvSpPr>
        <p:spPr>
          <a:xfrm>
            <a:off x="0" y="14288"/>
            <a:ext cx="3143250" cy="58420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FFC000"/>
                </a:solidFill>
                <a:latin typeface="Arial" panose="020B0604020202020204" pitchFamily="34" charset="0"/>
              </a:rPr>
              <a:t>程序运行界面：</a:t>
            </a:r>
            <a:endParaRPr lang="zh-CN" altLang="en-US" sz="3200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2333625"/>
            <a:ext cx="98837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请输入一个</a:t>
            </a:r>
            <a:r>
              <a:rPr lang="en-US" altLang="zh-CN"/>
              <a:t>(0,1)</a:t>
            </a:r>
            <a:r>
              <a:rPr lang="zh-CN" altLang="en-US"/>
              <a:t>区间内的实数</a:t>
            </a:r>
            <a:r>
              <a:rPr lang="en-US" altLang="zh-CN"/>
              <a:t>(</a:t>
            </a:r>
            <a:r>
              <a:rPr lang="zh-CN" altLang="en-US"/>
              <a:t>输入</a:t>
            </a:r>
            <a:r>
              <a:rPr lang="en-US" altLang="zh-CN"/>
              <a:t>0</a:t>
            </a:r>
            <a:r>
              <a:rPr lang="zh-CN" altLang="en-US"/>
              <a:t>结束</a:t>
            </a:r>
            <a:r>
              <a:rPr lang="en-US" altLang="zh-CN"/>
              <a:t>):</a:t>
            </a:r>
            <a:r>
              <a:rPr lang="en-US" altLang="zh-CN">
                <a:solidFill>
                  <a:srgbClr val="FF0000"/>
                </a:solidFill>
              </a:rPr>
              <a:t>0.31</a:t>
            </a:r>
            <a:endParaRPr lang="en-US" altLang="zh-CN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请输入一个实数</a:t>
            </a:r>
            <a:r>
              <a:rPr lang="en-US" altLang="zh-CN"/>
              <a:t>:</a:t>
            </a:r>
            <a:r>
              <a:rPr lang="en-US" altLang="zh-CN">
                <a:solidFill>
                  <a:srgbClr val="FF0000"/>
                </a:solidFill>
              </a:rPr>
              <a:t>0.131</a:t>
            </a:r>
            <a:endParaRPr lang="en-US" altLang="zh-CN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请输入一个实数</a:t>
            </a:r>
            <a:r>
              <a:rPr lang="en-US" altLang="zh-CN"/>
              <a:t>:</a:t>
            </a:r>
            <a:r>
              <a:rPr lang="en-US" altLang="zh-CN">
                <a:solidFill>
                  <a:srgbClr val="FF0000"/>
                </a:solidFill>
              </a:rPr>
              <a:t>0.9</a:t>
            </a:r>
            <a:endParaRPr lang="en-US" altLang="zh-CN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请输入一个实数</a:t>
            </a:r>
            <a:r>
              <a:rPr lang="en-US" altLang="zh-CN"/>
              <a:t>:0.1</a:t>
            </a:r>
            <a:endParaRPr lang="en-US" altLang="zh-CN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请输入一个实数</a:t>
            </a:r>
            <a:r>
              <a:rPr lang="en-US" altLang="zh-CN"/>
              <a:t>:0.2</a:t>
            </a:r>
            <a:endParaRPr lang="en-US" altLang="zh-CN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请输入一个实数</a:t>
            </a:r>
            <a:r>
              <a:rPr lang="en-US" altLang="zh-CN"/>
              <a:t>:0.4</a:t>
            </a:r>
            <a:endParaRPr lang="en-US" altLang="zh-CN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请输入一个实数</a:t>
            </a:r>
            <a:r>
              <a:rPr lang="en-US" altLang="zh-CN"/>
              <a:t>:0</a:t>
            </a:r>
            <a:endParaRPr lang="en-US" altLang="zh-CN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/>
              <a:t>0.00000   0.10000   0.13100   0.20000   0.31000   0.40000   0.90000   1.00000</a:t>
            </a:r>
            <a:endParaRPr lang="zh-CN" altLang="en-US"/>
          </a:p>
        </p:txBody>
      </p:sp>
      <p:sp>
        <p:nvSpPr>
          <p:cNvPr id="25608" name="Oval 5"/>
          <p:cNvSpPr>
            <a:spLocks noChangeArrowheads="1"/>
          </p:cNvSpPr>
          <p:nvPr/>
        </p:nvSpPr>
        <p:spPr bwMode="auto">
          <a:xfrm>
            <a:off x="1892300" y="96996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5609" name="Oval 6"/>
          <p:cNvSpPr>
            <a:spLocks noChangeArrowheads="1"/>
          </p:cNvSpPr>
          <p:nvPr/>
        </p:nvSpPr>
        <p:spPr bwMode="auto">
          <a:xfrm>
            <a:off x="7951788" y="93821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2628900" y="1243013"/>
            <a:ext cx="22304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628900" y="114458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608638" y="112553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2111375" y="969963"/>
            <a:ext cx="9255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0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8153400" y="962025"/>
            <a:ext cx="47148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" name="Group 17"/>
          <p:cNvGrpSpPr/>
          <p:nvPr/>
        </p:nvGrpSpPr>
        <p:grpSpPr bwMode="auto">
          <a:xfrm>
            <a:off x="6332538" y="933450"/>
            <a:ext cx="904875" cy="546100"/>
            <a:chOff x="3085" y="911"/>
            <a:chExt cx="669" cy="344"/>
          </a:xfrm>
        </p:grpSpPr>
        <p:sp>
          <p:nvSpPr>
            <p:cNvPr id="25624" name="Oval 18"/>
            <p:cNvSpPr>
              <a:spLocks noChangeArrowheads="1"/>
            </p:cNvSpPr>
            <p:nvPr/>
          </p:nvSpPr>
          <p:spPr bwMode="auto">
            <a:xfrm>
              <a:off x="3085" y="911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179" y="918"/>
              <a:ext cx="575" cy="330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0.9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4065588" y="112553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7196138" y="112871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24"/>
          <p:cNvGrpSpPr/>
          <p:nvPr/>
        </p:nvGrpSpPr>
        <p:grpSpPr bwMode="auto">
          <a:xfrm>
            <a:off x="3281363" y="922338"/>
            <a:ext cx="1095375" cy="546100"/>
            <a:chOff x="1801742" y="921018"/>
            <a:chExt cx="1095235" cy="546100"/>
          </a:xfrm>
        </p:grpSpPr>
        <p:sp>
          <p:nvSpPr>
            <p:cNvPr id="25622" name="Oval 9"/>
            <p:cNvSpPr>
              <a:spLocks noChangeArrowheads="1"/>
            </p:cNvSpPr>
            <p:nvPr/>
          </p:nvSpPr>
          <p:spPr bwMode="auto">
            <a:xfrm>
              <a:off x="1849354" y="921018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23" name="Text Box 15"/>
            <p:cNvSpPr txBox="1">
              <a:spLocks noChangeArrowheads="1"/>
            </p:cNvSpPr>
            <p:nvPr/>
          </p:nvSpPr>
          <p:spPr bwMode="auto">
            <a:xfrm>
              <a:off x="1801742" y="965998"/>
              <a:ext cx="1095235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CC0000"/>
                  </a:solidFill>
                  <a:latin typeface="Times New Roman" panose="02020603050405020304" pitchFamily="18" charset="0"/>
                </a:rPr>
                <a:t>0.131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/>
          <p:nvPr/>
        </p:nvGrpSpPr>
        <p:grpSpPr bwMode="auto">
          <a:xfrm>
            <a:off x="4859338" y="969963"/>
            <a:ext cx="849312" cy="546100"/>
            <a:chOff x="3334562" y="969211"/>
            <a:chExt cx="850020" cy="546100"/>
          </a:xfrm>
        </p:grpSpPr>
        <p:sp>
          <p:nvSpPr>
            <p:cNvPr id="25620" name="Oval 11"/>
            <p:cNvSpPr>
              <a:spLocks noChangeArrowheads="1"/>
            </p:cNvSpPr>
            <p:nvPr/>
          </p:nvSpPr>
          <p:spPr bwMode="auto">
            <a:xfrm>
              <a:off x="3334562" y="969211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21" name="Text Box 16"/>
            <p:cNvSpPr txBox="1">
              <a:spLocks noChangeArrowheads="1"/>
            </p:cNvSpPr>
            <p:nvPr/>
          </p:nvSpPr>
          <p:spPr bwMode="auto">
            <a:xfrm>
              <a:off x="3371539" y="992807"/>
              <a:ext cx="8130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0.31</a:t>
              </a:r>
              <a:endParaRPr kumimoji="1" lang="en-US" altLang="zh-CN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2"/>
          <p:cNvGrpSpPr/>
          <p:nvPr/>
        </p:nvGrpSpPr>
        <p:grpSpPr bwMode="auto">
          <a:xfrm>
            <a:off x="6399213" y="1323975"/>
            <a:ext cx="1427162" cy="2241550"/>
            <a:chOff x="4440383" y="1239838"/>
            <a:chExt cx="1427761" cy="2241550"/>
          </a:xfrm>
        </p:grpSpPr>
        <p:grpSp>
          <p:nvGrpSpPr>
            <p:cNvPr id="26698" name="Group 36"/>
            <p:cNvGrpSpPr/>
            <p:nvPr/>
          </p:nvGrpSpPr>
          <p:grpSpPr bwMode="auto">
            <a:xfrm>
              <a:off x="4518512" y="1239838"/>
              <a:ext cx="1349632" cy="492532"/>
              <a:chOff x="-1277" y="0"/>
              <a:chExt cx="23965" cy="20000"/>
            </a:xfrm>
          </p:grpSpPr>
          <p:sp>
            <p:nvSpPr>
              <p:cNvPr id="26703" name="Rectangle 37"/>
              <p:cNvSpPr>
                <a:spLocks noChangeArrowheads="1"/>
              </p:cNvSpPr>
              <p:nvPr/>
            </p:nvSpPr>
            <p:spPr bwMode="auto">
              <a:xfrm>
                <a:off x="2404" y="2965"/>
                <a:ext cx="18731" cy="145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FFFF00"/>
                    </a:solidFill>
                    <a:ea typeface="黑体" panose="02010609060101010101" pitchFamily="49" charset="-122"/>
                  </a:rPr>
                  <a:t>插入结点</a:t>
                </a:r>
                <a:endParaRPr lang="zh-CN" altLang="en-US" sz="2000">
                  <a:solidFill>
                    <a:srgbClr val="FFFF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6704" name="Oval 38"/>
              <p:cNvSpPr>
                <a:spLocks noChangeArrowheads="1"/>
              </p:cNvSpPr>
              <p:nvPr/>
            </p:nvSpPr>
            <p:spPr bwMode="auto">
              <a:xfrm>
                <a:off x="-1277" y="0"/>
                <a:ext cx="23965" cy="2000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699" name="Line 39"/>
            <p:cNvSpPr>
              <a:spLocks noChangeShapeType="1"/>
            </p:cNvSpPr>
            <p:nvPr/>
          </p:nvSpPr>
          <p:spPr bwMode="auto">
            <a:xfrm>
              <a:off x="5152731" y="1731046"/>
              <a:ext cx="0" cy="135049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700" name="Group 40"/>
            <p:cNvGrpSpPr/>
            <p:nvPr/>
          </p:nvGrpSpPr>
          <p:grpSpPr bwMode="auto">
            <a:xfrm>
              <a:off x="4440383" y="3060353"/>
              <a:ext cx="1308270" cy="421035"/>
              <a:chOff x="0" y="0"/>
              <a:chExt cx="18278" cy="20601"/>
            </a:xfrm>
          </p:grpSpPr>
          <p:sp>
            <p:nvSpPr>
              <p:cNvPr id="26701" name="Rectangle 41"/>
              <p:cNvSpPr>
                <a:spLocks noChangeArrowheads="1"/>
              </p:cNvSpPr>
              <p:nvPr/>
            </p:nvSpPr>
            <p:spPr bwMode="auto">
              <a:xfrm>
                <a:off x="3992" y="1861"/>
                <a:ext cx="9981" cy="187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ea typeface="黑体" panose="02010609060101010101" pitchFamily="49" charset="-122"/>
                  </a:rPr>
                  <a:t>结束</a:t>
                </a:r>
                <a:endParaRPr lang="zh-CN" altLang="en-US" sz="2000">
                  <a:ea typeface="黑体" panose="02010609060101010101" pitchFamily="49" charset="-122"/>
                </a:endParaRPr>
              </a:p>
            </p:txBody>
          </p:sp>
          <p:sp>
            <p:nvSpPr>
              <p:cNvPr id="26702" name="Oval 4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8278" cy="2000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34867" name="Rectangle 44"/>
          <p:cNvSpPr>
            <a:spLocks noChangeArrowheads="1"/>
          </p:cNvSpPr>
          <p:nvPr/>
        </p:nvSpPr>
        <p:spPr bwMode="auto">
          <a:xfrm>
            <a:off x="7158038" y="2568575"/>
            <a:ext cx="3738562" cy="428625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</p:spPr>
        <p:txBody>
          <a:bodyPr lIns="12700" tIns="12700" rIns="12700" bIns="12700"/>
          <a:lstStyle/>
          <a:p>
            <a:pPr eaLnBrk="1" hangingPunct="1">
              <a:defRPr/>
            </a:pPr>
            <a:r>
              <a:rPr lang="zh-CN" altLang="en-US" sz="2000" dirty="0">
                <a:ea typeface="黑体" panose="02010609060101010101" pitchFamily="49" charset="-122"/>
              </a:rPr>
              <a:t>把</a:t>
            </a:r>
            <a:r>
              <a:rPr lang="en-US" altLang="zh-CN" sz="2000" dirty="0" err="1">
                <a:ea typeface="黑体" panose="02010609060101010101" pitchFamily="49" charset="-122"/>
              </a:rPr>
              <a:t>rr</a:t>
            </a:r>
            <a:r>
              <a:rPr lang="en-US" altLang="zh-CN" sz="2000" dirty="0"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插入</a:t>
            </a:r>
            <a:r>
              <a:rPr lang="zh-CN" altLang="en-US" sz="2000" dirty="0">
                <a:ea typeface="黑体" panose="02010609060101010101" pitchFamily="49" charset="-122"/>
              </a:rPr>
              <a:t>到 </a:t>
            </a:r>
            <a:r>
              <a:rPr lang="en-US" altLang="zh-CN" sz="2000" dirty="0">
                <a:ea typeface="黑体" panose="02010609060101010101" pitchFamily="49" charset="-122"/>
              </a:rPr>
              <a:t>r0</a:t>
            </a:r>
            <a:r>
              <a:rPr lang="zh-CN" altLang="en-US" sz="2000" dirty="0"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ea typeface="黑体" panose="02010609060101010101" pitchFamily="49" charset="-122"/>
              </a:rPr>
              <a:t>r </a:t>
            </a:r>
            <a:r>
              <a:rPr lang="zh-CN" altLang="en-US" sz="2000" dirty="0">
                <a:ea typeface="黑体" panose="02010609060101010101" pitchFamily="49" charset="-122"/>
              </a:rPr>
              <a:t>之间</a:t>
            </a:r>
            <a:endParaRPr lang="zh-CN" altLang="en-US" sz="2000" dirty="0">
              <a:ea typeface="黑体" panose="02010609060101010101" pitchFamily="49" charset="-122"/>
            </a:endParaRPr>
          </a:p>
        </p:txBody>
      </p:sp>
      <p:sp>
        <p:nvSpPr>
          <p:cNvPr id="34868" name="Rectangle 45"/>
          <p:cNvSpPr>
            <a:spLocks noChangeArrowheads="1"/>
          </p:cNvSpPr>
          <p:nvPr/>
        </p:nvSpPr>
        <p:spPr bwMode="auto">
          <a:xfrm>
            <a:off x="7134225" y="1990725"/>
            <a:ext cx="3686175" cy="398463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</p:spPr>
        <p:txBody>
          <a:bodyPr lIns="12700" tIns="12700" rIns="12700" bIns="12700"/>
          <a:lstStyle/>
          <a:p>
            <a:pPr eaLnBrk="1" hangingPunct="1">
              <a:defRPr/>
            </a:pPr>
            <a:r>
              <a:rPr lang="zh-CN" altLang="en-US" sz="2000" dirty="0">
                <a:ea typeface="黑体" panose="02010609060101010101" pitchFamily="49" charset="-122"/>
              </a:rPr>
              <a:t>查找 </a:t>
            </a:r>
            <a:r>
              <a:rPr lang="en-US" altLang="zh-CN" sz="2000" dirty="0" err="1">
                <a:ea typeface="黑体" panose="02010609060101010101" pitchFamily="49" charset="-122"/>
              </a:rPr>
              <a:t>rr</a:t>
            </a:r>
            <a:r>
              <a:rPr lang="en-US" altLang="zh-CN" sz="2000" dirty="0"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ea typeface="黑体" panose="02010609060101010101" pitchFamily="49" charset="-122"/>
              </a:rPr>
              <a:t>应插入的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位置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r0</a:t>
            </a:r>
            <a:r>
              <a:rPr lang="zh-CN" altLang="en-US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ea typeface="黑体" panose="02010609060101010101" pitchFamily="49" charset="-122"/>
              </a:rPr>
              <a:t>r</a:t>
            </a:r>
            <a:endParaRPr lang="en-US" altLang="zh-CN" sz="2000" dirty="0">
              <a:solidFill>
                <a:schemeClr val="accent2">
                  <a:lumMod val="60000"/>
                  <a:lumOff val="40000"/>
                </a:schemeClr>
              </a:solidFill>
              <a:ea typeface="黑体" panose="02010609060101010101" pitchFamily="49" charset="-122"/>
            </a:endParaRPr>
          </a:p>
        </p:txBody>
      </p:sp>
      <p:grpSp>
        <p:nvGrpSpPr>
          <p:cNvPr id="26629" name="Group 48"/>
          <p:cNvGrpSpPr/>
          <p:nvPr/>
        </p:nvGrpSpPr>
        <p:grpSpPr bwMode="auto">
          <a:xfrm>
            <a:off x="592138" y="931863"/>
            <a:ext cx="3844925" cy="3000375"/>
            <a:chOff x="2171" y="8337"/>
            <a:chExt cx="3310" cy="2264"/>
          </a:xfrm>
        </p:grpSpPr>
        <p:sp>
          <p:nvSpPr>
            <p:cNvPr id="26681" name="Rectangle 49"/>
            <p:cNvSpPr>
              <a:spLocks noChangeArrowheads="1"/>
            </p:cNvSpPr>
            <p:nvPr/>
          </p:nvSpPr>
          <p:spPr bwMode="auto">
            <a:xfrm>
              <a:off x="3039" y="9058"/>
              <a:ext cx="1920" cy="26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ea typeface="黑体" panose="02010609060101010101" pitchFamily="49" charset="-122"/>
                </a:rPr>
                <a:t>0 , 1 </a:t>
              </a:r>
              <a:r>
                <a:rPr lang="zh-CN" altLang="en-US" sz="2000">
                  <a:ea typeface="黑体" panose="02010609060101010101" pitchFamily="49" charset="-122"/>
                </a:rPr>
                <a:t>放入序列</a:t>
              </a:r>
              <a:endParaRPr lang="zh-CN" altLang="en-US" sz="2000">
                <a:ea typeface="黑体" panose="02010609060101010101" pitchFamily="49" charset="-122"/>
              </a:endParaRPr>
            </a:p>
          </p:txBody>
        </p:sp>
        <p:grpSp>
          <p:nvGrpSpPr>
            <p:cNvPr id="26682" name="Group 50"/>
            <p:cNvGrpSpPr/>
            <p:nvPr/>
          </p:nvGrpSpPr>
          <p:grpSpPr bwMode="auto">
            <a:xfrm>
              <a:off x="2171" y="8337"/>
              <a:ext cx="1643" cy="575"/>
              <a:chOff x="2147" y="6713"/>
              <a:chExt cx="1643" cy="575"/>
            </a:xfrm>
          </p:grpSpPr>
          <p:sp>
            <p:nvSpPr>
              <p:cNvPr id="26696" name="Rectangle 51"/>
              <p:cNvSpPr>
                <a:spLocks noChangeArrowheads="1"/>
              </p:cNvSpPr>
              <p:nvPr/>
            </p:nvSpPr>
            <p:spPr bwMode="auto">
              <a:xfrm>
                <a:off x="2298" y="6842"/>
                <a:ext cx="1291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ea typeface="黑体" panose="02010609060101010101" pitchFamily="49" charset="-122"/>
                  </a:rPr>
                  <a:t>创建链表</a:t>
                </a:r>
                <a:endParaRPr lang="zh-CN" altLang="en-US" sz="2000">
                  <a:ea typeface="黑体" panose="02010609060101010101" pitchFamily="49" charset="-122"/>
                </a:endParaRPr>
              </a:p>
            </p:txBody>
          </p:sp>
          <p:sp>
            <p:nvSpPr>
              <p:cNvPr id="26697" name="Oval 52"/>
              <p:cNvSpPr>
                <a:spLocks noChangeArrowheads="1"/>
              </p:cNvSpPr>
              <p:nvPr/>
            </p:nvSpPr>
            <p:spPr bwMode="auto">
              <a:xfrm>
                <a:off x="2147" y="6713"/>
                <a:ext cx="1643" cy="521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6683" name="Line 53"/>
            <p:cNvSpPr>
              <a:spLocks noChangeShapeType="1"/>
            </p:cNvSpPr>
            <p:nvPr/>
          </p:nvSpPr>
          <p:spPr bwMode="auto">
            <a:xfrm flipH="1">
              <a:off x="3011" y="8844"/>
              <a:ext cx="1" cy="147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84" name="Group 54"/>
            <p:cNvGrpSpPr/>
            <p:nvPr/>
          </p:nvGrpSpPr>
          <p:grpSpPr bwMode="auto">
            <a:xfrm>
              <a:off x="2548" y="10337"/>
              <a:ext cx="838" cy="264"/>
              <a:chOff x="0" y="0"/>
              <a:chExt cx="18274" cy="20000"/>
            </a:xfrm>
          </p:grpSpPr>
          <p:sp>
            <p:nvSpPr>
              <p:cNvPr id="26694" name="Rectangle 55"/>
              <p:cNvSpPr>
                <a:spLocks noChangeArrowheads="1"/>
              </p:cNvSpPr>
              <p:nvPr/>
            </p:nvSpPr>
            <p:spPr bwMode="auto">
              <a:xfrm>
                <a:off x="4511" y="1185"/>
                <a:ext cx="13474" cy="188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ea typeface="黑体" panose="02010609060101010101" pitchFamily="49" charset="-122"/>
                  </a:rPr>
                  <a:t>结束</a:t>
                </a:r>
                <a:endParaRPr lang="zh-CN" altLang="en-US" sz="2000">
                  <a:ea typeface="黑体" panose="02010609060101010101" pitchFamily="49" charset="-122"/>
                </a:endParaRPr>
              </a:p>
            </p:txBody>
          </p:sp>
          <p:sp>
            <p:nvSpPr>
              <p:cNvPr id="26695" name="Oval 5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8274" cy="2000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6685" name="Group 57"/>
            <p:cNvGrpSpPr/>
            <p:nvPr/>
          </p:nvGrpSpPr>
          <p:grpSpPr bwMode="auto">
            <a:xfrm>
              <a:off x="3020" y="9903"/>
              <a:ext cx="1200" cy="308"/>
              <a:chOff x="133" y="232"/>
              <a:chExt cx="20006" cy="19935"/>
            </a:xfrm>
          </p:grpSpPr>
          <p:sp>
            <p:nvSpPr>
              <p:cNvPr id="26692" name="Rectangle 58"/>
              <p:cNvSpPr>
                <a:spLocks noChangeArrowheads="1"/>
              </p:cNvSpPr>
              <p:nvPr/>
            </p:nvSpPr>
            <p:spPr bwMode="auto">
              <a:xfrm>
                <a:off x="133" y="232"/>
                <a:ext cx="20006" cy="19935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ea typeface="黑体" panose="02010609060101010101" pitchFamily="49" charset="-122"/>
                  </a:rPr>
                  <a:t>   rr != 0</a:t>
                </a:r>
                <a:endParaRPr lang="en-US" altLang="zh-CN" sz="2000">
                  <a:ea typeface="黑体" panose="02010609060101010101" pitchFamily="49" charset="-122"/>
                </a:endParaRPr>
              </a:p>
            </p:txBody>
          </p:sp>
          <p:sp>
            <p:nvSpPr>
              <p:cNvPr id="26693" name="Line 59"/>
              <p:cNvSpPr>
                <a:spLocks noChangeShapeType="1"/>
              </p:cNvSpPr>
              <p:nvPr/>
            </p:nvSpPr>
            <p:spPr bwMode="auto">
              <a:xfrm>
                <a:off x="2383" y="1063"/>
                <a:ext cx="16" cy="18937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686" name="Rectangle 60"/>
            <p:cNvSpPr>
              <a:spLocks noChangeArrowheads="1"/>
            </p:cNvSpPr>
            <p:nvPr/>
          </p:nvSpPr>
          <p:spPr bwMode="auto">
            <a:xfrm>
              <a:off x="3015" y="9471"/>
              <a:ext cx="1088" cy="28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solidFill>
                    <a:srgbClr val="FF0000"/>
                  </a:solidFill>
                  <a:ea typeface="黑体" panose="02010609060101010101" pitchFamily="49" charset="-122"/>
                </a:rPr>
                <a:t>输入→ </a:t>
              </a:r>
              <a:r>
                <a:rPr lang="en-US" altLang="zh-CN" sz="2000">
                  <a:solidFill>
                    <a:srgbClr val="FF0000"/>
                  </a:solidFill>
                  <a:ea typeface="黑体" panose="02010609060101010101" pitchFamily="49" charset="-122"/>
                </a:rPr>
                <a:t>rr</a:t>
              </a:r>
              <a:endParaRPr lang="en-US" altLang="zh-CN" sz="2000">
                <a:solidFill>
                  <a:srgbClr val="FF00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26687" name="Line 61"/>
            <p:cNvSpPr>
              <a:spLocks noChangeShapeType="1"/>
            </p:cNvSpPr>
            <p:nvPr/>
          </p:nvSpPr>
          <p:spPr bwMode="auto">
            <a:xfrm>
              <a:off x="4213" y="10058"/>
              <a:ext cx="160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688" name="Group 62"/>
            <p:cNvGrpSpPr/>
            <p:nvPr/>
          </p:nvGrpSpPr>
          <p:grpSpPr bwMode="auto">
            <a:xfrm>
              <a:off x="4393" y="9718"/>
              <a:ext cx="1088" cy="680"/>
              <a:chOff x="5193" y="3998"/>
              <a:chExt cx="1088" cy="680"/>
            </a:xfrm>
          </p:grpSpPr>
          <p:sp>
            <p:nvSpPr>
              <p:cNvPr id="26689" name="Rectangle 63"/>
              <p:cNvSpPr>
                <a:spLocks noChangeArrowheads="1"/>
              </p:cNvSpPr>
              <p:nvPr/>
            </p:nvSpPr>
            <p:spPr bwMode="auto">
              <a:xfrm>
                <a:off x="5193" y="4398"/>
                <a:ext cx="1088" cy="28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FF0000"/>
                    </a:solidFill>
                    <a:ea typeface="黑体" panose="02010609060101010101" pitchFamily="49" charset="-122"/>
                  </a:rPr>
                  <a:t>输入→ </a:t>
                </a:r>
                <a:r>
                  <a:rPr lang="en-US" altLang="zh-CN" sz="2000">
                    <a:solidFill>
                      <a:srgbClr val="FF0000"/>
                    </a:solidFill>
                    <a:ea typeface="黑体" panose="02010609060101010101" pitchFamily="49" charset="-122"/>
                  </a:rPr>
                  <a:t>rr</a:t>
                </a:r>
                <a:endParaRPr lang="en-US" altLang="zh-CN" sz="200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6690" name="Rectangle 64"/>
              <p:cNvSpPr>
                <a:spLocks noChangeArrowheads="1"/>
              </p:cNvSpPr>
              <p:nvPr/>
            </p:nvSpPr>
            <p:spPr bwMode="auto">
              <a:xfrm>
                <a:off x="5193" y="3998"/>
                <a:ext cx="1088" cy="28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solidFill>
                      <a:srgbClr val="FFFF00"/>
                    </a:solidFill>
                    <a:ea typeface="黑体" panose="02010609060101010101" pitchFamily="49" charset="-122"/>
                  </a:rPr>
                  <a:t>插入结点</a:t>
                </a:r>
                <a:endParaRPr lang="zh-CN" altLang="en-US" sz="2000">
                  <a:solidFill>
                    <a:srgbClr val="FFFF00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26691" name="Line 65"/>
              <p:cNvSpPr>
                <a:spLocks noChangeShapeType="1"/>
              </p:cNvSpPr>
              <p:nvPr/>
            </p:nvSpPr>
            <p:spPr bwMode="auto">
              <a:xfrm>
                <a:off x="5193" y="3998"/>
                <a:ext cx="0" cy="640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70662" name="Rectangle 67"/>
          <p:cNvSpPr>
            <a:spLocks noChangeArrowheads="1"/>
          </p:cNvSpPr>
          <p:nvPr/>
        </p:nvSpPr>
        <p:spPr bwMode="auto">
          <a:xfrm>
            <a:off x="176213" y="138113"/>
            <a:ext cx="8958262" cy="395287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用函数实现该问题，输入结束时，把 </a:t>
            </a:r>
            <a:r>
              <a:rPr lang="zh-CN" altLang="en-US" sz="2400" dirty="0">
                <a:solidFill>
                  <a:srgbClr val="FFC000"/>
                </a:solidFill>
                <a:ea typeface="黑体" panose="02010609060101010101" pitchFamily="49" charset="-122"/>
              </a:rPr>
              <a:t>表头指针 带回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主调函数</a:t>
            </a:r>
            <a:endParaRPr lang="zh-CN" altLang="en-US" sz="2400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>
          <a:xfrm>
            <a:off x="10772775" y="6329363"/>
            <a:ext cx="81756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EF7A474-9262-4223-98E7-AA976E2299C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6632" name="Rectangle 32"/>
          <p:cNvSpPr>
            <a:spLocks noChangeArrowheads="1"/>
          </p:cNvSpPr>
          <p:nvPr/>
        </p:nvSpPr>
        <p:spPr bwMode="auto">
          <a:xfrm>
            <a:off x="2160588" y="4540250"/>
            <a:ext cx="1060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head: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26633" name="Rectangle 33"/>
          <p:cNvSpPr>
            <a:spLocks noChangeArrowheads="1"/>
          </p:cNvSpPr>
          <p:nvPr/>
        </p:nvSpPr>
        <p:spPr bwMode="auto">
          <a:xfrm>
            <a:off x="2198688" y="4881563"/>
            <a:ext cx="817562" cy="336550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26634" name="Rectangle 34"/>
          <p:cNvSpPr>
            <a:spLocks noChangeArrowheads="1"/>
          </p:cNvSpPr>
          <p:nvPr/>
        </p:nvSpPr>
        <p:spPr bwMode="auto">
          <a:xfrm>
            <a:off x="3040063" y="5408613"/>
            <a:ext cx="839787" cy="984250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26635" name="Line 35"/>
          <p:cNvSpPr>
            <a:spLocks noChangeShapeType="1"/>
          </p:cNvSpPr>
          <p:nvPr/>
        </p:nvSpPr>
        <p:spPr bwMode="auto">
          <a:xfrm>
            <a:off x="3065463" y="6089650"/>
            <a:ext cx="814387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6" name="Freeform 36"/>
          <p:cNvSpPr/>
          <p:nvPr/>
        </p:nvSpPr>
        <p:spPr bwMode="auto">
          <a:xfrm>
            <a:off x="2595563" y="5070475"/>
            <a:ext cx="420687" cy="434975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43"/>
                </a:lnTo>
                <a:lnTo>
                  <a:pt x="19945" y="19943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7" name="Rectangle 39"/>
          <p:cNvSpPr>
            <a:spLocks noChangeArrowheads="1"/>
          </p:cNvSpPr>
          <p:nvPr/>
        </p:nvSpPr>
        <p:spPr bwMode="auto">
          <a:xfrm>
            <a:off x="7699375" y="5432425"/>
            <a:ext cx="842963" cy="1009650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26638" name="Line 40"/>
          <p:cNvSpPr>
            <a:spLocks noChangeShapeType="1"/>
          </p:cNvSpPr>
          <p:nvPr/>
        </p:nvSpPr>
        <p:spPr bwMode="auto">
          <a:xfrm>
            <a:off x="7724775" y="6129338"/>
            <a:ext cx="817563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9" name="Rectangle 41"/>
          <p:cNvSpPr>
            <a:spLocks noChangeArrowheads="1"/>
          </p:cNvSpPr>
          <p:nvPr/>
        </p:nvSpPr>
        <p:spPr bwMode="auto">
          <a:xfrm>
            <a:off x="8982075" y="5432425"/>
            <a:ext cx="842963" cy="1009650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26640" name="Line 42"/>
          <p:cNvSpPr>
            <a:spLocks noChangeShapeType="1"/>
          </p:cNvSpPr>
          <p:nvPr/>
        </p:nvSpPr>
        <p:spPr bwMode="auto">
          <a:xfrm>
            <a:off x="9007475" y="6129338"/>
            <a:ext cx="817563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1" name="Rectangle 43"/>
          <p:cNvSpPr>
            <a:spLocks noChangeArrowheads="1"/>
          </p:cNvSpPr>
          <p:nvPr/>
        </p:nvSpPr>
        <p:spPr bwMode="auto">
          <a:xfrm>
            <a:off x="6723063" y="5449888"/>
            <a:ext cx="112553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>
                <a:latin typeface="Arial" panose="020B0604020202020204" pitchFamily="34" charset="0"/>
              </a:rPr>
              <a:t>...</a:t>
            </a:r>
            <a:endParaRPr lang="en-US" altLang="zh-CN" sz="3600">
              <a:latin typeface="Arial" panose="020B0604020202020204" pitchFamily="34" charset="0"/>
            </a:endParaRPr>
          </a:p>
        </p:txBody>
      </p:sp>
      <p:sp>
        <p:nvSpPr>
          <p:cNvPr id="26642" name="Line 44"/>
          <p:cNvSpPr>
            <a:spLocks noChangeShapeType="1"/>
          </p:cNvSpPr>
          <p:nvPr/>
        </p:nvSpPr>
        <p:spPr bwMode="auto">
          <a:xfrm>
            <a:off x="3506788" y="6251575"/>
            <a:ext cx="7493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3" name="Line 46"/>
          <p:cNvSpPr>
            <a:spLocks noChangeShapeType="1"/>
          </p:cNvSpPr>
          <p:nvPr/>
        </p:nvSpPr>
        <p:spPr bwMode="auto">
          <a:xfrm>
            <a:off x="7185025" y="6275388"/>
            <a:ext cx="46831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4" name="Line 47"/>
          <p:cNvSpPr>
            <a:spLocks noChangeShapeType="1"/>
          </p:cNvSpPr>
          <p:nvPr/>
        </p:nvSpPr>
        <p:spPr bwMode="auto">
          <a:xfrm>
            <a:off x="8189913" y="6275388"/>
            <a:ext cx="7461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45" name="Rectangle 48"/>
          <p:cNvSpPr>
            <a:spLocks noChangeArrowheads="1"/>
          </p:cNvSpPr>
          <p:nvPr/>
        </p:nvSpPr>
        <p:spPr bwMode="auto">
          <a:xfrm>
            <a:off x="1404938" y="5940425"/>
            <a:ext cx="1412875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 type="none" w="med" len="lg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26646" name="TextBox 26"/>
          <p:cNvSpPr txBox="1">
            <a:spLocks noChangeArrowheads="1"/>
          </p:cNvSpPr>
          <p:nvPr/>
        </p:nvSpPr>
        <p:spPr bwMode="auto">
          <a:xfrm>
            <a:off x="3302000" y="5576888"/>
            <a:ext cx="42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26647" name="TextBox 27"/>
          <p:cNvSpPr txBox="1">
            <a:spLocks noChangeArrowheads="1"/>
          </p:cNvSpPr>
          <p:nvPr/>
        </p:nvSpPr>
        <p:spPr bwMode="auto">
          <a:xfrm>
            <a:off x="9224963" y="5505450"/>
            <a:ext cx="42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26648" name="组合 1"/>
          <p:cNvGrpSpPr/>
          <p:nvPr/>
        </p:nvGrpSpPr>
        <p:grpSpPr bwMode="auto">
          <a:xfrm>
            <a:off x="4324350" y="5400675"/>
            <a:ext cx="1227138" cy="1017588"/>
            <a:chOff x="3793440" y="5425241"/>
            <a:chExt cx="1227811" cy="1016359"/>
          </a:xfrm>
        </p:grpSpPr>
        <p:sp>
          <p:nvSpPr>
            <p:cNvPr id="26677" name="Rectangle 37"/>
            <p:cNvSpPr>
              <a:spLocks noChangeArrowheads="1"/>
            </p:cNvSpPr>
            <p:nvPr/>
          </p:nvSpPr>
          <p:spPr bwMode="auto">
            <a:xfrm>
              <a:off x="3793440" y="5425241"/>
              <a:ext cx="839107" cy="1016359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6678" name="Line 38"/>
            <p:cNvSpPr>
              <a:spLocks noChangeShapeType="1"/>
            </p:cNvSpPr>
            <p:nvPr/>
          </p:nvSpPr>
          <p:spPr bwMode="auto">
            <a:xfrm>
              <a:off x="3818120" y="6127724"/>
              <a:ext cx="814427" cy="18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9" name="Line 45"/>
            <p:cNvSpPr>
              <a:spLocks noChangeShapeType="1"/>
            </p:cNvSpPr>
            <p:nvPr/>
          </p:nvSpPr>
          <p:spPr bwMode="auto">
            <a:xfrm>
              <a:off x="4271608" y="6299609"/>
              <a:ext cx="74964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80" name="TextBox 28"/>
            <p:cNvSpPr txBox="1">
              <a:spLocks noChangeArrowheads="1"/>
            </p:cNvSpPr>
            <p:nvPr/>
          </p:nvSpPr>
          <p:spPr bwMode="auto">
            <a:xfrm>
              <a:off x="3843338" y="5457825"/>
              <a:ext cx="785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0.13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26649" name="TextBox 29"/>
          <p:cNvSpPr txBox="1">
            <a:spLocks noChangeArrowheads="1"/>
          </p:cNvSpPr>
          <p:nvPr/>
        </p:nvSpPr>
        <p:spPr bwMode="auto">
          <a:xfrm>
            <a:off x="7724775" y="5505450"/>
            <a:ext cx="7858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0.79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26651" name="组合 55"/>
          <p:cNvGrpSpPr/>
          <p:nvPr/>
        </p:nvGrpSpPr>
        <p:grpSpPr bwMode="auto">
          <a:xfrm>
            <a:off x="5561013" y="5387975"/>
            <a:ext cx="1227137" cy="1016000"/>
            <a:chOff x="3793440" y="5425241"/>
            <a:chExt cx="1227811" cy="1016359"/>
          </a:xfrm>
        </p:grpSpPr>
        <p:sp>
          <p:nvSpPr>
            <p:cNvPr id="26673" name="Rectangle 37"/>
            <p:cNvSpPr>
              <a:spLocks noChangeArrowheads="1"/>
            </p:cNvSpPr>
            <p:nvPr/>
          </p:nvSpPr>
          <p:spPr bwMode="auto">
            <a:xfrm>
              <a:off x="3793440" y="5425241"/>
              <a:ext cx="839107" cy="1016359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26674" name="Line 38"/>
            <p:cNvSpPr>
              <a:spLocks noChangeShapeType="1"/>
            </p:cNvSpPr>
            <p:nvPr/>
          </p:nvSpPr>
          <p:spPr bwMode="auto">
            <a:xfrm>
              <a:off x="3818120" y="6127724"/>
              <a:ext cx="814427" cy="18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5" name="Line 45"/>
            <p:cNvSpPr>
              <a:spLocks noChangeShapeType="1"/>
            </p:cNvSpPr>
            <p:nvPr/>
          </p:nvSpPr>
          <p:spPr bwMode="auto">
            <a:xfrm>
              <a:off x="4271608" y="6299609"/>
              <a:ext cx="749643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6" name="TextBox 28"/>
            <p:cNvSpPr txBox="1">
              <a:spLocks noChangeArrowheads="1"/>
            </p:cNvSpPr>
            <p:nvPr/>
          </p:nvSpPr>
          <p:spPr bwMode="auto">
            <a:xfrm>
              <a:off x="3843338" y="5457825"/>
              <a:ext cx="785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0.62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组合 36"/>
          <p:cNvGrpSpPr/>
          <p:nvPr/>
        </p:nvGrpSpPr>
        <p:grpSpPr bwMode="auto">
          <a:xfrm>
            <a:off x="1846263" y="4665663"/>
            <a:ext cx="642937" cy="715962"/>
            <a:chOff x="5786446" y="1856570"/>
            <a:chExt cx="642942" cy="715174"/>
          </a:xfrm>
        </p:grpSpPr>
        <p:sp>
          <p:nvSpPr>
            <p:cNvPr id="26671" name="TextBox 32"/>
            <p:cNvSpPr txBox="1">
              <a:spLocks noChangeArrowheads="1"/>
            </p:cNvSpPr>
            <p:nvPr/>
          </p:nvSpPr>
          <p:spPr bwMode="auto">
            <a:xfrm>
              <a:off x="5786446" y="1856570"/>
              <a:ext cx="6429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r0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72" name="直接箭头连接符 33"/>
            <p:cNvCxnSpPr>
              <a:cxnSpLocks noChangeShapeType="1"/>
            </p:cNvCxnSpPr>
            <p:nvPr/>
          </p:nvCxnSpPr>
          <p:spPr bwMode="auto">
            <a:xfrm rot="5400000">
              <a:off x="5822165" y="2392355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" name="组合 37"/>
          <p:cNvGrpSpPr/>
          <p:nvPr/>
        </p:nvGrpSpPr>
        <p:grpSpPr bwMode="auto">
          <a:xfrm>
            <a:off x="3252788" y="4635500"/>
            <a:ext cx="285750" cy="785813"/>
            <a:chOff x="8358214" y="1857364"/>
            <a:chExt cx="285720" cy="785818"/>
          </a:xfrm>
        </p:grpSpPr>
        <p:sp>
          <p:nvSpPr>
            <p:cNvPr id="26669" name="TextBox 34"/>
            <p:cNvSpPr txBox="1">
              <a:spLocks noChangeArrowheads="1"/>
            </p:cNvSpPr>
            <p:nvPr/>
          </p:nvSpPr>
          <p:spPr bwMode="auto">
            <a:xfrm>
              <a:off x="8358214" y="1857364"/>
              <a:ext cx="2857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70" name="直接箭头连接符 35"/>
            <p:cNvCxnSpPr>
              <a:cxnSpLocks noChangeShapeType="1"/>
            </p:cNvCxnSpPr>
            <p:nvPr/>
          </p:nvCxnSpPr>
          <p:spPr bwMode="auto">
            <a:xfrm rot="5400000">
              <a:off x="8323289" y="2463793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" name="组合 36"/>
          <p:cNvGrpSpPr/>
          <p:nvPr/>
        </p:nvGrpSpPr>
        <p:grpSpPr bwMode="auto">
          <a:xfrm>
            <a:off x="3179763" y="4738688"/>
            <a:ext cx="642937" cy="715962"/>
            <a:chOff x="5786446" y="1856570"/>
            <a:chExt cx="642942" cy="715174"/>
          </a:xfrm>
        </p:grpSpPr>
        <p:sp>
          <p:nvSpPr>
            <p:cNvPr id="26667" name="TextBox 32"/>
            <p:cNvSpPr txBox="1">
              <a:spLocks noChangeArrowheads="1"/>
            </p:cNvSpPr>
            <p:nvPr/>
          </p:nvSpPr>
          <p:spPr bwMode="auto">
            <a:xfrm>
              <a:off x="5786446" y="1856570"/>
              <a:ext cx="6429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r0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8" name="直接箭头连接符 33"/>
            <p:cNvCxnSpPr>
              <a:cxnSpLocks noChangeShapeType="1"/>
            </p:cNvCxnSpPr>
            <p:nvPr/>
          </p:nvCxnSpPr>
          <p:spPr bwMode="auto">
            <a:xfrm rot="5400000">
              <a:off x="5822165" y="2392355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6" name="组合 37"/>
          <p:cNvGrpSpPr/>
          <p:nvPr/>
        </p:nvGrpSpPr>
        <p:grpSpPr bwMode="auto">
          <a:xfrm>
            <a:off x="4586288" y="4629150"/>
            <a:ext cx="285750" cy="785813"/>
            <a:chOff x="8358214" y="1857364"/>
            <a:chExt cx="285720" cy="785818"/>
          </a:xfrm>
        </p:grpSpPr>
        <p:sp>
          <p:nvSpPr>
            <p:cNvPr id="26665" name="TextBox 34"/>
            <p:cNvSpPr txBox="1">
              <a:spLocks noChangeArrowheads="1"/>
            </p:cNvSpPr>
            <p:nvPr/>
          </p:nvSpPr>
          <p:spPr bwMode="auto">
            <a:xfrm>
              <a:off x="8358214" y="1857364"/>
              <a:ext cx="2857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6" name="直接箭头连接符 35"/>
            <p:cNvCxnSpPr>
              <a:cxnSpLocks noChangeShapeType="1"/>
            </p:cNvCxnSpPr>
            <p:nvPr/>
          </p:nvCxnSpPr>
          <p:spPr bwMode="auto">
            <a:xfrm rot="5400000">
              <a:off x="8323289" y="2463793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" name="组合 36"/>
          <p:cNvGrpSpPr/>
          <p:nvPr/>
        </p:nvGrpSpPr>
        <p:grpSpPr bwMode="auto">
          <a:xfrm>
            <a:off x="4548188" y="4659313"/>
            <a:ext cx="642937" cy="715962"/>
            <a:chOff x="5786446" y="1856570"/>
            <a:chExt cx="642942" cy="715174"/>
          </a:xfrm>
        </p:grpSpPr>
        <p:sp>
          <p:nvSpPr>
            <p:cNvPr id="26663" name="TextBox 32"/>
            <p:cNvSpPr txBox="1">
              <a:spLocks noChangeArrowheads="1"/>
            </p:cNvSpPr>
            <p:nvPr/>
          </p:nvSpPr>
          <p:spPr bwMode="auto">
            <a:xfrm>
              <a:off x="5786446" y="1856570"/>
              <a:ext cx="6429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r0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4" name="直接箭头连接符 33"/>
            <p:cNvCxnSpPr>
              <a:cxnSpLocks noChangeShapeType="1"/>
            </p:cNvCxnSpPr>
            <p:nvPr/>
          </p:nvCxnSpPr>
          <p:spPr bwMode="auto">
            <a:xfrm rot="5400000">
              <a:off x="5822165" y="2392355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组合 37"/>
          <p:cNvGrpSpPr/>
          <p:nvPr/>
        </p:nvGrpSpPr>
        <p:grpSpPr bwMode="auto">
          <a:xfrm>
            <a:off x="5953125" y="4629150"/>
            <a:ext cx="285750" cy="785813"/>
            <a:chOff x="8358214" y="1857364"/>
            <a:chExt cx="285720" cy="785818"/>
          </a:xfrm>
        </p:grpSpPr>
        <p:sp>
          <p:nvSpPr>
            <p:cNvPr id="26661" name="TextBox 34"/>
            <p:cNvSpPr txBox="1">
              <a:spLocks noChangeArrowheads="1"/>
            </p:cNvSpPr>
            <p:nvPr/>
          </p:nvSpPr>
          <p:spPr bwMode="auto">
            <a:xfrm>
              <a:off x="8358214" y="1857364"/>
              <a:ext cx="2857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2" name="直接箭头连接符 35"/>
            <p:cNvCxnSpPr>
              <a:cxnSpLocks noChangeShapeType="1"/>
            </p:cNvCxnSpPr>
            <p:nvPr/>
          </p:nvCxnSpPr>
          <p:spPr bwMode="auto">
            <a:xfrm rot="5400000">
              <a:off x="8323289" y="2463793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6658" name="TextBox 77"/>
          <p:cNvSpPr txBox="1">
            <a:spLocks noChangeArrowheads="1"/>
          </p:cNvSpPr>
          <p:nvPr/>
        </p:nvSpPr>
        <p:spPr bwMode="auto">
          <a:xfrm>
            <a:off x="9245600" y="5937250"/>
            <a:ext cx="42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.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-14288" y="4141788"/>
            <a:ext cx="5203826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: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当前输入的 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rr </a:t>
            </a:r>
            <a:r>
              <a:rPr lang="zh-C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为</a:t>
            </a:r>
            <a:r>
              <a:rPr lang="en-US" altLang="zh-CN" sz="2800">
                <a:solidFill>
                  <a:srgbClr val="FF0000"/>
                </a:solidFill>
                <a:latin typeface="Arial" panose="020B0604020202020204" pitchFamily="34" charset="0"/>
              </a:rPr>
              <a:t>0.5</a:t>
            </a:r>
            <a:endParaRPr lang="zh-CN" altLang="en-US" sz="2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26660" name="直接连接符 4"/>
          <p:cNvCxnSpPr>
            <a:cxnSpLocks noChangeShapeType="1"/>
          </p:cNvCxnSpPr>
          <p:nvPr/>
        </p:nvCxnSpPr>
        <p:spPr bwMode="auto">
          <a:xfrm>
            <a:off x="0" y="4114800"/>
            <a:ext cx="12122150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67" grpId="0" animBg="1"/>
      <p:bldP spid="3486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141288" y="665163"/>
            <a:ext cx="8388350" cy="6002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#include&lt;</a:t>
            </a:r>
            <a:r>
              <a:rPr lang="en-US" altLang="zh-CN" sz="3200" dirty="0" err="1">
                <a:latin typeface="Arial" panose="020B0604020202020204" pitchFamily="34" charset="0"/>
              </a:rPr>
              <a:t>stdio.h</a:t>
            </a:r>
            <a:r>
              <a:rPr lang="en-US" altLang="zh-CN" sz="3200" dirty="0">
                <a:latin typeface="Arial" panose="020B0604020202020204" pitchFamily="34" charset="0"/>
              </a:rPr>
              <a:t>&gt;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#include&lt;</a:t>
            </a:r>
            <a:r>
              <a:rPr lang="en-US" altLang="zh-CN" sz="3200" dirty="0" err="1">
                <a:solidFill>
                  <a:srgbClr val="FF0000"/>
                </a:solidFill>
                <a:latin typeface="Arial" panose="020B0604020202020204" pitchFamily="34" charset="0"/>
              </a:rPr>
              <a:t>stdlib.h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&gt;</a:t>
            </a:r>
            <a:endParaRPr lang="en-US" altLang="zh-CN" sz="3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#include&lt;</a:t>
            </a:r>
            <a:r>
              <a:rPr lang="en-US" altLang="zh-CN" sz="3200" dirty="0" err="1">
                <a:latin typeface="Arial" panose="020B0604020202020204" pitchFamily="34" charset="0"/>
              </a:rPr>
              <a:t>math.h</a:t>
            </a:r>
            <a:r>
              <a:rPr lang="en-US" altLang="zh-CN" sz="3200" dirty="0">
                <a:latin typeface="Arial" panose="020B0604020202020204" pitchFamily="34" charset="0"/>
              </a:rPr>
              <a:t>&gt;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结点数据结构</a:t>
            </a:r>
            <a:endParaRPr lang="en-US" altLang="zh-CN" sz="3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struct  </a:t>
            </a:r>
            <a:r>
              <a:rPr lang="en-US" altLang="zh-CN" sz="3200" dirty="0" err="1">
                <a:latin typeface="Arial" panose="020B0604020202020204" pitchFamily="34" charset="0"/>
              </a:rPr>
              <a:t>real_term</a:t>
            </a:r>
            <a:r>
              <a:rPr lang="en-US" altLang="zh-CN" sz="3200" dirty="0">
                <a:latin typeface="Arial" panose="020B0604020202020204" pitchFamily="34" charset="0"/>
              </a:rPr>
              <a:t> {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         float   term ; 		</a:t>
            </a:r>
            <a:r>
              <a:rPr lang="en-US" altLang="zh-CN" sz="32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 </a:t>
            </a:r>
            <a:r>
              <a:rPr lang="zh-CN" altLang="en-US" sz="32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数据域</a:t>
            </a:r>
            <a:endParaRPr lang="zh-CN" altLang="en-US" sz="32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3200" dirty="0">
                <a:latin typeface="Arial" panose="020B0604020202020204" pitchFamily="34" charset="0"/>
              </a:rPr>
              <a:t>          </a:t>
            </a:r>
            <a:r>
              <a:rPr lang="en-US" altLang="zh-CN" sz="3200" dirty="0">
                <a:solidFill>
                  <a:srgbClr val="FFC000"/>
                </a:solidFill>
                <a:latin typeface="Arial" panose="020B0604020202020204" pitchFamily="34" charset="0"/>
              </a:rPr>
              <a:t>struct  </a:t>
            </a:r>
            <a:r>
              <a:rPr lang="en-US" altLang="zh-CN" sz="3200" dirty="0" err="1">
                <a:solidFill>
                  <a:srgbClr val="FFC000"/>
                </a:solidFill>
                <a:latin typeface="Arial" panose="020B0604020202020204" pitchFamily="34" charset="0"/>
              </a:rPr>
              <a:t>real_term</a:t>
            </a:r>
            <a:r>
              <a:rPr lang="en-US" altLang="zh-CN" sz="3200" dirty="0">
                <a:solidFill>
                  <a:srgbClr val="FFC000"/>
                </a:solidFill>
                <a:latin typeface="Arial" panose="020B0604020202020204" pitchFamily="34" charset="0"/>
              </a:rPr>
              <a:t>  *</a:t>
            </a:r>
            <a:r>
              <a:rPr lang="en-US" altLang="zh-CN" sz="3200" dirty="0">
                <a:latin typeface="Arial" panose="020B0604020202020204" pitchFamily="34" charset="0"/>
              </a:rPr>
              <a:t>next ;  </a:t>
            </a:r>
            <a:r>
              <a:rPr lang="en-US" altLang="zh-CN" sz="32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 </a:t>
            </a:r>
            <a:r>
              <a:rPr lang="zh-CN" altLang="en-US" sz="32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指针域</a:t>
            </a:r>
            <a:endParaRPr lang="zh-CN" altLang="en-US" sz="32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};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3200" dirty="0">
                <a:solidFill>
                  <a:srgbClr val="FF0000"/>
                </a:solidFill>
                <a:latin typeface="Arial" panose="020B0604020202020204" pitchFamily="34" charset="0"/>
              </a:rPr>
              <a:t>类型定义</a:t>
            </a:r>
            <a:endParaRPr lang="en-US" altLang="zh-CN" sz="3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typedef  </a:t>
            </a:r>
            <a:r>
              <a:rPr lang="en-US" altLang="zh-CN" sz="3200" dirty="0">
                <a:solidFill>
                  <a:srgbClr val="FFC000"/>
                </a:solidFill>
                <a:latin typeface="Arial" panose="020B0604020202020204" pitchFamily="34" charset="0"/>
              </a:rPr>
              <a:t>struct  </a:t>
            </a:r>
            <a:r>
              <a:rPr lang="en-US" altLang="zh-CN" sz="3200" dirty="0" err="1">
                <a:solidFill>
                  <a:srgbClr val="FFC000"/>
                </a:solidFill>
                <a:latin typeface="Arial" panose="020B0604020202020204" pitchFamily="34" charset="0"/>
              </a:rPr>
              <a:t>real_term</a:t>
            </a:r>
            <a:r>
              <a:rPr lang="en-US" altLang="zh-CN" sz="3200" dirty="0">
                <a:solidFill>
                  <a:srgbClr val="FFC000"/>
                </a:solidFill>
                <a:latin typeface="Arial" panose="020B0604020202020204" pitchFamily="34" charset="0"/>
              </a:rPr>
              <a:t> * </a:t>
            </a:r>
            <a:r>
              <a:rPr lang="en-US" altLang="zh-CN" sz="3200" dirty="0" err="1">
                <a:latin typeface="Arial" panose="020B0604020202020204" pitchFamily="34" charset="0"/>
              </a:rPr>
              <a:t>termpointer</a:t>
            </a:r>
            <a:r>
              <a:rPr lang="en-US" altLang="zh-CN" sz="3200" dirty="0">
                <a:latin typeface="Arial" panose="020B0604020202020204" pitchFamily="34" charset="0"/>
              </a:rPr>
              <a:t> ;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8675" name="TextBox 5"/>
          <p:cNvSpPr txBox="1">
            <a:spLocks noChangeArrowheads="1"/>
          </p:cNvSpPr>
          <p:nvPr/>
        </p:nvSpPr>
        <p:spPr bwMode="auto">
          <a:xfrm>
            <a:off x="20638" y="11113"/>
            <a:ext cx="2071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完整程序</a:t>
            </a: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</a:rPr>
              <a:t>:</a:t>
            </a:r>
            <a:endParaRPr lang="zh-CN" altLang="en-US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EA440AB-E737-477D-A042-7318DB15B2A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752600" y="6019800"/>
            <a:ext cx="3657600" cy="609600"/>
          </a:xfrm>
          <a:prstGeom prst="rect">
            <a:avLst/>
          </a:prstGeom>
          <a:noFill/>
          <a:ln w="41275">
            <a:solidFill>
              <a:srgbClr val="FF0000"/>
            </a:solidFill>
            <a:prstDash val="sys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52400" y="595313"/>
            <a:ext cx="9753600" cy="6002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函数原型</a:t>
            </a:r>
            <a:endParaRPr lang="zh-CN" altLang="en-US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latin typeface="Arial" panose="020B0604020202020204" pitchFamily="34" charset="0"/>
              </a:rPr>
              <a:t>termpointer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f( ) 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创建链表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构造链表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showNode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</a:rPr>
              <a:t>termpointer</a:t>
            </a:r>
            <a:r>
              <a:rPr lang="en-US" altLang="zh-CN" dirty="0">
                <a:latin typeface="Arial" panose="020B0604020202020204" pitchFamily="34" charset="0"/>
              </a:rPr>
              <a:t> p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遍历</a:t>
            </a:r>
            <a:endParaRPr lang="zh-CN" altLang="en-US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主函数</a:t>
            </a:r>
            <a:endParaRPr lang="en-US" altLang="zh-CN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int main()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{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termpointer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head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表头指针</a:t>
            </a:r>
            <a:endParaRPr lang="en-US" altLang="zh-CN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head=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f() 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调用函数，创建链表</a:t>
            </a:r>
            <a:endParaRPr lang="zh-CN" altLang="en-US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showNode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head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调用函数，遍历</a:t>
            </a:r>
            <a:endParaRPr lang="zh-CN" altLang="en-US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latin typeface="Arial" panose="020B0604020202020204" pitchFamily="34" charset="0"/>
              </a:rPr>
              <a:t>return 0;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}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9512300" y="6369050"/>
            <a:ext cx="2133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BEF025C-9950-4ED9-97E7-B961F13FC426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" name="矩形 8"/>
          <p:cNvSpPr/>
          <p:nvPr/>
        </p:nvSpPr>
        <p:spPr>
          <a:xfrm>
            <a:off x="0" y="0"/>
            <a:ext cx="9144000" cy="5238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Arial" panose="020B0604020202020204" pitchFamily="34" charset="0"/>
              </a:rPr>
              <a:t>已有类型定义：</a:t>
            </a:r>
            <a:r>
              <a:rPr lang="en-US" altLang="zh-CN" sz="2800" dirty="0">
                <a:latin typeface="Arial" panose="020B0604020202020204" pitchFamily="34" charset="0"/>
              </a:rPr>
              <a:t>typedef  </a:t>
            </a: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real_term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* </a:t>
            </a:r>
            <a:r>
              <a:rPr lang="en-US" altLang="zh-CN" sz="2800" dirty="0" err="1">
                <a:solidFill>
                  <a:srgbClr val="FFFF00"/>
                </a:solidFill>
                <a:latin typeface="Arial" panose="020B0604020202020204" pitchFamily="34" charset="0"/>
              </a:rPr>
              <a:t>termpointer</a:t>
            </a:r>
            <a:r>
              <a:rPr lang="en-US" altLang="zh-CN" sz="2800" dirty="0">
                <a:latin typeface="Arial" panose="020B0604020202020204" pitchFamily="34" charset="0"/>
              </a:rPr>
              <a:t> ;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0" y="785813"/>
            <a:ext cx="11582400" cy="58785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/*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构造实数序列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,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并返回序列头指针*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/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latin typeface="Arial" panose="020B0604020202020204" pitchFamily="34" charset="0"/>
              </a:rPr>
              <a:t>termpointer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f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( )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endParaRPr lang="en-US" altLang="zh-CN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float </a:t>
            </a:r>
            <a:r>
              <a:rPr lang="en-US" altLang="zh-CN" dirty="0" err="1">
                <a:latin typeface="Arial" panose="020B0604020202020204" pitchFamily="34" charset="0"/>
              </a:rPr>
              <a:t>rr</a:t>
            </a:r>
            <a:r>
              <a:rPr lang="en-US" altLang="zh-CN" dirty="0">
                <a:latin typeface="Arial" panose="020B0604020202020204" pitchFamily="34" charset="0"/>
              </a:rPr>
              <a:t> ;	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termpointer</a:t>
            </a:r>
            <a:r>
              <a:rPr lang="en-US" altLang="zh-CN" dirty="0">
                <a:latin typeface="Arial" panose="020B0604020202020204" pitchFamily="34" charset="0"/>
              </a:rPr>
              <a:t>  fn,r,r0,p; 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en-US" altLang="zh-CN" sz="1800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fn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指向表头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	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</a:rPr>
              <a:t>①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构造结点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，并将</a:t>
            </a:r>
            <a:r>
              <a:rPr lang="en-US" altLang="zh-CN" sz="1800" dirty="0" err="1">
                <a:solidFill>
                  <a:srgbClr val="FF0000"/>
                </a:solidFill>
                <a:latin typeface="Arial" panose="020B0604020202020204" pitchFamily="34" charset="0"/>
              </a:rPr>
              <a:t>fn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指向该结点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fn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=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termpointer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malloc(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struct  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real_term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fn</a:t>
            </a:r>
            <a:r>
              <a:rPr lang="en-US" altLang="zh-CN" dirty="0">
                <a:latin typeface="Arial" panose="020B0604020202020204" pitchFamily="34" charset="0"/>
              </a:rPr>
              <a:t>-&gt;term=0;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数据域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</a:rPr>
              <a:t>②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构造结点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	p= 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termpointer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struct  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real_term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)); 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p-&gt;term=1;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数据域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latin typeface="Arial" panose="020B0604020202020204" pitchFamily="34" charset="0"/>
              </a:rPr>
              <a:t>p-&gt;next=NULL;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指针域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en-US" altLang="zh-CN" sz="1800" dirty="0">
                <a:solidFill>
                  <a:srgbClr val="FF0000"/>
                </a:solidFill>
                <a:latin typeface="宋体" panose="02010600030101010101" pitchFamily="2" charset="-122"/>
              </a:rPr>
              <a:t>③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连接 结点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、结点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，设置链首指针</a:t>
            </a:r>
            <a:r>
              <a:rPr lang="en-US" altLang="zh-CN" sz="1800" dirty="0" err="1">
                <a:solidFill>
                  <a:srgbClr val="FF0000"/>
                </a:solidFill>
                <a:latin typeface="Arial" panose="020B0604020202020204" pitchFamily="34" charset="0"/>
              </a:rPr>
              <a:t>fn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fn</a:t>
            </a:r>
            <a:r>
              <a:rPr lang="en-US" altLang="zh-CN" dirty="0">
                <a:latin typeface="Arial" panose="020B0604020202020204" pitchFamily="34" charset="0"/>
              </a:rPr>
              <a:t>-&gt;next=p;	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288" y="23813"/>
            <a:ext cx="9144000" cy="52387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Arial" panose="020B0604020202020204" pitchFamily="34" charset="0"/>
              </a:rPr>
              <a:t>已有类型定义：</a:t>
            </a:r>
            <a:r>
              <a:rPr lang="en-US" altLang="zh-CN" sz="2800" dirty="0">
                <a:latin typeface="Arial" panose="020B0604020202020204" pitchFamily="34" charset="0"/>
              </a:rPr>
              <a:t>typedef  </a:t>
            </a:r>
            <a:r>
              <a:rPr lang="en-US" altLang="zh-CN" sz="2800" dirty="0" err="1">
                <a:solidFill>
                  <a:srgbClr val="FFC000"/>
                </a:solidFill>
                <a:latin typeface="Arial" panose="020B0604020202020204" pitchFamily="34" charset="0"/>
              </a:rPr>
              <a:t>struct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800" dirty="0" err="1">
                <a:solidFill>
                  <a:srgbClr val="FFC000"/>
                </a:solidFill>
                <a:latin typeface="Arial" panose="020B0604020202020204" pitchFamily="34" charset="0"/>
              </a:rPr>
              <a:t>real_term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 * </a:t>
            </a:r>
            <a:r>
              <a:rPr lang="en-US" altLang="zh-CN" sz="2800" dirty="0" err="1">
                <a:solidFill>
                  <a:srgbClr val="FFFF00"/>
                </a:solidFill>
                <a:latin typeface="Arial" panose="020B0604020202020204" pitchFamily="34" charset="0"/>
              </a:rPr>
              <a:t>termpointer</a:t>
            </a:r>
            <a:r>
              <a:rPr lang="en-US" altLang="zh-CN" sz="2800" dirty="0">
                <a:latin typeface="Arial" panose="020B0604020202020204" pitchFamily="34" charset="0"/>
              </a:rPr>
              <a:t> ;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32772" name="Rectangle 48"/>
          <p:cNvSpPr>
            <a:spLocks noChangeArrowheads="1"/>
          </p:cNvSpPr>
          <p:nvPr/>
        </p:nvSpPr>
        <p:spPr bwMode="auto">
          <a:xfrm>
            <a:off x="5953125" y="5719763"/>
            <a:ext cx="1525588" cy="569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grpSp>
        <p:nvGrpSpPr>
          <p:cNvPr id="32773" name="组合 29"/>
          <p:cNvGrpSpPr/>
          <p:nvPr/>
        </p:nvGrpSpPr>
        <p:grpSpPr bwMode="auto">
          <a:xfrm>
            <a:off x="7718425" y="4803775"/>
            <a:ext cx="2349500" cy="1768475"/>
            <a:chOff x="6194960" y="4714884"/>
            <a:chExt cx="2348895" cy="1768401"/>
          </a:xfrm>
        </p:grpSpPr>
        <p:sp>
          <p:nvSpPr>
            <p:cNvPr id="32775" name="Rectangle 34"/>
            <p:cNvSpPr>
              <a:spLocks noChangeArrowheads="1"/>
            </p:cNvSpPr>
            <p:nvPr/>
          </p:nvSpPr>
          <p:spPr bwMode="auto">
            <a:xfrm>
              <a:off x="6194960" y="5459453"/>
              <a:ext cx="906240" cy="984598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76" name="Line 35"/>
            <p:cNvSpPr>
              <a:spLocks noChangeShapeType="1"/>
            </p:cNvSpPr>
            <p:nvPr/>
          </p:nvSpPr>
          <p:spPr bwMode="auto">
            <a:xfrm>
              <a:off x="6221614" y="6139517"/>
              <a:ext cx="879586" cy="18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7" name="Rectangle 41"/>
            <p:cNvSpPr>
              <a:spLocks noChangeArrowheads="1"/>
            </p:cNvSpPr>
            <p:nvPr/>
          </p:nvSpPr>
          <p:spPr bwMode="auto">
            <a:xfrm>
              <a:off x="7634283" y="5474399"/>
              <a:ext cx="909572" cy="1008886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32778" name="Line 42"/>
            <p:cNvSpPr>
              <a:spLocks noChangeShapeType="1"/>
            </p:cNvSpPr>
            <p:nvPr/>
          </p:nvSpPr>
          <p:spPr bwMode="auto">
            <a:xfrm>
              <a:off x="7634283" y="6126438"/>
              <a:ext cx="882918" cy="18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79" name="Line 44"/>
            <p:cNvSpPr>
              <a:spLocks noChangeShapeType="1"/>
            </p:cNvSpPr>
            <p:nvPr/>
          </p:nvSpPr>
          <p:spPr bwMode="auto">
            <a:xfrm>
              <a:off x="6771355" y="6302059"/>
              <a:ext cx="80961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80" name="TextBox 26"/>
            <p:cNvSpPr txBox="1">
              <a:spLocks noChangeArrowheads="1"/>
            </p:cNvSpPr>
            <p:nvPr/>
          </p:nvSpPr>
          <p:spPr bwMode="auto">
            <a:xfrm>
              <a:off x="6282260" y="5558009"/>
              <a:ext cx="4286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781" name="TextBox 27"/>
            <p:cNvSpPr txBox="1">
              <a:spLocks noChangeArrowheads="1"/>
            </p:cNvSpPr>
            <p:nvPr/>
          </p:nvSpPr>
          <p:spPr bwMode="auto">
            <a:xfrm>
              <a:off x="7921113" y="5554616"/>
              <a:ext cx="428625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2782" name="TextBox 26"/>
            <p:cNvSpPr txBox="1">
              <a:spLocks noChangeArrowheads="1"/>
            </p:cNvSpPr>
            <p:nvPr/>
          </p:nvSpPr>
          <p:spPr bwMode="auto">
            <a:xfrm>
              <a:off x="8001027" y="6000768"/>
              <a:ext cx="428625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.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2783" name="TextBox 24"/>
            <p:cNvSpPr txBox="1">
              <a:spLocks noChangeArrowheads="1"/>
            </p:cNvSpPr>
            <p:nvPr/>
          </p:nvSpPr>
          <p:spPr bwMode="auto">
            <a:xfrm>
              <a:off x="6429388" y="4714884"/>
              <a:ext cx="6429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fn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2784" name="TextBox 25"/>
            <p:cNvSpPr txBox="1">
              <a:spLocks noChangeArrowheads="1"/>
            </p:cNvSpPr>
            <p:nvPr/>
          </p:nvSpPr>
          <p:spPr bwMode="auto">
            <a:xfrm>
              <a:off x="7858148" y="4714884"/>
              <a:ext cx="5000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32785" name="直接箭头连接符 27"/>
            <p:cNvCxnSpPr>
              <a:cxnSpLocks noChangeShapeType="1"/>
            </p:cNvCxnSpPr>
            <p:nvPr/>
          </p:nvCxnSpPr>
          <p:spPr bwMode="auto">
            <a:xfrm rot="5400000">
              <a:off x="6465107" y="5250669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786" name="直接箭头连接符 28"/>
            <p:cNvCxnSpPr>
              <a:cxnSpLocks noChangeShapeType="1"/>
            </p:cNvCxnSpPr>
            <p:nvPr/>
          </p:nvCxnSpPr>
          <p:spPr bwMode="auto">
            <a:xfrm rot="5400000">
              <a:off x="7894661" y="5321313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5BF8188-67F2-4D94-8CF3-7B68DC75A48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-10970" y="14129"/>
            <a:ext cx="9320532" cy="68008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    </a:t>
            </a:r>
            <a:r>
              <a:rPr lang="en-US" altLang="zh-CN" sz="1800" dirty="0" err="1">
                <a:latin typeface="Arial" panose="020B0604020202020204" pitchFamily="34" charset="0"/>
              </a:rPr>
              <a:t>printf</a:t>
            </a:r>
            <a:r>
              <a:rPr lang="en-US" altLang="zh-CN" sz="1800" dirty="0">
                <a:latin typeface="Arial" panose="020B0604020202020204" pitchFamily="34" charset="0"/>
              </a:rPr>
              <a:t>("</a:t>
            </a:r>
            <a:r>
              <a:rPr lang="zh-CN" altLang="en-US" sz="1800" dirty="0">
                <a:latin typeface="Arial" panose="020B0604020202020204" pitchFamily="34" charset="0"/>
              </a:rPr>
              <a:t>请输入一个</a:t>
            </a:r>
            <a:r>
              <a:rPr lang="en-US" altLang="zh-CN" sz="1800" dirty="0">
                <a:latin typeface="Arial" panose="020B0604020202020204" pitchFamily="34" charset="0"/>
              </a:rPr>
              <a:t>(0,1)</a:t>
            </a:r>
            <a:r>
              <a:rPr lang="zh-CN" altLang="en-US" sz="1800" dirty="0">
                <a:latin typeface="Arial" panose="020B0604020202020204" pitchFamily="34" charset="0"/>
              </a:rPr>
              <a:t>区间内的实数</a:t>
            </a:r>
            <a:r>
              <a:rPr lang="en-US" altLang="zh-CN" sz="1800" dirty="0">
                <a:latin typeface="Arial" panose="020B0604020202020204" pitchFamily="34" charset="0"/>
              </a:rPr>
              <a:t>(</a:t>
            </a:r>
            <a:r>
              <a:rPr lang="zh-CN" altLang="en-US" sz="1800" dirty="0">
                <a:latin typeface="Arial" panose="020B0604020202020204" pitchFamily="34" charset="0"/>
              </a:rPr>
              <a:t>输入</a:t>
            </a:r>
            <a:r>
              <a:rPr lang="en-US" altLang="zh-CN" sz="1800" dirty="0">
                <a:latin typeface="Arial" panose="020B0604020202020204" pitchFamily="34" charset="0"/>
              </a:rPr>
              <a:t>0</a:t>
            </a:r>
            <a:r>
              <a:rPr lang="zh-CN" altLang="en-US" sz="1800" dirty="0">
                <a:latin typeface="Arial" panose="020B0604020202020204" pitchFamily="34" charset="0"/>
              </a:rPr>
              <a:t>结束</a:t>
            </a:r>
            <a:r>
              <a:rPr lang="en-US" altLang="zh-CN" sz="1800" dirty="0">
                <a:latin typeface="Arial" panose="020B0604020202020204" pitchFamily="34" charset="0"/>
              </a:rPr>
              <a:t>:");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读第一个数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</a:t>
            </a:r>
            <a:r>
              <a:rPr lang="en-US" altLang="zh-CN" dirty="0" err="1">
                <a:latin typeface="Arial" panose="020B0604020202020204" pitchFamily="34" charset="0"/>
              </a:rPr>
              <a:t>scanf</a:t>
            </a:r>
            <a:r>
              <a:rPr lang="en-US" altLang="zh-CN" dirty="0">
                <a:latin typeface="Arial" panose="020B0604020202020204" pitchFamily="34" charset="0"/>
              </a:rPr>
              <a:t> (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dirty="0">
                <a:latin typeface="Arial" panose="020B0604020202020204" pitchFamily="34" charset="0"/>
              </a:rPr>
              <a:t>%</a:t>
            </a:r>
            <a:r>
              <a:rPr lang="en-US" altLang="zh-CN" dirty="0" err="1">
                <a:latin typeface="Arial" panose="020B0604020202020204" pitchFamily="34" charset="0"/>
              </a:rPr>
              <a:t>f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dirty="0" err="1">
                <a:latin typeface="Arial" panose="020B0604020202020204" pitchFamily="34" charset="0"/>
              </a:rPr>
              <a:t>,&amp;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latin typeface="Arial" panose="020B0604020202020204" pitchFamily="34" charset="0"/>
              </a:rPr>
              <a:t>);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如：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0.13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  while (fabs(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)&gt;1e-5 ){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不是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0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，则加入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          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latin typeface="Arial" panose="020B0604020202020204" pitchFamily="34" charset="0"/>
              </a:rPr>
              <a:t>       	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 //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寻找 </a:t>
            </a:r>
            <a:r>
              <a:rPr lang="en-US" altLang="zh-CN" sz="1800" dirty="0" err="1">
                <a:solidFill>
                  <a:srgbClr val="FF0000"/>
                </a:solidFill>
                <a:latin typeface="Arial" panose="020B0604020202020204" pitchFamily="34" charset="0"/>
              </a:rPr>
              <a:t>rr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的位置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,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在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r0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与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r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之间</a:t>
            </a:r>
            <a:endParaRPr lang="en-US" altLang="zh-CN" sz="1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r0=NULL; </a:t>
            </a:r>
            <a:endParaRPr lang="en-US" altLang="zh-CN" sz="2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	r=fn;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while(r-&gt;term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&lt;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latin typeface="Arial" panose="020B0604020202020204" pitchFamily="34" charset="0"/>
              </a:rPr>
              <a:t> )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{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endParaRPr lang="zh-CN" altLang="en-US" sz="1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		</a:t>
            </a:r>
            <a:r>
              <a:rPr lang="en-US" altLang="zh-CN" sz="2800" dirty="0">
                <a:latin typeface="Arial" panose="020B0604020202020204" pitchFamily="34" charset="0"/>
              </a:rPr>
              <a:t>r0=r;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r=r-&gt;next;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}</a:t>
            </a:r>
            <a:endParaRPr lang="en-US" altLang="zh-CN" sz="18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构造</a:t>
            </a:r>
            <a:r>
              <a:rPr lang="en-US" altLang="zh-CN" sz="1800" dirty="0" err="1">
                <a:solidFill>
                  <a:srgbClr val="FF0000"/>
                </a:solidFill>
                <a:latin typeface="Arial" panose="020B0604020202020204" pitchFamily="34" charset="0"/>
              </a:rPr>
              <a:t>rr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并插入到 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r0,r </a:t>
            </a:r>
            <a:r>
              <a:rPr lang="zh-CN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之间</a:t>
            </a:r>
            <a:endParaRPr lang="zh-CN" altLang="en-US" sz="1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     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p=(</a:t>
            </a:r>
            <a:r>
              <a:rPr lang="en-US" altLang="zh-CN" sz="2800" dirty="0" err="1">
                <a:latin typeface="Arial" panose="020B0604020202020204" pitchFamily="34" charset="0"/>
              </a:rPr>
              <a:t>termpointer</a:t>
            </a:r>
            <a:r>
              <a:rPr lang="en-US" altLang="zh-CN" sz="2800" dirty="0">
                <a:latin typeface="Arial" panose="020B0604020202020204" pitchFamily="34" charset="0"/>
              </a:rPr>
              <a:t>) </a:t>
            </a:r>
            <a:r>
              <a:rPr lang="en-US" altLang="zh-CN" sz="2800" dirty="0" err="1">
                <a:solidFill>
                  <a:srgbClr val="FFFF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latin typeface="Arial" panose="020B0604020202020204" pitchFamily="34" charset="0"/>
              </a:rPr>
              <a:t>sizeof</a:t>
            </a:r>
            <a:r>
              <a:rPr lang="en-US" altLang="zh-CN" sz="2400" dirty="0">
                <a:latin typeface="Arial" panose="020B0604020202020204" pitchFamily="34" charset="0"/>
              </a:rPr>
              <a:t>(</a:t>
            </a:r>
            <a:r>
              <a:rPr lang="en-US" altLang="zh-CN" sz="2400" dirty="0" err="1">
                <a:latin typeface="Arial" panose="020B0604020202020204" pitchFamily="34" charset="0"/>
              </a:rPr>
              <a:t>struct</a:t>
            </a:r>
            <a:r>
              <a:rPr lang="en-US" altLang="zh-CN" sz="2400" dirty="0">
                <a:latin typeface="Arial" panose="020B0604020202020204" pitchFamily="34" charset="0"/>
              </a:rPr>
              <a:t>  </a:t>
            </a:r>
            <a:r>
              <a:rPr lang="en-US" altLang="zh-CN" sz="2400" dirty="0" err="1">
                <a:latin typeface="Arial" panose="020B0604020202020204" pitchFamily="34" charset="0"/>
              </a:rPr>
              <a:t>real_term</a:t>
            </a:r>
            <a:r>
              <a:rPr lang="en-US" altLang="zh-CN" sz="2400" dirty="0">
                <a:latin typeface="Arial" panose="020B0604020202020204" pitchFamily="34" charset="0"/>
              </a:rPr>
              <a:t>)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p-&gt;term = 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sz="1800" dirty="0">
                <a:solidFill>
                  <a:srgbClr val="969696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969696"/>
                </a:solidFill>
                <a:latin typeface="Arial" panose="020B0604020202020204" pitchFamily="34" charset="0"/>
              </a:rPr>
              <a:t>数据域</a:t>
            </a:r>
            <a:endParaRPr lang="en-US" altLang="zh-CN" sz="1800" dirty="0">
              <a:solidFill>
                <a:srgbClr val="96969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p-&gt;next = r; </a:t>
            </a:r>
            <a:r>
              <a:rPr lang="en-US" altLang="zh-CN" sz="1800" dirty="0">
                <a:solidFill>
                  <a:srgbClr val="969696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969696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1800" dirty="0">
                <a:solidFill>
                  <a:srgbClr val="969696"/>
                </a:solidFill>
                <a:latin typeface="Arial" panose="020B0604020202020204" pitchFamily="34" charset="0"/>
              </a:rPr>
              <a:t>r</a:t>
            </a:r>
            <a:r>
              <a:rPr lang="zh-CN" altLang="en-US" sz="1800" dirty="0">
                <a:solidFill>
                  <a:srgbClr val="969696"/>
                </a:solidFill>
                <a:latin typeface="Arial" panose="020B0604020202020204" pitchFamily="34" charset="0"/>
              </a:rPr>
              <a:t>连接</a:t>
            </a:r>
            <a:r>
              <a:rPr lang="en-US" altLang="zh-CN" sz="1800" dirty="0">
                <a:solidFill>
                  <a:srgbClr val="969696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800" dirty="0">
                <a:solidFill>
                  <a:srgbClr val="969696"/>
                </a:solidFill>
                <a:latin typeface="Arial" panose="020B0604020202020204" pitchFamily="34" charset="0"/>
              </a:rPr>
              <a:t>指针域</a:t>
            </a:r>
            <a:r>
              <a:rPr lang="en-US" altLang="zh-CN" sz="1800" dirty="0">
                <a:solidFill>
                  <a:srgbClr val="969696"/>
                </a:solidFill>
                <a:latin typeface="Arial" panose="020B0604020202020204" pitchFamily="34" charset="0"/>
              </a:rPr>
              <a:t>)</a:t>
            </a:r>
            <a:endParaRPr lang="en-US" altLang="zh-CN" sz="1800" dirty="0">
              <a:solidFill>
                <a:srgbClr val="969696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r0-&gt;next = p; </a:t>
            </a:r>
            <a:r>
              <a:rPr lang="en-US" altLang="zh-CN" sz="1800" dirty="0">
                <a:solidFill>
                  <a:srgbClr val="969696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rgbClr val="969696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1800" dirty="0">
                <a:solidFill>
                  <a:srgbClr val="969696"/>
                </a:solidFill>
                <a:latin typeface="Arial" panose="020B0604020202020204" pitchFamily="34" charset="0"/>
              </a:rPr>
              <a:t>r0</a:t>
            </a:r>
            <a:r>
              <a:rPr lang="zh-CN" altLang="en-US" sz="1800" dirty="0">
                <a:solidFill>
                  <a:srgbClr val="969696"/>
                </a:solidFill>
                <a:latin typeface="Arial" panose="020B0604020202020204" pitchFamily="34" charset="0"/>
              </a:rPr>
              <a:t>连接</a:t>
            </a:r>
            <a:r>
              <a:rPr lang="en-US" altLang="zh-CN" sz="1800" dirty="0">
                <a:solidFill>
                  <a:srgbClr val="969696"/>
                </a:solidFill>
                <a:latin typeface="Arial" panose="020B0604020202020204" pitchFamily="34" charset="0"/>
              </a:rPr>
              <a:t>	</a:t>
            </a:r>
            <a:endParaRPr lang="zh-CN" altLang="en-US" sz="1800" dirty="0">
              <a:solidFill>
                <a:srgbClr val="969696"/>
              </a:solidFill>
              <a:latin typeface="Arial" panose="020B0604020202020204" pitchFamily="34" charset="0"/>
            </a:endParaRPr>
          </a:p>
        </p:txBody>
      </p:sp>
      <p:sp>
        <p:nvSpPr>
          <p:cNvPr id="33796" name="Rectangle 3"/>
          <p:cNvSpPr>
            <a:spLocks noChangeArrowheads="1"/>
          </p:cNvSpPr>
          <p:nvPr/>
        </p:nvSpPr>
        <p:spPr bwMode="auto">
          <a:xfrm>
            <a:off x="3952875" y="3341688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3797" name="Rectangle 4"/>
          <p:cNvSpPr>
            <a:spLocks noChangeArrowheads="1"/>
          </p:cNvSpPr>
          <p:nvPr/>
        </p:nvSpPr>
        <p:spPr bwMode="auto">
          <a:xfrm>
            <a:off x="3952875" y="3360738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3798" name="Rectangle 34"/>
          <p:cNvSpPr>
            <a:spLocks noChangeArrowheads="1"/>
          </p:cNvSpPr>
          <p:nvPr/>
        </p:nvSpPr>
        <p:spPr bwMode="auto">
          <a:xfrm>
            <a:off x="7786688" y="2239963"/>
            <a:ext cx="906462" cy="1160462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33799" name="Line 35"/>
          <p:cNvSpPr>
            <a:spLocks noChangeShapeType="1"/>
          </p:cNvSpPr>
          <p:nvPr/>
        </p:nvSpPr>
        <p:spPr bwMode="auto">
          <a:xfrm>
            <a:off x="7812088" y="2919413"/>
            <a:ext cx="881062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0" name="Rectangle 41"/>
          <p:cNvSpPr>
            <a:spLocks noChangeArrowheads="1"/>
          </p:cNvSpPr>
          <p:nvPr/>
        </p:nvSpPr>
        <p:spPr bwMode="auto">
          <a:xfrm>
            <a:off x="10531475" y="2254250"/>
            <a:ext cx="909638" cy="1146175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33801" name="Line 42"/>
          <p:cNvSpPr>
            <a:spLocks noChangeShapeType="1"/>
          </p:cNvSpPr>
          <p:nvPr/>
        </p:nvSpPr>
        <p:spPr bwMode="auto">
          <a:xfrm>
            <a:off x="10498138" y="2921000"/>
            <a:ext cx="882650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Line 44"/>
          <p:cNvSpPr>
            <a:spLocks noChangeShapeType="1"/>
          </p:cNvSpPr>
          <p:nvPr/>
        </p:nvSpPr>
        <p:spPr bwMode="auto">
          <a:xfrm>
            <a:off x="8378825" y="3255963"/>
            <a:ext cx="8096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Line 45"/>
          <p:cNvSpPr>
            <a:spLocks noChangeShapeType="1"/>
          </p:cNvSpPr>
          <p:nvPr/>
        </p:nvSpPr>
        <p:spPr bwMode="auto">
          <a:xfrm>
            <a:off x="9728200" y="3255963"/>
            <a:ext cx="809625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804" name="Rectangle 48"/>
          <p:cNvSpPr>
            <a:spLocks noChangeArrowheads="1"/>
          </p:cNvSpPr>
          <p:nvPr/>
        </p:nvSpPr>
        <p:spPr bwMode="auto">
          <a:xfrm>
            <a:off x="5032375" y="3889375"/>
            <a:ext cx="1527175" cy="56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2000">
              <a:latin typeface="Arial" panose="020B0604020202020204" pitchFamily="34" charset="0"/>
            </a:endParaRPr>
          </a:p>
        </p:txBody>
      </p:sp>
      <p:sp>
        <p:nvSpPr>
          <p:cNvPr id="33805" name="TextBox 26"/>
          <p:cNvSpPr txBox="1">
            <a:spLocks noChangeArrowheads="1"/>
          </p:cNvSpPr>
          <p:nvPr/>
        </p:nvSpPr>
        <p:spPr bwMode="auto">
          <a:xfrm>
            <a:off x="8024813" y="2338388"/>
            <a:ext cx="42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3806" name="TextBox 27"/>
          <p:cNvSpPr txBox="1">
            <a:spLocks noChangeArrowheads="1"/>
          </p:cNvSpPr>
          <p:nvPr/>
        </p:nvSpPr>
        <p:spPr bwMode="auto">
          <a:xfrm>
            <a:off x="10772775" y="2339975"/>
            <a:ext cx="42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3807" name="TextBox 26"/>
          <p:cNvSpPr txBox="1">
            <a:spLocks noChangeArrowheads="1"/>
          </p:cNvSpPr>
          <p:nvPr/>
        </p:nvSpPr>
        <p:spPr bwMode="auto">
          <a:xfrm>
            <a:off x="10815638" y="2786063"/>
            <a:ext cx="42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4" name="组合 31"/>
          <p:cNvGrpSpPr/>
          <p:nvPr/>
        </p:nvGrpSpPr>
        <p:grpSpPr bwMode="auto">
          <a:xfrm>
            <a:off x="9172575" y="1474788"/>
            <a:ext cx="960438" cy="1925637"/>
            <a:chOff x="6660752" y="2863161"/>
            <a:chExt cx="960205" cy="1926069"/>
          </a:xfrm>
        </p:grpSpPr>
        <p:sp>
          <p:nvSpPr>
            <p:cNvPr id="33830" name="Line 38"/>
            <p:cNvSpPr>
              <a:spLocks noChangeShapeType="1"/>
            </p:cNvSpPr>
            <p:nvPr/>
          </p:nvSpPr>
          <p:spPr bwMode="auto">
            <a:xfrm>
              <a:off x="6687408" y="4323905"/>
              <a:ext cx="933549" cy="18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831" name="组合 30"/>
            <p:cNvGrpSpPr/>
            <p:nvPr/>
          </p:nvGrpSpPr>
          <p:grpSpPr bwMode="auto">
            <a:xfrm>
              <a:off x="6660752" y="2863161"/>
              <a:ext cx="960202" cy="1926069"/>
              <a:chOff x="6660752" y="2857496"/>
              <a:chExt cx="960202" cy="1926069"/>
            </a:xfrm>
          </p:grpSpPr>
          <p:sp>
            <p:nvSpPr>
              <p:cNvPr id="33832" name="Rectangle 37"/>
              <p:cNvSpPr>
                <a:spLocks noChangeArrowheads="1"/>
              </p:cNvSpPr>
              <p:nvPr/>
            </p:nvSpPr>
            <p:spPr bwMode="auto">
              <a:xfrm>
                <a:off x="6660752" y="3621422"/>
                <a:ext cx="960202" cy="1162143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3833" name="TextBox 28"/>
              <p:cNvSpPr txBox="1">
                <a:spLocks noChangeArrowheads="1"/>
              </p:cNvSpPr>
              <p:nvPr/>
            </p:nvSpPr>
            <p:spPr bwMode="auto">
              <a:xfrm>
                <a:off x="6688138" y="3756025"/>
                <a:ext cx="785812" cy="4619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0.13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3834" name="TextBox 24"/>
              <p:cNvSpPr txBox="1">
                <a:spLocks noChangeArrowheads="1"/>
              </p:cNvSpPr>
              <p:nvPr/>
            </p:nvSpPr>
            <p:spPr bwMode="auto">
              <a:xfrm>
                <a:off x="6858016" y="2857496"/>
                <a:ext cx="64294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p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cxnSp>
            <p:nvCxnSpPr>
              <p:cNvPr id="33835" name="直接箭头连接符 26"/>
              <p:cNvCxnSpPr>
                <a:cxnSpLocks noChangeShapeType="1"/>
              </p:cNvCxnSpPr>
              <p:nvPr/>
            </p:nvCxnSpPr>
            <p:spPr bwMode="auto">
              <a:xfrm rot="5400000">
                <a:off x="6893735" y="3393281"/>
                <a:ext cx="357190" cy="1588"/>
              </a:xfrm>
              <a:prstGeom prst="straightConnector1">
                <a:avLst/>
              </a:prstGeom>
              <a:noFill/>
              <a:ln w="38100" algn="ctr">
                <a:solidFill>
                  <a:schemeClr val="tx1"/>
                </a:solidFill>
                <a:rou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33809" name="TextBox 28"/>
          <p:cNvSpPr txBox="1">
            <a:spLocks noChangeArrowheads="1"/>
          </p:cNvSpPr>
          <p:nvPr/>
        </p:nvSpPr>
        <p:spPr bwMode="auto">
          <a:xfrm>
            <a:off x="7797800" y="1468438"/>
            <a:ext cx="6429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fn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cxnSp>
        <p:nvCxnSpPr>
          <p:cNvPr id="33810" name="直接箭头连接符 29"/>
          <p:cNvCxnSpPr>
            <a:cxnSpLocks noChangeShapeType="1"/>
          </p:cNvCxnSpPr>
          <p:nvPr/>
        </p:nvCxnSpPr>
        <p:spPr bwMode="auto">
          <a:xfrm rot="5400000">
            <a:off x="7834313" y="2003425"/>
            <a:ext cx="357188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8" name="组合 36"/>
          <p:cNvGrpSpPr/>
          <p:nvPr/>
        </p:nvGrpSpPr>
        <p:grpSpPr bwMode="auto">
          <a:xfrm>
            <a:off x="8077200" y="1455738"/>
            <a:ext cx="642938" cy="715962"/>
            <a:chOff x="5786446" y="1856570"/>
            <a:chExt cx="642942" cy="715174"/>
          </a:xfrm>
        </p:grpSpPr>
        <p:sp>
          <p:nvSpPr>
            <p:cNvPr id="33828" name="TextBox 32"/>
            <p:cNvSpPr txBox="1">
              <a:spLocks noChangeArrowheads="1"/>
            </p:cNvSpPr>
            <p:nvPr/>
          </p:nvSpPr>
          <p:spPr bwMode="auto">
            <a:xfrm>
              <a:off x="5786446" y="1856570"/>
              <a:ext cx="6429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r0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3829" name="直接箭头连接符 33"/>
            <p:cNvCxnSpPr>
              <a:cxnSpLocks noChangeShapeType="1"/>
            </p:cNvCxnSpPr>
            <p:nvPr/>
          </p:nvCxnSpPr>
          <p:spPr bwMode="auto">
            <a:xfrm rot="5400000">
              <a:off x="5822165" y="2392355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9" name="组合 37"/>
          <p:cNvGrpSpPr/>
          <p:nvPr/>
        </p:nvGrpSpPr>
        <p:grpSpPr bwMode="auto">
          <a:xfrm>
            <a:off x="10869613" y="1468438"/>
            <a:ext cx="285750" cy="785812"/>
            <a:chOff x="8358214" y="1857364"/>
            <a:chExt cx="285720" cy="785818"/>
          </a:xfrm>
        </p:grpSpPr>
        <p:sp>
          <p:nvSpPr>
            <p:cNvPr id="33826" name="TextBox 34"/>
            <p:cNvSpPr txBox="1">
              <a:spLocks noChangeArrowheads="1"/>
            </p:cNvSpPr>
            <p:nvPr/>
          </p:nvSpPr>
          <p:spPr bwMode="auto">
            <a:xfrm>
              <a:off x="8358214" y="1857364"/>
              <a:ext cx="2857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3827" name="直接箭头连接符 35"/>
            <p:cNvCxnSpPr>
              <a:cxnSpLocks noChangeShapeType="1"/>
            </p:cNvCxnSpPr>
            <p:nvPr/>
          </p:nvCxnSpPr>
          <p:spPr bwMode="auto">
            <a:xfrm rot="5400000">
              <a:off x="8323289" y="2463793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41" name="直接箭头连接符 40"/>
          <p:cNvCxnSpPr>
            <a:cxnSpLocks noChangeShapeType="1"/>
          </p:cNvCxnSpPr>
          <p:nvPr/>
        </p:nvCxnSpPr>
        <p:spPr bwMode="auto">
          <a:xfrm>
            <a:off x="8369300" y="3109913"/>
            <a:ext cx="2143125" cy="1587"/>
          </a:xfrm>
          <a:prstGeom prst="straightConnector1">
            <a:avLst/>
          </a:prstGeom>
          <a:noFill/>
          <a:ln w="4127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0" name="组合 36"/>
          <p:cNvGrpSpPr/>
          <p:nvPr/>
        </p:nvGrpSpPr>
        <p:grpSpPr bwMode="auto">
          <a:xfrm>
            <a:off x="7269163" y="1455738"/>
            <a:ext cx="642937" cy="715962"/>
            <a:chOff x="5786446" y="1856570"/>
            <a:chExt cx="642942" cy="715174"/>
          </a:xfrm>
        </p:grpSpPr>
        <p:sp>
          <p:nvSpPr>
            <p:cNvPr id="33824" name="TextBox 32"/>
            <p:cNvSpPr txBox="1">
              <a:spLocks noChangeArrowheads="1"/>
            </p:cNvSpPr>
            <p:nvPr/>
          </p:nvSpPr>
          <p:spPr bwMode="auto">
            <a:xfrm>
              <a:off x="5786446" y="1856570"/>
              <a:ext cx="642942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r0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3825" name="直接箭头连接符 33"/>
            <p:cNvCxnSpPr>
              <a:cxnSpLocks noChangeShapeType="1"/>
            </p:cNvCxnSpPr>
            <p:nvPr/>
          </p:nvCxnSpPr>
          <p:spPr bwMode="auto">
            <a:xfrm rot="5400000">
              <a:off x="5822165" y="2392355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组合 37"/>
          <p:cNvGrpSpPr/>
          <p:nvPr/>
        </p:nvGrpSpPr>
        <p:grpSpPr bwMode="auto">
          <a:xfrm>
            <a:off x="8483600" y="1382713"/>
            <a:ext cx="285750" cy="785812"/>
            <a:chOff x="8358214" y="1857364"/>
            <a:chExt cx="285720" cy="785817"/>
          </a:xfrm>
        </p:grpSpPr>
        <p:sp>
          <p:nvSpPr>
            <p:cNvPr id="33822" name="TextBox 34"/>
            <p:cNvSpPr txBox="1">
              <a:spLocks noChangeArrowheads="1"/>
            </p:cNvSpPr>
            <p:nvPr/>
          </p:nvSpPr>
          <p:spPr bwMode="auto">
            <a:xfrm>
              <a:off x="8358214" y="1857364"/>
              <a:ext cx="2857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r</a:t>
              </a:r>
              <a:endParaRPr lang="zh-CN" altLang="en-US" sz="24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33823" name="直接箭头连接符 35"/>
            <p:cNvCxnSpPr>
              <a:cxnSpLocks noChangeShapeType="1"/>
            </p:cNvCxnSpPr>
            <p:nvPr/>
          </p:nvCxnSpPr>
          <p:spPr bwMode="auto">
            <a:xfrm rot="5400000">
              <a:off x="8323289" y="2463792"/>
              <a:ext cx="357190" cy="1588"/>
            </a:xfrm>
            <a:prstGeom prst="straightConnector1">
              <a:avLst/>
            </a:prstGeom>
            <a:noFill/>
            <a:ln w="38100" algn="ctr">
              <a:solidFill>
                <a:srgbClr val="FFFF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5" name="椭圆形标注 4"/>
          <p:cNvSpPr>
            <a:spLocks noChangeArrowheads="1"/>
          </p:cNvSpPr>
          <p:nvPr/>
        </p:nvSpPr>
        <p:spPr bwMode="auto">
          <a:xfrm>
            <a:off x="5864225" y="5375275"/>
            <a:ext cx="2403475" cy="592138"/>
          </a:xfrm>
          <a:prstGeom prst="wedgeEllipseCallout">
            <a:avLst>
              <a:gd name="adj1" fmla="val -85449"/>
              <a:gd name="adj2" fmla="val 6278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加入链表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0" name="椭圆形标注 39"/>
          <p:cNvSpPr>
            <a:spLocks noChangeArrowheads="1"/>
          </p:cNvSpPr>
          <p:nvPr/>
        </p:nvSpPr>
        <p:spPr bwMode="auto">
          <a:xfrm>
            <a:off x="5519738" y="4092575"/>
            <a:ext cx="2403475" cy="590550"/>
          </a:xfrm>
          <a:prstGeom prst="wedgeEllipseCallout">
            <a:avLst>
              <a:gd name="adj1" fmla="val -76056"/>
              <a:gd name="adj2" fmla="val 16981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创建新结点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79521" y="1730456"/>
            <a:ext cx="2211463" cy="887413"/>
          </a:xfrm>
          <a:prstGeom prst="rect">
            <a:avLst/>
          </a:prstGeom>
          <a:noFill/>
          <a:ln w="222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1676385" y="3123883"/>
            <a:ext cx="2119313" cy="887413"/>
          </a:xfrm>
          <a:prstGeom prst="rect">
            <a:avLst/>
          </a:prstGeom>
          <a:noFill/>
          <a:ln w="222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3" name="椭圆形标注 39"/>
          <p:cNvSpPr>
            <a:spLocks noChangeArrowheads="1"/>
          </p:cNvSpPr>
          <p:nvPr/>
        </p:nvSpPr>
        <p:spPr bwMode="auto">
          <a:xfrm>
            <a:off x="4364831" y="1627864"/>
            <a:ext cx="2148403" cy="1092240"/>
          </a:xfrm>
          <a:prstGeom prst="wedgeEllipseCallout">
            <a:avLst>
              <a:gd name="adj1" fmla="val -96130"/>
              <a:gd name="adj2" fmla="val 43351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查找位置</a:t>
            </a:r>
            <a:r>
              <a:rPr lang="en-US" altLang="zh-CN" sz="2400" dirty="0">
                <a:latin typeface="Arial" panose="020B0604020202020204" pitchFamily="34" charset="0"/>
              </a:rPr>
              <a:t>: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Arial" panose="020B0604020202020204" pitchFamily="34" charset="0"/>
              </a:rPr>
              <a:t>r0,r</a:t>
            </a:r>
            <a:r>
              <a:rPr lang="zh-CN" altLang="en-US" sz="2400" dirty="0">
                <a:latin typeface="Arial" panose="020B0604020202020204" pitchFamily="34" charset="0"/>
              </a:rPr>
              <a:t>之间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0" grpId="0" animBg="1"/>
      <p:bldP spid="6" grpId="0" bldLvl="0" animBg="1"/>
      <p:bldP spid="42" grpId="0" bldLvl="0" animBg="1"/>
      <p:bldP spid="4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62" y="5878553"/>
            <a:ext cx="12087225" cy="953135"/>
          </a:xfrm>
          <a:prstGeom prst="rect">
            <a:avLst/>
          </a:prstGeom>
          <a:noFill/>
          <a:ln w="25400">
            <a:noFill/>
          </a:ln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Tx/>
              <a:buAutoNum type="arabicPeriod"/>
              <a:defRPr/>
            </a:pP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讨论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1】</a:t>
            </a:r>
            <a:r>
              <a:rPr lang="en-US" altLang="zh-CN" sz="2800" dirty="0">
                <a:latin typeface="Arial" panose="020B0604020202020204" pitchFamily="34" charset="0"/>
              </a:rPr>
              <a:t>r0=</a:t>
            </a:r>
            <a:r>
              <a:rPr lang="en-US" altLang="zh-CN" sz="2800" dirty="0" err="1">
                <a:latin typeface="Arial" panose="020B0604020202020204" pitchFamily="34" charset="0"/>
              </a:rPr>
              <a:t>NULL;r</a:t>
            </a:r>
            <a:r>
              <a:rPr lang="en-US" altLang="zh-CN" sz="2800" dirty="0">
                <a:latin typeface="Arial" panose="020B0604020202020204" pitchFamily="34" charset="0"/>
              </a:rPr>
              <a:t>=</a:t>
            </a:r>
            <a:r>
              <a:rPr lang="en-US" altLang="zh-CN" sz="2800" dirty="0" err="1">
                <a:latin typeface="Arial" panose="020B0604020202020204" pitchFamily="34" charset="0"/>
              </a:rPr>
              <a:t>fn</a:t>
            </a:r>
            <a:r>
              <a:rPr lang="en-US" altLang="zh-CN" sz="2800" dirty="0">
                <a:latin typeface="Arial" panose="020B0604020202020204" pitchFamily="34" charset="0"/>
              </a:rPr>
              <a:t>; 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能否移到</a:t>
            </a:r>
            <a:r>
              <a:rPr lang="zh-CN" altLang="en-US" sz="2800" dirty="0">
                <a:latin typeface="Arial" panose="020B0604020202020204" pitchFamily="34" charset="0"/>
              </a:rPr>
              <a:t>  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latin typeface="Arial" panose="020B0604020202020204" pitchFamily="34" charset="0"/>
              </a:rPr>
              <a:t>while (fabs(</a:t>
            </a:r>
            <a:r>
              <a:rPr lang="en-US" altLang="zh-CN" sz="2800" dirty="0" err="1">
                <a:latin typeface="Arial" panose="020B0604020202020204" pitchFamily="34" charset="0"/>
              </a:rPr>
              <a:t>rr</a:t>
            </a:r>
            <a:r>
              <a:rPr lang="en-US" altLang="zh-CN" sz="2800" dirty="0">
                <a:latin typeface="Arial" panose="020B0604020202020204" pitchFamily="34" charset="0"/>
              </a:rPr>
              <a:t>)&gt;1e-5)   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之前？</a:t>
            </a:r>
            <a:endParaRPr lang="en-US" altLang="zh-CN" sz="2800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2. 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思考】主调函数 如何得到 </a:t>
            </a:r>
            <a:r>
              <a:rPr lang="zh-CN" altLang="en-US" sz="2800" dirty="0">
                <a:latin typeface="Arial" panose="020B0604020202020204" pitchFamily="34" charset="0"/>
              </a:rPr>
              <a:t>函数</a:t>
            </a:r>
            <a:r>
              <a:rPr lang="en-US" altLang="zh-CN" sz="2800" dirty="0">
                <a:latin typeface="Arial" panose="020B0604020202020204" pitchFamily="34" charset="0"/>
              </a:rPr>
              <a:t>f</a:t>
            </a:r>
            <a:r>
              <a:rPr lang="zh-CN" altLang="en-US" sz="2800" dirty="0">
                <a:latin typeface="Arial" panose="020B0604020202020204" pitchFamily="34" charset="0"/>
              </a:rPr>
              <a:t>所创建链表的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表头指针？</a:t>
            </a:r>
            <a:endParaRPr lang="en-US" altLang="zh-CN" sz="2800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582150" y="6454775"/>
            <a:ext cx="2133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691C25E-078C-416A-B0CA-8692302EBDE3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2227" name="矩形 2"/>
          <p:cNvSpPr>
            <a:spLocks noChangeArrowheads="1"/>
          </p:cNvSpPr>
          <p:nvPr/>
        </p:nvSpPr>
        <p:spPr bwMode="auto">
          <a:xfrm>
            <a:off x="472562" y="613588"/>
            <a:ext cx="9433338" cy="24929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latin typeface="Arial" panose="020B0604020202020204" pitchFamily="34" charset="0"/>
              </a:rPr>
              <a:t>printf</a:t>
            </a:r>
            <a:r>
              <a:rPr lang="en-US" altLang="zh-CN" sz="3200" dirty="0">
                <a:latin typeface="Arial" panose="020B0604020202020204" pitchFamily="34" charset="0"/>
              </a:rPr>
              <a:t>("</a:t>
            </a:r>
            <a:r>
              <a:rPr lang="zh-CN" altLang="en-US" sz="3200" dirty="0">
                <a:latin typeface="Arial" panose="020B0604020202020204" pitchFamily="34" charset="0"/>
              </a:rPr>
              <a:t>请输入一个实数</a:t>
            </a:r>
            <a:r>
              <a:rPr lang="en-US" altLang="zh-CN" sz="3200" dirty="0">
                <a:latin typeface="Arial" panose="020B0604020202020204" pitchFamily="34" charset="0"/>
              </a:rPr>
              <a:t>:"); </a:t>
            </a:r>
            <a:r>
              <a:rPr lang="en-US" altLang="zh-CN" sz="1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 </a:t>
            </a:r>
            <a:r>
              <a:rPr lang="zh-CN" altLang="en-US" sz="12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读下一个实数</a:t>
            </a:r>
            <a:endParaRPr lang="zh-CN" altLang="en-US" sz="12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latin typeface="Arial" panose="020B0604020202020204" pitchFamily="34" charset="0"/>
              </a:rPr>
              <a:t>scanf</a:t>
            </a:r>
            <a:r>
              <a:rPr lang="en-US" altLang="zh-CN" sz="3200" dirty="0">
                <a:latin typeface="Arial" panose="020B0604020202020204" pitchFamily="34" charset="0"/>
              </a:rPr>
              <a:t> ("%f",&amp;</a:t>
            </a:r>
            <a:r>
              <a:rPr lang="en-US" altLang="zh-CN" sz="3200" dirty="0" err="1">
                <a:latin typeface="Arial" panose="020B0604020202020204" pitchFamily="34" charset="0"/>
              </a:rPr>
              <a:t>rr</a:t>
            </a:r>
            <a:r>
              <a:rPr lang="en-US" altLang="zh-CN" sz="3200" dirty="0">
                <a:latin typeface="Arial" panose="020B0604020202020204" pitchFamily="34" charset="0"/>
              </a:rPr>
              <a:t>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       }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循环输入实数结束，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while (fabs(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)&gt;1e-5 )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    return </a:t>
            </a:r>
            <a:r>
              <a:rPr lang="en-US" altLang="zh-CN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fn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; 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此函数原型为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 err="1">
                <a:solidFill>
                  <a:srgbClr val="92D050"/>
                </a:solidFill>
                <a:latin typeface="Arial" panose="020B0604020202020204" pitchFamily="34" charset="0"/>
              </a:rPr>
              <a:t>termpointer</a:t>
            </a:r>
            <a:r>
              <a:rPr lang="en-US" altLang="zh-CN" sz="2800" dirty="0">
                <a:solidFill>
                  <a:srgbClr val="92D050"/>
                </a:solidFill>
                <a:latin typeface="Arial" panose="020B0604020202020204" pitchFamily="34" charset="0"/>
              </a:rPr>
              <a:t>  f( )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;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   }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函数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f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结束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5410218" y="2633859"/>
            <a:ext cx="4633913" cy="3108543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int main()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{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	</a:t>
            </a:r>
            <a:endParaRPr lang="en-US" altLang="zh-CN" sz="28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 err="1">
                <a:solidFill>
                  <a:srgbClr val="FFFF00"/>
                </a:solidFill>
                <a:latin typeface="Arial" panose="020B0604020202020204" pitchFamily="34" charset="0"/>
              </a:rPr>
              <a:t>termpointer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99FF33"/>
                </a:solidFill>
                <a:latin typeface="Arial" panose="020B0604020202020204" pitchFamily="34" charset="0"/>
              </a:rPr>
              <a:t>head</a:t>
            </a:r>
            <a:r>
              <a:rPr lang="en-US" altLang="zh-CN" sz="2800" dirty="0">
                <a:latin typeface="Arial" panose="020B0604020202020204" pitchFamily="34" charset="0"/>
              </a:rPr>
              <a:t>; </a:t>
            </a:r>
            <a:endParaRPr lang="en-US" altLang="zh-CN" sz="2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rgbClr val="99FF33"/>
                </a:solidFill>
                <a:latin typeface="Arial" panose="020B0604020202020204" pitchFamily="34" charset="0"/>
              </a:rPr>
              <a:t>	head=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f() </a:t>
            </a:r>
            <a:r>
              <a:rPr lang="en-US" altLang="zh-CN" sz="2800" dirty="0">
                <a:latin typeface="Arial" panose="020B0604020202020204" pitchFamily="34" charset="0"/>
              </a:rPr>
              <a:t>; </a:t>
            </a:r>
            <a:endParaRPr lang="zh-CN" altLang="en-US" sz="2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showNode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solidFill>
                  <a:srgbClr val="99FF33"/>
                </a:solidFill>
                <a:latin typeface="Arial" panose="020B0604020202020204" pitchFamily="34" charset="0"/>
              </a:rPr>
              <a:t>head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</a:rPr>
              <a:t>; </a:t>
            </a:r>
            <a:endParaRPr lang="zh-CN" altLang="en-US" sz="2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return 0;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}</a:t>
            </a:r>
            <a:endParaRPr lang="zh-CN" altLang="en-US" sz="2800" dirty="0"/>
          </a:p>
        </p:txBody>
      </p:sp>
      <p:cxnSp>
        <p:nvCxnSpPr>
          <p:cNvPr id="34" name="直接箭头连接符 33"/>
          <p:cNvCxnSpPr/>
          <p:nvPr/>
        </p:nvCxnSpPr>
        <p:spPr bwMode="auto">
          <a:xfrm>
            <a:off x="3275625" y="2463257"/>
            <a:ext cx="3048969" cy="1724873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6" name="矩形 30"/>
          <p:cNvSpPr>
            <a:spLocks noChangeArrowheads="1"/>
          </p:cNvSpPr>
          <p:nvPr/>
        </p:nvSpPr>
        <p:spPr bwMode="auto">
          <a:xfrm>
            <a:off x="6781800" y="5768975"/>
            <a:ext cx="249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 </a:t>
            </a:r>
            <a:endParaRPr lang="zh-CN" altLang="en-US" sz="1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/>
        </p:nvSpPr>
        <p:spPr>
          <a:xfrm>
            <a:off x="152556" y="206132"/>
            <a:ext cx="12152313" cy="35394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dirty="0" err="1">
                <a:latin typeface="Arial" panose="020B0604020202020204" pitchFamily="34" charset="0"/>
              </a:rPr>
              <a:t>termpointer</a:t>
            </a: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 f</a:t>
            </a:r>
            <a:r>
              <a:rPr lang="en-US" altLang="zh-CN" sz="3200" dirty="0">
                <a:latin typeface="Arial" panose="020B0604020202020204" pitchFamily="34" charset="0"/>
              </a:rPr>
              <a:t>()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endParaRPr lang="en-US" altLang="zh-CN" sz="3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termpointer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fn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;</a:t>
            </a: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en-US" altLang="zh-CN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fn</a:t>
            </a:r>
            <a:r>
              <a:rPr lang="zh-CN" altLang="en-US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指向表头</a:t>
            </a:r>
            <a:r>
              <a:rPr lang="en-US" altLang="zh-CN" dirty="0">
                <a:latin typeface="Arial" panose="020B0604020202020204" pitchFamily="34" charset="0"/>
              </a:rPr>
              <a:t>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en-US" altLang="zh-CN" sz="2000" dirty="0" err="1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fn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指向构造的结点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0</a:t>
            </a:r>
            <a:r>
              <a:rPr lang="en-US" altLang="zh-CN" sz="2000" dirty="0">
                <a:latin typeface="Arial" panose="020B0604020202020204" pitchFamily="34" charset="0"/>
              </a:rPr>
              <a:t> 	</a:t>
            </a:r>
            <a:endParaRPr lang="en-US" altLang="zh-CN" sz="20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fn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= </a:t>
            </a:r>
            <a:r>
              <a:rPr lang="en-US" altLang="zh-CN" sz="3200" dirty="0">
                <a:latin typeface="Arial" panose="020B0604020202020204" pitchFamily="34" charset="0"/>
              </a:rPr>
              <a:t>(</a:t>
            </a:r>
            <a:r>
              <a:rPr lang="en-US" altLang="zh-CN" sz="3200" dirty="0" err="1">
                <a:latin typeface="Arial" panose="020B0604020202020204" pitchFamily="34" charset="0"/>
              </a:rPr>
              <a:t>termpointer</a:t>
            </a:r>
            <a:r>
              <a:rPr lang="en-US" altLang="zh-CN" sz="3200" dirty="0">
                <a:latin typeface="Arial" panose="020B0604020202020204" pitchFamily="34" charset="0"/>
              </a:rPr>
              <a:t>) malloc ( </a:t>
            </a:r>
            <a:r>
              <a:rPr lang="en-US" altLang="zh-CN" sz="3200" dirty="0" err="1">
                <a:latin typeface="Arial" panose="020B0604020202020204" pitchFamily="34" charset="0"/>
              </a:rPr>
              <a:t>sizeof</a:t>
            </a:r>
            <a:r>
              <a:rPr lang="en-US" altLang="zh-CN" sz="3200" dirty="0">
                <a:latin typeface="Arial" panose="020B0604020202020204" pitchFamily="34" charset="0"/>
              </a:rPr>
              <a:t>( struct  </a:t>
            </a:r>
            <a:r>
              <a:rPr lang="en-US" altLang="zh-CN" sz="3200" dirty="0" err="1">
                <a:latin typeface="Arial" panose="020B0604020202020204" pitchFamily="34" charset="0"/>
              </a:rPr>
              <a:t>real_term</a:t>
            </a:r>
            <a:r>
              <a:rPr lang="en-US" altLang="zh-CN" sz="3200" dirty="0">
                <a:latin typeface="Arial" panose="020B0604020202020204" pitchFamily="34" charset="0"/>
              </a:rPr>
              <a:t> ) );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	……</a:t>
            </a:r>
            <a:endParaRPr lang="en-US" altLang="zh-CN" sz="32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        </a:t>
            </a:r>
            <a:r>
              <a:rPr lang="en-US" altLang="zh-CN" sz="3200" dirty="0">
                <a:latin typeface="Arial" panose="020B0604020202020204" pitchFamily="34" charset="0"/>
              </a:rPr>
              <a:t>return </a:t>
            </a:r>
            <a:r>
              <a:rPr lang="en-US" altLang="zh-CN" sz="32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fn</a:t>
            </a:r>
            <a:r>
              <a:rPr lang="en-US" altLang="zh-CN" sz="3200" dirty="0">
                <a:latin typeface="Arial" panose="020B0604020202020204" pitchFamily="34" charset="0"/>
              </a:rPr>
              <a:t>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}</a:t>
            </a:r>
            <a:endParaRPr lang="en-US" altLang="zh-CN" sz="3200" dirty="0">
              <a:latin typeface="Arial" panose="020B0604020202020204" pitchFamily="3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238822" y="0"/>
            <a:ext cx="5953178" cy="1568450"/>
          </a:xfrm>
          <a:prstGeom prst="rect">
            <a:avLst/>
          </a:prstGeom>
          <a:solidFill>
            <a:schemeClr val="accent1"/>
          </a:solidFill>
          <a:ln w="25400">
            <a:noFill/>
          </a:ln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dirty="0">
                <a:solidFill>
                  <a:srgbClr val="FFC000"/>
                </a:solidFill>
                <a:latin typeface="Arial" panose="020B0604020202020204" pitchFamily="34" charset="0"/>
              </a:rPr>
              <a:t>【思考】 </a:t>
            </a:r>
            <a:r>
              <a:rPr lang="en-US" altLang="zh-CN" sz="3200" dirty="0" err="1">
                <a:latin typeface="Arial" panose="020B0604020202020204" pitchFamily="34" charset="0"/>
              </a:rPr>
              <a:t>fn</a:t>
            </a:r>
            <a:r>
              <a:rPr lang="zh-CN" altLang="en-US" sz="3200" dirty="0">
                <a:latin typeface="Arial" panose="020B0604020202020204" pitchFamily="34" charset="0"/>
              </a:rPr>
              <a:t>及其所指表头结点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sz="3200" dirty="0">
                <a:solidFill>
                  <a:srgbClr val="FFC000"/>
                </a:solidFill>
                <a:latin typeface="Arial" panose="020B0604020202020204" pitchFamily="34" charset="0"/>
              </a:rPr>
              <a:t>都是在</a:t>
            </a:r>
            <a:r>
              <a:rPr lang="zh-CN" altLang="en-US" sz="3200" dirty="0">
                <a:latin typeface="Arial" panose="020B0604020202020204" pitchFamily="34" charset="0"/>
              </a:rPr>
              <a:t>子函数</a:t>
            </a:r>
            <a:r>
              <a:rPr lang="en-US" altLang="zh-CN" sz="3200" dirty="0">
                <a:latin typeface="Arial" panose="020B0604020202020204" pitchFamily="34" charset="0"/>
              </a:rPr>
              <a:t>f</a:t>
            </a:r>
            <a:r>
              <a:rPr lang="zh-CN" altLang="en-US" sz="3200" dirty="0">
                <a:solidFill>
                  <a:srgbClr val="FFC000"/>
                </a:solidFill>
                <a:latin typeface="Arial" panose="020B0604020202020204" pitchFamily="34" charset="0"/>
              </a:rPr>
              <a:t>中创建的，</a:t>
            </a:r>
            <a:endParaRPr lang="zh-CN" altLang="en-US" sz="2800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</a:rPr>
              <a:t>为何return </a:t>
            </a:r>
            <a:r>
              <a:rPr lang="en-US" altLang="zh-CN" sz="3200" dirty="0" err="1">
                <a:solidFill>
                  <a:schemeClr val="tx1"/>
                </a:solidFill>
                <a:latin typeface="Arial" panose="020B0604020202020204" pitchFamily="34" charset="0"/>
              </a:rPr>
              <a:t>fn</a:t>
            </a:r>
            <a:r>
              <a:rPr lang="en-US" altLang="zh-CN" sz="3200" dirty="0">
                <a:solidFill>
                  <a:schemeClr val="tx1"/>
                </a:solidFill>
                <a:latin typeface="Arial" panose="020B0604020202020204" pitchFamily="34" charset="0"/>
              </a:rPr>
              <a:t>没有出错？</a:t>
            </a:r>
            <a:endParaRPr lang="en-US" altLang="zh-CN" sz="32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582150" y="6454775"/>
            <a:ext cx="2133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691C25E-078C-416A-B0CA-8692302EBDE3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4821" name="左箭头 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11658600" y="5878513"/>
            <a:ext cx="428625" cy="50006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9273" y="3623231"/>
            <a:ext cx="4633913" cy="3046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int main()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{</a:t>
            </a: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latin typeface="Arial" panose="020B0604020202020204" pitchFamily="34" charset="0"/>
              </a:rPr>
              <a:t>termpointer</a:t>
            </a:r>
            <a:r>
              <a:rPr lang="en-US" altLang="zh-CN" sz="3200" dirty="0">
                <a:latin typeface="Arial" panose="020B0604020202020204" pitchFamily="34" charset="0"/>
              </a:rPr>
              <a:t> head;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99FF33"/>
                </a:solidFill>
                <a:latin typeface="Arial" panose="020B0604020202020204" pitchFamily="34" charset="0"/>
              </a:rPr>
              <a:t>	head=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f() </a:t>
            </a:r>
            <a:r>
              <a:rPr lang="en-US" altLang="zh-CN" sz="3200" dirty="0">
                <a:latin typeface="Arial" panose="020B0604020202020204" pitchFamily="34" charset="0"/>
              </a:rPr>
              <a:t>; </a:t>
            </a:r>
            <a:endParaRPr lang="zh-CN" altLang="en-US" sz="32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latin typeface="Arial" panose="020B0604020202020204" pitchFamily="34" charset="0"/>
              </a:rPr>
              <a:t>showNode</a:t>
            </a:r>
            <a:r>
              <a:rPr lang="en-US" altLang="zh-CN" sz="3200" dirty="0">
                <a:latin typeface="Arial" panose="020B0604020202020204" pitchFamily="34" charset="0"/>
              </a:rPr>
              <a:t>(head);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3200" dirty="0">
                <a:latin typeface="Arial" panose="020B0604020202020204" pitchFamily="34" charset="0"/>
              </a:rPr>
              <a:t>return 0;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}</a:t>
            </a:r>
            <a:endParaRPr lang="zh-CN" altLang="en-US" sz="3200" dirty="0"/>
          </a:p>
        </p:txBody>
      </p:sp>
      <p:sp>
        <p:nvSpPr>
          <p:cNvPr id="34826" name="矩形 30"/>
          <p:cNvSpPr>
            <a:spLocks noChangeArrowheads="1"/>
          </p:cNvSpPr>
          <p:nvPr/>
        </p:nvSpPr>
        <p:spPr bwMode="auto">
          <a:xfrm>
            <a:off x="6781800" y="5768975"/>
            <a:ext cx="249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 </a:t>
            </a:r>
            <a:endParaRPr lang="zh-CN" altLang="en-US" sz="1800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>
          <a:xfrm>
            <a:off x="7253409" y="3075001"/>
            <a:ext cx="4940812" cy="3775589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3200" b="1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float  *</a:t>
            </a:r>
            <a:r>
              <a:rPr lang="en-US" altLang="zh-CN" b="1" kern="0" dirty="0">
                <a:effectLst/>
              </a:rPr>
              <a:t>f ( int x , int y )</a:t>
            </a:r>
            <a:endParaRPr lang="en-US" altLang="zh-CN" b="1" kern="0" dirty="0">
              <a:effectLst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b="1" kern="0" dirty="0">
                <a:effectLst/>
              </a:rPr>
              <a:t>{</a:t>
            </a:r>
            <a:r>
              <a:rPr lang="zh-CN" altLang="en-US" b="1" kern="0" dirty="0">
                <a:effectLst/>
              </a:rPr>
              <a:t>	  </a:t>
            </a:r>
            <a:r>
              <a:rPr lang="en-US" altLang="zh-CN" b="1" kern="0" dirty="0">
                <a:effectLst/>
              </a:rPr>
              <a:t>	float  u , *p ; </a:t>
            </a:r>
            <a:endParaRPr lang="en-US" altLang="zh-CN" b="1" kern="0" dirty="0">
              <a:effectLst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kern="0" dirty="0">
                <a:solidFill>
                  <a:schemeClr val="hlink"/>
                </a:solidFill>
                <a:effectLst/>
              </a:rPr>
              <a:t>		</a:t>
            </a:r>
            <a:r>
              <a:rPr lang="en-US" altLang="zh-CN" kern="0" dirty="0">
                <a:effectLst/>
              </a:rPr>
              <a:t>p=&amp;u;</a:t>
            </a:r>
            <a:endParaRPr lang="en-US" altLang="zh-CN" kern="0" dirty="0">
              <a:effectLst/>
            </a:endParaRP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3200" kern="0" dirty="0">
                <a:solidFill>
                  <a:schemeClr val="tx1">
                    <a:lumMod val="50000"/>
                  </a:schemeClr>
                </a:solidFill>
                <a:effectLst/>
              </a:rPr>
              <a:t>//……</a:t>
            </a:r>
            <a:endParaRPr lang="en-US" altLang="zh-CN" sz="3200" kern="0" dirty="0">
              <a:solidFill>
                <a:schemeClr val="tx1">
                  <a:lumMod val="50000"/>
                </a:schemeClr>
              </a:solidFill>
              <a:effectLst/>
            </a:endParaRP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zh-CN" altLang="en-US" sz="3200" dirty="0">
                <a:solidFill>
                  <a:srgbClr val="FFC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return  p;</a:t>
            </a:r>
            <a:endParaRPr lang="zh-CN" altLang="en-US" sz="3200" dirty="0">
              <a:solidFill>
                <a:srgbClr val="FFC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eaLnBrk="1" hangingPunct="1"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zh-CN" sz="2000" kern="0" dirty="0">
                <a:solidFill>
                  <a:srgbClr val="FF0000"/>
                </a:solidFill>
                <a:effectLst/>
              </a:rPr>
              <a:t>//</a:t>
            </a:r>
            <a:r>
              <a:rPr lang="zh-CN" altLang="en-US" sz="2000" kern="0" dirty="0">
                <a:solidFill>
                  <a:srgbClr val="FF0000"/>
                </a:solidFill>
                <a:effectLst/>
              </a:rPr>
              <a:t>返回</a:t>
            </a:r>
            <a:r>
              <a:rPr lang="en-US" altLang="zh-CN" sz="2000" kern="0" dirty="0">
                <a:solidFill>
                  <a:srgbClr val="FF0000"/>
                </a:solidFill>
                <a:effectLst/>
              </a:rPr>
              <a:t>p </a:t>
            </a:r>
            <a:r>
              <a:rPr lang="zh-CN" altLang="en-US" sz="2000" kern="0" dirty="0">
                <a:solidFill>
                  <a:srgbClr val="FF0000"/>
                </a:solidFill>
                <a:effectLst/>
              </a:rPr>
              <a:t>或 返回</a:t>
            </a:r>
            <a:r>
              <a:rPr lang="en-US" altLang="zh-CN" sz="2000" kern="0" dirty="0">
                <a:solidFill>
                  <a:srgbClr val="FF0000"/>
                </a:solidFill>
                <a:effectLst/>
              </a:rPr>
              <a:t>&amp;u</a:t>
            </a:r>
            <a:r>
              <a:rPr lang="zh-CN" altLang="en-US" sz="2000" kern="0" dirty="0">
                <a:solidFill>
                  <a:srgbClr val="FF0000"/>
                </a:solidFill>
                <a:effectLst/>
              </a:rPr>
              <a:t>都是错误的</a:t>
            </a:r>
            <a:endParaRPr lang="en-US" altLang="zh-CN" sz="2000" b="1" kern="0" dirty="0">
              <a:solidFill>
                <a:schemeClr val="hlink"/>
              </a:solidFill>
              <a:effectLst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US" altLang="zh-CN" kern="0" dirty="0">
                <a:effectLst/>
              </a:rPr>
              <a:t>}</a:t>
            </a:r>
            <a:endParaRPr lang="zh-CN" altLang="en-US" sz="3200" b="1" kern="0" dirty="0">
              <a:effectLst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9601200" y="6405880"/>
            <a:ext cx="2133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D258CFD-276B-4DF8-8A5B-463A5B916025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209550" y="231775"/>
            <a:ext cx="6992938" cy="35401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showNode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termpointer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p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)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遍历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r>
              <a:rPr lang="en-US" altLang="zh-CN" dirty="0">
                <a:latin typeface="Arial" panose="020B0604020202020204" pitchFamily="34" charset="0"/>
              </a:rPr>
              <a:t>	while(p!=NULL)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{	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输出实数</a:t>
            </a: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</a:t>
            </a:r>
            <a:r>
              <a:rPr lang="en-US" altLang="zh-CN" dirty="0" err="1">
                <a:latin typeface="Arial" panose="020B0604020202020204" pitchFamily="34" charset="0"/>
              </a:rPr>
              <a:t>printf</a:t>
            </a:r>
            <a:r>
              <a:rPr lang="en-US" altLang="zh-CN" dirty="0">
                <a:latin typeface="Arial" panose="020B0604020202020204" pitchFamily="34" charset="0"/>
              </a:rPr>
              <a:t>("%-10.5f",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p-&gt;term</a:t>
            </a:r>
            <a:r>
              <a:rPr lang="en-US" altLang="zh-CN" dirty="0">
                <a:latin typeface="Arial" panose="020B0604020202020204" pitchFamily="34" charset="0"/>
              </a:rPr>
              <a:t>); 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p=p-&gt;next;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}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}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grpSp>
        <p:nvGrpSpPr>
          <p:cNvPr id="3" name="Group 31"/>
          <p:cNvGrpSpPr/>
          <p:nvPr/>
        </p:nvGrpSpPr>
        <p:grpSpPr bwMode="auto">
          <a:xfrm>
            <a:off x="-152236" y="3826912"/>
            <a:ext cx="5420783" cy="1911278"/>
            <a:chOff x="316" y="1300"/>
            <a:chExt cx="1627" cy="1023"/>
          </a:xfrm>
          <a:noFill/>
        </p:grpSpPr>
        <p:sp>
          <p:nvSpPr>
            <p:cNvPr id="7" name="Rectangle 32"/>
            <p:cNvSpPr>
              <a:spLocks noChangeArrowheads="1"/>
            </p:cNvSpPr>
            <p:nvPr/>
          </p:nvSpPr>
          <p:spPr bwMode="auto">
            <a:xfrm>
              <a:off x="551" y="1300"/>
              <a:ext cx="344" cy="18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r>
                <a:rPr lang="en-US" altLang="zh-CN" sz="20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head:</a:t>
              </a:r>
              <a:endPara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" name="Rectangle 33"/>
            <p:cNvSpPr>
              <a:spLocks noChangeArrowheads="1"/>
            </p:cNvSpPr>
            <p:nvPr/>
          </p:nvSpPr>
          <p:spPr bwMode="auto">
            <a:xfrm>
              <a:off x="573" y="1493"/>
              <a:ext cx="265" cy="180"/>
            </a:xfrm>
            <a:prstGeom prst="rect">
              <a:avLst/>
            </a:prstGeom>
            <a:grpFill/>
            <a:ln w="57150" algn="ctr">
              <a:solidFill>
                <a:schemeClr val="accent2">
                  <a:lumMod val="60000"/>
                  <a:lumOff val="40000"/>
                </a:schemeClr>
              </a:solidFill>
              <a:miter lim="800000"/>
              <a:tailEnd type="non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zh-CN" sz="200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" name="Rectangle 34"/>
            <p:cNvSpPr>
              <a:spLocks noChangeArrowheads="1"/>
            </p:cNvSpPr>
            <p:nvPr/>
          </p:nvSpPr>
          <p:spPr bwMode="auto">
            <a:xfrm>
              <a:off x="846" y="1775"/>
              <a:ext cx="272" cy="527"/>
            </a:xfrm>
            <a:prstGeom prst="rect">
              <a:avLst/>
            </a:prstGeom>
            <a:grpFill/>
            <a:ln w="57150" algn="ctr">
              <a:solidFill>
                <a:schemeClr val="tx1"/>
              </a:solidFill>
              <a:miter lim="800000"/>
              <a:tailEnd type="non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10" name="Line 35"/>
            <p:cNvSpPr>
              <a:spLocks noChangeShapeType="1"/>
            </p:cNvSpPr>
            <p:nvPr/>
          </p:nvSpPr>
          <p:spPr bwMode="auto">
            <a:xfrm>
              <a:off x="854" y="2139"/>
              <a:ext cx="264" cy="1"/>
            </a:xfrm>
            <a:prstGeom prst="line">
              <a:avLst/>
            </a:prstGeom>
            <a:grpFill/>
            <a:ln w="57150">
              <a:solidFill>
                <a:schemeClr val="tx1"/>
              </a:solidFill>
              <a:round/>
              <a:tailEnd type="non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1" name="Freeform 36"/>
            <p:cNvSpPr/>
            <p:nvPr/>
          </p:nvSpPr>
          <p:spPr bwMode="auto">
            <a:xfrm>
              <a:off x="702" y="1594"/>
              <a:ext cx="136" cy="23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43"/>
                  </a:lnTo>
                  <a:lnTo>
                    <a:pt x="19945" y="19943"/>
                  </a:lnTo>
                </a:path>
              </a:pathLst>
            </a:custGeom>
            <a:grpFill/>
            <a:ln w="57150">
              <a:solidFill>
                <a:schemeClr val="accent2">
                  <a:lumMod val="60000"/>
                  <a:lumOff val="40000"/>
                </a:schemeClr>
              </a:solidFill>
              <a:round/>
              <a:tailEnd type="triangl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2" name="Rectangle 37"/>
            <p:cNvSpPr>
              <a:spLocks noChangeArrowheads="1"/>
            </p:cNvSpPr>
            <p:nvPr/>
          </p:nvSpPr>
          <p:spPr bwMode="auto">
            <a:xfrm>
              <a:off x="1262" y="1771"/>
              <a:ext cx="272" cy="544"/>
            </a:xfrm>
            <a:prstGeom prst="rect">
              <a:avLst/>
            </a:prstGeom>
            <a:grpFill/>
            <a:ln w="57150" algn="ctr">
              <a:solidFill>
                <a:schemeClr val="tx1"/>
              </a:solidFill>
              <a:miter lim="800000"/>
              <a:tailEnd type="non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13" name="Line 38"/>
            <p:cNvSpPr>
              <a:spLocks noChangeShapeType="1"/>
            </p:cNvSpPr>
            <p:nvPr/>
          </p:nvSpPr>
          <p:spPr bwMode="auto">
            <a:xfrm>
              <a:off x="1270" y="2147"/>
              <a:ext cx="264" cy="1"/>
            </a:xfrm>
            <a:prstGeom prst="line">
              <a:avLst/>
            </a:prstGeom>
            <a:grpFill/>
            <a:ln w="57150">
              <a:solidFill>
                <a:schemeClr val="tx1"/>
              </a:solidFill>
              <a:round/>
              <a:tailEnd type="non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4" name="Rectangle 41"/>
            <p:cNvSpPr>
              <a:spLocks noChangeArrowheads="1"/>
            </p:cNvSpPr>
            <p:nvPr/>
          </p:nvSpPr>
          <p:spPr bwMode="auto">
            <a:xfrm>
              <a:off x="1670" y="1783"/>
              <a:ext cx="273" cy="540"/>
            </a:xfrm>
            <a:prstGeom prst="rect">
              <a:avLst/>
            </a:prstGeom>
            <a:grpFill/>
            <a:ln w="57150" algn="ctr">
              <a:solidFill>
                <a:schemeClr val="tx1"/>
              </a:solidFill>
              <a:miter lim="800000"/>
              <a:tailEnd type="non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15" name="Line 42"/>
            <p:cNvSpPr>
              <a:spLocks noChangeShapeType="1"/>
            </p:cNvSpPr>
            <p:nvPr/>
          </p:nvSpPr>
          <p:spPr bwMode="auto">
            <a:xfrm>
              <a:off x="1660" y="2140"/>
              <a:ext cx="265" cy="1"/>
            </a:xfrm>
            <a:prstGeom prst="line">
              <a:avLst/>
            </a:prstGeom>
            <a:grpFill/>
            <a:ln w="57150">
              <a:solidFill>
                <a:schemeClr val="tx1"/>
              </a:solidFill>
              <a:round/>
              <a:tailEnd type="non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6" name="Line 44"/>
            <p:cNvSpPr>
              <a:spLocks noChangeShapeType="1"/>
            </p:cNvSpPr>
            <p:nvPr/>
          </p:nvSpPr>
          <p:spPr bwMode="auto">
            <a:xfrm>
              <a:off x="1019" y="2226"/>
              <a:ext cx="243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  <a:round/>
              <a:tailEnd type="triangl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7" name="Line 45"/>
            <p:cNvSpPr>
              <a:spLocks noChangeShapeType="1"/>
            </p:cNvSpPr>
            <p:nvPr/>
          </p:nvSpPr>
          <p:spPr bwMode="auto">
            <a:xfrm>
              <a:off x="1429" y="2239"/>
              <a:ext cx="243" cy="0"/>
            </a:xfrm>
            <a:prstGeom prst="line">
              <a:avLst/>
            </a:prstGeom>
            <a:grpFill/>
            <a:ln w="57150">
              <a:solidFill>
                <a:schemeClr val="tx1"/>
              </a:solidFill>
              <a:round/>
              <a:tailEnd type="triangle" w="med" len="lg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  <p:sp>
          <p:nvSpPr>
            <p:cNvPr id="18" name="Rectangle 48"/>
            <p:cNvSpPr>
              <a:spLocks noChangeArrowheads="1"/>
            </p:cNvSpPr>
            <p:nvPr/>
          </p:nvSpPr>
          <p:spPr bwMode="auto">
            <a:xfrm>
              <a:off x="316" y="1914"/>
              <a:ext cx="458" cy="30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pPr algn="just" eaLnBrk="1" hangingPunct="1">
                <a:defRPr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36869" name="TextBox 26"/>
          <p:cNvSpPr txBox="1">
            <a:spLocks noChangeArrowheads="1"/>
          </p:cNvSpPr>
          <p:nvPr/>
        </p:nvSpPr>
        <p:spPr bwMode="auto">
          <a:xfrm>
            <a:off x="1852613" y="4814888"/>
            <a:ext cx="42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6870" name="TextBox 27"/>
          <p:cNvSpPr txBox="1">
            <a:spLocks noChangeArrowheads="1"/>
          </p:cNvSpPr>
          <p:nvPr/>
        </p:nvSpPr>
        <p:spPr bwMode="auto">
          <a:xfrm>
            <a:off x="4600575" y="4816475"/>
            <a:ext cx="4286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6871" name="TextBox 28"/>
          <p:cNvSpPr txBox="1">
            <a:spLocks noChangeArrowheads="1"/>
          </p:cNvSpPr>
          <p:nvPr/>
        </p:nvSpPr>
        <p:spPr bwMode="auto">
          <a:xfrm>
            <a:off x="3027363" y="4843463"/>
            <a:ext cx="785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0.13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6872" name="TextBox 26"/>
          <p:cNvSpPr txBox="1">
            <a:spLocks noChangeArrowheads="1"/>
          </p:cNvSpPr>
          <p:nvPr/>
        </p:nvSpPr>
        <p:spPr bwMode="auto">
          <a:xfrm>
            <a:off x="4643438" y="5262563"/>
            <a:ext cx="4286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.</a:t>
            </a:r>
            <a:endParaRPr lang="zh-CN" altLang="en-US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6873" name="左箭头 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11658600" y="5878513"/>
            <a:ext cx="428625" cy="500062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5" name="TextBox 4"/>
          <p:cNvSpPr txBox="1">
            <a:spLocks noChangeArrowheads="1"/>
          </p:cNvSpPr>
          <p:nvPr/>
        </p:nvSpPr>
        <p:spPr bwMode="auto">
          <a:xfrm>
            <a:off x="6119814" y="3721500"/>
            <a:ext cx="6057808" cy="26765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讨论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2】</a:t>
            </a:r>
            <a:r>
              <a:rPr lang="zh-CN" altLang="en-US" sz="2800" dirty="0">
                <a:latin typeface="Arial" panose="020B0604020202020204" pitchFamily="34" charset="0"/>
              </a:rPr>
              <a:t>主函数</a:t>
            </a: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showNode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solidFill>
                  <a:srgbClr val="99FF33"/>
                </a:solidFill>
                <a:latin typeface="Arial" panose="020B0604020202020204" pitchFamily="34" charset="0"/>
              </a:rPr>
              <a:t>head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</a:rPr>
              <a:t>;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   会不会导致主函数中的</a:t>
            </a:r>
            <a:r>
              <a:rPr lang="en-US" altLang="zh-CN" sz="2800" dirty="0">
                <a:latin typeface="Arial" panose="020B0604020202020204" pitchFamily="34" charset="0"/>
              </a:rPr>
              <a:t>head</a:t>
            </a:r>
            <a:r>
              <a:rPr lang="zh-CN" altLang="en-US" sz="2800" dirty="0">
                <a:latin typeface="Arial" panose="020B0604020202020204" pitchFamily="34" charset="0"/>
              </a:rPr>
              <a:t>被改变</a:t>
            </a:r>
            <a:r>
              <a:rPr lang="en-US" altLang="zh-CN" sz="2800" dirty="0">
                <a:latin typeface="Arial" panose="020B0604020202020204" pitchFamily="34" charset="0"/>
              </a:rPr>
              <a:t>?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讨论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3】</a:t>
            </a:r>
            <a:r>
              <a:rPr lang="zh-CN" altLang="en-US" sz="2800" dirty="0">
                <a:latin typeface="Arial" panose="020B0604020202020204" pitchFamily="34" charset="0"/>
              </a:rPr>
              <a:t>如果</a:t>
            </a:r>
            <a:r>
              <a:rPr lang="en-US" altLang="zh-CN" sz="2800" dirty="0" err="1">
                <a:solidFill>
                  <a:srgbClr val="FF0000"/>
                </a:solidFill>
                <a:latin typeface="Arial" panose="020B0604020202020204" pitchFamily="34" charset="0"/>
              </a:rPr>
              <a:t>showNode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函数中</a:t>
            </a:r>
            <a:r>
              <a:rPr lang="zh-CN" altLang="en-US" sz="2800" dirty="0">
                <a:latin typeface="Arial" panose="020B0604020202020204" pitchFamily="34" charset="0"/>
              </a:rPr>
              <a:t>有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	p-&gt;term</a:t>
            </a:r>
            <a:r>
              <a:rPr lang="en-US" altLang="zh-CN" sz="2800" dirty="0">
                <a:latin typeface="Arial" panose="020B0604020202020204" pitchFamily="34" charset="0"/>
              </a:rPr>
              <a:t>=0.7;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会不会把主函数中对应结点的数据域从</a:t>
            </a:r>
            <a:r>
              <a:rPr lang="en-US" altLang="zh-CN" sz="2800" dirty="0">
                <a:latin typeface="Arial" panose="020B0604020202020204" pitchFamily="34" charset="0"/>
              </a:rPr>
              <a:t>0.13</a:t>
            </a:r>
            <a:r>
              <a:rPr lang="zh-CN" altLang="en-US" sz="2800" dirty="0">
                <a:latin typeface="Arial" panose="020B0604020202020204" pitchFamily="34" charset="0"/>
              </a:rPr>
              <a:t>改成</a:t>
            </a:r>
            <a:r>
              <a:rPr lang="en-US" altLang="zh-CN" sz="2800" dirty="0">
                <a:latin typeface="Arial" panose="020B0604020202020204" pitchFamily="34" charset="0"/>
              </a:rPr>
              <a:t>0.7</a:t>
            </a:r>
            <a:r>
              <a:rPr lang="zh-CN" altLang="en-US" sz="2800" dirty="0">
                <a:latin typeface="Arial" panose="020B0604020202020204" pitchFamily="34" charset="0"/>
              </a:rPr>
              <a:t>？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cxnSp>
        <p:nvCxnSpPr>
          <p:cNvPr id="19" name="直接连接符 18"/>
          <p:cNvCxnSpPr>
            <a:cxnSpLocks noChangeShapeType="1"/>
          </p:cNvCxnSpPr>
          <p:nvPr/>
        </p:nvCxnSpPr>
        <p:spPr bwMode="auto">
          <a:xfrm>
            <a:off x="0" y="5983288"/>
            <a:ext cx="5657850" cy="0"/>
          </a:xfrm>
          <a:prstGeom prst="line">
            <a:avLst/>
          </a:prstGeom>
          <a:noFill/>
          <a:ln w="25400" algn="ctr">
            <a:solidFill>
              <a:srgbClr val="FFFF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1543050" y="6337300"/>
            <a:ext cx="931863" cy="381000"/>
          </a:xfrm>
          <a:prstGeom prst="rect">
            <a:avLst/>
          </a:prstGeom>
          <a:noFill/>
          <a:ln w="50800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  <p:cxnSp>
        <p:nvCxnSpPr>
          <p:cNvPr id="22" name="直接箭头连接符 21"/>
          <p:cNvCxnSpPr>
            <a:cxnSpLocks noChangeShapeType="1"/>
          </p:cNvCxnSpPr>
          <p:nvPr/>
        </p:nvCxnSpPr>
        <p:spPr bwMode="auto">
          <a:xfrm flipV="1">
            <a:off x="2009775" y="5699125"/>
            <a:ext cx="0" cy="601663"/>
          </a:xfrm>
          <a:prstGeom prst="straightConnector1">
            <a:avLst/>
          </a:prstGeom>
          <a:noFill/>
          <a:ln w="50800" algn="ctr">
            <a:solidFill>
              <a:srgbClr val="FFFF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文本框 22"/>
          <p:cNvSpPr txBox="1">
            <a:spLocks noChangeArrowheads="1"/>
          </p:cNvSpPr>
          <p:nvPr/>
        </p:nvSpPr>
        <p:spPr bwMode="auto">
          <a:xfrm>
            <a:off x="1274763" y="5983288"/>
            <a:ext cx="790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FF00"/>
                </a:solidFill>
              </a:rPr>
              <a:t>形参</a:t>
            </a:r>
            <a:r>
              <a:rPr lang="en-US" altLang="zh-CN" sz="1800">
                <a:solidFill>
                  <a:srgbClr val="FFFF00"/>
                </a:solidFill>
              </a:rPr>
              <a:t>p</a:t>
            </a:r>
            <a:endParaRPr lang="zh-CN" altLang="en-US" sz="1800">
              <a:solidFill>
                <a:srgbClr val="FFFF00"/>
              </a:solidFill>
            </a:endParaRPr>
          </a:p>
        </p:txBody>
      </p:sp>
      <p:cxnSp>
        <p:nvCxnSpPr>
          <p:cNvPr id="36879" name="直接连接符 29"/>
          <p:cNvCxnSpPr/>
          <p:nvPr/>
        </p:nvCxnSpPr>
        <p:spPr bwMode="auto">
          <a:xfrm>
            <a:off x="58738" y="3657594"/>
            <a:ext cx="12087225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prstDash val="dashDot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30"/>
          <p:cNvSpPr/>
          <p:nvPr/>
        </p:nvSpPr>
        <p:spPr>
          <a:xfrm>
            <a:off x="7512050" y="436563"/>
            <a:ext cx="4633913" cy="2830512"/>
          </a:xfrm>
          <a:prstGeom prst="rect">
            <a:avLst/>
          </a:prstGeom>
          <a:solidFill>
            <a:schemeClr val="accent1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int main()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{</a:t>
            </a: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latin typeface="Arial" panose="020B0604020202020204" pitchFamily="34" charset="0"/>
              </a:rPr>
              <a:t>termpointer</a:t>
            </a:r>
            <a:r>
              <a:rPr lang="en-US" altLang="zh-CN" sz="3200" dirty="0">
                <a:latin typeface="Arial" panose="020B0604020202020204" pitchFamily="34" charset="0"/>
              </a:rPr>
              <a:t> head; 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	head= f() ; </a:t>
            </a:r>
            <a:endParaRPr lang="zh-CN" altLang="en-US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solidFill>
                  <a:srgbClr val="FF0000"/>
                </a:solidFill>
                <a:latin typeface="Arial" panose="020B0604020202020204" pitchFamily="34" charset="0"/>
              </a:rPr>
              <a:t>showNode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3200" dirty="0">
                <a:solidFill>
                  <a:srgbClr val="99FF33"/>
                </a:solidFill>
                <a:latin typeface="Arial" panose="020B0604020202020204" pitchFamily="34" charset="0"/>
              </a:rPr>
              <a:t>head</a:t>
            </a:r>
            <a:r>
              <a:rPr lang="en-US" altLang="zh-CN" sz="32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3200" dirty="0">
                <a:latin typeface="Arial" panose="020B0604020202020204" pitchFamily="34" charset="0"/>
              </a:rPr>
              <a:t>; </a:t>
            </a:r>
            <a:endParaRPr lang="zh-CN" altLang="en-US" sz="32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latin typeface="Arial" panose="020B0604020202020204" pitchFamily="34" charset="0"/>
              </a:rPr>
              <a:t>return 0;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dirty="0">
                <a:latin typeface="Arial" panose="020B0604020202020204" pitchFamily="34" charset="0"/>
              </a:rPr>
              <a:t>}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 bwMode="auto">
          <a:xfrm flipH="1" flipV="1">
            <a:off x="5896801" y="725517"/>
            <a:ext cx="4999673" cy="1307687"/>
          </a:xfrm>
          <a:prstGeom prst="straightConnector1">
            <a:avLst/>
          </a:prstGeom>
          <a:noFill/>
          <a:ln w="50800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直接箭头连接符 32"/>
          <p:cNvCxnSpPr>
            <a:cxnSpLocks noChangeShapeType="1"/>
          </p:cNvCxnSpPr>
          <p:nvPr/>
        </p:nvCxnSpPr>
        <p:spPr bwMode="auto">
          <a:xfrm flipV="1">
            <a:off x="3429000" y="5738813"/>
            <a:ext cx="0" cy="601662"/>
          </a:xfrm>
          <a:prstGeom prst="straightConnector1">
            <a:avLst/>
          </a:prstGeom>
          <a:noFill/>
          <a:ln w="50800" algn="ctr">
            <a:solidFill>
              <a:srgbClr val="FFFF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文本框 33"/>
          <p:cNvSpPr txBox="1">
            <a:spLocks noChangeArrowheads="1"/>
          </p:cNvSpPr>
          <p:nvPr/>
        </p:nvSpPr>
        <p:spPr bwMode="auto">
          <a:xfrm>
            <a:off x="2693988" y="6016625"/>
            <a:ext cx="790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FF00"/>
                </a:solidFill>
              </a:rPr>
              <a:t>形参</a:t>
            </a:r>
            <a:r>
              <a:rPr lang="en-US" altLang="zh-CN" sz="1800">
                <a:solidFill>
                  <a:srgbClr val="FFFF00"/>
                </a:solidFill>
              </a:rPr>
              <a:t>p</a:t>
            </a:r>
            <a:endParaRPr lang="zh-CN" altLang="en-US" sz="1800">
              <a:solidFill>
                <a:srgbClr val="FFFF00"/>
              </a:solidFill>
            </a:endParaRPr>
          </a:p>
        </p:txBody>
      </p:sp>
      <p:cxnSp>
        <p:nvCxnSpPr>
          <p:cNvPr id="35" name="直接箭头连接符 34"/>
          <p:cNvCxnSpPr>
            <a:cxnSpLocks noChangeShapeType="1"/>
          </p:cNvCxnSpPr>
          <p:nvPr/>
        </p:nvCxnSpPr>
        <p:spPr bwMode="auto">
          <a:xfrm flipV="1">
            <a:off x="4802188" y="5757863"/>
            <a:ext cx="0" cy="601662"/>
          </a:xfrm>
          <a:prstGeom prst="straightConnector1">
            <a:avLst/>
          </a:prstGeom>
          <a:noFill/>
          <a:ln w="50800" algn="ctr">
            <a:solidFill>
              <a:srgbClr val="FFFF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文本框 35"/>
          <p:cNvSpPr txBox="1">
            <a:spLocks noChangeArrowheads="1"/>
          </p:cNvSpPr>
          <p:nvPr/>
        </p:nvSpPr>
        <p:spPr bwMode="auto">
          <a:xfrm>
            <a:off x="4067175" y="6037263"/>
            <a:ext cx="790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FFF00"/>
                </a:solidFill>
              </a:rPr>
              <a:t>形参</a:t>
            </a:r>
            <a:r>
              <a:rPr lang="en-US" altLang="zh-CN" sz="1800">
                <a:solidFill>
                  <a:srgbClr val="FFFF00"/>
                </a:solidFill>
              </a:rPr>
              <a:t>p</a:t>
            </a:r>
            <a:endParaRPr lang="zh-CN" altLang="en-US" sz="1800">
              <a:solidFill>
                <a:srgbClr val="FFFF00"/>
              </a:solidFill>
            </a:endParaRPr>
          </a:p>
        </p:txBody>
      </p:sp>
      <p:cxnSp>
        <p:nvCxnSpPr>
          <p:cNvPr id="37" name="直接箭头连接符 36"/>
          <p:cNvCxnSpPr>
            <a:cxnSpLocks noChangeShapeType="1"/>
          </p:cNvCxnSpPr>
          <p:nvPr/>
        </p:nvCxnSpPr>
        <p:spPr bwMode="auto">
          <a:xfrm flipV="1">
            <a:off x="5791200" y="5745163"/>
            <a:ext cx="0" cy="601662"/>
          </a:xfrm>
          <a:prstGeom prst="straightConnector1">
            <a:avLst/>
          </a:prstGeom>
          <a:noFill/>
          <a:ln w="50800" algn="ctr">
            <a:solidFill>
              <a:srgbClr val="FFFF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5056188" y="6024563"/>
            <a:ext cx="790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FF00"/>
                </a:solidFill>
              </a:rPr>
              <a:t>形参</a:t>
            </a:r>
            <a:r>
              <a:rPr lang="en-US" altLang="zh-CN" sz="1800" dirty="0">
                <a:solidFill>
                  <a:srgbClr val="FFFF00"/>
                </a:solidFill>
              </a:rPr>
              <a:t>p</a:t>
            </a:r>
            <a:endParaRPr lang="zh-CN" altLang="en-US" sz="18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  <p:bldP spid="20" grpId="0" animBg="1"/>
      <p:bldP spid="23" grpId="0"/>
      <p:bldP spid="23" grpId="1"/>
      <p:bldP spid="31" grpId="0" animBg="1"/>
      <p:bldP spid="34" grpId="0"/>
      <p:bldP spid="34" grpId="1"/>
      <p:bldP spid="34" grpId="2"/>
      <p:bldP spid="36" grpId="0"/>
      <p:bldP spid="36" grpId="1"/>
      <p:bldP spid="38" grpId="0"/>
      <p:bldP spid="38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41275"/>
            <a:ext cx="7162800" cy="1143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dirty="0">
                <a:solidFill>
                  <a:schemeClr val="hlink"/>
                </a:solidFill>
              </a:rPr>
              <a:t>【</a:t>
            </a: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1】</a:t>
            </a:r>
            <a:r>
              <a:rPr lang="zh-CN" altLang="en-US" dirty="0">
                <a:solidFill>
                  <a:schemeClr val="hlink"/>
                </a:solidFill>
              </a:rPr>
              <a:t>单向链表操作示例</a:t>
            </a:r>
            <a:endParaRPr lang="zh-CN" altLang="en-US" dirty="0">
              <a:solidFill>
                <a:schemeClr val="hlink"/>
              </a:solidFill>
            </a:endParaRPr>
          </a:p>
        </p:txBody>
      </p:sp>
      <p:sp>
        <p:nvSpPr>
          <p:cNvPr id="437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850" y="2638425"/>
            <a:ext cx="9455150" cy="6381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2800" dirty="0">
                <a:hlinkClick r:id="rId1" action="ppaction://hlinksldjump"/>
              </a:rPr>
              <a:t>【</a:t>
            </a:r>
            <a:r>
              <a:rPr lang="zh-CN" altLang="en-US" sz="2800" dirty="0">
                <a:hlinkClick r:id="rId1" action="ppaction://hlinksldjump"/>
              </a:rPr>
              <a:t>例</a:t>
            </a:r>
            <a:r>
              <a:rPr lang="en-US" altLang="zh-CN" sz="2800" dirty="0">
                <a:hlinkClick r:id="rId1" action="ppaction://hlinksldjump"/>
              </a:rPr>
              <a:t>1a】</a:t>
            </a:r>
            <a:r>
              <a:rPr lang="zh-CN" altLang="en-US" sz="2800" dirty="0">
                <a:solidFill>
                  <a:schemeClr val="hlink"/>
                </a:solidFill>
                <a:hlinkClick r:id="rId1" action="ppaction://hlinksldjump"/>
              </a:rPr>
              <a:t>创建、遍历、删除指定结点、反序、释放</a:t>
            </a:r>
            <a:endParaRPr lang="zh-CN" altLang="en-US" sz="280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2379E89-7390-4A10-8EF0-A1AE91A8EB92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52B152C-7E10-464B-95AC-ADC1DBC2316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-31750"/>
            <a:ext cx="3851275" cy="706438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4000" b="1" dirty="0">
                <a:solidFill>
                  <a:schemeClr val="hlink"/>
                </a:solidFill>
              </a:rPr>
              <a:t>程序运行界面：</a:t>
            </a:r>
            <a:endParaRPr lang="zh-CN" altLang="en-US" sz="4000" b="1" dirty="0">
              <a:solidFill>
                <a:schemeClr val="hlink"/>
              </a:solidFill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231775" y="733425"/>
            <a:ext cx="8326438" cy="612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请输入要创建链表的结点个数：</a:t>
            </a:r>
            <a:endParaRPr lang="zh-CN" altLang="en-US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10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请输入</a:t>
            </a:r>
            <a:r>
              <a:rPr lang="en-US" altLang="zh-CN" sz="2800"/>
              <a:t>10</a:t>
            </a:r>
            <a:r>
              <a:rPr lang="zh-CN" altLang="en-US" sz="2800"/>
              <a:t>个结点数据（</a:t>
            </a:r>
            <a:r>
              <a:rPr lang="en-US" altLang="zh-CN" sz="2800"/>
              <a:t>int)</a:t>
            </a:r>
            <a:r>
              <a:rPr lang="zh-CN" altLang="en-US" sz="2800"/>
              <a:t>：</a:t>
            </a:r>
            <a:endParaRPr lang="zh-CN" altLang="en-US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1    1    1    4    1    2    9    6    1    1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原链表为：</a:t>
            </a:r>
            <a:endParaRPr lang="zh-CN" altLang="en-US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1    1    1    4    1    2    9    6    1    1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反向链表为：</a:t>
            </a:r>
            <a:endParaRPr lang="zh-CN" altLang="en-US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1    1    6    9    2    1    4    1    1    1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请输入待删除的结点关键字</a:t>
            </a:r>
            <a:r>
              <a:rPr lang="en-US" altLang="zh-CN" sz="2800"/>
              <a:t>: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1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删除结点</a:t>
            </a:r>
            <a:r>
              <a:rPr lang="en-US" altLang="zh-CN" sz="2800"/>
              <a:t>1</a:t>
            </a:r>
            <a:r>
              <a:rPr lang="zh-CN" altLang="en-US" sz="2800"/>
              <a:t>后，链表为：</a:t>
            </a:r>
            <a:endParaRPr lang="zh-CN" altLang="en-US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6    9    2    4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/>
              <a:t>排序后的链表为：</a:t>
            </a:r>
            <a:endParaRPr lang="zh-CN" altLang="en-US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2    4    6    9</a:t>
            </a:r>
            <a:endParaRPr lang="en-US" altLang="zh-CN" sz="2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281488" y="0"/>
            <a:ext cx="7985125" cy="685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chemeClr val="accent2"/>
                </a:solidFill>
              </a:rPr>
              <a:t>/*---------------</a:t>
            </a:r>
            <a:r>
              <a:rPr lang="zh-CN" altLang="en-US" sz="1800" kern="0" dirty="0">
                <a:solidFill>
                  <a:schemeClr val="accent2"/>
                </a:solidFill>
              </a:rPr>
              <a:t>函数原型</a:t>
            </a:r>
            <a:r>
              <a:rPr lang="en-US" altLang="zh-CN" sz="1800" kern="0" dirty="0">
                <a:solidFill>
                  <a:schemeClr val="accent2"/>
                </a:solidFill>
              </a:rPr>
              <a:t>---------------*/</a:t>
            </a:r>
            <a:endParaRPr lang="en-US" altLang="zh-CN" sz="1800" kern="0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</a:rPr>
              <a:t>struct link * </a:t>
            </a:r>
            <a:r>
              <a:rPr lang="en-US" altLang="zh-CN" sz="2800" kern="0" dirty="0">
                <a:solidFill>
                  <a:schemeClr val="hlink"/>
                </a:solidFill>
              </a:rPr>
              <a:t>create(</a:t>
            </a:r>
            <a:r>
              <a:rPr lang="en-US" altLang="zh-CN" sz="2800" kern="0" dirty="0"/>
              <a:t>int n</a:t>
            </a:r>
            <a:r>
              <a:rPr lang="en-US" altLang="zh-CN" sz="2800" kern="0" dirty="0">
                <a:solidFill>
                  <a:schemeClr val="hlink"/>
                </a:solidFill>
              </a:rPr>
              <a:t>)</a:t>
            </a:r>
            <a:r>
              <a:rPr lang="en-US" altLang="zh-CN" sz="2800" kern="0" dirty="0"/>
              <a:t>; </a:t>
            </a:r>
            <a:r>
              <a:rPr lang="en-US" altLang="zh-CN" sz="2800" kern="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800" kern="0" dirty="0">
                <a:solidFill>
                  <a:schemeClr val="tx1">
                    <a:lumMod val="50000"/>
                  </a:schemeClr>
                </a:solidFill>
              </a:rPr>
              <a:t>创建链表</a:t>
            </a:r>
            <a:endParaRPr lang="en-US" altLang="zh-CN" sz="2800" kern="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kern="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/>
              <a:t>void </a:t>
            </a:r>
            <a:r>
              <a:rPr lang="en-US" altLang="zh-CN" sz="2800" kern="0" dirty="0">
                <a:solidFill>
                  <a:schemeClr val="hlink"/>
                </a:solidFill>
              </a:rPr>
              <a:t>print(</a:t>
            </a:r>
            <a:r>
              <a:rPr lang="en-US" altLang="zh-CN" sz="2800" kern="0" dirty="0"/>
              <a:t>struct link *head</a:t>
            </a:r>
            <a:r>
              <a:rPr lang="en-US" altLang="zh-CN" sz="2800" kern="0" dirty="0">
                <a:solidFill>
                  <a:schemeClr val="hlink"/>
                </a:solidFill>
              </a:rPr>
              <a:t>)</a:t>
            </a:r>
            <a:r>
              <a:rPr lang="en-US" altLang="zh-CN" sz="2800" kern="0" dirty="0"/>
              <a:t>; </a:t>
            </a:r>
            <a:r>
              <a:rPr lang="en-US" altLang="zh-CN" sz="2800" kern="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800" kern="0" dirty="0">
                <a:solidFill>
                  <a:schemeClr val="tx1">
                    <a:lumMod val="50000"/>
                  </a:schemeClr>
                </a:solidFill>
              </a:rPr>
              <a:t>输出链表</a:t>
            </a:r>
            <a:endParaRPr lang="en-US" altLang="zh-CN" sz="2800" kern="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kern="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kern="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kern="0" dirty="0">
                <a:solidFill>
                  <a:schemeClr val="tx1">
                    <a:lumMod val="50000"/>
                  </a:schemeClr>
                </a:solidFill>
              </a:rPr>
              <a:t>反序</a:t>
            </a:r>
            <a:endParaRPr lang="zh-CN" altLang="en-US" sz="1800" kern="0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</a:rPr>
              <a:t>struct link * </a:t>
            </a:r>
            <a:r>
              <a:rPr lang="en-US" altLang="zh-CN" sz="2800" kern="0" dirty="0">
                <a:solidFill>
                  <a:schemeClr val="hlink"/>
                </a:solidFill>
              </a:rPr>
              <a:t>turnback(</a:t>
            </a:r>
            <a:r>
              <a:rPr lang="en-US" altLang="zh-CN" sz="2800" kern="0" dirty="0"/>
              <a:t>struct link *head</a:t>
            </a:r>
            <a:r>
              <a:rPr lang="en-US" altLang="zh-CN" sz="2800" kern="0" dirty="0">
                <a:solidFill>
                  <a:schemeClr val="hlink"/>
                </a:solidFill>
              </a:rPr>
              <a:t>)</a:t>
            </a:r>
            <a:r>
              <a:rPr lang="en-US" altLang="zh-CN" sz="2800" kern="0" dirty="0"/>
              <a:t>; </a:t>
            </a:r>
            <a:endParaRPr lang="en-US" altLang="zh-CN" sz="2800" kern="0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800" kern="0" dirty="0">
              <a:solidFill>
                <a:schemeClr val="tx1">
                  <a:lumMod val="50000"/>
                </a:schemeClr>
              </a:solidFill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</a:schemeClr>
                </a:solidFill>
                <a:effectLst/>
              </a:rPr>
              <a:t>//</a:t>
            </a:r>
            <a:r>
              <a:rPr lang="zh-CN" altLang="zh-CN" sz="2000" kern="0" dirty="0">
                <a:solidFill>
                  <a:schemeClr val="tx1">
                    <a:lumMod val="50000"/>
                  </a:schemeClr>
                </a:solidFill>
                <a:effectLst/>
              </a:rPr>
              <a:t>删除指定结点</a:t>
            </a:r>
            <a:r>
              <a:rPr lang="en-US" altLang="zh-CN" sz="2000" kern="0" dirty="0">
                <a:solidFill>
                  <a:schemeClr val="tx1">
                    <a:lumMod val="50000"/>
                  </a:schemeClr>
                </a:solidFill>
                <a:effectLst/>
              </a:rPr>
              <a:t>key</a:t>
            </a:r>
            <a:endParaRPr lang="zh-CN" altLang="zh-CN" sz="2000" kern="0" dirty="0">
              <a:solidFill>
                <a:schemeClr val="tx1">
                  <a:lumMod val="50000"/>
                </a:schemeClr>
              </a:solidFill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</a:rPr>
              <a:t>struct link * </a:t>
            </a:r>
            <a:r>
              <a:rPr lang="en-US" altLang="zh-CN" sz="2800" kern="0" dirty="0">
                <a:solidFill>
                  <a:srgbClr val="FFFF00"/>
                </a:solidFill>
                <a:effectLst/>
              </a:rPr>
              <a:t>del(</a:t>
            </a:r>
            <a:r>
              <a:rPr lang="en-US" altLang="zh-CN" sz="2800" kern="0" dirty="0">
                <a:effectLst/>
              </a:rPr>
              <a:t>struct link *head, int key</a:t>
            </a:r>
            <a:r>
              <a:rPr lang="en-US" altLang="zh-CN" sz="2800" kern="0" dirty="0">
                <a:solidFill>
                  <a:srgbClr val="FFFF00"/>
                </a:solidFill>
                <a:effectLst/>
              </a:rPr>
              <a:t>)</a:t>
            </a:r>
            <a:r>
              <a:rPr lang="en-US" altLang="zh-CN" sz="2800" kern="0" dirty="0">
                <a:effectLst/>
              </a:rPr>
              <a:t>;</a:t>
            </a:r>
            <a:endParaRPr lang="en-US" altLang="zh-CN" sz="2800" kern="0" dirty="0"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</a:rPr>
              <a:t> </a:t>
            </a:r>
            <a:endParaRPr lang="en-US" altLang="zh-CN" sz="2800" kern="0" dirty="0">
              <a:solidFill>
                <a:schemeClr val="tx1">
                  <a:lumMod val="50000"/>
                </a:schemeClr>
              </a:solidFill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</a:schemeClr>
                </a:solidFill>
                <a:effectLst/>
              </a:rPr>
              <a:t>//</a:t>
            </a:r>
            <a:r>
              <a:rPr lang="zh-CN" altLang="zh-CN" sz="2000" kern="0" dirty="0">
                <a:solidFill>
                  <a:schemeClr val="tx1">
                    <a:lumMod val="50000"/>
                  </a:schemeClr>
                </a:solidFill>
                <a:effectLst/>
              </a:rPr>
              <a:t>链表排序</a:t>
            </a:r>
            <a:endParaRPr lang="zh-CN" altLang="zh-CN" sz="2000" kern="0" dirty="0">
              <a:solidFill>
                <a:schemeClr val="tx1">
                  <a:lumMod val="50000"/>
                </a:schemeClr>
              </a:solidFill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</a:rPr>
              <a:t>struct link * </a:t>
            </a:r>
            <a:r>
              <a:rPr lang="en-US" altLang="zh-CN" sz="2800" kern="0" dirty="0">
                <a:solidFill>
                  <a:srgbClr val="FFFF00"/>
                </a:solidFill>
                <a:effectLst/>
              </a:rPr>
              <a:t>sort(</a:t>
            </a:r>
            <a:r>
              <a:rPr lang="en-US" altLang="zh-CN" sz="2800" kern="0" dirty="0">
                <a:effectLst/>
              </a:rPr>
              <a:t> struct link*  head </a:t>
            </a:r>
            <a:r>
              <a:rPr lang="en-US" altLang="zh-CN" sz="2800" kern="0" dirty="0">
                <a:solidFill>
                  <a:srgbClr val="FFFF00"/>
                </a:solidFill>
                <a:effectLst/>
              </a:rPr>
              <a:t>)</a:t>
            </a:r>
            <a:r>
              <a:rPr lang="en-US" altLang="zh-CN" sz="2800" kern="0" dirty="0">
                <a:effectLst/>
              </a:rPr>
              <a:t>;</a:t>
            </a:r>
            <a:endParaRPr lang="en-US" altLang="zh-CN" sz="2800" kern="0" dirty="0"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2800" kern="0" dirty="0">
              <a:solidFill>
                <a:srgbClr val="FFFF00"/>
              </a:solidFill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solidFill>
                  <a:schemeClr val="tx1">
                    <a:lumMod val="50000"/>
                  </a:schemeClr>
                </a:solidFill>
                <a:effectLst/>
              </a:rPr>
              <a:t>//</a:t>
            </a:r>
            <a:r>
              <a:rPr lang="zh-CN" altLang="zh-CN" sz="2000" kern="0" dirty="0">
                <a:solidFill>
                  <a:schemeClr val="tx1">
                    <a:lumMod val="50000"/>
                  </a:schemeClr>
                </a:solidFill>
                <a:effectLst/>
              </a:rPr>
              <a:t>释放链表</a:t>
            </a:r>
            <a:endParaRPr lang="en-US" altLang="zh-CN" sz="2000" kern="0" dirty="0">
              <a:effectLst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</a:rPr>
              <a:t>void </a:t>
            </a:r>
            <a:r>
              <a:rPr lang="en-US" altLang="zh-CN" sz="2800" kern="0" dirty="0">
                <a:solidFill>
                  <a:srgbClr val="FFFF00"/>
                </a:solidFill>
                <a:effectLst/>
              </a:rPr>
              <a:t>destroy(</a:t>
            </a:r>
            <a:r>
              <a:rPr lang="en-US" altLang="zh-CN" sz="2800" kern="0" dirty="0">
                <a:effectLst/>
              </a:rPr>
              <a:t>struct link *head</a:t>
            </a:r>
            <a:r>
              <a:rPr lang="en-US" altLang="zh-CN" sz="2800" kern="0" dirty="0">
                <a:solidFill>
                  <a:srgbClr val="FFFF00"/>
                </a:solidFill>
                <a:effectLst/>
              </a:rPr>
              <a:t>)</a:t>
            </a:r>
            <a:r>
              <a:rPr lang="en-US" altLang="zh-CN" sz="2800" kern="0" dirty="0">
                <a:effectLst/>
              </a:rPr>
              <a:t>; </a:t>
            </a:r>
            <a:endParaRPr lang="zh-CN" altLang="en-US" sz="2800" kern="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8028C2E-5CE3-42FE-AAC7-D9FA7705EB83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0963" name="TextBox 5"/>
          <p:cNvSpPr txBox="1">
            <a:spLocks noChangeArrowheads="1"/>
          </p:cNvSpPr>
          <p:nvPr/>
        </p:nvSpPr>
        <p:spPr bwMode="auto">
          <a:xfrm>
            <a:off x="-17463" y="95250"/>
            <a:ext cx="3000376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完整程序：</a:t>
            </a:r>
            <a:endParaRPr lang="zh-CN" altLang="en-US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288" y="679450"/>
            <a:ext cx="4267200" cy="3291840"/>
          </a:xfrm>
          <a:prstGeom prst="rect">
            <a:avLst/>
          </a:prstGeom>
          <a:solidFill>
            <a:srgbClr val="00B0F0"/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dirty="0"/>
              <a:t>#include&lt;</a:t>
            </a:r>
            <a:r>
              <a:rPr lang="en-US" altLang="zh-CN" sz="2400" dirty="0" err="1"/>
              <a:t>stdio.h</a:t>
            </a:r>
            <a:r>
              <a:rPr lang="en-US" altLang="zh-CN" sz="2400" dirty="0"/>
              <a:t>&gt;</a:t>
            </a:r>
            <a:endParaRPr lang="en-US" altLang="zh-CN" sz="2400" dirty="0"/>
          </a:p>
          <a:p>
            <a:pPr eaLnBrk="1" hangingPunct="1"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#include&lt;</a:t>
            </a:r>
            <a:r>
              <a:rPr lang="en-US" altLang="zh-CN" sz="2400" dirty="0" err="1">
                <a:solidFill>
                  <a:srgbClr val="FF0000"/>
                </a:solidFill>
              </a:rPr>
              <a:t>stdlib.h</a:t>
            </a:r>
            <a:r>
              <a:rPr lang="en-US" altLang="zh-CN" sz="2400" dirty="0">
                <a:solidFill>
                  <a:srgbClr val="FF0000"/>
                </a:solidFill>
              </a:rPr>
              <a:t>&gt;</a:t>
            </a:r>
            <a:endParaRPr lang="en-US" altLang="zh-CN" sz="2400" dirty="0"/>
          </a:p>
          <a:p>
            <a:pPr eaLnBrk="1" hangingPunct="1">
              <a:defRPr/>
            </a:pPr>
            <a:endParaRPr lang="en-US" altLang="zh-CN" sz="2400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结点类型定义</a:t>
            </a:r>
            <a:endParaRPr lang="en-US" altLang="zh-CN" sz="24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800" dirty="0">
                <a:solidFill>
                  <a:schemeClr val="hlink"/>
                </a:solidFill>
              </a:rPr>
              <a:t>struct link {</a:t>
            </a:r>
            <a:r>
              <a:rPr lang="en-US" altLang="zh-CN" sz="2800" dirty="0"/>
              <a:t> </a:t>
            </a:r>
            <a:endParaRPr lang="en-US" altLang="zh-CN" sz="2800" dirty="0"/>
          </a:p>
          <a:p>
            <a:pPr eaLnBrk="1" hangingPunct="1">
              <a:defRPr/>
            </a:pPr>
            <a:r>
              <a:rPr lang="en-US" altLang="zh-CN" sz="2800" dirty="0"/>
              <a:t>	int num; </a:t>
            </a:r>
            <a:endParaRPr lang="en-US" altLang="zh-CN" sz="2800" dirty="0"/>
          </a:p>
          <a:p>
            <a:pPr eaLnBrk="1" hangingPunct="1">
              <a:defRPr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hlink"/>
                </a:solidFill>
              </a:rPr>
              <a:t>struct link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hlink"/>
                </a:solidFill>
              </a:rPr>
              <a:t>*</a:t>
            </a:r>
            <a:r>
              <a:rPr lang="en-US" altLang="zh-CN" sz="2800" dirty="0"/>
              <a:t>next;</a:t>
            </a:r>
            <a:endParaRPr lang="en-US" altLang="zh-CN" sz="2800" dirty="0"/>
          </a:p>
          <a:p>
            <a:pPr eaLnBrk="1" hangingPunct="1">
              <a:defRPr/>
            </a:pPr>
            <a:r>
              <a:rPr lang="en-US" altLang="zh-CN" sz="2800" dirty="0">
                <a:solidFill>
                  <a:schemeClr val="hlink"/>
                </a:solidFill>
              </a:rPr>
              <a:t>};</a:t>
            </a:r>
            <a:endParaRPr lang="en-US" altLang="zh-CN" sz="28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350" y="-4763"/>
            <a:ext cx="10737850" cy="7029451"/>
          </a:xfrm>
        </p:spPr>
        <p:txBody>
          <a:bodyPr/>
          <a:lstStyle/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>
                <a:solidFill>
                  <a:schemeClr val="accent2"/>
                </a:solidFill>
              </a:rPr>
              <a:t>/*---------------</a:t>
            </a:r>
            <a:r>
              <a:rPr lang="zh-CN" altLang="en-US" sz="1800" b="1" dirty="0">
                <a:solidFill>
                  <a:schemeClr val="accent2"/>
                </a:solidFill>
              </a:rPr>
              <a:t>各函数定义</a:t>
            </a:r>
            <a:r>
              <a:rPr lang="en-US" altLang="zh-CN" sz="1800" b="1" dirty="0">
                <a:solidFill>
                  <a:schemeClr val="accent2"/>
                </a:solidFill>
              </a:rPr>
              <a:t>---------------*/</a:t>
            </a:r>
            <a:endParaRPr lang="en-US" altLang="zh-CN" sz="1800" b="1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1800" b="1" dirty="0"/>
              <a:t>int main( ) </a:t>
            </a:r>
            <a:r>
              <a:rPr lang="en-US" altLang="zh-CN" sz="1800" b="1" dirty="0">
                <a:solidFill>
                  <a:schemeClr val="accent2"/>
                </a:solidFill>
              </a:rPr>
              <a:t>//</a:t>
            </a:r>
            <a:r>
              <a:rPr lang="zh-CN" altLang="en-US" sz="1800" b="1" dirty="0">
                <a:solidFill>
                  <a:schemeClr val="accent2"/>
                </a:solidFill>
              </a:rPr>
              <a:t>主函数</a:t>
            </a:r>
            <a:endParaRPr lang="zh-CN" altLang="en-US" sz="1800" b="1" dirty="0">
              <a:solidFill>
                <a:schemeClr val="accent2"/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{	</a:t>
            </a:r>
            <a:r>
              <a:rPr lang="en-US" altLang="zh-CN" sz="2400" b="1" dirty="0">
                <a:solidFill>
                  <a:srgbClr val="FF0000"/>
                </a:solidFill>
              </a:rPr>
              <a:t>struct link</a:t>
            </a:r>
            <a:r>
              <a:rPr lang="en-US" altLang="zh-CN" sz="2400" b="1" dirty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* head</a:t>
            </a:r>
            <a:r>
              <a:rPr lang="en-US" altLang="zh-CN" sz="2400" b="1" dirty="0"/>
              <a:t>; 	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表头指针</a:t>
            </a: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/>
              <a:t>	</a:t>
            </a:r>
            <a:r>
              <a:rPr lang="en-US" altLang="zh-CN" sz="2400" b="1" dirty="0"/>
              <a:t>int n; 	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新链表的结点个数</a:t>
            </a:r>
            <a:endParaRPr lang="en-US" altLang="zh-CN" sz="18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en-US" altLang="zh-CN" sz="24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dirty="0"/>
              <a:t>	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</a:t>
            </a:r>
            <a:r>
              <a:rPr lang="zh-CN" altLang="en-US" sz="2400" b="1" dirty="0"/>
              <a:t>请输入要创建链表的结点个数：</a:t>
            </a:r>
            <a:r>
              <a:rPr lang="en-US" altLang="zh-CN" sz="2400" b="1" dirty="0"/>
              <a:t>\n");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   	</a:t>
            </a:r>
            <a:r>
              <a:rPr lang="en-US" altLang="zh-CN" sz="2800" b="1" dirty="0" err="1"/>
              <a:t>scanf</a:t>
            </a:r>
            <a:r>
              <a:rPr lang="en-US" altLang="zh-CN" sz="2800" b="1" dirty="0"/>
              <a:t>("%d", &amp;n);</a:t>
            </a:r>
            <a:endParaRPr lang="en-US" altLang="zh-CN" sz="28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   	</a:t>
            </a:r>
            <a:r>
              <a:rPr lang="en-US" altLang="zh-CN" sz="2800" b="1" dirty="0">
                <a:solidFill>
                  <a:srgbClr val="FF0000"/>
                </a:solidFill>
              </a:rPr>
              <a:t>head=</a:t>
            </a:r>
            <a:r>
              <a:rPr lang="en-US" altLang="zh-CN" sz="2800" b="1" dirty="0">
                <a:solidFill>
                  <a:schemeClr val="hlink"/>
                </a:solidFill>
              </a:rPr>
              <a:t>create(</a:t>
            </a:r>
            <a:r>
              <a:rPr lang="en-US" altLang="zh-CN" sz="2800" b="1" dirty="0"/>
              <a:t>n</a:t>
            </a:r>
            <a:r>
              <a:rPr lang="en-US" altLang="zh-CN" sz="2800" b="1" dirty="0">
                <a:solidFill>
                  <a:schemeClr val="hlink"/>
                </a:solidFill>
              </a:rPr>
              <a:t>)</a:t>
            </a:r>
            <a:r>
              <a:rPr lang="en-US" altLang="zh-CN" sz="2800" b="1" dirty="0"/>
              <a:t>; 	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调用函数：创建链表</a:t>
            </a: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sz="24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/>
              <a:t>	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("\n</a:t>
            </a:r>
            <a:r>
              <a:rPr lang="zh-CN" altLang="en-US" sz="2400" b="1" dirty="0"/>
              <a:t>原链表为：</a:t>
            </a:r>
            <a:r>
              <a:rPr lang="en-US" altLang="zh-CN" sz="2400" b="1" dirty="0"/>
              <a:t>\n");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</a:t>
            </a:r>
            <a:r>
              <a:rPr lang="en-US" altLang="zh-CN" sz="2800" b="1" dirty="0">
                <a:solidFill>
                  <a:schemeClr val="hlink"/>
                </a:solidFill>
              </a:rPr>
              <a:t>print(</a:t>
            </a:r>
            <a:r>
              <a:rPr lang="en-US" altLang="zh-CN" sz="2800" b="1" dirty="0"/>
              <a:t>head</a:t>
            </a:r>
            <a:r>
              <a:rPr lang="en-US" altLang="zh-CN" sz="2800" b="1" dirty="0">
                <a:solidFill>
                  <a:schemeClr val="hlink"/>
                </a:solidFill>
              </a:rPr>
              <a:t>)</a:t>
            </a:r>
            <a:r>
              <a:rPr lang="en-US" altLang="zh-CN" sz="2800" b="1" dirty="0"/>
              <a:t>; 	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调用函数：输出原链表</a:t>
            </a: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   </a:t>
            </a:r>
            <a:r>
              <a:rPr lang="zh-CN" altLang="en-US" sz="2800" b="1" dirty="0">
                <a:solidFill>
                  <a:srgbClr val="FF0000"/>
                </a:solidFill>
              </a:rPr>
              <a:t>	</a:t>
            </a:r>
            <a:r>
              <a:rPr lang="en-US" altLang="zh-CN" sz="2800" b="1" dirty="0">
                <a:solidFill>
                  <a:srgbClr val="FF0000"/>
                </a:solidFill>
              </a:rPr>
              <a:t>head=</a:t>
            </a:r>
            <a:r>
              <a:rPr lang="en-US" altLang="zh-CN" sz="2800" b="1" dirty="0">
                <a:solidFill>
                  <a:schemeClr val="hlink"/>
                </a:solidFill>
              </a:rPr>
              <a:t>turnback(</a:t>
            </a:r>
            <a:r>
              <a:rPr lang="en-US" altLang="zh-CN" sz="2800" b="1" dirty="0"/>
              <a:t>head</a:t>
            </a:r>
            <a:r>
              <a:rPr lang="en-US" altLang="zh-CN" sz="2800" b="1" dirty="0">
                <a:solidFill>
                  <a:schemeClr val="hlink"/>
                </a:solidFill>
              </a:rPr>
              <a:t>)</a:t>
            </a:r>
            <a:r>
              <a:rPr lang="en-US" altLang="zh-CN" sz="2800" b="1" dirty="0"/>
              <a:t>; 	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调用函数：反序，返回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head</a:t>
            </a: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400" b="1" dirty="0">
                <a:solidFill>
                  <a:srgbClr val="FF0000"/>
                </a:solidFill>
              </a:rPr>
              <a:t>   </a:t>
            </a:r>
            <a:r>
              <a:rPr lang="en-US" altLang="zh-CN" sz="1800" b="1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75000"/>
                  </a:schemeClr>
                </a:solidFill>
              </a:rPr>
              <a:t>如不想通过返回值带回表头指针，也可通过参数带回，则调用形式为：</a:t>
            </a:r>
            <a:r>
              <a:rPr lang="en-US" altLang="zh-CN" sz="2000" b="1" dirty="0">
                <a:solidFill>
                  <a:srgbClr val="FFFF00"/>
                </a:solidFill>
              </a:rPr>
              <a:t>turnback2( </a:t>
            </a:r>
            <a:r>
              <a:rPr lang="en-US" altLang="zh-CN" sz="2000" b="1" dirty="0">
                <a:solidFill>
                  <a:srgbClr val="FF0000"/>
                </a:solidFill>
              </a:rPr>
              <a:t>&amp;</a:t>
            </a:r>
            <a:r>
              <a:rPr lang="en-US" altLang="zh-CN" sz="2000" b="1" dirty="0"/>
              <a:t>head </a:t>
            </a:r>
            <a:r>
              <a:rPr lang="en-US" altLang="zh-CN" sz="2000" b="1" dirty="0">
                <a:solidFill>
                  <a:srgbClr val="FFFF00"/>
                </a:solidFill>
              </a:rPr>
              <a:t>)</a:t>
            </a:r>
            <a:r>
              <a:rPr lang="en-US" altLang="zh-CN" sz="2000" b="1" dirty="0"/>
              <a:t>;</a:t>
            </a:r>
            <a:endParaRPr lang="en-US" altLang="zh-CN" sz="20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rgbClr val="FF0000"/>
                </a:solidFill>
              </a:rPr>
              <a:t>	【</a:t>
            </a:r>
            <a:r>
              <a:rPr lang="zh-CN" altLang="en-US" sz="2400" b="1" dirty="0">
                <a:solidFill>
                  <a:srgbClr val="FF0000"/>
                </a:solidFill>
              </a:rPr>
              <a:t>思考</a:t>
            </a:r>
            <a:r>
              <a:rPr lang="en-US" altLang="zh-CN" sz="2400" b="1" dirty="0">
                <a:solidFill>
                  <a:srgbClr val="FF0000"/>
                </a:solidFill>
              </a:rPr>
              <a:t>】&amp;head</a:t>
            </a:r>
            <a:r>
              <a:rPr lang="zh-CN" altLang="en-US" sz="2400" b="1" dirty="0">
                <a:solidFill>
                  <a:srgbClr val="FF0000"/>
                </a:solidFill>
              </a:rPr>
              <a:t>对应的形参类型是什么？</a:t>
            </a:r>
            <a:endParaRPr lang="en-US" altLang="zh-CN" sz="18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endParaRPr lang="zh-CN" altLang="en-US" sz="1800" b="1" dirty="0">
              <a:solidFill>
                <a:schemeClr val="tx1">
                  <a:lumMod val="75000"/>
                </a:schemeClr>
              </a:solidFill>
            </a:endParaRP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400" b="1" dirty="0"/>
              <a:t>	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("\n</a:t>
            </a:r>
            <a:r>
              <a:rPr lang="zh-CN" altLang="en-US" sz="2400" b="1" dirty="0"/>
              <a:t>反向链表为：</a:t>
            </a:r>
            <a:r>
              <a:rPr lang="en-US" altLang="zh-CN" sz="2400" b="1" dirty="0"/>
              <a:t>\n");</a:t>
            </a:r>
            <a:endParaRPr lang="en-US" altLang="zh-CN" sz="2400" b="1" dirty="0"/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</a:t>
            </a:r>
            <a:r>
              <a:rPr lang="en-US" altLang="zh-CN" sz="2800" b="1" dirty="0">
                <a:solidFill>
                  <a:schemeClr val="hlink"/>
                </a:solidFill>
              </a:rPr>
              <a:t>print(</a:t>
            </a:r>
            <a:r>
              <a:rPr lang="en-US" altLang="zh-CN" sz="2800" b="1" dirty="0"/>
              <a:t>head</a:t>
            </a:r>
            <a:r>
              <a:rPr lang="en-US" altLang="zh-CN" sz="2800" b="1" dirty="0">
                <a:solidFill>
                  <a:schemeClr val="hlink"/>
                </a:solidFill>
              </a:rPr>
              <a:t>)</a:t>
            </a:r>
            <a:r>
              <a:rPr lang="en-US" altLang="zh-CN" sz="2800" b="1" dirty="0"/>
              <a:t>; //</a:t>
            </a:r>
            <a:r>
              <a:rPr lang="zh-CN" altLang="en-US" sz="2800" b="1" dirty="0"/>
              <a:t>调用函数：输出反向链表</a:t>
            </a:r>
            <a:endParaRPr lang="en-US" altLang="zh-CN" sz="2800" b="1" dirty="0"/>
          </a:p>
        </p:txBody>
      </p:sp>
      <p:sp>
        <p:nvSpPr>
          <p:cNvPr id="409603" name="Rectangle 3"/>
          <p:cNvSpPr>
            <a:spLocks noChangeArrowheads="1"/>
          </p:cNvSpPr>
          <p:nvPr/>
        </p:nvSpPr>
        <p:spPr bwMode="auto">
          <a:xfrm>
            <a:off x="8267700" y="34925"/>
            <a:ext cx="3924300" cy="17843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//</a:t>
            </a:r>
            <a:r>
              <a:rPr lang="zh-CN" alt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结点类型定义</a:t>
            </a:r>
            <a:endParaRPr lang="zh-CN" altLang="en-US" sz="1400" dirty="0">
              <a:solidFill>
                <a:schemeClr val="accent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struct link {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int num; 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struct link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*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next;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24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};</a:t>
            </a:r>
            <a:endParaRPr lang="en-US" altLang="zh-CN" sz="24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7B1CD91-9637-4D77-AE5B-5292A21DCD24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9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09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960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0960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0960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0960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0960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0960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897523D-945A-4334-9FD6-BE7359AE120C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714500" y="152400"/>
            <a:ext cx="8496300" cy="65563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int m;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请输入待删除的结点关键字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:\n");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("%</a:t>
            </a:r>
            <a:r>
              <a:rPr lang="en-US" altLang="zh-CN" sz="2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d",&amp;m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altLang="zh-CN" sz="28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("\n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删除结点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%d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后，链表为：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n",m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del(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head,</a:t>
            </a:r>
            <a:r>
              <a:rPr lang="en-US" altLang="zh-CN" sz="28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   </a:t>
            </a:r>
            <a:r>
              <a:rPr lang="en-US" altLang="zh-CN" sz="2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删除指定结点</a:t>
            </a:r>
            <a:endParaRPr lang="zh-CN" altLang="zh-CN" sz="28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print(head);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("\n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排序后的链表为：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\n");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	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sort(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	print(head);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	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destroy(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	return 0;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55563" y="31750"/>
            <a:ext cx="8826501" cy="637063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 </a:t>
            </a: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create(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</a:t>
            </a: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4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创建链表</a:t>
            </a:r>
            <a:endParaRPr lang="zh-CN" altLang="zh-CN" sz="24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struct link *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 NULL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struct link *p0,*p1;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int 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请输入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%d</a:t>
            </a:r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个结点数据（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int)</a:t>
            </a:r>
            <a:r>
              <a:rPr lang="zh-CN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n",n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for(</a:t>
            </a:r>
            <a:r>
              <a:rPr lang="en-US" altLang="zh-CN" sz="24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=0; </a:t>
            </a:r>
            <a:r>
              <a:rPr lang="en-US" altLang="zh-CN" sz="24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&lt;n; </a:t>
            </a:r>
            <a:r>
              <a:rPr lang="en-US" altLang="zh-CN" sz="2400" kern="100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++) {</a:t>
            </a:r>
            <a:endParaRPr lang="zh-CN" altLang="zh-CN" sz="24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p1=(struct link*)malloc(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(struct link));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		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("%d",&amp;p1-&gt;num);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if(</a:t>
            </a:r>
            <a:r>
              <a:rPr lang="en-US" altLang="zh-CN" sz="24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==0) </a:t>
            </a:r>
            <a:r>
              <a:rPr lang="en-US" altLang="zh-CN" sz="24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4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表空</a:t>
            </a:r>
            <a:endParaRPr lang="zh-CN" altLang="zh-CN" sz="24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	head = p1;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else  </a:t>
            </a:r>
            <a:r>
              <a:rPr lang="en-US" altLang="zh-CN" sz="24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4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表非空</a:t>
            </a:r>
            <a:endParaRPr lang="zh-CN" altLang="zh-CN" sz="24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	p0-&gt;next=p1;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p0 = p1;</a:t>
            </a:r>
            <a:endParaRPr lang="zh-CN" altLang="zh-CN" sz="24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4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p1-&gt;next = NULL;</a:t>
            </a:r>
            <a:r>
              <a:rPr lang="en-US" altLang="zh-CN" sz="24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4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尾结点</a:t>
            </a:r>
            <a:endParaRPr lang="zh-CN" altLang="zh-CN" sz="24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return head;</a:t>
            </a:r>
            <a:endParaRPr lang="zh-CN" altLang="zh-CN" sz="24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zh-CN" altLang="zh-CN" sz="24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486E359-4DC7-474D-BC45-4E3EE04B59FB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11651" name="Text Box 3"/>
          <p:cNvSpPr txBox="1">
            <a:spLocks noChangeArrowheads="1"/>
          </p:cNvSpPr>
          <p:nvPr/>
        </p:nvSpPr>
        <p:spPr bwMode="auto">
          <a:xfrm>
            <a:off x="8743950" y="2960688"/>
            <a:ext cx="563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p1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1652" name="Text Box 4"/>
          <p:cNvSpPr txBox="1">
            <a:spLocks noChangeArrowheads="1"/>
          </p:cNvSpPr>
          <p:nvPr/>
        </p:nvSpPr>
        <p:spPr bwMode="auto">
          <a:xfrm>
            <a:off x="8312150" y="2995613"/>
            <a:ext cx="503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 flipH="1">
            <a:off x="7626350" y="2644775"/>
            <a:ext cx="70643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</a:rPr>
              <a:t>head</a:t>
            </a:r>
            <a:endParaRPr lang="en-US" altLang="zh-CN" sz="2000">
              <a:solidFill>
                <a:srgbClr val="FF0000"/>
              </a:solidFill>
            </a:endParaRPr>
          </a:p>
        </p:txBody>
      </p:sp>
      <p:sp>
        <p:nvSpPr>
          <p:cNvPr id="411654" name="Rectangle 6"/>
          <p:cNvSpPr>
            <a:spLocks noChangeArrowheads="1"/>
          </p:cNvSpPr>
          <p:nvPr/>
        </p:nvSpPr>
        <p:spPr bwMode="auto">
          <a:xfrm flipH="1">
            <a:off x="7632700" y="3057525"/>
            <a:ext cx="649288" cy="368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grpSp>
        <p:nvGrpSpPr>
          <p:cNvPr id="2" name="Group 7"/>
          <p:cNvGrpSpPr/>
          <p:nvPr/>
        </p:nvGrpSpPr>
        <p:grpSpPr bwMode="auto">
          <a:xfrm flipH="1">
            <a:off x="11191875" y="3536950"/>
            <a:ext cx="708025" cy="879475"/>
            <a:chOff x="0" y="0"/>
            <a:chExt cx="20000" cy="20000"/>
          </a:xfrm>
        </p:grpSpPr>
        <p:sp>
          <p:nvSpPr>
            <p:cNvPr id="44067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F0000"/>
                  </a:solidFill>
                </a:rPr>
                <a:t>NULL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44068" name="Line 9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58" name="Freeform 10"/>
          <p:cNvSpPr/>
          <p:nvPr/>
        </p:nvSpPr>
        <p:spPr bwMode="auto">
          <a:xfrm flipH="1">
            <a:off x="10544175" y="3752850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59" name="Freeform 11"/>
          <p:cNvSpPr/>
          <p:nvPr/>
        </p:nvSpPr>
        <p:spPr bwMode="auto">
          <a:xfrm flipH="1">
            <a:off x="9753600" y="3665538"/>
            <a:ext cx="650875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2"/>
          <p:cNvGrpSpPr/>
          <p:nvPr/>
        </p:nvGrpSpPr>
        <p:grpSpPr bwMode="auto">
          <a:xfrm flipH="1">
            <a:off x="9380538" y="3560763"/>
            <a:ext cx="709612" cy="898525"/>
            <a:chOff x="0" y="0"/>
            <a:chExt cx="20000" cy="20000"/>
          </a:xfrm>
        </p:grpSpPr>
        <p:sp>
          <p:nvSpPr>
            <p:cNvPr id="4406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4066" name="Line 14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 flipH="1">
            <a:off x="8301038" y="3560763"/>
            <a:ext cx="708025" cy="898525"/>
            <a:chOff x="0" y="0"/>
            <a:chExt cx="20000" cy="20000"/>
          </a:xfrm>
        </p:grpSpPr>
        <p:sp>
          <p:nvSpPr>
            <p:cNvPr id="44063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4064" name="Line 17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66" name="Freeform 18"/>
          <p:cNvSpPr/>
          <p:nvPr/>
        </p:nvSpPr>
        <p:spPr bwMode="auto">
          <a:xfrm flipH="1">
            <a:off x="8693150" y="3665538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67" name="Rectangle 19"/>
          <p:cNvSpPr>
            <a:spLocks noChangeArrowheads="1"/>
          </p:cNvSpPr>
          <p:nvPr/>
        </p:nvSpPr>
        <p:spPr bwMode="auto">
          <a:xfrm flipH="1">
            <a:off x="10304463" y="3794125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11668" name="Freeform 20"/>
          <p:cNvSpPr/>
          <p:nvPr/>
        </p:nvSpPr>
        <p:spPr bwMode="auto">
          <a:xfrm flipH="1">
            <a:off x="7927975" y="3265488"/>
            <a:ext cx="354013" cy="5080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69" name="Line 21"/>
          <p:cNvSpPr>
            <a:spLocks noChangeShapeType="1"/>
          </p:cNvSpPr>
          <p:nvPr/>
        </p:nvSpPr>
        <p:spPr bwMode="auto">
          <a:xfrm>
            <a:off x="8743950" y="317658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1670" name="Text Box 22"/>
          <p:cNvSpPr txBox="1">
            <a:spLocks noChangeArrowheads="1"/>
          </p:cNvSpPr>
          <p:nvPr/>
        </p:nvSpPr>
        <p:spPr bwMode="auto">
          <a:xfrm>
            <a:off x="9825038" y="2960688"/>
            <a:ext cx="5984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p1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1671" name="Text Box 23"/>
          <p:cNvSpPr txBox="1">
            <a:spLocks noChangeArrowheads="1"/>
          </p:cNvSpPr>
          <p:nvPr/>
        </p:nvSpPr>
        <p:spPr bwMode="auto">
          <a:xfrm>
            <a:off x="9393238" y="2995613"/>
            <a:ext cx="503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1672" name="Line 24"/>
          <p:cNvSpPr>
            <a:spLocks noChangeShapeType="1"/>
          </p:cNvSpPr>
          <p:nvPr/>
        </p:nvSpPr>
        <p:spPr bwMode="auto">
          <a:xfrm>
            <a:off x="9872663" y="317658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1673" name="Text Box 25"/>
          <p:cNvSpPr txBox="1">
            <a:spLocks noChangeArrowheads="1"/>
          </p:cNvSpPr>
          <p:nvPr/>
        </p:nvSpPr>
        <p:spPr bwMode="auto">
          <a:xfrm>
            <a:off x="11464925" y="2960688"/>
            <a:ext cx="5794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0000"/>
                </a:solidFill>
                <a:latin typeface="Arial" panose="020B0604020202020204" pitchFamily="34" charset="0"/>
              </a:rPr>
              <a:t>p1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1674" name="Line 26"/>
          <p:cNvSpPr>
            <a:spLocks noChangeShapeType="1"/>
          </p:cNvSpPr>
          <p:nvPr/>
        </p:nvSpPr>
        <p:spPr bwMode="auto">
          <a:xfrm>
            <a:off x="11553825" y="3176588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1675" name="Text Box 27"/>
          <p:cNvSpPr txBox="1">
            <a:spLocks noChangeArrowheads="1"/>
          </p:cNvSpPr>
          <p:nvPr/>
        </p:nvSpPr>
        <p:spPr bwMode="auto">
          <a:xfrm>
            <a:off x="8312150" y="36671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78" name="Text Box 30"/>
          <p:cNvSpPr txBox="1">
            <a:spLocks noChangeArrowheads="1"/>
          </p:cNvSpPr>
          <p:nvPr/>
        </p:nvSpPr>
        <p:spPr bwMode="auto">
          <a:xfrm>
            <a:off x="9393238" y="36671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80" name="Text Box 32"/>
          <p:cNvSpPr txBox="1">
            <a:spLocks noChangeArrowheads="1"/>
          </p:cNvSpPr>
          <p:nvPr/>
        </p:nvSpPr>
        <p:spPr bwMode="auto">
          <a:xfrm>
            <a:off x="10399713" y="3019425"/>
            <a:ext cx="5032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Arial" panose="020B0604020202020204" pitchFamily="34" charset="0"/>
              </a:rPr>
              <a:t>p0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11681" name="Line 33"/>
          <p:cNvSpPr>
            <a:spLocks noChangeShapeType="1"/>
          </p:cNvSpPr>
          <p:nvPr/>
        </p:nvSpPr>
        <p:spPr bwMode="auto">
          <a:xfrm>
            <a:off x="10833100" y="309086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11193463" y="359568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4059" name="左箭头 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11736388" y="5857875"/>
            <a:ext cx="428625" cy="500063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33338" y="34925"/>
            <a:ext cx="1687512" cy="423863"/>
          </a:xfrm>
          <a:prstGeom prst="rect">
            <a:avLst/>
          </a:prstGeom>
          <a:noFill/>
          <a:ln w="222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35" name="矩形 34"/>
          <p:cNvSpPr>
            <a:spLocks noChangeArrowheads="1"/>
          </p:cNvSpPr>
          <p:nvPr/>
        </p:nvSpPr>
        <p:spPr bwMode="auto">
          <a:xfrm>
            <a:off x="876300" y="5562600"/>
            <a:ext cx="1804988" cy="423863"/>
          </a:xfrm>
          <a:prstGeom prst="rect">
            <a:avLst/>
          </a:prstGeom>
          <a:noFill/>
          <a:ln w="22225" algn="ctr">
            <a:solidFill>
              <a:srgbClr val="FF0000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034088" y="4624388"/>
            <a:ext cx="6172200" cy="22463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【</a:t>
            </a:r>
            <a:r>
              <a:rPr lang="zh-CN" altLang="en-US" sz="2800"/>
              <a:t>思考</a:t>
            </a:r>
            <a:r>
              <a:rPr lang="en-US" altLang="zh-CN" sz="2800"/>
              <a:t>】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函数</a:t>
            </a:r>
            <a:r>
              <a:rPr lang="en-US" altLang="zh-CN" sz="2800"/>
              <a:t>create</a:t>
            </a:r>
            <a:r>
              <a:rPr lang="zh-CN" altLang="en-US" sz="2800"/>
              <a:t>如何将表头指针带回给主调函数？</a:t>
            </a:r>
            <a:endParaRPr lang="en-US" altLang="zh-CN" sz="28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/>
              <a:t>2.</a:t>
            </a:r>
            <a:r>
              <a:rPr lang="zh-CN" altLang="en-US" sz="2800"/>
              <a:t>如果</a:t>
            </a:r>
            <a:r>
              <a:rPr lang="en-US" altLang="zh-CN" sz="2800"/>
              <a:t>create</a:t>
            </a:r>
            <a:r>
              <a:rPr lang="zh-CN" altLang="en-US" sz="2800"/>
              <a:t>的返回类型为</a:t>
            </a:r>
            <a:r>
              <a:rPr lang="en-US" altLang="zh-CN" sz="2800"/>
              <a:t>void,</a:t>
            </a:r>
            <a:r>
              <a:rPr lang="zh-CN" altLang="en-US" sz="2800"/>
              <a:t>如何将表头指针带回给主调函数？</a:t>
            </a:r>
            <a:endParaRPr lang="zh-CN" altLang="en-US" sz="280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1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1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1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11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1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8" dur="500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411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41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1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0" dur="500"/>
                                        <p:tgtEl>
                                          <p:spTgt spid="4116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3" dur="5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1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4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1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4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411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4" dur="5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411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411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4116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41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1" grpId="0"/>
      <p:bldP spid="411651" grpId="1"/>
      <p:bldP spid="411652" grpId="0"/>
      <p:bldP spid="411652" grpId="1"/>
      <p:bldP spid="411653" grpId="0"/>
      <p:bldP spid="411654" grpId="0" animBg="1"/>
      <p:bldP spid="411667" grpId="0"/>
      <p:bldP spid="411670" grpId="0"/>
      <p:bldP spid="411670" grpId="1"/>
      <p:bldP spid="411671" grpId="0"/>
      <p:bldP spid="411671" grpId="1"/>
      <p:bldP spid="411673" grpId="0"/>
      <p:bldP spid="411675" grpId="0"/>
      <p:bldP spid="411678" grpId="0"/>
      <p:bldP spid="411680" grpId="0"/>
      <p:bldP spid="411682" grpId="0"/>
      <p:bldP spid="34" grpId="0" animBg="1"/>
      <p:bldP spid="35" grpId="0" animBg="1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586" y="102230"/>
            <a:ext cx="6218854" cy="4524315"/>
          </a:xfrm>
          <a:prstGeom prst="rect">
            <a:avLst/>
          </a:prstGeom>
          <a:ln w="38100">
            <a:solidFill>
              <a:schemeClr val="tx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 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create1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(int n)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创建链表</a:t>
            </a:r>
            <a:endParaRPr lang="zh-CN" altLang="zh-CN" sz="16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struct link *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h1= NULL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……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return h1;</a:t>
            </a:r>
            <a:endParaRPr lang="zh-CN" altLang="zh-CN" sz="3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 </a:t>
            </a:r>
            <a:endParaRPr lang="en-US" altLang="zh-CN" sz="32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=NULL;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create1 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(10);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703F345-6967-44B2-93E2-B6E27CA099F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 flipH="1">
            <a:off x="7230745" y="102230"/>
            <a:ext cx="70643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head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411654" name="Rectangle 6"/>
          <p:cNvSpPr>
            <a:spLocks noChangeArrowheads="1"/>
          </p:cNvSpPr>
          <p:nvPr/>
        </p:nvSpPr>
        <p:spPr bwMode="auto">
          <a:xfrm flipH="1">
            <a:off x="7229475" y="434819"/>
            <a:ext cx="1095375" cy="3683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grpSp>
        <p:nvGrpSpPr>
          <p:cNvPr id="2" name="Group 7"/>
          <p:cNvGrpSpPr/>
          <p:nvPr/>
        </p:nvGrpSpPr>
        <p:grpSpPr bwMode="auto">
          <a:xfrm flipH="1">
            <a:off x="11020425" y="1070059"/>
            <a:ext cx="708025" cy="1019175"/>
            <a:chOff x="0" y="0"/>
            <a:chExt cx="20000" cy="23197"/>
          </a:xfrm>
        </p:grpSpPr>
        <p:sp>
          <p:nvSpPr>
            <p:cNvPr id="46113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31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   </a:t>
              </a:r>
              <a:r>
                <a:rPr lang="en-US" altLang="zh-CN" sz="1800">
                  <a:solidFill>
                    <a:srgbClr val="FF0000"/>
                  </a:solidFill>
                </a:rPr>
                <a:t>.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46114" name="Line 9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58" name="Freeform 10"/>
          <p:cNvSpPr/>
          <p:nvPr/>
        </p:nvSpPr>
        <p:spPr bwMode="auto">
          <a:xfrm flipH="1">
            <a:off x="10372725" y="1285959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59" name="Freeform 11"/>
          <p:cNvSpPr/>
          <p:nvPr/>
        </p:nvSpPr>
        <p:spPr bwMode="auto">
          <a:xfrm flipH="1">
            <a:off x="9572625" y="1347872"/>
            <a:ext cx="650875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2"/>
          <p:cNvGrpSpPr/>
          <p:nvPr/>
        </p:nvGrpSpPr>
        <p:grpSpPr bwMode="auto">
          <a:xfrm flipH="1">
            <a:off x="9209088" y="1093872"/>
            <a:ext cx="709612" cy="1055687"/>
            <a:chOff x="0" y="0"/>
            <a:chExt cx="20000" cy="20000"/>
          </a:xfrm>
        </p:grpSpPr>
        <p:sp>
          <p:nvSpPr>
            <p:cNvPr id="46111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2" name="Line 14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 flipH="1">
            <a:off x="8129588" y="1093872"/>
            <a:ext cx="776287" cy="1055687"/>
            <a:chOff x="0" y="0"/>
            <a:chExt cx="20000" cy="20000"/>
          </a:xfrm>
        </p:grpSpPr>
        <p:sp>
          <p:nvSpPr>
            <p:cNvPr id="46109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0" name="Line 17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66" name="Freeform 18"/>
          <p:cNvSpPr/>
          <p:nvPr/>
        </p:nvSpPr>
        <p:spPr bwMode="auto">
          <a:xfrm flipH="1">
            <a:off x="8566150" y="1376447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67" name="Rectangle 19"/>
          <p:cNvSpPr>
            <a:spLocks noChangeArrowheads="1"/>
          </p:cNvSpPr>
          <p:nvPr/>
        </p:nvSpPr>
        <p:spPr bwMode="auto">
          <a:xfrm flipH="1">
            <a:off x="10133013" y="1327234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11668" name="Freeform 20"/>
          <p:cNvSpPr/>
          <p:nvPr/>
        </p:nvSpPr>
        <p:spPr bwMode="auto">
          <a:xfrm flipH="1">
            <a:off x="7756525" y="798597"/>
            <a:ext cx="354013" cy="5080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75" name="Text Box 27"/>
          <p:cNvSpPr txBox="1">
            <a:spLocks noChangeArrowheads="1"/>
          </p:cNvSpPr>
          <p:nvPr/>
        </p:nvSpPr>
        <p:spPr bwMode="auto">
          <a:xfrm>
            <a:off x="8140700" y="1200234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78" name="Text Box 30"/>
          <p:cNvSpPr txBox="1">
            <a:spLocks noChangeArrowheads="1"/>
          </p:cNvSpPr>
          <p:nvPr/>
        </p:nvSpPr>
        <p:spPr bwMode="auto">
          <a:xfrm>
            <a:off x="9221788" y="1200234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11022013" y="1128797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-10795" y="5042118"/>
            <a:ext cx="9929495" cy="181588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C000"/>
                </a:solidFill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</a:rPr>
              <a:t>课后实践</a:t>
            </a:r>
            <a:r>
              <a:rPr lang="en-US" altLang="zh-CN" sz="2800" dirty="0">
                <a:solidFill>
                  <a:srgbClr val="FFC000"/>
                </a:solidFill>
              </a:rPr>
              <a:t>】【</a:t>
            </a:r>
            <a:r>
              <a:rPr lang="zh-CN" altLang="en-US" sz="2800" dirty="0">
                <a:solidFill>
                  <a:srgbClr val="FFC000"/>
                </a:solidFill>
              </a:rPr>
              <a:t>对比实验</a:t>
            </a:r>
            <a:r>
              <a:rPr lang="en-US" altLang="zh-CN" sz="2800" dirty="0">
                <a:solidFill>
                  <a:srgbClr val="FFC000"/>
                </a:solidFill>
              </a:rPr>
              <a:t>】</a:t>
            </a:r>
            <a:endParaRPr lang="en-US" altLang="zh-CN" sz="2800" dirty="0">
              <a:solidFill>
                <a:srgbClr val="FFC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/>
              <a:t>编程实现函数</a:t>
            </a:r>
            <a:r>
              <a:rPr lang="en-US" altLang="zh-CN" sz="2800" dirty="0"/>
              <a:t>create1,create2</a:t>
            </a:r>
            <a:r>
              <a:rPr lang="zh-CN" altLang="en-US" sz="2800" dirty="0"/>
              <a:t>和</a:t>
            </a:r>
            <a:r>
              <a:rPr lang="en-US" altLang="zh-CN" sz="2800" dirty="0"/>
              <a:t>creat3</a:t>
            </a:r>
            <a:endParaRPr lang="en-US" altLang="zh-CN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掌握带回表头指针的不同方式</a:t>
            </a:r>
            <a:endParaRPr lang="en-US" altLang="zh-CN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理解：</a:t>
            </a:r>
            <a:r>
              <a:rPr lang="zh-CN" altLang="en-US" sz="2800" dirty="0">
                <a:solidFill>
                  <a:srgbClr val="FFC000"/>
                </a:solidFill>
              </a:rPr>
              <a:t>函数的返回值、指针作参数、二级指针作参数 </a:t>
            </a:r>
            <a:endParaRPr lang="en-US" altLang="zh-CN" sz="2800" dirty="0">
              <a:solidFill>
                <a:srgbClr val="FFC000"/>
              </a:solidFill>
            </a:endParaRPr>
          </a:p>
        </p:txBody>
      </p:sp>
      <p:cxnSp>
        <p:nvCxnSpPr>
          <p:cNvPr id="37" name="直接连接符 36"/>
          <p:cNvCxnSpPr>
            <a:cxnSpLocks noChangeShapeType="1"/>
          </p:cNvCxnSpPr>
          <p:nvPr/>
        </p:nvCxnSpPr>
        <p:spPr bwMode="auto">
          <a:xfrm flipV="1">
            <a:off x="6351588" y="962102"/>
            <a:ext cx="5567838" cy="53181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7977188" y="2552784"/>
            <a:ext cx="1081087" cy="339725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  <p:cxnSp>
        <p:nvCxnSpPr>
          <p:cNvPr id="34" name="直接箭头连接符 33"/>
          <p:cNvCxnSpPr>
            <a:cxnSpLocks noChangeShapeType="1"/>
          </p:cNvCxnSpPr>
          <p:nvPr/>
        </p:nvCxnSpPr>
        <p:spPr bwMode="auto">
          <a:xfrm flipV="1">
            <a:off x="8505825" y="2122572"/>
            <a:ext cx="1588" cy="396875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Rectangle 5"/>
          <p:cNvSpPr>
            <a:spLocks noChangeArrowheads="1"/>
          </p:cNvSpPr>
          <p:nvPr/>
        </p:nvSpPr>
        <p:spPr bwMode="auto">
          <a:xfrm flipH="1">
            <a:off x="7497763" y="2557229"/>
            <a:ext cx="82708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h1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160752" y="645951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主函数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174564" y="1007115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create1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318992" y="454137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NULL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8034328" y="2533672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NULL</a:t>
            </a:r>
            <a:endParaRPr lang="zh-CN" altLang="en-US" dirty="0"/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152556" y="2874883"/>
            <a:ext cx="5943444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箭头连接符 37"/>
          <p:cNvCxnSpPr/>
          <p:nvPr/>
        </p:nvCxnSpPr>
        <p:spPr bwMode="auto">
          <a:xfrm flipH="1">
            <a:off x="1169768" y="2089234"/>
            <a:ext cx="841257" cy="2101746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箭头连接符 38"/>
          <p:cNvCxnSpPr/>
          <p:nvPr/>
        </p:nvCxnSpPr>
        <p:spPr bwMode="auto">
          <a:xfrm flipV="1">
            <a:off x="2011025" y="618969"/>
            <a:ext cx="1418045" cy="3572011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3" grpId="0"/>
      <p:bldP spid="411654" grpId="0" bldLvl="0" animBg="1"/>
      <p:bldP spid="411658" grpId="0" bldLvl="0" animBg="1"/>
      <p:bldP spid="411659" grpId="0" bldLvl="0" animBg="1"/>
      <p:bldP spid="411666" grpId="0" bldLvl="0" animBg="1"/>
      <p:bldP spid="411667" grpId="0"/>
      <p:bldP spid="411668" grpId="0" bldLvl="0" animBg="1"/>
      <p:bldP spid="411675" grpId="0"/>
      <p:bldP spid="411678" grpId="0"/>
      <p:bldP spid="411682" grpId="0"/>
      <p:bldP spid="33" grpId="0" bldLvl="0" animBg="1"/>
      <p:bldP spid="40" grpId="0"/>
      <p:bldP spid="46" grpId="1"/>
      <p:bldP spid="46" grpId="2"/>
      <p:bldP spid="32" grpId="0"/>
      <p:bldP spid="32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5563" y="46038"/>
            <a:ext cx="6296025" cy="2308225"/>
          </a:xfrm>
          <a:prstGeom prst="rect">
            <a:avLst/>
          </a:prstGeom>
          <a:ln w="38100">
            <a:solidFill>
              <a:schemeClr val="tx1">
                <a:lumMod val="65000"/>
              </a:schemeClr>
            </a:solidFill>
          </a:ln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 create1(int n) //</a:t>
            </a:r>
            <a:r>
              <a:rPr lang="zh-CN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创建链表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struct link *h1= NULL;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……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return h1;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 </a:t>
            </a: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head=create1(10);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703F345-6967-44B2-93E2-B6E27CA099F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 flipH="1">
            <a:off x="7070725" y="1978025"/>
            <a:ext cx="70643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head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411654" name="Rectangle 6"/>
          <p:cNvSpPr>
            <a:spLocks noChangeArrowheads="1"/>
          </p:cNvSpPr>
          <p:nvPr/>
        </p:nvSpPr>
        <p:spPr bwMode="auto">
          <a:xfrm flipH="1">
            <a:off x="7208703" y="2319814"/>
            <a:ext cx="1095375" cy="3683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 NULL</a:t>
            </a:r>
            <a:endParaRPr lang="zh-CN" altLang="en-US" sz="2400" dirty="0"/>
          </a:p>
        </p:txBody>
      </p:sp>
      <p:grpSp>
        <p:nvGrpSpPr>
          <p:cNvPr id="2" name="Group 7"/>
          <p:cNvGrpSpPr/>
          <p:nvPr/>
        </p:nvGrpSpPr>
        <p:grpSpPr bwMode="auto">
          <a:xfrm flipH="1">
            <a:off x="11020291" y="3006725"/>
            <a:ext cx="708025" cy="1019175"/>
            <a:chOff x="0" y="0"/>
            <a:chExt cx="20000" cy="23197"/>
          </a:xfrm>
        </p:grpSpPr>
        <p:sp>
          <p:nvSpPr>
            <p:cNvPr id="46113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31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   </a:t>
              </a:r>
              <a:r>
                <a:rPr lang="en-US" altLang="zh-CN" sz="1800">
                  <a:solidFill>
                    <a:srgbClr val="FF0000"/>
                  </a:solidFill>
                </a:rPr>
                <a:t>.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46114" name="Line 9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58" name="Freeform 10"/>
          <p:cNvSpPr/>
          <p:nvPr/>
        </p:nvSpPr>
        <p:spPr bwMode="auto">
          <a:xfrm flipH="1">
            <a:off x="10372591" y="3222625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59" name="Freeform 11"/>
          <p:cNvSpPr/>
          <p:nvPr/>
        </p:nvSpPr>
        <p:spPr bwMode="auto">
          <a:xfrm flipH="1">
            <a:off x="9572491" y="3284538"/>
            <a:ext cx="650875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2"/>
          <p:cNvGrpSpPr/>
          <p:nvPr/>
        </p:nvGrpSpPr>
        <p:grpSpPr bwMode="auto">
          <a:xfrm flipH="1">
            <a:off x="9208954" y="3030538"/>
            <a:ext cx="709612" cy="1055687"/>
            <a:chOff x="0" y="0"/>
            <a:chExt cx="20000" cy="20000"/>
          </a:xfrm>
        </p:grpSpPr>
        <p:sp>
          <p:nvSpPr>
            <p:cNvPr id="46111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2" name="Line 14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 flipH="1">
            <a:off x="8129454" y="3030538"/>
            <a:ext cx="776287" cy="1055687"/>
            <a:chOff x="0" y="0"/>
            <a:chExt cx="20000" cy="20000"/>
          </a:xfrm>
        </p:grpSpPr>
        <p:sp>
          <p:nvSpPr>
            <p:cNvPr id="46109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0" name="Line 17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66" name="Freeform 18"/>
          <p:cNvSpPr/>
          <p:nvPr/>
        </p:nvSpPr>
        <p:spPr bwMode="auto">
          <a:xfrm flipH="1">
            <a:off x="8566016" y="3313113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67" name="Rectangle 19"/>
          <p:cNvSpPr>
            <a:spLocks noChangeArrowheads="1"/>
          </p:cNvSpPr>
          <p:nvPr/>
        </p:nvSpPr>
        <p:spPr bwMode="auto">
          <a:xfrm flipH="1">
            <a:off x="10132879" y="3263900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11675" name="Text Box 27"/>
          <p:cNvSpPr txBox="1">
            <a:spLocks noChangeArrowheads="1"/>
          </p:cNvSpPr>
          <p:nvPr/>
        </p:nvSpPr>
        <p:spPr bwMode="auto">
          <a:xfrm>
            <a:off x="8140566" y="313690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78" name="Text Box 30"/>
          <p:cNvSpPr txBox="1">
            <a:spLocks noChangeArrowheads="1"/>
          </p:cNvSpPr>
          <p:nvPr/>
        </p:nvSpPr>
        <p:spPr bwMode="auto">
          <a:xfrm>
            <a:off x="9221654" y="313690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11021879" y="3065463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6097" name="左箭头 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11736388" y="5857875"/>
            <a:ext cx="428625" cy="500063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6675" y="2422525"/>
            <a:ext cx="6306994" cy="4031873"/>
          </a:xfrm>
          <a:prstGeom prst="rect">
            <a:avLst/>
          </a:prstGeom>
          <a:noFill/>
          <a:ln w="38100">
            <a:solidFill>
              <a:schemeClr val="tx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create2(</a:t>
            </a:r>
            <a:r>
              <a:rPr lang="en-US" altLang="zh-CN" sz="2800" dirty="0">
                <a:solidFill>
                  <a:srgbClr val="FF0000"/>
                </a:solidFill>
              </a:rPr>
              <a:t>struct link </a:t>
            </a:r>
            <a:r>
              <a:rPr lang="zh-CN" altLang="en-US" sz="2800" dirty="0">
                <a:solidFill>
                  <a:srgbClr val="FF0000"/>
                </a:solidFill>
              </a:rPr>
              <a:t>*</a:t>
            </a:r>
            <a:r>
              <a:rPr lang="en-US" altLang="zh-CN" sz="2800" dirty="0">
                <a:solidFill>
                  <a:srgbClr val="FF0000"/>
                </a:solidFill>
              </a:rPr>
              <a:t>h</a:t>
            </a:r>
            <a:r>
              <a:rPr lang="zh-CN" altLang="en-US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8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……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h=……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 </a:t>
            </a:r>
            <a:endParaRPr lang="en-US" altLang="zh-CN" sz="32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=NULL;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create2(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head, n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直接连接符 31"/>
          <p:cNvCxnSpPr>
            <a:cxnSpLocks noChangeShapeType="1"/>
          </p:cNvCxnSpPr>
          <p:nvPr/>
        </p:nvCxnSpPr>
        <p:spPr bwMode="auto">
          <a:xfrm>
            <a:off x="6476990" y="2873058"/>
            <a:ext cx="5251326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7977054" y="4489450"/>
            <a:ext cx="1081087" cy="339725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  <p:cxnSp>
        <p:nvCxnSpPr>
          <p:cNvPr id="34" name="直接箭头连接符 33"/>
          <p:cNvCxnSpPr>
            <a:cxnSpLocks noChangeShapeType="1"/>
          </p:cNvCxnSpPr>
          <p:nvPr/>
        </p:nvCxnSpPr>
        <p:spPr bwMode="auto">
          <a:xfrm flipV="1">
            <a:off x="8505691" y="4059238"/>
            <a:ext cx="1588" cy="396875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Rectangle 5"/>
          <p:cNvSpPr>
            <a:spLocks noChangeArrowheads="1"/>
          </p:cNvSpPr>
          <p:nvPr/>
        </p:nvSpPr>
        <p:spPr bwMode="auto">
          <a:xfrm flipH="1">
            <a:off x="7783379" y="4491038"/>
            <a:ext cx="42068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h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402150" y="2484592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主函数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415962" y="2845756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create2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94519" y="4478903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NULL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351588" y="5631744"/>
            <a:ext cx="5860753" cy="1200329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en-US" sz="3600" dirty="0"/>
              <a:t>指针参数</a:t>
            </a:r>
            <a:r>
              <a:rPr lang="en-US" altLang="zh-CN" sz="3600" dirty="0"/>
              <a:t>h </a:t>
            </a:r>
            <a:r>
              <a:rPr lang="zh-CN" altLang="en-US" sz="36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 </a:t>
            </a:r>
            <a:r>
              <a:rPr lang="zh-CN" altLang="en-US" sz="3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将表头指针</a:t>
            </a:r>
            <a:endParaRPr lang="en-US" altLang="zh-CN" sz="36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36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带回</a:t>
            </a:r>
            <a:r>
              <a:rPr lang="zh-CN" altLang="en-US" sz="36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给主调函数的</a:t>
            </a:r>
            <a:r>
              <a:rPr lang="en-US" altLang="zh-CN" sz="36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endParaRPr lang="zh-CN" altLang="zh-CN" sz="36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连接符 36"/>
          <p:cNvCxnSpPr>
            <a:cxnSpLocks noChangeShapeType="1"/>
          </p:cNvCxnSpPr>
          <p:nvPr/>
        </p:nvCxnSpPr>
        <p:spPr bwMode="auto">
          <a:xfrm>
            <a:off x="228754" y="4714158"/>
            <a:ext cx="5867246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箭头连接符 37"/>
          <p:cNvCxnSpPr/>
          <p:nvPr/>
        </p:nvCxnSpPr>
        <p:spPr bwMode="auto">
          <a:xfrm flipV="1">
            <a:off x="2293197" y="2879820"/>
            <a:ext cx="2429768" cy="3126474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8" grpId="0" bldLvl="0" animBg="1"/>
      <p:bldP spid="411659" grpId="0" bldLvl="0" animBg="1"/>
      <p:bldP spid="411666" grpId="0" bldLvl="0" animBg="1"/>
      <p:bldP spid="411667" grpId="0"/>
      <p:bldP spid="411675" grpId="0"/>
      <p:bldP spid="411678" grpId="0"/>
      <p:bldP spid="411682" grpId="0"/>
      <p:bldP spid="33" grpId="0" bldLvl="0" animBg="1"/>
      <p:bldP spid="40" grpId="0"/>
      <p:bldP spid="7" grpId="0"/>
      <p:bldP spid="7" grpId="1"/>
      <p:bldP spid="5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5563" y="46038"/>
            <a:ext cx="5430853" cy="2308225"/>
          </a:xfrm>
          <a:prstGeom prst="rect">
            <a:avLst/>
          </a:prstGeom>
          <a:ln w="38100"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 create1(int n) //</a:t>
            </a:r>
            <a:r>
              <a:rPr lang="zh-CN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创建链表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struct link *h1= NULL;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……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return h1;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 </a:t>
            </a: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head=create1(10);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56228" y="5079253"/>
            <a:ext cx="28448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703F345-6967-44B2-93E2-B6E27CA099F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 flipH="1">
            <a:off x="7069189" y="3356816"/>
            <a:ext cx="70643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head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411654" name="Rectangle 6"/>
          <p:cNvSpPr>
            <a:spLocks noChangeArrowheads="1"/>
          </p:cNvSpPr>
          <p:nvPr/>
        </p:nvSpPr>
        <p:spPr bwMode="auto">
          <a:xfrm flipH="1">
            <a:off x="7207167" y="3698605"/>
            <a:ext cx="1095375" cy="3683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grpSp>
        <p:nvGrpSpPr>
          <p:cNvPr id="2" name="Group 7"/>
          <p:cNvGrpSpPr/>
          <p:nvPr/>
        </p:nvGrpSpPr>
        <p:grpSpPr bwMode="auto">
          <a:xfrm flipH="1">
            <a:off x="11018755" y="4385516"/>
            <a:ext cx="708025" cy="1019175"/>
            <a:chOff x="0" y="0"/>
            <a:chExt cx="20000" cy="23197"/>
          </a:xfrm>
        </p:grpSpPr>
        <p:sp>
          <p:nvSpPr>
            <p:cNvPr id="46113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31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   </a:t>
              </a:r>
              <a:r>
                <a:rPr lang="en-US" altLang="zh-CN" sz="1800">
                  <a:solidFill>
                    <a:srgbClr val="FF0000"/>
                  </a:solidFill>
                </a:rPr>
                <a:t>.</a:t>
              </a:r>
              <a:endParaRPr lang="en-US" altLang="zh-CN" sz="1800">
                <a:solidFill>
                  <a:srgbClr val="FF0000"/>
                </a:solidFill>
              </a:endParaRPr>
            </a:p>
          </p:txBody>
        </p:sp>
        <p:sp>
          <p:nvSpPr>
            <p:cNvPr id="46114" name="Line 9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58" name="Freeform 10"/>
          <p:cNvSpPr/>
          <p:nvPr/>
        </p:nvSpPr>
        <p:spPr bwMode="auto">
          <a:xfrm flipH="1">
            <a:off x="10371055" y="4601416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59" name="Freeform 11"/>
          <p:cNvSpPr/>
          <p:nvPr/>
        </p:nvSpPr>
        <p:spPr bwMode="auto">
          <a:xfrm flipH="1">
            <a:off x="9570955" y="4663329"/>
            <a:ext cx="650875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2"/>
          <p:cNvGrpSpPr/>
          <p:nvPr/>
        </p:nvGrpSpPr>
        <p:grpSpPr bwMode="auto">
          <a:xfrm flipH="1">
            <a:off x="9207418" y="4409329"/>
            <a:ext cx="709612" cy="1055687"/>
            <a:chOff x="0" y="0"/>
            <a:chExt cx="20000" cy="20000"/>
          </a:xfrm>
        </p:grpSpPr>
        <p:sp>
          <p:nvSpPr>
            <p:cNvPr id="46111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2" name="Line 14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 flipH="1">
            <a:off x="8127918" y="4409329"/>
            <a:ext cx="776287" cy="1055687"/>
            <a:chOff x="0" y="0"/>
            <a:chExt cx="20000" cy="20000"/>
          </a:xfrm>
        </p:grpSpPr>
        <p:sp>
          <p:nvSpPr>
            <p:cNvPr id="46109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0" name="Line 17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66" name="Freeform 18"/>
          <p:cNvSpPr/>
          <p:nvPr/>
        </p:nvSpPr>
        <p:spPr bwMode="auto">
          <a:xfrm flipH="1">
            <a:off x="8564480" y="4691904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67" name="Rectangle 19"/>
          <p:cNvSpPr>
            <a:spLocks noChangeArrowheads="1"/>
          </p:cNvSpPr>
          <p:nvPr/>
        </p:nvSpPr>
        <p:spPr bwMode="auto">
          <a:xfrm flipH="1">
            <a:off x="10131343" y="4642691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11668" name="Freeform 20"/>
          <p:cNvSpPr/>
          <p:nvPr/>
        </p:nvSpPr>
        <p:spPr bwMode="auto">
          <a:xfrm flipH="1">
            <a:off x="7754855" y="4114054"/>
            <a:ext cx="354013" cy="5080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75" name="Text Box 27"/>
          <p:cNvSpPr txBox="1">
            <a:spLocks noChangeArrowheads="1"/>
          </p:cNvSpPr>
          <p:nvPr/>
        </p:nvSpPr>
        <p:spPr bwMode="auto">
          <a:xfrm>
            <a:off x="8139030" y="4515691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78" name="Text Box 30"/>
          <p:cNvSpPr txBox="1">
            <a:spLocks noChangeArrowheads="1"/>
          </p:cNvSpPr>
          <p:nvPr/>
        </p:nvSpPr>
        <p:spPr bwMode="auto">
          <a:xfrm>
            <a:off x="9220118" y="4515691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11020343" y="4444254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6880482" y="5105370"/>
            <a:ext cx="1096962" cy="3810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auto">
          <a:xfrm flipH="1">
            <a:off x="6804497" y="4763341"/>
            <a:ext cx="97948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pH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565654" y="85724"/>
            <a:ext cx="5430853" cy="2246313"/>
          </a:xfrm>
          <a:prstGeom prst="rect">
            <a:avLst/>
          </a:prstGeom>
          <a:noFill/>
          <a:ln w="38100"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create2(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struct link 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*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h</a:t>
            </a: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n) 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……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h=……</a:t>
            </a: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 </a:t>
            </a: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create2(head, n);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0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</a:rPr>
              <a:t> h </a:t>
            </a:r>
            <a:r>
              <a:rPr lang="zh-CN" altLang="en-US" sz="20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不能修改主调函数中的 </a:t>
            </a:r>
            <a:r>
              <a:rPr lang="en-US" altLang="zh-CN" sz="20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endParaRPr lang="zh-CN" altLang="zh-CN" sz="20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-14206" y="2849808"/>
            <a:ext cx="6299200" cy="4031873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create3</a:t>
            </a:r>
            <a:r>
              <a:rPr lang="en-US" altLang="zh-CN" sz="24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</a:rPr>
              <a:t>struct link *</a:t>
            </a:r>
            <a:r>
              <a:rPr lang="zh-CN" altLang="en-US" sz="2400" dirty="0">
                <a:solidFill>
                  <a:srgbClr val="FF0000"/>
                </a:solidFill>
              </a:rPr>
              <a:t>*</a:t>
            </a:r>
            <a:r>
              <a:rPr lang="en-US" altLang="zh-CN" sz="2400" dirty="0">
                <a:solidFill>
                  <a:srgbClr val="FF0000"/>
                </a:solidFill>
              </a:rPr>
              <a:t>pH </a:t>
            </a:r>
            <a:r>
              <a:rPr lang="zh-CN" altLang="en-US" sz="24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</a:t>
            </a:r>
            <a:r>
              <a:rPr lang="en-US" altLang="zh-CN" sz="24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sz="24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（*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pH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=……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</a:t>
            </a:r>
            <a:endParaRPr lang="en-US" altLang="zh-CN" sz="32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=NULL;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create3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,10);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直接连接符 31"/>
          <p:cNvCxnSpPr>
            <a:cxnSpLocks noChangeShapeType="1"/>
          </p:cNvCxnSpPr>
          <p:nvPr/>
        </p:nvCxnSpPr>
        <p:spPr bwMode="auto">
          <a:xfrm>
            <a:off x="6475454" y="4251849"/>
            <a:ext cx="5251326" cy="0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34"/>
          <p:cNvSpPr txBox="1"/>
          <p:nvPr/>
        </p:nvSpPr>
        <p:spPr>
          <a:xfrm>
            <a:off x="6400614" y="3863383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主函数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414426" y="4224547"/>
            <a:ext cx="109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create3</a:t>
            </a:r>
            <a:endParaRPr lang="zh-CN" alt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1" name="直接箭头连接符 10"/>
          <p:cNvCxnSpPr>
            <a:endCxn id="35" idx="3"/>
          </p:cNvCxnSpPr>
          <p:nvPr/>
        </p:nvCxnSpPr>
        <p:spPr bwMode="auto">
          <a:xfrm flipV="1">
            <a:off x="7495989" y="4048049"/>
            <a:ext cx="0" cy="1031206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45" name="文本框 44"/>
          <p:cNvSpPr txBox="1"/>
          <p:nvPr/>
        </p:nvSpPr>
        <p:spPr>
          <a:xfrm>
            <a:off x="7304130" y="3691062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NULL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6988868" y="5142160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&amp;head</a:t>
            </a:r>
            <a:endParaRPr lang="zh-CN" altLang="en-US" dirty="0"/>
          </a:p>
        </p:txBody>
      </p:sp>
      <p:cxnSp>
        <p:nvCxnSpPr>
          <p:cNvPr id="33" name="直接连接符 32"/>
          <p:cNvCxnSpPr>
            <a:cxnSpLocks noChangeShapeType="1"/>
          </p:cNvCxnSpPr>
          <p:nvPr/>
        </p:nvCxnSpPr>
        <p:spPr bwMode="auto">
          <a:xfrm flipV="1">
            <a:off x="55563" y="5105370"/>
            <a:ext cx="6040437" cy="502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直接箭头连接符 36"/>
          <p:cNvCxnSpPr/>
          <p:nvPr/>
        </p:nvCxnSpPr>
        <p:spPr bwMode="auto">
          <a:xfrm flipV="1">
            <a:off x="2204535" y="3373935"/>
            <a:ext cx="2429768" cy="3126474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411658" grpId="0" bldLvl="0" animBg="1"/>
      <p:bldP spid="411659" grpId="0" bldLvl="0" animBg="1"/>
      <p:bldP spid="411666" grpId="0" bldLvl="0" animBg="1"/>
      <p:bldP spid="411667" grpId="0"/>
      <p:bldP spid="411668" grpId="0" bldLvl="0" animBg="1"/>
      <p:bldP spid="411675" grpId="0"/>
      <p:bldP spid="411678" grpId="0"/>
      <p:bldP spid="411682" grpId="0"/>
      <p:bldP spid="38" grpId="0" bldLvl="0" animBg="1"/>
      <p:bldP spid="41" grpId="0"/>
      <p:bldP spid="45" grpId="1"/>
      <p:bldP spid="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14025" y="6353175"/>
            <a:ext cx="95726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229B1EE-7CCB-4DE4-B175-0995D509BEA6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577975" y="315913"/>
            <a:ext cx="9036050" cy="43402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删除指定结点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endParaRPr lang="en-US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del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(struct link *head, 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key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32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  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struct link * 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指向待删除结点，释放结点用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//head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直接移到第一个非</a:t>
            </a: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的结点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while(head!=NULL 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&amp;&amp; </a:t>
            </a:r>
            <a:r>
              <a:rPr lang="en-US" altLang="zh-CN" sz="3200" kern="10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head-&gt;num==key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{	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=head;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	head = head-&gt;next;</a:t>
            </a:r>
            <a:endParaRPr lang="zh-CN" altLang="zh-CN" sz="3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	free(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8132" name="Group 12"/>
          <p:cNvGrpSpPr/>
          <p:nvPr/>
        </p:nvGrpSpPr>
        <p:grpSpPr bwMode="auto">
          <a:xfrm flipH="1">
            <a:off x="8689975" y="5581650"/>
            <a:ext cx="708025" cy="879475"/>
            <a:chOff x="0" y="0"/>
            <a:chExt cx="20000" cy="20000"/>
          </a:xfrm>
        </p:grpSpPr>
        <p:sp>
          <p:nvSpPr>
            <p:cNvPr id="48159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</a:t>
              </a: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8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NULL</a:t>
              </a:r>
              <a:endParaRPr lang="en-US" altLang="zh-CN" sz="1800"/>
            </a:p>
          </p:txBody>
        </p:sp>
        <p:sp>
          <p:nvSpPr>
            <p:cNvPr id="48160" name="Line 14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133" name="Freeform 18"/>
          <p:cNvSpPr/>
          <p:nvPr/>
        </p:nvSpPr>
        <p:spPr bwMode="auto">
          <a:xfrm flipH="1">
            <a:off x="8042275" y="5718175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4" name="Rectangle 28"/>
          <p:cNvSpPr>
            <a:spLocks noChangeArrowheads="1"/>
          </p:cNvSpPr>
          <p:nvPr/>
        </p:nvSpPr>
        <p:spPr bwMode="auto">
          <a:xfrm flipH="1">
            <a:off x="7802563" y="5838825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8135" name="Freeform 20"/>
          <p:cNvSpPr/>
          <p:nvPr/>
        </p:nvSpPr>
        <p:spPr bwMode="auto">
          <a:xfrm flipH="1">
            <a:off x="7537450" y="5729288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8136" name="Group 21"/>
          <p:cNvGrpSpPr/>
          <p:nvPr/>
        </p:nvGrpSpPr>
        <p:grpSpPr bwMode="auto">
          <a:xfrm flipH="1">
            <a:off x="7164388" y="5624513"/>
            <a:ext cx="709612" cy="898525"/>
            <a:chOff x="0" y="0"/>
            <a:chExt cx="20000" cy="20000"/>
          </a:xfrm>
        </p:grpSpPr>
        <p:sp>
          <p:nvSpPr>
            <p:cNvPr id="48157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3</a:t>
              </a:r>
              <a:endParaRPr lang="en-US" altLang="zh-CN"/>
            </a:p>
          </p:txBody>
        </p:sp>
        <p:sp>
          <p:nvSpPr>
            <p:cNvPr id="48158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34"/>
          <p:cNvGrpSpPr/>
          <p:nvPr/>
        </p:nvGrpSpPr>
        <p:grpSpPr bwMode="auto">
          <a:xfrm>
            <a:off x="2566988" y="4997450"/>
            <a:ext cx="4559300" cy="1525588"/>
            <a:chOff x="1557636" y="5105241"/>
            <a:chExt cx="4559821" cy="1526540"/>
          </a:xfrm>
        </p:grpSpPr>
        <p:sp>
          <p:nvSpPr>
            <p:cNvPr id="48142" name="Rectangle 7"/>
            <p:cNvSpPr>
              <a:spLocks noChangeArrowheads="1"/>
            </p:cNvSpPr>
            <p:nvPr/>
          </p:nvSpPr>
          <p:spPr bwMode="auto">
            <a:xfrm flipH="1">
              <a:off x="1557636" y="5105241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head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  <p:sp>
          <p:nvSpPr>
            <p:cNvPr id="48143" name="Rectangle 9"/>
            <p:cNvSpPr>
              <a:spLocks noChangeArrowheads="1"/>
            </p:cNvSpPr>
            <p:nvPr/>
          </p:nvSpPr>
          <p:spPr bwMode="auto">
            <a:xfrm flipH="1">
              <a:off x="2318049" y="5210016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8144" name="Freeform 20"/>
            <p:cNvSpPr/>
            <p:nvPr/>
          </p:nvSpPr>
          <p:spPr bwMode="auto">
            <a:xfrm flipH="1">
              <a:off x="4438949" y="5818028"/>
              <a:ext cx="650875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145" name="Group 21"/>
            <p:cNvGrpSpPr/>
            <p:nvPr/>
          </p:nvGrpSpPr>
          <p:grpSpPr bwMode="auto">
            <a:xfrm flipH="1">
              <a:off x="4065886" y="5713253"/>
              <a:ext cx="709613" cy="898525"/>
              <a:chOff x="0" y="0"/>
              <a:chExt cx="20000" cy="20000"/>
            </a:xfrm>
          </p:grpSpPr>
          <p:sp>
            <p:nvSpPr>
              <p:cNvPr id="48155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</a:t>
                </a:r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en-US" altLang="zh-CN">
                  <a:solidFill>
                    <a:srgbClr val="FF0000"/>
                  </a:solidFill>
                </a:endParaRPr>
              </a:p>
            </p:txBody>
          </p:sp>
          <p:sp>
            <p:nvSpPr>
              <p:cNvPr id="48156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6" name="Group 24"/>
            <p:cNvGrpSpPr/>
            <p:nvPr/>
          </p:nvGrpSpPr>
          <p:grpSpPr bwMode="auto">
            <a:xfrm flipH="1">
              <a:off x="2986386" y="5713253"/>
              <a:ext cx="708025" cy="898525"/>
              <a:chOff x="0" y="0"/>
              <a:chExt cx="20000" cy="20000"/>
            </a:xfrm>
          </p:grpSpPr>
          <p:sp>
            <p:nvSpPr>
              <p:cNvPr id="48153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</a:t>
                </a:r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8154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47" name="Freeform 27"/>
            <p:cNvSpPr/>
            <p:nvPr/>
          </p:nvSpPr>
          <p:spPr bwMode="auto">
            <a:xfrm flipH="1">
              <a:off x="3378499" y="5818028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8" name="Freeform 29"/>
            <p:cNvSpPr/>
            <p:nvPr/>
          </p:nvSpPr>
          <p:spPr bwMode="auto">
            <a:xfrm flipH="1">
              <a:off x="2613324" y="5417978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149" name="Group 24"/>
            <p:cNvGrpSpPr/>
            <p:nvPr/>
          </p:nvGrpSpPr>
          <p:grpSpPr bwMode="auto">
            <a:xfrm flipH="1">
              <a:off x="5076056" y="5733256"/>
              <a:ext cx="708025" cy="898525"/>
              <a:chOff x="0" y="0"/>
              <a:chExt cx="20000" cy="20000"/>
            </a:xfrm>
          </p:grpSpPr>
          <p:sp>
            <p:nvSpPr>
              <p:cNvPr id="48151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</a:t>
                </a:r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8152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50" name="Freeform 27"/>
            <p:cNvSpPr/>
            <p:nvPr/>
          </p:nvSpPr>
          <p:spPr bwMode="auto">
            <a:xfrm flipH="1">
              <a:off x="5468169" y="5838031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33"/>
          <p:cNvGrpSpPr/>
          <p:nvPr/>
        </p:nvGrpSpPr>
        <p:grpSpPr bwMode="auto">
          <a:xfrm>
            <a:off x="5726113" y="4976813"/>
            <a:ext cx="1409700" cy="820737"/>
            <a:chOff x="4716016" y="5085184"/>
            <a:chExt cx="1409701" cy="820737"/>
          </a:xfrm>
        </p:grpSpPr>
        <p:sp>
          <p:nvSpPr>
            <p:cNvPr id="48139" name="Rectangle 7"/>
            <p:cNvSpPr>
              <a:spLocks noChangeArrowheads="1"/>
            </p:cNvSpPr>
            <p:nvPr/>
          </p:nvSpPr>
          <p:spPr bwMode="auto">
            <a:xfrm flipH="1">
              <a:off x="4716016" y="5085184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head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  <p:sp>
          <p:nvSpPr>
            <p:cNvPr id="48140" name="Rectangle 9"/>
            <p:cNvSpPr>
              <a:spLocks noChangeArrowheads="1"/>
            </p:cNvSpPr>
            <p:nvPr/>
          </p:nvSpPr>
          <p:spPr bwMode="auto">
            <a:xfrm flipH="1">
              <a:off x="5476429" y="5189959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8141" name="Freeform 29"/>
            <p:cNvSpPr/>
            <p:nvPr/>
          </p:nvSpPr>
          <p:spPr bwMode="auto">
            <a:xfrm flipH="1">
              <a:off x="5771704" y="5397921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CF9BB78-953C-408B-BE8E-959D6750262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631950" y="-100013"/>
            <a:ext cx="9144000" cy="4032251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	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//head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已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指向第一个非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结点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p=head;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struct link *p0=NULL,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*p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head; 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while(p!=NULL)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思考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什么情况下，首次执行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就是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NULL</a:t>
            </a:r>
            <a:endParaRPr lang="en-US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if(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p-&gt;num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!=key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当前结点</a:t>
            </a:r>
            <a:r>
              <a:rPr lang="zh-CN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不删</a:t>
            </a:r>
            <a:endParaRPr lang="zh-CN" altLang="zh-CN" sz="3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p0=p;</a:t>
            </a:r>
            <a:endParaRPr lang="zh-CN" altLang="zh-CN" sz="32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endParaRPr lang="en-US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{……} </a:t>
            </a:r>
            <a:endParaRPr lang="en-US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p=p-&gt;next; //p</a:t>
            </a:r>
            <a:r>
              <a:rPr lang="zh-CN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后移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156" name="Group 12"/>
          <p:cNvGrpSpPr/>
          <p:nvPr/>
        </p:nvGrpSpPr>
        <p:grpSpPr bwMode="auto">
          <a:xfrm flipH="1">
            <a:off x="8124825" y="4752975"/>
            <a:ext cx="708025" cy="879475"/>
            <a:chOff x="0" y="0"/>
            <a:chExt cx="20000" cy="20000"/>
          </a:xfrm>
        </p:grpSpPr>
        <p:sp>
          <p:nvSpPr>
            <p:cNvPr id="49201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</a:t>
              </a: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8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NULL</a:t>
              </a:r>
              <a:endParaRPr lang="en-US" altLang="zh-CN" sz="1800"/>
            </a:p>
          </p:txBody>
        </p:sp>
        <p:sp>
          <p:nvSpPr>
            <p:cNvPr id="49202" name="Line 14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57" name="Freeform 18"/>
          <p:cNvSpPr/>
          <p:nvPr/>
        </p:nvSpPr>
        <p:spPr bwMode="auto">
          <a:xfrm flipH="1">
            <a:off x="7477125" y="4889500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8" name="Rectangle 28"/>
          <p:cNvSpPr>
            <a:spLocks noChangeArrowheads="1"/>
          </p:cNvSpPr>
          <p:nvPr/>
        </p:nvSpPr>
        <p:spPr bwMode="auto">
          <a:xfrm flipH="1">
            <a:off x="7237413" y="5010150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9159" name="Freeform 20"/>
          <p:cNvSpPr/>
          <p:nvPr/>
        </p:nvSpPr>
        <p:spPr bwMode="auto">
          <a:xfrm flipH="1">
            <a:off x="6972300" y="4902200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9160" name="Group 21"/>
          <p:cNvGrpSpPr/>
          <p:nvPr/>
        </p:nvGrpSpPr>
        <p:grpSpPr bwMode="auto">
          <a:xfrm flipH="1">
            <a:off x="6599238" y="4797425"/>
            <a:ext cx="709612" cy="898525"/>
            <a:chOff x="0" y="0"/>
            <a:chExt cx="20000" cy="20000"/>
          </a:xfrm>
        </p:grpSpPr>
        <p:sp>
          <p:nvSpPr>
            <p:cNvPr id="49199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8</a:t>
              </a:r>
              <a:endParaRPr lang="en-US" altLang="zh-CN"/>
            </a:p>
          </p:txBody>
        </p:sp>
        <p:sp>
          <p:nvSpPr>
            <p:cNvPr id="49200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61" name="组合 15"/>
          <p:cNvGrpSpPr/>
          <p:nvPr/>
        </p:nvGrpSpPr>
        <p:grpSpPr bwMode="auto">
          <a:xfrm>
            <a:off x="2001838" y="4168775"/>
            <a:ext cx="4559300" cy="1527175"/>
            <a:chOff x="1557636" y="5105241"/>
            <a:chExt cx="4559821" cy="1526540"/>
          </a:xfrm>
        </p:grpSpPr>
        <p:sp>
          <p:nvSpPr>
            <p:cNvPr id="49184" name="Rectangle 7"/>
            <p:cNvSpPr>
              <a:spLocks noChangeArrowheads="1"/>
            </p:cNvSpPr>
            <p:nvPr/>
          </p:nvSpPr>
          <p:spPr bwMode="auto">
            <a:xfrm flipH="1">
              <a:off x="1557636" y="5105241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head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  <p:sp>
          <p:nvSpPr>
            <p:cNvPr id="49185" name="Rectangle 9"/>
            <p:cNvSpPr>
              <a:spLocks noChangeArrowheads="1"/>
            </p:cNvSpPr>
            <p:nvPr/>
          </p:nvSpPr>
          <p:spPr bwMode="auto">
            <a:xfrm flipH="1">
              <a:off x="2318049" y="5210016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9186" name="Freeform 20"/>
            <p:cNvSpPr/>
            <p:nvPr/>
          </p:nvSpPr>
          <p:spPr bwMode="auto">
            <a:xfrm flipH="1">
              <a:off x="4438949" y="5818028"/>
              <a:ext cx="650875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187" name="Group 21"/>
            <p:cNvGrpSpPr/>
            <p:nvPr/>
          </p:nvGrpSpPr>
          <p:grpSpPr bwMode="auto">
            <a:xfrm flipH="1">
              <a:off x="4065886" y="5713253"/>
              <a:ext cx="709613" cy="898525"/>
              <a:chOff x="0" y="0"/>
              <a:chExt cx="20000" cy="20000"/>
            </a:xfrm>
          </p:grpSpPr>
          <p:sp>
            <p:nvSpPr>
              <p:cNvPr id="49197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4</a:t>
                </a:r>
                <a:endParaRPr lang="en-US" altLang="zh-CN"/>
              </a:p>
            </p:txBody>
          </p:sp>
          <p:sp>
            <p:nvSpPr>
              <p:cNvPr id="49198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8" name="Group 24"/>
            <p:cNvGrpSpPr/>
            <p:nvPr/>
          </p:nvGrpSpPr>
          <p:grpSpPr bwMode="auto">
            <a:xfrm flipH="1">
              <a:off x="2986386" y="5713253"/>
              <a:ext cx="708025" cy="898525"/>
              <a:chOff x="0" y="0"/>
              <a:chExt cx="20000" cy="20000"/>
            </a:xfrm>
          </p:grpSpPr>
          <p:sp>
            <p:nvSpPr>
              <p:cNvPr id="49195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3</a:t>
                </a:r>
                <a:endParaRPr lang="zh-CN" altLang="en-US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9196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89" name="Freeform 27"/>
            <p:cNvSpPr/>
            <p:nvPr/>
          </p:nvSpPr>
          <p:spPr bwMode="auto">
            <a:xfrm flipH="1">
              <a:off x="3378499" y="5818028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0" name="Freeform 29"/>
            <p:cNvSpPr/>
            <p:nvPr/>
          </p:nvSpPr>
          <p:spPr bwMode="auto">
            <a:xfrm flipH="1">
              <a:off x="2613324" y="5417978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191" name="Group 24"/>
            <p:cNvGrpSpPr/>
            <p:nvPr/>
          </p:nvGrpSpPr>
          <p:grpSpPr bwMode="auto">
            <a:xfrm flipH="1">
              <a:off x="5076056" y="5733256"/>
              <a:ext cx="708025" cy="898525"/>
              <a:chOff x="0" y="0"/>
              <a:chExt cx="20000" cy="20000"/>
            </a:xfrm>
          </p:grpSpPr>
          <p:sp>
            <p:nvSpPr>
              <p:cNvPr id="49193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</a:t>
                </a:r>
                <a:r>
                  <a:rPr lang="en-US" altLang="zh-CN">
                    <a:solidFill>
                      <a:srgbClr val="FF0000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9194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92" name="Freeform 27"/>
            <p:cNvSpPr/>
            <p:nvPr/>
          </p:nvSpPr>
          <p:spPr bwMode="auto">
            <a:xfrm flipH="1">
              <a:off x="5468169" y="5838031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40"/>
          <p:cNvGrpSpPr/>
          <p:nvPr/>
        </p:nvGrpSpPr>
        <p:grpSpPr bwMode="auto">
          <a:xfrm>
            <a:off x="2141538" y="5695950"/>
            <a:ext cx="566737" cy="704850"/>
            <a:chOff x="617866" y="5695677"/>
            <a:chExt cx="566088" cy="705654"/>
          </a:xfrm>
        </p:grpSpPr>
        <p:cxnSp>
          <p:nvCxnSpPr>
            <p:cNvPr id="49182" name="直接箭头连接符 37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83" name="文本框 38"/>
            <p:cNvSpPr txBox="1">
              <a:spLocks noChangeArrowheads="1"/>
            </p:cNvSpPr>
            <p:nvPr/>
          </p:nvSpPr>
          <p:spPr bwMode="auto">
            <a:xfrm>
              <a:off x="617866" y="5935407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41"/>
          <p:cNvGrpSpPr/>
          <p:nvPr/>
        </p:nvGrpSpPr>
        <p:grpSpPr bwMode="auto">
          <a:xfrm>
            <a:off x="3548063" y="5695950"/>
            <a:ext cx="566737" cy="704850"/>
            <a:chOff x="1734626" y="5695677"/>
            <a:chExt cx="566088" cy="705654"/>
          </a:xfrm>
        </p:grpSpPr>
        <p:cxnSp>
          <p:nvCxnSpPr>
            <p:cNvPr id="49180" name="直接箭头连接符 36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81" name="文本框 39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组合 42"/>
          <p:cNvGrpSpPr/>
          <p:nvPr/>
        </p:nvGrpSpPr>
        <p:grpSpPr bwMode="auto">
          <a:xfrm>
            <a:off x="4657725" y="5695950"/>
            <a:ext cx="566738" cy="704850"/>
            <a:chOff x="1734626" y="5695677"/>
            <a:chExt cx="566088" cy="705654"/>
          </a:xfrm>
        </p:grpSpPr>
        <p:cxnSp>
          <p:nvCxnSpPr>
            <p:cNvPr id="49178" name="直接箭头连接符 43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9" name="文本框 44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3" name="组合 45"/>
          <p:cNvGrpSpPr/>
          <p:nvPr/>
        </p:nvGrpSpPr>
        <p:grpSpPr bwMode="auto">
          <a:xfrm>
            <a:off x="2987675" y="5700713"/>
            <a:ext cx="565150" cy="704850"/>
            <a:chOff x="617866" y="5695677"/>
            <a:chExt cx="566088" cy="705654"/>
          </a:xfrm>
        </p:grpSpPr>
        <p:cxnSp>
          <p:nvCxnSpPr>
            <p:cNvPr id="49176" name="直接箭头连接符 46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7" name="文本框 47"/>
            <p:cNvSpPr txBox="1">
              <a:spLocks noChangeArrowheads="1"/>
            </p:cNvSpPr>
            <p:nvPr/>
          </p:nvSpPr>
          <p:spPr bwMode="auto">
            <a:xfrm>
              <a:off x="617866" y="5935407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组合 43"/>
          <p:cNvGrpSpPr/>
          <p:nvPr/>
        </p:nvGrpSpPr>
        <p:grpSpPr bwMode="auto">
          <a:xfrm>
            <a:off x="4044950" y="5691188"/>
            <a:ext cx="566738" cy="704850"/>
            <a:chOff x="617866" y="5695677"/>
            <a:chExt cx="566088" cy="705654"/>
          </a:xfrm>
        </p:grpSpPr>
        <p:cxnSp>
          <p:nvCxnSpPr>
            <p:cNvPr id="49174" name="直接箭头连接符 37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5" name="文本框 38"/>
            <p:cNvSpPr txBox="1">
              <a:spLocks noChangeArrowheads="1"/>
            </p:cNvSpPr>
            <p:nvPr/>
          </p:nvSpPr>
          <p:spPr bwMode="auto">
            <a:xfrm>
              <a:off x="617866" y="5935407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组合 47"/>
          <p:cNvGrpSpPr/>
          <p:nvPr/>
        </p:nvGrpSpPr>
        <p:grpSpPr bwMode="auto">
          <a:xfrm>
            <a:off x="5448300" y="5700713"/>
            <a:ext cx="566738" cy="704850"/>
            <a:chOff x="1734626" y="5695677"/>
            <a:chExt cx="566088" cy="705654"/>
          </a:xfrm>
        </p:grpSpPr>
        <p:cxnSp>
          <p:nvCxnSpPr>
            <p:cNvPr id="49172" name="直接箭头连接符 43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3" name="文本框 44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9168" name="矩形 1"/>
          <p:cNvSpPr>
            <a:spLocks noChangeArrowheads="1"/>
          </p:cNvSpPr>
          <p:nvPr/>
        </p:nvSpPr>
        <p:spPr bwMode="auto">
          <a:xfrm>
            <a:off x="3287713" y="2420938"/>
            <a:ext cx="4335462" cy="942975"/>
          </a:xfrm>
          <a:prstGeom prst="rect">
            <a:avLst/>
          </a:prstGeom>
          <a:noFill/>
          <a:ln w="25400" algn="ctr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169" name="对话气泡: 椭圆形 2"/>
          <p:cNvSpPr>
            <a:spLocks noChangeArrowheads="1"/>
          </p:cNvSpPr>
          <p:nvPr/>
        </p:nvSpPr>
        <p:spPr bwMode="auto">
          <a:xfrm>
            <a:off x="7175500" y="2316163"/>
            <a:ext cx="1441450" cy="554037"/>
          </a:xfrm>
          <a:prstGeom prst="wedgeEllipseCallout">
            <a:avLst>
              <a:gd name="adj1" fmla="val -78806"/>
              <a:gd name="adj2" fmla="val 5712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见下页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170" name="矩形 1"/>
          <p:cNvSpPr>
            <a:spLocks noChangeArrowheads="1"/>
          </p:cNvSpPr>
          <p:nvPr/>
        </p:nvSpPr>
        <p:spPr bwMode="auto">
          <a:xfrm>
            <a:off x="3341688" y="3471863"/>
            <a:ext cx="4232275" cy="461962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171" name="矩形 1"/>
          <p:cNvSpPr>
            <a:spLocks noChangeArrowheads="1"/>
          </p:cNvSpPr>
          <p:nvPr/>
        </p:nvSpPr>
        <p:spPr bwMode="auto">
          <a:xfrm>
            <a:off x="4367213" y="1955800"/>
            <a:ext cx="1368425" cy="460375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8DD9EF8-9F34-4EEE-9075-664CC38670D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631950" y="-100013"/>
            <a:ext cx="8496300" cy="4586288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	 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删除当前结点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{   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=p;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指向待删除结点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p0-&gt;next = p-&gt;next;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</a:t>
            </a:r>
            <a:endParaRPr lang="en-US" altLang="zh-CN" sz="3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    p=p0</a:t>
            </a:r>
            <a:r>
              <a:rPr lang="en-US" altLang="zh-CN" sz="16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//p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退回到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p0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，便于把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p=p-&gt;next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进行统一</a:t>
            </a:r>
            <a:endParaRPr lang="zh-CN" altLang="zh-CN" sz="16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    free(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} 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p=p-&gt;next;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//p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后移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//while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结束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return head; 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返回表头指针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 main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结束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0180" name="Group 12"/>
          <p:cNvGrpSpPr/>
          <p:nvPr/>
        </p:nvGrpSpPr>
        <p:grpSpPr bwMode="auto">
          <a:xfrm flipH="1">
            <a:off x="8124825" y="5076825"/>
            <a:ext cx="708025" cy="879475"/>
            <a:chOff x="0" y="0"/>
            <a:chExt cx="20000" cy="20000"/>
          </a:xfrm>
        </p:grpSpPr>
        <p:sp>
          <p:nvSpPr>
            <p:cNvPr id="50219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</a:t>
              </a: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8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NULL</a:t>
              </a:r>
              <a:endParaRPr lang="en-US" altLang="zh-CN" sz="1800"/>
            </a:p>
          </p:txBody>
        </p:sp>
        <p:sp>
          <p:nvSpPr>
            <p:cNvPr id="50220" name="Line 14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1" name="Freeform 18"/>
          <p:cNvSpPr/>
          <p:nvPr/>
        </p:nvSpPr>
        <p:spPr bwMode="auto">
          <a:xfrm flipH="1">
            <a:off x="7477125" y="5213350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2" name="Rectangle 28"/>
          <p:cNvSpPr>
            <a:spLocks noChangeArrowheads="1"/>
          </p:cNvSpPr>
          <p:nvPr/>
        </p:nvSpPr>
        <p:spPr bwMode="auto">
          <a:xfrm flipH="1">
            <a:off x="7237413" y="5334000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50183" name="Freeform 20"/>
          <p:cNvSpPr/>
          <p:nvPr/>
        </p:nvSpPr>
        <p:spPr bwMode="auto">
          <a:xfrm flipH="1">
            <a:off x="6972300" y="5224463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84" name="Group 21"/>
          <p:cNvGrpSpPr/>
          <p:nvPr/>
        </p:nvGrpSpPr>
        <p:grpSpPr bwMode="auto">
          <a:xfrm flipH="1">
            <a:off x="6599238" y="5119688"/>
            <a:ext cx="709612" cy="898525"/>
            <a:chOff x="0" y="0"/>
            <a:chExt cx="20000" cy="20000"/>
          </a:xfrm>
        </p:grpSpPr>
        <p:sp>
          <p:nvSpPr>
            <p:cNvPr id="50217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8</a:t>
              </a:r>
              <a:endParaRPr lang="en-US" altLang="zh-CN"/>
            </a:p>
          </p:txBody>
        </p:sp>
        <p:sp>
          <p:nvSpPr>
            <p:cNvPr id="50218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5" name="Rectangle 7"/>
          <p:cNvSpPr>
            <a:spLocks noChangeArrowheads="1"/>
          </p:cNvSpPr>
          <p:nvPr/>
        </p:nvSpPr>
        <p:spPr bwMode="auto">
          <a:xfrm flipH="1">
            <a:off x="2001838" y="4492625"/>
            <a:ext cx="7064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</a:rPr>
              <a:t>head</a:t>
            </a:r>
            <a:endParaRPr lang="en-US" altLang="zh-CN" sz="2000">
              <a:solidFill>
                <a:srgbClr val="FFFF00"/>
              </a:solidFill>
            </a:endParaRPr>
          </a:p>
        </p:txBody>
      </p:sp>
      <p:sp>
        <p:nvSpPr>
          <p:cNvPr id="50186" name="Rectangle 9"/>
          <p:cNvSpPr>
            <a:spLocks noChangeArrowheads="1"/>
          </p:cNvSpPr>
          <p:nvPr/>
        </p:nvSpPr>
        <p:spPr bwMode="auto">
          <a:xfrm flipH="1">
            <a:off x="2762250" y="4597400"/>
            <a:ext cx="649288" cy="368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8" name="Freeform 20"/>
          <p:cNvSpPr/>
          <p:nvPr/>
        </p:nvSpPr>
        <p:spPr bwMode="auto">
          <a:xfrm flipH="1">
            <a:off x="4883150" y="5205413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88" name="Group 21"/>
          <p:cNvGrpSpPr/>
          <p:nvPr/>
        </p:nvGrpSpPr>
        <p:grpSpPr bwMode="auto">
          <a:xfrm flipH="1">
            <a:off x="4510088" y="5100638"/>
            <a:ext cx="709612" cy="898525"/>
            <a:chOff x="0" y="0"/>
            <a:chExt cx="20000" cy="20000"/>
          </a:xfrm>
        </p:grpSpPr>
        <p:sp>
          <p:nvSpPr>
            <p:cNvPr id="50215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4</a:t>
              </a:r>
              <a:endParaRPr lang="en-US" altLang="zh-CN"/>
            </a:p>
          </p:txBody>
        </p:sp>
        <p:sp>
          <p:nvSpPr>
            <p:cNvPr id="50216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9" name="Group 24"/>
          <p:cNvGrpSpPr/>
          <p:nvPr/>
        </p:nvGrpSpPr>
        <p:grpSpPr bwMode="auto">
          <a:xfrm flipH="1">
            <a:off x="3430588" y="5100638"/>
            <a:ext cx="708025" cy="898525"/>
            <a:chOff x="0" y="0"/>
            <a:chExt cx="20000" cy="20000"/>
          </a:xfrm>
        </p:grpSpPr>
        <p:sp>
          <p:nvSpPr>
            <p:cNvPr id="50213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3</a:t>
              </a: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0214" name="Line 2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90" name="Freeform 27"/>
          <p:cNvSpPr/>
          <p:nvPr/>
        </p:nvSpPr>
        <p:spPr bwMode="auto">
          <a:xfrm flipH="1">
            <a:off x="3822700" y="5205413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1" name="Freeform 29"/>
          <p:cNvSpPr/>
          <p:nvPr/>
        </p:nvSpPr>
        <p:spPr bwMode="auto">
          <a:xfrm flipH="1">
            <a:off x="3057525" y="4805363"/>
            <a:ext cx="354013" cy="5080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24"/>
          <p:cNvGrpSpPr/>
          <p:nvPr/>
        </p:nvGrpSpPr>
        <p:grpSpPr bwMode="auto">
          <a:xfrm flipH="1">
            <a:off x="5519738" y="5119688"/>
            <a:ext cx="708025" cy="898525"/>
            <a:chOff x="0" y="0"/>
            <a:chExt cx="20000" cy="20000"/>
          </a:xfrm>
        </p:grpSpPr>
        <p:sp>
          <p:nvSpPr>
            <p:cNvPr id="50211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</a:t>
              </a:r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zh-CN" altLang="en-US">
                <a:solidFill>
                  <a:srgbClr val="FF0000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0212" name="Line 2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Freeform 27"/>
          <p:cNvSpPr/>
          <p:nvPr/>
        </p:nvSpPr>
        <p:spPr bwMode="auto">
          <a:xfrm flipH="1">
            <a:off x="5911850" y="5224463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94" name="组合 30"/>
          <p:cNvGrpSpPr/>
          <p:nvPr/>
        </p:nvGrpSpPr>
        <p:grpSpPr bwMode="auto">
          <a:xfrm>
            <a:off x="4089400" y="6038850"/>
            <a:ext cx="566738" cy="706438"/>
            <a:chOff x="617866" y="5695677"/>
            <a:chExt cx="566088" cy="705654"/>
          </a:xfrm>
        </p:grpSpPr>
        <p:cxnSp>
          <p:nvCxnSpPr>
            <p:cNvPr id="50209" name="直接箭头连接符 31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10" name="文本框 32"/>
            <p:cNvSpPr txBox="1">
              <a:spLocks noChangeArrowheads="1"/>
            </p:cNvSpPr>
            <p:nvPr/>
          </p:nvSpPr>
          <p:spPr bwMode="auto">
            <a:xfrm>
              <a:off x="617866" y="5935407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组合 33"/>
          <p:cNvGrpSpPr/>
          <p:nvPr/>
        </p:nvGrpSpPr>
        <p:grpSpPr bwMode="auto">
          <a:xfrm>
            <a:off x="5451475" y="6045200"/>
            <a:ext cx="566738" cy="704850"/>
            <a:chOff x="1734626" y="5695677"/>
            <a:chExt cx="566088" cy="705654"/>
          </a:xfrm>
        </p:grpSpPr>
        <p:cxnSp>
          <p:nvCxnSpPr>
            <p:cNvPr id="50207" name="直接箭头连接符 34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8" name="文本框 35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36"/>
          <p:cNvGrpSpPr/>
          <p:nvPr/>
        </p:nvGrpSpPr>
        <p:grpSpPr bwMode="auto">
          <a:xfrm>
            <a:off x="6604000" y="6056313"/>
            <a:ext cx="566738" cy="704850"/>
            <a:chOff x="1734626" y="5695677"/>
            <a:chExt cx="566088" cy="705654"/>
          </a:xfrm>
        </p:grpSpPr>
        <p:cxnSp>
          <p:nvCxnSpPr>
            <p:cNvPr id="50205" name="直接箭头连接符 37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6" name="文本框 38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组合 49"/>
          <p:cNvGrpSpPr/>
          <p:nvPr/>
        </p:nvGrpSpPr>
        <p:grpSpPr bwMode="auto">
          <a:xfrm>
            <a:off x="5137150" y="4370388"/>
            <a:ext cx="901700" cy="706437"/>
            <a:chOff x="3613309" y="4047683"/>
            <a:chExt cx="902331" cy="705654"/>
          </a:xfrm>
        </p:grpSpPr>
        <p:cxnSp>
          <p:nvCxnSpPr>
            <p:cNvPr id="50203" name="直接箭头连接符 43"/>
            <p:cNvCxnSpPr>
              <a:cxnSpLocks noChangeShapeType="1"/>
            </p:cNvCxnSpPr>
            <p:nvPr/>
          </p:nvCxnSpPr>
          <p:spPr bwMode="auto">
            <a:xfrm flipV="1">
              <a:off x="4349806" y="4047683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4" name="文本框 44"/>
            <p:cNvSpPr txBox="1">
              <a:spLocks noChangeArrowheads="1"/>
            </p:cNvSpPr>
            <p:nvPr/>
          </p:nvSpPr>
          <p:spPr bwMode="auto">
            <a:xfrm>
              <a:off x="3613309" y="4137039"/>
              <a:ext cx="902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tmp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1" name="Freeform 20"/>
          <p:cNvSpPr/>
          <p:nvPr/>
        </p:nvSpPr>
        <p:spPr bwMode="auto">
          <a:xfrm flipH="1">
            <a:off x="4897438" y="5213350"/>
            <a:ext cx="1663700" cy="627063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F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"/>
          <p:cNvGrpSpPr/>
          <p:nvPr/>
        </p:nvGrpSpPr>
        <p:grpSpPr bwMode="auto">
          <a:xfrm>
            <a:off x="4732338" y="6056313"/>
            <a:ext cx="566737" cy="704850"/>
            <a:chOff x="3208461" y="6056313"/>
            <a:chExt cx="566738" cy="704850"/>
          </a:xfrm>
        </p:grpSpPr>
        <p:cxnSp>
          <p:nvCxnSpPr>
            <p:cNvPr id="50201" name="直接箭头连接符 37"/>
            <p:cNvCxnSpPr>
              <a:cxnSpLocks noChangeShapeType="1"/>
            </p:cNvCxnSpPr>
            <p:nvPr/>
          </p:nvCxnSpPr>
          <p:spPr bwMode="auto">
            <a:xfrm flipV="1">
              <a:off x="3506885" y="6056313"/>
              <a:ext cx="0" cy="7048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2" name="文本框 38"/>
            <p:cNvSpPr txBox="1">
              <a:spLocks noChangeArrowheads="1"/>
            </p:cNvSpPr>
            <p:nvPr/>
          </p:nvSpPr>
          <p:spPr bwMode="auto">
            <a:xfrm>
              <a:off x="3208461" y="6273163"/>
              <a:ext cx="566738" cy="46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endParaRPr lang="zh-CN" altLang="en-US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0200" name="矩形 1"/>
          <p:cNvSpPr>
            <a:spLocks noChangeArrowheads="1"/>
          </p:cNvSpPr>
          <p:nvPr/>
        </p:nvSpPr>
        <p:spPr bwMode="auto">
          <a:xfrm>
            <a:off x="3351213" y="407988"/>
            <a:ext cx="6554787" cy="2289175"/>
          </a:xfrm>
          <a:prstGeom prst="rect">
            <a:avLst/>
          </a:prstGeom>
          <a:noFill/>
          <a:ln w="25400" algn="ctr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3" y="3154363"/>
            <a:ext cx="7532687" cy="35766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void print( </a:t>
            </a:r>
            <a:r>
              <a:rPr lang="en-US" altLang="zh-CN" b="1" dirty="0">
                <a:solidFill>
                  <a:srgbClr val="FA06FA"/>
                </a:solidFill>
              </a:rPr>
              <a:t>struct link * </a:t>
            </a:r>
            <a:r>
              <a:rPr lang="en-US" altLang="zh-CN" b="1" dirty="0">
                <a:solidFill>
                  <a:srgbClr val="FFFF00"/>
                </a:solidFill>
              </a:rPr>
              <a:t>head</a:t>
            </a:r>
            <a:r>
              <a:rPr lang="en-US" altLang="zh-CN" b="1" dirty="0"/>
              <a:t>) {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输出</a:t>
            </a:r>
            <a:r>
              <a:rPr lang="en-US" altLang="zh-CN" b="1" dirty="0"/>
              <a:t>	  	  </a:t>
            </a:r>
            <a:r>
              <a:rPr lang="en-US" altLang="zh-CN" b="1" dirty="0">
                <a:solidFill>
                  <a:srgbClr val="FA06FA"/>
                </a:solidFill>
              </a:rPr>
              <a:t>struct link *</a:t>
            </a:r>
            <a:r>
              <a:rPr lang="en-US" altLang="zh-CN" b="1" dirty="0">
                <a:solidFill>
                  <a:srgbClr val="FFFF00"/>
                </a:solidFill>
              </a:rPr>
              <a:t>p</a:t>
            </a:r>
            <a:r>
              <a:rPr lang="en-US" altLang="zh-CN" b="1" dirty="0"/>
              <a:t>=head; </a:t>
            </a:r>
            <a:endParaRPr lang="en-US" altLang="zh-CN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/>
              <a:t> 	while(p!=NULL)</a:t>
            </a:r>
            <a:endParaRPr lang="en-US" altLang="zh-CN" sz="3200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/>
              <a:t>  { 	</a:t>
            </a:r>
            <a:r>
              <a:rPr lang="en-US" altLang="zh-CN" sz="3200" b="1" dirty="0" err="1"/>
              <a:t>printf</a:t>
            </a:r>
            <a:r>
              <a:rPr lang="en-US" altLang="zh-CN" sz="3200" b="1" dirty="0"/>
              <a:t>("%-4d ",p-&gt;num);</a:t>
            </a:r>
            <a:endParaRPr lang="en-US" altLang="zh-CN" sz="3200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/>
              <a:t>		</a:t>
            </a:r>
            <a:r>
              <a:rPr lang="en-US" altLang="zh-CN" sz="3200" b="1" dirty="0">
                <a:solidFill>
                  <a:srgbClr val="FFFF00"/>
                </a:solidFill>
              </a:rPr>
              <a:t>p=p-&gt;next;</a:t>
            </a:r>
            <a:endParaRPr lang="en-US" altLang="zh-CN" sz="3200" b="1" dirty="0">
              <a:solidFill>
                <a:srgbClr val="FFFF00"/>
              </a:solidFill>
            </a:endParaRP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/>
              <a:t>	}</a:t>
            </a:r>
            <a:endParaRPr lang="en-US" altLang="zh-CN" sz="3200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dirty="0"/>
              <a:t>  </a:t>
            </a:r>
            <a:r>
              <a:rPr lang="en-US" altLang="zh-CN" sz="1800" b="1" dirty="0" err="1"/>
              <a:t>printf</a:t>
            </a:r>
            <a:r>
              <a:rPr lang="en-US" altLang="zh-CN" sz="1800" b="1" dirty="0"/>
              <a:t>("\n");</a:t>
            </a:r>
            <a:endParaRPr lang="en-US" altLang="zh-CN" sz="18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dirty="0"/>
              <a:t>}</a:t>
            </a:r>
            <a:endParaRPr lang="zh-CN" altLang="en-US" sz="1800" b="1" dirty="0"/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 flipH="1">
            <a:off x="46038" y="973138"/>
            <a:ext cx="733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head</a:t>
            </a:r>
            <a:endParaRPr lang="en-US" altLang="zh-CN" sz="20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 flipH="1">
            <a:off x="827088" y="1055688"/>
            <a:ext cx="674687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51205" name="Group 5"/>
          <p:cNvGrpSpPr/>
          <p:nvPr/>
        </p:nvGrpSpPr>
        <p:grpSpPr bwMode="auto">
          <a:xfrm flipH="1">
            <a:off x="5778500" y="1441450"/>
            <a:ext cx="735013" cy="708025"/>
            <a:chOff x="0" y="0"/>
            <a:chExt cx="20000" cy="20000"/>
          </a:xfrm>
        </p:grpSpPr>
        <p:sp>
          <p:nvSpPr>
            <p:cNvPr id="51264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65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1206" name="Group 8"/>
          <p:cNvGrpSpPr/>
          <p:nvPr/>
        </p:nvGrpSpPr>
        <p:grpSpPr bwMode="auto">
          <a:xfrm flipH="1">
            <a:off x="4659313" y="1435100"/>
            <a:ext cx="733425" cy="731838"/>
            <a:chOff x="0" y="0"/>
            <a:chExt cx="20000" cy="20000"/>
          </a:xfrm>
        </p:grpSpPr>
        <p:sp>
          <p:nvSpPr>
            <p:cNvPr id="51262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63" name="Line 10"/>
            <p:cNvSpPr>
              <a:spLocks noChangeShapeType="1"/>
            </p:cNvSpPr>
            <p:nvPr/>
          </p:nvSpPr>
          <p:spPr bwMode="auto">
            <a:xfrm>
              <a:off x="557" y="1380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1207" name="Freeform 11"/>
          <p:cNvSpPr/>
          <p:nvPr/>
        </p:nvSpPr>
        <p:spPr bwMode="auto">
          <a:xfrm flipH="1">
            <a:off x="5064125" y="1544638"/>
            <a:ext cx="674688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8" name="Freeform 12"/>
          <p:cNvSpPr/>
          <p:nvPr/>
        </p:nvSpPr>
        <p:spPr bwMode="auto">
          <a:xfrm flipH="1">
            <a:off x="3943350" y="1544638"/>
            <a:ext cx="674688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9" name="Freeform 13"/>
          <p:cNvSpPr/>
          <p:nvPr/>
        </p:nvSpPr>
        <p:spPr bwMode="auto">
          <a:xfrm flipH="1">
            <a:off x="3027363" y="1544638"/>
            <a:ext cx="673100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1210" name="Group 14"/>
          <p:cNvGrpSpPr/>
          <p:nvPr/>
        </p:nvGrpSpPr>
        <p:grpSpPr bwMode="auto">
          <a:xfrm flipH="1">
            <a:off x="2641600" y="1460500"/>
            <a:ext cx="733425" cy="722313"/>
            <a:chOff x="0" y="0"/>
            <a:chExt cx="20000" cy="20000"/>
          </a:xfrm>
        </p:grpSpPr>
        <p:sp>
          <p:nvSpPr>
            <p:cNvPr id="51260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61" name="Line 1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1211" name="Group 17"/>
          <p:cNvGrpSpPr/>
          <p:nvPr/>
        </p:nvGrpSpPr>
        <p:grpSpPr bwMode="auto">
          <a:xfrm flipH="1">
            <a:off x="1520825" y="1460500"/>
            <a:ext cx="733425" cy="722313"/>
            <a:chOff x="0" y="0"/>
            <a:chExt cx="20000" cy="20000"/>
          </a:xfrm>
        </p:grpSpPr>
        <p:sp>
          <p:nvSpPr>
            <p:cNvPr id="51258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59" name="Line 19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1212" name="Freeform 20"/>
          <p:cNvSpPr/>
          <p:nvPr/>
        </p:nvSpPr>
        <p:spPr bwMode="auto">
          <a:xfrm flipH="1">
            <a:off x="1928813" y="1544638"/>
            <a:ext cx="671512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3" name="Rectangle 21"/>
          <p:cNvSpPr>
            <a:spLocks noChangeArrowheads="1"/>
          </p:cNvSpPr>
          <p:nvPr/>
        </p:nvSpPr>
        <p:spPr bwMode="auto">
          <a:xfrm flipH="1">
            <a:off x="3598863" y="1458913"/>
            <a:ext cx="917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...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51214" name="Freeform 22"/>
          <p:cNvSpPr/>
          <p:nvPr/>
        </p:nvSpPr>
        <p:spPr bwMode="auto">
          <a:xfrm flipH="1">
            <a:off x="1131888" y="1223963"/>
            <a:ext cx="369887" cy="407987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5" name="Text Box 23"/>
          <p:cNvSpPr txBox="1">
            <a:spLocks noChangeArrowheads="1"/>
          </p:cNvSpPr>
          <p:nvPr/>
        </p:nvSpPr>
        <p:spPr bwMode="auto">
          <a:xfrm>
            <a:off x="5864225" y="1555750"/>
            <a:ext cx="638175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grpSp>
        <p:nvGrpSpPr>
          <p:cNvPr id="6" name="Group 24"/>
          <p:cNvGrpSpPr/>
          <p:nvPr/>
        </p:nvGrpSpPr>
        <p:grpSpPr bwMode="auto">
          <a:xfrm>
            <a:off x="1865313" y="2211388"/>
            <a:ext cx="431800" cy="511175"/>
            <a:chOff x="1197" y="4020"/>
            <a:chExt cx="272" cy="322"/>
          </a:xfrm>
        </p:grpSpPr>
        <p:sp>
          <p:nvSpPr>
            <p:cNvPr id="51256" name="Line 25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7" name="Text Box 26"/>
            <p:cNvSpPr txBox="1">
              <a:spLocks noChangeArrowheads="1"/>
            </p:cNvSpPr>
            <p:nvPr/>
          </p:nvSpPr>
          <p:spPr bwMode="auto">
            <a:xfrm>
              <a:off x="1197" y="4092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7" name="Group 27"/>
          <p:cNvGrpSpPr/>
          <p:nvPr/>
        </p:nvGrpSpPr>
        <p:grpSpPr bwMode="auto">
          <a:xfrm>
            <a:off x="2786063" y="2197100"/>
            <a:ext cx="431800" cy="536575"/>
            <a:chOff x="1205" y="4020"/>
            <a:chExt cx="272" cy="338"/>
          </a:xfrm>
        </p:grpSpPr>
        <p:sp>
          <p:nvSpPr>
            <p:cNvPr id="51254" name="Line 28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5" name="Text Box 29"/>
            <p:cNvSpPr txBox="1">
              <a:spLocks noChangeArrowheads="1"/>
            </p:cNvSpPr>
            <p:nvPr/>
          </p:nvSpPr>
          <p:spPr bwMode="auto">
            <a:xfrm>
              <a:off x="1205" y="4108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8" name="Group 30"/>
          <p:cNvGrpSpPr/>
          <p:nvPr/>
        </p:nvGrpSpPr>
        <p:grpSpPr bwMode="auto">
          <a:xfrm>
            <a:off x="4733925" y="2197100"/>
            <a:ext cx="431800" cy="550863"/>
            <a:chOff x="1207" y="4020"/>
            <a:chExt cx="272" cy="347"/>
          </a:xfrm>
        </p:grpSpPr>
        <p:sp>
          <p:nvSpPr>
            <p:cNvPr id="51252" name="Line 31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3" name="Text Box 32"/>
            <p:cNvSpPr txBox="1">
              <a:spLocks noChangeArrowheads="1"/>
            </p:cNvSpPr>
            <p:nvPr/>
          </p:nvSpPr>
          <p:spPr bwMode="auto">
            <a:xfrm>
              <a:off x="1207" y="4117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9" name="Group 33"/>
          <p:cNvGrpSpPr/>
          <p:nvPr/>
        </p:nvGrpSpPr>
        <p:grpSpPr bwMode="auto">
          <a:xfrm>
            <a:off x="5954713" y="2197100"/>
            <a:ext cx="431800" cy="550863"/>
            <a:chOff x="1205" y="4020"/>
            <a:chExt cx="272" cy="347"/>
          </a:xfrm>
        </p:grpSpPr>
        <p:sp>
          <p:nvSpPr>
            <p:cNvPr id="51250" name="Line 34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1" name="Text Box 35"/>
            <p:cNvSpPr txBox="1">
              <a:spLocks noChangeArrowheads="1"/>
            </p:cNvSpPr>
            <p:nvPr/>
          </p:nvSpPr>
          <p:spPr bwMode="auto">
            <a:xfrm>
              <a:off x="1205" y="4117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10" name="Group 36"/>
          <p:cNvGrpSpPr/>
          <p:nvPr/>
        </p:nvGrpSpPr>
        <p:grpSpPr bwMode="auto">
          <a:xfrm>
            <a:off x="7088188" y="2197100"/>
            <a:ext cx="431800" cy="536575"/>
            <a:chOff x="1193" y="4020"/>
            <a:chExt cx="272" cy="338"/>
          </a:xfrm>
        </p:grpSpPr>
        <p:sp>
          <p:nvSpPr>
            <p:cNvPr id="51248" name="Line 37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9" name="Text Box 38"/>
            <p:cNvSpPr txBox="1">
              <a:spLocks noChangeArrowheads="1"/>
            </p:cNvSpPr>
            <p:nvPr/>
          </p:nvSpPr>
          <p:spPr bwMode="auto">
            <a:xfrm>
              <a:off x="1193" y="4108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sp>
        <p:nvSpPr>
          <p:cNvPr id="51221" name="Text Box 39"/>
          <p:cNvSpPr txBox="1">
            <a:spLocks noChangeArrowheads="1"/>
          </p:cNvSpPr>
          <p:nvPr/>
        </p:nvSpPr>
        <p:spPr bwMode="auto">
          <a:xfrm>
            <a:off x="1557338" y="1476375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1222" name="Text Box 40"/>
          <p:cNvSpPr txBox="1">
            <a:spLocks noChangeArrowheads="1"/>
          </p:cNvSpPr>
          <p:nvPr/>
        </p:nvSpPr>
        <p:spPr bwMode="auto">
          <a:xfrm>
            <a:off x="2709863" y="1476375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1223" name="Text Box 41"/>
          <p:cNvSpPr txBox="1">
            <a:spLocks noChangeArrowheads="1"/>
          </p:cNvSpPr>
          <p:nvPr/>
        </p:nvSpPr>
        <p:spPr bwMode="auto">
          <a:xfrm>
            <a:off x="4725988" y="1476375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31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1224" name="Text Box 42"/>
          <p:cNvSpPr txBox="1">
            <a:spLocks noChangeArrowheads="1"/>
          </p:cNvSpPr>
          <p:nvPr/>
        </p:nvSpPr>
        <p:spPr bwMode="auto">
          <a:xfrm>
            <a:off x="5878513" y="1476375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EFD7BD8-61CC-4843-AC51-E5FBB61BC9A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1226" name="左箭头 3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11752263" y="5889625"/>
            <a:ext cx="428625" cy="500063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7392988" y="3317875"/>
            <a:ext cx="4799012" cy="35382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形参和实参同名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】</a:t>
            </a:r>
            <a:endParaRPr lang="en-US" altLang="zh-CN" sz="2800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void print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latin typeface="Arial" panose="020B0604020202020204" pitchFamily="34" charset="0"/>
              </a:rPr>
              <a:t>struct link*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head)</a:t>
            </a:r>
            <a:endParaRPr lang="zh-CN" altLang="en-US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800" dirty="0">
                <a:latin typeface="Arial" panose="020B0604020202020204" pitchFamily="34" charset="0"/>
              </a:rPr>
              <a:t>	while(head!=NULL)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{  </a:t>
            </a:r>
            <a:r>
              <a:rPr lang="en-US" altLang="zh-CN" sz="2800" dirty="0" err="1">
                <a:latin typeface="Arial" panose="020B0604020202020204" pitchFamily="34" charset="0"/>
              </a:rPr>
              <a:t>printf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sym typeface="+mn-ea"/>
              </a:rPr>
              <a:t>"</a:t>
            </a:r>
            <a:r>
              <a:rPr lang="en-US" altLang="zh-CN" sz="2800" dirty="0">
                <a:latin typeface="Arial" panose="020B0604020202020204" pitchFamily="34" charset="0"/>
              </a:rPr>
              <a:t>%-4d</a:t>
            </a:r>
            <a:r>
              <a:rPr lang="en-US" altLang="zh-CN" sz="2800" dirty="0">
                <a:sym typeface="+mn-ea"/>
              </a:rPr>
              <a:t>"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head-&gt;num); 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    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head=</a:t>
            </a:r>
            <a:r>
              <a:rPr lang="en-US" altLang="zh-CN" sz="2800" dirty="0">
                <a:latin typeface="Arial" panose="020B0604020202020204" pitchFamily="34" charset="0"/>
              </a:rPr>
              <a:t>head-&gt;next;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}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</a:rPr>
              <a:t>}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cxnSp>
        <p:nvCxnSpPr>
          <p:cNvPr id="48" name="直接连接符 47"/>
          <p:cNvCxnSpPr/>
          <p:nvPr/>
        </p:nvCxnSpPr>
        <p:spPr bwMode="auto">
          <a:xfrm flipV="1">
            <a:off x="63500" y="784225"/>
            <a:ext cx="7646988" cy="44450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1585913" y="204788"/>
            <a:ext cx="668337" cy="355600"/>
          </a:xfrm>
          <a:prstGeom prst="rect">
            <a:avLst/>
          </a:prstGeom>
          <a:noFill/>
          <a:ln w="34925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  <p:cxnSp>
        <p:nvCxnSpPr>
          <p:cNvPr id="50" name="直接箭头连接符 49"/>
          <p:cNvCxnSpPr/>
          <p:nvPr/>
        </p:nvCxnSpPr>
        <p:spPr bwMode="auto">
          <a:xfrm flipV="1">
            <a:off x="1928813" y="585788"/>
            <a:ext cx="0" cy="849312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文本框 50"/>
          <p:cNvSpPr txBox="1">
            <a:spLocks noChangeArrowheads="1"/>
          </p:cNvSpPr>
          <p:nvPr/>
        </p:nvSpPr>
        <p:spPr bwMode="auto">
          <a:xfrm>
            <a:off x="415286" y="192624"/>
            <a:ext cx="1401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形参</a:t>
            </a:r>
            <a:r>
              <a:rPr lang="en-US" altLang="zh-CN" sz="1800" dirty="0">
                <a:solidFill>
                  <a:srgbClr val="FF0000"/>
                </a:solidFill>
              </a:rPr>
              <a:t>head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cxnSp>
        <p:nvCxnSpPr>
          <p:cNvPr id="65" name="直接箭头连接符 64"/>
          <p:cNvCxnSpPr/>
          <p:nvPr/>
        </p:nvCxnSpPr>
        <p:spPr bwMode="auto">
          <a:xfrm flipV="1">
            <a:off x="2997200" y="592138"/>
            <a:ext cx="0" cy="849312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直接箭头连接符 66"/>
          <p:cNvCxnSpPr/>
          <p:nvPr/>
        </p:nvCxnSpPr>
        <p:spPr bwMode="auto">
          <a:xfrm flipV="1">
            <a:off x="5026025" y="533400"/>
            <a:ext cx="0" cy="849313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直接箭头连接符 67"/>
          <p:cNvCxnSpPr/>
          <p:nvPr/>
        </p:nvCxnSpPr>
        <p:spPr bwMode="auto">
          <a:xfrm flipV="1">
            <a:off x="6165850" y="533400"/>
            <a:ext cx="0" cy="849313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直接箭头连接符 68"/>
          <p:cNvCxnSpPr/>
          <p:nvPr/>
        </p:nvCxnSpPr>
        <p:spPr bwMode="auto">
          <a:xfrm flipV="1">
            <a:off x="7389813" y="588963"/>
            <a:ext cx="0" cy="849312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Rectangle 4"/>
          <p:cNvSpPr>
            <a:spLocks noChangeArrowheads="1"/>
          </p:cNvSpPr>
          <p:nvPr/>
        </p:nvSpPr>
        <p:spPr bwMode="auto">
          <a:xfrm flipH="1">
            <a:off x="1928813" y="2703513"/>
            <a:ext cx="674687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/>
        </p:nvSpPr>
        <p:spPr bwMode="auto">
          <a:xfrm>
            <a:off x="1858963" y="446088"/>
            <a:ext cx="1401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形参</a:t>
            </a:r>
            <a:r>
              <a:rPr lang="en-US" altLang="zh-CN" sz="1800" dirty="0">
                <a:solidFill>
                  <a:srgbClr val="FF0000"/>
                </a:solidFill>
              </a:rPr>
              <a:t>head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72" name="文本框 71"/>
          <p:cNvSpPr txBox="1">
            <a:spLocks noChangeArrowheads="1"/>
          </p:cNvSpPr>
          <p:nvPr/>
        </p:nvSpPr>
        <p:spPr bwMode="auto">
          <a:xfrm>
            <a:off x="3879850" y="436563"/>
            <a:ext cx="1401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形参</a:t>
            </a:r>
            <a:r>
              <a:rPr lang="en-US" altLang="zh-CN" sz="1800" dirty="0">
                <a:solidFill>
                  <a:srgbClr val="FF0000"/>
                </a:solidFill>
              </a:rPr>
              <a:t>head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73" name="文本框 72"/>
          <p:cNvSpPr txBox="1">
            <a:spLocks noChangeArrowheads="1"/>
          </p:cNvSpPr>
          <p:nvPr/>
        </p:nvSpPr>
        <p:spPr bwMode="auto">
          <a:xfrm>
            <a:off x="5051425" y="442913"/>
            <a:ext cx="1401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形参</a:t>
            </a:r>
            <a:r>
              <a:rPr lang="en-US" altLang="zh-CN" sz="1800" dirty="0">
                <a:solidFill>
                  <a:srgbClr val="FF0000"/>
                </a:solidFill>
              </a:rPr>
              <a:t>head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sp>
        <p:nvSpPr>
          <p:cNvPr id="74" name="文本框 73"/>
          <p:cNvSpPr txBox="1">
            <a:spLocks noChangeArrowheads="1"/>
          </p:cNvSpPr>
          <p:nvPr/>
        </p:nvSpPr>
        <p:spPr bwMode="auto">
          <a:xfrm>
            <a:off x="6223000" y="442913"/>
            <a:ext cx="1401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</a:rPr>
              <a:t>形参</a:t>
            </a:r>
            <a:r>
              <a:rPr lang="en-US" altLang="zh-CN" sz="1800" dirty="0">
                <a:solidFill>
                  <a:srgbClr val="FF0000"/>
                </a:solidFill>
              </a:rPr>
              <a:t>head</a:t>
            </a:r>
            <a:endParaRPr lang="zh-CN" altLang="en-US" sz="1800" dirty="0">
              <a:solidFill>
                <a:srgbClr val="FF0000"/>
              </a:solidFill>
            </a:endParaRPr>
          </a:p>
        </p:txBody>
      </p:sp>
      <p:cxnSp>
        <p:nvCxnSpPr>
          <p:cNvPr id="51241" name="直接连接符 75"/>
          <p:cNvCxnSpPr/>
          <p:nvPr/>
        </p:nvCxnSpPr>
        <p:spPr bwMode="auto">
          <a:xfrm flipV="1">
            <a:off x="50800" y="3130550"/>
            <a:ext cx="7572375" cy="17463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矩形 12"/>
          <p:cNvSpPr/>
          <p:nvPr/>
        </p:nvSpPr>
        <p:spPr>
          <a:xfrm>
            <a:off x="7710488" y="25400"/>
            <a:ext cx="4476750" cy="3165475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/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FFC000"/>
                </a:solidFill>
                <a:latin typeface="Arial" panose="020B0604020202020204" pitchFamily="34" charset="0"/>
              </a:rPr>
              <a:t>主调函数：</a:t>
            </a:r>
            <a:endParaRPr lang="en-US" altLang="zh-CN" sz="3200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/>
              <a:t>int main( ) {</a:t>
            </a:r>
            <a:endParaRPr lang="en-US" altLang="zh-CN" sz="3200" dirty="0"/>
          </a:p>
          <a:p>
            <a:pPr eaLnBrk="1" hangingPunct="1">
              <a:defRPr/>
            </a:pPr>
            <a:r>
              <a:rPr lang="en-US" altLang="zh-CN" sz="3200" dirty="0"/>
              <a:t>    struct link * head;</a:t>
            </a:r>
            <a:endParaRPr lang="en-US" altLang="zh-CN" sz="3200" dirty="0"/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   //……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   print(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head</a:t>
            </a:r>
            <a:r>
              <a:rPr lang="en-US" altLang="zh-CN" sz="3200" dirty="0">
                <a:latin typeface="Arial" panose="020B0604020202020204" pitchFamily="34" charset="0"/>
              </a:rPr>
              <a:t>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}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51243" name="Rectangle 4"/>
          <p:cNvSpPr>
            <a:spLocks noChangeArrowheads="1"/>
          </p:cNvSpPr>
          <p:nvPr/>
        </p:nvSpPr>
        <p:spPr bwMode="auto">
          <a:xfrm flipH="1">
            <a:off x="1171575" y="2703513"/>
            <a:ext cx="674688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51244" name="Group 24"/>
          <p:cNvGrpSpPr/>
          <p:nvPr/>
        </p:nvGrpSpPr>
        <p:grpSpPr bwMode="auto">
          <a:xfrm>
            <a:off x="930275" y="2189163"/>
            <a:ext cx="833438" cy="558800"/>
            <a:chOff x="915" y="4020"/>
            <a:chExt cx="525" cy="352"/>
          </a:xfrm>
        </p:grpSpPr>
        <p:sp>
          <p:nvSpPr>
            <p:cNvPr id="51246" name="Line 25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7" name="Text Box 26"/>
            <p:cNvSpPr txBox="1">
              <a:spLocks noChangeArrowheads="1"/>
            </p:cNvSpPr>
            <p:nvPr/>
          </p:nvSpPr>
          <p:spPr bwMode="auto">
            <a:xfrm>
              <a:off x="915" y="4120"/>
              <a:ext cx="5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head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cxnSp>
        <p:nvCxnSpPr>
          <p:cNvPr id="51245" name="直接连接符 84"/>
          <p:cNvCxnSpPr/>
          <p:nvPr/>
        </p:nvCxnSpPr>
        <p:spPr bwMode="auto">
          <a:xfrm>
            <a:off x="63500" y="2439988"/>
            <a:ext cx="7646988" cy="19050"/>
          </a:xfrm>
          <a:prstGeom prst="line">
            <a:avLst/>
          </a:prstGeom>
          <a:noFill/>
          <a:ln w="25400" algn="ctr">
            <a:solidFill>
              <a:srgbClr val="FF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 uiExpand="1" build="allAtOnce"/>
      <p:bldP spid="49" grpId="0" bldLvl="0" animBg="1"/>
      <p:bldP spid="51" grpId="0"/>
      <p:bldP spid="51" grpId="1"/>
      <p:bldP spid="70" grpId="0" bldLvl="0" animBg="1"/>
      <p:bldP spid="71" grpId="0"/>
      <p:bldP spid="71" grpId="1"/>
      <p:bldP spid="72" grpId="0"/>
      <p:bldP spid="72" grpId="1"/>
      <p:bldP spid="73" grpId="0"/>
      <p:bldP spid="73" grpId="1"/>
      <p:bldP spid="7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837545" y="6248400"/>
            <a:ext cx="74485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DA5CDCA-D9B9-4FFA-8066-D6A0B150E4B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" name="矩形 1"/>
          <p:cNvSpPr/>
          <p:nvPr/>
        </p:nvSpPr>
        <p:spPr>
          <a:xfrm>
            <a:off x="457200" y="76200"/>
            <a:ext cx="8364538" cy="403098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destroy(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head)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释放链表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	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head;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while (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!= NULL)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{     head=head-&gt;next; 					free(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head;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} 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32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2228" name="Group 12"/>
          <p:cNvGrpSpPr/>
          <p:nvPr/>
        </p:nvGrpSpPr>
        <p:grpSpPr bwMode="auto">
          <a:xfrm flipH="1">
            <a:off x="6647180" y="5075238"/>
            <a:ext cx="708025" cy="879475"/>
            <a:chOff x="0" y="0"/>
            <a:chExt cx="20000" cy="20000"/>
          </a:xfrm>
        </p:grpSpPr>
        <p:sp>
          <p:nvSpPr>
            <p:cNvPr id="52264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9</a:t>
              </a:r>
              <a:endParaRPr lang="en-US" altLang="zh-CN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8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NULL</a:t>
              </a:r>
              <a:endParaRPr lang="en-US" altLang="zh-CN" sz="1800"/>
            </a:p>
          </p:txBody>
        </p:sp>
        <p:sp>
          <p:nvSpPr>
            <p:cNvPr id="52265" name="Line 14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29" name="Freeform 18"/>
          <p:cNvSpPr/>
          <p:nvPr/>
        </p:nvSpPr>
        <p:spPr bwMode="auto">
          <a:xfrm flipH="1">
            <a:off x="5999480" y="5211763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0" name="Rectangle 28"/>
          <p:cNvSpPr>
            <a:spLocks noChangeArrowheads="1"/>
          </p:cNvSpPr>
          <p:nvPr/>
        </p:nvSpPr>
        <p:spPr bwMode="auto">
          <a:xfrm flipH="1">
            <a:off x="5759768" y="5332413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52231" name="Freeform 20"/>
          <p:cNvSpPr/>
          <p:nvPr/>
        </p:nvSpPr>
        <p:spPr bwMode="auto">
          <a:xfrm flipH="1">
            <a:off x="5494655" y="5222875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2232" name="Group 21"/>
          <p:cNvGrpSpPr/>
          <p:nvPr/>
        </p:nvGrpSpPr>
        <p:grpSpPr bwMode="auto">
          <a:xfrm flipH="1">
            <a:off x="5121593" y="5118100"/>
            <a:ext cx="709612" cy="898525"/>
            <a:chOff x="0" y="0"/>
            <a:chExt cx="20000" cy="20000"/>
          </a:xfrm>
        </p:grpSpPr>
        <p:sp>
          <p:nvSpPr>
            <p:cNvPr id="52262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8</a:t>
              </a:r>
              <a:endParaRPr lang="en-US" altLang="zh-CN"/>
            </a:p>
          </p:txBody>
        </p:sp>
        <p:sp>
          <p:nvSpPr>
            <p:cNvPr id="52263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33" name="组合 43"/>
          <p:cNvGrpSpPr/>
          <p:nvPr/>
        </p:nvGrpSpPr>
        <p:grpSpPr bwMode="auto">
          <a:xfrm>
            <a:off x="3032443" y="5099050"/>
            <a:ext cx="1023937" cy="898525"/>
            <a:chOff x="3623866" y="5098490"/>
            <a:chExt cx="1023938" cy="898525"/>
          </a:xfrm>
        </p:grpSpPr>
        <p:sp>
          <p:nvSpPr>
            <p:cNvPr id="52258" name="Freeform 20"/>
            <p:cNvSpPr/>
            <p:nvPr/>
          </p:nvSpPr>
          <p:spPr bwMode="auto">
            <a:xfrm flipH="1">
              <a:off x="3996929" y="5203265"/>
              <a:ext cx="650875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259" name="Group 21"/>
            <p:cNvGrpSpPr/>
            <p:nvPr/>
          </p:nvGrpSpPr>
          <p:grpSpPr bwMode="auto">
            <a:xfrm flipH="1">
              <a:off x="3623866" y="5098490"/>
              <a:ext cx="709613" cy="898525"/>
              <a:chOff x="0" y="0"/>
              <a:chExt cx="20000" cy="20000"/>
            </a:xfrm>
          </p:grpSpPr>
          <p:sp>
            <p:nvSpPr>
              <p:cNvPr id="52260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4</a:t>
                </a:r>
                <a:endParaRPr lang="en-US" altLang="zh-CN"/>
              </a:p>
            </p:txBody>
          </p:sp>
          <p:sp>
            <p:nvSpPr>
              <p:cNvPr id="52261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组合 44"/>
          <p:cNvGrpSpPr/>
          <p:nvPr/>
        </p:nvGrpSpPr>
        <p:grpSpPr bwMode="auto">
          <a:xfrm>
            <a:off x="1846634" y="5099050"/>
            <a:ext cx="1147709" cy="898525"/>
            <a:chOff x="2438057" y="5098490"/>
            <a:chExt cx="1147710" cy="898525"/>
          </a:xfrm>
        </p:grpSpPr>
        <p:grpSp>
          <p:nvGrpSpPr>
            <p:cNvPr id="52254" name="Group 24"/>
            <p:cNvGrpSpPr/>
            <p:nvPr/>
          </p:nvGrpSpPr>
          <p:grpSpPr bwMode="auto">
            <a:xfrm flipH="1">
              <a:off x="2438057" y="5098490"/>
              <a:ext cx="708025" cy="898525"/>
              <a:chOff x="3003" y="0"/>
              <a:chExt cx="20000" cy="20000"/>
            </a:xfrm>
          </p:grpSpPr>
          <p:sp>
            <p:nvSpPr>
              <p:cNvPr id="52256" name="Rectangle 25"/>
              <p:cNvSpPr>
                <a:spLocks noChangeArrowheads="1"/>
              </p:cNvSpPr>
              <p:nvPr/>
            </p:nvSpPr>
            <p:spPr bwMode="auto">
              <a:xfrm>
                <a:off x="3003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2</a:t>
                </a:r>
                <a:endParaRPr lang="zh-CN" altLang="en-US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52257" name="Line 26"/>
              <p:cNvSpPr>
                <a:spLocks noChangeShapeType="1"/>
              </p:cNvSpPr>
              <p:nvPr/>
            </p:nvSpPr>
            <p:spPr bwMode="auto">
              <a:xfrm>
                <a:off x="3560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255" name="Freeform 27"/>
            <p:cNvSpPr/>
            <p:nvPr/>
          </p:nvSpPr>
          <p:spPr bwMode="auto">
            <a:xfrm flipH="1">
              <a:off x="2936479" y="5203265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组合 2"/>
          <p:cNvGrpSpPr/>
          <p:nvPr/>
        </p:nvGrpSpPr>
        <p:grpSpPr bwMode="auto">
          <a:xfrm>
            <a:off x="1132276" y="4239419"/>
            <a:ext cx="706437" cy="1072356"/>
            <a:chOff x="1723701" y="4238859"/>
            <a:chExt cx="706438" cy="1072356"/>
          </a:xfrm>
        </p:grpSpPr>
        <p:sp>
          <p:nvSpPr>
            <p:cNvPr id="52251" name="Rectangle 7"/>
            <p:cNvSpPr>
              <a:spLocks noChangeArrowheads="1"/>
            </p:cNvSpPr>
            <p:nvPr/>
          </p:nvSpPr>
          <p:spPr bwMode="auto">
            <a:xfrm flipH="1">
              <a:off x="1723701" y="4238859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head</a:t>
              </a:r>
              <a:endParaRPr lang="en-US" altLang="zh-CN" sz="2000" dirty="0">
                <a:solidFill>
                  <a:srgbClr val="FFFF00"/>
                </a:solidFill>
              </a:endParaRPr>
            </a:p>
          </p:txBody>
        </p:sp>
        <p:sp>
          <p:nvSpPr>
            <p:cNvPr id="52252" name="Rectangle 9"/>
            <p:cNvSpPr>
              <a:spLocks noChangeArrowheads="1"/>
            </p:cNvSpPr>
            <p:nvPr/>
          </p:nvSpPr>
          <p:spPr bwMode="auto">
            <a:xfrm flipH="1">
              <a:off x="1752277" y="4595253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2253" name="Freeform 29"/>
            <p:cNvSpPr/>
            <p:nvPr/>
          </p:nvSpPr>
          <p:spPr bwMode="auto">
            <a:xfrm flipH="1">
              <a:off x="2057070" y="4803215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36" name="Group 24"/>
          <p:cNvGrpSpPr/>
          <p:nvPr/>
        </p:nvGrpSpPr>
        <p:grpSpPr bwMode="auto">
          <a:xfrm flipH="1">
            <a:off x="4042093" y="5118100"/>
            <a:ext cx="708025" cy="898525"/>
            <a:chOff x="0" y="0"/>
            <a:chExt cx="20000" cy="20000"/>
          </a:xfrm>
        </p:grpSpPr>
        <p:sp>
          <p:nvSpPr>
            <p:cNvPr id="52249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5</a:t>
              </a: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2250" name="Line 2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37" name="Freeform 27"/>
          <p:cNvSpPr/>
          <p:nvPr/>
        </p:nvSpPr>
        <p:spPr bwMode="auto">
          <a:xfrm flipH="1">
            <a:off x="4434205" y="5222875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36"/>
          <p:cNvGrpSpPr/>
          <p:nvPr/>
        </p:nvGrpSpPr>
        <p:grpSpPr bwMode="auto">
          <a:xfrm>
            <a:off x="2648268" y="5999163"/>
            <a:ext cx="874712" cy="744537"/>
            <a:chOff x="1413596" y="5695677"/>
            <a:chExt cx="874920" cy="744142"/>
          </a:xfrm>
        </p:grpSpPr>
        <p:cxnSp>
          <p:nvCxnSpPr>
            <p:cNvPr id="52247" name="直接箭头连接符 37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48" name="文本框 38"/>
            <p:cNvSpPr txBox="1">
              <a:spLocks noChangeArrowheads="1"/>
            </p:cNvSpPr>
            <p:nvPr/>
          </p:nvSpPr>
          <p:spPr bwMode="auto">
            <a:xfrm>
              <a:off x="1413596" y="5978154"/>
              <a:ext cx="8749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tmp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组合 39"/>
          <p:cNvGrpSpPr/>
          <p:nvPr/>
        </p:nvGrpSpPr>
        <p:grpSpPr bwMode="auto">
          <a:xfrm>
            <a:off x="1284605" y="6021388"/>
            <a:ext cx="790575" cy="706437"/>
            <a:chOff x="392627" y="5695677"/>
            <a:chExt cx="791327" cy="705654"/>
          </a:xfrm>
        </p:grpSpPr>
        <p:cxnSp>
          <p:nvCxnSpPr>
            <p:cNvPr id="52245" name="直接箭头连接符 40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46" name="文本框 41"/>
            <p:cNvSpPr txBox="1">
              <a:spLocks noChangeArrowheads="1"/>
            </p:cNvSpPr>
            <p:nvPr/>
          </p:nvSpPr>
          <p:spPr bwMode="auto">
            <a:xfrm>
              <a:off x="392627" y="5935407"/>
              <a:ext cx="79132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tmp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组合 45"/>
          <p:cNvGrpSpPr/>
          <p:nvPr/>
        </p:nvGrpSpPr>
        <p:grpSpPr bwMode="auto">
          <a:xfrm>
            <a:off x="2347945" y="4232713"/>
            <a:ext cx="706437" cy="1085412"/>
            <a:chOff x="1839233" y="4225803"/>
            <a:chExt cx="706438" cy="1085412"/>
          </a:xfrm>
        </p:grpSpPr>
        <p:sp>
          <p:nvSpPr>
            <p:cNvPr id="52242" name="Rectangle 7"/>
            <p:cNvSpPr>
              <a:spLocks noChangeArrowheads="1"/>
            </p:cNvSpPr>
            <p:nvPr/>
          </p:nvSpPr>
          <p:spPr bwMode="auto">
            <a:xfrm flipH="1">
              <a:off x="1839233" y="4225803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head</a:t>
              </a:r>
              <a:endParaRPr lang="en-US" altLang="zh-CN" sz="2000" dirty="0">
                <a:solidFill>
                  <a:srgbClr val="FFFF00"/>
                </a:solidFill>
              </a:endParaRPr>
            </a:p>
          </p:txBody>
        </p:sp>
        <p:sp>
          <p:nvSpPr>
            <p:cNvPr id="52243" name="Rectangle 9"/>
            <p:cNvSpPr>
              <a:spLocks noChangeArrowheads="1"/>
            </p:cNvSpPr>
            <p:nvPr/>
          </p:nvSpPr>
          <p:spPr bwMode="auto">
            <a:xfrm flipH="1">
              <a:off x="1876029" y="4595253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2244" name="Freeform 29"/>
            <p:cNvSpPr/>
            <p:nvPr/>
          </p:nvSpPr>
          <p:spPr bwMode="auto">
            <a:xfrm flipH="1">
              <a:off x="2171304" y="4803215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6550025" y="685800"/>
            <a:ext cx="5616575" cy="335343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易错点</a:t>
            </a:r>
            <a:r>
              <a:rPr lang="en-US" altLang="zh-CN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错误代码</a:t>
            </a:r>
            <a:r>
              <a:rPr lang="en-US" altLang="zh-CN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</a:t>
            </a:r>
            <a:endParaRPr lang="en-US" altLang="zh-CN" sz="2400" kern="100" dirty="0">
              <a:solidFill>
                <a:srgbClr val="FFC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destroy(</a:t>
            </a:r>
            <a:r>
              <a:rPr lang="en-US" altLang="zh-CN" sz="28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*head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kern="100" dirty="0">
              <a:solidFill>
                <a:srgbClr val="FFFFFF">
                  <a:lumMod val="50000"/>
                </a:srgb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	</a:t>
            </a:r>
            <a:r>
              <a:rPr lang="en-US" altLang="zh-CN" sz="32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 (head!= NULL)</a:t>
            </a:r>
            <a:endParaRPr lang="zh-CN" altLang="zh-CN" sz="3200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{	free(head);</a:t>
            </a:r>
            <a:endParaRPr lang="zh-CN" altLang="zh-CN" sz="3200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8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head=head-&gt;next; </a:t>
            </a:r>
            <a:r>
              <a:rPr lang="en-US" altLang="zh-CN" sz="32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} </a:t>
            </a:r>
            <a:endParaRPr lang="zh-CN" altLang="zh-CN" sz="3200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32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45070" y="4072890"/>
            <a:ext cx="458343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C000"/>
                </a:solidFill>
              </a:rPr>
              <a:t>【链表常见错误】</a:t>
            </a:r>
            <a:endParaRPr lang="zh-CN" altLang="en-US" sz="2400">
              <a:solidFill>
                <a:srgbClr val="FFC000"/>
              </a:solidFill>
            </a:endParaRPr>
          </a:p>
          <a:p>
            <a:r>
              <a:rPr lang="en-US" altLang="zh-CN" sz="2400"/>
              <a:t>Segmentation Fault</a:t>
            </a:r>
            <a:endParaRPr lang="en-US" altLang="zh-CN" sz="2400"/>
          </a:p>
          <a:p>
            <a:r>
              <a:rPr lang="en-US" altLang="zh-CN" sz="2400"/>
              <a:t>/Access Violation</a:t>
            </a:r>
            <a:endParaRPr lang="en-US" altLang="zh-CN" sz="2400"/>
          </a:p>
          <a:p>
            <a:r>
              <a:rPr lang="zh-CN" altLang="en-US" sz="2400"/>
              <a:t>程序试图访问其内存空间中未分配（或无权访问）的内存段，即内存非法操作</a:t>
            </a:r>
            <a:endParaRPr lang="zh-CN" altLang="en-US" sz="2400"/>
          </a:p>
          <a:p>
            <a:r>
              <a:rPr lang="zh-CN" altLang="en-US" sz="2400">
                <a:solidFill>
                  <a:srgbClr val="FFC000"/>
                </a:solidFill>
              </a:rPr>
              <a:t>如何修改？</a:t>
            </a:r>
            <a:endParaRPr lang="zh-CN" altLang="en-US" sz="240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6" grpId="1"/>
    </p:bldLst>
  </p:timing>
</p:sld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7311</Words>
  <Application>WPS 演示</Application>
  <PresentationFormat>宽屏</PresentationFormat>
  <Paragraphs>1018</Paragraphs>
  <Slides>28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Arial</vt:lpstr>
      <vt:lpstr>宋体</vt:lpstr>
      <vt:lpstr>Wingdings</vt:lpstr>
      <vt:lpstr>Tahoma</vt:lpstr>
      <vt:lpstr>黑体</vt:lpstr>
      <vt:lpstr>Times New Roman</vt:lpstr>
      <vt:lpstr>微软雅黑</vt:lpstr>
      <vt:lpstr>Arial Unicode MS</vt:lpstr>
      <vt:lpstr>等线</vt:lpstr>
      <vt:lpstr>华文隶书</vt:lpstr>
      <vt:lpstr>1_Slit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【例1】单向链表操作示例</vt:lpstr>
      <vt:lpstr>程序运行界面：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840</cp:revision>
  <dcterms:created xsi:type="dcterms:W3CDTF">2019-09-21T08:05:00Z</dcterms:created>
  <dcterms:modified xsi:type="dcterms:W3CDTF">2025-11-18T02:25:58Z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E06E0166E1A342A38D52B43085CE3D10_12</vt:lpwstr>
  </property>
</Properties>
</file>