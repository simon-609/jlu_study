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487" r:id="rId5"/>
    <p:sldId id="585" r:id="rId6"/>
    <p:sldId id="587" r:id="rId7"/>
    <p:sldId id="586" r:id="rId8"/>
    <p:sldId id="598" r:id="rId9"/>
    <p:sldId id="597" r:id="rId10"/>
    <p:sldId id="596" r:id="rId11"/>
    <p:sldId id="593" r:id="rId12"/>
    <p:sldId id="599" r:id="rId13"/>
    <p:sldId id="681" r:id="rId14"/>
    <p:sldId id="259" r:id="rId15"/>
    <p:sldId id="260" r:id="rId16"/>
    <p:sldId id="261" r:id="rId17"/>
    <p:sldId id="262" r:id="rId18"/>
    <p:sldId id="646" r:id="rId19"/>
    <p:sldId id="265" r:id="rId20"/>
    <p:sldId id="267" r:id="rId21"/>
    <p:sldId id="270" r:id="rId22"/>
    <p:sldId id="494" r:id="rId23"/>
    <p:sldId id="520" r:id="rId24"/>
    <p:sldId id="274" r:id="rId25"/>
    <p:sldId id="573" r:id="rId26"/>
    <p:sldId id="574" r:id="rId27"/>
    <p:sldId id="540" r:id="rId28"/>
    <p:sldId id="276" r:id="rId29"/>
    <p:sldId id="280" r:id="rId30"/>
    <p:sldId id="495" r:id="rId31"/>
    <p:sldId id="281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2" r:id="rId41"/>
  </p:sldIdLst>
  <p:sldSz cx="12192000" cy="6858000"/>
  <p:notesSz cx="6858000" cy="9144000"/>
  <p:custDataLst>
    <p:tags r:id="rId4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005F9"/>
    <a:srgbClr val="FF0000"/>
    <a:srgbClr val="06325F"/>
    <a:srgbClr val="02224B"/>
    <a:srgbClr val="FFE705"/>
    <a:srgbClr val="9C1489"/>
    <a:srgbClr val="00FFFF"/>
    <a:srgbClr val="00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6343"/>
  </p:normalViewPr>
  <p:slideViewPr>
    <p:cSldViewPr showGuides="1">
      <p:cViewPr varScale="1">
        <p:scale>
          <a:sx n="75" d="100"/>
          <a:sy n="75" d="100"/>
        </p:scale>
        <p:origin x="946" y="86"/>
      </p:cViewPr>
      <p:guideLst>
        <p:guide orient="horz" pos="2160"/>
        <p:guide pos="3801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275E5F-39B9-4EB1-9938-01A6B23F17B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15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35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相邻元素的描述</a:t>
            </a:r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58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78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99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19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17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40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60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81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22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63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04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451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88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29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49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70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90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911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A6957A4-07EE-43F4-8B6E-FA71B2E0866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FA6BE7-3BD7-4940-86CA-5CD2F57CA07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72D941-F743-4F51-9659-8A8F36E5FA2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1C920D-9152-4DA0-82D4-9E5A639FC43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86E959-49C8-4BD3-BDEA-5CF9215772A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BD1EA3-B93A-4C1D-B9A0-82DB2A47631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984DF8-4F5A-4098-ACB3-405B6542E32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A2435B-1BC8-4433-8612-9ABF47025AD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83D70-C7D5-4259-A485-4047116E2BE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D3A131-FB19-43AC-B5A8-98E519D6C80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E748A0-AF8C-4C2B-904A-861F962951F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FD731E-3CD0-45FA-A580-E3DFB0FC746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BF255F-BBF4-422B-A599-15BFCD0BCFC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881FC3-D3D9-453A-A6CF-F40BFC0E9ED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E6B3CD-E7A9-4276-B76F-DF42062D3A8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9DB9EB-30F0-44AC-82F6-CE87CEE85E5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883D27-DC98-4F7D-A845-5BF5C0F0D2A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" Target="../slides/slid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063626-EA5A-4E71-BF1F-C3F6B93C338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rId1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2.xml"/><Relationship Id="rId5" Type="http://schemas.openxmlformats.org/officeDocument/2006/relationships/slide" Target="slide37.xml"/><Relationship Id="rId4" Type="http://schemas.openxmlformats.org/officeDocument/2006/relationships/slide" Target="slide33.xml"/><Relationship Id="rId3" Type="http://schemas.openxmlformats.org/officeDocument/2006/relationships/slide" Target="slide31.xml"/><Relationship Id="rId2" Type="http://schemas.openxmlformats.org/officeDocument/2006/relationships/slide" Target="slide30.xml"/><Relationship Id="rId1" Type="http://schemas.openxmlformats.org/officeDocument/2006/relationships/slide" Target="slide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4"/>
          <p:cNvSpPr>
            <a:spLocks noGrp="1"/>
          </p:cNvSpPr>
          <p:nvPr>
            <p:ph type="title"/>
          </p:nvPr>
        </p:nvSpPr>
        <p:spPr>
          <a:xfrm>
            <a:off x="1919605" y="116205"/>
            <a:ext cx="8229600" cy="660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effectLst/>
                <a:latin typeface="Arial" panose="020B0604020202020204" pitchFamily="34" charset="0"/>
              </a:rPr>
              <a:t>第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7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章 指   针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4961890" cy="525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7.1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二维数组排序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指针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7.2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指针与变量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7.3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指针操作与指针运算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7.5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指针与数组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7.6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指针与字符串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7.4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指向指针的指针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本章小结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8077200" y="6381750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EB8C86-6F01-4E12-A9CC-B984BDCC114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3"/>
          <p:cNvSpPr>
            <a:spLocks noGrp="1"/>
          </p:cNvSpPr>
          <p:nvPr>
            <p:ph idx="1"/>
          </p:nvPr>
        </p:nvSpPr>
        <p:spPr>
          <a:xfrm>
            <a:off x="17780" y="2743200"/>
            <a:ext cx="11871325" cy="417131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ffectLst/>
                <a:latin typeface="Arial" panose="020B0604020202020204" pitchFamily="34" charset="0"/>
              </a:rPr>
              <a:t>指针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是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C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语言重要概念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正确灵活运用指针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3200" b="1" dirty="0">
                <a:effectLst/>
                <a:latin typeface="Arial" panose="020B0604020202020204" pitchFamily="34" charset="0"/>
              </a:rPr>
              <a:t>表示和使用复杂数据结构</a:t>
            </a:r>
            <a:endParaRPr lang="zh-CN" altLang="en-US" sz="3200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3200" b="1" dirty="0">
                <a:effectLst/>
                <a:latin typeface="Arial" panose="020B0604020202020204" pitchFamily="34" charset="0"/>
              </a:rPr>
              <a:t>动态分配内存空间</a:t>
            </a:r>
            <a:endParaRPr lang="zh-CN" altLang="en-US" sz="32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不正确理解和使用指针，指针将是程序中最危险的成分，由此带来的后果可能是无法估量的 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230A63-9B12-419B-BA18-5C73F345663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5123815" y="0"/>
          <a:ext cx="7073900" cy="4204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6400800" imgH="3380105" progId="Paint.Picture">
                  <p:embed/>
                </p:oleObj>
              </mc:Choice>
              <mc:Fallback>
                <p:oleObj name="" r:id="rId1" imgW="6400800" imgH="338010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23815" y="0"/>
                        <a:ext cx="7073900" cy="4204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6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9421813" y="6400800"/>
            <a:ext cx="21336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1B429C-D030-4632-BC8B-10874B72905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1489075" y="-7937"/>
            <a:ext cx="8999538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§7.1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二维数组排序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二维数组下标访问方式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24580" name="矩形 2"/>
          <p:cNvSpPr/>
          <p:nvPr/>
        </p:nvSpPr>
        <p:spPr>
          <a:xfrm>
            <a:off x="0" y="862013"/>
            <a:ext cx="12192000" cy="2105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3000" b="1" dirty="0">
                <a:solidFill>
                  <a:srgbClr val="FFC000"/>
                </a:solidFill>
              </a:rPr>
              <a:t>【</a:t>
            </a:r>
            <a:r>
              <a:rPr lang="zh-CN" altLang="en-US" sz="3000" b="1" dirty="0">
                <a:solidFill>
                  <a:srgbClr val="FFC000"/>
                </a:solidFill>
              </a:rPr>
              <a:t>例</a:t>
            </a:r>
            <a:r>
              <a:rPr lang="en-US" altLang="zh-CN" sz="3000" b="1" dirty="0">
                <a:solidFill>
                  <a:srgbClr val="FFC000"/>
                </a:solidFill>
              </a:rPr>
              <a:t>7.1】</a:t>
            </a:r>
            <a:r>
              <a:rPr lang="zh-CN" altLang="en-US" sz="3000" b="1" dirty="0">
                <a:solidFill>
                  <a:srgbClr val="FFC000"/>
                </a:solidFill>
              </a:rPr>
              <a:t>编程序，对任意给定的 </a:t>
            </a:r>
            <a:r>
              <a:rPr lang="en-US" altLang="zh-CN" sz="3000" b="1" dirty="0">
                <a:solidFill>
                  <a:srgbClr val="FFC000"/>
                </a:solidFill>
              </a:rPr>
              <a:t>MxN </a:t>
            </a:r>
            <a:r>
              <a:rPr lang="zh-CN" altLang="en-US" sz="3000" b="1" dirty="0">
                <a:solidFill>
                  <a:srgbClr val="FFC000"/>
                </a:solidFill>
              </a:rPr>
              <a:t>阶整数矩阵 </a:t>
            </a:r>
            <a:r>
              <a:rPr lang="en-US" altLang="zh-CN" sz="3000" b="1" dirty="0">
                <a:solidFill>
                  <a:srgbClr val="FFC000"/>
                </a:solidFill>
              </a:rPr>
              <a:t>a</a:t>
            </a:r>
            <a:r>
              <a:rPr lang="zh-CN" altLang="en-US" sz="3000" b="1" dirty="0">
                <a:solidFill>
                  <a:srgbClr val="FFC000"/>
                </a:solidFill>
              </a:rPr>
              <a:t>按</a:t>
            </a:r>
            <a:r>
              <a:rPr lang="zh-CN" altLang="en-US" sz="3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行递增</a:t>
            </a:r>
            <a:r>
              <a:rPr lang="zh-CN" altLang="en-US" sz="3000" b="1" dirty="0">
                <a:solidFill>
                  <a:srgbClr val="FFC000"/>
                </a:solidFill>
              </a:rPr>
              <a:t>排序，使</a:t>
            </a:r>
            <a:endParaRPr lang="zh-CN" altLang="en-US" sz="3000" b="1" dirty="0">
              <a:solidFill>
                <a:srgbClr val="FFC000"/>
              </a:solidFill>
            </a:endParaRPr>
          </a:p>
          <a:p>
            <a:pPr marL="0" lvl="0" indent="0" algn="ctr" eaLnBrk="1" hangingPunct="1"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a[0][0]     &lt; a[0][1]  &lt; …… &lt; a[0][N-1] &lt;</a:t>
            </a:r>
            <a:endParaRPr lang="en-US" altLang="zh-CN" sz="2800" b="1" dirty="0">
              <a:solidFill>
                <a:srgbClr val="FFC000"/>
              </a:solidFill>
            </a:endParaRPr>
          </a:p>
          <a:p>
            <a:pPr marL="0" lvl="0" indent="0" algn="ctr" eaLnBrk="1" hangingPunct="1"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a[1][0]    &lt; a[1][1]  &lt; …… &lt; a[1][N-1] &lt;</a:t>
            </a:r>
            <a:endParaRPr lang="en-US" altLang="zh-CN" sz="2800" b="1" dirty="0">
              <a:solidFill>
                <a:srgbClr val="FFC000"/>
              </a:solidFill>
            </a:endParaRPr>
          </a:p>
          <a:p>
            <a:pPr marL="0" lvl="0" indent="0" algn="ctr" eaLnBrk="1" hangingPunct="1"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a[M-1][0] &lt; a[M-1][1] ……  &lt; a[M-1][N-1] 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sp>
        <p:nvSpPr>
          <p:cNvPr id="24581" name="箭头: 右 2"/>
          <p:cNvSpPr/>
          <p:nvPr/>
        </p:nvSpPr>
        <p:spPr>
          <a:xfrm>
            <a:off x="5486400" y="4633913"/>
            <a:ext cx="854075" cy="287337"/>
          </a:xfrm>
          <a:prstGeom prst="rightArrow">
            <a:avLst>
              <a:gd name="adj1" fmla="val 50000"/>
              <a:gd name="adj2" fmla="val 50158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981200" y="4002088"/>
          <a:ext cx="3505200" cy="1554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/>
                <a:gridCol w="876300"/>
                <a:gridCol w="876300"/>
                <a:gridCol w="876300"/>
              </a:tblGrid>
              <a:tr h="5180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</a:t>
                      </a:r>
                      <a:endParaRPr lang="zh-CN" altLang="en-US" sz="2800" dirty="0"/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2</a:t>
                      </a:r>
                      <a:endParaRPr lang="zh-CN" altLang="en-US" sz="2800" dirty="0"/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4</a:t>
                      </a:r>
                      <a:endParaRPr lang="zh-CN" altLang="en-US" sz="2800" dirty="0"/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5</a:t>
                      </a:r>
                      <a:endParaRPr lang="zh-CN" altLang="en-US" sz="2800" dirty="0"/>
                    </a:p>
                  </a:txBody>
                  <a:tcPr marL="91444" marR="91444" marT="45669" marB="45669"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55</a:t>
                      </a:r>
                      <a:endParaRPr lang="en-US" altLang="zh-CN" sz="2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340475" y="4008438"/>
          <a:ext cx="3505200" cy="1554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/>
                <a:gridCol w="876300"/>
                <a:gridCol w="876300"/>
                <a:gridCol w="876300"/>
              </a:tblGrid>
              <a:tr h="5180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-9</a:t>
                      </a:r>
                      <a:endParaRPr lang="en-US" altLang="zh-CN" sz="28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</a:t>
                      </a:r>
                      <a:endParaRPr lang="zh-CN" altLang="en-US" sz="2800" dirty="0"/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2</a:t>
                      </a:r>
                      <a:endParaRPr lang="zh-CN" altLang="en-US" sz="2800" dirty="0"/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4</a:t>
                      </a:r>
                      <a:endParaRPr lang="zh-CN" altLang="en-US" sz="2800" dirty="0"/>
                    </a:p>
                  </a:txBody>
                  <a:tcPr marL="91444" marR="91444" marT="45669" marB="45669"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55</a:t>
                      </a:r>
                      <a:endParaRPr lang="en-US" altLang="zh-CN" sz="2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44" marR="91444" marT="45669" marB="45669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6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11198225" y="6400800"/>
            <a:ext cx="460375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8EDDA8-910B-4C22-B24E-ABCE226932D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57188" y="1254125"/>
          <a:ext cx="4554538" cy="1881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263"/>
                <a:gridCol w="1073263"/>
                <a:gridCol w="1073263"/>
                <a:gridCol w="1334749"/>
              </a:tblGrid>
              <a:tr h="627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a[0][0] </a:t>
                      </a:r>
                      <a:endParaRPr lang="zh-CN" altLang="en-US" sz="1800" b="1" dirty="0"/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a[0][1] </a:t>
                      </a:r>
                      <a:endParaRPr lang="zh-CN" altLang="en-US" sz="1800" b="1" dirty="0"/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a[0][2] </a:t>
                      </a:r>
                      <a:endParaRPr lang="zh-CN" altLang="en-US" sz="1800" b="1" dirty="0"/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a[0][3] </a:t>
                      </a:r>
                      <a:endParaRPr lang="zh-CN" altLang="en-US" sz="1800" b="1" baseline="-25000" dirty="0"/>
                    </a:p>
                  </a:txBody>
                  <a:tcPr marL="91455" marR="91455" marT="45711" marB="45711" anchor="ctr"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a[1][0]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a[1][1]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a[1][2]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005F9"/>
                          </a:solidFill>
                        </a:rPr>
                        <a:t>a[1][3] </a:t>
                      </a:r>
                      <a:endParaRPr lang="en-US" altLang="zh-CN" sz="1800" b="1" dirty="0">
                        <a:solidFill>
                          <a:srgbClr val="F005F9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005F9"/>
                          </a:solidFill>
                        </a:rPr>
                        <a:t>a[2][0]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a[2][1]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a[2][2]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a[2][3]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70"/>
          <p:cNvGraphicFramePr/>
          <p:nvPr/>
        </p:nvGraphicFramePr>
        <p:xfrm>
          <a:off x="7735888" y="76200"/>
          <a:ext cx="3529013" cy="6858006"/>
        </p:xfrm>
        <a:graphic>
          <a:graphicData uri="http://schemas.openxmlformats.org/drawingml/2006/table">
            <a:tbl>
              <a:tblPr/>
              <a:tblGrid>
                <a:gridCol w="924265"/>
                <a:gridCol w="1809745"/>
                <a:gridCol w="795002"/>
              </a:tblGrid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成分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内存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431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4925" y="4973638"/>
            <a:ext cx="7307263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方法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：下标转换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见右图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，第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行共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M*N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个元素：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行的第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个元素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可表示为：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a[0]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[p]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005F9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第0行的第p+1个元素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可表示为：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a[0]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[p+1]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005F9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5684" name="TextBox 4"/>
          <p:cNvSpPr txBox="1"/>
          <p:nvPr/>
        </p:nvSpPr>
        <p:spPr>
          <a:xfrm>
            <a:off x="185738" y="560388"/>
            <a:ext cx="410368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zh-CN" altLang="en-US" b="1" dirty="0"/>
              <a:t>以</a:t>
            </a:r>
            <a:r>
              <a:rPr lang="en-US" altLang="zh-CN" b="1" dirty="0"/>
              <a:t>M=3,</a:t>
            </a:r>
            <a:r>
              <a:rPr lang="en-US" altLang="zh-CN" b="1" dirty="0">
                <a:solidFill>
                  <a:srgbClr val="FFFF00"/>
                </a:solidFill>
              </a:rPr>
              <a:t>N=4</a:t>
            </a:r>
            <a:r>
              <a:rPr lang="zh-CN" altLang="en-US" b="1" dirty="0"/>
              <a:t>为例</a:t>
            </a:r>
            <a:endParaRPr lang="zh-CN" altLang="en-US" b="1" dirty="0"/>
          </a:p>
        </p:txBody>
      </p:sp>
      <p:sp>
        <p:nvSpPr>
          <p:cNvPr id="8280" name="TextBox 11"/>
          <p:cNvSpPr txBox="1"/>
          <p:nvPr/>
        </p:nvSpPr>
        <p:spPr>
          <a:xfrm>
            <a:off x="6015038" y="3954463"/>
            <a:ext cx="10810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fontAlgn="auto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005F9"/>
                </a:solidFill>
              </a:rPr>
              <a:t>a[0][4]</a:t>
            </a:r>
            <a:endParaRPr lang="en-US" altLang="zh-CN" sz="1800" b="1" dirty="0">
              <a:solidFill>
                <a:srgbClr val="F005F9"/>
              </a:solidFill>
            </a:endParaRPr>
          </a:p>
        </p:txBody>
      </p:sp>
      <p:sp>
        <p:nvSpPr>
          <p:cNvPr id="20" name="TextBox 11"/>
          <p:cNvSpPr txBox="1"/>
          <p:nvPr/>
        </p:nvSpPr>
        <p:spPr>
          <a:xfrm>
            <a:off x="6013450" y="3449638"/>
            <a:ext cx="108108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fontAlgn="auto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005F9"/>
                </a:solidFill>
              </a:rPr>
              <a:t>a[0][5]</a:t>
            </a:r>
            <a:endParaRPr lang="en-US" altLang="zh-CN" sz="1800" b="1" dirty="0">
              <a:solidFill>
                <a:srgbClr val="F005F9"/>
              </a:solidFill>
            </a:endParaRPr>
          </a:p>
        </p:txBody>
      </p:sp>
      <p:sp>
        <p:nvSpPr>
          <p:cNvPr id="21" name="TextBox 11"/>
          <p:cNvSpPr txBox="1"/>
          <p:nvPr/>
        </p:nvSpPr>
        <p:spPr>
          <a:xfrm>
            <a:off x="6015038" y="2944813"/>
            <a:ext cx="10810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fontAlgn="auto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005F9"/>
                </a:solidFill>
              </a:rPr>
              <a:t>a[0][6]</a:t>
            </a:r>
            <a:endParaRPr lang="en-US" altLang="zh-CN" sz="1800" b="1" dirty="0">
              <a:solidFill>
                <a:srgbClr val="F005F9"/>
              </a:solidFill>
            </a:endParaRPr>
          </a:p>
        </p:txBody>
      </p:sp>
      <p:sp>
        <p:nvSpPr>
          <p:cNvPr id="22" name="TextBox 11"/>
          <p:cNvSpPr txBox="1"/>
          <p:nvPr/>
        </p:nvSpPr>
        <p:spPr>
          <a:xfrm>
            <a:off x="5992813" y="2513013"/>
            <a:ext cx="10810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fontAlgn="auto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005F9"/>
                </a:solidFill>
              </a:rPr>
              <a:t>a[0][7]</a:t>
            </a:r>
            <a:endParaRPr lang="en-US" altLang="zh-CN" sz="1800" b="1" dirty="0">
              <a:solidFill>
                <a:srgbClr val="F005F9"/>
              </a:solidFill>
            </a:endParaRPr>
          </a:p>
        </p:txBody>
      </p:sp>
      <p:sp>
        <p:nvSpPr>
          <p:cNvPr id="23" name="TextBox 11"/>
          <p:cNvSpPr txBox="1"/>
          <p:nvPr/>
        </p:nvSpPr>
        <p:spPr>
          <a:xfrm>
            <a:off x="5992813" y="2009775"/>
            <a:ext cx="10810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fontAlgn="auto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005F9"/>
                </a:solidFill>
              </a:rPr>
              <a:t>a[0][8]</a:t>
            </a:r>
            <a:endParaRPr lang="en-US" altLang="zh-CN" sz="1800" b="1" dirty="0">
              <a:solidFill>
                <a:srgbClr val="F005F9"/>
              </a:solidFill>
            </a:endParaRPr>
          </a:p>
        </p:txBody>
      </p:sp>
      <p:sp>
        <p:nvSpPr>
          <p:cNvPr id="24" name="TextBox 11"/>
          <p:cNvSpPr txBox="1"/>
          <p:nvPr/>
        </p:nvSpPr>
        <p:spPr>
          <a:xfrm>
            <a:off x="5992813" y="1504950"/>
            <a:ext cx="10810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fontAlgn="auto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005F9"/>
                </a:solidFill>
              </a:rPr>
              <a:t>a[0][9]</a:t>
            </a:r>
            <a:endParaRPr lang="en-US" altLang="zh-CN" sz="1800" b="1" dirty="0">
              <a:solidFill>
                <a:srgbClr val="F005F9"/>
              </a:solidFill>
            </a:endParaRPr>
          </a:p>
        </p:txBody>
      </p:sp>
      <p:sp>
        <p:nvSpPr>
          <p:cNvPr id="25" name="TextBox 11"/>
          <p:cNvSpPr txBox="1"/>
          <p:nvPr/>
        </p:nvSpPr>
        <p:spPr>
          <a:xfrm>
            <a:off x="5942013" y="1063625"/>
            <a:ext cx="11382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fontAlgn="auto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005F9"/>
                </a:solidFill>
              </a:rPr>
              <a:t>a[0][10]</a:t>
            </a:r>
            <a:endParaRPr lang="en-US" altLang="zh-CN" sz="1800" b="1" dirty="0">
              <a:solidFill>
                <a:srgbClr val="F005F9"/>
              </a:solidFill>
            </a:endParaRPr>
          </a:p>
        </p:txBody>
      </p:sp>
      <p:sp>
        <p:nvSpPr>
          <p:cNvPr id="26" name="TextBox 11"/>
          <p:cNvSpPr txBox="1"/>
          <p:nvPr/>
        </p:nvSpPr>
        <p:spPr>
          <a:xfrm>
            <a:off x="5957888" y="560388"/>
            <a:ext cx="11382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fontAlgn="auto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005F9"/>
                </a:solidFill>
              </a:rPr>
              <a:t>a[0][11]</a:t>
            </a:r>
            <a:endParaRPr lang="en-US" altLang="zh-CN" sz="1800" b="1" dirty="0">
              <a:solidFill>
                <a:srgbClr val="F005F9"/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4911725" y="2195513"/>
            <a:ext cx="1174750" cy="488950"/>
          </a:xfrm>
          <a:prstGeom prst="straightConnector1">
            <a:avLst/>
          </a:prstGeom>
          <a:ln w="38100" cap="flat" cmpd="sng">
            <a:solidFill>
              <a:srgbClr val="F005F9"/>
            </a:solidFill>
            <a:prstDash val="sysDot"/>
            <a:headEnd type="none" w="med" len="med"/>
            <a:tailEnd type="stealth" w="med" len="med"/>
          </a:ln>
        </p:spPr>
      </p:cxnSp>
      <p:sp>
        <p:nvSpPr>
          <p:cNvPr id="3" name="矩形 2"/>
          <p:cNvSpPr/>
          <p:nvPr/>
        </p:nvSpPr>
        <p:spPr>
          <a:xfrm>
            <a:off x="-49212" y="4173538"/>
            <a:ext cx="606266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思考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如何描述二维数组中的相邻元素？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7013575" y="2700338"/>
            <a:ext cx="657225" cy="0"/>
          </a:xfrm>
          <a:prstGeom prst="straightConnector1">
            <a:avLst/>
          </a:prstGeom>
          <a:ln w="38100" cap="flat" cmpd="sng">
            <a:solidFill>
              <a:srgbClr val="F005F9"/>
            </a:solidFill>
            <a:prstDash val="sysDot"/>
            <a:headEnd type="none" w="med" len="med"/>
            <a:tailEnd type="stealth" w="med" len="med"/>
          </a:ln>
        </p:spPr>
      </p:cxnSp>
      <p:cxnSp>
        <p:nvCxnSpPr>
          <p:cNvPr id="27" name="直接箭头连接符 26"/>
          <p:cNvCxnSpPr/>
          <p:nvPr/>
        </p:nvCxnSpPr>
        <p:spPr>
          <a:xfrm flipH="1">
            <a:off x="7013575" y="2195513"/>
            <a:ext cx="657225" cy="0"/>
          </a:xfrm>
          <a:prstGeom prst="straightConnector1">
            <a:avLst/>
          </a:prstGeom>
          <a:ln w="38100" cap="flat" cmpd="sng">
            <a:solidFill>
              <a:srgbClr val="F005F9"/>
            </a:solidFill>
            <a:prstDash val="sysDot"/>
            <a:headEnd type="none" w="med" len="med"/>
            <a:tailEnd type="stealth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6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8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80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63500" y="79375"/>
            <a:ext cx="9064625" cy="66262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方法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 (a[i][j]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a[0][i*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N+j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完整程序：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M 3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N 4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 ){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int a[M][N], i, j,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r,p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 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请为矩阵输入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%d*%d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个整数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:\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n",M,N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for(i=0;i&lt;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M;i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for(j=0;j&lt;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N;j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("%d",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&amp;a[i][j]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6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F10DE0-5A8D-4E20-96AE-39A71083DDC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76883" y="5289550"/>
            <a:ext cx="4103687" cy="15684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/>
              <a:t>请为矩阵输入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*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个整数：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4  35  21  65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1  -7  65  89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1001  34  19  76</a:t>
            </a:r>
            <a:endParaRPr lang="zh-CN" altLang="en-US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152400" y="609600"/>
            <a:ext cx="9372600" cy="6213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flag=true;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while (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flag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 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flag = false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p=0;p&lt;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M*N-1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;p++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数组共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M*N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个元素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{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 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][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&gt; a[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][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p+1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当成一行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交换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r= a[0][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a[0][p] =a[0][p+1]; 		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a[0][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p+1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=r;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flag=true;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6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832886-BE7D-4482-98B1-E097DBD1D92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6" name="TextBox 1"/>
          <p:cNvSpPr txBox="1"/>
          <p:nvPr/>
        </p:nvSpPr>
        <p:spPr>
          <a:xfrm>
            <a:off x="11042650" y="0"/>
            <a:ext cx="1079500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b="1" dirty="0">
                <a:solidFill>
                  <a:srgbClr val="FFC000"/>
                </a:solidFill>
              </a:rPr>
              <a:t>排序</a:t>
            </a:r>
            <a:endParaRPr lang="zh-CN" altLang="en-US" b="1" dirty="0">
              <a:solidFill>
                <a:srgbClr val="FFC000"/>
              </a:solidFill>
            </a:endParaRPr>
          </a:p>
        </p:txBody>
      </p:sp>
      <p:sp>
        <p:nvSpPr>
          <p:cNvPr id="28677" name="文本框 6"/>
          <p:cNvSpPr txBox="1"/>
          <p:nvPr/>
        </p:nvSpPr>
        <p:spPr>
          <a:xfrm>
            <a:off x="8088313" y="3687763"/>
            <a:ext cx="4103687" cy="15684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/>
              <a:t>请为矩阵输入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*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个整数：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4  35  21  65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1  -7  65  89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1001  34  19  76</a:t>
            </a:r>
            <a:endParaRPr lang="zh-CN" altLang="en-US" sz="2400" b="1" dirty="0"/>
          </a:p>
        </p:txBody>
      </p:sp>
      <p:sp>
        <p:nvSpPr>
          <p:cNvPr id="28678" name="文本框 7"/>
          <p:cNvSpPr txBox="1"/>
          <p:nvPr/>
        </p:nvSpPr>
        <p:spPr>
          <a:xfrm>
            <a:off x="8088313" y="5254625"/>
            <a:ext cx="4103687" cy="15684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/>
              <a:t>排序后的矩阵为：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-7    1     4     19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21   34   35   65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65   76   89   1001</a:t>
            </a:r>
            <a:endParaRPr lang="zh-CN" altLang="en-US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964488" y="3246438"/>
            <a:ext cx="189388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>
                    <a:lumMod val="7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运行界面：</a:t>
            </a:r>
            <a:endParaRPr kumimoji="0" lang="zh-CN" altLang="en-US" kern="1200" cap="none" spc="0" normalizeH="0" baseline="0" noProof="0" dirty="0">
              <a:solidFill>
                <a:schemeClr val="tx1">
                  <a:lumMod val="7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1905000" y="609600"/>
            <a:ext cx="9036050" cy="40767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排序后的矩阵为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:\n");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for(i=0;i&lt;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M;i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for(j=0;j&lt;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N;j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("%-5d", 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[i][j]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("\n");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6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F30D09-5616-409C-A657-6046E26ADF1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0" name="文本框 4"/>
          <p:cNvSpPr txBox="1"/>
          <p:nvPr/>
        </p:nvSpPr>
        <p:spPr>
          <a:xfrm>
            <a:off x="3657600" y="4906963"/>
            <a:ext cx="3124200" cy="1570037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/>
              <a:t>排序后的矩阵为：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-7    1     4     19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21   34   35   65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65   76   89   1001</a:t>
            </a: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" name="Group 70"/>
          <p:cNvGraphicFramePr/>
          <p:nvPr/>
        </p:nvGraphicFramePr>
        <p:xfrm>
          <a:off x="8205788" y="26988"/>
          <a:ext cx="3529013" cy="6858006"/>
        </p:xfrm>
        <a:graphic>
          <a:graphicData uri="http://schemas.openxmlformats.org/drawingml/2006/table">
            <a:tbl>
              <a:tblPr/>
              <a:tblGrid>
                <a:gridCol w="924265"/>
                <a:gridCol w="1809745"/>
                <a:gridCol w="795002"/>
              </a:tblGrid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成分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内存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005F9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a[2][0</a:t>
                      </a:r>
                      <a:r>
                        <a:rPr kumimoji="0" lang="en-US" altLang="zh-CN" sz="1800" b="1" i="0" u="none" strike="noStrike" cap="none" normalizeH="0" baseline="0" dirty="0">
                          <a:solidFill>
                            <a:srgbClr val="F005F9"/>
                          </a:solidFill>
                          <a:latin typeface="+mn-lt"/>
                        </a:rPr>
                        <a:t>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005F9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005F9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a[1][2]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431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366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11734800" y="5895975"/>
            <a:ext cx="420688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7FCAD3-AA01-4E9F-8760-AA07D1020FF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400675"/>
            <a:ext cx="8277225" cy="1383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方法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：设置计数器</a:t>
            </a:r>
            <a:r>
              <a:rPr lang="en-US" altLang="zh-CN" sz="2800" b="1" dirty="0"/>
              <a:t>p</a:t>
            </a:r>
            <a:r>
              <a:rPr lang="zh-CN" altLang="en-US" sz="2800" b="1" dirty="0"/>
              <a:t>，则数组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中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C000"/>
                </a:solidFill>
              </a:rPr>
              <a:t>第</a:t>
            </a:r>
            <a:r>
              <a:rPr lang="en-US" altLang="zh-CN" sz="2800" b="1" dirty="0">
                <a:solidFill>
                  <a:srgbClr val="FFC000"/>
                </a:solidFill>
              </a:rPr>
              <a:t>p</a:t>
            </a:r>
            <a:r>
              <a:rPr lang="zh-CN" altLang="en-US" sz="2800" b="1" dirty="0">
                <a:solidFill>
                  <a:srgbClr val="FFC000"/>
                </a:solidFill>
              </a:rPr>
              <a:t>个元素</a:t>
            </a:r>
            <a:r>
              <a:rPr lang="zh-CN" altLang="en-US" sz="2800" b="1" dirty="0"/>
              <a:t>可表示为</a:t>
            </a:r>
            <a:r>
              <a:rPr lang="en-US" altLang="zh-CN" sz="2800" b="1" dirty="0"/>
              <a:t>: a[</a:t>
            </a:r>
            <a:r>
              <a:rPr lang="en-US" altLang="zh-CN" sz="2800" b="1" dirty="0">
                <a:solidFill>
                  <a:srgbClr val="F005F9"/>
                </a:solidFill>
              </a:rPr>
              <a:t>p</a:t>
            </a:r>
            <a:r>
              <a:rPr lang="en-US" altLang="zh-CN" sz="2800" b="1" dirty="0">
                <a:solidFill>
                  <a:srgbClr val="FFFF00"/>
                </a:solidFill>
              </a:rPr>
              <a:t>/N</a:t>
            </a:r>
            <a:r>
              <a:rPr lang="en-US" altLang="zh-CN" sz="2800" b="1" dirty="0"/>
              <a:t>][</a:t>
            </a:r>
            <a:r>
              <a:rPr lang="en-US" altLang="zh-CN" sz="2800" b="1" dirty="0">
                <a:solidFill>
                  <a:srgbClr val="F005F9"/>
                </a:solidFill>
              </a:rPr>
              <a:t>p</a:t>
            </a:r>
            <a:r>
              <a:rPr lang="en-US" altLang="zh-CN" sz="2800" b="1" dirty="0">
                <a:solidFill>
                  <a:srgbClr val="FFFF00"/>
                </a:solidFill>
              </a:rPr>
              <a:t>%N</a:t>
            </a:r>
            <a:r>
              <a:rPr lang="en-US" altLang="zh-CN" sz="2800" b="1" dirty="0">
                <a:solidFill>
                  <a:schemeClr val="tx1"/>
                </a:solidFill>
              </a:rPr>
              <a:t>]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C000"/>
                </a:solidFill>
              </a:rPr>
              <a:t>第</a:t>
            </a:r>
            <a:r>
              <a:rPr lang="en-US" altLang="zh-CN" sz="2800" b="1" dirty="0">
                <a:solidFill>
                  <a:srgbClr val="FFC000"/>
                </a:solidFill>
              </a:rPr>
              <a:t>p+1</a:t>
            </a:r>
            <a:r>
              <a:rPr lang="zh-CN" altLang="en-US" sz="2800" b="1" dirty="0">
                <a:solidFill>
                  <a:srgbClr val="FFC000"/>
                </a:solidFill>
              </a:rPr>
              <a:t>个元素</a:t>
            </a:r>
            <a:r>
              <a:rPr lang="zh-CN" altLang="en-US" sz="2800" b="1" dirty="0"/>
              <a:t>可表示为</a:t>
            </a:r>
            <a:r>
              <a:rPr lang="en-US" altLang="zh-CN" sz="2800" b="1" dirty="0"/>
              <a:t>: a[</a:t>
            </a:r>
            <a:r>
              <a:rPr lang="en-US" altLang="zh-CN" sz="2800" b="1" dirty="0">
                <a:solidFill>
                  <a:srgbClr val="F005F9"/>
                </a:solidFill>
              </a:rPr>
              <a:t>(p+1)</a:t>
            </a:r>
            <a:r>
              <a:rPr lang="en-US" altLang="zh-CN" sz="2800" b="1" dirty="0">
                <a:solidFill>
                  <a:srgbClr val="FFFF00"/>
                </a:solidFill>
              </a:rPr>
              <a:t>/N</a:t>
            </a:r>
            <a:r>
              <a:rPr lang="en-US" altLang="zh-CN" sz="2800" b="1" dirty="0"/>
              <a:t>][</a:t>
            </a:r>
            <a:r>
              <a:rPr lang="en-US" altLang="zh-CN" sz="2800" b="1" dirty="0">
                <a:solidFill>
                  <a:srgbClr val="F005F9"/>
                </a:solidFill>
              </a:rPr>
              <a:t>(p+1)</a:t>
            </a:r>
            <a:r>
              <a:rPr lang="en-US" altLang="zh-CN" sz="2800" b="1" dirty="0">
                <a:solidFill>
                  <a:srgbClr val="FFFF00"/>
                </a:solidFill>
              </a:rPr>
              <a:t>%N</a:t>
            </a:r>
            <a:r>
              <a:rPr lang="en-US" altLang="zh-CN" sz="2800" b="1" dirty="0"/>
              <a:t>]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30782" name="TextBox 4"/>
          <p:cNvSpPr txBox="1"/>
          <p:nvPr/>
        </p:nvSpPr>
        <p:spPr>
          <a:xfrm>
            <a:off x="212725" y="539750"/>
            <a:ext cx="410368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zh-CN" altLang="en-US" b="1" dirty="0"/>
              <a:t>以</a:t>
            </a:r>
            <a:r>
              <a:rPr lang="en-US" altLang="zh-CN" b="1" dirty="0"/>
              <a:t>M=3,</a:t>
            </a:r>
            <a:r>
              <a:rPr lang="en-US" altLang="zh-CN" b="1" dirty="0">
                <a:solidFill>
                  <a:srgbClr val="FFFF00"/>
                </a:solidFill>
              </a:rPr>
              <a:t>N=4</a:t>
            </a:r>
            <a:r>
              <a:rPr lang="zh-CN" altLang="en-US" b="1" dirty="0"/>
              <a:t>为例</a:t>
            </a:r>
            <a:endParaRPr lang="zh-CN" altLang="en-US" b="1" dirty="0"/>
          </a:p>
        </p:txBody>
      </p:sp>
      <p:grpSp>
        <p:nvGrpSpPr>
          <p:cNvPr id="12373" name="组合 6"/>
          <p:cNvGrpSpPr/>
          <p:nvPr/>
        </p:nvGrpSpPr>
        <p:grpSpPr>
          <a:xfrm>
            <a:off x="7558088" y="44450"/>
            <a:ext cx="863600" cy="6263268"/>
            <a:chOff x="4932094" y="44624"/>
            <a:chExt cx="864042" cy="6263689"/>
          </a:xfrm>
        </p:grpSpPr>
        <p:sp>
          <p:nvSpPr>
            <p:cNvPr id="30808" name="TextBox 4"/>
            <p:cNvSpPr txBox="1"/>
            <p:nvPr/>
          </p:nvSpPr>
          <p:spPr>
            <a:xfrm>
              <a:off x="5219824" y="5939988"/>
              <a:ext cx="432296" cy="368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algn="ctr" eaLnBrk="1" fontAlgn="auto" hangingPunct="1"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005F9"/>
                  </a:solidFill>
                </a:rPr>
                <a:t>0</a:t>
              </a:r>
              <a:endParaRPr lang="en-US" altLang="zh-CN" sz="1800" b="1" dirty="0">
                <a:solidFill>
                  <a:srgbClr val="F005F9"/>
                </a:solidFill>
              </a:endParaRPr>
            </a:p>
          </p:txBody>
        </p:sp>
        <p:sp>
          <p:nvSpPr>
            <p:cNvPr id="30809" name="TextBox 10"/>
            <p:cNvSpPr txBox="1"/>
            <p:nvPr/>
          </p:nvSpPr>
          <p:spPr>
            <a:xfrm>
              <a:off x="5219824" y="5435932"/>
              <a:ext cx="432296" cy="368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algn="ctr" eaLnBrk="1" fontAlgn="auto" hangingPunct="1"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005F9"/>
                  </a:solidFill>
                </a:rPr>
                <a:t>1</a:t>
              </a:r>
              <a:endParaRPr lang="en-US" altLang="zh-CN" sz="1800" b="1" dirty="0">
                <a:solidFill>
                  <a:srgbClr val="F005F9"/>
                </a:solidFill>
              </a:endParaRPr>
            </a:p>
          </p:txBody>
        </p:sp>
        <p:sp>
          <p:nvSpPr>
            <p:cNvPr id="30810" name="TextBox 11"/>
            <p:cNvSpPr txBox="1"/>
            <p:nvPr/>
          </p:nvSpPr>
          <p:spPr>
            <a:xfrm>
              <a:off x="5220072" y="4941168"/>
              <a:ext cx="432296" cy="368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1800" b="1" dirty="0">
                  <a:solidFill>
                    <a:srgbClr val="F005F9"/>
                  </a:solidFill>
                </a:rPr>
                <a:t>2</a:t>
              </a:r>
              <a:endParaRPr lang="zh-CN" alt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30811" name="TextBox 12"/>
            <p:cNvSpPr txBox="1"/>
            <p:nvPr/>
          </p:nvSpPr>
          <p:spPr>
            <a:xfrm>
              <a:off x="5220072" y="3995772"/>
              <a:ext cx="432296" cy="368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1800" b="1" dirty="0">
                  <a:solidFill>
                    <a:srgbClr val="F005F9"/>
                  </a:solidFill>
                </a:rPr>
                <a:t>4</a:t>
              </a:r>
              <a:endParaRPr lang="zh-CN" alt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30812" name="TextBox 13"/>
            <p:cNvSpPr txBox="1"/>
            <p:nvPr/>
          </p:nvSpPr>
          <p:spPr>
            <a:xfrm>
              <a:off x="5220072" y="3491716"/>
              <a:ext cx="432296" cy="368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algn="ctr" eaLnBrk="1" fontAlgn="auto" hangingPunct="1"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005F9"/>
                  </a:solidFill>
                </a:rPr>
                <a:t>5</a:t>
              </a:r>
              <a:endParaRPr lang="en-US" altLang="zh-CN" sz="1800" b="1" dirty="0">
                <a:solidFill>
                  <a:srgbClr val="F005F9"/>
                </a:solidFill>
              </a:endParaRPr>
            </a:p>
          </p:txBody>
        </p:sp>
        <p:sp>
          <p:nvSpPr>
            <p:cNvPr id="30813" name="TextBox 14"/>
            <p:cNvSpPr txBox="1"/>
            <p:nvPr/>
          </p:nvSpPr>
          <p:spPr>
            <a:xfrm>
              <a:off x="5220320" y="2996952"/>
              <a:ext cx="432296" cy="368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1800" b="1" dirty="0">
                  <a:solidFill>
                    <a:srgbClr val="F005F9"/>
                  </a:solidFill>
                </a:rPr>
                <a:t>6</a:t>
              </a:r>
              <a:endParaRPr lang="zh-CN" alt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30814" name="TextBox 15"/>
            <p:cNvSpPr txBox="1"/>
            <p:nvPr/>
          </p:nvSpPr>
          <p:spPr>
            <a:xfrm>
              <a:off x="5220072" y="2555612"/>
              <a:ext cx="432296" cy="368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1800" b="1" dirty="0">
                  <a:solidFill>
                    <a:srgbClr val="F005F9"/>
                  </a:solidFill>
                </a:rPr>
                <a:t>7</a:t>
              </a:r>
              <a:endParaRPr lang="zh-CN" alt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30815" name="TextBox 16"/>
            <p:cNvSpPr txBox="1"/>
            <p:nvPr/>
          </p:nvSpPr>
          <p:spPr>
            <a:xfrm>
              <a:off x="5220072" y="2051556"/>
              <a:ext cx="432296" cy="368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1800" b="1" dirty="0">
                  <a:solidFill>
                    <a:srgbClr val="F005F9"/>
                  </a:solidFill>
                </a:rPr>
                <a:t>8</a:t>
              </a:r>
              <a:endParaRPr lang="zh-CN" alt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30816" name="TextBox 17"/>
            <p:cNvSpPr txBox="1"/>
            <p:nvPr/>
          </p:nvSpPr>
          <p:spPr>
            <a:xfrm>
              <a:off x="5220320" y="1556792"/>
              <a:ext cx="432296" cy="368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1800" b="1" dirty="0">
                  <a:solidFill>
                    <a:srgbClr val="F005F9"/>
                  </a:solidFill>
                </a:rPr>
                <a:t>9</a:t>
              </a:r>
              <a:endParaRPr lang="zh-CN" alt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30817" name="TextBox 18"/>
            <p:cNvSpPr txBox="1"/>
            <p:nvPr/>
          </p:nvSpPr>
          <p:spPr>
            <a:xfrm>
              <a:off x="5075312" y="1043444"/>
              <a:ext cx="648816" cy="368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algn="ctr" eaLnBrk="1" fontAlgn="auto" hangingPunct="1"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005F9"/>
                  </a:solidFill>
                </a:rPr>
                <a:t>10</a:t>
              </a:r>
              <a:endParaRPr lang="en-US" altLang="zh-CN" sz="1800" b="1" dirty="0">
                <a:solidFill>
                  <a:srgbClr val="F005F9"/>
                </a:solidFill>
              </a:endParaRPr>
            </a:p>
          </p:txBody>
        </p:sp>
        <p:sp>
          <p:nvSpPr>
            <p:cNvPr id="30818" name="TextBox 19"/>
            <p:cNvSpPr txBox="1"/>
            <p:nvPr/>
          </p:nvSpPr>
          <p:spPr>
            <a:xfrm>
              <a:off x="5075312" y="539388"/>
              <a:ext cx="577304" cy="368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1800" b="1" dirty="0">
                  <a:solidFill>
                    <a:srgbClr val="F005F9"/>
                  </a:solidFill>
                </a:rPr>
                <a:t>11</a:t>
              </a:r>
              <a:endParaRPr lang="zh-CN" alt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30819" name="TextBox 21"/>
            <p:cNvSpPr txBox="1"/>
            <p:nvPr/>
          </p:nvSpPr>
          <p:spPr>
            <a:xfrm>
              <a:off x="5220072" y="4437112"/>
              <a:ext cx="432296" cy="368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1800" b="1" dirty="0">
                  <a:solidFill>
                    <a:srgbClr val="F005F9"/>
                  </a:solidFill>
                </a:rPr>
                <a:t>3</a:t>
              </a:r>
              <a:endParaRPr lang="zh-CN" alt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30820" name="TextBox 22"/>
            <p:cNvSpPr txBox="1"/>
            <p:nvPr/>
          </p:nvSpPr>
          <p:spPr>
            <a:xfrm>
              <a:off x="4932094" y="44624"/>
              <a:ext cx="864042" cy="368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1800" b="1" dirty="0">
                  <a:solidFill>
                    <a:srgbClr val="F005F9"/>
                  </a:solidFill>
                </a:rPr>
                <a:t>第p个</a:t>
              </a:r>
              <a:endParaRPr lang="zh-CN" altLang="en-US" sz="1800" b="1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21" name="直接箭头连接符 20"/>
          <p:cNvCxnSpPr>
            <a:endCxn id="32855" idx="1"/>
          </p:cNvCxnSpPr>
          <p:nvPr/>
        </p:nvCxnSpPr>
        <p:spPr>
          <a:xfrm>
            <a:off x="4911725" y="2195513"/>
            <a:ext cx="2833688" cy="512762"/>
          </a:xfrm>
          <a:prstGeom prst="straightConnector1">
            <a:avLst/>
          </a:prstGeom>
          <a:ln w="41275" cap="flat" cmpd="sng">
            <a:solidFill>
              <a:srgbClr val="F005F9"/>
            </a:solidFill>
            <a:prstDash val="sysDot"/>
            <a:headEnd type="stealth" w="med" len="med"/>
            <a:tailEnd type="none" w="med" len="med"/>
          </a:ln>
        </p:spPr>
      </p:cxn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357188" y="1254125"/>
          <a:ext cx="4554538" cy="1881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263"/>
                <a:gridCol w="1073263"/>
                <a:gridCol w="1073263"/>
                <a:gridCol w="1334749"/>
              </a:tblGrid>
              <a:tr h="627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a[0][0] </a:t>
                      </a:r>
                      <a:endParaRPr lang="zh-CN" altLang="en-US" sz="1800" b="1" dirty="0"/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a[0][1] </a:t>
                      </a:r>
                      <a:endParaRPr lang="zh-CN" altLang="en-US" sz="1800" b="1" dirty="0"/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a[0][2] </a:t>
                      </a:r>
                      <a:endParaRPr lang="zh-CN" altLang="en-US" sz="1800" b="1" dirty="0"/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a[0][3] </a:t>
                      </a:r>
                      <a:endParaRPr lang="zh-CN" altLang="en-US" sz="1800" b="1" baseline="-25000" dirty="0"/>
                    </a:p>
                  </a:txBody>
                  <a:tcPr marL="91455" marR="91455" marT="45711" marB="45711" anchor="ctr"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a[1][0]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a[1][1]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a[1][2]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005F9"/>
                          </a:solidFill>
                        </a:rPr>
                        <a:t>a[1][3] </a:t>
                      </a:r>
                      <a:endParaRPr lang="en-US" altLang="zh-CN" sz="1800" b="1" dirty="0">
                        <a:solidFill>
                          <a:srgbClr val="F005F9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005F9"/>
                          </a:solidFill>
                        </a:rPr>
                        <a:t>a[2][0]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a[2][1]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a[2][2]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a[2][3]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</a:tr>
            </a:tbl>
          </a:graphicData>
        </a:graphic>
      </p:graphicFrame>
      <p:sp>
        <p:nvSpPr>
          <p:cNvPr id="32855" name="矩形 8"/>
          <p:cNvSpPr/>
          <p:nvPr/>
        </p:nvSpPr>
        <p:spPr>
          <a:xfrm>
            <a:off x="7745413" y="2532063"/>
            <a:ext cx="449262" cy="350837"/>
          </a:xfrm>
          <a:prstGeom prst="rect">
            <a:avLst/>
          </a:prstGeom>
          <a:noFill/>
          <a:ln w="25400" cap="flat" cmpd="sng">
            <a:solidFill>
              <a:srgbClr val="F005F9"/>
            </a:solidFill>
            <a:prstDash val="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7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0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55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0" y="695325"/>
            <a:ext cx="12268200" cy="6162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p;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005F9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flag= true;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while ( flag ) 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flag = false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for ( p=0; p&lt;M*N-1; p++ ) </a:t>
            </a:r>
            <a:endParaRPr kumimoji="0" lang="en-US" altLang="zh-CN" sz="2800" b="1" i="0" u="none" strike="noStrike" kern="1200" cap="none" spc="0" normalizeH="0" baseline="0" dirty="0">
              <a:solidFill>
                <a:srgbClr val="F005F9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dirty="0">
                <a:effectLst/>
                <a:latin typeface="+mn-lt"/>
                <a:ea typeface="+mn-ea"/>
                <a:cs typeface="+mn-cs"/>
              </a:rPr>
              <a:t>	if (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[p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/N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][p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%N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&gt;a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p+1)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/N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][(p+1)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%N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下标寻址是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运算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	</a:t>
            </a:r>
            <a:r>
              <a:rPr kumimoji="0" lang="en-US" altLang="zh-CN" sz="2800" b="1" i="0" u="none" strike="noStrike" kern="1200" cap="none" spc="0" normalizeH="0" baseline="0" dirty="0">
                <a:effectLst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r= a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[p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/N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][p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%N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a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[p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/N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][p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%N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=a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[(p+1)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/N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][(p+1)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%N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	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a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[(p+1)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/N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][(p+1)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%N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005F9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r;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flag=true;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	</a:t>
            </a:r>
            <a:r>
              <a:rPr kumimoji="0" lang="en-US" altLang="zh-CN" sz="2800" b="1" i="0" u="none" strike="noStrike" kern="1200" cap="none" spc="0" normalizeH="0" baseline="0" dirty="0">
                <a:effectLst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dirty="0"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6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40DE95-380C-4FF4-B361-3659B08DA28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8" name="TextBox 9"/>
          <p:cNvSpPr txBox="1"/>
          <p:nvPr/>
        </p:nvSpPr>
        <p:spPr>
          <a:xfrm>
            <a:off x="3641725" y="0"/>
            <a:ext cx="8547100" cy="1383665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设置计数器</a:t>
            </a:r>
            <a:r>
              <a:rPr lang="en-US" altLang="zh-CN" sz="2800" b="1" dirty="0"/>
              <a:t>p</a:t>
            </a:r>
            <a:r>
              <a:rPr lang="zh-CN" altLang="en-US" sz="2800" b="1" dirty="0"/>
              <a:t>，数组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中任意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第</a:t>
            </a:r>
            <a:r>
              <a:rPr lang="en-US" altLang="zh-CN" sz="2800" b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个元素可表示为：</a:t>
            </a:r>
            <a:r>
              <a:rPr lang="en-US" altLang="zh-CN" sz="2800" b="1" dirty="0"/>
              <a:t>a[</a:t>
            </a:r>
            <a:r>
              <a:rPr lang="en-US" altLang="zh-CN" sz="2800" b="1" dirty="0">
                <a:solidFill>
                  <a:srgbClr val="F005F9"/>
                </a:solidFill>
              </a:rPr>
              <a:t>p</a:t>
            </a:r>
            <a:r>
              <a:rPr lang="en-US" altLang="zh-CN" sz="2800" b="1" dirty="0">
                <a:solidFill>
                  <a:schemeClr val="tx1"/>
                </a:solidFill>
              </a:rPr>
              <a:t>/N</a:t>
            </a:r>
            <a:r>
              <a:rPr lang="en-US" altLang="zh-CN" sz="2800" b="1" dirty="0"/>
              <a:t>][</a:t>
            </a:r>
            <a:r>
              <a:rPr lang="en-US" altLang="zh-CN" sz="2800" b="1" dirty="0">
                <a:solidFill>
                  <a:srgbClr val="F005F9"/>
                </a:solidFill>
              </a:rPr>
              <a:t>p</a:t>
            </a:r>
            <a:r>
              <a:rPr lang="en-US" altLang="zh-CN" sz="2800" b="1" dirty="0"/>
              <a:t>%N]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第</a:t>
            </a:r>
            <a:r>
              <a:rPr lang="en-US" altLang="zh-CN" sz="2800" b="1" dirty="0">
                <a:solidFill>
                  <a:schemeClr val="tx1"/>
                </a:solidFill>
              </a:rPr>
              <a:t>p+1</a:t>
            </a:r>
            <a:r>
              <a:rPr lang="zh-CN" altLang="en-US" sz="2800" b="1" dirty="0">
                <a:solidFill>
                  <a:schemeClr val="tx1"/>
                </a:solidFill>
              </a:rPr>
              <a:t>个元素可表示为：</a:t>
            </a:r>
            <a:r>
              <a:rPr lang="en-US" altLang="zh-CN" sz="2800" b="1" dirty="0"/>
              <a:t>a[(</a:t>
            </a:r>
            <a:r>
              <a:rPr lang="en-US" altLang="zh-CN" sz="2800" b="1" dirty="0">
                <a:solidFill>
                  <a:srgbClr val="F005F9"/>
                </a:solidFill>
              </a:rPr>
              <a:t>p+1</a:t>
            </a:r>
            <a:r>
              <a:rPr lang="en-US" altLang="zh-CN" sz="2800" b="1" dirty="0"/>
              <a:t>)/N][(</a:t>
            </a:r>
            <a:r>
              <a:rPr lang="en-US" altLang="zh-CN" sz="2800" b="1" dirty="0">
                <a:solidFill>
                  <a:srgbClr val="F005F9"/>
                </a:solidFill>
              </a:rPr>
              <a:t>p+1</a:t>
            </a:r>
            <a:r>
              <a:rPr lang="en-US" altLang="zh-CN" sz="2800" b="1" dirty="0"/>
              <a:t>)%N]</a:t>
            </a:r>
            <a:endParaRPr lang="en-US" altLang="zh-CN" sz="2800" b="1" dirty="0"/>
          </a:p>
        </p:txBody>
      </p:sp>
      <p:sp>
        <p:nvSpPr>
          <p:cNvPr id="31749" name="TextBox 5"/>
          <p:cNvSpPr txBox="1"/>
          <p:nvPr/>
        </p:nvSpPr>
        <p:spPr>
          <a:xfrm>
            <a:off x="100013" y="115888"/>
            <a:ext cx="3541712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b="1" dirty="0">
                <a:solidFill>
                  <a:srgbClr val="FFC000"/>
                </a:solidFill>
              </a:rPr>
              <a:t>方法</a:t>
            </a:r>
            <a:r>
              <a:rPr lang="en-US" altLang="zh-CN" b="1" dirty="0">
                <a:solidFill>
                  <a:srgbClr val="FFC000"/>
                </a:solidFill>
              </a:rPr>
              <a:t>2</a:t>
            </a:r>
            <a:r>
              <a:rPr lang="zh-CN" altLang="en-US" b="1" dirty="0">
                <a:solidFill>
                  <a:srgbClr val="FFC000"/>
                </a:solidFill>
              </a:rPr>
              <a:t>：排序部分</a:t>
            </a:r>
            <a:endParaRPr lang="zh-CN" altLang="en-US" b="1" dirty="0">
              <a:solidFill>
                <a:srgbClr val="FFC000"/>
              </a:solidFill>
            </a:endParaRPr>
          </a:p>
        </p:txBody>
      </p:sp>
      <p:sp>
        <p:nvSpPr>
          <p:cNvPr id="31750" name="文本框 6"/>
          <p:cNvSpPr txBox="1"/>
          <p:nvPr/>
        </p:nvSpPr>
        <p:spPr>
          <a:xfrm>
            <a:off x="8564563" y="5287963"/>
            <a:ext cx="3190875" cy="1570037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/>
              <a:t>排序后的矩阵为：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-7    1     4     19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21   34   35   65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65   76   89   1001</a:t>
            </a: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6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8040688" y="6400800"/>
            <a:ext cx="21336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107250-C49F-4F66-8B13-001DDD21B3F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Group 70"/>
          <p:cNvGraphicFramePr/>
          <p:nvPr/>
        </p:nvGraphicFramePr>
        <p:xfrm>
          <a:off x="6515100" y="111125"/>
          <a:ext cx="3529013" cy="6858076"/>
        </p:xfrm>
        <a:graphic>
          <a:graphicData uri="http://schemas.openxmlformats.org/drawingml/2006/table">
            <a:tbl>
              <a:tblPr/>
              <a:tblGrid>
                <a:gridCol w="924265"/>
                <a:gridCol w="1809746"/>
                <a:gridCol w="795002"/>
              </a:tblGrid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成分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内存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7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9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78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-178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-9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8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a[1][2]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99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541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8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225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-15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431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30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solidFill>
                            <a:srgbClr val="F005F9"/>
                          </a:solidFill>
                          <a:latin typeface="+mn-lt"/>
                        </a:rPr>
                        <a:t>0X0018FF30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15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29" name="TextBox 4"/>
          <p:cNvSpPr txBox="1"/>
          <p:nvPr/>
        </p:nvSpPr>
        <p:spPr>
          <a:xfrm>
            <a:off x="276225" y="11113"/>
            <a:ext cx="410368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zh-CN" altLang="en-US" b="1" dirty="0"/>
              <a:t>以</a:t>
            </a:r>
            <a:r>
              <a:rPr lang="en-US" altLang="zh-CN" b="1" dirty="0"/>
              <a:t>M=3,</a:t>
            </a:r>
            <a:r>
              <a:rPr lang="en-US" altLang="zh-CN" b="1" dirty="0">
                <a:solidFill>
                  <a:srgbClr val="FFFF00"/>
                </a:solidFill>
              </a:rPr>
              <a:t>N=4</a:t>
            </a:r>
            <a:r>
              <a:rPr lang="zh-CN" altLang="en-US" b="1" dirty="0"/>
              <a:t>为例</a:t>
            </a:r>
            <a:endParaRPr lang="zh-CN" altLang="en-US" b="1" dirty="0"/>
          </a:p>
        </p:txBody>
      </p:sp>
      <p:sp>
        <p:nvSpPr>
          <p:cNvPr id="34901" name="TextBox 22"/>
          <p:cNvSpPr txBox="1"/>
          <p:nvPr/>
        </p:nvSpPr>
        <p:spPr>
          <a:xfrm>
            <a:off x="9961563" y="6289675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zh-CN" altLang="en-US" sz="1800" b="1" dirty="0">
                <a:solidFill>
                  <a:srgbClr val="F005F9"/>
                </a:solidFill>
              </a:rPr>
              <a:t>指针变量</a:t>
            </a:r>
            <a:r>
              <a:rPr lang="en-US" altLang="zh-CN" sz="1800" b="1" dirty="0">
                <a:solidFill>
                  <a:srgbClr val="F005F9"/>
                </a:solidFill>
              </a:rPr>
              <a:t>p</a:t>
            </a:r>
            <a:endParaRPr lang="en-US" altLang="zh-CN" sz="1800" b="1" dirty="0">
              <a:solidFill>
                <a:srgbClr val="F005F9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10056813" y="6237288"/>
            <a:ext cx="576262" cy="0"/>
          </a:xfrm>
          <a:prstGeom prst="straightConnector1">
            <a:avLst/>
          </a:prstGeom>
          <a:ln w="34925" cap="flat" cmpd="sng">
            <a:solidFill>
              <a:srgbClr val="F005F9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7" name="直接箭头连接符 26"/>
          <p:cNvCxnSpPr/>
          <p:nvPr/>
        </p:nvCxnSpPr>
        <p:spPr>
          <a:xfrm flipH="1">
            <a:off x="10071100" y="5732463"/>
            <a:ext cx="576263" cy="0"/>
          </a:xfrm>
          <a:prstGeom prst="straightConnector1">
            <a:avLst/>
          </a:prstGeom>
          <a:ln w="34925" cap="flat" cmpd="sng">
            <a:solidFill>
              <a:srgbClr val="F005F9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9" name="直接箭头连接符 28"/>
          <p:cNvCxnSpPr/>
          <p:nvPr/>
        </p:nvCxnSpPr>
        <p:spPr>
          <a:xfrm flipH="1">
            <a:off x="10031413" y="5192713"/>
            <a:ext cx="577850" cy="0"/>
          </a:xfrm>
          <a:prstGeom prst="straightConnector1">
            <a:avLst/>
          </a:prstGeom>
          <a:ln w="34925" cap="flat" cmpd="sng">
            <a:solidFill>
              <a:srgbClr val="F005F9"/>
            </a:solidFill>
            <a:prstDash val="solid"/>
            <a:headEnd type="none" w="med" len="med"/>
            <a:tailEnd type="arrow" w="med" len="med"/>
          </a:ln>
        </p:spPr>
      </p:cxn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76225" y="833438"/>
          <a:ext cx="4554538" cy="1881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263"/>
                <a:gridCol w="1073263"/>
                <a:gridCol w="1073263"/>
                <a:gridCol w="1334749"/>
              </a:tblGrid>
              <a:tr h="6270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a[0][0] </a:t>
                      </a:r>
                      <a:endParaRPr lang="zh-CN" altLang="en-US" sz="1800" b="1" dirty="0"/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a[0][1] </a:t>
                      </a:r>
                      <a:endParaRPr lang="zh-CN" altLang="en-US" sz="1800" b="1" dirty="0"/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a[0][2] </a:t>
                      </a:r>
                      <a:endParaRPr lang="zh-CN" altLang="en-US" sz="1800" b="1" dirty="0"/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a[0][3] </a:t>
                      </a:r>
                      <a:endParaRPr lang="zh-CN" altLang="en-US" sz="1800" b="1" baseline="-25000" dirty="0"/>
                    </a:p>
                  </a:txBody>
                  <a:tcPr marL="91455" marR="91455" marT="45711" marB="45711" anchor="ctr">
                    <a:noFill/>
                  </a:tcPr>
                </a:tc>
              </a:tr>
              <a:tr h="6270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a[1][0]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a[1][1]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a[1][2]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005F9"/>
                          </a:solidFill>
                        </a:rPr>
                        <a:t>a[1][3] </a:t>
                      </a:r>
                      <a:endParaRPr lang="en-US" altLang="zh-CN" sz="1800" b="1" dirty="0">
                        <a:solidFill>
                          <a:srgbClr val="F005F9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</a:tr>
              <a:tr h="6270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005F9"/>
                          </a:solidFill>
                        </a:rPr>
                        <a:t>a[2][0]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a[2][1]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a[2][2]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a[2][3] 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 marT="45711" marB="45711" anchor="ctr">
                    <a:noFill/>
                  </a:tcPr>
                </a:tc>
              </a:tr>
            </a:tbl>
          </a:graphicData>
        </a:graphic>
      </p:graphicFrame>
      <p:sp>
        <p:nvSpPr>
          <p:cNvPr id="12" name="TextBox 1"/>
          <p:cNvSpPr txBox="1"/>
          <p:nvPr/>
        </p:nvSpPr>
        <p:spPr>
          <a:xfrm>
            <a:off x="342900" y="3089275"/>
            <a:ext cx="5013325" cy="3538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C000"/>
                </a:solidFill>
              </a:rPr>
              <a:t>方法</a:t>
            </a:r>
            <a:r>
              <a:rPr lang="en-US" altLang="zh-CN" sz="2800" b="1" dirty="0">
                <a:solidFill>
                  <a:srgbClr val="FFC000"/>
                </a:solidFill>
              </a:rPr>
              <a:t>3</a:t>
            </a:r>
            <a:r>
              <a:rPr lang="zh-CN" altLang="en-US" sz="2800" b="1" dirty="0">
                <a:solidFill>
                  <a:srgbClr val="FFC000"/>
                </a:solidFill>
              </a:rPr>
              <a:t>：设置指针</a:t>
            </a:r>
            <a:r>
              <a:rPr lang="en-US" altLang="zh-CN" sz="2800" b="1" dirty="0">
                <a:solidFill>
                  <a:srgbClr val="FFC000"/>
                </a:solidFill>
              </a:rPr>
              <a:t>p</a:t>
            </a:r>
            <a:r>
              <a:rPr lang="zh-CN" altLang="en-US" sz="2800" b="1" dirty="0">
                <a:solidFill>
                  <a:srgbClr val="FFC000"/>
                </a:solidFill>
              </a:rPr>
              <a:t>，</a:t>
            </a:r>
            <a:endParaRPr lang="en-US" altLang="zh-CN" sz="2800" b="1" dirty="0">
              <a:solidFill>
                <a:srgbClr val="FFC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若指针</a:t>
            </a:r>
            <a:r>
              <a:rPr lang="en-US" altLang="zh-CN" sz="2800" b="1" dirty="0"/>
              <a:t>p</a:t>
            </a:r>
            <a:r>
              <a:rPr lang="zh-CN" altLang="en-US" sz="2800" b="1" dirty="0"/>
              <a:t>当前指向某个元素，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则其值为：</a:t>
            </a:r>
            <a:r>
              <a:rPr lang="en-US" altLang="zh-CN" sz="2800" b="1" dirty="0">
                <a:solidFill>
                  <a:srgbClr val="F005F9"/>
                </a:solidFill>
              </a:rPr>
              <a:t>*p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而下一个元素的地址为</a:t>
            </a:r>
            <a:r>
              <a:rPr lang="en-US" altLang="zh-CN" sz="2800" b="1" dirty="0"/>
              <a:t>: p+1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下一个元素值为：</a:t>
            </a:r>
            <a:r>
              <a:rPr lang="en-US" altLang="zh-CN" sz="2800" b="1" dirty="0">
                <a:solidFill>
                  <a:srgbClr val="F005F9"/>
                </a:solidFill>
              </a:rPr>
              <a:t>*(p+1)</a:t>
            </a:r>
            <a:endParaRPr lang="en-US" altLang="zh-CN" sz="2800" b="1" dirty="0">
              <a:solidFill>
                <a:srgbClr val="F005F9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移动指针：</a:t>
            </a:r>
            <a:r>
              <a:rPr lang="en-US" altLang="zh-CN" sz="2800" b="1" dirty="0">
                <a:solidFill>
                  <a:srgbClr val="F005F9"/>
                </a:solidFill>
              </a:rPr>
              <a:t>p++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H="1">
            <a:off x="10031413" y="1371283"/>
            <a:ext cx="577850" cy="0"/>
          </a:xfrm>
          <a:prstGeom prst="straightConnector1">
            <a:avLst/>
          </a:prstGeom>
          <a:ln w="34925" cap="flat" cmpd="sng">
            <a:solidFill>
              <a:srgbClr val="F005F9"/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1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25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34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50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66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0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88900" y="-26987"/>
            <a:ext cx="8674100" cy="67421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7.1】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方法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p++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移动指针）：排序部分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r,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flag= true;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while ( flag ) 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flag = false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用指针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来标识数组中元素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for(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p=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&amp;a[0][0]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p&lt;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&amp;a[0][0]+M*N-1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p++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	if (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*p &gt; *(p+1)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r=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*p;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*p =*(p+1);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005F9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*(p+1)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=r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// 交换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005F9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		flag=true;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		}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6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427788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9FEF5A0-AA7A-4F2A-A600-392A66206E8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Group 70"/>
          <p:cNvGraphicFramePr/>
          <p:nvPr/>
        </p:nvGraphicFramePr>
        <p:xfrm>
          <a:off x="9132888" y="44450"/>
          <a:ext cx="923925" cy="6369050"/>
        </p:xfrm>
        <a:graphic>
          <a:graphicData uri="http://schemas.openxmlformats.org/drawingml/2006/table">
            <a:tbl>
              <a:tblPr/>
              <a:tblGrid>
                <a:gridCol w="923925"/>
              </a:tblGrid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成分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435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930" name="TextBox 22"/>
          <p:cNvSpPr txBox="1"/>
          <p:nvPr/>
        </p:nvSpPr>
        <p:spPr>
          <a:xfrm>
            <a:off x="9977438" y="6311900"/>
            <a:ext cx="10160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zh-CN" altLang="en-US" sz="1400" b="1" dirty="0">
                <a:solidFill>
                  <a:srgbClr val="F005F9"/>
                </a:solidFill>
              </a:rPr>
              <a:t>指针变量</a:t>
            </a:r>
            <a:r>
              <a:rPr lang="en-US" altLang="zh-CN" sz="1400" b="1" dirty="0">
                <a:solidFill>
                  <a:srgbClr val="F005F9"/>
                </a:solidFill>
              </a:rPr>
              <a:t>p</a:t>
            </a:r>
            <a:endParaRPr lang="en-US" altLang="zh-CN" sz="1400" b="1" dirty="0">
              <a:solidFill>
                <a:srgbClr val="F005F9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10056813" y="6237288"/>
            <a:ext cx="576262" cy="0"/>
          </a:xfrm>
          <a:prstGeom prst="straightConnector1">
            <a:avLst/>
          </a:prstGeom>
          <a:ln w="34925" cap="flat" cmpd="sng">
            <a:solidFill>
              <a:srgbClr val="F005F9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 flipH="1">
            <a:off x="10071100" y="5732463"/>
            <a:ext cx="576263" cy="0"/>
          </a:xfrm>
          <a:prstGeom prst="straightConnector1">
            <a:avLst/>
          </a:prstGeom>
          <a:ln w="34925" cap="flat" cmpd="sng">
            <a:solidFill>
              <a:srgbClr val="F005F9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7" name="直接箭头连接符 16"/>
          <p:cNvCxnSpPr/>
          <p:nvPr/>
        </p:nvCxnSpPr>
        <p:spPr>
          <a:xfrm flipH="1">
            <a:off x="10047288" y="1341438"/>
            <a:ext cx="577850" cy="0"/>
          </a:xfrm>
          <a:prstGeom prst="straightConnector1">
            <a:avLst/>
          </a:prstGeom>
          <a:ln w="34925" cap="flat" cmpd="sng">
            <a:solidFill>
              <a:srgbClr val="F005F9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矩形 1"/>
          <p:cNvSpPr/>
          <p:nvPr/>
        </p:nvSpPr>
        <p:spPr>
          <a:xfrm>
            <a:off x="239713" y="5895975"/>
            <a:ext cx="6837362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Wingdings 3" pitchFamily="18" charset="2"/>
              <a:buNone/>
            </a:pPr>
            <a:r>
              <a:rPr lang="en-US" altLang="zh-CN" sz="2400" b="1" dirty="0">
                <a:solidFill>
                  <a:srgbClr val="FFC000"/>
                </a:solidFill>
              </a:rPr>
              <a:t>【</a:t>
            </a:r>
            <a:r>
              <a:rPr lang="zh-CN" altLang="en-US" sz="2400" b="1" dirty="0">
                <a:solidFill>
                  <a:srgbClr val="FFC000"/>
                </a:solidFill>
              </a:rPr>
              <a:t>思考</a:t>
            </a:r>
            <a:r>
              <a:rPr lang="en-US" altLang="zh-CN" sz="2400" b="1" dirty="0">
                <a:solidFill>
                  <a:srgbClr val="FFC000"/>
                </a:solidFill>
              </a:rPr>
              <a:t>】</a:t>
            </a:r>
            <a:r>
              <a:rPr lang="zh-CN" altLang="en-US" sz="2400" b="1" dirty="0">
                <a:solidFill>
                  <a:srgbClr val="FFC000"/>
                </a:solidFill>
              </a:rPr>
              <a:t>每执行一次</a:t>
            </a:r>
            <a:r>
              <a:rPr lang="en-US" altLang="zh-CN" sz="2400" b="1" dirty="0">
                <a:solidFill>
                  <a:srgbClr val="FFC000"/>
                </a:solidFill>
              </a:rPr>
              <a:t>p++</a:t>
            </a:r>
            <a:endParaRPr lang="en-US" altLang="zh-CN" sz="2400" b="1" dirty="0">
              <a:solidFill>
                <a:srgbClr val="FFC0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Wingdings 3" pitchFamily="18" charset="2"/>
              <a:buNone/>
            </a:pPr>
            <a:r>
              <a:rPr lang="en-US" altLang="zh-CN" sz="2400" b="1" dirty="0">
                <a:solidFill>
                  <a:srgbClr val="FFC000"/>
                </a:solidFill>
              </a:rPr>
              <a:t>p</a:t>
            </a:r>
            <a:r>
              <a:rPr lang="zh-CN" altLang="en-US" sz="2400" b="1" dirty="0">
                <a:solidFill>
                  <a:srgbClr val="FFC000"/>
                </a:solidFill>
              </a:rPr>
              <a:t>向后移动了几个元素</a:t>
            </a:r>
            <a:r>
              <a:rPr lang="en-US" altLang="zh-CN" sz="2400" b="1" dirty="0">
                <a:solidFill>
                  <a:srgbClr val="FFC000"/>
                </a:solidFill>
              </a:rPr>
              <a:t>(</a:t>
            </a:r>
            <a:r>
              <a:rPr lang="zh-CN" altLang="en-US" sz="2400" b="1" dirty="0">
                <a:solidFill>
                  <a:srgbClr val="FFC000"/>
                </a:solidFill>
              </a:rPr>
              <a:t>成分</a:t>
            </a:r>
            <a:r>
              <a:rPr lang="en-US" altLang="zh-CN" sz="2400" b="1" dirty="0">
                <a:solidFill>
                  <a:srgbClr val="FFC000"/>
                </a:solidFill>
              </a:rPr>
              <a:t>)</a:t>
            </a:r>
            <a:r>
              <a:rPr lang="zh-CN" altLang="en-US" sz="2400" b="1" dirty="0">
                <a:solidFill>
                  <a:srgbClr val="FFC000"/>
                </a:solidFill>
              </a:rPr>
              <a:t>？移动了几个字节？</a:t>
            </a:r>
            <a:endParaRPr lang="en-US" altLang="zh-CN" sz="2400" b="1" dirty="0">
              <a:solidFill>
                <a:srgbClr val="FFC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058400" y="3352800"/>
            <a:ext cx="6731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005F9"/>
                </a:solidFill>
              </a:rPr>
              <a:t>……</a:t>
            </a:r>
            <a:endParaRPr lang="en-US" altLang="zh-CN" sz="1800" b="1" dirty="0">
              <a:solidFill>
                <a:srgbClr val="F005F9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3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3"/>
          <p:cNvSpPr>
            <a:spLocks noGrp="1"/>
          </p:cNvSpPr>
          <p:nvPr>
            <p:ph type="body" sz="half" idx="1"/>
          </p:nvPr>
        </p:nvSpPr>
        <p:spPr>
          <a:xfrm>
            <a:off x="322580" y="1009650"/>
            <a:ext cx="3683635" cy="2510155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hlink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例如有变量定义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lang="en-US" altLang="zh-CN" sz="2800" b="1" dirty="0">
                <a:solidFill>
                  <a:srgbClr val="F005F9"/>
                </a:solidFill>
                <a:effectLst/>
                <a:latin typeface="Arial" panose="020B0604020202020204" pitchFamily="34" charset="0"/>
              </a:rPr>
              <a:t>char c='S';</a:t>
            </a:r>
            <a:endParaRPr lang="en-US" altLang="zh-CN" sz="2800" b="1" dirty="0">
              <a:solidFill>
                <a:srgbClr val="F005F9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005F9"/>
                </a:solidFill>
                <a:effectLst/>
                <a:latin typeface="Arial" panose="020B0604020202020204" pitchFamily="34" charset="0"/>
              </a:rPr>
              <a:t>	 int  v=27,u=32;</a:t>
            </a:r>
            <a:endParaRPr lang="en-US" altLang="zh-CN" sz="2800" b="1" dirty="0">
              <a:solidFill>
                <a:srgbClr val="F005F9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存储空间如图所示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: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35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125200" y="6351588"/>
            <a:ext cx="534988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BE4EF6-BB93-495A-A080-BF2AEEA3CF7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0" name="Line 22"/>
          <p:cNvSpPr/>
          <p:nvPr/>
        </p:nvSpPr>
        <p:spPr>
          <a:xfrm>
            <a:off x="10237788" y="1154113"/>
            <a:ext cx="0" cy="3008312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1" name="Line 27"/>
          <p:cNvSpPr/>
          <p:nvPr/>
        </p:nvSpPr>
        <p:spPr>
          <a:xfrm flipH="1">
            <a:off x="8866188" y="1154113"/>
            <a:ext cx="4762" cy="3008312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0005" name="Group 69"/>
          <p:cNvGrpSpPr/>
          <p:nvPr/>
        </p:nvGrpSpPr>
        <p:grpSpPr>
          <a:xfrm>
            <a:off x="6421438" y="1512888"/>
            <a:ext cx="3816350" cy="1131887"/>
            <a:chOff x="2925" y="1831"/>
            <a:chExt cx="2404" cy="713"/>
          </a:xfrm>
        </p:grpSpPr>
        <p:sp>
          <p:nvSpPr>
            <p:cNvPr id="39964" name="Rectangle 28"/>
            <p:cNvSpPr>
              <a:spLocks noChangeArrowheads="1"/>
            </p:cNvSpPr>
            <p:nvPr/>
          </p:nvSpPr>
          <p:spPr bwMode="auto">
            <a:xfrm>
              <a:off x="3693" y="1831"/>
              <a:ext cx="772" cy="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005F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B904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946" name="Rectangle 10"/>
            <p:cNvSpPr>
              <a:spLocks noChangeArrowheads="1"/>
            </p:cNvSpPr>
            <p:nvPr/>
          </p:nvSpPr>
          <p:spPr bwMode="auto">
            <a:xfrm>
              <a:off x="4465" y="1831"/>
              <a:ext cx="864" cy="71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32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945" name="Rectangle 9"/>
            <p:cNvSpPr>
              <a:spLocks noChangeArrowheads="1"/>
            </p:cNvSpPr>
            <p:nvPr/>
          </p:nvSpPr>
          <p:spPr bwMode="auto">
            <a:xfrm>
              <a:off x="2925" y="1831"/>
              <a:ext cx="768" cy="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变量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u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4849" name="Line 45"/>
            <p:cNvSpPr/>
            <p:nvPr/>
          </p:nvSpPr>
          <p:spPr>
            <a:xfrm>
              <a:off x="2925" y="1831"/>
              <a:ext cx="0" cy="713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4850" name="Line 51"/>
            <p:cNvSpPr/>
            <p:nvPr/>
          </p:nvSpPr>
          <p:spPr>
            <a:xfrm>
              <a:off x="4465" y="1831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0004" name="Group 68"/>
          <p:cNvGrpSpPr/>
          <p:nvPr/>
        </p:nvGrpSpPr>
        <p:grpSpPr>
          <a:xfrm>
            <a:off x="6421438" y="2652713"/>
            <a:ext cx="3816350" cy="1030287"/>
            <a:chOff x="2925" y="2544"/>
            <a:chExt cx="2404" cy="649"/>
          </a:xfrm>
        </p:grpSpPr>
        <p:sp>
          <p:nvSpPr>
            <p:cNvPr id="39966" name="Rectangle 30"/>
            <p:cNvSpPr>
              <a:spLocks noChangeArrowheads="1"/>
            </p:cNvSpPr>
            <p:nvPr/>
          </p:nvSpPr>
          <p:spPr bwMode="auto">
            <a:xfrm>
              <a:off x="3693" y="2544"/>
              <a:ext cx="772" cy="6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005F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B900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948" name="Rectangle 12"/>
            <p:cNvSpPr>
              <a:spLocks noChangeArrowheads="1"/>
            </p:cNvSpPr>
            <p:nvPr/>
          </p:nvSpPr>
          <p:spPr bwMode="auto">
            <a:xfrm>
              <a:off x="4465" y="2544"/>
              <a:ext cx="864" cy="649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27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947" name="Rectangle 11"/>
            <p:cNvSpPr>
              <a:spLocks noChangeArrowheads="1"/>
            </p:cNvSpPr>
            <p:nvPr/>
          </p:nvSpPr>
          <p:spPr bwMode="auto">
            <a:xfrm>
              <a:off x="2925" y="2544"/>
              <a:ext cx="768" cy="6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变量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v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4844" name="Line 50"/>
            <p:cNvSpPr/>
            <p:nvPr/>
          </p:nvSpPr>
          <p:spPr>
            <a:xfrm>
              <a:off x="2925" y="2544"/>
              <a:ext cx="0" cy="649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4845" name="Line 57"/>
            <p:cNvSpPr/>
            <p:nvPr/>
          </p:nvSpPr>
          <p:spPr>
            <a:xfrm>
              <a:off x="4465" y="2544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0003" name="Group 67"/>
          <p:cNvGrpSpPr/>
          <p:nvPr/>
        </p:nvGrpSpPr>
        <p:grpSpPr>
          <a:xfrm>
            <a:off x="6421438" y="3660775"/>
            <a:ext cx="3816350" cy="517525"/>
            <a:chOff x="2925" y="3193"/>
            <a:chExt cx="2404" cy="326"/>
          </a:xfrm>
        </p:grpSpPr>
        <p:sp>
          <p:nvSpPr>
            <p:cNvPr id="39968" name="Rectangle 32"/>
            <p:cNvSpPr>
              <a:spLocks noChangeArrowheads="1"/>
            </p:cNvSpPr>
            <p:nvPr/>
          </p:nvSpPr>
          <p:spPr bwMode="auto">
            <a:xfrm>
              <a:off x="3693" y="3193"/>
              <a:ext cx="772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005F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B8FF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EE121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950" name="Rectangle 14"/>
            <p:cNvSpPr>
              <a:spLocks noChangeArrowheads="1"/>
            </p:cNvSpPr>
            <p:nvPr/>
          </p:nvSpPr>
          <p:spPr bwMode="auto">
            <a:xfrm>
              <a:off x="4465" y="3193"/>
              <a:ext cx="864" cy="32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'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S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'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949" name="Rectangle 13"/>
            <p:cNvSpPr>
              <a:spLocks noChangeArrowheads="1"/>
            </p:cNvSpPr>
            <p:nvPr/>
          </p:nvSpPr>
          <p:spPr bwMode="auto">
            <a:xfrm>
              <a:off x="2925" y="3193"/>
              <a:ext cx="76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变量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c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4836" name="Line 19"/>
            <p:cNvSpPr/>
            <p:nvPr/>
          </p:nvSpPr>
          <p:spPr>
            <a:xfrm>
              <a:off x="2925" y="3519"/>
              <a:ext cx="768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4837" name="Line 56"/>
            <p:cNvSpPr/>
            <p:nvPr/>
          </p:nvSpPr>
          <p:spPr>
            <a:xfrm>
              <a:off x="2925" y="3193"/>
              <a:ext cx="0" cy="326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4838" name="Line 62"/>
            <p:cNvSpPr/>
            <p:nvPr/>
          </p:nvSpPr>
          <p:spPr>
            <a:xfrm>
              <a:off x="3693" y="3519"/>
              <a:ext cx="772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4839" name="Line 63"/>
            <p:cNvSpPr/>
            <p:nvPr/>
          </p:nvSpPr>
          <p:spPr>
            <a:xfrm>
              <a:off x="4465" y="3193"/>
              <a:ext cx="8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0" name="Line 64"/>
            <p:cNvSpPr/>
            <p:nvPr/>
          </p:nvSpPr>
          <p:spPr>
            <a:xfrm>
              <a:off x="4465" y="3519"/>
              <a:ext cx="86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4825" name="Group 80"/>
          <p:cNvGrpSpPr/>
          <p:nvPr/>
        </p:nvGrpSpPr>
        <p:grpSpPr>
          <a:xfrm>
            <a:off x="6350000" y="604838"/>
            <a:ext cx="3890963" cy="404812"/>
            <a:chOff x="2835" y="0"/>
            <a:chExt cx="2451" cy="255"/>
          </a:xfrm>
        </p:grpSpPr>
        <p:sp>
          <p:nvSpPr>
            <p:cNvPr id="40009" name="Rectangle 73"/>
            <p:cNvSpPr>
              <a:spLocks noChangeArrowheads="1"/>
            </p:cNvSpPr>
            <p:nvPr/>
          </p:nvSpPr>
          <p:spPr bwMode="auto">
            <a:xfrm>
              <a:off x="3696" y="0"/>
              <a:ext cx="772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地址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40010" name="Rectangle 74"/>
            <p:cNvSpPr>
              <a:spLocks noChangeArrowheads="1"/>
            </p:cNvSpPr>
            <p:nvPr/>
          </p:nvSpPr>
          <p:spPr bwMode="auto">
            <a:xfrm>
              <a:off x="4422" y="0"/>
              <a:ext cx="864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  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内存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40011" name="Rectangle 75"/>
            <p:cNvSpPr>
              <a:spLocks noChangeArrowheads="1"/>
            </p:cNvSpPr>
            <p:nvPr/>
          </p:nvSpPr>
          <p:spPr bwMode="auto">
            <a:xfrm>
              <a:off x="2835" y="0"/>
              <a:ext cx="908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变量名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4832" name="Line 76"/>
            <p:cNvSpPr/>
            <p:nvPr/>
          </p:nvSpPr>
          <p:spPr>
            <a:xfrm>
              <a:off x="2925" y="164"/>
              <a:ext cx="768" cy="0"/>
            </a:xfrm>
            <a:prstGeom prst="line">
              <a:avLst/>
            </a:prstGeom>
            <a:ln w="28575">
              <a:noFill/>
            </a:ln>
          </p:spPr>
        </p:sp>
      </p:grpSp>
      <p:sp>
        <p:nvSpPr>
          <p:cNvPr id="34826" name="Line 77"/>
          <p:cNvSpPr/>
          <p:nvPr/>
        </p:nvSpPr>
        <p:spPr>
          <a:xfrm>
            <a:off x="6421438" y="865188"/>
            <a:ext cx="0" cy="1133475"/>
          </a:xfrm>
          <a:prstGeom prst="line">
            <a:avLst/>
          </a:prstGeom>
          <a:ln w="28575">
            <a:noFill/>
          </a:ln>
        </p:spPr>
      </p:sp>
      <p:sp>
        <p:nvSpPr>
          <p:cNvPr id="40019" name="Rectangle 83"/>
          <p:cNvSpPr/>
          <p:nvPr/>
        </p:nvSpPr>
        <p:spPr>
          <a:xfrm>
            <a:off x="287338" y="5180013"/>
            <a:ext cx="12268200" cy="11004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r>
              <a:rPr lang="zh-CN" altLang="en-US" b="1" dirty="0">
                <a:solidFill>
                  <a:schemeClr val="hlink"/>
                </a:solidFill>
              </a:rPr>
              <a:t>指针</a:t>
            </a:r>
            <a:r>
              <a:rPr lang="zh-CN" altLang="en-US" b="1" dirty="0"/>
              <a:t>的概念：数据的地址</a:t>
            </a:r>
            <a:endParaRPr lang="en-US" altLang="zh-CN" b="1" dirty="0"/>
          </a:p>
          <a:p>
            <a:pPr marL="457200" lvl="1" indent="0" eaLnBrk="1" hangingPunct="1"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/>
              <a:t>一个变量的地址</a:t>
            </a:r>
            <a:r>
              <a:rPr lang="zh-CN" altLang="en-US" b="1" dirty="0">
                <a:latin typeface="Arial" panose="020B0604020202020204" pitchFamily="34" charset="0"/>
              </a:rPr>
              <a:t>“</a:t>
            </a:r>
            <a:r>
              <a:rPr lang="zh-CN" altLang="en-US" b="1" dirty="0">
                <a:solidFill>
                  <a:schemeClr val="hlink"/>
                </a:solidFill>
              </a:rPr>
              <a:t>指向</a:t>
            </a:r>
            <a:r>
              <a:rPr lang="zh-CN" altLang="en-US" b="1" dirty="0">
                <a:latin typeface="Arial" panose="020B0604020202020204" pitchFamily="34" charset="0"/>
              </a:rPr>
              <a:t>”</a:t>
            </a:r>
            <a:r>
              <a:rPr lang="zh-CN" altLang="en-US" b="1" dirty="0"/>
              <a:t>该变量</a:t>
            </a:r>
            <a:endParaRPr lang="zh-CN" altLang="en-US" b="1" dirty="0"/>
          </a:p>
        </p:txBody>
      </p:sp>
      <p:sp>
        <p:nvSpPr>
          <p:cNvPr id="34828" name="Rectangle 12"/>
          <p:cNvSpPr>
            <a:spLocks noGrp="1"/>
          </p:cNvSpPr>
          <p:nvPr>
            <p:ph type="title"/>
          </p:nvPr>
        </p:nvSpPr>
        <p:spPr>
          <a:xfrm>
            <a:off x="-80962" y="46038"/>
            <a:ext cx="4332287" cy="909637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b="1" dirty="0">
                <a:effectLst/>
              </a:rPr>
              <a:t>§7.2  </a:t>
            </a:r>
            <a:r>
              <a:rPr lang="zh-CN" altLang="en-US" sz="3600" b="1" dirty="0">
                <a:effectLst/>
              </a:rPr>
              <a:t>指针与变量</a:t>
            </a:r>
            <a:endParaRPr lang="zh-CN" altLang="en-US" sz="3600" b="1" dirty="0">
              <a:effectLst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9">
                                            <p:txEl>
                                              <p:charRg st="12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019">
                                            <p:txEl>
                                              <p:charRg st="12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20955" y="266700"/>
            <a:ext cx="5808980" cy="446659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语言允许定义“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指针变量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用于存放一个地址值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，例：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char c='S';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 int  v=27,u=32;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int * p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=&amp;v;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存储空间如图所示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D4309E-5664-44D2-A8CD-00E726FF004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8" name="Line 4"/>
          <p:cNvSpPr/>
          <p:nvPr/>
        </p:nvSpPr>
        <p:spPr>
          <a:xfrm>
            <a:off x="9983788" y="476250"/>
            <a:ext cx="0" cy="5110163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9" name="Line 5"/>
          <p:cNvSpPr/>
          <p:nvPr/>
        </p:nvSpPr>
        <p:spPr>
          <a:xfrm flipH="1">
            <a:off x="8612188" y="549275"/>
            <a:ext cx="4762" cy="503713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1990" name="Group 6"/>
          <p:cNvGrpSpPr/>
          <p:nvPr/>
        </p:nvGrpSpPr>
        <p:grpSpPr>
          <a:xfrm>
            <a:off x="6167438" y="1758950"/>
            <a:ext cx="3816350" cy="1395413"/>
            <a:chOff x="2925" y="1117"/>
            <a:chExt cx="2404" cy="868"/>
          </a:xfrm>
        </p:grpSpPr>
        <p:sp>
          <p:nvSpPr>
            <p:cNvPr id="41991" name="Rectangle 7"/>
            <p:cNvSpPr>
              <a:spLocks noChangeArrowheads="1"/>
            </p:cNvSpPr>
            <p:nvPr/>
          </p:nvSpPr>
          <p:spPr bwMode="auto">
            <a:xfrm>
              <a:off x="3716" y="1271"/>
              <a:ext cx="772" cy="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B908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41992" name="Rectangle 8"/>
            <p:cNvSpPr>
              <a:spLocks noChangeArrowheads="1"/>
            </p:cNvSpPr>
            <p:nvPr/>
          </p:nvSpPr>
          <p:spPr bwMode="auto">
            <a:xfrm>
              <a:off x="4465" y="1117"/>
              <a:ext cx="864" cy="71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41993" name="Rectangle 9"/>
            <p:cNvSpPr>
              <a:spLocks noChangeArrowheads="1"/>
            </p:cNvSpPr>
            <p:nvPr/>
          </p:nvSpPr>
          <p:spPr bwMode="auto">
            <a:xfrm>
              <a:off x="2925" y="1117"/>
              <a:ext cx="768" cy="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005F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变量</a:t>
              </a:r>
              <a:r>
                <a: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005F9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ea"/>
                  <a:sym typeface="+mn-ea"/>
                </a:rPr>
                <a:t>p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  <a:sym typeface="+mn-ea"/>
              </a:endParaRPr>
            </a:p>
          </p:txBody>
        </p:sp>
        <p:sp>
          <p:nvSpPr>
            <p:cNvPr id="36904" name="Line 10"/>
            <p:cNvSpPr/>
            <p:nvPr/>
          </p:nvSpPr>
          <p:spPr>
            <a:xfrm>
              <a:off x="2925" y="1117"/>
              <a:ext cx="768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6905" name="Line 11"/>
            <p:cNvSpPr/>
            <p:nvPr/>
          </p:nvSpPr>
          <p:spPr>
            <a:xfrm>
              <a:off x="2925" y="1117"/>
              <a:ext cx="0" cy="714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6906" name="Line 12"/>
            <p:cNvSpPr/>
            <p:nvPr/>
          </p:nvSpPr>
          <p:spPr>
            <a:xfrm>
              <a:off x="3693" y="1117"/>
              <a:ext cx="772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6907" name="Line 13"/>
            <p:cNvSpPr/>
            <p:nvPr/>
          </p:nvSpPr>
          <p:spPr>
            <a:xfrm>
              <a:off x="4465" y="1117"/>
              <a:ext cx="86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6871" name="Group 14"/>
          <p:cNvGrpSpPr/>
          <p:nvPr/>
        </p:nvGrpSpPr>
        <p:grpSpPr>
          <a:xfrm>
            <a:off x="6167438" y="2924175"/>
            <a:ext cx="3816350" cy="1317625"/>
            <a:chOff x="2925" y="1831"/>
            <a:chExt cx="2404" cy="830"/>
          </a:xfrm>
        </p:grpSpPr>
        <p:sp>
          <p:nvSpPr>
            <p:cNvPr id="41999" name="Rectangle 15"/>
            <p:cNvSpPr>
              <a:spLocks noChangeArrowheads="1"/>
            </p:cNvSpPr>
            <p:nvPr/>
          </p:nvSpPr>
          <p:spPr bwMode="auto">
            <a:xfrm>
              <a:off x="3728" y="1948"/>
              <a:ext cx="772" cy="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B904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42000" name="Rectangle 16"/>
            <p:cNvSpPr>
              <a:spLocks noChangeArrowheads="1"/>
            </p:cNvSpPr>
            <p:nvPr/>
          </p:nvSpPr>
          <p:spPr bwMode="auto">
            <a:xfrm>
              <a:off x="4465" y="1831"/>
              <a:ext cx="864" cy="71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32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42001" name="Rectangle 17"/>
            <p:cNvSpPr>
              <a:spLocks noChangeArrowheads="1"/>
            </p:cNvSpPr>
            <p:nvPr/>
          </p:nvSpPr>
          <p:spPr bwMode="auto">
            <a:xfrm>
              <a:off x="2925" y="1831"/>
              <a:ext cx="768" cy="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变量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u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6899" name="Line 18"/>
            <p:cNvSpPr/>
            <p:nvPr/>
          </p:nvSpPr>
          <p:spPr>
            <a:xfrm>
              <a:off x="2925" y="1831"/>
              <a:ext cx="0" cy="713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6900" name="Line 19"/>
            <p:cNvSpPr/>
            <p:nvPr/>
          </p:nvSpPr>
          <p:spPr>
            <a:xfrm>
              <a:off x="4465" y="1831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6872" name="Group 20"/>
          <p:cNvGrpSpPr/>
          <p:nvPr/>
        </p:nvGrpSpPr>
        <p:grpSpPr>
          <a:xfrm>
            <a:off x="6167438" y="4076700"/>
            <a:ext cx="3816350" cy="1073150"/>
            <a:chOff x="2925" y="2544"/>
            <a:chExt cx="2404" cy="676"/>
          </a:xfrm>
        </p:grpSpPr>
        <p:sp>
          <p:nvSpPr>
            <p:cNvPr id="42005" name="Rectangle 21"/>
            <p:cNvSpPr>
              <a:spLocks noChangeArrowheads="1"/>
            </p:cNvSpPr>
            <p:nvPr/>
          </p:nvSpPr>
          <p:spPr bwMode="auto">
            <a:xfrm>
              <a:off x="3711" y="2571"/>
              <a:ext cx="772" cy="6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005F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B900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42006" name="Rectangle 22"/>
            <p:cNvSpPr>
              <a:spLocks noChangeArrowheads="1"/>
            </p:cNvSpPr>
            <p:nvPr/>
          </p:nvSpPr>
          <p:spPr bwMode="auto">
            <a:xfrm>
              <a:off x="4465" y="2544"/>
              <a:ext cx="864" cy="649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27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42007" name="Rectangle 23"/>
            <p:cNvSpPr>
              <a:spLocks noChangeArrowheads="1"/>
            </p:cNvSpPr>
            <p:nvPr/>
          </p:nvSpPr>
          <p:spPr bwMode="auto">
            <a:xfrm>
              <a:off x="2925" y="2544"/>
              <a:ext cx="768" cy="6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变量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v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6894" name="Line 24"/>
            <p:cNvSpPr/>
            <p:nvPr/>
          </p:nvSpPr>
          <p:spPr>
            <a:xfrm>
              <a:off x="2925" y="2544"/>
              <a:ext cx="0" cy="649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6895" name="Line 25"/>
            <p:cNvSpPr/>
            <p:nvPr/>
          </p:nvSpPr>
          <p:spPr>
            <a:xfrm>
              <a:off x="4465" y="2544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6873" name="Group 26"/>
          <p:cNvGrpSpPr/>
          <p:nvPr/>
        </p:nvGrpSpPr>
        <p:grpSpPr>
          <a:xfrm>
            <a:off x="6167438" y="5084763"/>
            <a:ext cx="3816350" cy="639762"/>
            <a:chOff x="2925" y="3193"/>
            <a:chExt cx="2404" cy="403"/>
          </a:xfrm>
        </p:grpSpPr>
        <p:sp>
          <p:nvSpPr>
            <p:cNvPr id="42011" name="Rectangle 27"/>
            <p:cNvSpPr>
              <a:spLocks noChangeArrowheads="1"/>
            </p:cNvSpPr>
            <p:nvPr/>
          </p:nvSpPr>
          <p:spPr bwMode="auto">
            <a:xfrm>
              <a:off x="3717" y="3270"/>
              <a:ext cx="772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B8FF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42012" name="Rectangle 28"/>
            <p:cNvSpPr>
              <a:spLocks noChangeArrowheads="1"/>
            </p:cNvSpPr>
            <p:nvPr/>
          </p:nvSpPr>
          <p:spPr bwMode="auto">
            <a:xfrm>
              <a:off x="4465" y="3193"/>
              <a:ext cx="864" cy="32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sz="280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sym typeface="+mn-ea"/>
                </a:rPr>
                <a:t>'</a:t>
              </a:r>
              <a:r>
                <a:rPr lang="en-US" altLang="zh-CN" sz="2800" noProof="0" dirty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sym typeface="+mn-ea"/>
                </a:rPr>
                <a:t>S</a:t>
              </a:r>
              <a:r>
                <a:rPr lang="en-US" altLang="zh-CN" sz="280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sym typeface="+mn-ea"/>
                </a:rPr>
                <a:t>'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42013" name="Rectangle 29"/>
            <p:cNvSpPr>
              <a:spLocks noChangeArrowheads="1"/>
            </p:cNvSpPr>
            <p:nvPr/>
          </p:nvSpPr>
          <p:spPr bwMode="auto">
            <a:xfrm>
              <a:off x="2925" y="3193"/>
              <a:ext cx="76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变量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c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6886" name="Line 30"/>
            <p:cNvSpPr/>
            <p:nvPr/>
          </p:nvSpPr>
          <p:spPr>
            <a:xfrm>
              <a:off x="2925" y="3519"/>
              <a:ext cx="768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6887" name="Line 31"/>
            <p:cNvSpPr/>
            <p:nvPr/>
          </p:nvSpPr>
          <p:spPr>
            <a:xfrm>
              <a:off x="2925" y="3193"/>
              <a:ext cx="0" cy="326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6888" name="Line 32"/>
            <p:cNvSpPr/>
            <p:nvPr/>
          </p:nvSpPr>
          <p:spPr>
            <a:xfrm>
              <a:off x="3693" y="3519"/>
              <a:ext cx="772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6889" name="Line 33"/>
            <p:cNvSpPr/>
            <p:nvPr/>
          </p:nvSpPr>
          <p:spPr>
            <a:xfrm>
              <a:off x="4465" y="3193"/>
              <a:ext cx="8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0" name="Line 34"/>
            <p:cNvSpPr/>
            <p:nvPr/>
          </p:nvSpPr>
          <p:spPr>
            <a:xfrm>
              <a:off x="4465" y="3519"/>
              <a:ext cx="86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6874" name="Group 35"/>
          <p:cNvGrpSpPr/>
          <p:nvPr/>
        </p:nvGrpSpPr>
        <p:grpSpPr>
          <a:xfrm>
            <a:off x="6096000" y="44450"/>
            <a:ext cx="3890963" cy="404813"/>
            <a:chOff x="2835" y="0"/>
            <a:chExt cx="2451" cy="255"/>
          </a:xfrm>
        </p:grpSpPr>
        <p:sp>
          <p:nvSpPr>
            <p:cNvPr id="42020" name="Rectangle 36"/>
            <p:cNvSpPr>
              <a:spLocks noChangeArrowheads="1"/>
            </p:cNvSpPr>
            <p:nvPr/>
          </p:nvSpPr>
          <p:spPr bwMode="auto">
            <a:xfrm>
              <a:off x="3696" y="0"/>
              <a:ext cx="772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B2B2B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地址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42021" name="Rectangle 37"/>
            <p:cNvSpPr>
              <a:spLocks noChangeArrowheads="1"/>
            </p:cNvSpPr>
            <p:nvPr/>
          </p:nvSpPr>
          <p:spPr bwMode="auto">
            <a:xfrm>
              <a:off x="4422" y="0"/>
              <a:ext cx="864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B2B2B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  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B2B2B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内存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42022" name="Rectangle 38"/>
            <p:cNvSpPr>
              <a:spLocks noChangeArrowheads="1"/>
            </p:cNvSpPr>
            <p:nvPr/>
          </p:nvSpPr>
          <p:spPr bwMode="auto">
            <a:xfrm>
              <a:off x="2835" y="0"/>
              <a:ext cx="908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B2B2B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变量名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6882" name="Line 39"/>
            <p:cNvSpPr/>
            <p:nvPr/>
          </p:nvSpPr>
          <p:spPr>
            <a:xfrm>
              <a:off x="2925" y="164"/>
              <a:ext cx="768" cy="0"/>
            </a:xfrm>
            <a:prstGeom prst="line">
              <a:avLst/>
            </a:prstGeom>
            <a:ln w="28575">
              <a:noFill/>
            </a:ln>
          </p:spPr>
        </p:sp>
      </p:grpSp>
      <p:sp>
        <p:nvSpPr>
          <p:cNvPr id="36875" name="Line 40"/>
          <p:cNvSpPr/>
          <p:nvPr/>
        </p:nvSpPr>
        <p:spPr>
          <a:xfrm>
            <a:off x="6167438" y="260350"/>
            <a:ext cx="0" cy="1133475"/>
          </a:xfrm>
          <a:prstGeom prst="line">
            <a:avLst/>
          </a:prstGeom>
          <a:ln w="28575">
            <a:noFill/>
          </a:ln>
        </p:spPr>
      </p:sp>
      <p:cxnSp>
        <p:nvCxnSpPr>
          <p:cNvPr id="42025" name="AutoShape 41"/>
          <p:cNvCxnSpPr/>
          <p:nvPr/>
        </p:nvCxnSpPr>
        <p:spPr>
          <a:xfrm>
            <a:off x="9983788" y="2349500"/>
            <a:ext cx="1587" cy="2214563"/>
          </a:xfrm>
          <a:prstGeom prst="bentConnector3">
            <a:avLst>
              <a:gd name="adj1" fmla="val 24700000"/>
            </a:avLst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lg" len="lg"/>
          </a:ln>
        </p:spPr>
      </p:cxnSp>
      <p:sp>
        <p:nvSpPr>
          <p:cNvPr id="36877" name="Line 42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27" name="Text Box 43"/>
          <p:cNvSpPr txBox="1">
            <a:spLocks noChangeArrowheads="1"/>
          </p:cNvSpPr>
          <p:nvPr/>
        </p:nvSpPr>
        <p:spPr bwMode="auto">
          <a:xfrm>
            <a:off x="8686800" y="2039938"/>
            <a:ext cx="1223963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ea typeface="+mn-ea"/>
                <a:cs typeface="+mn-ea"/>
                <a:sym typeface="+mn-ea"/>
              </a:rPr>
              <a:t>B900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27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30163" y="-6350"/>
            <a:ext cx="6089650" cy="64087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ct val="0"/>
              </a:spcBef>
            </a:pPr>
            <a:r>
              <a:rPr lang="zh-CN" altLang="en-US" sz="3000" b="1" dirty="0">
                <a:effectLst/>
                <a:latin typeface="Arial" panose="020B0604020202020204" pitchFamily="34" charset="0"/>
              </a:rPr>
              <a:t>访问变量</a:t>
            </a:r>
            <a:endParaRPr lang="zh-CN" altLang="en-US" sz="3000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</a:pPr>
            <a:r>
              <a:rPr lang="zh-CN" altLang="en-US" sz="3200" b="1" dirty="0">
                <a:effectLst/>
                <a:latin typeface="Arial" panose="020B0604020202020204" pitchFamily="34" charset="0"/>
              </a:rPr>
              <a:t>直接访问</a:t>
            </a:r>
            <a:r>
              <a:rPr lang="en-US" altLang="zh-CN" sz="3200" b="1" dirty="0">
                <a:effectLst/>
                <a:latin typeface="Arial" panose="020B0604020202020204" pitchFamily="34" charset="0"/>
              </a:rPr>
              <a:t>:</a:t>
            </a:r>
            <a:r>
              <a:rPr lang="zh-CN" altLang="en-US" sz="2000" b="1" dirty="0">
                <a:effectLst/>
                <a:latin typeface="Arial" panose="020B0604020202020204" pitchFamily="34" charset="0"/>
              </a:rPr>
              <a:t>直接使用变量</a:t>
            </a:r>
            <a:r>
              <a:rPr lang="en-US" altLang="zh-CN" sz="2000" b="1" dirty="0">
                <a:effectLst/>
                <a:latin typeface="Arial" panose="020B0604020202020204" pitchFamily="34" charset="0"/>
              </a:rPr>
              <a:t>v</a:t>
            </a:r>
            <a:r>
              <a:rPr lang="zh-CN" altLang="en-US" sz="2000" b="1" dirty="0">
                <a:effectLst/>
                <a:latin typeface="Arial" panose="020B0604020202020204" pitchFamily="34" charset="0"/>
              </a:rPr>
              <a:t>的名字</a:t>
            </a:r>
            <a:endParaRPr lang="zh-CN" altLang="en-US" sz="2000" b="1" dirty="0"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		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int v=10;</a:t>
            </a:r>
            <a:endParaRPr lang="en-US" altLang="zh-CN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  	 	</a:t>
            </a:r>
            <a:r>
              <a:rPr lang="en-US" altLang="zh-CN" b="1" dirty="0">
                <a:solidFill>
                  <a:srgbClr val="F005F9"/>
                </a:solidFill>
                <a:effectLst/>
                <a:latin typeface="Arial" panose="020B0604020202020204" pitchFamily="34" charset="0"/>
              </a:rPr>
              <a:t>v=v*10;</a:t>
            </a:r>
            <a:endParaRPr lang="en-US" altLang="zh-CN" b="1" dirty="0">
              <a:solidFill>
                <a:srgbClr val="F005F9"/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</a:pPr>
            <a:r>
              <a:rPr lang="zh-CN" altLang="en-US" sz="3000" b="1" dirty="0">
                <a:effectLst/>
                <a:latin typeface="Arial" panose="020B0604020202020204" pitchFamily="34" charset="0"/>
              </a:rPr>
              <a:t>间接访问：</a:t>
            </a:r>
            <a:r>
              <a:rPr lang="zh-CN" altLang="en-US" sz="2000" b="1" dirty="0">
                <a:effectLst/>
                <a:latin typeface="Arial" panose="020B0604020202020204" pitchFamily="34" charset="0"/>
              </a:rPr>
              <a:t>使用指向相应变量的指针</a:t>
            </a:r>
            <a:endParaRPr lang="zh-CN" altLang="en-US" sz="2000" b="1" dirty="0"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        比如有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:  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        int *p = &amp;v;</a:t>
            </a:r>
            <a:endParaRPr lang="en-US" altLang="zh-CN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		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则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		v=</a:t>
            </a:r>
            <a:r>
              <a:rPr lang="en-US" altLang="zh-CN" b="1" dirty="0">
                <a:solidFill>
                  <a:srgbClr val="F005F9"/>
                </a:solidFill>
                <a:effectLst/>
                <a:latin typeface="Arial" panose="020B0604020202020204" pitchFamily="34" charset="0"/>
              </a:rPr>
              <a:t>(*p)*10;</a:t>
            </a:r>
            <a:r>
              <a:rPr lang="en-US" altLang="zh-CN" b="1" dirty="0">
                <a:solidFill>
                  <a:srgbClr val="EE121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或 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		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*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p =</a:t>
            </a:r>
            <a:r>
              <a:rPr lang="en-US" altLang="zh-CN" b="1" dirty="0">
                <a:solidFill>
                  <a:srgbClr val="F005F9"/>
                </a:solidFill>
                <a:effectLst/>
                <a:latin typeface="Arial" panose="020B0604020202020204" pitchFamily="34" charset="0"/>
              </a:rPr>
              <a:t>(*p)*10</a:t>
            </a:r>
            <a:endParaRPr lang="en-US" altLang="zh-CN" b="1" dirty="0">
              <a:solidFill>
                <a:srgbClr val="F005F9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EE1212"/>
                </a:solidFill>
                <a:effectLst/>
                <a:latin typeface="Arial" panose="020B0604020202020204" pitchFamily="34" charset="0"/>
              </a:rPr>
              <a:t>       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同样使得变量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v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得到值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100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2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DFC97B-217C-47C4-911A-51CFD247851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5084763" y="4422775"/>
            <a:ext cx="7107238" cy="24301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 marL="269875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987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区分“指针”和“指针变量”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华文隶书" pitchFamily="2" charset="-122"/>
              <a:cs typeface="+mn-cs"/>
            </a:endParaRPr>
          </a:p>
          <a:p>
            <a:pPr marL="727075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指针：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变量的地址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隶书" pitchFamily="2" charset="-122"/>
              <a:cs typeface="+mn-cs"/>
            </a:endParaRPr>
          </a:p>
          <a:p>
            <a:pPr marL="727075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指针变量：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存放变量地址（指针）的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变量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华文隶书" pitchFamily="2" charset="-122"/>
              <a:cs typeface="+mn-cs"/>
            </a:endParaRPr>
          </a:p>
          <a:p>
            <a:pPr marL="26987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       可以说变量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v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指针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B800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隶书" pitchFamily="2" charset="-122"/>
              <a:cs typeface="+mn-cs"/>
            </a:endParaRPr>
          </a:p>
          <a:p>
            <a:pPr marL="26987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	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但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不能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说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v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指针变量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B800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隶书" pitchFamily="2" charset="-122"/>
              <a:cs typeface="+mn-cs"/>
            </a:endParaRPr>
          </a:p>
        </p:txBody>
      </p:sp>
      <p:grpSp>
        <p:nvGrpSpPr>
          <p:cNvPr id="51243" name="Group 43"/>
          <p:cNvGrpSpPr/>
          <p:nvPr/>
        </p:nvGrpSpPr>
        <p:grpSpPr>
          <a:xfrm>
            <a:off x="6905625" y="6350"/>
            <a:ext cx="5256213" cy="3455988"/>
            <a:chOff x="1610" y="346"/>
            <a:chExt cx="3311" cy="2177"/>
          </a:xfrm>
        </p:grpSpPr>
        <p:sp>
          <p:nvSpPr>
            <p:cNvPr id="38933" name="Rectangle 44"/>
            <p:cNvSpPr/>
            <p:nvPr/>
          </p:nvSpPr>
          <p:spPr>
            <a:xfrm>
              <a:off x="1610" y="346"/>
              <a:ext cx="3311" cy="21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51245" name="Rectangle 45"/>
            <p:cNvSpPr>
              <a:spLocks noChangeArrowheads="1"/>
            </p:cNvSpPr>
            <p:nvPr/>
          </p:nvSpPr>
          <p:spPr bwMode="auto">
            <a:xfrm>
              <a:off x="2559" y="2152"/>
              <a:ext cx="772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005F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B800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51246" name="Rectangle 46"/>
            <p:cNvSpPr>
              <a:spLocks noChangeArrowheads="1"/>
            </p:cNvSpPr>
            <p:nvPr/>
          </p:nvSpPr>
          <p:spPr bwMode="auto">
            <a:xfrm>
              <a:off x="3331" y="1752"/>
              <a:ext cx="864" cy="689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10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51247" name="Rectangle 47"/>
            <p:cNvSpPr>
              <a:spLocks noChangeArrowheads="1"/>
            </p:cNvSpPr>
            <p:nvPr/>
          </p:nvSpPr>
          <p:spPr bwMode="auto">
            <a:xfrm>
              <a:off x="1791" y="2152"/>
              <a:ext cx="76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变量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005F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v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sp>
        <p:nvSpPr>
          <p:cNvPr id="38918" name="Line 48"/>
          <p:cNvSpPr/>
          <p:nvPr/>
        </p:nvSpPr>
        <p:spPr>
          <a:xfrm>
            <a:off x="7192963" y="3260725"/>
            <a:ext cx="1219200" cy="0"/>
          </a:xfrm>
          <a:prstGeom prst="line">
            <a:avLst/>
          </a:prstGeom>
          <a:ln w="28575">
            <a:noFill/>
          </a:ln>
        </p:spPr>
      </p:sp>
      <p:sp>
        <p:nvSpPr>
          <p:cNvPr id="38919" name="Line 49"/>
          <p:cNvSpPr/>
          <p:nvPr/>
        </p:nvSpPr>
        <p:spPr>
          <a:xfrm>
            <a:off x="7192963" y="2743200"/>
            <a:ext cx="0" cy="517525"/>
          </a:xfrm>
          <a:prstGeom prst="line">
            <a:avLst/>
          </a:prstGeom>
          <a:ln w="28575">
            <a:noFill/>
          </a:ln>
        </p:spPr>
      </p:sp>
      <p:sp>
        <p:nvSpPr>
          <p:cNvPr id="38920" name="Line 50"/>
          <p:cNvSpPr/>
          <p:nvPr/>
        </p:nvSpPr>
        <p:spPr>
          <a:xfrm>
            <a:off x="8412163" y="3260725"/>
            <a:ext cx="1225550" cy="0"/>
          </a:xfrm>
          <a:prstGeom prst="line">
            <a:avLst/>
          </a:prstGeom>
          <a:ln w="28575">
            <a:noFill/>
          </a:ln>
        </p:spPr>
      </p:sp>
      <p:sp>
        <p:nvSpPr>
          <p:cNvPr id="38921" name="Line 51"/>
          <p:cNvSpPr/>
          <p:nvPr/>
        </p:nvSpPr>
        <p:spPr>
          <a:xfrm>
            <a:off x="7192963" y="2743200"/>
            <a:ext cx="1219200" cy="0"/>
          </a:xfrm>
          <a:prstGeom prst="line">
            <a:avLst/>
          </a:prstGeom>
          <a:ln w="28575">
            <a:noFill/>
          </a:ln>
        </p:spPr>
      </p:sp>
      <p:sp>
        <p:nvSpPr>
          <p:cNvPr id="38922" name="Line 52"/>
          <p:cNvSpPr/>
          <p:nvPr/>
        </p:nvSpPr>
        <p:spPr>
          <a:xfrm>
            <a:off x="7192963" y="2225675"/>
            <a:ext cx="0" cy="517525"/>
          </a:xfrm>
          <a:prstGeom prst="line">
            <a:avLst/>
          </a:prstGeom>
          <a:ln w="28575">
            <a:noFill/>
          </a:ln>
        </p:spPr>
      </p:sp>
      <p:sp>
        <p:nvSpPr>
          <p:cNvPr id="38923" name="Line 53"/>
          <p:cNvSpPr/>
          <p:nvPr/>
        </p:nvSpPr>
        <p:spPr>
          <a:xfrm>
            <a:off x="8412163" y="2743200"/>
            <a:ext cx="1225550" cy="0"/>
          </a:xfrm>
          <a:prstGeom prst="line">
            <a:avLst/>
          </a:prstGeom>
          <a:ln w="28575">
            <a:noFill/>
          </a:ln>
        </p:spPr>
      </p:sp>
      <p:grpSp>
        <p:nvGrpSpPr>
          <p:cNvPr id="51254" name="Group 54"/>
          <p:cNvGrpSpPr/>
          <p:nvPr/>
        </p:nvGrpSpPr>
        <p:grpSpPr>
          <a:xfrm>
            <a:off x="7239000" y="1087438"/>
            <a:ext cx="4635500" cy="1374775"/>
            <a:chOff x="1820" y="436"/>
            <a:chExt cx="2920" cy="1588"/>
          </a:xfrm>
        </p:grpSpPr>
        <p:sp>
          <p:nvSpPr>
            <p:cNvPr id="51255" name="Rectangle 55"/>
            <p:cNvSpPr>
              <a:spLocks noChangeArrowheads="1"/>
            </p:cNvSpPr>
            <p:nvPr/>
          </p:nvSpPr>
          <p:spPr bwMode="auto">
            <a:xfrm>
              <a:off x="2546" y="1063"/>
              <a:ext cx="772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B804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51256" name="Rectangle 56"/>
            <p:cNvSpPr>
              <a:spLocks noChangeArrowheads="1"/>
            </p:cNvSpPr>
            <p:nvPr/>
          </p:nvSpPr>
          <p:spPr bwMode="auto">
            <a:xfrm>
              <a:off x="3334" y="436"/>
              <a:ext cx="864" cy="13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005F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B800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51257" name="Rectangle 57"/>
            <p:cNvSpPr>
              <a:spLocks noChangeArrowheads="1"/>
            </p:cNvSpPr>
            <p:nvPr/>
          </p:nvSpPr>
          <p:spPr bwMode="auto">
            <a:xfrm>
              <a:off x="1820" y="1014"/>
              <a:ext cx="768" cy="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变量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005F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p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grpSp>
          <p:nvGrpSpPr>
            <p:cNvPr id="38929" name="Group 58"/>
            <p:cNvGrpSpPr/>
            <p:nvPr/>
          </p:nvGrpSpPr>
          <p:grpSpPr>
            <a:xfrm>
              <a:off x="4195" y="981"/>
              <a:ext cx="545" cy="1043"/>
              <a:chOff x="4195" y="981"/>
              <a:chExt cx="545" cy="1043"/>
            </a:xfrm>
          </p:grpSpPr>
          <p:sp>
            <p:nvSpPr>
              <p:cNvPr id="38930" name="Line 59"/>
              <p:cNvSpPr/>
              <p:nvPr/>
            </p:nvSpPr>
            <p:spPr>
              <a:xfrm>
                <a:off x="4195" y="981"/>
                <a:ext cx="54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31" name="Line 60"/>
              <p:cNvSpPr/>
              <p:nvPr/>
            </p:nvSpPr>
            <p:spPr>
              <a:xfrm>
                <a:off x="4740" y="981"/>
                <a:ext cx="0" cy="104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32" name="Line 61"/>
              <p:cNvSpPr/>
              <p:nvPr/>
            </p:nvSpPr>
            <p:spPr>
              <a:xfrm flipH="1">
                <a:off x="4195" y="2024"/>
                <a:ext cx="54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sp>
        <p:nvSpPr>
          <p:cNvPr id="2" name="TextBox 1"/>
          <p:cNvSpPr txBox="1"/>
          <p:nvPr/>
        </p:nvSpPr>
        <p:spPr>
          <a:xfrm>
            <a:off x="9844088" y="2643188"/>
            <a:ext cx="968375" cy="585787"/>
          </a:xfrm>
          <a:prstGeom prst="rect">
            <a:avLst/>
          </a:prstGeom>
          <a:solidFill>
            <a:srgbClr val="02224B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b="1" dirty="0">
                <a:solidFill>
                  <a:srgbClr val="F005F9"/>
                </a:solidFill>
              </a:rPr>
              <a:t>100</a:t>
            </a:r>
            <a:endParaRPr lang="en-US" altLang="zh-CN" b="1" dirty="0">
              <a:solidFill>
                <a:srgbClr val="F005F9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21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charRg st="21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33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03">
                                            <p:txEl>
                                              <p:charRg st="33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46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1203">
                                            <p:txEl>
                                              <p:charRg st="46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63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1203">
                                            <p:txEl>
                                              <p:charRg st="63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78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203">
                                            <p:txEl>
                                              <p:charRg st="78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102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1203">
                                            <p:txEl>
                                              <p:charRg st="102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106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1203">
                                            <p:txEl>
                                              <p:charRg st="106" end="1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122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1203">
                                            <p:txEl>
                                              <p:charRg st="122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136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1203">
                                            <p:txEl>
                                              <p:charRg st="136" end="1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bldLvl="0" animBg="1"/>
      <p:bldP spid="2" grpId="0" bldLvl="0" animBg="1"/>
      <p:bldP spid="2" grpId="1" bldLvl="0" animBg="1"/>
      <p:bldP spid="2" grpId="2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5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96937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>
                <a:effectLst/>
                <a:latin typeface="宋体" panose="02010600030101010101" pitchFamily="2" charset="-122"/>
              </a:rPr>
              <a:t>§7.2.1 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指针类型与指针变量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40963" name="Rectangle 6"/>
          <p:cNvSpPr>
            <a:spLocks noGrp="1"/>
          </p:cNvSpPr>
          <p:nvPr>
            <p:ph idx="1"/>
          </p:nvPr>
        </p:nvSpPr>
        <p:spPr>
          <a:xfrm>
            <a:off x="0" y="1181100"/>
            <a:ext cx="11816715" cy="270891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指针类型和基类型：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1" eaLnBrk="1" hangingPunct="1"/>
            <a:r>
              <a:rPr lang="zh-CN" altLang="en-US" b="1" dirty="0">
                <a:effectLst/>
                <a:latin typeface="Arial" panose="020B0604020202020204" pitchFamily="34" charset="0"/>
              </a:rPr>
              <a:t>在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C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中，任何一个类型都伴随着一个指向本类型变量的</a:t>
            </a: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指针类型</a:t>
            </a:r>
            <a:endParaRPr lang="zh-CN" altLang="en-US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lvl="1" eaLnBrk="1" hangingPunct="1"/>
            <a:r>
              <a:rPr lang="zh-CN" altLang="en-US" b="1" dirty="0">
                <a:effectLst/>
                <a:latin typeface="Arial" panose="020B0604020202020204" pitchFamily="34" charset="0"/>
              </a:rPr>
              <a:t>表现形式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buNone/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	 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T  *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	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    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D63E27-7697-4587-880D-9AEB6B78405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5" name="Text Box 7"/>
          <p:cNvSpPr txBox="1"/>
          <p:nvPr/>
        </p:nvSpPr>
        <p:spPr>
          <a:xfrm>
            <a:off x="2471738" y="3282950"/>
            <a:ext cx="6867525" cy="593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如：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float *p1</a:t>
            </a: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；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int *p2; char *p3;</a:t>
            </a:r>
            <a:endParaRPr lang="en-US" altLang="zh-CN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40966" name="对话气泡: 圆角矩形 1"/>
          <p:cNvSpPr/>
          <p:nvPr/>
        </p:nvSpPr>
        <p:spPr>
          <a:xfrm>
            <a:off x="3395663" y="2314575"/>
            <a:ext cx="2057400" cy="593725"/>
          </a:xfrm>
          <a:prstGeom prst="wedgeRoundRectCallout">
            <a:avLst>
              <a:gd name="adj1" fmla="val -42528"/>
              <a:gd name="adj2" fmla="val 145306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Arial" panose="020B0604020202020204" pitchFamily="34" charset="0"/>
              </a:rPr>
              <a:t>基类型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875" y="4278313"/>
            <a:ext cx="9788525" cy="2212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指针所指向的类型可以是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基本数据类型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构造型数据类型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指针类型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函数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ext Box 5"/>
          <p:cNvSpPr txBox="1"/>
          <p:nvPr/>
        </p:nvSpPr>
        <p:spPr>
          <a:xfrm>
            <a:off x="3784600" y="4662488"/>
            <a:ext cx="5508625" cy="4235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doulbe m;  </a:t>
            </a:r>
            <a:r>
              <a:rPr lang="en-US" altLang="zh-CN" sz="2400" b="1" dirty="0">
                <a:solidFill>
                  <a:srgbClr val="F005F9"/>
                </a:solidFill>
              </a:rPr>
              <a:t>double *</a:t>
            </a:r>
            <a:r>
              <a:rPr lang="en-US" altLang="zh-CN" sz="2400" b="1" dirty="0"/>
              <a:t>pm=</a:t>
            </a:r>
            <a:r>
              <a:rPr lang="en-US" altLang="zh-CN" sz="2400" b="1" dirty="0">
                <a:solidFill>
                  <a:srgbClr val="F005F9"/>
                </a:solidFill>
              </a:rPr>
              <a:t>&amp;</a:t>
            </a:r>
            <a:r>
              <a:rPr lang="en-US" altLang="zh-CN" sz="2400" b="1" dirty="0"/>
              <a:t>m;</a:t>
            </a:r>
            <a:endParaRPr lang="en-US" altLang="zh-CN" sz="2400" b="1" dirty="0"/>
          </a:p>
        </p:txBody>
      </p:sp>
      <p:sp>
        <p:nvSpPr>
          <p:cNvPr id="10" name="Text Box 6"/>
          <p:cNvSpPr txBox="1"/>
          <p:nvPr/>
        </p:nvSpPr>
        <p:spPr>
          <a:xfrm>
            <a:off x="3784600" y="5165725"/>
            <a:ext cx="5508625" cy="4235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int arr[10];  </a:t>
            </a:r>
            <a:r>
              <a:rPr lang="en-US" altLang="zh-CN" sz="2400" b="1" dirty="0">
                <a:solidFill>
                  <a:srgbClr val="F005F9"/>
                </a:solidFill>
              </a:rPr>
              <a:t>int *</a:t>
            </a:r>
            <a:r>
              <a:rPr lang="en-US" altLang="zh-CN" sz="2400" b="1" dirty="0"/>
              <a:t>parr=</a:t>
            </a:r>
            <a:r>
              <a:rPr lang="en-US" altLang="zh-CN" sz="2400" b="1" dirty="0">
                <a:solidFill>
                  <a:srgbClr val="F005F9"/>
                </a:solidFill>
              </a:rPr>
              <a:t>&amp;</a:t>
            </a:r>
            <a:r>
              <a:rPr lang="en-US" altLang="zh-CN" sz="2400" b="1" dirty="0"/>
              <a:t>arr[0];</a:t>
            </a:r>
            <a:endParaRPr lang="en-US" altLang="zh-CN" sz="2400" b="1" dirty="0"/>
          </a:p>
        </p:txBody>
      </p:sp>
      <p:sp>
        <p:nvSpPr>
          <p:cNvPr id="11" name="Text Box 7"/>
          <p:cNvSpPr txBox="1"/>
          <p:nvPr/>
        </p:nvSpPr>
        <p:spPr>
          <a:xfrm>
            <a:off x="3784600" y="5670550"/>
            <a:ext cx="5508625" cy="4235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rgbClr val="F005F9"/>
                </a:solidFill>
              </a:rPr>
              <a:t>double **</a:t>
            </a:r>
            <a:r>
              <a:rPr lang="en-US" altLang="zh-CN" sz="2400" b="1" dirty="0"/>
              <a:t>p=</a:t>
            </a:r>
            <a:r>
              <a:rPr lang="en-US" altLang="zh-CN" sz="2400" b="1" dirty="0">
                <a:solidFill>
                  <a:srgbClr val="F005F9"/>
                </a:solidFill>
              </a:rPr>
              <a:t>&amp;</a:t>
            </a:r>
            <a:r>
              <a:rPr lang="en-US" altLang="zh-CN" sz="2400" b="1" dirty="0"/>
              <a:t>pm;</a:t>
            </a:r>
            <a:endParaRPr lang="en-US" altLang="zh-CN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152400" y="533400"/>
            <a:ext cx="9613900" cy="103251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600" b="1" dirty="0">
                <a:effectLst/>
                <a:latin typeface="Arial" panose="020B0604020202020204" pitchFamily="34" charset="0"/>
              </a:rPr>
              <a:t>指针变量：</a:t>
            </a:r>
            <a:r>
              <a:rPr lang="en-US" altLang="zh-CN" sz="3600" b="1" dirty="0">
                <a:solidFill>
                  <a:schemeClr val="tx1"/>
                </a:solidFill>
                <a:effectLst/>
                <a:latin typeface="Arial" panose="020B0604020202020204" pitchFamily="34" charset="0"/>
                <a:sym typeface="+mn-ea"/>
              </a:rPr>
              <a:t>用来存放地址的变量</a:t>
            </a:r>
            <a:endParaRPr lang="en-US" altLang="zh-CN" sz="3600" b="1" dirty="0">
              <a:solidFill>
                <a:schemeClr val="tx1"/>
              </a:solidFill>
              <a:effectLst/>
              <a:latin typeface="Arial" panose="020B0604020202020204" pitchFamily="34" charset="0"/>
              <a:sym typeface="+mn-ea"/>
            </a:endParaRPr>
          </a:p>
        </p:txBody>
      </p:sp>
      <p:sp>
        <p:nvSpPr>
          <p:cNvPr id="10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C16205-7CA4-4643-9730-DAAF1F7191F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609600" y="1600200"/>
            <a:ext cx="10327640" cy="4822190"/>
          </a:xfrm>
        </p:spPr>
        <p:txBody>
          <a:bodyPr/>
          <a:p>
            <a:pPr marL="800100" indent="-457200" eaLnBrk="1" hangingPunct="1">
              <a:lnSpc>
                <a:spcPct val="110000"/>
              </a:lnSpc>
              <a:buFont typeface="Wingdings" panose="05000000000000000000" charset="0"/>
              <a:buChar char="u"/>
            </a:pPr>
            <a:r>
              <a:rPr lang="zh-CN" altLang="en-US" sz="3200" b="1" dirty="0">
                <a:effectLst/>
                <a:latin typeface="Arial" panose="020B0604020202020204" pitchFamily="34" charset="0"/>
                <a:sym typeface="+mn-ea"/>
              </a:rPr>
              <a:t>定义形式：</a:t>
            </a:r>
            <a:endParaRPr lang="zh-CN" altLang="en-US" sz="3200" b="1" dirty="0">
              <a:effectLst/>
              <a:latin typeface="Arial" panose="020B0604020202020204" pitchFamily="34" charset="0"/>
              <a:sym typeface="+mn-ea"/>
            </a:endParaRPr>
          </a:p>
          <a:p>
            <a:pPr lvl="2" indent="0" eaLnBrk="1" hangingPunct="1">
              <a:lnSpc>
                <a:spcPct val="110000"/>
              </a:lnSpc>
              <a:buNone/>
            </a:pPr>
            <a:r>
              <a:rPr lang="en-US" altLang="zh-CN" sz="3200" b="1" dirty="0">
                <a:effectLst/>
                <a:latin typeface="Arial" panose="020B0604020202020204" pitchFamily="34" charset="0"/>
                <a:sym typeface="+mn-ea"/>
              </a:rPr>
              <a:t>int m,*p;</a:t>
            </a:r>
            <a:endParaRPr lang="en-US" altLang="zh-CN" sz="3200" b="1" dirty="0">
              <a:effectLst/>
              <a:latin typeface="Arial" panose="020B0604020202020204" pitchFamily="34" charset="0"/>
              <a:sym typeface="+mn-ea"/>
            </a:endParaRPr>
          </a:p>
          <a:p>
            <a:pPr lvl="2" indent="0" eaLnBrk="1" hangingPunct="1">
              <a:lnSpc>
                <a:spcPct val="110000"/>
              </a:lnSpc>
              <a:buNone/>
            </a:pPr>
            <a:r>
              <a:rPr lang="en-US" altLang="zh-CN" sz="3200" b="1" dirty="0">
                <a:effectLst/>
                <a:latin typeface="Arial" panose="020B0604020202020204" pitchFamily="34" charset="0"/>
                <a:sym typeface="+mn-ea"/>
              </a:rPr>
              <a:t>p=&amp;m;</a:t>
            </a:r>
            <a:endParaRPr lang="en-US" altLang="zh-CN" sz="3200" b="1" dirty="0">
              <a:effectLst/>
              <a:latin typeface="Arial" panose="020B0604020202020204" pitchFamily="34" charset="0"/>
              <a:sym typeface="+mn-ea"/>
            </a:endParaRPr>
          </a:p>
          <a:p>
            <a:pPr marL="800100" lvl="1" indent="0" eaLnBrk="1" hangingPunct="1">
              <a:lnSpc>
                <a:spcPct val="110000"/>
              </a:lnSpc>
              <a:buFont typeface="Wingdings" panose="05000000000000000000" charset="0"/>
              <a:buNone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定义了一个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 指向</a:t>
            </a:r>
            <a: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  <a:sym typeface="+mn-ea"/>
              </a:rPr>
              <a:t>int</a:t>
            </a:r>
            <a:r>
              <a:rPr lang="zh-CN" altLang="en-US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  <a:sym typeface="+mn-ea"/>
              </a:rPr>
              <a:t>类型变量</a:t>
            </a:r>
            <a:r>
              <a:rPr lang="zh-CN" altLang="en-US" sz="3200" b="1" dirty="0">
                <a:effectLst/>
                <a:latin typeface="Arial" panose="020B0604020202020204" pitchFamily="34" charset="0"/>
                <a:sym typeface="+mn-ea"/>
              </a:rPr>
              <a:t>的</a:t>
            </a:r>
            <a:r>
              <a:rPr lang="zh-CN" altLang="en-US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  <a:sym typeface="+mn-ea"/>
              </a:rPr>
              <a:t>指针变量</a:t>
            </a:r>
            <a: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  <a:sym typeface="+mn-ea"/>
              </a:rPr>
              <a:t>p</a:t>
            </a:r>
            <a:r>
              <a:rPr lang="zh-CN" altLang="en-US" sz="3200" b="1" dirty="0">
                <a:solidFill>
                  <a:schemeClr val="tx1"/>
                </a:solidFill>
                <a:effectLst/>
                <a:latin typeface="Arial" panose="020B0604020202020204" pitchFamily="34" charset="0"/>
                <a:sym typeface="+mn-ea"/>
              </a:rPr>
              <a:t>，常简称：</a:t>
            </a:r>
            <a:endParaRPr lang="zh-CN" altLang="en-US" sz="3200" b="1" dirty="0">
              <a:solidFill>
                <a:schemeClr val="hlink"/>
              </a:solidFill>
              <a:effectLst/>
              <a:latin typeface="Arial" panose="020B0604020202020204" pitchFamily="34" charset="0"/>
              <a:sym typeface="+mn-ea"/>
            </a:endParaRPr>
          </a:p>
          <a:p>
            <a:pPr marL="1257300" lvl="1" indent="-457200" eaLnBrk="1" hangingPunct="1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int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类型的指针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p </a:t>
            </a:r>
            <a:r>
              <a:rPr lang="zh-CN" altLang="en-US" sz="3200" b="1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或</a:t>
            </a:r>
            <a:r>
              <a:rPr lang="en-US" altLang="zh-CN" sz="3200" b="1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 int</a:t>
            </a:r>
            <a:r>
              <a:rPr lang="zh-CN" altLang="en-US" sz="3200" b="1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类型的指针变量</a:t>
            </a:r>
            <a:r>
              <a:rPr lang="en-US" altLang="zh-CN" sz="3200" b="1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p</a:t>
            </a:r>
            <a:endParaRPr lang="en-US" altLang="zh-CN" sz="3200" b="1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sym typeface="+mn-ea"/>
            </a:endParaRPr>
          </a:p>
          <a:p>
            <a:pPr marL="1257300" lvl="1" indent="-457200" eaLnBrk="1" hangingPunct="1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p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指向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int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类型</a:t>
            </a:r>
            <a:endParaRPr lang="en-US" altLang="zh-CN" sz="3200" b="1" kern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sym typeface="+mn-ea"/>
            </a:endParaRPr>
          </a:p>
          <a:p>
            <a:pPr marL="0" indent="0" algn="l" eaLnBrk="1" hangingPunct="1">
              <a:lnSpc>
                <a:spcPct val="11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求取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不同类型变量或常量</a:t>
            </a:r>
            <a:r>
              <a:rPr lang="zh-CN" altLang="en-US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地址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的</a:t>
            </a:r>
            <a:r>
              <a:rPr lang="zh-CN" altLang="en-US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表达方式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不同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: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effectLst/>
                <a:latin typeface="Arial" panose="020B0604020202020204" pitchFamily="34" charset="0"/>
              </a:rPr>
              <a:t>(1)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基本类型变量、数组成员、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结构体变量、共用体变量的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地址：</a:t>
            </a:r>
            <a:endParaRPr lang="zh-CN" altLang="en-US" sz="2400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altLang="zh-CN" sz="24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 	&amp;i; 	</a:t>
            </a:r>
            <a:endParaRPr lang="en-US" altLang="zh-CN" sz="24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lvl="1" indent="0" algn="l" eaLnBrk="1" hangingPunct="1">
              <a:lnSpc>
                <a:spcPct val="120000"/>
              </a:lnSpc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effectLst/>
                <a:latin typeface="Arial" panose="020B0604020202020204" pitchFamily="34" charset="0"/>
                <a:cs typeface="+mn-ea"/>
                <a:sym typeface="+mn-ea"/>
              </a:rPr>
              <a:t>int data[5]={3,13,5,8,54};	</a:t>
            </a:r>
            <a:r>
              <a:rPr lang="en-US" altLang="zh-CN" sz="2400" b="1" dirty="0">
                <a:solidFill>
                  <a:schemeClr val="hlink"/>
                </a:solidFill>
                <a:effectLst/>
                <a:latin typeface="Arial" panose="020B0604020202020204" pitchFamily="34" charset="0"/>
                <a:cs typeface="+mn-ea"/>
              </a:rPr>
              <a:t>&amp;data[i];</a:t>
            </a:r>
            <a:endParaRPr lang="en-US" altLang="zh-CN" sz="2400" b="1" dirty="0">
              <a:solidFill>
                <a:schemeClr val="hlink"/>
              </a:solidFill>
              <a:effectLst/>
              <a:latin typeface="Arial" panose="020B0604020202020204" pitchFamily="34" charset="0"/>
              <a:cs typeface="+mn-ea"/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effectLst/>
                <a:latin typeface="Arial" panose="020B0604020202020204" pitchFamily="34" charset="0"/>
              </a:rPr>
              <a:t>(2)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一维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数组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的地址：</a:t>
            </a:r>
            <a:endParaRPr lang="zh-CN" altLang="en-US" sz="2400" b="1" dirty="0">
              <a:solidFill>
                <a:srgbClr val="FF00FF"/>
              </a:solidFill>
              <a:effectLst/>
              <a:latin typeface="Arial" panose="020B0604020202020204" pitchFamily="34" charset="0"/>
            </a:endParaRPr>
          </a:p>
          <a:p>
            <a:pPr lvl="1" indent="0" eaLnBrk="1" hangingPunct="1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&amp;data[0]   </a:t>
            </a:r>
            <a:r>
              <a:rPr lang="zh-CN" altLang="en-US" sz="2400" b="1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或</a:t>
            </a:r>
            <a:r>
              <a:rPr lang="en-US" altLang="zh-CN" sz="2400" b="1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 data</a:t>
            </a:r>
            <a:endParaRPr lang="en-US" altLang="zh-CN" sz="2400" b="1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lvl="1" algn="l" eaLnBrk="1" hangingPunct="1">
              <a:lnSpc>
                <a:spcPct val="120000"/>
              </a:lnSpc>
              <a:buSzTx/>
              <a:buFontTx/>
            </a:pPr>
            <a:r>
              <a:rPr lang="zh-CN" altLang="en-US" sz="28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+mn-ea"/>
              </a:rPr>
              <a:t>应用：</a:t>
            </a:r>
            <a:r>
              <a:rPr lang="zh-CN" altLang="en-US" sz="28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+mn-ea"/>
              </a:rPr>
              <a:t>一维数组作</a:t>
            </a:r>
            <a:r>
              <a:rPr lang="zh-CN" altLang="en-US" sz="28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+mn-ea"/>
              </a:rPr>
              <a:t>参数</a:t>
            </a:r>
            <a:endParaRPr lang="zh-CN" altLang="en-US" sz="2800" b="1" dirty="0">
              <a:solidFill>
                <a:schemeClr val="tx1"/>
              </a:solidFill>
              <a:effectLst/>
              <a:latin typeface="Arial" panose="020B0604020202020204" pitchFamily="34" charset="0"/>
              <a:cs typeface="+mn-ea"/>
            </a:endParaRPr>
          </a:p>
          <a:p>
            <a:pPr lvl="1" indent="0" eaLnBrk="1" hangingPunct="1">
              <a:lnSpc>
                <a:spcPct val="120000"/>
              </a:lnSpc>
              <a:buNone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void  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sortofup(int n,</a:t>
            </a:r>
            <a:r>
              <a:rPr lang="en-US" altLang="zh-CN" b="1" kern="1200" dirty="0">
                <a:solidFill>
                  <a:srgbClr val="F005F9"/>
                </a:solidFill>
                <a:effectLst/>
                <a:cs typeface="+mn-cs"/>
              </a:rPr>
              <a:t>int a[5]</a:t>
            </a:r>
            <a:r>
              <a:rPr lang="en-US" altLang="zh-CN" b="1" dirty="0">
                <a:effectLst/>
                <a:latin typeface="Arial" panose="020B0604020202020204" pitchFamily="34" charset="0"/>
                <a:cs typeface="+mn-ea"/>
              </a:rPr>
              <a:t>);</a:t>
            </a:r>
            <a:endParaRPr lang="en-US" altLang="zh-CN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调用</a:t>
            </a:r>
            <a:endParaRPr lang="en-US" altLang="zh-CN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  <a:cs typeface="+mn-ea"/>
              </a:rPr>
              <a:t>sortofup(5,</a:t>
            </a:r>
            <a:r>
              <a:rPr lang="en-US" altLang="zh-CN" sz="2800" b="1" kern="1200" dirty="0">
                <a:solidFill>
                  <a:srgbClr val="F005F9"/>
                </a:solidFill>
                <a:effectLst/>
                <a:cs typeface="+mn-cs"/>
              </a:rPr>
              <a:t>data</a:t>
            </a:r>
            <a:r>
              <a:rPr lang="en-US" altLang="zh-CN" sz="2800" b="1" dirty="0">
                <a:effectLst/>
                <a:latin typeface="Arial" panose="020B0604020202020204" pitchFamily="34" charset="0"/>
                <a:cs typeface="+mn-ea"/>
              </a:rPr>
              <a:t>);</a:t>
            </a:r>
            <a:r>
              <a:rPr lang="en-US" altLang="zh-CN" sz="28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+mn-ea"/>
              </a:rPr>
              <a:t>或 </a:t>
            </a:r>
            <a:endParaRPr lang="zh-CN" altLang="en-US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  <a:cs typeface="+mn-ea"/>
              </a:rPr>
              <a:t>sortofup(5,</a:t>
            </a:r>
            <a:r>
              <a:rPr lang="en-US" altLang="zh-CN" sz="2800" b="1" kern="1200" dirty="0">
                <a:solidFill>
                  <a:srgbClr val="F005F9"/>
                </a:solidFill>
                <a:effectLst/>
                <a:cs typeface="+mn-cs"/>
              </a:rPr>
              <a:t>&amp;data[0]</a:t>
            </a:r>
            <a:r>
              <a:rPr lang="en-US" altLang="zh-CN" sz="2800" b="1" dirty="0">
                <a:effectLst/>
                <a:latin typeface="Arial" panose="020B0604020202020204" pitchFamily="34" charset="0"/>
                <a:cs typeface="+mn-ea"/>
              </a:rPr>
              <a:t>);</a:t>
            </a:r>
            <a:endParaRPr lang="en-US" altLang="zh-CN" sz="2800" b="1" dirty="0"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2ADA80-ECC7-41F1-8C49-0CA06F7501B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线形标注 1 1"/>
          <p:cNvSpPr/>
          <p:nvPr/>
        </p:nvSpPr>
        <p:spPr>
          <a:xfrm>
            <a:off x="4800600" y="3048000"/>
            <a:ext cx="6430010" cy="576580"/>
          </a:xfrm>
          <a:prstGeom prst="borderCallout1">
            <a:avLst>
              <a:gd name="adj1" fmla="val 97079"/>
              <a:gd name="adj2" fmla="val 77909"/>
              <a:gd name="adj3" fmla="val 145123"/>
              <a:gd name="adj4" fmla="val 6253"/>
            </a:avLst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800" b="1" dirty="0"/>
              <a:t>等价于</a:t>
            </a:r>
            <a:r>
              <a:rPr lang="en-US" altLang="zh-CN" sz="2800" b="1" dirty="0"/>
              <a:t> void  sortofup(int n, </a:t>
            </a:r>
            <a:r>
              <a:rPr lang="en-US" altLang="zh-CN" sz="2800" b="1" dirty="0">
                <a:solidFill>
                  <a:srgbClr val="F005F9"/>
                </a:solidFill>
              </a:rPr>
              <a:t>int *a</a:t>
            </a:r>
            <a:r>
              <a:rPr lang="en-US" altLang="zh-CN" sz="2800" b="1" dirty="0"/>
              <a:t>);</a:t>
            </a:r>
            <a:endParaRPr lang="zh-CN" altLang="en-US" sz="2800" b="1" dirty="0"/>
          </a:p>
        </p:txBody>
      </p:sp>
      <p:sp>
        <p:nvSpPr>
          <p:cNvPr id="3" name="圆角矩形 2"/>
          <p:cNvSpPr/>
          <p:nvPr/>
        </p:nvSpPr>
        <p:spPr>
          <a:xfrm>
            <a:off x="5462588" y="5861050"/>
            <a:ext cx="6729412" cy="1011238"/>
          </a:xfrm>
          <a:prstGeom prst="roundRect">
            <a:avLst>
              <a:gd name="adj" fmla="val 16667"/>
            </a:avLst>
          </a:prstGeom>
          <a:noFill/>
          <a:ln w="25400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800" b="1" dirty="0">
                <a:solidFill>
                  <a:srgbClr val="F005F9"/>
                </a:solidFill>
              </a:rPr>
              <a:t>【课后实践】</a:t>
            </a:r>
            <a:r>
              <a:rPr lang="zh-CN" altLang="en-US" sz="2800" b="1" dirty="0"/>
              <a:t>改写教材</a:t>
            </a:r>
            <a:r>
              <a:rPr lang="en-US" altLang="zh-CN" sz="2800" b="1" dirty="0"/>
              <a:t>P158【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6.6】</a:t>
            </a:r>
            <a:r>
              <a:rPr lang="zh-CN" altLang="en-US" sz="2800" b="1" dirty="0"/>
              <a:t>将数组形参改成指针形参，观察运行</a:t>
            </a:r>
            <a:r>
              <a:rPr lang="zh-CN" altLang="en-US" sz="2800" b="1" dirty="0"/>
              <a:t>结果</a:t>
            </a:r>
            <a:endParaRPr lang="zh-CN" altLang="en-US" sz="2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3" grpId="0"/>
      <p:bldP spid="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0972800" y="6356350"/>
            <a:ext cx="631825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E15E40-87A1-40F9-90A7-E40152E8305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Rectangle 4"/>
          <p:cNvSpPr/>
          <p:nvPr/>
        </p:nvSpPr>
        <p:spPr>
          <a:xfrm>
            <a:off x="358775" y="-7937"/>
            <a:ext cx="3419475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设有：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None/>
            </a:pPr>
            <a:r>
              <a:rPr lang="en-US" altLang="zh-CN" b="1" dirty="0">
                <a:solidFill>
                  <a:srgbClr val="FFC000"/>
                </a:solidFill>
                <a:latin typeface="Arial" panose="020B0604020202020204" pitchFamily="34" charset="0"/>
              </a:rPr>
              <a:t>int  *p1, *p2 ;</a:t>
            </a:r>
            <a:endParaRPr lang="en-US" altLang="zh-CN" b="1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None/>
            </a:pPr>
            <a:r>
              <a:rPr lang="en-US" altLang="zh-CN" b="1" dirty="0">
                <a:solidFill>
                  <a:srgbClr val="FFC000"/>
                </a:solidFill>
                <a:latin typeface="Arial" panose="020B0604020202020204" pitchFamily="34" charset="0"/>
              </a:rPr>
              <a:t>char  * p3</a:t>
            </a:r>
            <a:r>
              <a:rPr lang="zh-CN" altLang="en-US" b="1" dirty="0">
                <a:solidFill>
                  <a:srgbClr val="FFC000"/>
                </a:solidFill>
                <a:latin typeface="Arial" panose="020B0604020202020204" pitchFamily="34" charset="0"/>
              </a:rPr>
              <a:t>；</a:t>
            </a:r>
            <a:endParaRPr lang="zh-CN" altLang="en-US" b="1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int  x, y ;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char  ch = 'a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'</a:t>
            </a:r>
            <a:r>
              <a:rPr lang="en-US" altLang="zh-CN" b="1" dirty="0">
                <a:latin typeface="Arial" panose="020B0604020202020204" pitchFamily="34" charset="0"/>
              </a:rPr>
              <a:t>;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在此基础上，有操作：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57349" name="Rectangle 5"/>
          <p:cNvSpPr/>
          <p:nvPr/>
        </p:nvSpPr>
        <p:spPr>
          <a:xfrm>
            <a:off x="358775" y="2597150"/>
            <a:ext cx="21605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p1 = &amp;x;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57351" name="Rectangle 7"/>
          <p:cNvSpPr/>
          <p:nvPr/>
        </p:nvSpPr>
        <p:spPr>
          <a:xfrm>
            <a:off x="361950" y="3595688"/>
            <a:ext cx="21605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p3 = &amp;ch;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57352" name="Rectangle 8"/>
          <p:cNvSpPr/>
          <p:nvPr/>
        </p:nvSpPr>
        <p:spPr>
          <a:xfrm>
            <a:off x="371475" y="4184650"/>
            <a:ext cx="134302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x = 5;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57354" name="Rectangle 10"/>
          <p:cNvSpPr/>
          <p:nvPr/>
        </p:nvSpPr>
        <p:spPr>
          <a:xfrm>
            <a:off x="361950" y="3113088"/>
            <a:ext cx="20161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p2 = &amp;y;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57355" name="Rectangle 11"/>
          <p:cNvSpPr/>
          <p:nvPr/>
        </p:nvSpPr>
        <p:spPr>
          <a:xfrm>
            <a:off x="406400" y="4665663"/>
            <a:ext cx="136842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y = 8;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45065" name="Text Box 13"/>
          <p:cNvSpPr txBox="1"/>
          <p:nvPr/>
        </p:nvSpPr>
        <p:spPr>
          <a:xfrm>
            <a:off x="8477250" y="120650"/>
            <a:ext cx="1871663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内存单元</a:t>
            </a:r>
            <a:endParaRPr lang="zh-CN" altLang="en-US" sz="2400" b="1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5066" name="Text Box 14"/>
          <p:cNvSpPr txBox="1"/>
          <p:nvPr/>
        </p:nvSpPr>
        <p:spPr>
          <a:xfrm>
            <a:off x="7253288" y="120650"/>
            <a:ext cx="1439862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地址</a:t>
            </a:r>
            <a:endParaRPr lang="zh-CN" altLang="en-US" sz="2400" b="1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5067" name="Text Box 15"/>
          <p:cNvSpPr txBox="1"/>
          <p:nvPr/>
        </p:nvSpPr>
        <p:spPr>
          <a:xfrm>
            <a:off x="5956300" y="120650"/>
            <a:ext cx="1366838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变量</a:t>
            </a:r>
            <a:endParaRPr lang="zh-CN" altLang="en-US" sz="2400" b="1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5068" name="Text Box 16"/>
          <p:cNvSpPr txBox="1"/>
          <p:nvPr/>
        </p:nvSpPr>
        <p:spPr>
          <a:xfrm>
            <a:off x="7540625" y="6213475"/>
            <a:ext cx="976313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E990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45069" name="Text Box 17"/>
          <p:cNvSpPr txBox="1"/>
          <p:nvPr/>
        </p:nvSpPr>
        <p:spPr>
          <a:xfrm>
            <a:off x="5956300" y="6137910"/>
            <a:ext cx="1524635" cy="460375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指针</a:t>
            </a:r>
            <a:r>
              <a:rPr lang="en-US" altLang="zh-CN" sz="2400" b="1" dirty="0">
                <a:solidFill>
                  <a:srgbClr val="FFC000"/>
                </a:solidFill>
                <a:latin typeface="Arial" panose="020B0604020202020204" pitchFamily="34" charset="0"/>
              </a:rPr>
              <a:t>p1</a:t>
            </a:r>
            <a:endParaRPr lang="en-US" altLang="zh-CN" sz="2400" b="1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45070" name="Text Box 19"/>
          <p:cNvSpPr txBox="1"/>
          <p:nvPr/>
        </p:nvSpPr>
        <p:spPr>
          <a:xfrm>
            <a:off x="7540625" y="5062538"/>
            <a:ext cx="976313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E994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45071" name="Text Box 20"/>
          <p:cNvSpPr txBox="1"/>
          <p:nvPr/>
        </p:nvSpPr>
        <p:spPr>
          <a:xfrm>
            <a:off x="5884863" y="5062538"/>
            <a:ext cx="1584325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指针</a:t>
            </a:r>
            <a:r>
              <a:rPr lang="en-US" altLang="zh-CN" sz="2400" b="1" dirty="0">
                <a:solidFill>
                  <a:srgbClr val="FFC000"/>
                </a:solidFill>
                <a:latin typeface="Arial" panose="020B0604020202020204" pitchFamily="34" charset="0"/>
              </a:rPr>
              <a:t>p2</a:t>
            </a:r>
            <a:endParaRPr lang="en-US" altLang="zh-CN" sz="2400" b="1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45072" name="Text Box 22"/>
          <p:cNvSpPr txBox="1"/>
          <p:nvPr/>
        </p:nvSpPr>
        <p:spPr>
          <a:xfrm>
            <a:off x="7540625" y="3910013"/>
            <a:ext cx="1008063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E998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45073" name="Text Box 23"/>
          <p:cNvSpPr txBox="1"/>
          <p:nvPr/>
        </p:nvSpPr>
        <p:spPr>
          <a:xfrm>
            <a:off x="5888990" y="3836988"/>
            <a:ext cx="1584325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指针</a:t>
            </a:r>
            <a:r>
              <a:rPr lang="en-US" altLang="zh-CN" sz="2400" b="1" dirty="0">
                <a:solidFill>
                  <a:srgbClr val="FFC000"/>
                </a:solidFill>
                <a:latin typeface="Arial" panose="020B0604020202020204" pitchFamily="34" charset="0"/>
              </a:rPr>
              <a:t>p3</a:t>
            </a:r>
            <a:endParaRPr lang="en-US" altLang="zh-CN" sz="2400" b="1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45074" name="Text Box 25"/>
          <p:cNvSpPr txBox="1"/>
          <p:nvPr/>
        </p:nvSpPr>
        <p:spPr>
          <a:xfrm>
            <a:off x="7540625" y="2757488"/>
            <a:ext cx="976313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E99C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45075" name="Text Box 26"/>
          <p:cNvSpPr txBox="1"/>
          <p:nvPr/>
        </p:nvSpPr>
        <p:spPr>
          <a:xfrm>
            <a:off x="5600065" y="2757488"/>
            <a:ext cx="1800225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int</a:t>
            </a:r>
            <a:r>
              <a:rPr lang="zh-CN" altLang="en-US" sz="2400" b="1" dirty="0">
                <a:latin typeface="Arial" panose="020B0604020202020204" pitchFamily="34" charset="0"/>
              </a:rPr>
              <a:t>型变量 </a:t>
            </a:r>
            <a:r>
              <a:rPr lang="en-US" altLang="zh-CN" sz="2400" b="1" dirty="0">
                <a:solidFill>
                  <a:srgbClr val="F005F9"/>
                </a:solidFill>
                <a:latin typeface="Arial" panose="020B0604020202020204" pitchFamily="34" charset="0"/>
              </a:rPr>
              <a:t>x</a:t>
            </a:r>
            <a:endParaRPr lang="en-US" altLang="zh-CN" sz="2400" b="1" dirty="0">
              <a:solidFill>
                <a:srgbClr val="F005F9"/>
              </a:solidFill>
              <a:latin typeface="Arial" panose="020B0604020202020204" pitchFamily="34" charset="0"/>
            </a:endParaRPr>
          </a:p>
        </p:txBody>
      </p:sp>
      <p:sp>
        <p:nvSpPr>
          <p:cNvPr id="45076" name="Text Box 28"/>
          <p:cNvSpPr txBox="1"/>
          <p:nvPr/>
        </p:nvSpPr>
        <p:spPr>
          <a:xfrm>
            <a:off x="7540625" y="1893888"/>
            <a:ext cx="976313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E9A0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45077" name="Text Box 29"/>
          <p:cNvSpPr txBox="1"/>
          <p:nvPr/>
        </p:nvSpPr>
        <p:spPr>
          <a:xfrm>
            <a:off x="5597525" y="1893888"/>
            <a:ext cx="1800225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int</a:t>
            </a:r>
            <a:r>
              <a:rPr lang="zh-CN" altLang="en-US" sz="2400" b="1" dirty="0">
                <a:latin typeface="Arial" panose="020B0604020202020204" pitchFamily="34" charset="0"/>
              </a:rPr>
              <a:t>型变量 </a:t>
            </a:r>
            <a:r>
              <a:rPr lang="en-US" altLang="zh-CN" sz="2400" b="1" dirty="0">
                <a:solidFill>
                  <a:srgbClr val="F005F9"/>
                </a:solidFill>
                <a:latin typeface="Arial" panose="020B0604020202020204" pitchFamily="34" charset="0"/>
              </a:rPr>
              <a:t>y</a:t>
            </a:r>
            <a:endParaRPr lang="en-US" altLang="zh-CN" sz="2400" b="1" dirty="0">
              <a:solidFill>
                <a:srgbClr val="F005F9"/>
              </a:solidFill>
              <a:latin typeface="Arial" panose="020B0604020202020204" pitchFamily="34" charset="0"/>
            </a:endParaRPr>
          </a:p>
        </p:txBody>
      </p:sp>
      <p:sp>
        <p:nvSpPr>
          <p:cNvPr id="45078" name="Text Box 31"/>
          <p:cNvSpPr txBox="1"/>
          <p:nvPr/>
        </p:nvSpPr>
        <p:spPr>
          <a:xfrm>
            <a:off x="7540625" y="957263"/>
            <a:ext cx="976313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E9A4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45079" name="Text Box 32"/>
          <p:cNvSpPr txBox="1"/>
          <p:nvPr/>
        </p:nvSpPr>
        <p:spPr>
          <a:xfrm>
            <a:off x="5237163" y="957263"/>
            <a:ext cx="2376487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char</a:t>
            </a:r>
            <a:r>
              <a:rPr lang="zh-CN" altLang="en-US" sz="2400" b="1" dirty="0">
                <a:latin typeface="Arial" panose="020B0604020202020204" pitchFamily="34" charset="0"/>
              </a:rPr>
              <a:t>型变量</a:t>
            </a:r>
            <a:r>
              <a:rPr lang="zh-CN" altLang="en-US" sz="2400" b="1" dirty="0">
                <a:solidFill>
                  <a:srgbClr val="EE121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F005F9"/>
                </a:solidFill>
              </a:rPr>
              <a:t>ch</a:t>
            </a:r>
            <a:endParaRPr lang="en-US" altLang="zh-CN" sz="2400" b="1" dirty="0">
              <a:solidFill>
                <a:srgbClr val="F005F9"/>
              </a:solidFill>
              <a:latin typeface="Arial" panose="020B0604020202020204" pitchFamily="34" charset="0"/>
            </a:endParaRPr>
          </a:p>
        </p:txBody>
      </p:sp>
      <p:sp>
        <p:nvSpPr>
          <p:cNvPr id="45080" name="Rectangle 33"/>
          <p:cNvSpPr/>
          <p:nvPr/>
        </p:nvSpPr>
        <p:spPr>
          <a:xfrm>
            <a:off x="8477250" y="885825"/>
            <a:ext cx="1943100" cy="503238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45081" name="Rectangle 34"/>
          <p:cNvSpPr/>
          <p:nvPr/>
        </p:nvSpPr>
        <p:spPr>
          <a:xfrm>
            <a:off x="8477250" y="1389063"/>
            <a:ext cx="1943100" cy="865187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45082" name="Rectangle 35"/>
          <p:cNvSpPr/>
          <p:nvPr/>
        </p:nvSpPr>
        <p:spPr>
          <a:xfrm>
            <a:off x="8477250" y="2254250"/>
            <a:ext cx="1943100" cy="865188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45083" name="Rectangle 36"/>
          <p:cNvSpPr/>
          <p:nvPr/>
        </p:nvSpPr>
        <p:spPr>
          <a:xfrm>
            <a:off x="8477250" y="3089275"/>
            <a:ext cx="1943100" cy="11811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45084" name="Rectangle 37"/>
          <p:cNvSpPr/>
          <p:nvPr/>
        </p:nvSpPr>
        <p:spPr>
          <a:xfrm>
            <a:off x="8477250" y="4270375"/>
            <a:ext cx="1943100" cy="115252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45085" name="Rectangle 38"/>
          <p:cNvSpPr/>
          <p:nvPr/>
        </p:nvSpPr>
        <p:spPr>
          <a:xfrm>
            <a:off x="8477250" y="5421313"/>
            <a:ext cx="1943100" cy="115252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45086" name="Line 39"/>
          <p:cNvSpPr/>
          <p:nvPr/>
        </p:nvSpPr>
        <p:spPr>
          <a:xfrm>
            <a:off x="4953000" y="0"/>
            <a:ext cx="0" cy="68580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385" name="Text Box 41"/>
          <p:cNvSpPr txBox="1"/>
          <p:nvPr/>
        </p:nvSpPr>
        <p:spPr>
          <a:xfrm>
            <a:off x="8909050" y="5781675"/>
            <a:ext cx="976313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E99C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cxnSp>
        <p:nvCxnSpPr>
          <p:cNvPr id="57386" name="AutoShape 42"/>
          <p:cNvCxnSpPr>
            <a:stCxn id="57385" idx="3"/>
            <a:endCxn id="45082" idx="3"/>
          </p:cNvCxnSpPr>
          <p:nvPr/>
        </p:nvCxnSpPr>
        <p:spPr>
          <a:xfrm flipV="1">
            <a:off x="9885363" y="2687638"/>
            <a:ext cx="549275" cy="3322637"/>
          </a:xfrm>
          <a:prstGeom prst="bentConnector3">
            <a:avLst>
              <a:gd name="adj1" fmla="val 198551"/>
            </a:avLst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lg" len="lg"/>
          </a:ln>
        </p:spPr>
      </p:cxnSp>
      <p:sp>
        <p:nvSpPr>
          <p:cNvPr id="57387" name="Text Box 43"/>
          <p:cNvSpPr txBox="1"/>
          <p:nvPr/>
        </p:nvSpPr>
        <p:spPr>
          <a:xfrm>
            <a:off x="8909050" y="4702175"/>
            <a:ext cx="976313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E9A0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cxnSp>
        <p:nvCxnSpPr>
          <p:cNvPr id="57388" name="AutoShape 44"/>
          <p:cNvCxnSpPr>
            <a:stCxn id="57385" idx="3"/>
            <a:endCxn id="45082" idx="3"/>
          </p:cNvCxnSpPr>
          <p:nvPr/>
        </p:nvCxnSpPr>
        <p:spPr>
          <a:xfrm flipV="1">
            <a:off x="9845675" y="1604963"/>
            <a:ext cx="549275" cy="3322637"/>
          </a:xfrm>
          <a:prstGeom prst="bentConnector3">
            <a:avLst>
              <a:gd name="adj1" fmla="val 183815"/>
            </a:avLst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lg" len="lg"/>
          </a:ln>
        </p:spPr>
      </p:cxnSp>
      <p:sp>
        <p:nvSpPr>
          <p:cNvPr id="57389" name="Text Box 45"/>
          <p:cNvSpPr txBox="1"/>
          <p:nvPr/>
        </p:nvSpPr>
        <p:spPr>
          <a:xfrm>
            <a:off x="8909050" y="3478213"/>
            <a:ext cx="976313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E9A4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cxnSp>
        <p:nvCxnSpPr>
          <p:cNvPr id="57390" name="AutoShape 46"/>
          <p:cNvCxnSpPr>
            <a:stCxn id="57389" idx="3"/>
            <a:endCxn id="45080" idx="3"/>
          </p:cNvCxnSpPr>
          <p:nvPr/>
        </p:nvCxnSpPr>
        <p:spPr>
          <a:xfrm flipV="1">
            <a:off x="9885363" y="1138238"/>
            <a:ext cx="549275" cy="2568575"/>
          </a:xfrm>
          <a:prstGeom prst="bentConnector3">
            <a:avLst>
              <a:gd name="adj1" fmla="val 154042"/>
            </a:avLst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lg" len="lg"/>
          </a:ln>
        </p:spPr>
      </p:cxnSp>
      <p:sp>
        <p:nvSpPr>
          <p:cNvPr id="45093" name="Text Box 48"/>
          <p:cNvSpPr txBox="1"/>
          <p:nvPr/>
        </p:nvSpPr>
        <p:spPr>
          <a:xfrm>
            <a:off x="8909050" y="885825"/>
            <a:ext cx="1008063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'a'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57393" name="Text Box 49"/>
          <p:cNvSpPr txBox="1"/>
          <p:nvPr/>
        </p:nvSpPr>
        <p:spPr>
          <a:xfrm>
            <a:off x="8980488" y="2470150"/>
            <a:ext cx="1008062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57394" name="Text Box 50"/>
          <p:cNvSpPr txBox="1"/>
          <p:nvPr/>
        </p:nvSpPr>
        <p:spPr>
          <a:xfrm>
            <a:off x="8980488" y="1604963"/>
            <a:ext cx="1008062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8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57395" name="Rectangle 51"/>
          <p:cNvSpPr/>
          <p:nvPr/>
        </p:nvSpPr>
        <p:spPr>
          <a:xfrm>
            <a:off x="331788" y="5222875"/>
            <a:ext cx="42291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spcAft>
                <a:spcPct val="10000"/>
              </a:spcAft>
              <a:buClrTx/>
              <a:buSz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如果再执行 </a:t>
            </a:r>
            <a:r>
              <a:rPr lang="en-US" altLang="zh-CN" sz="2800" b="1" dirty="0">
                <a:solidFill>
                  <a:srgbClr val="FFC000"/>
                </a:solidFill>
                <a:latin typeface="Arial" panose="020B0604020202020204" pitchFamily="34" charset="0"/>
              </a:rPr>
              <a:t>p1=p2</a:t>
            </a:r>
            <a:r>
              <a:rPr lang="zh-CN" altLang="en-US" sz="2800" b="1" dirty="0">
                <a:solidFill>
                  <a:srgbClr val="FFC000"/>
                </a:solidFill>
                <a:latin typeface="Arial" panose="020B0604020202020204" pitchFamily="34" charset="0"/>
              </a:rPr>
              <a:t>；</a:t>
            </a:r>
            <a:endParaRPr lang="zh-CN" altLang="en-US" sz="2800" b="1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57396" name="Text Box 52"/>
          <p:cNvSpPr txBox="1"/>
          <p:nvPr/>
        </p:nvSpPr>
        <p:spPr>
          <a:xfrm>
            <a:off x="8907463" y="5770563"/>
            <a:ext cx="976312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E9A0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cxnSp>
        <p:nvCxnSpPr>
          <p:cNvPr id="57397" name="AutoShape 53"/>
          <p:cNvCxnSpPr>
            <a:stCxn id="57389" idx="3"/>
            <a:endCxn id="45081" idx="3"/>
          </p:cNvCxnSpPr>
          <p:nvPr/>
        </p:nvCxnSpPr>
        <p:spPr>
          <a:xfrm rot="-5400000">
            <a:off x="8080375" y="3654425"/>
            <a:ext cx="4186238" cy="517525"/>
          </a:xfrm>
          <a:prstGeom prst="bentConnector4">
            <a:avLst>
              <a:gd name="adj1" fmla="val -532"/>
              <a:gd name="adj2" fmla="val 230366"/>
            </a:avLst>
          </a:prstGeom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arrow" w="lg" len="lg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7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7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7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5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57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5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/>
      <p:bldP spid="57351" grpId="0"/>
      <p:bldP spid="57352" grpId="0"/>
      <p:bldP spid="57354" grpId="0"/>
      <p:bldP spid="57355" grpId="0"/>
      <p:bldP spid="57385" grpId="0"/>
      <p:bldP spid="57385" grpId="1"/>
      <p:bldP spid="57387" grpId="0"/>
      <p:bldP spid="57389" grpId="0"/>
      <p:bldP spid="57393" grpId="0"/>
      <p:bldP spid="57394" grpId="0"/>
      <p:bldP spid="57395" grpId="0"/>
      <p:bldP spid="5739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>
                <a:effectLst/>
                <a:latin typeface="宋体" panose="02010600030101010101" pitchFamily="2" charset="-122"/>
              </a:rPr>
              <a:t>§7.2.2  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指针所指变量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11506200" cy="197358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Aft>
                <a:spcPct val="10000"/>
              </a:spcAft>
            </a:pP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指针变量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和</a:t>
            </a: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指针所指变量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是两个不同的概念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spcAft>
                <a:spcPct val="10000"/>
              </a:spcAft>
            </a:pP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指针变量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即指针，它本身存储某个内存地址（某个变量的地址）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spcAft>
                <a:spcPct val="10000"/>
              </a:spcAft>
            </a:pP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指针所指变量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为指针变量中所保存的内存地址对应的变量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11C268-A361-443B-8E8D-E2615BCA3FC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0" name="Rectangle 4"/>
          <p:cNvSpPr/>
          <p:nvPr/>
        </p:nvSpPr>
        <p:spPr>
          <a:xfrm>
            <a:off x="4038600" y="3810000"/>
            <a:ext cx="4161155" cy="164211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4000" b="1" dirty="0">
                <a:latin typeface="Arial" panose="020B0604020202020204" pitchFamily="34" charset="0"/>
              </a:rPr>
              <a:t>int *p,m=10;</a:t>
            </a:r>
            <a:endParaRPr lang="en-US" altLang="zh-CN" sz="4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4000" b="1" dirty="0">
                <a:latin typeface="Arial" panose="020B0604020202020204" pitchFamily="34" charset="0"/>
              </a:rPr>
              <a:t>p=&amp;m;</a:t>
            </a:r>
            <a:endParaRPr lang="en-US" altLang="zh-CN" sz="40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3378" name="Rectangle 2"/>
          <p:cNvSpPr>
            <a:spLocks noGrp="1" noChangeArrowheads="1"/>
          </p:cNvSpPr>
          <p:nvPr>
            <p:ph idx="1"/>
          </p:nvPr>
        </p:nvSpPr>
        <p:spPr>
          <a:xfrm>
            <a:off x="-9525" y="381000"/>
            <a:ext cx="12115800" cy="59705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注意符号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的用法：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</a:rPr>
              <a:t>(1)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</a:rPr>
              <a:t>指针定义符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</a:rPr>
              <a:t>: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放在指针定义中时，表示指针类型，用来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说明指针变量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: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int  data,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*p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count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;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//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说明指向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int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类型的指针变量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int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=3;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=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</a:rPr>
              <a:t>&amp;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</a:rPr>
              <a:t>(2)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</a:rPr>
              <a:t>间接引用运算符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</a:rPr>
              <a:t>: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放在表达式中的指针变量之前，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表示“指向”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，即 对指针所指变量的访问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:int m=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+7;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=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*11;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(</a:t>
            </a:r>
            <a:r>
              <a:rPr lang="en-US" altLang="zh-CN" b="1" dirty="0">
                <a:effectLst/>
                <a:latin typeface="Arial" panose="020B0604020202020204" pitchFamily="34" charset="0"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%d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\n</a:t>
            </a:r>
            <a:r>
              <a:rPr lang="en-US" altLang="zh-CN" b="1" dirty="0">
                <a:effectLst/>
                <a:latin typeface="Arial" panose="020B0604020202020204" pitchFamily="34" charset="0"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,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E628E8-4AB8-4870-8148-3AF812E5F5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8">
                                            <p:txEl>
                                              <p:charRg st="47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3378">
                                            <p:txEl>
                                              <p:charRg st="47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8">
                                            <p:txEl>
                                              <p:charRg st="94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3378">
                                            <p:txEl>
                                              <p:charRg st="94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8">
                                            <p:txEl>
                                              <p:charRg st="108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3378">
                                            <p:txEl>
                                              <p:charRg st="108" end="1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8">
                                            <p:txEl>
                                              <p:charRg st="122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13378">
                                            <p:txEl>
                                              <p:charRg st="122" end="1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8">
                                            <p:txEl>
                                              <p:charRg st="167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13378">
                                            <p:txEl>
                                              <p:charRg st="167" end="1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8">
                                            <p:txEl>
                                              <p:charRg st="185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13378">
                                            <p:txEl>
                                              <p:charRg st="185" end="2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8">
                                            <p:txEl>
                                              <p:charRg st="206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13378">
                                            <p:txEl>
                                              <p:charRg st="206" end="2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9" name="Rectangle 2"/>
          <p:cNvSpPr>
            <a:spLocks noGrp="1"/>
          </p:cNvSpPr>
          <p:nvPr>
            <p:ph idx="1"/>
          </p:nvPr>
        </p:nvSpPr>
        <p:spPr>
          <a:xfrm>
            <a:off x="-635" y="1066800"/>
            <a:ext cx="9003665" cy="516699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 i,j,*pi,*pj; </a:t>
            </a:r>
            <a:endParaRPr lang="en-US" altLang="zh-CN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 ch,*pch;</a:t>
            </a:r>
            <a:endParaRPr lang="en-US" altLang="zh-CN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……</a:t>
            </a:r>
            <a:endParaRPr lang="en-US" altLang="zh-CN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pi=&amp;i;	                                        </a:t>
            </a: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　　　</a:t>
            </a:r>
            <a:endParaRPr lang="zh-CN" altLang="en-US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pj=&amp;j;				       </a:t>
            </a: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　　　</a:t>
            </a:r>
            <a:endParaRPr lang="zh-CN" altLang="en-US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pch=&amp;ch;</a:t>
            </a:r>
            <a:endParaRPr lang="en-US" altLang="zh-CN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		                              </a:t>
            </a: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　　　</a:t>
            </a:r>
            <a:endParaRPr lang="zh-CN" altLang="en-US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printf("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%d %d %c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",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i,j,ch);	</a:t>
            </a: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　　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　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printf(</a:t>
            </a:r>
            <a:r>
              <a:rPr lang="en-US" altLang="zh-CN" b="1" dirty="0">
                <a:effectLst/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%d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%d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%c</a:t>
            </a:r>
            <a:r>
              <a:rPr lang="en-US" altLang="zh-CN" b="1" dirty="0">
                <a:effectLst/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, </a:t>
            </a:r>
            <a:r>
              <a:rPr lang="zh-CN" altLang="en-US" b="1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</a:rPr>
              <a:t>*pi,*pj,*pch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);           							     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type="title"/>
          </p:nvPr>
        </p:nvSpPr>
        <p:spPr>
          <a:xfrm>
            <a:off x="-76200" y="75883"/>
            <a:ext cx="5257800" cy="504825"/>
          </a:xfrm>
        </p:spPr>
        <p:txBody>
          <a:bodyPr vert="horz" wrap="square" lIns="91440" tIns="45720" rIns="91440" bIns="45720" anchor="ctr" anchorCtr="0"/>
          <a:p>
            <a:pPr algn="r" eaLnBrk="1" hangingPunct="1"/>
            <a:r>
              <a:rPr lang="en-US" altLang="zh-CN" sz="2400" b="1" dirty="0">
                <a:solidFill>
                  <a:srgbClr val="FFC000"/>
                </a:solidFill>
                <a:effectLst/>
              </a:rPr>
              <a:t>【</a:t>
            </a:r>
            <a:r>
              <a:rPr lang="zh-CN" altLang="en-US" sz="2400" b="1" dirty="0">
                <a:solidFill>
                  <a:srgbClr val="FFC000"/>
                </a:solidFill>
                <a:effectLst/>
              </a:rPr>
              <a:t>例</a:t>
            </a:r>
            <a:r>
              <a:rPr lang="en-US" altLang="zh-CN" sz="2400" b="1" dirty="0">
                <a:solidFill>
                  <a:srgbClr val="FFC000"/>
                </a:solidFill>
                <a:effectLst/>
              </a:rPr>
              <a:t>7.2】 </a:t>
            </a:r>
            <a:r>
              <a:rPr lang="zh-CN" altLang="en-US" sz="2400" b="1" dirty="0">
                <a:solidFill>
                  <a:srgbClr val="FFC000"/>
                </a:solidFill>
                <a:effectLst/>
              </a:rPr>
              <a:t>指针变量</a:t>
            </a:r>
            <a:r>
              <a:rPr lang="zh-CN" altLang="en-US" sz="2400" b="1" dirty="0">
                <a:solidFill>
                  <a:schemeClr val="tx1"/>
                </a:solidFill>
                <a:effectLst/>
              </a:rPr>
              <a:t>与</a:t>
            </a:r>
            <a:r>
              <a:rPr lang="zh-CN" altLang="en-US" sz="2400" b="1" dirty="0">
                <a:solidFill>
                  <a:srgbClr val="FFC000"/>
                </a:solidFill>
                <a:effectLst/>
              </a:rPr>
              <a:t>指针所指变量</a:t>
            </a:r>
            <a:endParaRPr lang="zh-CN" altLang="en-US" sz="2400" b="1" dirty="0">
              <a:solidFill>
                <a:srgbClr val="FFC000"/>
              </a:solidFill>
              <a:effectLst/>
            </a:endParaRPr>
          </a:p>
        </p:txBody>
      </p:sp>
      <p:sp>
        <p:nvSpPr>
          <p:cNvPr id="29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0948988" y="6248400"/>
            <a:ext cx="633413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05A192-3E80-4CD1-8B55-F8124A67FB0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2" name="Rectangle 5"/>
          <p:cNvSpPr/>
          <p:nvPr/>
        </p:nvSpPr>
        <p:spPr>
          <a:xfrm>
            <a:off x="8177213" y="3124200"/>
            <a:ext cx="3975100" cy="25193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grpSp>
        <p:nvGrpSpPr>
          <p:cNvPr id="55303" name="Group 21"/>
          <p:cNvGrpSpPr/>
          <p:nvPr/>
        </p:nvGrpSpPr>
        <p:grpSpPr>
          <a:xfrm>
            <a:off x="8356600" y="1524000"/>
            <a:ext cx="3527425" cy="863600"/>
            <a:chOff x="113" y="1349"/>
            <a:chExt cx="2222" cy="544"/>
          </a:xfrm>
        </p:grpSpPr>
        <p:sp>
          <p:nvSpPr>
            <p:cNvPr id="55318" name="Text Box 6"/>
            <p:cNvSpPr txBox="1"/>
            <p:nvPr/>
          </p:nvSpPr>
          <p:spPr>
            <a:xfrm>
              <a:off x="113" y="1349"/>
              <a:ext cx="24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i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5319" name="Rectangle 7"/>
            <p:cNvSpPr/>
            <p:nvPr/>
          </p:nvSpPr>
          <p:spPr>
            <a:xfrm>
              <a:off x="204" y="1621"/>
              <a:ext cx="589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buNone/>
              </a:pPr>
              <a:r>
                <a:rPr lang="en-US" altLang="zh-CN" b="1" dirty="0"/>
                <a:t>23</a:t>
              </a:r>
              <a:endParaRPr lang="en-US" altLang="zh-CN" b="1" dirty="0"/>
            </a:p>
          </p:txBody>
        </p:sp>
        <p:sp>
          <p:nvSpPr>
            <p:cNvPr id="55320" name="Text Box 8"/>
            <p:cNvSpPr txBox="1"/>
            <p:nvPr/>
          </p:nvSpPr>
          <p:spPr>
            <a:xfrm>
              <a:off x="884" y="1349"/>
              <a:ext cx="24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j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5321" name="Rectangle 9"/>
            <p:cNvSpPr/>
            <p:nvPr/>
          </p:nvSpPr>
          <p:spPr>
            <a:xfrm>
              <a:off x="975" y="1621"/>
              <a:ext cx="589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buNone/>
              </a:pPr>
              <a:r>
                <a:rPr lang="en-US" altLang="zh-CN" b="1" dirty="0"/>
                <a:t>45</a:t>
              </a:r>
              <a:endParaRPr lang="en-US" altLang="zh-CN" b="1" dirty="0"/>
            </a:p>
          </p:txBody>
        </p:sp>
        <p:sp>
          <p:nvSpPr>
            <p:cNvPr id="55322" name="Text Box 10"/>
            <p:cNvSpPr txBox="1"/>
            <p:nvPr/>
          </p:nvSpPr>
          <p:spPr>
            <a:xfrm>
              <a:off x="1655" y="1394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ch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5323" name="Rectangle 11"/>
            <p:cNvSpPr/>
            <p:nvPr/>
          </p:nvSpPr>
          <p:spPr>
            <a:xfrm>
              <a:off x="1746" y="1621"/>
              <a:ext cx="589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buNone/>
              </a:pPr>
              <a:r>
                <a:rPr lang="en-US" altLang="zh-CN" b="1" dirty="0">
                  <a:latin typeface="Arial" panose="020B0604020202020204" pitchFamily="34" charset="0"/>
                  <a:sym typeface="+mn-ea"/>
                </a:rPr>
                <a:t>'</a:t>
              </a:r>
              <a:r>
                <a:rPr lang="en-US" altLang="zh-CN" b="1" dirty="0"/>
                <a:t>r</a:t>
              </a:r>
              <a:r>
                <a:rPr lang="en-US" altLang="zh-CN" b="1" dirty="0">
                  <a:latin typeface="Arial" panose="020B0604020202020204" pitchFamily="34" charset="0"/>
                  <a:sym typeface="+mn-ea"/>
                </a:rPr>
                <a:t>'</a:t>
              </a:r>
              <a:endParaRPr lang="en-US" altLang="zh-CN" b="1" dirty="0"/>
            </a:p>
          </p:txBody>
        </p:sp>
      </p:grpSp>
      <p:grpSp>
        <p:nvGrpSpPr>
          <p:cNvPr id="664598" name="Group 22"/>
          <p:cNvGrpSpPr/>
          <p:nvPr/>
        </p:nvGrpSpPr>
        <p:grpSpPr>
          <a:xfrm>
            <a:off x="8356600" y="2740025"/>
            <a:ext cx="3527425" cy="863600"/>
            <a:chOff x="113" y="2115"/>
            <a:chExt cx="2222" cy="544"/>
          </a:xfrm>
        </p:grpSpPr>
        <p:sp>
          <p:nvSpPr>
            <p:cNvPr id="55312" name="Text Box 12"/>
            <p:cNvSpPr txBox="1"/>
            <p:nvPr/>
          </p:nvSpPr>
          <p:spPr>
            <a:xfrm>
              <a:off x="113" y="2115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pi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5313" name="Rectangle 13"/>
            <p:cNvSpPr/>
            <p:nvPr/>
          </p:nvSpPr>
          <p:spPr>
            <a:xfrm>
              <a:off x="204" y="2387"/>
              <a:ext cx="589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buNone/>
              </a:pPr>
              <a:endParaRPr lang="zh-CN" altLang="zh-CN" b="1" dirty="0"/>
            </a:p>
          </p:txBody>
        </p:sp>
        <p:sp>
          <p:nvSpPr>
            <p:cNvPr id="55314" name="Text Box 14"/>
            <p:cNvSpPr txBox="1"/>
            <p:nvPr/>
          </p:nvSpPr>
          <p:spPr>
            <a:xfrm>
              <a:off x="884" y="2115"/>
              <a:ext cx="3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pj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5315" name="Rectangle 15"/>
            <p:cNvSpPr/>
            <p:nvPr/>
          </p:nvSpPr>
          <p:spPr>
            <a:xfrm>
              <a:off x="930" y="2387"/>
              <a:ext cx="589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buNone/>
              </a:pPr>
              <a:endParaRPr lang="zh-CN" altLang="zh-CN" b="1" dirty="0"/>
            </a:p>
          </p:txBody>
        </p:sp>
        <p:sp>
          <p:nvSpPr>
            <p:cNvPr id="55316" name="Text Box 16"/>
            <p:cNvSpPr txBox="1"/>
            <p:nvPr/>
          </p:nvSpPr>
          <p:spPr>
            <a:xfrm>
              <a:off x="1655" y="2115"/>
              <a:ext cx="54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pch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5317" name="Rectangle 17"/>
            <p:cNvSpPr/>
            <p:nvPr/>
          </p:nvSpPr>
          <p:spPr>
            <a:xfrm>
              <a:off x="1746" y="2387"/>
              <a:ext cx="589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buNone/>
              </a:pPr>
              <a:endParaRPr lang="zh-CN" altLang="zh-CN" b="1" dirty="0"/>
            </a:p>
          </p:txBody>
        </p:sp>
      </p:grpSp>
      <p:sp>
        <p:nvSpPr>
          <p:cNvPr id="664594" name="Line 18"/>
          <p:cNvSpPr/>
          <p:nvPr/>
        </p:nvSpPr>
        <p:spPr>
          <a:xfrm flipV="1">
            <a:off x="9004300" y="2379663"/>
            <a:ext cx="0" cy="792162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4595" name="Line 19"/>
          <p:cNvSpPr/>
          <p:nvPr/>
        </p:nvSpPr>
        <p:spPr>
          <a:xfrm flipV="1">
            <a:off x="10228263" y="2379663"/>
            <a:ext cx="0" cy="792162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4596" name="Line 20"/>
          <p:cNvSpPr/>
          <p:nvPr/>
        </p:nvSpPr>
        <p:spPr>
          <a:xfrm flipV="1">
            <a:off x="11453813" y="2379663"/>
            <a:ext cx="0" cy="792162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4599" name="Text Box 23"/>
          <p:cNvSpPr txBox="1"/>
          <p:nvPr/>
        </p:nvSpPr>
        <p:spPr>
          <a:xfrm>
            <a:off x="8716963" y="3171825"/>
            <a:ext cx="9350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&amp;i</a:t>
            </a:r>
            <a:endParaRPr lang="en-US" altLang="zh-CN" sz="2400" b="1" dirty="0"/>
          </a:p>
        </p:txBody>
      </p:sp>
      <p:sp>
        <p:nvSpPr>
          <p:cNvPr id="664600" name="Text Box 24"/>
          <p:cNvSpPr txBox="1"/>
          <p:nvPr/>
        </p:nvSpPr>
        <p:spPr>
          <a:xfrm>
            <a:off x="9875838" y="3171825"/>
            <a:ext cx="9350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&amp;j</a:t>
            </a:r>
            <a:endParaRPr lang="en-US" altLang="zh-CN" sz="2400" b="1" dirty="0"/>
          </a:p>
        </p:txBody>
      </p:sp>
      <p:sp>
        <p:nvSpPr>
          <p:cNvPr id="664601" name="Text Box 25"/>
          <p:cNvSpPr txBox="1"/>
          <p:nvPr/>
        </p:nvSpPr>
        <p:spPr>
          <a:xfrm>
            <a:off x="11020425" y="3171825"/>
            <a:ext cx="9350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&amp;ch</a:t>
            </a:r>
            <a:endParaRPr lang="en-US" altLang="zh-CN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6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6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6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6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599" grpId="0"/>
      <p:bldP spid="664600" grpId="0"/>
      <p:bldP spid="66460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E16579-9E09-4E99-ADA7-6BCC8360A71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5643" name="Group 107"/>
          <p:cNvGraphicFramePr>
            <a:graphicFrameLocks noGrp="1"/>
          </p:cNvGraphicFramePr>
          <p:nvPr/>
        </p:nvGraphicFramePr>
        <p:xfrm>
          <a:off x="5448300" y="188913"/>
          <a:ext cx="4895850" cy="4464051"/>
        </p:xfrm>
        <a:graphic>
          <a:graphicData uri="http://schemas.openxmlformats.org/drawingml/2006/table">
            <a:tbl>
              <a:tblPr/>
              <a:tblGrid>
                <a:gridCol w="593725"/>
                <a:gridCol w="882650"/>
                <a:gridCol w="1287463"/>
                <a:gridCol w="684212"/>
                <a:gridCol w="758825"/>
                <a:gridCol w="688975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i: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5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p1: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3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47775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p: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b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j: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79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p2: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5598" name="Freeform 62"/>
          <p:cNvSpPr/>
          <p:nvPr/>
        </p:nvSpPr>
        <p:spPr>
          <a:xfrm>
            <a:off x="8700135" y="1201738"/>
            <a:ext cx="1006475" cy="307816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634" h="1939">
                <a:moveTo>
                  <a:pt x="0" y="9"/>
                </a:moveTo>
                <a:lnTo>
                  <a:pt x="211" y="0"/>
                </a:lnTo>
                <a:lnTo>
                  <a:pt x="365" y="1929"/>
                </a:lnTo>
                <a:lnTo>
                  <a:pt x="634" y="1939"/>
                </a:ln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lg"/>
          </a:ln>
        </p:spPr>
        <p:txBody>
          <a:bodyPr/>
          <a:p>
            <a:endParaRPr lang="zh-CN" altLang="en-US"/>
          </a:p>
        </p:txBody>
      </p:sp>
      <p:sp>
        <p:nvSpPr>
          <p:cNvPr id="65599" name="Freeform 63"/>
          <p:cNvSpPr/>
          <p:nvPr/>
        </p:nvSpPr>
        <p:spPr>
          <a:xfrm>
            <a:off x="8612823" y="1354138"/>
            <a:ext cx="1062037" cy="300196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669" h="1891">
                <a:moveTo>
                  <a:pt x="0" y="1891"/>
                </a:moveTo>
                <a:lnTo>
                  <a:pt x="192" y="1891"/>
                </a:lnTo>
                <a:lnTo>
                  <a:pt x="410" y="0"/>
                </a:lnTo>
                <a:lnTo>
                  <a:pt x="669" y="9"/>
                </a:ln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lg"/>
          </a:ln>
        </p:spPr>
        <p:txBody>
          <a:bodyPr/>
          <a:p>
            <a:endParaRPr lang="zh-CN" altLang="en-US"/>
          </a:p>
        </p:txBody>
      </p:sp>
      <p:sp>
        <p:nvSpPr>
          <p:cNvPr id="65601" name="Freeform 65"/>
          <p:cNvSpPr/>
          <p:nvPr/>
        </p:nvSpPr>
        <p:spPr>
          <a:xfrm>
            <a:off x="8612823" y="1054100"/>
            <a:ext cx="1044575" cy="1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</a:cxnLst>
            <a:pathLst>
              <a:path w="658" h="1">
                <a:moveTo>
                  <a:pt x="0" y="0"/>
                </a:moveTo>
                <a:lnTo>
                  <a:pt x="658" y="0"/>
                </a:lnTo>
              </a:path>
            </a:pathLst>
          </a:custGeom>
          <a:noFill/>
          <a:ln w="381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med" len="med"/>
            <a:tailEnd type="arrow" w="med" len="lg"/>
          </a:ln>
        </p:spPr>
        <p:txBody>
          <a:bodyPr/>
          <a:p>
            <a:endParaRPr lang="zh-CN" altLang="en-US"/>
          </a:p>
        </p:txBody>
      </p:sp>
      <p:sp>
        <p:nvSpPr>
          <p:cNvPr id="65602" name="Freeform 66"/>
          <p:cNvSpPr/>
          <p:nvPr/>
        </p:nvSpPr>
        <p:spPr>
          <a:xfrm>
            <a:off x="8684260" y="4078288"/>
            <a:ext cx="1023938" cy="79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pathLst>
              <a:path w="645" h="5">
                <a:moveTo>
                  <a:pt x="0" y="0"/>
                </a:moveTo>
                <a:lnTo>
                  <a:pt x="645" y="5"/>
                </a:lnTo>
              </a:path>
            </a:pathLst>
          </a:custGeom>
          <a:noFill/>
          <a:ln w="381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med" len="med"/>
            <a:tailEnd type="arrow" w="med" len="lg"/>
          </a:ln>
        </p:spPr>
        <p:txBody>
          <a:bodyPr/>
          <a:p>
            <a:endParaRPr lang="zh-CN" altLang="en-US"/>
          </a:p>
        </p:txBody>
      </p:sp>
      <p:sp>
        <p:nvSpPr>
          <p:cNvPr id="65604" name="Rectangle 68"/>
          <p:cNvSpPr/>
          <p:nvPr/>
        </p:nvSpPr>
        <p:spPr>
          <a:xfrm>
            <a:off x="8256588" y="981075"/>
            <a:ext cx="4889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&amp;i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65605" name="Rectangle 69"/>
          <p:cNvSpPr/>
          <p:nvPr/>
        </p:nvSpPr>
        <p:spPr>
          <a:xfrm>
            <a:off x="8256588" y="98107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&amp;j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65606" name="Rectangle 70"/>
          <p:cNvSpPr/>
          <p:nvPr/>
        </p:nvSpPr>
        <p:spPr>
          <a:xfrm>
            <a:off x="8256588" y="4005263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&amp;j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65607" name="Rectangle 71"/>
          <p:cNvSpPr/>
          <p:nvPr/>
        </p:nvSpPr>
        <p:spPr>
          <a:xfrm>
            <a:off x="8185150" y="4005263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&amp;i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65639" name="Rectangle 103"/>
          <p:cNvSpPr/>
          <p:nvPr/>
        </p:nvSpPr>
        <p:spPr>
          <a:xfrm>
            <a:off x="0" y="5656263"/>
            <a:ext cx="9296400" cy="11652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Arial" panose="020B0604020202020204" pitchFamily="34" charset="0"/>
              </a:rPr>
              <a:t>多个指针可以指向同一个存储单元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457200" lvl="0" indent="-45720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但在某一时刻，一个指针变量只能指向一个存储单元</a:t>
            </a:r>
            <a:endParaRPr lang="zh-CN" altLang="en-US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9455" name="Rectangle 104"/>
          <p:cNvSpPr/>
          <p:nvPr/>
        </p:nvSpPr>
        <p:spPr>
          <a:xfrm>
            <a:off x="1066800" y="925830"/>
            <a:ext cx="4728210" cy="43554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</a:rPr>
              <a:t>int i,j,*p,*p1,*p2;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</a:rPr>
              <a:t>p1=&amp;i;</a:t>
            </a:r>
            <a:endParaRPr lang="en-US" altLang="zh-CN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</a:rPr>
              <a:t>p2=&amp;j;</a:t>
            </a:r>
            <a:endParaRPr lang="en-US" altLang="zh-CN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if (i&lt;j){		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457200" algn="l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p=p1;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457200" algn="l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p1=p2;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457200" algn="l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p2=p; 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}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printf(</a:t>
            </a:r>
            <a:r>
              <a:rPr lang="en-US" altLang="zh-CN" b="1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b="1" dirty="0">
                <a:latin typeface="Arial" panose="020B0604020202020204" pitchFamily="34" charset="0"/>
              </a:rPr>
              <a:t>%d %d</a:t>
            </a:r>
            <a:r>
              <a:rPr lang="en-US" altLang="zh-CN" b="1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b="1" dirty="0">
                <a:latin typeface="Arial" panose="020B0604020202020204" pitchFamily="34" charset="0"/>
              </a:rPr>
              <a:t>,*p1,*p2);</a:t>
            </a:r>
            <a:endParaRPr lang="en-US" altLang="zh-CN" b="1" dirty="0">
              <a:latin typeface="Arial" panose="020B0604020202020204" pitchFamily="34" charset="0"/>
            </a:endParaRPr>
          </a:p>
        </p:txBody>
      </p:sp>
      <p:sp>
        <p:nvSpPr>
          <p:cNvPr id="57347" name="Rectangle 4"/>
          <p:cNvSpPr>
            <a:spLocks noGrp="1"/>
          </p:cNvSpPr>
          <p:nvPr>
            <p:ph type="title"/>
          </p:nvPr>
        </p:nvSpPr>
        <p:spPr>
          <a:xfrm>
            <a:off x="0" y="0"/>
            <a:ext cx="8580120" cy="863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400" b="1" dirty="0">
                <a:solidFill>
                  <a:srgbClr val="FFC000"/>
                </a:solidFill>
                <a:effectLst/>
              </a:rPr>
              <a:t>【</a:t>
            </a:r>
            <a:r>
              <a:rPr lang="zh-CN" altLang="en-US" sz="2400" b="1" dirty="0">
                <a:solidFill>
                  <a:srgbClr val="FFC000"/>
                </a:solidFill>
                <a:effectLst/>
              </a:rPr>
              <a:t>例</a:t>
            </a:r>
            <a:r>
              <a:rPr lang="en-US" altLang="zh-CN" sz="2400" b="1" dirty="0">
                <a:solidFill>
                  <a:srgbClr val="FFC000"/>
                </a:solidFill>
                <a:effectLst/>
              </a:rPr>
              <a:t>7.3】 </a:t>
            </a:r>
            <a:r>
              <a:rPr lang="zh-CN" altLang="en-US" sz="2400" b="1" dirty="0">
                <a:solidFill>
                  <a:srgbClr val="FFC000"/>
                </a:solidFill>
                <a:effectLst/>
              </a:rPr>
              <a:t>输入两个整数，按从大到小顺序输出</a:t>
            </a:r>
            <a:br>
              <a:rPr lang="zh-CN" altLang="en-US" sz="2400" b="1" dirty="0">
                <a:solidFill>
                  <a:srgbClr val="FFC000"/>
                </a:solidFill>
                <a:effectLst/>
              </a:rPr>
            </a:br>
            <a:r>
              <a:rPr lang="en-US" altLang="zh-CN" sz="2400" b="1" dirty="0">
                <a:solidFill>
                  <a:srgbClr val="FFC000"/>
                </a:solidFill>
                <a:effectLst/>
              </a:rPr>
              <a:t>	</a:t>
            </a:r>
            <a:r>
              <a:rPr lang="zh-CN" altLang="en-US" sz="2400" b="1" dirty="0">
                <a:solidFill>
                  <a:srgbClr val="FFC000"/>
                </a:solidFill>
                <a:effectLst/>
              </a:rPr>
              <a:t>（用指针变量实现）</a:t>
            </a:r>
            <a:endParaRPr lang="zh-CN" altLang="en-US" sz="2400" b="1" dirty="0">
              <a:solidFill>
                <a:srgbClr val="FFC000"/>
              </a:solidFill>
              <a:effectLst/>
            </a:endParaRPr>
          </a:p>
        </p:txBody>
      </p:sp>
      <p:sp>
        <p:nvSpPr>
          <p:cNvPr id="2" name="Freeform 63"/>
          <p:cNvSpPr/>
          <p:nvPr/>
        </p:nvSpPr>
        <p:spPr>
          <a:xfrm>
            <a:off x="6800850" y="1548765"/>
            <a:ext cx="2874010" cy="143764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669" h="1891">
                <a:moveTo>
                  <a:pt x="0" y="1891"/>
                </a:moveTo>
                <a:lnTo>
                  <a:pt x="192" y="1891"/>
                </a:lnTo>
                <a:lnTo>
                  <a:pt x="410" y="0"/>
                </a:lnTo>
                <a:lnTo>
                  <a:pt x="669" y="9"/>
                </a:ln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ysDash"/>
            <a:round/>
            <a:headEnd type="none" w="med" len="med"/>
            <a:tailEnd type="arrow" w="med" len="lg"/>
          </a:ln>
        </p:spPr>
        <p:txBody>
          <a:bodyPr/>
          <a:p>
            <a:endParaRPr lang="zh-CN" altLang="en-US"/>
          </a:p>
        </p:txBody>
      </p:sp>
      <p:sp>
        <p:nvSpPr>
          <p:cNvPr id="3" name="圆角矩形标注 2"/>
          <p:cNvSpPr/>
          <p:nvPr/>
        </p:nvSpPr>
        <p:spPr>
          <a:xfrm>
            <a:off x="3048000" y="1371600"/>
            <a:ext cx="2450465" cy="533400"/>
          </a:xfrm>
          <a:prstGeom prst="wedgeRoundRectCallout">
            <a:avLst>
              <a:gd name="adj1" fmla="val -85397"/>
              <a:gd name="adj2" fmla="val 154047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if(*p1&lt;*p2)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8077200" y="5105400"/>
            <a:ext cx="4072890" cy="1051560"/>
          </a:xfrm>
          <a:prstGeom prst="wedgeRoundRectCallout">
            <a:avLst>
              <a:gd name="adj1" fmla="val 6828"/>
              <a:gd name="adj2" fmla="val -78743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【思考】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如何通过指针交换</a:t>
            </a:r>
            <a:r>
              <a:rPr lang="en-US" altLang="zh-CN" sz="3200" dirty="0">
                <a:latin typeface="Arial" panose="020B0604020202020204" pitchFamily="34" charset="0"/>
              </a:rPr>
              <a:t>i</a:t>
            </a:r>
            <a:r>
              <a:rPr lang="zh-CN" altLang="en-US" sz="3200" dirty="0">
                <a:latin typeface="Arial" panose="020B0604020202020204" pitchFamily="34" charset="0"/>
              </a:rPr>
              <a:t>和</a:t>
            </a:r>
            <a:r>
              <a:rPr lang="en-US" altLang="zh-CN" sz="3200" dirty="0">
                <a:latin typeface="Arial" panose="020B0604020202020204" pitchFamily="34" charset="0"/>
              </a:rPr>
              <a:t>j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656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656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04" grpId="0"/>
      <p:bldP spid="65605" grpId="0"/>
      <p:bldP spid="65606" grpId="0"/>
      <p:bldP spid="65607" grpId="0"/>
      <p:bldP spid="65639" grpId="0" animBg="1"/>
      <p:bldP spid="3" grpId="0" bldLvl="0" animBg="1"/>
      <p:bldP spid="3" grpId="1" animBg="1"/>
      <p:bldP spid="4" grpId="0" bldLvl="0" animBg="1"/>
      <p:bldP spid="4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09550"/>
            <a:ext cx="8229600" cy="5492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思考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编函数，交换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个变量的值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8851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904875"/>
            <a:ext cx="8497888" cy="5832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函数原型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swap0(int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a,int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swap1(int *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a,int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*b);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swap2(int *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a,int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*b);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主函数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 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int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m=10,n=11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交换前：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m=%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d,n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=%d\n",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m,n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//swap0(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m,n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//swap1(&amp;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m,&amp;n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swap2(&amp;m,&amp;n);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005F9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交换后：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m=%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d,n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=%d\n",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m,n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0;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005F9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10B130-12A4-4505-8C51-F0AD4D76E03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9874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152400"/>
            <a:ext cx="4102100" cy="3849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函数定义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swap0(int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a,int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int c;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c=a;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a=b;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b=c;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6CC77C-4F0A-4662-BE3D-2915AAB324E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9875" name="Rectangle 3"/>
          <p:cNvSpPr>
            <a:spLocks noChangeArrowheads="1"/>
          </p:cNvSpPr>
          <p:nvPr/>
        </p:nvSpPr>
        <p:spPr bwMode="auto">
          <a:xfrm>
            <a:off x="4884738" y="0"/>
            <a:ext cx="4787900" cy="753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void swap1(int *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a,int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* b)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{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int *p;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p=a;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a=b;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b=p;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void swap2(int *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a,int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*b)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{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int 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tmp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  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tmp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=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*a;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*a=*b;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*b=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tmp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;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62469" name="Lin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70" name="Line 5"/>
          <p:cNvSpPr/>
          <p:nvPr/>
        </p:nvSpPr>
        <p:spPr>
          <a:xfrm>
            <a:off x="4572000" y="3352800"/>
            <a:ext cx="7543800" cy="269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62471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5827713"/>
            <a:ext cx="2700338" cy="968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472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50" y="3200400"/>
            <a:ext cx="2898775" cy="8016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473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275" y="2157413"/>
            <a:ext cx="2898775" cy="801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标注 1"/>
          <p:cNvSpPr/>
          <p:nvPr/>
        </p:nvSpPr>
        <p:spPr>
          <a:xfrm>
            <a:off x="9983788" y="152400"/>
            <a:ext cx="1878012" cy="2895600"/>
          </a:xfrm>
          <a:prstGeom prst="wedgeRectCallout">
            <a:avLst>
              <a:gd name="adj1" fmla="val -220338"/>
              <a:gd name="adj2" fmla="val -8657"/>
            </a:avLst>
          </a:prstGeom>
          <a:solidFill>
            <a:schemeClr val="accent1"/>
          </a:solidFill>
          <a:ln w="349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【</a:t>
            </a:r>
            <a:r>
              <a:rPr lang="zh-CN" altLang="en-US" b="1" dirty="0">
                <a:solidFill>
                  <a:srgbClr val="FF0000"/>
                </a:solidFill>
              </a:rPr>
              <a:t>思考</a:t>
            </a:r>
            <a:r>
              <a:rPr lang="en-US" altLang="zh-CN" b="1" dirty="0">
                <a:solidFill>
                  <a:srgbClr val="FF0000"/>
                </a:solidFill>
              </a:rPr>
              <a:t>】</a:t>
            </a:r>
            <a:r>
              <a:rPr lang="zh-CN" altLang="en-US" sz="2000" b="1" dirty="0"/>
              <a:t>是否可以改成：</a:t>
            </a:r>
            <a:r>
              <a:rPr lang="en-US" altLang="zh-CN" b="1" dirty="0"/>
              <a:t>int *p;</a:t>
            </a:r>
            <a:endParaRPr lang="en-US" altLang="zh-CN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/>
              <a:t>*p=</a:t>
            </a:r>
            <a:r>
              <a:rPr lang="zh-CN" altLang="en-US" b="1" dirty="0"/>
              <a:t>*</a:t>
            </a:r>
            <a:r>
              <a:rPr lang="en-US" altLang="zh-CN" b="1" dirty="0"/>
              <a:t>a;</a:t>
            </a:r>
            <a:endParaRPr lang="en-US" altLang="zh-CN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/>
              <a:t>*</a:t>
            </a:r>
            <a:r>
              <a:rPr lang="en-US" altLang="zh-CN" b="1" dirty="0"/>
              <a:t>a=</a:t>
            </a:r>
            <a:r>
              <a:rPr lang="zh-CN" altLang="en-US" b="1" dirty="0"/>
              <a:t>*</a:t>
            </a:r>
            <a:r>
              <a:rPr lang="en-US" altLang="zh-CN" b="1" dirty="0"/>
              <a:t>b;</a:t>
            </a:r>
            <a:endParaRPr lang="en-US" altLang="zh-CN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/>
              <a:t>*</a:t>
            </a:r>
            <a:r>
              <a:rPr lang="en-US" altLang="zh-CN" b="1" dirty="0"/>
              <a:t>b=*p;</a:t>
            </a:r>
            <a:endParaRPr lang="zh-CN" altLang="en-US" b="1" dirty="0"/>
          </a:p>
        </p:txBody>
      </p:sp>
      <p:sp>
        <p:nvSpPr>
          <p:cNvPr id="62475" name="文本框 2"/>
          <p:cNvSpPr txBox="1"/>
          <p:nvPr/>
        </p:nvSpPr>
        <p:spPr>
          <a:xfrm>
            <a:off x="352425" y="5246688"/>
            <a:ext cx="4318000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</a:rPr>
              <a:t>swap0(m,n);</a:t>
            </a:r>
            <a:endParaRPr lang="en-US" altLang="zh-CN" sz="28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</a:rPr>
              <a:t>swap1(&amp;m,&amp;n);</a:t>
            </a:r>
            <a:endParaRPr lang="en-US" altLang="zh-CN" sz="28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</a:rPr>
              <a:t>swap2(&amp;m,&amp;n);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62476" name="矩形 2"/>
          <p:cNvSpPr/>
          <p:nvPr/>
        </p:nvSpPr>
        <p:spPr>
          <a:xfrm>
            <a:off x="34925" y="4859338"/>
            <a:ext cx="3279775" cy="387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/>
              <a:t>各自的调用形式如下：</a:t>
            </a:r>
            <a:endParaRPr lang="en-US" altLang="zh-CN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0658" name="Rectangle 2"/>
          <p:cNvSpPr>
            <a:spLocks noGrp="1"/>
          </p:cNvSpPr>
          <p:nvPr>
            <p:ph idx="1"/>
          </p:nvPr>
        </p:nvSpPr>
        <p:spPr>
          <a:xfrm>
            <a:off x="2540" y="633730"/>
            <a:ext cx="9115425" cy="60007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  <a:spcAft>
                <a:spcPct val="20000"/>
              </a:spcAft>
            </a:pPr>
            <a:r>
              <a:rPr lang="zh-CN" altLang="en-US" sz="2400" b="1" dirty="0">
                <a:effectLst/>
                <a:latin typeface="Arial" panose="020B0604020202020204" pitchFamily="34" charset="0"/>
              </a:rPr>
              <a:t>有时可能不小心生成</a:t>
            </a:r>
            <a:r>
              <a:rPr lang="zh-CN" altLang="en-US" sz="2400" b="1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无效指针 （</a:t>
            </a:r>
            <a:r>
              <a:rPr lang="en-US" altLang="zh-CN" sz="2400" b="1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Invalid  p</a:t>
            </a:r>
            <a:r>
              <a:rPr lang="en-US" altLang="zh-CN" sz="24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ointer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</a:t>
            </a:r>
            <a:endParaRPr lang="zh-CN" altLang="en-US" sz="24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spcAft>
                <a:spcPct val="20000"/>
              </a:spcAft>
            </a:pPr>
            <a:r>
              <a:rPr lang="zh-CN" altLang="en-US" sz="2400" b="1" dirty="0">
                <a:effectLst/>
                <a:latin typeface="Arial" panose="020B0604020202020204" pitchFamily="34" charset="0"/>
              </a:rPr>
              <a:t>无效指针：没有确定的指向，也不是</a:t>
            </a:r>
            <a:r>
              <a:rPr lang="en-US" altLang="zh-CN" sz="2400" b="1" dirty="0">
                <a:effectLst/>
                <a:latin typeface="Arial" panose="020B0604020202020204" pitchFamily="34" charset="0"/>
              </a:rPr>
              <a:t>NULL</a:t>
            </a:r>
            <a:endParaRPr lang="zh-CN" altLang="en-US" sz="2400" b="1" dirty="0">
              <a:effectLst/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2400" b="1" noProof="0" dirty="0">
                <a:ln>
                  <a:noFill/>
                </a:ln>
                <a:solidFill>
                  <a:srgbClr val="F005F9"/>
                </a:solidFill>
                <a:uLnTx/>
                <a:uFillTx/>
                <a:cs typeface="+mn-cs"/>
              </a:rPr>
              <a:t>   程序中存在无效指针，不是好的程序设计风格</a:t>
            </a:r>
            <a:endParaRPr lang="en-US" altLang="zh-CN" sz="2400" b="1" noProof="0" dirty="0">
              <a:ln>
                <a:noFill/>
              </a:ln>
              <a:solidFill>
                <a:srgbClr val="F005F9"/>
              </a:solidFill>
              <a:uLnTx/>
              <a:uFillTx/>
              <a:cs typeface="+mn-cs"/>
            </a:endParaRPr>
          </a:p>
          <a:p>
            <a:pPr lvl="1" eaLnBrk="1" hangingPunct="1">
              <a:lnSpc>
                <a:spcPct val="80000"/>
              </a:lnSpc>
              <a:spcAft>
                <a:spcPct val="20000"/>
              </a:spcAft>
            </a:pPr>
            <a:r>
              <a:rPr lang="zh-CN" altLang="en-US" sz="2400" b="1" dirty="0">
                <a:effectLst/>
                <a:latin typeface="Arial" panose="020B0604020202020204" pitchFamily="34" charset="0"/>
              </a:rPr>
              <a:t>产生无效指针的</a:t>
            </a:r>
            <a:r>
              <a:rPr lang="en-US" altLang="zh-CN" sz="2400" b="1" noProof="0" dirty="0">
                <a:ln>
                  <a:noFill/>
                </a:ln>
                <a:solidFill>
                  <a:srgbClr val="F005F9"/>
                </a:solidFill>
                <a:uLnTx/>
                <a:uFillTx/>
                <a:cs typeface="+mn-cs"/>
              </a:rPr>
              <a:t>原因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很多，例如</a:t>
            </a:r>
            <a:endParaRPr lang="zh-CN" altLang="en-US" sz="2400" b="1" dirty="0"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80000"/>
              </a:lnSpc>
              <a:spcAft>
                <a:spcPct val="20000"/>
              </a:spcAft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说明指针变量后还没有给它赋值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3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effectLst/>
                <a:latin typeface="Arial" panose="020B0604020202020204" pitchFamily="34" charset="0"/>
              </a:rPr>
              <a:t>指针被定义后，必须将指针和一个特定的变量进行关联后，才可以使用指针，即</a:t>
            </a:r>
            <a:r>
              <a:rPr lang="zh-CN" altLang="en-US" sz="3200" b="1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必须先赋值再使用</a:t>
            </a:r>
            <a:endParaRPr lang="zh-CN" altLang="en-US" sz="1800" b="1" dirty="0"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80000"/>
              </a:lnSpc>
              <a:spcAft>
                <a:spcPct val="20000"/>
              </a:spcAft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把整型变量转换成指针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80000"/>
              </a:lnSpc>
              <a:spcAft>
                <a:spcPct val="20000"/>
              </a:spcAft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回收为指针所指对象分配存储空间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80000"/>
              </a:lnSpc>
              <a:spcAft>
                <a:spcPct val="20000"/>
              </a:spcAft>
              <a:buNone/>
            </a:pPr>
            <a:r>
              <a:rPr lang="zh-CN" altLang="en-US" sz="2000" b="1" dirty="0">
                <a:effectLst/>
                <a:latin typeface="Arial" panose="020B0604020202020204" pitchFamily="34" charset="0"/>
              </a:rPr>
              <a:t>		例：</a:t>
            </a:r>
            <a:r>
              <a:rPr lang="en-US" altLang="zh-CN" sz="2000" b="1" dirty="0">
                <a:effectLst/>
                <a:latin typeface="Arial" panose="020B0604020202020204" pitchFamily="34" charset="0"/>
              </a:rPr>
              <a:t>float *p; </a:t>
            </a:r>
            <a:endParaRPr lang="en-US" altLang="zh-CN" sz="2000" b="1" dirty="0"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2000" b="1" dirty="0">
                <a:effectLst/>
                <a:latin typeface="Arial" panose="020B0604020202020204" pitchFamily="34" charset="0"/>
              </a:rPr>
              <a:t>                 p=(float *)malloc(sizeof(float));</a:t>
            </a:r>
            <a:endParaRPr lang="en-US" altLang="zh-CN" sz="2000" b="1" dirty="0"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2000" b="1" dirty="0">
                <a:effectLst/>
                <a:latin typeface="Arial" panose="020B0604020202020204" pitchFamily="34" charset="0"/>
              </a:rPr>
              <a:t>			……</a:t>
            </a:r>
            <a:endParaRPr lang="en-US" altLang="zh-CN" sz="2000" b="1" dirty="0">
              <a:effectLst/>
              <a:latin typeface="Arial" panose="020B0604020202020204" pitchFamily="34" charset="0"/>
            </a:endParaRPr>
          </a:p>
          <a:p>
            <a:pPr lvl="2" eaLnBrk="1" hangingPunct="1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2000" b="1" dirty="0">
                <a:effectLst/>
                <a:latin typeface="Arial" panose="020B0604020202020204" pitchFamily="34" charset="0"/>
              </a:rPr>
              <a:t>		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lang="en-US" altLang="zh-CN" sz="2400" b="1" noProof="0" dirty="0">
                <a:ln>
                  <a:noFill/>
                </a:ln>
                <a:solidFill>
                  <a:srgbClr val="F005F9"/>
                </a:solidFill>
                <a:uLnTx/>
                <a:uFillTx/>
                <a:cs typeface="+mn-cs"/>
              </a:rPr>
              <a:t> free(p);</a:t>
            </a:r>
            <a:endParaRPr lang="en-US" altLang="zh-CN" sz="2400" b="1" noProof="0" dirty="0">
              <a:ln>
                <a:noFill/>
              </a:ln>
              <a:solidFill>
                <a:srgbClr val="F005F9"/>
              </a:solidFill>
              <a:uLnTx/>
              <a:uFillTx/>
              <a:cs typeface="+mn-cs"/>
            </a:endParaRPr>
          </a:p>
          <a:p>
            <a:pPr lvl="2" eaLnBrk="1" hangingPunct="1">
              <a:lnSpc>
                <a:spcPct val="80000"/>
              </a:lnSpc>
              <a:spcAft>
                <a:spcPct val="20000"/>
              </a:spcAft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指针运算超出数组范围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3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8077200" y="6488113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85BB60-E994-4678-96E9-DB9EB26D0EE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0659" name="Rectangle 3"/>
          <p:cNvSpPr/>
          <p:nvPr/>
        </p:nvSpPr>
        <p:spPr>
          <a:xfrm>
            <a:off x="9094788" y="4387850"/>
            <a:ext cx="2563812" cy="431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int *p; *p=*p+10;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pSp>
        <p:nvGrpSpPr>
          <p:cNvPr id="710660" name="Group 4"/>
          <p:cNvGrpSpPr/>
          <p:nvPr/>
        </p:nvGrpSpPr>
        <p:grpSpPr>
          <a:xfrm>
            <a:off x="9094788" y="3071813"/>
            <a:ext cx="2673036" cy="1316038"/>
            <a:chOff x="4195" y="1150"/>
            <a:chExt cx="1685" cy="829"/>
          </a:xfrm>
        </p:grpSpPr>
        <p:sp>
          <p:nvSpPr>
            <p:cNvPr id="63519" name="Rectangle 5"/>
            <p:cNvSpPr/>
            <p:nvPr/>
          </p:nvSpPr>
          <p:spPr>
            <a:xfrm>
              <a:off x="4195" y="1150"/>
              <a:ext cx="1685" cy="64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int m=10,*</a:t>
              </a:r>
              <a:r>
                <a:rPr lang="en-US" altLang="zh-CN" sz="2400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p=&amp;m</a:t>
              </a:r>
              <a:r>
                <a:rPr lang="en-US" altLang="zh-CN" sz="2400" b="1" dirty="0">
                  <a:latin typeface="Arial" panose="020B0604020202020204" pitchFamily="34" charset="0"/>
                </a:rPr>
                <a:t>; </a:t>
              </a:r>
              <a:endParaRPr lang="en-US" altLang="zh-CN" sz="2400" b="1" dirty="0">
                <a:latin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*p=*p+10;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3520" name="AutoShape 6"/>
            <p:cNvSpPr/>
            <p:nvPr/>
          </p:nvSpPr>
          <p:spPr>
            <a:xfrm>
              <a:off x="4831" y="1797"/>
              <a:ext cx="136" cy="182"/>
            </a:xfrm>
            <a:prstGeom prst="upArrow">
              <a:avLst>
                <a:gd name="adj1" fmla="val 50000"/>
                <a:gd name="adj2" fmla="val 33449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</p:grpSp>
      <p:grpSp>
        <p:nvGrpSpPr>
          <p:cNvPr id="710663" name="Group 7"/>
          <p:cNvGrpSpPr/>
          <p:nvPr/>
        </p:nvGrpSpPr>
        <p:grpSpPr>
          <a:xfrm>
            <a:off x="11542713" y="4387850"/>
            <a:ext cx="288925" cy="447675"/>
            <a:chOff x="4468" y="1979"/>
            <a:chExt cx="816" cy="272"/>
          </a:xfrm>
        </p:grpSpPr>
        <p:sp>
          <p:nvSpPr>
            <p:cNvPr id="63517" name="Line 8"/>
            <p:cNvSpPr/>
            <p:nvPr/>
          </p:nvSpPr>
          <p:spPr>
            <a:xfrm>
              <a:off x="4468" y="1979"/>
              <a:ext cx="816" cy="272"/>
            </a:xfrm>
            <a:prstGeom prst="line">
              <a:avLst/>
            </a:prstGeom>
            <a:ln w="28575" cap="flat" cmpd="sng">
              <a:solidFill>
                <a:srgbClr val="F005F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8" name="Line 9"/>
            <p:cNvSpPr/>
            <p:nvPr/>
          </p:nvSpPr>
          <p:spPr>
            <a:xfrm flipH="1">
              <a:off x="4468" y="1979"/>
              <a:ext cx="816" cy="272"/>
            </a:xfrm>
            <a:prstGeom prst="line">
              <a:avLst/>
            </a:prstGeom>
            <a:ln w="28575" cap="flat" cmpd="sng">
              <a:solidFill>
                <a:srgbClr val="F005F9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10666" name="Rectangle 10"/>
          <p:cNvSpPr/>
          <p:nvPr/>
        </p:nvSpPr>
        <p:spPr>
          <a:xfrm>
            <a:off x="4730750" y="3556000"/>
            <a:ext cx="3527425" cy="45212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p196:</a:t>
            </a:r>
            <a:r>
              <a:rPr lang="en-US" altLang="zh-CN" sz="2400" b="1" dirty="0">
                <a:latin typeface="Arial" panose="020B0604020202020204" pitchFamily="34" charset="0"/>
              </a:rPr>
              <a:t>int *px=(int *)4800;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10667" name="Rectangle 11"/>
          <p:cNvSpPr/>
          <p:nvPr/>
        </p:nvSpPr>
        <p:spPr>
          <a:xfrm>
            <a:off x="4648200" y="6019165"/>
            <a:ext cx="3816350" cy="503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int data[5];int *p=&amp;data[5];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pSp>
        <p:nvGrpSpPr>
          <p:cNvPr id="710668" name="Group 12"/>
          <p:cNvGrpSpPr/>
          <p:nvPr/>
        </p:nvGrpSpPr>
        <p:grpSpPr>
          <a:xfrm>
            <a:off x="8534083" y="6056630"/>
            <a:ext cx="285750" cy="431800"/>
            <a:chOff x="4468" y="1979"/>
            <a:chExt cx="816" cy="272"/>
          </a:xfrm>
        </p:grpSpPr>
        <p:sp>
          <p:nvSpPr>
            <p:cNvPr id="63515" name="Line 13"/>
            <p:cNvSpPr/>
            <p:nvPr/>
          </p:nvSpPr>
          <p:spPr>
            <a:xfrm>
              <a:off x="4468" y="1979"/>
              <a:ext cx="816" cy="272"/>
            </a:xfrm>
            <a:prstGeom prst="line">
              <a:avLst/>
            </a:prstGeom>
            <a:ln w="28575" cap="flat" cmpd="sng">
              <a:solidFill>
                <a:srgbClr val="F005F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6" name="Line 14"/>
            <p:cNvSpPr/>
            <p:nvPr/>
          </p:nvSpPr>
          <p:spPr>
            <a:xfrm flipH="1">
              <a:off x="4468" y="1979"/>
              <a:ext cx="816" cy="272"/>
            </a:xfrm>
            <a:prstGeom prst="line">
              <a:avLst/>
            </a:prstGeom>
            <a:ln w="28575" cap="flat" cmpd="sng">
              <a:solidFill>
                <a:srgbClr val="F005F9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10671" name="Group 15"/>
          <p:cNvGrpSpPr/>
          <p:nvPr/>
        </p:nvGrpSpPr>
        <p:grpSpPr>
          <a:xfrm>
            <a:off x="9094788" y="120650"/>
            <a:ext cx="2879725" cy="2379663"/>
            <a:chOff x="295" y="799"/>
            <a:chExt cx="1814" cy="1815"/>
          </a:xfrm>
        </p:grpSpPr>
        <p:sp>
          <p:nvSpPr>
            <p:cNvPr id="63512" name="Rectangle 16"/>
            <p:cNvSpPr/>
            <p:nvPr/>
          </p:nvSpPr>
          <p:spPr>
            <a:xfrm>
              <a:off x="295" y="799"/>
              <a:ext cx="1814" cy="18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None/>
              </a:pPr>
              <a:endParaRPr lang="zh-CN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3513" name="Rectangle 17"/>
            <p:cNvSpPr/>
            <p:nvPr/>
          </p:nvSpPr>
          <p:spPr>
            <a:xfrm>
              <a:off x="703" y="2024"/>
              <a:ext cx="771" cy="31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63514" name="Text Box 18"/>
            <p:cNvSpPr txBox="1"/>
            <p:nvPr/>
          </p:nvSpPr>
          <p:spPr>
            <a:xfrm>
              <a:off x="340" y="2024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p: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10675" name="Group 19"/>
          <p:cNvGrpSpPr/>
          <p:nvPr/>
        </p:nvGrpSpPr>
        <p:grpSpPr>
          <a:xfrm>
            <a:off x="9153525" y="561975"/>
            <a:ext cx="1800225" cy="528638"/>
            <a:chOff x="340" y="1344"/>
            <a:chExt cx="1134" cy="333"/>
          </a:xfrm>
        </p:grpSpPr>
        <p:sp>
          <p:nvSpPr>
            <p:cNvPr id="63509" name="Rectangle 20"/>
            <p:cNvSpPr/>
            <p:nvPr/>
          </p:nvSpPr>
          <p:spPr>
            <a:xfrm>
              <a:off x="703" y="1344"/>
              <a:ext cx="771" cy="31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63510" name="Text Box 21"/>
            <p:cNvSpPr txBox="1"/>
            <p:nvPr/>
          </p:nvSpPr>
          <p:spPr>
            <a:xfrm>
              <a:off x="340" y="1389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m: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3511" name="Text Box 22"/>
            <p:cNvSpPr txBox="1"/>
            <p:nvPr/>
          </p:nvSpPr>
          <p:spPr>
            <a:xfrm>
              <a:off x="884" y="1389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10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10679" name="Group 23"/>
          <p:cNvGrpSpPr/>
          <p:nvPr/>
        </p:nvGrpSpPr>
        <p:grpSpPr>
          <a:xfrm>
            <a:off x="10017125" y="704850"/>
            <a:ext cx="1512888" cy="1465263"/>
            <a:chOff x="884" y="1434"/>
            <a:chExt cx="953" cy="923"/>
          </a:xfrm>
        </p:grpSpPr>
        <p:sp>
          <p:nvSpPr>
            <p:cNvPr id="63505" name="Line 24"/>
            <p:cNvSpPr/>
            <p:nvPr/>
          </p:nvSpPr>
          <p:spPr>
            <a:xfrm>
              <a:off x="1474" y="2160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06" name="Line 25"/>
            <p:cNvSpPr/>
            <p:nvPr/>
          </p:nvSpPr>
          <p:spPr>
            <a:xfrm flipV="1">
              <a:off x="1837" y="1434"/>
              <a:ext cx="0" cy="7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07" name="Line 26"/>
            <p:cNvSpPr/>
            <p:nvPr/>
          </p:nvSpPr>
          <p:spPr>
            <a:xfrm flipH="1">
              <a:off x="1474" y="143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3508" name="Text Box 27"/>
            <p:cNvSpPr txBox="1"/>
            <p:nvPr/>
          </p:nvSpPr>
          <p:spPr>
            <a:xfrm>
              <a:off x="884" y="2069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&amp;m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63501" name="Rectangle 2"/>
          <p:cNvSpPr>
            <a:spLocks noGrp="1"/>
          </p:cNvSpPr>
          <p:nvPr>
            <p:ph type="title"/>
          </p:nvPr>
        </p:nvSpPr>
        <p:spPr>
          <a:xfrm>
            <a:off x="-52387" y="19050"/>
            <a:ext cx="5724525" cy="47625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600" b="1" dirty="0">
                <a:effectLst/>
                <a:latin typeface="宋体" panose="02010600030101010101" pitchFamily="2" charset="-122"/>
              </a:rPr>
              <a:t>§7.2.3 </a:t>
            </a:r>
            <a:r>
              <a:rPr lang="zh-CN" altLang="en-US" sz="3600" b="1" dirty="0">
                <a:effectLst/>
                <a:latin typeface="Arial" panose="020B0604020202020204" pitchFamily="34" charset="0"/>
              </a:rPr>
              <a:t>无效指针与空</a:t>
            </a:r>
            <a:r>
              <a:rPr lang="zh-CN" altLang="en-US" sz="3600" b="1" dirty="0">
                <a:effectLst/>
                <a:latin typeface="Arial" panose="020B0604020202020204" pitchFamily="34" charset="0"/>
              </a:rPr>
              <a:t>指针</a:t>
            </a:r>
            <a:endParaRPr lang="zh-CN" altLang="en-US" sz="3600" b="1" dirty="0">
              <a:effectLst/>
              <a:latin typeface="Arial" panose="020B0604020202020204" pitchFamily="34" charset="0"/>
            </a:endParaRPr>
          </a:p>
        </p:txBody>
      </p:sp>
      <p:grpSp>
        <p:nvGrpSpPr>
          <p:cNvPr id="31" name="Group 7"/>
          <p:cNvGrpSpPr/>
          <p:nvPr/>
        </p:nvGrpSpPr>
        <p:grpSpPr>
          <a:xfrm>
            <a:off x="8305800" y="3651250"/>
            <a:ext cx="288925" cy="447675"/>
            <a:chOff x="4468" y="1979"/>
            <a:chExt cx="816" cy="272"/>
          </a:xfrm>
        </p:grpSpPr>
        <p:sp>
          <p:nvSpPr>
            <p:cNvPr id="63503" name="Line 8"/>
            <p:cNvSpPr/>
            <p:nvPr/>
          </p:nvSpPr>
          <p:spPr>
            <a:xfrm>
              <a:off x="4468" y="1979"/>
              <a:ext cx="816" cy="272"/>
            </a:xfrm>
            <a:prstGeom prst="line">
              <a:avLst/>
            </a:prstGeom>
            <a:ln w="28575" cap="flat" cmpd="sng">
              <a:solidFill>
                <a:srgbClr val="F005F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04" name="Line 9"/>
            <p:cNvSpPr/>
            <p:nvPr/>
          </p:nvSpPr>
          <p:spPr>
            <a:xfrm flipH="1">
              <a:off x="4468" y="1979"/>
              <a:ext cx="816" cy="272"/>
            </a:xfrm>
            <a:prstGeom prst="line">
              <a:avLst/>
            </a:prstGeom>
            <a:ln w="28575" cap="flat" cmpd="sng">
              <a:solidFill>
                <a:srgbClr val="F005F9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1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1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1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59" grpId="0" animBg="1"/>
      <p:bldP spid="710666" grpId="0" bldLvl="0" animBg="1"/>
      <p:bldP spid="710666" grpId="1" animBg="1"/>
      <p:bldP spid="710667" grpId="0" bldLvl="0" animBg="1"/>
      <p:bldP spid="710667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>
            <a:spLocks noGrp="1"/>
          </p:cNvSpPr>
          <p:nvPr>
            <p:ph type="title"/>
          </p:nvPr>
        </p:nvSpPr>
        <p:spPr>
          <a:xfrm>
            <a:off x="76200" y="76200"/>
            <a:ext cx="4150995" cy="509905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600" b="1" dirty="0">
                <a:effectLst/>
                <a:latin typeface="Arial" panose="020B0604020202020204" pitchFamily="34" charset="0"/>
              </a:rPr>
              <a:t>空指针( NULL )</a:t>
            </a:r>
            <a:endParaRPr lang="zh-CN" altLang="en-US" sz="36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-76200" y="1371600"/>
            <a:ext cx="11405870" cy="4600575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ü"/>
              <a:defRPr/>
            </a:pP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不指向任何变量或函数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在系统文件stdio.h中定义，值为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ü"/>
              <a:defRPr/>
            </a:pP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+mn-cs"/>
                <a:sym typeface="+mn-ea"/>
              </a:rPr>
              <a:t>属于所有指针类型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ü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应用：判断指针变量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的值是否为空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if(p!= NULL)……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if(p==NULL)……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!= 0)……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ü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保证指针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+mn-cs"/>
              </a:rPr>
              <a:t>在没有指向有效对象时,取值为NULL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是良好的编程风格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+mn-cs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 = NULL 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		*p = 3 ;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//*p=3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发生错误，因为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不指向任何变量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隶书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隶书" pitchFamily="2" charset="-122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93C392-BB8A-4701-81DD-984A1B39B55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" y="609600"/>
            <a:ext cx="10532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charset="0"/>
              <a:buNone/>
              <a:defRPr/>
            </a:pPr>
            <a:r>
              <a:rPr lang="en-US" altLang="zh-CN" sz="3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int *p1;	char *p2;</a:t>
            </a:r>
            <a:r>
              <a:rPr lang="en-US" altLang="zh-CN" sz="36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	p1=NULL; 	p2=NULL;</a:t>
            </a:r>
            <a:endParaRPr lang="en-US" altLang="zh-CN" sz="360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2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11430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4000" b="1" dirty="0">
                <a:effectLst/>
                <a:latin typeface="Arial" panose="020B0604020202020204" pitchFamily="34" charset="0"/>
              </a:rPr>
              <a:t>【</a:t>
            </a:r>
            <a:r>
              <a:rPr lang="zh-CN" altLang="en-US" sz="4000" b="1" dirty="0">
                <a:effectLst/>
                <a:latin typeface="Arial" panose="020B0604020202020204" pitchFamily="34" charset="0"/>
              </a:rPr>
              <a:t>例</a:t>
            </a:r>
            <a:r>
              <a:rPr lang="en-US" altLang="zh-CN" sz="4000" b="1" dirty="0">
                <a:effectLst/>
                <a:latin typeface="Arial" panose="020B0604020202020204" pitchFamily="34" charset="0"/>
              </a:rPr>
              <a:t>7.4】</a:t>
            </a:r>
            <a:r>
              <a:rPr lang="zh-CN" altLang="en-US" sz="4000" b="1" dirty="0">
                <a:effectLst/>
                <a:latin typeface="Arial" panose="020B0604020202020204" pitchFamily="34" charset="0"/>
              </a:rPr>
              <a:t>分析下述程序片段的执行结果</a:t>
            </a:r>
            <a:endParaRPr lang="zh-CN" altLang="en-US" sz="40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5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2512FC-D7AE-4214-AB9C-ADC16E49A64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08" name="Rectangle 4"/>
          <p:cNvSpPr/>
          <p:nvPr/>
        </p:nvSpPr>
        <p:spPr>
          <a:xfrm>
            <a:off x="1774825" y="1341438"/>
            <a:ext cx="2665413" cy="5299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int  *p , *q , u , v 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q = &amp;u 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*q = 3 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p = &amp;v 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*p = *q 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*p = 5 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p = q 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*p = 7 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p = NULL 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*p = 3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;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72746" name="Group 42"/>
          <p:cNvGraphicFramePr>
            <a:graphicFrameLocks noGrp="1"/>
          </p:cNvGraphicFramePr>
          <p:nvPr/>
        </p:nvGraphicFramePr>
        <p:xfrm>
          <a:off x="5808663" y="2565400"/>
          <a:ext cx="2879725" cy="2663826"/>
        </p:xfrm>
        <a:graphic>
          <a:graphicData uri="http://schemas.openxmlformats.org/drawingml/2006/table">
            <a:tbl>
              <a:tblPr/>
              <a:tblGrid>
                <a:gridCol w="842962"/>
                <a:gridCol w="2036763"/>
              </a:tblGrid>
              <a:tr h="6667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p: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5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q: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u: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5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v: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748" name="Line 44"/>
          <p:cNvSpPr/>
          <p:nvPr/>
        </p:nvSpPr>
        <p:spPr>
          <a:xfrm>
            <a:off x="1847850" y="1844675"/>
            <a:ext cx="2376488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49" name="Line 45"/>
          <p:cNvSpPr/>
          <p:nvPr/>
        </p:nvSpPr>
        <p:spPr>
          <a:xfrm>
            <a:off x="1847850" y="2349500"/>
            <a:ext cx="1368425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50" name="Text Box 46"/>
          <p:cNvSpPr txBox="1"/>
          <p:nvPr/>
        </p:nvSpPr>
        <p:spPr>
          <a:xfrm>
            <a:off x="7175500" y="3284538"/>
            <a:ext cx="1079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&amp;u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cxnSp>
        <p:nvCxnSpPr>
          <p:cNvPr id="72751" name="AutoShape 47"/>
          <p:cNvCxnSpPr/>
          <p:nvPr/>
        </p:nvCxnSpPr>
        <p:spPr>
          <a:xfrm>
            <a:off x="8328025" y="3500438"/>
            <a:ext cx="360363" cy="717550"/>
          </a:xfrm>
          <a:prstGeom prst="bentConnector3">
            <a:avLst>
              <a:gd name="adj1" fmla="val 267403"/>
            </a:avLst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lg"/>
          </a:ln>
        </p:spPr>
      </p:cxnSp>
      <p:sp>
        <p:nvSpPr>
          <p:cNvPr id="72752" name="Text Box 48"/>
          <p:cNvSpPr txBox="1"/>
          <p:nvPr/>
        </p:nvSpPr>
        <p:spPr>
          <a:xfrm>
            <a:off x="7175500" y="4005263"/>
            <a:ext cx="1079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2753" name="Line 49"/>
          <p:cNvSpPr/>
          <p:nvPr/>
        </p:nvSpPr>
        <p:spPr>
          <a:xfrm>
            <a:off x="1847850" y="2852738"/>
            <a:ext cx="1368425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55" name="Line 51"/>
          <p:cNvSpPr/>
          <p:nvPr/>
        </p:nvSpPr>
        <p:spPr>
          <a:xfrm>
            <a:off x="1847850" y="3429000"/>
            <a:ext cx="1368425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56" name="Text Box 52"/>
          <p:cNvSpPr txBox="1"/>
          <p:nvPr/>
        </p:nvSpPr>
        <p:spPr>
          <a:xfrm>
            <a:off x="7175500" y="2636838"/>
            <a:ext cx="1079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&amp;v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cxnSp>
        <p:nvCxnSpPr>
          <p:cNvPr id="72757" name="AutoShape 53"/>
          <p:cNvCxnSpPr/>
          <p:nvPr/>
        </p:nvCxnSpPr>
        <p:spPr>
          <a:xfrm rot="-5400000" flipH="1">
            <a:off x="7377113" y="3586163"/>
            <a:ext cx="2044700" cy="576262"/>
          </a:xfrm>
          <a:prstGeom prst="bentConnector4">
            <a:avLst>
              <a:gd name="adj1" fmla="val -625"/>
              <a:gd name="adj2" fmla="val 243523"/>
            </a:avLst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lg"/>
          </a:ln>
        </p:spPr>
      </p:cxnSp>
      <p:sp>
        <p:nvSpPr>
          <p:cNvPr id="72758" name="Line 54"/>
          <p:cNvSpPr/>
          <p:nvPr/>
        </p:nvSpPr>
        <p:spPr>
          <a:xfrm>
            <a:off x="1847850" y="3933825"/>
            <a:ext cx="1368425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59" name="Text Box 55"/>
          <p:cNvSpPr txBox="1"/>
          <p:nvPr/>
        </p:nvSpPr>
        <p:spPr>
          <a:xfrm>
            <a:off x="7175500" y="4652963"/>
            <a:ext cx="1079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2760" name="Line 56"/>
          <p:cNvSpPr/>
          <p:nvPr/>
        </p:nvSpPr>
        <p:spPr>
          <a:xfrm>
            <a:off x="1847850" y="4508500"/>
            <a:ext cx="1368425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61" name="Text Box 57"/>
          <p:cNvSpPr txBox="1"/>
          <p:nvPr/>
        </p:nvSpPr>
        <p:spPr>
          <a:xfrm>
            <a:off x="7175500" y="4652963"/>
            <a:ext cx="1079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2762" name="Line 58"/>
          <p:cNvSpPr/>
          <p:nvPr/>
        </p:nvSpPr>
        <p:spPr>
          <a:xfrm>
            <a:off x="1847850" y="5013325"/>
            <a:ext cx="1368425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63" name="Text Box 59"/>
          <p:cNvSpPr txBox="1"/>
          <p:nvPr/>
        </p:nvSpPr>
        <p:spPr>
          <a:xfrm>
            <a:off x="7175500" y="2636838"/>
            <a:ext cx="1079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&amp;u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cxnSp>
        <p:nvCxnSpPr>
          <p:cNvPr id="72764" name="AutoShape 60"/>
          <p:cNvCxnSpPr>
            <a:stCxn id="72763" idx="3"/>
            <a:endCxn id="67627" idx="3"/>
          </p:cNvCxnSpPr>
          <p:nvPr/>
        </p:nvCxnSpPr>
        <p:spPr>
          <a:xfrm>
            <a:off x="8255000" y="2865438"/>
            <a:ext cx="433388" cy="1539875"/>
          </a:xfrm>
          <a:prstGeom prst="bentConnector3">
            <a:avLst>
              <a:gd name="adj1" fmla="val 199634"/>
            </a:avLst>
          </a:prstGeom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arrow" w="med" len="lg"/>
          </a:ln>
        </p:spPr>
      </p:cxnSp>
      <p:sp>
        <p:nvSpPr>
          <p:cNvPr id="72765" name="Line 61"/>
          <p:cNvSpPr/>
          <p:nvPr/>
        </p:nvSpPr>
        <p:spPr>
          <a:xfrm>
            <a:off x="1847850" y="5589588"/>
            <a:ext cx="1368425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67" name="Text Box 63"/>
          <p:cNvSpPr txBox="1"/>
          <p:nvPr/>
        </p:nvSpPr>
        <p:spPr>
          <a:xfrm>
            <a:off x="7175500" y="4005263"/>
            <a:ext cx="1079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7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2768" name="Line 64"/>
          <p:cNvSpPr/>
          <p:nvPr/>
        </p:nvSpPr>
        <p:spPr>
          <a:xfrm>
            <a:off x="1847850" y="6165850"/>
            <a:ext cx="1368425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69" name="Text Box 65"/>
          <p:cNvSpPr txBox="1"/>
          <p:nvPr/>
        </p:nvSpPr>
        <p:spPr>
          <a:xfrm>
            <a:off x="7175500" y="2636838"/>
            <a:ext cx="1079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rgbClr val="F005F9"/>
                </a:solidFill>
                <a:latin typeface="Arial" panose="020B0604020202020204" pitchFamily="34" charset="0"/>
              </a:rPr>
              <a:t>NULL</a:t>
            </a:r>
            <a:endParaRPr lang="en-US" altLang="zh-CN" sz="2400" b="1" dirty="0">
              <a:solidFill>
                <a:srgbClr val="F005F9"/>
              </a:solidFill>
              <a:latin typeface="Arial" panose="020B0604020202020204" pitchFamily="34" charset="0"/>
            </a:endParaRPr>
          </a:p>
        </p:txBody>
      </p:sp>
      <p:sp>
        <p:nvSpPr>
          <p:cNvPr id="72770" name="Line 66"/>
          <p:cNvSpPr/>
          <p:nvPr/>
        </p:nvSpPr>
        <p:spPr>
          <a:xfrm>
            <a:off x="1847850" y="6669088"/>
            <a:ext cx="1368425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71" name="Text Box 67"/>
          <p:cNvSpPr txBox="1"/>
          <p:nvPr/>
        </p:nvSpPr>
        <p:spPr>
          <a:xfrm>
            <a:off x="3648075" y="6216650"/>
            <a:ext cx="5975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*p=3</a:t>
            </a:r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发生错误，因为 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p </a:t>
            </a:r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不指向任何变量</a:t>
            </a:r>
            <a:endParaRPr lang="zh-CN" altLang="en-US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67627" name="Text Box 69"/>
          <p:cNvSpPr txBox="1"/>
          <p:nvPr/>
        </p:nvSpPr>
        <p:spPr>
          <a:xfrm>
            <a:off x="8401050" y="4221163"/>
            <a:ext cx="287338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</a:t>
            </a:r>
            <a:endParaRPr lang="en-US" altLang="zh-CN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2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2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2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72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2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2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2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72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2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72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7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2000" fill="hold"/>
                                        <p:tgtEl>
                                          <p:spTgt spid="72708">
                                            <p:txEl>
                                              <p:charRg st="69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E121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2000" fill="hold"/>
                                        <p:tgtEl>
                                          <p:spTgt spid="72708">
                                            <p:txEl>
                                              <p:charRg st="5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E121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50" grpId="0"/>
      <p:bldP spid="72752" grpId="0"/>
      <p:bldP spid="72752" grpId="1"/>
      <p:bldP spid="72756" grpId="0"/>
      <p:bldP spid="72756" grpId="1"/>
      <p:bldP spid="72759" grpId="0"/>
      <p:bldP spid="72759" grpId="1"/>
      <p:bldP spid="72761" grpId="0"/>
      <p:bldP spid="72763" grpId="0"/>
      <p:bldP spid="72763" grpId="1"/>
      <p:bldP spid="72767" grpId="0"/>
      <p:bldP spid="72769" grpId="0"/>
      <p:bldP spid="7277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>
                <a:effectLst/>
                <a:latin typeface="宋体" panose="02010600030101010101" pitchFamily="2" charset="-122"/>
              </a:rPr>
              <a:t>§7.3 </a:t>
            </a:r>
            <a:r>
              <a:rPr lang="zh-CN" altLang="en-US" b="1" dirty="0">
                <a:effectLst/>
                <a:latin typeface="宋体" panose="02010600030101010101" pitchFamily="2" charset="-122"/>
              </a:rPr>
              <a:t>指针操作与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指针运算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>
          <a:xfrm>
            <a:off x="228600" y="1227138"/>
            <a:ext cx="8229600" cy="53292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spcAft>
                <a:spcPct val="20000"/>
              </a:spcAft>
              <a:buNone/>
            </a:pP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1" action="ppaction://hlinksldjump"/>
              </a:rPr>
              <a:t>1.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1" action="ppaction://hlinksldjump"/>
              </a:rPr>
              <a:t>求地址 </a:t>
            </a: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1" action="ppaction://hlinksldjump"/>
              </a:rPr>
              <a:t>&amp;</a:t>
            </a:r>
            <a:endParaRPr lang="en-US" altLang="zh-CN" b="1" i="1" u="sng" dirty="0">
              <a:solidFill>
                <a:schemeClr val="hlink"/>
              </a:solidFill>
              <a:effectLst/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Aft>
                <a:spcPct val="20000"/>
              </a:spcAft>
              <a:buNone/>
            </a:pP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" action="ppaction://noaction"/>
              </a:rPr>
              <a:t>2.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" action="ppaction://noaction"/>
              </a:rPr>
              <a:t>取内容 *</a:t>
            </a:r>
            <a:endParaRPr lang="zh-CN" altLang="en-US" b="1" i="1" u="sng" dirty="0">
              <a:solidFill>
                <a:schemeClr val="hlink"/>
              </a:solidFill>
              <a:effectLst/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Aft>
                <a:spcPct val="20000"/>
              </a:spcAft>
              <a:buNone/>
            </a:pP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2" action="ppaction://hlinksldjump"/>
              </a:rPr>
              <a:t>3.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2" action="ppaction://hlinksldjump"/>
              </a:rPr>
              <a:t>赋值 </a:t>
            </a: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2" action="ppaction://hlinksldjump"/>
              </a:rPr>
              <a:t>=</a:t>
            </a:r>
            <a:endParaRPr lang="en-US" altLang="zh-CN" b="1" i="1" u="sng" dirty="0">
              <a:solidFill>
                <a:schemeClr val="hlink"/>
              </a:solidFill>
              <a:effectLst/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Aft>
                <a:spcPct val="20000"/>
              </a:spcAft>
              <a:buNone/>
            </a:pP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3" action="ppaction://hlinksldjump"/>
              </a:rPr>
              <a:t>4.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3" action="ppaction://hlinksldjump"/>
              </a:rPr>
              <a:t>加 </a:t>
            </a: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3" action="ppaction://hlinksldjump"/>
              </a:rPr>
              <a:t>+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3" action="ppaction://hlinksldjump"/>
              </a:rPr>
              <a:t>（</a:t>
            </a: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3" action="ppaction://hlinksldjump"/>
              </a:rPr>
              <a:t>++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3" action="ppaction://hlinksldjump"/>
              </a:rPr>
              <a:t>）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      </a:t>
            </a: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P198 7.5.2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指针运算</a:t>
            </a:r>
            <a:endParaRPr lang="zh-CN" altLang="en-US" b="1" i="1" u="sng" dirty="0">
              <a:solidFill>
                <a:schemeClr val="hlink"/>
              </a:solidFill>
              <a:effectLst/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Aft>
                <a:spcPct val="20000"/>
              </a:spcAft>
              <a:buNone/>
            </a:pP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4" action="ppaction://hlinksldjump"/>
              </a:rPr>
              <a:t>5.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4" action="ppaction://hlinksldjump"/>
              </a:rPr>
              <a:t>减 </a:t>
            </a: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4" action="ppaction://hlinksldjump"/>
              </a:rPr>
              <a:t>-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4" action="ppaction://hlinksldjump"/>
              </a:rPr>
              <a:t>（</a:t>
            </a: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4" action="ppaction://hlinksldjump"/>
              </a:rPr>
              <a:t>--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4" action="ppaction://hlinksldjump"/>
              </a:rPr>
              <a:t>）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      </a:t>
            </a: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P198 7.5.2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指针运算</a:t>
            </a:r>
            <a:endParaRPr lang="zh-CN" altLang="en-US" b="1" i="1" u="sng" dirty="0">
              <a:solidFill>
                <a:schemeClr val="hlink"/>
              </a:solidFill>
              <a:effectLst/>
              <a:latin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altLang="zh-CN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5" action="ppaction://hlinksldjump"/>
              </a:rPr>
              <a:t>6.</a:t>
            </a:r>
            <a:r>
              <a:rPr lang="zh-CN" altLang="en-US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  <a:hlinkClick r:id="rId5" action="ppaction://hlinksldjump"/>
              </a:rPr>
              <a:t>判等运算和关系运算</a:t>
            </a:r>
            <a:r>
              <a:rPr lang="zh-CN" altLang="en-US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en-US" altLang="zh-CN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P198 7.5.2</a:t>
            </a:r>
            <a:r>
              <a:rPr lang="zh-CN" altLang="en-US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指针运算</a:t>
            </a:r>
            <a:endParaRPr lang="zh-CN" altLang="en-US" b="1" i="1" u="sng" dirty="0">
              <a:solidFill>
                <a:schemeClr val="hlink"/>
              </a:solidFill>
              <a:effectLst/>
              <a:latin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None/>
            </a:pPr>
            <a:endParaRPr lang="en-US" altLang="zh-CN" sz="2800" b="1" i="1" u="sng" dirty="0">
              <a:solidFill>
                <a:schemeClr val="hlink"/>
              </a:solidFill>
              <a:effectLst/>
              <a:latin typeface="宋体" panose="02010600030101010101" pitchFamily="2" charset="-122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7B1763C-B257-4F68-99D8-B74D5762595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3032125"/>
            <a:ext cx="12268200" cy="3521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1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2.</a:t>
            </a:r>
            <a:r>
              <a:rPr kumimoji="0" lang="zh-CN" altLang="en-US" sz="2800" b="1" i="1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取内容 *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(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&amp;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互为逆运算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用于访问地址表达式所指变量，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优先级为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15)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*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p,m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=11;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   p=&amp;m;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	    int x=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将指针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所指变量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的值送入变量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中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=5;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将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5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送入指针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所指变量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中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0" y="561975"/>
            <a:ext cx="10950575" cy="2082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1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1.</a:t>
            </a:r>
            <a:r>
              <a:rPr kumimoji="0" lang="zh-CN" altLang="en-US" sz="2800" b="1" i="1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求地址 </a:t>
            </a:r>
            <a:r>
              <a:rPr kumimoji="0" lang="en-US" altLang="zh-CN" sz="2800" b="1" i="1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&amp;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(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求被操作对象的地址，优先级为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15)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int x=10; int *p=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&amp;x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&amp;x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表示变量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x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在内存中的存放地址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(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若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x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的地址为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ABD0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，则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&amp;x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的值为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ABD0)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936607-C157-437C-9062-D646131BA1D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1686" name="组合 2"/>
          <p:cNvGrpSpPr/>
          <p:nvPr/>
        </p:nvGrpSpPr>
        <p:grpSpPr>
          <a:xfrm>
            <a:off x="8210550" y="407988"/>
            <a:ext cx="3044825" cy="1541462"/>
            <a:chOff x="8885151" y="217942"/>
            <a:chExt cx="3045071" cy="1541505"/>
          </a:xfrm>
        </p:grpSpPr>
        <p:grpSp>
          <p:nvGrpSpPr>
            <p:cNvPr id="71687" name="Group 6"/>
            <p:cNvGrpSpPr/>
            <p:nvPr/>
          </p:nvGrpSpPr>
          <p:grpSpPr>
            <a:xfrm>
              <a:off x="9690259" y="217942"/>
              <a:ext cx="2239963" cy="1504949"/>
              <a:chOff x="8032" y="2146"/>
              <a:chExt cx="1411" cy="948"/>
            </a:xfrm>
          </p:grpSpPr>
          <p:sp>
            <p:nvSpPr>
              <p:cNvPr id="71689" name="Rectangle 4"/>
              <p:cNvSpPr/>
              <p:nvPr/>
            </p:nvSpPr>
            <p:spPr>
              <a:xfrm>
                <a:off x="8032" y="2459"/>
                <a:ext cx="1043" cy="63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2400" dirty="0">
                    <a:latin typeface="Arial" panose="020B0604020202020204" pitchFamily="34" charset="0"/>
                  </a:rPr>
                  <a:t>10</a:t>
                </a:r>
                <a:endParaRPr lang="en-US" altLang="zh-CN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1690" name="Text Box 5"/>
              <p:cNvSpPr txBox="1"/>
              <p:nvPr/>
            </p:nvSpPr>
            <p:spPr>
              <a:xfrm>
                <a:off x="8037" y="2146"/>
                <a:ext cx="14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变量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x</a:t>
                </a:r>
                <a:endParaRPr lang="en-US" altLang="zh-CN" sz="24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1688" name="矩形 1"/>
            <p:cNvSpPr/>
            <p:nvPr/>
          </p:nvSpPr>
          <p:spPr>
            <a:xfrm>
              <a:off x="8885151" y="1390115"/>
              <a:ext cx="81304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ABD0</a:t>
              </a:r>
              <a:endPara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6200"/>
            <a:ext cx="10929938" cy="3657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1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3.</a:t>
            </a:r>
            <a:r>
              <a:rPr kumimoji="0" lang="zh-CN" altLang="en-US" sz="2800" b="1" i="1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赋值 和 初始化</a:t>
            </a:r>
            <a:endParaRPr kumimoji="0" lang="en-US" altLang="zh-CN" sz="2800" b="1" i="1" u="sng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x,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*px=&amp;x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,*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py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    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初始化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py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=px;         			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赋值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px=NULL;   			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//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赋值：空指针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px=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(int *)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malloc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sizeof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(int)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//px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指向动态申请的内存空间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E4A813-970A-473D-83C8-D89655BF4A8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22225" y="3783013"/>
            <a:ext cx="8540750" cy="64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华文隶书" pitchFamily="2" charset="-122"/>
                <a:cs typeface="+mn-cs"/>
              </a:rPr>
              <a:t>注意：指针的类型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华文隶书" pitchFamily="2" charset="-122"/>
              <a:cs typeface="+mn-cs"/>
            </a:endParaRPr>
          </a:p>
        </p:txBody>
      </p:sp>
      <p:sp>
        <p:nvSpPr>
          <p:cNvPr id="7" name="Text Box 5"/>
          <p:cNvSpPr txBox="1"/>
          <p:nvPr/>
        </p:nvSpPr>
        <p:spPr>
          <a:xfrm>
            <a:off x="587375" y="4479925"/>
            <a:ext cx="9985375" cy="2247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double score[100], *p1=&amp;score[0];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char name[100], *p2=&amp;name[0];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……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p1=NULL;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p2=NULL;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8" name="对话气泡: 圆角矩形 7"/>
          <p:cNvSpPr/>
          <p:nvPr/>
        </p:nvSpPr>
        <p:spPr>
          <a:xfrm>
            <a:off x="3581400" y="5637213"/>
            <a:ext cx="3810000" cy="914400"/>
          </a:xfrm>
          <a:prstGeom prst="wedgeRoundRectCallout">
            <a:avLst>
              <a:gd name="adj1" fmla="val -91073"/>
              <a:gd name="adj2" fmla="val 19642"/>
              <a:gd name="adj3" fmla="val 16667"/>
            </a:avLst>
          </a:prstGeom>
          <a:solidFill>
            <a:schemeClr val="accent1"/>
          </a:solidFill>
        </p:spPr>
        <p:txBody>
          <a:bodyPr lIns="0" r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NULL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属于所有类型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3"/>
          <p:cNvSpPr>
            <a:spLocks noGrp="1"/>
          </p:cNvSpPr>
          <p:nvPr>
            <p:ph idx="1"/>
          </p:nvPr>
        </p:nvSpPr>
        <p:spPr>
          <a:xfrm>
            <a:off x="-76200" y="990600"/>
            <a:ext cx="12039600" cy="38100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5000"/>
              </a:lnSpc>
              <a:spcBef>
                <a:spcPct val="30000"/>
              </a:spcBef>
              <a:spcAft>
                <a:spcPct val="30000"/>
              </a:spcAft>
              <a:buNone/>
            </a:pPr>
            <a:r>
              <a:rPr lang="en-US" altLang="zh-CN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4.</a:t>
            </a:r>
            <a:r>
              <a:rPr lang="zh-CN" altLang="en-US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加 </a:t>
            </a:r>
            <a:r>
              <a:rPr lang="en-US" altLang="zh-CN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+</a:t>
            </a:r>
            <a:r>
              <a:rPr lang="zh-CN" altLang="en-US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（</a:t>
            </a:r>
            <a:r>
              <a:rPr lang="en-US" altLang="zh-CN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++</a:t>
            </a:r>
            <a:r>
              <a:rPr lang="zh-CN" altLang="en-US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）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      </a:t>
            </a:r>
            <a:br>
              <a:rPr lang="zh-CN" altLang="en-US" sz="2800" b="1" dirty="0">
                <a:effectLst/>
                <a:latin typeface="Arial" panose="020B0604020202020204" pitchFamily="34" charset="0"/>
              </a:rPr>
            </a:br>
            <a:r>
              <a:rPr lang="zh-CN" altLang="en-US" sz="2600" b="1" dirty="0">
                <a:effectLst/>
                <a:latin typeface="Arial" panose="020B0604020202020204" pitchFamily="34" charset="0"/>
              </a:rPr>
              <a:t>如果指针值指向数组的一个成分，</a:t>
            </a:r>
            <a:r>
              <a:rPr lang="en-US" altLang="zh-CN" sz="2600" b="1" dirty="0">
                <a:effectLst/>
                <a:latin typeface="Arial" panose="020B0604020202020204" pitchFamily="34" charset="0"/>
              </a:rPr>
              <a:t>C</a:t>
            </a:r>
            <a:r>
              <a:rPr lang="zh-CN" altLang="en-US" sz="2600" b="1" dirty="0">
                <a:effectLst/>
                <a:latin typeface="Arial" panose="020B0604020202020204" pitchFamily="34" charset="0"/>
              </a:rPr>
              <a:t>允许对相应指针值加上一个</a:t>
            </a:r>
            <a:r>
              <a:rPr lang="zh-CN" altLang="en-US" sz="26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整数表达式</a:t>
            </a:r>
            <a:endParaRPr lang="zh-CN" altLang="en-US" sz="26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5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设指针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p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指向数组变量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a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的一个成分，把指针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p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与一个整数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k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相加，得到的结果值仍然是个指针值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5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该值指向的是“数组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a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从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p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原来所指成分开始，向数组尾部</a:t>
            </a:r>
            <a:r>
              <a:rPr lang="zh-CN" altLang="en-US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移动</a:t>
            </a:r>
            <a:r>
              <a:rPr lang="en-US" altLang="zh-CN" sz="2800" b="1" dirty="0">
                <a:solidFill>
                  <a:srgbClr val="F005F9"/>
                </a:solidFill>
                <a:effectLst/>
                <a:latin typeface="Arial" panose="020B0604020202020204" pitchFamily="34" charset="0"/>
              </a:rPr>
              <a:t>k</a:t>
            </a:r>
            <a:r>
              <a:rPr lang="zh-CN" altLang="en-US" sz="2800" b="1" dirty="0">
                <a:solidFill>
                  <a:srgbClr val="F005F9"/>
                </a:solidFill>
                <a:effectLst/>
                <a:latin typeface="Arial" panose="020B0604020202020204" pitchFamily="34" charset="0"/>
              </a:rPr>
              <a:t>个成分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后的成分”</a:t>
            </a:r>
            <a:endParaRPr lang="zh-CN" altLang="en-US" sz="28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A6189C-5A19-4868-9709-7591C8B4C2C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7" name="Rectangle 3"/>
          <p:cNvSpPr>
            <a:spLocks noGrp="1"/>
          </p:cNvSpPr>
          <p:nvPr>
            <p:ph idx="1"/>
          </p:nvPr>
        </p:nvSpPr>
        <p:spPr>
          <a:xfrm>
            <a:off x="84138" y="100013"/>
            <a:ext cx="6103937" cy="6335712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>
              <a:spcAft>
                <a:spcPct val="15000"/>
              </a:spcAft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例如：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marL="1295400" lvl="2" indent="-381000" eaLnBrk="1" hangingPunct="1">
              <a:spcAft>
                <a:spcPct val="15000"/>
              </a:spcAft>
              <a:buNone/>
            </a:pPr>
            <a: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int *p </a:t>
            </a:r>
            <a:r>
              <a:rPr lang="zh-CN" altLang="en-US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，*</a:t>
            </a:r>
            <a: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q </a:t>
            </a:r>
            <a:r>
              <a:rPr lang="zh-CN" altLang="en-US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，*</a:t>
            </a:r>
            <a: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r </a:t>
            </a:r>
            <a:r>
              <a:rPr lang="zh-CN" altLang="en-US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a[100];  </a:t>
            </a:r>
            <a:endParaRPr lang="en-US" altLang="zh-CN" sz="32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marL="1295400" lvl="2" indent="-381000" eaLnBrk="1" hangingPunct="1">
              <a:spcAft>
                <a:spcPct val="15000"/>
              </a:spcAft>
              <a:buNone/>
            </a:pPr>
            <a: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p=&amp;a[10] ;</a:t>
            </a:r>
            <a:r>
              <a:rPr lang="en-US" altLang="zh-CN" sz="3200" b="1" dirty="0">
                <a:effectLst/>
                <a:latin typeface="Arial" panose="020B0604020202020204" pitchFamily="34" charset="0"/>
              </a:rPr>
              <a:t> </a:t>
            </a:r>
            <a:endParaRPr lang="en-US" altLang="zh-CN" sz="3200" b="1" dirty="0">
              <a:effectLst/>
              <a:latin typeface="Arial" panose="020B0604020202020204" pitchFamily="34" charset="0"/>
            </a:endParaRPr>
          </a:p>
          <a:p>
            <a:pPr marL="914400" lvl="1" indent="-457200" eaLnBrk="1" hangingPunct="1">
              <a:spcAft>
                <a:spcPct val="15000"/>
              </a:spcAft>
              <a:buNone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(1)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若有 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p=p+3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  <a:sym typeface="+mn-ea"/>
              </a:rPr>
              <a:t>;</a:t>
            </a:r>
            <a:endParaRPr lang="zh-CN" altLang="en-US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marL="533400" indent="-533400" eaLnBrk="1" hangingPunct="1">
              <a:spcAft>
                <a:spcPct val="15000"/>
              </a:spcAft>
              <a:buNone/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	则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p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指向的实际地址是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marL="533400" indent="-533400" eaLnBrk="1" hangingPunct="1">
              <a:spcAft>
                <a:spcPct val="15000"/>
              </a:spcAft>
              <a:buNone/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		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&amp;a[10]+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3*</a:t>
            </a:r>
            <a:r>
              <a:rPr lang="en-US" altLang="zh-CN" b="1" dirty="0">
                <a:solidFill>
                  <a:srgbClr val="F005F9"/>
                </a:solidFill>
                <a:effectLst/>
                <a:latin typeface="Arial" panose="020B0604020202020204" pitchFamily="34" charset="0"/>
              </a:rPr>
              <a:t>sizeof(int)</a:t>
            </a:r>
            <a:endParaRPr lang="en-US" altLang="zh-CN" b="1" dirty="0">
              <a:solidFill>
                <a:srgbClr val="F005F9"/>
              </a:solidFill>
              <a:effectLst/>
              <a:latin typeface="Arial" panose="020B0604020202020204" pitchFamily="34" charset="0"/>
            </a:endParaRPr>
          </a:p>
          <a:p>
            <a:pPr marL="533400" indent="-533400" eaLnBrk="1" hangingPunct="1">
              <a:spcAft>
                <a:spcPct val="15000"/>
              </a:spcAft>
              <a:buNone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		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即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a[13]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的地址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marL="914400" lvl="1" indent="-457200" eaLnBrk="1" hangingPunct="1">
              <a:spcAft>
                <a:spcPct val="15000"/>
              </a:spcAft>
              <a:buNone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(2)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若有	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q=p+3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  <a:sym typeface="+mn-ea"/>
              </a:rPr>
              <a:t>;</a:t>
            </a:r>
            <a:endParaRPr lang="zh-CN" altLang="en-US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marL="533400" indent="-533400" eaLnBrk="1" hangingPunct="1">
              <a:spcAft>
                <a:spcPct val="15000"/>
              </a:spcAft>
              <a:buNone/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	将使得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q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指向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a[13]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marL="914400" lvl="1" indent="-457200" eaLnBrk="1" hangingPunct="1">
              <a:spcAft>
                <a:spcPct val="15000"/>
              </a:spcAft>
              <a:buNone/>
            </a:pP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(3)</a:t>
            </a: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与前文一样 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p++ </a:t>
            </a: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表示 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p=p+1</a:t>
            </a:r>
            <a:endParaRPr lang="en-US" altLang="zh-CN" sz="24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3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410741-769A-46C0-9061-BC72AEFDD02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7852" name="Group 28"/>
          <p:cNvGrpSpPr/>
          <p:nvPr/>
        </p:nvGrpSpPr>
        <p:grpSpPr>
          <a:xfrm>
            <a:off x="9696450" y="5348288"/>
            <a:ext cx="828675" cy="457200"/>
            <a:chOff x="5148" y="3203"/>
            <a:chExt cx="522" cy="288"/>
          </a:xfrm>
        </p:grpSpPr>
        <p:sp>
          <p:nvSpPr>
            <p:cNvPr id="77855" name="Line 16"/>
            <p:cNvSpPr/>
            <p:nvPr/>
          </p:nvSpPr>
          <p:spPr>
            <a:xfrm flipH="1">
              <a:off x="5148" y="3249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7856" name="Text Box 17"/>
            <p:cNvSpPr txBox="1"/>
            <p:nvPr/>
          </p:nvSpPr>
          <p:spPr>
            <a:xfrm>
              <a:off x="5375" y="3203"/>
              <a:ext cx="2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7853" name="Group 29"/>
          <p:cNvGrpSpPr/>
          <p:nvPr/>
        </p:nvGrpSpPr>
        <p:grpSpPr>
          <a:xfrm>
            <a:off x="9696450" y="3619500"/>
            <a:ext cx="828675" cy="457200"/>
            <a:chOff x="5148" y="2069"/>
            <a:chExt cx="522" cy="288"/>
          </a:xfrm>
        </p:grpSpPr>
        <p:sp>
          <p:nvSpPr>
            <p:cNvPr id="2" name="Line 18"/>
            <p:cNvSpPr/>
            <p:nvPr/>
          </p:nvSpPr>
          <p:spPr>
            <a:xfrm flipH="1">
              <a:off x="5148" y="2115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7854" name="Text Box 19"/>
            <p:cNvSpPr txBox="1"/>
            <p:nvPr/>
          </p:nvSpPr>
          <p:spPr>
            <a:xfrm>
              <a:off x="5375" y="2069"/>
              <a:ext cx="2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7830" name="Group 33"/>
          <p:cNvGrpSpPr/>
          <p:nvPr/>
        </p:nvGrpSpPr>
        <p:grpSpPr>
          <a:xfrm>
            <a:off x="7104063" y="981075"/>
            <a:ext cx="2592387" cy="5400675"/>
            <a:chOff x="3515" y="618"/>
            <a:chExt cx="1633" cy="3402"/>
          </a:xfrm>
        </p:grpSpPr>
        <p:sp>
          <p:nvSpPr>
            <p:cNvPr id="77836" name="Rectangle 5"/>
            <p:cNvSpPr/>
            <p:nvPr/>
          </p:nvSpPr>
          <p:spPr>
            <a:xfrm>
              <a:off x="4241" y="1979"/>
              <a:ext cx="907" cy="3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77837" name="Rectangle 6"/>
            <p:cNvSpPr/>
            <p:nvPr/>
          </p:nvSpPr>
          <p:spPr>
            <a:xfrm>
              <a:off x="4241" y="981"/>
              <a:ext cx="907" cy="63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77838" name="Rectangle 7"/>
            <p:cNvSpPr/>
            <p:nvPr/>
          </p:nvSpPr>
          <p:spPr>
            <a:xfrm>
              <a:off x="4241" y="2341"/>
              <a:ext cx="907" cy="3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77839" name="Rectangle 8"/>
            <p:cNvSpPr/>
            <p:nvPr/>
          </p:nvSpPr>
          <p:spPr>
            <a:xfrm>
              <a:off x="4241" y="618"/>
              <a:ext cx="907" cy="3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77840" name="Rectangle 9"/>
            <p:cNvSpPr/>
            <p:nvPr/>
          </p:nvSpPr>
          <p:spPr>
            <a:xfrm>
              <a:off x="4241" y="2704"/>
              <a:ext cx="907" cy="3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77841" name="Text Box 10"/>
            <p:cNvSpPr txBox="1"/>
            <p:nvPr/>
          </p:nvSpPr>
          <p:spPr>
            <a:xfrm>
              <a:off x="3515" y="663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a[99]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77842" name="Text Box 11"/>
            <p:cNvSpPr txBox="1"/>
            <p:nvPr/>
          </p:nvSpPr>
          <p:spPr>
            <a:xfrm>
              <a:off x="3515" y="3113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a[10]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77843" name="Text Box 12"/>
            <p:cNvSpPr txBox="1"/>
            <p:nvPr/>
          </p:nvSpPr>
          <p:spPr>
            <a:xfrm>
              <a:off x="3515" y="2750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a[11]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77844" name="Text Box 13"/>
            <p:cNvSpPr txBox="1"/>
            <p:nvPr/>
          </p:nvSpPr>
          <p:spPr>
            <a:xfrm>
              <a:off x="3515" y="2387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a[12]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77845" name="Text Box 14"/>
            <p:cNvSpPr txBox="1"/>
            <p:nvPr/>
          </p:nvSpPr>
          <p:spPr>
            <a:xfrm>
              <a:off x="3515" y="1979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a[13]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77846" name="Rectangle 15"/>
            <p:cNvSpPr/>
            <p:nvPr/>
          </p:nvSpPr>
          <p:spPr>
            <a:xfrm>
              <a:off x="4241" y="3067"/>
              <a:ext cx="907" cy="3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77847" name="Rectangle 25"/>
            <p:cNvSpPr/>
            <p:nvPr/>
          </p:nvSpPr>
          <p:spPr>
            <a:xfrm>
              <a:off x="4241" y="1616"/>
              <a:ext cx="907" cy="3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77848" name="Text Box 26"/>
            <p:cNvSpPr txBox="1"/>
            <p:nvPr/>
          </p:nvSpPr>
          <p:spPr>
            <a:xfrm>
              <a:off x="4468" y="1207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……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77849" name="Text Box 27"/>
            <p:cNvSpPr txBox="1"/>
            <p:nvPr/>
          </p:nvSpPr>
          <p:spPr>
            <a:xfrm>
              <a:off x="3560" y="1207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……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77850" name="Rectangle 30"/>
            <p:cNvSpPr/>
            <p:nvPr/>
          </p:nvSpPr>
          <p:spPr>
            <a:xfrm>
              <a:off x="4241" y="3430"/>
              <a:ext cx="907" cy="59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77851" name="Text Box 31"/>
            <p:cNvSpPr txBox="1"/>
            <p:nvPr/>
          </p:nvSpPr>
          <p:spPr>
            <a:xfrm>
              <a:off x="4422" y="3475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……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" name="Text Box 32"/>
            <p:cNvSpPr txBox="1"/>
            <p:nvPr/>
          </p:nvSpPr>
          <p:spPr>
            <a:xfrm>
              <a:off x="3560" y="3475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……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77832" name="Line 37"/>
          <p:cNvSpPr/>
          <p:nvPr/>
        </p:nvSpPr>
        <p:spPr>
          <a:xfrm>
            <a:off x="6477000" y="0"/>
            <a:ext cx="0" cy="6858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77863" name="Group 39"/>
          <p:cNvGrpSpPr/>
          <p:nvPr/>
        </p:nvGrpSpPr>
        <p:grpSpPr>
          <a:xfrm>
            <a:off x="9696450" y="3141663"/>
            <a:ext cx="611188" cy="574675"/>
            <a:chOff x="5148" y="1979"/>
            <a:chExt cx="385" cy="362"/>
          </a:xfrm>
        </p:grpSpPr>
        <p:sp>
          <p:nvSpPr>
            <p:cNvPr id="77834" name="Text Box 34"/>
            <p:cNvSpPr txBox="1"/>
            <p:nvPr/>
          </p:nvSpPr>
          <p:spPr>
            <a:xfrm>
              <a:off x="5375" y="1979"/>
              <a:ext cx="1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q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77835" name="Line 38"/>
            <p:cNvSpPr/>
            <p:nvPr/>
          </p:nvSpPr>
          <p:spPr>
            <a:xfrm flipH="1">
              <a:off x="5148" y="2341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charRg st="3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charRg st="30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charRg st="42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827">
                                            <p:txEl>
                                              <p:charRg st="42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charRg st="55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7827">
                                            <p:txEl>
                                              <p:charRg st="55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778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charRg st="67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7827">
                                            <p:txEl>
                                              <p:charRg st="67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charRg st="90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7827">
                                            <p:txEl>
                                              <p:charRg st="90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charRg st="101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7827">
                                            <p:txEl>
                                              <p:charRg st="101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778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7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charRg st="114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7827">
                                            <p:txEl>
                                              <p:charRg st="114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charRg st="128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77827">
                                            <p:txEl>
                                              <p:charRg st="128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3"/>
          <p:cNvSpPr>
            <a:spLocks noGrp="1"/>
          </p:cNvSpPr>
          <p:nvPr>
            <p:ph idx="1"/>
          </p:nvPr>
        </p:nvSpPr>
        <p:spPr>
          <a:xfrm>
            <a:off x="260350" y="138113"/>
            <a:ext cx="11318875" cy="6400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5000"/>
              </a:lnSpc>
              <a:spcBef>
                <a:spcPct val="25000"/>
              </a:spcBef>
              <a:spcAft>
                <a:spcPct val="20000"/>
              </a:spcAft>
              <a:buNone/>
            </a:pPr>
            <a:r>
              <a:rPr lang="en-US" altLang="zh-CN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5.</a:t>
            </a:r>
            <a:r>
              <a:rPr lang="zh-CN" altLang="en-US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减 </a:t>
            </a:r>
            <a:r>
              <a:rPr lang="en-US" altLang="zh-CN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-</a:t>
            </a:r>
            <a:r>
              <a:rPr lang="zh-CN" altLang="en-US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（</a:t>
            </a:r>
            <a:r>
              <a:rPr lang="en-US" altLang="zh-CN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- -</a:t>
            </a:r>
            <a:r>
              <a:rPr lang="zh-CN" altLang="en-US" sz="2800" b="1" i="1" u="sng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）</a:t>
            </a:r>
            <a:endParaRPr lang="zh-CN" altLang="en-US" sz="2800" b="1" i="1" u="sng" dirty="0">
              <a:solidFill>
                <a:schemeClr val="hlink"/>
              </a:solidFill>
              <a:effectLst/>
              <a:latin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  <a:spcBef>
                <a:spcPct val="25000"/>
              </a:spcBef>
              <a:spcAft>
                <a:spcPct val="20000"/>
              </a:spcAft>
              <a:buNone/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	指针的减法运算包括：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  <a:spcAft>
                <a:spcPct val="20000"/>
              </a:spcAft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 指针值减去一个</a:t>
            </a: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整数表达式</a:t>
            </a:r>
            <a:endParaRPr lang="zh-CN" altLang="en-US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  <a:spcAft>
                <a:spcPct val="20000"/>
              </a:spcAft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 两个同类型指针值相减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25000"/>
              </a:spcBef>
              <a:spcAft>
                <a:spcPct val="35000"/>
              </a:spcAft>
              <a:buNone/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           如果指针值指向数组的一个成分，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C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允许对相应指针值减去一个整数表达式。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2500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设指针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p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指向数组变量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a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的一个成分，把指针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p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与一个整数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k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相减，得到的结果值仍然是一个指针值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2500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该值指向的是“数组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a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从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p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原来所指成分开始，向数组首部移动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k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个成分后的成分”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5FB67C-BFC6-41A8-BD28-354848EE0D6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228600" y="180975"/>
            <a:ext cx="6765925" cy="45926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Aft>
                <a:spcPct val="10000"/>
              </a:spcAft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例如：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spcAft>
                <a:spcPct val="10000"/>
              </a:spcAft>
              <a:buNone/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		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int *p </a:t>
            </a:r>
            <a:r>
              <a:rPr lang="zh-CN" altLang="en-US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，*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q </a:t>
            </a:r>
            <a:r>
              <a:rPr lang="zh-CN" altLang="en-US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，*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r </a:t>
            </a:r>
            <a:r>
              <a:rPr lang="zh-CN" altLang="en-US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a[100];  </a:t>
            </a:r>
            <a:endParaRPr lang="en-US" altLang="zh-CN" sz="28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spcAft>
                <a:spcPct val="10000"/>
              </a:spcAft>
              <a:buNone/>
            </a:pP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		p=&amp;a[10] ;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spcAft>
                <a:spcPct val="10000"/>
              </a:spcAft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（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）若有</a:t>
            </a:r>
            <a:r>
              <a:rPr lang="zh-CN" altLang="en-US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p=p-3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  <a:sym typeface="+mn-ea"/>
              </a:rPr>
              <a:t>;</a:t>
            </a:r>
            <a:r>
              <a:rPr lang="en-US" altLang="zh-CN" sz="2800" b="1" dirty="0">
                <a:effectLst/>
                <a:latin typeface="Arial" panose="020B0604020202020204" pitchFamily="34" charset="0"/>
                <a:sym typeface="+mn-ea"/>
              </a:rPr>
              <a:t> 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指向的实际地址是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spcAft>
                <a:spcPct val="10000"/>
              </a:spcAft>
              <a:buNone/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		 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&amp;a[10]-3*</a:t>
            </a:r>
            <a:r>
              <a:rPr lang="en-US" altLang="zh-CN" sz="2800" b="1" dirty="0">
                <a:solidFill>
                  <a:srgbClr val="F005F9"/>
                </a:solidFill>
                <a:effectLst/>
                <a:latin typeface="Arial" panose="020B0604020202020204" pitchFamily="34" charset="0"/>
              </a:rPr>
              <a:t>sizeof(int)</a:t>
            </a:r>
            <a:endParaRPr lang="en-US" altLang="zh-CN" sz="2800" b="1" dirty="0">
              <a:solidFill>
                <a:srgbClr val="F005F9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spcAft>
                <a:spcPct val="10000"/>
              </a:spcAft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		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即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a[7]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的地址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spcAft>
                <a:spcPct val="10000"/>
              </a:spcAft>
              <a:buNone/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   （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）若有 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q=p-3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  <a:sym typeface="+mn-ea"/>
              </a:rPr>
              <a:t>;</a:t>
            </a:r>
            <a:r>
              <a:rPr lang="en-US" altLang="zh-CN" sz="2800" b="1" dirty="0">
                <a:effectLst/>
                <a:latin typeface="Arial" panose="020B0604020202020204" pitchFamily="34" charset="0"/>
                <a:sym typeface="+mn-ea"/>
              </a:rPr>
              <a:t> 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将使得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q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指向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a[7]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spcAft>
                <a:spcPct val="10000"/>
              </a:spcAft>
              <a:buNone/>
            </a:pPr>
            <a:r>
              <a:rPr lang="zh-CN" altLang="en-US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   （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）与前文一样  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p--  </a:t>
            </a:r>
            <a:r>
              <a:rPr lang="zh-CN" altLang="en-US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表示  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p=p-1</a:t>
            </a:r>
            <a:endParaRPr lang="en-US" altLang="zh-CN" sz="28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139238" y="6237288"/>
            <a:ext cx="97155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7D9F0B-5FE9-48A5-B504-972D6FB79AA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9876" name="Group 4"/>
          <p:cNvGrpSpPr/>
          <p:nvPr/>
        </p:nvGrpSpPr>
        <p:grpSpPr>
          <a:xfrm>
            <a:off x="9875838" y="4700588"/>
            <a:ext cx="828675" cy="457200"/>
            <a:chOff x="5148" y="3203"/>
            <a:chExt cx="522" cy="288"/>
          </a:xfrm>
        </p:grpSpPr>
        <p:sp>
          <p:nvSpPr>
            <p:cNvPr id="81949" name="Line 5"/>
            <p:cNvSpPr/>
            <p:nvPr/>
          </p:nvSpPr>
          <p:spPr>
            <a:xfrm flipH="1">
              <a:off x="5148" y="3249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1950" name="Text Box 6"/>
            <p:cNvSpPr txBox="1"/>
            <p:nvPr/>
          </p:nvSpPr>
          <p:spPr>
            <a:xfrm>
              <a:off x="5375" y="3203"/>
              <a:ext cx="2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9879" name="Group 7"/>
          <p:cNvGrpSpPr/>
          <p:nvPr/>
        </p:nvGrpSpPr>
        <p:grpSpPr>
          <a:xfrm>
            <a:off x="9875838" y="2971800"/>
            <a:ext cx="828675" cy="457200"/>
            <a:chOff x="5148" y="2069"/>
            <a:chExt cx="522" cy="288"/>
          </a:xfrm>
        </p:grpSpPr>
        <p:sp>
          <p:nvSpPr>
            <p:cNvPr id="81947" name="Line 8"/>
            <p:cNvSpPr/>
            <p:nvPr/>
          </p:nvSpPr>
          <p:spPr>
            <a:xfrm flipH="1">
              <a:off x="5148" y="2115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1948" name="Text Box 9"/>
            <p:cNvSpPr txBox="1"/>
            <p:nvPr/>
          </p:nvSpPr>
          <p:spPr>
            <a:xfrm>
              <a:off x="5375" y="2069"/>
              <a:ext cx="2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1926" name="Group 10"/>
          <p:cNvGrpSpPr/>
          <p:nvPr/>
        </p:nvGrpSpPr>
        <p:grpSpPr>
          <a:xfrm>
            <a:off x="7283450" y="333375"/>
            <a:ext cx="2592388" cy="5400675"/>
            <a:chOff x="3515" y="618"/>
            <a:chExt cx="1633" cy="3402"/>
          </a:xfrm>
        </p:grpSpPr>
        <p:sp>
          <p:nvSpPr>
            <p:cNvPr id="81930" name="Rectangle 11"/>
            <p:cNvSpPr/>
            <p:nvPr/>
          </p:nvSpPr>
          <p:spPr>
            <a:xfrm>
              <a:off x="4241" y="1979"/>
              <a:ext cx="907" cy="3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81931" name="Rectangle 12"/>
            <p:cNvSpPr/>
            <p:nvPr/>
          </p:nvSpPr>
          <p:spPr>
            <a:xfrm>
              <a:off x="4241" y="981"/>
              <a:ext cx="907" cy="63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81932" name="Rectangle 13"/>
            <p:cNvSpPr/>
            <p:nvPr/>
          </p:nvSpPr>
          <p:spPr>
            <a:xfrm>
              <a:off x="4241" y="2341"/>
              <a:ext cx="907" cy="3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81933" name="Rectangle 14"/>
            <p:cNvSpPr/>
            <p:nvPr/>
          </p:nvSpPr>
          <p:spPr>
            <a:xfrm>
              <a:off x="4241" y="618"/>
              <a:ext cx="907" cy="3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81934" name="Rectangle 15"/>
            <p:cNvSpPr/>
            <p:nvPr/>
          </p:nvSpPr>
          <p:spPr>
            <a:xfrm>
              <a:off x="4241" y="2704"/>
              <a:ext cx="907" cy="3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81935" name="Text Box 16"/>
            <p:cNvSpPr txBox="1"/>
            <p:nvPr/>
          </p:nvSpPr>
          <p:spPr>
            <a:xfrm>
              <a:off x="3515" y="663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a[99]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81936" name="Text Box 17"/>
            <p:cNvSpPr txBox="1"/>
            <p:nvPr/>
          </p:nvSpPr>
          <p:spPr>
            <a:xfrm>
              <a:off x="3515" y="3113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a[7]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81937" name="Text Box 18"/>
            <p:cNvSpPr txBox="1"/>
            <p:nvPr/>
          </p:nvSpPr>
          <p:spPr>
            <a:xfrm>
              <a:off x="3515" y="2750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a[8]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81938" name="Text Box 19"/>
            <p:cNvSpPr txBox="1"/>
            <p:nvPr/>
          </p:nvSpPr>
          <p:spPr>
            <a:xfrm>
              <a:off x="3515" y="2387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a[9]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81939" name="Text Box 20"/>
            <p:cNvSpPr txBox="1"/>
            <p:nvPr/>
          </p:nvSpPr>
          <p:spPr>
            <a:xfrm>
              <a:off x="3515" y="1979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a[10]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81940" name="Rectangle 21"/>
            <p:cNvSpPr/>
            <p:nvPr/>
          </p:nvSpPr>
          <p:spPr>
            <a:xfrm>
              <a:off x="4241" y="3067"/>
              <a:ext cx="907" cy="3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81941" name="Rectangle 22"/>
            <p:cNvSpPr/>
            <p:nvPr/>
          </p:nvSpPr>
          <p:spPr>
            <a:xfrm>
              <a:off x="4241" y="1616"/>
              <a:ext cx="907" cy="3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81942" name="Text Box 23"/>
            <p:cNvSpPr txBox="1"/>
            <p:nvPr/>
          </p:nvSpPr>
          <p:spPr>
            <a:xfrm>
              <a:off x="4468" y="1207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……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81943" name="Text Box 24"/>
            <p:cNvSpPr txBox="1"/>
            <p:nvPr/>
          </p:nvSpPr>
          <p:spPr>
            <a:xfrm>
              <a:off x="3560" y="1207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……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81944" name="Rectangle 25"/>
            <p:cNvSpPr/>
            <p:nvPr/>
          </p:nvSpPr>
          <p:spPr>
            <a:xfrm>
              <a:off x="4241" y="3430"/>
              <a:ext cx="907" cy="59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81945" name="Text Box 26"/>
            <p:cNvSpPr txBox="1"/>
            <p:nvPr/>
          </p:nvSpPr>
          <p:spPr>
            <a:xfrm>
              <a:off x="4422" y="3475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……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81946" name="Text Box 27"/>
            <p:cNvSpPr txBox="1"/>
            <p:nvPr/>
          </p:nvSpPr>
          <p:spPr>
            <a:xfrm>
              <a:off x="3560" y="3475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……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9901" name="Group 29"/>
          <p:cNvGrpSpPr/>
          <p:nvPr/>
        </p:nvGrpSpPr>
        <p:grpSpPr>
          <a:xfrm>
            <a:off x="9840913" y="4221163"/>
            <a:ext cx="611187" cy="574675"/>
            <a:chOff x="5148" y="1979"/>
            <a:chExt cx="385" cy="362"/>
          </a:xfrm>
        </p:grpSpPr>
        <p:sp>
          <p:nvSpPr>
            <p:cNvPr id="81928" name="Text Box 30"/>
            <p:cNvSpPr txBox="1"/>
            <p:nvPr/>
          </p:nvSpPr>
          <p:spPr>
            <a:xfrm>
              <a:off x="5375" y="1979"/>
              <a:ext cx="1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q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81929" name="Line 31"/>
            <p:cNvSpPr/>
            <p:nvPr/>
          </p:nvSpPr>
          <p:spPr>
            <a:xfrm flipH="1">
              <a:off x="5148" y="2341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charRg st="32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5">
                                            <p:txEl>
                                              <p:charRg st="32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charRg st="46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875">
                                            <p:txEl>
                                              <p:charRg st="46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charRg st="7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9875">
                                            <p:txEl>
                                              <p:charRg st="70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charRg st="94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9875">
                                            <p:txEl>
                                              <p:charRg st="94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charRg st="105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9875">
                                            <p:txEl>
                                              <p:charRg st="105" end="1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9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charRg st="132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9875">
                                            <p:txEl>
                                              <p:charRg st="132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9" name="Rectangle 3"/>
          <p:cNvSpPr>
            <a:spLocks noGrp="1"/>
          </p:cNvSpPr>
          <p:nvPr>
            <p:ph idx="1"/>
          </p:nvPr>
        </p:nvSpPr>
        <p:spPr>
          <a:xfrm>
            <a:off x="44450" y="153988"/>
            <a:ext cx="11814175" cy="60944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5000"/>
              </a:lnSpc>
            </a:pP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  <a:ea typeface="华文隶书" pitchFamily="2" charset="-122"/>
              </a:rPr>
              <a:t>两个指针值之间相减</a:t>
            </a:r>
            <a:endParaRPr lang="zh-CN" altLang="en-US" b="1" dirty="0">
              <a:solidFill>
                <a:schemeClr val="hlink"/>
              </a:solidFill>
              <a:effectLst/>
              <a:latin typeface="Arial" panose="020B0604020202020204" pitchFamily="34" charset="0"/>
              <a:ea typeface="华文隶书" pitchFamily="2" charset="-122"/>
            </a:endParaRPr>
          </a:p>
          <a:p>
            <a:pPr eaLnBrk="1" hangingPunct="1">
              <a:lnSpc>
                <a:spcPct val="115000"/>
              </a:lnSpc>
              <a:buNone/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          </a:t>
            </a: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同一个类型的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指针可以进行相减运算，所得结果是整型值，即两指针值间的</a:t>
            </a:r>
            <a:r>
              <a:rPr lang="zh-CN" altLang="en-US" b="1" dirty="0">
                <a:solidFill>
                  <a:srgbClr val="F005F9"/>
                </a:solidFill>
                <a:effectLst/>
                <a:latin typeface="Arial" panose="020B0604020202020204" pitchFamily="34" charset="0"/>
              </a:rPr>
              <a:t>距离</a:t>
            </a:r>
            <a:endParaRPr lang="zh-CN" altLang="en-US" b="1" dirty="0">
              <a:solidFill>
                <a:srgbClr val="F005F9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  <a:buNone/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例如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15000"/>
              </a:lnSpc>
              <a:buNone/>
            </a:pPr>
            <a:r>
              <a:rPr lang="zh-CN" altLang="en-US" sz="3200" b="1" dirty="0">
                <a:effectLst/>
                <a:latin typeface="Arial" panose="020B0604020202020204" pitchFamily="34" charset="0"/>
              </a:rPr>
              <a:t>	</a:t>
            </a:r>
            <a: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int *p ,*q ,*r ,a[100];  </a:t>
            </a:r>
            <a:endParaRPr lang="en-US" altLang="zh-CN" sz="32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15000"/>
              </a:lnSpc>
              <a:buNone/>
            </a:pPr>
            <a: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	p=&amp;a[10] ; </a:t>
            </a:r>
            <a:endParaRPr lang="en-US" altLang="zh-CN" sz="32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15000"/>
              </a:lnSpc>
              <a:buNone/>
            </a:pPr>
            <a: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	q=&amp;a[15];</a:t>
            </a:r>
            <a:endParaRPr lang="en-US" altLang="zh-CN" sz="32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  <a:buNone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	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则</a:t>
            </a:r>
            <a:r>
              <a:rPr lang="zh-CN" altLang="en-US" sz="3600" b="1" dirty="0">
                <a:effectLst/>
                <a:latin typeface="Arial" panose="020B0604020202020204" pitchFamily="34" charset="0"/>
              </a:rPr>
              <a:t>	</a:t>
            </a:r>
            <a:r>
              <a:rPr lang="en-US" altLang="zh-CN" sz="36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p-q </a:t>
            </a:r>
            <a:r>
              <a:rPr lang="zh-CN" altLang="en-US" sz="3600" b="1" dirty="0">
                <a:effectLst/>
                <a:latin typeface="Arial" panose="020B0604020202020204" pitchFamily="34" charset="0"/>
              </a:rPr>
              <a:t>得 </a:t>
            </a:r>
            <a:r>
              <a:rPr lang="en-US" altLang="zh-CN" sz="3600" b="1" dirty="0">
                <a:effectLst/>
                <a:latin typeface="Arial" panose="020B0604020202020204" pitchFamily="34" charset="0"/>
              </a:rPr>
              <a:t>-5 </a:t>
            </a:r>
            <a:endParaRPr lang="zh-CN" altLang="en-US" sz="36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  <a:buNone/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   而</a:t>
            </a:r>
            <a:r>
              <a:rPr lang="zh-CN" altLang="en-US" sz="3600" b="1" dirty="0">
                <a:effectLst/>
                <a:latin typeface="Arial" panose="020B0604020202020204" pitchFamily="34" charset="0"/>
              </a:rPr>
              <a:t>	</a:t>
            </a:r>
            <a:r>
              <a:rPr lang="en-US" altLang="zh-CN" sz="36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q-p </a:t>
            </a:r>
            <a:r>
              <a:rPr lang="zh-CN" altLang="en-US" sz="3600" b="1" dirty="0">
                <a:effectLst/>
                <a:latin typeface="Arial" panose="020B0604020202020204" pitchFamily="34" charset="0"/>
              </a:rPr>
              <a:t>得 </a:t>
            </a:r>
            <a:r>
              <a:rPr lang="en-US" altLang="zh-CN" sz="3600" b="1" dirty="0">
                <a:effectLst/>
                <a:latin typeface="Arial" panose="020B0604020202020204" pitchFamily="34" charset="0"/>
              </a:rPr>
              <a:t>5</a:t>
            </a:r>
            <a:endParaRPr lang="zh-CN" altLang="en-US" sz="36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3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50A810-55BC-4CBF-9658-C661A0FC40A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0934" name="Group 38"/>
          <p:cNvGrpSpPr/>
          <p:nvPr/>
        </p:nvGrpSpPr>
        <p:grpSpPr>
          <a:xfrm>
            <a:off x="5087938" y="3716338"/>
            <a:ext cx="5041900" cy="1754187"/>
            <a:chOff x="2245" y="2341"/>
            <a:chExt cx="3176" cy="1105"/>
          </a:xfrm>
        </p:grpSpPr>
        <p:sp>
          <p:nvSpPr>
            <p:cNvPr id="83973" name="Rectangle 39"/>
            <p:cNvSpPr/>
            <p:nvPr/>
          </p:nvSpPr>
          <p:spPr>
            <a:xfrm>
              <a:off x="2835" y="2704"/>
              <a:ext cx="2494" cy="36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83974" name="Line 40"/>
            <p:cNvSpPr/>
            <p:nvPr/>
          </p:nvSpPr>
          <p:spPr>
            <a:xfrm>
              <a:off x="3061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75" name="Line 41"/>
            <p:cNvSpPr/>
            <p:nvPr/>
          </p:nvSpPr>
          <p:spPr>
            <a:xfrm>
              <a:off x="3288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76" name="Line 42"/>
            <p:cNvSpPr/>
            <p:nvPr/>
          </p:nvSpPr>
          <p:spPr>
            <a:xfrm>
              <a:off x="4876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77" name="Line 43"/>
            <p:cNvSpPr/>
            <p:nvPr/>
          </p:nvSpPr>
          <p:spPr>
            <a:xfrm>
              <a:off x="4649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78" name="Line 44"/>
            <p:cNvSpPr/>
            <p:nvPr/>
          </p:nvSpPr>
          <p:spPr>
            <a:xfrm>
              <a:off x="3515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79" name="Line 45"/>
            <p:cNvSpPr/>
            <p:nvPr/>
          </p:nvSpPr>
          <p:spPr>
            <a:xfrm>
              <a:off x="3742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0" name="Line 46"/>
            <p:cNvSpPr/>
            <p:nvPr/>
          </p:nvSpPr>
          <p:spPr>
            <a:xfrm>
              <a:off x="3969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1" name="Line 47"/>
            <p:cNvSpPr/>
            <p:nvPr/>
          </p:nvSpPr>
          <p:spPr>
            <a:xfrm>
              <a:off x="4195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2" name="Line 48"/>
            <p:cNvSpPr/>
            <p:nvPr/>
          </p:nvSpPr>
          <p:spPr>
            <a:xfrm>
              <a:off x="4422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3" name="Line 49"/>
            <p:cNvSpPr/>
            <p:nvPr/>
          </p:nvSpPr>
          <p:spPr>
            <a:xfrm flipV="1">
              <a:off x="3379" y="306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3984" name="Text Box 50"/>
            <p:cNvSpPr txBox="1"/>
            <p:nvPr/>
          </p:nvSpPr>
          <p:spPr>
            <a:xfrm>
              <a:off x="2245" y="2341"/>
              <a:ext cx="5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下标：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83985" name="Text Box 51"/>
            <p:cNvSpPr txBox="1"/>
            <p:nvPr/>
          </p:nvSpPr>
          <p:spPr>
            <a:xfrm>
              <a:off x="2789" y="2387"/>
              <a:ext cx="18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3986" name="Text Box 52"/>
            <p:cNvSpPr txBox="1"/>
            <p:nvPr/>
          </p:nvSpPr>
          <p:spPr>
            <a:xfrm>
              <a:off x="3016" y="2734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…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3987" name="Text Box 53"/>
            <p:cNvSpPr txBox="1"/>
            <p:nvPr/>
          </p:nvSpPr>
          <p:spPr>
            <a:xfrm>
              <a:off x="3016" y="2371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…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3988" name="Text Box 54"/>
            <p:cNvSpPr txBox="1"/>
            <p:nvPr/>
          </p:nvSpPr>
          <p:spPr>
            <a:xfrm>
              <a:off x="3198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10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3989" name="Text Box 55"/>
            <p:cNvSpPr txBox="1"/>
            <p:nvPr/>
          </p:nvSpPr>
          <p:spPr>
            <a:xfrm>
              <a:off x="3470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11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3990" name="Text Box 56"/>
            <p:cNvSpPr txBox="1"/>
            <p:nvPr/>
          </p:nvSpPr>
          <p:spPr>
            <a:xfrm>
              <a:off x="3697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12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3991" name="Text Box 57"/>
            <p:cNvSpPr txBox="1"/>
            <p:nvPr/>
          </p:nvSpPr>
          <p:spPr>
            <a:xfrm>
              <a:off x="3924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13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3992" name="Text Box 58"/>
            <p:cNvSpPr txBox="1"/>
            <p:nvPr/>
          </p:nvSpPr>
          <p:spPr>
            <a:xfrm>
              <a:off x="4150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14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3993" name="Text Box 59"/>
            <p:cNvSpPr txBox="1"/>
            <p:nvPr/>
          </p:nvSpPr>
          <p:spPr>
            <a:xfrm>
              <a:off x="4377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15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3994" name="Text Box 60"/>
            <p:cNvSpPr txBox="1"/>
            <p:nvPr/>
          </p:nvSpPr>
          <p:spPr>
            <a:xfrm>
              <a:off x="4604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16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3995" name="Text Box 61"/>
            <p:cNvSpPr txBox="1"/>
            <p:nvPr/>
          </p:nvSpPr>
          <p:spPr>
            <a:xfrm>
              <a:off x="5012" y="2387"/>
              <a:ext cx="40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99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3996" name="Line 62"/>
            <p:cNvSpPr/>
            <p:nvPr/>
          </p:nvSpPr>
          <p:spPr>
            <a:xfrm>
              <a:off x="5103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97" name="Text Box 63"/>
            <p:cNvSpPr txBox="1"/>
            <p:nvPr/>
          </p:nvSpPr>
          <p:spPr>
            <a:xfrm>
              <a:off x="4830" y="2750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…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3998" name="Text Box 64"/>
            <p:cNvSpPr txBox="1"/>
            <p:nvPr/>
          </p:nvSpPr>
          <p:spPr>
            <a:xfrm>
              <a:off x="4830" y="2387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…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3999" name="Line 65"/>
            <p:cNvSpPr/>
            <p:nvPr/>
          </p:nvSpPr>
          <p:spPr>
            <a:xfrm flipV="1">
              <a:off x="4513" y="3067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4000" name="Text Box 66"/>
            <p:cNvSpPr txBox="1"/>
            <p:nvPr/>
          </p:nvSpPr>
          <p:spPr>
            <a:xfrm>
              <a:off x="3152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84001" name="Text Box 67"/>
            <p:cNvSpPr txBox="1"/>
            <p:nvPr/>
          </p:nvSpPr>
          <p:spPr>
            <a:xfrm>
              <a:off x="4286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q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3"/>
          <p:cNvSpPr>
            <a:spLocks noGrp="1"/>
          </p:cNvSpPr>
          <p:nvPr>
            <p:ph idx="1"/>
          </p:nvPr>
        </p:nvSpPr>
        <p:spPr>
          <a:xfrm>
            <a:off x="609600" y="1438275"/>
            <a:ext cx="11353800" cy="29051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指针加减运算限制：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若指针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p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指向的不是数组成分，或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p+k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、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p-k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后超出数组定义范围，则其行为是未定义的，将产生不可预料的结果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</a:pP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不允许两个指针间进行加法、乘法、除法运算</a:t>
            </a:r>
            <a:endParaRPr lang="zh-CN" altLang="en-US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A827ED-7B16-4A96-BEA3-3EE13087E3A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190500" y="685800"/>
            <a:ext cx="11811000" cy="50720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1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6.</a:t>
            </a:r>
            <a:r>
              <a:rPr kumimoji="0" lang="zh-CN" altLang="en-US" sz="2800" b="1" i="1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判等运算和关系运算</a:t>
            </a:r>
            <a:endParaRPr kumimoji="0" lang="zh-CN" altLang="en-US" sz="2800" b="1" i="1" u="sng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中可以针对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同类型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指针进行判等运算和关系运算，结果是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bool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类型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包括：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判断两个指针值是否相等或不相等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==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!=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比较两个指针值的大小关系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&gt;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&gt;=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&lt;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&lt;=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px&lt;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py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判断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所指向的存储单元地址是否小于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py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所指向的存储单元地址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px==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py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判断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与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py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是否指向同一个存储单元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px==0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px!=0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px==NULL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px!=NULL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判断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是否为空指针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8683F8-D7DD-483B-8F2A-D5ED1AC2A84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charRg st="46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charRg st="46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charRg st="5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2947">
                                            <p:txEl>
                                              <p:charRg st="50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charRg st="75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2947">
                                            <p:txEl>
                                              <p:charRg st="75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charRg st="10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2947">
                                            <p:txEl>
                                              <p:charRg st="102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charRg st="105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2947">
                                            <p:txEl>
                                              <p:charRg st="105" end="1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charRg st="144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2947">
                                            <p:txEl>
                                              <p:charRg st="144" end="1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charRg st="174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2947">
                                            <p:txEl>
                                              <p:charRg st="174" end="2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9850"/>
            <a:ext cx="11755438" cy="4540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7.6】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输入一个字符串，求其长度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库函数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len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=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strlen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(str);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6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0629900" y="6248400"/>
            <a:ext cx="9525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132B91-0773-4F1B-A972-B1E9D3D9A44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6" name="Rectangle 4"/>
          <p:cNvSpPr/>
          <p:nvPr/>
        </p:nvSpPr>
        <p:spPr>
          <a:xfrm>
            <a:off x="-171450" y="595313"/>
            <a:ext cx="8388350" cy="6261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58775" lvl="2" indent="0" eaLnBrk="1" hangingPunct="1">
              <a:spcAft>
                <a:spcPct val="20000"/>
              </a:spcAft>
              <a:buClr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#include &lt;stdio.h&gt;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358775" lvl="2" indent="0" eaLnBrk="1" hangingPunct="1">
              <a:spcAft>
                <a:spcPct val="20000"/>
              </a:spcAft>
              <a:buClr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int main( ){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717550" lvl="4" indent="0" eaLnBrk="1" hangingPunct="1">
              <a:spcAft>
                <a:spcPct val="20000"/>
              </a:spcAft>
              <a:buClr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char str[255] , *p;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717550" lvl="4" indent="0" eaLnBrk="1" hangingPunct="1">
              <a:spcAft>
                <a:spcPct val="20000"/>
              </a:spcAft>
              <a:buClr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int  v 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717550" lvl="4" indent="0" eaLnBrk="1" hangingPunct="1">
              <a:spcAft>
                <a:spcPct val="20000"/>
              </a:spcAft>
              <a:buClrTx/>
              <a:buNone/>
            </a:pPr>
            <a:r>
              <a:rPr lang="en-US" altLang="zh-CN" sz="2800" b="1" dirty="0">
                <a:solidFill>
                  <a:srgbClr val="F005F9"/>
                </a:solidFill>
                <a:latin typeface="Arial" panose="020B0604020202020204" pitchFamily="34" charset="0"/>
              </a:rPr>
              <a:t>  scanf("%s",str);</a:t>
            </a:r>
            <a:endParaRPr lang="en-US" altLang="zh-CN" sz="2800" b="1" dirty="0">
              <a:solidFill>
                <a:srgbClr val="F005F9"/>
              </a:solidFill>
              <a:latin typeface="Arial" panose="020B0604020202020204" pitchFamily="34" charset="0"/>
            </a:endParaRPr>
          </a:p>
          <a:p>
            <a:pPr marL="717550" lvl="4" indent="0" eaLnBrk="1" hangingPunct="1">
              <a:spcAft>
                <a:spcPct val="20000"/>
              </a:spcAft>
              <a:buClr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p=str;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717550" lvl="4" indent="0" eaLnBrk="1" hangingPunct="1">
              <a:spcAft>
                <a:spcPct val="20000"/>
              </a:spcAft>
              <a:buClr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while( *p!=0 ) 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717550" lvl="4" indent="0" eaLnBrk="1" hangingPunct="1">
              <a:spcAft>
                <a:spcPct val="20000"/>
              </a:spcAft>
              <a:buClr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       p++ ;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717550" lvl="4" indent="0" eaLnBrk="1" hangingPunct="1">
              <a:spcAft>
                <a:spcPct val="20000"/>
              </a:spcAft>
              <a:buClr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printf("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%d</a:t>
            </a:r>
            <a:r>
              <a:rPr lang="en-US" altLang="zh-CN" sz="2800" b="1" dirty="0">
                <a:latin typeface="Arial" panose="020B0604020202020204" pitchFamily="34" charset="0"/>
              </a:rPr>
              <a:t> \n</a:t>
            </a:r>
            <a:r>
              <a:rPr lang="en-US" altLang="zh-CN" sz="2800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800" b="1" dirty="0">
                <a:latin typeface="Arial" panose="020B0604020202020204" pitchFamily="34" charset="0"/>
              </a:rPr>
              <a:t>, 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p-str</a:t>
            </a:r>
            <a:r>
              <a:rPr lang="en-US" altLang="zh-CN" sz="2800" b="1" dirty="0">
                <a:latin typeface="Arial" panose="020B0604020202020204" pitchFamily="34" charset="0"/>
              </a:rPr>
              <a:t>);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717550" lvl="4" indent="0" eaLnBrk="1" hangingPunct="1">
              <a:spcBef>
                <a:spcPct val="0"/>
              </a:spcBef>
              <a:buClr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return 0; 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58775" lvl="2" indent="0" eaLnBrk="1" hangingPunct="1">
              <a:spcBef>
                <a:spcPct val="0"/>
              </a:spcBef>
              <a:buClr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}</a:t>
            </a:r>
            <a:endParaRPr lang="en-US" altLang="zh-CN" b="1" dirty="0">
              <a:latin typeface="Arial" panose="020B0604020202020204" pitchFamily="34" charset="0"/>
            </a:endParaRPr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6651625" y="1717675"/>
            <a:ext cx="1784350" cy="1127125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abcdef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005F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005F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5083" name="Group 91"/>
          <p:cNvGrpSpPr/>
          <p:nvPr/>
        </p:nvGrpSpPr>
        <p:grpSpPr>
          <a:xfrm>
            <a:off x="8613775" y="4365625"/>
            <a:ext cx="433388" cy="601663"/>
            <a:chOff x="4286" y="3067"/>
            <a:chExt cx="273" cy="379"/>
          </a:xfrm>
        </p:grpSpPr>
        <p:sp>
          <p:nvSpPr>
            <p:cNvPr id="90174" name="Line 92"/>
            <p:cNvSpPr/>
            <p:nvPr/>
          </p:nvSpPr>
          <p:spPr>
            <a:xfrm flipV="1">
              <a:off x="4513" y="3067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0175" name="Text Box 93"/>
            <p:cNvSpPr txBox="1"/>
            <p:nvPr/>
          </p:nvSpPr>
          <p:spPr>
            <a:xfrm>
              <a:off x="4286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5086" name="Group 94"/>
          <p:cNvGrpSpPr/>
          <p:nvPr/>
        </p:nvGrpSpPr>
        <p:grpSpPr>
          <a:xfrm>
            <a:off x="6454775" y="4364038"/>
            <a:ext cx="433388" cy="603250"/>
            <a:chOff x="2699" y="3066"/>
            <a:chExt cx="273" cy="380"/>
          </a:xfrm>
        </p:grpSpPr>
        <p:sp>
          <p:nvSpPr>
            <p:cNvPr id="90172" name="Line 95"/>
            <p:cNvSpPr/>
            <p:nvPr/>
          </p:nvSpPr>
          <p:spPr>
            <a:xfrm flipV="1">
              <a:off x="2926" y="306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0173" name="Text Box 96"/>
            <p:cNvSpPr txBox="1"/>
            <p:nvPr/>
          </p:nvSpPr>
          <p:spPr>
            <a:xfrm>
              <a:off x="2699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5089" name="Group 97"/>
          <p:cNvGrpSpPr/>
          <p:nvPr/>
        </p:nvGrpSpPr>
        <p:grpSpPr>
          <a:xfrm>
            <a:off x="5734050" y="3213100"/>
            <a:ext cx="5041900" cy="1171575"/>
            <a:chOff x="2245" y="2341"/>
            <a:chExt cx="3176" cy="738"/>
          </a:xfrm>
        </p:grpSpPr>
        <p:sp>
          <p:nvSpPr>
            <p:cNvPr id="90140" name="Rectangle 98"/>
            <p:cNvSpPr/>
            <p:nvPr/>
          </p:nvSpPr>
          <p:spPr>
            <a:xfrm>
              <a:off x="2835" y="2704"/>
              <a:ext cx="2494" cy="36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None/>
              </a:pPr>
              <a:endParaRPr lang="zh-CN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90141" name="Line 99"/>
            <p:cNvSpPr/>
            <p:nvPr/>
          </p:nvSpPr>
          <p:spPr>
            <a:xfrm>
              <a:off x="3061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42" name="Line 100"/>
            <p:cNvSpPr/>
            <p:nvPr/>
          </p:nvSpPr>
          <p:spPr>
            <a:xfrm>
              <a:off x="3288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43" name="Line 101"/>
            <p:cNvSpPr/>
            <p:nvPr/>
          </p:nvSpPr>
          <p:spPr>
            <a:xfrm>
              <a:off x="4876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44" name="Line 102"/>
            <p:cNvSpPr/>
            <p:nvPr/>
          </p:nvSpPr>
          <p:spPr>
            <a:xfrm>
              <a:off x="4649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45" name="Line 103"/>
            <p:cNvSpPr/>
            <p:nvPr/>
          </p:nvSpPr>
          <p:spPr>
            <a:xfrm>
              <a:off x="3515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46" name="Line 104"/>
            <p:cNvSpPr/>
            <p:nvPr/>
          </p:nvSpPr>
          <p:spPr>
            <a:xfrm>
              <a:off x="3742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47" name="Line 105"/>
            <p:cNvSpPr/>
            <p:nvPr/>
          </p:nvSpPr>
          <p:spPr>
            <a:xfrm>
              <a:off x="3969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48" name="Line 106"/>
            <p:cNvSpPr/>
            <p:nvPr/>
          </p:nvSpPr>
          <p:spPr>
            <a:xfrm>
              <a:off x="4195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49" name="Line 107"/>
            <p:cNvSpPr/>
            <p:nvPr/>
          </p:nvSpPr>
          <p:spPr>
            <a:xfrm>
              <a:off x="4422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50" name="Text Box 108"/>
            <p:cNvSpPr txBox="1"/>
            <p:nvPr/>
          </p:nvSpPr>
          <p:spPr>
            <a:xfrm>
              <a:off x="2245" y="2341"/>
              <a:ext cx="5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下标：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90151" name="Text Box 109"/>
            <p:cNvSpPr txBox="1"/>
            <p:nvPr/>
          </p:nvSpPr>
          <p:spPr>
            <a:xfrm>
              <a:off x="2789" y="2387"/>
              <a:ext cx="18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52" name="Text Box 110"/>
            <p:cNvSpPr txBox="1"/>
            <p:nvPr/>
          </p:nvSpPr>
          <p:spPr>
            <a:xfrm>
              <a:off x="3062" y="2772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b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53" name="Text Box 111"/>
            <p:cNvSpPr txBox="1"/>
            <p:nvPr/>
          </p:nvSpPr>
          <p:spPr>
            <a:xfrm>
              <a:off x="3016" y="2371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54" name="Text Box 112"/>
            <p:cNvSpPr txBox="1"/>
            <p:nvPr/>
          </p:nvSpPr>
          <p:spPr>
            <a:xfrm>
              <a:off x="3288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2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55" name="Text Box 113"/>
            <p:cNvSpPr txBox="1"/>
            <p:nvPr/>
          </p:nvSpPr>
          <p:spPr>
            <a:xfrm>
              <a:off x="3470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3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56" name="Text Box 114"/>
            <p:cNvSpPr txBox="1"/>
            <p:nvPr/>
          </p:nvSpPr>
          <p:spPr>
            <a:xfrm>
              <a:off x="3697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4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57" name="Text Box 115"/>
            <p:cNvSpPr txBox="1"/>
            <p:nvPr/>
          </p:nvSpPr>
          <p:spPr>
            <a:xfrm>
              <a:off x="3924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5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58" name="Text Box 116"/>
            <p:cNvSpPr txBox="1"/>
            <p:nvPr/>
          </p:nvSpPr>
          <p:spPr>
            <a:xfrm>
              <a:off x="4150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6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59" name="Text Box 117"/>
            <p:cNvSpPr txBox="1"/>
            <p:nvPr/>
          </p:nvSpPr>
          <p:spPr>
            <a:xfrm>
              <a:off x="4377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7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60" name="Text Box 118"/>
            <p:cNvSpPr txBox="1"/>
            <p:nvPr/>
          </p:nvSpPr>
          <p:spPr>
            <a:xfrm>
              <a:off x="4604" y="2387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8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61" name="Text Box 119"/>
            <p:cNvSpPr txBox="1"/>
            <p:nvPr/>
          </p:nvSpPr>
          <p:spPr>
            <a:xfrm>
              <a:off x="5012" y="2387"/>
              <a:ext cx="40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255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62" name="Line 120"/>
            <p:cNvSpPr/>
            <p:nvPr/>
          </p:nvSpPr>
          <p:spPr>
            <a:xfrm>
              <a:off x="5103" y="2704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63" name="Text Box 121"/>
            <p:cNvSpPr txBox="1"/>
            <p:nvPr/>
          </p:nvSpPr>
          <p:spPr>
            <a:xfrm>
              <a:off x="4830" y="2750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…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64" name="Text Box 122"/>
            <p:cNvSpPr txBox="1"/>
            <p:nvPr/>
          </p:nvSpPr>
          <p:spPr>
            <a:xfrm>
              <a:off x="4830" y="2387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…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65" name="Text Box 123"/>
            <p:cNvSpPr txBox="1"/>
            <p:nvPr/>
          </p:nvSpPr>
          <p:spPr>
            <a:xfrm>
              <a:off x="2479" y="2791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solidFill>
                    <a:srgbClr val="F005F9"/>
                  </a:solidFill>
                  <a:latin typeface="Arial" panose="020B0604020202020204" pitchFamily="34" charset="0"/>
                </a:rPr>
                <a:t>str</a:t>
              </a:r>
              <a:endParaRPr lang="en-US" altLang="zh-CN" sz="2400" b="1" dirty="0">
                <a:solidFill>
                  <a:srgbClr val="F005F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166" name="Text Box 124"/>
            <p:cNvSpPr txBox="1"/>
            <p:nvPr/>
          </p:nvSpPr>
          <p:spPr>
            <a:xfrm>
              <a:off x="2835" y="2772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a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67" name="Text Box 125"/>
            <p:cNvSpPr txBox="1"/>
            <p:nvPr/>
          </p:nvSpPr>
          <p:spPr>
            <a:xfrm>
              <a:off x="3288" y="2772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c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68" name="Text Box 126"/>
            <p:cNvSpPr txBox="1"/>
            <p:nvPr/>
          </p:nvSpPr>
          <p:spPr>
            <a:xfrm>
              <a:off x="3515" y="2772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d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69" name="Text Box 127"/>
            <p:cNvSpPr txBox="1"/>
            <p:nvPr/>
          </p:nvSpPr>
          <p:spPr>
            <a:xfrm>
              <a:off x="3742" y="2772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e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70" name="Text Box 128"/>
            <p:cNvSpPr txBox="1"/>
            <p:nvPr/>
          </p:nvSpPr>
          <p:spPr>
            <a:xfrm>
              <a:off x="3969" y="2795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f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0171" name="Text Box 129"/>
            <p:cNvSpPr txBox="1"/>
            <p:nvPr/>
          </p:nvSpPr>
          <p:spPr>
            <a:xfrm>
              <a:off x="4147" y="2772"/>
              <a:ext cx="35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solidFill>
                    <a:schemeClr val="tx1"/>
                  </a:solidFill>
                  <a:latin typeface="Arial" panose="020B0604020202020204" pitchFamily="34" charset="0"/>
                  <a:sym typeface="+mn-ea"/>
                </a:rPr>
                <a:t>'\0'</a:t>
              </a:r>
              <a:endPara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85122" name="Group 130"/>
          <p:cNvGrpSpPr/>
          <p:nvPr/>
        </p:nvGrpSpPr>
        <p:grpSpPr>
          <a:xfrm>
            <a:off x="7605713" y="4365625"/>
            <a:ext cx="433387" cy="603250"/>
            <a:chOff x="2699" y="3066"/>
            <a:chExt cx="273" cy="380"/>
          </a:xfrm>
        </p:grpSpPr>
        <p:sp>
          <p:nvSpPr>
            <p:cNvPr id="90138" name="Line 131"/>
            <p:cNvSpPr/>
            <p:nvPr/>
          </p:nvSpPr>
          <p:spPr>
            <a:xfrm flipV="1">
              <a:off x="2926" y="306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0139" name="Text Box 132"/>
            <p:cNvSpPr txBox="1"/>
            <p:nvPr/>
          </p:nvSpPr>
          <p:spPr>
            <a:xfrm>
              <a:off x="2699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5125" name="Group 133"/>
          <p:cNvGrpSpPr/>
          <p:nvPr/>
        </p:nvGrpSpPr>
        <p:grpSpPr>
          <a:xfrm>
            <a:off x="7246938" y="4365625"/>
            <a:ext cx="433387" cy="603250"/>
            <a:chOff x="2699" y="3066"/>
            <a:chExt cx="273" cy="380"/>
          </a:xfrm>
        </p:grpSpPr>
        <p:sp>
          <p:nvSpPr>
            <p:cNvPr id="90136" name="Line 134"/>
            <p:cNvSpPr/>
            <p:nvPr/>
          </p:nvSpPr>
          <p:spPr>
            <a:xfrm flipV="1">
              <a:off x="2926" y="306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0137" name="Text Box 135"/>
            <p:cNvSpPr txBox="1"/>
            <p:nvPr/>
          </p:nvSpPr>
          <p:spPr>
            <a:xfrm>
              <a:off x="2699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5128" name="Group 136"/>
          <p:cNvGrpSpPr/>
          <p:nvPr/>
        </p:nvGrpSpPr>
        <p:grpSpPr>
          <a:xfrm>
            <a:off x="7964488" y="4365625"/>
            <a:ext cx="433387" cy="603250"/>
            <a:chOff x="2699" y="3066"/>
            <a:chExt cx="273" cy="380"/>
          </a:xfrm>
        </p:grpSpPr>
        <p:sp>
          <p:nvSpPr>
            <p:cNvPr id="90134" name="Line 137"/>
            <p:cNvSpPr/>
            <p:nvPr/>
          </p:nvSpPr>
          <p:spPr>
            <a:xfrm flipV="1">
              <a:off x="2926" y="306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0135" name="Text Box 138"/>
            <p:cNvSpPr txBox="1"/>
            <p:nvPr/>
          </p:nvSpPr>
          <p:spPr>
            <a:xfrm>
              <a:off x="2699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5131" name="Group 139"/>
          <p:cNvGrpSpPr/>
          <p:nvPr/>
        </p:nvGrpSpPr>
        <p:grpSpPr>
          <a:xfrm>
            <a:off x="6886575" y="4365625"/>
            <a:ext cx="433388" cy="603250"/>
            <a:chOff x="2699" y="3066"/>
            <a:chExt cx="273" cy="380"/>
          </a:xfrm>
        </p:grpSpPr>
        <p:sp>
          <p:nvSpPr>
            <p:cNvPr id="90132" name="Line 140"/>
            <p:cNvSpPr/>
            <p:nvPr/>
          </p:nvSpPr>
          <p:spPr>
            <a:xfrm flipV="1">
              <a:off x="2926" y="306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0133" name="Text Box 141"/>
            <p:cNvSpPr txBox="1"/>
            <p:nvPr/>
          </p:nvSpPr>
          <p:spPr>
            <a:xfrm>
              <a:off x="2699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5134" name="Group 142"/>
          <p:cNvGrpSpPr/>
          <p:nvPr/>
        </p:nvGrpSpPr>
        <p:grpSpPr>
          <a:xfrm>
            <a:off x="8326438" y="4365625"/>
            <a:ext cx="433387" cy="603250"/>
            <a:chOff x="2699" y="3066"/>
            <a:chExt cx="273" cy="380"/>
          </a:xfrm>
        </p:grpSpPr>
        <p:sp>
          <p:nvSpPr>
            <p:cNvPr id="90130" name="Line 143"/>
            <p:cNvSpPr/>
            <p:nvPr/>
          </p:nvSpPr>
          <p:spPr>
            <a:xfrm flipV="1">
              <a:off x="2926" y="306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0131" name="Text Box 144"/>
            <p:cNvSpPr txBox="1"/>
            <p:nvPr/>
          </p:nvSpPr>
          <p:spPr>
            <a:xfrm>
              <a:off x="2699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60" name="Rectangle 2"/>
          <p:cNvSpPr txBox="1">
            <a:spLocks noChangeArrowheads="1"/>
          </p:cNvSpPr>
          <p:nvPr/>
        </p:nvSpPr>
        <p:spPr bwMode="auto">
          <a:xfrm>
            <a:off x="587375" y="6396038"/>
            <a:ext cx="4930775" cy="37306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  <a:sym typeface="+mn-ea"/>
              </a:rPr>
              <a:t>程序实现什么功能？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  <a:sym typeface="+mn-ea"/>
            </a:endParaRPr>
          </a:p>
        </p:txBody>
      </p:sp>
      <p:sp>
        <p:nvSpPr>
          <p:cNvPr id="3" name="对话气泡: 圆角矩形 2"/>
          <p:cNvSpPr/>
          <p:nvPr/>
        </p:nvSpPr>
        <p:spPr>
          <a:xfrm>
            <a:off x="4760913" y="5022850"/>
            <a:ext cx="2670175" cy="511175"/>
          </a:xfrm>
          <a:prstGeom prst="wedgeRoundRectCallout">
            <a:avLst>
              <a:gd name="adj1" fmla="val -83481"/>
              <a:gd name="adj2" fmla="val 49810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b="1" dirty="0"/>
              <a:t>p - </a:t>
            </a:r>
            <a:r>
              <a:rPr lang="en-US" altLang="zh-CN" sz="2400" b="1" dirty="0">
                <a:sym typeface="Wingdings" panose="05000000000000000000" pitchFamily="2" charset="2"/>
              </a:rPr>
              <a:t>&amp;str[0]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43675" y="1311275"/>
            <a:ext cx="23050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程序运行界面：</a:t>
            </a:r>
            <a:endParaRPr kumimoji="0" lang="zh-CN" altLang="en-US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" name="对话气泡: 圆角矩形 63"/>
          <p:cNvSpPr/>
          <p:nvPr/>
        </p:nvSpPr>
        <p:spPr>
          <a:xfrm>
            <a:off x="2692400" y="3533775"/>
            <a:ext cx="2668588" cy="511175"/>
          </a:xfrm>
          <a:prstGeom prst="wedgeRoundRectCallout">
            <a:avLst>
              <a:gd name="adj1" fmla="val -83481"/>
              <a:gd name="adj2" fmla="val 49810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str</a:t>
            </a:r>
            <a:r>
              <a:rPr lang="zh-CN" altLang="en-US" sz="2400" b="1" dirty="0">
                <a:sym typeface="Wingdings" panose="05000000000000000000" pitchFamily="2" charset="2"/>
              </a:rPr>
              <a:t>等价于</a:t>
            </a:r>
            <a:r>
              <a:rPr lang="en-US" altLang="zh-CN" sz="2400" b="1" dirty="0">
                <a:sym typeface="Wingdings" panose="05000000000000000000" pitchFamily="2" charset="2"/>
              </a:rPr>
              <a:t>&amp;str[0]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499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850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85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85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85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8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85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8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8" dur="500"/>
                                        <p:tgtEl>
                                          <p:spTgt spid="85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8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charRg st="7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bldLvl="0" animBg="1"/>
      <p:bldP spid="84997" grpId="0" animBg="1" uiExpand="1" build="allAtOnce"/>
      <p:bldP spid="3" grpId="0" animBg="1"/>
      <p:bldP spid="64" grpId="0" animBg="1"/>
    </p:bldLst>
  </p:timing>
</p:sld>
</file>

<file path=ppt/tags/tag1.xml><?xml version="1.0" encoding="utf-8"?>
<p:tagLst xmlns:p="http://schemas.openxmlformats.org/presentationml/2006/main">
  <p:tag name="TIMING" val="|58.8|48.6|42.8|7.5|22.0|34.7"/>
</p:tagLst>
</file>

<file path=ppt/tags/tag2.xml><?xml version="1.0" encoding="utf-8"?>
<p:tagLst xmlns:p="http://schemas.openxmlformats.org/presentationml/2006/main">
  <p:tag name="TIMING" val="|46.5|36.2|10.9"/>
</p:tagLst>
</file>

<file path=ppt/tags/tag3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8621</Words>
  <Application>WPS 演示</Application>
  <PresentationFormat>宽屏</PresentationFormat>
  <Paragraphs>1340</Paragraphs>
  <Slides>38</Slides>
  <Notes>40</Notes>
  <HiddenSlides>2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2" baseType="lpstr">
      <vt:lpstr>Arial</vt:lpstr>
      <vt:lpstr>宋体</vt:lpstr>
      <vt:lpstr>Wingdings</vt:lpstr>
      <vt:lpstr>Tahoma</vt:lpstr>
      <vt:lpstr>隶书</vt:lpstr>
      <vt:lpstr>微软雅黑</vt:lpstr>
      <vt:lpstr>Times New Roman</vt:lpstr>
      <vt:lpstr>Arial Unicode MS</vt:lpstr>
      <vt:lpstr>Wingdings 3</vt:lpstr>
      <vt:lpstr>Symbol</vt:lpstr>
      <vt:lpstr>华文隶书</vt:lpstr>
      <vt:lpstr>Wingdings</vt:lpstr>
      <vt:lpstr>1_Slit</vt:lpstr>
      <vt:lpstr>Paint.Picture</vt:lpstr>
      <vt:lpstr>第7章 指   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§7.2  指针与变量</vt:lpstr>
      <vt:lpstr>PowerPoint 演示文稿</vt:lpstr>
      <vt:lpstr>PowerPoint 演示文稿</vt:lpstr>
      <vt:lpstr>§7.2.1 指针类型与指针变量</vt:lpstr>
      <vt:lpstr>指针变量：用来存放地址的变量</vt:lpstr>
      <vt:lpstr>PowerPoint 演示文稿</vt:lpstr>
      <vt:lpstr>PowerPoint 演示文稿</vt:lpstr>
      <vt:lpstr>§7.2.2  指针所指变量</vt:lpstr>
      <vt:lpstr>PowerPoint 演示文稿</vt:lpstr>
      <vt:lpstr>【例7.2】 指针变量与指针所指变量</vt:lpstr>
      <vt:lpstr>【例7.3】 输入两个整数，按从大到小顺序输出 	（用指针变量实现）</vt:lpstr>
      <vt:lpstr>【思考】编函数，交换2个变量的值</vt:lpstr>
      <vt:lpstr>PowerPoint 演示文稿</vt:lpstr>
      <vt:lpstr>§7.2.3 无效指针与空指针</vt:lpstr>
      <vt:lpstr>空指针( NULL )</vt:lpstr>
      <vt:lpstr>【例7.4】分析下述程序片段的执行结果</vt:lpstr>
      <vt:lpstr>§7.3 指针操作与指针运算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【例7.6】输入一个字符串，求其长度  库函数 len=strlen(str);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760</cp:revision>
  <dcterms:created xsi:type="dcterms:W3CDTF">2019-09-21T08:05:00Z</dcterms:created>
  <dcterms:modified xsi:type="dcterms:W3CDTF">2025-10-23T09:37:50Z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5B70200664364BB89D48EB7884CE3ACA_12</vt:lpwstr>
  </property>
</Properties>
</file>