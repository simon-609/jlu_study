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</p:sldMasterIdLst>
  <p:sldIdLst>
    <p:sldId id="317" r:id="rId2"/>
    <p:sldId id="318" r:id="rId3"/>
    <p:sldId id="319" r:id="rId4"/>
    <p:sldId id="320" r:id="rId5"/>
    <p:sldId id="321" r:id="rId6"/>
    <p:sldId id="322" r:id="rId7"/>
    <p:sldId id="323" r:id="rId8"/>
    <p:sldId id="324" r:id="rId9"/>
    <p:sldId id="325" r:id="rId10"/>
    <p:sldId id="327" r:id="rId11"/>
    <p:sldId id="348" r:id="rId12"/>
    <p:sldId id="326" r:id="rId13"/>
    <p:sldId id="328" r:id="rId14"/>
    <p:sldId id="329" r:id="rId15"/>
    <p:sldId id="330" r:id="rId16"/>
    <p:sldId id="331" r:id="rId17"/>
    <p:sldId id="332" r:id="rId18"/>
    <p:sldId id="333" r:id="rId19"/>
    <p:sldId id="334" r:id="rId20"/>
    <p:sldId id="347" r:id="rId21"/>
    <p:sldId id="336" r:id="rId22"/>
    <p:sldId id="337" r:id="rId23"/>
    <p:sldId id="338" r:id="rId24"/>
    <p:sldId id="339" r:id="rId25"/>
    <p:sldId id="340" r:id="rId26"/>
    <p:sldId id="341" r:id="rId27"/>
    <p:sldId id="346" r:id="rId28"/>
    <p:sldId id="342" r:id="rId29"/>
    <p:sldId id="343" r:id="rId30"/>
    <p:sldId id="344" r:id="rId31"/>
    <p:sldId id="345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FF"/>
    <a:srgbClr val="0000FF"/>
    <a:srgbClr val="FF6600"/>
    <a:srgbClr val="148B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23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26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章名及主要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9819" y="287379"/>
            <a:ext cx="10515600" cy="707037"/>
          </a:xfrm>
        </p:spPr>
        <p:txBody>
          <a:bodyPr/>
          <a:lstStyle>
            <a:lvl1pPr algn="ctr">
              <a:defRPr sz="4400">
                <a:solidFill>
                  <a:srgbClr val="0070C0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4453966" y="1427910"/>
            <a:ext cx="3335488" cy="4595561"/>
          </a:xfrm>
          <a:prstGeom prst="rect">
            <a:avLst/>
          </a:prstGeom>
          <a:gradFill>
            <a:gsLst>
              <a:gs pos="0">
                <a:schemeClr val="bg1">
                  <a:lumMod val="82000"/>
                  <a:lumOff val="18000"/>
                </a:schemeClr>
              </a:gs>
              <a:gs pos="47000">
                <a:srgbClr val="F5F5F5"/>
              </a:gs>
              <a:gs pos="100000">
                <a:schemeClr val="bg1">
                  <a:lumMod val="95000"/>
                  <a:lumOff val="5000"/>
                </a:schemeClr>
              </a:gs>
            </a:gsLst>
            <a:lin ang="18900000" scaled="0"/>
          </a:gradFill>
          <a:ln w="7938" cap="flat">
            <a:noFill/>
            <a:prstDash val="solid"/>
            <a:miter lim="800000"/>
            <a:headEnd/>
            <a:tailEnd/>
          </a:ln>
          <a:effectLst>
            <a:outerShdw blurRad="228600" dist="114300" dir="2700000" algn="tl" rotWithShape="0">
              <a:prstClr val="black">
                <a:alpha val="25000"/>
              </a:prstClr>
            </a:outerShdw>
          </a:effectLst>
        </p:spPr>
        <p:txBody>
          <a:bodyPr vert="horz" wrap="square" lIns="94124" tIns="47062" rIns="94124" bIns="47062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grpSp>
        <p:nvGrpSpPr>
          <p:cNvPr id="4" name="组合 3"/>
          <p:cNvGrpSpPr/>
          <p:nvPr/>
        </p:nvGrpSpPr>
        <p:grpSpPr>
          <a:xfrm>
            <a:off x="3369313" y="1547289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5" name="同心圆 4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7" name="椭圆 6"/>
          <p:cNvSpPr/>
          <p:nvPr/>
        </p:nvSpPr>
        <p:spPr>
          <a:xfrm>
            <a:off x="3486439" y="1667854"/>
            <a:ext cx="729101" cy="75051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 dirty="0"/>
          </a:p>
        </p:txBody>
      </p:sp>
      <p:grpSp>
        <p:nvGrpSpPr>
          <p:cNvPr id="8" name="组合 7"/>
          <p:cNvGrpSpPr/>
          <p:nvPr/>
        </p:nvGrpSpPr>
        <p:grpSpPr>
          <a:xfrm>
            <a:off x="3352113" y="3193403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9" name="同心圆 8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11" name="椭圆 10"/>
          <p:cNvSpPr/>
          <p:nvPr/>
        </p:nvSpPr>
        <p:spPr>
          <a:xfrm>
            <a:off x="3469238" y="3313968"/>
            <a:ext cx="729101" cy="75051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12" name="组合 11"/>
          <p:cNvGrpSpPr/>
          <p:nvPr/>
        </p:nvGrpSpPr>
        <p:grpSpPr>
          <a:xfrm>
            <a:off x="3352113" y="4762585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13" name="同心圆 12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1484232" y="1093652"/>
              <a:ext cx="1504272" cy="15042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15" name="椭圆 14"/>
          <p:cNvSpPr/>
          <p:nvPr/>
        </p:nvSpPr>
        <p:spPr>
          <a:xfrm>
            <a:off x="3469238" y="4883150"/>
            <a:ext cx="729101" cy="75051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16" name="组合 15"/>
          <p:cNvGrpSpPr/>
          <p:nvPr/>
        </p:nvGrpSpPr>
        <p:grpSpPr>
          <a:xfrm>
            <a:off x="8046813" y="1547289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17" name="同心圆 16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19" name="椭圆 18"/>
          <p:cNvSpPr/>
          <p:nvPr/>
        </p:nvSpPr>
        <p:spPr>
          <a:xfrm>
            <a:off x="8163937" y="1667854"/>
            <a:ext cx="729101" cy="75051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20" name="组合 19"/>
          <p:cNvGrpSpPr/>
          <p:nvPr/>
        </p:nvGrpSpPr>
        <p:grpSpPr>
          <a:xfrm>
            <a:off x="8029613" y="3193403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21" name="同心圆 20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23" name="椭圆 22"/>
          <p:cNvSpPr/>
          <p:nvPr/>
        </p:nvSpPr>
        <p:spPr>
          <a:xfrm>
            <a:off x="8146736" y="3313968"/>
            <a:ext cx="729101" cy="75051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24" name="组合 23"/>
          <p:cNvGrpSpPr/>
          <p:nvPr/>
        </p:nvGrpSpPr>
        <p:grpSpPr>
          <a:xfrm>
            <a:off x="8029613" y="4762585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25" name="同心圆 24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26" name="椭圆 25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27" name="椭圆 26"/>
          <p:cNvSpPr/>
          <p:nvPr/>
        </p:nvSpPr>
        <p:spPr>
          <a:xfrm>
            <a:off x="8146736" y="4883150"/>
            <a:ext cx="729101" cy="75051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sp>
        <p:nvSpPr>
          <p:cNvPr id="28" name="TextBox 2053"/>
          <p:cNvSpPr txBox="1"/>
          <p:nvPr/>
        </p:nvSpPr>
        <p:spPr>
          <a:xfrm>
            <a:off x="3490772" y="1741428"/>
            <a:ext cx="729101" cy="649085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Humnst777 BlkCn BT" panose="020B0803030504020204" pitchFamily="34" charset="0"/>
              </a:rPr>
              <a:t>01</a:t>
            </a:r>
            <a:endParaRPr lang="zh-CN" altLang="en-US" sz="3191" dirty="0">
              <a:solidFill>
                <a:schemeClr val="bg1"/>
              </a:solidFill>
              <a:latin typeface="Humnst777 BlkCn BT" panose="020B0803030504020204" pitchFamily="34" charset="0"/>
            </a:endParaRPr>
          </a:p>
        </p:txBody>
      </p:sp>
      <p:sp>
        <p:nvSpPr>
          <p:cNvPr id="29" name="TextBox 100"/>
          <p:cNvSpPr txBox="1"/>
          <p:nvPr/>
        </p:nvSpPr>
        <p:spPr>
          <a:xfrm>
            <a:off x="3486436" y="3303360"/>
            <a:ext cx="729101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02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0" name="TextBox 101"/>
          <p:cNvSpPr txBox="1"/>
          <p:nvPr/>
        </p:nvSpPr>
        <p:spPr>
          <a:xfrm>
            <a:off x="3486439" y="4906991"/>
            <a:ext cx="729101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03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1" name="TextBox 102"/>
          <p:cNvSpPr txBox="1"/>
          <p:nvPr/>
        </p:nvSpPr>
        <p:spPr>
          <a:xfrm>
            <a:off x="8146735" y="4893225"/>
            <a:ext cx="729101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06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2" name="TextBox 103"/>
          <p:cNvSpPr txBox="1"/>
          <p:nvPr/>
        </p:nvSpPr>
        <p:spPr>
          <a:xfrm>
            <a:off x="8172214" y="3362265"/>
            <a:ext cx="729101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05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3" name="TextBox 104"/>
          <p:cNvSpPr txBox="1"/>
          <p:nvPr/>
        </p:nvSpPr>
        <p:spPr>
          <a:xfrm>
            <a:off x="8178193" y="1708275"/>
            <a:ext cx="729101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04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4" name="Freeform 11"/>
          <p:cNvSpPr>
            <a:spLocks/>
          </p:cNvSpPr>
          <p:nvPr/>
        </p:nvSpPr>
        <p:spPr bwMode="auto">
          <a:xfrm>
            <a:off x="4602210" y="1547289"/>
            <a:ext cx="1488782" cy="2123944"/>
          </a:xfrm>
          <a:custGeom>
            <a:avLst/>
            <a:gdLst>
              <a:gd name="T0" fmla="*/ 2209 w 2293"/>
              <a:gd name="T1" fmla="*/ 0 h 3267"/>
              <a:gd name="T2" fmla="*/ 83 w 2293"/>
              <a:gd name="T3" fmla="*/ 0 h 3267"/>
              <a:gd name="T4" fmla="*/ 0 w 2293"/>
              <a:gd name="T5" fmla="*/ 83 h 3267"/>
              <a:gd name="T6" fmla="*/ 0 w 2293"/>
              <a:gd name="T7" fmla="*/ 3184 h 3267"/>
              <a:gd name="T8" fmla="*/ 83 w 2293"/>
              <a:gd name="T9" fmla="*/ 3267 h 3267"/>
              <a:gd name="T10" fmla="*/ 2209 w 2293"/>
              <a:gd name="T11" fmla="*/ 3267 h 3267"/>
              <a:gd name="T12" fmla="*/ 2293 w 2293"/>
              <a:gd name="T13" fmla="*/ 3184 h 3267"/>
              <a:gd name="T14" fmla="*/ 2293 w 2293"/>
              <a:gd name="T15" fmla="*/ 83 h 3267"/>
              <a:gd name="T16" fmla="*/ 2209 w 2293"/>
              <a:gd name="T17" fmla="*/ 0 h 3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3" h="3267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4"/>
                </a:lnTo>
                <a:cubicBezTo>
                  <a:pt x="0" y="3229"/>
                  <a:pt x="37" y="3267"/>
                  <a:pt x="83" y="3267"/>
                </a:cubicBezTo>
                <a:lnTo>
                  <a:pt x="2209" y="3267"/>
                </a:lnTo>
                <a:cubicBezTo>
                  <a:pt x="2255" y="3267"/>
                  <a:pt x="2293" y="3229"/>
                  <a:pt x="2293" y="3184"/>
                </a:cubicBezTo>
                <a:lnTo>
                  <a:pt x="2293" y="83"/>
                </a:lnTo>
                <a:cubicBezTo>
                  <a:pt x="2293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5" name="Freeform 12"/>
          <p:cNvSpPr>
            <a:spLocks/>
          </p:cNvSpPr>
          <p:nvPr/>
        </p:nvSpPr>
        <p:spPr bwMode="auto">
          <a:xfrm>
            <a:off x="6176138" y="1547289"/>
            <a:ext cx="1487491" cy="2123944"/>
          </a:xfrm>
          <a:custGeom>
            <a:avLst/>
            <a:gdLst>
              <a:gd name="T0" fmla="*/ 2209 w 2292"/>
              <a:gd name="T1" fmla="*/ 0 h 3267"/>
              <a:gd name="T2" fmla="*/ 83 w 2292"/>
              <a:gd name="T3" fmla="*/ 0 h 3267"/>
              <a:gd name="T4" fmla="*/ 0 w 2292"/>
              <a:gd name="T5" fmla="*/ 83 h 3267"/>
              <a:gd name="T6" fmla="*/ 0 w 2292"/>
              <a:gd name="T7" fmla="*/ 3184 h 3267"/>
              <a:gd name="T8" fmla="*/ 83 w 2292"/>
              <a:gd name="T9" fmla="*/ 3267 h 3267"/>
              <a:gd name="T10" fmla="*/ 2209 w 2292"/>
              <a:gd name="T11" fmla="*/ 3267 h 3267"/>
              <a:gd name="T12" fmla="*/ 2292 w 2292"/>
              <a:gd name="T13" fmla="*/ 3184 h 3267"/>
              <a:gd name="T14" fmla="*/ 2292 w 2292"/>
              <a:gd name="T15" fmla="*/ 83 h 3267"/>
              <a:gd name="T16" fmla="*/ 2209 w 2292"/>
              <a:gd name="T17" fmla="*/ 0 h 3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2" h="3267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4"/>
                </a:lnTo>
                <a:cubicBezTo>
                  <a:pt x="0" y="3229"/>
                  <a:pt x="37" y="3267"/>
                  <a:pt x="83" y="3267"/>
                </a:cubicBezTo>
                <a:lnTo>
                  <a:pt x="2209" y="3267"/>
                </a:lnTo>
                <a:cubicBezTo>
                  <a:pt x="2255" y="3267"/>
                  <a:pt x="2292" y="3229"/>
                  <a:pt x="2292" y="3184"/>
                </a:cubicBezTo>
                <a:lnTo>
                  <a:pt x="2292" y="83"/>
                </a:lnTo>
                <a:cubicBezTo>
                  <a:pt x="2292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6" name="Freeform 13"/>
          <p:cNvSpPr>
            <a:spLocks/>
          </p:cNvSpPr>
          <p:nvPr/>
        </p:nvSpPr>
        <p:spPr bwMode="auto">
          <a:xfrm>
            <a:off x="6176138" y="3751284"/>
            <a:ext cx="1487491" cy="2123944"/>
          </a:xfrm>
          <a:custGeom>
            <a:avLst/>
            <a:gdLst>
              <a:gd name="T0" fmla="*/ 2209 w 2292"/>
              <a:gd name="T1" fmla="*/ 0 h 3266"/>
              <a:gd name="T2" fmla="*/ 83 w 2292"/>
              <a:gd name="T3" fmla="*/ 0 h 3266"/>
              <a:gd name="T4" fmla="*/ 0 w 2292"/>
              <a:gd name="T5" fmla="*/ 83 h 3266"/>
              <a:gd name="T6" fmla="*/ 0 w 2292"/>
              <a:gd name="T7" fmla="*/ 3183 h 3266"/>
              <a:gd name="T8" fmla="*/ 83 w 2292"/>
              <a:gd name="T9" fmla="*/ 3266 h 3266"/>
              <a:gd name="T10" fmla="*/ 2209 w 2292"/>
              <a:gd name="T11" fmla="*/ 3266 h 3266"/>
              <a:gd name="T12" fmla="*/ 2292 w 2292"/>
              <a:gd name="T13" fmla="*/ 3183 h 3266"/>
              <a:gd name="T14" fmla="*/ 2292 w 2292"/>
              <a:gd name="T15" fmla="*/ 83 h 3266"/>
              <a:gd name="T16" fmla="*/ 2209 w 2292"/>
              <a:gd name="T17" fmla="*/ 0 h 3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2" h="3266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3"/>
                </a:lnTo>
                <a:cubicBezTo>
                  <a:pt x="0" y="3229"/>
                  <a:pt x="37" y="3266"/>
                  <a:pt x="83" y="3266"/>
                </a:cubicBezTo>
                <a:lnTo>
                  <a:pt x="2209" y="3266"/>
                </a:lnTo>
                <a:cubicBezTo>
                  <a:pt x="2255" y="3266"/>
                  <a:pt x="2292" y="3229"/>
                  <a:pt x="2292" y="3183"/>
                </a:cubicBezTo>
                <a:lnTo>
                  <a:pt x="2292" y="83"/>
                </a:lnTo>
                <a:cubicBezTo>
                  <a:pt x="2292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7" name="Freeform 14"/>
          <p:cNvSpPr>
            <a:spLocks/>
          </p:cNvSpPr>
          <p:nvPr/>
        </p:nvSpPr>
        <p:spPr bwMode="auto">
          <a:xfrm>
            <a:off x="4602210" y="3751284"/>
            <a:ext cx="1488782" cy="2123944"/>
          </a:xfrm>
          <a:custGeom>
            <a:avLst/>
            <a:gdLst>
              <a:gd name="T0" fmla="*/ 2209 w 2293"/>
              <a:gd name="T1" fmla="*/ 0 h 3266"/>
              <a:gd name="T2" fmla="*/ 83 w 2293"/>
              <a:gd name="T3" fmla="*/ 0 h 3266"/>
              <a:gd name="T4" fmla="*/ 0 w 2293"/>
              <a:gd name="T5" fmla="*/ 83 h 3266"/>
              <a:gd name="T6" fmla="*/ 0 w 2293"/>
              <a:gd name="T7" fmla="*/ 3183 h 3266"/>
              <a:gd name="T8" fmla="*/ 83 w 2293"/>
              <a:gd name="T9" fmla="*/ 3266 h 3266"/>
              <a:gd name="T10" fmla="*/ 2209 w 2293"/>
              <a:gd name="T11" fmla="*/ 3266 h 3266"/>
              <a:gd name="T12" fmla="*/ 2293 w 2293"/>
              <a:gd name="T13" fmla="*/ 3183 h 3266"/>
              <a:gd name="T14" fmla="*/ 2293 w 2293"/>
              <a:gd name="T15" fmla="*/ 83 h 3266"/>
              <a:gd name="T16" fmla="*/ 2209 w 2293"/>
              <a:gd name="T17" fmla="*/ 0 h 3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3" h="3266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3"/>
                </a:lnTo>
                <a:cubicBezTo>
                  <a:pt x="0" y="3229"/>
                  <a:pt x="37" y="3266"/>
                  <a:pt x="83" y="3266"/>
                </a:cubicBezTo>
                <a:lnTo>
                  <a:pt x="2209" y="3266"/>
                </a:lnTo>
                <a:cubicBezTo>
                  <a:pt x="2255" y="3266"/>
                  <a:pt x="2293" y="3229"/>
                  <a:pt x="2293" y="3183"/>
                </a:cubicBezTo>
                <a:lnTo>
                  <a:pt x="2293" y="83"/>
                </a:lnTo>
                <a:cubicBezTo>
                  <a:pt x="2293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9" name="文本占位符 38"/>
          <p:cNvSpPr>
            <a:spLocks noGrp="1"/>
          </p:cNvSpPr>
          <p:nvPr>
            <p:ph type="body" sz="quarter" idx="10" hasCustomPrompt="1"/>
          </p:nvPr>
        </p:nvSpPr>
        <p:spPr>
          <a:xfrm>
            <a:off x="9233120" y="4940162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6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681901" y="3395436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7" name="文本占位符 38"/>
          <p:cNvSpPr>
            <a:spLocks noGrp="1"/>
          </p:cNvSpPr>
          <p:nvPr>
            <p:ph type="body" sz="quarter" idx="12" hasCustomPrompt="1"/>
          </p:nvPr>
        </p:nvSpPr>
        <p:spPr>
          <a:xfrm>
            <a:off x="689691" y="5007665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8" name="文本占位符 38"/>
          <p:cNvSpPr>
            <a:spLocks noGrp="1"/>
          </p:cNvSpPr>
          <p:nvPr>
            <p:ph type="body" sz="quarter" idx="13" hasCustomPrompt="1"/>
          </p:nvPr>
        </p:nvSpPr>
        <p:spPr>
          <a:xfrm>
            <a:off x="9115309" y="1708274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9" name="文本占位符 38"/>
          <p:cNvSpPr>
            <a:spLocks noGrp="1"/>
          </p:cNvSpPr>
          <p:nvPr>
            <p:ph type="body" sz="quarter" idx="14" hasCustomPrompt="1"/>
          </p:nvPr>
        </p:nvSpPr>
        <p:spPr>
          <a:xfrm>
            <a:off x="9233120" y="3336531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50" name="文本占位符 38"/>
          <p:cNvSpPr>
            <a:spLocks noGrp="1"/>
          </p:cNvSpPr>
          <p:nvPr>
            <p:ph type="body" sz="quarter" idx="15" hasCustomPrompt="1"/>
          </p:nvPr>
        </p:nvSpPr>
        <p:spPr>
          <a:xfrm>
            <a:off x="823258" y="1860675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</p:spTree>
    <p:extLst>
      <p:ext uri="{BB962C8B-B14F-4D97-AF65-F5344CB8AC3E}">
        <p14:creationId xmlns:p14="http://schemas.microsoft.com/office/powerpoint/2010/main" val="2354473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燕尾形 10"/>
          <p:cNvSpPr/>
          <p:nvPr/>
        </p:nvSpPr>
        <p:spPr>
          <a:xfrm>
            <a:off x="10041446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2" name="燕尾形 11"/>
          <p:cNvSpPr/>
          <p:nvPr/>
        </p:nvSpPr>
        <p:spPr>
          <a:xfrm>
            <a:off x="10445100" y="414578"/>
            <a:ext cx="215282" cy="209140"/>
          </a:xfrm>
          <a:prstGeom prst="chevron">
            <a:avLst/>
          </a:prstGeom>
          <a:solidFill>
            <a:schemeClr val="accent3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3" name="燕尾形 12"/>
          <p:cNvSpPr/>
          <p:nvPr/>
        </p:nvSpPr>
        <p:spPr>
          <a:xfrm>
            <a:off x="10848755" y="414578"/>
            <a:ext cx="215282" cy="209140"/>
          </a:xfrm>
          <a:prstGeom prst="chevron">
            <a:avLst/>
          </a:prstGeom>
          <a:solidFill>
            <a:schemeClr val="accent4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4" name="燕尾形 13"/>
          <p:cNvSpPr/>
          <p:nvPr/>
        </p:nvSpPr>
        <p:spPr>
          <a:xfrm>
            <a:off x="11252408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5" name="燕尾形 14"/>
          <p:cNvSpPr/>
          <p:nvPr/>
        </p:nvSpPr>
        <p:spPr>
          <a:xfrm>
            <a:off x="11656063" y="414578"/>
            <a:ext cx="215282" cy="209140"/>
          </a:xfrm>
          <a:prstGeom prst="chevron">
            <a:avLst/>
          </a:prstGeom>
          <a:solidFill>
            <a:schemeClr val="accent2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cxnSp>
        <p:nvCxnSpPr>
          <p:cNvPr id="18" name="直接连接符 17"/>
          <p:cNvCxnSpPr/>
          <p:nvPr/>
        </p:nvCxnSpPr>
        <p:spPr>
          <a:xfrm>
            <a:off x="211513" y="6522440"/>
            <a:ext cx="11911077" cy="2321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4235254" cy="498717"/>
          </a:xfrm>
          <a:prstGeom prst="rect">
            <a:avLst/>
          </a:prstGeom>
        </p:spPr>
        <p:txBody>
          <a:bodyPr vert="horz" lIns="123444" tIns="61722" rIns="123444" bIns="61722" rtlCol="0" anchor="ctr">
            <a:noAutofit/>
          </a:bodyPr>
          <a:lstStyle>
            <a:lvl1pPr>
              <a:defRPr lang="zh-CN" altLang="en-US" sz="249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algn="l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0" y="374360"/>
            <a:ext cx="423026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  <p:sp>
        <p:nvSpPr>
          <p:cNvPr id="16" name="矩形 15"/>
          <p:cNvSpPr/>
          <p:nvPr/>
        </p:nvSpPr>
        <p:spPr>
          <a:xfrm>
            <a:off x="457728" y="374360"/>
            <a:ext cx="153669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</p:spTree>
    <p:extLst>
      <p:ext uri="{BB962C8B-B14F-4D97-AF65-F5344CB8AC3E}">
        <p14:creationId xmlns:p14="http://schemas.microsoft.com/office/powerpoint/2010/main" val="2498590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与内容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燕尾形 10"/>
          <p:cNvSpPr/>
          <p:nvPr/>
        </p:nvSpPr>
        <p:spPr>
          <a:xfrm>
            <a:off x="10041446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2" name="燕尾形 11"/>
          <p:cNvSpPr/>
          <p:nvPr/>
        </p:nvSpPr>
        <p:spPr>
          <a:xfrm>
            <a:off x="10445100" y="414578"/>
            <a:ext cx="215282" cy="209140"/>
          </a:xfrm>
          <a:prstGeom prst="chevron">
            <a:avLst/>
          </a:prstGeom>
          <a:solidFill>
            <a:schemeClr val="accent3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3" name="燕尾形 12"/>
          <p:cNvSpPr/>
          <p:nvPr/>
        </p:nvSpPr>
        <p:spPr>
          <a:xfrm>
            <a:off x="10848755" y="414578"/>
            <a:ext cx="215282" cy="209140"/>
          </a:xfrm>
          <a:prstGeom prst="chevron">
            <a:avLst/>
          </a:prstGeom>
          <a:solidFill>
            <a:schemeClr val="accent4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4" name="燕尾形 13"/>
          <p:cNvSpPr/>
          <p:nvPr/>
        </p:nvSpPr>
        <p:spPr>
          <a:xfrm>
            <a:off x="11252408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5" name="燕尾形 14"/>
          <p:cNvSpPr/>
          <p:nvPr/>
        </p:nvSpPr>
        <p:spPr>
          <a:xfrm>
            <a:off x="11656063" y="414578"/>
            <a:ext cx="215282" cy="209140"/>
          </a:xfrm>
          <a:prstGeom prst="chevron">
            <a:avLst/>
          </a:prstGeom>
          <a:solidFill>
            <a:schemeClr val="accent2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cxnSp>
        <p:nvCxnSpPr>
          <p:cNvPr id="18" name="直接连接符 17"/>
          <p:cNvCxnSpPr/>
          <p:nvPr/>
        </p:nvCxnSpPr>
        <p:spPr>
          <a:xfrm>
            <a:off x="211513" y="6522440"/>
            <a:ext cx="11911077" cy="2321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4235254" cy="498717"/>
          </a:xfrm>
          <a:prstGeom prst="rect">
            <a:avLst/>
          </a:prstGeom>
        </p:spPr>
        <p:txBody>
          <a:bodyPr vert="horz" lIns="123444" tIns="61722" rIns="123444" bIns="61722" rtlCol="0" anchor="ctr">
            <a:noAutofit/>
          </a:bodyPr>
          <a:lstStyle>
            <a:lvl1pPr>
              <a:defRPr lang="zh-CN" altLang="en-US" sz="249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algn="l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0" y="374360"/>
            <a:ext cx="423026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  <p:sp>
        <p:nvSpPr>
          <p:cNvPr id="16" name="矩形 15"/>
          <p:cNvSpPr/>
          <p:nvPr/>
        </p:nvSpPr>
        <p:spPr>
          <a:xfrm>
            <a:off x="457728" y="374360"/>
            <a:ext cx="153669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</p:spTree>
    <p:extLst>
      <p:ext uri="{BB962C8B-B14F-4D97-AF65-F5344CB8AC3E}">
        <p14:creationId xmlns:p14="http://schemas.microsoft.com/office/powerpoint/2010/main" val="3414112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6140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95000"/>
              </a:schemeClr>
            </a:gs>
            <a:gs pos="99000">
              <a:schemeClr val="bg1">
                <a:lumMod val="95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/>
        </p:nvCxnSpPr>
        <p:spPr>
          <a:xfrm>
            <a:off x="485115" y="615637"/>
            <a:ext cx="11058053" cy="18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43"/>
          <p:cNvSpPr txBox="1"/>
          <p:nvPr/>
        </p:nvSpPr>
        <p:spPr>
          <a:xfrm>
            <a:off x="2547166" y="8884826"/>
            <a:ext cx="1170225" cy="486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71" dirty="0"/>
              <a:t>延迟符</a:t>
            </a:r>
          </a:p>
        </p:txBody>
      </p:sp>
      <p:sp>
        <p:nvSpPr>
          <p:cNvPr id="54" name="标题占位符 53"/>
          <p:cNvSpPr>
            <a:spLocks noGrp="1"/>
          </p:cNvSpPr>
          <p:nvPr>
            <p:ph type="title"/>
          </p:nvPr>
        </p:nvSpPr>
        <p:spPr>
          <a:xfrm>
            <a:off x="485115" y="75415"/>
            <a:ext cx="10515600" cy="4859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>
          <a:xfrm>
            <a:off x="914400" y="99589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632906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9" r:id="rId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100074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2528" indent="-41252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832" kern="1200">
          <a:solidFill>
            <a:schemeClr val="tx1"/>
          </a:solidFill>
          <a:latin typeface="+mn-lt"/>
          <a:ea typeface="+mn-ea"/>
          <a:cs typeface="+mn-cs"/>
        </a:defRPr>
      </a:lvl1pPr>
      <a:lvl2pPr marL="893810" indent="-343773" algn="l" defTabSz="11000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387" kern="1200">
          <a:solidFill>
            <a:schemeClr val="tx1"/>
          </a:solidFill>
          <a:latin typeface="+mn-lt"/>
          <a:ea typeface="+mn-ea"/>
          <a:cs typeface="+mn-cs"/>
        </a:defRPr>
      </a:lvl2pPr>
      <a:lvl3pPr marL="1375092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52" kern="1200">
          <a:solidFill>
            <a:schemeClr val="tx1"/>
          </a:solidFill>
          <a:latin typeface="+mn-lt"/>
          <a:ea typeface="+mn-ea"/>
          <a:cs typeface="+mn-cs"/>
        </a:defRPr>
      </a:lvl3pPr>
      <a:lvl4pPr marL="1925128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406" kern="1200">
          <a:solidFill>
            <a:schemeClr val="tx1"/>
          </a:solidFill>
          <a:latin typeface="+mn-lt"/>
          <a:ea typeface="+mn-ea"/>
          <a:cs typeface="+mn-cs"/>
        </a:defRPr>
      </a:lvl4pPr>
      <a:lvl5pPr marL="2475164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»"/>
        <a:defRPr sz="2406" kern="1200">
          <a:solidFill>
            <a:schemeClr val="tx1"/>
          </a:solidFill>
          <a:latin typeface="+mn-lt"/>
          <a:ea typeface="+mn-ea"/>
          <a:cs typeface="+mn-cs"/>
        </a:defRPr>
      </a:lvl5pPr>
      <a:lvl6pPr marL="3025201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6pPr>
      <a:lvl7pPr marL="3575238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7pPr>
      <a:lvl8pPr marL="4125274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8pPr>
      <a:lvl9pPr marL="4675311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1pPr>
      <a:lvl2pPr marL="55003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2pPr>
      <a:lvl3pPr marL="1100074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3pPr>
      <a:lvl4pPr marL="165011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4pPr>
      <a:lvl5pPr marL="220014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5pPr>
      <a:lvl6pPr marL="2750183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6pPr>
      <a:lvl7pPr marL="330022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7pPr>
      <a:lvl8pPr marL="385025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8pPr>
      <a:lvl9pPr marL="4400293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第三章 类型与变量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2400" dirty="0"/>
              <a:t>表达式和语句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478565" y="3336531"/>
            <a:ext cx="2616190" cy="568325"/>
          </a:xfrm>
        </p:spPr>
        <p:txBody>
          <a:bodyPr/>
          <a:lstStyle/>
          <a:p>
            <a:r>
              <a:rPr lang="en-US" altLang="zh-CN" sz="2400" dirty="0"/>
              <a:t>C++</a:t>
            </a:r>
            <a:r>
              <a:rPr lang="zh-CN" altLang="en-US" sz="2400" dirty="0"/>
              <a:t>语言中的类型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538385" y="5007665"/>
            <a:ext cx="2556369" cy="568325"/>
          </a:xfrm>
        </p:spPr>
        <p:txBody>
          <a:bodyPr/>
          <a:lstStyle/>
          <a:p>
            <a:r>
              <a:rPr lang="zh-CN" altLang="en-US" sz="2400" dirty="0"/>
              <a:t>声明和定义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>
          <a:xfrm>
            <a:off x="9115309" y="1708274"/>
            <a:ext cx="2686433" cy="568325"/>
          </a:xfrm>
        </p:spPr>
        <p:txBody>
          <a:bodyPr/>
          <a:lstStyle/>
          <a:p>
            <a:r>
              <a:rPr lang="zh-CN" altLang="en-US" sz="2400" dirty="0"/>
              <a:t>声明和定义的使用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/>
          </p:nvPr>
        </p:nvSpPr>
        <p:spPr>
          <a:xfrm>
            <a:off x="9233120" y="3336531"/>
            <a:ext cx="2645534" cy="568325"/>
          </a:xfrm>
        </p:spPr>
        <p:txBody>
          <a:bodyPr/>
          <a:lstStyle/>
          <a:p>
            <a:r>
              <a:rPr lang="zh-CN" altLang="en-US" sz="2400" dirty="0"/>
              <a:t>存储空间与作用域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5"/>
          </p:nvPr>
        </p:nvSpPr>
        <p:spPr>
          <a:xfrm>
            <a:off x="478564" y="1860675"/>
            <a:ext cx="2749757" cy="568325"/>
          </a:xfrm>
        </p:spPr>
        <p:txBody>
          <a:bodyPr/>
          <a:lstStyle/>
          <a:p>
            <a:r>
              <a:rPr lang="zh-CN" altLang="en-US" sz="2400" dirty="0">
                <a:latin typeface="+mn-ea"/>
              </a:rPr>
              <a:t>抽象数据类型</a:t>
            </a:r>
            <a:r>
              <a:rPr lang="en-US" altLang="zh-CN" sz="2400" dirty="0">
                <a:latin typeface="+mn-ea"/>
              </a:rPr>
              <a:t>(ADT)</a:t>
            </a:r>
            <a:endParaRPr lang="zh-CN" altLang="en-US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48771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1341" y="73726"/>
            <a:ext cx="6104755" cy="498717"/>
          </a:xfrm>
        </p:spPr>
        <p:txBody>
          <a:bodyPr/>
          <a:lstStyle/>
          <a:p>
            <a:r>
              <a:rPr lang="zh-CN" altLang="en-US" dirty="0"/>
              <a:t>抽象数据类型（</a:t>
            </a:r>
            <a:r>
              <a:rPr lang="en-US" altLang="zh-CN" dirty="0"/>
              <a:t>Abstract Data Type</a:t>
            </a:r>
            <a:r>
              <a:rPr lang="zh-CN" altLang="en-US" dirty="0"/>
              <a:t>）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94011" y="747754"/>
            <a:ext cx="5933531" cy="2246769"/>
          </a:xfrm>
          <a:prstGeom prst="rect">
            <a:avLst/>
          </a:prstGeom>
          <a:noFill/>
          <a:ln w="38100">
            <a:solidFill>
              <a:srgbClr val="FF6600"/>
            </a:solidFill>
          </a:ln>
        </p:spPr>
        <p:txBody>
          <a:bodyPr wrap="square" rtlCol="0">
            <a:spAutoFit/>
          </a:bodyPr>
          <a:lstStyle/>
          <a:p>
            <a:pPr fontAlgn="auto"/>
            <a:r>
              <a:rPr lang="zh-CN" altLang="en-US" sz="2000" b="1" noProof="1"/>
              <a:t>一个</a:t>
            </a:r>
            <a:r>
              <a:rPr lang="en-US" altLang="zh-CN" sz="2000" b="1" noProof="1"/>
              <a:t>ADT</a:t>
            </a:r>
            <a:r>
              <a:rPr lang="zh-CN" altLang="en-US" sz="2000" b="1" noProof="1"/>
              <a:t>：一个数学模型</a:t>
            </a:r>
            <a:r>
              <a:rPr lang="en-US" altLang="zh-CN" sz="2000" b="1" noProof="1"/>
              <a:t>+</a:t>
            </a:r>
            <a:r>
              <a:rPr lang="zh-CN" altLang="zh-CN" sz="2000" b="1" noProof="1"/>
              <a:t>可施加其上的操作集合。</a:t>
            </a:r>
          </a:p>
          <a:p>
            <a:pPr fontAlgn="auto"/>
            <a:r>
              <a:rPr lang="zh-CN" altLang="zh-CN" sz="2000" b="1" noProof="1"/>
              <a:t>（</a:t>
            </a:r>
            <a:r>
              <a:rPr lang="zh-CN" altLang="zh-CN" sz="2000" b="1" noProof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类型名称，数据集，数据间的关系，操作集</a:t>
            </a:r>
            <a:r>
              <a:rPr lang="zh-CN" altLang="zh-CN" sz="2000" b="1" noProof="1"/>
              <a:t>）</a:t>
            </a:r>
          </a:p>
          <a:p>
            <a:pPr fontAlgn="auto"/>
            <a:endParaRPr lang="zh-CN" altLang="zh-CN" sz="2000" b="1" noProof="1"/>
          </a:p>
          <a:p>
            <a:pPr marL="342900" indent="-342900" fontAlgn="auto"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000" b="1" noProof="1"/>
              <a:t>与具体表示无关</a:t>
            </a:r>
          </a:p>
          <a:p>
            <a:pPr marL="342900" indent="-342900" fontAlgn="auto"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000" b="1" noProof="1"/>
              <a:t>与现实世界无关</a:t>
            </a:r>
          </a:p>
          <a:p>
            <a:pPr marL="342900" indent="-342900" fontAlgn="auto"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000" b="1" noProof="1"/>
              <a:t>任意性和无穷性</a:t>
            </a:r>
          </a:p>
          <a:p>
            <a:pPr algn="ctr"/>
            <a:endParaRPr lang="zh-CN" altLang="en-US" sz="2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1"/>
          <p:cNvSpPr txBox="1"/>
          <p:nvPr/>
        </p:nvSpPr>
        <p:spPr>
          <a:xfrm>
            <a:off x="8300969" y="756713"/>
            <a:ext cx="2501900" cy="2252924"/>
          </a:xfrm>
          <a:prstGeom prst="rect">
            <a:avLst/>
          </a:prstGeom>
          <a:noFill/>
          <a:ln w="38100" cap="flat" cmpd="sng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indent="0">
              <a:lnSpc>
                <a:spcPct val="130000"/>
              </a:lnSpc>
            </a:pP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 ADT :</a:t>
            </a:r>
            <a:b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name  {</a:t>
            </a:r>
            <a:b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数据：</a:t>
            </a:r>
            <a:b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关系：</a:t>
            </a:r>
            <a:b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操作：</a:t>
            </a:r>
            <a:b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  <p:sp>
        <p:nvSpPr>
          <p:cNvPr id="5" name="右箭头 4"/>
          <p:cNvSpPr/>
          <p:nvPr/>
        </p:nvSpPr>
        <p:spPr>
          <a:xfrm>
            <a:off x="6884061" y="1478576"/>
            <a:ext cx="1260389" cy="8402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</a:p>
        </p:txBody>
      </p:sp>
      <p:sp>
        <p:nvSpPr>
          <p:cNvPr id="6" name="矩形 5"/>
          <p:cNvSpPr/>
          <p:nvPr/>
        </p:nvSpPr>
        <p:spPr>
          <a:xfrm>
            <a:off x="794011" y="3554577"/>
            <a:ext cx="2051222" cy="2613023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0" indent="0">
              <a:lnSpc>
                <a:spcPct val="13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Person {</a:t>
            </a:r>
          </a:p>
          <a:p>
            <a:pPr lvl="0" indent="0">
              <a:lnSpc>
                <a:spcPct val="13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  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数据： 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age</a:t>
            </a:r>
          </a:p>
          <a:p>
            <a:pPr lvl="0" indent="0">
              <a:lnSpc>
                <a:spcPct val="13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  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关系：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age&gt;=0</a:t>
            </a:r>
            <a:b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  操作：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birth </a:t>
            </a:r>
          </a:p>
          <a:p>
            <a:pPr lvl="0" indent="0">
              <a:lnSpc>
                <a:spcPct val="13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             grow</a:t>
            </a:r>
          </a:p>
          <a:p>
            <a:pPr lvl="0" indent="0">
              <a:lnSpc>
                <a:spcPct val="13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             dead</a:t>
            </a:r>
            <a:b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}</a:t>
            </a:r>
          </a:p>
        </p:txBody>
      </p:sp>
      <p:sp>
        <p:nvSpPr>
          <p:cNvPr id="7" name="云形 6"/>
          <p:cNvSpPr/>
          <p:nvPr/>
        </p:nvSpPr>
        <p:spPr>
          <a:xfrm>
            <a:off x="4635065" y="3991182"/>
            <a:ext cx="1342833" cy="1491049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</a:t>
            </a:r>
          </a:p>
        </p:txBody>
      </p:sp>
      <p:sp>
        <p:nvSpPr>
          <p:cNvPr id="8" name="矩形 7"/>
          <p:cNvSpPr/>
          <p:nvPr/>
        </p:nvSpPr>
        <p:spPr>
          <a:xfrm>
            <a:off x="8300969" y="3290965"/>
            <a:ext cx="2982097" cy="3333220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0" indent="0">
              <a:lnSpc>
                <a:spcPct val="13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Person {</a:t>
            </a:r>
          </a:p>
          <a:p>
            <a:pPr lvl="0" indent="0">
              <a:lnSpc>
                <a:spcPct val="13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  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数据： </a:t>
            </a:r>
            <a:r>
              <a:rPr lang="en-US" altLang="zh-CN" dirty="0" err="1">
                <a:latin typeface="Arial" panose="020B0604020202020204" pitchFamily="34" charset="0"/>
                <a:ea typeface="微软雅黑" panose="020B0503020204020204" pitchFamily="34" charset="-122"/>
              </a:rPr>
              <a:t>knowlege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lvl="0" indent="0">
              <a:lnSpc>
                <a:spcPct val="13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              fatigue</a:t>
            </a:r>
          </a:p>
          <a:p>
            <a:pPr lvl="0" indent="0">
              <a:lnSpc>
                <a:spcPct val="13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  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关系：</a:t>
            </a:r>
            <a:r>
              <a:rPr lang="en-US" altLang="zh-CN" dirty="0" err="1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49" charset="-122"/>
              </a:rPr>
              <a:t>knowlege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49" charset="-122"/>
              </a:rPr>
              <a:t>&gt;0</a:t>
            </a:r>
            <a:b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49" charset="-122"/>
              </a:rPr>
              <a:t>             </a:t>
            </a:r>
            <a:r>
              <a:rPr lang="en-US" altLang="zh-CN" dirty="0" err="1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49" charset="-122"/>
              </a:rPr>
              <a:t>fatgue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49" charset="-122"/>
              </a:rPr>
              <a:t>&gt;=0</a:t>
            </a:r>
            <a:b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   操作：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study </a:t>
            </a:r>
          </a:p>
          <a:p>
            <a:pPr lvl="0" indent="0">
              <a:lnSpc>
                <a:spcPct val="13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              sleep</a:t>
            </a:r>
          </a:p>
          <a:p>
            <a:pPr lvl="0" indent="0">
              <a:lnSpc>
                <a:spcPct val="13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              play</a:t>
            </a:r>
            <a:b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}</a:t>
            </a:r>
          </a:p>
        </p:txBody>
      </p:sp>
      <p:sp>
        <p:nvSpPr>
          <p:cNvPr id="9" name="左箭头 8"/>
          <p:cNvSpPr/>
          <p:nvPr/>
        </p:nvSpPr>
        <p:spPr>
          <a:xfrm>
            <a:off x="3135845" y="4567765"/>
            <a:ext cx="1105639" cy="29332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右箭头 9"/>
          <p:cNvSpPr/>
          <p:nvPr/>
        </p:nvSpPr>
        <p:spPr>
          <a:xfrm>
            <a:off x="6455693" y="4559527"/>
            <a:ext cx="1296945" cy="30156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3614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2795" y="125001"/>
            <a:ext cx="5942385" cy="498717"/>
          </a:xfrm>
        </p:spPr>
        <p:txBody>
          <a:bodyPr/>
          <a:lstStyle/>
          <a:p>
            <a:r>
              <a:rPr lang="zh-CN" altLang="en-US" dirty="0"/>
              <a:t>抽象数据类型（</a:t>
            </a:r>
            <a:r>
              <a:rPr lang="en-US" altLang="zh-CN" dirty="0"/>
              <a:t>Abstract Data Type</a:t>
            </a:r>
            <a:r>
              <a:rPr lang="zh-CN" altLang="en-US" dirty="0"/>
              <a:t>）</a:t>
            </a:r>
          </a:p>
        </p:txBody>
      </p:sp>
      <p:sp>
        <p:nvSpPr>
          <p:cNvPr id="3" name="矩形 2"/>
          <p:cNvSpPr/>
          <p:nvPr/>
        </p:nvSpPr>
        <p:spPr>
          <a:xfrm>
            <a:off x="640186" y="1255759"/>
            <a:ext cx="2051222" cy="2613023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0" indent="0">
              <a:lnSpc>
                <a:spcPct val="13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Person {</a:t>
            </a:r>
          </a:p>
          <a:p>
            <a:pPr lvl="0" indent="0">
              <a:lnSpc>
                <a:spcPct val="13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  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数据： 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age</a:t>
            </a:r>
          </a:p>
          <a:p>
            <a:pPr lvl="0" indent="0">
              <a:lnSpc>
                <a:spcPct val="13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  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关系：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age&gt;=0</a:t>
            </a:r>
            <a:b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  操作：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birth </a:t>
            </a:r>
          </a:p>
          <a:p>
            <a:pPr lvl="0" indent="0">
              <a:lnSpc>
                <a:spcPct val="13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             grow</a:t>
            </a:r>
          </a:p>
          <a:p>
            <a:pPr lvl="0" indent="0">
              <a:lnSpc>
                <a:spcPct val="13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             dead</a:t>
            </a:r>
            <a:b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}</a:t>
            </a:r>
          </a:p>
        </p:txBody>
      </p:sp>
      <p:sp>
        <p:nvSpPr>
          <p:cNvPr id="4" name="云形 3"/>
          <p:cNvSpPr/>
          <p:nvPr/>
        </p:nvSpPr>
        <p:spPr>
          <a:xfrm>
            <a:off x="4481240" y="1193477"/>
            <a:ext cx="1342833" cy="1491049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事物</a:t>
            </a:r>
          </a:p>
        </p:txBody>
      </p:sp>
      <p:sp>
        <p:nvSpPr>
          <p:cNvPr id="5" name="矩形 4"/>
          <p:cNvSpPr/>
          <p:nvPr/>
        </p:nvSpPr>
        <p:spPr>
          <a:xfrm>
            <a:off x="7825868" y="992147"/>
            <a:ext cx="3863546" cy="2973122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0" indent="0">
              <a:lnSpc>
                <a:spcPct val="130000"/>
              </a:lnSpc>
            </a:pP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整数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 {</a:t>
            </a:r>
          </a:p>
          <a:p>
            <a:pPr lvl="0" indent="0">
              <a:lnSpc>
                <a:spcPct val="130000"/>
              </a:lnSpc>
            </a:pP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  数据： 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number</a:t>
            </a:r>
          </a:p>
          <a:p>
            <a:pPr lvl="0" indent="0">
              <a:lnSpc>
                <a:spcPct val="13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  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关系：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0 is a Integer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49" charset="-122"/>
              </a:rPr>
              <a:t>  </a:t>
            </a:r>
          </a:p>
          <a:p>
            <a:pPr lvl="0" indent="0">
              <a:lnSpc>
                <a:spcPct val="13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49" charset="-122"/>
              </a:rPr>
              <a:t>             success(...(0)..)=number </a:t>
            </a:r>
          </a:p>
          <a:p>
            <a:pPr lvl="0" indent="0">
              <a:lnSpc>
                <a:spcPct val="13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49" charset="-122"/>
              </a:rPr>
              <a:t>             </a:t>
            </a:r>
            <a:r>
              <a:rPr lang="zh-CN" altLang="zh-CN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49" charset="-122"/>
              </a:rPr>
              <a:t>或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49" charset="-122"/>
              </a:rPr>
              <a:t>previous(...(0)..)=number           </a:t>
            </a:r>
            <a:b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   操作：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success </a:t>
            </a:r>
          </a:p>
          <a:p>
            <a:pPr lvl="0" indent="0">
              <a:lnSpc>
                <a:spcPct val="13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              previous</a:t>
            </a:r>
            <a:b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}</a:t>
            </a:r>
          </a:p>
        </p:txBody>
      </p:sp>
      <p:sp>
        <p:nvSpPr>
          <p:cNvPr id="6" name="左箭头 5"/>
          <p:cNvSpPr/>
          <p:nvPr/>
        </p:nvSpPr>
        <p:spPr>
          <a:xfrm>
            <a:off x="2885274" y="1665952"/>
            <a:ext cx="1105639" cy="29332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右箭头 6"/>
          <p:cNvSpPr/>
          <p:nvPr/>
        </p:nvSpPr>
        <p:spPr>
          <a:xfrm>
            <a:off x="6224653" y="1770177"/>
            <a:ext cx="1296945" cy="30156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3500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OOP</a:t>
            </a:r>
            <a:r>
              <a:rPr lang="zh-CN" altLang="en-US" dirty="0"/>
              <a:t>语言中的类型</a:t>
            </a:r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1315742" y="1213040"/>
            <a:ext cx="9888467" cy="4248646"/>
          </a:xfrm>
          <a:prstGeom prst="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txBody>
          <a:bodyPr>
            <a:normAutofit fontScale="70000" lnSpcReduction="2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endParaRPr lang="en-US" altLang="zh-CN" b="1" noProof="1"/>
          </a:p>
          <a:p>
            <a:pPr marL="342900" indent="-342900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r>
              <a:rPr lang="zh-CN" altLang="en-US" b="1" noProof="1"/>
              <a:t>基本类型</a:t>
            </a:r>
          </a:p>
          <a:p>
            <a:pPr marL="342900" indent="-342900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endParaRPr lang="zh-CN" altLang="en-US" b="1" noProof="1"/>
          </a:p>
          <a:p>
            <a:pPr marL="342900" indent="-342900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r>
              <a:rPr lang="zh-CN" altLang="en-US" b="1" noProof="1"/>
              <a:t>自定义类型：</a:t>
            </a:r>
            <a:r>
              <a:rPr lang="en-US" altLang="zh-CN" b="1" noProof="1"/>
              <a:t>ADT</a:t>
            </a:r>
            <a:r>
              <a:rPr lang="zh-CN" altLang="en-US" b="1" noProof="1"/>
              <a:t>的计算机语言表示</a:t>
            </a:r>
          </a:p>
          <a:p>
            <a:pPr marL="342900" indent="-342900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endParaRPr lang="zh-CN" altLang="en-US" b="1" noProof="1"/>
          </a:p>
          <a:p>
            <a:pPr marL="342900" indent="-342900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r>
              <a:rPr lang="zh-CN" altLang="en-US" b="1" noProof="1"/>
              <a:t>泛型（</a:t>
            </a:r>
            <a:r>
              <a:rPr lang="en-US" altLang="zh-CN" b="1" noProof="1"/>
              <a:t>generic type</a:t>
            </a:r>
            <a:r>
              <a:rPr lang="zh-CN" altLang="en-US" b="1" noProof="1"/>
              <a:t>）：以类型为参数的类型</a:t>
            </a:r>
            <a:r>
              <a:rPr lang="en-US" altLang="zh-CN" b="1" noProof="1"/>
              <a:t>(</a:t>
            </a:r>
            <a:r>
              <a:rPr lang="zh-CN" altLang="en-US" b="1" noProof="1"/>
              <a:t>参数化的类型</a:t>
            </a:r>
            <a:r>
              <a:rPr lang="en-US" altLang="zh-CN" b="1" noProof="1"/>
              <a:t>)</a:t>
            </a:r>
            <a:endParaRPr lang="zh-CN" altLang="en-US" b="1" noProof="1"/>
          </a:p>
          <a:p>
            <a:pPr marL="342900" indent="-342900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endParaRPr lang="zh-CN" altLang="en-US" b="1" noProof="1"/>
          </a:p>
          <a:p>
            <a:pPr marL="342900" indent="-342900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r>
              <a:rPr lang="zh-CN" altLang="en-US" b="1" noProof="1">
                <a:solidFill>
                  <a:srgbClr val="FF0000"/>
                </a:solidFill>
              </a:rPr>
              <a:t>元类型及元对象</a:t>
            </a:r>
            <a:r>
              <a:rPr lang="en-US" altLang="zh-CN" b="1" noProof="1">
                <a:solidFill>
                  <a:srgbClr val="FF0000"/>
                </a:solidFill>
              </a:rPr>
              <a:t>(meta type/meta object)</a:t>
            </a:r>
            <a:r>
              <a:rPr lang="zh-CN" altLang="en-US" b="1" noProof="1">
                <a:solidFill>
                  <a:srgbClr val="FF0000"/>
                </a:solidFill>
              </a:rPr>
              <a:t>：</a:t>
            </a:r>
            <a:br>
              <a:rPr lang="en-US" altLang="zh-CN" b="1" noProof="1">
                <a:solidFill>
                  <a:srgbClr val="FF0000"/>
                </a:solidFill>
              </a:rPr>
            </a:br>
            <a:r>
              <a:rPr lang="en-US" altLang="zh-CN" b="1" noProof="1">
                <a:solidFill>
                  <a:srgbClr val="FF0000"/>
                </a:solidFill>
              </a:rPr>
              <a:t>               </a:t>
            </a:r>
            <a:r>
              <a:rPr lang="zh-CN" altLang="en-US" b="1" noProof="1">
                <a:solidFill>
                  <a:srgbClr val="FF0000"/>
                </a:solidFill>
              </a:rPr>
              <a:t>各类型的类型（</a:t>
            </a:r>
            <a:r>
              <a:rPr lang="en-US" altLang="zh-CN" b="1" noProof="1">
                <a:solidFill>
                  <a:srgbClr val="FF0000"/>
                </a:solidFill>
              </a:rPr>
              <a:t>C++</a:t>
            </a:r>
            <a:r>
              <a:rPr lang="zh-CN" altLang="en-US" b="1" noProof="1">
                <a:solidFill>
                  <a:srgbClr val="FF0000"/>
                </a:solidFill>
              </a:rPr>
              <a:t>暂不支持）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92547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中的类型</a:t>
            </a:r>
          </a:p>
        </p:txBody>
      </p:sp>
      <p:sp>
        <p:nvSpPr>
          <p:cNvPr id="3" name="矩形 2"/>
          <p:cNvSpPr/>
          <p:nvPr/>
        </p:nvSpPr>
        <p:spPr>
          <a:xfrm>
            <a:off x="2084173" y="840259"/>
            <a:ext cx="2487827" cy="55028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2429060" y="5123122"/>
            <a:ext cx="1889336" cy="808121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5" name="文本框 4"/>
          <p:cNvSpPr txBox="1"/>
          <p:nvPr/>
        </p:nvSpPr>
        <p:spPr>
          <a:xfrm>
            <a:off x="2573773" y="5296349"/>
            <a:ext cx="15999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内置类型</a:t>
            </a:r>
          </a:p>
        </p:txBody>
      </p:sp>
      <p:sp>
        <p:nvSpPr>
          <p:cNvPr id="6" name="椭圆 5"/>
          <p:cNvSpPr/>
          <p:nvPr/>
        </p:nvSpPr>
        <p:spPr>
          <a:xfrm>
            <a:off x="2429060" y="3848460"/>
            <a:ext cx="1889336" cy="808121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7" name="文本框 6"/>
          <p:cNvSpPr txBox="1"/>
          <p:nvPr/>
        </p:nvSpPr>
        <p:spPr>
          <a:xfrm>
            <a:off x="2501416" y="4021687"/>
            <a:ext cx="17446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自定义类型</a:t>
            </a:r>
          </a:p>
        </p:txBody>
      </p:sp>
      <p:sp>
        <p:nvSpPr>
          <p:cNvPr id="8" name="椭圆 7"/>
          <p:cNvSpPr/>
          <p:nvPr/>
        </p:nvSpPr>
        <p:spPr>
          <a:xfrm>
            <a:off x="2429060" y="2624847"/>
            <a:ext cx="1889336" cy="808121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9" name="文本框 8"/>
          <p:cNvSpPr txBox="1"/>
          <p:nvPr/>
        </p:nvSpPr>
        <p:spPr>
          <a:xfrm>
            <a:off x="2501416" y="2798074"/>
            <a:ext cx="17446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导出类型</a:t>
            </a:r>
          </a:p>
        </p:txBody>
      </p:sp>
      <p:sp>
        <p:nvSpPr>
          <p:cNvPr id="10" name="椭圆 9"/>
          <p:cNvSpPr/>
          <p:nvPr/>
        </p:nvSpPr>
        <p:spPr>
          <a:xfrm>
            <a:off x="2429060" y="1433021"/>
            <a:ext cx="1889336" cy="808121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1" name="文本框 10"/>
          <p:cNvSpPr txBox="1"/>
          <p:nvPr/>
        </p:nvSpPr>
        <p:spPr>
          <a:xfrm>
            <a:off x="2501415" y="1410145"/>
            <a:ext cx="17446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模板类型（泛型）</a:t>
            </a:r>
          </a:p>
        </p:txBody>
      </p:sp>
      <p:sp>
        <p:nvSpPr>
          <p:cNvPr id="12" name="矩形 11"/>
          <p:cNvSpPr/>
          <p:nvPr/>
        </p:nvSpPr>
        <p:spPr>
          <a:xfrm>
            <a:off x="5368783" y="4940866"/>
            <a:ext cx="2051222" cy="1172629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0" indent="0">
              <a:lnSpc>
                <a:spcPct val="130000"/>
              </a:lnSpc>
            </a:pP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基本类型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lvl="0" indent="0">
              <a:lnSpc>
                <a:spcPct val="130000"/>
              </a:lnSpc>
            </a:pP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扩展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扩充类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类型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lvl="0" indent="0">
              <a:lnSpc>
                <a:spcPct val="130000"/>
              </a:lnSpc>
            </a:pPr>
            <a:r>
              <a:rPr lang="en-US" altLang="zh-CN" dirty="0" err="1">
                <a:latin typeface="Arial" panose="020B0604020202020204" pitchFamily="34" charset="0"/>
                <a:ea typeface="微软雅黑" panose="020B0503020204020204" pitchFamily="34" charset="-122"/>
              </a:rPr>
              <a:t>bool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型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246112" y="3790854"/>
            <a:ext cx="3696958" cy="923330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0" indent="0"/>
            <a:r>
              <a:rPr lang="zh-CN" altLang="en-US" b="1" dirty="0">
                <a:latin typeface="Arial" panose="020B0604020202020204" pitchFamily="34" charset="0"/>
              </a:rPr>
              <a:t>使用</a:t>
            </a:r>
            <a:r>
              <a:rPr lang="en-US" altLang="zh-CN" b="1" dirty="0" err="1">
                <a:latin typeface="Arial" panose="020B0604020202020204" pitchFamily="34" charset="0"/>
              </a:rPr>
              <a:t>typedef</a:t>
            </a:r>
            <a:r>
              <a:rPr lang="en-US" altLang="zh-CN" b="1" dirty="0">
                <a:latin typeface="Arial" panose="020B0604020202020204" pitchFamily="34" charset="0"/>
              </a:rPr>
              <a:t>/using</a:t>
            </a:r>
            <a:r>
              <a:rPr lang="zh-CN" altLang="en-US" b="1" dirty="0">
                <a:latin typeface="Arial" panose="020B0604020202020204" pitchFamily="34" charset="0"/>
              </a:rPr>
              <a:t>定义的</a:t>
            </a:r>
          </a:p>
          <a:p>
            <a:pPr lvl="0" indent="0"/>
            <a:r>
              <a:rPr lang="zh-CN" altLang="en-US" b="1" dirty="0">
                <a:latin typeface="Arial" panose="020B0604020202020204" pitchFamily="34" charset="0"/>
              </a:rPr>
              <a:t>枚举类型</a:t>
            </a:r>
          </a:p>
          <a:p>
            <a:pPr lvl="0" indent="0"/>
            <a:r>
              <a:rPr lang="zh-CN" altLang="en-US" b="1" dirty="0">
                <a:latin typeface="Arial" panose="020B0604020202020204" pitchFamily="34" charset="0"/>
              </a:rPr>
              <a:t>使用</a:t>
            </a:r>
            <a:r>
              <a:rPr lang="en-US" altLang="zh-CN" b="1" dirty="0">
                <a:latin typeface="Arial" panose="020B0604020202020204" pitchFamily="34" charset="0"/>
              </a:rPr>
              <a:t>class</a:t>
            </a:r>
            <a:r>
              <a:rPr lang="zh-CN" altLang="en-US" b="1" dirty="0">
                <a:latin typeface="Arial" panose="020B0604020202020204" pitchFamily="34" charset="0"/>
              </a:rPr>
              <a:t>，</a:t>
            </a:r>
            <a:r>
              <a:rPr lang="en-US" altLang="zh-CN" b="1" dirty="0" err="1">
                <a:latin typeface="Arial" panose="020B0604020202020204" pitchFamily="34" charset="0"/>
              </a:rPr>
              <a:t>stuct</a:t>
            </a:r>
            <a:r>
              <a:rPr lang="zh-CN" altLang="en-US" b="1" dirty="0">
                <a:latin typeface="Arial" panose="020B0604020202020204" pitchFamily="34" charset="0"/>
              </a:rPr>
              <a:t>，</a:t>
            </a:r>
            <a:r>
              <a:rPr lang="en-US" altLang="zh-CN" b="1" dirty="0">
                <a:latin typeface="Arial" panose="020B0604020202020204" pitchFamily="34" charset="0"/>
              </a:rPr>
              <a:t>union</a:t>
            </a:r>
            <a:r>
              <a:rPr lang="zh-CN" altLang="en-US" b="1" dirty="0">
                <a:latin typeface="Arial" panose="020B0604020202020204" pitchFamily="34" charset="0"/>
              </a:rPr>
              <a:t>定义的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4" name="右箭头 13"/>
          <p:cNvSpPr/>
          <p:nvPr/>
        </p:nvSpPr>
        <p:spPr>
          <a:xfrm>
            <a:off x="4318395" y="4101738"/>
            <a:ext cx="1927717" cy="301561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右箭头 14"/>
          <p:cNvSpPr/>
          <p:nvPr/>
        </p:nvSpPr>
        <p:spPr>
          <a:xfrm>
            <a:off x="4318395" y="5376399"/>
            <a:ext cx="1050388" cy="301561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859831" y="2598741"/>
            <a:ext cx="3437466" cy="923330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0" indent="0"/>
            <a:r>
              <a:rPr lang="zh-CN" altLang="en-US" b="1" dirty="0">
                <a:latin typeface="Arial" panose="020B0604020202020204" pitchFamily="34" charset="0"/>
              </a:rPr>
              <a:t>数组</a:t>
            </a:r>
          </a:p>
          <a:p>
            <a:pPr lvl="0" indent="0"/>
            <a:r>
              <a:rPr lang="zh-CN" altLang="en-US" b="1" dirty="0">
                <a:latin typeface="Arial" panose="020B0604020202020204" pitchFamily="34" charset="0"/>
              </a:rPr>
              <a:t>指针</a:t>
            </a:r>
          </a:p>
          <a:p>
            <a:pPr lvl="0" indent="0"/>
            <a:r>
              <a:rPr lang="zh-CN" altLang="en-US" b="1" dirty="0">
                <a:latin typeface="Arial" panose="020B0604020202020204" pitchFamily="34" charset="0"/>
              </a:rPr>
              <a:t>引用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7" name="右箭头 16"/>
          <p:cNvSpPr/>
          <p:nvPr/>
        </p:nvSpPr>
        <p:spPr>
          <a:xfrm>
            <a:off x="4318394" y="2910280"/>
            <a:ext cx="2541437" cy="301561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4313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内置类型</a:t>
            </a:r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770189" y="838842"/>
            <a:ext cx="9689863" cy="5632172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>
            <a:normAutofit fontScale="92500" lnSpcReduction="2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r>
              <a:rPr lang="zh-CN" altLang="en-US" sz="2000" b="1" noProof="1"/>
              <a:t>基本类型</a:t>
            </a:r>
            <a:r>
              <a:rPr lang="en-US" altLang="zh-CN" sz="2000" b="1" noProof="1"/>
              <a:t>: char , wchar_t(</a:t>
            </a:r>
            <a:r>
              <a:rPr lang="zh-CN" altLang="en-US" sz="2000" b="1" noProof="1"/>
              <a:t>宽字符</a:t>
            </a:r>
            <a:r>
              <a:rPr lang="en-US" altLang="zh-CN" sz="2000" b="1" noProof="1"/>
              <a:t>)</a:t>
            </a:r>
            <a:r>
              <a:rPr lang="zh-CN" altLang="zh-CN" sz="2000" b="1" noProof="1"/>
              <a:t>，</a:t>
            </a:r>
            <a:r>
              <a:rPr lang="en-US" altLang="zh-CN" sz="2000" b="1" noProof="1"/>
              <a:t> int,    float</a:t>
            </a:r>
            <a:r>
              <a:rPr lang="zh-CN" altLang="en-US" sz="2000" b="1" noProof="1"/>
              <a:t>，</a:t>
            </a:r>
            <a:r>
              <a:rPr lang="en-US" altLang="zh-CN" sz="2000" b="1" noProof="1"/>
              <a:t>(void)</a:t>
            </a:r>
          </a:p>
          <a:p>
            <a:pPr marL="342900" indent="-342900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endParaRPr lang="zh-CN" altLang="en-US" sz="2000" b="1" noProof="1"/>
          </a:p>
          <a:p>
            <a:pPr marL="342900" indent="-342900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r>
              <a:rPr lang="zh-CN" altLang="en-US" sz="2000" b="1" noProof="1"/>
              <a:t>基本类型的扩展：</a:t>
            </a:r>
            <a:r>
              <a:rPr lang="en-US" altLang="zh-CN" sz="2000" b="1" noProof="1"/>
              <a:t>&lt;</a:t>
            </a:r>
            <a:r>
              <a:rPr lang="zh-CN" altLang="zh-CN" sz="2000" b="1" noProof="1"/>
              <a:t>类型修饰</a:t>
            </a:r>
            <a:r>
              <a:rPr lang="en-US" altLang="zh-CN" sz="2000" b="1" noProof="1"/>
              <a:t>&gt; </a:t>
            </a:r>
            <a:r>
              <a:rPr lang="zh-CN" altLang="en-US" sz="2000" b="1" noProof="1"/>
              <a:t>基本类型</a:t>
            </a:r>
          </a:p>
          <a:p>
            <a:pPr marL="800100" lvl="1" indent="-342900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r>
              <a:rPr lang="zh-CN" altLang="en-US" sz="2000" b="1" noProof="1"/>
              <a:t>类型修饰：  </a:t>
            </a:r>
            <a:r>
              <a:rPr lang="en-US" altLang="zh-CN" sz="2000" b="1" noProof="1"/>
              <a:t>short</a:t>
            </a:r>
            <a:r>
              <a:rPr lang="zh-CN" altLang="en-US" sz="2000" b="1" noProof="1"/>
              <a:t>、</a:t>
            </a:r>
            <a:r>
              <a:rPr lang="en-US" altLang="zh-CN" sz="2000" b="1" noProof="1"/>
              <a:t>long</a:t>
            </a:r>
            <a:r>
              <a:rPr lang="zh-CN" altLang="en-US" sz="2000" b="1" noProof="1"/>
              <a:t>、</a:t>
            </a:r>
            <a:r>
              <a:rPr lang="en-US" altLang="zh-CN" sz="2000" b="1" noProof="1"/>
              <a:t>signed</a:t>
            </a:r>
            <a:r>
              <a:rPr lang="zh-CN" altLang="en-US" sz="2000" b="1" noProof="1"/>
              <a:t>、</a:t>
            </a:r>
            <a:r>
              <a:rPr lang="en-US" altLang="zh-CN" sz="2000" b="1" noProof="1"/>
              <a:t>unsigned</a:t>
            </a:r>
            <a:r>
              <a:rPr lang="zh-CN" altLang="en-US" sz="2000" b="1" noProof="1"/>
              <a:t>、</a:t>
            </a:r>
            <a:r>
              <a:rPr lang="en-US" altLang="zh-CN" sz="2000" b="1" noProof="1"/>
              <a:t>double</a:t>
            </a:r>
            <a:r>
              <a:rPr lang="zh-CN" altLang="en-US" sz="2000" b="1" noProof="1"/>
              <a:t> </a:t>
            </a:r>
            <a:endParaRPr lang="en-US" altLang="zh-CN" sz="2000" b="1" noProof="1"/>
          </a:p>
          <a:p>
            <a:pPr marL="800100" lvl="1" indent="-342900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r>
              <a:rPr lang="zh-CN" altLang="en-US" sz="2000" b="1" noProof="1"/>
              <a:t>例：   </a:t>
            </a:r>
            <a:r>
              <a:rPr lang="en-US" altLang="zh-CN" sz="2000" b="1" noProof="1"/>
              <a:t>long int</a:t>
            </a:r>
            <a:r>
              <a:rPr lang="zh-CN" altLang="en-US" sz="2000" b="1" noProof="1"/>
              <a:t>，</a:t>
            </a:r>
            <a:r>
              <a:rPr lang="en-US" altLang="zh-CN" sz="2000" b="1" noProof="1"/>
              <a:t>unsigned long int</a:t>
            </a:r>
            <a:r>
              <a:rPr lang="zh-CN" altLang="en-US" sz="2000" b="1" noProof="1"/>
              <a:t>，</a:t>
            </a:r>
            <a:r>
              <a:rPr lang="en-US" altLang="zh-CN" sz="2000" b="1" noProof="1"/>
              <a:t>double float</a:t>
            </a:r>
            <a:r>
              <a:rPr lang="zh-CN" altLang="en-US" sz="2000" b="1" noProof="1"/>
              <a:t>，</a:t>
            </a:r>
            <a:r>
              <a:rPr lang="en-US" altLang="zh-CN" sz="2000" b="1" noProof="1"/>
              <a:t>long double, ...</a:t>
            </a:r>
          </a:p>
          <a:p>
            <a:pPr lvl="1" indent="0"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2000" b="1" noProof="1"/>
              <a:t>F() {</a:t>
            </a:r>
          </a:p>
          <a:p>
            <a:pPr lvl="1" indent="0"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2000" b="1" noProof="1"/>
              <a:t>    int a = 10;</a:t>
            </a:r>
            <a:br>
              <a:rPr lang="en-US" altLang="zh-CN" sz="2000" b="1" noProof="1"/>
            </a:br>
            <a:r>
              <a:rPr lang="en-US" altLang="zh-CN" sz="2000" b="1" noProof="1"/>
              <a:t>}</a:t>
            </a:r>
          </a:p>
          <a:p>
            <a:pPr lvl="1" indent="0"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endParaRPr lang="en-US" altLang="zh-CN" sz="2000" b="1" noProof="1"/>
          </a:p>
          <a:p>
            <a:pPr marL="342900" indent="-342900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r>
              <a:rPr lang="en-US" altLang="zh-CN" sz="2000" b="1" noProof="1"/>
              <a:t>bool</a:t>
            </a:r>
            <a:r>
              <a:rPr lang="zh-CN" altLang="en-US" sz="2000" b="1" noProof="1"/>
              <a:t>型：非零</a:t>
            </a:r>
            <a:r>
              <a:rPr lang="en-US" altLang="zh-CN" sz="2000" b="1" noProof="1"/>
              <a:t>=true</a:t>
            </a:r>
            <a:r>
              <a:rPr lang="zh-CN" altLang="en-US" sz="2000" b="1" noProof="1"/>
              <a:t>，零</a:t>
            </a:r>
            <a:r>
              <a:rPr lang="en-US" altLang="zh-CN" sz="2000" b="1" noProof="1"/>
              <a:t>=false</a:t>
            </a:r>
          </a:p>
          <a:p>
            <a:pPr marL="342900" indent="-342900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endParaRPr lang="zh-CN" altLang="en-US" sz="2000" b="1" noProof="1"/>
          </a:p>
          <a:p>
            <a:pPr marL="342900" indent="-342900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r>
              <a:rPr lang="en-US" altLang="zh-CN" sz="2000" b="1" noProof="1">
                <a:solidFill>
                  <a:srgbClr val="0000FF"/>
                </a:solidFill>
              </a:rPr>
              <a:t>C++1z</a:t>
            </a:r>
            <a:r>
              <a:rPr lang="zh-CN" altLang="zh-CN" sz="2000" b="1" noProof="1">
                <a:solidFill>
                  <a:srgbClr val="0000FF"/>
                </a:solidFill>
              </a:rPr>
              <a:t>新增类型：如 </a:t>
            </a:r>
            <a:r>
              <a:rPr lang="en-US" altLang="zh-CN" sz="2000" b="1" noProof="1">
                <a:solidFill>
                  <a:srgbClr val="0000FF"/>
                </a:solidFill>
              </a:rPr>
              <a:t>long long </a:t>
            </a:r>
            <a:r>
              <a:rPr lang="zh-CN" altLang="en-US" sz="2000" b="1" noProof="1">
                <a:solidFill>
                  <a:srgbClr val="0000FF"/>
                </a:solidFill>
              </a:rPr>
              <a:t>，编译期推导类型（</a:t>
            </a:r>
            <a:r>
              <a:rPr lang="en-US" altLang="zh-CN" sz="2000" b="1" noProof="1">
                <a:solidFill>
                  <a:srgbClr val="0000FF"/>
                </a:solidFill>
              </a:rPr>
              <a:t>auto</a:t>
            </a:r>
            <a:r>
              <a:rPr lang="zh-CN" altLang="en-US" sz="2000" b="1" noProof="1">
                <a:solidFill>
                  <a:srgbClr val="0000FF"/>
                </a:solidFill>
              </a:rPr>
              <a:t>，</a:t>
            </a:r>
            <a:r>
              <a:rPr lang="en-US" altLang="zh-CN" sz="2000" b="1" noProof="1">
                <a:solidFill>
                  <a:srgbClr val="0000FF"/>
                </a:solidFill>
              </a:rPr>
              <a:t>decltype)</a:t>
            </a:r>
          </a:p>
          <a:p>
            <a:pPr>
              <a:buClr>
                <a:srgbClr val="0070C0"/>
              </a:buClr>
              <a:buSzPct val="100000"/>
            </a:pPr>
            <a:r>
              <a:rPr lang="zh-CN" altLang="en-US" sz="2000" b="1" noProof="1">
                <a:solidFill>
                  <a:srgbClr val="0000FF"/>
                </a:solidFill>
              </a:rPr>
              <a:t>   例</a:t>
            </a:r>
            <a:endParaRPr lang="en-US" altLang="zh-CN" sz="2000" b="1" noProof="1">
              <a:solidFill>
                <a:srgbClr val="0000FF"/>
              </a:solidFill>
            </a:endParaRPr>
          </a:p>
          <a:p>
            <a:pPr>
              <a:buClr>
                <a:srgbClr val="0070C0"/>
              </a:buClr>
              <a:buSzPct val="100000"/>
            </a:pPr>
            <a:r>
              <a:rPr lang="en-US" altLang="zh-CN" sz="2000" b="1" noProof="1">
                <a:solidFill>
                  <a:srgbClr val="0000FF"/>
                </a:solidFill>
              </a:rPr>
              <a:t>    auto</a:t>
            </a:r>
            <a:r>
              <a:rPr lang="zh-CN" altLang="en-US" sz="2000" b="1" noProof="1">
                <a:solidFill>
                  <a:srgbClr val="0000FF"/>
                </a:solidFill>
              </a:rPr>
              <a:t>：          </a:t>
            </a:r>
            <a:r>
              <a:rPr lang="en-US" altLang="zh-CN" sz="2000" b="1" noProof="1">
                <a:solidFill>
                  <a:srgbClr val="0000FF"/>
                </a:solidFill>
              </a:rPr>
              <a:t>int a = 10</a:t>
            </a:r>
            <a:r>
              <a:rPr lang="zh-CN" altLang="en-US" sz="2000" b="1" noProof="1">
                <a:solidFill>
                  <a:srgbClr val="0000FF"/>
                </a:solidFill>
              </a:rPr>
              <a:t>；  </a:t>
            </a:r>
            <a:r>
              <a:rPr lang="en-US" altLang="zh-CN" sz="2000" b="1" noProof="1">
                <a:solidFill>
                  <a:srgbClr val="0000FF"/>
                </a:solidFill>
              </a:rPr>
              <a:t>auto b=a+99;</a:t>
            </a:r>
          </a:p>
          <a:p>
            <a:pPr>
              <a:buClr>
                <a:srgbClr val="0070C0"/>
              </a:buClr>
              <a:buSzPct val="100000"/>
            </a:pPr>
            <a:r>
              <a:rPr lang="en-US" altLang="zh-CN" sz="2000" b="1" noProof="1">
                <a:solidFill>
                  <a:srgbClr val="0000FF"/>
                </a:solidFill>
              </a:rPr>
              <a:t>    decltype</a:t>
            </a:r>
            <a:r>
              <a:rPr lang="zh-CN" altLang="en-US" sz="2000" b="1" noProof="1">
                <a:solidFill>
                  <a:srgbClr val="0000FF"/>
                </a:solidFill>
              </a:rPr>
              <a:t>：   </a:t>
            </a:r>
            <a:r>
              <a:rPr lang="en-US" altLang="zh-CN" sz="2000" b="1" noProof="1">
                <a:solidFill>
                  <a:srgbClr val="0000FF"/>
                </a:solidFill>
              </a:rPr>
              <a:t>int a = 10</a:t>
            </a:r>
            <a:r>
              <a:rPr lang="zh-CN" altLang="en-US" sz="2000" b="1" noProof="1">
                <a:solidFill>
                  <a:srgbClr val="0000FF"/>
                </a:solidFill>
              </a:rPr>
              <a:t>； </a:t>
            </a:r>
            <a:r>
              <a:rPr lang="en-US" altLang="zh-CN" sz="2000" b="1" noProof="1">
                <a:solidFill>
                  <a:srgbClr val="0000FF"/>
                </a:solidFill>
              </a:rPr>
              <a:t>decltype(sqrt(a))   b=sqrt(a+99)+1;</a:t>
            </a:r>
            <a:br>
              <a:rPr lang="en-US" altLang="zh-CN" sz="2000" b="1" noProof="1">
                <a:solidFill>
                  <a:srgbClr val="0000FF"/>
                </a:solidFill>
              </a:rPr>
            </a:br>
            <a:r>
              <a:rPr lang="en-US" altLang="zh-CN" sz="2000" b="1" noProof="1">
                <a:solidFill>
                  <a:srgbClr val="0000FF"/>
                </a:solidFill>
              </a:rPr>
              <a:t>                       </a:t>
            </a:r>
            <a:br>
              <a:rPr lang="en-US" altLang="zh-CN" sz="2000" b="1" noProof="1">
                <a:solidFill>
                  <a:srgbClr val="0000FF"/>
                </a:solidFill>
              </a:rPr>
            </a:br>
            <a:r>
              <a:rPr lang="en-US" altLang="zh-CN" sz="2000" b="1" noProof="1">
                <a:solidFill>
                  <a:srgbClr val="0000FF"/>
                </a:solidFill>
              </a:rPr>
              <a:t>                       template&lt;typename A,typename B&gt;</a:t>
            </a:r>
            <a:br>
              <a:rPr lang="en-US" altLang="zh-CN" sz="2000" b="1" noProof="1">
                <a:solidFill>
                  <a:srgbClr val="0000FF"/>
                </a:solidFill>
              </a:rPr>
            </a:br>
            <a:r>
              <a:rPr lang="en-US" altLang="zh-CN" sz="2000" b="1" noProof="1">
                <a:solidFill>
                  <a:srgbClr val="0000FF"/>
                </a:solidFill>
              </a:rPr>
              <a:t>                       auto </a:t>
            </a:r>
            <a:r>
              <a:rPr lang="en-US" altLang="zh-CN" sz="2000" b="1" dirty="0">
                <a:solidFill>
                  <a:srgbClr val="0000FF"/>
                </a:solidFill>
              </a:rPr>
              <a:t>multiply(A </a:t>
            </a:r>
            <a:r>
              <a:rPr lang="en-US" altLang="zh-CN" sz="2000" b="1" dirty="0" err="1">
                <a:solidFill>
                  <a:srgbClr val="0000FF"/>
                </a:solidFill>
              </a:rPr>
              <a:t>a</a:t>
            </a:r>
            <a:r>
              <a:rPr lang="en-US" altLang="zh-CN" sz="2000" b="1" dirty="0">
                <a:solidFill>
                  <a:srgbClr val="0000FF"/>
                </a:solidFill>
              </a:rPr>
              <a:t>, B b)-&gt;</a:t>
            </a:r>
            <a:r>
              <a:rPr lang="en-US" altLang="zh-CN" sz="2000" b="1" dirty="0" err="1">
                <a:solidFill>
                  <a:srgbClr val="0000FF"/>
                </a:solidFill>
              </a:rPr>
              <a:t>decltype</a:t>
            </a:r>
            <a:r>
              <a:rPr lang="en-US" altLang="zh-CN" sz="2000" b="1" dirty="0">
                <a:solidFill>
                  <a:srgbClr val="0000FF"/>
                </a:solidFill>
              </a:rPr>
              <a:t>(A*B)</a:t>
            </a:r>
            <a:br>
              <a:rPr lang="en-US" altLang="zh-CN" sz="2000" b="1" dirty="0">
                <a:solidFill>
                  <a:srgbClr val="0000FF"/>
                </a:solidFill>
              </a:rPr>
            </a:br>
            <a:r>
              <a:rPr lang="en-US" altLang="zh-CN" sz="2000" b="1" dirty="0">
                <a:solidFill>
                  <a:srgbClr val="0000FF"/>
                </a:solidFill>
              </a:rPr>
              <a:t>                       { return a*b; }</a:t>
            </a:r>
            <a:endParaRPr lang="en-US" altLang="zh-CN" sz="2000" b="1" noProof="1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7384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自定义类型</a:t>
            </a:r>
            <a:r>
              <a:rPr lang="en-US" altLang="zh-CN" dirty="0"/>
              <a:t>-</a:t>
            </a:r>
            <a:r>
              <a:rPr lang="zh-CN" altLang="en-US" dirty="0"/>
              <a:t>使用</a:t>
            </a:r>
            <a:r>
              <a:rPr lang="en-US" altLang="zh-CN" dirty="0" err="1"/>
              <a:t>typedef</a:t>
            </a:r>
            <a:endParaRPr lang="zh-CN" altLang="en-US" dirty="0"/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2093175" y="795027"/>
            <a:ext cx="8005649" cy="1719199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>
            <a:norm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r>
              <a:rPr lang="zh-CN" altLang="en-US" sz="2000" b="1" noProof="1">
                <a:solidFill>
                  <a:srgbClr val="0000FF"/>
                </a:solidFill>
              </a:rPr>
              <a:t>定义类型格式：</a:t>
            </a:r>
            <a:r>
              <a:rPr lang="en-US" altLang="zh-CN" sz="2000" b="1" noProof="1">
                <a:solidFill>
                  <a:srgbClr val="0000FF"/>
                </a:solidFill>
              </a:rPr>
              <a:t>typedef &lt;</a:t>
            </a:r>
            <a:r>
              <a:rPr lang="zh-CN" altLang="zh-CN" sz="2000" b="1" noProof="1">
                <a:solidFill>
                  <a:srgbClr val="0000FF"/>
                </a:solidFill>
              </a:rPr>
              <a:t>已知类型</a:t>
            </a:r>
            <a:r>
              <a:rPr lang="en-US" altLang="zh-CN" sz="2000" b="1" noProof="1">
                <a:solidFill>
                  <a:srgbClr val="0000FF"/>
                </a:solidFill>
              </a:rPr>
              <a:t>&gt;  &lt;</a:t>
            </a:r>
            <a:r>
              <a:rPr lang="zh-CN" altLang="en-US" sz="2000" b="1" noProof="1">
                <a:solidFill>
                  <a:srgbClr val="0000FF"/>
                </a:solidFill>
              </a:rPr>
              <a:t>新类型</a:t>
            </a:r>
            <a:r>
              <a:rPr lang="en-US" altLang="zh-CN" sz="2000" b="1" noProof="1">
                <a:solidFill>
                  <a:srgbClr val="0000FF"/>
                </a:solidFill>
              </a:rPr>
              <a:t>&gt;</a:t>
            </a:r>
          </a:p>
          <a:p>
            <a:pPr marL="342900" indent="-342900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r>
              <a:rPr lang="zh-CN" altLang="en-US" sz="2000" b="1" noProof="1">
                <a:solidFill>
                  <a:srgbClr val="0000FF"/>
                </a:solidFill>
              </a:rPr>
              <a:t>定义函数类型格式： </a:t>
            </a:r>
            <a:r>
              <a:rPr lang="en-US" altLang="zh-CN" sz="2000" b="1" noProof="1">
                <a:solidFill>
                  <a:srgbClr val="0000FF"/>
                </a:solidFill>
              </a:rPr>
              <a:t>typedef ReturnType (*</a:t>
            </a:r>
            <a:r>
              <a:rPr lang="zh-CN" altLang="en-US" sz="2000" b="1" noProof="1">
                <a:solidFill>
                  <a:srgbClr val="0000FF"/>
                </a:solidFill>
              </a:rPr>
              <a:t>新类型</a:t>
            </a:r>
            <a:r>
              <a:rPr lang="en-US" altLang="zh-CN" sz="2000" b="1" noProof="1">
                <a:solidFill>
                  <a:srgbClr val="0000FF"/>
                </a:solidFill>
              </a:rPr>
              <a:t>)(</a:t>
            </a:r>
            <a:r>
              <a:rPr lang="zh-CN" altLang="en-US" sz="2000" b="1" noProof="1">
                <a:solidFill>
                  <a:srgbClr val="0000FF"/>
                </a:solidFill>
              </a:rPr>
              <a:t>参数列表</a:t>
            </a:r>
            <a:r>
              <a:rPr lang="en-US" altLang="zh-CN" sz="2000" b="1" noProof="1">
                <a:solidFill>
                  <a:srgbClr val="0000FF"/>
                </a:solidFill>
              </a:rPr>
              <a:t>);</a:t>
            </a:r>
          </a:p>
          <a:p>
            <a:pPr marL="342900" indent="-342900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endParaRPr lang="zh-CN" altLang="en-US" sz="2000" b="1" noProof="1"/>
          </a:p>
          <a:p>
            <a:pPr marL="342900" indent="-342900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r>
              <a:rPr lang="en-US" altLang="zh-CN" sz="2000" b="1" noProof="1">
                <a:solidFill>
                  <a:srgbClr val="FF0000"/>
                </a:solidFill>
              </a:rPr>
              <a:t>typedef</a:t>
            </a:r>
            <a:r>
              <a:rPr lang="zh-CN" altLang="zh-CN" sz="2000" b="1" noProof="1">
                <a:solidFill>
                  <a:srgbClr val="FF0000"/>
                </a:solidFill>
              </a:rPr>
              <a:t>本质上没有增加新类型</a:t>
            </a:r>
            <a:endParaRPr lang="en-US" altLang="zh-CN" sz="2000" b="1" noProof="1">
              <a:solidFill>
                <a:srgbClr val="FF0000"/>
              </a:solidFill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344520" y="2685535"/>
            <a:ext cx="5479231" cy="3764692"/>
          </a:xfrm>
          <a:prstGeom prst="rect">
            <a:avLst/>
          </a:prstGeom>
          <a:ln w="38100">
            <a:solidFill>
              <a:schemeClr val="accent2"/>
            </a:solidFill>
          </a:ln>
        </p:spPr>
        <p:txBody>
          <a:bodyPr>
            <a:norm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zh-CN" altLang="en-US" sz="2000" b="1" noProof="1">
                <a:sym typeface="+mn-ea"/>
              </a:rPr>
              <a:t>例</a:t>
            </a:r>
            <a:r>
              <a:rPr lang="en-US" altLang="zh-CN" sz="2000" b="1" noProof="1">
                <a:sym typeface="+mn-ea"/>
              </a:rPr>
              <a:t>1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2000" b="1" noProof="1">
                <a:sym typeface="+mn-ea"/>
              </a:rPr>
              <a:t>typedef unsigned char  UCHAR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2000" b="1" noProof="1">
                <a:sym typeface="+mn-ea"/>
              </a:rPr>
              <a:t>typedef unsigned long  DWORD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2000" b="1" noProof="1">
                <a:sym typeface="+mn-ea"/>
              </a:rPr>
              <a:t>typedef unsinged int     uint;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endParaRPr lang="en-US" altLang="zh-CN" sz="2000" b="1" noProof="1">
              <a:sym typeface="+mn-ea"/>
            </a:endParaRP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2000" b="1" noProof="1">
                <a:sym typeface="+mn-ea"/>
              </a:rPr>
              <a:t>UCHAR  ch = 'a';</a:t>
            </a:r>
            <a:r>
              <a:rPr lang="zh-CN" altLang="zh-CN" sz="2000" b="1" noProof="1">
                <a:sym typeface="+mn-ea"/>
              </a:rPr>
              <a:t>  等价于 </a:t>
            </a:r>
            <a:r>
              <a:rPr lang="en-US" altLang="zh-CN" sz="2000" b="1" noProof="1">
                <a:sym typeface="+mn-ea"/>
              </a:rPr>
              <a:t>unsigned char ch = 'a';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2000" b="1" noProof="1">
                <a:sym typeface="+mn-ea"/>
              </a:rPr>
              <a:t>DWORD   n = 99;  </a:t>
            </a:r>
            <a:r>
              <a:rPr lang="zh-CN" altLang="zh-CN" sz="2000" b="1" noProof="1">
                <a:sym typeface="+mn-ea"/>
              </a:rPr>
              <a:t>等价于 </a:t>
            </a:r>
            <a:r>
              <a:rPr lang="en-US" altLang="zh-CN" sz="2000" b="1" noProof="1">
                <a:sym typeface="+mn-ea"/>
              </a:rPr>
              <a:t>unsigned long n = 99;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2000" b="1" noProof="1">
                <a:sym typeface="+mn-ea"/>
              </a:rPr>
              <a:t>uint     num = 10;  </a:t>
            </a:r>
            <a:r>
              <a:rPr lang="zh-CN" altLang="zh-CN" sz="2000" b="1" noProof="1">
                <a:sym typeface="+mn-ea"/>
              </a:rPr>
              <a:t>等价于 </a:t>
            </a:r>
            <a:r>
              <a:rPr lang="en-US" altLang="zh-CN" sz="2000" b="1" noProof="1">
                <a:sym typeface="+mn-ea"/>
              </a:rPr>
              <a:t>unsigned int num = 10</a:t>
            </a:r>
            <a:r>
              <a:rPr lang="en-US" altLang="zh-CN" sz="1200" b="1" noProof="1">
                <a:sym typeface="+mn-ea"/>
              </a:rPr>
              <a:t>;</a:t>
            </a: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6096000" y="2685535"/>
            <a:ext cx="5292773" cy="3764692"/>
          </a:xfrm>
          <a:prstGeom prst="rect">
            <a:avLst/>
          </a:prstGeom>
          <a:ln w="38100">
            <a:solidFill>
              <a:schemeClr val="accent2"/>
            </a:solidFill>
          </a:ln>
        </p:spPr>
        <p:txBody>
          <a:bodyPr>
            <a:normAutofit lnSpcReduction="1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2000" b="1" noProof="1"/>
              <a:t> </a:t>
            </a:r>
            <a:r>
              <a:rPr lang="zh-CN" altLang="en-US" sz="2000" b="1" noProof="1"/>
              <a:t>例</a:t>
            </a:r>
            <a:r>
              <a:rPr lang="en-US" altLang="zh-CN" sz="2000" b="1" noProof="1"/>
              <a:t>2</a:t>
            </a:r>
            <a:r>
              <a:rPr lang="zh-CN" altLang="en-US" sz="2000" b="1" noProof="1"/>
              <a:t>：</a:t>
            </a:r>
            <a:br>
              <a:rPr lang="en-US" altLang="zh-CN" sz="2000" b="1" noProof="1"/>
            </a:br>
            <a:r>
              <a:rPr lang="en-US" altLang="zh-CN" sz="2000" b="1" noProof="1"/>
              <a:t>int f(int,int)   { } </a:t>
            </a: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2000" b="1" noProof="1"/>
              <a:t>int g(int ,int) { }</a:t>
            </a: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2000" b="1" noProof="1">
                <a:solidFill>
                  <a:srgbClr val="0000FF"/>
                </a:solidFill>
              </a:rPr>
              <a:t>typedef int (*MyFuncType)(int,int);</a:t>
            </a: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2000" b="1" noProof="1">
                <a:solidFill>
                  <a:srgbClr val="0000FF"/>
                </a:solidFill>
              </a:rPr>
              <a:t>using MyFuncType = int</a:t>
            </a:r>
            <a:r>
              <a:rPr lang="zh-CN" altLang="en-US" sz="2000" b="1" noProof="1">
                <a:solidFill>
                  <a:srgbClr val="0000FF"/>
                </a:solidFill>
              </a:rPr>
              <a:t> </a:t>
            </a:r>
            <a:r>
              <a:rPr lang="en-US" altLang="zh-CN" sz="2000" b="1" noProof="1">
                <a:solidFill>
                  <a:srgbClr val="0000FF"/>
                </a:solidFill>
              </a:rPr>
              <a:t>(*)(int,int);</a:t>
            </a:r>
            <a:r>
              <a:rPr lang="zh-CN" altLang="en-US" sz="2000" b="1" noProof="1">
                <a:solidFill>
                  <a:srgbClr val="0000FF"/>
                </a:solidFill>
              </a:rPr>
              <a:t> </a:t>
            </a:r>
            <a:r>
              <a:rPr lang="en-US" altLang="zh-CN" sz="2000" b="1" noProof="1">
                <a:solidFill>
                  <a:srgbClr val="0000FF"/>
                </a:solidFill>
              </a:rPr>
              <a:t>//C++1z</a:t>
            </a: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2000" b="1" noProof="1"/>
              <a:t>MyFuncType f1=f; </a:t>
            </a: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2000" b="1" noProof="1"/>
              <a:t>MyFuncType f2=g;</a:t>
            </a: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2000" b="1" noProof="1">
                <a:solidFill>
                  <a:srgbClr val="0000FF"/>
                </a:solidFill>
              </a:rPr>
              <a:t>f1(1,2);  f2(3,4);</a:t>
            </a: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2000" b="1" noProof="1"/>
              <a:t>int  YourFunc(</a:t>
            </a:r>
            <a:r>
              <a:rPr lang="en-US" altLang="zh-CN" sz="2000" b="1" noProof="1">
                <a:solidFill>
                  <a:srgbClr val="0000FF"/>
                </a:solidFill>
              </a:rPr>
              <a:t>MyFuncType</a:t>
            </a:r>
            <a:r>
              <a:rPr lang="en-US" altLang="zh-CN" sz="2000" b="1" noProof="1"/>
              <a:t> ff)</a:t>
            </a: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2000" b="1" noProof="1"/>
              <a:t>{  return ff(88,99); }</a:t>
            </a: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2000" b="1" noProof="1">
                <a:solidFill>
                  <a:srgbClr val="0000FF"/>
                </a:solidFill>
                <a:sym typeface="+mn-ea"/>
              </a:rPr>
              <a:t>YourFunc(f); YourFunc(g);</a:t>
            </a:r>
          </a:p>
        </p:txBody>
      </p:sp>
    </p:spTree>
    <p:extLst>
      <p:ext uri="{BB962C8B-B14F-4D97-AF65-F5344CB8AC3E}">
        <p14:creationId xmlns:p14="http://schemas.microsoft.com/office/powerpoint/2010/main" val="1666208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5010894" cy="498717"/>
          </a:xfrm>
        </p:spPr>
        <p:txBody>
          <a:bodyPr/>
          <a:lstStyle/>
          <a:p>
            <a:r>
              <a:rPr lang="zh-CN" altLang="en-US" dirty="0"/>
              <a:t>自定义类型</a:t>
            </a:r>
            <a:r>
              <a:rPr lang="en-US" altLang="zh-CN" dirty="0"/>
              <a:t>-</a:t>
            </a:r>
            <a:r>
              <a:rPr lang="zh-CN" altLang="en-US" dirty="0"/>
              <a:t>枚举类型</a:t>
            </a:r>
            <a:r>
              <a:rPr lang="en-US" altLang="zh-CN" dirty="0"/>
              <a:t>(C++98)</a:t>
            </a:r>
            <a:endParaRPr lang="zh-CN" altLang="en-US" dirty="0"/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2550737" y="1094785"/>
            <a:ext cx="7361739" cy="1367142"/>
          </a:xfrm>
          <a:prstGeom prst="rect">
            <a:avLst/>
          </a:prstGeom>
          <a:ln w="38100">
            <a:solidFill>
              <a:srgbClr val="FF6600"/>
            </a:solidFill>
          </a:ln>
        </p:spPr>
        <p:txBody>
          <a:bodyPr>
            <a:norm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70C0"/>
              </a:buClr>
              <a:buSzPct val="100000"/>
            </a:pPr>
            <a:r>
              <a:rPr lang="en-US" altLang="zh-CN" sz="2000" b="1" noProof="1">
                <a:solidFill>
                  <a:srgbClr val="0000FF"/>
                </a:solidFill>
              </a:rPr>
              <a:t>C++98</a:t>
            </a:r>
            <a:r>
              <a:rPr lang="zh-CN" altLang="en-US" sz="2000" b="1" noProof="1">
                <a:solidFill>
                  <a:srgbClr val="0000FF"/>
                </a:solidFill>
              </a:rPr>
              <a:t>： </a:t>
            </a:r>
            <a:r>
              <a:rPr lang="en-US" altLang="zh-CN" sz="2000" b="1" noProof="1">
                <a:solidFill>
                  <a:srgbClr val="0000FF"/>
                </a:solidFill>
              </a:rPr>
              <a:t>enum </a:t>
            </a:r>
            <a:r>
              <a:rPr lang="zh-CN" altLang="en-US" sz="2000" b="1" noProof="1">
                <a:solidFill>
                  <a:srgbClr val="0000FF"/>
                </a:solidFill>
              </a:rPr>
              <a:t>枚举类型名</a:t>
            </a:r>
            <a:r>
              <a:rPr lang="en-US" altLang="zh-CN" sz="2000" b="1" noProof="1">
                <a:solidFill>
                  <a:srgbClr val="0000FF"/>
                </a:solidFill>
              </a:rPr>
              <a:t> {</a:t>
            </a:r>
            <a:r>
              <a:rPr lang="zh-CN" altLang="en-US" sz="2000" b="1" noProof="1">
                <a:solidFill>
                  <a:srgbClr val="0000FF"/>
                </a:solidFill>
              </a:rPr>
              <a:t>枚举值列表 </a:t>
            </a:r>
            <a:r>
              <a:rPr lang="en-US" altLang="zh-CN" sz="2000" b="1" noProof="1">
                <a:solidFill>
                  <a:srgbClr val="0000FF"/>
                </a:solidFill>
              </a:rPr>
              <a:t>};</a:t>
            </a:r>
          </a:p>
          <a:p>
            <a:pPr marL="708660" lvl="1" indent="-342900">
              <a:lnSpc>
                <a:spcPct val="80000"/>
              </a:lnSpc>
              <a:buClr>
                <a:srgbClr val="C00000"/>
              </a:buClr>
              <a:buSzPct val="100000"/>
              <a:buFont typeface="Wingdings" panose="05000000000000000000" charset="0"/>
              <a:buChar char="l"/>
            </a:pPr>
            <a:r>
              <a:rPr lang="zh-CN" altLang="zh-CN" sz="2000" noProof="1">
                <a:sym typeface="+mn-ea"/>
              </a:rPr>
              <a:t>枚举值必须是整数</a:t>
            </a:r>
          </a:p>
          <a:p>
            <a:pPr marL="708660" lvl="1" indent="-342900">
              <a:lnSpc>
                <a:spcPct val="80000"/>
              </a:lnSpc>
              <a:buClr>
                <a:srgbClr val="C00000"/>
              </a:buClr>
              <a:buFont typeface="Wingdings" panose="05000000000000000000" charset="0"/>
              <a:buChar char="l"/>
            </a:pPr>
            <a:r>
              <a:rPr lang="zh-CN" altLang="en-US" sz="2000" noProof="1">
                <a:sym typeface="+mn-ea"/>
              </a:rPr>
              <a:t>第一个枚举值，缺省为</a:t>
            </a:r>
            <a:r>
              <a:rPr lang="en-US" altLang="zh-CN" sz="2000" noProof="1">
                <a:sym typeface="+mn-ea"/>
              </a:rPr>
              <a:t>0</a:t>
            </a:r>
          </a:p>
          <a:p>
            <a:pPr marL="708660" lvl="1" indent="-342900">
              <a:lnSpc>
                <a:spcPct val="80000"/>
              </a:lnSpc>
              <a:buClr>
                <a:srgbClr val="C00000"/>
              </a:buClr>
              <a:buFont typeface="Wingdings" panose="05000000000000000000" charset="0"/>
              <a:buChar char="l"/>
            </a:pPr>
            <a:r>
              <a:rPr lang="zh-CN" altLang="en-US" sz="2000" noProof="1">
                <a:sym typeface="+mn-ea"/>
              </a:rPr>
              <a:t>后一个枚举值，若没有指定，则为前一个枚举值</a:t>
            </a:r>
            <a:r>
              <a:rPr lang="en-US" altLang="zh-CN" sz="2000" noProof="1">
                <a:sym typeface="+mn-ea"/>
              </a:rPr>
              <a:t>+1</a:t>
            </a:r>
            <a:endParaRPr lang="en-US" altLang="zh-CN" sz="2000" b="1" noProof="1">
              <a:solidFill>
                <a:srgbClr val="FF0000"/>
              </a:solidFill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636314" y="2848655"/>
            <a:ext cx="5778499" cy="2927201"/>
          </a:xfrm>
          <a:prstGeom prst="rect">
            <a:avLst/>
          </a:prstGeom>
          <a:ln w="38100">
            <a:solidFill>
              <a:schemeClr val="accent2"/>
            </a:solidFill>
          </a:ln>
        </p:spPr>
        <p:txBody>
          <a:bodyPr>
            <a:no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zh-CN" altLang="en-US" sz="1800" dirty="0">
                <a:latin typeface="+mn-ea"/>
                <a:sym typeface="黑体" panose="02010609060101010101" pitchFamily="49" charset="-122"/>
              </a:rPr>
              <a:t>例</a:t>
            </a:r>
            <a:r>
              <a:rPr lang="en-US" altLang="zh-CN" sz="1800" dirty="0">
                <a:latin typeface="+mn-ea"/>
                <a:sym typeface="Wingdings" panose="05000000000000000000" pitchFamily="2" charset="2"/>
              </a:rPr>
              <a:t>:(C++98)</a:t>
            </a:r>
            <a:endParaRPr lang="en-US" altLang="zh-CN" sz="1800" dirty="0">
              <a:latin typeface="+mn-ea"/>
            </a:endParaRPr>
          </a:p>
          <a:p>
            <a:pPr marL="0" lvl="1" indent="0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zh-CN" sz="1800" b="1" dirty="0" err="1">
                <a:latin typeface="+mn-ea"/>
                <a:sym typeface="黑体" panose="02010609060101010101" pitchFamily="49" charset="-122"/>
              </a:rPr>
              <a:t>enum</a:t>
            </a:r>
            <a:r>
              <a:rPr lang="en-US" altLang="zh-CN" sz="1800" b="1" dirty="0">
                <a:latin typeface="+mn-ea"/>
                <a:sym typeface="黑体" panose="02010609060101010101" pitchFamily="49" charset="-122"/>
              </a:rPr>
              <a:t> </a:t>
            </a:r>
            <a:r>
              <a:rPr lang="en-US" altLang="zh-CN" sz="1800" b="1" dirty="0" err="1">
                <a:latin typeface="+mn-ea"/>
                <a:sym typeface="黑体" panose="02010609060101010101" pitchFamily="49" charset="-122"/>
              </a:rPr>
              <a:t>WeekDay</a:t>
            </a:r>
            <a:endParaRPr lang="en-US" altLang="zh-CN" sz="1800" b="1" dirty="0">
              <a:latin typeface="+mn-ea"/>
              <a:sym typeface="黑体" panose="02010609060101010101" pitchFamily="49" charset="-122"/>
            </a:endParaRPr>
          </a:p>
          <a:p>
            <a:pPr marL="0" lvl="1" indent="0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zh-CN" sz="1800" b="1" dirty="0">
                <a:latin typeface="+mn-ea"/>
                <a:sym typeface="黑体" panose="02010609060101010101" pitchFamily="49" charset="-122"/>
              </a:rPr>
              <a:t>  {MON=1,TUR,WED,THU,FRI,SAT, SUN=0 };</a:t>
            </a:r>
            <a:br>
              <a:rPr lang="en-US" altLang="zh-CN" sz="1800" dirty="0">
                <a:latin typeface="+mn-ea"/>
                <a:sym typeface="黑体" panose="02010609060101010101" pitchFamily="49" charset="-122"/>
              </a:rPr>
            </a:br>
            <a:endParaRPr lang="en-US" altLang="zh-CN" sz="1800" dirty="0">
              <a:latin typeface="+mn-ea"/>
            </a:endParaRPr>
          </a:p>
          <a:p>
            <a:pPr marL="0" lvl="1" indent="0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zh-CN" sz="1800" dirty="0">
                <a:latin typeface="+mn-ea"/>
                <a:sym typeface="黑体" panose="02010609060101010101" pitchFamily="49" charset="-122"/>
              </a:rPr>
              <a:t>void main( )  </a:t>
            </a:r>
            <a:endParaRPr lang="en-US" altLang="zh-CN" sz="1800" dirty="0">
              <a:latin typeface="+mn-ea"/>
            </a:endParaRPr>
          </a:p>
          <a:p>
            <a:pPr marL="0" lvl="1" indent="0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zh-CN" sz="1800" dirty="0">
                <a:latin typeface="+mn-ea"/>
                <a:sym typeface="黑体" panose="02010609060101010101" pitchFamily="49" charset="-122"/>
              </a:rPr>
              <a:t>{</a:t>
            </a:r>
            <a:br>
              <a:rPr lang="en-US" altLang="zh-CN" sz="1800" dirty="0">
                <a:latin typeface="+mn-ea"/>
                <a:sym typeface="黑体" panose="02010609060101010101" pitchFamily="49" charset="-122"/>
              </a:rPr>
            </a:br>
            <a:r>
              <a:rPr lang="en-US" altLang="zh-CN" sz="1800" dirty="0">
                <a:latin typeface="+mn-ea"/>
                <a:sym typeface="黑体" panose="02010609060101010101" pitchFamily="49" charset="-122"/>
              </a:rPr>
              <a:t>     </a:t>
            </a:r>
            <a:r>
              <a:rPr lang="en-US" altLang="zh-CN" sz="1800" dirty="0" err="1">
                <a:latin typeface="+mn-ea"/>
                <a:sym typeface="黑体" panose="02010609060101010101" pitchFamily="49" charset="-122"/>
              </a:rPr>
              <a:t>WeekDay</a:t>
            </a:r>
            <a:r>
              <a:rPr lang="en-US" altLang="zh-CN" sz="1800" dirty="0">
                <a:latin typeface="+mn-ea"/>
                <a:sym typeface="黑体" panose="02010609060101010101" pitchFamily="49" charset="-122"/>
              </a:rPr>
              <a:t> day1,day2;</a:t>
            </a:r>
            <a:endParaRPr lang="en-US" altLang="zh-CN" sz="1800" dirty="0">
              <a:latin typeface="+mn-ea"/>
            </a:endParaRPr>
          </a:p>
          <a:p>
            <a:pPr marL="0" lvl="1" indent="0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zh-CN" sz="1800" dirty="0">
                <a:latin typeface="+mn-ea"/>
                <a:sym typeface="黑体" panose="02010609060101010101" pitchFamily="49" charset="-122"/>
              </a:rPr>
              <a:t>     day1=SUN,day2=THU;</a:t>
            </a:r>
            <a:endParaRPr lang="en-US" altLang="zh-CN" sz="1800" dirty="0">
              <a:latin typeface="+mn-ea"/>
            </a:endParaRPr>
          </a:p>
          <a:p>
            <a:pPr marL="0" lvl="1" indent="0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zh-CN" sz="1800" dirty="0">
                <a:latin typeface="+mn-ea"/>
                <a:sym typeface="黑体" panose="02010609060101010101" pitchFamily="49" charset="-122"/>
              </a:rPr>
              <a:t>     </a:t>
            </a:r>
            <a:r>
              <a:rPr lang="en-US" altLang="zh-CN" sz="1800" dirty="0" err="1">
                <a:latin typeface="+mn-ea"/>
                <a:sym typeface="黑体" panose="02010609060101010101" pitchFamily="49" charset="-122"/>
              </a:rPr>
              <a:t>cout</a:t>
            </a:r>
            <a:r>
              <a:rPr lang="en-US" altLang="zh-CN" sz="1800" dirty="0">
                <a:latin typeface="+mn-ea"/>
                <a:sym typeface="黑体" panose="02010609060101010101" pitchFamily="49" charset="-122"/>
              </a:rPr>
              <a:t>&lt;&lt;day1&lt;&lt;</a:t>
            </a:r>
            <a:r>
              <a:rPr lang="en-US" altLang="zh-CN" sz="1800" dirty="0" err="1">
                <a:latin typeface="+mn-ea"/>
                <a:sym typeface="黑体" panose="02010609060101010101" pitchFamily="49" charset="-122"/>
              </a:rPr>
              <a:t>endl</a:t>
            </a:r>
            <a:r>
              <a:rPr lang="en-US" altLang="zh-CN" sz="1800" dirty="0">
                <a:latin typeface="+mn-ea"/>
                <a:sym typeface="黑体" panose="02010609060101010101" pitchFamily="49" charset="-122"/>
              </a:rPr>
              <a:t>;</a:t>
            </a:r>
            <a:endParaRPr lang="en-US" altLang="zh-CN" sz="1800" dirty="0">
              <a:latin typeface="+mn-ea"/>
            </a:endParaRPr>
          </a:p>
          <a:p>
            <a:pPr marL="0" lvl="1" indent="0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zh-CN" sz="1800" dirty="0">
                <a:latin typeface="+mn-ea"/>
                <a:sym typeface="黑体" panose="02010609060101010101" pitchFamily="49" charset="-122"/>
              </a:rPr>
              <a:t>     </a:t>
            </a:r>
            <a:r>
              <a:rPr lang="en-US" altLang="zh-CN" sz="1800" dirty="0" err="1">
                <a:latin typeface="+mn-ea"/>
                <a:sym typeface="黑体" panose="02010609060101010101" pitchFamily="49" charset="-122"/>
              </a:rPr>
              <a:t>int</a:t>
            </a:r>
            <a:r>
              <a:rPr lang="en-US" altLang="zh-CN" sz="1800" dirty="0">
                <a:latin typeface="+mn-ea"/>
                <a:sym typeface="黑体" panose="02010609060101010101" pitchFamily="49" charset="-122"/>
              </a:rPr>
              <a:t> </a:t>
            </a:r>
            <a:r>
              <a:rPr lang="en-US" altLang="zh-CN" sz="1800" dirty="0" err="1">
                <a:latin typeface="+mn-ea"/>
                <a:sym typeface="黑体" panose="02010609060101010101" pitchFamily="49" charset="-122"/>
              </a:rPr>
              <a:t>num</a:t>
            </a:r>
            <a:r>
              <a:rPr lang="en-US" altLang="zh-CN" sz="1800" dirty="0">
                <a:latin typeface="+mn-ea"/>
                <a:sym typeface="黑体" panose="02010609060101010101" pitchFamily="49" charset="-122"/>
              </a:rPr>
              <a:t> = day2+100;</a:t>
            </a:r>
            <a:endParaRPr lang="en-US" altLang="zh-CN" sz="1800" dirty="0">
              <a:latin typeface="+mn-ea"/>
            </a:endParaRPr>
          </a:p>
          <a:p>
            <a:pPr marL="0" lvl="1" indent="0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zh-CN" sz="1800" dirty="0">
                <a:latin typeface="+mn-ea"/>
                <a:sym typeface="黑体" panose="02010609060101010101" pitchFamily="49" charset="-122"/>
              </a:rPr>
              <a:t>}</a:t>
            </a:r>
            <a:endParaRPr lang="zh-CN" altLang="en-US" sz="1800" dirty="0">
              <a:latin typeface="+mn-ea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6737008" y="2848655"/>
            <a:ext cx="4852087" cy="2908080"/>
          </a:xfrm>
          <a:prstGeom prst="rect">
            <a:avLst/>
          </a:prstGeom>
          <a:ln w="38100">
            <a:solidFill>
              <a:schemeClr val="accent2"/>
            </a:solidFill>
          </a:ln>
        </p:spPr>
        <p:txBody>
          <a:bodyPr>
            <a:norm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2000" b="1" noProof="1">
                <a:solidFill>
                  <a:srgbClr val="0000FF"/>
                </a:solidFill>
              </a:rPr>
              <a:t>C++98</a:t>
            </a:r>
            <a:r>
              <a:rPr lang="zh-CN" altLang="en-US" sz="2000" b="1" noProof="1"/>
              <a:t>下的说明：</a:t>
            </a:r>
            <a:endParaRPr lang="en-US" altLang="zh-CN" sz="2000" b="1" noProof="1"/>
          </a:p>
          <a:p>
            <a:pPr marL="457200" indent="-457200">
              <a:buClr>
                <a:srgbClr val="0070C0"/>
              </a:buClr>
              <a:buSzPct val="100000"/>
              <a:buFont typeface="+mj-lt"/>
              <a:buAutoNum type="arabicPeriod"/>
            </a:pPr>
            <a:r>
              <a:rPr lang="zh-CN" altLang="en-US" sz="2000" b="1" noProof="1"/>
              <a:t>内部就是</a:t>
            </a:r>
            <a:r>
              <a:rPr lang="en-US" altLang="zh-CN" sz="2000" b="1" noProof="1"/>
              <a:t>int</a:t>
            </a:r>
          </a:p>
          <a:p>
            <a:pPr marL="457200" indent="-457200">
              <a:buClr>
                <a:srgbClr val="0070C0"/>
              </a:buClr>
              <a:buSzPct val="100000"/>
              <a:buFont typeface="+mj-lt"/>
              <a:buAutoNum type="arabicPeriod"/>
            </a:pPr>
            <a:r>
              <a:rPr lang="en-US" altLang="zh-CN" sz="2000" b="1" noProof="1"/>
              <a:t>int</a:t>
            </a:r>
            <a:r>
              <a:rPr lang="zh-CN" altLang="en-US" sz="2000" b="1" noProof="1"/>
              <a:t>与枚举量可随意转换，不安全</a:t>
            </a:r>
            <a:endParaRPr lang="en-US" altLang="zh-CN" sz="2000" b="1" noProof="1"/>
          </a:p>
          <a:p>
            <a:pPr marL="457200" indent="-457200">
              <a:buClr>
                <a:srgbClr val="0070C0"/>
              </a:buClr>
              <a:buSzPct val="100000"/>
              <a:buFont typeface="+mj-lt"/>
              <a:buAutoNum type="arabicPeriod"/>
            </a:pPr>
            <a:r>
              <a:rPr lang="zh-CN" altLang="en-US" sz="2000" b="1" noProof="1"/>
              <a:t>同名枚举值的问题</a:t>
            </a:r>
            <a:endParaRPr lang="en-US" altLang="zh-CN" sz="2000" b="1" noProof="1"/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2000" b="1" noProof="1">
                <a:solidFill>
                  <a:schemeClr val="accent5"/>
                </a:solidFill>
              </a:rPr>
              <a:t>    enum  Dir { LEFT,</a:t>
            </a:r>
            <a:r>
              <a:rPr lang="en-US" altLang="zh-CN" sz="2000" b="1" noProof="1">
                <a:solidFill>
                  <a:srgbClr val="0000FF"/>
                </a:solidFill>
              </a:rPr>
              <a:t>RIGHT</a:t>
            </a:r>
            <a:r>
              <a:rPr lang="en-US" altLang="zh-CN" sz="2000" b="1" noProof="1">
                <a:solidFill>
                  <a:schemeClr val="accent5"/>
                </a:solidFill>
              </a:rPr>
              <a:t> };</a:t>
            </a: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2000" b="1" noProof="1">
                <a:solidFill>
                  <a:schemeClr val="accent5"/>
                </a:solidFill>
              </a:rPr>
              <a:t>    enum  State { </a:t>
            </a:r>
            <a:r>
              <a:rPr lang="en-US" altLang="zh-CN" sz="2000" b="1" noProof="1">
                <a:solidFill>
                  <a:srgbClr val="0000FF"/>
                </a:solidFill>
              </a:rPr>
              <a:t>RIGHT</a:t>
            </a:r>
            <a:r>
              <a:rPr lang="en-US" altLang="zh-CN" sz="2000" b="1" noProof="1">
                <a:solidFill>
                  <a:schemeClr val="accent5"/>
                </a:solidFill>
              </a:rPr>
              <a:t>,FAILED };</a:t>
            </a:r>
            <a:br>
              <a:rPr lang="en-US" altLang="zh-CN" sz="2000" b="1" noProof="1"/>
            </a:br>
            <a:r>
              <a:rPr lang="en-US" altLang="zh-CN" sz="2000" b="1" noProof="1"/>
              <a:t>      </a:t>
            </a:r>
            <a:br>
              <a:rPr lang="en-US" altLang="zh-CN" sz="2000" b="1" noProof="1"/>
            </a:br>
            <a:r>
              <a:rPr lang="en-US" altLang="zh-CN" sz="2000" b="1" noProof="1"/>
              <a:t>      </a:t>
            </a:r>
            <a:r>
              <a:rPr lang="en-US" altLang="zh-CN" sz="2000" b="1" noProof="1">
                <a:solidFill>
                  <a:srgbClr val="FF0000"/>
                </a:solidFill>
              </a:rPr>
              <a:t>RIGHT==0 </a:t>
            </a:r>
            <a:r>
              <a:rPr lang="zh-CN" altLang="en-US" sz="2000" b="1" noProof="1">
                <a:solidFill>
                  <a:srgbClr val="FF0000"/>
                </a:solidFill>
              </a:rPr>
              <a:t>还是 </a:t>
            </a:r>
            <a:r>
              <a:rPr lang="en-US" altLang="zh-CN" sz="2000" b="1" noProof="1">
                <a:solidFill>
                  <a:srgbClr val="FF0000"/>
                </a:solidFill>
              </a:rPr>
              <a:t>RIGHT==1   </a:t>
            </a:r>
            <a:r>
              <a:rPr lang="zh-CN" altLang="en-US" sz="2000" b="1" noProof="1">
                <a:solidFill>
                  <a:srgbClr val="FF0000"/>
                </a:solidFill>
              </a:rPr>
              <a:t>？</a:t>
            </a:r>
            <a:endParaRPr lang="en-US" altLang="zh-CN" sz="2000" b="1" noProof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7311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8612" y="82272"/>
            <a:ext cx="7027701" cy="498717"/>
          </a:xfrm>
        </p:spPr>
        <p:txBody>
          <a:bodyPr/>
          <a:lstStyle/>
          <a:p>
            <a:r>
              <a:rPr lang="zh-CN" altLang="en-US" dirty="0"/>
              <a:t>自定义类型</a:t>
            </a:r>
            <a:r>
              <a:rPr lang="en-US" altLang="zh-CN" dirty="0"/>
              <a:t>-</a:t>
            </a:r>
            <a:r>
              <a:rPr lang="zh-CN" altLang="en-US" dirty="0"/>
              <a:t>强类型枚举 （</a:t>
            </a:r>
            <a:r>
              <a:rPr lang="en-US" altLang="zh-CN" dirty="0"/>
              <a:t>C++1z</a:t>
            </a:r>
            <a:r>
              <a:rPr lang="zh-CN" altLang="en-US" dirty="0"/>
              <a:t>的枚举类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1504765" y="871164"/>
            <a:ext cx="7875438" cy="1367142"/>
          </a:xfrm>
          <a:prstGeom prst="rect">
            <a:avLst/>
          </a:prstGeom>
          <a:ln w="38100">
            <a:solidFill>
              <a:srgbClr val="FF6600"/>
            </a:solidFill>
          </a:ln>
        </p:spPr>
        <p:txBody>
          <a:bodyPr>
            <a:norm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70C0"/>
              </a:buClr>
              <a:buSzPct val="100000"/>
            </a:pPr>
            <a:r>
              <a:rPr lang="en-US" altLang="zh-CN" sz="2000" b="1" noProof="1">
                <a:solidFill>
                  <a:srgbClr val="0000FF"/>
                </a:solidFill>
              </a:rPr>
              <a:t>C++1z</a:t>
            </a:r>
            <a:r>
              <a:rPr lang="zh-CN" altLang="en-US" sz="2000" b="1" noProof="1">
                <a:solidFill>
                  <a:srgbClr val="0000FF"/>
                </a:solidFill>
              </a:rPr>
              <a:t>： </a:t>
            </a:r>
            <a:r>
              <a:rPr lang="en-US" altLang="zh-CN" sz="2000" b="1" noProof="1">
                <a:solidFill>
                  <a:srgbClr val="0000FF"/>
                </a:solidFill>
              </a:rPr>
              <a:t>enum class </a:t>
            </a:r>
            <a:r>
              <a:rPr lang="zh-CN" altLang="en-US" sz="2000" b="1" noProof="1">
                <a:solidFill>
                  <a:srgbClr val="0000FF"/>
                </a:solidFill>
              </a:rPr>
              <a:t>枚举类名</a:t>
            </a:r>
            <a:r>
              <a:rPr lang="en-US" altLang="zh-CN" sz="2000" b="1" noProof="1">
                <a:solidFill>
                  <a:srgbClr val="0000FF"/>
                </a:solidFill>
              </a:rPr>
              <a:t> { </a:t>
            </a:r>
            <a:r>
              <a:rPr lang="zh-CN" altLang="en-US" sz="2000" b="1" noProof="1">
                <a:solidFill>
                  <a:srgbClr val="0000FF"/>
                </a:solidFill>
              </a:rPr>
              <a:t>枚举值列表 </a:t>
            </a:r>
            <a:r>
              <a:rPr lang="en-US" altLang="zh-CN" sz="2000" b="1" noProof="1">
                <a:solidFill>
                  <a:srgbClr val="0000FF"/>
                </a:solidFill>
              </a:rPr>
              <a:t>};</a:t>
            </a:r>
          </a:p>
          <a:p>
            <a:pPr marL="708660" lvl="1" indent="-342900">
              <a:lnSpc>
                <a:spcPct val="80000"/>
              </a:lnSpc>
              <a:buClr>
                <a:srgbClr val="C00000"/>
              </a:buClr>
              <a:buSzPct val="100000"/>
              <a:buFont typeface="Wingdings" panose="05000000000000000000" charset="0"/>
              <a:buChar char="l"/>
            </a:pPr>
            <a:r>
              <a:rPr lang="zh-CN" altLang="zh-CN" sz="2000" noProof="1">
                <a:sym typeface="+mn-ea"/>
              </a:rPr>
              <a:t>枚举值</a:t>
            </a:r>
            <a:r>
              <a:rPr lang="zh-CN" altLang="en-US" sz="2000" noProof="1">
                <a:sym typeface="+mn-ea"/>
              </a:rPr>
              <a:t>可以指定类型、指定数值</a:t>
            </a:r>
            <a:endParaRPr lang="en-US" altLang="zh-CN" sz="2000" noProof="1">
              <a:sym typeface="+mn-ea"/>
            </a:endParaRPr>
          </a:p>
          <a:p>
            <a:pPr marL="708660" lvl="1" indent="-342900">
              <a:lnSpc>
                <a:spcPct val="80000"/>
              </a:lnSpc>
              <a:buClr>
                <a:srgbClr val="C00000"/>
              </a:buClr>
              <a:buSzPct val="100000"/>
              <a:buFont typeface="Wingdings" panose="05000000000000000000" charset="0"/>
              <a:buChar char="l"/>
            </a:pPr>
            <a:r>
              <a:rPr lang="zh-CN" altLang="en-US" sz="2000" noProof="1">
                <a:sym typeface="+mn-ea"/>
              </a:rPr>
              <a:t>枚举值不再允许与</a:t>
            </a:r>
            <a:r>
              <a:rPr lang="en-US" altLang="zh-CN" sz="2000" noProof="1">
                <a:sym typeface="+mn-ea"/>
              </a:rPr>
              <a:t>int</a:t>
            </a:r>
            <a:r>
              <a:rPr lang="zh-CN" altLang="en-US" sz="2000" noProof="1">
                <a:sym typeface="+mn-ea"/>
              </a:rPr>
              <a:t>随意转换、比较</a:t>
            </a:r>
            <a:endParaRPr lang="en-US" altLang="zh-CN" sz="2000" noProof="1">
              <a:sym typeface="+mn-ea"/>
            </a:endParaRPr>
          </a:p>
          <a:p>
            <a:pPr marL="708660" lvl="1" indent="-342900">
              <a:lnSpc>
                <a:spcPct val="80000"/>
              </a:lnSpc>
              <a:buClr>
                <a:srgbClr val="C00000"/>
              </a:buClr>
              <a:buSzPct val="100000"/>
              <a:buFont typeface="Wingdings" panose="05000000000000000000" charset="0"/>
              <a:buChar char="l"/>
            </a:pPr>
            <a:r>
              <a:rPr lang="zh-CN" altLang="en-US" sz="2000" noProof="1">
                <a:solidFill>
                  <a:srgbClr val="0000FF"/>
                </a:solidFill>
                <a:sym typeface="+mn-ea"/>
              </a:rPr>
              <a:t>使用时必须指明</a:t>
            </a:r>
            <a:r>
              <a:rPr lang="en-US" altLang="zh-CN" sz="2000" noProof="1">
                <a:solidFill>
                  <a:srgbClr val="0000FF"/>
                </a:solidFill>
                <a:sym typeface="+mn-ea"/>
              </a:rPr>
              <a:t>scope(</a:t>
            </a:r>
            <a:r>
              <a:rPr lang="zh-CN" altLang="en-US" sz="2000" noProof="1">
                <a:solidFill>
                  <a:srgbClr val="0000FF"/>
                </a:solidFill>
                <a:sym typeface="+mn-ea"/>
              </a:rPr>
              <a:t>即枚举类名</a:t>
            </a:r>
            <a:r>
              <a:rPr lang="en-US" altLang="zh-CN" sz="2000" noProof="1">
                <a:solidFill>
                  <a:srgbClr val="0000FF"/>
                </a:solidFill>
                <a:sym typeface="+mn-ea"/>
              </a:rPr>
              <a:t>)</a:t>
            </a:r>
            <a:endParaRPr lang="zh-CN" altLang="zh-CN" sz="2000" noProof="1">
              <a:solidFill>
                <a:srgbClr val="0000FF"/>
              </a:solidFill>
              <a:sym typeface="+mn-ea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504765" y="2633597"/>
            <a:ext cx="7875438" cy="3674200"/>
          </a:xfrm>
          <a:prstGeom prst="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txBody>
          <a:bodyPr>
            <a:normAutofit fontScale="77500" lnSpcReduction="2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Clr>
                <a:srgbClr val="0070C0"/>
              </a:buClr>
              <a:buSzPct val="100000"/>
              <a:buFont typeface="Wingdings" panose="05000000000000000000" pitchFamily="2" charset="2"/>
              <a:buChar char="u"/>
            </a:pPr>
            <a:endParaRPr lang="en-US" altLang="zh-CN" sz="2000" b="1" noProof="1">
              <a:sym typeface="+mn-ea"/>
            </a:endParaRPr>
          </a:p>
          <a:p>
            <a:pPr marL="342900" lvl="1" indent="-342900">
              <a:lnSpc>
                <a:spcPct val="8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例 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(C++1z)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：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0" lvl="1" indent="0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	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enum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class AAA : unsigned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int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{</a:t>
            </a:r>
          </a:p>
          <a:p>
            <a:pPr marL="0" lvl="1" indent="0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	         	A    = 'a' ,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0" lvl="1" indent="0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	 	EF = 120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0" lvl="1" indent="0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	};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	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int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main( )  {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0" lvl="1" indent="0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		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cout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&lt;&lt; (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int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)(AAA::A)&lt;&lt;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endl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;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0" lvl="1" indent="0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		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cout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&lt;&lt; (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int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)(AAA::EF)&lt;&lt;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endl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;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0" lvl="1" indent="0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	  	return 0;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0" lvl="1" indent="0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	}</a:t>
            </a:r>
            <a:endParaRPr lang="zh-CN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50483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结合</a:t>
            </a:r>
            <a:r>
              <a:rPr lang="en-US" altLang="zh-CN" dirty="0"/>
              <a:t>class</a:t>
            </a:r>
            <a:r>
              <a:rPr lang="zh-CN" altLang="en-US" dirty="0"/>
              <a:t>和枚举量</a:t>
            </a:r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780919" y="866088"/>
            <a:ext cx="4961855" cy="3058917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>
            <a:norm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2400" b="1" noProof="1">
                <a:solidFill>
                  <a:schemeClr val="accent5"/>
                </a:solidFill>
                <a:latin typeface="+mn-ea"/>
              </a:rPr>
              <a:t>enum  Dir     { LEFT,</a:t>
            </a:r>
            <a:r>
              <a:rPr lang="en-US" altLang="zh-CN" sz="2400" b="1" noProof="1">
                <a:solidFill>
                  <a:srgbClr val="0000FF"/>
                </a:solidFill>
                <a:latin typeface="+mn-ea"/>
              </a:rPr>
              <a:t>RIGHT</a:t>
            </a:r>
            <a:r>
              <a:rPr lang="en-US" altLang="zh-CN" sz="2400" b="1" noProof="1">
                <a:solidFill>
                  <a:schemeClr val="accent5"/>
                </a:solidFill>
                <a:latin typeface="+mn-ea"/>
              </a:rPr>
              <a:t> };</a:t>
            </a: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zh-CN" altLang="en-US" sz="2400" dirty="0">
                <a:latin typeface="+mn-ea"/>
              </a:rPr>
              <a:t>缺点：名字可能冲突</a:t>
            </a:r>
            <a:endParaRPr lang="en-US" altLang="zh-CN" sz="2400" dirty="0">
              <a:latin typeface="+mn-ea"/>
            </a:endParaRP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zh-CN" altLang="en-US" sz="2400" dirty="0">
                <a:latin typeface="+mn-ea"/>
              </a:rPr>
              <a:t>优点：不用与</a:t>
            </a:r>
            <a:r>
              <a:rPr lang="en-US" altLang="zh-CN" sz="2400" dirty="0" err="1">
                <a:latin typeface="+mn-ea"/>
              </a:rPr>
              <a:t>int</a:t>
            </a:r>
            <a:r>
              <a:rPr lang="zh-CN" altLang="en-US" sz="2400" dirty="0">
                <a:latin typeface="+mn-ea"/>
              </a:rPr>
              <a:t>类型相互转换</a:t>
            </a:r>
            <a:endParaRPr lang="en-US" altLang="zh-CN" sz="2400" dirty="0">
              <a:latin typeface="+mn-ea"/>
            </a:endParaRPr>
          </a:p>
          <a:p>
            <a:pPr marL="0" indent="0">
              <a:buClr>
                <a:srgbClr val="0070C0"/>
              </a:buClr>
              <a:buSzPct val="100000"/>
              <a:buNone/>
            </a:pPr>
            <a:endParaRPr lang="en-US" altLang="zh-CN" sz="2400" dirty="0">
              <a:latin typeface="+mn-ea"/>
            </a:endParaRP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2400" dirty="0" err="1">
                <a:latin typeface="+mn-ea"/>
              </a:rPr>
              <a:t>int</a:t>
            </a:r>
            <a:r>
              <a:rPr lang="en-US" altLang="zh-CN" sz="2400" dirty="0">
                <a:latin typeface="+mn-ea"/>
              </a:rPr>
              <a:t>   f( </a:t>
            </a:r>
            <a:r>
              <a:rPr lang="en-US" altLang="zh-CN" sz="2400" dirty="0" err="1">
                <a:latin typeface="+mn-ea"/>
              </a:rPr>
              <a:t>Dir</a:t>
            </a:r>
            <a:r>
              <a:rPr lang="en-US" altLang="zh-CN" sz="2400" dirty="0">
                <a:latin typeface="+mn-ea"/>
              </a:rPr>
              <a:t>  </a:t>
            </a:r>
            <a:r>
              <a:rPr lang="en-US" altLang="zh-CN" sz="2400" dirty="0" err="1">
                <a:latin typeface="+mn-ea"/>
              </a:rPr>
              <a:t>dir</a:t>
            </a:r>
            <a:r>
              <a:rPr lang="en-US" altLang="zh-CN" sz="2400" dirty="0">
                <a:latin typeface="+mn-ea"/>
              </a:rPr>
              <a:t>) {  return dir+1; }</a:t>
            </a: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2400" dirty="0">
                <a:latin typeface="+mn-ea"/>
              </a:rPr>
              <a:t>f(0); </a:t>
            </a:r>
            <a:endParaRPr lang="zh-CN" altLang="en-US" sz="2400" dirty="0">
              <a:latin typeface="+mn-ea"/>
            </a:endParaRPr>
          </a:p>
        </p:txBody>
      </p:sp>
      <p:sp>
        <p:nvSpPr>
          <p:cNvPr id="4" name="内容占位符 3"/>
          <p:cNvSpPr txBox="1">
            <a:spLocks/>
          </p:cNvSpPr>
          <p:nvPr/>
        </p:nvSpPr>
        <p:spPr>
          <a:xfrm>
            <a:off x="5929939" y="866088"/>
            <a:ext cx="5577700" cy="3058917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>
            <a:no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b="1" dirty="0" err="1">
                <a:solidFill>
                  <a:schemeClr val="accent5"/>
                </a:solidFill>
                <a:latin typeface="+mn-ea"/>
              </a:rPr>
              <a:t>enum</a:t>
            </a:r>
            <a:r>
              <a:rPr lang="en-US" altLang="zh-CN" sz="2400" b="1" dirty="0">
                <a:solidFill>
                  <a:schemeClr val="accent5"/>
                </a:solidFill>
                <a:latin typeface="+mn-ea"/>
              </a:rPr>
              <a:t> class </a:t>
            </a:r>
            <a:r>
              <a:rPr lang="en-US" altLang="zh-CN" sz="2400" b="1" dirty="0" err="1">
                <a:solidFill>
                  <a:schemeClr val="accent5"/>
                </a:solidFill>
                <a:latin typeface="+mn-ea"/>
              </a:rPr>
              <a:t>Dir</a:t>
            </a:r>
            <a:r>
              <a:rPr lang="en-US" altLang="zh-CN" sz="2400" b="1" dirty="0">
                <a:solidFill>
                  <a:schemeClr val="accent5"/>
                </a:solidFill>
                <a:latin typeface="+mn-ea"/>
              </a:rPr>
              <a:t> { LEFT</a:t>
            </a:r>
            <a:r>
              <a:rPr lang="zh-CN" altLang="en-US" sz="2400" b="1" dirty="0">
                <a:solidFill>
                  <a:schemeClr val="accent5"/>
                </a:solidFill>
                <a:latin typeface="+mn-ea"/>
              </a:rPr>
              <a:t>，</a:t>
            </a:r>
            <a:r>
              <a:rPr lang="en-US" altLang="zh-CN" sz="2400" b="1" dirty="0">
                <a:solidFill>
                  <a:srgbClr val="0000FF"/>
                </a:solidFill>
                <a:latin typeface="+mn-ea"/>
              </a:rPr>
              <a:t>RIGHT</a:t>
            </a:r>
            <a:r>
              <a:rPr lang="en-US" altLang="zh-CN" sz="2400" b="1" dirty="0">
                <a:solidFill>
                  <a:schemeClr val="accent5"/>
                </a:solidFill>
                <a:latin typeface="+mn-ea"/>
              </a:rPr>
              <a:t>  }</a:t>
            </a:r>
            <a:r>
              <a:rPr lang="zh-CN" altLang="en-US" sz="2400" b="1" dirty="0">
                <a:solidFill>
                  <a:schemeClr val="accent5"/>
                </a:solidFill>
                <a:latin typeface="+mn-ea"/>
              </a:rPr>
              <a:t>；</a:t>
            </a:r>
            <a:endParaRPr lang="en-US" altLang="zh-CN" sz="2400" b="1" dirty="0">
              <a:solidFill>
                <a:schemeClr val="accent5"/>
              </a:solidFill>
              <a:latin typeface="+mn-ea"/>
            </a:endParaRP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zh-CN" altLang="en-US" sz="2400" dirty="0">
                <a:latin typeface="+mn-ea"/>
              </a:rPr>
              <a:t>缺点：需要显式转换</a:t>
            </a: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zh-CN" altLang="en-US" sz="2400" dirty="0">
                <a:latin typeface="+mn-ea"/>
              </a:rPr>
              <a:t>优点：避免名字冲突</a:t>
            </a:r>
            <a:endParaRPr lang="en-US" altLang="zh-CN" sz="2400" dirty="0">
              <a:latin typeface="+mn-ea"/>
            </a:endParaRPr>
          </a:p>
          <a:p>
            <a:pPr marL="0" indent="0">
              <a:buClr>
                <a:srgbClr val="0070C0"/>
              </a:buClr>
              <a:buSzPct val="100000"/>
              <a:buNone/>
            </a:pPr>
            <a:endParaRPr lang="en-US" altLang="zh-CN" sz="2400" dirty="0">
              <a:latin typeface="+mn-ea"/>
            </a:endParaRP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2400" dirty="0" err="1">
                <a:latin typeface="+mn-ea"/>
              </a:rPr>
              <a:t>int</a:t>
            </a:r>
            <a:r>
              <a:rPr lang="en-US" altLang="zh-CN" sz="2400" dirty="0">
                <a:latin typeface="+mn-ea"/>
              </a:rPr>
              <a:t>   f( </a:t>
            </a:r>
            <a:r>
              <a:rPr lang="en-US" altLang="zh-CN" sz="2400" dirty="0" err="1">
                <a:latin typeface="+mn-ea"/>
              </a:rPr>
              <a:t>Dir</a:t>
            </a:r>
            <a:r>
              <a:rPr lang="en-US" altLang="zh-CN" sz="2400" dirty="0">
                <a:latin typeface="+mn-ea"/>
              </a:rPr>
              <a:t>  </a:t>
            </a:r>
            <a:r>
              <a:rPr lang="en-US" altLang="zh-CN" sz="2400" dirty="0" err="1">
                <a:latin typeface="+mn-ea"/>
              </a:rPr>
              <a:t>dir</a:t>
            </a:r>
            <a:r>
              <a:rPr lang="en-US" altLang="zh-CN" sz="2400" dirty="0">
                <a:latin typeface="+mn-ea"/>
              </a:rPr>
              <a:t>) {  return </a:t>
            </a: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(</a:t>
            </a:r>
            <a:r>
              <a:rPr lang="en-US" altLang="zh-CN" sz="2400" dirty="0" err="1">
                <a:solidFill>
                  <a:srgbClr val="0000FF"/>
                </a:solidFill>
                <a:latin typeface="+mn-ea"/>
              </a:rPr>
              <a:t>int</a:t>
            </a: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)</a:t>
            </a:r>
            <a:r>
              <a:rPr lang="en-US" altLang="zh-CN" sz="2400" dirty="0">
                <a:latin typeface="+mn-ea"/>
              </a:rPr>
              <a:t>dir+1; }</a:t>
            </a: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2400" dirty="0">
                <a:latin typeface="+mn-ea"/>
              </a:rPr>
              <a:t>f((</a:t>
            </a:r>
            <a:r>
              <a:rPr lang="en-US" altLang="zh-CN" sz="2400" dirty="0" err="1">
                <a:solidFill>
                  <a:srgbClr val="0000FF"/>
                </a:solidFill>
                <a:latin typeface="+mn-ea"/>
              </a:rPr>
              <a:t>Dir</a:t>
            </a:r>
            <a:r>
              <a:rPr lang="en-US" altLang="zh-CN" sz="2400" dirty="0">
                <a:latin typeface="+mn-ea"/>
              </a:rPr>
              <a:t>)0); </a:t>
            </a:r>
            <a:endParaRPr lang="zh-CN" altLang="en-US" sz="2400" dirty="0">
              <a:latin typeface="+mn-ea"/>
            </a:endParaRPr>
          </a:p>
          <a:p>
            <a:pPr marL="0" indent="0">
              <a:buNone/>
            </a:pPr>
            <a:endParaRPr lang="en-US" altLang="zh-CN" sz="2400" b="1" dirty="0">
              <a:solidFill>
                <a:schemeClr val="accent5"/>
              </a:solidFill>
              <a:latin typeface="+mn-ea"/>
            </a:endParaRPr>
          </a:p>
          <a:p>
            <a:pPr marL="0" indent="0">
              <a:buNone/>
            </a:pPr>
            <a:endParaRPr lang="zh-CN" altLang="en-US" sz="2400" b="1" dirty="0">
              <a:solidFill>
                <a:schemeClr val="accent5"/>
              </a:solidFill>
              <a:latin typeface="+mn-ea"/>
            </a:endParaRPr>
          </a:p>
        </p:txBody>
      </p:sp>
      <p:sp>
        <p:nvSpPr>
          <p:cNvPr id="5" name="内容占位符 4"/>
          <p:cNvSpPr txBox="1">
            <a:spLocks/>
          </p:cNvSpPr>
          <p:nvPr/>
        </p:nvSpPr>
        <p:spPr>
          <a:xfrm>
            <a:off x="780919" y="4053770"/>
            <a:ext cx="4961855" cy="2372667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>
            <a:no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dirty="0">
                <a:latin typeface="+mn-ea"/>
              </a:rPr>
              <a:t>class  My {</a:t>
            </a:r>
            <a:br>
              <a:rPr lang="en-US" altLang="zh-CN" sz="2400" dirty="0">
                <a:latin typeface="+mn-ea"/>
              </a:rPr>
            </a:b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public:</a:t>
            </a:r>
            <a:br>
              <a:rPr lang="en-US" altLang="zh-CN" sz="2400" dirty="0">
                <a:latin typeface="+mn-ea"/>
              </a:rPr>
            </a:br>
            <a:r>
              <a:rPr lang="en-US" altLang="zh-CN" sz="2400" dirty="0">
                <a:latin typeface="+mn-ea"/>
              </a:rPr>
              <a:t>      </a:t>
            </a:r>
            <a:r>
              <a:rPr lang="en-US" altLang="zh-CN" sz="2400" b="1" noProof="1">
                <a:solidFill>
                  <a:schemeClr val="accent5"/>
                </a:solidFill>
                <a:latin typeface="+mn-ea"/>
              </a:rPr>
              <a:t>enum  Dir { LEFT,</a:t>
            </a:r>
            <a:r>
              <a:rPr lang="en-US" altLang="zh-CN" sz="2400" b="1" noProof="1">
                <a:solidFill>
                  <a:srgbClr val="0000FF"/>
                </a:solidFill>
                <a:latin typeface="+mn-ea"/>
              </a:rPr>
              <a:t>RIGHT</a:t>
            </a:r>
            <a:r>
              <a:rPr lang="en-US" altLang="zh-CN" sz="2400" b="1" noProof="1">
                <a:solidFill>
                  <a:schemeClr val="accent5"/>
                </a:solidFill>
                <a:latin typeface="+mn-ea"/>
              </a:rPr>
              <a:t> };</a:t>
            </a:r>
            <a:br>
              <a:rPr lang="en-US" altLang="zh-CN" sz="2400" b="1" noProof="1">
                <a:solidFill>
                  <a:schemeClr val="accent5"/>
                </a:solidFill>
                <a:latin typeface="+mn-ea"/>
              </a:rPr>
            </a:br>
            <a:r>
              <a:rPr lang="en-US" altLang="zh-CN" sz="2400" noProof="1">
                <a:latin typeface="+mn-ea"/>
              </a:rPr>
              <a:t>public:</a:t>
            </a:r>
          </a:p>
          <a:p>
            <a:pPr marL="0" indent="0">
              <a:buNone/>
            </a:pPr>
            <a:r>
              <a:rPr lang="en-US" altLang="zh-CN" sz="2400" noProof="1">
                <a:latin typeface="+mn-ea"/>
              </a:rPr>
              <a:t>      …</a:t>
            </a:r>
            <a:br>
              <a:rPr lang="en-US" altLang="zh-CN" sz="2400" dirty="0">
                <a:latin typeface="+mn-ea"/>
              </a:rPr>
            </a:br>
            <a:r>
              <a:rPr lang="en-US" altLang="zh-CN" sz="2400" dirty="0">
                <a:latin typeface="+mn-ea"/>
              </a:rPr>
              <a:t>};</a:t>
            </a:r>
            <a:endParaRPr lang="zh-CN" altLang="en-US" sz="2400" dirty="0">
              <a:latin typeface="+mn-ea"/>
            </a:endParaRPr>
          </a:p>
        </p:txBody>
      </p:sp>
      <p:sp>
        <p:nvSpPr>
          <p:cNvPr id="6" name="内容占位符 5"/>
          <p:cNvSpPr txBox="1">
            <a:spLocks/>
          </p:cNvSpPr>
          <p:nvPr/>
        </p:nvSpPr>
        <p:spPr>
          <a:xfrm>
            <a:off x="5929939" y="4053770"/>
            <a:ext cx="5577700" cy="2372667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dirty="0" err="1">
                <a:latin typeface="+mn-ea"/>
              </a:rPr>
              <a:t>int</a:t>
            </a:r>
            <a:r>
              <a:rPr lang="en-US" altLang="zh-CN" sz="2400" dirty="0">
                <a:latin typeface="+mn-ea"/>
              </a:rPr>
              <a:t> f(My::</a:t>
            </a:r>
            <a:r>
              <a:rPr lang="en-US" altLang="zh-CN" sz="2400" dirty="0" err="1">
                <a:latin typeface="+mn-ea"/>
              </a:rPr>
              <a:t>Dir</a:t>
            </a:r>
            <a:r>
              <a:rPr lang="en-US" altLang="zh-CN" sz="2400" dirty="0">
                <a:latin typeface="+mn-ea"/>
              </a:rPr>
              <a:t> </a:t>
            </a:r>
            <a:r>
              <a:rPr lang="en-US" altLang="zh-CN" sz="2400" dirty="0" err="1">
                <a:latin typeface="+mn-ea"/>
              </a:rPr>
              <a:t>dir</a:t>
            </a:r>
            <a:r>
              <a:rPr lang="en-US" altLang="zh-CN" sz="2400" dirty="0">
                <a:latin typeface="+mn-ea"/>
              </a:rPr>
              <a:t> ) { return </a:t>
            </a:r>
            <a:r>
              <a:rPr lang="en-US" altLang="zh-CN" sz="2400" dirty="0" err="1">
                <a:latin typeface="+mn-ea"/>
              </a:rPr>
              <a:t>dir</a:t>
            </a:r>
            <a:r>
              <a:rPr lang="en-US" altLang="zh-CN" sz="2400" dirty="0">
                <a:latin typeface="+mn-ea"/>
              </a:rPr>
              <a:t>; }</a:t>
            </a:r>
          </a:p>
          <a:p>
            <a:pPr marL="0" indent="0">
              <a:buNone/>
            </a:pPr>
            <a:endParaRPr lang="en-US" altLang="zh-CN" sz="2400" dirty="0">
              <a:latin typeface="+mn-ea"/>
            </a:endParaRPr>
          </a:p>
          <a:p>
            <a:pPr marL="0" indent="0">
              <a:buNone/>
            </a:pPr>
            <a:r>
              <a:rPr lang="en-US" altLang="zh-CN" sz="2400" dirty="0">
                <a:latin typeface="+mn-ea"/>
              </a:rPr>
              <a:t>f( </a:t>
            </a: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My::RIGHT</a:t>
            </a:r>
            <a:r>
              <a:rPr lang="en-US" altLang="zh-CN" sz="2400" dirty="0">
                <a:latin typeface="+mn-ea"/>
              </a:rPr>
              <a:t>);</a:t>
            </a:r>
            <a:endParaRPr lang="zh-CN" altLang="en-US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17880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DFFAE5-CC5F-4391-8F32-5C3B39B4C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结合</a:t>
            </a:r>
            <a:r>
              <a:rPr lang="en-US" altLang="zh-CN" dirty="0"/>
              <a:t>class</a:t>
            </a:r>
            <a:r>
              <a:rPr lang="zh-CN" altLang="en-US" dirty="0"/>
              <a:t>和枚举量</a:t>
            </a:r>
            <a:r>
              <a:rPr lang="en-US" altLang="zh-CN" dirty="0"/>
              <a:t>(</a:t>
            </a:r>
            <a:r>
              <a:rPr lang="zh-CN" altLang="en-US" dirty="0"/>
              <a:t>例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4">
            <a:extLst>
              <a:ext uri="{FF2B5EF4-FFF2-40B4-BE49-F238E27FC236}">
                <a16:creationId xmlns:a16="http://schemas.microsoft.com/office/drawing/2014/main" id="{4D014649-7232-4494-AF6C-000950D109EE}"/>
              </a:ext>
            </a:extLst>
          </p:cNvPr>
          <p:cNvSpPr txBox="1">
            <a:spLocks/>
          </p:cNvSpPr>
          <p:nvPr/>
        </p:nvSpPr>
        <p:spPr>
          <a:xfrm>
            <a:off x="701020" y="725300"/>
            <a:ext cx="10262902" cy="1831469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>
            <a:no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dirty="0">
                <a:latin typeface="+mn-ea"/>
              </a:rPr>
              <a:t>class  Dir {</a:t>
            </a:r>
            <a:br>
              <a:rPr lang="en-US" altLang="zh-CN" sz="1800" dirty="0">
                <a:latin typeface="+mn-ea"/>
              </a:rPr>
            </a:br>
            <a:r>
              <a:rPr lang="en-US" altLang="zh-CN" sz="1800" dirty="0">
                <a:solidFill>
                  <a:srgbClr val="0000FF"/>
                </a:solidFill>
                <a:latin typeface="+mn-ea"/>
              </a:rPr>
              <a:t>public: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rgbClr val="0000FF"/>
                </a:solidFill>
                <a:latin typeface="+mn-ea"/>
              </a:rPr>
              <a:t>      // Direction</a:t>
            </a:r>
            <a:r>
              <a:rPr lang="zh-CN" altLang="en-US" sz="1800" dirty="0">
                <a:solidFill>
                  <a:srgbClr val="0000FF"/>
                </a:solidFill>
                <a:latin typeface="+mn-ea"/>
              </a:rPr>
              <a:t>可省略</a:t>
            </a:r>
            <a:br>
              <a:rPr lang="en-US" altLang="zh-CN" sz="1800" dirty="0">
                <a:latin typeface="+mn-ea"/>
              </a:rPr>
            </a:br>
            <a:r>
              <a:rPr lang="en-US" altLang="zh-CN" sz="1800" dirty="0">
                <a:latin typeface="+mn-ea"/>
              </a:rPr>
              <a:t>      </a:t>
            </a:r>
            <a:r>
              <a:rPr lang="en-US" altLang="zh-CN" sz="1800" b="1" noProof="1">
                <a:solidFill>
                  <a:schemeClr val="accent5"/>
                </a:solidFill>
                <a:latin typeface="+mn-ea"/>
              </a:rPr>
              <a:t>enum Direction { NORTH,EAST,SOUTH,WEST };</a:t>
            </a:r>
            <a:br>
              <a:rPr lang="en-US" altLang="zh-CN" sz="1800" b="1" noProof="1">
                <a:solidFill>
                  <a:schemeClr val="accent5"/>
                </a:solidFill>
                <a:latin typeface="+mn-ea"/>
              </a:rPr>
            </a:br>
            <a:r>
              <a:rPr lang="en-US" altLang="zh-CN" sz="1800" b="1" noProof="1">
                <a:solidFill>
                  <a:schemeClr val="accent5"/>
                </a:solidFill>
                <a:latin typeface="+mn-ea"/>
              </a:rPr>
              <a:t>      </a:t>
            </a:r>
            <a:r>
              <a:rPr lang="en-US" altLang="zh-CN" sz="1800" noProof="1">
                <a:latin typeface="+mn-ea"/>
              </a:rPr>
              <a:t>…</a:t>
            </a:r>
            <a:br>
              <a:rPr lang="en-US" altLang="zh-CN" sz="1800" dirty="0">
                <a:latin typeface="+mn-ea"/>
              </a:rPr>
            </a:br>
            <a:r>
              <a:rPr lang="en-US" altLang="zh-CN" sz="1800" dirty="0">
                <a:latin typeface="+mn-ea"/>
              </a:rPr>
              <a:t>};</a:t>
            </a:r>
            <a:endParaRPr lang="zh-CN" altLang="en-US" sz="1800" dirty="0">
              <a:latin typeface="+mn-ea"/>
            </a:endParaRPr>
          </a:p>
        </p:txBody>
      </p:sp>
      <p:sp>
        <p:nvSpPr>
          <p:cNvPr id="4" name="内容占位符 4">
            <a:extLst>
              <a:ext uri="{FF2B5EF4-FFF2-40B4-BE49-F238E27FC236}">
                <a16:creationId xmlns:a16="http://schemas.microsoft.com/office/drawing/2014/main" id="{16D0DBB7-48D8-4F96-9FAE-78B554600CCA}"/>
              </a:ext>
            </a:extLst>
          </p:cNvPr>
          <p:cNvSpPr txBox="1">
            <a:spLocks/>
          </p:cNvSpPr>
          <p:nvPr/>
        </p:nvSpPr>
        <p:spPr>
          <a:xfrm>
            <a:off x="701020" y="2810126"/>
            <a:ext cx="10262902" cy="1140437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>
            <a:no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dirty="0">
                <a:latin typeface="+mn-ea"/>
              </a:rPr>
              <a:t>//</a:t>
            </a:r>
            <a:r>
              <a:rPr lang="zh-CN" altLang="en-US" sz="1800" dirty="0">
                <a:latin typeface="+mn-ea"/>
              </a:rPr>
              <a:t>取得</a:t>
            </a:r>
            <a:r>
              <a:rPr lang="en-US" altLang="zh-CN" sz="1800" dirty="0" err="1">
                <a:latin typeface="+mn-ea"/>
              </a:rPr>
              <a:t>dir</a:t>
            </a:r>
            <a:r>
              <a:rPr lang="zh-CN" altLang="en-US" sz="1800" dirty="0">
                <a:latin typeface="+mn-ea"/>
              </a:rPr>
              <a:t>的相对方向</a:t>
            </a:r>
            <a:endParaRPr lang="en-US" altLang="zh-CN" sz="1800" dirty="0">
              <a:latin typeface="+mn-ea"/>
            </a:endParaRPr>
          </a:p>
          <a:p>
            <a:pPr marL="0" indent="0">
              <a:buNone/>
            </a:pPr>
            <a:r>
              <a:rPr lang="en-US" altLang="zh-CN" sz="1800" dirty="0">
                <a:latin typeface="+mn-ea"/>
              </a:rPr>
              <a:t>int </a:t>
            </a:r>
            <a:r>
              <a:rPr lang="en-US" altLang="zh-CN" sz="1800" dirty="0" err="1">
                <a:latin typeface="+mn-ea"/>
              </a:rPr>
              <a:t>oppositeDirection</a:t>
            </a:r>
            <a:r>
              <a:rPr lang="en-US" altLang="zh-CN" sz="1800" dirty="0">
                <a:latin typeface="+mn-ea"/>
              </a:rPr>
              <a:t>( int </a:t>
            </a:r>
            <a:r>
              <a:rPr lang="en-US" altLang="zh-CN" sz="1800" dirty="0" err="1">
                <a:latin typeface="+mn-ea"/>
              </a:rPr>
              <a:t>dir</a:t>
            </a:r>
            <a:r>
              <a:rPr lang="en-US" altLang="zh-CN" sz="1800" dirty="0">
                <a:latin typeface="+mn-ea"/>
              </a:rPr>
              <a:t>) </a:t>
            </a:r>
          </a:p>
          <a:p>
            <a:pPr marL="0" indent="0">
              <a:buNone/>
            </a:pPr>
            <a:r>
              <a:rPr lang="en-US" altLang="zh-CN" sz="1800" dirty="0">
                <a:latin typeface="+mn-ea"/>
              </a:rPr>
              <a:t>    {      return (dir+2)%4;       }</a:t>
            </a:r>
          </a:p>
          <a:p>
            <a:pPr marL="0" indent="0">
              <a:buNone/>
            </a:pPr>
            <a:endParaRPr lang="en-US" altLang="zh-CN" sz="2400" dirty="0">
              <a:latin typeface="+mn-ea"/>
            </a:endParaRPr>
          </a:p>
          <a:p>
            <a:pPr marL="0" indent="0">
              <a:buNone/>
            </a:pPr>
            <a:endParaRPr lang="zh-CN" altLang="en-US" sz="2400" dirty="0">
              <a:latin typeface="+mn-ea"/>
            </a:endParaRP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4926F86-BA49-46CA-B54B-03FC861F26C3}"/>
              </a:ext>
            </a:extLst>
          </p:cNvPr>
          <p:cNvSpPr txBox="1">
            <a:spLocks/>
          </p:cNvSpPr>
          <p:nvPr/>
        </p:nvSpPr>
        <p:spPr>
          <a:xfrm>
            <a:off x="701020" y="4212115"/>
            <a:ext cx="10262902" cy="2073276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>
            <a:no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dirty="0">
                <a:latin typeface="+mn-ea"/>
              </a:rPr>
              <a:t>//</a:t>
            </a:r>
            <a:r>
              <a:rPr lang="zh-CN" altLang="en-US" sz="1800" dirty="0">
                <a:latin typeface="+mn-ea"/>
              </a:rPr>
              <a:t>使用例</a:t>
            </a:r>
            <a:endParaRPr lang="en-US" altLang="zh-CN" sz="1800" dirty="0">
              <a:latin typeface="+mn-ea"/>
            </a:endParaRPr>
          </a:p>
          <a:p>
            <a:pPr marL="0" indent="0">
              <a:buNone/>
            </a:pPr>
            <a:r>
              <a:rPr lang="en-US" altLang="zh-CN" sz="1800" dirty="0">
                <a:latin typeface="+mn-ea"/>
              </a:rPr>
              <a:t>int main( ) {</a:t>
            </a:r>
          </a:p>
          <a:p>
            <a:pPr marL="0" indent="0">
              <a:buNone/>
            </a:pPr>
            <a:r>
              <a:rPr lang="en-US" altLang="zh-CN" sz="1800" dirty="0">
                <a:latin typeface="+mn-ea"/>
              </a:rPr>
              <a:t>      int </a:t>
            </a:r>
            <a:r>
              <a:rPr lang="en-US" altLang="zh-CN" sz="1800" dirty="0" err="1">
                <a:latin typeface="+mn-ea"/>
              </a:rPr>
              <a:t>enterDir</a:t>
            </a:r>
            <a:r>
              <a:rPr lang="en-US" altLang="zh-CN" sz="1800" dirty="0">
                <a:latin typeface="+mn-ea"/>
              </a:rPr>
              <a:t> = Dir::EAST;</a:t>
            </a:r>
          </a:p>
          <a:p>
            <a:pPr marL="0" indent="0">
              <a:buNone/>
            </a:pPr>
            <a:r>
              <a:rPr lang="en-US" altLang="zh-CN" sz="1800" dirty="0">
                <a:latin typeface="+mn-ea"/>
              </a:rPr>
              <a:t>      int </a:t>
            </a:r>
            <a:r>
              <a:rPr lang="en-US" altLang="zh-CN" sz="1800" dirty="0" err="1">
                <a:latin typeface="+mn-ea"/>
              </a:rPr>
              <a:t>leaveDir</a:t>
            </a:r>
            <a:r>
              <a:rPr lang="en-US" altLang="zh-CN" sz="1800" dirty="0">
                <a:latin typeface="+mn-ea"/>
              </a:rPr>
              <a:t> = </a:t>
            </a:r>
            <a:r>
              <a:rPr lang="en-US" altLang="zh-CN" sz="1800" dirty="0" err="1">
                <a:latin typeface="+mn-ea"/>
              </a:rPr>
              <a:t>oppositeDirection</a:t>
            </a:r>
            <a:r>
              <a:rPr lang="en-US" altLang="zh-CN" sz="1800" dirty="0">
                <a:latin typeface="+mn-ea"/>
              </a:rPr>
              <a:t>(</a:t>
            </a:r>
            <a:r>
              <a:rPr lang="en-US" altLang="zh-CN" sz="1800" dirty="0" err="1">
                <a:latin typeface="+mn-ea"/>
              </a:rPr>
              <a:t>enterDir</a:t>
            </a:r>
            <a:r>
              <a:rPr lang="en-US" altLang="zh-CN" sz="1800" dirty="0">
                <a:latin typeface="+mn-ea"/>
              </a:rPr>
              <a:t>);</a:t>
            </a:r>
          </a:p>
          <a:p>
            <a:pPr marL="0" indent="0">
              <a:buNone/>
            </a:pPr>
            <a:r>
              <a:rPr lang="en-US" altLang="zh-CN" sz="1800" dirty="0">
                <a:latin typeface="+mn-ea"/>
              </a:rPr>
              <a:t>      …</a:t>
            </a:r>
          </a:p>
          <a:p>
            <a:pPr marL="0" indent="0">
              <a:buNone/>
            </a:pPr>
            <a:r>
              <a:rPr lang="en-US" altLang="zh-CN" sz="1800" dirty="0">
                <a:latin typeface="+mn-ea"/>
              </a:rPr>
              <a:t>}</a:t>
            </a:r>
          </a:p>
          <a:p>
            <a:pPr marL="0" indent="0">
              <a:buNone/>
            </a:pPr>
            <a:endParaRPr lang="en-US" altLang="zh-CN" sz="2400" dirty="0">
              <a:latin typeface="+mn-ea"/>
            </a:endParaRPr>
          </a:p>
          <a:p>
            <a:pPr marL="0" indent="0">
              <a:buNone/>
            </a:pPr>
            <a:endParaRPr lang="zh-CN" altLang="en-US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097935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2795" y="125001"/>
            <a:ext cx="5874019" cy="498717"/>
          </a:xfrm>
        </p:spPr>
        <p:txBody>
          <a:bodyPr/>
          <a:lstStyle/>
          <a:p>
            <a:r>
              <a:rPr lang="zh-CN" altLang="en-US" dirty="0"/>
              <a:t>自定义类型</a:t>
            </a:r>
            <a:r>
              <a:rPr lang="en-US" altLang="zh-CN" dirty="0"/>
              <a:t>(</a:t>
            </a:r>
            <a:r>
              <a:rPr lang="en-US" altLang="zh-CN" dirty="0" err="1"/>
              <a:t>class,struct,union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2018205" y="755758"/>
            <a:ext cx="7875438" cy="493930"/>
          </a:xfrm>
          <a:prstGeom prst="rect">
            <a:avLst/>
          </a:prstGeom>
          <a:ln w="19050">
            <a:solidFill>
              <a:schemeClr val="accent4"/>
            </a:solidFill>
          </a:ln>
        </p:spPr>
        <p:txBody>
          <a:bodyPr>
            <a:norm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2000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c++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中，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class/</a:t>
            </a:r>
            <a:r>
              <a:rPr lang="en-US" altLang="zh-CN" sz="2000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struct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,</a:t>
            </a:r>
            <a:r>
              <a:rPr lang="zh-CN" altLang="zh-CN" sz="20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除了默认的访问控制不同之外，完全一致</a:t>
            </a:r>
            <a:endParaRPr lang="zh-CN" altLang="zh-CN" sz="2000" noProof="1">
              <a:sym typeface="+mn-ea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483910" y="1702760"/>
            <a:ext cx="3464105" cy="4287842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>
            <a:no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r>
              <a:rPr lang="zh-CN" altLang="en-US" sz="2800" dirty="0">
                <a:latin typeface="+mn-ea"/>
                <a:sym typeface="黑体" panose="02010609060101010101" pitchFamily="49" charset="-122"/>
              </a:rPr>
              <a:t>格式：</a:t>
            </a:r>
            <a:endParaRPr lang="en-US" altLang="zh-CN" sz="2800" dirty="0">
              <a:latin typeface="+mn-ea"/>
              <a:sym typeface="黑体" panose="02010609060101010101" pitchFamily="49" charset="-122"/>
            </a:endParaRPr>
          </a:p>
          <a:p>
            <a:pPr marL="0" indent="0">
              <a:lnSpc>
                <a:spcPct val="80000"/>
              </a:lnSpc>
              <a:buNone/>
            </a:pPr>
            <a:endParaRPr lang="en-US" altLang="zh-CN" sz="2800" dirty="0">
              <a:latin typeface="+mn-ea"/>
              <a:sym typeface="黑体" panose="02010609060101010101" pitchFamily="49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class &lt;Name&gt; {   </a:t>
            </a:r>
          </a:p>
          <a:p>
            <a:pPr marL="91853" indent="0">
              <a:lnSpc>
                <a:spcPct val="80000"/>
              </a:lnSpc>
              <a:buNone/>
            </a:pP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     &lt;members&gt;  </a:t>
            </a:r>
          </a:p>
          <a:p>
            <a:pPr marL="91853" indent="0">
              <a:lnSpc>
                <a:spcPct val="80000"/>
              </a:lnSpc>
              <a:buNone/>
            </a:pP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};</a:t>
            </a:r>
            <a:endParaRPr lang="en-US" altLang="zh-CN" sz="2800" dirty="0">
              <a:latin typeface="+mn-ea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5691500" y="1702760"/>
            <a:ext cx="5136022" cy="4287842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>
            <a:no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r>
              <a:rPr lang="zh-CN" altLang="en-US" sz="2800" dirty="0">
                <a:latin typeface="+mn-ea"/>
                <a:sym typeface="黑体" panose="02010609060101010101" pitchFamily="49" charset="-122"/>
              </a:rPr>
              <a:t>例：</a:t>
            </a:r>
            <a:endParaRPr lang="en-US" altLang="zh-CN" sz="2800" dirty="0">
              <a:latin typeface="+mn-ea"/>
              <a:sym typeface="黑体" panose="02010609060101010101" pitchFamily="49" charset="-122"/>
            </a:endParaRPr>
          </a:p>
          <a:p>
            <a:pPr marL="0" indent="0">
              <a:lnSpc>
                <a:spcPct val="80000"/>
              </a:lnSpc>
              <a:buNone/>
            </a:pPr>
            <a:endParaRPr lang="en-US" altLang="zh-CN" sz="2800" dirty="0">
              <a:latin typeface="+mn-ea"/>
            </a:endParaRPr>
          </a:p>
          <a:p>
            <a:pPr marL="91853" indent="0">
              <a:lnSpc>
                <a:spcPct val="80000"/>
              </a:lnSpc>
              <a:buNone/>
            </a:pP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class  Dog </a:t>
            </a:r>
          </a:p>
          <a:p>
            <a:pPr marL="91853" indent="0">
              <a:lnSpc>
                <a:spcPct val="80000"/>
              </a:lnSpc>
              <a:buNone/>
            </a:pP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{</a:t>
            </a:r>
            <a:br>
              <a:rPr lang="en-US" altLang="zh-CN" sz="2800" dirty="0">
                <a:latin typeface="+mn-ea"/>
                <a:sym typeface="黑体" panose="02010609060101010101" pitchFamily="49" charset="-122"/>
              </a:rPr>
            </a:b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public:</a:t>
            </a:r>
            <a:br>
              <a:rPr lang="en-US" altLang="zh-CN" sz="2800" dirty="0">
                <a:latin typeface="+mn-ea"/>
                <a:sym typeface="黑体" panose="02010609060101010101" pitchFamily="49" charset="-122"/>
              </a:rPr>
            </a:b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       	void   Eat( </a:t>
            </a:r>
            <a:r>
              <a:rPr lang="en-US" altLang="zh-CN" sz="2800" dirty="0" err="1">
                <a:latin typeface="+mn-ea"/>
                <a:sym typeface="黑体" panose="02010609060101010101" pitchFamily="49" charset="-122"/>
              </a:rPr>
              <a:t>int</a:t>
            </a: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 </a:t>
            </a:r>
            <a:r>
              <a:rPr lang="en-US" altLang="zh-CN" sz="2800" dirty="0" err="1">
                <a:latin typeface="+mn-ea"/>
                <a:sym typeface="黑体" panose="02010609060101010101" pitchFamily="49" charset="-122"/>
              </a:rPr>
              <a:t>num</a:t>
            </a: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);</a:t>
            </a:r>
            <a:br>
              <a:rPr lang="en-US" altLang="zh-CN" sz="2800" dirty="0">
                <a:latin typeface="+mn-ea"/>
                <a:sym typeface="黑体" panose="02010609060101010101" pitchFamily="49" charset="-122"/>
              </a:rPr>
            </a:b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private:</a:t>
            </a:r>
            <a:br>
              <a:rPr lang="en-US" altLang="zh-CN" sz="2800" dirty="0">
                <a:latin typeface="+mn-ea"/>
                <a:sym typeface="黑体" panose="02010609060101010101" pitchFamily="49" charset="-122"/>
              </a:rPr>
            </a:b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       	</a:t>
            </a:r>
            <a:r>
              <a:rPr lang="en-US" altLang="zh-CN" sz="2800" dirty="0" err="1">
                <a:latin typeface="+mn-ea"/>
                <a:sym typeface="黑体" panose="02010609060101010101" pitchFamily="49" charset="-122"/>
              </a:rPr>
              <a:t>int</a:t>
            </a: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 weight;</a:t>
            </a:r>
            <a:endParaRPr lang="en-US" altLang="zh-CN" sz="2800" dirty="0">
              <a:latin typeface="+mn-ea"/>
            </a:endParaRPr>
          </a:p>
          <a:p>
            <a:pPr marL="91853" indent="0">
              <a:lnSpc>
                <a:spcPct val="80000"/>
              </a:lnSpc>
              <a:buNone/>
            </a:pP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}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sym typeface="黑体" panose="02010609060101010101" pitchFamily="49" charset="-122"/>
              </a:rPr>
              <a:t>； 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sym typeface="黑体" panose="02010609060101010101" pitchFamily="49" charset="-122"/>
              </a:rPr>
              <a:t>//</a:t>
            </a:r>
            <a:r>
              <a:rPr lang="zh-CN" altLang="zh-CN" sz="2800" dirty="0">
                <a:solidFill>
                  <a:srgbClr val="FF0000"/>
                </a:solidFill>
                <a:latin typeface="+mn-ea"/>
                <a:sym typeface="黑体" panose="02010609060101010101" pitchFamily="49" charset="-122"/>
              </a:rPr>
              <a:t>不要忘了；号</a:t>
            </a:r>
          </a:p>
        </p:txBody>
      </p:sp>
    </p:spTree>
    <p:extLst>
      <p:ext uri="{BB962C8B-B14F-4D97-AF65-F5344CB8AC3E}">
        <p14:creationId xmlns:p14="http://schemas.microsoft.com/office/powerpoint/2010/main" val="17591794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导出类型</a:t>
            </a:r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1743509" y="876397"/>
            <a:ext cx="8571265" cy="5456036"/>
          </a:xfrm>
          <a:prstGeom prst="rect">
            <a:avLst/>
          </a:prstGeom>
          <a:ln w="38100">
            <a:solidFill>
              <a:schemeClr val="accent2"/>
            </a:solidFill>
          </a:ln>
        </p:spPr>
        <p:txBody>
          <a:bodyPr>
            <a:no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0825" indent="-342900">
              <a:lnSpc>
                <a:spcPct val="80000"/>
              </a:lnSpc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800" dirty="0">
                <a:latin typeface="+mn-ea"/>
                <a:sym typeface="黑体" panose="02010609060101010101" pitchFamily="49" charset="-122"/>
              </a:rPr>
              <a:t>数组</a:t>
            </a:r>
            <a:br>
              <a:rPr lang="zh-CN" altLang="en-US" sz="2800" dirty="0">
                <a:latin typeface="+mn-ea"/>
                <a:sym typeface="黑体" panose="02010609060101010101" pitchFamily="49" charset="-122"/>
              </a:rPr>
            </a:br>
            <a:r>
              <a:rPr lang="zh-CN" altLang="en-US" sz="2800" dirty="0">
                <a:latin typeface="+mn-ea"/>
                <a:sym typeface="黑体" panose="02010609060101010101" pitchFamily="49" charset="-122"/>
              </a:rPr>
              <a:t> 例： </a:t>
            </a:r>
            <a:r>
              <a:rPr lang="en-US" altLang="zh-CN" sz="2800" dirty="0" err="1">
                <a:latin typeface="+mn-ea"/>
                <a:sym typeface="黑体" panose="02010609060101010101" pitchFamily="49" charset="-122"/>
              </a:rPr>
              <a:t>int</a:t>
            </a: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  a[5];  </a:t>
            </a:r>
            <a:r>
              <a:rPr lang="en-US" altLang="zh-CN" sz="2800" dirty="0" err="1">
                <a:latin typeface="+mn-ea"/>
                <a:sym typeface="黑体" panose="02010609060101010101" pitchFamily="49" charset="-122"/>
              </a:rPr>
              <a:t>MyClass</a:t>
            </a: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 </a:t>
            </a:r>
            <a:r>
              <a:rPr lang="en-US" altLang="zh-CN" sz="2800" dirty="0" err="1">
                <a:latin typeface="+mn-ea"/>
                <a:sym typeface="黑体" panose="02010609060101010101" pitchFamily="49" charset="-122"/>
              </a:rPr>
              <a:t>objs</a:t>
            </a: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[3]; </a:t>
            </a:r>
            <a:br>
              <a:rPr lang="en-US" altLang="zh-CN" sz="2800" dirty="0">
                <a:latin typeface="+mn-ea"/>
                <a:sym typeface="黑体" panose="02010609060101010101" pitchFamily="49" charset="-122"/>
              </a:rPr>
            </a:br>
            <a:endParaRPr lang="en-US" altLang="zh-CN" sz="2800" dirty="0">
              <a:latin typeface="+mn-ea"/>
              <a:sym typeface="黑体" panose="02010609060101010101" pitchFamily="49" charset="-122"/>
            </a:endParaRPr>
          </a:p>
          <a:p>
            <a:pPr marL="250825" indent="-342900">
              <a:lnSpc>
                <a:spcPct val="80000"/>
              </a:lnSpc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800" dirty="0">
                <a:latin typeface="+mn-ea"/>
                <a:sym typeface="黑体" panose="02010609060101010101" pitchFamily="49" charset="-122"/>
              </a:rPr>
              <a:t>指针</a:t>
            </a:r>
            <a:br>
              <a:rPr lang="zh-CN" altLang="en-US" sz="2800" dirty="0">
                <a:latin typeface="+mn-ea"/>
                <a:sym typeface="黑体" panose="02010609060101010101" pitchFamily="49" charset="-122"/>
              </a:rPr>
            </a:br>
            <a:r>
              <a:rPr lang="zh-CN" altLang="en-US" sz="2800" dirty="0">
                <a:latin typeface="+mn-ea"/>
                <a:sym typeface="黑体" panose="02010609060101010101" pitchFamily="49" charset="-122"/>
              </a:rPr>
              <a:t> </a:t>
            </a:r>
            <a:r>
              <a:rPr lang="zh-CN" altLang="zh-CN" sz="2800" dirty="0">
                <a:latin typeface="+mn-ea"/>
                <a:sym typeface="黑体" panose="02010609060101010101" pitchFamily="49" charset="-122"/>
              </a:rPr>
              <a:t>例：  </a:t>
            </a:r>
            <a:r>
              <a:rPr lang="en-US" altLang="zh-CN" sz="2800" dirty="0" err="1">
                <a:latin typeface="+mn-ea"/>
                <a:sym typeface="黑体" panose="02010609060101010101" pitchFamily="49" charset="-122"/>
              </a:rPr>
              <a:t>int</a:t>
            </a: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 * p = 0</a:t>
            </a:r>
            <a:r>
              <a:rPr lang="zh-CN" altLang="en-US" sz="2800" dirty="0">
                <a:latin typeface="+mn-ea"/>
                <a:sym typeface="黑体" panose="02010609060101010101" pitchFamily="49" charset="-122"/>
              </a:rPr>
              <a:t>； </a:t>
            </a:r>
            <a:r>
              <a:rPr lang="en-US" altLang="zh-CN" sz="2800" dirty="0" err="1">
                <a:latin typeface="+mn-ea"/>
                <a:sym typeface="黑体" panose="02010609060101010101" pitchFamily="49" charset="-122"/>
              </a:rPr>
              <a:t>MyClass</a:t>
            </a: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 * </a:t>
            </a:r>
            <a:r>
              <a:rPr lang="en-US" altLang="zh-CN" sz="2800" dirty="0" err="1">
                <a:latin typeface="+mn-ea"/>
                <a:sym typeface="黑体" panose="02010609060101010101" pitchFamily="49" charset="-122"/>
              </a:rPr>
              <a:t>pobjs</a:t>
            </a: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[4];</a:t>
            </a:r>
            <a:br>
              <a:rPr lang="en-US" altLang="zh-CN" sz="2800" dirty="0">
                <a:latin typeface="+mn-ea"/>
                <a:sym typeface="黑体" panose="02010609060101010101" pitchFamily="49" charset="-122"/>
              </a:rPr>
            </a:b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          </a:t>
            </a:r>
            <a:r>
              <a:rPr lang="en-US" altLang="zh-CN" sz="2800" dirty="0" err="1">
                <a:latin typeface="+mn-ea"/>
                <a:sym typeface="黑体" panose="02010609060101010101" pitchFamily="49" charset="-122"/>
              </a:rPr>
              <a:t>int</a:t>
            </a: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 **</a:t>
            </a:r>
            <a:r>
              <a:rPr lang="en-US" altLang="zh-CN" sz="2800" dirty="0" err="1">
                <a:latin typeface="+mn-ea"/>
                <a:sym typeface="黑体" panose="02010609060101010101" pitchFamily="49" charset="-122"/>
              </a:rPr>
              <a:t>pp</a:t>
            </a: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 = &amp;p;</a:t>
            </a:r>
            <a:br>
              <a:rPr lang="en-US" altLang="zh-CN" sz="2800" dirty="0">
                <a:latin typeface="+mn-ea"/>
                <a:sym typeface="黑体" panose="02010609060101010101" pitchFamily="49" charset="-122"/>
              </a:rPr>
            </a:br>
            <a:endParaRPr lang="en-US" altLang="zh-CN" sz="2800" dirty="0">
              <a:latin typeface="+mn-ea"/>
              <a:sym typeface="黑体" panose="02010609060101010101" pitchFamily="49" charset="-122"/>
            </a:endParaRPr>
          </a:p>
          <a:p>
            <a:pPr marL="250825" indent="-342900">
              <a:lnSpc>
                <a:spcPct val="80000"/>
              </a:lnSpc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800" dirty="0">
                <a:latin typeface="+mn-ea"/>
                <a:sym typeface="黑体" panose="02010609060101010101" pitchFamily="49" charset="-122"/>
              </a:rPr>
              <a:t>引用（左值引用）</a:t>
            </a: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:</a:t>
            </a:r>
            <a:br>
              <a:rPr lang="en-US" altLang="zh-CN" sz="2800" dirty="0">
                <a:latin typeface="+mn-ea"/>
                <a:sym typeface="黑体" panose="02010609060101010101" pitchFamily="49" charset="-122"/>
              </a:rPr>
            </a:b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 </a:t>
            </a:r>
            <a:r>
              <a:rPr lang="zh-CN" altLang="zh-CN" sz="2800" dirty="0">
                <a:latin typeface="+mn-ea"/>
                <a:sym typeface="黑体" panose="02010609060101010101" pitchFamily="49" charset="-122"/>
              </a:rPr>
              <a:t>例：  </a:t>
            </a:r>
            <a:br>
              <a:rPr lang="zh-CN" altLang="zh-CN" sz="2800" dirty="0">
                <a:latin typeface="+mn-ea"/>
                <a:sym typeface="黑体" panose="02010609060101010101" pitchFamily="49" charset="-122"/>
              </a:rPr>
            </a:br>
            <a:r>
              <a:rPr lang="zh-CN" altLang="zh-CN" sz="2800" dirty="0">
                <a:latin typeface="+mn-ea"/>
                <a:sym typeface="黑体" panose="02010609060101010101" pitchFamily="49" charset="-122"/>
              </a:rPr>
              <a:t>          </a:t>
            </a:r>
            <a:r>
              <a:rPr lang="en-US" altLang="zh-CN" sz="2800" dirty="0" err="1">
                <a:latin typeface="+mn-ea"/>
                <a:sym typeface="黑体" panose="02010609060101010101" pitchFamily="49" charset="-122"/>
              </a:rPr>
              <a:t>int</a:t>
            </a: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  a =100</a:t>
            </a:r>
            <a:r>
              <a:rPr lang="zh-CN" altLang="en-US" sz="2800" dirty="0">
                <a:latin typeface="+mn-ea"/>
                <a:sym typeface="黑体" panose="02010609060101010101" pitchFamily="49" charset="-122"/>
              </a:rPr>
              <a:t>； </a:t>
            </a:r>
            <a:r>
              <a:rPr lang="en-US" altLang="zh-CN" sz="2800" dirty="0" err="1">
                <a:latin typeface="+mn-ea"/>
                <a:sym typeface="黑体" panose="02010609060101010101" pitchFamily="49" charset="-122"/>
              </a:rPr>
              <a:t>int</a:t>
            </a: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 &amp; b = a;</a:t>
            </a:r>
          </a:p>
          <a:p>
            <a:pPr>
              <a:lnSpc>
                <a:spcPct val="80000"/>
              </a:lnSpc>
              <a:buClr>
                <a:srgbClr val="046FB6"/>
              </a:buClr>
            </a:pPr>
            <a:endParaRPr lang="en-US" altLang="zh-CN" sz="2800" dirty="0">
              <a:latin typeface="+mn-ea"/>
              <a:sym typeface="黑体" panose="02010609060101010101" pitchFamily="49" charset="-122"/>
            </a:endParaRPr>
          </a:p>
          <a:p>
            <a:pPr marL="250825" indent="-342900">
              <a:lnSpc>
                <a:spcPct val="80000"/>
              </a:lnSpc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800" dirty="0">
                <a:solidFill>
                  <a:srgbClr val="FF0000"/>
                </a:solidFill>
                <a:latin typeface="+mn-ea"/>
                <a:sym typeface="黑体" panose="02010609060101010101" pitchFamily="49" charset="-122"/>
              </a:rPr>
              <a:t>右值引用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sym typeface="黑体" panose="02010609060101010101" pitchFamily="49" charset="-122"/>
              </a:rPr>
              <a:t>(C++1xyz):</a:t>
            </a:r>
          </a:p>
          <a:p>
            <a:pPr marL="0" indent="0">
              <a:lnSpc>
                <a:spcPct val="80000"/>
              </a:lnSpc>
              <a:buClr>
                <a:srgbClr val="046FB6"/>
              </a:buClr>
              <a:buNone/>
            </a:pPr>
            <a:r>
              <a:rPr lang="en-US" altLang="zh-CN" sz="2800" dirty="0">
                <a:solidFill>
                  <a:srgbClr val="FF0000"/>
                </a:solidFill>
                <a:latin typeface="+mn-ea"/>
                <a:sym typeface="黑体" panose="02010609060101010101" pitchFamily="49" charset="-122"/>
              </a:rPr>
              <a:t>            void f(T &amp;&amp;  </a:t>
            </a:r>
            <a:r>
              <a:rPr lang="en-US" altLang="zh-CN" sz="2800" dirty="0" err="1">
                <a:solidFill>
                  <a:srgbClr val="FF0000"/>
                </a:solidFill>
                <a:latin typeface="+mn-ea"/>
                <a:sym typeface="黑体" panose="02010609060101010101" pitchFamily="49" charset="-122"/>
              </a:rPr>
              <a:t>aT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sym typeface="黑体" panose="02010609060101010101" pitchFamily="49" charset="-122"/>
              </a:rPr>
              <a:t>) { </a:t>
            </a:r>
            <a:r>
              <a:rPr lang="en-US" altLang="zh-CN" sz="2800" dirty="0" err="1">
                <a:solidFill>
                  <a:srgbClr val="FF0000"/>
                </a:solidFill>
                <a:latin typeface="+mn-ea"/>
                <a:sym typeface="黑体" panose="02010609060101010101" pitchFamily="49" charset="-122"/>
              </a:rPr>
              <a:t>aT.doSome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sym typeface="黑体" panose="02010609060101010101" pitchFamily="49" charset="-122"/>
              </a:rPr>
              <a:t>( ); }</a:t>
            </a:r>
          </a:p>
          <a:p>
            <a:pPr marL="0" indent="0">
              <a:lnSpc>
                <a:spcPct val="80000"/>
              </a:lnSpc>
              <a:buClr>
                <a:srgbClr val="046FB6"/>
              </a:buClr>
              <a:buNone/>
            </a:pPr>
            <a:r>
              <a:rPr lang="en-US" altLang="zh-CN" sz="2800" dirty="0">
                <a:solidFill>
                  <a:srgbClr val="FF0000"/>
                </a:solidFill>
                <a:latin typeface="+mn-ea"/>
                <a:sym typeface="黑体" panose="02010609060101010101" pitchFamily="49" charset="-122"/>
              </a:rPr>
              <a:t>            f( T( ) );</a:t>
            </a:r>
            <a:br>
              <a:rPr lang="en-US" altLang="zh-CN" sz="2800" dirty="0">
                <a:latin typeface="+mn-ea"/>
                <a:sym typeface="黑体" panose="02010609060101010101" pitchFamily="49" charset="-122"/>
              </a:rPr>
            </a:br>
            <a:endParaRPr lang="en-US" altLang="zh-CN" sz="2800" dirty="0">
              <a:latin typeface="+mn-ea"/>
              <a:sym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515343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声明</a:t>
            </a:r>
            <a:r>
              <a:rPr lang="en-US" altLang="zh-CN" dirty="0"/>
              <a:t>(declaration)</a:t>
            </a:r>
            <a:endParaRPr lang="zh-CN" altLang="en-US" dirty="0"/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1561381" y="1007038"/>
            <a:ext cx="8928340" cy="591025"/>
          </a:xfrm>
          <a:prstGeom prst="rect">
            <a:avLst/>
          </a:prstGeom>
          <a:ln w="38100">
            <a:solidFill>
              <a:srgbClr val="FF6600"/>
            </a:solidFill>
          </a:ln>
        </p:spPr>
        <p:txBody>
          <a:bodyPr anchor="ctr">
            <a:normAutofit fontScale="70000" lnSpcReduction="2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声明：解释说明一个编译单元中一个名字的含义和属性。</a:t>
            </a:r>
            <a:endParaRPr lang="en-US" altLang="zh-CN" dirty="0"/>
          </a:p>
        </p:txBody>
      </p:sp>
      <p:sp>
        <p:nvSpPr>
          <p:cNvPr id="4" name="内容占位符 3"/>
          <p:cNvSpPr txBox="1">
            <a:spLocks/>
          </p:cNvSpPr>
          <p:nvPr/>
        </p:nvSpPr>
        <p:spPr>
          <a:xfrm>
            <a:off x="1561381" y="2322304"/>
            <a:ext cx="8928340" cy="3377742"/>
          </a:xfrm>
          <a:prstGeom prst="rect">
            <a:avLst/>
          </a:prstGeom>
          <a:ln w="38100">
            <a:solidFill>
              <a:schemeClr val="accent2"/>
            </a:solidFill>
          </a:ln>
        </p:spPr>
        <p:txBody>
          <a:bodyPr>
            <a:normAutofit fontScale="77500" lnSpcReduction="2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/>
              <a:t>extern </a:t>
            </a:r>
            <a:r>
              <a:rPr lang="en-US" altLang="zh-CN" dirty="0" err="1"/>
              <a:t>int</a:t>
            </a:r>
            <a:r>
              <a:rPr lang="en-US" altLang="zh-CN" dirty="0"/>
              <a:t> a; 			// </a:t>
            </a:r>
            <a:r>
              <a:rPr lang="zh-CN" altLang="en-US" dirty="0"/>
              <a:t>声明外部整型变量</a:t>
            </a:r>
            <a:r>
              <a:rPr lang="en-US" altLang="zh-CN" dirty="0"/>
              <a:t>a</a:t>
            </a:r>
          </a:p>
          <a:p>
            <a:pPr marL="0" indent="0">
              <a:buNone/>
            </a:pPr>
            <a:r>
              <a:rPr lang="en-US" altLang="zh-CN" dirty="0"/>
              <a:t>extern </a:t>
            </a:r>
            <a:r>
              <a:rPr lang="en-US" altLang="zh-CN" dirty="0" err="1"/>
              <a:t>const</a:t>
            </a:r>
            <a:r>
              <a:rPr lang="en-US" altLang="zh-CN" dirty="0"/>
              <a:t> </a:t>
            </a:r>
            <a:r>
              <a:rPr lang="en-US" altLang="zh-CN" dirty="0" err="1"/>
              <a:t>int</a:t>
            </a:r>
            <a:r>
              <a:rPr lang="en-US" altLang="zh-CN" dirty="0"/>
              <a:t> c; 		// </a:t>
            </a:r>
            <a:r>
              <a:rPr lang="zh-CN" altLang="en-US" dirty="0"/>
              <a:t>声明外部整型常量</a:t>
            </a:r>
            <a:r>
              <a:rPr lang="en-US" altLang="zh-CN" dirty="0"/>
              <a:t>c</a:t>
            </a:r>
          </a:p>
          <a:p>
            <a:pPr marL="0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f(</a:t>
            </a:r>
            <a:r>
              <a:rPr lang="en-US" altLang="zh-CN" dirty="0" err="1"/>
              <a:t>int</a:t>
            </a:r>
            <a:r>
              <a:rPr lang="en-US" altLang="zh-CN" dirty="0"/>
              <a:t>); 			// </a:t>
            </a:r>
            <a:r>
              <a:rPr lang="zh-CN" altLang="en-US" dirty="0"/>
              <a:t>声明函数</a:t>
            </a:r>
            <a:r>
              <a:rPr lang="en-US" altLang="zh-CN" dirty="0"/>
              <a:t>f</a:t>
            </a:r>
          </a:p>
          <a:p>
            <a:pPr marL="0" indent="0">
              <a:buNone/>
            </a:pPr>
            <a:r>
              <a:rPr lang="en-US" altLang="zh-CN" dirty="0" err="1"/>
              <a:t>struct</a:t>
            </a:r>
            <a:r>
              <a:rPr lang="en-US" altLang="zh-CN" dirty="0"/>
              <a:t> S; 			// </a:t>
            </a:r>
            <a:r>
              <a:rPr lang="zh-CN" altLang="en-US" dirty="0"/>
              <a:t>声明结构</a:t>
            </a:r>
            <a:r>
              <a:rPr lang="en-US" altLang="zh-CN" dirty="0"/>
              <a:t>S</a:t>
            </a:r>
          </a:p>
          <a:p>
            <a:pPr marL="0" indent="0">
              <a:buNone/>
            </a:pPr>
            <a:r>
              <a:rPr lang="en-US" altLang="zh-CN" dirty="0" err="1"/>
              <a:t>typedef</a:t>
            </a:r>
            <a:r>
              <a:rPr lang="en-US" altLang="zh-CN" dirty="0"/>
              <a:t>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Int</a:t>
            </a:r>
            <a:r>
              <a:rPr lang="en-US" altLang="zh-CN" dirty="0"/>
              <a:t>; 		// </a:t>
            </a:r>
            <a:r>
              <a:rPr lang="zh-CN" altLang="en-US" dirty="0"/>
              <a:t>声明类型</a:t>
            </a:r>
            <a:r>
              <a:rPr lang="en-US" altLang="zh-CN" dirty="0"/>
              <a:t> </a:t>
            </a:r>
            <a:r>
              <a:rPr lang="en-US" altLang="zh-CN" dirty="0" err="1"/>
              <a:t>Int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extern X </a:t>
            </a:r>
            <a:r>
              <a:rPr lang="en-US" altLang="zh-CN" dirty="0" err="1"/>
              <a:t>anotherX</a:t>
            </a:r>
            <a:r>
              <a:rPr lang="en-US" altLang="zh-CN" dirty="0"/>
              <a:t>; 	// </a:t>
            </a:r>
            <a:r>
              <a:rPr lang="zh-CN" altLang="en-US" dirty="0"/>
              <a:t>声明外部变量</a:t>
            </a:r>
            <a:r>
              <a:rPr lang="en-US" altLang="zh-CN" dirty="0" err="1"/>
              <a:t>anotherX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using N::d; 			// </a:t>
            </a:r>
            <a:r>
              <a:rPr lang="zh-CN" altLang="en-US" dirty="0"/>
              <a:t>声明名字</a:t>
            </a:r>
            <a:r>
              <a:rPr lang="en-US" altLang="zh-CN" dirty="0"/>
              <a:t>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520561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定义</a:t>
            </a:r>
            <a:r>
              <a:rPr lang="en-US" altLang="zh-CN" dirty="0"/>
              <a:t>(define)</a:t>
            </a:r>
            <a:endParaRPr lang="zh-CN" altLang="en-US" dirty="0"/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2001328" y="782462"/>
            <a:ext cx="7903988" cy="1103773"/>
          </a:xfrm>
          <a:prstGeom prst="rect">
            <a:avLst/>
          </a:prstGeom>
          <a:ln w="38100">
            <a:solidFill>
              <a:srgbClr val="FF6600"/>
            </a:solidFill>
          </a:ln>
        </p:spPr>
        <p:txBody>
          <a:bodyPr>
            <a:normAutofit fontScale="70000" lnSpcReduction="2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FF"/>
                </a:solidFill>
              </a:rPr>
              <a:t>定义</a:t>
            </a:r>
            <a:r>
              <a:rPr lang="zh-CN" altLang="en-US" dirty="0"/>
              <a:t>：一个声明同时也是一个定义，当具有：</a:t>
            </a:r>
            <a:br>
              <a:rPr lang="en-US" altLang="zh-CN" dirty="0"/>
            </a:br>
            <a:r>
              <a:rPr lang="en-US" altLang="zh-CN" dirty="0"/>
              <a:t>          </a:t>
            </a:r>
            <a:r>
              <a:rPr lang="zh-CN" altLang="en-US" dirty="0"/>
              <a:t>确定的函数体、确定的类内容、具体值、</a:t>
            </a:r>
            <a:br>
              <a:rPr lang="en-US" altLang="zh-CN" dirty="0"/>
            </a:br>
            <a:r>
              <a:rPr lang="en-US" altLang="zh-CN" dirty="0"/>
              <a:t>          </a:t>
            </a:r>
            <a:r>
              <a:rPr lang="zh-CN" altLang="en-US" dirty="0"/>
              <a:t>确定存储空间、确定别名等时</a:t>
            </a:r>
          </a:p>
        </p:txBody>
      </p:sp>
      <p:sp>
        <p:nvSpPr>
          <p:cNvPr id="4" name="内容占位符 3"/>
          <p:cNvSpPr txBox="1">
            <a:spLocks/>
          </p:cNvSpPr>
          <p:nvPr/>
        </p:nvSpPr>
        <p:spPr>
          <a:xfrm>
            <a:off x="2001328" y="2077362"/>
            <a:ext cx="7903988" cy="4531732"/>
          </a:xfrm>
          <a:prstGeom prst="rect">
            <a:avLst/>
          </a:prstGeom>
          <a:ln w="38100">
            <a:solidFill>
              <a:schemeClr val="accent2"/>
            </a:solidFill>
          </a:ln>
        </p:spPr>
        <p:txBody>
          <a:bodyPr>
            <a:normAutofit fontScale="47500" lnSpcReduction="2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br>
              <a:rPr lang="en-US" altLang="zh-CN" b="1" dirty="0"/>
            </a:br>
            <a:r>
              <a:rPr lang="en-US" altLang="zh-CN" b="1" dirty="0" err="1"/>
              <a:t>int</a:t>
            </a:r>
            <a:r>
              <a:rPr lang="en-US" altLang="zh-CN" b="1" dirty="0"/>
              <a:t> a; 			// </a:t>
            </a:r>
            <a:r>
              <a:rPr lang="zh-CN" altLang="en-US" b="1" dirty="0"/>
              <a:t>定义</a:t>
            </a:r>
            <a:r>
              <a:rPr lang="en-US" altLang="zh-CN" b="1" dirty="0"/>
              <a:t>a</a:t>
            </a:r>
          </a:p>
          <a:p>
            <a:pPr marL="0" indent="0">
              <a:buNone/>
            </a:pPr>
            <a:r>
              <a:rPr lang="en-US" altLang="zh-CN" b="1" dirty="0"/>
              <a:t>extern </a:t>
            </a:r>
            <a:r>
              <a:rPr lang="en-US" altLang="zh-CN" b="1" dirty="0" err="1"/>
              <a:t>const</a:t>
            </a:r>
            <a:r>
              <a:rPr lang="en-US" altLang="zh-CN" b="1" dirty="0"/>
              <a:t> </a:t>
            </a:r>
            <a:r>
              <a:rPr lang="en-US" altLang="zh-CN" b="1" dirty="0" err="1"/>
              <a:t>int</a:t>
            </a:r>
            <a:r>
              <a:rPr lang="en-US" altLang="zh-CN" b="1" dirty="0"/>
              <a:t> c = 1; 		// </a:t>
            </a:r>
            <a:r>
              <a:rPr lang="zh-CN" altLang="en-US" b="1" dirty="0"/>
              <a:t>定义</a:t>
            </a:r>
            <a:r>
              <a:rPr lang="en-US" altLang="zh-CN" b="1" dirty="0"/>
              <a:t>c</a:t>
            </a:r>
          </a:p>
          <a:p>
            <a:pPr marL="0" indent="0">
              <a:buNone/>
            </a:pPr>
            <a:r>
              <a:rPr lang="en-US" altLang="zh-CN" b="1" dirty="0" err="1"/>
              <a:t>int</a:t>
            </a:r>
            <a:r>
              <a:rPr lang="en-US" altLang="zh-CN" b="1" dirty="0"/>
              <a:t> f(</a:t>
            </a:r>
            <a:r>
              <a:rPr lang="en-US" altLang="zh-CN" b="1" dirty="0" err="1"/>
              <a:t>int</a:t>
            </a:r>
            <a:r>
              <a:rPr lang="en-US" altLang="zh-CN" b="1" dirty="0"/>
              <a:t> x) { return </a:t>
            </a:r>
            <a:r>
              <a:rPr lang="en-US" altLang="zh-CN" b="1" dirty="0" err="1"/>
              <a:t>x+a</a:t>
            </a:r>
            <a:r>
              <a:rPr lang="en-US" altLang="zh-CN" b="1" dirty="0"/>
              <a:t>; }	 // </a:t>
            </a:r>
            <a:r>
              <a:rPr lang="zh-CN" altLang="en-US" b="1" dirty="0"/>
              <a:t>定义 </a:t>
            </a:r>
            <a:r>
              <a:rPr lang="en-US" altLang="zh-CN" b="1" dirty="0"/>
              <a:t>f </a:t>
            </a:r>
            <a:r>
              <a:rPr lang="zh-CN" altLang="en-US" b="1" dirty="0"/>
              <a:t>和 </a:t>
            </a:r>
            <a:r>
              <a:rPr lang="en-US" altLang="zh-CN" b="1" dirty="0"/>
              <a:t>x</a:t>
            </a:r>
          </a:p>
          <a:p>
            <a:pPr marL="0" indent="0">
              <a:buNone/>
            </a:pPr>
            <a:r>
              <a:rPr lang="en-US" altLang="zh-CN" b="1" dirty="0" err="1"/>
              <a:t>struct</a:t>
            </a:r>
            <a:r>
              <a:rPr lang="en-US" altLang="zh-CN" b="1" dirty="0"/>
              <a:t> S { </a:t>
            </a:r>
            <a:r>
              <a:rPr lang="en-US" altLang="zh-CN" b="1" dirty="0" err="1"/>
              <a:t>int</a:t>
            </a:r>
            <a:r>
              <a:rPr lang="en-US" altLang="zh-CN" b="1" dirty="0"/>
              <a:t> a; </a:t>
            </a:r>
            <a:r>
              <a:rPr lang="en-US" altLang="zh-CN" b="1" dirty="0" err="1"/>
              <a:t>int</a:t>
            </a:r>
            <a:r>
              <a:rPr lang="en-US" altLang="zh-CN" b="1" dirty="0"/>
              <a:t> b; }; 		// </a:t>
            </a:r>
            <a:r>
              <a:rPr lang="zh-CN" altLang="en-US" b="1" dirty="0"/>
              <a:t>定义</a:t>
            </a:r>
            <a:r>
              <a:rPr lang="en-US" altLang="zh-CN" b="1" dirty="0"/>
              <a:t>S</a:t>
            </a:r>
            <a:r>
              <a:rPr lang="zh-CN" altLang="en-US" b="1" dirty="0"/>
              <a:t>、</a:t>
            </a:r>
            <a:r>
              <a:rPr lang="en-US" altLang="zh-CN" b="1" dirty="0"/>
              <a:t>S::a</a:t>
            </a:r>
            <a:r>
              <a:rPr lang="zh-CN" altLang="en-US" b="1" dirty="0"/>
              <a:t>、和</a:t>
            </a:r>
            <a:r>
              <a:rPr lang="en-US" altLang="zh-CN" b="1" dirty="0"/>
              <a:t>S::b</a:t>
            </a:r>
          </a:p>
          <a:p>
            <a:pPr marL="0" indent="0">
              <a:buNone/>
            </a:pPr>
            <a:r>
              <a:rPr lang="en-US" altLang="zh-CN" b="1" dirty="0" err="1"/>
              <a:t>struct</a:t>
            </a:r>
            <a:r>
              <a:rPr lang="en-US" altLang="zh-CN" b="1" dirty="0"/>
              <a:t> X { 			// </a:t>
            </a:r>
            <a:r>
              <a:rPr lang="zh-CN" altLang="en-US" b="1" dirty="0"/>
              <a:t>定义</a:t>
            </a:r>
            <a:r>
              <a:rPr lang="en-US" altLang="zh-CN" b="1" dirty="0"/>
              <a:t> X</a:t>
            </a:r>
          </a:p>
          <a:p>
            <a:pPr marL="0" indent="0">
              <a:buNone/>
            </a:pPr>
            <a:r>
              <a:rPr lang="en-US" altLang="zh-CN" b="1" dirty="0"/>
              <a:t>	</a:t>
            </a:r>
            <a:r>
              <a:rPr lang="en-US" altLang="zh-CN" b="1" dirty="0" err="1"/>
              <a:t>int</a:t>
            </a:r>
            <a:r>
              <a:rPr lang="en-US" altLang="zh-CN" b="1" dirty="0"/>
              <a:t> x; 		// </a:t>
            </a:r>
            <a:r>
              <a:rPr lang="zh-CN" altLang="en-US" b="1" dirty="0"/>
              <a:t>定义非静态数据成员</a:t>
            </a:r>
            <a:r>
              <a:rPr lang="en-US" altLang="zh-CN" b="1" dirty="0"/>
              <a:t>x</a:t>
            </a:r>
          </a:p>
          <a:p>
            <a:pPr marL="0" indent="0"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	static </a:t>
            </a:r>
            <a:r>
              <a:rPr lang="en-US" altLang="zh-CN" b="1" dirty="0" err="1">
                <a:solidFill>
                  <a:srgbClr val="FF0000"/>
                </a:solidFill>
              </a:rPr>
              <a:t>int</a:t>
            </a:r>
            <a:r>
              <a:rPr lang="en-US" altLang="zh-CN" b="1" dirty="0">
                <a:solidFill>
                  <a:srgbClr val="FF0000"/>
                </a:solidFill>
              </a:rPr>
              <a:t> y; 		// </a:t>
            </a:r>
            <a:r>
              <a:rPr lang="zh-CN" altLang="en-US" b="1" dirty="0">
                <a:solidFill>
                  <a:srgbClr val="FF0000"/>
                </a:solidFill>
              </a:rPr>
              <a:t>声明静态数据成员</a:t>
            </a:r>
            <a:r>
              <a:rPr lang="en-US" altLang="zh-CN" b="1" dirty="0">
                <a:solidFill>
                  <a:srgbClr val="FF0000"/>
                </a:solidFill>
              </a:rPr>
              <a:t>y</a:t>
            </a:r>
          </a:p>
          <a:p>
            <a:pPr marL="0" indent="0">
              <a:buNone/>
            </a:pPr>
            <a:r>
              <a:rPr lang="en-US" altLang="zh-CN" b="1" dirty="0"/>
              <a:t>	X(): x(0) { } 		// </a:t>
            </a:r>
            <a:r>
              <a:rPr lang="zh-CN" altLang="en-US" b="1" dirty="0"/>
              <a:t>定义</a:t>
            </a:r>
            <a:r>
              <a:rPr lang="en-US" altLang="zh-CN" b="1" dirty="0"/>
              <a:t>X</a:t>
            </a:r>
            <a:r>
              <a:rPr lang="zh-CN" altLang="en-US" b="1" dirty="0"/>
              <a:t>的构造函数</a:t>
            </a:r>
            <a:endParaRPr lang="en-US" altLang="zh-CN" b="1" dirty="0"/>
          </a:p>
          <a:p>
            <a:pPr marL="0" indent="0">
              <a:buNone/>
            </a:pPr>
            <a:r>
              <a:rPr lang="en-US" altLang="zh-CN" b="1" dirty="0"/>
              <a:t>};</a:t>
            </a:r>
          </a:p>
          <a:p>
            <a:pPr marL="0" indent="0">
              <a:buNone/>
            </a:pPr>
            <a:r>
              <a:rPr lang="en-US" altLang="zh-CN" b="1" dirty="0" err="1"/>
              <a:t>int</a:t>
            </a:r>
            <a:r>
              <a:rPr lang="en-US" altLang="zh-CN" b="1" dirty="0"/>
              <a:t> X::y = 1; 		// </a:t>
            </a:r>
            <a:r>
              <a:rPr lang="zh-CN" altLang="en-US" b="1" dirty="0"/>
              <a:t>定义</a:t>
            </a:r>
            <a:r>
              <a:rPr lang="en-US" altLang="zh-CN" b="1" dirty="0"/>
              <a:t> X::y</a:t>
            </a:r>
          </a:p>
          <a:p>
            <a:pPr marL="0" indent="0">
              <a:buNone/>
            </a:pPr>
            <a:r>
              <a:rPr lang="en-US" altLang="zh-CN" b="1" dirty="0" err="1"/>
              <a:t>enum</a:t>
            </a:r>
            <a:r>
              <a:rPr lang="en-US" altLang="zh-CN" b="1" dirty="0"/>
              <a:t> { up, down }; 		// </a:t>
            </a:r>
            <a:r>
              <a:rPr lang="zh-CN" altLang="en-US" b="1" dirty="0"/>
              <a:t>定义</a:t>
            </a:r>
            <a:r>
              <a:rPr lang="en-US" altLang="zh-CN" b="1" dirty="0"/>
              <a:t>up </a:t>
            </a:r>
            <a:r>
              <a:rPr lang="zh-CN" altLang="en-US" b="1" dirty="0"/>
              <a:t>和</a:t>
            </a:r>
            <a:r>
              <a:rPr lang="en-US" altLang="zh-CN" b="1" dirty="0"/>
              <a:t> down</a:t>
            </a:r>
          </a:p>
          <a:p>
            <a:pPr marL="0" indent="0">
              <a:buNone/>
            </a:pPr>
            <a:r>
              <a:rPr lang="en-US" altLang="zh-CN" b="1" dirty="0"/>
              <a:t>namespace N { </a:t>
            </a:r>
            <a:r>
              <a:rPr lang="en-US" altLang="zh-CN" b="1" dirty="0" err="1"/>
              <a:t>int</a:t>
            </a:r>
            <a:r>
              <a:rPr lang="en-US" altLang="zh-CN" b="1" dirty="0"/>
              <a:t> d; } 		// </a:t>
            </a:r>
            <a:r>
              <a:rPr lang="zh-CN" altLang="en-US" b="1" dirty="0"/>
              <a:t>定义</a:t>
            </a:r>
            <a:r>
              <a:rPr lang="en-US" altLang="zh-CN" b="1" dirty="0"/>
              <a:t>N </a:t>
            </a:r>
            <a:r>
              <a:rPr lang="zh-CN" altLang="en-US" b="1" dirty="0"/>
              <a:t>和</a:t>
            </a:r>
            <a:r>
              <a:rPr lang="en-US" altLang="zh-CN" b="1" dirty="0"/>
              <a:t> N::d</a:t>
            </a:r>
          </a:p>
          <a:p>
            <a:pPr marL="0" indent="0">
              <a:buNone/>
            </a:pPr>
            <a:r>
              <a:rPr lang="en-US" altLang="zh-CN" b="1" dirty="0"/>
              <a:t>namespace N1 = N; 		// </a:t>
            </a:r>
            <a:r>
              <a:rPr lang="zh-CN" altLang="en-US" b="1" dirty="0"/>
              <a:t>定义</a:t>
            </a:r>
            <a:r>
              <a:rPr lang="en-US" altLang="zh-CN" b="1" dirty="0"/>
              <a:t>N1</a:t>
            </a:r>
          </a:p>
          <a:p>
            <a:pPr marL="0" indent="0">
              <a:buNone/>
            </a:pPr>
            <a:r>
              <a:rPr lang="en-US" altLang="zh-CN" b="1" dirty="0"/>
              <a:t>X </a:t>
            </a:r>
            <a:r>
              <a:rPr lang="en-US" altLang="zh-CN" b="1" dirty="0" err="1"/>
              <a:t>anX</a:t>
            </a:r>
            <a:r>
              <a:rPr lang="en-US" altLang="zh-CN" b="1" dirty="0"/>
              <a:t>; 			// </a:t>
            </a:r>
            <a:r>
              <a:rPr lang="zh-CN" altLang="en-US" b="1" dirty="0"/>
              <a:t>定义</a:t>
            </a:r>
            <a:r>
              <a:rPr lang="en-US" altLang="zh-CN" b="1" dirty="0" err="1"/>
              <a:t>anX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7634392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常见的声明和定义</a:t>
            </a:r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2389183" y="737025"/>
            <a:ext cx="6481352" cy="135669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>
            <a:norm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+mn-ea"/>
              </a:rPr>
              <a:t>类型的声明和定义：</a:t>
            </a:r>
            <a:endParaRPr lang="en-US" altLang="zh-CN" sz="2400" dirty="0">
              <a:latin typeface="+mn-ea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+mn-ea"/>
              </a:rPr>
              <a:t>函数的声明和定义：</a:t>
            </a:r>
            <a:endParaRPr lang="en-US" altLang="zh-CN" sz="2400" dirty="0">
              <a:latin typeface="+mn-ea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+mn-ea"/>
              </a:rPr>
              <a:t>变量的声明和定义：</a:t>
            </a:r>
          </a:p>
        </p:txBody>
      </p:sp>
      <p:sp>
        <p:nvSpPr>
          <p:cNvPr id="4" name="内容占位符 3"/>
          <p:cNvSpPr txBox="1">
            <a:spLocks/>
          </p:cNvSpPr>
          <p:nvPr/>
        </p:nvSpPr>
        <p:spPr>
          <a:xfrm>
            <a:off x="809107" y="2256091"/>
            <a:ext cx="3530936" cy="4198444"/>
          </a:xfrm>
          <a:prstGeom prst="rect">
            <a:avLst/>
          </a:prstGeom>
          <a:ln w="38100">
            <a:solidFill>
              <a:schemeClr val="accent2"/>
            </a:solidFill>
          </a:ln>
        </p:spPr>
        <p:txBody>
          <a:bodyPr>
            <a:normAutofit fontScale="25000" lnSpcReduction="2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7400" dirty="0"/>
              <a:t>//</a:t>
            </a:r>
            <a:r>
              <a:rPr lang="zh-CN" altLang="en-US" sz="7400" dirty="0"/>
              <a:t>类型声明</a:t>
            </a:r>
            <a:r>
              <a:rPr lang="en-US" altLang="zh-CN" sz="7400" dirty="0"/>
              <a:t>(</a:t>
            </a:r>
            <a:r>
              <a:rPr lang="zh-CN" altLang="en-US" sz="7400" dirty="0"/>
              <a:t>前置声明</a:t>
            </a:r>
            <a:r>
              <a:rPr lang="en-US" altLang="zh-CN" sz="7400" dirty="0"/>
              <a:t>)</a:t>
            </a:r>
          </a:p>
          <a:p>
            <a:pPr marL="0" indent="0">
              <a:buNone/>
            </a:pPr>
            <a:r>
              <a:rPr lang="en-US" altLang="zh-CN" sz="7400" dirty="0">
                <a:solidFill>
                  <a:srgbClr val="0000FF"/>
                </a:solidFill>
              </a:rPr>
              <a:t>class Meat</a:t>
            </a:r>
            <a:r>
              <a:rPr lang="zh-CN" altLang="en-US" sz="7400" dirty="0">
                <a:solidFill>
                  <a:srgbClr val="0000FF"/>
                </a:solidFill>
              </a:rPr>
              <a:t>；</a:t>
            </a:r>
            <a:endParaRPr lang="en-US" altLang="zh-CN" sz="7400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en-US" altLang="zh-CN" sz="7400" dirty="0" err="1">
                <a:solidFill>
                  <a:srgbClr val="0000FF"/>
                </a:solidFill>
              </a:rPr>
              <a:t>typedef</a:t>
            </a:r>
            <a:r>
              <a:rPr lang="en-US" altLang="zh-CN" sz="7400" dirty="0">
                <a:solidFill>
                  <a:srgbClr val="0000FF"/>
                </a:solidFill>
              </a:rPr>
              <a:t> unsigned </a:t>
            </a:r>
            <a:r>
              <a:rPr lang="en-US" altLang="zh-CN" sz="7400" dirty="0" err="1">
                <a:solidFill>
                  <a:srgbClr val="0000FF"/>
                </a:solidFill>
              </a:rPr>
              <a:t>int</a:t>
            </a:r>
            <a:r>
              <a:rPr lang="en-US" altLang="zh-CN" sz="7400" dirty="0">
                <a:solidFill>
                  <a:srgbClr val="0000FF"/>
                </a:solidFill>
              </a:rPr>
              <a:t> </a:t>
            </a:r>
            <a:r>
              <a:rPr lang="en-US" altLang="zh-CN" sz="7400" dirty="0" err="1">
                <a:solidFill>
                  <a:srgbClr val="0000FF"/>
                </a:solidFill>
              </a:rPr>
              <a:t>uint</a:t>
            </a:r>
            <a:r>
              <a:rPr lang="en-US" altLang="zh-CN" sz="7400" dirty="0">
                <a:solidFill>
                  <a:srgbClr val="0000FF"/>
                </a:solidFill>
              </a:rPr>
              <a:t>;</a:t>
            </a:r>
          </a:p>
          <a:p>
            <a:pPr marL="0" indent="0">
              <a:buNone/>
            </a:pPr>
            <a:endParaRPr lang="en-US" altLang="zh-CN" sz="7400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en-US" altLang="zh-CN" sz="7400" dirty="0"/>
              <a:t>//</a:t>
            </a:r>
            <a:r>
              <a:rPr lang="zh-CN" altLang="en-US" sz="7400" dirty="0"/>
              <a:t>类型定义：</a:t>
            </a:r>
            <a:br>
              <a:rPr lang="en-US" altLang="zh-CN" sz="7400" dirty="0"/>
            </a:br>
            <a:r>
              <a:rPr lang="en-US" altLang="zh-CN" sz="7400" dirty="0"/>
              <a:t>class Dog  {</a:t>
            </a:r>
            <a:br>
              <a:rPr lang="en-US" altLang="zh-CN" sz="7400" dirty="0"/>
            </a:br>
            <a:r>
              <a:rPr lang="en-US" altLang="zh-CN" sz="7400" dirty="0"/>
              <a:t>public</a:t>
            </a:r>
            <a:r>
              <a:rPr lang="zh-CN" altLang="en-US" sz="7400" dirty="0"/>
              <a:t>：</a:t>
            </a:r>
            <a:br>
              <a:rPr lang="en-US" altLang="zh-CN" sz="7400" dirty="0"/>
            </a:br>
            <a:r>
              <a:rPr lang="en-US" altLang="zh-CN" sz="7400" dirty="0"/>
              <a:t>         void drink( );</a:t>
            </a:r>
          </a:p>
          <a:p>
            <a:pPr marL="0" indent="0">
              <a:buNone/>
            </a:pPr>
            <a:r>
              <a:rPr lang="en-US" altLang="zh-CN" sz="7400" dirty="0"/>
              <a:t>         void eat(Meat * </a:t>
            </a:r>
            <a:r>
              <a:rPr lang="en-US" altLang="zh-CN" sz="7400" dirty="0" err="1"/>
              <a:t>pMeat</a:t>
            </a:r>
            <a:r>
              <a:rPr lang="en-US" altLang="zh-CN" sz="7400" dirty="0"/>
              <a:t>);</a:t>
            </a:r>
          </a:p>
          <a:p>
            <a:pPr marL="0" indent="0">
              <a:buNone/>
            </a:pPr>
            <a:r>
              <a:rPr lang="en-US" altLang="zh-CN" sz="7400" dirty="0"/>
              <a:t>private:</a:t>
            </a:r>
            <a:br>
              <a:rPr lang="en-US" altLang="zh-CN" sz="7400" dirty="0"/>
            </a:br>
            <a:r>
              <a:rPr lang="en-US" altLang="zh-CN" sz="7400" dirty="0"/>
              <a:t>         int  </a:t>
            </a:r>
            <a:r>
              <a:rPr lang="en-US" altLang="zh-CN" sz="7400" dirty="0" err="1"/>
              <a:t>mNum</a:t>
            </a:r>
            <a:r>
              <a:rPr lang="en-US" altLang="zh-CN" sz="7400" dirty="0"/>
              <a:t>;</a:t>
            </a:r>
          </a:p>
          <a:p>
            <a:pPr marL="0" indent="0">
              <a:buNone/>
            </a:pPr>
            <a:r>
              <a:rPr lang="en-US" altLang="zh-CN" sz="7400" dirty="0"/>
              <a:t>         int  </a:t>
            </a:r>
            <a:r>
              <a:rPr lang="en-US" altLang="zh-CN" sz="7400" dirty="0" err="1"/>
              <a:t>mVal</a:t>
            </a:r>
            <a:r>
              <a:rPr lang="en-US" altLang="zh-CN" sz="7400" dirty="0"/>
              <a:t>; </a:t>
            </a:r>
          </a:p>
          <a:p>
            <a:pPr marL="0" indent="0">
              <a:buNone/>
            </a:pPr>
            <a:r>
              <a:rPr lang="en-US" altLang="zh-CN" sz="7400" dirty="0"/>
              <a:t>}</a:t>
            </a:r>
            <a:r>
              <a:rPr lang="zh-CN" altLang="en-US" sz="7400" dirty="0"/>
              <a:t>；</a:t>
            </a:r>
            <a:endParaRPr lang="en-US" altLang="zh-CN" sz="7400" dirty="0"/>
          </a:p>
          <a:p>
            <a:pPr marL="0" indent="0">
              <a:buNone/>
            </a:pPr>
            <a:r>
              <a:rPr lang="en-US" altLang="zh-CN" sz="7400" dirty="0"/>
              <a:t>//</a:t>
            </a:r>
            <a:r>
              <a:rPr lang="zh-CN" altLang="en-US" sz="7400" dirty="0"/>
              <a:t>变量的声明</a:t>
            </a:r>
            <a:endParaRPr lang="en-US" altLang="zh-CN" sz="7400" dirty="0"/>
          </a:p>
          <a:p>
            <a:pPr marL="0" indent="0">
              <a:buNone/>
            </a:pPr>
            <a:r>
              <a:rPr lang="en-US" altLang="zh-CN" sz="7400" dirty="0">
                <a:solidFill>
                  <a:srgbClr val="0000FF"/>
                </a:solidFill>
              </a:rPr>
              <a:t>extern int b;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内容占位符 3"/>
          <p:cNvSpPr txBox="1">
            <a:spLocks/>
          </p:cNvSpPr>
          <p:nvPr/>
        </p:nvSpPr>
        <p:spPr>
          <a:xfrm>
            <a:off x="4758073" y="2256092"/>
            <a:ext cx="2976180" cy="4209744"/>
          </a:xfrm>
          <a:prstGeom prst="rect">
            <a:avLst/>
          </a:prstGeom>
          <a:ln w="38100">
            <a:solidFill>
              <a:schemeClr val="accent2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zh-CN" altLang="en-US" sz="2400" kern="1200" baseline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//</a:t>
            </a:r>
            <a:r>
              <a:rPr lang="zh-CN" altLang="en-US" dirty="0"/>
              <a:t>函数</a:t>
            </a:r>
            <a:r>
              <a:rPr lang="en-US" altLang="zh-CN" dirty="0"/>
              <a:t>(</a:t>
            </a:r>
            <a:r>
              <a:rPr lang="zh-CN" altLang="en-US" dirty="0"/>
              <a:t>原型</a:t>
            </a:r>
            <a:r>
              <a:rPr lang="en-US" altLang="zh-CN" dirty="0"/>
              <a:t>)</a:t>
            </a:r>
            <a:r>
              <a:rPr lang="zh-CN" altLang="en-US" dirty="0"/>
              <a:t>声明：</a:t>
            </a:r>
            <a:br>
              <a:rPr lang="zh-CN" altLang="en-US" dirty="0"/>
            </a:br>
            <a:r>
              <a:rPr lang="en-US" altLang="zh-CN" dirty="0" err="1">
                <a:solidFill>
                  <a:srgbClr val="0000FF"/>
                </a:solidFill>
              </a:rPr>
              <a:t>int</a:t>
            </a:r>
            <a:r>
              <a:rPr lang="en-US" altLang="zh-CN" dirty="0">
                <a:solidFill>
                  <a:srgbClr val="0000FF"/>
                </a:solidFill>
              </a:rPr>
              <a:t> </a:t>
            </a:r>
            <a:r>
              <a:rPr lang="en-US" altLang="zh-CN" dirty="0" err="1">
                <a:solidFill>
                  <a:srgbClr val="0000FF"/>
                </a:solidFill>
              </a:rPr>
              <a:t>MyFunc</a:t>
            </a:r>
            <a:r>
              <a:rPr lang="en-US" altLang="zh-CN" dirty="0">
                <a:solidFill>
                  <a:srgbClr val="0000FF"/>
                </a:solidFill>
              </a:rPr>
              <a:t>( </a:t>
            </a:r>
            <a:r>
              <a:rPr lang="en-US" altLang="zh-CN" dirty="0" err="1">
                <a:solidFill>
                  <a:srgbClr val="0000FF"/>
                </a:solidFill>
              </a:rPr>
              <a:t>int</a:t>
            </a:r>
            <a:r>
              <a:rPr lang="en-US" altLang="zh-CN" dirty="0">
                <a:solidFill>
                  <a:srgbClr val="0000FF"/>
                </a:solidFill>
              </a:rPr>
              <a:t> );</a:t>
            </a:r>
            <a:br>
              <a:rPr lang="en-US" altLang="zh-CN" dirty="0">
                <a:solidFill>
                  <a:srgbClr val="0000FF"/>
                </a:solidFill>
              </a:rPr>
            </a:br>
            <a:r>
              <a:rPr lang="en-US" altLang="zh-CN" dirty="0" err="1">
                <a:solidFill>
                  <a:srgbClr val="0000FF"/>
                </a:solidFill>
              </a:rPr>
              <a:t>int</a:t>
            </a:r>
            <a:r>
              <a:rPr lang="en-US" altLang="zh-CN" dirty="0">
                <a:solidFill>
                  <a:srgbClr val="0000FF"/>
                </a:solidFill>
              </a:rPr>
              <a:t> </a:t>
            </a:r>
            <a:r>
              <a:rPr lang="en-US" altLang="zh-CN" b="1" dirty="0" err="1">
                <a:solidFill>
                  <a:srgbClr val="0000FF"/>
                </a:solidFill>
              </a:rPr>
              <a:t>YourFunc</a:t>
            </a:r>
            <a:r>
              <a:rPr lang="en-US" altLang="zh-CN" dirty="0">
                <a:solidFill>
                  <a:srgbClr val="0000FF"/>
                </a:solidFill>
              </a:rPr>
              <a:t>( );</a:t>
            </a:r>
          </a:p>
          <a:p>
            <a:endParaRPr lang="en-US" altLang="zh-CN" dirty="0"/>
          </a:p>
          <a:p>
            <a:r>
              <a:rPr lang="en-US" altLang="zh-CN" dirty="0"/>
              <a:t>//</a:t>
            </a:r>
            <a:r>
              <a:rPr lang="zh-CN" altLang="en-US" dirty="0"/>
              <a:t>函数定义：</a:t>
            </a:r>
            <a:br>
              <a:rPr lang="zh-CN" altLang="en-US" dirty="0"/>
            </a:b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MyFunc</a:t>
            </a:r>
            <a:r>
              <a:rPr lang="en-US" altLang="zh-CN" dirty="0"/>
              <a:t>( </a:t>
            </a:r>
            <a:r>
              <a:rPr lang="en-US" altLang="zh-CN" dirty="0" err="1"/>
              <a:t>int</a:t>
            </a:r>
            <a:r>
              <a:rPr lang="en-US" altLang="zh-CN" dirty="0"/>
              <a:t> n )</a:t>
            </a:r>
            <a:br>
              <a:rPr lang="en-US" altLang="zh-CN" dirty="0"/>
            </a:br>
            <a:r>
              <a:rPr lang="en-US" altLang="zh-CN" dirty="0"/>
              <a:t>{</a:t>
            </a:r>
            <a:br>
              <a:rPr lang="en-US" altLang="zh-CN" dirty="0"/>
            </a:br>
            <a:r>
              <a:rPr lang="en-US" altLang="zh-CN" dirty="0"/>
              <a:t>    return 2*n; </a:t>
            </a:r>
            <a:br>
              <a:rPr lang="en-US" altLang="zh-CN" dirty="0"/>
            </a:br>
            <a:r>
              <a:rPr lang="en-US" altLang="zh-CN" dirty="0"/>
              <a:t>}</a:t>
            </a:r>
            <a:endParaRPr lang="en-US" dirty="0"/>
          </a:p>
        </p:txBody>
      </p:sp>
      <p:sp>
        <p:nvSpPr>
          <p:cNvPr id="6" name="内容占位符 3"/>
          <p:cNvSpPr txBox="1">
            <a:spLocks/>
          </p:cNvSpPr>
          <p:nvPr/>
        </p:nvSpPr>
        <p:spPr>
          <a:xfrm>
            <a:off x="7851958" y="2256092"/>
            <a:ext cx="3958329" cy="4209744"/>
          </a:xfrm>
          <a:prstGeom prst="rect">
            <a:avLst/>
          </a:prstGeom>
          <a:ln w="38100">
            <a:solidFill>
              <a:schemeClr val="accent2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zh-CN" altLang="en-US" sz="2400" kern="1200" baseline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//</a:t>
            </a:r>
            <a:r>
              <a:rPr lang="zh-CN" altLang="en-US" dirty="0"/>
              <a:t>变量的声明：</a:t>
            </a:r>
            <a:endParaRPr lang="en-US" altLang="zh-CN" dirty="0"/>
          </a:p>
          <a:p>
            <a:r>
              <a:rPr lang="en-US" altLang="zh-CN" dirty="0">
                <a:solidFill>
                  <a:srgbClr val="0000FF"/>
                </a:solidFill>
              </a:rPr>
              <a:t>extern </a:t>
            </a:r>
            <a:r>
              <a:rPr lang="en-US" altLang="zh-CN" dirty="0" err="1">
                <a:solidFill>
                  <a:srgbClr val="0000FF"/>
                </a:solidFill>
              </a:rPr>
              <a:t>int</a:t>
            </a:r>
            <a:r>
              <a:rPr lang="en-US" altLang="zh-CN" dirty="0">
                <a:solidFill>
                  <a:srgbClr val="0000FF"/>
                </a:solidFill>
              </a:rPr>
              <a:t> a;</a:t>
            </a:r>
          </a:p>
          <a:p>
            <a:r>
              <a:rPr lang="en-US" altLang="zh-CN" dirty="0">
                <a:solidFill>
                  <a:srgbClr val="0000FF"/>
                </a:solidFill>
              </a:rPr>
              <a:t>int b =100; //</a:t>
            </a:r>
            <a:r>
              <a:rPr lang="zh-CN" altLang="en-US" dirty="0">
                <a:solidFill>
                  <a:srgbClr val="0000FF"/>
                </a:solidFill>
              </a:rPr>
              <a:t>声明</a:t>
            </a:r>
            <a:r>
              <a:rPr lang="en-US" altLang="zh-CN" dirty="0">
                <a:solidFill>
                  <a:srgbClr val="0000FF"/>
                </a:solidFill>
              </a:rPr>
              <a:t>+</a:t>
            </a:r>
            <a:r>
              <a:rPr lang="zh-CN" altLang="en-US" dirty="0">
                <a:solidFill>
                  <a:srgbClr val="0000FF"/>
                </a:solidFill>
              </a:rPr>
              <a:t>定义</a:t>
            </a:r>
            <a:endParaRPr lang="en-US" altLang="zh-CN" dirty="0">
              <a:solidFill>
                <a:srgbClr val="0000FF"/>
              </a:solidFill>
            </a:endParaRPr>
          </a:p>
          <a:p>
            <a:r>
              <a:rPr lang="en-US" altLang="zh-CN" dirty="0">
                <a:solidFill>
                  <a:srgbClr val="0000FF"/>
                </a:solidFill>
              </a:rPr>
              <a:t>extern Dog </a:t>
            </a:r>
            <a:r>
              <a:rPr lang="en-US" altLang="zh-CN" dirty="0" err="1">
                <a:solidFill>
                  <a:srgbClr val="0000FF"/>
                </a:solidFill>
              </a:rPr>
              <a:t>aDog</a:t>
            </a:r>
            <a:r>
              <a:rPr lang="en-US" altLang="zh-CN" dirty="0">
                <a:solidFill>
                  <a:srgbClr val="0000FF"/>
                </a:solidFill>
              </a:rPr>
              <a:t>;</a:t>
            </a:r>
          </a:p>
          <a:p>
            <a:endParaRPr lang="en-US" altLang="zh-CN" dirty="0">
              <a:solidFill>
                <a:srgbClr val="0000FF"/>
              </a:solidFill>
            </a:endParaRPr>
          </a:p>
          <a:p>
            <a:r>
              <a:rPr lang="en-US" altLang="zh-CN" dirty="0"/>
              <a:t>//</a:t>
            </a:r>
            <a:r>
              <a:rPr lang="zh-CN" altLang="en-US" dirty="0"/>
              <a:t>变量的定义：</a:t>
            </a:r>
            <a:endParaRPr lang="en-US" altLang="zh-CN" dirty="0"/>
          </a:p>
          <a:p>
            <a:r>
              <a:rPr lang="en-US" altLang="zh-CN" dirty="0" err="1">
                <a:solidFill>
                  <a:srgbClr val="FF0000"/>
                </a:solidFill>
              </a:rPr>
              <a:t>int</a:t>
            </a:r>
            <a:r>
              <a:rPr lang="en-US" altLang="zh-CN" dirty="0">
                <a:solidFill>
                  <a:srgbClr val="FF0000"/>
                </a:solidFill>
              </a:rPr>
              <a:t> a</a:t>
            </a:r>
            <a:r>
              <a:rPr lang="zh-CN" altLang="en-US" dirty="0">
                <a:solidFill>
                  <a:srgbClr val="FF0000"/>
                </a:solidFill>
              </a:rPr>
              <a:t>； </a:t>
            </a:r>
            <a:r>
              <a:rPr lang="en-US" altLang="zh-CN" dirty="0">
                <a:solidFill>
                  <a:srgbClr val="FF0000"/>
                </a:solidFill>
              </a:rPr>
              <a:t>//</a:t>
            </a:r>
            <a:r>
              <a:rPr lang="zh-CN" altLang="en-US" dirty="0">
                <a:solidFill>
                  <a:srgbClr val="FF0000"/>
                </a:solidFill>
              </a:rPr>
              <a:t>无初始化，不建议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float b = 2.5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en-US" altLang="zh-CN" dirty="0"/>
              <a:t>Dog </a:t>
            </a:r>
            <a:r>
              <a:rPr lang="en-US" altLang="zh-CN" dirty="0" err="1"/>
              <a:t>aDog</a:t>
            </a:r>
            <a:r>
              <a:rPr lang="zh-CN" altLang="en-US" dirty="0"/>
              <a:t>；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685313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2795" y="125001"/>
            <a:ext cx="8377937" cy="498717"/>
          </a:xfrm>
        </p:spPr>
        <p:txBody>
          <a:bodyPr/>
          <a:lstStyle/>
          <a:p>
            <a:r>
              <a:rPr lang="zh-CN" altLang="en-US" dirty="0"/>
              <a:t>声明和定义的使用</a:t>
            </a:r>
            <a:r>
              <a:rPr lang="en-US" altLang="zh-CN" dirty="0"/>
              <a:t>-</a:t>
            </a:r>
            <a:r>
              <a:rPr lang="zh-CN" altLang="en-US" sz="2400" dirty="0">
                <a:solidFill>
                  <a:srgbClr val="0000FF"/>
                </a:solidFill>
              </a:rPr>
              <a:t>就近原则</a:t>
            </a:r>
            <a:r>
              <a:rPr lang="en-US" altLang="zh-CN" sz="2400" dirty="0">
                <a:solidFill>
                  <a:srgbClr val="0000FF"/>
                </a:solidFill>
              </a:rPr>
              <a:t>(</a:t>
            </a:r>
            <a:r>
              <a:rPr lang="zh-CN" altLang="en-US" sz="2400" dirty="0">
                <a:solidFill>
                  <a:srgbClr val="0000FF"/>
                </a:solidFill>
              </a:rPr>
              <a:t>现使用，现定义</a:t>
            </a:r>
            <a:r>
              <a:rPr lang="en-US" altLang="zh-CN" sz="2400" dirty="0">
                <a:solidFill>
                  <a:srgbClr val="0000FF"/>
                </a:solidFill>
              </a:rPr>
              <a:t>)</a:t>
            </a:r>
            <a:endParaRPr lang="zh-CN" altLang="en-US" dirty="0"/>
          </a:p>
        </p:txBody>
      </p:sp>
      <p:sp>
        <p:nvSpPr>
          <p:cNvPr id="3" name="内容占位符 3"/>
          <p:cNvSpPr txBox="1">
            <a:spLocks/>
          </p:cNvSpPr>
          <p:nvPr/>
        </p:nvSpPr>
        <p:spPr>
          <a:xfrm>
            <a:off x="577572" y="1751507"/>
            <a:ext cx="5082811" cy="3999271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>
            <a:normAutofit fontScale="62500" lnSpcReduction="2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FEB80A"/>
              </a:buClr>
              <a:buNone/>
            </a:pPr>
            <a:r>
              <a:rPr lang="en-US" altLang="zh-CN" dirty="0"/>
              <a:t>//</a:t>
            </a:r>
            <a:r>
              <a:rPr lang="zh-CN" altLang="en-US" dirty="0"/>
              <a:t>在</a:t>
            </a:r>
            <a:r>
              <a:rPr lang="en-US" altLang="zh-CN" dirty="0"/>
              <a:t>C</a:t>
            </a:r>
            <a:r>
              <a:rPr lang="zh-CN" altLang="en-US" dirty="0"/>
              <a:t>语言中</a:t>
            </a:r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 dirty="0"/>
              <a:t>void main( )</a:t>
            </a:r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 dirty="0"/>
              <a:t>{</a:t>
            </a:r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 dirty="0"/>
              <a:t>      </a:t>
            </a:r>
            <a:r>
              <a:rPr lang="en-US" altLang="zh-CN" dirty="0" err="1">
                <a:solidFill>
                  <a:srgbClr val="FF0000"/>
                </a:solidFill>
              </a:rPr>
              <a:t>int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 err="1">
                <a:solidFill>
                  <a:srgbClr val="FF0000"/>
                </a:solidFill>
              </a:rPr>
              <a:t>i</a:t>
            </a:r>
            <a:r>
              <a:rPr lang="zh-CN" altLang="en-US" dirty="0">
                <a:solidFill>
                  <a:srgbClr val="FF0000"/>
                </a:solidFill>
              </a:rPr>
              <a:t>，</a:t>
            </a:r>
            <a:r>
              <a:rPr lang="en-US" altLang="zh-CN" dirty="0">
                <a:solidFill>
                  <a:srgbClr val="FF0000"/>
                </a:solidFill>
              </a:rPr>
              <a:t>j</a:t>
            </a:r>
            <a:r>
              <a:rPr lang="zh-CN" altLang="en-US" dirty="0">
                <a:solidFill>
                  <a:srgbClr val="FF0000"/>
                </a:solidFill>
              </a:rPr>
              <a:t>，</a:t>
            </a:r>
            <a:r>
              <a:rPr lang="en-US" altLang="zh-CN" dirty="0">
                <a:solidFill>
                  <a:srgbClr val="FF0000"/>
                </a:solidFill>
              </a:rPr>
              <a:t>k ;</a:t>
            </a:r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 dirty="0"/>
              <a:t>      for(</a:t>
            </a:r>
            <a:r>
              <a:rPr lang="en-US" altLang="zh-CN" dirty="0" err="1"/>
              <a:t>i</a:t>
            </a:r>
            <a:r>
              <a:rPr lang="en-US" altLang="zh-CN" dirty="0"/>
              <a:t>=0;i&lt;10;++</a:t>
            </a:r>
            <a:r>
              <a:rPr lang="en-US" altLang="zh-CN" dirty="0" err="1"/>
              <a:t>i</a:t>
            </a:r>
            <a:r>
              <a:rPr lang="en-US" altLang="zh-CN" dirty="0"/>
              <a:t>) {</a:t>
            </a:r>
            <a:br>
              <a:rPr lang="en-US" altLang="zh-CN" dirty="0"/>
            </a:br>
            <a:r>
              <a:rPr lang="en-US" altLang="zh-CN" dirty="0"/>
              <a:t>             for( j= 1;j&lt;20;++j) {</a:t>
            </a:r>
            <a:br>
              <a:rPr lang="en-US" altLang="zh-CN" dirty="0"/>
            </a:br>
            <a:r>
              <a:rPr lang="en-US" altLang="zh-CN" dirty="0"/>
              <a:t>                 k = f( </a:t>
            </a:r>
            <a:r>
              <a:rPr lang="en-US" altLang="zh-CN" dirty="0" err="1"/>
              <a:t>i</a:t>
            </a:r>
            <a:r>
              <a:rPr lang="en-US" altLang="zh-CN" dirty="0"/>
              <a:t>, j );</a:t>
            </a:r>
            <a:br>
              <a:rPr lang="en-US" altLang="zh-CN" dirty="0"/>
            </a:br>
            <a:r>
              <a:rPr lang="en-US" altLang="zh-CN" dirty="0"/>
              <a:t>                 </a:t>
            </a:r>
            <a:r>
              <a:rPr lang="en-US" altLang="zh-CN" dirty="0">
                <a:sym typeface="+mn-ea"/>
              </a:rPr>
              <a:t>// use k</a:t>
            </a:r>
            <a:br>
              <a:rPr lang="en-US" altLang="zh-CN" dirty="0">
                <a:sym typeface="+mn-ea"/>
              </a:rPr>
            </a:br>
            <a:r>
              <a:rPr lang="en-US" altLang="zh-CN" dirty="0">
                <a:sym typeface="+mn-ea"/>
              </a:rPr>
              <a:t>             }</a:t>
            </a:r>
            <a:br>
              <a:rPr lang="en-US" altLang="zh-CN" dirty="0"/>
            </a:br>
            <a:r>
              <a:rPr lang="en-US" altLang="zh-CN" dirty="0"/>
              <a:t>      }</a:t>
            </a:r>
            <a:br>
              <a:rPr lang="en-US" altLang="zh-CN" dirty="0"/>
            </a:br>
            <a:r>
              <a:rPr lang="en-US" altLang="zh-CN" dirty="0"/>
              <a:t>}</a:t>
            </a:r>
          </a:p>
        </p:txBody>
      </p:sp>
      <p:sp>
        <p:nvSpPr>
          <p:cNvPr id="4" name="内容占位符 3"/>
          <p:cNvSpPr txBox="1">
            <a:spLocks/>
          </p:cNvSpPr>
          <p:nvPr/>
        </p:nvSpPr>
        <p:spPr>
          <a:xfrm>
            <a:off x="5866265" y="1751507"/>
            <a:ext cx="5873578" cy="3999270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zh-CN" altLang="en-US" sz="2400" kern="1200" baseline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zh-CN" dirty="0">
                <a:sym typeface="+mn-ea"/>
              </a:rPr>
              <a:t>//在</a:t>
            </a:r>
            <a:r>
              <a:rPr lang="zh-CN" altLang="en-US" dirty="0">
                <a:sym typeface="+mn-ea"/>
              </a:rPr>
              <a:t>现代语言中</a:t>
            </a:r>
            <a:r>
              <a:rPr lang="en-US" altLang="zh-CN" dirty="0">
                <a:sym typeface="+mn-ea"/>
              </a:rPr>
              <a:t>(</a:t>
            </a:r>
            <a:r>
              <a:rPr lang="zh-CN" altLang="en-US" dirty="0">
                <a:sym typeface="+mn-ea"/>
              </a:rPr>
              <a:t>含</a:t>
            </a:r>
            <a:r>
              <a:rPr lang="en-US" altLang="zh-CN" dirty="0">
                <a:sym typeface="+mn-ea"/>
              </a:rPr>
              <a:t>C++)</a:t>
            </a:r>
            <a:endParaRPr lang="en-US" altLang="zh-CN" dirty="0"/>
          </a:p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zh-CN" dirty="0" err="1">
                <a:sym typeface="+mn-ea"/>
              </a:rPr>
              <a:t>int</a:t>
            </a:r>
            <a:r>
              <a:rPr lang="en-US" altLang="zh-CN" dirty="0">
                <a:sym typeface="+mn-ea"/>
              </a:rPr>
              <a:t> main( )</a:t>
            </a:r>
            <a:br>
              <a:rPr lang="en-US" altLang="zh-CN" dirty="0">
                <a:sym typeface="+mn-ea"/>
              </a:rPr>
            </a:br>
            <a:r>
              <a:rPr lang="en-US" altLang="zh-CN" dirty="0">
                <a:sym typeface="+mn-ea"/>
              </a:rPr>
              <a:t>{</a:t>
            </a:r>
            <a:br>
              <a:rPr lang="en-US" altLang="zh-CN" dirty="0">
                <a:sym typeface="+mn-ea"/>
              </a:rPr>
            </a:br>
            <a:r>
              <a:rPr lang="en-US" altLang="zh-CN" dirty="0">
                <a:sym typeface="+mn-ea"/>
              </a:rPr>
              <a:t>      for(</a:t>
            </a:r>
            <a:r>
              <a:rPr lang="en-US" altLang="zh-CN" dirty="0" err="1">
                <a:solidFill>
                  <a:srgbClr val="0000FF"/>
                </a:solidFill>
                <a:sym typeface="+mn-ea"/>
              </a:rPr>
              <a:t>int</a:t>
            </a:r>
            <a:r>
              <a:rPr lang="en-US" altLang="zh-CN" dirty="0">
                <a:solidFill>
                  <a:srgbClr val="0000FF"/>
                </a:solidFill>
                <a:sym typeface="+mn-ea"/>
              </a:rPr>
              <a:t> </a:t>
            </a:r>
            <a:r>
              <a:rPr lang="en-US" altLang="zh-CN" dirty="0" err="1">
                <a:solidFill>
                  <a:srgbClr val="0000FF"/>
                </a:solidFill>
                <a:sym typeface="+mn-ea"/>
              </a:rPr>
              <a:t>i</a:t>
            </a:r>
            <a:r>
              <a:rPr lang="en-US" altLang="zh-CN" dirty="0">
                <a:sym typeface="+mn-ea"/>
              </a:rPr>
              <a:t>=0;i&lt;10;++</a:t>
            </a:r>
            <a:r>
              <a:rPr lang="en-US" altLang="zh-CN" dirty="0" err="1">
                <a:sym typeface="+mn-ea"/>
              </a:rPr>
              <a:t>i</a:t>
            </a:r>
            <a:r>
              <a:rPr lang="en-US" altLang="zh-CN" dirty="0">
                <a:sym typeface="+mn-ea"/>
              </a:rPr>
              <a:t>) {</a:t>
            </a:r>
            <a:br>
              <a:rPr lang="en-US" altLang="zh-CN" dirty="0">
                <a:sym typeface="+mn-ea"/>
              </a:rPr>
            </a:br>
            <a:r>
              <a:rPr lang="en-US" altLang="zh-CN" dirty="0">
                <a:sym typeface="+mn-ea"/>
              </a:rPr>
              <a:t>             for(</a:t>
            </a:r>
            <a:r>
              <a:rPr lang="en-US" altLang="zh-CN" dirty="0" err="1">
                <a:solidFill>
                  <a:srgbClr val="0000FF"/>
                </a:solidFill>
                <a:sym typeface="+mn-ea"/>
              </a:rPr>
              <a:t>int</a:t>
            </a:r>
            <a:r>
              <a:rPr lang="en-US" altLang="zh-CN" dirty="0">
                <a:solidFill>
                  <a:srgbClr val="0000FF"/>
                </a:solidFill>
                <a:sym typeface="+mn-ea"/>
              </a:rPr>
              <a:t>  j</a:t>
            </a:r>
            <a:r>
              <a:rPr lang="en-US" altLang="zh-CN" dirty="0">
                <a:sym typeface="+mn-ea"/>
              </a:rPr>
              <a:t>= 1;j&lt;20;++j)  {</a:t>
            </a:r>
            <a:br>
              <a:rPr lang="en-US" altLang="zh-CN" dirty="0">
                <a:sym typeface="+mn-ea"/>
              </a:rPr>
            </a:br>
            <a:r>
              <a:rPr lang="en-US" altLang="zh-CN" dirty="0">
                <a:sym typeface="+mn-ea"/>
              </a:rPr>
              <a:t>                 </a:t>
            </a:r>
            <a:r>
              <a:rPr lang="en-US" altLang="zh-CN" dirty="0" err="1">
                <a:solidFill>
                  <a:srgbClr val="0000FF"/>
                </a:solidFill>
                <a:sym typeface="+mn-ea"/>
              </a:rPr>
              <a:t>int</a:t>
            </a:r>
            <a:r>
              <a:rPr lang="en-US" altLang="zh-CN" dirty="0">
                <a:solidFill>
                  <a:srgbClr val="0000FF"/>
                </a:solidFill>
                <a:sym typeface="+mn-ea"/>
              </a:rPr>
              <a:t> k</a:t>
            </a:r>
            <a:r>
              <a:rPr lang="en-US" altLang="zh-CN" dirty="0">
                <a:sym typeface="+mn-ea"/>
              </a:rPr>
              <a:t> = f(</a:t>
            </a:r>
            <a:r>
              <a:rPr lang="en-US" altLang="zh-CN" dirty="0" err="1">
                <a:sym typeface="+mn-ea"/>
              </a:rPr>
              <a:t>i,j</a:t>
            </a:r>
            <a:r>
              <a:rPr lang="en-US" altLang="zh-CN" dirty="0">
                <a:sym typeface="+mn-ea"/>
              </a:rPr>
              <a:t>);</a:t>
            </a:r>
            <a:br>
              <a:rPr lang="en-US" altLang="zh-CN" dirty="0">
                <a:sym typeface="+mn-ea"/>
              </a:rPr>
            </a:br>
            <a:r>
              <a:rPr lang="en-US" altLang="zh-CN" dirty="0">
                <a:sym typeface="+mn-ea"/>
              </a:rPr>
              <a:t>                 // use k</a:t>
            </a:r>
            <a:br>
              <a:rPr lang="en-US" altLang="zh-CN" dirty="0">
                <a:sym typeface="+mn-ea"/>
              </a:rPr>
            </a:br>
            <a:r>
              <a:rPr lang="en-US" altLang="zh-CN" dirty="0">
                <a:sym typeface="+mn-ea"/>
              </a:rPr>
              <a:t>             }</a:t>
            </a:r>
            <a:br>
              <a:rPr lang="en-US" altLang="zh-CN" dirty="0">
                <a:sym typeface="+mn-ea"/>
              </a:rPr>
            </a:br>
            <a:r>
              <a:rPr lang="en-US" altLang="zh-CN" dirty="0">
                <a:sym typeface="+mn-ea"/>
              </a:rPr>
              <a:t>      }</a:t>
            </a:r>
            <a:br>
              <a:rPr lang="en-US" altLang="zh-CN" dirty="0">
                <a:sym typeface="+mn-ea"/>
              </a:rPr>
            </a:br>
            <a:r>
              <a:rPr lang="en-US" altLang="zh-CN" dirty="0">
                <a:sym typeface="+mn-ea"/>
              </a:rPr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182896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7737002" cy="498717"/>
          </a:xfrm>
        </p:spPr>
        <p:txBody>
          <a:bodyPr/>
          <a:lstStyle/>
          <a:p>
            <a:r>
              <a:rPr lang="zh-CN" altLang="en-US" dirty="0"/>
              <a:t>声明和定义的使用</a:t>
            </a:r>
            <a:r>
              <a:rPr lang="en-US" altLang="zh-CN" dirty="0"/>
              <a:t>-</a:t>
            </a:r>
            <a:r>
              <a:rPr lang="zh-CN" altLang="en-US" sz="2400" dirty="0">
                <a:solidFill>
                  <a:srgbClr val="0000FF"/>
                </a:solidFill>
              </a:rPr>
              <a:t>先声明，后使用</a:t>
            </a:r>
            <a:endParaRPr lang="zh-CN" altLang="en-US" sz="2400" dirty="0"/>
          </a:p>
        </p:txBody>
      </p:sp>
      <p:sp>
        <p:nvSpPr>
          <p:cNvPr id="3" name="内容占位符 3"/>
          <p:cNvSpPr txBox="1">
            <a:spLocks/>
          </p:cNvSpPr>
          <p:nvPr/>
        </p:nvSpPr>
        <p:spPr>
          <a:xfrm>
            <a:off x="785434" y="1431637"/>
            <a:ext cx="2837983" cy="4560581"/>
          </a:xfrm>
          <a:prstGeom prst="rect">
            <a:avLst/>
          </a:prstGeom>
          <a:ln w="38100">
            <a:solidFill>
              <a:srgbClr val="FF6600"/>
            </a:solidFill>
          </a:ln>
        </p:spPr>
        <p:txBody>
          <a:bodyPr>
            <a:norm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FEB80A"/>
              </a:buClr>
              <a:buNone/>
            </a:pPr>
            <a:r>
              <a:rPr lang="en-US" altLang="zh-CN"/>
              <a:t>//a.cpp</a:t>
            </a:r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/>
              <a:t>int count =1;</a:t>
            </a:r>
            <a:br>
              <a:rPr lang="en-US" altLang="zh-CN"/>
            </a:br>
            <a:r>
              <a:rPr lang="en-US" altLang="zh-CN"/>
              <a:t>int main() </a:t>
            </a:r>
            <a:br>
              <a:rPr lang="en-US" altLang="zh-CN"/>
            </a:br>
            <a:r>
              <a:rPr lang="en-US" altLang="zh-CN"/>
              <a:t>{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}</a:t>
            </a:r>
            <a:br>
              <a:rPr lang="en-US" altLang="zh-CN"/>
            </a:br>
            <a:endParaRPr lang="zh-CN" altLang="en-US" dirty="0"/>
          </a:p>
        </p:txBody>
      </p:sp>
      <p:sp>
        <p:nvSpPr>
          <p:cNvPr id="4" name="内容占位符 3"/>
          <p:cNvSpPr txBox="1">
            <a:spLocks/>
          </p:cNvSpPr>
          <p:nvPr/>
        </p:nvSpPr>
        <p:spPr>
          <a:xfrm>
            <a:off x="3881753" y="1419035"/>
            <a:ext cx="3459084" cy="4560581"/>
          </a:xfrm>
          <a:prstGeom prst="rect">
            <a:avLst/>
          </a:prstGeom>
          <a:ln w="38100">
            <a:solidFill>
              <a:srgbClr val="FF6600"/>
            </a:solidFill>
          </a:ln>
        </p:spPr>
        <p:txBody>
          <a:bodyPr>
            <a:norm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FEB80A"/>
              </a:buClr>
              <a:buNone/>
            </a:pPr>
            <a:r>
              <a:rPr lang="en-US" altLang="zh-CN" dirty="0">
                <a:ea typeface="宋体" panose="02010600030101010101" pitchFamily="2" charset="-122"/>
              </a:rPr>
              <a:t>//b.cpp</a:t>
            </a:r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extern </a:t>
            </a:r>
            <a:r>
              <a:rPr lang="en-US" altLang="zh-CN" dirty="0" err="1">
                <a:solidFill>
                  <a:srgbClr val="0000FF"/>
                </a:solidFill>
                <a:ea typeface="宋体" panose="02010600030101010101" pitchFamily="2" charset="-122"/>
              </a:rPr>
              <a:t>int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 count;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void f( )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{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  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count</a:t>
            </a:r>
            <a:r>
              <a:rPr lang="en-US" altLang="zh-CN" dirty="0">
                <a:ea typeface="宋体" panose="02010600030101010101" pitchFamily="2" charset="-122"/>
              </a:rPr>
              <a:t> = 10</a:t>
            </a:r>
            <a:r>
              <a:rPr lang="zh-CN" altLang="en-US" dirty="0">
                <a:ea typeface="宋体" panose="02010600030101010101" pitchFamily="2" charset="-122"/>
              </a:rPr>
              <a:t>；</a:t>
            </a:r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 dirty="0">
                <a:ea typeface="宋体" panose="02010600030101010101" pitchFamily="2" charset="-122"/>
              </a:rPr>
              <a:t>}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5" name="内容占位符 3"/>
          <p:cNvSpPr txBox="1">
            <a:spLocks/>
          </p:cNvSpPr>
          <p:nvPr/>
        </p:nvSpPr>
        <p:spPr>
          <a:xfrm>
            <a:off x="7666181" y="1431637"/>
            <a:ext cx="4020315" cy="4560581"/>
          </a:xfrm>
          <a:prstGeom prst="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zh-CN" altLang="en-US" sz="2400" kern="1200" baseline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EB80A"/>
              </a:buClr>
            </a:pPr>
            <a:r>
              <a:rPr lang="en-US" altLang="zh-CN" dirty="0">
                <a:ea typeface="宋体" panose="02010600030101010101" pitchFamily="2" charset="-122"/>
              </a:rPr>
              <a:t>//</a:t>
            </a:r>
            <a:r>
              <a:rPr lang="en-US" altLang="zh-CN" dirty="0" err="1">
                <a:ea typeface="宋体" panose="02010600030101010101" pitchFamily="2" charset="-122"/>
              </a:rPr>
              <a:t>dog.h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buClr>
                <a:srgbClr val="FEB80A"/>
              </a:buClr>
            </a:pP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class Bone;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class Dog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{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public: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   void Eat(Bone * p);</a:t>
            </a:r>
          </a:p>
          <a:p>
            <a:pPr>
              <a:buClr>
                <a:srgbClr val="FEB80A"/>
              </a:buClr>
            </a:pPr>
            <a:r>
              <a:rPr lang="en-US" altLang="zh-CN" dirty="0">
                <a:ea typeface="宋体" panose="02010600030101010101" pitchFamily="2" charset="-122"/>
              </a:rPr>
              <a:t>};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557466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7243" y="60057"/>
            <a:ext cx="7523357" cy="498717"/>
          </a:xfrm>
        </p:spPr>
        <p:txBody>
          <a:bodyPr/>
          <a:lstStyle/>
          <a:p>
            <a:r>
              <a:rPr lang="zh-CN" altLang="en-US" dirty="0"/>
              <a:t>声明和定义的使用</a:t>
            </a:r>
            <a:r>
              <a:rPr lang="en-US" altLang="zh-CN" dirty="0"/>
              <a:t>-</a:t>
            </a:r>
            <a:r>
              <a:rPr lang="zh-CN" altLang="en-US" sz="2400" dirty="0">
                <a:solidFill>
                  <a:srgbClr val="0000FF"/>
                </a:solidFill>
              </a:rPr>
              <a:t>单一定义规则</a:t>
            </a:r>
            <a:endParaRPr lang="zh-CN" altLang="en-US" dirty="0"/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807243" y="754442"/>
            <a:ext cx="10906962" cy="1366513"/>
          </a:xfrm>
          <a:prstGeom prst="rect">
            <a:avLst/>
          </a:prstGeom>
          <a:ln w="28575">
            <a:solidFill>
              <a:srgbClr val="FF6600"/>
            </a:solidFill>
          </a:ln>
        </p:spPr>
        <p:txBody>
          <a:bodyPr anchor="ctr">
            <a:normAutofit fontScale="85000" lnSpcReduction="2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3300" dirty="0">
                <a:solidFill>
                  <a:srgbClr val="0000FF"/>
                </a:solidFill>
                <a:latin typeface="+mn-ea"/>
              </a:rPr>
              <a:t>单一定义规则</a:t>
            </a:r>
            <a:r>
              <a:rPr lang="en-US" altLang="zh-CN" sz="3300" dirty="0">
                <a:solidFill>
                  <a:srgbClr val="0000FF"/>
                </a:solidFill>
                <a:latin typeface="+mn-ea"/>
              </a:rPr>
              <a:t>: </a:t>
            </a:r>
          </a:p>
          <a:p>
            <a:pPr marL="0" indent="0"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         </a:t>
            </a:r>
            <a:r>
              <a:rPr lang="zh-CN" altLang="en-US" sz="3100" dirty="0">
                <a:solidFill>
                  <a:schemeClr val="accent5">
                    <a:lumMod val="50000"/>
                  </a:schemeClr>
                </a:solidFill>
              </a:rPr>
              <a:t>在一个编译单元中，同一个标识符（如变量、函数、类名等）只能被定义一次；但声明可以多次。</a:t>
            </a:r>
            <a:endParaRPr lang="en-US" altLang="zh-CN" sz="31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" name="内容占位符 3"/>
          <p:cNvSpPr txBox="1">
            <a:spLocks/>
          </p:cNvSpPr>
          <p:nvPr/>
        </p:nvSpPr>
        <p:spPr>
          <a:xfrm>
            <a:off x="807243" y="2512290"/>
            <a:ext cx="2237447" cy="3544582"/>
          </a:xfrm>
          <a:prstGeom prst="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txBody>
          <a:bodyPr>
            <a:normAutofit fontScale="70000" lnSpcReduction="2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FEB80A"/>
              </a:buClr>
              <a:buNone/>
            </a:pPr>
            <a:r>
              <a:rPr lang="en-US" altLang="zh-CN" dirty="0"/>
              <a:t>//</a:t>
            </a:r>
            <a:r>
              <a:rPr lang="zh-CN" altLang="en-US" dirty="0"/>
              <a:t>例</a:t>
            </a:r>
            <a:r>
              <a:rPr lang="en-US" altLang="zh-CN" dirty="0"/>
              <a:t>1</a:t>
            </a:r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 dirty="0"/>
              <a:t>//a.cpp</a:t>
            </a:r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 dirty="0" err="1">
                <a:solidFill>
                  <a:srgbClr val="FF0000"/>
                </a:solidFill>
              </a:rPr>
              <a:t>int</a:t>
            </a:r>
            <a:r>
              <a:rPr lang="en-US" altLang="zh-CN" dirty="0">
                <a:solidFill>
                  <a:srgbClr val="FF0000"/>
                </a:solidFill>
              </a:rPr>
              <a:t> count =1;</a:t>
            </a:r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 dirty="0" err="1">
                <a:solidFill>
                  <a:srgbClr val="FF0000"/>
                </a:solidFill>
              </a:rPr>
              <a:t>int</a:t>
            </a:r>
            <a:r>
              <a:rPr lang="en-US" altLang="zh-CN" dirty="0">
                <a:solidFill>
                  <a:srgbClr val="FF0000"/>
                </a:solidFill>
              </a:rPr>
              <a:t> count =1;</a:t>
            </a:r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main() </a:t>
            </a:r>
            <a:br>
              <a:rPr lang="en-US" altLang="zh-CN" dirty="0"/>
            </a:br>
            <a:r>
              <a:rPr lang="en-US" altLang="zh-CN" dirty="0"/>
              <a:t>{</a:t>
            </a:r>
            <a:br>
              <a:rPr lang="en-US" altLang="zh-CN" dirty="0"/>
            </a:br>
            <a:r>
              <a:rPr lang="en-US" altLang="zh-CN" dirty="0"/>
              <a:t>    …</a:t>
            </a:r>
            <a:br>
              <a:rPr lang="en-US" altLang="zh-CN" dirty="0"/>
            </a:br>
            <a:r>
              <a:rPr lang="en-US" altLang="zh-CN" dirty="0"/>
              <a:t>}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5" name="内容占位符 3"/>
          <p:cNvSpPr txBox="1">
            <a:spLocks/>
          </p:cNvSpPr>
          <p:nvPr/>
        </p:nvSpPr>
        <p:spPr>
          <a:xfrm>
            <a:off x="3475806" y="2512290"/>
            <a:ext cx="2487482" cy="3544582"/>
          </a:xfrm>
          <a:prstGeom prst="rect">
            <a:avLst/>
          </a:prstGeom>
          <a:ln w="38100">
            <a:solidFill>
              <a:srgbClr val="FF6600"/>
            </a:solidFill>
          </a:ln>
        </p:spPr>
        <p:txBody>
          <a:bodyPr>
            <a:normAutofit fontScale="70000" lnSpcReduction="2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FEB80A"/>
              </a:buClr>
              <a:buNone/>
            </a:pPr>
            <a:r>
              <a:rPr lang="en-US" altLang="zh-CN" dirty="0">
                <a:ea typeface="宋体" panose="02010600030101010101" pitchFamily="2" charset="-122"/>
              </a:rPr>
              <a:t>//</a:t>
            </a:r>
            <a:r>
              <a:rPr lang="zh-CN" altLang="en-US" dirty="0">
                <a:ea typeface="宋体" panose="02010600030101010101" pitchFamily="2" charset="-122"/>
              </a:rPr>
              <a:t>例</a:t>
            </a:r>
            <a:r>
              <a:rPr lang="en-US" altLang="zh-CN" dirty="0">
                <a:ea typeface="宋体" panose="02010600030101010101" pitchFamily="2" charset="-122"/>
              </a:rPr>
              <a:t>2-a.cpp</a:t>
            </a:r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#include “</a:t>
            </a:r>
            <a:r>
              <a:rPr lang="en-US" altLang="zh-CN" dirty="0" err="1">
                <a:solidFill>
                  <a:srgbClr val="0000FF"/>
                </a:solidFill>
                <a:ea typeface="宋体" panose="02010600030101010101" pitchFamily="2" charset="-122"/>
              </a:rPr>
              <a:t>a.h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”</a:t>
            </a:r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#include “</a:t>
            </a:r>
            <a:r>
              <a:rPr lang="en-US" altLang="zh-CN" dirty="0" err="1">
                <a:solidFill>
                  <a:srgbClr val="0000FF"/>
                </a:solidFill>
                <a:ea typeface="宋体" panose="02010600030101010101" pitchFamily="2" charset="-122"/>
              </a:rPr>
              <a:t>a.h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”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void main( )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{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   count = 10;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   f( count );</a:t>
            </a:r>
            <a:endParaRPr lang="zh-CN" altLang="en-US" dirty="0">
              <a:ea typeface="宋体" panose="02010600030101010101" pitchFamily="2" charset="-122"/>
            </a:endParaRPr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 dirty="0">
                <a:ea typeface="宋体" panose="02010600030101010101" pitchFamily="2" charset="-122"/>
              </a:rPr>
              <a:t>}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6" name="内容占位符 3"/>
          <p:cNvSpPr txBox="1">
            <a:spLocks/>
          </p:cNvSpPr>
          <p:nvPr/>
        </p:nvSpPr>
        <p:spPr>
          <a:xfrm>
            <a:off x="6140286" y="2512290"/>
            <a:ext cx="2819959" cy="3544582"/>
          </a:xfrm>
          <a:prstGeom prst="rect">
            <a:avLst/>
          </a:prstGeom>
          <a:ln w="38100">
            <a:solidFill>
              <a:srgbClr val="FF66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zh-CN" altLang="en-US" sz="2400" kern="1200" baseline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EB80A"/>
              </a:buClr>
            </a:pPr>
            <a:r>
              <a:rPr lang="en-US" altLang="zh-CN" dirty="0">
                <a:latin typeface="+mn-ea"/>
                <a:ea typeface="+mn-ea"/>
              </a:rPr>
              <a:t>//</a:t>
            </a:r>
            <a:r>
              <a:rPr lang="zh-CN" altLang="en-US" dirty="0">
                <a:latin typeface="+mn-ea"/>
                <a:ea typeface="+mn-ea"/>
              </a:rPr>
              <a:t>例</a:t>
            </a:r>
            <a:r>
              <a:rPr lang="en-US" altLang="zh-CN" dirty="0">
                <a:latin typeface="+mn-ea"/>
                <a:ea typeface="+mn-ea"/>
              </a:rPr>
              <a:t>2-a.h</a:t>
            </a:r>
          </a:p>
          <a:p>
            <a:pPr>
              <a:buClr>
                <a:srgbClr val="FEB80A"/>
              </a:buClr>
            </a:pPr>
            <a:r>
              <a:rPr lang="en-US" altLang="zh-CN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#</a:t>
            </a:r>
            <a:r>
              <a:rPr lang="en-US" altLang="zh-CN" dirty="0" err="1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ifndef</a:t>
            </a:r>
            <a:r>
              <a:rPr lang="en-US" altLang="zh-CN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 AH</a:t>
            </a:r>
          </a:p>
          <a:p>
            <a:pPr>
              <a:buClr>
                <a:srgbClr val="FEB80A"/>
              </a:buClr>
            </a:pPr>
            <a:r>
              <a:rPr lang="en-US" altLang="zh-CN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#define AH</a:t>
            </a:r>
          </a:p>
          <a:p>
            <a:pPr>
              <a:buClr>
                <a:srgbClr val="FEB80A"/>
              </a:buClr>
            </a:pPr>
            <a:r>
              <a:rPr lang="en-US" altLang="zh-CN" dirty="0" err="1">
                <a:latin typeface="+mn-ea"/>
                <a:ea typeface="+mn-ea"/>
              </a:rPr>
              <a:t>int</a:t>
            </a:r>
            <a:r>
              <a:rPr lang="en-US" altLang="zh-CN" dirty="0">
                <a:latin typeface="+mn-ea"/>
                <a:ea typeface="+mn-ea"/>
              </a:rPr>
              <a:t> count =1;</a:t>
            </a:r>
          </a:p>
          <a:p>
            <a:pPr>
              <a:buClr>
                <a:srgbClr val="FEB80A"/>
              </a:buClr>
            </a:pPr>
            <a:r>
              <a:rPr lang="en-US" altLang="zh-CN" dirty="0" err="1">
                <a:latin typeface="+mn-ea"/>
                <a:ea typeface="+mn-ea"/>
              </a:rPr>
              <a:t>int</a:t>
            </a:r>
            <a:r>
              <a:rPr lang="en-US" altLang="zh-CN" dirty="0">
                <a:latin typeface="+mn-ea"/>
                <a:ea typeface="+mn-ea"/>
              </a:rPr>
              <a:t> f( </a:t>
            </a:r>
            <a:r>
              <a:rPr lang="en-US" altLang="zh-CN" dirty="0" err="1">
                <a:latin typeface="+mn-ea"/>
                <a:ea typeface="+mn-ea"/>
              </a:rPr>
              <a:t>int</a:t>
            </a:r>
            <a:r>
              <a:rPr lang="en-US" altLang="zh-CN" dirty="0">
                <a:latin typeface="+mn-ea"/>
                <a:ea typeface="+mn-ea"/>
              </a:rPr>
              <a:t> n) {</a:t>
            </a:r>
            <a:br>
              <a:rPr lang="en-US" altLang="zh-CN" dirty="0">
                <a:latin typeface="+mn-ea"/>
                <a:ea typeface="+mn-ea"/>
              </a:rPr>
            </a:br>
            <a:r>
              <a:rPr lang="en-US" altLang="zh-CN" dirty="0">
                <a:latin typeface="+mn-ea"/>
                <a:ea typeface="+mn-ea"/>
              </a:rPr>
              <a:t>    return 1;</a:t>
            </a:r>
            <a:br>
              <a:rPr lang="en-US" altLang="zh-CN" dirty="0">
                <a:latin typeface="+mn-ea"/>
                <a:ea typeface="+mn-ea"/>
              </a:rPr>
            </a:br>
            <a:r>
              <a:rPr lang="en-US" altLang="zh-CN" dirty="0">
                <a:latin typeface="+mn-ea"/>
                <a:ea typeface="+mn-ea"/>
              </a:rPr>
              <a:t>}</a:t>
            </a:r>
          </a:p>
          <a:p>
            <a:pPr>
              <a:buClr>
                <a:srgbClr val="FEB80A"/>
              </a:buClr>
            </a:pPr>
            <a:r>
              <a:rPr lang="en-US" altLang="zh-CN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#</a:t>
            </a:r>
            <a:r>
              <a:rPr lang="en-US" altLang="zh-CN" dirty="0" err="1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endif</a:t>
            </a:r>
            <a:endParaRPr lang="en-US" altLang="zh-CN" dirty="0">
              <a:solidFill>
                <a:schemeClr val="bg1">
                  <a:lumMod val="9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72427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1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2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obj</a:t>
            </a:r>
            <a:r>
              <a:rPr lang="zh-CN" altLang="en-US" dirty="0"/>
              <a:t>文件 </a:t>
            </a:r>
            <a:r>
              <a:rPr lang="en-US" altLang="zh-CN" dirty="0"/>
              <a:t>(</a:t>
            </a:r>
            <a:r>
              <a:rPr lang="zh-CN" altLang="en-US" dirty="0"/>
              <a:t>例</a:t>
            </a:r>
            <a:r>
              <a:rPr lang="en-US" altLang="zh-CN" dirty="0"/>
              <a:t>,</a:t>
            </a:r>
            <a:r>
              <a:rPr lang="zh-CN" altLang="en-US" dirty="0"/>
              <a:t>伪代码示意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" name="文本占位符 1"/>
          <p:cNvSpPr txBox="1">
            <a:spLocks/>
          </p:cNvSpPr>
          <p:nvPr/>
        </p:nvSpPr>
        <p:spPr>
          <a:xfrm>
            <a:off x="98281" y="1102397"/>
            <a:ext cx="2013080" cy="1122774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/>
          <a:lstStyle>
            <a:lvl1pPr marL="514350" indent="-5143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20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20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3716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18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7145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16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17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1600" kern="12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/>
              <a:t>//</a:t>
            </a:r>
            <a:r>
              <a:rPr lang="en-US" altLang="zh-CN" dirty="0" err="1"/>
              <a:t>a.h</a:t>
            </a:r>
            <a:br>
              <a:rPr lang="en-US" altLang="zh-CN" dirty="0"/>
            </a:br>
            <a:r>
              <a:rPr lang="en-US" altLang="zh-CN" dirty="0"/>
              <a:t>extern </a:t>
            </a:r>
            <a:r>
              <a:rPr lang="en-US" altLang="zh-CN" dirty="0" err="1"/>
              <a:t>int</a:t>
            </a:r>
            <a:r>
              <a:rPr lang="en-US" altLang="zh-CN" dirty="0"/>
              <a:t> a;</a:t>
            </a:r>
          </a:p>
          <a:p>
            <a:pPr marL="0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f( );</a:t>
            </a:r>
            <a:endParaRPr lang="zh-CN" altLang="en-US" dirty="0"/>
          </a:p>
        </p:txBody>
      </p:sp>
      <p:sp>
        <p:nvSpPr>
          <p:cNvPr id="5" name="文本占位符 1"/>
          <p:cNvSpPr txBox="1">
            <a:spLocks/>
          </p:cNvSpPr>
          <p:nvPr/>
        </p:nvSpPr>
        <p:spPr>
          <a:xfrm>
            <a:off x="2468619" y="845546"/>
            <a:ext cx="2128687" cy="1904074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//a.cpp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#include “</a:t>
            </a:r>
            <a:r>
              <a:rPr lang="en-US" altLang="zh-CN" sz="2000" dirty="0" err="1">
                <a:solidFill>
                  <a:schemeClr val="bg2">
                    <a:lumMod val="25000"/>
                  </a:schemeClr>
                </a:solidFill>
              </a:rPr>
              <a:t>a.h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”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 err="1">
                <a:solidFill>
                  <a:schemeClr val="bg2">
                    <a:lumMod val="25000"/>
                  </a:schemeClr>
                </a:solidFill>
              </a:rPr>
              <a:t>int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 a = 20;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 err="1">
                <a:solidFill>
                  <a:schemeClr val="bg2">
                    <a:lumMod val="25000"/>
                  </a:schemeClr>
                </a:solidFill>
              </a:rPr>
              <a:t>int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 f( ) {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      return a+100;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}</a:t>
            </a:r>
            <a:endParaRPr lang="zh-CN" altLang="en-US" sz="2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文本占位符 1"/>
          <p:cNvSpPr txBox="1">
            <a:spLocks/>
          </p:cNvSpPr>
          <p:nvPr/>
        </p:nvSpPr>
        <p:spPr>
          <a:xfrm>
            <a:off x="6227639" y="1102397"/>
            <a:ext cx="1817511" cy="1122774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/>
          <a:lstStyle>
            <a:lvl1pPr marL="514350" indent="-5143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20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20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3716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18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7145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16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17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1600" kern="12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/>
              <a:t>//</a:t>
            </a:r>
            <a:r>
              <a:rPr lang="en-US" altLang="zh-CN" dirty="0" err="1"/>
              <a:t>b.h</a:t>
            </a:r>
            <a:br>
              <a:rPr lang="en-US" altLang="zh-CN" dirty="0"/>
            </a:br>
            <a:r>
              <a:rPr lang="en-US" altLang="zh-CN" dirty="0"/>
              <a:t>extern </a:t>
            </a:r>
            <a:r>
              <a:rPr lang="en-US" altLang="zh-CN" dirty="0" err="1"/>
              <a:t>int</a:t>
            </a:r>
            <a:r>
              <a:rPr lang="en-US" altLang="zh-CN" dirty="0"/>
              <a:t> b;</a:t>
            </a:r>
          </a:p>
          <a:p>
            <a:pPr marL="0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g(</a:t>
            </a:r>
            <a:r>
              <a:rPr lang="en-US" altLang="zh-CN" dirty="0" err="1"/>
              <a:t>int</a:t>
            </a:r>
            <a:r>
              <a:rPr lang="en-US" altLang="zh-CN" dirty="0"/>
              <a:t> n );</a:t>
            </a:r>
            <a:endParaRPr lang="zh-CN" altLang="en-US" dirty="0"/>
          </a:p>
        </p:txBody>
      </p:sp>
      <p:sp>
        <p:nvSpPr>
          <p:cNvPr id="7" name="文本占位符 1"/>
          <p:cNvSpPr txBox="1">
            <a:spLocks/>
          </p:cNvSpPr>
          <p:nvPr/>
        </p:nvSpPr>
        <p:spPr>
          <a:xfrm>
            <a:off x="8623152" y="735389"/>
            <a:ext cx="2437576" cy="1972725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//b.cpp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#include “</a:t>
            </a:r>
            <a:r>
              <a:rPr lang="en-US" altLang="zh-CN" sz="2000" dirty="0" err="1">
                <a:solidFill>
                  <a:schemeClr val="bg2">
                    <a:lumMod val="25000"/>
                  </a:schemeClr>
                </a:solidFill>
              </a:rPr>
              <a:t>a.h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”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#include “</a:t>
            </a:r>
            <a:r>
              <a:rPr lang="en-US" altLang="zh-CN" sz="2000" dirty="0" err="1">
                <a:solidFill>
                  <a:schemeClr val="bg2">
                    <a:lumMod val="25000"/>
                  </a:schemeClr>
                </a:solidFill>
              </a:rPr>
              <a:t>b.h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”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 err="1">
                <a:solidFill>
                  <a:schemeClr val="bg2">
                    <a:lumMod val="25000"/>
                  </a:schemeClr>
                </a:solidFill>
              </a:rPr>
              <a:t>int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 b = 100;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 err="1">
                <a:solidFill>
                  <a:schemeClr val="bg2">
                    <a:lumMod val="25000"/>
                  </a:schemeClr>
                </a:solidFill>
              </a:rPr>
              <a:t>int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 g( </a:t>
            </a:r>
            <a:r>
              <a:rPr lang="en-US" altLang="zh-CN" sz="2000" dirty="0" err="1">
                <a:solidFill>
                  <a:schemeClr val="bg2">
                    <a:lumMod val="25000"/>
                  </a:schemeClr>
                </a:solidFill>
              </a:rPr>
              <a:t>int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 n ) {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      return </a:t>
            </a:r>
            <a:r>
              <a:rPr lang="en-US" altLang="zh-CN" sz="2000" dirty="0" err="1">
                <a:solidFill>
                  <a:schemeClr val="bg2">
                    <a:lumMod val="25000"/>
                  </a:schemeClr>
                </a:solidFill>
              </a:rPr>
              <a:t>a+b+n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;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}</a:t>
            </a:r>
            <a:endParaRPr lang="zh-CN" altLang="en-US" sz="2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8" name="文本占位符 1"/>
          <p:cNvSpPr txBox="1">
            <a:spLocks/>
          </p:cNvSpPr>
          <p:nvPr/>
        </p:nvSpPr>
        <p:spPr>
          <a:xfrm>
            <a:off x="769364" y="2838016"/>
            <a:ext cx="3282442" cy="3586961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//a.obj 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</a:rPr>
              <a:t>伪代码示意</a:t>
            </a:r>
            <a:endParaRPr lang="en-US" altLang="zh-CN" sz="2000" dirty="0">
              <a:solidFill>
                <a:schemeClr val="bg2">
                  <a:lumMod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</a:rPr>
              <a:t>外部链接表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: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_a 06064EF0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_f  0A082D00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…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06064EF0: 20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…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0A082D00:   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       MOV AX,100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       ADD [_a]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       MOV EX, AX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       return </a:t>
            </a:r>
            <a:endParaRPr lang="zh-CN" altLang="en-US" sz="2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9" name="文本占位符 1"/>
          <p:cNvSpPr txBox="1">
            <a:spLocks/>
          </p:cNvSpPr>
          <p:nvPr/>
        </p:nvSpPr>
        <p:spPr>
          <a:xfrm>
            <a:off x="4870259" y="2592083"/>
            <a:ext cx="3685071" cy="3832894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//b.obj 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</a:rPr>
              <a:t>伪代码示意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</a:rPr>
              <a:t>外部链接表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: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_b 04E0F02D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_g 0C042A64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…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04E0F02D: 100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…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0C042A64: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       PUSH    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       MOV AX,[_a]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       ADD [_b]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       ADD [OFFSET0]   ;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</a:rPr>
              <a:t>读</a:t>
            </a:r>
            <a:r>
              <a:rPr lang="en-US" altLang="zh-CN" sz="2000" dirty="0" err="1">
                <a:solidFill>
                  <a:schemeClr val="bg2">
                    <a:lumMod val="25000"/>
                  </a:schemeClr>
                </a:solidFill>
              </a:rPr>
              <a:t>sp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</a:rPr>
              <a:t>寄存器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       MOV EX, AX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       return </a:t>
            </a:r>
            <a:endParaRPr lang="zh-CN" altLang="en-US" sz="2000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00346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头文件中的声明和定义</a:t>
            </a:r>
          </a:p>
        </p:txBody>
      </p:sp>
      <p:sp>
        <p:nvSpPr>
          <p:cNvPr id="3" name="内容占位符 3"/>
          <p:cNvSpPr txBox="1">
            <a:spLocks/>
          </p:cNvSpPr>
          <p:nvPr/>
        </p:nvSpPr>
        <p:spPr>
          <a:xfrm>
            <a:off x="755162" y="787721"/>
            <a:ext cx="2925556" cy="3544582"/>
          </a:xfrm>
          <a:prstGeom prst="rect">
            <a:avLst/>
          </a:prstGeom>
          <a:ln w="38100">
            <a:solidFill>
              <a:srgbClr val="FF6600"/>
            </a:solidFill>
          </a:ln>
        </p:spPr>
        <p:txBody>
          <a:bodyPr>
            <a:normAutofit fontScale="85000" lnSpcReduction="2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FEB80A"/>
              </a:buClr>
              <a:buNone/>
            </a:pPr>
            <a:r>
              <a:rPr lang="en-US" altLang="zh-CN" dirty="0">
                <a:ea typeface="宋体" panose="02010600030101010101" pitchFamily="2" charset="-122"/>
              </a:rPr>
              <a:t>//a.cpp</a:t>
            </a:r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#include “</a:t>
            </a:r>
            <a:r>
              <a:rPr lang="en-US" altLang="zh-CN" dirty="0" err="1">
                <a:solidFill>
                  <a:srgbClr val="0000FF"/>
                </a:solidFill>
                <a:ea typeface="宋体" panose="02010600030101010101" pitchFamily="2" charset="-122"/>
              </a:rPr>
              <a:t>a.h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”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int main( )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{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   count = 10;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   f( count );</a:t>
            </a:r>
            <a:endParaRPr lang="zh-CN" altLang="en-US" dirty="0">
              <a:ea typeface="宋体" panose="02010600030101010101" pitchFamily="2" charset="-122"/>
            </a:endParaRPr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 dirty="0">
                <a:ea typeface="宋体" panose="02010600030101010101" pitchFamily="2" charset="-122"/>
              </a:rPr>
              <a:t>}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内容占位符 3"/>
          <p:cNvSpPr txBox="1">
            <a:spLocks/>
          </p:cNvSpPr>
          <p:nvPr/>
        </p:nvSpPr>
        <p:spPr>
          <a:xfrm>
            <a:off x="3852778" y="787721"/>
            <a:ext cx="2783607" cy="2323154"/>
          </a:xfrm>
          <a:prstGeom prst="rect">
            <a:avLst/>
          </a:prstGeom>
          <a:ln w="38100">
            <a:solidFill>
              <a:srgbClr val="FF66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zh-CN" altLang="en-US" sz="2400" kern="1200" baseline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EB80A"/>
              </a:buClr>
            </a:pPr>
            <a:r>
              <a:rPr lang="en-US" altLang="zh-CN" sz="2800" dirty="0">
                <a:latin typeface="+mn-ea"/>
                <a:ea typeface="+mn-ea"/>
              </a:rPr>
              <a:t>//</a:t>
            </a:r>
            <a:r>
              <a:rPr lang="en-US" altLang="zh-CN" sz="2800" dirty="0" err="1">
                <a:latin typeface="+mn-ea"/>
                <a:ea typeface="+mn-ea"/>
              </a:rPr>
              <a:t>a.h</a:t>
            </a:r>
            <a:endParaRPr lang="en-US" altLang="zh-CN" sz="2800" dirty="0">
              <a:latin typeface="+mn-ea"/>
              <a:ea typeface="+mn-ea"/>
            </a:endParaRPr>
          </a:p>
          <a:p>
            <a:pPr>
              <a:buClr>
                <a:srgbClr val="FEB80A"/>
              </a:buClr>
            </a:pPr>
            <a:r>
              <a:rPr lang="en-US" altLang="zh-CN" sz="2800" dirty="0" err="1">
                <a:latin typeface="+mn-ea"/>
                <a:ea typeface="+mn-ea"/>
              </a:rPr>
              <a:t>int</a:t>
            </a:r>
            <a:r>
              <a:rPr lang="en-US" altLang="zh-CN" sz="2800" dirty="0">
                <a:latin typeface="+mn-ea"/>
                <a:ea typeface="+mn-ea"/>
              </a:rPr>
              <a:t> count =1;</a:t>
            </a:r>
          </a:p>
          <a:p>
            <a:pPr>
              <a:buClr>
                <a:srgbClr val="FEB80A"/>
              </a:buClr>
            </a:pPr>
            <a:r>
              <a:rPr lang="en-US" altLang="zh-CN" sz="2800" dirty="0" err="1">
                <a:latin typeface="+mn-ea"/>
                <a:ea typeface="+mn-ea"/>
              </a:rPr>
              <a:t>int</a:t>
            </a:r>
            <a:r>
              <a:rPr lang="en-US" altLang="zh-CN" sz="2800" dirty="0">
                <a:latin typeface="+mn-ea"/>
                <a:ea typeface="+mn-ea"/>
              </a:rPr>
              <a:t> f( </a:t>
            </a:r>
            <a:r>
              <a:rPr lang="en-US" altLang="zh-CN" sz="2800" dirty="0" err="1">
                <a:latin typeface="+mn-ea"/>
                <a:ea typeface="+mn-ea"/>
              </a:rPr>
              <a:t>int</a:t>
            </a:r>
            <a:r>
              <a:rPr lang="en-US" altLang="zh-CN" sz="2800" dirty="0">
                <a:latin typeface="+mn-ea"/>
                <a:ea typeface="+mn-ea"/>
              </a:rPr>
              <a:t> n) {</a:t>
            </a:r>
            <a:br>
              <a:rPr lang="en-US" altLang="zh-CN" sz="2800" dirty="0">
                <a:latin typeface="+mn-ea"/>
                <a:ea typeface="+mn-ea"/>
              </a:rPr>
            </a:br>
            <a:r>
              <a:rPr lang="en-US" altLang="zh-CN" sz="2800" dirty="0">
                <a:latin typeface="+mn-ea"/>
                <a:ea typeface="+mn-ea"/>
              </a:rPr>
              <a:t>    return 1;</a:t>
            </a:r>
            <a:br>
              <a:rPr lang="en-US" altLang="zh-CN" sz="2800" dirty="0">
                <a:latin typeface="+mn-ea"/>
                <a:ea typeface="+mn-ea"/>
              </a:rPr>
            </a:br>
            <a:r>
              <a:rPr lang="en-US" altLang="zh-CN" sz="2800" dirty="0">
                <a:latin typeface="+mn-ea"/>
                <a:ea typeface="+mn-ea"/>
              </a:rPr>
              <a:t>}</a:t>
            </a:r>
          </a:p>
        </p:txBody>
      </p:sp>
      <p:sp>
        <p:nvSpPr>
          <p:cNvPr id="5" name="内容占位符 3"/>
          <p:cNvSpPr txBox="1">
            <a:spLocks/>
          </p:cNvSpPr>
          <p:nvPr/>
        </p:nvSpPr>
        <p:spPr>
          <a:xfrm>
            <a:off x="7793963" y="808342"/>
            <a:ext cx="3783229" cy="2717321"/>
          </a:xfrm>
          <a:prstGeom prst="rect">
            <a:avLst/>
          </a:prstGeom>
          <a:ln w="38100">
            <a:solidFill>
              <a:srgbClr val="FF6600"/>
            </a:solidFill>
          </a:ln>
        </p:spPr>
        <p:txBody>
          <a:bodyPr>
            <a:norm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FEB80A"/>
              </a:buClr>
              <a:buNone/>
            </a:pPr>
            <a:r>
              <a:rPr lang="en-US" altLang="zh-CN" sz="2800" dirty="0">
                <a:latin typeface="+mn-ea"/>
              </a:rPr>
              <a:t>//b.cpp</a:t>
            </a:r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 sz="2800" dirty="0">
                <a:solidFill>
                  <a:srgbClr val="0000FF"/>
                </a:solidFill>
                <a:latin typeface="+mn-ea"/>
              </a:rPr>
              <a:t>#include “</a:t>
            </a:r>
            <a:r>
              <a:rPr lang="en-US" altLang="zh-CN" sz="2800" dirty="0" err="1">
                <a:solidFill>
                  <a:srgbClr val="0000FF"/>
                </a:solidFill>
                <a:latin typeface="+mn-ea"/>
              </a:rPr>
              <a:t>a.h</a:t>
            </a:r>
            <a:r>
              <a:rPr lang="en-US" altLang="zh-CN" sz="2800" dirty="0">
                <a:solidFill>
                  <a:srgbClr val="0000FF"/>
                </a:solidFill>
                <a:latin typeface="+mn-ea"/>
              </a:rPr>
              <a:t>”</a:t>
            </a:r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 sz="2800" dirty="0">
                <a:latin typeface="+mn-ea"/>
              </a:rPr>
              <a:t>void g( )  {</a:t>
            </a:r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 sz="2800" dirty="0">
                <a:latin typeface="+mn-ea"/>
              </a:rPr>
              <a:t>    </a:t>
            </a:r>
            <a:r>
              <a:rPr lang="en-US" altLang="zh-CN" sz="2800" dirty="0" err="1">
                <a:latin typeface="+mn-ea"/>
              </a:rPr>
              <a:t>int</a:t>
            </a:r>
            <a:r>
              <a:rPr lang="en-US" altLang="zh-CN" sz="2800" dirty="0">
                <a:latin typeface="+mn-ea"/>
              </a:rPr>
              <a:t> n = f(count);</a:t>
            </a:r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 sz="2800" dirty="0">
                <a:latin typeface="+mn-ea"/>
              </a:rPr>
              <a:t>}</a:t>
            </a:r>
            <a:endParaRPr lang="zh-CN" altLang="en-US" sz="2800" dirty="0">
              <a:latin typeface="+mn-ea"/>
            </a:endParaRPr>
          </a:p>
        </p:txBody>
      </p:sp>
      <p:sp>
        <p:nvSpPr>
          <p:cNvPr id="6" name="加号 5"/>
          <p:cNvSpPr/>
          <p:nvPr/>
        </p:nvSpPr>
        <p:spPr>
          <a:xfrm>
            <a:off x="6825946" y="1512114"/>
            <a:ext cx="914400" cy="874367"/>
          </a:xfrm>
          <a:prstGeom prst="mathPlus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形标注 6"/>
          <p:cNvSpPr/>
          <p:nvPr/>
        </p:nvSpPr>
        <p:spPr>
          <a:xfrm>
            <a:off x="10089882" y="266330"/>
            <a:ext cx="2102118" cy="1394691"/>
          </a:xfrm>
          <a:prstGeom prst="wedgeEllipseCallou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还能通过编译吗？</a:t>
            </a:r>
          </a:p>
        </p:txBody>
      </p:sp>
      <p:sp>
        <p:nvSpPr>
          <p:cNvPr id="8" name="内容占位符 3"/>
          <p:cNvSpPr txBox="1">
            <a:spLocks/>
          </p:cNvSpPr>
          <p:nvPr/>
        </p:nvSpPr>
        <p:spPr>
          <a:xfrm>
            <a:off x="3875212" y="3274298"/>
            <a:ext cx="2761173" cy="3181926"/>
          </a:xfrm>
          <a:prstGeom prst="rect">
            <a:avLst/>
          </a:prstGeom>
          <a:ln w="57150">
            <a:solidFill>
              <a:schemeClr val="accent4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zh-CN" altLang="en-US" sz="2400" kern="1200" baseline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EB80A"/>
              </a:buClr>
            </a:pPr>
            <a:r>
              <a:rPr lang="en-US" altLang="zh-CN" dirty="0">
                <a:ea typeface="宋体" panose="02010600030101010101" pitchFamily="2" charset="-122"/>
              </a:rPr>
              <a:t>//</a:t>
            </a:r>
            <a:r>
              <a:rPr lang="en-US" altLang="zh-CN" dirty="0" err="1">
                <a:ea typeface="宋体" panose="02010600030101010101" pitchFamily="2" charset="-122"/>
              </a:rPr>
              <a:t>a.h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buClr>
                <a:srgbClr val="FEB80A"/>
              </a:buClr>
            </a:pP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#</a:t>
            </a:r>
            <a:r>
              <a:rPr lang="en-US" altLang="zh-CN" dirty="0" err="1">
                <a:solidFill>
                  <a:srgbClr val="0000FF"/>
                </a:solidFill>
                <a:ea typeface="宋体" panose="02010600030101010101" pitchFamily="2" charset="-122"/>
              </a:rPr>
              <a:t>ifndef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 AH</a:t>
            </a:r>
            <a:b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#define AH</a:t>
            </a:r>
          </a:p>
          <a:p>
            <a:pPr>
              <a:buClr>
                <a:srgbClr val="FEB80A"/>
              </a:buClr>
            </a:pPr>
            <a:r>
              <a:rPr lang="en-US" altLang="zh-CN" dirty="0" err="1">
                <a:ea typeface="宋体" panose="02010600030101010101" pitchFamily="2" charset="-122"/>
              </a:rPr>
              <a:t>int</a:t>
            </a:r>
            <a:r>
              <a:rPr lang="en-US" altLang="zh-CN" dirty="0">
                <a:ea typeface="宋体" panose="02010600030101010101" pitchFamily="2" charset="-122"/>
              </a:rPr>
              <a:t> count =1;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 err="1">
                <a:ea typeface="宋体" panose="02010600030101010101" pitchFamily="2" charset="-122"/>
              </a:rPr>
              <a:t>int</a:t>
            </a:r>
            <a:r>
              <a:rPr lang="en-US" altLang="zh-CN" dirty="0">
                <a:ea typeface="宋体" panose="02010600030101010101" pitchFamily="2" charset="-122"/>
              </a:rPr>
              <a:t> f( </a:t>
            </a:r>
            <a:r>
              <a:rPr lang="en-US" altLang="zh-CN" dirty="0" err="1">
                <a:ea typeface="宋体" panose="02010600030101010101" pitchFamily="2" charset="-122"/>
              </a:rPr>
              <a:t>int</a:t>
            </a:r>
            <a:r>
              <a:rPr lang="en-US" altLang="zh-CN" dirty="0">
                <a:ea typeface="宋体" panose="02010600030101010101" pitchFamily="2" charset="-122"/>
              </a:rPr>
              <a:t> n) {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    return 1;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}</a:t>
            </a:r>
          </a:p>
          <a:p>
            <a:pPr>
              <a:buClr>
                <a:srgbClr val="FEB80A"/>
              </a:buClr>
            </a:pP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#</a:t>
            </a:r>
            <a:r>
              <a:rPr lang="en-US" altLang="zh-CN" dirty="0" err="1">
                <a:solidFill>
                  <a:srgbClr val="0000FF"/>
                </a:solidFill>
                <a:ea typeface="宋体" panose="02010600030101010101" pitchFamily="2" charset="-122"/>
              </a:rPr>
              <a:t>endif</a:t>
            </a:r>
            <a:endParaRPr lang="en-US" altLang="zh-CN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9" name="云形标注 8"/>
          <p:cNvSpPr/>
          <p:nvPr/>
        </p:nvSpPr>
        <p:spPr>
          <a:xfrm>
            <a:off x="7617529" y="4510035"/>
            <a:ext cx="3715089" cy="1902691"/>
          </a:xfrm>
          <a:prstGeom prst="cloudCallout">
            <a:avLst>
              <a:gd name="adj1" fmla="val -71859"/>
              <a:gd name="adj2" fmla="val 22209"/>
            </a:avLst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添加包含警戒能解决吗？</a:t>
            </a:r>
          </a:p>
        </p:txBody>
      </p:sp>
    </p:spTree>
    <p:extLst>
      <p:ext uri="{BB962C8B-B14F-4D97-AF65-F5344CB8AC3E}">
        <p14:creationId xmlns:p14="http://schemas.microsoft.com/office/powerpoint/2010/main" val="2686588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5508278" cy="498717"/>
          </a:xfrm>
        </p:spPr>
        <p:txBody>
          <a:bodyPr/>
          <a:lstStyle/>
          <a:p>
            <a:r>
              <a:rPr lang="zh-CN" altLang="en-US" dirty="0"/>
              <a:t>头文件中的声明和定义（续）</a:t>
            </a:r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7435272" y="4369626"/>
            <a:ext cx="4165601" cy="2049647"/>
          </a:xfrm>
          <a:prstGeom prst="rect">
            <a:avLst/>
          </a:prstGeom>
          <a:ln w="28575">
            <a:solidFill>
              <a:srgbClr val="FF6600"/>
            </a:solidFill>
          </a:ln>
        </p:spPr>
        <p:txBody>
          <a:bodyPr>
            <a:normAutofit fontScale="62500" lnSpcReduction="2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0000FF"/>
                </a:solidFill>
              </a:rPr>
              <a:t>结论：</a:t>
            </a:r>
            <a:endParaRPr lang="en-US" altLang="zh-CN" b="1" dirty="0">
              <a:solidFill>
                <a:srgbClr val="0000FF"/>
              </a:solidFill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zh-CN" altLang="en-US" b="1" dirty="0">
                <a:solidFill>
                  <a:srgbClr val="FF0000"/>
                </a:solidFill>
              </a:rPr>
              <a:t>头文件中可放声明，以及类定义，但不应放变量定义和函数定义</a:t>
            </a:r>
            <a:endParaRPr lang="en-US" altLang="zh-CN" b="1" dirty="0">
              <a:solidFill>
                <a:srgbClr val="FF0000"/>
              </a:solidFill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zh-CN" altLang="en-US" b="1" dirty="0">
                <a:solidFill>
                  <a:srgbClr val="FF0000"/>
                </a:solidFill>
              </a:rPr>
              <a:t>函数定义及变量定义，只能在整个工程中定义一次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  <p:sp>
        <p:nvSpPr>
          <p:cNvPr id="4" name="内容占位符 3"/>
          <p:cNvSpPr txBox="1">
            <a:spLocks/>
          </p:cNvSpPr>
          <p:nvPr/>
        </p:nvSpPr>
        <p:spPr>
          <a:xfrm>
            <a:off x="7435273" y="803565"/>
            <a:ext cx="4165600" cy="3011055"/>
          </a:xfrm>
          <a:prstGeom prst="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txBody>
          <a:bodyPr>
            <a:normAutofit fontScale="92500" lnSpcReduction="1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FEB80A"/>
              </a:buClr>
              <a:buNone/>
            </a:pPr>
            <a:r>
              <a:rPr lang="en-US" altLang="zh-CN"/>
              <a:t>//b.cpp</a:t>
            </a:r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>
                <a:solidFill>
                  <a:srgbClr val="0000FF"/>
                </a:solidFill>
              </a:rPr>
              <a:t>#include “a.h”</a:t>
            </a:r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/>
              <a:t>void g( )  {</a:t>
            </a:r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/>
              <a:t>    int n = f(count);</a:t>
            </a:r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/>
              <a:t>}</a:t>
            </a:r>
            <a:endParaRPr lang="zh-CN" altLang="en-US" dirty="0"/>
          </a:p>
        </p:txBody>
      </p:sp>
      <p:sp>
        <p:nvSpPr>
          <p:cNvPr id="5" name="内容占位符 3"/>
          <p:cNvSpPr txBox="1">
            <a:spLocks/>
          </p:cNvSpPr>
          <p:nvPr/>
        </p:nvSpPr>
        <p:spPr>
          <a:xfrm>
            <a:off x="565758" y="803565"/>
            <a:ext cx="2925556" cy="3796144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>
            <a:normAutofit fontScale="62500" lnSpcReduction="2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FEB80A"/>
              </a:buClr>
              <a:buNone/>
            </a:pPr>
            <a:r>
              <a:rPr lang="en-US" altLang="zh-CN" dirty="0">
                <a:ea typeface="宋体" panose="02010600030101010101" pitchFamily="2" charset="-122"/>
              </a:rPr>
              <a:t>//a.cpp</a:t>
            </a:r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#include “</a:t>
            </a:r>
            <a:r>
              <a:rPr lang="en-US" altLang="zh-CN" dirty="0" err="1">
                <a:solidFill>
                  <a:srgbClr val="0000FF"/>
                </a:solidFill>
                <a:ea typeface="宋体" panose="02010600030101010101" pitchFamily="2" charset="-122"/>
              </a:rPr>
              <a:t>a.h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”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void main( )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{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   count = 10;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   f( count );</a:t>
            </a:r>
            <a:endParaRPr lang="zh-CN" altLang="en-US" dirty="0">
              <a:ea typeface="宋体" panose="02010600030101010101" pitchFamily="2" charset="-122"/>
            </a:endParaRPr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 dirty="0">
                <a:ea typeface="宋体" panose="02010600030101010101" pitchFamily="2" charset="-122"/>
              </a:rPr>
              <a:t>}</a:t>
            </a:r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 dirty="0" err="1">
                <a:solidFill>
                  <a:srgbClr val="0000FF"/>
                </a:solidFill>
                <a:ea typeface="宋体" panose="02010600030101010101" pitchFamily="2" charset="-122"/>
              </a:rPr>
              <a:t>int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 count =1;</a:t>
            </a:r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 dirty="0" err="1">
                <a:solidFill>
                  <a:srgbClr val="0000FF"/>
                </a:solidFill>
                <a:ea typeface="宋体" panose="02010600030101010101" pitchFamily="2" charset="-122"/>
              </a:rPr>
              <a:t>int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 f( </a:t>
            </a:r>
            <a:r>
              <a:rPr lang="en-US" altLang="zh-CN" dirty="0" err="1">
                <a:solidFill>
                  <a:srgbClr val="0000FF"/>
                </a:solidFill>
                <a:ea typeface="宋体" panose="02010600030101010101" pitchFamily="2" charset="-122"/>
              </a:rPr>
              <a:t>int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 n) {</a:t>
            </a:r>
            <a:b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    return 1;</a:t>
            </a:r>
            <a:b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}</a:t>
            </a:r>
          </a:p>
          <a:p>
            <a:pPr marL="0" indent="0">
              <a:buClr>
                <a:srgbClr val="FEB80A"/>
              </a:buClr>
              <a:buNone/>
            </a:pPr>
            <a:endParaRPr lang="zh-CN" altLang="en-US" dirty="0"/>
          </a:p>
        </p:txBody>
      </p:sp>
      <p:sp>
        <p:nvSpPr>
          <p:cNvPr id="6" name="内容占位符 3"/>
          <p:cNvSpPr txBox="1">
            <a:spLocks/>
          </p:cNvSpPr>
          <p:nvPr/>
        </p:nvSpPr>
        <p:spPr>
          <a:xfrm>
            <a:off x="4188673" y="803565"/>
            <a:ext cx="2549237" cy="3181926"/>
          </a:xfrm>
          <a:prstGeom prst="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zh-CN" altLang="en-US" sz="2400" kern="1200" baseline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EB80A"/>
              </a:buClr>
            </a:pPr>
            <a:r>
              <a:rPr lang="en-US" altLang="zh-CN" dirty="0">
                <a:ea typeface="宋体" panose="02010600030101010101" pitchFamily="2" charset="-122"/>
              </a:rPr>
              <a:t>//</a:t>
            </a:r>
            <a:r>
              <a:rPr lang="en-US" altLang="zh-CN" dirty="0" err="1">
                <a:ea typeface="宋体" panose="02010600030101010101" pitchFamily="2" charset="-122"/>
              </a:rPr>
              <a:t>a.h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buClr>
                <a:srgbClr val="FEB80A"/>
              </a:buClr>
            </a:pP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#</a:t>
            </a:r>
            <a:r>
              <a:rPr lang="en-US" altLang="zh-CN" dirty="0" err="1">
                <a:solidFill>
                  <a:srgbClr val="0000FF"/>
                </a:solidFill>
                <a:ea typeface="宋体" panose="02010600030101010101" pitchFamily="2" charset="-122"/>
              </a:rPr>
              <a:t>ifndef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 AH</a:t>
            </a:r>
            <a:b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#define AH</a:t>
            </a:r>
          </a:p>
          <a:p>
            <a:pPr>
              <a:buClr>
                <a:srgbClr val="FEB80A"/>
              </a:buClr>
            </a:pPr>
            <a:r>
              <a:rPr lang="en-US" altLang="zh-CN" dirty="0">
                <a:solidFill>
                  <a:srgbClr val="CC00FF"/>
                </a:solidFill>
                <a:ea typeface="宋体" panose="02010600030101010101" pitchFamily="2" charset="-122"/>
              </a:rPr>
              <a:t>extern </a:t>
            </a:r>
            <a:r>
              <a:rPr lang="en-US" altLang="zh-CN" dirty="0" err="1">
                <a:solidFill>
                  <a:srgbClr val="CC00FF"/>
                </a:solidFill>
                <a:ea typeface="宋体" panose="02010600030101010101" pitchFamily="2" charset="-122"/>
              </a:rPr>
              <a:t>int</a:t>
            </a:r>
            <a:r>
              <a:rPr lang="en-US" altLang="zh-CN" dirty="0">
                <a:solidFill>
                  <a:srgbClr val="CC00FF"/>
                </a:solidFill>
                <a:ea typeface="宋体" panose="02010600030101010101" pitchFamily="2" charset="-122"/>
              </a:rPr>
              <a:t> count; </a:t>
            </a:r>
          </a:p>
          <a:p>
            <a:pPr>
              <a:buClr>
                <a:srgbClr val="FEB80A"/>
              </a:buClr>
            </a:pPr>
            <a:r>
              <a:rPr lang="en-US" altLang="zh-CN" dirty="0" err="1">
                <a:solidFill>
                  <a:srgbClr val="CC00FF"/>
                </a:solidFill>
                <a:ea typeface="宋体" panose="02010600030101010101" pitchFamily="2" charset="-122"/>
              </a:rPr>
              <a:t>int</a:t>
            </a:r>
            <a:r>
              <a:rPr lang="en-US" altLang="zh-CN" dirty="0">
                <a:solidFill>
                  <a:srgbClr val="CC00FF"/>
                </a:solidFill>
                <a:ea typeface="宋体" panose="02010600030101010101" pitchFamily="2" charset="-122"/>
              </a:rPr>
              <a:t> f( </a:t>
            </a:r>
            <a:r>
              <a:rPr lang="en-US" altLang="zh-CN" dirty="0" err="1">
                <a:solidFill>
                  <a:srgbClr val="CC00FF"/>
                </a:solidFill>
                <a:ea typeface="宋体" panose="02010600030101010101" pitchFamily="2" charset="-122"/>
              </a:rPr>
              <a:t>int</a:t>
            </a:r>
            <a:r>
              <a:rPr lang="en-US" altLang="zh-CN" dirty="0">
                <a:solidFill>
                  <a:srgbClr val="CC00FF"/>
                </a:solidFill>
                <a:ea typeface="宋体" panose="02010600030101010101" pitchFamily="2" charset="-122"/>
              </a:rPr>
              <a:t> n);</a:t>
            </a:r>
          </a:p>
          <a:p>
            <a:pPr>
              <a:buClr>
                <a:srgbClr val="FEB80A"/>
              </a:buClr>
            </a:pP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#</a:t>
            </a:r>
            <a:r>
              <a:rPr lang="en-US" altLang="zh-CN" dirty="0" err="1">
                <a:solidFill>
                  <a:srgbClr val="0000FF"/>
                </a:solidFill>
                <a:ea typeface="宋体" panose="02010600030101010101" pitchFamily="2" charset="-122"/>
              </a:rPr>
              <a:t>endif</a:t>
            </a:r>
            <a:endParaRPr lang="en-US" altLang="zh-CN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7" name="圆角矩形标注 6"/>
          <p:cNvSpPr/>
          <p:nvPr/>
        </p:nvSpPr>
        <p:spPr>
          <a:xfrm>
            <a:off x="565759" y="4731579"/>
            <a:ext cx="3121891" cy="1013439"/>
          </a:xfrm>
          <a:prstGeom prst="wedgeRoundRectCallout">
            <a:avLst>
              <a:gd name="adj1" fmla="val -25271"/>
              <a:gd name="adj2" fmla="val -132983"/>
              <a:gd name="adj3" fmla="val 16667"/>
            </a:avLst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的定义，可放在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a.cpp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中，也可放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b.cpp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中，但只能选择其中一个</a:t>
            </a:r>
          </a:p>
        </p:txBody>
      </p:sp>
      <p:sp>
        <p:nvSpPr>
          <p:cNvPr id="8" name="圆角矩形标注 7"/>
          <p:cNvSpPr/>
          <p:nvPr/>
        </p:nvSpPr>
        <p:spPr>
          <a:xfrm>
            <a:off x="3902347" y="4249140"/>
            <a:ext cx="3121891" cy="1145309"/>
          </a:xfrm>
          <a:prstGeom prst="wedgeRoundRectCallout">
            <a:avLst>
              <a:gd name="adj1" fmla="val -89768"/>
              <a:gd name="adj2" fmla="val -135403"/>
              <a:gd name="adj3" fmla="val 16667"/>
            </a:avLst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count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的定义可放在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a.cpp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中，也可放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b.cpp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中，但只能选择其中一种</a:t>
            </a:r>
          </a:p>
        </p:txBody>
      </p:sp>
      <p:sp>
        <p:nvSpPr>
          <p:cNvPr id="9" name="流程图: 可选过程 8"/>
          <p:cNvSpPr/>
          <p:nvPr/>
        </p:nvSpPr>
        <p:spPr>
          <a:xfrm>
            <a:off x="637309" y="5876888"/>
            <a:ext cx="6386929" cy="542385"/>
          </a:xfrm>
          <a:prstGeom prst="flowChartAlternateProcess">
            <a:avLst/>
          </a:prstGeom>
          <a:solidFill>
            <a:schemeClr val="bg1"/>
          </a:solidFill>
          <a:ln w="28575"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注：本例中，头文件为</a:t>
            </a:r>
            <a:r>
              <a:rPr lang="en-US" altLang="zh-CN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a.h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，表示的是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a.cpp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文件对外提供的功能，所以从规范上讲，两个定义放入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a.cpp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最好。</a:t>
            </a:r>
          </a:p>
        </p:txBody>
      </p:sp>
    </p:spTree>
    <p:extLst>
      <p:ext uri="{BB962C8B-B14F-4D97-AF65-F5344CB8AC3E}">
        <p14:creationId xmlns:p14="http://schemas.microsoft.com/office/powerpoint/2010/main" val="538630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8" grpId="0" animBg="1"/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变量的定义和初始化</a:t>
            </a:r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1151865" y="737239"/>
            <a:ext cx="10716862" cy="1756579"/>
          </a:xfrm>
          <a:prstGeom prst="rect">
            <a:avLst/>
          </a:prstGeom>
          <a:ln w="38100">
            <a:solidFill>
              <a:srgbClr val="FF6600"/>
            </a:solidFill>
          </a:ln>
        </p:spPr>
        <p:txBody>
          <a:bodyPr>
            <a:normAutofit fontScale="77500" lnSpcReduction="2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/>
              <a:t>变量的声明： </a:t>
            </a:r>
            <a:r>
              <a:rPr lang="en-US" altLang="zh-CN"/>
              <a:t>extern int  a;  </a:t>
            </a:r>
          </a:p>
          <a:p>
            <a:pPr marL="0" indent="0">
              <a:buNone/>
            </a:pPr>
            <a:r>
              <a:rPr lang="zh-CN" altLang="en-US"/>
              <a:t>变量的定义</a:t>
            </a:r>
            <a:r>
              <a:rPr lang="en-US" altLang="zh-CN"/>
              <a:t>: </a:t>
            </a:r>
            <a:br>
              <a:rPr lang="en-US" altLang="zh-CN"/>
            </a:br>
            <a:r>
              <a:rPr lang="en-US" altLang="zh-CN"/>
              <a:t>C++98: </a:t>
            </a:r>
            <a:r>
              <a:rPr lang="zh-CN" altLang="en-US"/>
              <a:t>格式：  </a:t>
            </a:r>
            <a:r>
              <a:rPr lang="en-US" altLang="zh-CN"/>
              <a:t>[&lt;</a:t>
            </a:r>
            <a:r>
              <a:rPr lang="zh-CN" altLang="en-US"/>
              <a:t>存储类</a:t>
            </a:r>
            <a:r>
              <a:rPr lang="en-US" altLang="zh-CN"/>
              <a:t>&gt;]&lt;</a:t>
            </a:r>
            <a:r>
              <a:rPr lang="zh-CN" altLang="en-US"/>
              <a:t>类型</a:t>
            </a:r>
            <a:r>
              <a:rPr lang="en-US" altLang="zh-CN"/>
              <a:t>&gt;&lt;</a:t>
            </a:r>
            <a:r>
              <a:rPr lang="zh-CN" altLang="en-US"/>
              <a:t>变量名表</a:t>
            </a:r>
            <a:r>
              <a:rPr lang="en-US" altLang="zh-CN"/>
              <a:t>&gt;[=</a:t>
            </a:r>
            <a:r>
              <a:rPr lang="zh-CN" altLang="en-US"/>
              <a:t>初始化表</a:t>
            </a:r>
            <a:r>
              <a:rPr lang="en-US" altLang="zh-CN"/>
              <a:t>];</a:t>
            </a:r>
            <a:br>
              <a:rPr lang="en-US" altLang="zh-CN" sz="3200"/>
            </a:br>
            <a:r>
              <a:rPr lang="en-US" altLang="zh-CN"/>
              <a:t>C++11: </a:t>
            </a:r>
            <a:r>
              <a:rPr lang="zh-CN" altLang="en-US"/>
              <a:t>新增：  </a:t>
            </a:r>
            <a:r>
              <a:rPr lang="en-US" altLang="zh-CN"/>
              <a:t>[&lt;</a:t>
            </a:r>
            <a:r>
              <a:rPr lang="zh-CN" altLang="en-US"/>
              <a:t>存储类</a:t>
            </a:r>
            <a:r>
              <a:rPr lang="en-US" altLang="zh-CN"/>
              <a:t>&gt;]&lt;</a:t>
            </a:r>
            <a:r>
              <a:rPr lang="zh-CN" altLang="en-US"/>
              <a:t>类型</a:t>
            </a:r>
            <a:r>
              <a:rPr lang="en-US" altLang="zh-CN"/>
              <a:t>&gt;&lt;</a:t>
            </a:r>
            <a:r>
              <a:rPr lang="zh-CN" altLang="en-US"/>
              <a:t>变量名表</a:t>
            </a:r>
            <a:r>
              <a:rPr lang="en-US" altLang="zh-CN"/>
              <a:t>&gt;[{</a:t>
            </a:r>
            <a:r>
              <a:rPr lang="zh-CN" altLang="en-US"/>
              <a:t>初始化表</a:t>
            </a:r>
            <a:r>
              <a:rPr lang="en-US" altLang="zh-CN"/>
              <a:t>}];</a:t>
            </a:r>
            <a:endParaRPr lang="en-US" altLang="zh-CN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151865" y="2661350"/>
            <a:ext cx="10716862" cy="2134595"/>
          </a:xfrm>
          <a:prstGeom prst="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txBody>
          <a:bodyPr>
            <a:no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700"/>
              </a:spcBef>
              <a:buClr>
                <a:srgbClr val="FEB80A"/>
              </a:buClr>
              <a:buSzPct val="60000"/>
              <a:buNone/>
            </a:pPr>
            <a:r>
              <a:rPr lang="en-US" altLang="zh-CN" sz="2400" dirty="0">
                <a:latin typeface="+mn-ea"/>
              </a:rPr>
              <a:t>//C++98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400" dirty="0" err="1">
                <a:latin typeface="+mn-ea"/>
              </a:rPr>
              <a:t>int</a:t>
            </a:r>
            <a:r>
              <a:rPr lang="en-US" altLang="zh-CN" sz="2400" dirty="0">
                <a:latin typeface="+mn-ea"/>
              </a:rPr>
              <a:t> state=1,age,weight=10,val=weight;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400" dirty="0">
                <a:latin typeface="+mn-ea"/>
              </a:rPr>
              <a:t>static long count;   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函数外的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static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变量，其中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static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表示文件</a:t>
            </a:r>
            <a:br>
              <a:rPr lang="zh-CN" altLang="en-US" sz="2400" dirty="0">
                <a:solidFill>
                  <a:srgbClr val="FF0000"/>
                </a:solidFill>
                <a:latin typeface="+mn-ea"/>
              </a:rPr>
            </a:b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                         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// 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级变量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,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只在本文件中有效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(C++1z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应使用匿名名字空间取代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)</a:t>
            </a:r>
            <a:endParaRPr lang="zh-CN" altLang="en-US" sz="2400" dirty="0">
              <a:solidFill>
                <a:srgbClr val="FF0000"/>
              </a:solidFill>
              <a:latin typeface="+mn-ea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auto  float  r=0.5; //auto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表示自动变量，其含义与</a:t>
            </a:r>
            <a:r>
              <a:rPr lang="en-US" altLang="zh-CN" sz="2400" dirty="0" err="1">
                <a:solidFill>
                  <a:srgbClr val="FF0000"/>
                </a:solidFill>
                <a:latin typeface="+mn-ea"/>
              </a:rPr>
              <a:t>c++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1z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不同</a:t>
            </a:r>
          </a:p>
        </p:txBody>
      </p:sp>
      <p:sp>
        <p:nvSpPr>
          <p:cNvPr id="5" name="内容占位符 3"/>
          <p:cNvSpPr txBox="1">
            <a:spLocks/>
          </p:cNvSpPr>
          <p:nvPr/>
        </p:nvSpPr>
        <p:spPr>
          <a:xfrm>
            <a:off x="1165086" y="4939110"/>
            <a:ext cx="10703641" cy="1626077"/>
          </a:xfrm>
          <a:prstGeom prst="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txBody>
          <a:bodyPr>
            <a:no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dirty="0">
                <a:latin typeface="+mn-ea"/>
              </a:rPr>
              <a:t>//</a:t>
            </a:r>
            <a:r>
              <a:rPr lang="en-US" altLang="zh-CN" sz="2400" dirty="0" err="1">
                <a:latin typeface="+mn-ea"/>
              </a:rPr>
              <a:t>c++</a:t>
            </a:r>
            <a:r>
              <a:rPr lang="en-US" altLang="zh-CN" sz="2400" dirty="0">
                <a:latin typeface="+mn-ea"/>
              </a:rPr>
              <a:t>1z</a:t>
            </a:r>
            <a:br>
              <a:rPr lang="en-US" altLang="zh-CN" sz="2400" dirty="0">
                <a:latin typeface="+mn-ea"/>
              </a:rPr>
            </a:br>
            <a:r>
              <a:rPr lang="en-US" altLang="zh-CN" sz="2400" dirty="0" err="1">
                <a:latin typeface="+mn-ea"/>
              </a:rPr>
              <a:t>int</a:t>
            </a:r>
            <a:r>
              <a:rPr lang="en-US" altLang="zh-CN" sz="2400" dirty="0">
                <a:latin typeface="+mn-ea"/>
              </a:rPr>
              <a:t> state=1,age,weight=10,val=weight,</a:t>
            </a:r>
            <a:r>
              <a:rPr lang="en-US" altLang="zh-CN" sz="2400" dirty="0">
                <a:solidFill>
                  <a:srgbClr val="0070C0"/>
                </a:solidFill>
                <a:latin typeface="+mn-ea"/>
              </a:rPr>
              <a:t>val2{weight}</a:t>
            </a:r>
            <a:r>
              <a:rPr lang="en-US" altLang="zh-CN" sz="2400" dirty="0">
                <a:latin typeface="+mn-ea"/>
              </a:rPr>
              <a:t>;</a:t>
            </a:r>
            <a:br>
              <a:rPr lang="en-US" altLang="zh-CN" sz="2400" dirty="0">
                <a:latin typeface="+mn-ea"/>
              </a:rPr>
            </a:br>
            <a:r>
              <a:rPr lang="en-US" altLang="zh-CN" sz="2400" dirty="0">
                <a:latin typeface="+mn-ea"/>
              </a:rPr>
              <a:t>float r =0.5;</a:t>
            </a:r>
            <a:br>
              <a:rPr lang="en-US" altLang="zh-CN" sz="2400" dirty="0">
                <a:latin typeface="+mn-ea"/>
              </a:rPr>
            </a:b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auto val3=r;   //auto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表示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val3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的类型为自动推导类型</a:t>
            </a:r>
            <a:endParaRPr lang="en-US" altLang="zh-CN" sz="2400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487787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5248622" cy="498717"/>
          </a:xfrm>
        </p:spPr>
        <p:txBody>
          <a:bodyPr/>
          <a:lstStyle/>
          <a:p>
            <a:r>
              <a:rPr lang="zh-CN" altLang="en-US" dirty="0"/>
              <a:t>存储空间</a:t>
            </a:r>
            <a:r>
              <a:rPr lang="en-US" altLang="zh-CN" dirty="0"/>
              <a:t>(storage duration)</a:t>
            </a:r>
            <a:endParaRPr lang="zh-CN" altLang="en-US" dirty="0"/>
          </a:p>
        </p:txBody>
      </p:sp>
      <p:sp>
        <p:nvSpPr>
          <p:cNvPr id="3" name="Oval 3"/>
          <p:cNvSpPr>
            <a:spLocks noChangeArrowheads="1"/>
          </p:cNvSpPr>
          <p:nvPr/>
        </p:nvSpPr>
        <p:spPr bwMode="gray">
          <a:xfrm>
            <a:off x="64210" y="1546602"/>
            <a:ext cx="2588916" cy="3200400"/>
          </a:xfrm>
          <a:prstGeom prst="ellipse">
            <a:avLst/>
          </a:prstGeom>
          <a:gradFill rotWithShape="1">
            <a:gsLst>
              <a:gs pos="0">
                <a:schemeClr val="accent2">
                  <a:gamma/>
                  <a:tint val="56471"/>
                  <a:invGamma/>
                </a:schemeClr>
              </a:gs>
              <a:gs pos="100000">
                <a:schemeClr val="accent2"/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FFFFFF"/>
            </a:solidFill>
            <a:round/>
          </a:ln>
          <a:effectLst/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gray">
          <a:xfrm>
            <a:off x="1028468" y="1612911"/>
            <a:ext cx="3781425" cy="500063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5882"/>
                  <a:invGamma/>
                </a:schemeClr>
              </a:gs>
            </a:gsLst>
            <a:lin ang="0" scaled="1"/>
          </a:gradFill>
          <a:ln w="38100" algn="ctr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hangingPunct="0">
              <a:defRPr/>
            </a:pPr>
            <a:r>
              <a:rPr lang="zh-CN" altLang="en-US" sz="2800" b="1" dirty="0"/>
              <a:t>代码区</a:t>
            </a:r>
            <a:endParaRPr lang="en-US" altLang="zh-CN" sz="2800" b="1" dirty="0"/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gray">
          <a:xfrm>
            <a:off x="1358668" y="2274899"/>
            <a:ext cx="3781425" cy="49847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tx2"/>
              </a:gs>
              <a:gs pos="100000">
                <a:schemeClr val="tx2">
                  <a:gamma/>
                  <a:tint val="5882"/>
                  <a:invGamma/>
                </a:schemeClr>
              </a:gs>
            </a:gsLst>
            <a:lin ang="0" scaled="1"/>
          </a:gradFill>
          <a:ln w="38100" algn="ctr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hangingPunct="0">
              <a:defRPr/>
            </a:pPr>
            <a:r>
              <a:rPr lang="zh-CN" altLang="en-US" sz="2800" b="1" dirty="0"/>
              <a:t>常量数据区</a:t>
            </a:r>
            <a:endParaRPr lang="en-US" altLang="zh-CN" sz="2800" b="1" dirty="0"/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gray">
          <a:xfrm>
            <a:off x="1667560" y="2935299"/>
            <a:ext cx="3779837" cy="50006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5882"/>
                  <a:invGamma/>
                </a:schemeClr>
              </a:gs>
            </a:gsLst>
            <a:lin ang="0" scaled="1"/>
          </a:gradFill>
          <a:ln w="38100" algn="ctr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hangingPunct="0">
              <a:defRPr/>
            </a:pPr>
            <a:r>
              <a:rPr lang="zh-CN" altLang="en-US" sz="2800" b="1" dirty="0"/>
              <a:t>变量数据区</a:t>
            </a:r>
            <a:endParaRPr lang="en-US" altLang="zh-CN" sz="2800" b="1" dirty="0"/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gray">
          <a:xfrm>
            <a:off x="1358668" y="3595699"/>
            <a:ext cx="3781425" cy="50006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tx2"/>
              </a:gs>
              <a:gs pos="100000">
                <a:schemeClr val="tx2">
                  <a:gamma/>
                  <a:tint val="5882"/>
                  <a:invGamma/>
                </a:schemeClr>
              </a:gs>
            </a:gsLst>
            <a:lin ang="0" scaled="1"/>
          </a:gradFill>
          <a:ln w="38100" algn="ctr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hangingPunct="0">
              <a:defRPr/>
            </a:pPr>
            <a:r>
              <a:rPr lang="zh-CN" altLang="en-US" sz="2800" b="1" dirty="0"/>
              <a:t>栈区</a:t>
            </a:r>
            <a:endParaRPr lang="en-US" altLang="zh-CN" sz="2800" b="1" dirty="0"/>
          </a:p>
        </p:txBody>
      </p:sp>
      <p:sp>
        <p:nvSpPr>
          <p:cNvPr id="8" name="AutoShape 8"/>
          <p:cNvSpPr>
            <a:spLocks noChangeArrowheads="1"/>
          </p:cNvSpPr>
          <p:nvPr/>
        </p:nvSpPr>
        <p:spPr bwMode="gray">
          <a:xfrm>
            <a:off x="1163531" y="4246939"/>
            <a:ext cx="3781425" cy="500063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5882"/>
                  <a:invGamma/>
                </a:schemeClr>
              </a:gs>
            </a:gsLst>
            <a:lin ang="0" scaled="1"/>
          </a:gradFill>
          <a:ln w="38100" algn="ctr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algn="ctr" eaLnBrk="0" hangingPunct="0"/>
            <a:r>
              <a:rPr lang="zh-CN" altLang="en-US" sz="2800" b="1" dirty="0"/>
              <a:t>堆区</a:t>
            </a:r>
            <a:endParaRPr lang="en-US" altLang="zh-CN" sz="2800" b="1" dirty="0"/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gray">
          <a:xfrm>
            <a:off x="430109" y="2841981"/>
            <a:ext cx="1005404" cy="584775"/>
          </a:xfrm>
          <a:prstGeom prst="rect">
            <a:avLst/>
          </a:prstGeom>
          <a:noFill/>
          <a:ln w="9525" algn="ctr">
            <a:noFill/>
            <a:miter lim="800000"/>
          </a:ln>
          <a:effectLst>
            <a:outerShdw dist="35921" dir="2700000" algn="ctr" rotWithShape="0">
              <a:srgbClr val="000000"/>
            </a:outerShdw>
          </a:effec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hangingPunct="0">
              <a:defRPr/>
            </a:pPr>
            <a:r>
              <a:rPr lang="zh-CN" altLang="en-US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程序</a:t>
            </a:r>
            <a:endParaRPr lang="en-US" altLang="zh-CN" sz="32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0" name="右大括号 9"/>
          <p:cNvSpPr/>
          <p:nvPr/>
        </p:nvSpPr>
        <p:spPr>
          <a:xfrm>
            <a:off x="5349278" y="1612911"/>
            <a:ext cx="424873" cy="1542472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679478" y="2199481"/>
            <a:ext cx="932873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程序区</a:t>
            </a:r>
          </a:p>
        </p:txBody>
      </p:sp>
      <p:sp>
        <p:nvSpPr>
          <p:cNvPr id="12" name="内容占位符 3"/>
          <p:cNvSpPr txBox="1">
            <a:spLocks/>
          </p:cNvSpPr>
          <p:nvPr/>
        </p:nvSpPr>
        <p:spPr>
          <a:xfrm>
            <a:off x="6612351" y="878619"/>
            <a:ext cx="5422631" cy="5466763"/>
          </a:xfrm>
          <a:prstGeom prst="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FEB80A"/>
              </a:buClr>
              <a:buNone/>
            </a:pPr>
            <a:r>
              <a:rPr lang="en-US" altLang="zh-CN" dirty="0" err="1">
                <a:solidFill>
                  <a:srgbClr val="0000FF"/>
                </a:solidFill>
              </a:rPr>
              <a:t>int</a:t>
            </a:r>
            <a:r>
              <a:rPr lang="en-US" altLang="zh-CN" dirty="0">
                <a:solidFill>
                  <a:srgbClr val="0000FF"/>
                </a:solidFill>
              </a:rPr>
              <a:t> n</a:t>
            </a:r>
            <a:r>
              <a:rPr lang="en-US" altLang="zh-CN" dirty="0"/>
              <a:t>=100</a:t>
            </a:r>
            <a:r>
              <a:rPr lang="zh-CN" altLang="en-US" dirty="0"/>
              <a:t>；</a:t>
            </a:r>
            <a:endParaRPr lang="en-US" altLang="zh-CN" dirty="0"/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f(</a:t>
            </a:r>
            <a:r>
              <a:rPr lang="en-US" altLang="zh-CN" dirty="0" err="1">
                <a:solidFill>
                  <a:srgbClr val="FF0000"/>
                </a:solidFill>
              </a:rPr>
              <a:t>int</a:t>
            </a:r>
            <a:r>
              <a:rPr lang="en-US" altLang="zh-CN" dirty="0">
                <a:solidFill>
                  <a:srgbClr val="FF0000"/>
                </a:solidFill>
              </a:rPr>
              <a:t> n</a:t>
            </a:r>
            <a:r>
              <a:rPr lang="en-US" altLang="zh-CN" dirty="0"/>
              <a:t>) {</a:t>
            </a:r>
            <a:br>
              <a:rPr lang="en-US" altLang="zh-CN" dirty="0"/>
            </a:br>
            <a:r>
              <a:rPr lang="en-US" altLang="zh-CN" dirty="0"/>
              <a:t>    static </a:t>
            </a:r>
            <a:r>
              <a:rPr lang="en-US" altLang="zh-CN" dirty="0" err="1">
                <a:solidFill>
                  <a:srgbClr val="0000FF"/>
                </a:solidFill>
              </a:rPr>
              <a:t>int</a:t>
            </a:r>
            <a:r>
              <a:rPr lang="en-US" altLang="zh-CN" dirty="0">
                <a:solidFill>
                  <a:srgbClr val="0000FF"/>
                </a:solidFill>
              </a:rPr>
              <a:t> m</a:t>
            </a:r>
            <a:r>
              <a:rPr lang="en-US" altLang="zh-CN" dirty="0"/>
              <a:t>=8;</a:t>
            </a:r>
            <a:br>
              <a:rPr lang="en-US" altLang="zh-CN" dirty="0"/>
            </a:br>
            <a:r>
              <a:rPr lang="en-US" altLang="zh-CN" dirty="0"/>
              <a:t>    return </a:t>
            </a:r>
            <a:r>
              <a:rPr lang="en-US" altLang="zh-CN" dirty="0" err="1"/>
              <a:t>m+n</a:t>
            </a:r>
            <a:r>
              <a:rPr lang="en-US" altLang="zh-CN" dirty="0"/>
              <a:t>;</a:t>
            </a:r>
            <a:br>
              <a:rPr lang="en-US" altLang="zh-CN" dirty="0"/>
            </a:br>
            <a:r>
              <a:rPr lang="en-US" altLang="zh-CN" dirty="0"/>
              <a:t>}</a:t>
            </a:r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main</a:t>
            </a:r>
            <a:r>
              <a:rPr lang="zh-CN" altLang="en-US" dirty="0"/>
              <a:t>（） </a:t>
            </a:r>
            <a:r>
              <a:rPr lang="en-US" altLang="zh-CN" dirty="0"/>
              <a:t>{</a:t>
            </a:r>
            <a:br>
              <a:rPr lang="en-US" altLang="zh-CN" dirty="0"/>
            </a:br>
            <a:r>
              <a:rPr lang="en-US" altLang="zh-CN" dirty="0"/>
              <a:t>   </a:t>
            </a:r>
            <a:r>
              <a:rPr lang="en-US" altLang="zh-CN" dirty="0" err="1">
                <a:solidFill>
                  <a:srgbClr val="FF0000"/>
                </a:solidFill>
              </a:rPr>
              <a:t>int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 err="1">
                <a:solidFill>
                  <a:srgbClr val="FF0000"/>
                </a:solidFill>
              </a:rPr>
              <a:t>i</a:t>
            </a:r>
            <a:r>
              <a:rPr lang="en-US" altLang="zh-CN" dirty="0"/>
              <a:t>=10</a:t>
            </a:r>
            <a:r>
              <a:rPr lang="zh-CN" altLang="en-US" dirty="0"/>
              <a:t>；</a:t>
            </a:r>
            <a:endParaRPr lang="en-US" altLang="zh-CN" dirty="0"/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 dirty="0"/>
              <a:t>   for(</a:t>
            </a:r>
            <a:r>
              <a:rPr lang="en-US" altLang="zh-CN" dirty="0" err="1">
                <a:solidFill>
                  <a:srgbClr val="FF0000"/>
                </a:solidFill>
              </a:rPr>
              <a:t>int</a:t>
            </a:r>
            <a:r>
              <a:rPr lang="en-US" altLang="zh-CN" dirty="0">
                <a:solidFill>
                  <a:srgbClr val="FF0000"/>
                </a:solidFill>
              </a:rPr>
              <a:t> j</a:t>
            </a:r>
            <a:r>
              <a:rPr lang="en-US" altLang="zh-CN" dirty="0"/>
              <a:t>=</a:t>
            </a:r>
            <a:r>
              <a:rPr lang="en-US" altLang="zh-CN" dirty="0" err="1"/>
              <a:t>i;j</a:t>
            </a:r>
            <a:r>
              <a:rPr lang="en-US" altLang="zh-CN" dirty="0"/>
              <a:t>&lt;10;++j) {</a:t>
            </a:r>
            <a:br>
              <a:rPr lang="en-US" altLang="zh-CN" dirty="0"/>
            </a:br>
            <a:r>
              <a:rPr lang="en-US" altLang="zh-CN" dirty="0"/>
              <a:t>            </a:t>
            </a:r>
            <a:br>
              <a:rPr lang="en-US" altLang="zh-CN" dirty="0"/>
            </a:br>
            <a:r>
              <a:rPr lang="en-US" altLang="zh-CN" dirty="0"/>
              <a:t>   }</a:t>
            </a:r>
            <a:br>
              <a:rPr lang="en-US" altLang="zh-CN" dirty="0"/>
            </a:br>
            <a:r>
              <a:rPr lang="en-US" altLang="zh-CN" dirty="0"/>
              <a:t>   </a:t>
            </a:r>
            <a:r>
              <a:rPr lang="en-US" altLang="zh-CN" dirty="0" err="1"/>
              <a:t>std</a:t>
            </a:r>
            <a:r>
              <a:rPr lang="en-US" altLang="zh-CN" dirty="0"/>
              <a:t>::</a:t>
            </a:r>
            <a:r>
              <a:rPr lang="en-US" altLang="zh-CN" dirty="0" err="1"/>
              <a:t>cout</a:t>
            </a:r>
            <a:r>
              <a:rPr lang="en-US" altLang="zh-CN" dirty="0"/>
              <a:t>&lt;&lt;</a:t>
            </a:r>
            <a:r>
              <a:rPr lang="zh-CN" altLang="en-US" dirty="0"/>
              <a:t>“</a:t>
            </a:r>
            <a:r>
              <a:rPr lang="zh-CN" altLang="en-US" dirty="0">
                <a:solidFill>
                  <a:srgbClr val="00B050"/>
                </a:solidFill>
              </a:rPr>
              <a:t>吉林大学</a:t>
            </a:r>
            <a:r>
              <a:rPr lang="en-US" altLang="zh-CN" dirty="0"/>
              <a:t>”;</a:t>
            </a:r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  <p:cxnSp>
        <p:nvCxnSpPr>
          <p:cNvPr id="13" name="直接箭头连接符 12"/>
          <p:cNvCxnSpPr>
            <a:endCxn id="7" idx="3"/>
          </p:cNvCxnSpPr>
          <p:nvPr/>
        </p:nvCxnSpPr>
        <p:spPr>
          <a:xfrm flipH="1">
            <a:off x="5140093" y="1717964"/>
            <a:ext cx="2923252" cy="212776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H="1">
            <a:off x="5140093" y="3676073"/>
            <a:ext cx="2486968" cy="29556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endCxn id="6" idx="3"/>
          </p:cNvCxnSpPr>
          <p:nvPr/>
        </p:nvCxnSpPr>
        <p:spPr>
          <a:xfrm flipH="1">
            <a:off x="5447397" y="2112974"/>
            <a:ext cx="3454148" cy="1072356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endCxn id="6" idx="3"/>
          </p:cNvCxnSpPr>
          <p:nvPr/>
        </p:nvCxnSpPr>
        <p:spPr>
          <a:xfrm flipH="1">
            <a:off x="5447397" y="1257101"/>
            <a:ext cx="1959155" cy="1928229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 flipH="1" flipV="1">
            <a:off x="5140093" y="4086442"/>
            <a:ext cx="3135690" cy="10803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endCxn id="5" idx="3"/>
          </p:cNvCxnSpPr>
          <p:nvPr/>
        </p:nvCxnSpPr>
        <p:spPr>
          <a:xfrm flipH="1" flipV="1">
            <a:off x="5140093" y="2524137"/>
            <a:ext cx="5186162" cy="2398845"/>
          </a:xfrm>
          <a:prstGeom prst="straightConnector1">
            <a:avLst/>
          </a:prstGeom>
          <a:ln w="28575">
            <a:solidFill>
              <a:srgbClr val="00B050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圆角矩形 18"/>
          <p:cNvSpPr/>
          <p:nvPr/>
        </p:nvSpPr>
        <p:spPr>
          <a:xfrm>
            <a:off x="6902585" y="1717964"/>
            <a:ext cx="3298238" cy="806172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6844432" y="3357934"/>
            <a:ext cx="4954081" cy="2025911"/>
          </a:xfrm>
          <a:prstGeom prst="roundRect">
            <a:avLst/>
          </a:prstGeom>
          <a:noFill/>
          <a:ln w="412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左箭头 20"/>
          <p:cNvSpPr/>
          <p:nvPr/>
        </p:nvSpPr>
        <p:spPr>
          <a:xfrm rot="157228">
            <a:off x="5113685" y="1871505"/>
            <a:ext cx="1722672" cy="24946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左箭头 21"/>
          <p:cNvSpPr/>
          <p:nvPr/>
        </p:nvSpPr>
        <p:spPr>
          <a:xfrm rot="2872241">
            <a:off x="4556602" y="3058108"/>
            <a:ext cx="2962521" cy="22194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4694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作用域</a:t>
            </a:r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366180" y="1107184"/>
            <a:ext cx="2653517" cy="4658914"/>
          </a:xfrm>
          <a:prstGeom prst="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txBody>
          <a:bodyPr>
            <a:normAutofit fontScale="70000" lnSpcReduction="2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br>
              <a:rPr lang="en-US" altLang="zh-CN" dirty="0"/>
            </a:br>
            <a:r>
              <a:rPr lang="zh-CN" altLang="en-US" dirty="0">
                <a:solidFill>
                  <a:srgbClr val="00B050"/>
                </a:solidFill>
              </a:rPr>
              <a:t>全局作用域</a:t>
            </a:r>
            <a:r>
              <a:rPr lang="zh-CN" altLang="en-US" dirty="0"/>
              <a:t>：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文件作用域：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solidFill>
                  <a:srgbClr val="0000FF"/>
                </a:solidFill>
              </a:rPr>
              <a:t>块级作用域：</a:t>
            </a:r>
            <a:endParaRPr lang="en-US" altLang="zh-CN" dirty="0">
              <a:solidFill>
                <a:srgbClr val="0000FF"/>
              </a:solidFill>
            </a:endParaRP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solidFill>
                  <a:srgbClr val="CC00FF"/>
                </a:solidFill>
              </a:rPr>
              <a:t>类级作用域</a:t>
            </a:r>
            <a:r>
              <a:rPr lang="zh-CN" altLang="en-US" dirty="0"/>
              <a:t>：</a:t>
            </a:r>
            <a:r>
              <a:rPr lang="en-US" altLang="zh-CN" dirty="0"/>
              <a:t> 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solidFill>
                  <a:srgbClr val="FF6600"/>
                </a:solidFill>
              </a:rPr>
              <a:t>名字空间作用域</a:t>
            </a:r>
            <a:r>
              <a:rPr lang="zh-CN" altLang="en-US" dirty="0"/>
              <a:t>：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3266671" y="592485"/>
            <a:ext cx="7963701" cy="5185184"/>
          </a:xfrm>
          <a:prstGeom prst="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txBody>
          <a:bodyPr>
            <a:normAutofit fontScale="70000" lnSpcReduction="2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700"/>
              </a:spcBef>
              <a:buClr>
                <a:srgbClr val="FEB80A"/>
              </a:buClr>
              <a:buSzPct val="60000"/>
              <a:buNone/>
            </a:pPr>
            <a:r>
              <a:rPr lang="en-US" altLang="zh-CN" dirty="0">
                <a:solidFill>
                  <a:srgbClr val="00B050"/>
                </a:solidFill>
              </a:rPr>
              <a:t>extern </a:t>
            </a:r>
            <a:r>
              <a:rPr lang="en-US" altLang="zh-CN" dirty="0" err="1">
                <a:solidFill>
                  <a:srgbClr val="00B050"/>
                </a:solidFill>
              </a:rPr>
              <a:t>int</a:t>
            </a:r>
            <a:r>
              <a:rPr lang="en-US" altLang="zh-CN" dirty="0">
                <a:solidFill>
                  <a:srgbClr val="00B050"/>
                </a:solidFill>
              </a:rPr>
              <a:t> global;</a:t>
            </a:r>
          </a:p>
          <a:p>
            <a:pPr marL="0" indent="0">
              <a:spcBef>
                <a:spcPts val="700"/>
              </a:spcBef>
              <a:buClr>
                <a:srgbClr val="FEB80A"/>
              </a:buClr>
              <a:buSzPct val="60000"/>
              <a:buNone/>
            </a:pPr>
            <a:r>
              <a:rPr lang="en-US" altLang="zh-CN" dirty="0" err="1">
                <a:solidFill>
                  <a:srgbClr val="00B050"/>
                </a:solidFill>
              </a:rPr>
              <a:t>int</a:t>
            </a:r>
            <a:r>
              <a:rPr lang="en-US" altLang="zh-CN" dirty="0">
                <a:solidFill>
                  <a:srgbClr val="00B050"/>
                </a:solidFill>
              </a:rPr>
              <a:t> state=1;</a:t>
            </a:r>
          </a:p>
          <a:p>
            <a:pPr marL="0" indent="0">
              <a:spcBef>
                <a:spcPts val="700"/>
              </a:spcBef>
              <a:buClr>
                <a:srgbClr val="FEB80A"/>
              </a:buClr>
              <a:buSzPct val="60000"/>
              <a:buNone/>
            </a:pPr>
            <a:r>
              <a:rPr lang="en-US" altLang="zh-CN" dirty="0">
                <a:solidFill>
                  <a:srgbClr val="FF0000"/>
                </a:solidFill>
              </a:rPr>
              <a:t>static </a:t>
            </a:r>
            <a:r>
              <a:rPr lang="en-US" altLang="zh-CN" dirty="0" err="1">
                <a:solidFill>
                  <a:srgbClr val="FF0000"/>
                </a:solidFill>
              </a:rPr>
              <a:t>int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 err="1">
                <a:solidFill>
                  <a:srgbClr val="FF0000"/>
                </a:solidFill>
              </a:rPr>
              <a:t>filevar</a:t>
            </a:r>
            <a:r>
              <a:rPr lang="en-US" altLang="zh-CN" dirty="0">
                <a:solidFill>
                  <a:srgbClr val="FF0000"/>
                </a:solidFill>
              </a:rPr>
              <a:t>=99;</a:t>
            </a:r>
          </a:p>
          <a:p>
            <a:pPr marL="0" indent="0">
              <a:spcBef>
                <a:spcPts val="700"/>
              </a:spcBef>
              <a:buClr>
                <a:srgbClr val="FEB80A"/>
              </a:buClr>
              <a:buSzPct val="60000"/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f(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0000FF"/>
                </a:solidFill>
              </a:rPr>
              <a:t>n</a:t>
            </a:r>
            <a:r>
              <a:rPr lang="en-US" altLang="zh-CN" dirty="0"/>
              <a:t>) {</a:t>
            </a:r>
          </a:p>
          <a:p>
            <a:pPr marL="0" indent="0">
              <a:spcBef>
                <a:spcPts val="700"/>
              </a:spcBef>
              <a:buClr>
                <a:srgbClr val="FEB80A"/>
              </a:buClr>
              <a:buSzPct val="60000"/>
              <a:buNone/>
            </a:pPr>
            <a:r>
              <a:rPr lang="en-US" altLang="zh-CN" dirty="0"/>
              <a:t>    </a:t>
            </a:r>
            <a:r>
              <a:rPr lang="en-US" altLang="zh-CN" dirty="0">
                <a:solidFill>
                  <a:srgbClr val="0000FF"/>
                </a:solidFill>
              </a:rPr>
              <a:t>static </a:t>
            </a:r>
            <a:r>
              <a:rPr lang="en-US" altLang="zh-CN" dirty="0" err="1">
                <a:solidFill>
                  <a:srgbClr val="0000FF"/>
                </a:solidFill>
              </a:rPr>
              <a:t>int</a:t>
            </a:r>
            <a:r>
              <a:rPr lang="en-US" altLang="zh-CN" dirty="0">
                <a:solidFill>
                  <a:srgbClr val="0000FF"/>
                </a:solidFill>
              </a:rPr>
              <a:t> </a:t>
            </a:r>
            <a:r>
              <a:rPr lang="en-US" altLang="zh-CN" dirty="0" err="1">
                <a:solidFill>
                  <a:srgbClr val="0000FF"/>
                </a:solidFill>
              </a:rPr>
              <a:t>sa</a:t>
            </a:r>
            <a:r>
              <a:rPr lang="en-US" altLang="zh-CN" dirty="0">
                <a:solidFill>
                  <a:srgbClr val="0000FF"/>
                </a:solidFill>
              </a:rPr>
              <a:t> =9;</a:t>
            </a:r>
          </a:p>
          <a:p>
            <a:pPr marL="0" indent="0">
              <a:spcBef>
                <a:spcPts val="700"/>
              </a:spcBef>
              <a:buClr>
                <a:srgbClr val="FEB80A"/>
              </a:buClr>
              <a:buSzPct val="60000"/>
              <a:buNone/>
            </a:pPr>
            <a:r>
              <a:rPr lang="en-US" altLang="zh-CN" dirty="0"/>
              <a:t>    </a:t>
            </a:r>
            <a:r>
              <a:rPr lang="en-US" altLang="zh-CN" dirty="0" err="1">
                <a:solidFill>
                  <a:srgbClr val="0000FF"/>
                </a:solidFill>
              </a:rPr>
              <a:t>int</a:t>
            </a:r>
            <a:r>
              <a:rPr lang="en-US" altLang="zh-CN" dirty="0">
                <a:solidFill>
                  <a:srgbClr val="0000FF"/>
                </a:solidFill>
              </a:rPr>
              <a:t> m </a:t>
            </a:r>
            <a:r>
              <a:rPr lang="en-US" altLang="zh-CN" dirty="0"/>
              <a:t>= </a:t>
            </a:r>
            <a:r>
              <a:rPr lang="en-US" altLang="zh-CN" dirty="0" err="1">
                <a:solidFill>
                  <a:srgbClr val="0000FF"/>
                </a:solidFill>
              </a:rPr>
              <a:t>sa</a:t>
            </a:r>
            <a:r>
              <a:rPr lang="en-US" altLang="zh-CN" dirty="0"/>
              <a:t>;         //C++98</a:t>
            </a:r>
            <a:r>
              <a:rPr lang="zh-CN" altLang="en-US" dirty="0"/>
              <a:t>下，等价于</a:t>
            </a:r>
            <a:r>
              <a:rPr lang="en-US" altLang="zh-CN" dirty="0"/>
              <a:t>auto </a:t>
            </a:r>
            <a:r>
              <a:rPr lang="en-US" altLang="zh-CN" dirty="0" err="1"/>
              <a:t>int</a:t>
            </a:r>
            <a:r>
              <a:rPr lang="en-US" altLang="zh-CN" dirty="0"/>
              <a:t> m=</a:t>
            </a:r>
            <a:r>
              <a:rPr lang="en-US" altLang="zh-CN" dirty="0" err="1"/>
              <a:t>sa</a:t>
            </a:r>
            <a:r>
              <a:rPr lang="en-US" altLang="zh-CN" dirty="0"/>
              <a:t>;</a:t>
            </a:r>
          </a:p>
          <a:p>
            <a:pPr marL="0" indent="0">
              <a:spcBef>
                <a:spcPts val="700"/>
              </a:spcBef>
              <a:buClr>
                <a:srgbClr val="FEB80A"/>
              </a:buClr>
              <a:buSzPct val="60000"/>
              <a:buNone/>
            </a:pPr>
            <a:r>
              <a:rPr lang="en-US" altLang="zh-CN" dirty="0"/>
              <a:t>    </a:t>
            </a:r>
            <a:r>
              <a:rPr lang="en-US" altLang="zh-CN" dirty="0">
                <a:solidFill>
                  <a:srgbClr val="0000FF"/>
                </a:solidFill>
              </a:rPr>
              <a:t>auto k </a:t>
            </a:r>
            <a:r>
              <a:rPr lang="en-US" altLang="zh-CN" dirty="0"/>
              <a:t>= </a:t>
            </a:r>
            <a:r>
              <a:rPr lang="en-US" altLang="zh-CN" dirty="0">
                <a:solidFill>
                  <a:srgbClr val="0000FF"/>
                </a:solidFill>
              </a:rPr>
              <a:t>sa</a:t>
            </a:r>
            <a:r>
              <a:rPr lang="en-US" altLang="zh-CN" dirty="0"/>
              <a:t>+8;  //</a:t>
            </a:r>
            <a:r>
              <a:rPr lang="zh-CN" altLang="en-US" dirty="0"/>
              <a:t>只在</a:t>
            </a:r>
            <a:r>
              <a:rPr lang="en-US" altLang="zh-CN" dirty="0"/>
              <a:t>C++1z</a:t>
            </a:r>
            <a:r>
              <a:rPr lang="zh-CN" altLang="en-US" dirty="0"/>
              <a:t>下有效</a:t>
            </a:r>
            <a:endParaRPr lang="en-US" altLang="zh-CN" dirty="0"/>
          </a:p>
          <a:p>
            <a:pPr marL="0" indent="0">
              <a:spcBef>
                <a:spcPts val="700"/>
              </a:spcBef>
              <a:buClr>
                <a:srgbClr val="FEB80A"/>
              </a:buClr>
              <a:buSzPct val="60000"/>
              <a:buNone/>
            </a:pPr>
            <a:r>
              <a:rPr lang="en-US" altLang="zh-CN" dirty="0"/>
              <a:t>    return </a:t>
            </a:r>
            <a:r>
              <a:rPr lang="en-US" altLang="zh-CN" dirty="0" err="1">
                <a:solidFill>
                  <a:srgbClr val="0000FF"/>
                </a:solidFill>
              </a:rPr>
              <a:t>sa</a:t>
            </a:r>
            <a:r>
              <a:rPr lang="en-US" altLang="zh-CN" dirty="0" err="1"/>
              <a:t>+</a:t>
            </a:r>
            <a:r>
              <a:rPr lang="en-US" altLang="zh-CN" dirty="0" err="1">
                <a:solidFill>
                  <a:srgbClr val="0000FF"/>
                </a:solidFill>
              </a:rPr>
              <a:t>n</a:t>
            </a:r>
            <a:r>
              <a:rPr lang="en-US" altLang="zh-CN" dirty="0"/>
              <a:t>;</a:t>
            </a:r>
            <a:br>
              <a:rPr lang="en-US" altLang="zh-CN" dirty="0"/>
            </a:br>
            <a:r>
              <a:rPr lang="en-US" altLang="zh-CN" dirty="0"/>
              <a:t>}</a:t>
            </a:r>
          </a:p>
          <a:p>
            <a:pPr marL="0" indent="0">
              <a:spcBef>
                <a:spcPts val="700"/>
              </a:spcBef>
              <a:buClr>
                <a:srgbClr val="FEB80A"/>
              </a:buClr>
              <a:buSzPct val="60000"/>
              <a:buNone/>
            </a:pPr>
            <a:r>
              <a:rPr lang="en-US" altLang="zh-CN" dirty="0" err="1"/>
              <a:t>struct</a:t>
            </a:r>
            <a:r>
              <a:rPr lang="en-US" altLang="zh-CN" dirty="0"/>
              <a:t> A {</a:t>
            </a:r>
            <a:br>
              <a:rPr lang="en-US" altLang="zh-CN" dirty="0"/>
            </a:br>
            <a:r>
              <a:rPr lang="en-US" altLang="zh-CN" dirty="0"/>
              <a:t>       void </a:t>
            </a:r>
            <a:r>
              <a:rPr lang="en-US" altLang="zh-CN" dirty="0" err="1">
                <a:solidFill>
                  <a:srgbClr val="CC00FF"/>
                </a:solidFill>
              </a:rPr>
              <a:t>fff</a:t>
            </a:r>
            <a:r>
              <a:rPr lang="en-US" altLang="zh-CN" dirty="0"/>
              <a:t>( ) {  }</a:t>
            </a:r>
          </a:p>
          <a:p>
            <a:pPr marL="0" indent="0">
              <a:spcBef>
                <a:spcPts val="700"/>
              </a:spcBef>
              <a:buClr>
                <a:srgbClr val="FEB80A"/>
              </a:buClr>
              <a:buSzPct val="60000"/>
              <a:buNone/>
            </a:pPr>
            <a:r>
              <a:rPr lang="en-US" altLang="zh-CN" dirty="0"/>
              <a:t>      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val</a:t>
            </a:r>
            <a:r>
              <a:rPr lang="en-US" altLang="zh-CN" dirty="0"/>
              <a:t>;</a:t>
            </a:r>
            <a:br>
              <a:rPr lang="en-US" altLang="zh-CN" dirty="0"/>
            </a:br>
            <a:r>
              <a:rPr lang="en-US" altLang="zh-CN" dirty="0"/>
              <a:t>};</a:t>
            </a:r>
          </a:p>
        </p:txBody>
      </p:sp>
      <p:sp>
        <p:nvSpPr>
          <p:cNvPr id="5" name="矩形 4"/>
          <p:cNvSpPr/>
          <p:nvPr/>
        </p:nvSpPr>
        <p:spPr>
          <a:xfrm>
            <a:off x="6856088" y="3436641"/>
            <a:ext cx="4958730" cy="3400931"/>
          </a:xfrm>
          <a:prstGeom prst="rect">
            <a:avLst/>
          </a:prstGeom>
          <a:solidFill>
            <a:schemeClr val="bg1">
              <a:tint val="95000"/>
              <a:satMod val="170000"/>
            </a:schemeClr>
          </a:solidFill>
          <a:ln w="38100">
            <a:solidFill>
              <a:schemeClr val="accent4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buClr>
                <a:srgbClr val="FEB80A"/>
              </a:buClr>
              <a:buSzPct val="60000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#include &lt;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iostream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b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main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 ) {</a:t>
            </a:r>
            <a:b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00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k=10;</a:t>
            </a:r>
          </a:p>
          <a:p>
            <a:pPr>
              <a:spcBef>
                <a:spcPts val="700"/>
              </a:spcBef>
              <a:buClr>
                <a:srgbClr val="FEB80A"/>
              </a:buClr>
              <a:buSzPct val="60000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A  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aA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>
              <a:spcBef>
                <a:spcPts val="700"/>
              </a:spcBef>
              <a:buClr>
                <a:srgbClr val="FEB80A"/>
              </a:buClr>
              <a:buSzPct val="60000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aA.</a:t>
            </a:r>
            <a:r>
              <a:rPr lang="en-US" altLang="zh-CN" sz="2000" dirty="0" err="1">
                <a:solidFill>
                  <a:srgbClr val="CC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val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2;</a:t>
            </a:r>
          </a:p>
          <a:p>
            <a:pPr>
              <a:spcBef>
                <a:spcPts val="700"/>
              </a:spcBef>
              <a:buClr>
                <a:srgbClr val="FEB80A"/>
              </a:buClr>
              <a:buSzPct val="60000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aA.</a:t>
            </a:r>
            <a:r>
              <a:rPr lang="en-US" altLang="zh-CN" sz="2000" dirty="0" err="1">
                <a:solidFill>
                  <a:srgbClr val="CC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fff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 );</a:t>
            </a:r>
          </a:p>
          <a:p>
            <a:pPr>
              <a:spcBef>
                <a:spcPts val="700"/>
              </a:spcBef>
              <a:buClr>
                <a:srgbClr val="FEB80A"/>
              </a:buClr>
              <a:buSzPct val="60000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std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::</a:t>
            </a:r>
            <a:r>
              <a:rPr lang="en-US" altLang="zh-CN" sz="2000" dirty="0" err="1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cout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&lt;&lt;“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”;</a:t>
            </a:r>
          </a:p>
          <a:p>
            <a:pPr>
              <a:spcBef>
                <a:spcPts val="700"/>
              </a:spcBef>
              <a:buClr>
                <a:srgbClr val="FEB80A"/>
              </a:buClr>
              <a:buSzPct val="60000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return 0;</a:t>
            </a:r>
          </a:p>
          <a:p>
            <a:pPr>
              <a:spcBef>
                <a:spcPts val="700"/>
              </a:spcBef>
              <a:buClr>
                <a:srgbClr val="FEB80A"/>
              </a:buClr>
              <a:buSzPct val="60000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343959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存储空间和作用域</a:t>
            </a:r>
            <a:r>
              <a:rPr lang="en-US" altLang="zh-CN" dirty="0"/>
              <a:t>(</a:t>
            </a:r>
            <a:r>
              <a:rPr lang="zh-CN" altLang="en-US" dirty="0"/>
              <a:t>例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554137" y="830508"/>
            <a:ext cx="5582798" cy="5734679"/>
          </a:xfrm>
          <a:prstGeom prst="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txBody>
          <a:bodyPr>
            <a:normAutofit fontScale="55000" lnSpcReduction="2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#include &lt;iostream&gt;</a:t>
            </a:r>
          </a:p>
          <a:p>
            <a:pPr marL="0" indent="0">
              <a:buNone/>
            </a:pPr>
            <a:r>
              <a:rPr lang="zh-CN" altLang="en-US" dirty="0"/>
              <a:t>using namespace std;</a:t>
            </a:r>
          </a:p>
          <a:p>
            <a:pPr marL="0" indent="0">
              <a:buNone/>
            </a:pPr>
            <a:r>
              <a:rPr lang="zh-CN" altLang="en-US" dirty="0"/>
              <a:t>/// </a:t>
            </a:r>
            <a:r>
              <a:rPr lang="zh-CN" altLang="en-US" dirty="0">
                <a:solidFill>
                  <a:srgbClr val="FF0000"/>
                </a:solidFill>
              </a:rPr>
              <a:t>全局数据区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en-US" altLang="zh-CN" dirty="0" err="1">
                <a:solidFill>
                  <a:srgbClr val="FF0000"/>
                </a:solidFill>
              </a:rPr>
              <a:t>num</a:t>
            </a:r>
            <a:r>
              <a:rPr lang="zh-CN" altLang="en-US" dirty="0">
                <a:solidFill>
                  <a:srgbClr val="FF0000"/>
                </a:solidFill>
              </a:rPr>
              <a:t>（全局作用域）</a:t>
            </a:r>
          </a:p>
          <a:p>
            <a:pPr marL="0" indent="0">
              <a:buNone/>
            </a:pPr>
            <a:r>
              <a:rPr lang="zh-CN" altLang="en-US" dirty="0"/>
              <a:t>int num =999; 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/// </a:t>
            </a:r>
            <a:r>
              <a:rPr lang="zh-CN" altLang="en-US" dirty="0">
                <a:solidFill>
                  <a:srgbClr val="FF0000"/>
                </a:solidFill>
              </a:rPr>
              <a:t>全局数据区</a:t>
            </a:r>
            <a:r>
              <a:rPr lang="en-US" altLang="zh-CN" dirty="0">
                <a:solidFill>
                  <a:srgbClr val="FF0000"/>
                </a:solidFill>
              </a:rPr>
              <a:t>-num2</a:t>
            </a:r>
            <a:r>
              <a:rPr lang="zh-CN" altLang="en-US" dirty="0">
                <a:solidFill>
                  <a:srgbClr val="FF0000"/>
                </a:solidFill>
              </a:rPr>
              <a:t>（文件级作用域）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dirty="0"/>
              <a:t>static int num2 = 8; 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void func(int a,int b,int c) //</a:t>
            </a:r>
            <a:r>
              <a:rPr lang="zh-CN" altLang="en-US" dirty="0">
                <a:solidFill>
                  <a:srgbClr val="002060"/>
                </a:solidFill>
              </a:rPr>
              <a:t>/</a:t>
            </a:r>
            <a:r>
              <a:rPr lang="zh-CN" altLang="en-US" dirty="0">
                <a:solidFill>
                  <a:srgbClr val="0070C0"/>
                </a:solidFill>
              </a:rPr>
              <a:t>abc压入栈区</a:t>
            </a:r>
          </a:p>
          <a:p>
            <a:pPr marL="0" indent="0">
              <a:buNone/>
            </a:pPr>
            <a:r>
              <a:rPr lang="zh-CN" altLang="en-US" dirty="0"/>
              <a:t>{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/// </a:t>
            </a:r>
            <a:r>
              <a:rPr lang="zh-CN" altLang="en-US" dirty="0">
                <a:solidFill>
                  <a:srgbClr val="FF0000"/>
                </a:solidFill>
              </a:rPr>
              <a:t>全局数据区</a:t>
            </a:r>
            <a:r>
              <a:rPr lang="en-US" altLang="zh-CN" dirty="0">
                <a:solidFill>
                  <a:srgbClr val="FF0000"/>
                </a:solidFill>
              </a:rPr>
              <a:t>-n</a:t>
            </a:r>
            <a:r>
              <a:rPr lang="zh-CN" altLang="en-US" dirty="0"/>
              <a:t>（块级作用域）</a:t>
            </a:r>
          </a:p>
          <a:p>
            <a:pPr marL="0" indent="0">
              <a:buNone/>
            </a:pPr>
            <a:r>
              <a:rPr lang="zh-CN" altLang="en-US" dirty="0"/>
              <a:t>    static int n =0;    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///</a:t>
            </a:r>
            <a:r>
              <a:rPr lang="zh-CN" altLang="en-US" dirty="0">
                <a:solidFill>
                  <a:srgbClr val="0070C0"/>
                </a:solidFill>
              </a:rPr>
              <a:t>result 栈区</a:t>
            </a:r>
            <a:r>
              <a:rPr lang="en-US" altLang="zh-CN" dirty="0">
                <a:solidFill>
                  <a:srgbClr val="0070C0"/>
                </a:solidFill>
              </a:rPr>
              <a:t>(</a:t>
            </a:r>
            <a:r>
              <a:rPr lang="zh-CN" altLang="en-US" dirty="0">
                <a:solidFill>
                  <a:srgbClr val="0070C0"/>
                </a:solidFill>
              </a:rPr>
              <a:t>块级作用域</a:t>
            </a:r>
            <a:r>
              <a:rPr lang="en-US" altLang="zh-CN" dirty="0">
                <a:solidFill>
                  <a:srgbClr val="0070C0"/>
                </a:solidFill>
              </a:rPr>
              <a:t>)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    int result = (a+b+c)*(++n); 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///</a:t>
            </a:r>
            <a:r>
              <a:rPr lang="zh-CN" altLang="en-US" dirty="0">
                <a:solidFill>
                  <a:srgbClr val="FF0000"/>
                </a:solidFill>
              </a:rPr>
              <a:t>字符串"Result= "全局数据区（常量）</a:t>
            </a:r>
          </a:p>
          <a:p>
            <a:pPr marL="0" indent="0">
              <a:buNone/>
            </a:pPr>
            <a:r>
              <a:rPr lang="zh-CN" altLang="en-US" dirty="0"/>
              <a:t>    cout&lt;&lt;"Result= "&lt;&lt;result&lt;&lt;endl;</a:t>
            </a:r>
          </a:p>
          <a:p>
            <a:pPr marL="0" indent="0">
              <a:buNone/>
            </a:pPr>
            <a:r>
              <a:rPr lang="zh-CN" altLang="en-US" dirty="0"/>
              <a:t>}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6356803" y="830508"/>
            <a:ext cx="5561704" cy="5734679"/>
          </a:xfrm>
          <a:prstGeom prst="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txBody>
          <a:bodyPr>
            <a:normAutofit fontScale="77500" lnSpcReduction="2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main() {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a =10;          ///</a:t>
            </a:r>
            <a:r>
              <a:rPr lang="en-US" altLang="zh-CN" dirty="0">
                <a:solidFill>
                  <a:srgbClr val="0070C0"/>
                </a:solidFill>
              </a:rPr>
              <a:t>result </a:t>
            </a:r>
            <a:r>
              <a:rPr lang="zh-CN" altLang="en-US" dirty="0">
                <a:solidFill>
                  <a:srgbClr val="0070C0"/>
                </a:solidFill>
              </a:rPr>
              <a:t>栈区</a:t>
            </a:r>
          </a:p>
          <a:p>
            <a:pPr marL="0" indent="0">
              <a:buNone/>
            </a:pPr>
            <a:r>
              <a:rPr lang="zh-CN" altLang="en-US" dirty="0"/>
              <a:t>    </a:t>
            </a:r>
            <a:r>
              <a:rPr lang="en-US" altLang="zh-CN" dirty="0"/>
              <a:t>static </a:t>
            </a:r>
            <a:r>
              <a:rPr lang="en-US" altLang="zh-CN" dirty="0" err="1"/>
              <a:t>int</a:t>
            </a:r>
            <a:r>
              <a:rPr lang="en-US" altLang="zh-CN" dirty="0"/>
              <a:t> b = 20; </a:t>
            </a:r>
            <a:r>
              <a:rPr lang="en-US" altLang="zh-CN" dirty="0">
                <a:solidFill>
                  <a:srgbClr val="FF0000"/>
                </a:solidFill>
              </a:rPr>
              <a:t>/// </a:t>
            </a:r>
            <a:r>
              <a:rPr lang="zh-CN" altLang="en-US" dirty="0">
                <a:solidFill>
                  <a:srgbClr val="FF0000"/>
                </a:solidFill>
              </a:rPr>
              <a:t>全局数据区</a:t>
            </a:r>
          </a:p>
          <a:p>
            <a:pPr marL="0" indent="0">
              <a:buNone/>
            </a:pPr>
            <a:r>
              <a:rPr lang="zh-CN" altLang="en-US" dirty="0"/>
              <a:t>    </a:t>
            </a:r>
            <a:r>
              <a:rPr lang="en-US" altLang="zh-CN" dirty="0" err="1"/>
              <a:t>func</a:t>
            </a:r>
            <a:r>
              <a:rPr lang="en-US" altLang="zh-CN" dirty="0"/>
              <a:t>(a,b,20);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func</a:t>
            </a:r>
            <a:r>
              <a:rPr lang="en-US" altLang="zh-CN" dirty="0"/>
              <a:t>(a,b,20);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</a:p>
          <a:p>
            <a:pPr marL="0" indent="0">
              <a:buNone/>
            </a:pPr>
            <a:r>
              <a:rPr lang="en-US" altLang="zh-CN" dirty="0"/>
              <a:t>    /// </a:t>
            </a:r>
            <a:r>
              <a:rPr lang="zh-CN" altLang="en-US" dirty="0">
                <a:solidFill>
                  <a:srgbClr val="FF0000"/>
                </a:solidFill>
              </a:rPr>
              <a:t>变量</a:t>
            </a:r>
            <a:r>
              <a:rPr lang="en-US" altLang="zh-CN" dirty="0">
                <a:solidFill>
                  <a:srgbClr val="FF0000"/>
                </a:solidFill>
              </a:rPr>
              <a:t>p</a:t>
            </a:r>
            <a:r>
              <a:rPr lang="zh-CN" altLang="en-US" dirty="0">
                <a:solidFill>
                  <a:srgbClr val="FF0000"/>
                </a:solidFill>
              </a:rPr>
              <a:t>本身，分配在栈区，其指向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en-US" dirty="0">
                <a:solidFill>
                  <a:srgbClr val="FF0000"/>
                </a:solidFill>
              </a:rPr>
              <a:t>堆区中的一个地址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* p= new </a:t>
            </a:r>
            <a:r>
              <a:rPr lang="en-US" altLang="zh-CN" dirty="0" err="1"/>
              <a:t>int</a:t>
            </a:r>
            <a:r>
              <a:rPr lang="en-US" altLang="zh-CN" dirty="0"/>
              <a:t>(55); </a:t>
            </a:r>
            <a:br>
              <a:rPr lang="en-US" altLang="zh-CN" dirty="0"/>
            </a:br>
            <a:r>
              <a:rPr lang="en-US" altLang="zh-CN" dirty="0"/>
              <a:t>    …</a:t>
            </a:r>
          </a:p>
          <a:p>
            <a:pPr marL="0" indent="0">
              <a:buNone/>
            </a:pPr>
            <a:r>
              <a:rPr lang="en-US" altLang="zh-CN" dirty="0"/>
              <a:t>    delete p;</a:t>
            </a:r>
          </a:p>
          <a:p>
            <a:pPr marL="0" indent="0">
              <a:buNone/>
            </a:pPr>
            <a:r>
              <a:rPr lang="en-US" altLang="zh-C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558537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链接性</a:t>
            </a:r>
            <a:r>
              <a:rPr lang="en-US" altLang="zh-CN" dirty="0"/>
              <a:t>(linkage)</a:t>
            </a:r>
            <a:endParaRPr lang="zh-CN" altLang="en-US" dirty="0"/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554137" y="830508"/>
            <a:ext cx="5582798" cy="5734679"/>
          </a:xfrm>
          <a:prstGeom prst="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txBody>
          <a:bodyPr>
            <a:normAutofit fontScale="55000" lnSpcReduction="2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#include &lt;iostream&gt;</a:t>
            </a:r>
          </a:p>
          <a:p>
            <a:pPr marL="0" indent="0">
              <a:buNone/>
            </a:pPr>
            <a:r>
              <a:rPr lang="zh-CN" altLang="en-US" dirty="0"/>
              <a:t>using namespace std;</a:t>
            </a:r>
          </a:p>
          <a:p>
            <a:pPr marL="0" indent="0">
              <a:buNone/>
            </a:pPr>
            <a:r>
              <a:rPr lang="zh-CN" altLang="en-US" dirty="0"/>
              <a:t>/// </a:t>
            </a:r>
            <a:r>
              <a:rPr lang="zh-CN" altLang="en-US" dirty="0">
                <a:solidFill>
                  <a:srgbClr val="FF0000"/>
                </a:solidFill>
              </a:rPr>
              <a:t>全局数据区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en-US" altLang="zh-CN" dirty="0" err="1">
                <a:solidFill>
                  <a:srgbClr val="FF0000"/>
                </a:solidFill>
              </a:rPr>
              <a:t>num</a:t>
            </a:r>
            <a:r>
              <a:rPr lang="zh-CN" altLang="en-US" dirty="0">
                <a:solidFill>
                  <a:srgbClr val="FF0000"/>
                </a:solidFill>
              </a:rPr>
              <a:t>（全局作用域）</a:t>
            </a:r>
          </a:p>
          <a:p>
            <a:pPr marL="0" indent="0">
              <a:buNone/>
            </a:pPr>
            <a:r>
              <a:rPr lang="zh-CN" altLang="en-US" dirty="0"/>
              <a:t>int num =999; 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/// </a:t>
            </a:r>
            <a:r>
              <a:rPr lang="zh-CN" altLang="en-US" dirty="0">
                <a:solidFill>
                  <a:srgbClr val="FF0000"/>
                </a:solidFill>
              </a:rPr>
              <a:t>全局数据区</a:t>
            </a:r>
            <a:r>
              <a:rPr lang="en-US" altLang="zh-CN" dirty="0">
                <a:solidFill>
                  <a:srgbClr val="FF0000"/>
                </a:solidFill>
              </a:rPr>
              <a:t>-num2</a:t>
            </a:r>
            <a:r>
              <a:rPr lang="zh-CN" altLang="en-US" dirty="0">
                <a:solidFill>
                  <a:srgbClr val="FF0000"/>
                </a:solidFill>
              </a:rPr>
              <a:t>（文件级作用域）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dirty="0"/>
              <a:t>static int num2 = 8; 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void func(int a,int b,int c) //</a:t>
            </a:r>
            <a:r>
              <a:rPr lang="zh-CN" altLang="en-US" dirty="0">
                <a:solidFill>
                  <a:srgbClr val="002060"/>
                </a:solidFill>
              </a:rPr>
              <a:t>/</a:t>
            </a:r>
            <a:r>
              <a:rPr lang="zh-CN" altLang="en-US" dirty="0">
                <a:solidFill>
                  <a:srgbClr val="0070C0"/>
                </a:solidFill>
              </a:rPr>
              <a:t>abc压入栈区</a:t>
            </a:r>
          </a:p>
          <a:p>
            <a:pPr marL="0" indent="0">
              <a:buNone/>
            </a:pPr>
            <a:r>
              <a:rPr lang="zh-CN" altLang="en-US" dirty="0"/>
              <a:t>{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/// </a:t>
            </a:r>
            <a:r>
              <a:rPr lang="zh-CN" altLang="en-US" dirty="0">
                <a:solidFill>
                  <a:srgbClr val="FF0000"/>
                </a:solidFill>
              </a:rPr>
              <a:t>全局数据区</a:t>
            </a:r>
            <a:r>
              <a:rPr lang="en-US" altLang="zh-CN" dirty="0">
                <a:solidFill>
                  <a:srgbClr val="FF0000"/>
                </a:solidFill>
              </a:rPr>
              <a:t>-n</a:t>
            </a:r>
            <a:r>
              <a:rPr lang="zh-CN" altLang="en-US" dirty="0"/>
              <a:t>（块级作用域）</a:t>
            </a:r>
          </a:p>
          <a:p>
            <a:pPr marL="0" indent="0">
              <a:buNone/>
            </a:pPr>
            <a:r>
              <a:rPr lang="zh-CN" altLang="en-US" dirty="0"/>
              <a:t>    static int n =0;    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///</a:t>
            </a:r>
            <a:r>
              <a:rPr lang="zh-CN" altLang="en-US" dirty="0">
                <a:solidFill>
                  <a:srgbClr val="0070C0"/>
                </a:solidFill>
              </a:rPr>
              <a:t>result 栈区</a:t>
            </a:r>
            <a:r>
              <a:rPr lang="en-US" altLang="zh-CN" dirty="0">
                <a:solidFill>
                  <a:srgbClr val="0070C0"/>
                </a:solidFill>
              </a:rPr>
              <a:t>(</a:t>
            </a:r>
            <a:r>
              <a:rPr lang="zh-CN" altLang="en-US" dirty="0">
                <a:solidFill>
                  <a:srgbClr val="0070C0"/>
                </a:solidFill>
              </a:rPr>
              <a:t>块级作用域</a:t>
            </a:r>
            <a:r>
              <a:rPr lang="en-US" altLang="zh-CN" dirty="0">
                <a:solidFill>
                  <a:srgbClr val="0070C0"/>
                </a:solidFill>
              </a:rPr>
              <a:t>)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    int result = (a+b+c)*(++n); 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///</a:t>
            </a:r>
            <a:r>
              <a:rPr lang="zh-CN" altLang="en-US" dirty="0">
                <a:solidFill>
                  <a:srgbClr val="FF0000"/>
                </a:solidFill>
              </a:rPr>
              <a:t>字符串"Result= "全局数据区（常量）</a:t>
            </a:r>
          </a:p>
          <a:p>
            <a:pPr marL="0" indent="0">
              <a:buNone/>
            </a:pPr>
            <a:r>
              <a:rPr lang="zh-CN" altLang="en-US" dirty="0"/>
              <a:t>    cout&lt;&lt;"Result= "&lt;&lt;result&lt;&lt;endl;</a:t>
            </a:r>
          </a:p>
          <a:p>
            <a:pPr marL="0" indent="0">
              <a:buNone/>
            </a:pPr>
            <a:r>
              <a:rPr lang="zh-CN" altLang="en-US" dirty="0"/>
              <a:t>}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6356803" y="830508"/>
            <a:ext cx="5561704" cy="5734679"/>
          </a:xfrm>
          <a:prstGeom prst="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txBody>
          <a:bodyPr>
            <a:normAutofit fontScale="77500" lnSpcReduction="2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main() {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a =10;          ///</a:t>
            </a:r>
            <a:r>
              <a:rPr lang="en-US" altLang="zh-CN" dirty="0">
                <a:solidFill>
                  <a:srgbClr val="0070C0"/>
                </a:solidFill>
              </a:rPr>
              <a:t>result </a:t>
            </a:r>
            <a:r>
              <a:rPr lang="zh-CN" altLang="en-US" dirty="0">
                <a:solidFill>
                  <a:srgbClr val="0070C0"/>
                </a:solidFill>
              </a:rPr>
              <a:t>栈区</a:t>
            </a:r>
          </a:p>
          <a:p>
            <a:pPr marL="0" indent="0">
              <a:buNone/>
            </a:pPr>
            <a:r>
              <a:rPr lang="zh-CN" altLang="en-US" dirty="0"/>
              <a:t>    </a:t>
            </a:r>
            <a:r>
              <a:rPr lang="en-US" altLang="zh-CN" dirty="0"/>
              <a:t>static </a:t>
            </a:r>
            <a:r>
              <a:rPr lang="en-US" altLang="zh-CN" dirty="0" err="1"/>
              <a:t>int</a:t>
            </a:r>
            <a:r>
              <a:rPr lang="en-US" altLang="zh-CN" dirty="0"/>
              <a:t> b = 20; </a:t>
            </a:r>
            <a:r>
              <a:rPr lang="en-US" altLang="zh-CN" dirty="0">
                <a:solidFill>
                  <a:srgbClr val="FF0000"/>
                </a:solidFill>
              </a:rPr>
              <a:t>/// </a:t>
            </a:r>
            <a:r>
              <a:rPr lang="zh-CN" altLang="en-US" dirty="0">
                <a:solidFill>
                  <a:srgbClr val="FF0000"/>
                </a:solidFill>
              </a:rPr>
              <a:t>全局数据区</a:t>
            </a:r>
          </a:p>
          <a:p>
            <a:pPr marL="0" indent="0">
              <a:buNone/>
            </a:pPr>
            <a:r>
              <a:rPr lang="zh-CN" altLang="en-US" dirty="0"/>
              <a:t>    </a:t>
            </a:r>
            <a:r>
              <a:rPr lang="en-US" altLang="zh-CN" dirty="0" err="1"/>
              <a:t>func</a:t>
            </a:r>
            <a:r>
              <a:rPr lang="en-US" altLang="zh-CN" dirty="0"/>
              <a:t>(a,b,20);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func</a:t>
            </a:r>
            <a:r>
              <a:rPr lang="en-US" altLang="zh-CN" dirty="0"/>
              <a:t>(a,b,20);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</a:p>
          <a:p>
            <a:pPr marL="0" indent="0">
              <a:buNone/>
            </a:pPr>
            <a:r>
              <a:rPr lang="en-US" altLang="zh-CN" dirty="0"/>
              <a:t>    /// </a:t>
            </a:r>
            <a:r>
              <a:rPr lang="zh-CN" altLang="en-US" dirty="0">
                <a:solidFill>
                  <a:srgbClr val="FF0000"/>
                </a:solidFill>
              </a:rPr>
              <a:t>变量</a:t>
            </a:r>
            <a:r>
              <a:rPr lang="en-US" altLang="zh-CN" dirty="0">
                <a:solidFill>
                  <a:srgbClr val="FF0000"/>
                </a:solidFill>
              </a:rPr>
              <a:t>p</a:t>
            </a:r>
            <a:r>
              <a:rPr lang="zh-CN" altLang="en-US" dirty="0">
                <a:solidFill>
                  <a:srgbClr val="FF0000"/>
                </a:solidFill>
              </a:rPr>
              <a:t>本身，分配在栈区，其指向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en-US" dirty="0">
                <a:solidFill>
                  <a:srgbClr val="FF0000"/>
                </a:solidFill>
              </a:rPr>
              <a:t>堆区中的一个地址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* p= new </a:t>
            </a:r>
            <a:r>
              <a:rPr lang="en-US" altLang="zh-CN" dirty="0" err="1"/>
              <a:t>int</a:t>
            </a:r>
            <a:r>
              <a:rPr lang="en-US" altLang="zh-CN" dirty="0"/>
              <a:t>(55); </a:t>
            </a:r>
            <a:br>
              <a:rPr lang="en-US" altLang="zh-CN" dirty="0"/>
            </a:br>
            <a:r>
              <a:rPr lang="en-US" altLang="zh-CN" dirty="0"/>
              <a:t>    …</a:t>
            </a:r>
          </a:p>
          <a:p>
            <a:pPr marL="0" indent="0">
              <a:buNone/>
            </a:pPr>
            <a:r>
              <a:rPr lang="en-US" altLang="zh-CN" dirty="0"/>
              <a:t>    delete p;</a:t>
            </a:r>
          </a:p>
          <a:p>
            <a:pPr marL="0" indent="0">
              <a:buNone/>
            </a:pPr>
            <a:r>
              <a:rPr lang="en-US" altLang="zh-C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738529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表达式说明</a:t>
            </a:r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941510" y="715036"/>
            <a:ext cx="10315962" cy="5573315"/>
          </a:xfrm>
          <a:prstGeom prst="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txBody>
          <a:bodyPr>
            <a:normAutofit fontScale="70000" lnSpcReduction="2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/>
              <a:t>一般表达式和返回值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/>
              <a:t>for</a:t>
            </a:r>
            <a:r>
              <a:rPr lang="zh-CN" altLang="en-US"/>
              <a:t>循环中的表达式：</a:t>
            </a:r>
            <a:br>
              <a:rPr lang="en-US" altLang="zh-CN"/>
            </a:br>
            <a:r>
              <a:rPr lang="en-US" altLang="zh-CN"/>
              <a:t>for(</a:t>
            </a:r>
            <a:r>
              <a:rPr lang="zh-CN" altLang="en-US"/>
              <a:t>初值表达式；条件表达式；步进表达式</a:t>
            </a:r>
            <a:r>
              <a:rPr lang="en-US" altLang="zh-CN"/>
              <a:t>)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/>
              <a:t>逗号表达式：</a:t>
            </a:r>
            <a:br>
              <a:rPr lang="zh-CN" altLang="en-US"/>
            </a:br>
            <a:r>
              <a:rPr lang="zh-CN" altLang="en-US"/>
              <a:t> 例：   </a:t>
            </a:r>
            <a:r>
              <a:rPr lang="en-US" altLang="zh-CN"/>
              <a:t>x=100, y=x-1000;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/>
              <a:t>条件表达式：</a:t>
            </a:r>
            <a:br>
              <a:rPr lang="zh-CN" altLang="en-US"/>
            </a:br>
            <a:r>
              <a:rPr lang="zh-CN" altLang="en-US"/>
              <a:t>例： </a:t>
            </a:r>
            <a:r>
              <a:rPr lang="en-US" altLang="zh-CN"/>
              <a:t>if (</a:t>
            </a:r>
            <a:r>
              <a:rPr lang="zh-CN" altLang="en-US"/>
              <a:t>表达式</a:t>
            </a:r>
            <a:r>
              <a:rPr lang="en-US" altLang="zh-CN"/>
              <a:t>1 &amp;&amp; </a:t>
            </a:r>
            <a:r>
              <a:rPr lang="zh-CN" altLang="en-US"/>
              <a:t>表达式</a:t>
            </a:r>
            <a:r>
              <a:rPr lang="en-US" altLang="zh-CN"/>
              <a:t>2</a:t>
            </a:r>
            <a:r>
              <a:rPr lang="zh-CN" altLang="en-US"/>
              <a:t>）</a:t>
            </a:r>
            <a:r>
              <a:rPr lang="en-US" altLang="zh-CN"/>
              <a:t>{…}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/>
              <a:t>赋值表达式</a:t>
            </a:r>
            <a:br>
              <a:rPr lang="zh-CN" altLang="en-US"/>
            </a:br>
            <a:r>
              <a:rPr lang="zh-CN" altLang="en-US">
                <a:sym typeface="+mn-ea"/>
              </a:rPr>
              <a:t> 例：  </a:t>
            </a:r>
            <a:r>
              <a:rPr lang="en-US" altLang="zh-CN">
                <a:sym typeface="+mn-ea"/>
              </a:rPr>
              <a:t>x=y=100+f(5);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>
                <a:sym typeface="+mn-ea"/>
              </a:rPr>
              <a:t>左值表达式：能够作为</a:t>
            </a:r>
            <a:r>
              <a:rPr lang="en-US" altLang="zh-CN">
                <a:sym typeface="+mn-ea"/>
              </a:rPr>
              <a:t>=</a:t>
            </a:r>
            <a:r>
              <a:rPr lang="zh-CN" altLang="en-US">
                <a:sym typeface="+mn-ea"/>
              </a:rPr>
              <a:t>号的左侧表达式，也可以作为右侧表达式</a:t>
            </a:r>
            <a:endParaRPr lang="en-US" altLang="zh-CN">
              <a:sym typeface="+mn-ea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>
                <a:sym typeface="+mn-ea"/>
              </a:rPr>
              <a:t>右值表达式：只能作为</a:t>
            </a:r>
            <a:r>
              <a:rPr lang="en-US" altLang="zh-CN">
                <a:sym typeface="+mn-ea"/>
              </a:rPr>
              <a:t>=</a:t>
            </a:r>
            <a:r>
              <a:rPr lang="zh-CN" altLang="en-US">
                <a:sym typeface="+mn-ea"/>
              </a:rPr>
              <a:t>号的右侧表达式</a:t>
            </a:r>
            <a:endParaRPr lang="zh-CN" altLang="en-US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/>
              <a:t>(C++1z) lambda</a:t>
            </a:r>
            <a:r>
              <a:rPr lang="zh-CN" altLang="en-US"/>
              <a:t>表达式</a:t>
            </a:r>
            <a:endParaRPr lang="en-US" altLang="zh-CN"/>
          </a:p>
          <a:p>
            <a:pPr lvl="1"/>
            <a:r>
              <a:rPr lang="zh-CN" altLang="en-US" sz="2200"/>
              <a:t>通用格式：   </a:t>
            </a:r>
            <a:r>
              <a:rPr lang="en-US" altLang="zh-CN" sz="2200"/>
              <a:t>[capture ] ( params ) mutable exception attribute -&gt; ret { body }	 </a:t>
            </a:r>
          </a:p>
          <a:p>
            <a:pPr lvl="1"/>
            <a:r>
              <a:rPr lang="zh-CN" altLang="en-US" sz="2200"/>
              <a:t>简化格式</a:t>
            </a:r>
            <a:r>
              <a:rPr lang="en-US" altLang="zh-CN" sz="2200"/>
              <a:t>1</a:t>
            </a:r>
            <a:r>
              <a:rPr lang="zh-CN" altLang="en-US" sz="2200"/>
              <a:t>： </a:t>
            </a:r>
            <a:r>
              <a:rPr lang="en-US" altLang="zh-CN" sz="2200"/>
              <a:t>[capture ] ( params ) -&gt; ret { body }		 </a:t>
            </a:r>
          </a:p>
          <a:p>
            <a:pPr lvl="1"/>
            <a:r>
              <a:rPr lang="zh-CN" altLang="en-US" sz="2200"/>
              <a:t>简化格式</a:t>
            </a:r>
            <a:r>
              <a:rPr lang="en-US" altLang="zh-CN" sz="2200"/>
              <a:t>2</a:t>
            </a:r>
            <a:r>
              <a:rPr lang="zh-CN" altLang="en-US" sz="2200"/>
              <a:t>： </a:t>
            </a:r>
            <a:r>
              <a:rPr lang="en-US" altLang="zh-CN" sz="2200"/>
              <a:t>[capture ] ( params ) { body }		 </a:t>
            </a:r>
          </a:p>
          <a:p>
            <a:pPr lvl="1"/>
            <a:r>
              <a:rPr lang="zh-CN" altLang="en-US" sz="2200"/>
              <a:t>简化格式</a:t>
            </a:r>
            <a:r>
              <a:rPr lang="en-US" altLang="zh-CN" sz="2200"/>
              <a:t>3</a:t>
            </a:r>
            <a:r>
              <a:rPr lang="zh-CN" altLang="en-US" sz="2200"/>
              <a:t>： </a:t>
            </a:r>
            <a:r>
              <a:rPr lang="en-US" altLang="zh-CN" sz="2200"/>
              <a:t>[capture ] { body }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8631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0603" y="0"/>
            <a:ext cx="4235254" cy="498717"/>
          </a:xfrm>
        </p:spPr>
        <p:txBody>
          <a:bodyPr/>
          <a:lstStyle/>
          <a:p>
            <a:r>
              <a:rPr lang="zh-CN" altLang="en-US" dirty="0"/>
              <a:t>附</a:t>
            </a:r>
            <a:r>
              <a:rPr lang="en-US" altLang="zh-CN" dirty="0"/>
              <a:t>:lambda</a:t>
            </a:r>
            <a:r>
              <a:rPr lang="zh-CN" altLang="en-US" dirty="0"/>
              <a:t>表达式简介</a:t>
            </a:r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503672" y="845971"/>
            <a:ext cx="11468146" cy="5400718"/>
          </a:xfrm>
          <a:prstGeom prst="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txBody>
          <a:bodyPr>
            <a:no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400" dirty="0"/>
              <a:t>Lambda</a:t>
            </a:r>
            <a:r>
              <a:rPr lang="zh-CN" altLang="en-US" sz="1400" dirty="0"/>
              <a:t>表达式代表的是一个匿名</a:t>
            </a:r>
            <a:r>
              <a:rPr lang="en-US" altLang="zh-CN" sz="1400" dirty="0"/>
              <a:t>(</a:t>
            </a:r>
            <a:r>
              <a:rPr lang="zh-CN" altLang="en-US" sz="1400" dirty="0"/>
              <a:t>无名</a:t>
            </a:r>
            <a:r>
              <a:rPr lang="en-US" altLang="zh-CN" sz="1400" dirty="0"/>
              <a:t>)</a:t>
            </a:r>
            <a:r>
              <a:rPr lang="zh-CN" altLang="en-US" sz="1400" dirty="0"/>
              <a:t>的函数。</a:t>
            </a:r>
          </a:p>
          <a:p>
            <a:pPr marL="0" indent="0">
              <a:buNone/>
            </a:pPr>
            <a:r>
              <a:rPr lang="en-US" altLang="zh-CN" sz="1400" dirty="0"/>
              <a:t>Lambda</a:t>
            </a:r>
            <a:r>
              <a:rPr lang="zh-CN" altLang="en-US" sz="1400" dirty="0"/>
              <a:t>表达式语法格式（</a:t>
            </a:r>
            <a:r>
              <a:rPr lang="en-US" altLang="zh-CN" sz="1400" dirty="0"/>
              <a:t>4</a:t>
            </a:r>
            <a:r>
              <a:rPr lang="zh-CN" altLang="en-US" sz="1400" dirty="0"/>
              <a:t>种）：</a:t>
            </a:r>
          </a:p>
          <a:p>
            <a:pPr marL="0" indent="0">
              <a:buNone/>
            </a:pPr>
            <a:r>
              <a:rPr lang="en-US" altLang="zh-CN" sz="1400" dirty="0"/>
              <a:t>[</a:t>
            </a:r>
            <a:r>
              <a:rPr lang="zh-CN" altLang="en-US" sz="1400" dirty="0"/>
              <a:t> </a:t>
            </a:r>
            <a:r>
              <a:rPr lang="en-US" altLang="zh-CN" sz="1400" dirty="0"/>
              <a:t>capture ] ( </a:t>
            </a:r>
            <a:r>
              <a:rPr lang="en-US" altLang="zh-CN" sz="1400" dirty="0" err="1"/>
              <a:t>params</a:t>
            </a:r>
            <a:r>
              <a:rPr lang="en-US" altLang="zh-CN" sz="1400" dirty="0"/>
              <a:t> ) mutable exception attribute -&gt; </a:t>
            </a:r>
            <a:r>
              <a:rPr lang="en-US" altLang="zh-CN" sz="1400" dirty="0" err="1"/>
              <a:t>retType</a:t>
            </a:r>
            <a:r>
              <a:rPr lang="en-US" altLang="zh-CN" sz="1400" dirty="0"/>
              <a:t> { body }</a:t>
            </a:r>
          </a:p>
          <a:p>
            <a:pPr marL="0" indent="0">
              <a:buNone/>
            </a:pPr>
            <a:r>
              <a:rPr lang="en-US" altLang="zh-CN" sz="1400" dirty="0"/>
              <a:t>[ capture ] ( </a:t>
            </a:r>
            <a:r>
              <a:rPr lang="en-US" altLang="zh-CN" sz="1400" dirty="0" err="1"/>
              <a:t>params</a:t>
            </a:r>
            <a:r>
              <a:rPr lang="en-US" altLang="zh-CN" sz="1400" dirty="0"/>
              <a:t> ) -&gt; </a:t>
            </a:r>
            <a:r>
              <a:rPr lang="en-US" altLang="zh-CN" sz="1400" dirty="0" err="1"/>
              <a:t>retType</a:t>
            </a:r>
            <a:r>
              <a:rPr lang="en-US" altLang="zh-CN" sz="1400" dirty="0"/>
              <a:t> { body }</a:t>
            </a:r>
          </a:p>
          <a:p>
            <a:pPr marL="0" indent="0">
              <a:buNone/>
            </a:pPr>
            <a:r>
              <a:rPr lang="en-US" altLang="zh-CN" sz="1400" dirty="0"/>
              <a:t>[ capture ] ( </a:t>
            </a:r>
            <a:r>
              <a:rPr lang="en-US" altLang="zh-CN" sz="1400" dirty="0" err="1"/>
              <a:t>params</a:t>
            </a:r>
            <a:r>
              <a:rPr lang="en-US" altLang="zh-CN" sz="1400" dirty="0"/>
              <a:t> ) { body }</a:t>
            </a:r>
          </a:p>
          <a:p>
            <a:pPr marL="0" indent="0">
              <a:buNone/>
            </a:pPr>
            <a:r>
              <a:rPr lang="en-US" altLang="zh-CN" sz="1400" dirty="0"/>
              <a:t>[ capture ] { body }</a:t>
            </a:r>
          </a:p>
          <a:p>
            <a:pPr marL="0" indent="0">
              <a:buNone/>
            </a:pPr>
            <a:r>
              <a:rPr lang="zh-CN" altLang="en-US" sz="1400" dirty="0"/>
              <a:t>其中</a:t>
            </a:r>
            <a:endParaRPr lang="en-US" altLang="zh-CN" sz="1400" dirty="0"/>
          </a:p>
          <a:p>
            <a:pPr marL="0" indent="0">
              <a:buNone/>
            </a:pPr>
            <a:r>
              <a:rPr lang="en-US" altLang="zh-CN" sz="1400" dirty="0"/>
              <a:t>(1) </a:t>
            </a:r>
            <a:r>
              <a:rPr lang="zh-CN" altLang="en-US" sz="1400" dirty="0"/>
              <a:t>是完整的 </a:t>
            </a:r>
            <a:r>
              <a:rPr lang="en-US" altLang="zh-CN" sz="1400" dirty="0"/>
              <a:t>lambda </a:t>
            </a:r>
            <a:r>
              <a:rPr lang="zh-CN" altLang="en-US" sz="1400" dirty="0"/>
              <a:t>表达式形式</a:t>
            </a:r>
            <a:r>
              <a:rPr lang="en-US" altLang="zh-CN" sz="1400" dirty="0"/>
              <a:t>;</a:t>
            </a:r>
          </a:p>
          <a:p>
            <a:pPr marL="0" indent="0">
              <a:buNone/>
            </a:pPr>
            <a:r>
              <a:rPr lang="en-US" altLang="zh-CN" sz="1400" dirty="0"/>
              <a:t>(3)</a:t>
            </a:r>
            <a:r>
              <a:rPr lang="zh-CN" altLang="en-US" sz="1400" dirty="0"/>
              <a:t> 是省略了返回值类型的 </a:t>
            </a:r>
            <a:r>
              <a:rPr lang="en-US" altLang="zh-CN" sz="1400" dirty="0"/>
              <a:t>lambda </a:t>
            </a:r>
            <a:r>
              <a:rPr lang="zh-CN" altLang="en-US" sz="1400" dirty="0"/>
              <a:t>表达式，函数返回值类型由</a:t>
            </a:r>
            <a:r>
              <a:rPr lang="en-US" altLang="zh-CN" sz="1400" dirty="0"/>
              <a:t>body</a:t>
            </a:r>
            <a:r>
              <a:rPr lang="zh-CN" altLang="en-US" sz="1400" dirty="0"/>
              <a:t>自动推演出来。</a:t>
            </a:r>
            <a:endParaRPr lang="en-US" altLang="zh-CN" sz="1400" dirty="0"/>
          </a:p>
          <a:p>
            <a:pPr marL="0" indent="0">
              <a:buNone/>
            </a:pPr>
            <a:r>
              <a:rPr lang="en-US" altLang="zh-CN" sz="1400" dirty="0"/>
              <a:t>(4)</a:t>
            </a:r>
            <a:r>
              <a:rPr lang="zh-CN" altLang="en-US" sz="1400" dirty="0"/>
              <a:t>省略了参数列表，类似于无参函数 </a:t>
            </a:r>
            <a:r>
              <a:rPr lang="en-US" altLang="zh-CN" sz="1400" dirty="0"/>
              <a:t>f( )</a:t>
            </a:r>
            <a:r>
              <a:rPr lang="zh-CN" altLang="en-US" sz="1400" dirty="0"/>
              <a:t>。 </a:t>
            </a:r>
            <a:endParaRPr lang="en-US" altLang="zh-CN" sz="1400" dirty="0"/>
          </a:p>
          <a:p>
            <a:pPr marL="0" indent="0">
              <a:buNone/>
            </a:pPr>
            <a:endParaRPr lang="en-US" altLang="zh-CN" sz="1400" dirty="0"/>
          </a:p>
          <a:p>
            <a:pPr marL="0" indent="0">
              <a:buNone/>
            </a:pPr>
            <a:r>
              <a:rPr lang="en-US" altLang="zh-CN" sz="1400" dirty="0"/>
              <a:t>mutable </a:t>
            </a:r>
            <a:r>
              <a:rPr lang="zh-CN" altLang="en-US" sz="1400" dirty="0"/>
              <a:t>修饰符表明</a:t>
            </a:r>
            <a:r>
              <a:rPr lang="en-US" altLang="zh-CN" sz="1400" dirty="0"/>
              <a:t>body</a:t>
            </a:r>
            <a:r>
              <a:rPr lang="zh-CN" altLang="en-US" sz="1400" dirty="0"/>
              <a:t>内的代码可以修改被捕获</a:t>
            </a:r>
            <a:r>
              <a:rPr lang="en-US" altLang="zh-CN" sz="1400" dirty="0"/>
              <a:t>(capture)</a:t>
            </a:r>
            <a:r>
              <a:rPr lang="zh-CN" altLang="en-US" sz="1400" dirty="0"/>
              <a:t>的变量，并且可以访问被捕获对象的 </a:t>
            </a:r>
            <a:r>
              <a:rPr lang="en-US" altLang="zh-CN" sz="1400" dirty="0"/>
              <a:t>non-</a:t>
            </a:r>
            <a:r>
              <a:rPr lang="en-US" altLang="zh-CN" sz="1400" dirty="0" err="1"/>
              <a:t>const</a:t>
            </a:r>
            <a:r>
              <a:rPr lang="en-US" altLang="zh-CN" sz="1400" dirty="0"/>
              <a:t> </a:t>
            </a:r>
            <a:r>
              <a:rPr lang="zh-CN" altLang="en-US" sz="1400" dirty="0"/>
              <a:t>方法。</a:t>
            </a:r>
            <a:r>
              <a:rPr lang="en-US" altLang="zh-CN" sz="1400" dirty="0"/>
              <a:t>exception </a:t>
            </a:r>
            <a:r>
              <a:rPr lang="zh-CN" altLang="en-US" sz="1400" dirty="0"/>
              <a:t>说明 </a:t>
            </a:r>
            <a:r>
              <a:rPr lang="en-US" altLang="zh-CN" sz="1400" dirty="0"/>
              <a:t>lambda </a:t>
            </a:r>
            <a:r>
              <a:rPr lang="zh-CN" altLang="en-US" sz="1400" dirty="0"/>
              <a:t>表达式是否抛出异常</a:t>
            </a:r>
            <a:r>
              <a:rPr lang="en-US" altLang="zh-CN" sz="1400" dirty="0"/>
              <a:t>(</a:t>
            </a:r>
            <a:r>
              <a:rPr lang="en-US" altLang="zh-CN" sz="1400" dirty="0" err="1"/>
              <a:t>noexcept</a:t>
            </a:r>
            <a:r>
              <a:rPr lang="en-US" altLang="zh-CN" sz="1400" dirty="0"/>
              <a:t>)</a:t>
            </a:r>
            <a:r>
              <a:rPr lang="zh-CN" altLang="en-US" sz="1400" dirty="0"/>
              <a:t>，以及抛出何种异常，类似于</a:t>
            </a:r>
            <a:r>
              <a:rPr lang="en-US" altLang="zh-CN" sz="1400" dirty="0"/>
              <a:t>void f() throw(X, Y)</a:t>
            </a:r>
            <a:r>
              <a:rPr lang="zh-CN" altLang="en-US" sz="1400" dirty="0"/>
              <a:t>。</a:t>
            </a:r>
            <a:r>
              <a:rPr lang="en-US" altLang="zh-CN" sz="1400" dirty="0"/>
              <a:t>attribute </a:t>
            </a:r>
            <a:r>
              <a:rPr lang="zh-CN" altLang="en-US" sz="1400" dirty="0"/>
              <a:t>用来声明属性。</a:t>
            </a:r>
            <a:r>
              <a:rPr lang="en-US" altLang="zh-CN" sz="1400" dirty="0" err="1"/>
              <a:t>retType</a:t>
            </a:r>
            <a:r>
              <a:rPr lang="zh-CN" altLang="en-US" sz="1400" dirty="0"/>
              <a:t>指明返回类型，可以明确地指定，如</a:t>
            </a:r>
            <a:r>
              <a:rPr lang="en-US" altLang="zh-CN" sz="1400" dirty="0" err="1"/>
              <a:t>int</a:t>
            </a:r>
            <a:r>
              <a:rPr lang="zh-CN" altLang="en-US" sz="1400" dirty="0"/>
              <a:t>，</a:t>
            </a:r>
            <a:r>
              <a:rPr lang="en-US" altLang="zh-CN" sz="1400" dirty="0" err="1"/>
              <a:t>bool</a:t>
            </a:r>
            <a:r>
              <a:rPr lang="en-US" altLang="zh-CN" sz="1400" dirty="0"/>
              <a:t>,</a:t>
            </a:r>
            <a:r>
              <a:rPr lang="zh-CN" altLang="en-US" sz="1400" dirty="0"/>
              <a:t>自定义类型等，也可以是</a:t>
            </a:r>
            <a:r>
              <a:rPr lang="en-US" altLang="zh-CN" sz="1400" dirty="0" err="1"/>
              <a:t>decltype</a:t>
            </a:r>
            <a:r>
              <a:rPr lang="zh-CN" altLang="en-US" sz="1400" dirty="0"/>
              <a:t>推演类型。</a:t>
            </a:r>
            <a:br>
              <a:rPr lang="en-US" altLang="zh-CN" sz="1400" dirty="0"/>
            </a:br>
            <a:endParaRPr lang="zh-CN" altLang="en-US" sz="1400" dirty="0"/>
          </a:p>
          <a:p>
            <a:pPr marL="0" indent="0">
              <a:buNone/>
            </a:pPr>
            <a:r>
              <a:rPr lang="en-US" altLang="zh-CN" sz="1400" dirty="0"/>
              <a:t>capture </a:t>
            </a:r>
            <a:r>
              <a:rPr lang="zh-CN" altLang="en-US" sz="1400" dirty="0"/>
              <a:t>指定了</a:t>
            </a:r>
            <a:r>
              <a:rPr lang="en-US" altLang="zh-CN" sz="1400" dirty="0"/>
              <a:t>body</a:t>
            </a:r>
            <a:r>
              <a:rPr lang="zh-CN" altLang="en-US" sz="1400" dirty="0"/>
              <a:t>中可以访问的外部变量列表，具体解释如下：</a:t>
            </a:r>
            <a:endParaRPr lang="en-US" altLang="zh-CN" sz="1400" dirty="0"/>
          </a:p>
          <a:p>
            <a:pPr marL="0" indent="0">
              <a:buNone/>
            </a:pPr>
            <a:r>
              <a:rPr lang="en-US" altLang="zh-CN" sz="1400" dirty="0"/>
              <a:t>[</a:t>
            </a:r>
            <a:r>
              <a:rPr lang="en-US" altLang="zh-CN" sz="1400" dirty="0" err="1"/>
              <a:t>a,&amp;b</a:t>
            </a:r>
            <a:r>
              <a:rPr lang="en-US" altLang="zh-CN" sz="1400" dirty="0"/>
              <a:t>]</a:t>
            </a:r>
            <a:r>
              <a:rPr lang="zh-CN" altLang="en-US" sz="1400" dirty="0"/>
              <a:t>以传值的方式捕获</a:t>
            </a:r>
            <a:r>
              <a:rPr lang="en-US" altLang="zh-CN" sz="1400" dirty="0"/>
              <a:t>a</a:t>
            </a:r>
            <a:r>
              <a:rPr lang="zh-CN" altLang="en-US" sz="1400" dirty="0"/>
              <a:t>变量，以引用的方式捕获</a:t>
            </a:r>
            <a:r>
              <a:rPr lang="en-US" altLang="zh-CN" sz="1400" dirty="0"/>
              <a:t>b</a:t>
            </a:r>
            <a:r>
              <a:rPr lang="zh-CN" altLang="en-US" sz="1400" dirty="0"/>
              <a:t>变量。</a:t>
            </a:r>
            <a:endParaRPr lang="en-US" altLang="zh-CN" sz="1400" dirty="0"/>
          </a:p>
          <a:p>
            <a:pPr marL="0" indent="0">
              <a:buNone/>
            </a:pPr>
            <a:r>
              <a:rPr lang="en-US" altLang="zh-CN" sz="1400" dirty="0"/>
              <a:t>[this] </a:t>
            </a:r>
            <a:r>
              <a:rPr lang="zh-CN" altLang="en-US" sz="1400" dirty="0"/>
              <a:t>以传值的方式捕获 </a:t>
            </a:r>
            <a:r>
              <a:rPr lang="en-US" altLang="zh-CN" sz="1400" dirty="0"/>
              <a:t>this </a:t>
            </a:r>
            <a:r>
              <a:rPr lang="zh-CN" altLang="en-US" sz="1400" dirty="0"/>
              <a:t>指针。</a:t>
            </a:r>
            <a:endParaRPr lang="en-US" altLang="zh-CN" sz="1400" dirty="0"/>
          </a:p>
          <a:p>
            <a:pPr marL="0" indent="0">
              <a:buNone/>
            </a:pPr>
            <a:r>
              <a:rPr lang="en-US" altLang="zh-CN" sz="1400" dirty="0"/>
              <a:t>[&amp;] </a:t>
            </a:r>
            <a:r>
              <a:rPr lang="zh-CN" altLang="en-US" sz="1400" dirty="0"/>
              <a:t>以引用的方式捕获所有的外部自动变量，可修改外部量。</a:t>
            </a:r>
            <a:endParaRPr lang="en-US" altLang="zh-CN" sz="1400" dirty="0"/>
          </a:p>
          <a:p>
            <a:pPr marL="0" indent="0">
              <a:buNone/>
            </a:pPr>
            <a:r>
              <a:rPr lang="en-US" altLang="zh-CN" sz="1400" dirty="0"/>
              <a:t>[=] </a:t>
            </a:r>
            <a:r>
              <a:rPr lang="zh-CN" altLang="en-US" sz="1400" dirty="0"/>
              <a:t>以传值的方式捕获所有的外部自动变量，不可修改外部量。</a:t>
            </a:r>
            <a:endParaRPr lang="en-US" altLang="zh-CN" sz="1400" dirty="0"/>
          </a:p>
          <a:p>
            <a:pPr marL="0" indent="0">
              <a:buNone/>
            </a:pPr>
            <a:r>
              <a:rPr lang="en-US" altLang="zh-CN" sz="1400" dirty="0"/>
              <a:t>[ ]   </a:t>
            </a:r>
            <a:r>
              <a:rPr lang="zh-CN" altLang="en-US" sz="1400" dirty="0"/>
              <a:t>不捕获外部的任何变量。</a:t>
            </a:r>
          </a:p>
        </p:txBody>
      </p:sp>
    </p:spTree>
    <p:extLst>
      <p:ext uri="{BB962C8B-B14F-4D97-AF65-F5344CB8AC3E}">
        <p14:creationId xmlns:p14="http://schemas.microsoft.com/office/powerpoint/2010/main" val="28842408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附</a:t>
            </a:r>
            <a:r>
              <a:rPr lang="en-US" altLang="zh-CN" dirty="0"/>
              <a:t>:lambda</a:t>
            </a:r>
            <a:r>
              <a:rPr lang="zh-CN" altLang="en-US" dirty="0"/>
              <a:t>表达式例</a:t>
            </a:r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571802" y="676964"/>
            <a:ext cx="5075961" cy="2198368"/>
          </a:xfrm>
          <a:prstGeom prst="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txBody>
          <a:bodyPr>
            <a:no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400"/>
              <a:t>#include &lt;iostream&gt;</a:t>
            </a:r>
          </a:p>
          <a:p>
            <a:pPr marL="0" indent="0">
              <a:buNone/>
            </a:pPr>
            <a:r>
              <a:rPr lang="en-US" altLang="zh-CN" sz="1400"/>
              <a:t>using namespace std;</a:t>
            </a:r>
          </a:p>
          <a:p>
            <a:pPr marL="0" indent="0">
              <a:buNone/>
            </a:pPr>
            <a:r>
              <a:rPr lang="en-US" altLang="zh-CN" sz="1400"/>
              <a:t>void show(int a,int b,int c) {</a:t>
            </a:r>
          </a:p>
          <a:p>
            <a:pPr marL="0" indent="0">
              <a:buNone/>
            </a:pPr>
            <a:r>
              <a:rPr lang="en-US" altLang="zh-CN" sz="1400"/>
              <a:t>    cout&lt;&lt;"a="&lt;&lt;a&lt;&lt;"\t";</a:t>
            </a:r>
          </a:p>
          <a:p>
            <a:pPr marL="0" indent="0">
              <a:buNone/>
            </a:pPr>
            <a:r>
              <a:rPr lang="en-US" altLang="zh-CN" sz="1400"/>
              <a:t>    cout&lt;&lt;"b="&lt;&lt;b&lt;&lt;"\t";</a:t>
            </a:r>
          </a:p>
          <a:p>
            <a:pPr marL="0" indent="0">
              <a:buNone/>
            </a:pPr>
            <a:r>
              <a:rPr lang="en-US" altLang="zh-CN" sz="1400"/>
              <a:t>    cout&lt;&lt;"c="&lt;&lt;c&lt;&lt;endl;</a:t>
            </a:r>
          </a:p>
          <a:p>
            <a:pPr marL="0" indent="0">
              <a:buNone/>
            </a:pPr>
            <a:r>
              <a:rPr lang="en-US" altLang="zh-CN" sz="1400"/>
              <a:t>}</a:t>
            </a:r>
            <a:endParaRPr lang="en-US" altLang="zh-CN" sz="1400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571802" y="2957431"/>
            <a:ext cx="5075961" cy="3720787"/>
          </a:xfrm>
          <a:prstGeom prst="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txBody>
          <a:bodyPr>
            <a:normAutofit fontScale="77500" lnSpcReduction="2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500"/>
              <a:t>int main( ) {</a:t>
            </a:r>
          </a:p>
          <a:p>
            <a:pPr marL="0" indent="0">
              <a:buNone/>
            </a:pPr>
            <a:r>
              <a:rPr lang="en-US" altLang="zh-CN" sz="2500"/>
              <a:t>    int a = 10;     int b = 20;     int c = 40;</a:t>
            </a:r>
          </a:p>
          <a:p>
            <a:pPr marL="0" indent="0">
              <a:buNone/>
            </a:pPr>
            <a:r>
              <a:rPr lang="en-US" altLang="zh-CN" sz="2500"/>
              <a:t>    auto func1 = []( int &amp; n ) { return n +  5; };</a:t>
            </a:r>
          </a:p>
          <a:p>
            <a:pPr marL="0" indent="0">
              <a:buNone/>
            </a:pPr>
            <a:r>
              <a:rPr lang="en-US" altLang="zh-CN" sz="2500"/>
              <a:t>    show(a,b,c);      /// </a:t>
            </a:r>
            <a:r>
              <a:rPr lang="zh-CN" altLang="en-US" sz="2500"/>
              <a:t>输出 </a:t>
            </a:r>
            <a:r>
              <a:rPr lang="en-US" altLang="zh-CN" sz="2500"/>
              <a:t>a= 10  b=20  c= 40</a:t>
            </a:r>
          </a:p>
          <a:p>
            <a:pPr marL="0" indent="0">
              <a:buNone/>
            </a:pPr>
            <a:r>
              <a:rPr lang="en-US" altLang="zh-CN" sz="2500"/>
              <a:t>    show(a,b,func1(c)); /// </a:t>
            </a:r>
            <a:r>
              <a:rPr lang="zh-CN" altLang="en-US" sz="2500"/>
              <a:t>输出 </a:t>
            </a:r>
            <a:r>
              <a:rPr lang="en-US" altLang="zh-CN" sz="2500"/>
              <a:t>a= 10  b=20  c= 45</a:t>
            </a:r>
          </a:p>
          <a:p>
            <a:pPr marL="0" indent="0">
              <a:buNone/>
            </a:pPr>
            <a:r>
              <a:rPr lang="en-US" altLang="zh-CN" sz="2500"/>
              <a:t>    show(a,b,c);      /// </a:t>
            </a:r>
            <a:r>
              <a:rPr lang="zh-CN" altLang="en-US" sz="2500"/>
              <a:t>输出 </a:t>
            </a:r>
            <a:r>
              <a:rPr lang="en-US" altLang="zh-CN" sz="2500"/>
              <a:t>a= 10  b=20  c= 40 </a:t>
            </a:r>
          </a:p>
          <a:p>
            <a:pPr marL="0" indent="0">
              <a:buNone/>
            </a:pPr>
            <a:r>
              <a:rPr lang="en-US" altLang="zh-CN" sz="2500"/>
              <a:t>    auto func2 = []( int &amp; n ) { return n += 5; };</a:t>
            </a:r>
          </a:p>
          <a:p>
            <a:pPr marL="0" indent="0">
              <a:buNone/>
            </a:pPr>
            <a:r>
              <a:rPr lang="en-US" altLang="zh-CN" sz="2500">
                <a:solidFill>
                  <a:srgbClr val="FF0000"/>
                </a:solidFill>
              </a:rPr>
              <a:t>    //auto func2 = []( int &amp; n ) { return n += 5 + a; };</a:t>
            </a:r>
          </a:p>
          <a:p>
            <a:pPr marL="0" indent="0">
              <a:buNone/>
            </a:pPr>
            <a:r>
              <a:rPr lang="en-US" altLang="zh-CN" sz="2500">
                <a:solidFill>
                  <a:srgbClr val="FF0000"/>
                </a:solidFill>
              </a:rPr>
              <a:t>    //Error:</a:t>
            </a:r>
            <a:r>
              <a:rPr lang="zh-CN" altLang="en-US" sz="2500">
                <a:solidFill>
                  <a:srgbClr val="FF0000"/>
                </a:solidFill>
              </a:rPr>
              <a:t>不能访问</a:t>
            </a:r>
            <a:r>
              <a:rPr lang="en-US" altLang="zh-CN" sz="2500">
                <a:solidFill>
                  <a:srgbClr val="FF0000"/>
                </a:solidFill>
              </a:rPr>
              <a:t>a</a:t>
            </a:r>
          </a:p>
          <a:p>
            <a:pPr marL="0" indent="0">
              <a:buNone/>
            </a:pPr>
            <a:r>
              <a:rPr lang="en-US" altLang="zh-CN" sz="2500"/>
              <a:t>    show(a,b,c);      /// </a:t>
            </a:r>
            <a:r>
              <a:rPr lang="zh-CN" altLang="en-US" sz="2500"/>
              <a:t>输出 </a:t>
            </a:r>
            <a:r>
              <a:rPr lang="en-US" altLang="zh-CN" sz="2500"/>
              <a:t>a= 10  b=20  c= 40</a:t>
            </a:r>
          </a:p>
          <a:p>
            <a:pPr marL="0" indent="0">
              <a:buNone/>
            </a:pPr>
            <a:r>
              <a:rPr lang="en-US" altLang="zh-CN" sz="2500"/>
              <a:t>    show(a,b,func2(c)); /// </a:t>
            </a:r>
            <a:r>
              <a:rPr lang="zh-CN" altLang="en-US" sz="2500"/>
              <a:t>输出 </a:t>
            </a:r>
            <a:r>
              <a:rPr lang="en-US" altLang="zh-CN" sz="2500"/>
              <a:t>a= 10  b=20  c= 45</a:t>
            </a:r>
          </a:p>
          <a:p>
            <a:pPr marL="0" indent="0">
              <a:buNone/>
            </a:pPr>
            <a:r>
              <a:rPr lang="en-US" altLang="zh-CN" sz="2500"/>
              <a:t>    show(a,b,c);      /// </a:t>
            </a:r>
            <a:r>
              <a:rPr lang="zh-CN" altLang="en-US" sz="2500"/>
              <a:t>输出 </a:t>
            </a:r>
            <a:r>
              <a:rPr lang="en-US" altLang="zh-CN" sz="2500"/>
              <a:t>a= 10  b=20  c= 45</a:t>
            </a:r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5822829" y="661809"/>
            <a:ext cx="6369171" cy="6016409"/>
          </a:xfrm>
          <a:prstGeom prst="rect">
            <a:avLst/>
          </a:prstGeom>
          <a:ln>
            <a:solidFill>
              <a:srgbClr val="FF6600"/>
            </a:solidFill>
          </a:ln>
        </p:spPr>
        <p:txBody>
          <a:bodyPr>
            <a:normAutofit fontScale="25000" lnSpcReduction="2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4800"/>
              <a:t>auto func2 = []( int &amp; n ) { return n += 5; };</a:t>
            </a:r>
          </a:p>
          <a:p>
            <a:pPr marL="0" indent="0">
              <a:buNone/>
            </a:pPr>
            <a:r>
              <a:rPr lang="en-US" altLang="zh-CN" sz="4800">
                <a:solidFill>
                  <a:srgbClr val="FF0000"/>
                </a:solidFill>
              </a:rPr>
              <a:t>//auto func2 = []( int &amp; n ) { return n += 5 + a; }; //Error:</a:t>
            </a:r>
            <a:r>
              <a:rPr lang="zh-CN" altLang="en-US" sz="4800">
                <a:solidFill>
                  <a:srgbClr val="FF0000"/>
                </a:solidFill>
              </a:rPr>
              <a:t>不能访问</a:t>
            </a:r>
            <a:r>
              <a:rPr lang="en-US" altLang="zh-CN" sz="4800">
                <a:solidFill>
                  <a:srgbClr val="FF0000"/>
                </a:solidFill>
              </a:rPr>
              <a:t>a</a:t>
            </a:r>
          </a:p>
          <a:p>
            <a:pPr marL="0" indent="0">
              <a:buNone/>
            </a:pPr>
            <a:r>
              <a:rPr lang="en-US" altLang="zh-CN" sz="4800"/>
              <a:t>show(a,b,c);      /// </a:t>
            </a:r>
            <a:r>
              <a:rPr lang="zh-CN" altLang="en-US" sz="4800"/>
              <a:t>输出 </a:t>
            </a:r>
            <a:r>
              <a:rPr lang="en-US" altLang="zh-CN" sz="4800"/>
              <a:t>a= 10  b=20  c= 40</a:t>
            </a:r>
          </a:p>
          <a:p>
            <a:pPr marL="0" indent="0">
              <a:buNone/>
            </a:pPr>
            <a:r>
              <a:rPr lang="en-US" altLang="zh-CN" sz="4800"/>
              <a:t>show(a,b,func2(c)); /// </a:t>
            </a:r>
            <a:r>
              <a:rPr lang="zh-CN" altLang="en-US" sz="4800"/>
              <a:t>输出 </a:t>
            </a:r>
            <a:r>
              <a:rPr lang="en-US" altLang="zh-CN" sz="4800"/>
              <a:t>a= 10  b=20  c= 45</a:t>
            </a:r>
          </a:p>
          <a:p>
            <a:pPr marL="0" indent="0">
              <a:buNone/>
            </a:pPr>
            <a:r>
              <a:rPr lang="en-US" altLang="zh-CN" sz="4800"/>
              <a:t>show(a,b,c);      /// </a:t>
            </a:r>
            <a:r>
              <a:rPr lang="zh-CN" altLang="en-US" sz="4800"/>
              <a:t>输出 </a:t>
            </a:r>
            <a:r>
              <a:rPr lang="en-US" altLang="zh-CN" sz="4800"/>
              <a:t>a= 10  b=20  c= 45</a:t>
            </a:r>
            <a:br>
              <a:rPr lang="en-US" altLang="zh-CN" sz="4800"/>
            </a:br>
            <a:endParaRPr lang="en-US" altLang="zh-CN" sz="4800"/>
          </a:p>
          <a:p>
            <a:pPr marL="0" indent="0">
              <a:buNone/>
            </a:pPr>
            <a:r>
              <a:rPr lang="en-US" altLang="zh-CN" sz="4800"/>
              <a:t>auto func3 = [=]( int &amp; n ) { return n += a+b; };</a:t>
            </a:r>
          </a:p>
          <a:p>
            <a:pPr marL="0" indent="0">
              <a:buNone/>
            </a:pPr>
            <a:r>
              <a:rPr lang="en-US" altLang="zh-CN" sz="4800">
                <a:solidFill>
                  <a:srgbClr val="FF0000"/>
                </a:solidFill>
              </a:rPr>
              <a:t>//auto func3 = [=]( int &amp; n ) { a=b; return n += a+b; }; /// Error:</a:t>
            </a:r>
            <a:r>
              <a:rPr lang="zh-CN" altLang="en-US" sz="4800">
                <a:solidFill>
                  <a:srgbClr val="FF0000"/>
                </a:solidFill>
              </a:rPr>
              <a:t>不能修改</a:t>
            </a:r>
            <a:r>
              <a:rPr lang="en-US" altLang="zh-CN" sz="4800">
                <a:solidFill>
                  <a:srgbClr val="FF0000"/>
                </a:solidFill>
              </a:rPr>
              <a:t>a</a:t>
            </a:r>
          </a:p>
          <a:p>
            <a:pPr marL="0" indent="0">
              <a:buNone/>
            </a:pPr>
            <a:r>
              <a:rPr lang="en-US" altLang="zh-CN" sz="4800"/>
              <a:t>show(a,b,c);      /// </a:t>
            </a:r>
            <a:r>
              <a:rPr lang="zh-CN" altLang="en-US" sz="4800"/>
              <a:t>输出 </a:t>
            </a:r>
            <a:r>
              <a:rPr lang="en-US" altLang="zh-CN" sz="4800"/>
              <a:t>a= 10  b=20  c= 45</a:t>
            </a:r>
          </a:p>
          <a:p>
            <a:pPr marL="0" indent="0">
              <a:buNone/>
            </a:pPr>
            <a:r>
              <a:rPr lang="en-US" altLang="zh-CN" sz="4800"/>
              <a:t>show(a,b,func3(c)); /// </a:t>
            </a:r>
            <a:r>
              <a:rPr lang="zh-CN" altLang="en-US" sz="4800"/>
              <a:t>输出 </a:t>
            </a:r>
            <a:r>
              <a:rPr lang="en-US" altLang="zh-CN" sz="4800"/>
              <a:t>a= 10  b=20  c= 75</a:t>
            </a:r>
          </a:p>
          <a:p>
            <a:pPr marL="0" indent="0">
              <a:buNone/>
            </a:pPr>
            <a:r>
              <a:rPr lang="en-US" altLang="zh-CN" sz="4800"/>
              <a:t>show(a,b,c);      /// </a:t>
            </a:r>
            <a:r>
              <a:rPr lang="zh-CN" altLang="en-US" sz="4800"/>
              <a:t>输出 </a:t>
            </a:r>
            <a:r>
              <a:rPr lang="en-US" altLang="zh-CN" sz="4800"/>
              <a:t>a= 10  b=20  c= 75</a:t>
            </a:r>
            <a:br>
              <a:rPr lang="en-US" altLang="zh-CN" sz="4800"/>
            </a:br>
            <a:endParaRPr lang="en-US" altLang="zh-CN" sz="4800"/>
          </a:p>
          <a:p>
            <a:pPr marL="0" indent="0">
              <a:buNone/>
            </a:pPr>
            <a:r>
              <a:rPr lang="en-US" altLang="zh-CN" sz="4800"/>
              <a:t> auto func4 = [a]( int &amp; n ) { return n += a; };</a:t>
            </a:r>
          </a:p>
          <a:p>
            <a:pPr marL="0" indent="0">
              <a:buNone/>
            </a:pPr>
            <a:r>
              <a:rPr lang="en-US" altLang="zh-CN" sz="4800">
                <a:solidFill>
                  <a:srgbClr val="FF0000"/>
                </a:solidFill>
              </a:rPr>
              <a:t>//auto func4 = [a]( int &amp; n ) { return n += a+b; };      /// Error:</a:t>
            </a:r>
            <a:r>
              <a:rPr lang="zh-CN" altLang="en-US" sz="4800">
                <a:solidFill>
                  <a:srgbClr val="FF0000"/>
                </a:solidFill>
              </a:rPr>
              <a:t>不能访问</a:t>
            </a:r>
            <a:r>
              <a:rPr lang="en-US" altLang="zh-CN" sz="4800">
                <a:solidFill>
                  <a:srgbClr val="FF0000"/>
                </a:solidFill>
              </a:rPr>
              <a:t>b</a:t>
            </a:r>
          </a:p>
          <a:p>
            <a:pPr marL="0" indent="0">
              <a:buNone/>
            </a:pPr>
            <a:r>
              <a:rPr lang="en-US" altLang="zh-CN" sz="4800">
                <a:solidFill>
                  <a:srgbClr val="FF0000"/>
                </a:solidFill>
              </a:rPr>
              <a:t>//auto func4 = [a]( int &amp; n ) { a= 99; return n += a; }; /// Error:</a:t>
            </a:r>
            <a:r>
              <a:rPr lang="zh-CN" altLang="en-US" sz="4800">
                <a:solidFill>
                  <a:srgbClr val="FF0000"/>
                </a:solidFill>
              </a:rPr>
              <a:t>不能修改</a:t>
            </a:r>
            <a:r>
              <a:rPr lang="en-US" altLang="zh-CN" sz="4800">
                <a:solidFill>
                  <a:srgbClr val="FF0000"/>
                </a:solidFill>
              </a:rPr>
              <a:t>a</a:t>
            </a:r>
          </a:p>
          <a:p>
            <a:pPr marL="0" indent="0">
              <a:buNone/>
            </a:pPr>
            <a:r>
              <a:rPr lang="en-US" altLang="zh-CN" sz="4800"/>
              <a:t>show(a,b,c);        /// </a:t>
            </a:r>
            <a:r>
              <a:rPr lang="zh-CN" altLang="en-US" sz="4800"/>
              <a:t>输出 </a:t>
            </a:r>
            <a:r>
              <a:rPr lang="en-US" altLang="zh-CN" sz="4800"/>
              <a:t>a= 10  b=20  c= 75</a:t>
            </a:r>
          </a:p>
          <a:p>
            <a:pPr marL="0" indent="0">
              <a:buNone/>
            </a:pPr>
            <a:r>
              <a:rPr lang="en-US" altLang="zh-CN" sz="4800"/>
              <a:t>show(a,b,func4(c));  /// </a:t>
            </a:r>
            <a:r>
              <a:rPr lang="zh-CN" altLang="en-US" sz="4800"/>
              <a:t>输出 </a:t>
            </a:r>
            <a:r>
              <a:rPr lang="en-US" altLang="zh-CN" sz="4800"/>
              <a:t>a= 10  b=20  c= 85</a:t>
            </a:r>
          </a:p>
          <a:p>
            <a:pPr marL="0" indent="0">
              <a:buNone/>
            </a:pPr>
            <a:r>
              <a:rPr lang="en-US" altLang="zh-CN" sz="4800"/>
              <a:t>show(a,b,c);        /// </a:t>
            </a:r>
            <a:r>
              <a:rPr lang="zh-CN" altLang="en-US" sz="4800"/>
              <a:t>输出 </a:t>
            </a:r>
            <a:r>
              <a:rPr lang="en-US" altLang="zh-CN" sz="4800"/>
              <a:t>a= 10  b=20  c= 85</a:t>
            </a:r>
            <a:br>
              <a:rPr lang="en-US" altLang="zh-CN" sz="4800"/>
            </a:br>
            <a:endParaRPr lang="en-US" altLang="zh-CN" sz="4800"/>
          </a:p>
          <a:p>
            <a:pPr marL="0" indent="0">
              <a:buNone/>
            </a:pPr>
            <a:r>
              <a:rPr lang="en-US" altLang="zh-CN" sz="4800"/>
              <a:t>auto func5 = [&amp;b,a]( int &amp; n ) { ++b; return n += a+b; };</a:t>
            </a:r>
          </a:p>
          <a:p>
            <a:pPr marL="0" indent="0">
              <a:buNone/>
            </a:pPr>
            <a:r>
              <a:rPr lang="en-US" altLang="zh-CN" sz="4800"/>
              <a:t>show(a,b,c);        /// </a:t>
            </a:r>
            <a:r>
              <a:rPr lang="zh-CN" altLang="en-US" sz="4800"/>
              <a:t>输出 </a:t>
            </a:r>
            <a:r>
              <a:rPr lang="en-US" altLang="zh-CN" sz="4800"/>
              <a:t>a= 10  b=20  c= 85</a:t>
            </a:r>
          </a:p>
          <a:p>
            <a:pPr marL="0" indent="0">
              <a:buNone/>
            </a:pPr>
            <a:r>
              <a:rPr lang="en-US" altLang="zh-CN" sz="4800"/>
              <a:t>show(a,b,func5(c));  /// </a:t>
            </a:r>
            <a:r>
              <a:rPr lang="zh-CN" altLang="en-US" sz="4800"/>
              <a:t>输出 </a:t>
            </a:r>
            <a:r>
              <a:rPr lang="en-US" altLang="zh-CN" sz="4800"/>
              <a:t>a= 10  b=21  c= 116</a:t>
            </a:r>
          </a:p>
          <a:p>
            <a:pPr marL="0" indent="0">
              <a:buNone/>
            </a:pPr>
            <a:r>
              <a:rPr lang="en-US" altLang="zh-CN" sz="4800"/>
              <a:t>show(a,b,c);        /// </a:t>
            </a:r>
            <a:r>
              <a:rPr lang="zh-CN" altLang="en-US" sz="4800"/>
              <a:t>输出 </a:t>
            </a:r>
            <a:r>
              <a:rPr lang="en-US" altLang="zh-CN" sz="4800"/>
              <a:t>a= 10  b=21  c= 116</a:t>
            </a:r>
            <a:br>
              <a:rPr lang="en-US" altLang="zh-CN" sz="4800"/>
            </a:br>
            <a:endParaRPr lang="en-US" altLang="zh-CN" sz="4800"/>
          </a:p>
          <a:p>
            <a:pPr marL="0" indent="0">
              <a:buNone/>
            </a:pPr>
            <a:r>
              <a:rPr lang="en-US" altLang="zh-CN" sz="4800"/>
              <a:t>auto func6 = [&amp;b,a]( int  n ) { ++b; return n += a+b; };</a:t>
            </a:r>
          </a:p>
          <a:p>
            <a:pPr marL="0" indent="0">
              <a:buNone/>
            </a:pPr>
            <a:r>
              <a:rPr lang="en-US" altLang="zh-CN" sz="4800"/>
              <a:t>show(a,b,c);        /// </a:t>
            </a:r>
            <a:r>
              <a:rPr lang="zh-CN" altLang="en-US" sz="4800"/>
              <a:t>输出 </a:t>
            </a:r>
            <a:r>
              <a:rPr lang="en-US" altLang="zh-CN" sz="4800"/>
              <a:t>a= 10  b=21  c= 116</a:t>
            </a:r>
          </a:p>
          <a:p>
            <a:pPr marL="0" indent="0">
              <a:buNone/>
            </a:pPr>
            <a:r>
              <a:rPr lang="en-US" altLang="zh-CN" sz="4800"/>
              <a:t>show(a,b,func6(c));  /// </a:t>
            </a:r>
            <a:r>
              <a:rPr lang="zh-CN" altLang="en-US" sz="4800"/>
              <a:t>输出 </a:t>
            </a:r>
            <a:r>
              <a:rPr lang="en-US" altLang="zh-CN" sz="4800"/>
              <a:t>a= 10  b=22  c= 148</a:t>
            </a:r>
          </a:p>
          <a:p>
            <a:pPr marL="0" indent="0">
              <a:buNone/>
            </a:pPr>
            <a:r>
              <a:rPr lang="en-US" altLang="zh-CN" sz="4800"/>
              <a:t>show(a,b,c);        /// </a:t>
            </a:r>
            <a:r>
              <a:rPr lang="zh-CN" altLang="en-US" sz="4800"/>
              <a:t>输出 </a:t>
            </a:r>
            <a:r>
              <a:rPr lang="en-US" altLang="zh-CN" sz="4800"/>
              <a:t>a= 10  b=22  c= 116</a:t>
            </a:r>
          </a:p>
          <a:p>
            <a:pPr marL="0" indent="0">
              <a:buNone/>
            </a:pPr>
            <a:r>
              <a:rPr lang="en-US" altLang="zh-CN" sz="4800"/>
              <a:t> </a:t>
            </a:r>
          </a:p>
          <a:p>
            <a:pPr marL="0" indent="0">
              <a:buNone/>
            </a:pPr>
            <a:r>
              <a:rPr lang="en-US" altLang="zh-CN" sz="4800"/>
              <a:t>return 0;</a:t>
            </a:r>
          </a:p>
          <a:p>
            <a:pPr marL="0" indent="0">
              <a:buNone/>
            </a:pPr>
            <a:r>
              <a:rPr lang="en-US" altLang="zh-CN" sz="4800"/>
              <a:t>}</a:t>
            </a:r>
          </a:p>
          <a:p>
            <a:pPr marL="0" indent="0">
              <a:buNone/>
            </a:pPr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32164494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11070" y="4474402"/>
            <a:ext cx="295465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本章结束</a:t>
            </a:r>
          </a:p>
        </p:txBody>
      </p:sp>
    </p:spTree>
    <p:extLst>
      <p:ext uri="{BB962C8B-B14F-4D97-AF65-F5344CB8AC3E}">
        <p14:creationId xmlns:p14="http://schemas.microsoft.com/office/powerpoint/2010/main" val="4207647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第一PPT，www.1ppt.com">
  <a:themeElements>
    <a:clrScheme name="自定义 4">
      <a:dk1>
        <a:sysClr val="windowText" lastClr="000000"/>
      </a:dk1>
      <a:lt1>
        <a:sysClr val="window" lastClr="FFFFFF"/>
      </a:lt1>
      <a:dk2>
        <a:srgbClr val="373545"/>
      </a:dk2>
      <a:lt2>
        <a:srgbClr val="000000"/>
      </a:lt2>
      <a:accent1>
        <a:srgbClr val="2683C6"/>
      </a:accent1>
      <a:accent2>
        <a:srgbClr val="2683C6"/>
      </a:accent2>
      <a:accent3>
        <a:srgbClr val="2683C6"/>
      </a:accent3>
      <a:accent4>
        <a:srgbClr val="2683C6"/>
      </a:accent4>
      <a:accent5>
        <a:srgbClr val="2683C6"/>
      </a:accent5>
      <a:accent6>
        <a:srgbClr val="2683C6"/>
      </a:accent6>
      <a:hlink>
        <a:srgbClr val="2683C6"/>
      </a:hlink>
      <a:folHlink>
        <a:srgbClr val="2683C6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18_2019_2模板" id="{DFE8D170-8045-489C-B79A-1F02108E76BD}" vid="{A27530C8-6957-464B-B9BE-B76634B3E7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2018_2019_2模板</Template>
  <TotalTime>6170</TotalTime>
  <Words>4918</Words>
  <Application>Microsoft Office PowerPoint</Application>
  <PresentationFormat>宽屏</PresentationFormat>
  <Paragraphs>509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8" baseType="lpstr">
      <vt:lpstr>DFGothic-EB</vt:lpstr>
      <vt:lpstr>Humnst777 BlkCn BT</vt:lpstr>
      <vt:lpstr>微软雅黑</vt:lpstr>
      <vt:lpstr>Arial</vt:lpstr>
      <vt:lpstr>Calibri</vt:lpstr>
      <vt:lpstr>Wingdings</vt:lpstr>
      <vt:lpstr>第一PPT，www.1ppt.com</vt:lpstr>
      <vt:lpstr>第三章 类型与变量</vt:lpstr>
      <vt:lpstr>抽象数据类型（Abstract Data Type）</vt:lpstr>
      <vt:lpstr>抽象数据类型（Abstract Data Type）</vt:lpstr>
      <vt:lpstr>OOP语言中的类型</vt:lpstr>
      <vt:lpstr>C++中的类型</vt:lpstr>
      <vt:lpstr>内置类型</vt:lpstr>
      <vt:lpstr>自定义类型-使用typedef</vt:lpstr>
      <vt:lpstr>自定义类型-枚举类型(C++98)</vt:lpstr>
      <vt:lpstr>自定义类型-强类型枚举 （C++1z的枚举类)</vt:lpstr>
      <vt:lpstr>结合class和枚举量</vt:lpstr>
      <vt:lpstr>结合class和枚举量(例)</vt:lpstr>
      <vt:lpstr>自定义类型(class,struct,union)</vt:lpstr>
      <vt:lpstr>导出类型</vt:lpstr>
      <vt:lpstr>声明(declaration)</vt:lpstr>
      <vt:lpstr>定义(define)</vt:lpstr>
      <vt:lpstr>常见的声明和定义</vt:lpstr>
      <vt:lpstr>声明和定义的使用-就近原则(现使用，现定义)</vt:lpstr>
      <vt:lpstr>声明和定义的使用-先声明，后使用</vt:lpstr>
      <vt:lpstr>声明和定义的使用-单一定义规则</vt:lpstr>
      <vt:lpstr>obj文件 (例,伪代码示意)</vt:lpstr>
      <vt:lpstr>头文件中的声明和定义</vt:lpstr>
      <vt:lpstr>头文件中的声明和定义（续）</vt:lpstr>
      <vt:lpstr>变量的定义和初始化</vt:lpstr>
      <vt:lpstr>存储空间(storage duration)</vt:lpstr>
      <vt:lpstr>作用域</vt:lpstr>
      <vt:lpstr>存储空间和作用域(例)</vt:lpstr>
      <vt:lpstr>链接性(linkage)</vt:lpstr>
      <vt:lpstr>表达式说明</vt:lpstr>
      <vt:lpstr>附:lambda表达式简介</vt:lpstr>
      <vt:lpstr>附:lambda表达式例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陈伟</cp:lastModifiedBy>
  <cp:revision>330</cp:revision>
  <dcterms:created xsi:type="dcterms:W3CDTF">2015-05-05T08:02:14Z</dcterms:created>
  <dcterms:modified xsi:type="dcterms:W3CDTF">2023-07-23T07:48:58Z</dcterms:modified>
</cp:coreProperties>
</file>