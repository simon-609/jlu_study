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586" r:id="rId3"/>
    <p:sldId id="580" r:id="rId5"/>
    <p:sldId id="581" r:id="rId6"/>
    <p:sldId id="582" r:id="rId7"/>
    <p:sldId id="583" r:id="rId8"/>
    <p:sldId id="584" r:id="rId9"/>
    <p:sldId id="585" r:id="rId10"/>
    <p:sldId id="556" r:id="rId11"/>
    <p:sldId id="557" r:id="rId12"/>
    <p:sldId id="558" r:id="rId13"/>
    <p:sldId id="559" r:id="rId14"/>
    <p:sldId id="560" r:id="rId15"/>
    <p:sldId id="561" r:id="rId16"/>
    <p:sldId id="534" r:id="rId17"/>
    <p:sldId id="511" r:id="rId18"/>
    <p:sldId id="535" r:id="rId19"/>
    <p:sldId id="517" r:id="rId20"/>
    <p:sldId id="518" r:id="rId21"/>
    <p:sldId id="496" r:id="rId22"/>
    <p:sldId id="524" r:id="rId23"/>
    <p:sldId id="525" r:id="rId24"/>
    <p:sldId id="526" r:id="rId25"/>
    <p:sldId id="521" r:id="rId26"/>
    <p:sldId id="563" r:id="rId27"/>
    <p:sldId id="527" r:id="rId28"/>
    <p:sldId id="537" r:id="rId29"/>
    <p:sldId id="523" r:id="rId30"/>
    <p:sldId id="579" r:id="rId31"/>
    <p:sldId id="497" r:id="rId32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4" userDrawn="1">
          <p15:clr>
            <a:srgbClr val="A4A3A4"/>
          </p15:clr>
        </p15:guide>
        <p15:guide id="2" pos="387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02FC"/>
    <a:srgbClr val="FF0000"/>
    <a:srgbClr val="0000FF"/>
    <a:srgbClr val="000000"/>
    <a:srgbClr val="FFE705"/>
    <a:srgbClr val="9C1489"/>
    <a:srgbClr val="00FFFF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86343" autoAdjust="0"/>
  </p:normalViewPr>
  <p:slideViewPr>
    <p:cSldViewPr showGuides="1">
      <p:cViewPr varScale="1">
        <p:scale>
          <a:sx n="75" d="100"/>
          <a:sy n="75" d="100"/>
        </p:scale>
        <p:origin x="408" y="62"/>
      </p:cViewPr>
      <p:guideLst>
        <p:guide orient="horz" pos="2234"/>
        <p:guide pos="3879"/>
      </p:guideLst>
    </p:cSldViewPr>
  </p:slideViewPr>
  <p:outlineViewPr>
    <p:cViewPr>
      <p:scale>
        <a:sx n="33" d="100"/>
        <a:sy n="33" d="100"/>
      </p:scale>
      <p:origin x="0" y="-2258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8430"/>
    </p:cViewPr>
  </p:sorterViewPr>
  <p:gridSpacing cx="76198" cy="7619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460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B466F328-1316-448E-8696-49C7484E68EA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4294967295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4035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在数组</a:t>
            </a:r>
            <a:r>
              <a:rPr lang="en-US" altLang="zh-CN"/>
              <a:t>a</a:t>
            </a:r>
            <a:r>
              <a:rPr lang="zh-CN" altLang="en-US"/>
              <a:t>的</a:t>
            </a:r>
            <a:r>
              <a:rPr lang="en-US" altLang="zh-CN"/>
              <a:t>lower~upper</a:t>
            </a:r>
            <a:r>
              <a:rPr lang="zh-CN" altLang="en-US"/>
              <a:t>区间内，检索关键词</a:t>
            </a:r>
            <a:r>
              <a:rPr lang="en-US" altLang="zh-CN"/>
              <a:t>key</a:t>
            </a:r>
            <a:endParaRPr lang="zh-CN" altLang="en-US"/>
          </a:p>
        </p:txBody>
      </p:sp>
      <p:sp>
        <p:nvSpPr>
          <p:cNvPr id="4403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325D137-5B78-453B-8977-D049DD1646D4}" type="slidenum">
              <a:rPr lang="en-US" altLang="zh-CN" b="0" smtClean="0">
                <a:latin typeface="Arial" panose="020B0604020202020204" pitchFamily="34" charset="0"/>
              </a:rPr>
            </a:fld>
            <a:endParaRPr lang="en-US" altLang="zh-CN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15BAC0E-3452-48CE-A709-98F4501FDDC3}" type="slidenum">
              <a:rPr lang="en-US" altLang="zh-CN" b="0" smtClean="0">
                <a:latin typeface="Arial" panose="020B0604020202020204" pitchFamily="34" charset="0"/>
              </a:rPr>
            </a:fld>
            <a:endParaRPr lang="en-US" altLang="zh-CN" b="0">
              <a:latin typeface="Arial" panose="020B0604020202020204" pitchFamily="34" charset="0"/>
            </a:endParaRPr>
          </a:p>
        </p:txBody>
      </p:sp>
      <p:sp>
        <p:nvSpPr>
          <p:cNvPr id="47107" name="Rectangle 2"/>
          <p:cNvSpPr>
            <a:spLocks noRot="1" noChangeArrowheads="1" noTextEdit="1"/>
          </p:cNvSpPr>
          <p:nvPr>
            <p:ph type="sldImg"/>
          </p:nvPr>
        </p:nvSpPr>
        <p:spPr/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873684D-F7A0-42A6-A490-2F3BA98767D2}" type="slidenum">
              <a:rPr lang="en-US" altLang="zh-CN" b="0" smtClean="0">
                <a:latin typeface="Arial" panose="020B0604020202020204" pitchFamily="34" charset="0"/>
              </a:rPr>
            </a:fld>
            <a:endParaRPr lang="en-US" altLang="zh-CN" b="0">
              <a:latin typeface="Arial" panose="020B0604020202020204" pitchFamily="34" charset="0"/>
            </a:endParaRPr>
          </a:p>
        </p:txBody>
      </p:sp>
      <p:sp>
        <p:nvSpPr>
          <p:cNvPr id="49155" name="Rectangle 2"/>
          <p:cNvSpPr>
            <a:spLocks noRot="1" noChangeArrowheads="1" noTextEdit="1"/>
          </p:cNvSpPr>
          <p:nvPr>
            <p:ph type="sldImg"/>
          </p:nvPr>
        </p:nvSpPr>
        <p:spPr/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27223D51-DC19-4277-957A-8EC13CCDA941}" type="slidenum">
              <a:rPr lang="en-US" altLang="zh-CN" b="0" smtClean="0">
                <a:latin typeface="Arial" panose="020B0604020202020204" pitchFamily="34" charset="0"/>
              </a:rPr>
            </a:fld>
            <a:endParaRPr lang="en-US" altLang="zh-CN" b="0">
              <a:latin typeface="Arial" panose="020B0604020202020204" pitchFamily="34" charset="0"/>
            </a:endParaRPr>
          </a:p>
        </p:txBody>
      </p:sp>
      <p:sp>
        <p:nvSpPr>
          <p:cNvPr id="51203" name="Rectangle 2"/>
          <p:cNvSpPr>
            <a:spLocks noRot="1" noChangeArrowheads="1" noTextEdit="1"/>
          </p:cNvSpPr>
          <p:nvPr>
            <p:ph type="sldImg"/>
          </p:nvPr>
        </p:nvSpPr>
        <p:spPr/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766FB7C7-51E8-4534-BC21-01DDB0B19479}" type="slidenum">
              <a:rPr lang="en-US" altLang="zh-CN" b="0" smtClean="0">
                <a:latin typeface="Arial" panose="020B0604020202020204" pitchFamily="34" charset="0"/>
              </a:rPr>
            </a:fld>
            <a:endParaRPr lang="en-US" altLang="zh-CN" b="0">
              <a:latin typeface="Arial" panose="020B0604020202020204" pitchFamily="34" charset="0"/>
            </a:endParaRPr>
          </a:p>
        </p:txBody>
      </p:sp>
      <p:sp>
        <p:nvSpPr>
          <p:cNvPr id="53251" name="Rectangle 2"/>
          <p:cNvSpPr>
            <a:spLocks noRot="1" noChangeArrowheads="1" noTextEdit="1"/>
          </p:cNvSpPr>
          <p:nvPr>
            <p:ph type="sldImg"/>
          </p:nvPr>
        </p:nvSpPr>
        <p:spPr/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5299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无返回值的递归函数</a:t>
            </a:r>
            <a:endParaRPr lang="zh-CN" altLang="en-US"/>
          </a:p>
        </p:txBody>
      </p:sp>
      <p:sp>
        <p:nvSpPr>
          <p:cNvPr id="5530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2CCDF8F4-0CFD-4DE6-8D49-71B30A182391}" type="slidenum">
              <a:rPr lang="en-US" altLang="zh-CN" b="0" smtClean="0">
                <a:latin typeface="Arial" panose="020B0604020202020204" pitchFamily="34" charset="0"/>
              </a:rPr>
            </a:fld>
            <a:endParaRPr lang="en-US" altLang="zh-CN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7347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无返回值的递归函数</a:t>
            </a:r>
            <a:endParaRPr lang="zh-CN" altLang="en-US"/>
          </a:p>
          <a:p>
            <a:endParaRPr lang="zh-CN" altLang="en-US"/>
          </a:p>
        </p:txBody>
      </p:sp>
      <p:sp>
        <p:nvSpPr>
          <p:cNvPr id="5734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BA4C7E6-4B12-4307-B3E2-2DEC1DDA82EF}" type="slidenum">
              <a:rPr lang="en-US" altLang="zh-CN" b="0" smtClean="0">
                <a:latin typeface="Arial" panose="020B0604020202020204" pitchFamily="34" charset="0"/>
              </a:rPr>
            </a:fld>
            <a:endParaRPr lang="en-US" altLang="zh-CN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9395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39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BF1EAFD-A56B-436B-ABC7-2A936FDF1837}" type="slidenum">
              <a:rPr lang="en-US" altLang="zh-CN" b="0" smtClean="0">
                <a:latin typeface="Arial" panose="020B0604020202020204" pitchFamily="34" charset="0"/>
              </a:rPr>
            </a:fld>
            <a:endParaRPr lang="en-US" altLang="zh-CN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2467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46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625892A-D0C3-4396-8FD0-669F03159838}" type="slidenum">
              <a:rPr lang="en-US" altLang="zh-CN" b="0" smtClean="0">
                <a:latin typeface="Arial" panose="020B0604020202020204" pitchFamily="34" charset="0"/>
              </a:rPr>
            </a:fld>
            <a:endParaRPr lang="en-US" altLang="zh-CN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53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3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3087E0A-661A-4722-A791-1D707F4C091E}" type="slidenum">
              <a:rPr lang="en-US" altLang="zh-CN" b="0" smtClean="0">
                <a:latin typeface="Arial" panose="020B0604020202020204" pitchFamily="34" charset="0"/>
              </a:rPr>
            </a:fld>
            <a:endParaRPr lang="en-US" altLang="zh-CN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6627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字典序</a:t>
            </a:r>
            <a:endParaRPr lang="zh-CN" altLang="en-US"/>
          </a:p>
        </p:txBody>
      </p:sp>
      <p:sp>
        <p:nvSpPr>
          <p:cNvPr id="26628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9B1D0EB-0CAA-4665-BD9C-541C648EE2C6}" type="slidenum">
              <a:rPr lang="en-US" altLang="zh-CN" b="0" smtClean="0">
                <a:latin typeface="Arial" panose="020B0604020202020204" pitchFamily="34" charset="0"/>
              </a:rPr>
            </a:fld>
            <a:endParaRPr lang="en-US" altLang="zh-CN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11269" name="Rectangle 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11273" name="Rectangle 9"/>
          <p:cNvSpPr>
            <a:spLocks noGrp="1" noChangeArrowheads="1"/>
          </p:cNvSpPr>
          <p:nvPr>
            <p:ph type="ctrTitle" sz="quarter"/>
          </p:nvPr>
        </p:nvSpPr>
        <p:spPr>
          <a:xfrm>
            <a:off x="914400" y="1768480"/>
            <a:ext cx="10363200" cy="1736725"/>
          </a:xfrm>
        </p:spPr>
        <p:txBody>
          <a:bodyPr anchor="b" anchorCtr="1"/>
          <a:lstStyle>
            <a:lvl1pPr>
              <a:defRPr sz="54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689470-ACAB-4813-8DB1-2C568D23D44A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CF38D5-0FFD-44BC-BD88-0332D241CC9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A53165-B4BA-4D2D-A068-3DE948B8A75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260D88-AD85-409F-A059-DDFE5E11A1C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102B9C-B730-4815-A69F-2D82C44DCC3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17DE09-C518-4F18-BDC6-247F55CA6C2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3B997F-C43A-464F-8F2C-89A8C9E8CBA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56167C-913D-407C-9593-985B385FEB6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929DD4-A8BA-4E97-B01E-D9B677077B5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AEDF85-7377-4467-97D1-0F894F5BC0C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21362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21362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DA4F75-B217-46B8-BB6D-9CBA50DFB80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 showMasterSp="0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495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4078EB-76ED-4DDC-8302-739B8B8F845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 showMasterSp="0">
  <p:cSld name="标题和文本在内容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10972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3924300"/>
            <a:ext cx="10972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40F39A-7D48-4314-AB91-45B79EE3B2E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 showMasterSp="0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24300"/>
            <a:ext cx="5384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20DC10-9B36-4ECD-8ABB-A4F3F28F3FD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 showMasterSp="0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09600" y="1600200"/>
            <a:ext cx="10972800" cy="44958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367B88-5C85-4E1A-91F9-35FB8A72178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 showMasterSp="0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74638"/>
            <a:ext cx="10972800" cy="582136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C4C746-DBB0-4EBF-B28E-BA89EA7ACE3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 showMasterSp="0">
  <p:cSld name="1_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74638"/>
            <a:ext cx="10972800" cy="582136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0C362B-F101-45EB-81CB-EF36F055093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slide" Target="../slides/slide14.xml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8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495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48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200" b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49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>
              <a:defRPr/>
            </a:pPr>
            <a:fld id="{4858F112-1778-44FD-B530-0C81953F8DEE}" type="slidenum">
              <a:rPr lang="en-US" altLang="zh-CN"/>
            </a:fld>
            <a:endParaRPr lang="en-US" altLang="zh-CN"/>
          </a:p>
        </p:txBody>
      </p:sp>
      <p:sp>
        <p:nvSpPr>
          <p:cNvPr id="11" name="AutoShape 5">
            <a:hlinkClick r:id="rId19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35" y="76200"/>
            <a:ext cx="8925560" cy="6762115"/>
          </a:xfrm>
        </p:spPr>
        <p:txBody>
          <a:bodyPr/>
          <a:p>
            <a:r>
              <a:rPr lang="zh-CN" altLang="en-US" b="1"/>
              <a:t>模块化程序设计思想（第</a:t>
            </a:r>
            <a:r>
              <a:rPr lang="en-US" altLang="zh-CN" b="1"/>
              <a:t>5</a:t>
            </a:r>
            <a:r>
              <a:rPr lang="zh-CN" altLang="en-US" b="1"/>
              <a:t>章）</a:t>
            </a:r>
            <a:endParaRPr lang="zh-CN" altLang="en-US" b="1"/>
          </a:p>
          <a:p>
            <a:pPr lvl="1"/>
            <a:r>
              <a:rPr lang="zh-CN" altLang="en-US" b="1"/>
              <a:t>侧重：如何设计好一个系统（</a:t>
            </a:r>
            <a:r>
              <a:rPr lang="zh-CN" altLang="en-US" b="1">
                <a:cs typeface="+mn-ea"/>
              </a:rPr>
              <a:t>拆分、拼接）</a:t>
            </a:r>
            <a:endParaRPr lang="zh-CN" altLang="en-US" b="1">
              <a:cs typeface="+mn-ea"/>
            </a:endParaRPr>
          </a:p>
          <a:p>
            <a:pPr lvl="1"/>
            <a:r>
              <a:rPr lang="zh-CN" altLang="en-US" sz="2800" b="1"/>
              <a:t>实现：函数</a:t>
            </a:r>
            <a:endParaRPr lang="zh-CN" altLang="en-US" sz="2800" b="1"/>
          </a:p>
          <a:p>
            <a:pPr lvl="1"/>
            <a:endParaRPr lang="zh-CN" altLang="en-US" b="1"/>
          </a:p>
          <a:p>
            <a:r>
              <a:rPr lang="zh-CN" altLang="en-US" b="1"/>
              <a:t>结构化程序设计思想（第</a:t>
            </a:r>
            <a:r>
              <a:rPr lang="en-US" altLang="zh-CN" b="1"/>
              <a:t>12</a:t>
            </a:r>
            <a:r>
              <a:rPr lang="zh-CN" altLang="en-US" b="1"/>
              <a:t>章）</a:t>
            </a:r>
            <a:endParaRPr lang="zh-CN" altLang="en-US" b="1"/>
          </a:p>
          <a:p>
            <a:pPr lvl="1"/>
            <a:r>
              <a:rPr lang="zh-CN" altLang="en-US" b="1"/>
              <a:t>侧重：如何写好一段代码</a:t>
            </a:r>
            <a:endParaRPr lang="zh-CN" altLang="en-US" b="1"/>
          </a:p>
          <a:p>
            <a:pPr marL="1371600" lvl="3" indent="457200">
              <a:buNone/>
            </a:pPr>
            <a:r>
              <a:rPr lang="zh-CN" altLang="en-US" b="1"/>
              <a:t>逻辑清晰、流程可控</a:t>
            </a:r>
            <a:endParaRPr lang="zh-CN" altLang="en-US" b="1"/>
          </a:p>
          <a:p>
            <a:pPr lvl="1"/>
            <a:r>
              <a:rPr lang="zh-CN" altLang="en-US" b="1"/>
              <a:t>实现：</a:t>
            </a:r>
            <a:endParaRPr lang="zh-CN" altLang="en-US" b="1"/>
          </a:p>
          <a:p>
            <a:pPr lvl="2"/>
            <a:r>
              <a:rPr lang="zh-CN" altLang="en-US" b="1"/>
              <a:t>三大结构</a:t>
            </a:r>
            <a:endParaRPr lang="zh-CN" altLang="en-US" b="1"/>
          </a:p>
          <a:p>
            <a:pPr lvl="2"/>
            <a:r>
              <a:rPr lang="zh-CN" altLang="en-US" b="1"/>
              <a:t>限制使用</a:t>
            </a:r>
            <a:r>
              <a:rPr lang="en-US" altLang="zh-CN" b="1"/>
              <a:t>goto</a:t>
            </a:r>
            <a:r>
              <a:rPr lang="zh-CN" altLang="en-US" b="1"/>
              <a:t>语句</a:t>
            </a:r>
            <a:endParaRPr lang="zh-CN" altLang="en-US" b="1"/>
          </a:p>
          <a:p>
            <a:pPr lvl="2"/>
            <a:r>
              <a:rPr lang="zh-CN" altLang="en-US" b="1"/>
              <a:t>良好的行文风格</a:t>
            </a:r>
            <a:endParaRPr lang="zh-CN" altLang="en-US" b="1"/>
          </a:p>
          <a:p>
            <a:pPr lvl="2"/>
            <a:r>
              <a:rPr lang="zh-CN" altLang="en-US" b="1"/>
              <a:t>无死码区</a:t>
            </a:r>
            <a:endParaRPr lang="zh-CN" altLang="en-US" b="1"/>
          </a:p>
          <a:p>
            <a:pPr lvl="2"/>
            <a:r>
              <a:rPr lang="zh-CN" altLang="en-US" b="1"/>
              <a:t>无死循环</a:t>
            </a:r>
            <a:endParaRPr lang="zh-CN" altLang="en-US" b="1"/>
          </a:p>
          <a:p>
            <a:pPr lvl="0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8305165" y="5638165"/>
            <a:ext cx="3879215" cy="1200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l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3200" kern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sym typeface="+mn-ea"/>
              </a:rPr>
              <a:t>递归（第</a:t>
            </a:r>
            <a:r>
              <a:rPr lang="en-US" altLang="zh-CN" sz="3200" kern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sym typeface="+mn-ea"/>
              </a:rPr>
              <a:t>10</a:t>
            </a:r>
            <a:r>
              <a:rPr lang="zh-CN" altLang="en-US" sz="3200" kern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sym typeface="+mn-ea"/>
              </a:rPr>
              <a:t>章）</a:t>
            </a:r>
            <a:endParaRPr lang="zh-CN" altLang="en-US" sz="3200" kern="0">
              <a:effectLst>
                <a:outerShdw blurRad="38100" dist="38100" dir="2700000" algn="tl">
                  <a:srgbClr val="000000"/>
                </a:outerShdw>
              </a:effectLst>
              <a:latin typeface="+mn-lt"/>
              <a:ea typeface="+mn-ea"/>
              <a:sym typeface="+mn-ea"/>
            </a:endParaRPr>
          </a:p>
          <a:p>
            <a:pPr marL="742950" lvl="1" indent="-285750" algn="l">
              <a:spcBef>
                <a:spcPct val="20000"/>
              </a:spcBef>
              <a:buClr>
                <a:schemeClr val="tx1"/>
              </a:buClr>
              <a:buSzTx/>
              <a:buFontTx/>
              <a:buChar char="–"/>
            </a:pPr>
            <a:r>
              <a:rPr lang="zh-CN" altLang="en-US" sz="2800" kern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ea"/>
                <a:sym typeface="+mn-ea"/>
              </a:rPr>
              <a:t>算法技巧</a:t>
            </a:r>
            <a:endParaRPr lang="zh-CN" altLang="en-US" sz="2800" kern="0">
              <a:effectLst>
                <a:outerShdw blurRad="38100" dist="38100" dir="2700000" algn="tl">
                  <a:srgbClr val="000000"/>
                </a:outerShdw>
              </a:effectLst>
              <a:latin typeface="+mn-lt"/>
              <a:ea typeface="+mn-ea"/>
              <a:cs typeface="+mn-ea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8305165" y="2438400"/>
            <a:ext cx="3854450" cy="3110230"/>
          </a:xfrm>
          <a:prstGeom prst="rect">
            <a:avLst/>
          </a:prstGeom>
          <a:noFill/>
          <a:ln>
            <a:solidFill>
              <a:schemeClr val="tx1"/>
            </a:solidFill>
            <a:miter lim="800000"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0" indent="0" eaLnBrk="1" hangingPunct="1">
              <a:buNone/>
              <a:defRPr/>
            </a:pPr>
            <a:r>
              <a:rPr lang="en-US" altLang="zh-CN" kern="0" dirty="0">
                <a:effectLst/>
                <a:latin typeface="Arial" panose="020B0604020202020204" pitchFamily="34" charset="0"/>
              </a:rPr>
              <a:t>int </a:t>
            </a:r>
            <a:r>
              <a:rPr lang="en-US" altLang="zh-CN" kern="0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f(</a:t>
            </a:r>
            <a:r>
              <a:rPr lang="en-US" altLang="zh-CN" kern="0" dirty="0">
                <a:effectLst/>
                <a:latin typeface="Arial" panose="020B0604020202020204" pitchFamily="34" charset="0"/>
              </a:rPr>
              <a:t>int n</a:t>
            </a:r>
            <a:r>
              <a:rPr lang="en-US" altLang="zh-CN" kern="0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)</a:t>
            </a:r>
            <a:endParaRPr lang="en-US" altLang="zh-CN" kern="0" dirty="0">
              <a:solidFill>
                <a:schemeClr val="hlink"/>
              </a:solidFill>
              <a:effectLst/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kern="0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{</a:t>
            </a:r>
            <a:endParaRPr lang="en-US" altLang="zh-CN" kern="0" dirty="0">
              <a:solidFill>
                <a:schemeClr val="hlink"/>
              </a:solidFill>
              <a:effectLst/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kern="0" dirty="0">
                <a:effectLst/>
                <a:latin typeface="Arial" panose="020B0604020202020204" pitchFamily="34" charset="0"/>
              </a:rPr>
              <a:t>	if ( n==0 )</a:t>
            </a:r>
            <a:endParaRPr lang="en-US" altLang="zh-CN" kern="0" dirty="0">
              <a:effectLst/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kern="0" dirty="0">
                <a:effectLst/>
                <a:latin typeface="Arial" panose="020B0604020202020204" pitchFamily="34" charset="0"/>
              </a:rPr>
              <a:t>		return 1;</a:t>
            </a:r>
            <a:endParaRPr lang="en-US" altLang="zh-CN" kern="0" dirty="0">
              <a:effectLst/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kern="0" dirty="0">
                <a:effectLst/>
                <a:latin typeface="Arial" panose="020B0604020202020204" pitchFamily="34" charset="0"/>
              </a:rPr>
              <a:t>	else </a:t>
            </a:r>
            <a:endParaRPr lang="en-US" altLang="zh-CN" kern="0" dirty="0">
              <a:effectLst/>
              <a:latin typeface="Arial" panose="020B0604020202020204" pitchFamily="34" charset="0"/>
            </a:endParaRPr>
          </a:p>
          <a:p>
            <a:pPr lvl="2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kern="0" dirty="0">
                <a:effectLst/>
                <a:latin typeface="Arial" panose="020B0604020202020204" pitchFamily="34" charset="0"/>
              </a:rPr>
              <a:t>return  n*</a:t>
            </a:r>
            <a:r>
              <a:rPr lang="en-US" altLang="zh-CN" sz="2800" kern="0" dirty="0">
                <a:solidFill>
                  <a:srgbClr val="F302FC"/>
                </a:solidFill>
                <a:effectLst/>
                <a:latin typeface="Arial" panose="020B0604020202020204" pitchFamily="34" charset="0"/>
              </a:rPr>
              <a:t>f(</a:t>
            </a:r>
            <a:r>
              <a:rPr lang="en-US" altLang="zh-CN" sz="2800" kern="0" dirty="0">
                <a:effectLst/>
                <a:latin typeface="Arial" panose="020B0604020202020204" pitchFamily="34" charset="0"/>
              </a:rPr>
              <a:t>n-1</a:t>
            </a:r>
            <a:r>
              <a:rPr lang="en-US" altLang="zh-CN" sz="2800" kern="0" dirty="0">
                <a:solidFill>
                  <a:srgbClr val="F302FC"/>
                </a:solidFill>
                <a:effectLst/>
                <a:latin typeface="Arial" panose="020B0604020202020204" pitchFamily="34" charset="0"/>
              </a:rPr>
              <a:t>)</a:t>
            </a:r>
            <a:r>
              <a:rPr lang="en-US" altLang="zh-CN" sz="2800" kern="0" dirty="0">
                <a:effectLst/>
                <a:latin typeface="Arial" panose="020B0604020202020204" pitchFamily="34" charset="0"/>
              </a:rPr>
              <a:t>;</a:t>
            </a:r>
            <a:endParaRPr lang="en-US" altLang="zh-CN" sz="2800" kern="0" dirty="0">
              <a:effectLst/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kern="0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} </a:t>
            </a:r>
            <a:endParaRPr lang="en-US" altLang="zh-CN" kern="0" dirty="0">
              <a:solidFill>
                <a:schemeClr val="hlink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76200" y="762000"/>
            <a:ext cx="8231505" cy="52622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800" kern="100" dirty="0">
                <a:solidFill>
                  <a:schemeClr val="tx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2800" kern="100" dirty="0">
                <a:solidFill>
                  <a:schemeClr val="tx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思路</a:t>
            </a:r>
            <a:r>
              <a:rPr lang="en-US" altLang="zh-CN" sz="2800" kern="100" dirty="0">
                <a:solidFill>
                  <a:schemeClr val="tx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】</a:t>
            </a:r>
            <a:r>
              <a:rPr lang="zh-CN" altLang="en-US" kern="100" dirty="0">
                <a:solidFill>
                  <a:schemeClr val="tx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在数组</a:t>
            </a:r>
            <a:r>
              <a:rPr lang="en-US" altLang="zh-CN" kern="100" dirty="0">
                <a:solidFill>
                  <a:schemeClr val="tx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kern="100" dirty="0">
                <a:solidFill>
                  <a:schemeClr val="tx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kern="100" dirty="0" err="1">
                <a:solidFill>
                  <a:schemeClr val="tx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lower~upper</a:t>
            </a:r>
            <a:r>
              <a:rPr lang="zh-CN" altLang="en-US" kern="100" dirty="0">
                <a:solidFill>
                  <a:schemeClr val="tx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区间内，检索关键词</a:t>
            </a:r>
            <a:r>
              <a:rPr lang="en-US" altLang="zh-CN" kern="100" dirty="0">
                <a:solidFill>
                  <a:schemeClr val="tx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key</a:t>
            </a:r>
            <a:r>
              <a:rPr lang="zh-CN" altLang="en-US" kern="100" dirty="0">
                <a:solidFill>
                  <a:schemeClr val="tx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。函数返回下标。</a:t>
            </a:r>
            <a:endParaRPr lang="en-US" altLang="zh-CN" kern="100" dirty="0">
              <a:solidFill>
                <a:schemeClr val="tx1">
                  <a:lumMod val="6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endParaRPr lang="en-US" altLang="zh-CN" sz="2800" kern="100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br>
              <a:rPr lang="en-US" altLang="zh-CN" sz="28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2800" kern="100" dirty="0">
                <a:solidFill>
                  <a:srgbClr val="F902FC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int f(</a:t>
            </a:r>
            <a:r>
              <a:rPr lang="en-US" altLang="zh-CN" sz="28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int a[ ],</a:t>
            </a:r>
            <a:r>
              <a:rPr lang="en-US" altLang="zh-CN" sz="28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kern="100" dirty="0">
                <a:solidFill>
                  <a:srgbClr val="F902FC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int lower, int upper</a:t>
            </a: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2800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int key</a:t>
            </a:r>
            <a:r>
              <a:rPr lang="en-US" altLang="zh-CN" sz="2800" kern="100" dirty="0">
                <a:solidFill>
                  <a:srgbClr val="F902FC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)  {</a:t>
            </a:r>
            <a:endParaRPr lang="en-US" altLang="zh-CN" sz="2800" kern="100" dirty="0">
              <a:solidFill>
                <a:srgbClr val="F902FC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int </a:t>
            </a:r>
            <a:r>
              <a:rPr lang="en-US" altLang="zh-CN" sz="2800" kern="100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mid</a:t>
            </a: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=(lower +upper)/2;	</a:t>
            </a:r>
            <a:endParaRPr lang="zh-CN" altLang="zh-CN" sz="2800" kern="100" dirty="0">
              <a:solidFill>
                <a:schemeClr val="tx1">
                  <a:lumMod val="6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sz="2800" kern="1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if (lower&gt;upper)   return -1; </a:t>
            </a:r>
            <a:r>
              <a:rPr lang="zh-CN" altLang="en-US" sz="1800" kern="100" dirty="0">
                <a:solidFill>
                  <a:schemeClr val="tx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//递归出口</a:t>
            </a:r>
            <a:endParaRPr lang="zh-CN" altLang="en-US" sz="1800" kern="100" dirty="0">
              <a:solidFill>
                <a:schemeClr val="tx1">
                  <a:lumMod val="6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2800" kern="100" dirty="0">
                <a:solidFill>
                  <a:schemeClr val="accent2">
                    <a:lumMod val="40000"/>
                    <a:lumOff val="6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2800" kern="1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if (a[</a:t>
            </a:r>
            <a:r>
              <a:rPr lang="en-US" altLang="zh-CN" sz="2800" kern="100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mid</a:t>
            </a:r>
            <a:r>
              <a:rPr lang="en-US" altLang="zh-CN" sz="2800" kern="1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]==key)   return mid; </a:t>
            </a:r>
            <a:r>
              <a:rPr lang="zh-CN" altLang="en-US" sz="1800" kern="100" dirty="0">
                <a:solidFill>
                  <a:schemeClr val="tx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//递归出口</a:t>
            </a:r>
            <a:endParaRPr lang="zh-CN" altLang="en-US" sz="1800" kern="100" dirty="0">
              <a:solidFill>
                <a:schemeClr val="tx1">
                  <a:lumMod val="6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if (</a:t>
            </a:r>
            <a:r>
              <a:rPr lang="en-US" altLang="zh-CN" sz="2800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key&lt;</a:t>
            </a: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a[</a:t>
            </a:r>
            <a:r>
              <a:rPr lang="en-US" altLang="zh-CN" sz="2800" kern="100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mid</a:t>
            </a: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])</a:t>
            </a:r>
            <a:endParaRPr lang="zh-CN" altLang="zh-CN" sz="28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	return </a:t>
            </a:r>
            <a:r>
              <a:rPr lang="en-US" altLang="zh-CN" sz="2800" kern="100" dirty="0">
                <a:solidFill>
                  <a:srgbClr val="F902FC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f(</a:t>
            </a: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a, </a:t>
            </a:r>
            <a:r>
              <a:rPr lang="en-US" altLang="zh-CN" sz="2800" kern="1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lower,</a:t>
            </a:r>
            <a:r>
              <a:rPr lang="en-US" altLang="zh-CN" sz="2800" kern="100" dirty="0">
                <a:solidFill>
                  <a:srgbClr val="F902FC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mid-1</a:t>
            </a: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,key</a:t>
            </a:r>
            <a:r>
              <a:rPr lang="en-US" altLang="zh-CN" sz="2800" kern="100" dirty="0">
                <a:solidFill>
                  <a:srgbClr val="F902FC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; </a:t>
            </a:r>
            <a:r>
              <a:rPr lang="en-US" altLang="zh-CN" sz="1800" kern="100" dirty="0">
                <a:solidFill>
                  <a:schemeClr val="tx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//</a:t>
            </a:r>
            <a:r>
              <a:rPr lang="zh-CN" altLang="en-US" sz="1800" kern="100" dirty="0">
                <a:solidFill>
                  <a:schemeClr val="tx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递归调用</a:t>
            </a:r>
            <a:endParaRPr lang="zh-CN" altLang="zh-CN" sz="1800" kern="100" dirty="0">
              <a:solidFill>
                <a:schemeClr val="tx1">
                  <a:lumMod val="6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else</a:t>
            </a:r>
            <a:endParaRPr lang="zh-CN" altLang="zh-CN" sz="28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	return </a:t>
            </a:r>
            <a:r>
              <a:rPr lang="en-US" altLang="zh-CN" sz="2800" kern="100" dirty="0">
                <a:solidFill>
                  <a:srgbClr val="F902FC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f(</a:t>
            </a: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a,</a:t>
            </a:r>
            <a:r>
              <a:rPr lang="en-US" altLang="zh-CN" sz="2800" kern="100" dirty="0">
                <a:solidFill>
                  <a:srgbClr val="F902FC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mid+1</a:t>
            </a:r>
            <a:r>
              <a:rPr lang="en-US" altLang="zh-CN" sz="2800" kern="1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,upper,</a:t>
            </a: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key</a:t>
            </a:r>
            <a:r>
              <a:rPr lang="en-US" altLang="zh-CN" sz="2800" kern="100" dirty="0">
                <a:solidFill>
                  <a:srgbClr val="F902FC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;	</a:t>
            </a:r>
            <a:r>
              <a:rPr lang="en-US" altLang="zh-CN" sz="1800" kern="100" dirty="0">
                <a:solidFill>
                  <a:schemeClr val="tx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//</a:t>
            </a:r>
            <a:r>
              <a:rPr lang="zh-CN" altLang="en-US" sz="1800" kern="100" dirty="0">
                <a:solidFill>
                  <a:schemeClr val="tx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递归调用</a:t>
            </a:r>
            <a:endParaRPr lang="zh-CN" altLang="zh-CN" sz="1800" kern="100" dirty="0">
              <a:solidFill>
                <a:schemeClr val="tx1">
                  <a:lumMod val="6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800" kern="100" dirty="0">
                <a:solidFill>
                  <a:srgbClr val="F902FC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}</a:t>
            </a:r>
            <a:endParaRPr lang="en-US" altLang="zh-CN" sz="2800" kern="100" dirty="0">
              <a:solidFill>
                <a:srgbClr val="F902FC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76200" y="163513"/>
            <a:ext cx="5410200" cy="476250"/>
          </a:xfrm>
        </p:spPr>
        <p:txBody>
          <a:bodyPr/>
          <a:lstStyle/>
          <a:p>
            <a:pPr algn="l">
              <a:defRPr/>
            </a:pPr>
            <a:r>
              <a:rPr lang="en-US" altLang="zh-CN" sz="3600" b="1" dirty="0"/>
              <a:t>【</a:t>
            </a:r>
            <a:r>
              <a:rPr lang="zh-CN" altLang="en-US" sz="3600" b="1" dirty="0"/>
              <a:t>课后实践</a:t>
            </a:r>
            <a:r>
              <a:rPr lang="en-US" altLang="zh-CN" sz="3600" b="1" dirty="0"/>
              <a:t>】</a:t>
            </a:r>
            <a:r>
              <a:rPr lang="zh-CN" altLang="en-US" sz="3600" b="1" dirty="0"/>
              <a:t>折半检索</a:t>
            </a:r>
            <a:endParaRPr lang="zh-CN" altLang="en-US" sz="3600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0668000" y="6329363"/>
            <a:ext cx="946150" cy="4572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B9318BC8-8541-4B45-99AF-A5932372BC42}" type="slidenum">
              <a:rPr lang="en-US" altLang="zh-CN" sz="1200" b="0"/>
            </a:fld>
            <a:endParaRPr lang="en-US" altLang="zh-CN" sz="1200" b="0" dirty="0"/>
          </a:p>
        </p:txBody>
      </p:sp>
      <p:sp>
        <p:nvSpPr>
          <p:cNvPr id="3" name="矩形 2"/>
          <p:cNvSpPr/>
          <p:nvPr/>
        </p:nvSpPr>
        <p:spPr>
          <a:xfrm>
            <a:off x="76358" y="6263343"/>
            <a:ext cx="7391206" cy="568325"/>
          </a:xfrm>
          <a:prstGeom prst="rect">
            <a:avLst/>
          </a:prstGeom>
          <a:ln>
            <a:noFill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800" dirty="0">
                <a:solidFill>
                  <a:srgbClr val="FFC000"/>
                </a:solidFill>
              </a:rPr>
              <a:t>函数调用：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("%</a:t>
            </a:r>
            <a:r>
              <a:rPr lang="en-US" altLang="zh-CN" sz="2800" dirty="0" err="1"/>
              <a:t>d",</a:t>
            </a:r>
            <a:r>
              <a:rPr lang="en-US" altLang="zh-CN" sz="2800" dirty="0" err="1">
                <a:solidFill>
                  <a:srgbClr val="F902FC"/>
                </a:solidFill>
              </a:rPr>
              <a:t>f</a:t>
            </a:r>
            <a:r>
              <a:rPr lang="en-US" altLang="zh-CN" sz="2800" dirty="0">
                <a:solidFill>
                  <a:srgbClr val="F902FC"/>
                </a:solidFill>
              </a:rPr>
              <a:t>(</a:t>
            </a:r>
            <a:r>
              <a:rPr lang="en-US" altLang="zh-CN" sz="2800" dirty="0"/>
              <a:t>a,</a:t>
            </a:r>
            <a:r>
              <a:rPr lang="en-US" altLang="zh-CN" sz="3100" kern="100" dirty="0">
                <a:solidFill>
                  <a:srgbClr val="F902FC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0,n-1</a:t>
            </a:r>
            <a:r>
              <a:rPr lang="en-US" altLang="zh-CN" sz="2800" dirty="0"/>
              <a:t>,key</a:t>
            </a:r>
            <a:r>
              <a:rPr lang="en-US" altLang="zh-CN" sz="2800" dirty="0" err="1">
                <a:solidFill>
                  <a:srgbClr val="F902FC"/>
                </a:solidFill>
              </a:rPr>
              <a:t>)</a:t>
            </a:r>
            <a:r>
              <a:rPr lang="en-US" altLang="zh-CN" sz="2800" dirty="0"/>
              <a:t>);</a:t>
            </a:r>
            <a:endParaRPr lang="zh-CN" altLang="en-US" sz="2800" dirty="0"/>
          </a:p>
        </p:txBody>
      </p:sp>
      <p:sp>
        <p:nvSpPr>
          <p:cNvPr id="6" name="对话气泡: 圆角矩形 5"/>
          <p:cNvSpPr/>
          <p:nvPr/>
        </p:nvSpPr>
        <p:spPr bwMode="auto">
          <a:xfrm>
            <a:off x="304800" y="1295400"/>
            <a:ext cx="3886200" cy="481013"/>
          </a:xfrm>
          <a:prstGeom prst="wedgeRoundRectCallout">
            <a:avLst>
              <a:gd name="adj1" fmla="val -50297"/>
              <a:gd name="adj2" fmla="val 139159"/>
              <a:gd name="adj3" fmla="val 16667"/>
            </a:avLst>
          </a:prstGeom>
          <a:solidFill>
            <a:srgbClr val="00B0F0"/>
          </a:solidFill>
          <a:ln>
            <a:noFill/>
          </a:ln>
          <a:effectLst/>
        </p:spPr>
        <p:txBody>
          <a:bodyPr anchor="ctr"/>
          <a:lstStyle/>
          <a:p>
            <a:pPr eaLnBrk="1" hangingPunct="1">
              <a:defRPr/>
            </a:pP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</a:t>
            </a:r>
            <a:r>
              <a:rPr lang="zh-CN" altLang="en-US" sz="2800" dirty="0">
                <a:solidFill>
                  <a:srgbClr val="F902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有返回值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的递归函数</a:t>
            </a:r>
            <a:endParaRPr lang="zh-CN" alt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矩形 7"/>
          <p:cNvSpPr/>
          <p:nvPr/>
        </p:nvSpPr>
        <p:spPr>
          <a:xfrm>
            <a:off x="8838565" y="0"/>
            <a:ext cx="3339465" cy="1198880"/>
          </a:xfrm>
          <a:prstGeom prst="rect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【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递归函数实现的一般过程</a:t>
            </a: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】</a:t>
            </a:r>
            <a:endParaRPr lang="en-US" altLang="zh-CN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>
              <a:defRPr/>
            </a:pP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1.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递归出口</a:t>
            </a:r>
            <a:endParaRPr lang="zh-CN" alt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>
              <a:defRPr/>
            </a:pP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2.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当前层需要实现的逻辑</a:t>
            </a:r>
            <a:endParaRPr lang="zh-CN" alt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>
              <a:defRPr/>
            </a:pP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3.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递归下探</a:t>
            </a:r>
            <a:endParaRPr lang="zh-CN" alt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15" name="Group 4"/>
          <p:cNvGraphicFramePr>
            <a:graphicFrameLocks noGrp="1"/>
          </p:cNvGraphicFramePr>
          <p:nvPr/>
        </p:nvGraphicFramePr>
        <p:xfrm>
          <a:off x="7433310" y="4506595"/>
          <a:ext cx="8374063" cy="503238"/>
        </p:xfrm>
        <a:graphic>
          <a:graphicData uri="http://schemas.openxmlformats.org/drawingml/2006/table">
            <a:tbl>
              <a:tblPr/>
              <a:tblGrid>
                <a:gridCol w="598488"/>
                <a:gridCol w="598487"/>
                <a:gridCol w="596900"/>
                <a:gridCol w="601663"/>
                <a:gridCol w="595312"/>
                <a:gridCol w="598488"/>
                <a:gridCol w="598487"/>
              </a:tblGrid>
              <a:tr h="503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24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33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45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57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60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61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62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16" name="Group 36"/>
          <p:cNvGrpSpPr/>
          <p:nvPr/>
        </p:nvGrpSpPr>
        <p:grpSpPr>
          <a:xfrm>
            <a:off x="7212648" y="3547957"/>
            <a:ext cx="1303338" cy="1044575"/>
            <a:chOff x="-48" y="2556"/>
            <a:chExt cx="821" cy="705"/>
          </a:xfrm>
        </p:grpSpPr>
        <p:sp>
          <p:nvSpPr>
            <p:cNvPr id="17" name="Line 37"/>
            <p:cNvSpPr/>
            <p:nvPr/>
          </p:nvSpPr>
          <p:spPr>
            <a:xfrm>
              <a:off x="340" y="2840"/>
              <a:ext cx="0" cy="36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arrow" w="med" len="lg"/>
            </a:ln>
          </p:spPr>
        </p:sp>
        <p:sp>
          <p:nvSpPr>
            <p:cNvPr id="18" name="Text Box 38"/>
            <p:cNvSpPr txBox="1"/>
            <p:nvPr/>
          </p:nvSpPr>
          <p:spPr>
            <a:xfrm>
              <a:off x="-48" y="2556"/>
              <a:ext cx="821" cy="70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no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ea typeface="黑体" panose="02010609060101010101" pitchFamily="49" charset="-122"/>
                </a:rPr>
                <a:t>lower</a:t>
              </a:r>
              <a:endParaRPr lang="en-US" altLang="zh-CN" sz="2800" b="1" dirty="0">
                <a:ea typeface="黑体" panose="02010609060101010101" pitchFamily="49" charset="-122"/>
              </a:endParaRPr>
            </a:p>
          </p:txBody>
        </p:sp>
      </p:grpSp>
      <p:grpSp>
        <p:nvGrpSpPr>
          <p:cNvPr id="19" name="Group 45"/>
          <p:cNvGrpSpPr/>
          <p:nvPr/>
        </p:nvGrpSpPr>
        <p:grpSpPr>
          <a:xfrm>
            <a:off x="10594658" y="3439478"/>
            <a:ext cx="1439862" cy="1006475"/>
            <a:chOff x="0" y="2523"/>
            <a:chExt cx="726" cy="680"/>
          </a:xfrm>
        </p:grpSpPr>
        <p:sp>
          <p:nvSpPr>
            <p:cNvPr id="20" name="Line 46"/>
            <p:cNvSpPr/>
            <p:nvPr/>
          </p:nvSpPr>
          <p:spPr>
            <a:xfrm>
              <a:off x="340" y="2840"/>
              <a:ext cx="0" cy="36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arrow" w="med" len="lg"/>
            </a:ln>
          </p:spPr>
        </p:sp>
        <p:sp>
          <p:nvSpPr>
            <p:cNvPr id="21" name="Text Box 47"/>
            <p:cNvSpPr txBox="1"/>
            <p:nvPr/>
          </p:nvSpPr>
          <p:spPr>
            <a:xfrm>
              <a:off x="0" y="2523"/>
              <a:ext cx="726" cy="3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ea typeface="黑体" panose="02010609060101010101" pitchFamily="49" charset="-122"/>
                </a:rPr>
                <a:t>upper</a:t>
              </a:r>
              <a:endParaRPr lang="en-US" altLang="zh-CN" sz="2800" b="1" dirty="0">
                <a:ea typeface="黑体" panose="02010609060101010101" pitchFamily="49" charset="-122"/>
              </a:endParaRPr>
            </a:p>
          </p:txBody>
        </p:sp>
      </p:grpSp>
      <p:grpSp>
        <p:nvGrpSpPr>
          <p:cNvPr id="22" name="Group 48"/>
          <p:cNvGrpSpPr/>
          <p:nvPr/>
        </p:nvGrpSpPr>
        <p:grpSpPr>
          <a:xfrm>
            <a:off x="8990648" y="5082858"/>
            <a:ext cx="936626" cy="954088"/>
            <a:chOff x="2455" y="3566"/>
            <a:chExt cx="590" cy="601"/>
          </a:xfrm>
        </p:grpSpPr>
        <p:sp>
          <p:nvSpPr>
            <p:cNvPr id="23" name="Text Box 49"/>
            <p:cNvSpPr txBox="1"/>
            <p:nvPr/>
          </p:nvSpPr>
          <p:spPr>
            <a:xfrm>
              <a:off x="2455" y="3838"/>
              <a:ext cx="590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solidFill>
                    <a:srgbClr val="FFFF00"/>
                  </a:solidFill>
                  <a:ea typeface="黑体" panose="02010609060101010101" pitchFamily="49" charset="-122"/>
                </a:rPr>
                <a:t>mid</a:t>
              </a:r>
              <a:endParaRPr lang="en-US" altLang="zh-CN" sz="2800" b="1" dirty="0">
                <a:solidFill>
                  <a:srgbClr val="FFFF0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4" name="Line 50"/>
            <p:cNvSpPr/>
            <p:nvPr/>
          </p:nvSpPr>
          <p:spPr>
            <a:xfrm flipV="1">
              <a:off x="2789" y="3566"/>
              <a:ext cx="1" cy="27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arrow" w="med" len="lg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ED43CE16-9285-4F3F-8C62-155B6CB09F3B}" type="slidenum">
              <a:rPr lang="en-US" altLang="zh-CN" sz="1200" b="0"/>
            </a:fld>
            <a:endParaRPr lang="en-US" altLang="zh-CN" sz="1200" b="0"/>
          </a:p>
        </p:txBody>
      </p:sp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>
          <a:xfrm>
            <a:off x="12700" y="93663"/>
            <a:ext cx="9144000" cy="549275"/>
          </a:xfrm>
        </p:spPr>
        <p:txBody>
          <a:bodyPr/>
          <a:lstStyle/>
          <a:p>
            <a:pPr algn="l" eaLnBrk="1" hangingPunct="1"/>
            <a:r>
              <a:rPr lang="en-US" altLang="zh-CN" sz="4000" b="1"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【</a:t>
            </a:r>
            <a:r>
              <a:rPr lang="zh-CN" altLang="en-US" sz="4000" b="1"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例</a:t>
            </a:r>
            <a:r>
              <a:rPr lang="en-US" altLang="zh-CN" sz="4000" b="1"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10.3】</a:t>
            </a:r>
            <a:r>
              <a:rPr lang="zh-CN" altLang="en-US" sz="4000" b="1"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汉诺（ </a:t>
            </a:r>
            <a:r>
              <a:rPr lang="en-US" altLang="zh-CN" sz="4000" b="1"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Hanoi </a:t>
            </a:r>
            <a:r>
              <a:rPr lang="zh-CN" altLang="en-US" sz="4000" b="1"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）塔游戏</a:t>
            </a:r>
            <a:endParaRPr lang="zh-CN" altLang="en-US" sz="4000" b="1">
              <a:solidFill>
                <a:srgbClr val="FFC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35556" name="Line 4"/>
          <p:cNvSpPr>
            <a:spLocks noChangeShapeType="1"/>
          </p:cNvSpPr>
          <p:nvPr/>
        </p:nvSpPr>
        <p:spPr bwMode="auto">
          <a:xfrm>
            <a:off x="1524000" y="2060575"/>
            <a:ext cx="9144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35557" name="Line 5"/>
          <p:cNvSpPr>
            <a:spLocks noChangeShapeType="1"/>
          </p:cNvSpPr>
          <p:nvPr/>
        </p:nvSpPr>
        <p:spPr bwMode="auto">
          <a:xfrm flipV="1">
            <a:off x="3359150" y="836613"/>
            <a:ext cx="1588" cy="11858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" name="Group 6"/>
          <p:cNvGrpSpPr/>
          <p:nvPr/>
        </p:nvGrpSpPr>
        <p:grpSpPr bwMode="auto">
          <a:xfrm>
            <a:off x="2351088" y="1917700"/>
            <a:ext cx="2233612" cy="122238"/>
            <a:chOff x="1116" y="1605"/>
            <a:chExt cx="951" cy="77"/>
          </a:xfrm>
        </p:grpSpPr>
        <p:sp>
          <p:nvSpPr>
            <p:cNvPr id="535559" name="Freeform 7"/>
            <p:cNvSpPr/>
            <p:nvPr/>
          </p:nvSpPr>
          <p:spPr bwMode="auto">
            <a:xfrm>
              <a:off x="1116" y="1605"/>
              <a:ext cx="476" cy="77"/>
            </a:xfrm>
            <a:custGeom>
              <a:avLst/>
              <a:gdLst>
                <a:gd name="T0" fmla="*/ 0 w 20000"/>
                <a:gd name="T1" fmla="*/ 19835 h 20000"/>
                <a:gd name="T2" fmla="*/ 0 w 20000"/>
                <a:gd name="T3" fmla="*/ 0 h 20000"/>
                <a:gd name="T4" fmla="*/ 19976 w 20000"/>
                <a:gd name="T5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000" h="20000">
                  <a:moveTo>
                    <a:pt x="0" y="19835"/>
                  </a:moveTo>
                  <a:lnTo>
                    <a:pt x="0" y="0"/>
                  </a:lnTo>
                  <a:lnTo>
                    <a:pt x="19976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35560" name="Freeform 8"/>
            <p:cNvSpPr/>
            <p:nvPr/>
          </p:nvSpPr>
          <p:spPr bwMode="auto">
            <a:xfrm>
              <a:off x="1591" y="1605"/>
              <a:ext cx="476" cy="77"/>
            </a:xfrm>
            <a:custGeom>
              <a:avLst/>
              <a:gdLst>
                <a:gd name="T0" fmla="*/ 19976 w 20000"/>
                <a:gd name="T1" fmla="*/ 19835 h 20000"/>
                <a:gd name="T2" fmla="*/ 19976 w 20000"/>
                <a:gd name="T3" fmla="*/ 0 h 20000"/>
                <a:gd name="T4" fmla="*/ 0 w 20000"/>
                <a:gd name="T5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000" h="20000">
                  <a:moveTo>
                    <a:pt x="19976" y="19835"/>
                  </a:moveTo>
                  <a:lnTo>
                    <a:pt x="19976" y="0"/>
                  </a:ln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535561" name="Line 9"/>
          <p:cNvSpPr>
            <a:spLocks noChangeShapeType="1"/>
          </p:cNvSpPr>
          <p:nvPr/>
        </p:nvSpPr>
        <p:spPr bwMode="auto">
          <a:xfrm flipV="1">
            <a:off x="9048750" y="908050"/>
            <a:ext cx="0" cy="11858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3" name="Group 11"/>
          <p:cNvGrpSpPr/>
          <p:nvPr/>
        </p:nvGrpSpPr>
        <p:grpSpPr bwMode="auto">
          <a:xfrm>
            <a:off x="1703388" y="1052513"/>
            <a:ext cx="2592387" cy="1008062"/>
            <a:chOff x="930" y="1074"/>
            <a:chExt cx="1021" cy="608"/>
          </a:xfrm>
        </p:grpSpPr>
        <p:grpSp>
          <p:nvGrpSpPr>
            <p:cNvPr id="45088" name="Group 12"/>
            <p:cNvGrpSpPr/>
            <p:nvPr/>
          </p:nvGrpSpPr>
          <p:grpSpPr bwMode="auto">
            <a:xfrm>
              <a:off x="1220" y="1112"/>
              <a:ext cx="731" cy="494"/>
              <a:chOff x="1220" y="1112"/>
              <a:chExt cx="731" cy="494"/>
            </a:xfrm>
          </p:grpSpPr>
          <p:sp>
            <p:nvSpPr>
              <p:cNvPr id="45093" name="Rectangle 13"/>
              <p:cNvSpPr>
                <a:spLocks noChangeArrowheads="1"/>
              </p:cNvSpPr>
              <p:nvPr/>
            </p:nvSpPr>
            <p:spPr bwMode="auto">
              <a:xfrm>
                <a:off x="1417" y="1226"/>
                <a:ext cx="420" cy="2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latin typeface="Arial" panose="020B0604020202020204" pitchFamily="34" charset="0"/>
                  </a:rPr>
                  <a:t> ...  ...</a:t>
                </a:r>
                <a:endParaRPr lang="en-US" altLang="zh-CN" sz="2400">
                  <a:latin typeface="Arial" panose="020B0604020202020204" pitchFamily="34" charset="0"/>
                </a:endParaRPr>
              </a:p>
            </p:txBody>
          </p:sp>
          <p:grpSp>
            <p:nvGrpSpPr>
              <p:cNvPr id="45094" name="Group 14"/>
              <p:cNvGrpSpPr/>
              <p:nvPr/>
            </p:nvGrpSpPr>
            <p:grpSpPr bwMode="auto">
              <a:xfrm>
                <a:off x="1220" y="1112"/>
                <a:ext cx="731" cy="494"/>
                <a:chOff x="1220" y="1112"/>
                <a:chExt cx="731" cy="494"/>
              </a:xfrm>
            </p:grpSpPr>
            <p:grpSp>
              <p:nvGrpSpPr>
                <p:cNvPr id="45095" name="Group 15"/>
                <p:cNvGrpSpPr/>
                <p:nvPr/>
              </p:nvGrpSpPr>
              <p:grpSpPr bwMode="auto">
                <a:xfrm>
                  <a:off x="1220" y="1529"/>
                  <a:ext cx="731" cy="77"/>
                  <a:chOff x="0" y="0"/>
                  <a:chExt cx="19999" cy="20000"/>
                </a:xfrm>
              </p:grpSpPr>
              <p:sp>
                <p:nvSpPr>
                  <p:cNvPr id="535568" name="Freeform 16"/>
                  <p:cNvSpPr/>
                  <p:nvPr/>
                </p:nvSpPr>
                <p:spPr bwMode="auto">
                  <a:xfrm>
                    <a:off x="3" y="14373"/>
                    <a:ext cx="10161" cy="5720"/>
                  </a:xfrm>
                  <a:custGeom>
                    <a:avLst/>
                    <a:gdLst>
                      <a:gd name="T0" fmla="*/ 0 w 20000"/>
                      <a:gd name="T1" fmla="*/ 19835 h 20000"/>
                      <a:gd name="T2" fmla="*/ 0 w 20000"/>
                      <a:gd name="T3" fmla="*/ 0 h 20000"/>
                      <a:gd name="T4" fmla="*/ 19969 w 20000"/>
                      <a:gd name="T5" fmla="*/ 0 h 200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0000" h="20000">
                        <a:moveTo>
                          <a:pt x="0" y="19835"/>
                        </a:moveTo>
                        <a:lnTo>
                          <a:pt x="0" y="0"/>
                        </a:lnTo>
                        <a:lnTo>
                          <a:pt x="19969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/>
                  <a:lstStyle/>
                  <a:p>
                    <a:pPr eaLnBrk="1" hangingPunct="1"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535569" name="Freeform 17"/>
                  <p:cNvSpPr/>
                  <p:nvPr/>
                </p:nvSpPr>
                <p:spPr bwMode="auto">
                  <a:xfrm>
                    <a:off x="9838" y="14373"/>
                    <a:ext cx="10161" cy="5720"/>
                  </a:xfrm>
                  <a:custGeom>
                    <a:avLst/>
                    <a:gdLst>
                      <a:gd name="T0" fmla="*/ 19969 w 20000"/>
                      <a:gd name="T1" fmla="*/ 19835 h 20000"/>
                      <a:gd name="T2" fmla="*/ 19969 w 20000"/>
                      <a:gd name="T3" fmla="*/ 0 h 20000"/>
                      <a:gd name="T4" fmla="*/ 0 w 20000"/>
                      <a:gd name="T5" fmla="*/ 0 h 200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0000" h="20000">
                        <a:moveTo>
                          <a:pt x="19969" y="19835"/>
                        </a:moveTo>
                        <a:lnTo>
                          <a:pt x="19969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/>
                  <a:lstStyle/>
                  <a:p>
                    <a:pPr eaLnBrk="1" hangingPunct="1"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</p:grpSp>
            <p:grpSp>
              <p:nvGrpSpPr>
                <p:cNvPr id="45096" name="Group 18"/>
                <p:cNvGrpSpPr/>
                <p:nvPr/>
              </p:nvGrpSpPr>
              <p:grpSpPr bwMode="auto">
                <a:xfrm>
                  <a:off x="1301" y="1453"/>
                  <a:ext cx="581" cy="77"/>
                  <a:chOff x="0" y="0"/>
                  <a:chExt cx="20000" cy="20000"/>
                </a:xfrm>
              </p:grpSpPr>
              <p:sp>
                <p:nvSpPr>
                  <p:cNvPr id="535571" name="Freeform 19"/>
                  <p:cNvSpPr/>
                  <p:nvPr/>
                </p:nvSpPr>
                <p:spPr bwMode="auto">
                  <a:xfrm>
                    <a:off x="1283" y="42"/>
                    <a:ext cx="8932" cy="34817"/>
                  </a:xfrm>
                  <a:custGeom>
                    <a:avLst/>
                    <a:gdLst>
                      <a:gd name="T0" fmla="*/ 0 w 20000"/>
                      <a:gd name="T1" fmla="*/ 19835 h 20000"/>
                      <a:gd name="T2" fmla="*/ 0 w 20000"/>
                      <a:gd name="T3" fmla="*/ 0 h 20000"/>
                      <a:gd name="T4" fmla="*/ 19961 w 20000"/>
                      <a:gd name="T5" fmla="*/ 0 h 200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0000" h="20000">
                        <a:moveTo>
                          <a:pt x="0" y="19835"/>
                        </a:moveTo>
                        <a:lnTo>
                          <a:pt x="0" y="0"/>
                        </a:lnTo>
                        <a:lnTo>
                          <a:pt x="19961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/>
                  <a:lstStyle/>
                  <a:p>
                    <a:pPr eaLnBrk="1" hangingPunct="1"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535572" name="Freeform 20"/>
                  <p:cNvSpPr/>
                  <p:nvPr/>
                </p:nvSpPr>
                <p:spPr bwMode="auto">
                  <a:xfrm>
                    <a:off x="9849" y="42"/>
                    <a:ext cx="10159" cy="34817"/>
                  </a:xfrm>
                  <a:custGeom>
                    <a:avLst/>
                    <a:gdLst>
                      <a:gd name="T0" fmla="*/ 19961 w 20000"/>
                      <a:gd name="T1" fmla="*/ 19835 h 20000"/>
                      <a:gd name="T2" fmla="*/ 19961 w 20000"/>
                      <a:gd name="T3" fmla="*/ 0 h 20000"/>
                      <a:gd name="T4" fmla="*/ 0 w 20000"/>
                      <a:gd name="T5" fmla="*/ 0 h 200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0000" h="20000">
                        <a:moveTo>
                          <a:pt x="19961" y="19835"/>
                        </a:moveTo>
                        <a:lnTo>
                          <a:pt x="19961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/>
                  <a:lstStyle/>
                  <a:p>
                    <a:pPr eaLnBrk="1" hangingPunct="1"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</p:grpSp>
            <p:sp>
              <p:nvSpPr>
                <p:cNvPr id="535573" name="Rectangle 21"/>
                <p:cNvSpPr>
                  <a:spLocks noChangeArrowheads="1"/>
                </p:cNvSpPr>
                <p:nvPr/>
              </p:nvSpPr>
              <p:spPr bwMode="auto">
                <a:xfrm>
                  <a:off x="1452" y="1175"/>
                  <a:ext cx="279" cy="64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/>
                <a:lstStyle/>
                <a:p>
                  <a:pPr eaLnBrk="1" hangingPunct="1"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35574" name="Rectangle 22"/>
                <p:cNvSpPr>
                  <a:spLocks noChangeArrowheads="1"/>
                </p:cNvSpPr>
                <p:nvPr/>
              </p:nvSpPr>
              <p:spPr bwMode="auto">
                <a:xfrm>
                  <a:off x="1521" y="1112"/>
                  <a:ext cx="140" cy="64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/>
                <a:lstStyle/>
                <a:p>
                  <a:pPr eaLnBrk="1" hangingPunct="1"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</p:grpSp>
        <p:grpSp>
          <p:nvGrpSpPr>
            <p:cNvPr id="45089" name="Group 23"/>
            <p:cNvGrpSpPr/>
            <p:nvPr/>
          </p:nvGrpSpPr>
          <p:grpSpPr bwMode="auto">
            <a:xfrm>
              <a:off x="930" y="1074"/>
              <a:ext cx="279" cy="608"/>
              <a:chOff x="930" y="1074"/>
              <a:chExt cx="279" cy="608"/>
            </a:xfrm>
          </p:grpSpPr>
          <p:sp>
            <p:nvSpPr>
              <p:cNvPr id="45090" name="Rectangle 24"/>
              <p:cNvSpPr>
                <a:spLocks noChangeArrowheads="1"/>
              </p:cNvSpPr>
              <p:nvPr/>
            </p:nvSpPr>
            <p:spPr bwMode="auto">
              <a:xfrm>
                <a:off x="930" y="1188"/>
                <a:ext cx="279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latin typeface="Arial" panose="020B0604020202020204" pitchFamily="34" charset="0"/>
                  </a:rPr>
                  <a:t>64</a:t>
                </a:r>
                <a:r>
                  <a:rPr lang="zh-CN" altLang="en-US" sz="2400">
                    <a:latin typeface="Arial" panose="020B0604020202020204" pitchFamily="34" charset="0"/>
                  </a:rPr>
                  <a:t>片</a:t>
                </a: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535577" name="Freeform 25"/>
              <p:cNvSpPr/>
              <p:nvPr/>
            </p:nvSpPr>
            <p:spPr bwMode="auto">
              <a:xfrm>
                <a:off x="1034" y="1377"/>
                <a:ext cx="1" cy="305"/>
              </a:xfrm>
              <a:custGeom>
                <a:avLst/>
                <a:gdLst>
                  <a:gd name="T0" fmla="*/ 0 w 20000"/>
                  <a:gd name="T1" fmla="*/ 19958 h 20000"/>
                  <a:gd name="T2" fmla="*/ 0 w 20000"/>
                  <a:gd name="T3" fmla="*/ 0 h 2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0000" h="20000">
                    <a:moveTo>
                      <a:pt x="0" y="19958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35578" name="Freeform 26"/>
              <p:cNvSpPr/>
              <p:nvPr/>
            </p:nvSpPr>
            <p:spPr bwMode="auto">
              <a:xfrm>
                <a:off x="1034" y="1074"/>
                <a:ext cx="164" cy="102"/>
              </a:xfrm>
              <a:custGeom>
                <a:avLst/>
                <a:gdLst>
                  <a:gd name="T0" fmla="*/ 0 w 20000"/>
                  <a:gd name="T1" fmla="*/ 19876 h 20000"/>
                  <a:gd name="T2" fmla="*/ 0 w 20000"/>
                  <a:gd name="T3" fmla="*/ 0 h 20000"/>
                  <a:gd name="T4" fmla="*/ 19929 w 20000"/>
                  <a:gd name="T5" fmla="*/ 0 h 2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0000" h="20000">
                    <a:moveTo>
                      <a:pt x="0" y="19876"/>
                    </a:moveTo>
                    <a:lnTo>
                      <a:pt x="0" y="0"/>
                    </a:lnTo>
                    <a:lnTo>
                      <a:pt x="19929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sp>
        <p:nvSpPr>
          <p:cNvPr id="45065" name="Rectangle 27"/>
          <p:cNvSpPr>
            <a:spLocks noChangeArrowheads="1"/>
          </p:cNvSpPr>
          <p:nvPr/>
        </p:nvSpPr>
        <p:spPr bwMode="auto">
          <a:xfrm>
            <a:off x="1847850" y="2205038"/>
            <a:ext cx="8820150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                 a                                b                         c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535619" name="Rectangle 67"/>
          <p:cNvSpPr>
            <a:spLocks noGrp="1" noChangeArrowheads="1"/>
          </p:cNvSpPr>
          <p:nvPr>
            <p:ph type="body" idx="1"/>
          </p:nvPr>
        </p:nvSpPr>
        <p:spPr>
          <a:xfrm>
            <a:off x="136525" y="2805113"/>
            <a:ext cx="12039600" cy="25606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274955" indent="-274955" eaLnBrk="1" hangingPunct="1">
              <a:buClr>
                <a:schemeClr val="accent2"/>
              </a:buClr>
              <a:buSzTx/>
              <a:buFont typeface="Wingdings" panose="05000000000000000000" pitchFamily="2" charset="2"/>
              <a:buChar char="u"/>
            </a:pPr>
            <a:r>
              <a:rPr lang="zh-CN" altLang="en-US" sz="2000" b="1">
                <a:effectLst/>
              </a:rPr>
              <a:t>该问题又称世界末日问题。相传，古印度布拉玛婆罗门神庙的僧侣们，当时作一种被称为 </a:t>
            </a:r>
            <a:r>
              <a:rPr lang="en-US" altLang="zh-CN" sz="2000" b="1">
                <a:effectLst/>
              </a:rPr>
              <a:t>Hanoi</a:t>
            </a:r>
            <a:r>
              <a:rPr lang="zh-CN" altLang="en-US" sz="2000" b="1">
                <a:effectLst/>
              </a:rPr>
              <a:t>塔的游戏。该游戏是：在一个平板上，有三根钻石针；在其中一根针上有成塔型落放的大小不等的</a:t>
            </a:r>
            <a:r>
              <a:rPr lang="en-US" altLang="zh-CN" sz="2000" b="1">
                <a:effectLst/>
              </a:rPr>
              <a:t>64</a:t>
            </a:r>
            <a:r>
              <a:rPr lang="zh-CN" altLang="en-US" sz="2000" b="1">
                <a:effectLst/>
              </a:rPr>
              <a:t>片金片；要求把这</a:t>
            </a:r>
            <a:r>
              <a:rPr lang="en-US" altLang="zh-CN" sz="2000" b="1">
                <a:effectLst/>
              </a:rPr>
              <a:t>64</a:t>
            </a:r>
            <a:r>
              <a:rPr lang="zh-CN" altLang="en-US" sz="2000" b="1">
                <a:effectLst/>
              </a:rPr>
              <a:t>片金片全部移到另一根钻石针上。移动规则是：</a:t>
            </a:r>
            <a:endParaRPr lang="zh-CN" altLang="en-US" sz="2000" b="1">
              <a:effectLst/>
            </a:endParaRPr>
          </a:p>
          <a:p>
            <a:pPr marL="808355" lvl="1" indent="-354330" eaLnBrk="1" hangingPunct="1">
              <a:buClr>
                <a:schemeClr val="accent2"/>
              </a:buClr>
              <a:buFont typeface="Wingdings" panose="05000000000000000000" pitchFamily="2" charset="2"/>
              <a:buChar char="u"/>
            </a:pPr>
            <a:r>
              <a:rPr lang="zh-CN" altLang="en-US" sz="2000" b="1">
                <a:effectLst/>
              </a:rPr>
              <a:t>每次只允许移动一片金片；</a:t>
            </a:r>
            <a:endParaRPr lang="zh-CN" altLang="en-US" sz="2000" b="1">
              <a:effectLst/>
            </a:endParaRPr>
          </a:p>
          <a:p>
            <a:pPr marL="808355" lvl="1" indent="-354330" eaLnBrk="1" hangingPunct="1">
              <a:buClr>
                <a:schemeClr val="accent2"/>
              </a:buClr>
              <a:buFont typeface="Wingdings" panose="05000000000000000000" pitchFamily="2" charset="2"/>
              <a:buChar char="u"/>
            </a:pPr>
            <a:r>
              <a:rPr lang="zh-CN" altLang="en-US" sz="2000" b="1">
                <a:effectLst/>
              </a:rPr>
              <a:t>移动过程中的任何时刻，都不允许有较大的金片放在较小的金片的上面；</a:t>
            </a:r>
            <a:endParaRPr lang="zh-CN" altLang="en-US" sz="2000" b="1">
              <a:effectLst/>
            </a:endParaRPr>
          </a:p>
          <a:p>
            <a:pPr marL="808355" lvl="1" indent="-354330" eaLnBrk="1" hangingPunct="1">
              <a:buClr>
                <a:schemeClr val="accent2"/>
              </a:buClr>
              <a:buFont typeface="Wingdings" panose="05000000000000000000" pitchFamily="2" charset="2"/>
              <a:buChar char="u"/>
            </a:pPr>
            <a:r>
              <a:rPr lang="zh-CN" altLang="en-US" sz="2000" b="1">
                <a:effectLst/>
              </a:rPr>
              <a:t>移动过程中，三根钻石针都可以利用，但是金片不许放在除钻石针以外的任何地方。</a:t>
            </a:r>
            <a:endParaRPr lang="zh-CN" altLang="en-US" sz="2000" b="1">
              <a:effectLst/>
            </a:endParaRPr>
          </a:p>
          <a:p>
            <a:pPr marL="274955" indent="-274955" eaLnBrk="1" hangingPunct="1">
              <a:buClr>
                <a:schemeClr val="accent2"/>
              </a:buClr>
              <a:buSzTx/>
              <a:buFont typeface="Wingdings" panose="05000000000000000000" pitchFamily="2" charset="2"/>
              <a:buChar char="u"/>
            </a:pPr>
            <a:r>
              <a:rPr lang="zh-CN" altLang="en-US" sz="2000" b="1">
                <a:effectLst/>
              </a:rPr>
              <a:t>据说当</a:t>
            </a:r>
            <a:r>
              <a:rPr lang="en-US" altLang="zh-CN" sz="2000" b="1">
                <a:effectLst/>
              </a:rPr>
              <a:t>64</a:t>
            </a:r>
            <a:r>
              <a:rPr lang="zh-CN" altLang="en-US" sz="2000" b="1">
                <a:effectLst/>
              </a:rPr>
              <a:t>片金片全部从一根钻石针移到另一根钻石针那天，就是世界的末日。</a:t>
            </a:r>
            <a:endParaRPr lang="zh-CN" altLang="en-US" sz="2000" b="1">
              <a:effectLst/>
            </a:endParaRPr>
          </a:p>
        </p:txBody>
      </p:sp>
      <p:sp>
        <p:nvSpPr>
          <p:cNvPr id="45067" name="Rectangle 68"/>
          <p:cNvSpPr>
            <a:spLocks noChangeArrowheads="1"/>
          </p:cNvSpPr>
          <p:nvPr/>
        </p:nvSpPr>
        <p:spPr bwMode="auto">
          <a:xfrm>
            <a:off x="371475" y="5638800"/>
            <a:ext cx="55213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>
                <a:solidFill>
                  <a:srgbClr val="FFC000"/>
                </a:solidFill>
                <a:latin typeface="Arial" panose="020B0604020202020204" pitchFamily="34" charset="0"/>
              </a:rPr>
              <a:t>请编程序，打印金片的移动顺序。</a:t>
            </a:r>
            <a:endParaRPr lang="zh-CN" altLang="en-US" sz="2800">
              <a:solidFill>
                <a:srgbClr val="FFC000"/>
              </a:solidFill>
              <a:latin typeface="Arial" panose="020B0604020202020204" pitchFamily="34" charset="0"/>
            </a:endParaRPr>
          </a:p>
        </p:txBody>
      </p:sp>
      <p:sp>
        <p:nvSpPr>
          <p:cNvPr id="535637" name="Line 85"/>
          <p:cNvSpPr>
            <a:spLocks noChangeShapeType="1"/>
          </p:cNvSpPr>
          <p:nvPr/>
        </p:nvSpPr>
        <p:spPr bwMode="auto">
          <a:xfrm flipV="1">
            <a:off x="6311900" y="836613"/>
            <a:ext cx="1588" cy="11858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9" name="Group 86"/>
          <p:cNvGrpSpPr/>
          <p:nvPr/>
        </p:nvGrpSpPr>
        <p:grpSpPr bwMode="auto">
          <a:xfrm>
            <a:off x="5303838" y="1917700"/>
            <a:ext cx="2233612" cy="122238"/>
            <a:chOff x="1116" y="1605"/>
            <a:chExt cx="951" cy="77"/>
          </a:xfrm>
        </p:grpSpPr>
        <p:sp>
          <p:nvSpPr>
            <p:cNvPr id="535639" name="Freeform 87"/>
            <p:cNvSpPr/>
            <p:nvPr/>
          </p:nvSpPr>
          <p:spPr bwMode="auto">
            <a:xfrm>
              <a:off x="1116" y="1605"/>
              <a:ext cx="476" cy="77"/>
            </a:xfrm>
            <a:custGeom>
              <a:avLst/>
              <a:gdLst>
                <a:gd name="T0" fmla="*/ 0 w 20000"/>
                <a:gd name="T1" fmla="*/ 19835 h 20000"/>
                <a:gd name="T2" fmla="*/ 0 w 20000"/>
                <a:gd name="T3" fmla="*/ 0 h 20000"/>
                <a:gd name="T4" fmla="*/ 19976 w 20000"/>
                <a:gd name="T5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000" h="20000">
                  <a:moveTo>
                    <a:pt x="0" y="19835"/>
                  </a:moveTo>
                  <a:lnTo>
                    <a:pt x="0" y="0"/>
                  </a:lnTo>
                  <a:lnTo>
                    <a:pt x="19976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35640" name="Freeform 88"/>
            <p:cNvSpPr/>
            <p:nvPr/>
          </p:nvSpPr>
          <p:spPr bwMode="auto">
            <a:xfrm>
              <a:off x="1591" y="1605"/>
              <a:ext cx="476" cy="77"/>
            </a:xfrm>
            <a:custGeom>
              <a:avLst/>
              <a:gdLst>
                <a:gd name="T0" fmla="*/ 19976 w 20000"/>
                <a:gd name="T1" fmla="*/ 19835 h 20000"/>
                <a:gd name="T2" fmla="*/ 19976 w 20000"/>
                <a:gd name="T3" fmla="*/ 0 h 20000"/>
                <a:gd name="T4" fmla="*/ 0 w 20000"/>
                <a:gd name="T5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000" h="20000">
                  <a:moveTo>
                    <a:pt x="19976" y="19835"/>
                  </a:moveTo>
                  <a:lnTo>
                    <a:pt x="19976" y="0"/>
                  </a:ln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10" name="Group 89"/>
          <p:cNvGrpSpPr/>
          <p:nvPr/>
        </p:nvGrpSpPr>
        <p:grpSpPr bwMode="auto">
          <a:xfrm>
            <a:off x="4656138" y="1052513"/>
            <a:ext cx="2592387" cy="1008062"/>
            <a:chOff x="930" y="1074"/>
            <a:chExt cx="1021" cy="608"/>
          </a:xfrm>
        </p:grpSpPr>
        <p:grpSp>
          <p:nvGrpSpPr>
            <p:cNvPr id="45071" name="Group 90"/>
            <p:cNvGrpSpPr/>
            <p:nvPr/>
          </p:nvGrpSpPr>
          <p:grpSpPr bwMode="auto">
            <a:xfrm>
              <a:off x="1220" y="1112"/>
              <a:ext cx="731" cy="494"/>
              <a:chOff x="1220" y="1112"/>
              <a:chExt cx="731" cy="494"/>
            </a:xfrm>
          </p:grpSpPr>
          <p:sp>
            <p:nvSpPr>
              <p:cNvPr id="45076" name="Rectangle 91"/>
              <p:cNvSpPr>
                <a:spLocks noChangeArrowheads="1"/>
              </p:cNvSpPr>
              <p:nvPr/>
            </p:nvSpPr>
            <p:spPr bwMode="auto">
              <a:xfrm>
                <a:off x="1417" y="1226"/>
                <a:ext cx="420" cy="2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latin typeface="Arial" panose="020B0604020202020204" pitchFamily="34" charset="0"/>
                  </a:rPr>
                  <a:t> ...  ...</a:t>
                </a:r>
                <a:endParaRPr lang="en-US" altLang="zh-CN" sz="2400">
                  <a:latin typeface="Arial" panose="020B0604020202020204" pitchFamily="34" charset="0"/>
                </a:endParaRPr>
              </a:p>
            </p:txBody>
          </p:sp>
          <p:grpSp>
            <p:nvGrpSpPr>
              <p:cNvPr id="45077" name="Group 92"/>
              <p:cNvGrpSpPr/>
              <p:nvPr/>
            </p:nvGrpSpPr>
            <p:grpSpPr bwMode="auto">
              <a:xfrm>
                <a:off x="1220" y="1112"/>
                <a:ext cx="731" cy="494"/>
                <a:chOff x="1220" y="1112"/>
                <a:chExt cx="731" cy="494"/>
              </a:xfrm>
            </p:grpSpPr>
            <p:grpSp>
              <p:nvGrpSpPr>
                <p:cNvPr id="45078" name="Group 93"/>
                <p:cNvGrpSpPr/>
                <p:nvPr/>
              </p:nvGrpSpPr>
              <p:grpSpPr bwMode="auto">
                <a:xfrm>
                  <a:off x="1220" y="1529"/>
                  <a:ext cx="731" cy="77"/>
                  <a:chOff x="0" y="0"/>
                  <a:chExt cx="19999" cy="20000"/>
                </a:xfrm>
              </p:grpSpPr>
              <p:sp>
                <p:nvSpPr>
                  <p:cNvPr id="535646" name="Freeform 94"/>
                  <p:cNvSpPr/>
                  <p:nvPr/>
                </p:nvSpPr>
                <p:spPr bwMode="auto">
                  <a:xfrm>
                    <a:off x="3" y="14373"/>
                    <a:ext cx="10161" cy="5720"/>
                  </a:xfrm>
                  <a:custGeom>
                    <a:avLst/>
                    <a:gdLst>
                      <a:gd name="T0" fmla="*/ 0 w 20000"/>
                      <a:gd name="T1" fmla="*/ 19835 h 20000"/>
                      <a:gd name="T2" fmla="*/ 0 w 20000"/>
                      <a:gd name="T3" fmla="*/ 0 h 20000"/>
                      <a:gd name="T4" fmla="*/ 19969 w 20000"/>
                      <a:gd name="T5" fmla="*/ 0 h 200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0000" h="20000">
                        <a:moveTo>
                          <a:pt x="0" y="19835"/>
                        </a:moveTo>
                        <a:lnTo>
                          <a:pt x="0" y="0"/>
                        </a:lnTo>
                        <a:lnTo>
                          <a:pt x="19969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/>
                  <a:lstStyle/>
                  <a:p>
                    <a:pPr eaLnBrk="1" hangingPunct="1"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535647" name="Freeform 95"/>
                  <p:cNvSpPr/>
                  <p:nvPr/>
                </p:nvSpPr>
                <p:spPr bwMode="auto">
                  <a:xfrm>
                    <a:off x="9838" y="14373"/>
                    <a:ext cx="10161" cy="5720"/>
                  </a:xfrm>
                  <a:custGeom>
                    <a:avLst/>
                    <a:gdLst>
                      <a:gd name="T0" fmla="*/ 19969 w 20000"/>
                      <a:gd name="T1" fmla="*/ 19835 h 20000"/>
                      <a:gd name="T2" fmla="*/ 19969 w 20000"/>
                      <a:gd name="T3" fmla="*/ 0 h 20000"/>
                      <a:gd name="T4" fmla="*/ 0 w 20000"/>
                      <a:gd name="T5" fmla="*/ 0 h 200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0000" h="20000">
                        <a:moveTo>
                          <a:pt x="19969" y="19835"/>
                        </a:moveTo>
                        <a:lnTo>
                          <a:pt x="19969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/>
                  <a:lstStyle/>
                  <a:p>
                    <a:pPr eaLnBrk="1" hangingPunct="1"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</p:grpSp>
            <p:grpSp>
              <p:nvGrpSpPr>
                <p:cNvPr id="45079" name="Group 96"/>
                <p:cNvGrpSpPr/>
                <p:nvPr/>
              </p:nvGrpSpPr>
              <p:grpSpPr bwMode="auto">
                <a:xfrm>
                  <a:off x="1301" y="1453"/>
                  <a:ext cx="581" cy="77"/>
                  <a:chOff x="0" y="0"/>
                  <a:chExt cx="20000" cy="20000"/>
                </a:xfrm>
              </p:grpSpPr>
              <p:sp>
                <p:nvSpPr>
                  <p:cNvPr id="535649" name="Freeform 97"/>
                  <p:cNvSpPr/>
                  <p:nvPr/>
                </p:nvSpPr>
                <p:spPr bwMode="auto">
                  <a:xfrm>
                    <a:off x="1283" y="42"/>
                    <a:ext cx="8932" cy="34817"/>
                  </a:xfrm>
                  <a:custGeom>
                    <a:avLst/>
                    <a:gdLst>
                      <a:gd name="T0" fmla="*/ 0 w 20000"/>
                      <a:gd name="T1" fmla="*/ 19835 h 20000"/>
                      <a:gd name="T2" fmla="*/ 0 w 20000"/>
                      <a:gd name="T3" fmla="*/ 0 h 20000"/>
                      <a:gd name="T4" fmla="*/ 19961 w 20000"/>
                      <a:gd name="T5" fmla="*/ 0 h 200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0000" h="20000">
                        <a:moveTo>
                          <a:pt x="0" y="19835"/>
                        </a:moveTo>
                        <a:lnTo>
                          <a:pt x="0" y="0"/>
                        </a:lnTo>
                        <a:lnTo>
                          <a:pt x="19961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/>
                  <a:lstStyle/>
                  <a:p>
                    <a:pPr eaLnBrk="1" hangingPunct="1"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535650" name="Freeform 98"/>
                  <p:cNvSpPr/>
                  <p:nvPr/>
                </p:nvSpPr>
                <p:spPr bwMode="auto">
                  <a:xfrm>
                    <a:off x="9849" y="42"/>
                    <a:ext cx="10159" cy="34817"/>
                  </a:xfrm>
                  <a:custGeom>
                    <a:avLst/>
                    <a:gdLst>
                      <a:gd name="T0" fmla="*/ 19961 w 20000"/>
                      <a:gd name="T1" fmla="*/ 19835 h 20000"/>
                      <a:gd name="T2" fmla="*/ 19961 w 20000"/>
                      <a:gd name="T3" fmla="*/ 0 h 20000"/>
                      <a:gd name="T4" fmla="*/ 0 w 20000"/>
                      <a:gd name="T5" fmla="*/ 0 h 200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0000" h="20000">
                        <a:moveTo>
                          <a:pt x="19961" y="19835"/>
                        </a:moveTo>
                        <a:lnTo>
                          <a:pt x="19961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/>
                  <a:lstStyle/>
                  <a:p>
                    <a:pPr eaLnBrk="1" hangingPunct="1"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</p:grpSp>
            <p:sp>
              <p:nvSpPr>
                <p:cNvPr id="535651" name="Rectangle 99"/>
                <p:cNvSpPr>
                  <a:spLocks noChangeArrowheads="1"/>
                </p:cNvSpPr>
                <p:nvPr/>
              </p:nvSpPr>
              <p:spPr bwMode="auto">
                <a:xfrm>
                  <a:off x="1452" y="1175"/>
                  <a:ext cx="279" cy="64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/>
                <a:lstStyle/>
                <a:p>
                  <a:pPr eaLnBrk="1" hangingPunct="1"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35652" name="Rectangle 100"/>
                <p:cNvSpPr>
                  <a:spLocks noChangeArrowheads="1"/>
                </p:cNvSpPr>
                <p:nvPr/>
              </p:nvSpPr>
              <p:spPr bwMode="auto">
                <a:xfrm>
                  <a:off x="1521" y="1112"/>
                  <a:ext cx="140" cy="64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/>
                <a:lstStyle/>
                <a:p>
                  <a:pPr eaLnBrk="1" hangingPunct="1"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</p:grpSp>
        <p:grpSp>
          <p:nvGrpSpPr>
            <p:cNvPr id="45072" name="Group 101"/>
            <p:cNvGrpSpPr/>
            <p:nvPr/>
          </p:nvGrpSpPr>
          <p:grpSpPr bwMode="auto">
            <a:xfrm>
              <a:off x="930" y="1074"/>
              <a:ext cx="279" cy="608"/>
              <a:chOff x="930" y="1074"/>
              <a:chExt cx="279" cy="608"/>
            </a:xfrm>
          </p:grpSpPr>
          <p:sp>
            <p:nvSpPr>
              <p:cNvPr id="45073" name="Rectangle 102"/>
              <p:cNvSpPr>
                <a:spLocks noChangeArrowheads="1"/>
              </p:cNvSpPr>
              <p:nvPr/>
            </p:nvSpPr>
            <p:spPr bwMode="auto">
              <a:xfrm>
                <a:off x="930" y="1188"/>
                <a:ext cx="279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latin typeface="Arial" panose="020B0604020202020204" pitchFamily="34" charset="0"/>
                  </a:rPr>
                  <a:t>64</a:t>
                </a:r>
                <a:r>
                  <a:rPr lang="zh-CN" altLang="en-US" sz="2400">
                    <a:latin typeface="Arial" panose="020B0604020202020204" pitchFamily="34" charset="0"/>
                  </a:rPr>
                  <a:t>片</a:t>
                </a: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535655" name="Freeform 103"/>
              <p:cNvSpPr/>
              <p:nvPr/>
            </p:nvSpPr>
            <p:spPr bwMode="auto">
              <a:xfrm>
                <a:off x="1034" y="1377"/>
                <a:ext cx="1" cy="305"/>
              </a:xfrm>
              <a:custGeom>
                <a:avLst/>
                <a:gdLst>
                  <a:gd name="T0" fmla="*/ 0 w 20000"/>
                  <a:gd name="T1" fmla="*/ 19958 h 20000"/>
                  <a:gd name="T2" fmla="*/ 0 w 20000"/>
                  <a:gd name="T3" fmla="*/ 0 h 2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0000" h="20000">
                    <a:moveTo>
                      <a:pt x="0" y="19958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35656" name="Freeform 104"/>
              <p:cNvSpPr/>
              <p:nvPr/>
            </p:nvSpPr>
            <p:spPr bwMode="auto">
              <a:xfrm>
                <a:off x="1034" y="1074"/>
                <a:ext cx="164" cy="102"/>
              </a:xfrm>
              <a:custGeom>
                <a:avLst/>
                <a:gdLst>
                  <a:gd name="T0" fmla="*/ 0 w 20000"/>
                  <a:gd name="T1" fmla="*/ 19876 h 20000"/>
                  <a:gd name="T2" fmla="*/ 0 w 20000"/>
                  <a:gd name="T3" fmla="*/ 0 h 20000"/>
                  <a:gd name="T4" fmla="*/ 19929 w 20000"/>
                  <a:gd name="T5" fmla="*/ 0 h 2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0000" h="20000">
                    <a:moveTo>
                      <a:pt x="0" y="19876"/>
                    </a:moveTo>
                    <a:lnTo>
                      <a:pt x="0" y="0"/>
                    </a:lnTo>
                    <a:lnTo>
                      <a:pt x="19929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5356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535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535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535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535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356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5619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AACD7A60-7AA0-4C4D-8E8E-BD69D2AFAA0C}" type="slidenum">
              <a:rPr lang="en-US" altLang="zh-CN" sz="1200" b="0"/>
            </a:fld>
            <a:endParaRPr lang="en-US" altLang="zh-CN" sz="1200" b="0"/>
          </a:p>
        </p:txBody>
      </p:sp>
      <p:sp>
        <p:nvSpPr>
          <p:cNvPr id="475138" name="Rectangle 2"/>
          <p:cNvSpPr>
            <a:spLocks noChangeArrowheads="1"/>
          </p:cNvSpPr>
          <p:nvPr/>
        </p:nvSpPr>
        <p:spPr bwMode="auto">
          <a:xfrm>
            <a:off x="50800" y="1447483"/>
            <a:ext cx="9144000" cy="1604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>
                <a:latin typeface="Arial" panose="020B0604020202020204" pitchFamily="34" charset="0"/>
              </a:rPr>
              <a:t>移动 </a:t>
            </a:r>
            <a:r>
              <a:rPr lang="en-US" altLang="zh-CN" sz="2800">
                <a:latin typeface="Arial" panose="020B0604020202020204" pitchFamily="34" charset="0"/>
              </a:rPr>
              <a:t>64 </a:t>
            </a:r>
            <a:r>
              <a:rPr lang="zh-CN" altLang="en-US" sz="2800">
                <a:latin typeface="Arial" panose="020B0604020202020204" pitchFamily="34" charset="0"/>
              </a:rPr>
              <a:t>片金片的问题可以被分解成：</a:t>
            </a:r>
            <a:endParaRPr lang="zh-CN" altLang="en-US" sz="2800">
              <a:latin typeface="Arial" panose="020B0604020202020204" pitchFamily="34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AutoNum type="arabicPeriod"/>
            </a:pPr>
            <a:r>
              <a:rPr lang="zh-CN" altLang="en-US" sz="180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把</a:t>
            </a:r>
            <a:r>
              <a:rPr lang="en-US" altLang="zh-CN" sz="180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a</a:t>
            </a:r>
            <a:r>
              <a:rPr lang="zh-CN" altLang="en-US" sz="180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针上</a:t>
            </a:r>
            <a:r>
              <a:rPr lang="en-US" altLang="zh-CN" sz="180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63</a:t>
            </a:r>
            <a:r>
              <a:rPr lang="zh-CN" altLang="en-US" sz="180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片金片，从</a:t>
            </a:r>
            <a:r>
              <a:rPr lang="en-US" altLang="zh-CN" sz="180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a</a:t>
            </a:r>
            <a:r>
              <a:rPr lang="zh-CN" altLang="en-US" sz="180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针移到</a:t>
            </a:r>
            <a:r>
              <a:rPr lang="en-US" altLang="zh-CN" sz="180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c</a:t>
            </a:r>
            <a:r>
              <a:rPr lang="zh-CN" altLang="en-US" sz="180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针上，移动过程中</a:t>
            </a:r>
            <a:r>
              <a:rPr lang="en-US" altLang="zh-CN" sz="180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b</a:t>
            </a:r>
            <a:r>
              <a:rPr lang="zh-CN" altLang="en-US" sz="180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针可用</a:t>
            </a:r>
            <a:endParaRPr lang="zh-CN" altLang="en-US" sz="1800">
              <a:solidFill>
                <a:schemeClr val="tx1">
                  <a:lumMod val="65000"/>
                </a:schemeClr>
              </a:solidFill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AutoNum type="arabicPeriod"/>
            </a:pPr>
            <a:r>
              <a:rPr lang="zh-CN" altLang="en-US" sz="180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把</a:t>
            </a:r>
            <a:r>
              <a:rPr lang="en-US" altLang="zh-CN" sz="180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a</a:t>
            </a:r>
            <a:r>
              <a:rPr lang="zh-CN" altLang="en-US" sz="180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针上一片金片移到</a:t>
            </a:r>
            <a:r>
              <a:rPr lang="en-US" altLang="zh-CN" sz="180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b</a:t>
            </a:r>
            <a:r>
              <a:rPr lang="zh-CN" altLang="en-US" sz="180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针上</a:t>
            </a:r>
            <a:endParaRPr lang="zh-CN" altLang="en-US" sz="1800">
              <a:solidFill>
                <a:schemeClr val="tx1">
                  <a:lumMod val="65000"/>
                </a:schemeClr>
              </a:solidFill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AutoNum type="arabicPeriod"/>
            </a:pPr>
            <a:r>
              <a:rPr lang="zh-CN" altLang="en-US" sz="180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把</a:t>
            </a:r>
            <a:r>
              <a:rPr lang="en-US" altLang="zh-CN" sz="180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c</a:t>
            </a:r>
            <a:r>
              <a:rPr lang="zh-CN" altLang="en-US" sz="180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针上</a:t>
            </a:r>
            <a:r>
              <a:rPr lang="en-US" altLang="zh-CN" sz="180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63</a:t>
            </a:r>
            <a:r>
              <a:rPr lang="zh-CN" altLang="en-US" sz="180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片金片，从</a:t>
            </a:r>
            <a:r>
              <a:rPr lang="en-US" altLang="zh-CN" sz="180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c</a:t>
            </a:r>
            <a:r>
              <a:rPr lang="zh-CN" altLang="en-US" sz="180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针移到</a:t>
            </a:r>
            <a:r>
              <a:rPr lang="en-US" altLang="zh-CN" sz="180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b</a:t>
            </a:r>
            <a:r>
              <a:rPr lang="zh-CN" altLang="en-US" sz="180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针上，移动过程中</a:t>
            </a:r>
            <a:r>
              <a:rPr lang="en-US" altLang="zh-CN" sz="180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a</a:t>
            </a:r>
            <a:r>
              <a:rPr lang="zh-CN" altLang="en-US" sz="180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针可用</a:t>
            </a:r>
            <a:endParaRPr lang="zh-CN" altLang="en-US" sz="1800">
              <a:solidFill>
                <a:schemeClr val="tx1">
                  <a:lumMod val="65000"/>
                </a:schemeClr>
              </a:solidFill>
              <a:latin typeface="Arial" panose="020B0604020202020204" pitchFamily="34" charset="0"/>
              <a:ea typeface="隶书" panose="02010509060101010101" pitchFamily="49" charset="-122"/>
            </a:endParaRPr>
          </a:p>
        </p:txBody>
      </p:sp>
      <p:sp>
        <p:nvSpPr>
          <p:cNvPr id="475139" name="Line 3"/>
          <p:cNvSpPr>
            <a:spLocks noChangeShapeType="1"/>
          </p:cNvSpPr>
          <p:nvPr/>
        </p:nvSpPr>
        <p:spPr bwMode="auto">
          <a:xfrm>
            <a:off x="1524000" y="1196975"/>
            <a:ext cx="9144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75140" name="Line 4"/>
          <p:cNvSpPr>
            <a:spLocks noChangeShapeType="1"/>
          </p:cNvSpPr>
          <p:nvPr/>
        </p:nvSpPr>
        <p:spPr bwMode="auto">
          <a:xfrm flipV="1">
            <a:off x="3359150" y="-26988"/>
            <a:ext cx="1588" cy="11858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" name="Group 6"/>
          <p:cNvGrpSpPr/>
          <p:nvPr/>
        </p:nvGrpSpPr>
        <p:grpSpPr bwMode="auto">
          <a:xfrm>
            <a:off x="2351088" y="1054100"/>
            <a:ext cx="2233612" cy="122238"/>
            <a:chOff x="1116" y="1605"/>
            <a:chExt cx="951" cy="77"/>
          </a:xfrm>
        </p:grpSpPr>
        <p:sp>
          <p:nvSpPr>
            <p:cNvPr id="475143" name="Freeform 7"/>
            <p:cNvSpPr/>
            <p:nvPr/>
          </p:nvSpPr>
          <p:spPr bwMode="auto">
            <a:xfrm>
              <a:off x="1116" y="1605"/>
              <a:ext cx="476" cy="77"/>
            </a:xfrm>
            <a:custGeom>
              <a:avLst/>
              <a:gdLst>
                <a:gd name="T0" fmla="*/ 0 w 20000"/>
                <a:gd name="T1" fmla="*/ 19835 h 20000"/>
                <a:gd name="T2" fmla="*/ 0 w 20000"/>
                <a:gd name="T3" fmla="*/ 0 h 20000"/>
                <a:gd name="T4" fmla="*/ 19976 w 20000"/>
                <a:gd name="T5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000" h="20000">
                  <a:moveTo>
                    <a:pt x="0" y="19835"/>
                  </a:moveTo>
                  <a:lnTo>
                    <a:pt x="0" y="0"/>
                  </a:lnTo>
                  <a:lnTo>
                    <a:pt x="19976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75144" name="Freeform 8"/>
            <p:cNvSpPr/>
            <p:nvPr/>
          </p:nvSpPr>
          <p:spPr bwMode="auto">
            <a:xfrm>
              <a:off x="1591" y="1605"/>
              <a:ext cx="476" cy="77"/>
            </a:xfrm>
            <a:custGeom>
              <a:avLst/>
              <a:gdLst>
                <a:gd name="T0" fmla="*/ 19976 w 20000"/>
                <a:gd name="T1" fmla="*/ 19835 h 20000"/>
                <a:gd name="T2" fmla="*/ 19976 w 20000"/>
                <a:gd name="T3" fmla="*/ 0 h 20000"/>
                <a:gd name="T4" fmla="*/ 0 w 20000"/>
                <a:gd name="T5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000" h="20000">
                  <a:moveTo>
                    <a:pt x="19976" y="19835"/>
                  </a:moveTo>
                  <a:lnTo>
                    <a:pt x="19976" y="0"/>
                  </a:ln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475145" name="Line 9"/>
          <p:cNvSpPr>
            <a:spLocks noChangeShapeType="1"/>
          </p:cNvSpPr>
          <p:nvPr/>
        </p:nvSpPr>
        <p:spPr bwMode="auto">
          <a:xfrm flipV="1">
            <a:off x="6240463" y="-26988"/>
            <a:ext cx="0" cy="11858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75146" name="Line 10"/>
          <p:cNvSpPr>
            <a:spLocks noChangeShapeType="1"/>
          </p:cNvSpPr>
          <p:nvPr/>
        </p:nvSpPr>
        <p:spPr bwMode="auto">
          <a:xfrm flipV="1">
            <a:off x="8543925" y="-26988"/>
            <a:ext cx="0" cy="11858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3" name="Group 11"/>
          <p:cNvGrpSpPr/>
          <p:nvPr/>
        </p:nvGrpSpPr>
        <p:grpSpPr bwMode="auto">
          <a:xfrm>
            <a:off x="1703388" y="188913"/>
            <a:ext cx="2592387" cy="1008062"/>
            <a:chOff x="930" y="1074"/>
            <a:chExt cx="1021" cy="608"/>
          </a:xfrm>
        </p:grpSpPr>
        <p:grpSp>
          <p:nvGrpSpPr>
            <p:cNvPr id="46131" name="Group 12"/>
            <p:cNvGrpSpPr/>
            <p:nvPr/>
          </p:nvGrpSpPr>
          <p:grpSpPr bwMode="auto">
            <a:xfrm>
              <a:off x="1220" y="1112"/>
              <a:ext cx="731" cy="494"/>
              <a:chOff x="1220" y="1112"/>
              <a:chExt cx="731" cy="494"/>
            </a:xfrm>
          </p:grpSpPr>
          <p:sp>
            <p:nvSpPr>
              <p:cNvPr id="46136" name="Rectangle 13"/>
              <p:cNvSpPr>
                <a:spLocks noChangeArrowheads="1"/>
              </p:cNvSpPr>
              <p:nvPr/>
            </p:nvSpPr>
            <p:spPr bwMode="auto">
              <a:xfrm>
                <a:off x="1417" y="1226"/>
                <a:ext cx="420" cy="2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latin typeface="Arial" panose="020B0604020202020204" pitchFamily="34" charset="0"/>
                  </a:rPr>
                  <a:t> ...  ...</a:t>
                </a:r>
                <a:endParaRPr lang="en-US" altLang="zh-CN" sz="2400">
                  <a:latin typeface="Arial" panose="020B0604020202020204" pitchFamily="34" charset="0"/>
                </a:endParaRPr>
              </a:p>
            </p:txBody>
          </p:sp>
          <p:grpSp>
            <p:nvGrpSpPr>
              <p:cNvPr id="46137" name="Group 14"/>
              <p:cNvGrpSpPr/>
              <p:nvPr/>
            </p:nvGrpSpPr>
            <p:grpSpPr bwMode="auto">
              <a:xfrm>
                <a:off x="1220" y="1112"/>
                <a:ext cx="731" cy="494"/>
                <a:chOff x="1220" y="1112"/>
                <a:chExt cx="731" cy="494"/>
              </a:xfrm>
            </p:grpSpPr>
            <p:grpSp>
              <p:nvGrpSpPr>
                <p:cNvPr id="46138" name="Group 15"/>
                <p:cNvGrpSpPr/>
                <p:nvPr/>
              </p:nvGrpSpPr>
              <p:grpSpPr bwMode="auto">
                <a:xfrm>
                  <a:off x="1220" y="1529"/>
                  <a:ext cx="731" cy="77"/>
                  <a:chOff x="0" y="0"/>
                  <a:chExt cx="19999" cy="20000"/>
                </a:xfrm>
              </p:grpSpPr>
              <p:sp>
                <p:nvSpPr>
                  <p:cNvPr id="475152" name="Freeform 16"/>
                  <p:cNvSpPr/>
                  <p:nvPr/>
                </p:nvSpPr>
                <p:spPr bwMode="auto">
                  <a:xfrm>
                    <a:off x="3" y="14373"/>
                    <a:ext cx="10161" cy="5720"/>
                  </a:xfrm>
                  <a:custGeom>
                    <a:avLst/>
                    <a:gdLst>
                      <a:gd name="T0" fmla="*/ 0 w 20000"/>
                      <a:gd name="T1" fmla="*/ 19835 h 20000"/>
                      <a:gd name="T2" fmla="*/ 0 w 20000"/>
                      <a:gd name="T3" fmla="*/ 0 h 20000"/>
                      <a:gd name="T4" fmla="*/ 19969 w 20000"/>
                      <a:gd name="T5" fmla="*/ 0 h 200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0000" h="20000">
                        <a:moveTo>
                          <a:pt x="0" y="19835"/>
                        </a:moveTo>
                        <a:lnTo>
                          <a:pt x="0" y="0"/>
                        </a:lnTo>
                        <a:lnTo>
                          <a:pt x="19969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/>
                  <a:lstStyle/>
                  <a:p>
                    <a:pPr eaLnBrk="1" hangingPunct="1"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475153" name="Freeform 17"/>
                  <p:cNvSpPr/>
                  <p:nvPr/>
                </p:nvSpPr>
                <p:spPr bwMode="auto">
                  <a:xfrm>
                    <a:off x="9838" y="14373"/>
                    <a:ext cx="10161" cy="5720"/>
                  </a:xfrm>
                  <a:custGeom>
                    <a:avLst/>
                    <a:gdLst>
                      <a:gd name="T0" fmla="*/ 19969 w 20000"/>
                      <a:gd name="T1" fmla="*/ 19835 h 20000"/>
                      <a:gd name="T2" fmla="*/ 19969 w 20000"/>
                      <a:gd name="T3" fmla="*/ 0 h 20000"/>
                      <a:gd name="T4" fmla="*/ 0 w 20000"/>
                      <a:gd name="T5" fmla="*/ 0 h 200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0000" h="20000">
                        <a:moveTo>
                          <a:pt x="19969" y="19835"/>
                        </a:moveTo>
                        <a:lnTo>
                          <a:pt x="19969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/>
                  <a:lstStyle/>
                  <a:p>
                    <a:pPr eaLnBrk="1" hangingPunct="1"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</p:grpSp>
            <p:grpSp>
              <p:nvGrpSpPr>
                <p:cNvPr id="46139" name="Group 18"/>
                <p:cNvGrpSpPr/>
                <p:nvPr/>
              </p:nvGrpSpPr>
              <p:grpSpPr bwMode="auto">
                <a:xfrm>
                  <a:off x="1301" y="1453"/>
                  <a:ext cx="581" cy="77"/>
                  <a:chOff x="0" y="0"/>
                  <a:chExt cx="20000" cy="20000"/>
                </a:xfrm>
              </p:grpSpPr>
              <p:sp>
                <p:nvSpPr>
                  <p:cNvPr id="475155" name="Freeform 19"/>
                  <p:cNvSpPr/>
                  <p:nvPr/>
                </p:nvSpPr>
                <p:spPr bwMode="auto">
                  <a:xfrm>
                    <a:off x="1283" y="42"/>
                    <a:ext cx="8932" cy="34817"/>
                  </a:xfrm>
                  <a:custGeom>
                    <a:avLst/>
                    <a:gdLst>
                      <a:gd name="T0" fmla="*/ 0 w 20000"/>
                      <a:gd name="T1" fmla="*/ 19835 h 20000"/>
                      <a:gd name="T2" fmla="*/ 0 w 20000"/>
                      <a:gd name="T3" fmla="*/ 0 h 20000"/>
                      <a:gd name="T4" fmla="*/ 19961 w 20000"/>
                      <a:gd name="T5" fmla="*/ 0 h 200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0000" h="20000">
                        <a:moveTo>
                          <a:pt x="0" y="19835"/>
                        </a:moveTo>
                        <a:lnTo>
                          <a:pt x="0" y="0"/>
                        </a:lnTo>
                        <a:lnTo>
                          <a:pt x="19961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/>
                  <a:lstStyle/>
                  <a:p>
                    <a:pPr eaLnBrk="1" hangingPunct="1"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475156" name="Freeform 20"/>
                  <p:cNvSpPr/>
                  <p:nvPr/>
                </p:nvSpPr>
                <p:spPr bwMode="auto">
                  <a:xfrm>
                    <a:off x="9849" y="42"/>
                    <a:ext cx="10159" cy="34817"/>
                  </a:xfrm>
                  <a:custGeom>
                    <a:avLst/>
                    <a:gdLst>
                      <a:gd name="T0" fmla="*/ 19961 w 20000"/>
                      <a:gd name="T1" fmla="*/ 19835 h 20000"/>
                      <a:gd name="T2" fmla="*/ 19961 w 20000"/>
                      <a:gd name="T3" fmla="*/ 0 h 20000"/>
                      <a:gd name="T4" fmla="*/ 0 w 20000"/>
                      <a:gd name="T5" fmla="*/ 0 h 200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0000" h="20000">
                        <a:moveTo>
                          <a:pt x="19961" y="19835"/>
                        </a:moveTo>
                        <a:lnTo>
                          <a:pt x="19961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/>
                  <a:lstStyle/>
                  <a:p>
                    <a:pPr eaLnBrk="1" hangingPunct="1"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</p:grpSp>
            <p:sp>
              <p:nvSpPr>
                <p:cNvPr id="475157" name="Rectangle 21"/>
                <p:cNvSpPr>
                  <a:spLocks noChangeArrowheads="1"/>
                </p:cNvSpPr>
                <p:nvPr/>
              </p:nvSpPr>
              <p:spPr bwMode="auto">
                <a:xfrm>
                  <a:off x="1452" y="1175"/>
                  <a:ext cx="279" cy="64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/>
                <a:lstStyle/>
                <a:p>
                  <a:pPr eaLnBrk="1" hangingPunct="1"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475158" name="Rectangle 22"/>
                <p:cNvSpPr>
                  <a:spLocks noChangeArrowheads="1"/>
                </p:cNvSpPr>
                <p:nvPr/>
              </p:nvSpPr>
              <p:spPr bwMode="auto">
                <a:xfrm>
                  <a:off x="1521" y="1112"/>
                  <a:ext cx="140" cy="64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/>
                <a:lstStyle/>
                <a:p>
                  <a:pPr eaLnBrk="1" hangingPunct="1"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</p:grpSp>
        <p:grpSp>
          <p:nvGrpSpPr>
            <p:cNvPr id="46132" name="Group 23"/>
            <p:cNvGrpSpPr/>
            <p:nvPr/>
          </p:nvGrpSpPr>
          <p:grpSpPr bwMode="auto">
            <a:xfrm>
              <a:off x="930" y="1074"/>
              <a:ext cx="279" cy="608"/>
              <a:chOff x="930" y="1074"/>
              <a:chExt cx="279" cy="608"/>
            </a:xfrm>
          </p:grpSpPr>
          <p:sp>
            <p:nvSpPr>
              <p:cNvPr id="46133" name="Rectangle 24"/>
              <p:cNvSpPr>
                <a:spLocks noChangeArrowheads="1"/>
              </p:cNvSpPr>
              <p:nvPr/>
            </p:nvSpPr>
            <p:spPr bwMode="auto">
              <a:xfrm>
                <a:off x="930" y="1188"/>
                <a:ext cx="279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latin typeface="Arial" panose="020B0604020202020204" pitchFamily="34" charset="0"/>
                  </a:rPr>
                  <a:t>64</a:t>
                </a:r>
                <a:r>
                  <a:rPr lang="zh-CN" altLang="en-US" sz="2400">
                    <a:latin typeface="Arial" panose="020B0604020202020204" pitchFamily="34" charset="0"/>
                  </a:rPr>
                  <a:t>片</a:t>
                </a: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475161" name="Freeform 25"/>
              <p:cNvSpPr/>
              <p:nvPr/>
            </p:nvSpPr>
            <p:spPr bwMode="auto">
              <a:xfrm>
                <a:off x="1034" y="1377"/>
                <a:ext cx="1" cy="305"/>
              </a:xfrm>
              <a:custGeom>
                <a:avLst/>
                <a:gdLst>
                  <a:gd name="T0" fmla="*/ 0 w 20000"/>
                  <a:gd name="T1" fmla="*/ 19958 h 20000"/>
                  <a:gd name="T2" fmla="*/ 0 w 20000"/>
                  <a:gd name="T3" fmla="*/ 0 h 2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0000" h="20000">
                    <a:moveTo>
                      <a:pt x="0" y="19958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75162" name="Freeform 26"/>
              <p:cNvSpPr/>
              <p:nvPr/>
            </p:nvSpPr>
            <p:spPr bwMode="auto">
              <a:xfrm>
                <a:off x="1034" y="1074"/>
                <a:ext cx="164" cy="102"/>
              </a:xfrm>
              <a:custGeom>
                <a:avLst/>
                <a:gdLst>
                  <a:gd name="T0" fmla="*/ 0 w 20000"/>
                  <a:gd name="T1" fmla="*/ 19876 h 20000"/>
                  <a:gd name="T2" fmla="*/ 0 w 20000"/>
                  <a:gd name="T3" fmla="*/ 0 h 20000"/>
                  <a:gd name="T4" fmla="*/ 19929 w 20000"/>
                  <a:gd name="T5" fmla="*/ 0 h 2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0000" h="20000">
                    <a:moveTo>
                      <a:pt x="0" y="19876"/>
                    </a:moveTo>
                    <a:lnTo>
                      <a:pt x="0" y="0"/>
                    </a:lnTo>
                    <a:lnTo>
                      <a:pt x="19929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sp>
        <p:nvSpPr>
          <p:cNvPr id="46090" name="Rectangle 27"/>
          <p:cNvSpPr>
            <a:spLocks noChangeArrowheads="1"/>
          </p:cNvSpPr>
          <p:nvPr/>
        </p:nvSpPr>
        <p:spPr bwMode="auto">
          <a:xfrm>
            <a:off x="1847850" y="1125538"/>
            <a:ext cx="8820150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                 a                                b                         c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grpSp>
        <p:nvGrpSpPr>
          <p:cNvPr id="9" name="Group 28"/>
          <p:cNvGrpSpPr/>
          <p:nvPr/>
        </p:nvGrpSpPr>
        <p:grpSpPr bwMode="auto">
          <a:xfrm>
            <a:off x="7680325" y="406400"/>
            <a:ext cx="2592388" cy="792163"/>
            <a:chOff x="3782" y="1207"/>
            <a:chExt cx="1056" cy="499"/>
          </a:xfrm>
        </p:grpSpPr>
        <p:grpSp>
          <p:nvGrpSpPr>
            <p:cNvPr id="46116" name="Group 29"/>
            <p:cNvGrpSpPr/>
            <p:nvPr/>
          </p:nvGrpSpPr>
          <p:grpSpPr bwMode="auto">
            <a:xfrm>
              <a:off x="4468" y="1207"/>
              <a:ext cx="370" cy="499"/>
              <a:chOff x="4869" y="3529"/>
              <a:chExt cx="370" cy="456"/>
            </a:xfrm>
          </p:grpSpPr>
          <p:sp>
            <p:nvSpPr>
              <p:cNvPr id="46128" name="Rectangle 30"/>
              <p:cNvSpPr>
                <a:spLocks noChangeArrowheads="1"/>
              </p:cNvSpPr>
              <p:nvPr/>
            </p:nvSpPr>
            <p:spPr bwMode="auto">
              <a:xfrm>
                <a:off x="4922" y="3637"/>
                <a:ext cx="317" cy="1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latin typeface="Arial" panose="020B0604020202020204" pitchFamily="34" charset="0"/>
                  </a:rPr>
                  <a:t>63</a:t>
                </a:r>
                <a:r>
                  <a:rPr lang="zh-CN" altLang="en-US" sz="2400">
                    <a:latin typeface="Arial" panose="020B0604020202020204" pitchFamily="34" charset="0"/>
                  </a:rPr>
                  <a:t>片</a:t>
                </a: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475167" name="Freeform 31"/>
              <p:cNvSpPr/>
              <p:nvPr/>
            </p:nvSpPr>
            <p:spPr bwMode="auto">
              <a:xfrm>
                <a:off x="5054" y="3789"/>
                <a:ext cx="0" cy="196"/>
              </a:xfrm>
              <a:custGeom>
                <a:avLst/>
                <a:gdLst>
                  <a:gd name="T0" fmla="*/ 0 w 20000"/>
                  <a:gd name="T1" fmla="*/ 19945 h 20000"/>
                  <a:gd name="T2" fmla="*/ 0 w 20000"/>
                  <a:gd name="T3" fmla="*/ 0 h 2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0000" h="20000">
                    <a:moveTo>
                      <a:pt x="0" y="19945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75168" name="Freeform 32"/>
              <p:cNvSpPr/>
              <p:nvPr/>
            </p:nvSpPr>
            <p:spPr bwMode="auto">
              <a:xfrm>
                <a:off x="4869" y="3529"/>
                <a:ext cx="198" cy="86"/>
              </a:xfrm>
              <a:custGeom>
                <a:avLst/>
                <a:gdLst>
                  <a:gd name="T0" fmla="*/ 19934 w 20000"/>
                  <a:gd name="T1" fmla="*/ 19874 h 20000"/>
                  <a:gd name="T2" fmla="*/ 19934 w 20000"/>
                  <a:gd name="T3" fmla="*/ 0 h 20000"/>
                  <a:gd name="T4" fmla="*/ 0 w 20000"/>
                  <a:gd name="T5" fmla="*/ 0 h 2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0000" h="20000">
                    <a:moveTo>
                      <a:pt x="19934" y="19874"/>
                    </a:moveTo>
                    <a:lnTo>
                      <a:pt x="19934" y="0"/>
                    </a:ln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grpSp>
          <p:nvGrpSpPr>
            <p:cNvPr id="46117" name="Group 33"/>
            <p:cNvGrpSpPr/>
            <p:nvPr/>
          </p:nvGrpSpPr>
          <p:grpSpPr bwMode="auto">
            <a:xfrm>
              <a:off x="3782" y="1212"/>
              <a:ext cx="731" cy="494"/>
              <a:chOff x="1220" y="1112"/>
              <a:chExt cx="731" cy="494"/>
            </a:xfrm>
          </p:grpSpPr>
          <p:sp>
            <p:nvSpPr>
              <p:cNvPr id="46118" name="Rectangle 34"/>
              <p:cNvSpPr>
                <a:spLocks noChangeArrowheads="1"/>
              </p:cNvSpPr>
              <p:nvPr/>
            </p:nvSpPr>
            <p:spPr bwMode="auto">
              <a:xfrm>
                <a:off x="1417" y="1226"/>
                <a:ext cx="420" cy="2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latin typeface="Arial" panose="020B0604020202020204" pitchFamily="34" charset="0"/>
                  </a:rPr>
                  <a:t> ...  ...</a:t>
                </a:r>
                <a:endParaRPr lang="en-US" altLang="zh-CN" sz="2400">
                  <a:latin typeface="Arial" panose="020B0604020202020204" pitchFamily="34" charset="0"/>
                </a:endParaRPr>
              </a:p>
            </p:txBody>
          </p:sp>
          <p:grpSp>
            <p:nvGrpSpPr>
              <p:cNvPr id="46119" name="Group 35"/>
              <p:cNvGrpSpPr/>
              <p:nvPr/>
            </p:nvGrpSpPr>
            <p:grpSpPr bwMode="auto">
              <a:xfrm>
                <a:off x="1220" y="1112"/>
                <a:ext cx="731" cy="494"/>
                <a:chOff x="1220" y="1112"/>
                <a:chExt cx="731" cy="494"/>
              </a:xfrm>
            </p:grpSpPr>
            <p:grpSp>
              <p:nvGrpSpPr>
                <p:cNvPr id="46120" name="Group 36"/>
                <p:cNvGrpSpPr/>
                <p:nvPr/>
              </p:nvGrpSpPr>
              <p:grpSpPr bwMode="auto">
                <a:xfrm>
                  <a:off x="1220" y="1529"/>
                  <a:ext cx="731" cy="77"/>
                  <a:chOff x="0" y="0"/>
                  <a:chExt cx="19999" cy="20000"/>
                </a:xfrm>
              </p:grpSpPr>
              <p:sp>
                <p:nvSpPr>
                  <p:cNvPr id="475173" name="Freeform 37"/>
                  <p:cNvSpPr/>
                  <p:nvPr/>
                </p:nvSpPr>
                <p:spPr bwMode="auto">
                  <a:xfrm>
                    <a:off x="0" y="0"/>
                    <a:ext cx="10173" cy="20000"/>
                  </a:xfrm>
                  <a:custGeom>
                    <a:avLst/>
                    <a:gdLst>
                      <a:gd name="T0" fmla="*/ 0 w 20000"/>
                      <a:gd name="T1" fmla="*/ 19835 h 20000"/>
                      <a:gd name="T2" fmla="*/ 0 w 20000"/>
                      <a:gd name="T3" fmla="*/ 0 h 20000"/>
                      <a:gd name="T4" fmla="*/ 19969 w 20000"/>
                      <a:gd name="T5" fmla="*/ 0 h 200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0000" h="20000">
                        <a:moveTo>
                          <a:pt x="0" y="19835"/>
                        </a:moveTo>
                        <a:lnTo>
                          <a:pt x="0" y="0"/>
                        </a:lnTo>
                        <a:lnTo>
                          <a:pt x="19969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/>
                  <a:lstStyle/>
                  <a:p>
                    <a:pPr eaLnBrk="1" hangingPunct="1"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475174" name="Freeform 38"/>
                  <p:cNvSpPr/>
                  <p:nvPr/>
                </p:nvSpPr>
                <p:spPr bwMode="auto">
                  <a:xfrm>
                    <a:off x="9837" y="0"/>
                    <a:ext cx="10155" cy="20000"/>
                  </a:xfrm>
                  <a:custGeom>
                    <a:avLst/>
                    <a:gdLst>
                      <a:gd name="T0" fmla="*/ 19969 w 20000"/>
                      <a:gd name="T1" fmla="*/ 19835 h 20000"/>
                      <a:gd name="T2" fmla="*/ 19969 w 20000"/>
                      <a:gd name="T3" fmla="*/ 0 h 20000"/>
                      <a:gd name="T4" fmla="*/ 0 w 20000"/>
                      <a:gd name="T5" fmla="*/ 0 h 200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0000" h="20000">
                        <a:moveTo>
                          <a:pt x="19969" y="19835"/>
                        </a:moveTo>
                        <a:lnTo>
                          <a:pt x="19969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/>
                  <a:lstStyle/>
                  <a:p>
                    <a:pPr eaLnBrk="1" hangingPunct="1"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</p:grpSp>
            <p:grpSp>
              <p:nvGrpSpPr>
                <p:cNvPr id="46121" name="Group 39"/>
                <p:cNvGrpSpPr/>
                <p:nvPr/>
              </p:nvGrpSpPr>
              <p:grpSpPr bwMode="auto">
                <a:xfrm>
                  <a:off x="1301" y="1453"/>
                  <a:ext cx="581" cy="77"/>
                  <a:chOff x="0" y="0"/>
                  <a:chExt cx="20000" cy="20000"/>
                </a:xfrm>
              </p:grpSpPr>
              <p:sp>
                <p:nvSpPr>
                  <p:cNvPr id="475176" name="Freeform 40"/>
                  <p:cNvSpPr/>
                  <p:nvPr/>
                </p:nvSpPr>
                <p:spPr bwMode="auto">
                  <a:xfrm>
                    <a:off x="-6" y="0"/>
                    <a:ext cx="10151" cy="20000"/>
                  </a:xfrm>
                  <a:custGeom>
                    <a:avLst/>
                    <a:gdLst>
                      <a:gd name="T0" fmla="*/ 0 w 20000"/>
                      <a:gd name="T1" fmla="*/ 19835 h 20000"/>
                      <a:gd name="T2" fmla="*/ 0 w 20000"/>
                      <a:gd name="T3" fmla="*/ 0 h 20000"/>
                      <a:gd name="T4" fmla="*/ 19961 w 20000"/>
                      <a:gd name="T5" fmla="*/ 0 h 200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0000" h="20000">
                        <a:moveTo>
                          <a:pt x="0" y="19835"/>
                        </a:moveTo>
                        <a:lnTo>
                          <a:pt x="0" y="0"/>
                        </a:lnTo>
                        <a:lnTo>
                          <a:pt x="19961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/>
                  <a:lstStyle/>
                  <a:p>
                    <a:pPr eaLnBrk="1" hangingPunct="1"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475177" name="Freeform 41"/>
                  <p:cNvSpPr/>
                  <p:nvPr/>
                </p:nvSpPr>
                <p:spPr bwMode="auto">
                  <a:xfrm>
                    <a:off x="9833" y="0"/>
                    <a:ext cx="8837" cy="20000"/>
                  </a:xfrm>
                  <a:custGeom>
                    <a:avLst/>
                    <a:gdLst>
                      <a:gd name="T0" fmla="*/ 19961 w 20000"/>
                      <a:gd name="T1" fmla="*/ 19835 h 20000"/>
                      <a:gd name="T2" fmla="*/ 19961 w 20000"/>
                      <a:gd name="T3" fmla="*/ 0 h 20000"/>
                      <a:gd name="T4" fmla="*/ 0 w 20000"/>
                      <a:gd name="T5" fmla="*/ 0 h 200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0000" h="20000">
                        <a:moveTo>
                          <a:pt x="19961" y="19835"/>
                        </a:moveTo>
                        <a:lnTo>
                          <a:pt x="19961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/>
                  <a:lstStyle/>
                  <a:p>
                    <a:pPr eaLnBrk="1" hangingPunct="1"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</p:grpSp>
            <p:sp>
              <p:nvSpPr>
                <p:cNvPr id="475178" name="Rectangle 42"/>
                <p:cNvSpPr>
                  <a:spLocks noChangeArrowheads="1"/>
                </p:cNvSpPr>
                <p:nvPr/>
              </p:nvSpPr>
              <p:spPr bwMode="auto">
                <a:xfrm>
                  <a:off x="1452" y="1175"/>
                  <a:ext cx="279" cy="64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/>
                <a:lstStyle/>
                <a:p>
                  <a:pPr eaLnBrk="1" hangingPunct="1"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475179" name="Rectangle 43"/>
                <p:cNvSpPr>
                  <a:spLocks noChangeArrowheads="1"/>
                </p:cNvSpPr>
                <p:nvPr/>
              </p:nvSpPr>
              <p:spPr bwMode="auto">
                <a:xfrm>
                  <a:off x="1521" y="1112"/>
                  <a:ext cx="140" cy="64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/>
                <a:lstStyle/>
                <a:p>
                  <a:pPr eaLnBrk="1" hangingPunct="1"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</p:grpSp>
      </p:grpSp>
      <p:grpSp>
        <p:nvGrpSpPr>
          <p:cNvPr id="15" name="Group 44"/>
          <p:cNvGrpSpPr/>
          <p:nvPr/>
        </p:nvGrpSpPr>
        <p:grpSpPr bwMode="auto">
          <a:xfrm>
            <a:off x="5232400" y="1054100"/>
            <a:ext cx="1943100" cy="122238"/>
            <a:chOff x="1116" y="1605"/>
            <a:chExt cx="951" cy="77"/>
          </a:xfrm>
        </p:grpSpPr>
        <p:sp>
          <p:nvSpPr>
            <p:cNvPr id="475181" name="Freeform 45"/>
            <p:cNvSpPr/>
            <p:nvPr/>
          </p:nvSpPr>
          <p:spPr bwMode="auto">
            <a:xfrm>
              <a:off x="1116" y="1605"/>
              <a:ext cx="476" cy="77"/>
            </a:xfrm>
            <a:custGeom>
              <a:avLst/>
              <a:gdLst>
                <a:gd name="T0" fmla="*/ 0 w 20000"/>
                <a:gd name="T1" fmla="*/ 19835 h 20000"/>
                <a:gd name="T2" fmla="*/ 0 w 20000"/>
                <a:gd name="T3" fmla="*/ 0 h 20000"/>
                <a:gd name="T4" fmla="*/ 19976 w 20000"/>
                <a:gd name="T5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000" h="20000">
                  <a:moveTo>
                    <a:pt x="0" y="19835"/>
                  </a:moveTo>
                  <a:lnTo>
                    <a:pt x="0" y="0"/>
                  </a:lnTo>
                  <a:lnTo>
                    <a:pt x="19976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75182" name="Freeform 46"/>
            <p:cNvSpPr/>
            <p:nvPr/>
          </p:nvSpPr>
          <p:spPr bwMode="auto">
            <a:xfrm>
              <a:off x="1591" y="1605"/>
              <a:ext cx="476" cy="77"/>
            </a:xfrm>
            <a:custGeom>
              <a:avLst/>
              <a:gdLst>
                <a:gd name="T0" fmla="*/ 19976 w 20000"/>
                <a:gd name="T1" fmla="*/ 19835 h 20000"/>
                <a:gd name="T2" fmla="*/ 19976 w 20000"/>
                <a:gd name="T3" fmla="*/ 0 h 20000"/>
                <a:gd name="T4" fmla="*/ 0 w 20000"/>
                <a:gd name="T5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000" h="20000">
                  <a:moveTo>
                    <a:pt x="19976" y="19835"/>
                  </a:moveTo>
                  <a:lnTo>
                    <a:pt x="19976" y="0"/>
                  </a:ln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16" name="Group 47"/>
          <p:cNvGrpSpPr/>
          <p:nvPr/>
        </p:nvGrpSpPr>
        <p:grpSpPr bwMode="auto">
          <a:xfrm>
            <a:off x="5375275" y="261938"/>
            <a:ext cx="2376488" cy="792162"/>
            <a:chOff x="3782" y="1207"/>
            <a:chExt cx="1056" cy="499"/>
          </a:xfrm>
        </p:grpSpPr>
        <p:grpSp>
          <p:nvGrpSpPr>
            <p:cNvPr id="46099" name="Group 48"/>
            <p:cNvGrpSpPr/>
            <p:nvPr/>
          </p:nvGrpSpPr>
          <p:grpSpPr bwMode="auto">
            <a:xfrm>
              <a:off x="4468" y="1207"/>
              <a:ext cx="370" cy="499"/>
              <a:chOff x="4869" y="3529"/>
              <a:chExt cx="370" cy="456"/>
            </a:xfrm>
          </p:grpSpPr>
          <p:sp>
            <p:nvSpPr>
              <p:cNvPr id="46111" name="Rectangle 49"/>
              <p:cNvSpPr>
                <a:spLocks noChangeArrowheads="1"/>
              </p:cNvSpPr>
              <p:nvPr/>
            </p:nvSpPr>
            <p:spPr bwMode="auto">
              <a:xfrm>
                <a:off x="4922" y="3637"/>
                <a:ext cx="317" cy="1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latin typeface="Arial" panose="020B0604020202020204" pitchFamily="34" charset="0"/>
                  </a:rPr>
                  <a:t>63</a:t>
                </a:r>
                <a:r>
                  <a:rPr lang="zh-CN" altLang="en-US" sz="2400">
                    <a:latin typeface="Arial" panose="020B0604020202020204" pitchFamily="34" charset="0"/>
                  </a:rPr>
                  <a:t>片</a:t>
                </a: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475186" name="Freeform 50"/>
              <p:cNvSpPr/>
              <p:nvPr/>
            </p:nvSpPr>
            <p:spPr bwMode="auto">
              <a:xfrm>
                <a:off x="5054" y="3789"/>
                <a:ext cx="0" cy="196"/>
              </a:xfrm>
              <a:custGeom>
                <a:avLst/>
                <a:gdLst>
                  <a:gd name="T0" fmla="*/ 0 w 20000"/>
                  <a:gd name="T1" fmla="*/ 19945 h 20000"/>
                  <a:gd name="T2" fmla="*/ 0 w 20000"/>
                  <a:gd name="T3" fmla="*/ 0 h 2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0000" h="20000">
                    <a:moveTo>
                      <a:pt x="0" y="19945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75187" name="Freeform 51"/>
              <p:cNvSpPr/>
              <p:nvPr/>
            </p:nvSpPr>
            <p:spPr bwMode="auto">
              <a:xfrm>
                <a:off x="4869" y="3529"/>
                <a:ext cx="198" cy="86"/>
              </a:xfrm>
              <a:custGeom>
                <a:avLst/>
                <a:gdLst>
                  <a:gd name="T0" fmla="*/ 19934 w 20000"/>
                  <a:gd name="T1" fmla="*/ 19874 h 20000"/>
                  <a:gd name="T2" fmla="*/ 19934 w 20000"/>
                  <a:gd name="T3" fmla="*/ 0 h 20000"/>
                  <a:gd name="T4" fmla="*/ 0 w 20000"/>
                  <a:gd name="T5" fmla="*/ 0 h 2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0000" h="20000">
                    <a:moveTo>
                      <a:pt x="19934" y="19874"/>
                    </a:moveTo>
                    <a:lnTo>
                      <a:pt x="19934" y="0"/>
                    </a:ln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grpSp>
          <p:nvGrpSpPr>
            <p:cNvPr id="46100" name="Group 52"/>
            <p:cNvGrpSpPr/>
            <p:nvPr/>
          </p:nvGrpSpPr>
          <p:grpSpPr bwMode="auto">
            <a:xfrm>
              <a:off x="3782" y="1212"/>
              <a:ext cx="731" cy="494"/>
              <a:chOff x="1220" y="1112"/>
              <a:chExt cx="731" cy="494"/>
            </a:xfrm>
          </p:grpSpPr>
          <p:sp>
            <p:nvSpPr>
              <p:cNvPr id="46101" name="Rectangle 53"/>
              <p:cNvSpPr>
                <a:spLocks noChangeArrowheads="1"/>
              </p:cNvSpPr>
              <p:nvPr/>
            </p:nvSpPr>
            <p:spPr bwMode="auto">
              <a:xfrm>
                <a:off x="1417" y="1226"/>
                <a:ext cx="420" cy="2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latin typeface="Arial" panose="020B0604020202020204" pitchFamily="34" charset="0"/>
                  </a:rPr>
                  <a:t> ...  ...</a:t>
                </a:r>
                <a:endParaRPr lang="en-US" altLang="zh-CN" sz="2400">
                  <a:latin typeface="Arial" panose="020B0604020202020204" pitchFamily="34" charset="0"/>
                </a:endParaRPr>
              </a:p>
            </p:txBody>
          </p:sp>
          <p:grpSp>
            <p:nvGrpSpPr>
              <p:cNvPr id="46102" name="Group 54"/>
              <p:cNvGrpSpPr/>
              <p:nvPr/>
            </p:nvGrpSpPr>
            <p:grpSpPr bwMode="auto">
              <a:xfrm>
                <a:off x="1220" y="1112"/>
                <a:ext cx="731" cy="494"/>
                <a:chOff x="1220" y="1112"/>
                <a:chExt cx="731" cy="494"/>
              </a:xfrm>
            </p:grpSpPr>
            <p:grpSp>
              <p:nvGrpSpPr>
                <p:cNvPr id="46103" name="Group 55"/>
                <p:cNvGrpSpPr/>
                <p:nvPr/>
              </p:nvGrpSpPr>
              <p:grpSpPr bwMode="auto">
                <a:xfrm>
                  <a:off x="1220" y="1529"/>
                  <a:ext cx="731" cy="77"/>
                  <a:chOff x="0" y="0"/>
                  <a:chExt cx="19999" cy="20000"/>
                </a:xfrm>
              </p:grpSpPr>
              <p:sp>
                <p:nvSpPr>
                  <p:cNvPr id="475192" name="Freeform 56"/>
                  <p:cNvSpPr/>
                  <p:nvPr/>
                </p:nvSpPr>
                <p:spPr bwMode="auto">
                  <a:xfrm>
                    <a:off x="0" y="0"/>
                    <a:ext cx="10171" cy="20000"/>
                  </a:xfrm>
                  <a:custGeom>
                    <a:avLst/>
                    <a:gdLst>
                      <a:gd name="T0" fmla="*/ 0 w 20000"/>
                      <a:gd name="T1" fmla="*/ 19835 h 20000"/>
                      <a:gd name="T2" fmla="*/ 0 w 20000"/>
                      <a:gd name="T3" fmla="*/ 0 h 20000"/>
                      <a:gd name="T4" fmla="*/ 19969 w 20000"/>
                      <a:gd name="T5" fmla="*/ 0 h 200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0000" h="20000">
                        <a:moveTo>
                          <a:pt x="0" y="19835"/>
                        </a:moveTo>
                        <a:lnTo>
                          <a:pt x="0" y="0"/>
                        </a:lnTo>
                        <a:lnTo>
                          <a:pt x="19969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/>
                  <a:lstStyle/>
                  <a:p>
                    <a:pPr eaLnBrk="1" hangingPunct="1"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475193" name="Freeform 57"/>
                  <p:cNvSpPr/>
                  <p:nvPr/>
                </p:nvSpPr>
                <p:spPr bwMode="auto">
                  <a:xfrm>
                    <a:off x="9842" y="0"/>
                    <a:ext cx="10151" cy="20000"/>
                  </a:xfrm>
                  <a:custGeom>
                    <a:avLst/>
                    <a:gdLst>
                      <a:gd name="T0" fmla="*/ 19969 w 20000"/>
                      <a:gd name="T1" fmla="*/ 19835 h 20000"/>
                      <a:gd name="T2" fmla="*/ 19969 w 20000"/>
                      <a:gd name="T3" fmla="*/ 0 h 20000"/>
                      <a:gd name="T4" fmla="*/ 0 w 20000"/>
                      <a:gd name="T5" fmla="*/ 0 h 200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0000" h="20000">
                        <a:moveTo>
                          <a:pt x="19969" y="19835"/>
                        </a:moveTo>
                        <a:lnTo>
                          <a:pt x="19969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/>
                  <a:lstStyle/>
                  <a:p>
                    <a:pPr eaLnBrk="1" hangingPunct="1"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</p:grpSp>
            <p:grpSp>
              <p:nvGrpSpPr>
                <p:cNvPr id="46104" name="Group 58"/>
                <p:cNvGrpSpPr/>
                <p:nvPr/>
              </p:nvGrpSpPr>
              <p:grpSpPr bwMode="auto">
                <a:xfrm>
                  <a:off x="1301" y="1453"/>
                  <a:ext cx="581" cy="77"/>
                  <a:chOff x="0" y="0"/>
                  <a:chExt cx="20000" cy="20000"/>
                </a:xfrm>
              </p:grpSpPr>
              <p:sp>
                <p:nvSpPr>
                  <p:cNvPr id="475195" name="Freeform 59"/>
                  <p:cNvSpPr/>
                  <p:nvPr/>
                </p:nvSpPr>
                <p:spPr bwMode="auto">
                  <a:xfrm>
                    <a:off x="4" y="0"/>
                    <a:ext cx="10174" cy="20000"/>
                  </a:xfrm>
                  <a:custGeom>
                    <a:avLst/>
                    <a:gdLst>
                      <a:gd name="T0" fmla="*/ 0 w 20000"/>
                      <a:gd name="T1" fmla="*/ 19835 h 20000"/>
                      <a:gd name="T2" fmla="*/ 0 w 20000"/>
                      <a:gd name="T3" fmla="*/ 0 h 20000"/>
                      <a:gd name="T4" fmla="*/ 19961 w 20000"/>
                      <a:gd name="T5" fmla="*/ 0 h 200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0000" h="20000">
                        <a:moveTo>
                          <a:pt x="0" y="19835"/>
                        </a:moveTo>
                        <a:lnTo>
                          <a:pt x="0" y="0"/>
                        </a:lnTo>
                        <a:lnTo>
                          <a:pt x="19961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/>
                  <a:lstStyle/>
                  <a:p>
                    <a:pPr eaLnBrk="1" hangingPunct="1"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475196" name="Freeform 60"/>
                  <p:cNvSpPr/>
                  <p:nvPr/>
                </p:nvSpPr>
                <p:spPr bwMode="auto">
                  <a:xfrm>
                    <a:off x="9839" y="0"/>
                    <a:ext cx="10150" cy="20000"/>
                  </a:xfrm>
                  <a:custGeom>
                    <a:avLst/>
                    <a:gdLst>
                      <a:gd name="T0" fmla="*/ 19961 w 20000"/>
                      <a:gd name="T1" fmla="*/ 19835 h 20000"/>
                      <a:gd name="T2" fmla="*/ 19961 w 20000"/>
                      <a:gd name="T3" fmla="*/ 0 h 20000"/>
                      <a:gd name="T4" fmla="*/ 0 w 20000"/>
                      <a:gd name="T5" fmla="*/ 0 h 200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0000" h="20000">
                        <a:moveTo>
                          <a:pt x="19961" y="19835"/>
                        </a:moveTo>
                        <a:lnTo>
                          <a:pt x="19961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/>
                  <a:lstStyle/>
                  <a:p>
                    <a:pPr eaLnBrk="1" hangingPunct="1"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</p:grpSp>
            <p:sp>
              <p:nvSpPr>
                <p:cNvPr id="475197" name="Rectangle 61"/>
                <p:cNvSpPr>
                  <a:spLocks noChangeArrowheads="1"/>
                </p:cNvSpPr>
                <p:nvPr/>
              </p:nvSpPr>
              <p:spPr bwMode="auto">
                <a:xfrm>
                  <a:off x="1452" y="1175"/>
                  <a:ext cx="279" cy="64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/>
                <a:lstStyle/>
                <a:p>
                  <a:pPr eaLnBrk="1" hangingPunct="1"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475198" name="Rectangle 62"/>
                <p:cNvSpPr>
                  <a:spLocks noChangeArrowheads="1"/>
                </p:cNvSpPr>
                <p:nvPr/>
              </p:nvSpPr>
              <p:spPr bwMode="auto">
                <a:xfrm>
                  <a:off x="1521" y="1112"/>
                  <a:ext cx="140" cy="64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/>
                <a:lstStyle/>
                <a:p>
                  <a:pPr eaLnBrk="1" hangingPunct="1"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</p:grpSp>
      </p:grpSp>
      <p:grpSp>
        <p:nvGrpSpPr>
          <p:cNvPr id="22" name="Group 63"/>
          <p:cNvGrpSpPr/>
          <p:nvPr/>
        </p:nvGrpSpPr>
        <p:grpSpPr bwMode="auto">
          <a:xfrm>
            <a:off x="4583113" y="188913"/>
            <a:ext cx="730250" cy="965200"/>
            <a:chOff x="930" y="1074"/>
            <a:chExt cx="279" cy="608"/>
          </a:xfrm>
        </p:grpSpPr>
        <p:sp>
          <p:nvSpPr>
            <p:cNvPr id="46096" name="Rectangle 64"/>
            <p:cNvSpPr>
              <a:spLocks noChangeArrowheads="1"/>
            </p:cNvSpPr>
            <p:nvPr/>
          </p:nvSpPr>
          <p:spPr bwMode="auto">
            <a:xfrm>
              <a:off x="930" y="1188"/>
              <a:ext cx="279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64</a:t>
              </a:r>
              <a:r>
                <a:rPr lang="zh-CN" altLang="en-US" sz="2400">
                  <a:latin typeface="Arial" panose="020B0604020202020204" pitchFamily="34" charset="0"/>
                </a:rPr>
                <a:t>片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475201" name="Freeform 65"/>
            <p:cNvSpPr/>
            <p:nvPr/>
          </p:nvSpPr>
          <p:spPr bwMode="auto">
            <a:xfrm>
              <a:off x="1034" y="1377"/>
              <a:ext cx="1" cy="305"/>
            </a:xfrm>
            <a:custGeom>
              <a:avLst/>
              <a:gdLst>
                <a:gd name="T0" fmla="*/ 0 w 20000"/>
                <a:gd name="T1" fmla="*/ 19958 h 20000"/>
                <a:gd name="T2" fmla="*/ 0 w 20000"/>
                <a:gd name="T3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0" y="1995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75202" name="Freeform 66"/>
            <p:cNvSpPr/>
            <p:nvPr/>
          </p:nvSpPr>
          <p:spPr bwMode="auto">
            <a:xfrm>
              <a:off x="1034" y="1074"/>
              <a:ext cx="164" cy="102"/>
            </a:xfrm>
            <a:custGeom>
              <a:avLst/>
              <a:gdLst>
                <a:gd name="T0" fmla="*/ 0 w 20000"/>
                <a:gd name="T1" fmla="*/ 19876 h 20000"/>
                <a:gd name="T2" fmla="*/ 0 w 20000"/>
                <a:gd name="T3" fmla="*/ 0 h 20000"/>
                <a:gd name="T4" fmla="*/ 19929 w 20000"/>
                <a:gd name="T5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000" h="20000">
                  <a:moveTo>
                    <a:pt x="0" y="19876"/>
                  </a:moveTo>
                  <a:lnTo>
                    <a:pt x="0" y="0"/>
                  </a:lnTo>
                  <a:lnTo>
                    <a:pt x="19929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475203" name="Rectangle 67"/>
          <p:cNvSpPr>
            <a:spLocks noChangeArrowheads="1"/>
          </p:cNvSpPr>
          <p:nvPr/>
        </p:nvSpPr>
        <p:spPr bwMode="auto">
          <a:xfrm>
            <a:off x="157480" y="3048000"/>
            <a:ext cx="10431780" cy="332295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800" dirty="0">
                <a:latin typeface="Arial" panose="020B0604020202020204" pitchFamily="34" charset="0"/>
              </a:rPr>
              <a:t>设若有一函数：   </a:t>
            </a:r>
            <a:r>
              <a:rPr lang="en-US" altLang="zh-CN" sz="2800" dirty="0">
                <a:latin typeface="Arial" panose="020B0604020202020204" pitchFamily="34" charset="0"/>
              </a:rPr>
              <a:t>void  move ( </a:t>
            </a:r>
            <a:r>
              <a:rPr lang="en-US" altLang="zh-CN" sz="2800" dirty="0" err="1">
                <a:latin typeface="Arial" panose="020B0604020202020204" pitchFamily="34" charset="0"/>
              </a:rPr>
              <a:t>int</a:t>
            </a:r>
            <a:r>
              <a:rPr lang="en-US" altLang="zh-CN" sz="2800" dirty="0">
                <a:latin typeface="Arial" panose="020B0604020202020204" pitchFamily="34" charset="0"/>
              </a:rPr>
              <a:t> n, </a:t>
            </a:r>
            <a:r>
              <a:rPr lang="en-US" altLang="zh-CN" sz="2800" dirty="0">
                <a:solidFill>
                  <a:srgbClr val="FFFF00"/>
                </a:solidFill>
                <a:latin typeface="Arial" panose="020B0604020202020204" pitchFamily="34" charset="0"/>
              </a:rPr>
              <a:t>char x, char y, </a:t>
            </a:r>
            <a:r>
              <a:rPr lang="en-US" altLang="zh-CN" sz="2800" dirty="0">
                <a:latin typeface="Arial" panose="020B0604020202020204" pitchFamily="34" charset="0"/>
              </a:rPr>
              <a:t>char z );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能够完成：把 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x 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针上的 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n 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片金片，移动到 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y 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针上，移动过程中可以利用 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z 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针。</a:t>
            </a:r>
            <a:endParaRPr lang="zh-CN" altLang="en-US" sz="18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zh-CN" sz="24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800" dirty="0">
                <a:latin typeface="Arial" panose="020B0604020202020204" pitchFamily="34" charset="0"/>
              </a:rPr>
              <a:t>原始问题：</a:t>
            </a:r>
            <a:r>
              <a:rPr lang="en-US" altLang="zh-CN" sz="2800" dirty="0">
                <a:solidFill>
                  <a:srgbClr val="F902FC"/>
                </a:solidFill>
                <a:latin typeface="Arial" panose="020B0604020202020204" pitchFamily="34" charset="0"/>
              </a:rPr>
              <a:t>move( 64 ,'a' , 'b' ,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800" dirty="0">
                <a:latin typeface="Arial" panose="020B0604020202020204" pitchFamily="34" charset="0"/>
              </a:rPr>
              <a:t>'c'</a:t>
            </a:r>
            <a:r>
              <a:rPr lang="en-US" altLang="zh-CN" sz="2800" dirty="0">
                <a:solidFill>
                  <a:srgbClr val="F902FC"/>
                </a:solidFill>
                <a:latin typeface="Arial" panose="020B0604020202020204" pitchFamily="34" charset="0"/>
              </a:rPr>
              <a:t> )</a:t>
            </a:r>
            <a:endParaRPr lang="en-US" altLang="zh-CN" sz="2800" dirty="0">
              <a:solidFill>
                <a:srgbClr val="F902FC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800" dirty="0">
                <a:latin typeface="Arial" panose="020B0604020202020204" pitchFamily="34" charset="0"/>
              </a:rPr>
              <a:t>分解：</a:t>
            </a:r>
            <a:endParaRPr lang="zh-CN" altLang="en-US" sz="28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800" dirty="0">
                <a:latin typeface="Arial" panose="020B0604020202020204" pitchFamily="34" charset="0"/>
              </a:rPr>
              <a:t>　　	</a:t>
            </a:r>
            <a:r>
              <a:rPr lang="en-US" altLang="zh-CN" sz="2800" dirty="0">
                <a:solidFill>
                  <a:schemeClr val="hlink"/>
                </a:solidFill>
                <a:latin typeface="Arial" panose="020B0604020202020204" pitchFamily="34" charset="0"/>
              </a:rPr>
              <a:t>move( 63 , </a:t>
            </a:r>
            <a:r>
              <a:rPr lang="en-US" altLang="zh-CN" sz="2800" dirty="0">
                <a:solidFill>
                  <a:srgbClr val="FFFF00"/>
                </a:solidFill>
                <a:latin typeface="Arial" panose="020B0604020202020204" pitchFamily="34" charset="0"/>
              </a:rPr>
              <a:t>'a' , 'c' </a:t>
            </a:r>
            <a:r>
              <a:rPr lang="en-US" altLang="zh-CN" sz="2800" dirty="0">
                <a:solidFill>
                  <a:schemeClr val="hlink"/>
                </a:solidFill>
                <a:latin typeface="Arial" panose="020B0604020202020204" pitchFamily="34" charset="0"/>
              </a:rPr>
              <a:t>, </a:t>
            </a:r>
            <a:r>
              <a:rPr lang="en-US" altLang="zh-CN" sz="2800" dirty="0">
                <a:latin typeface="Arial" panose="020B0604020202020204" pitchFamily="34" charset="0"/>
              </a:rPr>
              <a:t>'b'</a:t>
            </a:r>
            <a:r>
              <a:rPr lang="en-US" altLang="zh-CN" sz="2800" dirty="0">
                <a:solidFill>
                  <a:schemeClr val="hlink"/>
                </a:solidFill>
                <a:latin typeface="Arial" panose="020B0604020202020204" pitchFamily="34" charset="0"/>
              </a:rPr>
              <a:t> );</a:t>
            </a:r>
            <a:endParaRPr lang="en-US" altLang="zh-CN" sz="2800" dirty="0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chemeClr val="hlink"/>
                </a:solidFill>
                <a:latin typeface="Arial" panose="020B0604020202020204" pitchFamily="34" charset="0"/>
              </a:rPr>
              <a:t>	</a:t>
            </a:r>
            <a:r>
              <a:rPr lang="en-US" altLang="zh-CN" sz="2800" dirty="0" err="1">
                <a:latin typeface="Arial" panose="020B0604020202020204" pitchFamily="34" charset="0"/>
              </a:rPr>
              <a:t>moveone</a:t>
            </a:r>
            <a:r>
              <a:rPr lang="en-US" altLang="zh-CN" sz="2800" dirty="0">
                <a:latin typeface="Arial" panose="020B0604020202020204" pitchFamily="34" charset="0"/>
              </a:rPr>
              <a:t>( 'a', 'b' );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chemeClr val="hlink"/>
                </a:solidFill>
                <a:latin typeface="Arial" panose="020B0604020202020204" pitchFamily="34" charset="0"/>
              </a:rPr>
              <a:t>	move( 63 , </a:t>
            </a:r>
            <a:r>
              <a:rPr lang="en-US" altLang="zh-CN" sz="2800" dirty="0">
                <a:solidFill>
                  <a:srgbClr val="FFFF00"/>
                </a:solidFill>
                <a:latin typeface="Arial" panose="020B0604020202020204" pitchFamily="34" charset="0"/>
              </a:rPr>
              <a:t>'c' , 'b' , 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</a:rPr>
              <a:t>'a' </a:t>
            </a:r>
            <a:r>
              <a:rPr lang="en-US" altLang="zh-CN" sz="2800" dirty="0">
                <a:solidFill>
                  <a:schemeClr val="hlink"/>
                </a:solidFill>
                <a:latin typeface="Arial" panose="020B0604020202020204" pitchFamily="34" charset="0"/>
              </a:rPr>
              <a:t>);</a:t>
            </a:r>
            <a:endParaRPr lang="en-US" altLang="zh-CN" sz="2800" dirty="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475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4751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475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751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75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75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75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75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75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75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1" dur="500"/>
                                        <p:tgtEl>
                                          <p:spTgt spid="475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6" dur="500"/>
                                        <p:tgtEl>
                                          <p:spTgt spid="475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1" dur="500"/>
                                        <p:tgtEl>
                                          <p:spTgt spid="475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2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6" dur="500"/>
                                        <p:tgtEl>
                                          <p:spTgt spid="4752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D64EF419-1A24-4C75-A681-3FD6ECD54F92}" type="slidenum">
              <a:rPr lang="en-US" altLang="zh-CN" sz="1200" b="0"/>
            </a:fld>
            <a:endParaRPr lang="en-US" altLang="zh-CN" sz="1200" b="0"/>
          </a:p>
        </p:txBody>
      </p:sp>
      <p:sp>
        <p:nvSpPr>
          <p:cNvPr id="477186" name="Rectangle 2"/>
          <p:cNvSpPr>
            <a:spLocks noChangeArrowheads="1"/>
          </p:cNvSpPr>
          <p:nvPr/>
        </p:nvSpPr>
        <p:spPr bwMode="auto">
          <a:xfrm>
            <a:off x="1538288" y="4363720"/>
            <a:ext cx="8596312" cy="1715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>
                <a:solidFill>
                  <a:srgbClr val="F902FC"/>
                </a:solidFill>
                <a:latin typeface="Arial" panose="020B0604020202020204" pitchFamily="34" charset="0"/>
              </a:rPr>
              <a:t>递归出口 :</a:t>
            </a:r>
            <a:endParaRPr lang="en-US" altLang="zh-CN" sz="3200">
              <a:solidFill>
                <a:srgbClr val="F902FC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>
                <a:latin typeface="Arial" panose="020B0604020202020204" pitchFamily="34" charset="0"/>
              </a:rPr>
              <a:t>当移动金片的片数为 </a:t>
            </a:r>
            <a:r>
              <a:rPr lang="en-US" altLang="zh-CN" sz="2800">
                <a:latin typeface="Arial" panose="020B0604020202020204" pitchFamily="34" charset="0"/>
              </a:rPr>
              <a:t>0 </a:t>
            </a:r>
            <a:r>
              <a:rPr lang="zh-CN" altLang="en-US" sz="2800">
                <a:latin typeface="Arial" panose="020B0604020202020204" pitchFamily="34" charset="0"/>
              </a:rPr>
              <a:t>时，便不用移动了</a:t>
            </a:r>
            <a:endParaRPr lang="zh-CN" altLang="en-US" sz="2800">
              <a:latin typeface="Arial" panose="020B0604020202020204" pitchFamily="34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>
                <a:latin typeface="Arial" panose="020B0604020202020204" pitchFamily="34" charset="0"/>
              </a:rPr>
              <a:t>程序如下</a:t>
            </a:r>
            <a:r>
              <a:rPr lang="en-US" altLang="zh-CN" sz="2800">
                <a:latin typeface="Arial" panose="020B0604020202020204" pitchFamily="34" charset="0"/>
              </a:rPr>
              <a:t>:</a:t>
            </a:r>
            <a:endParaRPr lang="en-US" altLang="zh-CN" sz="2800">
              <a:latin typeface="Arial" panose="020B0604020202020204" pitchFamily="34" charset="0"/>
            </a:endParaRPr>
          </a:p>
        </p:txBody>
      </p:sp>
      <p:sp>
        <p:nvSpPr>
          <p:cNvPr id="48132" name="Rectangle 3"/>
          <p:cNvSpPr>
            <a:spLocks noChangeArrowheads="1"/>
          </p:cNvSpPr>
          <p:nvPr/>
        </p:nvSpPr>
        <p:spPr bwMode="auto">
          <a:xfrm>
            <a:off x="1499870" y="290513"/>
            <a:ext cx="8126730" cy="5835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void </a:t>
            </a:r>
            <a:r>
              <a:rPr lang="en-US" altLang="zh-CN">
                <a:solidFill>
                  <a:schemeClr val="hlink"/>
                </a:solidFill>
                <a:latin typeface="Arial" panose="020B0604020202020204" pitchFamily="34" charset="0"/>
              </a:rPr>
              <a:t> </a:t>
            </a:r>
            <a:r>
              <a:rPr lang="en-US" altLang="zh-CN">
                <a:solidFill>
                  <a:srgbClr val="F902FC"/>
                </a:solidFill>
                <a:latin typeface="Arial" panose="020B0604020202020204" pitchFamily="34" charset="0"/>
              </a:rPr>
              <a:t>move (</a:t>
            </a:r>
            <a:r>
              <a:rPr lang="en-US" altLang="zh-CN">
                <a:solidFill>
                  <a:schemeClr val="hlink"/>
                </a:solidFill>
                <a:latin typeface="Arial" panose="020B0604020202020204" pitchFamily="34" charset="0"/>
              </a:rPr>
              <a:t> </a:t>
            </a:r>
            <a:r>
              <a:rPr lang="en-US" altLang="zh-CN">
                <a:latin typeface="Arial" panose="020B0604020202020204" pitchFamily="34" charset="0"/>
              </a:rPr>
              <a:t>int n, </a:t>
            </a:r>
            <a:r>
              <a:rPr lang="en-US" altLang="zh-CN">
                <a:solidFill>
                  <a:srgbClr val="F902FC"/>
                </a:solidFill>
                <a:latin typeface="Arial" panose="020B0604020202020204" pitchFamily="34" charset="0"/>
              </a:rPr>
              <a:t>char x, char y,</a:t>
            </a:r>
            <a:r>
              <a:rPr lang="en-US" altLang="zh-CN">
                <a:latin typeface="Arial" panose="020B0604020202020204" pitchFamily="34" charset="0"/>
              </a:rPr>
              <a:t> char z</a:t>
            </a:r>
            <a:r>
              <a:rPr lang="en-US" altLang="zh-CN">
                <a:solidFill>
                  <a:schemeClr val="hlink"/>
                </a:solidFill>
                <a:latin typeface="Arial" panose="020B0604020202020204" pitchFamily="34" charset="0"/>
              </a:rPr>
              <a:t> </a:t>
            </a:r>
            <a:r>
              <a:rPr lang="en-US" altLang="zh-CN">
                <a:solidFill>
                  <a:srgbClr val="F902FC"/>
                </a:solidFill>
                <a:latin typeface="Arial" panose="020B0604020202020204" pitchFamily="34" charset="0"/>
              </a:rPr>
              <a:t>)</a:t>
            </a:r>
            <a:r>
              <a:rPr lang="en-US" altLang="zh-CN">
                <a:latin typeface="Arial" panose="020B0604020202020204" pitchFamily="34" charset="0"/>
              </a:rPr>
              <a:t>;</a:t>
            </a:r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8437" name="Rectangle 4"/>
          <p:cNvSpPr>
            <a:spLocks noChangeArrowheads="1"/>
          </p:cNvSpPr>
          <p:nvPr/>
        </p:nvSpPr>
        <p:spPr bwMode="auto">
          <a:xfrm>
            <a:off x="1484313" y="2251075"/>
            <a:ext cx="6265862" cy="150685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3" eaLnBrk="1" hangingPunct="1">
              <a:spcBef>
                <a:spcPct val="0"/>
              </a:spcBef>
              <a:buFontTx/>
              <a:buNone/>
            </a:pPr>
            <a:r>
              <a:rPr lang="en-US" altLang="zh-CN" sz="3200">
                <a:solidFill>
                  <a:srgbClr val="F902FC"/>
                </a:solidFill>
                <a:latin typeface="Arial" panose="020B0604020202020204" pitchFamily="34" charset="0"/>
              </a:rPr>
              <a:t>move(</a:t>
            </a:r>
            <a:r>
              <a:rPr lang="en-US" altLang="zh-CN" sz="2800">
                <a:solidFill>
                  <a:schemeClr val="folHlink"/>
                </a:solidFill>
              </a:rPr>
              <a:t> </a:t>
            </a:r>
            <a:r>
              <a:rPr lang="en-US" altLang="zh-CN" sz="2800"/>
              <a:t>n-1, </a:t>
            </a:r>
            <a:r>
              <a:rPr lang="en-US" altLang="zh-CN" sz="3200">
                <a:solidFill>
                  <a:srgbClr val="F902FC"/>
                </a:solidFill>
                <a:latin typeface="Arial" panose="020B0604020202020204" pitchFamily="34" charset="0"/>
              </a:rPr>
              <a:t>x, z,</a:t>
            </a:r>
            <a:r>
              <a:rPr lang="en-US" altLang="zh-CN" sz="2800"/>
              <a:t> y</a:t>
            </a:r>
            <a:r>
              <a:rPr lang="en-US" altLang="zh-CN" sz="2800">
                <a:solidFill>
                  <a:schemeClr val="hlink"/>
                </a:solidFill>
              </a:rPr>
              <a:t> </a:t>
            </a:r>
            <a:r>
              <a:rPr lang="en-US" altLang="zh-CN" sz="3200">
                <a:solidFill>
                  <a:srgbClr val="F902FC"/>
                </a:solidFill>
                <a:latin typeface="Arial" panose="020B0604020202020204" pitchFamily="34" charset="0"/>
              </a:rPr>
              <a:t>);</a:t>
            </a:r>
            <a:endParaRPr lang="en-US" altLang="zh-CN" sz="3200">
              <a:solidFill>
                <a:srgbClr val="F902FC"/>
              </a:solidFill>
              <a:latin typeface="Arial" panose="020B0604020202020204" pitchFamily="34" charset="0"/>
            </a:endParaRPr>
          </a:p>
          <a:p>
            <a:pPr lvl="3" eaLnBrk="1" hangingPunct="1">
              <a:spcBef>
                <a:spcPct val="0"/>
              </a:spcBef>
              <a:buFontTx/>
              <a:buNone/>
            </a:pPr>
            <a:r>
              <a:rPr lang="en-US" altLang="zh-CN" sz="2800"/>
              <a:t>moveone( x, y );</a:t>
            </a:r>
            <a:endParaRPr lang="en-US" altLang="zh-CN" sz="2800"/>
          </a:p>
          <a:p>
            <a:pPr lvl="3" eaLnBrk="1" hangingPunct="1">
              <a:spcBef>
                <a:spcPct val="0"/>
              </a:spcBef>
              <a:buFontTx/>
              <a:buNone/>
            </a:pPr>
            <a:r>
              <a:rPr lang="en-US" altLang="zh-CN" sz="3200">
                <a:solidFill>
                  <a:srgbClr val="F902FC"/>
                </a:solidFill>
                <a:latin typeface="Arial" panose="020B0604020202020204" pitchFamily="34" charset="0"/>
              </a:rPr>
              <a:t>move(</a:t>
            </a:r>
            <a:r>
              <a:rPr lang="en-US" altLang="zh-CN" sz="2800">
                <a:solidFill>
                  <a:schemeClr val="folHlink"/>
                </a:solidFill>
              </a:rPr>
              <a:t> </a:t>
            </a:r>
            <a:r>
              <a:rPr lang="en-US" altLang="zh-CN" sz="2800"/>
              <a:t>n-1, </a:t>
            </a:r>
            <a:r>
              <a:rPr lang="en-US" altLang="zh-CN" sz="3200">
                <a:solidFill>
                  <a:srgbClr val="F902FC"/>
                </a:solidFill>
                <a:latin typeface="Arial" panose="020B0604020202020204" pitchFamily="34" charset="0"/>
              </a:rPr>
              <a:t>z, y,</a:t>
            </a:r>
            <a:r>
              <a:rPr lang="en-US" altLang="zh-CN" sz="2800"/>
              <a:t> x</a:t>
            </a:r>
            <a:r>
              <a:rPr lang="en-US" altLang="zh-CN" sz="2800">
                <a:solidFill>
                  <a:schemeClr val="folHlink"/>
                </a:solidFill>
              </a:rPr>
              <a:t> </a:t>
            </a:r>
            <a:r>
              <a:rPr lang="en-US" altLang="zh-CN" sz="3200">
                <a:solidFill>
                  <a:srgbClr val="F902FC"/>
                </a:solidFill>
                <a:latin typeface="Arial" panose="020B0604020202020204" pitchFamily="34" charset="0"/>
              </a:rPr>
              <a:t>);</a:t>
            </a:r>
            <a:endParaRPr lang="en-US" altLang="zh-CN" sz="3200">
              <a:solidFill>
                <a:srgbClr val="F902FC"/>
              </a:solidFill>
              <a:latin typeface="Arial" panose="020B0604020202020204" pitchFamily="34" charset="0"/>
            </a:endParaRPr>
          </a:p>
        </p:txBody>
      </p:sp>
      <p:sp>
        <p:nvSpPr>
          <p:cNvPr id="18438" name="Rectangle 5"/>
          <p:cNvSpPr>
            <a:spLocks noChangeArrowheads="1"/>
          </p:cNvSpPr>
          <p:nvPr/>
        </p:nvSpPr>
        <p:spPr bwMode="auto">
          <a:xfrm>
            <a:off x="0" y="1162050"/>
            <a:ext cx="11201400" cy="89154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400" dirty="0">
                <a:solidFill>
                  <a:schemeClr val="tx1">
                    <a:lumMod val="75000"/>
                  </a:schemeClr>
                </a:solidFill>
              </a:rPr>
              <a:t>考虑</a:t>
            </a:r>
            <a:r>
              <a:rPr lang="en-US" altLang="zh-CN" sz="2400" dirty="0">
                <a:solidFill>
                  <a:schemeClr val="tx1">
                    <a:lumMod val="75000"/>
                  </a:schemeClr>
                </a:solidFill>
              </a:rPr>
              <a:t>move</a:t>
            </a:r>
            <a:r>
              <a:rPr lang="zh-CN" altLang="en-US" sz="2400" dirty="0">
                <a:solidFill>
                  <a:schemeClr val="tx1">
                    <a:lumMod val="75000"/>
                  </a:schemeClr>
                </a:solidFill>
              </a:rPr>
              <a:t>函数（</a:t>
            </a:r>
            <a:r>
              <a:rPr lang="en-US" altLang="zh-CN" sz="2400" dirty="0">
                <a:solidFill>
                  <a:schemeClr val="tx1">
                    <a:lumMod val="75000"/>
                  </a:schemeClr>
                </a:solidFill>
              </a:rPr>
              <a:t>n</a:t>
            </a:r>
            <a:r>
              <a:rPr lang="zh-CN" altLang="en-US" sz="2400" dirty="0">
                <a:solidFill>
                  <a:schemeClr val="tx1">
                    <a:lumMod val="75000"/>
                  </a:schemeClr>
                </a:solidFill>
              </a:rPr>
              <a:t>片金片）</a:t>
            </a:r>
            <a:r>
              <a:rPr lang="en-US" altLang="zh-CN" sz="2400" dirty="0">
                <a:solidFill>
                  <a:schemeClr val="tx1">
                    <a:lumMod val="75000"/>
                  </a:schemeClr>
                </a:solidFill>
              </a:rPr>
              <a:t>:</a:t>
            </a:r>
            <a:endParaRPr lang="en-US" altLang="zh-CN" sz="2400" dirty="0">
              <a:solidFill>
                <a:schemeClr val="tx1">
                  <a:lumMod val="75000"/>
                </a:schemeClr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chemeClr val="tx1">
                    <a:lumMod val="75000"/>
                  </a:schemeClr>
                </a:solidFill>
              </a:rPr>
              <a:t>“</a:t>
            </a:r>
            <a:r>
              <a:rPr lang="zh-CN" altLang="en-US" sz="2400" dirty="0">
                <a:solidFill>
                  <a:schemeClr val="tx1">
                    <a:lumMod val="75000"/>
                  </a:schemeClr>
                </a:solidFill>
              </a:rPr>
              <a:t>把</a:t>
            </a:r>
            <a:r>
              <a:rPr lang="en-US" altLang="zh-CN" sz="2400" dirty="0">
                <a:solidFill>
                  <a:schemeClr val="tx1">
                    <a:lumMod val="75000"/>
                  </a:schemeClr>
                </a:solidFill>
              </a:rPr>
              <a:t>x</a:t>
            </a:r>
            <a:r>
              <a:rPr lang="zh-CN" altLang="en-US" sz="2400" dirty="0">
                <a:solidFill>
                  <a:schemeClr val="tx1">
                    <a:lumMod val="75000"/>
                  </a:schemeClr>
                </a:solidFill>
              </a:rPr>
              <a:t>针上的</a:t>
            </a:r>
            <a:r>
              <a:rPr lang="en-US" altLang="zh-CN" sz="2400" dirty="0">
                <a:solidFill>
                  <a:schemeClr val="tx1">
                    <a:lumMod val="75000"/>
                  </a:schemeClr>
                </a:solidFill>
              </a:rPr>
              <a:t>n</a:t>
            </a:r>
            <a:r>
              <a:rPr lang="zh-CN" altLang="en-US" sz="2400" dirty="0">
                <a:solidFill>
                  <a:schemeClr val="tx1">
                    <a:lumMod val="75000"/>
                  </a:schemeClr>
                </a:solidFill>
              </a:rPr>
              <a:t>片金片，移动到</a:t>
            </a:r>
            <a:r>
              <a:rPr lang="en-US" altLang="zh-CN" sz="2400" dirty="0">
                <a:solidFill>
                  <a:schemeClr val="tx1">
                    <a:lumMod val="75000"/>
                  </a:schemeClr>
                </a:solidFill>
              </a:rPr>
              <a:t>y</a:t>
            </a:r>
            <a:r>
              <a:rPr lang="zh-CN" altLang="en-US" sz="2400" dirty="0">
                <a:solidFill>
                  <a:schemeClr val="tx1">
                    <a:lumMod val="75000"/>
                  </a:schemeClr>
                </a:solidFill>
              </a:rPr>
              <a:t>针上，移动过程中</a:t>
            </a:r>
            <a:r>
              <a:rPr lang="en-US" altLang="zh-CN" sz="2400" dirty="0">
                <a:solidFill>
                  <a:schemeClr val="tx1">
                    <a:lumMod val="75000"/>
                  </a:schemeClr>
                </a:solidFill>
              </a:rPr>
              <a:t>z</a:t>
            </a:r>
            <a:r>
              <a:rPr lang="zh-CN" altLang="en-US" sz="2400" dirty="0">
                <a:solidFill>
                  <a:schemeClr val="tx1">
                    <a:lumMod val="75000"/>
                  </a:schemeClr>
                </a:solidFill>
              </a:rPr>
              <a:t>针可用</a:t>
            </a:r>
            <a:r>
              <a:rPr lang="en-US" altLang="zh-CN" sz="2400" dirty="0">
                <a:solidFill>
                  <a:schemeClr val="tx1">
                    <a:lumMod val="75000"/>
                  </a:schemeClr>
                </a:solidFill>
              </a:rPr>
              <a:t>”</a:t>
            </a:r>
            <a:r>
              <a:rPr lang="zh-CN" altLang="en-US" sz="2400" dirty="0">
                <a:solidFill>
                  <a:schemeClr val="tx1">
                    <a:lumMod val="75000"/>
                  </a:schemeClr>
                </a:solidFill>
              </a:rPr>
              <a:t>可被</a:t>
            </a:r>
            <a:r>
              <a:rPr lang="zh-CN" altLang="en-US" sz="2800" dirty="0"/>
              <a:t>分解成：</a:t>
            </a:r>
            <a:endParaRPr lang="zh-CN" altLang="en-US" sz="2800" dirty="0"/>
          </a:p>
        </p:txBody>
      </p:sp>
      <p:pic>
        <p:nvPicPr>
          <p:cNvPr id="48135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9848" y="0"/>
            <a:ext cx="1981200" cy="233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771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771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771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7" grpId="0" bldLvl="0" animBg="1"/>
      <p:bldP spid="18438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16D3B090-2BA3-47CE-89E5-25DE68194A67}" type="slidenum">
              <a:rPr lang="en-US" altLang="zh-CN" sz="1200" b="0"/>
            </a:fld>
            <a:endParaRPr lang="en-US" altLang="zh-CN" sz="1200" b="0"/>
          </a:p>
        </p:txBody>
      </p:sp>
      <p:sp>
        <p:nvSpPr>
          <p:cNvPr id="479234" name="Rectangle 2"/>
          <p:cNvSpPr>
            <a:spLocks noChangeArrowheads="1"/>
          </p:cNvSpPr>
          <p:nvPr/>
        </p:nvSpPr>
        <p:spPr bwMode="auto">
          <a:xfrm>
            <a:off x="268288" y="138113"/>
            <a:ext cx="6659562" cy="66833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"/>
              </a:spcBef>
              <a:spcAft>
                <a:spcPct val="5000"/>
              </a:spcAft>
              <a:buClrTx/>
              <a:buSzTx/>
              <a:buFontTx/>
              <a:buNone/>
              <a:defRPr/>
            </a:pPr>
            <a:r>
              <a:rPr lang="en-US" altLang="zh-CN" sz="2400" dirty="0">
                <a:latin typeface="Arial" panose="020B0604020202020204" pitchFamily="34" charset="0"/>
              </a:rPr>
              <a:t>void </a:t>
            </a:r>
            <a:r>
              <a:rPr lang="en-US" altLang="zh-CN" sz="2400" dirty="0">
                <a:solidFill>
                  <a:schemeClr val="folHlink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 dirty="0" err="1">
                <a:solidFill>
                  <a:schemeClr val="hlink"/>
                </a:solidFill>
                <a:latin typeface="Arial" panose="020B0604020202020204" pitchFamily="34" charset="0"/>
              </a:rPr>
              <a:t>moveone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 dirty="0">
                <a:solidFill>
                  <a:schemeClr val="hlink"/>
                </a:solidFill>
                <a:latin typeface="Arial" panose="020B0604020202020204" pitchFamily="34" charset="0"/>
              </a:rPr>
              <a:t>(</a:t>
            </a:r>
            <a:r>
              <a:rPr lang="en-US" altLang="zh-CN" sz="2400" dirty="0">
                <a:solidFill>
                  <a:schemeClr val="folHlink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</a:rPr>
              <a:t>char u , char v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 dirty="0">
                <a:solidFill>
                  <a:schemeClr val="hlink"/>
                </a:solidFill>
                <a:latin typeface="Arial" panose="020B0604020202020204" pitchFamily="34" charset="0"/>
              </a:rPr>
              <a:t>) {</a:t>
            </a:r>
            <a:endParaRPr lang="en-US" altLang="zh-CN" sz="2400" dirty="0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5000"/>
              </a:spcBef>
              <a:spcAft>
                <a:spcPct val="500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</a:rPr>
              <a:t>       </a:t>
            </a:r>
            <a:r>
              <a:rPr lang="en-US" altLang="zh-CN" sz="2800" dirty="0" err="1">
                <a:latin typeface="Arial" panose="020B0604020202020204" pitchFamily="34" charset="0"/>
              </a:rPr>
              <a:t>printf</a:t>
            </a:r>
            <a:r>
              <a:rPr lang="en-US" altLang="zh-CN" sz="2800" dirty="0">
                <a:latin typeface="Arial" panose="020B0604020202020204" pitchFamily="34" charset="0"/>
              </a:rPr>
              <a:t> ("</a:t>
            </a:r>
            <a:r>
              <a:rPr lang="en-US" altLang="zh-CN" sz="2800" dirty="0">
                <a:solidFill>
                  <a:schemeClr val="hlink"/>
                </a:solidFill>
                <a:latin typeface="Arial" panose="020B0604020202020204" pitchFamily="34" charset="0"/>
              </a:rPr>
              <a:t>%c</a:t>
            </a:r>
            <a:r>
              <a:rPr lang="en-US" altLang="zh-CN" sz="2800" dirty="0">
                <a:latin typeface="Arial" panose="020B0604020202020204" pitchFamily="34" charset="0"/>
              </a:rPr>
              <a:t> </a:t>
            </a:r>
            <a:r>
              <a:rPr lang="en-US" altLang="zh-CN" sz="2800" dirty="0">
                <a:latin typeface="Arial" panose="020B0604020202020204" pitchFamily="34" charset="0"/>
              </a:rPr>
              <a:t>-&gt; </a:t>
            </a:r>
            <a:r>
              <a:rPr lang="en-US" altLang="zh-CN" sz="2800" dirty="0">
                <a:solidFill>
                  <a:schemeClr val="hlink"/>
                </a:solidFill>
                <a:latin typeface="Arial" panose="020B0604020202020204" pitchFamily="34" charset="0"/>
              </a:rPr>
              <a:t>%c</a:t>
            </a:r>
            <a:r>
              <a:rPr lang="en-US" altLang="zh-CN" sz="2800" dirty="0">
                <a:latin typeface="Arial" panose="020B0604020202020204" pitchFamily="34" charset="0"/>
              </a:rPr>
              <a:t>\n", </a:t>
            </a:r>
            <a:r>
              <a:rPr lang="en-US" altLang="zh-CN" sz="2800" dirty="0">
                <a:solidFill>
                  <a:schemeClr val="hlink"/>
                </a:solidFill>
                <a:latin typeface="Arial" panose="020B0604020202020204" pitchFamily="34" charset="0"/>
              </a:rPr>
              <a:t>u , v</a:t>
            </a:r>
            <a:r>
              <a:rPr lang="en-US" altLang="zh-CN" sz="2800" dirty="0">
                <a:latin typeface="Arial" panose="020B0604020202020204" pitchFamily="34" charset="0"/>
              </a:rPr>
              <a:t> );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5000"/>
              </a:spcBef>
              <a:spcAft>
                <a:spcPct val="5000"/>
              </a:spcAft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chemeClr val="hlink"/>
                </a:solidFill>
                <a:latin typeface="Arial" panose="020B0604020202020204" pitchFamily="34" charset="0"/>
              </a:rPr>
              <a:t>}</a:t>
            </a:r>
            <a:endParaRPr lang="en-US" altLang="zh-CN" sz="1800" dirty="0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5000"/>
              </a:spcBef>
              <a:spcAft>
                <a:spcPct val="5000"/>
              </a:spcAft>
              <a:buClrTx/>
              <a:buSzTx/>
              <a:buFontTx/>
              <a:buNone/>
              <a:defRPr/>
            </a:pPr>
            <a:r>
              <a:rPr lang="en-US" altLang="zh-CN" sz="2400" dirty="0">
                <a:latin typeface="Arial" panose="020B0604020202020204" pitchFamily="34" charset="0"/>
              </a:rPr>
              <a:t>void</a:t>
            </a:r>
            <a:r>
              <a:rPr lang="en-US" altLang="zh-CN" sz="2400" dirty="0">
                <a:solidFill>
                  <a:schemeClr val="folHlink"/>
                </a:solidFill>
                <a:latin typeface="Arial" panose="020B0604020202020204" pitchFamily="34" charset="0"/>
              </a:rPr>
              <a:t>  </a:t>
            </a:r>
            <a:r>
              <a:rPr lang="en-US" altLang="zh-CN" sz="2400" dirty="0">
                <a:solidFill>
                  <a:srgbClr val="F902FC"/>
                </a:solidFill>
                <a:latin typeface="Arial" panose="020B0604020202020204" pitchFamily="34" charset="0"/>
              </a:rPr>
              <a:t>move (</a:t>
            </a:r>
            <a:r>
              <a:rPr lang="en-US" altLang="zh-CN" sz="2400" dirty="0">
                <a:solidFill>
                  <a:schemeClr val="folHlink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</a:rPr>
              <a:t>int n, char x, char y, char z</a:t>
            </a:r>
            <a:r>
              <a:rPr lang="en-US" altLang="zh-CN" sz="2400" dirty="0">
                <a:solidFill>
                  <a:schemeClr val="folHlink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 dirty="0">
                <a:solidFill>
                  <a:srgbClr val="F902FC"/>
                </a:solidFill>
                <a:latin typeface="Arial" panose="020B0604020202020204" pitchFamily="34" charset="0"/>
              </a:rPr>
              <a:t>) {</a:t>
            </a:r>
            <a:endParaRPr lang="en-US" altLang="zh-CN" sz="2400" dirty="0">
              <a:solidFill>
                <a:srgbClr val="F902FC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5000"/>
              </a:spcBef>
              <a:spcAft>
                <a:spcPct val="5000"/>
              </a:spcAft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   	</a:t>
            </a:r>
            <a:r>
              <a:rPr lang="en-US" altLang="zh-CN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if  ( n&lt;=0 ) 	return ;</a:t>
            </a:r>
            <a:endParaRPr lang="en-US" altLang="zh-CN" sz="2800" dirty="0">
              <a:solidFill>
                <a:schemeClr val="accent2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5000"/>
              </a:spcBef>
              <a:spcAft>
                <a:spcPct val="500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</a:rPr>
              <a:t>	</a:t>
            </a:r>
            <a:r>
              <a:rPr lang="en-US" altLang="zh-CN" sz="2800" dirty="0">
                <a:solidFill>
                  <a:srgbClr val="F902FC"/>
                </a:solidFill>
                <a:latin typeface="Arial" panose="020B0604020202020204" pitchFamily="34" charset="0"/>
              </a:rPr>
              <a:t>move(</a:t>
            </a:r>
            <a:r>
              <a:rPr lang="en-US" altLang="zh-CN" sz="2800" dirty="0">
                <a:solidFill>
                  <a:schemeClr val="folHlink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800" dirty="0">
                <a:latin typeface="Arial" panose="020B0604020202020204" pitchFamily="34" charset="0"/>
              </a:rPr>
              <a:t>n-1, </a:t>
            </a:r>
            <a:r>
              <a:rPr lang="en-US" altLang="zh-CN" sz="2800" dirty="0">
                <a:solidFill>
                  <a:srgbClr val="F902FC"/>
                </a:solidFill>
                <a:latin typeface="Arial" panose="020B0604020202020204" pitchFamily="34" charset="0"/>
              </a:rPr>
              <a:t>x, z,</a:t>
            </a:r>
            <a:r>
              <a:rPr lang="en-US" altLang="zh-CN" sz="2800" dirty="0">
                <a:latin typeface="Arial" panose="020B0604020202020204" pitchFamily="34" charset="0"/>
              </a:rPr>
              <a:t> y</a:t>
            </a:r>
            <a:r>
              <a:rPr lang="en-US" altLang="zh-CN" sz="2800" dirty="0">
                <a:solidFill>
                  <a:srgbClr val="F902FC"/>
                </a:solidFill>
                <a:latin typeface="Arial" panose="020B0604020202020204" pitchFamily="34" charset="0"/>
              </a:rPr>
              <a:t> );</a:t>
            </a:r>
            <a:endParaRPr lang="en-US" altLang="zh-CN" sz="28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5000"/>
              </a:spcBef>
              <a:spcAft>
                <a:spcPct val="500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</a:rPr>
              <a:t>	</a:t>
            </a:r>
            <a:r>
              <a:rPr lang="en-US" altLang="zh-CN" sz="2800" dirty="0" err="1">
                <a:solidFill>
                  <a:schemeClr val="hlink"/>
                </a:solidFill>
                <a:latin typeface="Arial" panose="020B0604020202020204" pitchFamily="34" charset="0"/>
              </a:rPr>
              <a:t>moveone</a:t>
            </a:r>
            <a:r>
              <a:rPr lang="en-US" altLang="zh-CN" sz="2800" dirty="0">
                <a:solidFill>
                  <a:schemeClr val="hlink"/>
                </a:solidFill>
                <a:latin typeface="Arial" panose="020B0604020202020204" pitchFamily="34" charset="0"/>
              </a:rPr>
              <a:t>(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800" dirty="0">
                <a:latin typeface="Arial" panose="020B0604020202020204" pitchFamily="34" charset="0"/>
              </a:rPr>
              <a:t>x, y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800" dirty="0">
                <a:solidFill>
                  <a:schemeClr val="hlink"/>
                </a:solidFill>
                <a:latin typeface="Arial" panose="020B0604020202020204" pitchFamily="34" charset="0"/>
              </a:rPr>
              <a:t>);</a:t>
            </a:r>
            <a:endParaRPr lang="en-US" altLang="zh-CN" sz="2800" dirty="0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5000"/>
              </a:spcBef>
              <a:spcAft>
                <a:spcPct val="500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chemeClr val="hlink"/>
                </a:solidFill>
                <a:latin typeface="Arial" panose="020B0604020202020204" pitchFamily="34" charset="0"/>
              </a:rPr>
              <a:t>	</a:t>
            </a:r>
            <a:r>
              <a:rPr lang="en-US" altLang="zh-CN" sz="2800" dirty="0">
                <a:solidFill>
                  <a:srgbClr val="F902FC"/>
                </a:solidFill>
                <a:latin typeface="Arial" panose="020B0604020202020204" pitchFamily="34" charset="0"/>
              </a:rPr>
              <a:t>move(</a:t>
            </a:r>
            <a:r>
              <a:rPr lang="en-US" altLang="zh-CN" sz="2800" dirty="0">
                <a:solidFill>
                  <a:schemeClr val="folHlink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800" dirty="0">
                <a:latin typeface="Arial" panose="020B0604020202020204" pitchFamily="34" charset="0"/>
              </a:rPr>
              <a:t>n-1, </a:t>
            </a:r>
            <a:r>
              <a:rPr lang="en-US" altLang="zh-CN" sz="2800" dirty="0">
                <a:solidFill>
                  <a:srgbClr val="F902FC"/>
                </a:solidFill>
                <a:latin typeface="Arial" panose="020B0604020202020204" pitchFamily="34" charset="0"/>
              </a:rPr>
              <a:t>z, y,</a:t>
            </a:r>
            <a:r>
              <a:rPr lang="en-US" altLang="zh-CN" sz="2800" dirty="0">
                <a:latin typeface="Arial" panose="020B0604020202020204" pitchFamily="34" charset="0"/>
              </a:rPr>
              <a:t> x</a:t>
            </a:r>
            <a:r>
              <a:rPr lang="en-US" altLang="zh-CN" sz="2800" dirty="0">
                <a:solidFill>
                  <a:schemeClr val="folHlink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800" dirty="0">
                <a:solidFill>
                  <a:srgbClr val="F902FC"/>
                </a:solidFill>
                <a:latin typeface="Arial" panose="020B0604020202020204" pitchFamily="34" charset="0"/>
              </a:rPr>
              <a:t>);</a:t>
            </a:r>
            <a:endParaRPr lang="en-US" altLang="zh-CN" sz="28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5000"/>
              </a:spcBef>
              <a:spcAft>
                <a:spcPct val="5000"/>
              </a:spcAft>
              <a:buClrTx/>
              <a:buSzTx/>
              <a:buFontTx/>
              <a:buNone/>
              <a:defRPr/>
            </a:pPr>
            <a:r>
              <a:rPr lang="en-US" altLang="zh-CN" sz="2000" dirty="0">
                <a:solidFill>
                  <a:srgbClr val="F902FC"/>
                </a:solidFill>
                <a:latin typeface="Arial" panose="020B0604020202020204" pitchFamily="34" charset="0"/>
              </a:rPr>
              <a:t>}</a:t>
            </a:r>
            <a:endParaRPr lang="en-US" altLang="zh-CN" sz="2000" dirty="0">
              <a:solidFill>
                <a:srgbClr val="F902FC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5000"/>
              </a:spcBef>
              <a:spcAft>
                <a:spcPct val="5000"/>
              </a:spcAft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chemeClr val="hlink"/>
                </a:solidFill>
                <a:latin typeface="Arial" panose="020B0604020202020204" pitchFamily="34" charset="0"/>
              </a:rPr>
              <a:t>int main( ) {</a:t>
            </a:r>
            <a:endParaRPr lang="en-US" altLang="zh-CN" sz="2400" dirty="0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5000"/>
              </a:spcBef>
              <a:spcAft>
                <a:spcPct val="5000"/>
              </a:spcAft>
              <a:buClrTx/>
              <a:buSzTx/>
              <a:buFontTx/>
              <a:buNone/>
              <a:defRPr/>
            </a:pPr>
            <a:r>
              <a:rPr lang="zh-CN" altLang="en-US" sz="2400" dirty="0">
                <a:latin typeface="Arial" panose="020B0604020202020204" pitchFamily="34" charset="0"/>
              </a:rPr>
              <a:t>　　</a:t>
            </a:r>
            <a:r>
              <a:rPr lang="en-US" altLang="zh-CN" sz="2400" dirty="0">
                <a:latin typeface="Arial" panose="020B0604020202020204" pitchFamily="34" charset="0"/>
              </a:rPr>
              <a:t>int   n ;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5000"/>
              </a:spcBef>
              <a:spcAft>
                <a:spcPct val="5000"/>
              </a:spcAft>
              <a:buClrTx/>
              <a:buSzTx/>
              <a:buFontTx/>
              <a:buNone/>
              <a:defRPr/>
            </a:pPr>
            <a:r>
              <a:rPr lang="zh-CN" altLang="en-US" sz="2400" dirty="0">
                <a:latin typeface="Arial" panose="020B0604020202020204" pitchFamily="34" charset="0"/>
              </a:rPr>
              <a:t>　　</a:t>
            </a:r>
            <a:r>
              <a:rPr lang="en-US" altLang="zh-CN" sz="2400" dirty="0" err="1">
                <a:latin typeface="Arial" panose="020B0604020202020204" pitchFamily="34" charset="0"/>
              </a:rPr>
              <a:t>printf</a:t>
            </a:r>
            <a:r>
              <a:rPr lang="en-US" altLang="zh-CN" sz="2400" dirty="0">
                <a:latin typeface="Arial" panose="020B0604020202020204" pitchFamily="34" charset="0"/>
              </a:rPr>
              <a:t>("please input n:");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5000"/>
              </a:spcBef>
              <a:spcAft>
                <a:spcPct val="5000"/>
              </a:spcAft>
              <a:buClrTx/>
              <a:buSzTx/>
              <a:buFontTx/>
              <a:buNone/>
              <a:defRPr/>
            </a:pPr>
            <a:r>
              <a:rPr lang="en-US" altLang="zh-CN" sz="2400" dirty="0">
                <a:latin typeface="Arial" panose="020B0604020202020204" pitchFamily="34" charset="0"/>
              </a:rPr>
              <a:t>       </a:t>
            </a:r>
            <a:r>
              <a:rPr lang="en-US" altLang="zh-CN" sz="2400" dirty="0" err="1">
                <a:latin typeface="Arial" panose="020B0604020202020204" pitchFamily="34" charset="0"/>
              </a:rPr>
              <a:t>scanf</a:t>
            </a:r>
            <a:r>
              <a:rPr lang="en-US" altLang="zh-CN" sz="2400" dirty="0">
                <a:latin typeface="Arial" panose="020B0604020202020204" pitchFamily="34" charset="0"/>
              </a:rPr>
              <a:t>("%d" , &amp;n );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5000"/>
              </a:spcBef>
              <a:spcAft>
                <a:spcPct val="500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</a:rPr>
              <a:t>      </a:t>
            </a:r>
            <a:r>
              <a:rPr lang="en-US" altLang="zh-CN" sz="2800" dirty="0">
                <a:solidFill>
                  <a:srgbClr val="F902FC"/>
                </a:solidFill>
                <a:latin typeface="Arial" panose="020B0604020202020204" pitchFamily="34" charset="0"/>
              </a:rPr>
              <a:t>move</a:t>
            </a:r>
            <a:r>
              <a:rPr lang="en-US" altLang="zh-CN" sz="2800" dirty="0">
                <a:solidFill>
                  <a:schemeClr val="hlink"/>
                </a:solidFill>
                <a:latin typeface="Arial" panose="020B0604020202020204" pitchFamily="34" charset="0"/>
              </a:rPr>
              <a:t> ( n , </a:t>
            </a:r>
            <a:r>
              <a:rPr lang="en-US" altLang="zh-CN" sz="2800" dirty="0">
                <a:solidFill>
                  <a:srgbClr val="F902FC"/>
                </a:solidFill>
                <a:latin typeface="Arial" panose="020B0604020202020204" pitchFamily="34" charset="0"/>
              </a:rPr>
              <a:t>'a' , 'b' ,</a:t>
            </a:r>
            <a:r>
              <a:rPr lang="en-US" altLang="zh-CN" sz="2800" dirty="0">
                <a:solidFill>
                  <a:schemeClr val="hlink"/>
                </a:solidFill>
                <a:latin typeface="Arial" panose="020B0604020202020204" pitchFamily="34" charset="0"/>
              </a:rPr>
              <a:t> 'c’ );</a:t>
            </a:r>
            <a:endParaRPr lang="en-US" altLang="zh-CN" sz="2800" dirty="0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5000"/>
              </a:spcBef>
              <a:spcAft>
                <a:spcPct val="5000"/>
              </a:spcAft>
              <a:buClrTx/>
              <a:buSzTx/>
              <a:buFontTx/>
              <a:buNone/>
              <a:defRPr/>
            </a:pPr>
            <a:r>
              <a:rPr lang="en-US" altLang="zh-CN" sz="2000" dirty="0">
                <a:latin typeface="Arial" panose="020B0604020202020204" pitchFamily="34" charset="0"/>
              </a:rPr>
              <a:t>         return 0;</a:t>
            </a:r>
            <a:endParaRPr lang="en-US" altLang="zh-CN" sz="20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5000"/>
              </a:spcBef>
              <a:spcAft>
                <a:spcPct val="5000"/>
              </a:spcAft>
              <a:buClrTx/>
              <a:buSzTx/>
              <a:buFontTx/>
              <a:buNone/>
              <a:defRPr/>
            </a:pPr>
            <a:r>
              <a:rPr lang="en-US" altLang="zh-CN" sz="2000" dirty="0">
                <a:latin typeface="Arial" panose="020B0604020202020204" pitchFamily="34" charset="0"/>
              </a:rPr>
              <a:t>} </a:t>
            </a:r>
            <a:endParaRPr lang="en-US" altLang="zh-CN" sz="2000" dirty="0">
              <a:latin typeface="Arial" panose="020B0604020202020204" pitchFamily="34" charset="0"/>
            </a:endParaRPr>
          </a:p>
        </p:txBody>
      </p:sp>
      <p:sp>
        <p:nvSpPr>
          <p:cNvPr id="479235" name="Rectangle 3"/>
          <p:cNvSpPr>
            <a:spLocks noChangeArrowheads="1"/>
          </p:cNvSpPr>
          <p:nvPr/>
        </p:nvSpPr>
        <p:spPr bwMode="auto">
          <a:xfrm>
            <a:off x="325438" y="6410325"/>
            <a:ext cx="86756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179705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spcAft>
                <a:spcPct val="5000"/>
              </a:spcAft>
              <a:buClrTx/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执行 </a:t>
            </a:r>
            <a:r>
              <a:rPr lang="en-US" altLang="zh-CN" sz="2400">
                <a:latin typeface="Arial" panose="020B0604020202020204" pitchFamily="34" charset="0"/>
              </a:rPr>
              <a:t>Hanoi </a:t>
            </a:r>
            <a:r>
              <a:rPr lang="zh-CN" altLang="en-US" sz="2400">
                <a:latin typeface="Arial" panose="020B0604020202020204" pitchFamily="34" charset="0"/>
              </a:rPr>
              <a:t>程序时不要输入太大的 </a:t>
            </a:r>
            <a:r>
              <a:rPr lang="en-US" altLang="zh-CN" sz="2400">
                <a:latin typeface="Arial" panose="020B0604020202020204" pitchFamily="34" charset="0"/>
              </a:rPr>
              <a:t>n </a:t>
            </a:r>
            <a:r>
              <a:rPr lang="zh-CN" altLang="en-US" sz="2400">
                <a:latin typeface="Arial" panose="020B0604020202020204" pitchFamily="34" charset="0"/>
              </a:rPr>
              <a:t>，执行该程序</a:t>
            </a:r>
            <a:endParaRPr lang="zh-CN" altLang="en-US" sz="2400">
              <a:latin typeface="Arial" panose="020B0604020202020204" pitchFamily="34" charset="0"/>
            </a:endParaRPr>
          </a:p>
        </p:txBody>
      </p:sp>
      <p:pic>
        <p:nvPicPr>
          <p:cNvPr id="479237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8400" y="3024188"/>
            <a:ext cx="3382963" cy="322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对话气泡: 圆角矩形 2"/>
          <p:cNvSpPr/>
          <p:nvPr/>
        </p:nvSpPr>
        <p:spPr bwMode="auto">
          <a:xfrm>
            <a:off x="5922963" y="722313"/>
            <a:ext cx="3906837" cy="587375"/>
          </a:xfrm>
          <a:prstGeom prst="wedgeRoundRectCallout">
            <a:avLst>
              <a:gd name="adj1" fmla="val -76601"/>
              <a:gd name="adj2" fmla="val 61132"/>
              <a:gd name="adj3" fmla="val 16667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anchor="ctr"/>
          <a:lstStyle/>
          <a:p>
            <a:pPr eaLnBrk="1" hangingPunct="1">
              <a:defRPr/>
            </a:pP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无返回值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的递归函数</a:t>
            </a:r>
            <a:endParaRPr lang="zh-CN" alt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对话气泡: 矩形 1"/>
          <p:cNvSpPr>
            <a:spLocks noChangeArrowheads="1"/>
          </p:cNvSpPr>
          <p:nvPr/>
        </p:nvSpPr>
        <p:spPr bwMode="auto">
          <a:xfrm>
            <a:off x="4978400" y="1894205"/>
            <a:ext cx="3327400" cy="2284095"/>
          </a:xfrm>
          <a:prstGeom prst="wedgeRectCallout">
            <a:avLst>
              <a:gd name="adj1" fmla="val -61764"/>
              <a:gd name="adj2" fmla="val -41843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"/>
              </a:spcBef>
              <a:spcAft>
                <a:spcPct val="5000"/>
              </a:spcAft>
              <a:buClrTx/>
              <a:buSzTx/>
              <a:buFontTx/>
              <a:buNone/>
            </a:pPr>
            <a:r>
              <a:rPr lang="en-US" altLang="zh-CN" sz="240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if(n&gt;0){</a:t>
            </a:r>
            <a:endParaRPr lang="en-US" altLang="zh-CN" sz="2400">
              <a:solidFill>
                <a:schemeClr val="accent2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5000"/>
              </a:spcBef>
              <a:spcAft>
                <a:spcPct val="5000"/>
              </a:spcAft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    move( n-1, x, z, y );</a:t>
            </a:r>
            <a:endParaRPr lang="en-US" altLang="zh-CN" sz="2400">
              <a:latin typeface="Arial" panose="020B0604020202020204" pitchFamily="34" charset="0"/>
            </a:endParaRPr>
          </a:p>
          <a:p>
            <a:pPr eaLnBrk="1" hangingPunct="1">
              <a:spcBef>
                <a:spcPct val="5000"/>
              </a:spcBef>
              <a:spcAft>
                <a:spcPct val="5000"/>
              </a:spcAft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    moveone( x, y );</a:t>
            </a:r>
            <a:endParaRPr lang="en-US" altLang="zh-CN" sz="2400">
              <a:latin typeface="Arial" panose="020B0604020202020204" pitchFamily="34" charset="0"/>
            </a:endParaRPr>
          </a:p>
          <a:p>
            <a:pPr eaLnBrk="1" hangingPunct="1">
              <a:spcBef>
                <a:spcPct val="5000"/>
              </a:spcBef>
              <a:spcAft>
                <a:spcPct val="5000"/>
              </a:spcAft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    move( n-1, z, y, x );</a:t>
            </a:r>
            <a:endParaRPr lang="en-US" altLang="zh-CN" sz="2400">
              <a:latin typeface="Arial" panose="020B0604020202020204" pitchFamily="34" charset="0"/>
            </a:endParaRPr>
          </a:p>
          <a:p>
            <a:pPr eaLnBrk="1" hangingPunct="1">
              <a:spcBef>
                <a:spcPct val="5000"/>
              </a:spcBef>
              <a:spcAft>
                <a:spcPct val="5000"/>
              </a:spcAft>
              <a:buClrTx/>
              <a:buSzTx/>
              <a:buFontTx/>
              <a:buNone/>
            </a:pPr>
            <a:r>
              <a:rPr lang="en-US" altLang="zh-CN" sz="240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}</a:t>
            </a:r>
            <a:endParaRPr lang="en-US" altLang="zh-CN" sz="24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971800" y="1821815"/>
            <a:ext cx="1186815" cy="407670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ysDash"/>
          </a:ln>
        </p:spPr>
        <p:txBody>
          <a:bodyPr wrap="square" lIns="0" rIns="0">
            <a:noAutofit/>
          </a:bodyPr>
          <a:p>
            <a:pPr eaLnBrk="1" hangingPunct="1">
              <a:buNone/>
            </a:pPr>
            <a:endParaRPr lang="zh-CN" altLang="en-US" sz="3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792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792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792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792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79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792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792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479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79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79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9235" grpId="0"/>
      <p:bldP spid="3" grpId="0" bldLvl="0" animBg="1"/>
      <p:bldP spid="2" grpId="0" bldLvl="0" animBg="1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049D2A18-E793-4DEC-8187-AB278D59E798}" type="slidenum">
              <a:rPr lang="en-US" altLang="zh-CN" sz="1200" b="0"/>
            </a:fld>
            <a:endParaRPr lang="en-US" altLang="zh-CN" sz="1200" b="0"/>
          </a:p>
        </p:txBody>
      </p:sp>
      <p:sp>
        <p:nvSpPr>
          <p:cNvPr id="481282" name="Rectangle 2"/>
          <p:cNvSpPr>
            <a:spLocks noChangeArrowheads="1"/>
          </p:cNvSpPr>
          <p:nvPr/>
        </p:nvSpPr>
        <p:spPr bwMode="auto">
          <a:xfrm>
            <a:off x="155575" y="395288"/>
            <a:ext cx="5905500" cy="792162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342900" indent="-342900" algn="just" eaLnBrk="1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80000"/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按程序输出的移动顺序，实际移动。</a:t>
            </a:r>
            <a:endParaRPr lang="zh-CN" altLang="en-US" sz="24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52228" name="Text Box 3"/>
          <p:cNvSpPr txBox="1">
            <a:spLocks noChangeArrowheads="1"/>
          </p:cNvSpPr>
          <p:nvPr/>
        </p:nvSpPr>
        <p:spPr bwMode="auto">
          <a:xfrm>
            <a:off x="9480550" y="1652588"/>
            <a:ext cx="1439863" cy="376872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a-&gt;b</a:t>
            </a:r>
            <a:endParaRPr lang="en-US" altLang="zh-CN" sz="2400">
              <a:latin typeface="Arial" panose="020B0604020202020204" pitchFamily="34" charset="0"/>
            </a:endParaRPr>
          </a:p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a-&gt;c</a:t>
            </a:r>
            <a:endParaRPr lang="en-US" altLang="zh-CN" sz="2400">
              <a:latin typeface="Arial" panose="020B0604020202020204" pitchFamily="34" charset="0"/>
            </a:endParaRPr>
          </a:p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b-&gt;c</a:t>
            </a:r>
            <a:endParaRPr lang="en-US" altLang="zh-CN" sz="2400">
              <a:latin typeface="Arial" panose="020B0604020202020204" pitchFamily="34" charset="0"/>
            </a:endParaRPr>
          </a:p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a-&gt;b</a:t>
            </a:r>
            <a:endParaRPr lang="en-US" altLang="zh-CN" sz="2400">
              <a:latin typeface="Arial" panose="020B0604020202020204" pitchFamily="34" charset="0"/>
            </a:endParaRPr>
          </a:p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c-&gt;a</a:t>
            </a:r>
            <a:endParaRPr lang="en-US" altLang="zh-CN" sz="2400">
              <a:latin typeface="Arial" panose="020B0604020202020204" pitchFamily="34" charset="0"/>
            </a:endParaRPr>
          </a:p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c-&gt;b</a:t>
            </a:r>
            <a:endParaRPr lang="en-US" altLang="zh-CN" sz="2400">
              <a:latin typeface="Arial" panose="020B0604020202020204" pitchFamily="34" charset="0"/>
            </a:endParaRPr>
          </a:p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a-&gt;b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52229" name="Rectangle 4"/>
          <p:cNvSpPr>
            <a:spLocks noChangeArrowheads="1"/>
          </p:cNvSpPr>
          <p:nvPr/>
        </p:nvSpPr>
        <p:spPr bwMode="auto">
          <a:xfrm>
            <a:off x="2063750" y="3860800"/>
            <a:ext cx="7345363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          a                            b                        c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481285" name="Rectangle 5"/>
          <p:cNvSpPr>
            <a:spLocks noChangeArrowheads="1"/>
          </p:cNvSpPr>
          <p:nvPr/>
        </p:nvSpPr>
        <p:spPr bwMode="auto">
          <a:xfrm>
            <a:off x="2424113" y="3070225"/>
            <a:ext cx="1368425" cy="28892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81286" name="Rectangle 6"/>
          <p:cNvSpPr>
            <a:spLocks noChangeArrowheads="1"/>
          </p:cNvSpPr>
          <p:nvPr/>
        </p:nvSpPr>
        <p:spPr bwMode="auto">
          <a:xfrm>
            <a:off x="2136775" y="3357563"/>
            <a:ext cx="1943100" cy="360362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81287" name="Rectangle 7"/>
          <p:cNvSpPr>
            <a:spLocks noChangeArrowheads="1"/>
          </p:cNvSpPr>
          <p:nvPr/>
        </p:nvSpPr>
        <p:spPr bwMode="auto">
          <a:xfrm>
            <a:off x="2711450" y="2781300"/>
            <a:ext cx="720725" cy="287338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81288" name="Rectangle 8"/>
          <p:cNvSpPr>
            <a:spLocks noChangeArrowheads="1"/>
          </p:cNvSpPr>
          <p:nvPr/>
        </p:nvSpPr>
        <p:spPr bwMode="auto">
          <a:xfrm>
            <a:off x="5160963" y="3430588"/>
            <a:ext cx="792162" cy="28892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81289" name="Rectangle 9"/>
          <p:cNvSpPr>
            <a:spLocks noChangeArrowheads="1"/>
          </p:cNvSpPr>
          <p:nvPr/>
        </p:nvSpPr>
        <p:spPr bwMode="auto">
          <a:xfrm>
            <a:off x="6959600" y="3429000"/>
            <a:ext cx="1441450" cy="28892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81290" name="Rectangle 10"/>
          <p:cNvSpPr>
            <a:spLocks noChangeArrowheads="1"/>
          </p:cNvSpPr>
          <p:nvPr/>
        </p:nvSpPr>
        <p:spPr bwMode="auto">
          <a:xfrm>
            <a:off x="7319963" y="3141663"/>
            <a:ext cx="720725" cy="287337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81291" name="Rectangle 11"/>
          <p:cNvSpPr>
            <a:spLocks noChangeArrowheads="1"/>
          </p:cNvSpPr>
          <p:nvPr/>
        </p:nvSpPr>
        <p:spPr bwMode="auto">
          <a:xfrm>
            <a:off x="4584700" y="3430588"/>
            <a:ext cx="1871663" cy="28892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81292" name="Rectangle 12"/>
          <p:cNvSpPr>
            <a:spLocks noChangeArrowheads="1"/>
          </p:cNvSpPr>
          <p:nvPr/>
        </p:nvSpPr>
        <p:spPr bwMode="auto">
          <a:xfrm>
            <a:off x="2711450" y="3357563"/>
            <a:ext cx="649288" cy="360362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81293" name="Rectangle 13"/>
          <p:cNvSpPr>
            <a:spLocks noChangeArrowheads="1"/>
          </p:cNvSpPr>
          <p:nvPr/>
        </p:nvSpPr>
        <p:spPr bwMode="auto">
          <a:xfrm>
            <a:off x="4872038" y="3141663"/>
            <a:ext cx="1296987" cy="28892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81294" name="Rectangle 14"/>
          <p:cNvSpPr>
            <a:spLocks noChangeArrowheads="1"/>
          </p:cNvSpPr>
          <p:nvPr/>
        </p:nvSpPr>
        <p:spPr bwMode="auto">
          <a:xfrm>
            <a:off x="5160963" y="2854325"/>
            <a:ext cx="719137" cy="287338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81295" name="Line 15"/>
          <p:cNvSpPr>
            <a:spLocks noChangeShapeType="1"/>
          </p:cNvSpPr>
          <p:nvPr/>
        </p:nvSpPr>
        <p:spPr bwMode="auto">
          <a:xfrm>
            <a:off x="1668463" y="3717925"/>
            <a:ext cx="730885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81296" name="Line 16"/>
          <p:cNvSpPr>
            <a:spLocks noChangeShapeType="1"/>
          </p:cNvSpPr>
          <p:nvPr/>
        </p:nvSpPr>
        <p:spPr bwMode="auto">
          <a:xfrm flipV="1">
            <a:off x="3071813" y="2422525"/>
            <a:ext cx="1587" cy="1295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81297" name="Line 17"/>
          <p:cNvSpPr>
            <a:spLocks noChangeShapeType="1"/>
          </p:cNvSpPr>
          <p:nvPr/>
        </p:nvSpPr>
        <p:spPr bwMode="auto">
          <a:xfrm flipV="1">
            <a:off x="5521325" y="2422525"/>
            <a:ext cx="0" cy="1295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81298" name="Line 18"/>
          <p:cNvSpPr>
            <a:spLocks noChangeShapeType="1"/>
          </p:cNvSpPr>
          <p:nvPr/>
        </p:nvSpPr>
        <p:spPr bwMode="auto">
          <a:xfrm flipV="1">
            <a:off x="7680325" y="2420938"/>
            <a:ext cx="0" cy="1295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2244" name="矩形 1"/>
          <p:cNvSpPr>
            <a:spLocks noChangeArrowheads="1"/>
          </p:cNvSpPr>
          <p:nvPr/>
        </p:nvSpPr>
        <p:spPr bwMode="auto">
          <a:xfrm>
            <a:off x="2819400" y="4795203"/>
            <a:ext cx="45640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F902FC"/>
                </a:solidFill>
                <a:latin typeface="Arial" panose="020B0604020202020204" pitchFamily="34" charset="0"/>
              </a:rPr>
              <a:t>move </a:t>
            </a:r>
            <a:r>
              <a:rPr lang="en-US" altLang="zh-CN">
                <a:solidFill>
                  <a:schemeClr val="hlink"/>
                </a:solidFill>
                <a:latin typeface="Arial" panose="020B0604020202020204" pitchFamily="34" charset="0"/>
              </a:rPr>
              <a:t>( 3 ,</a:t>
            </a:r>
            <a:r>
              <a:rPr lang="en-US" altLang="zh-CN">
                <a:solidFill>
                  <a:srgbClr val="F902FC"/>
                </a:solidFill>
                <a:latin typeface="Arial" panose="020B0604020202020204" pitchFamily="34" charset="0"/>
              </a:rPr>
              <a:t> 'a' , 'b' ,</a:t>
            </a:r>
            <a:r>
              <a:rPr lang="en-US" altLang="zh-CN">
                <a:solidFill>
                  <a:schemeClr val="hlink"/>
                </a:solidFill>
                <a:latin typeface="Arial" panose="020B0604020202020204" pitchFamily="34" charset="0"/>
              </a:rPr>
              <a:t> 'c’ );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4812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812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812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812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4812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4812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812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812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4812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4812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81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81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4812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4812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812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81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481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481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81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81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4812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4812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81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81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481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481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812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81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285" grpId="0" bldLvl="0" animBg="1"/>
      <p:bldP spid="481286" grpId="0" bldLvl="0" animBg="1"/>
      <p:bldP spid="481287" grpId="0" bldLvl="0" animBg="1"/>
      <p:bldP spid="481288" grpId="0" bldLvl="0" animBg="1"/>
      <p:bldP spid="481288" grpId="1" bldLvl="0" animBg="1"/>
      <p:bldP spid="481289" grpId="0" bldLvl="0" animBg="1"/>
      <p:bldP spid="481289" grpId="1" bldLvl="0" animBg="1"/>
      <p:bldP spid="481290" grpId="0" bldLvl="0" animBg="1"/>
      <p:bldP spid="481290" grpId="1" bldLvl="0" animBg="1"/>
      <p:bldP spid="481291" grpId="0" bldLvl="0" animBg="1"/>
      <p:bldP spid="481292" grpId="0" bldLvl="0" animBg="1"/>
      <p:bldP spid="481292" grpId="1" bldLvl="0" animBg="1"/>
      <p:bldP spid="481293" grpId="0" bldLvl="0" animBg="1"/>
      <p:bldP spid="481294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5" name="内容占位符 2"/>
          <p:cNvSpPr>
            <a:spLocks noGrp="1"/>
          </p:cNvSpPr>
          <p:nvPr>
            <p:ph sz="quarter" idx="1"/>
          </p:nvPr>
        </p:nvSpPr>
        <p:spPr>
          <a:xfrm>
            <a:off x="-76200" y="527050"/>
            <a:ext cx="11506200" cy="561975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solidFill>
                  <a:srgbClr val="FFC000"/>
                </a:solidFill>
              </a:rPr>
              <a:t>【</a:t>
            </a:r>
            <a:r>
              <a:rPr lang="zh-CN" altLang="en-US" sz="2800" b="1" dirty="0">
                <a:solidFill>
                  <a:srgbClr val="FFC000"/>
                </a:solidFill>
              </a:rPr>
              <a:t>例</a:t>
            </a:r>
            <a:r>
              <a:rPr lang="en-US" altLang="zh-CN" sz="2800" b="1" dirty="0">
                <a:solidFill>
                  <a:srgbClr val="FFC000"/>
                </a:solidFill>
              </a:rPr>
              <a:t>10.4】</a:t>
            </a:r>
            <a:r>
              <a:rPr lang="zh-CN" altLang="zh-CN" sz="2800" b="1" dirty="0">
                <a:solidFill>
                  <a:srgbClr val="FFC000"/>
                </a:solidFill>
              </a:rPr>
              <a:t>编写递归函数，把给定数组中的</a:t>
            </a:r>
            <a:r>
              <a:rPr lang="en-US" altLang="zh-CN" sz="2800" b="1" dirty="0">
                <a:solidFill>
                  <a:srgbClr val="FFC000"/>
                </a:solidFill>
              </a:rPr>
              <a:t>n</a:t>
            </a:r>
            <a:r>
              <a:rPr lang="zh-CN" altLang="zh-CN" sz="2800" b="1" dirty="0">
                <a:solidFill>
                  <a:srgbClr val="FFC000"/>
                </a:solidFill>
              </a:rPr>
              <a:t>个整数反序存放</a:t>
            </a:r>
            <a:r>
              <a:rPr lang="zh-CN" altLang="en-US" sz="2800" b="1" dirty="0">
                <a:solidFill>
                  <a:srgbClr val="FFC000"/>
                </a:solidFill>
              </a:rPr>
              <a:t>。</a:t>
            </a:r>
            <a:endParaRPr lang="zh-CN" altLang="en-US" sz="2800" b="1" dirty="0">
              <a:solidFill>
                <a:srgbClr val="FFC000"/>
              </a:solidFill>
            </a:endParaRPr>
          </a:p>
        </p:txBody>
      </p:sp>
      <p:sp>
        <p:nvSpPr>
          <p:cNvPr id="69638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1856720" y="5934710"/>
            <a:ext cx="335280" cy="4572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CE0B463A-41A0-4718-91A3-6A2774E1A09C}" type="slidenum">
              <a:rPr lang="en-US" altLang="zh-CN" sz="1200" b="0">
                <a:solidFill>
                  <a:schemeClr val="tx2"/>
                </a:solidFill>
                <a:latin typeface="Arial" panose="020B0604020202020204" pitchFamily="34" charset="0"/>
              </a:rPr>
            </a:fld>
            <a:endParaRPr lang="en-US" altLang="zh-CN" sz="1200" b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87655" y="1160780"/>
            <a:ext cx="9678035" cy="5231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hangingPunct="1">
              <a:spcAft>
                <a:spcPts val="600"/>
              </a:spcAft>
              <a:defRPr/>
            </a:pPr>
            <a:r>
              <a:rPr lang="zh-CN" altLang="en-US" sz="2800" dirty="0">
                <a:solidFill>
                  <a:srgbClr val="FFC000"/>
                </a:solidFill>
                <a:latin typeface="+mn-lt"/>
                <a:ea typeface="+mn-ea"/>
              </a:rPr>
              <a:t>参考程序</a:t>
            </a:r>
            <a:r>
              <a:rPr lang="en-US" altLang="zh-CN" sz="2800" dirty="0">
                <a:solidFill>
                  <a:srgbClr val="FFC000"/>
                </a:solidFill>
                <a:latin typeface="+mn-lt"/>
                <a:ea typeface="+mn-ea"/>
              </a:rPr>
              <a:t>1</a:t>
            </a:r>
            <a:r>
              <a:rPr lang="zh-CN" altLang="en-US" sz="2800" dirty="0">
                <a:solidFill>
                  <a:srgbClr val="FFC000"/>
                </a:solidFill>
                <a:latin typeface="+mn-lt"/>
                <a:ea typeface="+mn-ea"/>
              </a:rPr>
              <a:t>：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</a:rPr>
              <a:t>【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</a:rPr>
              <a:t>思路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</a:rPr>
              <a:t>】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  <a:latin typeface="+mn-lt"/>
              <a:ea typeface="+mn-ea"/>
            </a:endParaRPr>
          </a:p>
          <a:p>
            <a:pPr algn="just" eaLnBrk="1" hangingPunct="1">
              <a:spcAft>
                <a:spcPts val="600"/>
              </a:spcAft>
              <a:defRPr/>
            </a:pP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</a:rPr>
              <a:t>1)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</a:rPr>
              <a:t>反序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sym typeface="+mn-ea"/>
              </a:rPr>
              <a:t>首元素</a:t>
            </a:r>
            <a:endParaRPr lang="en-US" altLang="zh-CN" sz="2000" dirty="0">
              <a:solidFill>
                <a:schemeClr val="tx1">
                  <a:lumMod val="50000"/>
                </a:schemeClr>
              </a:solidFill>
              <a:latin typeface="+mn-lt"/>
              <a:ea typeface="+mn-ea"/>
            </a:endParaRPr>
          </a:p>
          <a:p>
            <a:pPr algn="just" eaLnBrk="1" hangingPunct="1">
              <a:spcAft>
                <a:spcPts val="600"/>
              </a:spcAft>
              <a:defRPr/>
            </a:pP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</a:rPr>
              <a:t>2)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</a:rPr>
              <a:t>反序剩余元素：数组规模缩小为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</a:rPr>
              <a:t>n-2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</a:rPr>
              <a:t>，按原算法反序，直至数组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</a:rPr>
              <a:t>x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</a:rPr>
              <a:t>规模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</a:rPr>
              <a:t>&lt;=1</a:t>
            </a:r>
            <a:endParaRPr lang="en-US" altLang="zh-CN" sz="2000" dirty="0">
              <a:solidFill>
                <a:schemeClr val="tx1">
                  <a:lumMod val="50000"/>
                </a:schemeClr>
              </a:solidFill>
              <a:latin typeface="+mn-lt"/>
              <a:ea typeface="+mn-ea"/>
            </a:endParaRPr>
          </a:p>
          <a:p>
            <a:pPr algn="just" eaLnBrk="1" hangingPunct="1">
              <a:spcAft>
                <a:spcPts val="600"/>
              </a:spcAft>
              <a:defRPr/>
            </a:pPr>
            <a:r>
              <a:rPr lang="en-US" altLang="zh-CN" sz="2800" dirty="0">
                <a:latin typeface="+mn-lt"/>
                <a:ea typeface="+mn-ea"/>
              </a:rPr>
              <a:t>void </a:t>
            </a:r>
            <a:r>
              <a:rPr lang="en-US" altLang="zh-CN" sz="2800" dirty="0">
                <a:solidFill>
                  <a:srgbClr val="FFFF00"/>
                </a:solidFill>
                <a:latin typeface="+mn-lt"/>
                <a:ea typeface="+mn-ea"/>
              </a:rPr>
              <a:t>convert(</a:t>
            </a:r>
            <a:r>
              <a:rPr lang="en-US" altLang="zh-CN" sz="2800" dirty="0">
                <a:latin typeface="+mn-lt"/>
                <a:ea typeface="+mn-ea"/>
              </a:rPr>
              <a:t>int x[ ], int n</a:t>
            </a:r>
            <a:r>
              <a:rPr lang="en-US" altLang="zh-CN" sz="2800" dirty="0">
                <a:solidFill>
                  <a:srgbClr val="FFFF00"/>
                </a:solidFill>
                <a:latin typeface="+mn-lt"/>
                <a:ea typeface="+mn-ea"/>
              </a:rPr>
              <a:t>)</a:t>
            </a:r>
            <a:r>
              <a:rPr lang="en-US" altLang="zh-CN" sz="2800" dirty="0">
                <a:latin typeface="+mn-lt"/>
                <a:ea typeface="+mn-ea"/>
              </a:rPr>
              <a:t>{ </a:t>
            </a:r>
            <a:endParaRPr lang="zh-CN" altLang="zh-CN" sz="2800" dirty="0">
              <a:latin typeface="+mn-lt"/>
              <a:ea typeface="+mn-ea"/>
            </a:endParaRPr>
          </a:p>
          <a:p>
            <a:pPr indent="133350" algn="just" eaLnBrk="1" hangingPunct="1">
              <a:spcAft>
                <a:spcPts val="600"/>
              </a:spcAft>
              <a:defRPr/>
            </a:pPr>
            <a:r>
              <a:rPr lang="en-US" altLang="zh-CN" sz="2800" dirty="0">
                <a:latin typeface="+mn-lt"/>
                <a:ea typeface="+mn-ea"/>
              </a:rPr>
              <a:t>   int </a:t>
            </a:r>
            <a:r>
              <a:rPr lang="en-US" altLang="zh-CN" sz="2800" dirty="0" err="1">
                <a:latin typeface="+mn-lt"/>
                <a:ea typeface="+mn-ea"/>
              </a:rPr>
              <a:t>tmp</a:t>
            </a:r>
            <a:r>
              <a:rPr lang="en-US" altLang="zh-CN" sz="2800" dirty="0">
                <a:latin typeface="+mn-lt"/>
                <a:ea typeface="+mn-ea"/>
              </a:rPr>
              <a:t>;</a:t>
            </a:r>
            <a:endParaRPr lang="zh-CN" altLang="zh-CN" sz="2800" dirty="0">
              <a:latin typeface="+mn-lt"/>
              <a:ea typeface="+mn-ea"/>
            </a:endParaRPr>
          </a:p>
          <a:p>
            <a:pPr indent="133350" algn="just" eaLnBrk="1" hangingPunct="1">
              <a:spcAft>
                <a:spcPts val="600"/>
              </a:spcAft>
              <a:defRPr/>
            </a:pPr>
            <a:r>
              <a:rPr lang="en-US" altLang="zh-CN" sz="2800" dirty="0">
                <a:solidFill>
                  <a:srgbClr val="FF0000"/>
                </a:solidFill>
                <a:latin typeface="+mn-lt"/>
                <a:ea typeface="+mn-ea"/>
              </a:rPr>
              <a:t> </a:t>
            </a:r>
            <a:r>
              <a:rPr lang="en-US" altLang="zh-CN" sz="2800" dirty="0">
                <a:solidFill>
                  <a:srgbClr val="F902FC"/>
                </a:solidFill>
                <a:latin typeface="+mn-lt"/>
                <a:ea typeface="+mn-ea"/>
              </a:rPr>
              <a:t>  if (n&lt;=1)  </a:t>
            </a:r>
            <a:r>
              <a:rPr lang="en-US" altLang="zh-CN" sz="2800" dirty="0">
                <a:solidFill>
                  <a:srgbClr val="FF0000"/>
                </a:solidFill>
                <a:latin typeface="+mn-lt"/>
                <a:ea typeface="+mn-ea"/>
              </a:rPr>
              <a:t>	</a:t>
            </a:r>
            <a:r>
              <a:rPr lang="en-US" altLang="zh-CN" sz="2000" dirty="0">
                <a:solidFill>
                  <a:srgbClr val="808080"/>
                </a:solidFill>
                <a:latin typeface="+mn-lt"/>
                <a:ea typeface="+mn-ea"/>
              </a:rPr>
              <a:t>//</a:t>
            </a:r>
            <a:r>
              <a:rPr lang="zh-CN" altLang="en-US" sz="2000" dirty="0">
                <a:solidFill>
                  <a:srgbClr val="808080"/>
                </a:solidFill>
                <a:latin typeface="+mn-lt"/>
                <a:ea typeface="+mn-ea"/>
              </a:rPr>
              <a:t>数组规模降为</a:t>
            </a:r>
            <a:r>
              <a:rPr lang="en-US" altLang="zh-CN" sz="2000" dirty="0">
                <a:solidFill>
                  <a:srgbClr val="808080"/>
                </a:solidFill>
                <a:latin typeface="+mn-lt"/>
                <a:ea typeface="+mn-ea"/>
              </a:rPr>
              <a:t>1</a:t>
            </a:r>
            <a:r>
              <a:rPr lang="zh-CN" altLang="en-US" sz="2000" dirty="0">
                <a:solidFill>
                  <a:srgbClr val="808080"/>
                </a:solidFill>
                <a:latin typeface="+mn-lt"/>
                <a:ea typeface="+mn-ea"/>
              </a:rPr>
              <a:t>时，</a:t>
            </a:r>
            <a:r>
              <a:rPr lang="zh-CN" altLang="en-US" sz="2000" dirty="0">
                <a:solidFill>
                  <a:srgbClr val="F902FC"/>
                </a:solidFill>
                <a:latin typeface="+mn-lt"/>
                <a:ea typeface="+mn-ea"/>
              </a:rPr>
              <a:t>退出递归函数</a:t>
            </a:r>
            <a:endParaRPr lang="zh-CN" altLang="zh-CN" sz="2000" dirty="0">
              <a:solidFill>
                <a:srgbClr val="F902FC"/>
              </a:solidFill>
              <a:latin typeface="+mn-lt"/>
              <a:ea typeface="+mn-ea"/>
            </a:endParaRPr>
          </a:p>
          <a:p>
            <a:pPr indent="266700" algn="just" eaLnBrk="1" hangingPunct="1">
              <a:spcAft>
                <a:spcPts val="600"/>
              </a:spcAft>
              <a:defRPr/>
            </a:pPr>
            <a:r>
              <a:rPr lang="en-US" altLang="zh-CN" sz="2800" dirty="0">
                <a:solidFill>
                  <a:srgbClr val="FF0000"/>
                </a:solidFill>
                <a:latin typeface="+mn-lt"/>
                <a:ea typeface="+mn-ea"/>
              </a:rPr>
              <a:t>    	</a:t>
            </a:r>
            <a:r>
              <a:rPr lang="en-US" altLang="zh-CN" sz="2800" dirty="0">
                <a:solidFill>
                  <a:srgbClr val="F902FC"/>
                </a:solidFill>
                <a:latin typeface="+mn-lt"/>
                <a:ea typeface="+mn-ea"/>
              </a:rPr>
              <a:t>return ;     </a:t>
            </a:r>
            <a:r>
              <a:rPr lang="en-US" altLang="zh-CN" sz="2800" dirty="0">
                <a:solidFill>
                  <a:srgbClr val="808080"/>
                </a:solidFill>
                <a:latin typeface="+mn-lt"/>
                <a:ea typeface="+mn-ea"/>
              </a:rPr>
              <a:t> </a:t>
            </a:r>
            <a:endParaRPr lang="zh-CN" altLang="zh-CN" sz="2800" dirty="0">
              <a:solidFill>
                <a:srgbClr val="FF0000"/>
              </a:solidFill>
              <a:latin typeface="+mn-lt"/>
              <a:ea typeface="+mn-ea"/>
            </a:endParaRPr>
          </a:p>
          <a:p>
            <a:pPr indent="133350" algn="just" eaLnBrk="1" hangingPunct="1">
              <a:spcAft>
                <a:spcPts val="600"/>
              </a:spcAft>
              <a:defRPr/>
            </a:pPr>
            <a:r>
              <a:rPr lang="en-US" altLang="zh-CN" sz="2000" dirty="0">
                <a:solidFill>
                  <a:srgbClr val="808080"/>
                </a:solidFill>
                <a:latin typeface="+mn-lt"/>
                <a:ea typeface="+mn-ea"/>
              </a:rPr>
              <a:t>    </a:t>
            </a:r>
            <a:endParaRPr lang="zh-CN" altLang="zh-CN" sz="2000" dirty="0">
              <a:solidFill>
                <a:srgbClr val="808080"/>
              </a:solidFill>
              <a:latin typeface="+mn-lt"/>
              <a:ea typeface="+mn-ea"/>
            </a:endParaRPr>
          </a:p>
          <a:p>
            <a:pPr indent="266700" algn="just" eaLnBrk="1" hangingPunct="1">
              <a:spcAft>
                <a:spcPts val="600"/>
              </a:spcAft>
              <a:defRPr/>
            </a:pPr>
            <a:r>
              <a:rPr lang="en-US" altLang="zh-CN" sz="2800" dirty="0">
                <a:latin typeface="+mn-lt"/>
                <a:ea typeface="+mn-ea"/>
              </a:rPr>
              <a:t>  </a:t>
            </a:r>
            <a:r>
              <a:rPr lang="en-US" altLang="zh-CN" sz="2800" dirty="0" err="1">
                <a:latin typeface="+mn-lt"/>
                <a:ea typeface="+mn-ea"/>
              </a:rPr>
              <a:t>tmp</a:t>
            </a:r>
            <a:r>
              <a:rPr lang="en-US" altLang="zh-CN" sz="2800" dirty="0">
                <a:latin typeface="+mn-lt"/>
                <a:ea typeface="+mn-ea"/>
              </a:rPr>
              <a:t>=*x;  *x=*(x+n-1); *(x+n-1)=</a:t>
            </a:r>
            <a:r>
              <a:rPr lang="en-US" altLang="zh-CN" sz="2800" dirty="0" err="1">
                <a:latin typeface="+mn-lt"/>
                <a:ea typeface="+mn-ea"/>
              </a:rPr>
              <a:t>tmp</a:t>
            </a:r>
            <a:r>
              <a:rPr lang="en-US" altLang="zh-CN" sz="2800" dirty="0">
                <a:latin typeface="+mn-lt"/>
                <a:ea typeface="+mn-ea"/>
              </a:rPr>
              <a:t>;</a:t>
            </a:r>
            <a:r>
              <a:rPr lang="en-US" altLang="zh-CN" sz="1800" dirty="0">
                <a:solidFill>
                  <a:srgbClr val="808080"/>
                </a:solidFill>
                <a:latin typeface="+mn-lt"/>
                <a:ea typeface="+mn-ea"/>
                <a:sym typeface="+mn-ea"/>
              </a:rPr>
              <a:t>//</a:t>
            </a:r>
            <a:r>
              <a:rPr lang="zh-CN" altLang="en-US" sz="1800" dirty="0">
                <a:solidFill>
                  <a:srgbClr val="808080"/>
                </a:solidFill>
                <a:latin typeface="+mn-lt"/>
                <a:ea typeface="+mn-ea"/>
                <a:sym typeface="+mn-ea"/>
              </a:rPr>
              <a:t>反序</a:t>
            </a:r>
            <a:r>
              <a:rPr lang="zh-CN" altLang="zh-CN" sz="1800" dirty="0">
                <a:solidFill>
                  <a:srgbClr val="808080"/>
                </a:solidFill>
                <a:latin typeface="+mn-lt"/>
                <a:ea typeface="+mn-ea"/>
                <a:sym typeface="+mn-ea"/>
              </a:rPr>
              <a:t>首元素</a:t>
            </a:r>
            <a:endParaRPr lang="en-US" altLang="zh-CN" sz="1800" dirty="0">
              <a:latin typeface="+mn-lt"/>
              <a:ea typeface="+mn-ea"/>
            </a:endParaRPr>
          </a:p>
          <a:p>
            <a:pPr indent="266700" algn="just" eaLnBrk="1" hangingPunct="1">
              <a:spcAft>
                <a:spcPts val="600"/>
              </a:spcAft>
              <a:defRPr/>
            </a:pPr>
            <a:r>
              <a:rPr lang="en-US" altLang="zh-CN" sz="2800" dirty="0">
                <a:latin typeface="+mn-lt"/>
                <a:ea typeface="+mn-ea"/>
              </a:rPr>
              <a:t>  </a:t>
            </a:r>
            <a:r>
              <a:rPr lang="en-US" altLang="zh-CN" sz="2800" dirty="0">
                <a:solidFill>
                  <a:srgbClr val="FFFF00"/>
                </a:solidFill>
                <a:latin typeface="+mn-lt"/>
                <a:ea typeface="+mn-ea"/>
              </a:rPr>
              <a:t>convert(</a:t>
            </a:r>
            <a:r>
              <a:rPr lang="en-US" altLang="zh-CN" sz="2800" dirty="0">
                <a:latin typeface="+mn-lt"/>
                <a:ea typeface="+mn-ea"/>
              </a:rPr>
              <a:t>x+1,n-2</a:t>
            </a:r>
            <a:r>
              <a:rPr lang="en-US" altLang="zh-CN" sz="2800" dirty="0">
                <a:solidFill>
                  <a:srgbClr val="FFFF00"/>
                </a:solidFill>
                <a:latin typeface="+mn-lt"/>
                <a:ea typeface="+mn-ea"/>
              </a:rPr>
              <a:t>)</a:t>
            </a:r>
            <a:r>
              <a:rPr lang="en-US" altLang="zh-CN" sz="2800" dirty="0">
                <a:latin typeface="+mn-lt"/>
                <a:ea typeface="+mn-ea"/>
              </a:rPr>
              <a:t>;  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</a:rPr>
              <a:t> 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</a:rPr>
              <a:t>//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</a:rPr>
              <a:t>反序剩余元素（数组规模缩小）</a:t>
            </a:r>
            <a:endParaRPr lang="zh-CN" altLang="zh-CN" sz="1800" dirty="0">
              <a:solidFill>
                <a:schemeClr val="tx1">
                  <a:lumMod val="50000"/>
                </a:schemeClr>
              </a:solidFill>
              <a:latin typeface="+mn-lt"/>
              <a:ea typeface="+mn-ea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zh-CN" sz="2800" dirty="0">
                <a:latin typeface="+mn-lt"/>
                <a:ea typeface="+mn-ea"/>
              </a:rPr>
              <a:t>}</a:t>
            </a:r>
            <a:endParaRPr lang="zh-CN" altLang="en-US" sz="2800" dirty="0">
              <a:latin typeface="+mn-lt"/>
              <a:ea typeface="+mn-ea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6572250" y="1357313"/>
            <a:ext cx="5472113" cy="5778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marL="342900" indent="-342900" algn="ctr" eaLnBrk="1" hangingPunct="1">
              <a:spcBef>
                <a:spcPct val="20000"/>
              </a:spcBef>
              <a:buClr>
                <a:schemeClr val="hlink"/>
              </a:buClr>
              <a:buSzPct val="80000"/>
              <a:defRPr/>
            </a:pPr>
            <a:r>
              <a:rPr lang="en-US" altLang="zh-CN" sz="3200" dirty="0">
                <a:solidFill>
                  <a:srgbClr val="F902F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21</a:t>
            </a:r>
            <a:r>
              <a:rPr lang="en-US" altLang="zh-CN" sz="32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3200" dirty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45</a:t>
            </a:r>
            <a:r>
              <a:rPr lang="en-US" altLang="zh-CN" sz="32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4 3 4 6 89 9 </a:t>
            </a:r>
            <a:r>
              <a:rPr lang="en-US" altLang="zh-CN" sz="3200" dirty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10</a:t>
            </a:r>
            <a:r>
              <a:rPr lang="en-US" altLang="zh-CN" sz="32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3200" dirty="0">
                <a:solidFill>
                  <a:srgbClr val="F902F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78</a:t>
            </a:r>
            <a:endParaRPr lang="en-US" altLang="zh-CN" sz="3200" dirty="0">
              <a:solidFill>
                <a:srgbClr val="F902FC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6" name="Rectangle 33"/>
          <p:cNvSpPr>
            <a:spLocks noChangeArrowheads="1"/>
          </p:cNvSpPr>
          <p:nvPr/>
        </p:nvSpPr>
        <p:spPr bwMode="auto">
          <a:xfrm>
            <a:off x="7362825" y="1071563"/>
            <a:ext cx="3817938" cy="1079500"/>
          </a:xfrm>
          <a:prstGeom prst="rect">
            <a:avLst/>
          </a:prstGeom>
          <a:noFill/>
          <a:ln w="38100">
            <a:solidFill>
              <a:srgbClr val="F902FC"/>
            </a:solidFill>
            <a:prstDash val="dash"/>
            <a:miter lim="800000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solidFill>
                <a:srgbClr val="F902F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ectangle 33"/>
          <p:cNvSpPr>
            <a:spLocks noChangeArrowheads="1"/>
          </p:cNvSpPr>
          <p:nvPr/>
        </p:nvSpPr>
        <p:spPr bwMode="auto">
          <a:xfrm>
            <a:off x="8083550" y="1214438"/>
            <a:ext cx="2520950" cy="793750"/>
          </a:xfrm>
          <a:prstGeom prst="rect">
            <a:avLst/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  <a:prstDash val="dash"/>
            <a:miter lim="800000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Rectangle 33"/>
          <p:cNvSpPr>
            <a:spLocks noChangeArrowheads="1"/>
          </p:cNvSpPr>
          <p:nvPr/>
        </p:nvSpPr>
        <p:spPr bwMode="auto">
          <a:xfrm>
            <a:off x="8443913" y="1366838"/>
            <a:ext cx="1727200" cy="495300"/>
          </a:xfrm>
          <a:prstGeom prst="rect">
            <a:avLst/>
          </a:prstGeom>
          <a:noFill/>
          <a:ln w="38100">
            <a:solidFill>
              <a:schemeClr val="tx1"/>
            </a:solidFill>
            <a:prstDash val="dash"/>
            <a:miter lim="800000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对话气泡: 圆角矩形 9"/>
          <p:cNvSpPr/>
          <p:nvPr/>
        </p:nvSpPr>
        <p:spPr bwMode="auto">
          <a:xfrm>
            <a:off x="152400" y="20638"/>
            <a:ext cx="3886200" cy="555625"/>
          </a:xfrm>
          <a:prstGeom prst="wedgeRoundRectCallout">
            <a:avLst>
              <a:gd name="adj1" fmla="val -17018"/>
              <a:gd name="adj2" fmla="val 48759"/>
              <a:gd name="adj3" fmla="val 16667"/>
            </a:avLst>
          </a:prstGeom>
          <a:solidFill>
            <a:srgbClr val="00B0F0"/>
          </a:solidFill>
          <a:ln>
            <a:noFill/>
          </a:ln>
          <a:effectLst/>
        </p:spPr>
        <p:txBody>
          <a:bodyPr anchor="ctr"/>
          <a:lstStyle/>
          <a:p>
            <a:pPr eaLnBrk="1" hangingPunct="1">
              <a:defRPr/>
            </a:pP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无返回值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的递归函数</a:t>
            </a:r>
            <a:endParaRPr lang="zh-CN" alt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对话气泡: 圆角矩形 1"/>
          <p:cNvSpPr>
            <a:spLocks noChangeArrowheads="1"/>
          </p:cNvSpPr>
          <p:nvPr/>
        </p:nvSpPr>
        <p:spPr bwMode="auto">
          <a:xfrm>
            <a:off x="7945438" y="3732213"/>
            <a:ext cx="3636962" cy="1079500"/>
          </a:xfrm>
          <a:prstGeom prst="wedgeRoundRectCallout">
            <a:avLst>
              <a:gd name="adj1" fmla="val -56676"/>
              <a:gd name="adj2" fmla="val 64593"/>
              <a:gd name="adj3" fmla="val 16667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>
                <a:latin typeface="Arial" panose="020B0604020202020204" pitchFamily="34" charset="0"/>
              </a:rPr>
              <a:t>交换当前规模数组中</a:t>
            </a:r>
            <a:endParaRPr lang="en-US" altLang="zh-CN" sz="2800">
              <a:latin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x[0]</a:t>
            </a:r>
            <a:r>
              <a:rPr lang="zh-CN" altLang="en-US" sz="2800">
                <a:latin typeface="Arial" panose="020B0604020202020204" pitchFamily="34" charset="0"/>
              </a:rPr>
              <a:t>和</a:t>
            </a:r>
            <a:r>
              <a:rPr lang="en-US" altLang="zh-CN" sz="2800">
                <a:latin typeface="Arial" panose="020B0604020202020204" pitchFamily="34" charset="0"/>
              </a:rPr>
              <a:t>x[n-1]</a:t>
            </a:r>
            <a:endParaRPr lang="zh-CN" altLang="en-US" sz="2800">
              <a:latin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685848" y="5637848"/>
            <a:ext cx="3465512" cy="1198880"/>
          </a:xfrm>
          <a:prstGeom prst="rect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【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递归函数实现的一般过程</a:t>
            </a: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】</a:t>
            </a:r>
            <a:endParaRPr lang="en-US" altLang="zh-CN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>
              <a:defRPr/>
            </a:pP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1.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递归出口</a:t>
            </a:r>
            <a:endParaRPr lang="zh-CN" alt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>
              <a:defRPr/>
            </a:pP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2.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当前层需要实现的逻辑</a:t>
            </a:r>
            <a:endParaRPr lang="zh-CN" alt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>
              <a:defRPr/>
            </a:pP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3.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递归下探</a:t>
            </a:r>
            <a:endParaRPr lang="zh-CN" alt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19200" y="3962400"/>
            <a:ext cx="1286510" cy="515620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ysDash"/>
          </a:ln>
        </p:spPr>
        <p:txBody>
          <a:bodyPr wrap="square" lIns="0" rIns="0">
            <a:noAutofit/>
          </a:bodyPr>
          <a:p>
            <a:pPr eaLnBrk="1" hangingPunct="1">
              <a:buNone/>
            </a:pPr>
            <a:endParaRPr lang="zh-CN" altLang="en-US" sz="3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5" grpId="0" bldLvl="0" animBg="1"/>
      <p:bldP spid="6" grpId="0" bldLvl="0" animBg="1"/>
      <p:bldP spid="8" grpId="0" bldLvl="0" animBg="1"/>
      <p:bldP spid="9" grpId="0" bldLvl="0" animBg="1"/>
      <p:bldP spid="2" grpId="0" bldLvl="0" animBg="1"/>
      <p:bldP spid="4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28600" y="152400"/>
            <a:ext cx="9060180" cy="6444615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800" dirty="0">
                <a:solidFill>
                  <a:srgbClr val="FFC000"/>
                </a:solidFill>
              </a:rPr>
              <a:t>参考程序</a:t>
            </a:r>
            <a:r>
              <a:rPr lang="en-US" altLang="zh-CN" sz="2800" dirty="0">
                <a:solidFill>
                  <a:srgbClr val="FFC000"/>
                </a:solidFill>
              </a:rPr>
              <a:t>2</a:t>
            </a:r>
            <a:r>
              <a:rPr lang="zh-CN" altLang="en-US" sz="2800" dirty="0">
                <a:solidFill>
                  <a:srgbClr val="FFC000"/>
                </a:solidFill>
              </a:rPr>
              <a:t>：</a:t>
            </a:r>
            <a:r>
              <a:rPr lang="en-US" altLang="zh-CN" sz="2800" dirty="0">
                <a:solidFill>
                  <a:schemeClr val="tx1">
                    <a:lumMod val="65000"/>
                  </a:schemeClr>
                </a:solidFill>
              </a:rPr>
              <a:t>【</a:t>
            </a:r>
            <a:r>
              <a:rPr lang="zh-CN" altLang="en-US" sz="2800" dirty="0">
                <a:solidFill>
                  <a:schemeClr val="tx1">
                    <a:lumMod val="65000"/>
                  </a:schemeClr>
                </a:solidFill>
              </a:rPr>
              <a:t>思路】</a:t>
            </a:r>
            <a:r>
              <a:rPr lang="zh-CN" altLang="en-US" sz="2000" dirty="0">
                <a:solidFill>
                  <a:schemeClr val="tx1">
                    <a:lumMod val="65000"/>
                  </a:schemeClr>
                </a:solidFill>
                <a:sym typeface="+mn-ea"/>
              </a:rPr>
              <a:t>反序num开始的未交换元素</a:t>
            </a:r>
            <a:endParaRPr lang="en-US" altLang="zh-CN" sz="20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chemeClr val="tx1">
                    <a:lumMod val="65000"/>
                  </a:schemeClr>
                </a:solidFill>
              </a:rPr>
              <a:t>1)</a:t>
            </a:r>
            <a:r>
              <a:rPr lang="zh-CN" altLang="en-US" sz="1800" dirty="0">
                <a:solidFill>
                  <a:schemeClr val="tx1">
                    <a:lumMod val="65000"/>
                  </a:schemeClr>
                </a:solidFill>
              </a:rPr>
              <a:t>先反序</a:t>
            </a:r>
            <a:r>
              <a:rPr lang="en-US" altLang="zh-CN" sz="1800" dirty="0">
                <a:solidFill>
                  <a:schemeClr val="tx1">
                    <a:lumMod val="65000"/>
                  </a:schemeClr>
                </a:solidFill>
              </a:rPr>
              <a:t>p</a:t>
            </a:r>
            <a:r>
              <a:rPr lang="en-US" altLang="zh-CN" sz="1800" dirty="0">
                <a:solidFill>
                  <a:schemeClr val="tx1">
                    <a:lumMod val="65000"/>
                  </a:schemeClr>
                </a:solidFill>
              </a:rPr>
              <a:t>[num]</a:t>
            </a:r>
            <a:endParaRPr lang="en-US" altLang="zh-CN" sz="1800" dirty="0">
              <a:solidFill>
                <a:schemeClr val="tx1">
                  <a:lumMod val="65000"/>
                </a:schemeClr>
              </a:solidFill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chemeClr val="tx1">
                    <a:lumMod val="65000"/>
                  </a:schemeClr>
                </a:solidFill>
              </a:rPr>
              <a:t>2)</a:t>
            </a:r>
            <a:r>
              <a:rPr lang="zh-CN" altLang="en-US" sz="1800" dirty="0">
                <a:solidFill>
                  <a:schemeClr val="tx1">
                    <a:lumMod val="65000"/>
                  </a:schemeClr>
                </a:solidFill>
              </a:rPr>
              <a:t>再反序剩余元素</a:t>
            </a:r>
            <a:endParaRPr lang="en-US" altLang="zh-CN" sz="1800" dirty="0">
              <a:solidFill>
                <a:schemeClr val="tx1">
                  <a:lumMod val="65000"/>
                </a:schemeClr>
              </a:solidFill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1800" dirty="0">
                <a:solidFill>
                  <a:schemeClr val="tx1">
                    <a:lumMod val="65000"/>
                  </a:schemeClr>
                </a:solidFill>
              </a:rPr>
              <a:t>出口：</a:t>
            </a:r>
            <a:r>
              <a:rPr lang="en-US" altLang="zh-CN" sz="1800" dirty="0">
                <a:solidFill>
                  <a:schemeClr val="tx1">
                    <a:lumMod val="65000"/>
                  </a:schemeClr>
                </a:solidFill>
              </a:rPr>
              <a:t>num</a:t>
            </a:r>
            <a:r>
              <a:rPr lang="zh-CN" altLang="en-US" sz="1800" dirty="0">
                <a:solidFill>
                  <a:schemeClr val="tx1">
                    <a:lumMod val="65000"/>
                  </a:schemeClr>
                </a:solidFill>
              </a:rPr>
              <a:t>到达中间位置</a:t>
            </a:r>
            <a:endParaRPr lang="en-US" altLang="zh-CN" sz="1800" dirty="0">
              <a:solidFill>
                <a:schemeClr val="tx1">
                  <a:lumMod val="65000"/>
                </a:schemeClr>
              </a:solidFill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void </a:t>
            </a:r>
            <a:r>
              <a:rPr lang="en-US" altLang="zh-CN" sz="2800" dirty="0">
                <a:solidFill>
                  <a:srgbClr val="FFFF00"/>
                </a:solidFill>
              </a:rPr>
              <a:t>convert</a:t>
            </a:r>
            <a:r>
              <a:rPr lang="en-US" altLang="zh-CN" sz="2800" dirty="0"/>
              <a:t>(int *p,</a:t>
            </a:r>
            <a:r>
              <a:rPr lang="en-US" altLang="zh-CN" sz="2800" dirty="0">
                <a:solidFill>
                  <a:srgbClr val="F902FC"/>
                </a:solidFill>
              </a:rPr>
              <a:t>int num</a:t>
            </a:r>
            <a:r>
              <a:rPr lang="en-US" altLang="zh-CN" sz="2800" dirty="0"/>
              <a:t>){</a:t>
            </a:r>
            <a:endParaRPr lang="en-US" altLang="zh-CN" sz="28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	if(num&gt;=N/2) 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</a:rPr>
              <a:t>//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</a:rPr>
              <a:t>递归出口</a:t>
            </a:r>
            <a:endParaRPr lang="zh-CN" altLang="en-US" sz="2800" dirty="0">
              <a:solidFill>
                <a:schemeClr val="tx1">
                  <a:lumMod val="50000"/>
                </a:schemeClr>
              </a:solidFill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		return ;</a:t>
            </a:r>
            <a:endParaRPr lang="en-US" altLang="zh-CN" sz="28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US" altLang="zh-CN" sz="28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	int tmp;</a:t>
            </a:r>
            <a:endParaRPr lang="en-US" altLang="zh-CN" sz="28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	tmp=*(p+num); 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</a:rPr>
              <a:t>//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</a:rPr>
              <a:t>反序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</a:rPr>
              <a:t>p[num]</a:t>
            </a:r>
            <a:endParaRPr lang="zh-CN" altLang="en-US" sz="1800" dirty="0">
              <a:solidFill>
                <a:schemeClr val="tx1">
                  <a:lumMod val="50000"/>
                </a:schemeClr>
              </a:solidFill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	*(p+num)= *(p+N-1-num);</a:t>
            </a:r>
            <a:endParaRPr lang="en-US" altLang="zh-CN" sz="28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	*(p+N-1-num)=tmp;</a:t>
            </a:r>
            <a:endParaRPr lang="en-US" altLang="zh-CN" sz="28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US" altLang="zh-CN" sz="28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	 </a:t>
            </a:r>
            <a:r>
              <a:rPr lang="en-US" altLang="zh-CN" sz="2800" dirty="0">
                <a:solidFill>
                  <a:srgbClr val="FFFF00"/>
                </a:solidFill>
              </a:rPr>
              <a:t>convert</a:t>
            </a:r>
            <a:r>
              <a:rPr lang="en-US" altLang="zh-CN" sz="2800" dirty="0"/>
              <a:t>(p,</a:t>
            </a:r>
            <a:r>
              <a:rPr lang="en-US" altLang="zh-CN" sz="2800" dirty="0">
                <a:solidFill>
                  <a:srgbClr val="F902FC"/>
                </a:solidFill>
              </a:rPr>
              <a:t>num+1</a:t>
            </a:r>
            <a:r>
              <a:rPr lang="en-US" altLang="zh-CN" sz="2800" dirty="0"/>
              <a:t>); 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</a:rPr>
              <a:t>//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</a:rPr>
              <a:t>反序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</a:rPr>
              <a:t>num+1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</a:rPr>
              <a:t>开始的剩余未交换元素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}</a:t>
            </a:r>
            <a:endParaRPr lang="en-US" altLang="zh-CN" sz="2800" dirty="0"/>
          </a:p>
        </p:txBody>
      </p:sp>
      <p:sp>
        <p:nvSpPr>
          <p:cNvPr id="69638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ED89E791-CC5D-4CBC-B6EA-52972D8CED87}" type="slidenum">
              <a:rPr lang="en-US" altLang="zh-CN" sz="1200" b="0">
                <a:solidFill>
                  <a:schemeClr val="tx2"/>
                </a:solidFill>
                <a:latin typeface="Arial" panose="020B0604020202020204" pitchFamily="34" charset="0"/>
              </a:rPr>
            </a:fld>
            <a:endParaRPr lang="en-US" altLang="zh-CN" sz="1200" b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6225540" y="2247900"/>
            <a:ext cx="5217160" cy="57594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marL="342900" indent="-342900" algn="ctr" eaLnBrk="1" hangingPunct="1">
              <a:spcBef>
                <a:spcPct val="20000"/>
              </a:spcBef>
              <a:buClr>
                <a:schemeClr val="hlink"/>
              </a:buClr>
              <a:buSzPct val="80000"/>
              <a:defRPr/>
            </a:pPr>
            <a:r>
              <a:rPr lang="en-US" altLang="zh-CN" sz="2800" dirty="0">
                <a:solidFill>
                  <a:srgbClr val="F902F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10</a:t>
            </a:r>
            <a:r>
              <a:rPr lang="en-US" altLang="zh-CN" sz="32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 </a:t>
            </a:r>
            <a:r>
              <a:rPr lang="en-US" altLang="zh-CN" sz="3200" dirty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en-US" altLang="zh-CN" sz="32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 2  3  4  5  6  7  </a:t>
            </a:r>
            <a:r>
              <a:rPr lang="en-US" altLang="zh-CN" sz="3200" dirty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8</a:t>
            </a:r>
            <a:r>
              <a:rPr lang="en-US" altLang="zh-CN" sz="32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 </a:t>
            </a:r>
            <a:r>
              <a:rPr lang="en-US" altLang="zh-CN" sz="3200" dirty="0">
                <a:solidFill>
                  <a:srgbClr val="F902F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9 </a:t>
            </a:r>
            <a:endParaRPr lang="en-US" altLang="zh-CN" sz="3200" dirty="0">
              <a:solidFill>
                <a:srgbClr val="F902FC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9" name="Rectangle 33"/>
          <p:cNvSpPr>
            <a:spLocks noChangeArrowheads="1"/>
          </p:cNvSpPr>
          <p:nvPr/>
        </p:nvSpPr>
        <p:spPr bwMode="auto">
          <a:xfrm>
            <a:off x="6297295" y="2187575"/>
            <a:ext cx="575945" cy="766445"/>
          </a:xfrm>
          <a:prstGeom prst="rect">
            <a:avLst/>
          </a:prstGeom>
          <a:noFill/>
          <a:ln w="38100">
            <a:solidFill>
              <a:srgbClr val="F902FC"/>
            </a:solidFill>
            <a:prstDash val="dash"/>
            <a:miter lim="800000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Rectangle 33"/>
          <p:cNvSpPr>
            <a:spLocks noChangeArrowheads="1"/>
          </p:cNvSpPr>
          <p:nvPr/>
        </p:nvSpPr>
        <p:spPr bwMode="auto">
          <a:xfrm>
            <a:off x="6873240" y="2187258"/>
            <a:ext cx="431800" cy="766762"/>
          </a:xfrm>
          <a:prstGeom prst="rect">
            <a:avLst/>
          </a:prstGeom>
          <a:noFill/>
          <a:ln w="38100">
            <a:solidFill>
              <a:srgbClr val="F902FC"/>
            </a:solidFill>
            <a:prstDash val="dash"/>
            <a:miter lim="800000"/>
          </a:ln>
          <a:effectLst/>
        </p:spPr>
        <p:txBody>
          <a:bodyPr wrap="none" anchor="ctr">
            <a:noAutofit/>
          </a:bodyPr>
          <a:lstStyle/>
          <a:p>
            <a:pPr lvl="0" algn="l" eaLnBrk="1" hangingPunct="1">
              <a:buClrTx/>
              <a:buSzTx/>
              <a:buFontTx/>
              <a:defRPr/>
            </a:pPr>
            <a:endParaRPr lang="zh-CN" altLang="en-US" sz="1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11" name="Rectangle 33"/>
          <p:cNvSpPr>
            <a:spLocks noChangeArrowheads="1"/>
          </p:cNvSpPr>
          <p:nvPr/>
        </p:nvSpPr>
        <p:spPr bwMode="auto">
          <a:xfrm>
            <a:off x="7305040" y="2188845"/>
            <a:ext cx="504825" cy="765175"/>
          </a:xfrm>
          <a:prstGeom prst="rect">
            <a:avLst/>
          </a:prstGeom>
          <a:noFill/>
          <a:ln w="38100">
            <a:solidFill>
              <a:srgbClr val="F902FC"/>
            </a:solidFill>
            <a:prstDash val="dash"/>
            <a:miter lim="800000"/>
          </a:ln>
          <a:effectLst/>
        </p:spPr>
        <p:txBody>
          <a:bodyPr wrap="none" anchor="ctr">
            <a:noAutofit/>
          </a:bodyPr>
          <a:lstStyle/>
          <a:p>
            <a:pPr lvl="0" algn="l" eaLnBrk="1" hangingPunct="1">
              <a:buClrTx/>
              <a:buSzTx/>
              <a:buFontTx/>
              <a:defRPr/>
            </a:pPr>
            <a:endParaRPr lang="zh-CN" altLang="en-US" sz="1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12" name="Rectangle 33"/>
          <p:cNvSpPr>
            <a:spLocks noChangeArrowheads="1"/>
          </p:cNvSpPr>
          <p:nvPr/>
        </p:nvSpPr>
        <p:spPr bwMode="auto">
          <a:xfrm>
            <a:off x="7809865" y="2174558"/>
            <a:ext cx="503238" cy="766762"/>
          </a:xfrm>
          <a:prstGeom prst="rect">
            <a:avLst/>
          </a:prstGeom>
          <a:noFill/>
          <a:ln w="38100">
            <a:solidFill>
              <a:srgbClr val="F902FC"/>
            </a:solidFill>
            <a:prstDash val="dash"/>
            <a:miter lim="800000"/>
          </a:ln>
          <a:effectLst/>
        </p:spPr>
        <p:txBody>
          <a:bodyPr wrap="none" anchor="ctr">
            <a:noAutofit/>
          </a:bodyPr>
          <a:lstStyle/>
          <a:p>
            <a:pPr lvl="0" algn="l" eaLnBrk="1" hangingPunct="1">
              <a:buClrTx/>
              <a:buSzTx/>
              <a:buFontTx/>
              <a:defRPr/>
            </a:pPr>
            <a:endParaRPr lang="zh-CN" altLang="en-US" sz="1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13" name="Rectangle 33"/>
          <p:cNvSpPr>
            <a:spLocks noChangeArrowheads="1"/>
          </p:cNvSpPr>
          <p:nvPr/>
        </p:nvSpPr>
        <p:spPr bwMode="auto">
          <a:xfrm>
            <a:off x="8313103" y="2174558"/>
            <a:ext cx="504825" cy="766762"/>
          </a:xfrm>
          <a:prstGeom prst="rect">
            <a:avLst/>
          </a:prstGeom>
          <a:noFill/>
          <a:ln w="38100">
            <a:solidFill>
              <a:srgbClr val="F902FC"/>
            </a:solidFill>
            <a:prstDash val="dash"/>
            <a:miter lim="800000"/>
          </a:ln>
          <a:effectLst/>
        </p:spPr>
        <p:txBody>
          <a:bodyPr wrap="none" anchor="ctr">
            <a:noAutofit/>
          </a:bodyPr>
          <a:lstStyle/>
          <a:p>
            <a:pPr lvl="0" algn="l" eaLnBrk="1" hangingPunct="1">
              <a:buClrTx/>
              <a:buSzTx/>
              <a:buFontTx/>
              <a:defRPr/>
            </a:pPr>
            <a:endParaRPr lang="zh-CN" altLang="en-US" sz="1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715375" y="-79375"/>
            <a:ext cx="3467100" cy="1198880"/>
          </a:xfrm>
          <a:prstGeom prst="rect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【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递归函数实现的一般过程</a:t>
            </a: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】</a:t>
            </a:r>
            <a:endParaRPr lang="en-US" altLang="zh-CN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>
              <a:defRPr/>
            </a:pP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1.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递归出口</a:t>
            </a:r>
            <a:endParaRPr lang="zh-CN" alt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>
              <a:defRPr/>
            </a:pP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2.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当前层需要实现的逻辑</a:t>
            </a:r>
            <a:endParaRPr lang="zh-CN" alt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>
              <a:defRPr/>
            </a:pP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3.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递归下探</a:t>
            </a:r>
            <a:endParaRPr lang="zh-CN" alt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664200" y="4188460"/>
            <a:ext cx="6518275" cy="2676525"/>
          </a:xfrm>
          <a:prstGeom prst="rect">
            <a:avLst/>
          </a:prstGeom>
          <a:solidFill>
            <a:schemeClr val="accent1"/>
          </a:solidFill>
        </p:spPr>
        <p:txBody>
          <a:bodyPr wrap="square" rtlCol="0" anchor="t">
            <a:spAutoFit/>
          </a:bodyPr>
          <a:p>
            <a:r>
              <a:rPr lang="en-US" altLang="zh-CN" sz="2400"/>
              <a:t>int main (){</a:t>
            </a:r>
            <a:endParaRPr lang="en-US" altLang="zh-CN" sz="2400"/>
          </a:p>
          <a:p>
            <a:r>
              <a:rPr lang="en-US" altLang="zh-CN" sz="2400"/>
              <a:t>    int i,data[N]={10,1,2,3,4,5,6,7,8,9};</a:t>
            </a:r>
            <a:endParaRPr lang="en-US" altLang="zh-CN" sz="2400"/>
          </a:p>
          <a:p>
            <a:r>
              <a:rPr lang="en-US" altLang="zh-CN" sz="2400"/>
              <a:t>   </a:t>
            </a:r>
            <a:r>
              <a:rPr lang="en-US" altLang="zh-CN" sz="2400">
                <a:solidFill>
                  <a:srgbClr val="FFFF00"/>
                </a:solidFill>
              </a:rPr>
              <a:t> convert(data,</a:t>
            </a:r>
            <a:r>
              <a:rPr lang="en-US" altLang="zh-CN" sz="2400">
                <a:solidFill>
                  <a:srgbClr val="F902FC"/>
                </a:solidFill>
              </a:rPr>
              <a:t>0</a:t>
            </a:r>
            <a:r>
              <a:rPr lang="en-US" altLang="zh-CN" sz="2400">
                <a:solidFill>
                  <a:srgbClr val="FFFF00"/>
                </a:solidFill>
              </a:rPr>
              <a:t>);</a:t>
            </a:r>
            <a:endParaRPr lang="en-US" altLang="zh-CN" sz="2400">
              <a:solidFill>
                <a:srgbClr val="FFFF00"/>
              </a:solidFill>
            </a:endParaRPr>
          </a:p>
          <a:p>
            <a:r>
              <a:rPr lang="en-US" altLang="zh-CN" sz="2400"/>
              <a:t>    for(i=0;i&lt;N;i++)</a:t>
            </a:r>
            <a:endParaRPr lang="en-US" altLang="zh-CN" sz="2400"/>
          </a:p>
          <a:p>
            <a:r>
              <a:rPr lang="en-US" altLang="zh-CN" sz="2400"/>
              <a:t>        printf("%d ",data[i]);</a:t>
            </a:r>
            <a:endParaRPr lang="en-US" altLang="zh-CN" sz="2400"/>
          </a:p>
          <a:p>
            <a:r>
              <a:rPr lang="en-US" altLang="zh-CN" sz="2400"/>
              <a:t>    return 0;</a:t>
            </a:r>
            <a:endParaRPr lang="en-US" altLang="zh-CN" sz="2400"/>
          </a:p>
          <a:p>
            <a:r>
              <a:rPr lang="en-US" altLang="zh-CN" sz="2400"/>
              <a:t>}</a:t>
            </a: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10" grpId="0" bldLvl="0" animBg="1"/>
      <p:bldP spid="11" grpId="0" bldLvl="0" animBg="1"/>
      <p:bldP spid="12" grpId="0" bldLvl="0" animBg="1"/>
      <p:bldP spid="13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9F6F3369-F600-4EB1-B8FB-436033D244AC}" type="slidenum">
              <a:rPr lang="en-US" altLang="zh-CN" sz="1200" b="0"/>
            </a:fld>
            <a:endParaRPr lang="en-US" altLang="zh-CN" sz="1200" b="0"/>
          </a:p>
        </p:txBody>
      </p:sp>
      <p:graphicFrame>
        <p:nvGraphicFramePr>
          <p:cNvPr id="536593" name="Group 17"/>
          <p:cNvGraphicFramePr>
            <a:graphicFrameLocks noGrp="1"/>
          </p:cNvGraphicFramePr>
          <p:nvPr>
            <p:ph idx="1"/>
          </p:nvPr>
        </p:nvGraphicFramePr>
        <p:xfrm>
          <a:off x="833438" y="2095500"/>
          <a:ext cx="8229600" cy="579438"/>
        </p:xfrm>
        <a:graphic>
          <a:graphicData uri="http://schemas.openxmlformats.org/drawingml/2006/table">
            <a:tbl>
              <a:tblPr/>
              <a:tblGrid>
                <a:gridCol w="1646238"/>
                <a:gridCol w="1646237"/>
                <a:gridCol w="1644650"/>
                <a:gridCol w="1646238"/>
                <a:gridCol w="1646237"/>
              </a:tblGrid>
              <a:tr h="5794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34</a:t>
                      </a:r>
                      <a:endParaRPr kumimoji="0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45" marB="4574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22</a:t>
                      </a:r>
                      <a:endParaRPr kumimoji="0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45" marB="457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45" marB="457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45" marB="457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45" marB="457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5" name="Group 35"/>
          <p:cNvGrpSpPr/>
          <p:nvPr/>
        </p:nvGrpSpPr>
        <p:grpSpPr bwMode="auto">
          <a:xfrm>
            <a:off x="8250238" y="1233488"/>
            <a:ext cx="1331912" cy="863600"/>
            <a:chOff x="4921" y="709"/>
            <a:chExt cx="839" cy="544"/>
          </a:xfrm>
        </p:grpSpPr>
        <p:sp>
          <p:nvSpPr>
            <p:cNvPr id="536596" name="Line 20"/>
            <p:cNvSpPr>
              <a:spLocks noChangeShapeType="1"/>
            </p:cNvSpPr>
            <p:nvPr/>
          </p:nvSpPr>
          <p:spPr bwMode="auto">
            <a:xfrm>
              <a:off x="4921" y="709"/>
              <a:ext cx="0" cy="544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8399" name="Text Box 21"/>
            <p:cNvSpPr txBox="1">
              <a:spLocks noChangeArrowheads="1"/>
            </p:cNvSpPr>
            <p:nvPr/>
          </p:nvSpPr>
          <p:spPr bwMode="auto">
            <a:xfrm>
              <a:off x="4967" y="754"/>
              <a:ext cx="79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chemeClr val="hlink"/>
                  </a:solidFill>
                  <a:latin typeface="Arial" panose="020B0604020202020204" pitchFamily="34" charset="0"/>
                </a:rPr>
                <a:t>a[n-1]</a:t>
              </a:r>
              <a:endParaRPr lang="en-US" altLang="zh-CN" sz="2400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536600" name="Line 24"/>
          <p:cNvSpPr>
            <a:spLocks noChangeShapeType="1"/>
          </p:cNvSpPr>
          <p:nvPr/>
        </p:nvSpPr>
        <p:spPr bwMode="auto">
          <a:xfrm>
            <a:off x="6594475" y="1233488"/>
            <a:ext cx="0" cy="86360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tailEnd type="triangl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36603" name="Line 27"/>
          <p:cNvSpPr>
            <a:spLocks noChangeShapeType="1"/>
          </p:cNvSpPr>
          <p:nvPr/>
        </p:nvSpPr>
        <p:spPr bwMode="auto">
          <a:xfrm>
            <a:off x="4938713" y="1231900"/>
            <a:ext cx="0" cy="86360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tailEnd type="triangl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36609" name="Rectangle 33"/>
          <p:cNvSpPr>
            <a:spLocks noChangeArrowheads="1"/>
          </p:cNvSpPr>
          <p:nvPr/>
        </p:nvSpPr>
        <p:spPr bwMode="auto">
          <a:xfrm>
            <a:off x="762000" y="1736725"/>
            <a:ext cx="6696075" cy="1223963"/>
          </a:xfrm>
          <a:prstGeom prst="rect">
            <a:avLst/>
          </a:prstGeom>
          <a:noFill/>
          <a:ln w="38100">
            <a:solidFill>
              <a:srgbClr val="F902FC"/>
            </a:solidFill>
            <a:prstDash val="dash"/>
            <a:miter lim="800000"/>
          </a:ln>
          <a:effectLst/>
        </p:spPr>
        <p:txBody>
          <a:bodyPr wrap="none" anchor="ctr">
            <a:noAutofit/>
          </a:bodyPr>
          <a:lstStyle/>
          <a:p>
            <a:pPr lvl="0" algn="l" eaLnBrk="1" hangingPunct="1">
              <a:buClrTx/>
              <a:buSzTx/>
              <a:buFontTx/>
              <a:defRPr/>
            </a:pPr>
            <a:endParaRPr lang="zh-CN" altLang="en-US" sz="1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58389" name="Text Box 34"/>
          <p:cNvSpPr txBox="1">
            <a:spLocks noChangeArrowheads="1"/>
          </p:cNvSpPr>
          <p:nvPr/>
        </p:nvSpPr>
        <p:spPr bwMode="auto">
          <a:xfrm>
            <a:off x="833438" y="1665288"/>
            <a:ext cx="12588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hlink"/>
                </a:solidFill>
                <a:latin typeface="Arial" panose="020B0604020202020204" pitchFamily="34" charset="0"/>
              </a:rPr>
              <a:t>a[0]</a:t>
            </a:r>
            <a:endParaRPr lang="en-US" altLang="zh-CN" sz="240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  <p:sp>
        <p:nvSpPr>
          <p:cNvPr id="536612" name="Rectangle 36"/>
          <p:cNvSpPr>
            <a:spLocks noChangeArrowheads="1"/>
          </p:cNvSpPr>
          <p:nvPr/>
        </p:nvSpPr>
        <p:spPr bwMode="auto">
          <a:xfrm>
            <a:off x="762000" y="1736725"/>
            <a:ext cx="5040313" cy="1223963"/>
          </a:xfrm>
          <a:prstGeom prst="rect">
            <a:avLst/>
          </a:prstGeom>
          <a:noFill/>
          <a:ln w="38100">
            <a:solidFill>
              <a:srgbClr val="F902FC"/>
            </a:solidFill>
            <a:prstDash val="dash"/>
            <a:miter lim="800000"/>
          </a:ln>
          <a:effectLst/>
        </p:spPr>
        <p:txBody>
          <a:bodyPr wrap="none" anchor="ctr">
            <a:noAutofit/>
          </a:bodyPr>
          <a:lstStyle/>
          <a:p>
            <a:pPr lvl="0" algn="l" eaLnBrk="1" hangingPunct="1">
              <a:buClrTx/>
              <a:buSzTx/>
              <a:buFontTx/>
              <a:defRPr/>
            </a:pPr>
            <a:endParaRPr lang="zh-CN" altLang="en-US" sz="1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536613" name="Rectangle 37"/>
          <p:cNvSpPr>
            <a:spLocks noChangeArrowheads="1"/>
          </p:cNvSpPr>
          <p:nvPr/>
        </p:nvSpPr>
        <p:spPr bwMode="auto">
          <a:xfrm>
            <a:off x="762000" y="1736725"/>
            <a:ext cx="3384550" cy="1223963"/>
          </a:xfrm>
          <a:prstGeom prst="rect">
            <a:avLst/>
          </a:prstGeom>
          <a:noFill/>
          <a:ln w="38100">
            <a:solidFill>
              <a:srgbClr val="F902FC"/>
            </a:solidFill>
            <a:prstDash val="dash"/>
            <a:miter lim="800000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36615" name="Rectangle 39"/>
          <p:cNvSpPr>
            <a:spLocks noChangeArrowheads="1"/>
          </p:cNvSpPr>
          <p:nvPr/>
        </p:nvSpPr>
        <p:spPr bwMode="auto">
          <a:xfrm>
            <a:off x="547688" y="4070350"/>
            <a:ext cx="8748712" cy="22463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int </a:t>
            </a:r>
            <a:r>
              <a:rPr lang="en-US" altLang="zh-CN" sz="2800" dirty="0" err="1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ArrMax</a:t>
            </a:r>
            <a:r>
              <a:rPr lang="en-US" altLang="zh-CN" sz="2800" dirty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(</a:t>
            </a:r>
            <a:r>
              <a:rPr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int a[ ] , int n</a:t>
            </a:r>
            <a:r>
              <a:rPr lang="en-US" altLang="zh-CN" sz="2800" dirty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)</a:t>
            </a:r>
            <a:endParaRPr lang="en-US" altLang="zh-CN" sz="2800" dirty="0"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zh-CN" sz="2800" dirty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{</a:t>
            </a:r>
            <a:r>
              <a:rPr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	</a:t>
            </a:r>
            <a:endParaRPr lang="en-US" altLang="zh-CN" sz="2800" dirty="0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	if(n==2)  return </a:t>
            </a:r>
            <a:r>
              <a:rPr lang="en-US" altLang="zh-CN" sz="2800" dirty="0">
                <a:solidFill>
                  <a:srgbClr val="F902F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max(</a:t>
            </a:r>
            <a:r>
              <a:rPr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a[0],a[1]</a:t>
            </a:r>
            <a:r>
              <a:rPr lang="en-US" altLang="zh-CN" sz="2800" dirty="0">
                <a:solidFill>
                  <a:srgbClr val="F902F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)</a:t>
            </a:r>
            <a:r>
              <a:rPr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;</a:t>
            </a:r>
            <a:endParaRPr lang="en-US" altLang="zh-CN" sz="2800" dirty="0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	return </a:t>
            </a:r>
            <a:r>
              <a:rPr lang="en-US" altLang="zh-CN" sz="2800" dirty="0">
                <a:solidFill>
                  <a:srgbClr val="F902F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max(</a:t>
            </a:r>
            <a:r>
              <a:rPr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a[n-1],           </a:t>
            </a:r>
            <a:r>
              <a:rPr lang="en-US" altLang="zh-CN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?</a:t>
            </a:r>
            <a:r>
              <a:rPr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                  </a:t>
            </a:r>
            <a:r>
              <a:rPr lang="en-US" altLang="zh-CN" sz="2800" dirty="0">
                <a:solidFill>
                  <a:srgbClr val="F902F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)</a:t>
            </a:r>
            <a:r>
              <a:rPr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;</a:t>
            </a:r>
            <a:endParaRPr lang="en-US" altLang="zh-CN" sz="2800" dirty="0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zh-CN" sz="2800" dirty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}</a:t>
            </a:r>
            <a:endParaRPr lang="en-US" altLang="zh-CN" sz="2800" dirty="0"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922838" y="5422900"/>
            <a:ext cx="2641600" cy="457200"/>
          </a:xfrm>
          <a:prstGeom prst="rect">
            <a:avLst/>
          </a:prstGeom>
          <a:solidFill>
            <a:schemeClr val="accent1"/>
          </a:solidFill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altLang="zh-CN" sz="2400" dirty="0" err="1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ArrMax</a:t>
            </a:r>
            <a:r>
              <a:rPr lang="en-US" altLang="zh-CN" sz="2400" dirty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(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a,n-1</a:t>
            </a:r>
            <a:r>
              <a:rPr lang="en-US" altLang="zh-CN" sz="2400" dirty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)</a:t>
            </a:r>
            <a:endParaRPr lang="zh-CN" altLang="en-US" sz="2400" dirty="0"/>
          </a:p>
        </p:txBody>
      </p:sp>
      <p:sp>
        <p:nvSpPr>
          <p:cNvPr id="536608" name="Rectangle 32"/>
          <p:cNvSpPr>
            <a:spLocks noChangeArrowheads="1"/>
          </p:cNvSpPr>
          <p:nvPr/>
        </p:nvSpPr>
        <p:spPr bwMode="auto">
          <a:xfrm>
            <a:off x="4803775" y="3605213"/>
            <a:ext cx="7205663" cy="954087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>
                <a:latin typeface="Arial" panose="020B0604020202020204" pitchFamily="34" charset="0"/>
              </a:rPr>
              <a:t>函数调用</a:t>
            </a:r>
            <a:r>
              <a:rPr lang="en-US" altLang="zh-CN" sz="2800">
                <a:latin typeface="Arial" panose="020B0604020202020204" pitchFamily="34" charset="0"/>
              </a:rPr>
              <a:t>(</a:t>
            </a:r>
            <a:r>
              <a:rPr lang="zh-CN" altLang="en-US" sz="1600">
                <a:latin typeface="Arial" panose="020B0604020202020204" pitchFamily="34" charset="0"/>
              </a:rPr>
              <a:t>求</a:t>
            </a:r>
            <a:r>
              <a:rPr lang="en-US" altLang="zh-CN" sz="1600">
                <a:latin typeface="Arial" panose="020B0604020202020204" pitchFamily="34" charset="0"/>
              </a:rPr>
              <a:t>n</a:t>
            </a:r>
            <a:r>
              <a:rPr lang="zh-CN" altLang="en-US" sz="1600">
                <a:latin typeface="Arial" panose="020B0604020202020204" pitchFamily="34" charset="0"/>
              </a:rPr>
              <a:t>个元素数组</a:t>
            </a:r>
            <a:r>
              <a:rPr lang="en-US" altLang="zh-CN" sz="1600">
                <a:latin typeface="Arial" panose="020B0604020202020204" pitchFamily="34" charset="0"/>
              </a:rPr>
              <a:t>a</a:t>
            </a:r>
            <a:r>
              <a:rPr lang="zh-CN" altLang="en-US" sz="1600">
                <a:latin typeface="Arial" panose="020B0604020202020204" pitchFamily="34" charset="0"/>
              </a:rPr>
              <a:t>的最大数</a:t>
            </a:r>
            <a:r>
              <a:rPr lang="en-US" altLang="zh-CN" sz="2800">
                <a:latin typeface="Arial" panose="020B0604020202020204" pitchFamily="34" charset="0"/>
              </a:rPr>
              <a:t>): </a:t>
            </a:r>
            <a:r>
              <a:rPr lang="en-US" altLang="zh-CN" sz="2800">
                <a:solidFill>
                  <a:schemeClr val="hlink"/>
                </a:solidFill>
                <a:latin typeface="Arial" panose="020B0604020202020204" pitchFamily="34" charset="0"/>
              </a:rPr>
              <a:t>ArrMax(</a:t>
            </a:r>
            <a:r>
              <a:rPr lang="en-US" altLang="zh-CN" sz="2800">
                <a:latin typeface="Arial" panose="020B0604020202020204" pitchFamily="34" charset="0"/>
              </a:rPr>
              <a:t>a,n</a:t>
            </a:r>
            <a:r>
              <a:rPr lang="en-US" altLang="zh-CN" sz="2800">
                <a:solidFill>
                  <a:schemeClr val="hlink"/>
                </a:solidFill>
                <a:latin typeface="Arial" panose="020B0604020202020204" pitchFamily="34" charset="0"/>
              </a:rPr>
              <a:t>)</a:t>
            </a:r>
            <a:endParaRPr lang="en-US" altLang="zh-CN" sz="2800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>
                <a:latin typeface="Arial" panose="020B0604020202020204" pitchFamily="34" charset="0"/>
              </a:rPr>
              <a:t>函数调用</a:t>
            </a:r>
            <a:r>
              <a:rPr lang="en-US" altLang="zh-CN" sz="2800">
                <a:latin typeface="Arial" panose="020B0604020202020204" pitchFamily="34" charset="0"/>
              </a:rPr>
              <a:t>(</a:t>
            </a:r>
            <a:r>
              <a:rPr lang="zh-CN" altLang="en-US" sz="1600">
                <a:latin typeface="Arial" panose="020B0604020202020204" pitchFamily="34" charset="0"/>
              </a:rPr>
              <a:t>求</a:t>
            </a:r>
            <a:r>
              <a:rPr lang="en-US" altLang="zh-CN" sz="1600">
                <a:latin typeface="Arial" panose="020B0604020202020204" pitchFamily="34" charset="0"/>
              </a:rPr>
              <a:t>n-1</a:t>
            </a:r>
            <a:r>
              <a:rPr lang="zh-CN" altLang="en-US" sz="1600">
                <a:latin typeface="Arial" panose="020B0604020202020204" pitchFamily="34" charset="0"/>
              </a:rPr>
              <a:t>个元素构成的数组</a:t>
            </a:r>
            <a:r>
              <a:rPr lang="en-US" altLang="zh-CN" sz="1600">
                <a:latin typeface="Arial" panose="020B0604020202020204" pitchFamily="34" charset="0"/>
              </a:rPr>
              <a:t>a</a:t>
            </a:r>
            <a:r>
              <a:rPr lang="zh-CN" altLang="en-US" sz="1600">
                <a:latin typeface="Arial" panose="020B0604020202020204" pitchFamily="34" charset="0"/>
              </a:rPr>
              <a:t>最大数</a:t>
            </a:r>
            <a:r>
              <a:rPr lang="en-US" altLang="zh-CN" sz="2800">
                <a:latin typeface="Arial" panose="020B0604020202020204" pitchFamily="34" charset="0"/>
              </a:rPr>
              <a:t>): 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</a:rPr>
              <a:t>?</a:t>
            </a:r>
            <a:endParaRPr lang="en-US" altLang="zh-CN" sz="28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15800" cy="8921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838200" indent="-838200" eaLnBrk="1" hangingPunct="1">
              <a:defRPr/>
            </a:pPr>
            <a:r>
              <a:rPr lang="en-US" altLang="zh-CN" sz="2800" kern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/>
                <a:ea typeface="宋体" panose="02010600030101010101" pitchFamily="2" charset="-122"/>
                <a:cs typeface="+mj-cs"/>
              </a:rPr>
              <a:t>【</a:t>
            </a:r>
            <a:r>
              <a:rPr lang="zh-CN" altLang="en-US" sz="2800" kern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/>
                <a:ea typeface="宋体" panose="02010600030101010101" pitchFamily="2" charset="-122"/>
                <a:cs typeface="+mj-cs"/>
              </a:rPr>
              <a:t>习题</a:t>
            </a:r>
            <a:r>
              <a:rPr lang="en-US" altLang="zh-CN" sz="2800" kern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/>
                <a:ea typeface="宋体" panose="02010600030101010101" pitchFamily="2" charset="-122"/>
                <a:cs typeface="+mj-cs"/>
              </a:rPr>
              <a:t>10.5】</a:t>
            </a:r>
            <a:r>
              <a:rPr lang="en-US" altLang="zh-CN" sz="2800" kern="0" dirty="0">
                <a:solidFill>
                  <a:srgbClr val="F902F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/>
                <a:ea typeface="宋体" panose="02010600030101010101" pitchFamily="2" charset="-122"/>
                <a:cs typeface="+mj-cs"/>
              </a:rPr>
              <a:t>P271</a:t>
            </a:r>
            <a:r>
              <a:rPr lang="en-US" altLang="zh-CN" sz="2800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/>
                <a:ea typeface="宋体" panose="02010600030101010101" pitchFamily="2" charset="-122"/>
                <a:cs typeface="+mj-cs"/>
              </a:rPr>
              <a:t> </a:t>
            </a:r>
            <a:r>
              <a:rPr lang="zh-CN" altLang="en-US" sz="2800" kern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/>
                <a:ea typeface="宋体" panose="02010600030101010101" pitchFamily="2" charset="-122"/>
                <a:cs typeface="+mj-cs"/>
              </a:rPr>
              <a:t>递归求</a:t>
            </a:r>
            <a:r>
              <a:rPr lang="en-US" altLang="zh-CN" sz="2800" kern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/>
                <a:ea typeface="宋体" panose="02010600030101010101" pitchFamily="2" charset="-122"/>
                <a:cs typeface="+mj-cs"/>
              </a:rPr>
              <a:t>n</a:t>
            </a:r>
            <a:r>
              <a:rPr lang="zh-CN" altLang="en-US" sz="2800" kern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/>
                <a:ea typeface="宋体" panose="02010600030101010101" pitchFamily="2" charset="-122"/>
                <a:cs typeface="+mj-cs"/>
              </a:rPr>
              <a:t>个元素数组</a:t>
            </a:r>
            <a:r>
              <a:rPr lang="en-US" altLang="zh-CN" sz="2800" kern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/>
                <a:ea typeface="宋体" panose="02010600030101010101" pitchFamily="2" charset="-122"/>
                <a:cs typeface="+mj-cs"/>
              </a:rPr>
              <a:t>a</a:t>
            </a:r>
            <a:r>
              <a:rPr lang="zh-CN" altLang="en-US" sz="2800" kern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/>
                <a:ea typeface="宋体" panose="02010600030101010101" pitchFamily="2" charset="-122"/>
                <a:cs typeface="+mj-cs"/>
              </a:rPr>
              <a:t>的最大值。</a:t>
            </a:r>
            <a:endParaRPr lang="en-US" altLang="zh-CN" sz="2800" kern="0" dirty="0"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/>
              <a:ea typeface="宋体" panose="02010600030101010101" pitchFamily="2" charset="-122"/>
              <a:cs typeface="+mj-cs"/>
            </a:endParaRPr>
          </a:p>
          <a:p>
            <a:pPr marL="838200" indent="-838200" eaLnBrk="1" hangingPunct="1">
              <a:defRPr/>
            </a:pPr>
            <a:r>
              <a:rPr lang="en-US" altLang="zh-CN" sz="2400" kern="0" dirty="0">
                <a:solidFill>
                  <a:schemeClr val="tx1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/>
                <a:ea typeface="宋体" panose="02010600030101010101" pitchFamily="2" charset="-122"/>
                <a:cs typeface="+mj-cs"/>
              </a:rPr>
              <a:t>【</a:t>
            </a:r>
            <a:r>
              <a:rPr lang="zh-CN" altLang="en-US" sz="2400" kern="0" dirty="0">
                <a:solidFill>
                  <a:schemeClr val="tx1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/>
                <a:ea typeface="宋体" panose="02010600030101010101" pitchFamily="2" charset="-122"/>
                <a:cs typeface="+mj-cs"/>
              </a:rPr>
              <a:t>思路</a:t>
            </a:r>
            <a:r>
              <a:rPr lang="en-US" altLang="zh-CN" sz="2400" kern="0" dirty="0">
                <a:solidFill>
                  <a:schemeClr val="tx1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/>
                <a:ea typeface="宋体" panose="02010600030101010101" pitchFamily="2" charset="-122"/>
                <a:cs typeface="+mj-cs"/>
              </a:rPr>
              <a:t>】</a:t>
            </a:r>
            <a:r>
              <a:rPr lang="zh-CN" altLang="en-US" sz="2000" kern="0" dirty="0">
                <a:solidFill>
                  <a:schemeClr val="tx1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/>
                <a:ea typeface="宋体" panose="02010600030101010101" pitchFamily="2" charset="-122"/>
                <a:cs typeface="+mj-cs"/>
              </a:rPr>
              <a:t>找数组</a:t>
            </a:r>
            <a:r>
              <a:rPr lang="en-US" altLang="zh-CN" sz="2000" kern="0" dirty="0">
                <a:solidFill>
                  <a:schemeClr val="tx1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/>
                <a:ea typeface="宋体" panose="02010600030101010101" pitchFamily="2" charset="-122"/>
                <a:cs typeface="+mj-cs"/>
              </a:rPr>
              <a:t>a</a:t>
            </a:r>
            <a:r>
              <a:rPr lang="zh-CN" altLang="en-US" sz="2000" kern="0" dirty="0">
                <a:solidFill>
                  <a:schemeClr val="tx1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/>
                <a:ea typeface="宋体" panose="02010600030101010101" pitchFamily="2" charset="-122"/>
                <a:cs typeface="+mj-cs"/>
              </a:rPr>
              <a:t>的最大数，就是在 </a:t>
            </a:r>
            <a:r>
              <a:rPr lang="en-US" altLang="zh-CN" sz="2000" kern="0" dirty="0">
                <a:solidFill>
                  <a:srgbClr val="F902F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/>
                <a:ea typeface="宋体" panose="02010600030101010101" pitchFamily="2" charset="-122"/>
                <a:cs typeface="+mj-cs"/>
              </a:rPr>
              <a:t>a[n-1]</a:t>
            </a:r>
            <a:r>
              <a:rPr lang="en-US" altLang="zh-CN" sz="2000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/>
                <a:ea typeface="宋体" panose="02010600030101010101" pitchFamily="2" charset="-122"/>
                <a:cs typeface="+mj-cs"/>
              </a:rPr>
              <a:t> </a:t>
            </a:r>
            <a:r>
              <a:rPr lang="zh-CN" altLang="en-US" sz="2000" kern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/>
                <a:ea typeface="宋体" panose="02010600030101010101" pitchFamily="2" charset="-122"/>
                <a:cs typeface="+mj-cs"/>
              </a:rPr>
              <a:t>和 </a:t>
            </a:r>
            <a:r>
              <a:rPr lang="en-US" altLang="zh-CN" sz="2000" kern="0" dirty="0">
                <a:solidFill>
                  <a:srgbClr val="F902F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/>
                <a:ea typeface="宋体" panose="02010600030101010101" pitchFamily="2" charset="-122"/>
                <a:cs typeface="+mj-cs"/>
              </a:rPr>
              <a:t>(</a:t>
            </a:r>
            <a:r>
              <a:rPr lang="zh-CN" altLang="en-US" sz="2000" kern="0" dirty="0">
                <a:solidFill>
                  <a:srgbClr val="F902F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/>
                <a:ea typeface="宋体" panose="02010600030101010101" pitchFamily="2" charset="-122"/>
                <a:cs typeface="+mj-cs"/>
              </a:rPr>
              <a:t>前面</a:t>
            </a:r>
            <a:r>
              <a:rPr lang="en-US" altLang="zh-CN" sz="2000" kern="0" dirty="0">
                <a:solidFill>
                  <a:srgbClr val="F902F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/>
                <a:ea typeface="宋体" panose="02010600030101010101" pitchFamily="2" charset="-122"/>
                <a:cs typeface="+mj-cs"/>
              </a:rPr>
              <a:t>n-1</a:t>
            </a:r>
            <a:r>
              <a:rPr lang="zh-CN" altLang="en-US" sz="2000" kern="0" dirty="0">
                <a:solidFill>
                  <a:srgbClr val="F902F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/>
                <a:ea typeface="宋体" panose="02010600030101010101" pitchFamily="2" charset="-122"/>
                <a:cs typeface="+mj-cs"/>
              </a:rPr>
              <a:t>个元素中的最大数</a:t>
            </a:r>
            <a:r>
              <a:rPr lang="en-US" altLang="zh-CN" sz="2000" kern="0" dirty="0">
                <a:solidFill>
                  <a:srgbClr val="F902F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/>
                <a:ea typeface="宋体" panose="02010600030101010101" pitchFamily="2" charset="-122"/>
                <a:cs typeface="+mj-cs"/>
              </a:rPr>
              <a:t>)</a:t>
            </a:r>
            <a:r>
              <a:rPr lang="zh-CN" altLang="en-US" sz="2000" kern="0" dirty="0">
                <a:solidFill>
                  <a:schemeClr val="tx1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/>
                <a:ea typeface="宋体" panose="02010600030101010101" pitchFamily="2" charset="-122"/>
                <a:cs typeface="+mj-cs"/>
              </a:rPr>
              <a:t>这二者中找一个较大数</a:t>
            </a:r>
            <a:endParaRPr lang="zh-CN" altLang="en-US" sz="2000" kern="0" dirty="0">
              <a:solidFill>
                <a:schemeClr val="tx1">
                  <a:lumMod val="7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/>
              <a:ea typeface="宋体" panose="02010600030101010101" pitchFamily="2" charset="-122"/>
              <a:cs typeface="+mj-cs"/>
            </a:endParaRP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611188" y="2981325"/>
            <a:ext cx="8447087" cy="9540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int </a:t>
            </a:r>
            <a:r>
              <a:rPr lang="en-US" altLang="zh-CN" sz="2800" dirty="0">
                <a:solidFill>
                  <a:srgbClr val="FF0000"/>
                </a:solidFill>
              </a:rPr>
              <a:t> </a:t>
            </a:r>
            <a:r>
              <a:rPr lang="en-US" altLang="zh-CN" sz="2800" dirty="0">
                <a:solidFill>
                  <a:srgbClr val="F902FC"/>
                </a:solidFill>
              </a:rPr>
              <a:t>max(</a:t>
            </a:r>
            <a:r>
              <a:rPr lang="en-US" altLang="zh-CN" sz="2800" dirty="0"/>
              <a:t>int </a:t>
            </a:r>
            <a:r>
              <a:rPr lang="en-US" altLang="zh-CN" sz="2800" dirty="0" err="1"/>
              <a:t>u,int</a:t>
            </a:r>
            <a:r>
              <a:rPr lang="en-US" altLang="zh-CN" sz="2800" dirty="0"/>
              <a:t> v</a:t>
            </a:r>
            <a:r>
              <a:rPr lang="en-US" altLang="zh-CN" sz="2800" dirty="0">
                <a:solidFill>
                  <a:srgbClr val="F902FC"/>
                </a:solidFill>
              </a:rPr>
              <a:t>)</a:t>
            </a:r>
            <a:r>
              <a:rPr lang="en-US" altLang="zh-CN" sz="2800" dirty="0">
                <a:solidFill>
                  <a:srgbClr val="FF0000"/>
                </a:solidFill>
              </a:rPr>
              <a:t> </a:t>
            </a:r>
            <a:r>
              <a:rPr lang="en-US" altLang="zh-CN" sz="2800" dirty="0">
                <a:solidFill>
                  <a:schemeClr val="tx1">
                    <a:lumMod val="75000"/>
                  </a:schemeClr>
                </a:solidFill>
              </a:rPr>
              <a:t>//</a:t>
            </a:r>
            <a:r>
              <a:rPr lang="zh-CN" altLang="en-US" sz="2800" dirty="0">
                <a:solidFill>
                  <a:schemeClr val="tx1">
                    <a:lumMod val="75000"/>
                  </a:schemeClr>
                </a:solidFill>
              </a:rPr>
              <a:t>求</a:t>
            </a:r>
            <a:r>
              <a:rPr lang="en-US" altLang="zh-CN" sz="2800" dirty="0">
                <a:solidFill>
                  <a:schemeClr val="tx1">
                    <a:lumMod val="75000"/>
                  </a:schemeClr>
                </a:solidFill>
              </a:rPr>
              <a:t>2</a:t>
            </a:r>
            <a:r>
              <a:rPr lang="zh-CN" altLang="en-US" sz="2800" dirty="0">
                <a:solidFill>
                  <a:schemeClr val="tx1">
                    <a:lumMod val="75000"/>
                  </a:schemeClr>
                </a:solidFill>
              </a:rPr>
              <a:t>个数的最大值</a:t>
            </a:r>
            <a:endParaRPr lang="en-US" altLang="zh-CN" sz="2800" dirty="0">
              <a:solidFill>
                <a:schemeClr val="tx1">
                  <a:lumMod val="75000"/>
                </a:schemeClr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{ return u&gt;</a:t>
            </a:r>
            <a:r>
              <a:rPr lang="en-US" altLang="zh-CN" sz="2800" dirty="0" err="1"/>
              <a:t>v?u:v</a:t>
            </a:r>
            <a:r>
              <a:rPr lang="en-US" altLang="zh-CN" sz="2800" dirty="0"/>
              <a:t>; }</a:t>
            </a:r>
            <a:endParaRPr lang="en-US" altLang="zh-CN" sz="2800" dirty="0"/>
          </a:p>
        </p:txBody>
      </p:sp>
      <p:sp>
        <p:nvSpPr>
          <p:cNvPr id="18" name="矩形 17"/>
          <p:cNvSpPr/>
          <p:nvPr/>
        </p:nvSpPr>
        <p:spPr>
          <a:xfrm>
            <a:off x="9556750" y="4035425"/>
            <a:ext cx="2438400" cy="523875"/>
          </a:xfrm>
          <a:prstGeom prst="rect">
            <a:avLst/>
          </a:prstGeom>
          <a:solidFill>
            <a:schemeClr val="accent1"/>
          </a:solidFill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800" dirty="0" err="1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ArrMax</a:t>
            </a:r>
            <a:r>
              <a:rPr lang="en-US" altLang="zh-CN" sz="2800" dirty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(</a:t>
            </a:r>
            <a:r>
              <a:rPr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a,n-1</a:t>
            </a:r>
            <a:r>
              <a:rPr lang="en-US" altLang="zh-CN" sz="2800" dirty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)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36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36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2" dur="500"/>
                                        <p:tgtEl>
                                          <p:spTgt spid="5366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6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36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0" dur="500"/>
                                        <p:tgtEl>
                                          <p:spTgt spid="5366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6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3" dur="500"/>
                                        <p:tgtEl>
                                          <p:spTgt spid="5366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6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36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xit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9" dur="500"/>
                                        <p:tgtEl>
                                          <p:spTgt spid="5366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6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536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536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6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5366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6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5366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6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5366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6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6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6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5366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6609" grpId="0" bldLvl="0" animBg="1"/>
      <p:bldP spid="536609" grpId="1" bldLvl="0" animBg="1"/>
      <p:bldP spid="536609" grpId="2" bldLvl="0" animBg="1"/>
      <p:bldP spid="536612" grpId="0" bldLvl="0" animBg="1"/>
      <p:bldP spid="536612" grpId="1" bldLvl="0" animBg="1"/>
      <p:bldP spid="536613" grpId="0" bldLvl="0" animBg="1"/>
      <p:bldP spid="2" grpId="0" bldLvl="0" animBg="1"/>
      <p:bldP spid="536608" grpId="0" bldLvl="0" animBg="1"/>
      <p:bldP spid="4" grpId="0"/>
      <p:bldP spid="18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64ADF23B-B535-47EB-86CA-C874476045B7}" type="slidenum">
              <a:rPr lang="en-US" altLang="zh-CN" sz="1200" b="0"/>
            </a:fld>
            <a:endParaRPr lang="en-US" altLang="zh-CN" sz="1200" b="0"/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610235" y="1143000"/>
            <a:ext cx="11449685" cy="476948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800" dirty="0"/>
              <a:t>int</a:t>
            </a:r>
            <a:r>
              <a:rPr lang="zh-CN" altLang="en-US" sz="2800" dirty="0">
                <a:solidFill>
                  <a:srgbClr val="FF0000"/>
                </a:solidFill>
              </a:rPr>
              <a:t> </a:t>
            </a:r>
            <a:r>
              <a:rPr lang="zh-CN" altLang="en-US" sz="2800" dirty="0">
                <a:solidFill>
                  <a:srgbClr val="F902FC"/>
                </a:solidFill>
              </a:rPr>
              <a:t>cmp</a:t>
            </a:r>
            <a:r>
              <a:rPr lang="zh-CN" altLang="en-US" sz="2800" dirty="0"/>
              <a:t>( int *p,int </a:t>
            </a:r>
            <a:r>
              <a:rPr lang="en-US" altLang="zh-CN" sz="2800" dirty="0"/>
              <a:t>n</a:t>
            </a:r>
            <a:r>
              <a:rPr lang="zh-CN" altLang="en-US" sz="2800" dirty="0"/>
              <a:t> ){    </a:t>
            </a:r>
            <a:endParaRPr lang="en-US" altLang="zh-CN" sz="2800" dirty="0"/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dirty="0"/>
              <a:t>	</a:t>
            </a:r>
            <a:r>
              <a:rPr lang="zh-CN" altLang="en-US" dirty="0"/>
              <a:t>if(</a:t>
            </a:r>
            <a:r>
              <a:rPr lang="en-US" altLang="zh-CN" dirty="0"/>
              <a:t>n</a:t>
            </a:r>
            <a:r>
              <a:rPr lang="zh-CN" altLang="en-US" dirty="0"/>
              <a:t>==2)        </a:t>
            </a:r>
            <a:endParaRPr lang="en-US" altLang="zh-CN" dirty="0"/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/>
              <a:t>		</a:t>
            </a:r>
            <a:r>
              <a:rPr lang="zh-CN" altLang="en-US" dirty="0"/>
              <a:t>return</a:t>
            </a:r>
            <a:r>
              <a:rPr lang="en-US" altLang="zh-CN" dirty="0"/>
              <a:t> </a:t>
            </a:r>
            <a:r>
              <a:rPr lang="zh-CN" altLang="en-US" dirty="0">
                <a:solidFill>
                  <a:srgbClr val="F902FC"/>
                </a:solidFill>
              </a:rPr>
              <a:t>(</a:t>
            </a:r>
            <a:r>
              <a:rPr lang="zh-CN" altLang="en-US" dirty="0"/>
              <a:t>*p&gt;*(p+1)</a:t>
            </a:r>
            <a:r>
              <a:rPr lang="zh-CN" altLang="en-US" dirty="0">
                <a:solidFill>
                  <a:srgbClr val="F902FC"/>
                </a:solidFill>
              </a:rPr>
              <a:t>?</a:t>
            </a:r>
            <a:r>
              <a:rPr lang="zh-CN" altLang="en-US" dirty="0"/>
              <a:t>*p</a:t>
            </a:r>
            <a:r>
              <a:rPr lang="zh-CN" altLang="en-US" dirty="0">
                <a:solidFill>
                  <a:srgbClr val="F902FC"/>
                </a:solidFill>
              </a:rPr>
              <a:t>:</a:t>
            </a:r>
            <a:r>
              <a:rPr lang="zh-CN" altLang="en-US" dirty="0"/>
              <a:t>*(p+1)</a:t>
            </a:r>
            <a:r>
              <a:rPr lang="zh-CN" altLang="en-US" dirty="0">
                <a:solidFill>
                  <a:srgbClr val="F902FC"/>
                </a:solidFill>
              </a:rPr>
              <a:t>)</a:t>
            </a:r>
            <a:r>
              <a:rPr lang="zh-CN" altLang="en-US" dirty="0"/>
              <a:t>;    </a:t>
            </a:r>
            <a:endParaRPr lang="en-US" altLang="zh-CN" dirty="0"/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dirty="0"/>
              <a:t>	</a:t>
            </a:r>
            <a:r>
              <a:rPr lang="zh-CN" altLang="en-US" sz="2800" dirty="0"/>
              <a:t>else  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dirty="0"/>
              <a:t>	</a:t>
            </a:r>
            <a:r>
              <a:rPr lang="en-US" altLang="zh-CN" sz="2800" dirty="0">
                <a:sym typeface="+mn-ea"/>
              </a:rPr>
              <a:t>//</a:t>
            </a:r>
            <a:r>
              <a:rPr lang="zh-CN" altLang="en-US" sz="2800" dirty="0"/>
              <a:t>return </a:t>
            </a:r>
            <a:r>
              <a:rPr lang="zh-CN" altLang="en-US" sz="2800" dirty="0">
                <a:solidFill>
                  <a:srgbClr val="F902FC"/>
                </a:solidFill>
              </a:rPr>
              <a:t>cmp(p,</a:t>
            </a:r>
            <a:r>
              <a:rPr lang="en-US" altLang="zh-CN" sz="2800" dirty="0">
                <a:solidFill>
                  <a:srgbClr val="F902FC"/>
                </a:solidFill>
              </a:rPr>
              <a:t>n</a:t>
            </a:r>
            <a:r>
              <a:rPr lang="zh-CN" altLang="en-US" sz="2800" dirty="0">
                <a:solidFill>
                  <a:srgbClr val="F902FC"/>
                </a:solidFill>
              </a:rPr>
              <a:t>-1)</a:t>
            </a:r>
            <a:r>
              <a:rPr lang="zh-CN" altLang="en-US" sz="2800" dirty="0">
                <a:solidFill>
                  <a:srgbClr val="FF0000"/>
                </a:solidFill>
              </a:rPr>
              <a:t> </a:t>
            </a:r>
            <a:r>
              <a:rPr lang="zh-CN" altLang="en-US" sz="2800" dirty="0"/>
              <a:t>&gt;*(p+</a:t>
            </a:r>
            <a:r>
              <a:rPr lang="en-US" altLang="zh-CN" sz="2800" dirty="0"/>
              <a:t>n</a:t>
            </a:r>
            <a:r>
              <a:rPr lang="zh-CN" altLang="en-US" sz="2800" dirty="0"/>
              <a:t>-1)</a:t>
            </a:r>
            <a:r>
              <a:rPr lang="zh-CN" altLang="en-US" sz="2800" dirty="0">
                <a:solidFill>
                  <a:srgbClr val="F902FC"/>
                </a:solidFill>
              </a:rPr>
              <a:t>?</a:t>
            </a:r>
            <a:r>
              <a:rPr lang="en-US" altLang="zh-CN" sz="2800" dirty="0">
                <a:solidFill>
                  <a:srgbClr val="F902FC"/>
                </a:solidFill>
              </a:rPr>
              <a:t> </a:t>
            </a:r>
            <a:r>
              <a:rPr lang="zh-CN" altLang="en-US" sz="2800" dirty="0">
                <a:solidFill>
                  <a:srgbClr val="F902FC"/>
                </a:solidFill>
              </a:rPr>
              <a:t>cmp(p,</a:t>
            </a:r>
            <a:r>
              <a:rPr lang="en-US" altLang="zh-CN" sz="2800" dirty="0">
                <a:solidFill>
                  <a:srgbClr val="F902FC"/>
                </a:solidFill>
              </a:rPr>
              <a:t>n-1) </a:t>
            </a:r>
            <a:r>
              <a:rPr lang="zh-CN" altLang="en-US" sz="2800" dirty="0">
                <a:solidFill>
                  <a:srgbClr val="F902FC"/>
                </a:solidFill>
              </a:rPr>
              <a:t>:</a:t>
            </a:r>
            <a:r>
              <a:rPr lang="en-US" altLang="zh-CN" sz="2800" dirty="0">
                <a:solidFill>
                  <a:srgbClr val="F902FC"/>
                </a:solidFill>
              </a:rPr>
              <a:t> </a:t>
            </a:r>
            <a:r>
              <a:rPr lang="zh-CN" altLang="en-US" sz="2800" dirty="0"/>
              <a:t>*(p+</a:t>
            </a:r>
            <a:r>
              <a:rPr lang="en-US" altLang="zh-CN" sz="2800" dirty="0"/>
              <a:t>n</a:t>
            </a:r>
            <a:r>
              <a:rPr lang="zh-CN" altLang="en-US" sz="2800" dirty="0"/>
              <a:t>-1); </a:t>
            </a:r>
            <a:endParaRPr lang="en-US" altLang="zh-CN" sz="2800" dirty="0"/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400" dirty="0"/>
              <a:t> </a:t>
            </a:r>
            <a:r>
              <a:rPr lang="zh-CN" altLang="en-US" sz="2800" dirty="0"/>
              <a:t>  </a:t>
            </a:r>
            <a:r>
              <a:rPr lang="en-US" altLang="zh-CN" sz="1750" dirty="0"/>
              <a:t>	</a:t>
            </a:r>
            <a:r>
              <a:rPr lang="zh-CN" altLang="en-US" sz="3200" dirty="0"/>
              <a:t>{            </a:t>
            </a:r>
            <a:endParaRPr lang="en-US" altLang="zh-CN" sz="3200" dirty="0"/>
          </a:p>
          <a:p>
            <a:pPr lvl="3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3200" dirty="0"/>
              <a:t>		</a:t>
            </a:r>
            <a:r>
              <a:rPr lang="zh-CN" altLang="en-US" sz="3200" dirty="0"/>
              <a:t>int </a:t>
            </a:r>
            <a:r>
              <a:rPr lang="zh-CN" altLang="en-US" sz="3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tmp</a:t>
            </a:r>
            <a:r>
              <a:rPr lang="zh-CN" altLang="en-US" sz="3200" dirty="0"/>
              <a:t>=</a:t>
            </a:r>
            <a:r>
              <a:rPr lang="zh-CN" altLang="en-US" sz="3200" dirty="0">
                <a:solidFill>
                  <a:srgbClr val="F902FC"/>
                </a:solidFill>
              </a:rPr>
              <a:t>cmp(p,</a:t>
            </a:r>
            <a:r>
              <a:rPr lang="en-US" altLang="zh-CN" sz="3200" dirty="0">
                <a:solidFill>
                  <a:srgbClr val="F902FC"/>
                </a:solidFill>
              </a:rPr>
              <a:t>n</a:t>
            </a:r>
            <a:r>
              <a:rPr lang="zh-CN" altLang="en-US" sz="3200" dirty="0">
                <a:solidFill>
                  <a:srgbClr val="F902FC"/>
                </a:solidFill>
              </a:rPr>
              <a:t>-1)</a:t>
            </a:r>
            <a:r>
              <a:rPr lang="zh-CN" altLang="en-US" sz="3200" dirty="0"/>
              <a:t>;            </a:t>
            </a:r>
            <a:endParaRPr lang="en-US" altLang="zh-CN" sz="3200" dirty="0"/>
          </a:p>
          <a:p>
            <a:pPr lvl="3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3200" dirty="0"/>
              <a:t>		</a:t>
            </a:r>
            <a:r>
              <a:rPr lang="zh-CN" altLang="en-US" sz="3200" dirty="0"/>
              <a:t>return </a:t>
            </a:r>
            <a:r>
              <a:rPr lang="zh-CN" altLang="en-US" sz="3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tmp</a:t>
            </a:r>
            <a:r>
              <a:rPr lang="zh-CN" altLang="en-US" sz="3200" dirty="0"/>
              <a:t>&gt;*(p+</a:t>
            </a:r>
            <a:r>
              <a:rPr lang="en-US" altLang="zh-CN" sz="3200" dirty="0"/>
              <a:t>n</a:t>
            </a:r>
            <a:r>
              <a:rPr lang="zh-CN" altLang="en-US" sz="3200" dirty="0"/>
              <a:t>-1) </a:t>
            </a:r>
            <a:r>
              <a:rPr lang="zh-CN" altLang="en-US" sz="3200" dirty="0">
                <a:solidFill>
                  <a:srgbClr val="F902FC"/>
                </a:solidFill>
              </a:rPr>
              <a:t>?</a:t>
            </a:r>
            <a:r>
              <a:rPr lang="zh-CN" altLang="en-US" sz="3200" dirty="0">
                <a:solidFill>
                  <a:srgbClr val="FF0000"/>
                </a:solidFill>
              </a:rPr>
              <a:t> </a:t>
            </a:r>
            <a:r>
              <a:rPr lang="en-US" altLang="zh-CN" sz="3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</a:t>
            </a:r>
            <a:r>
              <a:rPr lang="zh-CN" altLang="en-US" sz="3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mp</a:t>
            </a:r>
            <a:r>
              <a:rPr lang="zh-CN" altLang="en-US" sz="3200" dirty="0">
                <a:solidFill>
                  <a:srgbClr val="F902FC"/>
                </a:solidFill>
              </a:rPr>
              <a:t>:</a:t>
            </a:r>
            <a:r>
              <a:rPr lang="zh-CN" altLang="en-US" sz="3200" dirty="0"/>
              <a:t>*(p+</a:t>
            </a:r>
            <a:r>
              <a:rPr lang="en-US" altLang="zh-CN" sz="3200" dirty="0"/>
              <a:t>n</a:t>
            </a:r>
            <a:r>
              <a:rPr lang="zh-CN" altLang="en-US" sz="3200" dirty="0"/>
              <a:t>-1);        </a:t>
            </a:r>
            <a:r>
              <a:rPr lang="en-US" altLang="zh-CN" sz="3200" dirty="0"/>
              <a:t> </a:t>
            </a:r>
            <a:endParaRPr lang="en-US" altLang="zh-CN" sz="3200" dirty="0"/>
          </a:p>
          <a:p>
            <a:pPr marL="1143000" lvl="2" indent="-228600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3200" dirty="0">
                <a:solidFill>
                  <a:schemeClr val="tx1"/>
                </a:solidFill>
              </a:rPr>
              <a:t>}</a:t>
            </a:r>
            <a:endParaRPr lang="en-US" altLang="zh-CN" sz="3200" dirty="0"/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800" dirty="0"/>
              <a:t>}</a:t>
            </a:r>
            <a:endParaRPr lang="zh-CN" altLang="en-US" sz="2800" dirty="0"/>
          </a:p>
        </p:txBody>
      </p:sp>
      <p:pic>
        <p:nvPicPr>
          <p:cNvPr id="60420" name="图片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6625" y="1588"/>
            <a:ext cx="3635375" cy="198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421" name="矩形 4"/>
          <p:cNvSpPr>
            <a:spLocks noChangeArrowheads="1"/>
          </p:cNvSpPr>
          <p:nvPr/>
        </p:nvSpPr>
        <p:spPr bwMode="auto">
          <a:xfrm>
            <a:off x="0" y="179388"/>
            <a:ext cx="22447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FFC000"/>
                </a:solidFill>
              </a:rPr>
              <a:t>递归效率：</a:t>
            </a:r>
            <a:endParaRPr lang="en-US" altLang="zh-CN">
              <a:solidFill>
                <a:srgbClr val="FFC000"/>
              </a:solidFill>
            </a:endParaRPr>
          </a:p>
        </p:txBody>
      </p:sp>
      <p:sp>
        <p:nvSpPr>
          <p:cNvPr id="60422" name="矩形 3"/>
          <p:cNvSpPr>
            <a:spLocks noChangeArrowheads="1"/>
          </p:cNvSpPr>
          <p:nvPr/>
        </p:nvSpPr>
        <p:spPr bwMode="auto">
          <a:xfrm>
            <a:off x="1600200" y="2985770"/>
            <a:ext cx="10432415" cy="501015"/>
          </a:xfrm>
          <a:prstGeom prst="rect">
            <a:avLst/>
          </a:prstGeom>
          <a:noFill/>
          <a:ln w="28575">
            <a:solidFill>
              <a:srgbClr val="F902FC"/>
            </a:solidFill>
            <a:prstDash val="sys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8446CD59-EADE-4EBA-AE56-B8FA3A87736E}" type="slidenum">
              <a:rPr lang="en-US" altLang="zh-CN" sz="1200" b="0"/>
            </a:fld>
            <a:endParaRPr lang="en-US" altLang="zh-CN" sz="1200" b="0"/>
          </a:p>
        </p:txBody>
      </p:sp>
      <p:sp>
        <p:nvSpPr>
          <p:cNvPr id="53862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-76200" y="28575"/>
            <a:ext cx="10744200" cy="682942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en-US" b="1" dirty="0">
                <a:solidFill>
                  <a:schemeClr val="hlink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参考程序</a:t>
            </a:r>
            <a:r>
              <a:rPr lang="en-US" altLang="zh-CN" b="1" dirty="0">
                <a:solidFill>
                  <a:schemeClr val="hlink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2</a:t>
            </a:r>
            <a:r>
              <a:rPr lang="zh-CN" altLang="en-US" b="1" dirty="0">
                <a:solidFill>
                  <a:schemeClr val="hlink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：指针形式</a:t>
            </a:r>
            <a:r>
              <a:rPr lang="en-US" altLang="zh-CN" b="1" dirty="0">
                <a:solidFill>
                  <a:schemeClr val="hlink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(</a:t>
            </a:r>
            <a:r>
              <a:rPr lang="zh-CN" altLang="en-US" b="1" dirty="0">
                <a:solidFill>
                  <a:schemeClr val="hlink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从</a:t>
            </a:r>
            <a:r>
              <a:rPr lang="en-US" altLang="zh-CN" b="1" dirty="0" err="1">
                <a:solidFill>
                  <a:schemeClr val="hlink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ap</a:t>
            </a:r>
            <a:r>
              <a:rPr lang="en-US" altLang="zh-CN" b="1" dirty="0">
                <a:solidFill>
                  <a:schemeClr val="hlink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[0]</a:t>
            </a:r>
            <a:r>
              <a:rPr lang="zh-CN" altLang="en-US" b="1" dirty="0">
                <a:solidFill>
                  <a:schemeClr val="hlink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开始向后找）</a:t>
            </a:r>
            <a:endParaRPr lang="en-US" altLang="zh-CN" b="1" dirty="0">
              <a:solidFill>
                <a:schemeClr val="hlink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chemeClr val="tx1">
                    <a:lumMod val="75000"/>
                  </a:schemeClr>
                </a:solidFill>
              </a:rPr>
              <a:t>【</a:t>
            </a:r>
            <a:r>
              <a:rPr lang="zh-CN" altLang="en-US" sz="1800" b="1" dirty="0">
                <a:solidFill>
                  <a:schemeClr val="tx1">
                    <a:lumMod val="75000"/>
                  </a:schemeClr>
                </a:solidFill>
              </a:rPr>
              <a:t>思路</a:t>
            </a:r>
            <a:r>
              <a:rPr lang="en-US" altLang="zh-CN" sz="1800" b="1" dirty="0">
                <a:solidFill>
                  <a:schemeClr val="tx1">
                    <a:lumMod val="75000"/>
                  </a:schemeClr>
                </a:solidFill>
              </a:rPr>
              <a:t>】</a:t>
            </a:r>
            <a:r>
              <a:rPr lang="zh-CN" altLang="en-US" sz="1800" b="1" dirty="0">
                <a:solidFill>
                  <a:schemeClr val="tx1">
                    <a:lumMod val="75000"/>
                  </a:schemeClr>
                </a:solidFill>
              </a:rPr>
              <a:t>找</a:t>
            </a:r>
            <a:r>
              <a:rPr lang="en-US" altLang="zh-CN" sz="1800" b="1" dirty="0">
                <a:solidFill>
                  <a:schemeClr val="tx1">
                    <a:lumMod val="75000"/>
                  </a:schemeClr>
                </a:solidFill>
              </a:rPr>
              <a:t>ap</a:t>
            </a:r>
            <a:r>
              <a:rPr lang="zh-CN" altLang="en-US" sz="1800" b="1" dirty="0">
                <a:solidFill>
                  <a:schemeClr val="tx1">
                    <a:lumMod val="75000"/>
                  </a:schemeClr>
                </a:solidFill>
              </a:rPr>
              <a:t>的最大数，就是在 </a:t>
            </a:r>
            <a:r>
              <a:rPr lang="en-US" altLang="zh-CN" sz="1800" b="1" dirty="0">
                <a:solidFill>
                  <a:srgbClr val="F902FC"/>
                </a:solidFill>
              </a:rPr>
              <a:t>ap[0]</a:t>
            </a:r>
            <a:r>
              <a:rPr lang="en-US" altLang="zh-CN" sz="1800" b="1" dirty="0">
                <a:solidFill>
                  <a:srgbClr val="FF0000"/>
                </a:solidFill>
              </a:rPr>
              <a:t> </a:t>
            </a:r>
            <a:r>
              <a:rPr lang="zh-CN" altLang="en-US" sz="1800" b="1" dirty="0">
                <a:solidFill>
                  <a:srgbClr val="FFC000"/>
                </a:solidFill>
              </a:rPr>
              <a:t>和 </a:t>
            </a:r>
            <a:r>
              <a:rPr lang="en-US" altLang="zh-CN" sz="1800" b="1" dirty="0">
                <a:solidFill>
                  <a:srgbClr val="F902FC"/>
                </a:solidFill>
              </a:rPr>
              <a:t>(后面n-1个元素构成的数组的最大数)</a:t>
            </a:r>
            <a:r>
              <a:rPr lang="zh-CN" altLang="en-US" sz="1800" b="1" dirty="0">
                <a:solidFill>
                  <a:srgbClr val="FF0000"/>
                </a:solidFill>
              </a:rPr>
              <a:t> </a:t>
            </a:r>
            <a:r>
              <a:rPr lang="zh-CN" altLang="en-US" sz="1800" b="1" dirty="0">
                <a:solidFill>
                  <a:schemeClr val="tx1">
                    <a:lumMod val="65000"/>
                  </a:schemeClr>
                </a:solidFill>
              </a:rPr>
              <a:t>这</a:t>
            </a:r>
            <a:r>
              <a:rPr lang="zh-CN" altLang="en-US" sz="1800" b="1" dirty="0">
                <a:solidFill>
                  <a:schemeClr val="tx1">
                    <a:lumMod val="75000"/>
                  </a:schemeClr>
                </a:solidFill>
              </a:rPr>
              <a:t>二者中找一个较大数</a:t>
            </a:r>
            <a:endParaRPr lang="zh-CN" altLang="en-US" sz="1800" b="1" dirty="0">
              <a:solidFill>
                <a:schemeClr val="tx1">
                  <a:lumMod val="75000"/>
                </a:schemeClr>
              </a:solidFill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zh-CN" altLang="en-US" b="1" dirty="0">
              <a:solidFill>
                <a:schemeClr val="hlink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US" altLang="zh-CN" b="1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US" altLang="zh-CN" b="1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US" altLang="zh-CN" b="1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US" altLang="zh-CN" sz="2000" b="1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b="1" dirty="0"/>
              <a:t>#define L 5</a:t>
            </a:r>
            <a:endParaRPr lang="en-US" altLang="zh-CN" sz="2400" b="1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b="1" dirty="0"/>
              <a:t>int  </a:t>
            </a:r>
            <a:r>
              <a:rPr lang="en-US" altLang="zh-CN" sz="2400" b="1" dirty="0">
                <a:solidFill>
                  <a:srgbClr val="F902FC"/>
                </a:solidFill>
              </a:rPr>
              <a:t>max(</a:t>
            </a:r>
            <a:r>
              <a:rPr lang="en-US" altLang="zh-CN" sz="2400" b="1" dirty="0"/>
              <a:t>int </a:t>
            </a:r>
            <a:r>
              <a:rPr lang="en-US" altLang="zh-CN" sz="2400" b="1" dirty="0" err="1"/>
              <a:t>u,int</a:t>
            </a:r>
            <a:r>
              <a:rPr lang="en-US" altLang="zh-CN" sz="2400" b="1" dirty="0"/>
              <a:t> v</a:t>
            </a:r>
            <a:r>
              <a:rPr lang="en-US" altLang="zh-CN" sz="2400" b="1" dirty="0">
                <a:solidFill>
                  <a:srgbClr val="F902FC"/>
                </a:solidFill>
              </a:rPr>
              <a:t>){</a:t>
            </a:r>
            <a:r>
              <a:rPr lang="en-US" altLang="zh-CN" sz="2400" b="1" dirty="0"/>
              <a:t>return u&gt;</a:t>
            </a:r>
            <a:r>
              <a:rPr lang="en-US" altLang="zh-CN" sz="2400" b="1" dirty="0" err="1"/>
              <a:t>v?u:v</a:t>
            </a:r>
            <a:r>
              <a:rPr lang="en-US" altLang="zh-CN" sz="2400" b="1" dirty="0"/>
              <a:t>;</a:t>
            </a:r>
            <a:r>
              <a:rPr lang="en-US" altLang="zh-CN" sz="2400" b="1" dirty="0">
                <a:solidFill>
                  <a:srgbClr val="F902FC"/>
                </a:solidFill>
              </a:rPr>
              <a:t>}</a:t>
            </a:r>
            <a:endParaRPr lang="en-US" altLang="zh-CN" sz="2400" b="1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/>
              <a:t>int  </a:t>
            </a:r>
            <a:r>
              <a:rPr lang="en-US" altLang="zh-CN" b="1" dirty="0" err="1">
                <a:solidFill>
                  <a:schemeClr val="hlink"/>
                </a:solidFill>
              </a:rPr>
              <a:t>ArrMax</a:t>
            </a:r>
            <a:r>
              <a:rPr lang="en-US" altLang="zh-CN" b="1" dirty="0">
                <a:solidFill>
                  <a:schemeClr val="hlink"/>
                </a:solidFill>
              </a:rPr>
              <a:t>(</a:t>
            </a:r>
            <a:r>
              <a:rPr lang="en-US" altLang="zh-CN" b="1" dirty="0"/>
              <a:t>int* </a:t>
            </a:r>
            <a:r>
              <a:rPr lang="en-US" altLang="zh-CN" b="1" dirty="0" err="1"/>
              <a:t>ap,int</a:t>
            </a:r>
            <a:r>
              <a:rPr lang="en-US" altLang="zh-CN" b="1" dirty="0"/>
              <a:t> n</a:t>
            </a:r>
            <a:r>
              <a:rPr lang="en-US" altLang="zh-CN" b="1" dirty="0">
                <a:solidFill>
                  <a:schemeClr val="hlink"/>
                </a:solidFill>
              </a:rPr>
              <a:t>){</a:t>
            </a:r>
            <a:endParaRPr lang="en-US" altLang="zh-CN" b="1" dirty="0">
              <a:solidFill>
                <a:schemeClr val="hlink"/>
              </a:solidFill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/>
              <a:t>	if(n==2)</a:t>
            </a:r>
            <a:endParaRPr lang="en-US" altLang="zh-CN" b="1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/>
              <a:t>		return  </a:t>
            </a:r>
            <a:r>
              <a:rPr lang="en-US" altLang="zh-CN" b="1" dirty="0">
                <a:solidFill>
                  <a:srgbClr val="F902FC"/>
                </a:solidFill>
              </a:rPr>
              <a:t>max(</a:t>
            </a:r>
            <a:r>
              <a:rPr lang="en-US" altLang="zh-CN" b="1" dirty="0"/>
              <a:t>*</a:t>
            </a:r>
            <a:r>
              <a:rPr lang="en-US" altLang="zh-CN" b="1" dirty="0" err="1"/>
              <a:t>ap</a:t>
            </a:r>
            <a:r>
              <a:rPr lang="en-US" altLang="zh-CN" b="1" dirty="0"/>
              <a:t> , *(ap+1)</a:t>
            </a:r>
            <a:r>
              <a:rPr lang="en-US" altLang="zh-CN" b="1" dirty="0">
                <a:solidFill>
                  <a:srgbClr val="F902FC"/>
                </a:solidFill>
              </a:rPr>
              <a:t>)</a:t>
            </a:r>
            <a:r>
              <a:rPr lang="en-US" altLang="zh-CN" b="1" dirty="0"/>
              <a:t>;</a:t>
            </a:r>
            <a:endParaRPr lang="en-US" altLang="zh-CN" b="1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/>
              <a:t>	return </a:t>
            </a:r>
            <a:r>
              <a:rPr lang="en-US" altLang="zh-CN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902FC"/>
                </a:solidFill>
              </a:rPr>
              <a:t>max(</a:t>
            </a:r>
            <a:r>
              <a:rPr lang="en-US" altLang="zh-CN" b="1" dirty="0">
                <a:solidFill>
                  <a:srgbClr val="FF0000"/>
                </a:solidFill>
              </a:rPr>
              <a:t> </a:t>
            </a:r>
            <a:r>
              <a:rPr lang="en-US" altLang="zh-CN" sz="2800" b="1" dirty="0"/>
              <a:t>*ap , </a:t>
            </a:r>
            <a:r>
              <a:rPr lang="en-US" altLang="zh-CN" sz="2800" b="1" dirty="0" err="1">
                <a:solidFill>
                  <a:schemeClr val="hlink"/>
                </a:solidFill>
              </a:rPr>
              <a:t>ArrMax</a:t>
            </a:r>
            <a:r>
              <a:rPr lang="en-US" altLang="zh-CN" sz="2800" b="1" dirty="0">
                <a:solidFill>
                  <a:schemeClr val="hlink"/>
                </a:solidFill>
              </a:rPr>
              <a:t>(</a:t>
            </a:r>
            <a:r>
              <a:rPr lang="en-US" altLang="zh-CN" sz="2800" b="1" dirty="0"/>
              <a:t>ap+1,n-1</a:t>
            </a:r>
            <a:r>
              <a:rPr lang="en-US" altLang="zh-CN" sz="2800" b="1" dirty="0">
                <a:solidFill>
                  <a:schemeClr val="hlink"/>
                </a:solidFill>
              </a:rPr>
              <a:t>)</a:t>
            </a:r>
            <a:r>
              <a:rPr lang="en-US" altLang="zh-CN" b="1" dirty="0"/>
              <a:t> </a:t>
            </a:r>
            <a:r>
              <a:rPr lang="en-US" altLang="zh-CN" b="1" dirty="0">
                <a:solidFill>
                  <a:srgbClr val="F902FC"/>
                </a:solidFill>
              </a:rPr>
              <a:t>)</a:t>
            </a:r>
            <a:r>
              <a:rPr lang="en-US" altLang="zh-CN" b="1" dirty="0"/>
              <a:t>;</a:t>
            </a:r>
            <a:endParaRPr lang="en-US" altLang="zh-CN" b="1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b="1" dirty="0">
                <a:solidFill>
                  <a:schemeClr val="hlink"/>
                </a:solidFill>
              </a:rPr>
              <a:t>}</a:t>
            </a:r>
            <a:endParaRPr lang="en-US" altLang="zh-CN" sz="2400" b="1" dirty="0">
              <a:solidFill>
                <a:schemeClr val="hlink"/>
              </a:solidFill>
            </a:endParaRPr>
          </a:p>
        </p:txBody>
      </p:sp>
      <p:sp>
        <p:nvSpPr>
          <p:cNvPr id="53252" name="矩形 1"/>
          <p:cNvSpPr>
            <a:spLocks noChangeArrowheads="1"/>
          </p:cNvSpPr>
          <p:nvPr/>
        </p:nvSpPr>
        <p:spPr bwMode="auto">
          <a:xfrm>
            <a:off x="7043738" y="3606800"/>
            <a:ext cx="3475037" cy="12001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主函数调用：</a:t>
            </a:r>
            <a:endParaRPr lang="en-US" altLang="zh-CN" sz="2400">
              <a:solidFill>
                <a:schemeClr val="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data=ArrMax(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&amp;a[0] , L</a:t>
            </a:r>
            <a:r>
              <a:rPr lang="en-US" altLang="zh-CN" sz="240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 sz="2400">
              <a:solidFill>
                <a:schemeClr val="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或 </a:t>
            </a:r>
            <a:r>
              <a:rPr lang="en-US" altLang="zh-CN" sz="240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data=ArrMax(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a,L</a:t>
            </a:r>
            <a:r>
              <a:rPr lang="en-US" altLang="zh-CN" sz="240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 sz="2400">
              <a:solidFill>
                <a:schemeClr val="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Group 17"/>
          <p:cNvGraphicFramePr>
            <a:graphicFrameLocks noGrp="1"/>
          </p:cNvGraphicFramePr>
          <p:nvPr/>
        </p:nvGraphicFramePr>
        <p:xfrm>
          <a:off x="1703388" y="2132013"/>
          <a:ext cx="8229600" cy="579437"/>
        </p:xfrm>
        <a:graphic>
          <a:graphicData uri="http://schemas.openxmlformats.org/drawingml/2006/table">
            <a:tbl>
              <a:tblPr/>
              <a:tblGrid>
                <a:gridCol w="1646237"/>
                <a:gridCol w="1646238"/>
                <a:gridCol w="1644650"/>
                <a:gridCol w="1646237"/>
                <a:gridCol w="1646238"/>
              </a:tblGrid>
              <a:tr h="57943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34</a:t>
                      </a:r>
                      <a:endParaRPr kumimoji="0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45" marB="4574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22</a:t>
                      </a:r>
                      <a:endParaRPr kumimoji="0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45" marB="457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45" marB="457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45" marB="457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45" marB="457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2" name="Group 35"/>
          <p:cNvGrpSpPr/>
          <p:nvPr/>
        </p:nvGrpSpPr>
        <p:grpSpPr bwMode="auto">
          <a:xfrm>
            <a:off x="2449513" y="1295400"/>
            <a:ext cx="1331912" cy="863600"/>
            <a:chOff x="4921" y="709"/>
            <a:chExt cx="839" cy="544"/>
          </a:xfrm>
        </p:grpSpPr>
        <p:sp>
          <p:nvSpPr>
            <p:cNvPr id="8" name="Line 20"/>
            <p:cNvSpPr>
              <a:spLocks noChangeShapeType="1"/>
            </p:cNvSpPr>
            <p:nvPr/>
          </p:nvSpPr>
          <p:spPr bwMode="auto">
            <a:xfrm>
              <a:off x="4921" y="709"/>
              <a:ext cx="0" cy="544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1466" name="Text Box 21"/>
            <p:cNvSpPr txBox="1">
              <a:spLocks noChangeArrowheads="1"/>
            </p:cNvSpPr>
            <p:nvPr/>
          </p:nvSpPr>
          <p:spPr bwMode="auto">
            <a:xfrm>
              <a:off x="4967" y="754"/>
              <a:ext cx="79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chemeClr val="hlink"/>
                  </a:solidFill>
                  <a:latin typeface="Arial" panose="020B0604020202020204" pitchFamily="34" charset="0"/>
                </a:rPr>
                <a:t>ap[0]</a:t>
              </a:r>
              <a:endParaRPr lang="en-US" altLang="zh-CN" sz="2400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0" name="Line 24"/>
          <p:cNvSpPr>
            <a:spLocks noChangeShapeType="1"/>
          </p:cNvSpPr>
          <p:nvPr/>
        </p:nvSpPr>
        <p:spPr bwMode="auto">
          <a:xfrm>
            <a:off x="4151313" y="1268413"/>
            <a:ext cx="0" cy="86360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tailEnd type="triangl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Line 27"/>
          <p:cNvSpPr>
            <a:spLocks noChangeShapeType="1"/>
          </p:cNvSpPr>
          <p:nvPr/>
        </p:nvSpPr>
        <p:spPr bwMode="auto">
          <a:xfrm>
            <a:off x="5808663" y="1268413"/>
            <a:ext cx="0" cy="86360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tailEnd type="triangl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Rectangle 33"/>
          <p:cNvSpPr>
            <a:spLocks noChangeArrowheads="1"/>
          </p:cNvSpPr>
          <p:nvPr/>
        </p:nvSpPr>
        <p:spPr bwMode="auto">
          <a:xfrm>
            <a:off x="3324225" y="1773238"/>
            <a:ext cx="6696075" cy="1223962"/>
          </a:xfrm>
          <a:prstGeom prst="rect">
            <a:avLst/>
          </a:prstGeom>
          <a:noFill/>
          <a:ln w="38100">
            <a:solidFill>
              <a:srgbClr val="F902FC"/>
            </a:solidFill>
            <a:prstDash val="dash"/>
            <a:miter lim="800000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Rectangle 36"/>
          <p:cNvSpPr>
            <a:spLocks noChangeArrowheads="1"/>
          </p:cNvSpPr>
          <p:nvPr/>
        </p:nvSpPr>
        <p:spPr bwMode="auto">
          <a:xfrm>
            <a:off x="4989513" y="1773238"/>
            <a:ext cx="5040312" cy="1223962"/>
          </a:xfrm>
          <a:prstGeom prst="rect">
            <a:avLst/>
          </a:prstGeom>
          <a:noFill/>
          <a:ln w="38100">
            <a:solidFill>
              <a:srgbClr val="F902FC"/>
            </a:solidFill>
            <a:prstDash val="dash"/>
            <a:miter lim="800000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Rectangle 37"/>
          <p:cNvSpPr>
            <a:spLocks noChangeArrowheads="1"/>
          </p:cNvSpPr>
          <p:nvPr/>
        </p:nvSpPr>
        <p:spPr bwMode="auto">
          <a:xfrm>
            <a:off x="6629400" y="1768475"/>
            <a:ext cx="3384550" cy="1223963"/>
          </a:xfrm>
          <a:prstGeom prst="rect">
            <a:avLst/>
          </a:prstGeom>
          <a:noFill/>
          <a:ln w="38100">
            <a:solidFill>
              <a:srgbClr val="F902FC"/>
            </a:solidFill>
            <a:prstDash val="dash"/>
            <a:miter lim="800000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xit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2" grpId="0" bldLvl="0" animBg="1"/>
      <p:bldP spid="12" grpId="0" bldLvl="0" animBg="1"/>
      <p:bldP spid="12" grpId="1" bldLvl="0" animBg="1"/>
      <p:bldP spid="12" grpId="2" bldLvl="0" animBg="1"/>
      <p:bldP spid="12" grpId="3" bldLvl="0" animBg="1"/>
      <p:bldP spid="14" grpId="0" bldLvl="0" animBg="1"/>
      <p:bldP spid="14" grpId="1" bldLvl="0" animBg="1"/>
      <p:bldP spid="15" grpId="0" bldLvl="0" animBg="1"/>
      <p:bldP spid="15" grpId="1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2982E2C3-67B6-4BDA-B122-52447C13281A}" type="slidenum">
              <a:rPr lang="en-US" altLang="zh-CN" sz="1200" b="0"/>
            </a:fld>
            <a:endParaRPr lang="en-US" altLang="zh-CN" sz="1200" b="0"/>
          </a:p>
        </p:txBody>
      </p:sp>
      <p:sp>
        <p:nvSpPr>
          <p:cNvPr id="63491" name="Rectangle 2"/>
          <p:cNvSpPr>
            <a:spLocks noChangeArrowheads="1"/>
          </p:cNvSpPr>
          <p:nvPr/>
        </p:nvSpPr>
        <p:spPr bwMode="auto">
          <a:xfrm>
            <a:off x="304800" y="0"/>
            <a:ext cx="8132763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 main()</a:t>
            </a:r>
            <a:endParaRPr lang="en-US" altLang="zh-CN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	int  i,a[</a:t>
            </a:r>
            <a:r>
              <a:rPr lang="en-US" altLang="zh-CN">
                <a:solidFill>
                  <a:srgbClr val="F902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];</a:t>
            </a:r>
            <a:endParaRPr lang="en-US" altLang="zh-CN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	printf("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请输入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%d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个整数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:\n",L);</a:t>
            </a:r>
            <a:endParaRPr lang="en-US" altLang="zh-CN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	for (i=0;i&lt;L;i++)</a:t>
            </a:r>
            <a:endParaRPr lang="en-US" altLang="zh-CN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		scanf("%d",&amp;a[i]);</a:t>
            </a:r>
            <a:endParaRPr lang="en-US" altLang="zh-CN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	printf("maxarr=%d\n", </a:t>
            </a:r>
            <a:r>
              <a:rPr lang="en-US" altLang="zh-CN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ArrMax(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a,</a:t>
            </a:r>
            <a:r>
              <a:rPr lang="en-US" altLang="zh-CN">
                <a:solidFill>
                  <a:srgbClr val="F902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 );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	return 0;</a:t>
            </a:r>
            <a:endParaRPr lang="en-US" altLang="zh-CN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zh-CN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运行界面：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3492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4562475"/>
            <a:ext cx="4681538" cy="170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矩形 1"/>
          <p:cNvSpPr>
            <a:spLocks noChangeArrowheads="1"/>
          </p:cNvSpPr>
          <p:nvPr/>
        </p:nvSpPr>
        <p:spPr bwMode="auto">
          <a:xfrm>
            <a:off x="0" y="6350"/>
            <a:ext cx="9387205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FFC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【思考】函数如何把计算结果带回给主调</a:t>
            </a:r>
            <a:r>
              <a:rPr lang="zh-CN" altLang="en-US">
                <a:solidFill>
                  <a:srgbClr val="FFC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函数？</a:t>
            </a:r>
            <a:endParaRPr lang="en-US" altLang="zh-CN">
              <a:solidFill>
                <a:srgbClr val="FFC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7" name="矩形 16"/>
          <p:cNvSpPr>
            <a:spLocks noChangeArrowheads="1"/>
          </p:cNvSpPr>
          <p:nvPr/>
        </p:nvSpPr>
        <p:spPr bwMode="auto">
          <a:xfrm>
            <a:off x="-49213" y="603250"/>
            <a:ext cx="12088813" cy="49231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1800" dirty="0">
                <a:solidFill>
                  <a:schemeClr val="tx1">
                    <a:lumMod val="65000"/>
                  </a:schemeClr>
                </a:solidFill>
              </a:rPr>
              <a:t>子函数需要计算出结果，带回给主调函数：</a:t>
            </a:r>
            <a:endParaRPr lang="en-US" altLang="zh-CN" sz="1800" dirty="0">
              <a:solidFill>
                <a:schemeClr val="tx1">
                  <a:lumMod val="65000"/>
                </a:schemeClr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/>
              <a:t>1) return</a:t>
            </a:r>
            <a:r>
              <a:rPr lang="zh-CN" altLang="en-US" dirty="0"/>
              <a:t>语句</a:t>
            </a:r>
            <a:endParaRPr lang="en-US" altLang="zh-CN" dirty="0"/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dirty="0"/>
              <a:t>     </a:t>
            </a:r>
            <a:r>
              <a:rPr lang="zh-CN" altLang="en-US" dirty="0">
                <a:solidFill>
                  <a:schemeClr val="tx1">
                    <a:lumMod val="65000"/>
                  </a:schemeClr>
                </a:solidFill>
              </a:rPr>
              <a:t>如：</a:t>
            </a:r>
            <a:r>
              <a:rPr lang="en-US" altLang="zh-CN" dirty="0">
                <a:solidFill>
                  <a:schemeClr val="tx1">
                    <a:lumMod val="65000"/>
                  </a:schemeClr>
                </a:solidFill>
              </a:rPr>
              <a:t>return arr[0];  </a:t>
            </a:r>
            <a:r>
              <a:rPr lang="zh-CN" altLang="en-US" dirty="0">
                <a:solidFill>
                  <a:schemeClr val="tx1">
                    <a:lumMod val="65000"/>
                  </a:schemeClr>
                </a:solidFill>
              </a:rPr>
              <a:t>函数仅能返回一个值</a:t>
            </a:r>
            <a:endParaRPr lang="en-US" altLang="zh-CN" dirty="0">
              <a:solidFill>
                <a:schemeClr val="tx1">
                  <a:lumMod val="65000"/>
                </a:schemeClr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/>
              <a:t>2) </a:t>
            </a:r>
            <a:r>
              <a:rPr lang="zh-CN" altLang="en-US" dirty="0"/>
              <a:t>全局变量</a:t>
            </a:r>
            <a:endParaRPr lang="en-US" altLang="zh-CN" dirty="0">
              <a:solidFill>
                <a:schemeClr val="tx1">
                  <a:lumMod val="65000"/>
                </a:schemeClr>
              </a:solidFill>
            </a:endParaRP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/>
            </a:pPr>
            <a:r>
              <a:rPr lang="en-US" altLang="zh-CN" dirty="0"/>
              <a:t>3) </a:t>
            </a:r>
            <a:r>
              <a:rPr lang="zh-CN" altLang="en-US" dirty="0"/>
              <a:t>指针作参数</a:t>
            </a:r>
            <a:endParaRPr lang="en-US" altLang="zh-CN" dirty="0"/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F902FC"/>
                </a:solidFill>
                <a:latin typeface="Arial" panose="020B0604020202020204" pitchFamily="34" charset="0"/>
              </a:rPr>
              <a:t>void</a:t>
            </a:r>
            <a:r>
              <a:rPr lang="en-US" altLang="zh-CN" dirty="0">
                <a:latin typeface="Arial" panose="020B0604020202020204" pitchFamily="34" charset="0"/>
              </a:rPr>
              <a:t>  </a:t>
            </a:r>
            <a:r>
              <a:rPr lang="en-US" altLang="zh-CN" dirty="0" err="1">
                <a:latin typeface="Arial" panose="020B0604020202020204" pitchFamily="34" charset="0"/>
              </a:rPr>
              <a:t>max_min_value</a:t>
            </a:r>
            <a:r>
              <a:rPr lang="en-US" altLang="zh-CN" dirty="0">
                <a:latin typeface="Arial" panose="020B0604020202020204" pitchFamily="34" charset="0"/>
              </a:rPr>
              <a:t>(</a:t>
            </a: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</a:rPr>
              <a:t>int x[ ], int n, </a:t>
            </a:r>
            <a:r>
              <a:rPr lang="en-US" altLang="zh-CN" dirty="0">
                <a:solidFill>
                  <a:srgbClr val="F902FC"/>
                </a:solidFill>
                <a:latin typeface="Arial" panose="020B0604020202020204" pitchFamily="34" charset="0"/>
              </a:rPr>
              <a:t>int *max, int *min</a:t>
            </a:r>
            <a:r>
              <a:rPr lang="en-US" altLang="zh-CN" dirty="0">
                <a:latin typeface="Arial" panose="020B0604020202020204" pitchFamily="34" charset="0"/>
              </a:rPr>
              <a:t>)</a:t>
            </a:r>
            <a:r>
              <a:rPr lang="en-US" altLang="zh-CN" dirty="0"/>
              <a:t>;</a:t>
            </a:r>
            <a:r>
              <a:rPr lang="en-US" altLang="zh-CN" sz="1800" dirty="0">
                <a:solidFill>
                  <a:schemeClr val="tx1">
                    <a:lumMod val="65000"/>
                  </a:schemeClr>
                </a:solidFill>
              </a:rPr>
              <a:t>//</a:t>
            </a:r>
            <a:r>
              <a:rPr lang="zh-CN" altLang="en-US" sz="1800" dirty="0">
                <a:solidFill>
                  <a:schemeClr val="tx1">
                    <a:lumMod val="65000"/>
                  </a:schemeClr>
                </a:solidFill>
              </a:rPr>
              <a:t>函数原型</a:t>
            </a:r>
            <a:endParaRPr lang="en-US" altLang="zh-CN" sz="1800" dirty="0">
              <a:solidFill>
                <a:schemeClr val="tx1">
                  <a:lumMod val="65000"/>
                </a:schemeClr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dirty="0">
                <a:latin typeface="Arial" panose="020B0604020202020204" pitchFamily="34" charset="0"/>
              </a:rPr>
              <a:t>主调函数：</a:t>
            </a:r>
            <a:endParaRPr lang="en-US" altLang="zh-CN" dirty="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int </a:t>
            </a:r>
            <a:r>
              <a:rPr lang="en-US" altLang="zh-CN" dirty="0">
                <a:solidFill>
                  <a:srgbClr val="F902FC"/>
                </a:solidFill>
                <a:latin typeface="Arial" panose="020B0604020202020204" pitchFamily="34" charset="0"/>
              </a:rPr>
              <a:t>max_value,min_value</a:t>
            </a:r>
            <a:r>
              <a:rPr lang="en-US" altLang="zh-CN" dirty="0">
                <a:latin typeface="Arial" panose="020B0604020202020204" pitchFamily="34" charset="0"/>
              </a:rPr>
              <a:t>;</a:t>
            </a:r>
            <a:endParaRPr lang="en-US" altLang="zh-CN" dirty="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 err="1">
                <a:latin typeface="Arial" panose="020B0604020202020204" pitchFamily="34" charset="0"/>
              </a:rPr>
              <a:t>max_min_value</a:t>
            </a:r>
            <a:r>
              <a:rPr lang="en-US" altLang="zh-CN" dirty="0">
                <a:latin typeface="Arial" panose="020B0604020202020204" pitchFamily="34" charset="0"/>
              </a:rPr>
              <a:t> (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</a:rPr>
              <a:t>a,10, </a:t>
            </a:r>
            <a:r>
              <a:rPr lang="en-US" altLang="zh-CN" dirty="0">
                <a:solidFill>
                  <a:srgbClr val="F902FC"/>
                </a:solidFill>
                <a:latin typeface="Arial" panose="020B0604020202020204" pitchFamily="34" charset="0"/>
              </a:rPr>
              <a:t>&amp;max_value,&amp;min_value</a:t>
            </a:r>
            <a:r>
              <a:rPr lang="en-US" altLang="zh-CN" dirty="0">
                <a:latin typeface="Arial" panose="020B0604020202020204" pitchFamily="34" charset="0"/>
              </a:rPr>
              <a:t>); </a:t>
            </a:r>
            <a:r>
              <a:rPr lang="en-US" altLang="zh-CN" sz="2000" dirty="0">
                <a:solidFill>
                  <a:schemeClr val="tx1">
                    <a:lumMod val="65000"/>
                  </a:schemeClr>
                </a:solidFill>
              </a:rPr>
              <a:t>//</a:t>
            </a:r>
            <a:r>
              <a:rPr lang="zh-CN" altLang="en-US" sz="2000" dirty="0">
                <a:solidFill>
                  <a:schemeClr val="tx1">
                    <a:lumMod val="65000"/>
                  </a:schemeClr>
                </a:solidFill>
              </a:rPr>
              <a:t>函数调用</a:t>
            </a:r>
            <a:r>
              <a:rPr lang="en-US" altLang="zh-CN" sz="2000" dirty="0"/>
              <a:t>	</a:t>
            </a:r>
            <a:endParaRPr lang="en-US" altLang="zh-CN" sz="2000" dirty="0"/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zh-CN" sz="2000" dirty="0">
              <a:solidFill>
                <a:schemeClr val="tx1">
                  <a:lumMod val="65000"/>
                </a:schemeClr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schemeClr val="tx1">
                    <a:lumMod val="65000"/>
                  </a:schemeClr>
                </a:solidFill>
              </a:rPr>
              <a:t>对</a:t>
            </a:r>
            <a:r>
              <a:rPr lang="en-US" altLang="zh-CN" sz="2000" dirty="0">
                <a:solidFill>
                  <a:schemeClr val="tx1">
                    <a:lumMod val="65000"/>
                  </a:schemeClr>
                </a:solidFill>
              </a:rPr>
              <a:t>*max</a:t>
            </a:r>
            <a:r>
              <a:rPr lang="zh-CN" altLang="en-US" sz="2000" dirty="0">
                <a:solidFill>
                  <a:schemeClr val="tx1">
                    <a:lumMod val="65000"/>
                  </a:schemeClr>
                </a:solidFill>
              </a:rPr>
              <a:t>做赋值，就是对主调函数中对应变量</a:t>
            </a:r>
            <a:r>
              <a:rPr lang="en-US" altLang="zh-CN" sz="2000" dirty="0" err="1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max_value</a:t>
            </a:r>
            <a:r>
              <a:rPr lang="zh-CN" altLang="en-US" sz="2000" dirty="0">
                <a:solidFill>
                  <a:schemeClr val="tx1">
                    <a:lumMod val="65000"/>
                  </a:schemeClr>
                </a:solidFill>
              </a:rPr>
              <a:t>做赋值</a:t>
            </a:r>
            <a:r>
              <a:rPr lang="en-US" altLang="zh-CN" sz="2000" dirty="0">
                <a:solidFill>
                  <a:schemeClr val="tx1">
                    <a:lumMod val="65000"/>
                  </a:schemeClr>
                </a:solidFill>
              </a:rPr>
              <a:t>,</a:t>
            </a:r>
            <a:r>
              <a:rPr lang="zh-CN" altLang="en-US" sz="2000" dirty="0">
                <a:solidFill>
                  <a:schemeClr val="tx1">
                    <a:lumMod val="65000"/>
                  </a:schemeClr>
                </a:solidFill>
              </a:rPr>
              <a:t>适合需要带回</a:t>
            </a:r>
            <a:r>
              <a:rPr lang="en-US" altLang="zh-CN" sz="2000" dirty="0">
                <a:solidFill>
                  <a:schemeClr val="tx1">
                    <a:lumMod val="65000"/>
                  </a:schemeClr>
                </a:solidFill>
              </a:rPr>
              <a:t>1</a:t>
            </a:r>
            <a:r>
              <a:rPr lang="zh-CN" altLang="en-US" sz="2000" dirty="0">
                <a:solidFill>
                  <a:schemeClr val="tx1">
                    <a:lumMod val="65000"/>
                  </a:schemeClr>
                </a:solidFill>
              </a:rPr>
              <a:t>个或多个计算结果的函数</a:t>
            </a:r>
            <a:endParaRPr lang="zh-CN" altLang="en-US" sz="2000" dirty="0">
              <a:solidFill>
                <a:schemeClr val="tx1">
                  <a:lumMod val="65000"/>
                </a:schemeClr>
              </a:solidFill>
            </a:endParaRPr>
          </a:p>
        </p:txBody>
      </p:sp>
      <p:sp>
        <p:nvSpPr>
          <p:cNvPr id="20484" name="矩形 1"/>
          <p:cNvSpPr>
            <a:spLocks noChangeArrowheads="1"/>
          </p:cNvSpPr>
          <p:nvPr/>
        </p:nvSpPr>
        <p:spPr bwMode="auto">
          <a:xfrm>
            <a:off x="11113" y="6273800"/>
            <a:ext cx="7239000" cy="584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/>
              <a:t>递归函数也是函数，以上规则同样适用</a:t>
            </a: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163300" y="6248400"/>
            <a:ext cx="419100" cy="4572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1C582B03-EDA1-4765-B8FF-000BDB69D451}" type="slidenum">
              <a:rPr lang="en-US" altLang="zh-CN" sz="1200" b="0"/>
            </a:fld>
            <a:endParaRPr lang="en-US" altLang="zh-CN" sz="1200" b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4" grpId="0" animBg="1"/>
      <p:bldP spid="20484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88" name="Text Box 34"/>
          <p:cNvSpPr txBox="1">
            <a:spLocks noChangeArrowheads="1"/>
          </p:cNvSpPr>
          <p:nvPr/>
        </p:nvSpPr>
        <p:spPr bwMode="auto">
          <a:xfrm>
            <a:off x="0" y="350838"/>
            <a:ext cx="12209463" cy="3841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1900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假定</a:t>
            </a:r>
            <a:r>
              <a:rPr lang="en-US" altLang="zh-CN" sz="1900" dirty="0" err="1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maxValue</a:t>
            </a:r>
            <a:r>
              <a:rPr lang="en-US" altLang="zh-CN" sz="1900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=a[0]</a:t>
            </a:r>
            <a:r>
              <a:rPr lang="zh-CN" altLang="en-US" sz="1900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，在下标 </a:t>
            </a:r>
            <a:r>
              <a:rPr lang="en-US" altLang="zh-CN" sz="1900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[0,i ]</a:t>
            </a:r>
            <a:r>
              <a:rPr lang="zh-CN" altLang="en-US" sz="1900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范围内找出最大数，更新</a:t>
            </a:r>
            <a:r>
              <a:rPr lang="en-US" altLang="zh-CN" sz="1900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*p( </a:t>
            </a:r>
            <a:r>
              <a:rPr lang="zh-CN" altLang="en-US" sz="1900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即赋值给</a:t>
            </a:r>
            <a:r>
              <a:rPr lang="en-US" altLang="zh-CN" sz="1900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/</a:t>
            </a:r>
            <a:r>
              <a:rPr lang="zh-CN" altLang="en-US" sz="1900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更新</a:t>
            </a:r>
            <a:r>
              <a:rPr lang="en-US" altLang="zh-CN" sz="1900" dirty="0" err="1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maxValue</a:t>
            </a:r>
            <a:r>
              <a:rPr lang="en-US" altLang="zh-CN" sz="1900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 )</a:t>
            </a:r>
            <a:endParaRPr lang="en-US" altLang="zh-CN" sz="1900" dirty="0">
              <a:solidFill>
                <a:schemeClr val="tx1">
                  <a:lumMod val="6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163300" y="6248400"/>
            <a:ext cx="419100" cy="4572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0D97A4FA-21FF-4BF3-9105-FB2B97705EDC}" type="slidenum">
              <a:rPr lang="en-US" altLang="zh-CN" sz="1200" b="0"/>
            </a:fld>
            <a:endParaRPr lang="en-US" altLang="zh-CN" sz="1200" b="0" dirty="0"/>
          </a:p>
        </p:txBody>
      </p:sp>
      <p:sp>
        <p:nvSpPr>
          <p:cNvPr id="21508" name="矩形 1"/>
          <p:cNvSpPr>
            <a:spLocks noChangeArrowheads="1"/>
          </p:cNvSpPr>
          <p:nvPr/>
        </p:nvSpPr>
        <p:spPr bwMode="auto">
          <a:xfrm>
            <a:off x="0" y="-98425"/>
            <a:ext cx="7640638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chemeClr val="hlink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参考程序</a:t>
            </a:r>
            <a:r>
              <a:rPr lang="en-US" altLang="zh-CN">
                <a:solidFill>
                  <a:schemeClr val="hlink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3</a:t>
            </a:r>
            <a:r>
              <a:rPr lang="zh-CN" altLang="en-US">
                <a:solidFill>
                  <a:schemeClr val="hlink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：从前向后找（指针参数带回）</a:t>
            </a:r>
            <a:endParaRPr lang="zh-CN" altLang="en-US"/>
          </a:p>
        </p:txBody>
      </p:sp>
      <p:graphicFrame>
        <p:nvGraphicFramePr>
          <p:cNvPr id="11" name="Group 17"/>
          <p:cNvGraphicFramePr>
            <a:graphicFrameLocks noGrp="1"/>
          </p:cNvGraphicFramePr>
          <p:nvPr>
            <p:ph idx="1"/>
          </p:nvPr>
        </p:nvGraphicFramePr>
        <p:xfrm>
          <a:off x="3783013" y="1573213"/>
          <a:ext cx="8229600" cy="579437"/>
        </p:xfrm>
        <a:graphic>
          <a:graphicData uri="http://schemas.openxmlformats.org/drawingml/2006/table">
            <a:tbl>
              <a:tblPr/>
              <a:tblGrid>
                <a:gridCol w="1646237"/>
                <a:gridCol w="1646238"/>
                <a:gridCol w="1644650"/>
                <a:gridCol w="1646237"/>
                <a:gridCol w="1646238"/>
              </a:tblGrid>
              <a:tr h="57943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22</a:t>
                      </a:r>
                      <a:endParaRPr kumimoji="0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45" marB="4574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34</a:t>
                      </a:r>
                      <a:endParaRPr kumimoji="0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45" marB="457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45" marB="457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52</a:t>
                      </a:r>
                      <a:endParaRPr kumimoji="0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45" marB="457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15</a:t>
                      </a:r>
                      <a:endParaRPr kumimoji="0" lang="en-US" altLang="zh-CN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45" marB="457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5" name="Line 24"/>
          <p:cNvSpPr>
            <a:spLocks noChangeShapeType="1"/>
          </p:cNvSpPr>
          <p:nvPr/>
        </p:nvSpPr>
        <p:spPr bwMode="auto">
          <a:xfrm>
            <a:off x="7850188" y="687388"/>
            <a:ext cx="0" cy="86360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tailEnd type="triangl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Line 27"/>
          <p:cNvSpPr>
            <a:spLocks noChangeShapeType="1"/>
          </p:cNvSpPr>
          <p:nvPr/>
        </p:nvSpPr>
        <p:spPr bwMode="auto">
          <a:xfrm>
            <a:off x="6194425" y="687388"/>
            <a:ext cx="0" cy="86360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tailEnd type="triangl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" name="Line 24"/>
          <p:cNvSpPr>
            <a:spLocks noChangeShapeType="1"/>
          </p:cNvSpPr>
          <p:nvPr/>
        </p:nvSpPr>
        <p:spPr bwMode="auto">
          <a:xfrm>
            <a:off x="9507538" y="687388"/>
            <a:ext cx="0" cy="86360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tailEnd type="triangl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Line 24"/>
          <p:cNvSpPr>
            <a:spLocks noChangeShapeType="1"/>
          </p:cNvSpPr>
          <p:nvPr/>
        </p:nvSpPr>
        <p:spPr bwMode="auto">
          <a:xfrm>
            <a:off x="11163300" y="714375"/>
            <a:ext cx="0" cy="86360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tailEnd type="triangl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" name="Text Box 21"/>
          <p:cNvSpPr txBox="1">
            <a:spLocks noChangeArrowheads="1"/>
          </p:cNvSpPr>
          <p:nvPr/>
        </p:nvSpPr>
        <p:spPr bwMode="auto">
          <a:xfrm>
            <a:off x="6130925" y="1036638"/>
            <a:ext cx="12588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hlink"/>
                </a:solidFill>
                <a:latin typeface="Arial" panose="020B0604020202020204" pitchFamily="34" charset="0"/>
              </a:rPr>
              <a:t>a[1]</a:t>
            </a:r>
            <a:endParaRPr lang="en-US" altLang="zh-CN" sz="240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  <p:sp>
        <p:nvSpPr>
          <p:cNvPr id="24" name="Text Box 21"/>
          <p:cNvSpPr txBox="1">
            <a:spLocks noChangeArrowheads="1"/>
          </p:cNvSpPr>
          <p:nvPr/>
        </p:nvSpPr>
        <p:spPr bwMode="auto">
          <a:xfrm>
            <a:off x="9444038" y="1063625"/>
            <a:ext cx="12588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hlink"/>
                </a:solidFill>
                <a:latin typeface="Arial" panose="020B0604020202020204" pitchFamily="34" charset="0"/>
              </a:rPr>
              <a:t>a[3]</a:t>
            </a:r>
            <a:endParaRPr lang="en-US" altLang="zh-CN" sz="240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  <p:sp>
        <p:nvSpPr>
          <p:cNvPr id="25" name="Text Box 21"/>
          <p:cNvSpPr txBox="1">
            <a:spLocks noChangeArrowheads="1"/>
          </p:cNvSpPr>
          <p:nvPr/>
        </p:nvSpPr>
        <p:spPr bwMode="auto">
          <a:xfrm>
            <a:off x="11090275" y="1068388"/>
            <a:ext cx="12588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hlink"/>
                </a:solidFill>
                <a:latin typeface="Arial" panose="020B0604020202020204" pitchFamily="34" charset="0"/>
              </a:rPr>
              <a:t>a[4]</a:t>
            </a:r>
            <a:endParaRPr lang="en-US" altLang="zh-CN" sz="240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  <p:sp>
        <p:nvSpPr>
          <p:cNvPr id="26" name="Text Box 21"/>
          <p:cNvSpPr txBox="1">
            <a:spLocks noChangeArrowheads="1"/>
          </p:cNvSpPr>
          <p:nvPr/>
        </p:nvSpPr>
        <p:spPr bwMode="auto">
          <a:xfrm>
            <a:off x="7850188" y="1063625"/>
            <a:ext cx="12588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hlink"/>
                </a:solidFill>
                <a:latin typeface="Arial" panose="020B0604020202020204" pitchFamily="34" charset="0"/>
              </a:rPr>
              <a:t>a[2]</a:t>
            </a:r>
            <a:endParaRPr lang="en-US" altLang="zh-CN" sz="240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  <p:sp>
        <p:nvSpPr>
          <p:cNvPr id="30" name="矩形 29"/>
          <p:cNvSpPr>
            <a:spLocks noChangeArrowheads="1"/>
          </p:cNvSpPr>
          <p:nvPr/>
        </p:nvSpPr>
        <p:spPr bwMode="auto">
          <a:xfrm>
            <a:off x="76200" y="2449513"/>
            <a:ext cx="11109325" cy="38766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/>
              <a:t>void </a:t>
            </a:r>
            <a:r>
              <a:rPr lang="en-US" altLang="zh-CN" dirty="0">
                <a:solidFill>
                  <a:srgbClr val="FFFF00"/>
                </a:solidFill>
              </a:rPr>
              <a:t>max( </a:t>
            </a:r>
            <a:r>
              <a:rPr lang="en-US" altLang="zh-CN" dirty="0"/>
              <a:t>int data[], int </a:t>
            </a:r>
            <a:r>
              <a:rPr lang="en-US" altLang="zh-CN" dirty="0" err="1"/>
              <a:t>i</a:t>
            </a:r>
            <a:r>
              <a:rPr lang="en-US" altLang="zh-CN" dirty="0"/>
              <a:t> , </a:t>
            </a:r>
            <a:r>
              <a:rPr lang="en-US" altLang="zh-CN" dirty="0">
                <a:solidFill>
                  <a:srgbClr val="F902FC"/>
                </a:solidFill>
              </a:rPr>
              <a:t>int *p</a:t>
            </a:r>
            <a:r>
              <a:rPr lang="en-US" altLang="zh-CN" dirty="0">
                <a:solidFill>
                  <a:srgbClr val="FFFF00"/>
                </a:solidFill>
              </a:rPr>
              <a:t>)</a:t>
            </a:r>
            <a:endParaRPr lang="en-US" altLang="zh-CN" dirty="0">
              <a:solidFill>
                <a:srgbClr val="FFFF0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/>
              <a:t>{</a:t>
            </a:r>
            <a:endParaRPr lang="en-US" altLang="zh-CN" sz="180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/>
              <a:t>	if(</a:t>
            </a:r>
            <a:r>
              <a:rPr lang="en-US" altLang="zh-CN" dirty="0" err="1"/>
              <a:t>i&gt;</a:t>
            </a:r>
            <a:r>
              <a:rPr lang="en-US" altLang="zh-CN" dirty="0"/>
              <a:t>=L) </a:t>
            </a:r>
            <a:r>
              <a:rPr lang="en-US" altLang="zh-CN" sz="1400" dirty="0">
                <a:solidFill>
                  <a:schemeClr val="tx1">
                    <a:lumMod val="65000"/>
                  </a:schemeClr>
                </a:solidFill>
              </a:rPr>
              <a:t>//</a:t>
            </a:r>
            <a:r>
              <a:rPr lang="zh-CN" altLang="en-US" sz="1400" dirty="0">
                <a:solidFill>
                  <a:schemeClr val="tx1">
                    <a:lumMod val="65000"/>
                  </a:schemeClr>
                </a:solidFill>
              </a:rPr>
              <a:t>最后一个元素已比对，退出</a:t>
            </a:r>
            <a:endParaRPr lang="zh-CN" altLang="en-US" sz="1400" dirty="0">
              <a:solidFill>
                <a:schemeClr val="tx1">
                  <a:lumMod val="65000"/>
                </a:schemeClr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dirty="0"/>
              <a:t>		</a:t>
            </a:r>
            <a:r>
              <a:rPr lang="en-US" altLang="zh-CN" dirty="0"/>
              <a:t>return;</a:t>
            </a:r>
            <a:endParaRPr lang="en-US" altLang="zh-CN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/>
              <a:t>	</a:t>
            </a:r>
            <a:r>
              <a:rPr lang="en-US" altLang="zh-CN" sz="1600" dirty="0"/>
              <a:t> </a:t>
            </a:r>
            <a:r>
              <a:rPr lang="en-US" altLang="zh-CN" sz="1600" dirty="0">
                <a:solidFill>
                  <a:schemeClr val="tx1">
                    <a:lumMod val="65000"/>
                  </a:schemeClr>
                </a:solidFill>
              </a:rPr>
              <a:t>//</a:t>
            </a:r>
            <a:r>
              <a:rPr lang="zh-CN" altLang="en-US" sz="1600" dirty="0">
                <a:solidFill>
                  <a:schemeClr val="tx1">
                    <a:lumMod val="65000"/>
                  </a:schemeClr>
                </a:solidFill>
              </a:rPr>
              <a:t>每次都拿*</a:t>
            </a:r>
            <a:r>
              <a:rPr lang="en-US" altLang="zh-CN" sz="1600" dirty="0">
                <a:solidFill>
                  <a:schemeClr val="tx1">
                    <a:lumMod val="65000"/>
                  </a:schemeClr>
                </a:solidFill>
              </a:rPr>
              <a:t>p</a:t>
            </a:r>
            <a:r>
              <a:rPr lang="zh-CN" altLang="en-US" sz="1600" dirty="0">
                <a:solidFill>
                  <a:schemeClr val="tx1">
                    <a:lumMod val="65000"/>
                  </a:schemeClr>
                </a:solidFill>
              </a:rPr>
              <a:t>去和</a:t>
            </a:r>
            <a:r>
              <a:rPr lang="en-US" altLang="zh-CN" sz="1600" dirty="0">
                <a:solidFill>
                  <a:schemeClr val="tx1">
                    <a:lumMod val="65000"/>
                  </a:schemeClr>
                </a:solidFill>
              </a:rPr>
              <a:t>data[</a:t>
            </a:r>
            <a:r>
              <a:rPr lang="en-US" altLang="zh-CN" sz="1600" dirty="0" err="1">
                <a:solidFill>
                  <a:schemeClr val="tx1">
                    <a:lumMod val="65000"/>
                  </a:schemeClr>
                </a:solidFill>
              </a:rPr>
              <a:t>i</a:t>
            </a:r>
            <a:r>
              <a:rPr lang="en-US" altLang="zh-CN" sz="1600" dirty="0">
                <a:solidFill>
                  <a:schemeClr val="tx1">
                    <a:lumMod val="65000"/>
                  </a:schemeClr>
                </a:solidFill>
              </a:rPr>
              <a:t>]</a:t>
            </a:r>
            <a:r>
              <a:rPr lang="zh-CN" altLang="en-US" sz="1600" dirty="0">
                <a:solidFill>
                  <a:schemeClr val="tx1">
                    <a:lumMod val="65000"/>
                  </a:schemeClr>
                </a:solidFill>
              </a:rPr>
              <a:t>进行比较，将最大值更新至*</a:t>
            </a:r>
            <a:r>
              <a:rPr lang="en-US" altLang="zh-CN" sz="1600" dirty="0">
                <a:solidFill>
                  <a:schemeClr val="tx1">
                    <a:lumMod val="65000"/>
                  </a:schemeClr>
                </a:solidFill>
              </a:rPr>
              <a:t>p</a:t>
            </a:r>
            <a:endParaRPr lang="en-US" altLang="zh-CN" sz="1600" dirty="0">
              <a:solidFill>
                <a:schemeClr val="tx1">
                  <a:lumMod val="65000"/>
                </a:schemeClr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/>
              <a:t>	</a:t>
            </a:r>
            <a:r>
              <a:rPr lang="en-US" altLang="zh-CN" dirty="0">
                <a:solidFill>
                  <a:srgbClr val="F902FC"/>
                </a:solidFill>
              </a:rPr>
              <a:t>*p= *p</a:t>
            </a:r>
            <a:r>
              <a:rPr lang="en-US" altLang="zh-CN" dirty="0"/>
              <a:t> &gt; data[</a:t>
            </a:r>
            <a:r>
              <a:rPr lang="en-US" altLang="zh-CN" dirty="0" err="1"/>
              <a:t>i</a:t>
            </a:r>
            <a:r>
              <a:rPr lang="en-US" altLang="zh-CN" dirty="0"/>
              <a:t>] </a:t>
            </a:r>
            <a:r>
              <a:rPr lang="en-US" altLang="zh-C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?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902FC"/>
                </a:solidFill>
              </a:rPr>
              <a:t>*p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  <a:r>
              <a:rPr lang="en-US" altLang="zh-CN" dirty="0"/>
              <a:t> data[</a:t>
            </a:r>
            <a:r>
              <a:rPr lang="en-US" altLang="zh-CN" dirty="0" err="1"/>
              <a:t>i</a:t>
            </a:r>
            <a:r>
              <a:rPr lang="en-US" altLang="zh-CN" dirty="0"/>
              <a:t>];</a:t>
            </a:r>
            <a:endParaRPr lang="en-US" altLang="zh-CN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dirty="0"/>
              <a:t>	</a:t>
            </a:r>
            <a:r>
              <a:rPr lang="en-US" altLang="zh-CN" dirty="0">
                <a:solidFill>
                  <a:srgbClr val="FFFF00"/>
                </a:solidFill>
              </a:rPr>
              <a:t>max(</a:t>
            </a:r>
            <a:r>
              <a:rPr lang="en-US" altLang="zh-CN" dirty="0"/>
              <a:t>data, i+1, </a:t>
            </a:r>
            <a:r>
              <a:rPr lang="en-US" altLang="zh-CN" dirty="0">
                <a:solidFill>
                  <a:srgbClr val="F902FC"/>
                </a:solidFill>
              </a:rPr>
              <a:t>p</a:t>
            </a:r>
            <a:r>
              <a:rPr lang="en-US" altLang="zh-CN" dirty="0">
                <a:solidFill>
                  <a:srgbClr val="FFFF00"/>
                </a:solidFill>
              </a:rPr>
              <a:t>); </a:t>
            </a:r>
            <a:r>
              <a:rPr lang="en-US" altLang="zh-CN" dirty="0"/>
              <a:t>	</a:t>
            </a:r>
            <a:endParaRPr lang="en-US" altLang="zh-CN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/>
              <a:t>	</a:t>
            </a:r>
            <a:endParaRPr lang="en-US" altLang="zh-CN" sz="180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/>
              <a:t>}</a:t>
            </a:r>
            <a:endParaRPr lang="zh-CN" altLang="zh-CN" dirty="0"/>
          </a:p>
        </p:txBody>
      </p:sp>
      <p:sp>
        <p:nvSpPr>
          <p:cNvPr id="21532" name="矩形 1"/>
          <p:cNvSpPr>
            <a:spLocks noChangeArrowheads="1"/>
          </p:cNvSpPr>
          <p:nvPr/>
        </p:nvSpPr>
        <p:spPr bwMode="auto">
          <a:xfrm>
            <a:off x="6792913" y="2990850"/>
            <a:ext cx="5429250" cy="18462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1800" dirty="0"/>
              <a:t>主调函数：</a:t>
            </a:r>
            <a:endParaRPr lang="en-US" altLang="zh-CN" sz="1800" dirty="0"/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dirty="0"/>
              <a:t>int a[L]={……};</a:t>
            </a:r>
            <a:endParaRPr lang="en-US" altLang="zh-CN" sz="2800" dirty="0"/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/>
              <a:t>int </a:t>
            </a:r>
            <a:r>
              <a:rPr lang="en-US" altLang="zh-CN" dirty="0" err="1">
                <a:solidFill>
                  <a:srgbClr val="F902FC"/>
                </a:solidFill>
              </a:rPr>
              <a:t>maxValue</a:t>
            </a:r>
            <a:r>
              <a:rPr lang="en-US" altLang="zh-CN" dirty="0">
                <a:solidFill>
                  <a:schemeClr val="tx1"/>
                </a:solidFill>
              </a:rPr>
              <a:t>=a[0]</a:t>
            </a:r>
            <a:r>
              <a:rPr lang="en-US" altLang="zh-CN" dirty="0"/>
              <a:t>; </a:t>
            </a:r>
            <a:endParaRPr lang="en-US" altLang="zh-CN" dirty="0"/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srgbClr val="FFFF00"/>
                </a:solidFill>
              </a:rPr>
              <a:t>max( </a:t>
            </a:r>
            <a:r>
              <a:rPr lang="en-US" altLang="zh-CN" dirty="0">
                <a:solidFill>
                  <a:schemeClr val="tx1"/>
                </a:solidFill>
              </a:rPr>
              <a:t>a, 1  ,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902FC"/>
                </a:solidFill>
              </a:rPr>
              <a:t>&amp;</a:t>
            </a:r>
            <a:r>
              <a:rPr lang="en-US" altLang="zh-CN" dirty="0" err="1">
                <a:solidFill>
                  <a:srgbClr val="F902FC"/>
                </a:solidFill>
              </a:rPr>
              <a:t>maxValue</a:t>
            </a:r>
            <a:r>
              <a:rPr lang="en-US" altLang="zh-CN" dirty="0">
                <a:solidFill>
                  <a:srgbClr val="FFFF00"/>
                </a:solidFill>
              </a:rPr>
              <a:t>);</a:t>
            </a:r>
            <a:r>
              <a:rPr lang="en-US" altLang="zh-CN" dirty="0"/>
              <a:t>  </a:t>
            </a:r>
            <a:endParaRPr lang="zh-CN" altLang="en-US" dirty="0"/>
          </a:p>
        </p:txBody>
      </p:sp>
      <p:sp>
        <p:nvSpPr>
          <p:cNvPr id="33" name="Rectangle 37"/>
          <p:cNvSpPr>
            <a:spLocks noChangeArrowheads="1"/>
          </p:cNvSpPr>
          <p:nvPr/>
        </p:nvSpPr>
        <p:spPr bwMode="auto">
          <a:xfrm>
            <a:off x="4178300" y="1622425"/>
            <a:ext cx="828675" cy="477838"/>
          </a:xfrm>
          <a:prstGeom prst="rect">
            <a:avLst/>
          </a:prstGeom>
          <a:noFill/>
          <a:ln w="38100">
            <a:solidFill>
              <a:srgbClr val="F902FC"/>
            </a:solidFill>
            <a:prstDash val="dash"/>
            <a:miter lim="800000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4" name="Rectangle 37"/>
          <p:cNvSpPr>
            <a:spLocks noChangeArrowheads="1"/>
          </p:cNvSpPr>
          <p:nvPr/>
        </p:nvSpPr>
        <p:spPr bwMode="auto">
          <a:xfrm>
            <a:off x="5780088" y="1649413"/>
            <a:ext cx="828675" cy="477837"/>
          </a:xfrm>
          <a:prstGeom prst="rect">
            <a:avLst/>
          </a:prstGeom>
          <a:noFill/>
          <a:ln w="38100">
            <a:solidFill>
              <a:srgbClr val="F902FC"/>
            </a:solidFill>
            <a:prstDash val="dash"/>
            <a:miter lim="800000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5" name="Rectangle 37"/>
          <p:cNvSpPr>
            <a:spLocks noChangeArrowheads="1"/>
          </p:cNvSpPr>
          <p:nvPr/>
        </p:nvSpPr>
        <p:spPr bwMode="auto">
          <a:xfrm>
            <a:off x="9172575" y="1649413"/>
            <a:ext cx="828675" cy="477837"/>
          </a:xfrm>
          <a:prstGeom prst="rect">
            <a:avLst/>
          </a:prstGeom>
          <a:noFill/>
          <a:ln w="38100">
            <a:solidFill>
              <a:srgbClr val="F902FC"/>
            </a:solidFill>
            <a:prstDash val="dash"/>
            <a:miter lim="800000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" name="对话气泡: 圆角矩形 18"/>
          <p:cNvSpPr/>
          <p:nvPr/>
        </p:nvSpPr>
        <p:spPr bwMode="auto">
          <a:xfrm>
            <a:off x="5065713" y="5713413"/>
            <a:ext cx="4378325" cy="457200"/>
          </a:xfrm>
          <a:prstGeom prst="wedgeRoundRectCallout">
            <a:avLst>
              <a:gd name="adj1" fmla="val -45381"/>
              <a:gd name="adj2" fmla="val -157340"/>
              <a:gd name="adj3" fmla="val 16667"/>
            </a:avLst>
          </a:prstGeom>
          <a:solidFill>
            <a:srgbClr val="00B0F0"/>
          </a:solidFill>
          <a:ln>
            <a:noFill/>
          </a:ln>
          <a:effectLst/>
        </p:spPr>
        <p:txBody>
          <a:bodyPr anchor="ctr"/>
          <a:lstStyle/>
          <a:p>
            <a:pPr eaLnBrk="1" hangingPunct="1"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无返回值，通过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指针参数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带回</a:t>
            </a:r>
            <a:endParaRPr lang="zh-CN" alt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7" name="Rectangle 37"/>
          <p:cNvSpPr>
            <a:spLocks noChangeArrowheads="1"/>
          </p:cNvSpPr>
          <p:nvPr/>
        </p:nvSpPr>
        <p:spPr bwMode="auto">
          <a:xfrm>
            <a:off x="2279650" y="2519363"/>
            <a:ext cx="3119438" cy="471487"/>
          </a:xfrm>
          <a:prstGeom prst="rect">
            <a:avLst/>
          </a:prstGeom>
          <a:noFill/>
          <a:ln w="38100">
            <a:solidFill>
              <a:srgbClr val="F902FC"/>
            </a:solidFill>
            <a:prstDash val="dash"/>
            <a:miter lim="800000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8" name="Rectangle 37"/>
          <p:cNvSpPr>
            <a:spLocks noChangeArrowheads="1"/>
          </p:cNvSpPr>
          <p:nvPr/>
        </p:nvSpPr>
        <p:spPr bwMode="auto">
          <a:xfrm>
            <a:off x="2133600" y="5181600"/>
            <a:ext cx="1856105" cy="532765"/>
          </a:xfrm>
          <a:prstGeom prst="rect">
            <a:avLst/>
          </a:prstGeom>
          <a:noFill/>
          <a:ln w="38100">
            <a:solidFill>
              <a:srgbClr val="F902FC"/>
            </a:solidFill>
            <a:prstDash val="dash"/>
            <a:miter lim="800000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3" grpId="1"/>
      <p:bldP spid="24" grpId="0"/>
      <p:bldP spid="24" grpId="1"/>
      <p:bldP spid="25" grpId="0"/>
      <p:bldP spid="26" grpId="0"/>
      <p:bldP spid="26" grpId="1"/>
      <p:bldP spid="33" grpId="0" bldLvl="0" animBg="1"/>
      <p:bldP spid="34" grpId="0" bldLvl="0" animBg="1"/>
      <p:bldP spid="35" grpId="0" bldLvl="0" animBg="1"/>
      <p:bldP spid="19" grpId="0" animBg="1"/>
      <p:bldP spid="27" grpId="0" bldLvl="0" animBg="1"/>
      <p:bldP spid="28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304800" y="1524000"/>
            <a:ext cx="9352915" cy="3538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CN" sz="2800" dirty="0"/>
              <a:t>void </a:t>
            </a:r>
            <a:r>
              <a:rPr lang="en-US" altLang="zh-CN" sz="2800" dirty="0">
                <a:solidFill>
                  <a:srgbClr val="FFFF00"/>
                </a:solidFill>
              </a:rPr>
              <a:t>max(</a:t>
            </a:r>
            <a:r>
              <a:rPr lang="en-US" altLang="zh-CN" sz="2800" dirty="0"/>
              <a:t>int data[],int </a:t>
            </a:r>
            <a:r>
              <a:rPr lang="en-US" altLang="zh-CN" sz="2800" dirty="0" err="1"/>
              <a:t>i,</a:t>
            </a:r>
            <a:r>
              <a:rPr lang="en-US" altLang="zh-CN" sz="2800" dirty="0" err="1">
                <a:solidFill>
                  <a:srgbClr val="F902FC"/>
                </a:solidFill>
              </a:rPr>
              <a:t>int</a:t>
            </a:r>
            <a:r>
              <a:rPr lang="en-US" altLang="zh-CN" sz="2800" dirty="0">
                <a:solidFill>
                  <a:srgbClr val="F902FC"/>
                </a:solidFill>
              </a:rPr>
              <a:t> *p</a:t>
            </a:r>
            <a:r>
              <a:rPr lang="en-US" altLang="zh-CN" sz="2800" dirty="0">
                <a:solidFill>
                  <a:srgbClr val="FFFF00"/>
                </a:solidFill>
              </a:rPr>
              <a:t>)</a:t>
            </a:r>
            <a:endParaRPr lang="en-US" altLang="zh-CN" sz="2800" dirty="0">
              <a:solidFill>
                <a:srgbClr val="FFFF00"/>
              </a:solidFill>
            </a:endParaRPr>
          </a:p>
          <a:p>
            <a:pPr eaLnBrk="1" hangingPunct="1">
              <a:defRPr/>
            </a:pPr>
            <a:r>
              <a:rPr lang="en-US" altLang="zh-CN" sz="2800" dirty="0"/>
              <a:t>{</a:t>
            </a:r>
            <a:endParaRPr lang="en-US" altLang="zh-CN" sz="2800" dirty="0"/>
          </a:p>
          <a:p>
            <a:pPr eaLnBrk="1" hangingPunct="1">
              <a:defRPr/>
            </a:pPr>
            <a:r>
              <a:rPr lang="en-US" altLang="zh-CN" sz="2800" dirty="0"/>
              <a:t>   	if( </a:t>
            </a:r>
            <a:r>
              <a:rPr lang="en-US" altLang="zh-CN" sz="2800" dirty="0" err="1"/>
              <a:t>i</a:t>
            </a:r>
            <a:r>
              <a:rPr lang="en-US" altLang="zh-CN" sz="2800" dirty="0"/>
              <a:t>&lt;L)  </a:t>
            </a:r>
            <a:r>
              <a:rPr lang="en-US" altLang="zh-CN" sz="2800" dirty="0">
                <a:solidFill>
                  <a:schemeClr val="tx1">
                    <a:lumMod val="65000"/>
                  </a:schemeClr>
                </a:solidFill>
              </a:rPr>
              <a:t>//</a:t>
            </a:r>
            <a:r>
              <a:rPr lang="zh-CN" altLang="en-US" sz="2800" dirty="0">
                <a:solidFill>
                  <a:schemeClr val="tx1">
                    <a:lumMod val="65000"/>
                  </a:schemeClr>
                </a:solidFill>
              </a:rPr>
              <a:t>和数组所有元素依次比对，*</a:t>
            </a:r>
            <a:r>
              <a:rPr lang="en-US" altLang="zh-CN" sz="2800" dirty="0">
                <a:solidFill>
                  <a:schemeClr val="tx1">
                    <a:lumMod val="65000"/>
                  </a:schemeClr>
                </a:solidFill>
              </a:rPr>
              <a:t>p</a:t>
            </a:r>
            <a:r>
              <a:rPr lang="zh-CN" altLang="en-US" sz="2800" dirty="0">
                <a:solidFill>
                  <a:schemeClr val="tx1">
                    <a:lumMod val="65000"/>
                  </a:schemeClr>
                </a:solidFill>
              </a:rPr>
              <a:t>实时更新</a:t>
            </a:r>
            <a:endParaRPr lang="zh-CN" altLang="en-US" sz="2800" dirty="0">
              <a:solidFill>
                <a:schemeClr val="tx1">
                  <a:lumMod val="65000"/>
                </a:schemeClr>
              </a:solidFill>
            </a:endParaRPr>
          </a:p>
          <a:p>
            <a:pPr eaLnBrk="1" hangingPunct="1">
              <a:defRPr/>
            </a:pPr>
            <a:r>
              <a:rPr lang="zh-CN" altLang="en-US" sz="2800" dirty="0"/>
              <a:t>  </a:t>
            </a:r>
            <a:r>
              <a:rPr lang="en-US" altLang="zh-CN" sz="2800" dirty="0"/>
              <a:t>	{             </a:t>
            </a:r>
            <a:endParaRPr lang="en-US" altLang="zh-CN" sz="2800" dirty="0"/>
          </a:p>
          <a:p>
            <a:pPr eaLnBrk="1" hangingPunct="1">
              <a:defRPr/>
            </a:pPr>
            <a:r>
              <a:rPr lang="en-US" altLang="zh-CN" sz="2800" dirty="0"/>
              <a:t>		</a:t>
            </a:r>
            <a:r>
              <a:rPr lang="en-US" altLang="zh-CN" sz="2800" dirty="0">
                <a:solidFill>
                  <a:srgbClr val="F902FC"/>
                </a:solidFill>
              </a:rPr>
              <a:t>*p= *p</a:t>
            </a:r>
            <a:r>
              <a:rPr lang="en-US" altLang="zh-CN" sz="2800" dirty="0"/>
              <a:t> &gt; data[</a:t>
            </a:r>
            <a:r>
              <a:rPr lang="en-US" altLang="zh-CN" sz="2800" dirty="0" err="1"/>
              <a:t>i</a:t>
            </a:r>
            <a:r>
              <a:rPr lang="en-US" altLang="zh-CN" sz="2800" dirty="0"/>
              <a:t>] </a:t>
            </a:r>
            <a:r>
              <a:rPr lang="en-US" altLang="zh-CN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?</a:t>
            </a:r>
            <a:r>
              <a:rPr lang="en-US" altLang="zh-CN" sz="2800" dirty="0"/>
              <a:t> </a:t>
            </a:r>
            <a:r>
              <a:rPr lang="en-US" altLang="zh-CN" sz="2800" dirty="0">
                <a:solidFill>
                  <a:srgbClr val="F902FC"/>
                </a:solidFill>
              </a:rPr>
              <a:t>*p</a:t>
            </a:r>
            <a:r>
              <a:rPr lang="en-US" altLang="zh-CN" sz="2800" dirty="0"/>
              <a:t> </a:t>
            </a:r>
            <a:r>
              <a:rPr lang="en-US" altLang="zh-CN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  <a:r>
              <a:rPr lang="en-US" altLang="zh-CN" sz="2800" dirty="0"/>
              <a:t> data[</a:t>
            </a:r>
            <a:r>
              <a:rPr lang="en-US" altLang="zh-CN" sz="2800" dirty="0" err="1"/>
              <a:t>i</a:t>
            </a:r>
            <a:r>
              <a:rPr lang="en-US" altLang="zh-CN" sz="2800" dirty="0"/>
              <a:t>];</a:t>
            </a:r>
            <a:endParaRPr lang="en-US" altLang="zh-CN" sz="2800" dirty="0"/>
          </a:p>
          <a:p>
            <a:pPr eaLnBrk="1" hangingPunct="1">
              <a:defRPr/>
            </a:pPr>
            <a:r>
              <a:rPr lang="zh-CN" altLang="en-US" sz="2800" dirty="0"/>
              <a:t>	</a:t>
            </a:r>
            <a:r>
              <a:rPr lang="en-US" altLang="zh-CN" sz="2800" dirty="0"/>
              <a:t>	</a:t>
            </a:r>
            <a:r>
              <a:rPr lang="en-US" altLang="zh-CN" sz="2800" dirty="0">
                <a:solidFill>
                  <a:srgbClr val="FFFF00"/>
                </a:solidFill>
              </a:rPr>
              <a:t>max(</a:t>
            </a:r>
            <a:r>
              <a:rPr lang="en-US" altLang="zh-CN" sz="2800" dirty="0"/>
              <a:t>data, i+1, </a:t>
            </a:r>
            <a:r>
              <a:rPr lang="en-US" altLang="zh-CN" sz="2800" dirty="0">
                <a:solidFill>
                  <a:srgbClr val="F902FC"/>
                </a:solidFill>
              </a:rPr>
              <a:t>p</a:t>
            </a:r>
            <a:r>
              <a:rPr lang="en-US" altLang="zh-CN" sz="2800" dirty="0">
                <a:solidFill>
                  <a:srgbClr val="FFFF00"/>
                </a:solidFill>
              </a:rPr>
              <a:t>); </a:t>
            </a:r>
            <a:r>
              <a:rPr lang="en-US" altLang="zh-CN" sz="2800" dirty="0"/>
              <a:t>	</a:t>
            </a:r>
            <a:endParaRPr lang="en-US" altLang="zh-CN" sz="2800" dirty="0"/>
          </a:p>
          <a:p>
            <a:pPr eaLnBrk="1" hangingPunct="1">
              <a:defRPr/>
            </a:pPr>
            <a:r>
              <a:rPr lang="en-US" altLang="zh-CN" sz="2800" dirty="0"/>
              <a:t>  	}</a:t>
            </a:r>
            <a:endParaRPr lang="en-US" altLang="zh-CN" sz="2800" dirty="0"/>
          </a:p>
          <a:p>
            <a:pPr eaLnBrk="1" hangingPunct="1">
              <a:defRPr/>
            </a:pPr>
            <a:r>
              <a:rPr lang="en-US" altLang="zh-CN" sz="2800" dirty="0"/>
              <a:t>}</a:t>
            </a:r>
            <a:endParaRPr lang="zh-CN" altLang="en-US" sz="280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AF4BD8E2-9EC2-450E-954E-8D299B2277B5}" type="slidenum">
              <a:rPr lang="en-US" altLang="zh-CN" sz="1200" b="0"/>
            </a:fld>
            <a:endParaRPr lang="en-US" altLang="zh-CN" sz="1200" b="0"/>
          </a:p>
        </p:txBody>
      </p:sp>
      <p:sp>
        <p:nvSpPr>
          <p:cNvPr id="63492" name="矩形 1"/>
          <p:cNvSpPr>
            <a:spLocks noChangeArrowheads="1"/>
          </p:cNvSpPr>
          <p:nvPr/>
        </p:nvSpPr>
        <p:spPr bwMode="auto">
          <a:xfrm>
            <a:off x="228600" y="954088"/>
            <a:ext cx="7640638" cy="5842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还可以写成：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8" name="Rectangle 37"/>
          <p:cNvSpPr>
            <a:spLocks noChangeArrowheads="1"/>
          </p:cNvSpPr>
          <p:nvPr/>
        </p:nvSpPr>
        <p:spPr bwMode="auto">
          <a:xfrm>
            <a:off x="1219200" y="2330450"/>
            <a:ext cx="1447800" cy="584200"/>
          </a:xfrm>
          <a:prstGeom prst="rect">
            <a:avLst/>
          </a:prstGeom>
          <a:noFill/>
          <a:ln w="38100">
            <a:solidFill>
              <a:srgbClr val="F902FC"/>
            </a:solidFill>
            <a:prstDash val="dash"/>
            <a:miter lim="800000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340E158D-A29C-4DE5-90B3-A70BF6C9D5A6}" type="slidenum">
              <a:rPr lang="en-US" altLang="zh-CN" sz="1200" b="0"/>
            </a:fld>
            <a:endParaRPr lang="en-US" altLang="zh-CN" sz="1200" b="0"/>
          </a:p>
        </p:txBody>
      </p:sp>
      <p:sp>
        <p:nvSpPr>
          <p:cNvPr id="55299" name="Rectangle 2"/>
          <p:cNvSpPr>
            <a:spLocks noChangeArrowheads="1"/>
          </p:cNvSpPr>
          <p:nvPr/>
        </p:nvSpPr>
        <p:spPr bwMode="auto">
          <a:xfrm>
            <a:off x="-38100" y="393700"/>
            <a:ext cx="10325100" cy="68453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000" dirty="0"/>
              <a:t>#include&lt;</a:t>
            </a:r>
            <a:r>
              <a:rPr lang="en-US" altLang="zh-CN" sz="2000" dirty="0" err="1"/>
              <a:t>stdio.h</a:t>
            </a:r>
            <a:r>
              <a:rPr lang="en-US" altLang="zh-CN" sz="2000" dirty="0"/>
              <a:t>&gt;</a:t>
            </a:r>
            <a:endParaRPr lang="zh-CN" altLang="zh-CN" sz="2000" dirty="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dirty="0"/>
              <a:t>#define L 5</a:t>
            </a:r>
            <a:endParaRPr lang="en-US" altLang="zh-CN" dirty="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altLang="zh-CN" dirty="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void max(int data[], </a:t>
            </a:r>
            <a:r>
              <a:rPr lang="en-US" altLang="zh-CN" dirty="0">
                <a:solidFill>
                  <a:srgbClr val="F902FC"/>
                </a:solidFill>
              </a:rPr>
              <a:t>int </a:t>
            </a:r>
            <a:r>
              <a:rPr lang="en-US" altLang="zh-CN" dirty="0" err="1">
                <a:solidFill>
                  <a:srgbClr val="F902FC"/>
                </a:solidFill>
              </a:rPr>
              <a:t>i</a:t>
            </a:r>
            <a:r>
              <a:rPr lang="en-US" altLang="zh-CN" dirty="0">
                <a:solidFill>
                  <a:srgbClr val="F902FC"/>
                </a:solidFill>
              </a:rPr>
              <a:t>,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int *p) ;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</a:rPr>
              <a:t>//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</a:rPr>
              <a:t>函数原型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dirty="0"/>
              <a:t>int main()</a:t>
            </a:r>
            <a:endParaRPr lang="zh-CN" altLang="zh-CN" dirty="0"/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dirty="0"/>
              <a:t>{	int a[L]={123,13,198,1,9};   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</a:rPr>
              <a:t>//</a:t>
            </a:r>
            <a:r>
              <a:rPr lang="zh-CN" altLang="zh-CN" sz="1800" dirty="0">
                <a:solidFill>
                  <a:schemeClr val="tx1">
                    <a:lumMod val="50000"/>
                  </a:schemeClr>
                </a:solidFill>
              </a:rPr>
              <a:t>初始化</a:t>
            </a:r>
            <a:endParaRPr lang="zh-CN" altLang="zh-CN" sz="1800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1000" dirty="0"/>
              <a:t>	</a:t>
            </a:r>
            <a:endParaRPr lang="en-US" altLang="zh-CN" sz="1000" dirty="0"/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int </a:t>
            </a:r>
            <a:r>
              <a:rPr lang="en-US" altLang="zh-CN" dirty="0" err="1"/>
              <a:t>maxValue</a:t>
            </a:r>
            <a:r>
              <a:rPr lang="en-US" altLang="zh-CN" dirty="0"/>
              <a:t>=a[</a:t>
            </a:r>
            <a:r>
              <a:rPr lang="en-US" altLang="zh-CN" dirty="0">
                <a:solidFill>
                  <a:srgbClr val="F902FC"/>
                </a:solidFill>
              </a:rPr>
              <a:t>0</a:t>
            </a:r>
            <a:r>
              <a:rPr lang="en-US" altLang="zh-CN" dirty="0"/>
              <a:t>];   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</a:rPr>
              <a:t>//</a:t>
            </a:r>
            <a:r>
              <a:rPr lang="zh-CN" altLang="zh-CN" sz="1800" dirty="0">
                <a:solidFill>
                  <a:schemeClr val="tx1">
                    <a:lumMod val="50000"/>
                  </a:schemeClr>
                </a:solidFill>
              </a:rPr>
              <a:t>假定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</a:rPr>
              <a:t>a[0]</a:t>
            </a:r>
            <a:r>
              <a:rPr lang="zh-CN" altLang="zh-CN" sz="1800" dirty="0">
                <a:solidFill>
                  <a:schemeClr val="tx1">
                    <a:lumMod val="50000"/>
                  </a:schemeClr>
                </a:solidFill>
              </a:rPr>
              <a:t>为最大值</a:t>
            </a:r>
            <a:endParaRPr lang="zh-CN" altLang="zh-CN" sz="1800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dirty="0"/>
              <a:t>	</a:t>
            </a:r>
            <a:r>
              <a:rPr lang="en-US" altLang="zh-CN" dirty="0">
                <a:solidFill>
                  <a:srgbClr val="FFFF00"/>
                </a:solidFill>
              </a:rPr>
              <a:t>max( </a:t>
            </a:r>
            <a:r>
              <a:rPr lang="en-US" altLang="zh-CN" dirty="0"/>
              <a:t>a,</a:t>
            </a:r>
            <a:r>
              <a:rPr lang="en-US" altLang="zh-CN" dirty="0">
                <a:solidFill>
                  <a:srgbClr val="F902FC"/>
                </a:solidFill>
              </a:rPr>
              <a:t>1</a:t>
            </a:r>
            <a:r>
              <a:rPr lang="en-US" altLang="zh-CN" dirty="0"/>
              <a:t>, &amp;maxValue</a:t>
            </a:r>
            <a:r>
              <a:rPr lang="en-US" altLang="zh-CN" dirty="0">
                <a:solidFill>
                  <a:srgbClr val="FFFF00"/>
                </a:solidFill>
              </a:rPr>
              <a:t>);</a:t>
            </a:r>
            <a:r>
              <a:rPr lang="en-US" altLang="zh-CN" dirty="0"/>
              <a:t>    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</a:rPr>
              <a:t>//</a:t>
            </a:r>
            <a:r>
              <a:rPr lang="zh-CN" altLang="zh-CN" sz="1800" dirty="0">
                <a:solidFill>
                  <a:schemeClr val="tx1">
                    <a:lumMod val="50000"/>
                  </a:schemeClr>
                </a:solidFill>
              </a:rPr>
              <a:t>递归调用</a:t>
            </a:r>
            <a:endParaRPr lang="zh-CN" altLang="zh-CN" sz="1800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1000" dirty="0"/>
              <a:t>	</a:t>
            </a:r>
            <a:endParaRPr lang="en-US" altLang="zh-CN" sz="1000" dirty="0"/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</a:t>
            </a:r>
            <a:r>
              <a:rPr lang="en-US" altLang="zh-CN" dirty="0" err="1"/>
              <a:t>printf</a:t>
            </a:r>
            <a:r>
              <a:rPr lang="en-US" altLang="zh-CN" dirty="0"/>
              <a:t>("</a:t>
            </a:r>
            <a:r>
              <a:rPr lang="zh-CN" altLang="zh-CN" dirty="0"/>
              <a:t>最大值为：</a:t>
            </a:r>
            <a:r>
              <a:rPr lang="en-US" altLang="zh-CN" dirty="0"/>
              <a:t>%d\n",</a:t>
            </a:r>
            <a:r>
              <a:rPr lang="en-US" altLang="zh-CN" dirty="0" err="1"/>
              <a:t>maxValue</a:t>
            </a:r>
            <a:r>
              <a:rPr lang="en-US" altLang="zh-CN" dirty="0"/>
              <a:t>);</a:t>
            </a:r>
            <a:endParaRPr lang="en-US" altLang="zh-CN" dirty="0"/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dirty="0"/>
              <a:t>	</a:t>
            </a:r>
            <a:r>
              <a:rPr lang="en-US" altLang="zh-CN" sz="1800" dirty="0"/>
              <a:t>return 0;</a:t>
            </a:r>
            <a:endParaRPr lang="en-US" altLang="zh-CN" sz="1800" dirty="0"/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dirty="0"/>
              <a:t>}</a:t>
            </a:r>
            <a:endParaRPr lang="en-US" altLang="zh-CN" dirty="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altLang="zh-CN" sz="1800" dirty="0"/>
          </a:p>
        </p:txBody>
      </p:sp>
      <p:sp>
        <p:nvSpPr>
          <p:cNvPr id="63492" name="矩形 1"/>
          <p:cNvSpPr>
            <a:spLocks noChangeArrowheads="1"/>
          </p:cNvSpPr>
          <p:nvPr/>
        </p:nvSpPr>
        <p:spPr bwMode="auto">
          <a:xfrm>
            <a:off x="-38100" y="-85725"/>
            <a:ext cx="5715000" cy="6461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3600" dirty="0">
                <a:solidFill>
                  <a:schemeClr val="tx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主函数（参考程序</a:t>
            </a:r>
            <a:r>
              <a:rPr lang="en-US" altLang="zh-CN" sz="3600" dirty="0">
                <a:solidFill>
                  <a:schemeClr val="tx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3</a:t>
            </a:r>
            <a:r>
              <a:rPr lang="zh-CN" altLang="en-US" sz="3600" dirty="0">
                <a:solidFill>
                  <a:schemeClr val="tx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）：</a:t>
            </a:r>
            <a:endParaRPr lang="zh-CN" altLang="en-US" sz="3600" dirty="0">
              <a:solidFill>
                <a:schemeClr val="tx1">
                  <a:lumMod val="50000"/>
                </a:schemeClr>
              </a:solidFill>
            </a:endParaRPr>
          </a:p>
        </p:txBody>
      </p:sp>
      <p:pic>
        <p:nvPicPr>
          <p:cNvPr id="55301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9513" y="5867400"/>
            <a:ext cx="5908675" cy="101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Rectangle 37"/>
          <p:cNvSpPr>
            <a:spLocks noChangeArrowheads="1"/>
          </p:cNvSpPr>
          <p:nvPr/>
        </p:nvSpPr>
        <p:spPr bwMode="auto">
          <a:xfrm>
            <a:off x="2068513" y="1874838"/>
            <a:ext cx="3108325" cy="666750"/>
          </a:xfrm>
          <a:prstGeom prst="rect">
            <a:avLst/>
          </a:prstGeom>
          <a:noFill/>
          <a:ln w="38100">
            <a:solidFill>
              <a:srgbClr val="F902FC"/>
            </a:solidFill>
            <a:prstDash val="dash"/>
            <a:miter lim="800000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3" name="直接箭头连接符 2"/>
          <p:cNvCxnSpPr/>
          <p:nvPr/>
        </p:nvCxnSpPr>
        <p:spPr bwMode="auto">
          <a:xfrm flipV="1">
            <a:off x="4792663" y="2554288"/>
            <a:ext cx="1466850" cy="1865312"/>
          </a:xfrm>
          <a:prstGeom prst="straightConnector1">
            <a:avLst/>
          </a:prstGeom>
          <a:noFill/>
          <a:ln w="41275" algn="ctr">
            <a:solidFill>
              <a:srgbClr val="F902FC"/>
            </a:solidFill>
            <a:rou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" name="Rectangle 37"/>
          <p:cNvSpPr>
            <a:spLocks noChangeArrowheads="1"/>
          </p:cNvSpPr>
          <p:nvPr/>
        </p:nvSpPr>
        <p:spPr bwMode="auto">
          <a:xfrm>
            <a:off x="2074863" y="4419600"/>
            <a:ext cx="898525" cy="584200"/>
          </a:xfrm>
          <a:prstGeom prst="rect">
            <a:avLst/>
          </a:prstGeom>
          <a:noFill/>
          <a:ln w="38100">
            <a:solidFill>
              <a:srgbClr val="F902FC"/>
            </a:solidFill>
            <a:prstDash val="dash"/>
            <a:miter lim="800000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29" name="直接箭头连接符 28"/>
          <p:cNvCxnSpPr/>
          <p:nvPr/>
        </p:nvCxnSpPr>
        <p:spPr bwMode="auto">
          <a:xfrm flipV="1">
            <a:off x="2506663" y="2590800"/>
            <a:ext cx="1376362" cy="1770063"/>
          </a:xfrm>
          <a:prstGeom prst="straightConnector1">
            <a:avLst/>
          </a:prstGeom>
          <a:noFill/>
          <a:ln w="41275" algn="ctr">
            <a:solidFill>
              <a:srgbClr val="F902FC"/>
            </a:solidFill>
            <a:rou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bldLvl="0" animBg="1"/>
      <p:bldP spid="28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【</a:t>
            </a:r>
            <a:r>
              <a:rPr lang="zh-CN" altLang="en-US" dirty="0"/>
              <a:t>对比实验</a:t>
            </a:r>
            <a:r>
              <a:rPr lang="en-US" altLang="zh-CN" dirty="0"/>
              <a:t>】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8E6070DD-E379-4E84-9D86-5E224A16B6CD}" type="slidenum">
              <a:rPr lang="en-US" altLang="zh-CN" sz="1200" b="0"/>
            </a:fld>
            <a:endParaRPr lang="en-US" altLang="zh-CN" sz="1200" b="0"/>
          </a:p>
        </p:txBody>
      </p:sp>
      <p:sp>
        <p:nvSpPr>
          <p:cNvPr id="7" name="矩形 6"/>
          <p:cNvSpPr/>
          <p:nvPr/>
        </p:nvSpPr>
        <p:spPr>
          <a:xfrm>
            <a:off x="-228600" y="1828800"/>
            <a:ext cx="8442325" cy="403098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【对比实验</a:t>
            </a: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】</a:t>
            </a:r>
            <a:endParaRPr lang="en-US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	1.</a:t>
            </a:r>
            <a:r>
              <a:rPr lang="zh-CN" altLang="en-US" sz="3200" kern="100" dirty="0">
                <a:solidFill>
                  <a:srgbClr val="F902FC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循环</a:t>
            </a:r>
            <a:r>
              <a:rPr lang="zh-CN" altLang="en-US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求</a:t>
            </a: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int a[N]</a:t>
            </a:r>
            <a:r>
              <a:rPr lang="zh-CN" altLang="en-US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中的最大元素</a:t>
            </a:r>
            <a:endParaRPr lang="en-US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2.</a:t>
            </a:r>
            <a:r>
              <a:rPr lang="zh-CN" altLang="en-US" sz="3200" kern="100" dirty="0">
                <a:solidFill>
                  <a:srgbClr val="F902FC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递归</a:t>
            </a:r>
            <a:r>
              <a:rPr lang="zh-CN" altLang="en-US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求</a:t>
            </a: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int a[N]</a:t>
            </a:r>
            <a:r>
              <a:rPr lang="zh-CN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中的最大元素</a:t>
            </a:r>
            <a:endParaRPr lang="en-US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endParaRPr lang="en-US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【</a:t>
            </a:r>
            <a:r>
              <a:rPr lang="zh-CN" altLang="en-US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对比实验</a:t>
            </a: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2】</a:t>
            </a:r>
            <a:endParaRPr lang="en-US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1.</a:t>
            </a:r>
            <a:r>
              <a:rPr lang="zh-CN" altLang="en-US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递归求</a:t>
            </a:r>
            <a:r>
              <a:rPr lang="zh-CN" altLang="en-US" sz="3200" kern="100" dirty="0">
                <a:solidFill>
                  <a:srgbClr val="F902FC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int a[N]</a:t>
            </a:r>
            <a:r>
              <a:rPr lang="zh-CN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的最大元素</a:t>
            </a:r>
            <a:endParaRPr lang="en-US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2. </a:t>
            </a:r>
            <a:r>
              <a:rPr lang="zh-CN" altLang="en-US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递归求</a:t>
            </a:r>
            <a:r>
              <a:rPr lang="zh-CN" altLang="en-US" sz="3200" kern="100" dirty="0">
                <a:solidFill>
                  <a:srgbClr val="F902FC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结构体数组</a:t>
            </a:r>
            <a:r>
              <a:rPr lang="zh-CN" altLang="en-US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的最大元素</a:t>
            </a:r>
            <a:endParaRPr lang="en-US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3. </a:t>
            </a:r>
            <a:r>
              <a:rPr lang="zh-CN" altLang="en-US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递归求</a:t>
            </a:r>
            <a:r>
              <a:rPr lang="zh-CN" altLang="en-US" sz="3200" kern="100" dirty="0">
                <a:solidFill>
                  <a:srgbClr val="F902FC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char str[N][M]</a:t>
            </a:r>
            <a:r>
              <a:rPr lang="zh-CN" altLang="en-US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的最大字符串</a:t>
            </a:r>
            <a:endParaRPr lang="zh-CN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4D143328-47F0-4090-B34B-B9CC97B5D7C6}" type="slidenum">
              <a:rPr lang="en-US" altLang="zh-CN" sz="1200" b="0"/>
            </a:fld>
            <a:endParaRPr lang="en-US" altLang="zh-CN" sz="1200" b="0"/>
          </a:p>
        </p:txBody>
      </p:sp>
      <p:pic>
        <p:nvPicPr>
          <p:cNvPr id="27651" name="图片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91" r="11470" b="24844"/>
          <a:stretch>
            <a:fillRect/>
          </a:stretch>
        </p:blipFill>
        <p:spPr bwMode="auto">
          <a:xfrm>
            <a:off x="1219200" y="176213"/>
            <a:ext cx="9251950" cy="640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图片 9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8213" y="1604963"/>
            <a:ext cx="7593012" cy="427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5" name="标题 1"/>
          <p:cNvSpPr txBox="1">
            <a:spLocks noChangeArrowheads="1"/>
          </p:cNvSpPr>
          <p:nvPr/>
        </p:nvSpPr>
        <p:spPr bwMode="auto">
          <a:xfrm>
            <a:off x="1981200" y="274638"/>
            <a:ext cx="82296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400">
                <a:solidFill>
                  <a:srgbClr val="FFC000"/>
                </a:solidFill>
                <a:latin typeface="Calibri" panose="020F0502020204030204" pitchFamily="34" charset="0"/>
              </a:rPr>
              <a:t>递归顺序</a:t>
            </a:r>
            <a:endParaRPr lang="zh-CN" altLang="en-US" sz="4400">
              <a:solidFill>
                <a:srgbClr val="FFC000"/>
              </a:solidFill>
              <a:latin typeface="Calibri" panose="020F0502020204030204" pitchFamily="34" charset="0"/>
            </a:endParaRPr>
          </a:p>
        </p:txBody>
      </p:sp>
      <p:sp>
        <p:nvSpPr>
          <p:cNvPr id="28676" name="文本框 69"/>
          <p:cNvSpPr txBox="1">
            <a:spLocks noChangeArrowheads="1"/>
          </p:cNvSpPr>
          <p:nvPr/>
        </p:nvSpPr>
        <p:spPr bwMode="auto">
          <a:xfrm>
            <a:off x="5448300" y="1916113"/>
            <a:ext cx="1943100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400">
                <a:solidFill>
                  <a:srgbClr val="000000"/>
                </a:solidFill>
                <a:latin typeface="Calibri" panose="020F0502020204030204" pitchFamily="34" charset="0"/>
              </a:rPr>
              <a:t>10</a:t>
            </a:r>
            <a:endParaRPr lang="zh-CN" altLang="en-US" sz="44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28677" name="文本框 70"/>
          <p:cNvSpPr txBox="1">
            <a:spLocks noChangeArrowheads="1"/>
          </p:cNvSpPr>
          <p:nvPr/>
        </p:nvSpPr>
        <p:spPr bwMode="auto">
          <a:xfrm>
            <a:off x="5638800" y="2971800"/>
            <a:ext cx="914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72" name="文本框 71"/>
          <p:cNvSpPr txBox="1">
            <a:spLocks noChangeArrowheads="1"/>
          </p:cNvSpPr>
          <p:nvPr/>
        </p:nvSpPr>
        <p:spPr bwMode="auto">
          <a:xfrm>
            <a:off x="3765550" y="2947988"/>
            <a:ext cx="64770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400">
                <a:solidFill>
                  <a:srgbClr val="000000"/>
                </a:solidFill>
                <a:latin typeface="Calibri" panose="020F0502020204030204" pitchFamily="34" charset="0"/>
              </a:rPr>
              <a:t>4</a:t>
            </a:r>
            <a:endParaRPr lang="zh-CN" altLang="en-US" sz="44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73" name="直接箭头连接符 72"/>
          <p:cNvCxnSpPr/>
          <p:nvPr/>
        </p:nvCxnSpPr>
        <p:spPr bwMode="auto">
          <a:xfrm flipH="1">
            <a:off x="4495800" y="2514600"/>
            <a:ext cx="649288" cy="566738"/>
          </a:xfrm>
          <a:prstGeom prst="straightConnector1">
            <a:avLst/>
          </a:prstGeom>
          <a:noFill/>
          <a:ln w="76200" algn="ctr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7" name="文本框 76"/>
          <p:cNvSpPr txBox="1">
            <a:spLocks noChangeArrowheads="1"/>
          </p:cNvSpPr>
          <p:nvPr/>
        </p:nvSpPr>
        <p:spPr bwMode="auto">
          <a:xfrm>
            <a:off x="7105650" y="2947988"/>
            <a:ext cx="91440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400">
                <a:solidFill>
                  <a:srgbClr val="000000"/>
                </a:solidFill>
                <a:latin typeface="Calibri" panose="020F0502020204030204" pitchFamily="34" charset="0"/>
              </a:rPr>
              <a:t>6</a:t>
            </a:r>
            <a:endParaRPr lang="zh-CN" altLang="en-US" sz="44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78" name="文本框 77"/>
          <p:cNvSpPr txBox="1">
            <a:spLocks noChangeArrowheads="1"/>
          </p:cNvSpPr>
          <p:nvPr/>
        </p:nvSpPr>
        <p:spPr bwMode="auto">
          <a:xfrm>
            <a:off x="6370638" y="4781550"/>
            <a:ext cx="11985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Calibri" panose="020F0502020204030204" pitchFamily="34" charset="0"/>
              </a:rPr>
              <a:t>2(2.4)</a:t>
            </a:r>
            <a:endParaRPr lang="zh-CN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79" name="文本框 78"/>
          <p:cNvSpPr txBox="1">
            <a:spLocks noChangeArrowheads="1"/>
          </p:cNvSpPr>
          <p:nvPr/>
        </p:nvSpPr>
        <p:spPr bwMode="auto">
          <a:xfrm>
            <a:off x="8596313" y="4729163"/>
            <a:ext cx="674687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Calibri" panose="020F0502020204030204" pitchFamily="34" charset="0"/>
              </a:rPr>
              <a:t>4</a:t>
            </a:r>
            <a:endParaRPr lang="zh-CN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80" name="直接箭头连接符 79"/>
          <p:cNvCxnSpPr/>
          <p:nvPr/>
        </p:nvCxnSpPr>
        <p:spPr bwMode="auto">
          <a:xfrm flipH="1">
            <a:off x="7032625" y="3976688"/>
            <a:ext cx="320675" cy="627062"/>
          </a:xfrm>
          <a:prstGeom prst="straightConnector1">
            <a:avLst/>
          </a:prstGeom>
          <a:noFill/>
          <a:ln w="76200" algn="ctr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" name="直接箭头连接符 81"/>
          <p:cNvCxnSpPr/>
          <p:nvPr/>
        </p:nvCxnSpPr>
        <p:spPr bwMode="auto">
          <a:xfrm>
            <a:off x="6292850" y="2576513"/>
            <a:ext cx="601663" cy="534987"/>
          </a:xfrm>
          <a:prstGeom prst="straightConnector1">
            <a:avLst/>
          </a:prstGeom>
          <a:noFill/>
          <a:ln w="76200" algn="ctr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" name="直接箭头连接符 82"/>
          <p:cNvCxnSpPr/>
          <p:nvPr/>
        </p:nvCxnSpPr>
        <p:spPr bwMode="auto">
          <a:xfrm>
            <a:off x="7756525" y="4011613"/>
            <a:ext cx="576263" cy="717550"/>
          </a:xfrm>
          <a:prstGeom prst="straightConnector1">
            <a:avLst/>
          </a:prstGeom>
          <a:noFill/>
          <a:ln w="76200" algn="ctr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5" name="直接箭头连接符 84"/>
          <p:cNvCxnSpPr/>
          <p:nvPr/>
        </p:nvCxnSpPr>
        <p:spPr bwMode="auto">
          <a:xfrm flipV="1">
            <a:off x="6810375" y="3813175"/>
            <a:ext cx="382588" cy="695325"/>
          </a:xfrm>
          <a:prstGeom prst="straightConnector1">
            <a:avLst/>
          </a:prstGeom>
          <a:noFill/>
          <a:ln w="76200" algn="ctr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6" name="直接箭头连接符 85"/>
          <p:cNvCxnSpPr/>
          <p:nvPr/>
        </p:nvCxnSpPr>
        <p:spPr bwMode="auto">
          <a:xfrm flipV="1">
            <a:off x="4340225" y="2303463"/>
            <a:ext cx="715963" cy="598487"/>
          </a:xfrm>
          <a:prstGeom prst="straightConnector1">
            <a:avLst/>
          </a:prstGeom>
          <a:noFill/>
          <a:ln w="76200" algn="ctr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8" name="直接箭头连接符 87"/>
          <p:cNvCxnSpPr/>
          <p:nvPr/>
        </p:nvCxnSpPr>
        <p:spPr bwMode="auto">
          <a:xfrm flipH="1" flipV="1">
            <a:off x="6426200" y="2352675"/>
            <a:ext cx="576263" cy="550863"/>
          </a:xfrm>
          <a:prstGeom prst="straightConnector1">
            <a:avLst/>
          </a:prstGeom>
          <a:noFill/>
          <a:ln w="76200" algn="ctr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9" name="直接箭头连接符 88"/>
          <p:cNvCxnSpPr/>
          <p:nvPr/>
        </p:nvCxnSpPr>
        <p:spPr bwMode="auto">
          <a:xfrm flipH="1" flipV="1">
            <a:off x="7900988" y="3838575"/>
            <a:ext cx="552450" cy="677863"/>
          </a:xfrm>
          <a:prstGeom prst="straightConnector1">
            <a:avLst/>
          </a:prstGeom>
          <a:noFill/>
          <a:ln w="76200" algn="ctr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2" name="文本框 91"/>
          <p:cNvSpPr txBox="1">
            <a:spLocks noChangeArrowheads="1"/>
          </p:cNvSpPr>
          <p:nvPr/>
        </p:nvSpPr>
        <p:spPr bwMode="auto">
          <a:xfrm>
            <a:off x="3808413" y="2360613"/>
            <a:ext cx="18335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000000"/>
                </a:solidFill>
                <a:latin typeface="Calibri" panose="020F0502020204030204" pitchFamily="34" charset="0"/>
              </a:rPr>
              <a:t>return 1</a:t>
            </a:r>
            <a:endParaRPr lang="zh-CN" altLang="en-US" sz="18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93" name="文本框 92"/>
          <p:cNvSpPr txBox="1">
            <a:spLocks noChangeArrowheads="1"/>
          </p:cNvSpPr>
          <p:nvPr/>
        </p:nvSpPr>
        <p:spPr bwMode="auto">
          <a:xfrm>
            <a:off x="6762750" y="2347913"/>
            <a:ext cx="18335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000000"/>
                </a:solidFill>
                <a:latin typeface="Calibri" panose="020F0502020204030204" pitchFamily="34" charset="0"/>
              </a:rPr>
              <a:t>return 1+1</a:t>
            </a:r>
            <a:endParaRPr lang="zh-CN" altLang="en-US" sz="18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94" name="文本框 93"/>
          <p:cNvSpPr txBox="1">
            <a:spLocks noChangeArrowheads="1"/>
          </p:cNvSpPr>
          <p:nvPr/>
        </p:nvSpPr>
        <p:spPr bwMode="auto">
          <a:xfrm>
            <a:off x="6015038" y="3983038"/>
            <a:ext cx="18335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000000"/>
                </a:solidFill>
                <a:latin typeface="Calibri" panose="020F0502020204030204" pitchFamily="34" charset="0"/>
              </a:rPr>
              <a:t>return 1</a:t>
            </a:r>
            <a:endParaRPr lang="zh-CN" altLang="en-US" sz="18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95" name="文本框 94"/>
          <p:cNvSpPr txBox="1">
            <a:spLocks noChangeArrowheads="1"/>
          </p:cNvSpPr>
          <p:nvPr/>
        </p:nvSpPr>
        <p:spPr bwMode="auto">
          <a:xfrm>
            <a:off x="8208963" y="3851275"/>
            <a:ext cx="1835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000000"/>
                </a:solidFill>
                <a:latin typeface="Calibri" panose="020F0502020204030204" pitchFamily="34" charset="0"/>
              </a:rPr>
              <a:t>return 1</a:t>
            </a:r>
            <a:endParaRPr lang="zh-CN" altLang="en-US" sz="18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96" name="文本框 95"/>
          <p:cNvSpPr txBox="1">
            <a:spLocks noChangeArrowheads="1"/>
          </p:cNvSpPr>
          <p:nvPr/>
        </p:nvSpPr>
        <p:spPr bwMode="auto">
          <a:xfrm>
            <a:off x="5454650" y="1498600"/>
            <a:ext cx="18335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000000"/>
                </a:solidFill>
                <a:latin typeface="Calibri" panose="020F0502020204030204" pitchFamily="34" charset="0"/>
              </a:rPr>
              <a:t>return 1+2</a:t>
            </a:r>
            <a:endParaRPr lang="zh-CN" altLang="en-US" sz="18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28695" name="矩形 96"/>
          <p:cNvSpPr>
            <a:spLocks noChangeArrowheads="1"/>
          </p:cNvSpPr>
          <p:nvPr/>
        </p:nvSpPr>
        <p:spPr bwMode="auto">
          <a:xfrm>
            <a:off x="1736725" y="1098550"/>
            <a:ext cx="4089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>
                <a:solidFill>
                  <a:srgbClr val="F902FC"/>
                </a:solidFill>
                <a:latin typeface="Arial" panose="020B0604020202020204" pitchFamily="34" charset="0"/>
              </a:rPr>
              <a:t>n=10,k=4</a:t>
            </a:r>
            <a:r>
              <a:rPr lang="zh-CN" altLang="en-US">
                <a:solidFill>
                  <a:srgbClr val="F902FC"/>
                </a:solidFill>
                <a:latin typeface="Arial" panose="020B0604020202020204" pitchFamily="34" charset="0"/>
              </a:rPr>
              <a:t>时，</a:t>
            </a:r>
            <a:r>
              <a:rPr lang="en-US" altLang="zh-CN">
                <a:solidFill>
                  <a:srgbClr val="FFFF00"/>
                </a:solidFill>
                <a:latin typeface="Arial" panose="020B0604020202020204" pitchFamily="34" charset="0"/>
              </a:rPr>
              <a:t>f(</a:t>
            </a:r>
            <a:r>
              <a:rPr lang="en-US" altLang="zh-CN">
                <a:solidFill>
                  <a:srgbClr val="F902FC"/>
                </a:solidFill>
                <a:latin typeface="Arial" panose="020B0604020202020204" pitchFamily="34" charset="0"/>
              </a:rPr>
              <a:t>10,4</a:t>
            </a:r>
            <a:r>
              <a:rPr lang="en-US" altLang="zh-CN">
                <a:solidFill>
                  <a:srgbClr val="FFFF00"/>
                </a:solidFill>
                <a:latin typeface="Arial" panose="020B0604020202020204" pitchFamily="34" charset="0"/>
              </a:rPr>
              <a:t>)</a:t>
            </a:r>
            <a:r>
              <a:rPr lang="en-US" altLang="zh-CN">
                <a:solidFill>
                  <a:srgbClr val="F902FC"/>
                </a:solidFill>
                <a:latin typeface="Arial" panose="020B0604020202020204" pitchFamily="34" charset="0"/>
              </a:rPr>
              <a:t>;</a:t>
            </a:r>
            <a:endParaRPr lang="en-US" altLang="zh-CN">
              <a:solidFill>
                <a:srgbClr val="F902FC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/>
      <p:bldP spid="77" grpId="0"/>
      <p:bldP spid="78" grpId="0"/>
      <p:bldP spid="92" grpId="0"/>
      <p:bldP spid="93" grpId="0"/>
      <p:bldP spid="94" grpId="0"/>
      <p:bldP spid="95" grpId="0"/>
      <p:bldP spid="9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标题 1"/>
          <p:cNvSpPr txBox="1">
            <a:spLocks noChangeArrowheads="1"/>
          </p:cNvSpPr>
          <p:nvPr/>
        </p:nvSpPr>
        <p:spPr bwMode="auto">
          <a:xfrm>
            <a:off x="2016125" y="8890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400">
                <a:solidFill>
                  <a:srgbClr val="FFC000"/>
                </a:solidFill>
                <a:latin typeface="Calibri" panose="020F0502020204030204" pitchFamily="34" charset="0"/>
              </a:rPr>
              <a:t>递归顺序</a:t>
            </a:r>
            <a:endParaRPr lang="zh-CN" altLang="en-US" sz="4400">
              <a:solidFill>
                <a:srgbClr val="FFC000"/>
              </a:solidFill>
              <a:latin typeface="Calibri" panose="020F0502020204030204" pitchFamily="34" charset="0"/>
            </a:endParaRPr>
          </a:p>
        </p:txBody>
      </p:sp>
      <p:pic>
        <p:nvPicPr>
          <p:cNvPr id="29699" name="内容占位符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2488" y="1550988"/>
            <a:ext cx="8048625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0" name="文本框 69"/>
          <p:cNvSpPr txBox="1">
            <a:spLocks noChangeArrowheads="1"/>
          </p:cNvSpPr>
          <p:nvPr/>
        </p:nvSpPr>
        <p:spPr bwMode="auto">
          <a:xfrm>
            <a:off x="5448300" y="1916113"/>
            <a:ext cx="1943100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400">
                <a:solidFill>
                  <a:srgbClr val="000000"/>
                </a:solidFill>
                <a:latin typeface="Calibri" panose="020F0502020204030204" pitchFamily="34" charset="0"/>
              </a:rPr>
              <a:t>12</a:t>
            </a:r>
            <a:endParaRPr lang="zh-CN" altLang="en-US" sz="44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29701" name="文本框 70"/>
          <p:cNvSpPr txBox="1">
            <a:spLocks noChangeArrowheads="1"/>
          </p:cNvSpPr>
          <p:nvPr/>
        </p:nvSpPr>
        <p:spPr bwMode="auto">
          <a:xfrm>
            <a:off x="5638800" y="2971800"/>
            <a:ext cx="914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72" name="文本框 71"/>
          <p:cNvSpPr txBox="1">
            <a:spLocks noChangeArrowheads="1"/>
          </p:cNvSpPr>
          <p:nvPr/>
        </p:nvSpPr>
        <p:spPr bwMode="auto">
          <a:xfrm>
            <a:off x="3471863" y="3101975"/>
            <a:ext cx="1487487" cy="569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100">
                <a:solidFill>
                  <a:srgbClr val="000000"/>
                </a:solidFill>
                <a:latin typeface="Calibri" panose="020F0502020204030204" pitchFamily="34" charset="0"/>
              </a:rPr>
              <a:t>5(4.8)</a:t>
            </a:r>
            <a:endParaRPr lang="zh-CN" altLang="en-US" sz="31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73" name="直接箭头连接符 72"/>
          <p:cNvCxnSpPr/>
          <p:nvPr/>
        </p:nvCxnSpPr>
        <p:spPr bwMode="auto">
          <a:xfrm flipH="1">
            <a:off x="4583113" y="2565400"/>
            <a:ext cx="649287" cy="566738"/>
          </a:xfrm>
          <a:prstGeom prst="straightConnector1">
            <a:avLst/>
          </a:prstGeom>
          <a:noFill/>
          <a:ln w="76200" algn="ctr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4" name="直接箭头连接符 73"/>
          <p:cNvCxnSpPr/>
          <p:nvPr/>
        </p:nvCxnSpPr>
        <p:spPr bwMode="auto">
          <a:xfrm flipH="1">
            <a:off x="3000375" y="3933825"/>
            <a:ext cx="503238" cy="669925"/>
          </a:xfrm>
          <a:prstGeom prst="straightConnector1">
            <a:avLst/>
          </a:prstGeom>
          <a:noFill/>
          <a:ln w="76200" algn="ctr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5" name="文本框 74"/>
          <p:cNvSpPr txBox="1">
            <a:spLocks noChangeArrowheads="1"/>
          </p:cNvSpPr>
          <p:nvPr/>
        </p:nvSpPr>
        <p:spPr bwMode="auto">
          <a:xfrm>
            <a:off x="2492375" y="4887913"/>
            <a:ext cx="7334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Calibri" panose="020F0502020204030204" pitchFamily="34" charset="0"/>
              </a:rPr>
              <a:t>2</a:t>
            </a:r>
            <a:endParaRPr lang="zh-CN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76" name="文本框 75"/>
          <p:cNvSpPr txBox="1">
            <a:spLocks noChangeArrowheads="1"/>
          </p:cNvSpPr>
          <p:nvPr/>
        </p:nvSpPr>
        <p:spPr bwMode="auto">
          <a:xfrm>
            <a:off x="4403725" y="4826000"/>
            <a:ext cx="8286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Calibri" panose="020F0502020204030204" pitchFamily="34" charset="0"/>
              </a:rPr>
              <a:t>3</a:t>
            </a:r>
            <a:endParaRPr lang="zh-CN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77" name="文本框 76"/>
          <p:cNvSpPr txBox="1">
            <a:spLocks noChangeArrowheads="1"/>
          </p:cNvSpPr>
          <p:nvPr/>
        </p:nvSpPr>
        <p:spPr bwMode="auto">
          <a:xfrm>
            <a:off x="7415213" y="3054350"/>
            <a:ext cx="91440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400">
                <a:solidFill>
                  <a:srgbClr val="000000"/>
                </a:solidFill>
                <a:latin typeface="Calibri" panose="020F0502020204030204" pitchFamily="34" charset="0"/>
              </a:rPr>
              <a:t>7</a:t>
            </a:r>
            <a:endParaRPr lang="zh-CN" altLang="en-US" sz="44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78" name="文本框 77"/>
          <p:cNvSpPr txBox="1">
            <a:spLocks noChangeArrowheads="1"/>
          </p:cNvSpPr>
          <p:nvPr/>
        </p:nvSpPr>
        <p:spPr bwMode="auto">
          <a:xfrm>
            <a:off x="6565900" y="4922838"/>
            <a:ext cx="10795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100">
                <a:solidFill>
                  <a:srgbClr val="000000"/>
                </a:solidFill>
                <a:latin typeface="Calibri" panose="020F0502020204030204" pitchFamily="34" charset="0"/>
              </a:rPr>
              <a:t>3(2.8)</a:t>
            </a:r>
            <a:endParaRPr lang="zh-CN" altLang="en-US" sz="31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79" name="文本框 78"/>
          <p:cNvSpPr txBox="1">
            <a:spLocks noChangeArrowheads="1"/>
          </p:cNvSpPr>
          <p:nvPr/>
        </p:nvSpPr>
        <p:spPr bwMode="auto">
          <a:xfrm>
            <a:off x="8832850" y="4887913"/>
            <a:ext cx="7651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Calibri" panose="020F0502020204030204" pitchFamily="34" charset="0"/>
              </a:rPr>
              <a:t>4</a:t>
            </a:r>
            <a:endParaRPr lang="zh-CN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80" name="直接箭头连接符 79"/>
          <p:cNvCxnSpPr/>
          <p:nvPr/>
        </p:nvCxnSpPr>
        <p:spPr bwMode="auto">
          <a:xfrm flipH="1">
            <a:off x="7189788" y="3951288"/>
            <a:ext cx="463550" cy="793750"/>
          </a:xfrm>
          <a:prstGeom prst="straightConnector1">
            <a:avLst/>
          </a:prstGeom>
          <a:noFill/>
          <a:ln w="76200" algn="ctr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1" name="直接箭头连接符 80"/>
          <p:cNvCxnSpPr/>
          <p:nvPr/>
        </p:nvCxnSpPr>
        <p:spPr bwMode="auto">
          <a:xfrm>
            <a:off x="4033838" y="3952875"/>
            <a:ext cx="371475" cy="711200"/>
          </a:xfrm>
          <a:prstGeom prst="straightConnector1">
            <a:avLst/>
          </a:prstGeom>
          <a:noFill/>
          <a:ln w="76200" algn="ctr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" name="直接箭头连接符 81"/>
          <p:cNvCxnSpPr/>
          <p:nvPr/>
        </p:nvCxnSpPr>
        <p:spPr bwMode="auto">
          <a:xfrm>
            <a:off x="6372225" y="2595563"/>
            <a:ext cx="601663" cy="536575"/>
          </a:xfrm>
          <a:prstGeom prst="straightConnector1">
            <a:avLst/>
          </a:prstGeom>
          <a:noFill/>
          <a:ln w="76200" algn="ctr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" name="直接箭头连接符 82"/>
          <p:cNvCxnSpPr/>
          <p:nvPr/>
        </p:nvCxnSpPr>
        <p:spPr bwMode="auto">
          <a:xfrm>
            <a:off x="7910513" y="4041775"/>
            <a:ext cx="576262" cy="717550"/>
          </a:xfrm>
          <a:prstGeom prst="straightConnector1">
            <a:avLst/>
          </a:prstGeom>
          <a:noFill/>
          <a:ln w="76200" algn="ctr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4" name="直接箭头连接符 83"/>
          <p:cNvCxnSpPr/>
          <p:nvPr/>
        </p:nvCxnSpPr>
        <p:spPr bwMode="auto">
          <a:xfrm flipV="1">
            <a:off x="2794000" y="3716338"/>
            <a:ext cx="608013" cy="723900"/>
          </a:xfrm>
          <a:prstGeom prst="straightConnector1">
            <a:avLst/>
          </a:prstGeom>
          <a:noFill/>
          <a:ln w="76200" algn="ctr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5" name="直接箭头连接符 84"/>
          <p:cNvCxnSpPr/>
          <p:nvPr/>
        </p:nvCxnSpPr>
        <p:spPr bwMode="auto">
          <a:xfrm flipV="1">
            <a:off x="6964363" y="3895725"/>
            <a:ext cx="450850" cy="790575"/>
          </a:xfrm>
          <a:prstGeom prst="straightConnector1">
            <a:avLst/>
          </a:prstGeom>
          <a:noFill/>
          <a:ln w="76200" algn="ctr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6" name="直接箭头连接符 85"/>
          <p:cNvCxnSpPr/>
          <p:nvPr/>
        </p:nvCxnSpPr>
        <p:spPr bwMode="auto">
          <a:xfrm flipV="1">
            <a:off x="4422775" y="2373313"/>
            <a:ext cx="715963" cy="598487"/>
          </a:xfrm>
          <a:prstGeom prst="straightConnector1">
            <a:avLst/>
          </a:prstGeom>
          <a:noFill/>
          <a:ln w="76200" algn="ctr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7" name="直接箭头连接符 86"/>
          <p:cNvCxnSpPr/>
          <p:nvPr/>
        </p:nvCxnSpPr>
        <p:spPr bwMode="auto">
          <a:xfrm flipH="1" flipV="1">
            <a:off x="4321175" y="3870325"/>
            <a:ext cx="420688" cy="715963"/>
          </a:xfrm>
          <a:prstGeom prst="straightConnector1">
            <a:avLst/>
          </a:prstGeom>
          <a:noFill/>
          <a:ln w="76200" algn="ctr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8" name="直接箭头连接符 87"/>
          <p:cNvCxnSpPr/>
          <p:nvPr/>
        </p:nvCxnSpPr>
        <p:spPr bwMode="auto">
          <a:xfrm flipH="1" flipV="1">
            <a:off x="6456363" y="2373313"/>
            <a:ext cx="649287" cy="588962"/>
          </a:xfrm>
          <a:prstGeom prst="straightConnector1">
            <a:avLst/>
          </a:prstGeom>
          <a:noFill/>
          <a:ln w="76200" algn="ctr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9" name="直接箭头连接符 88"/>
          <p:cNvCxnSpPr/>
          <p:nvPr/>
        </p:nvCxnSpPr>
        <p:spPr bwMode="auto">
          <a:xfrm flipH="1" flipV="1">
            <a:off x="8105775" y="3908425"/>
            <a:ext cx="550863" cy="677863"/>
          </a:xfrm>
          <a:prstGeom prst="straightConnector1">
            <a:avLst/>
          </a:prstGeom>
          <a:noFill/>
          <a:ln w="76200" algn="ctr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0" name="文本框 89"/>
          <p:cNvSpPr txBox="1">
            <a:spLocks noChangeArrowheads="1"/>
          </p:cNvSpPr>
          <p:nvPr/>
        </p:nvSpPr>
        <p:spPr bwMode="auto">
          <a:xfrm>
            <a:off x="1981200" y="3813175"/>
            <a:ext cx="18335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000000"/>
                </a:solidFill>
                <a:latin typeface="Calibri" panose="020F0502020204030204" pitchFamily="34" charset="0"/>
              </a:rPr>
              <a:t>return 1</a:t>
            </a:r>
            <a:endParaRPr lang="zh-CN" altLang="en-US" sz="18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91" name="文本框 90"/>
          <p:cNvSpPr txBox="1">
            <a:spLocks noChangeArrowheads="1"/>
          </p:cNvSpPr>
          <p:nvPr/>
        </p:nvSpPr>
        <p:spPr bwMode="auto">
          <a:xfrm>
            <a:off x="4646613" y="3881438"/>
            <a:ext cx="18335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000000"/>
                </a:solidFill>
                <a:latin typeface="Calibri" panose="020F0502020204030204" pitchFamily="34" charset="0"/>
              </a:rPr>
              <a:t>return 1</a:t>
            </a:r>
            <a:endParaRPr lang="zh-CN" altLang="en-US" sz="18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92" name="文本框 91"/>
          <p:cNvSpPr txBox="1">
            <a:spLocks noChangeArrowheads="1"/>
          </p:cNvSpPr>
          <p:nvPr/>
        </p:nvSpPr>
        <p:spPr bwMode="auto">
          <a:xfrm>
            <a:off x="3732213" y="2287588"/>
            <a:ext cx="18335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000000"/>
                </a:solidFill>
                <a:latin typeface="Calibri" panose="020F0502020204030204" pitchFamily="34" charset="0"/>
              </a:rPr>
              <a:t>return 1+1</a:t>
            </a:r>
            <a:endParaRPr lang="zh-CN" altLang="en-US" sz="18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93" name="文本框 92"/>
          <p:cNvSpPr txBox="1">
            <a:spLocks noChangeArrowheads="1"/>
          </p:cNvSpPr>
          <p:nvPr/>
        </p:nvSpPr>
        <p:spPr bwMode="auto">
          <a:xfrm>
            <a:off x="6858000" y="2408238"/>
            <a:ext cx="18335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000000"/>
                </a:solidFill>
                <a:latin typeface="Calibri" panose="020F0502020204030204" pitchFamily="34" charset="0"/>
              </a:rPr>
              <a:t>return 1+1</a:t>
            </a:r>
            <a:endParaRPr lang="zh-CN" altLang="en-US" sz="18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94" name="文本框 93"/>
          <p:cNvSpPr txBox="1">
            <a:spLocks noChangeArrowheads="1"/>
          </p:cNvSpPr>
          <p:nvPr/>
        </p:nvSpPr>
        <p:spPr bwMode="auto">
          <a:xfrm>
            <a:off x="6227763" y="4070350"/>
            <a:ext cx="18319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000000"/>
                </a:solidFill>
                <a:latin typeface="Calibri" panose="020F0502020204030204" pitchFamily="34" charset="0"/>
              </a:rPr>
              <a:t>return 1</a:t>
            </a:r>
            <a:endParaRPr lang="zh-CN" altLang="en-US" sz="18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95" name="文本框 94"/>
          <p:cNvSpPr txBox="1">
            <a:spLocks noChangeArrowheads="1"/>
          </p:cNvSpPr>
          <p:nvPr/>
        </p:nvSpPr>
        <p:spPr bwMode="auto">
          <a:xfrm>
            <a:off x="8461375" y="3951288"/>
            <a:ext cx="1835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000000"/>
                </a:solidFill>
                <a:latin typeface="Calibri" panose="020F0502020204030204" pitchFamily="34" charset="0"/>
              </a:rPr>
              <a:t>return 1</a:t>
            </a:r>
            <a:endParaRPr lang="zh-CN" altLang="en-US" sz="18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96" name="文本框 95"/>
          <p:cNvSpPr txBox="1">
            <a:spLocks noChangeArrowheads="1"/>
          </p:cNvSpPr>
          <p:nvPr/>
        </p:nvSpPr>
        <p:spPr bwMode="auto">
          <a:xfrm>
            <a:off x="5454650" y="1498600"/>
            <a:ext cx="18335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000000"/>
                </a:solidFill>
                <a:latin typeface="Calibri" panose="020F0502020204030204" pitchFamily="34" charset="0"/>
              </a:rPr>
              <a:t>return 2+2</a:t>
            </a:r>
            <a:endParaRPr lang="zh-CN" altLang="en-US" sz="18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29727" name="矩形 96"/>
          <p:cNvSpPr>
            <a:spLocks noChangeArrowheads="1"/>
          </p:cNvSpPr>
          <p:nvPr/>
        </p:nvSpPr>
        <p:spPr bwMode="auto">
          <a:xfrm>
            <a:off x="1587500" y="1062038"/>
            <a:ext cx="4089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>
                <a:solidFill>
                  <a:srgbClr val="F902FC"/>
                </a:solidFill>
                <a:latin typeface="Arial" panose="020B0604020202020204" pitchFamily="34" charset="0"/>
              </a:rPr>
              <a:t>n=12,k=4</a:t>
            </a:r>
            <a:r>
              <a:rPr lang="zh-CN" altLang="en-US">
                <a:solidFill>
                  <a:srgbClr val="F902FC"/>
                </a:solidFill>
                <a:latin typeface="Arial" panose="020B0604020202020204" pitchFamily="34" charset="0"/>
              </a:rPr>
              <a:t>时，</a:t>
            </a:r>
            <a:r>
              <a:rPr lang="en-US" altLang="zh-CN">
                <a:solidFill>
                  <a:srgbClr val="FFFF00"/>
                </a:solidFill>
                <a:latin typeface="Arial" panose="020B0604020202020204" pitchFamily="34" charset="0"/>
              </a:rPr>
              <a:t>f(</a:t>
            </a:r>
            <a:r>
              <a:rPr lang="en-US" altLang="zh-CN">
                <a:solidFill>
                  <a:srgbClr val="F902FC"/>
                </a:solidFill>
                <a:latin typeface="Arial" panose="020B0604020202020204" pitchFamily="34" charset="0"/>
              </a:rPr>
              <a:t>12,4</a:t>
            </a:r>
            <a:r>
              <a:rPr lang="en-US" altLang="zh-CN">
                <a:solidFill>
                  <a:srgbClr val="FFFF00"/>
                </a:solidFill>
                <a:latin typeface="Arial" panose="020B0604020202020204" pitchFamily="34" charset="0"/>
              </a:rPr>
              <a:t>)</a:t>
            </a:r>
            <a:r>
              <a:rPr lang="en-US" altLang="zh-CN">
                <a:solidFill>
                  <a:srgbClr val="F902FC"/>
                </a:solidFill>
                <a:latin typeface="Arial" panose="020B0604020202020204" pitchFamily="34" charset="0"/>
              </a:rPr>
              <a:t>;</a:t>
            </a:r>
            <a:endParaRPr lang="en-US" altLang="zh-CN">
              <a:solidFill>
                <a:srgbClr val="F902FC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/>
      <p:bldP spid="75" grpId="0"/>
      <p:bldP spid="76" grpId="0"/>
      <p:bldP spid="77" grpId="0"/>
      <p:bldP spid="78" grpId="0"/>
      <p:bldP spid="90" grpId="0"/>
      <p:bldP spid="91" grpId="0"/>
      <p:bldP spid="92" grpId="0"/>
      <p:bldP spid="93" grpId="0"/>
      <p:bldP spid="94" grpId="0"/>
      <p:bldP spid="95" grpId="0"/>
      <p:bldP spid="9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20E130FC-9843-4C44-A33F-C39D756C0D5B}" type="slidenum">
              <a:rPr lang="en-US" altLang="zh-CN" sz="1200" b="0"/>
            </a:fld>
            <a:endParaRPr lang="en-US" altLang="zh-CN" sz="1200" b="0"/>
          </a:p>
        </p:txBody>
      </p:sp>
      <p:sp>
        <p:nvSpPr>
          <p:cNvPr id="5" name="矩形 4"/>
          <p:cNvSpPr/>
          <p:nvPr/>
        </p:nvSpPr>
        <p:spPr>
          <a:xfrm>
            <a:off x="117475" y="2601913"/>
            <a:ext cx="10525125" cy="3538220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800" dirty="0"/>
              <a:t>int </a:t>
            </a:r>
            <a:r>
              <a:rPr lang="zh-CN" altLang="en-US" sz="2800" dirty="0">
                <a:solidFill>
                  <a:srgbClr val="F902FC"/>
                </a:solidFill>
              </a:rPr>
              <a:t>f(</a:t>
            </a:r>
            <a:r>
              <a:rPr lang="zh-CN" altLang="en-US" sz="2800" dirty="0">
                <a:solidFill>
                  <a:srgbClr val="FFC000"/>
                </a:solidFill>
              </a:rPr>
              <a:t>int n</a:t>
            </a:r>
            <a:r>
              <a:rPr lang="zh-CN" altLang="en-US" sz="2800" dirty="0"/>
              <a:t>, int k</a:t>
            </a:r>
            <a:r>
              <a:rPr lang="zh-CN" altLang="en-US" sz="2800" dirty="0">
                <a:solidFill>
                  <a:srgbClr val="F902FC"/>
                </a:solidFill>
              </a:rPr>
              <a:t>){</a:t>
            </a:r>
            <a:endParaRPr lang="zh-CN" altLang="en-US" sz="2800" dirty="0">
              <a:solidFill>
                <a:srgbClr val="F902FC"/>
              </a:solidFill>
            </a:endParaRPr>
          </a:p>
          <a:p>
            <a:pPr eaLnBrk="1" hangingPunct="1">
              <a:defRPr/>
            </a:pPr>
            <a:r>
              <a:rPr lang="zh-CN" alt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</a:t>
            </a:r>
            <a:r>
              <a:rPr lang="en-US" altLang="zh-CN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	</a:t>
            </a:r>
            <a:r>
              <a:rPr lang="zh-CN" alt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(n &lt;= k)  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//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递归出口</a:t>
            </a:r>
            <a:endParaRPr lang="zh-CN" altLang="en-US" sz="2800" dirty="0">
              <a:solidFill>
                <a:schemeClr val="tx1">
                  <a:lumMod val="50000"/>
                </a:schemeClr>
              </a:solidFill>
            </a:endParaRPr>
          </a:p>
          <a:p>
            <a:pPr eaLnBrk="1" hangingPunct="1">
              <a:defRPr/>
            </a:pPr>
            <a:r>
              <a:rPr lang="zh-CN" alt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</a:t>
            </a:r>
            <a:r>
              <a:rPr lang="en-US" altLang="zh-CN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		</a:t>
            </a:r>
            <a:r>
              <a:rPr lang="zh-CN" alt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return 1;</a:t>
            </a:r>
            <a:endParaRPr lang="zh-CN" alt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eaLnBrk="1" hangingPunct="1">
              <a:defRPr/>
            </a:pPr>
            <a:r>
              <a:rPr lang="en-US" altLang="zh-CN" sz="2800" dirty="0"/>
              <a:t>	</a:t>
            </a:r>
            <a:r>
              <a:rPr lang="zh-CN" altLang="en-US" sz="2800" dirty="0"/>
              <a:t>int l1,l2;</a:t>
            </a:r>
            <a:endParaRPr lang="zh-CN" altLang="en-US" sz="2800" dirty="0"/>
          </a:p>
          <a:p>
            <a:pPr eaLnBrk="1" hangingPunct="1">
              <a:defRPr/>
            </a:pPr>
            <a:r>
              <a:rPr lang="en-US" altLang="zh-CN" sz="2800" dirty="0"/>
              <a:t>	</a:t>
            </a:r>
            <a:r>
              <a:rPr lang="zh-CN" altLang="en-US" sz="2800" dirty="0">
                <a:solidFill>
                  <a:srgbClr val="FFFF00"/>
                </a:solidFill>
              </a:rPr>
              <a:t>l1=</a:t>
            </a:r>
            <a:r>
              <a:rPr lang="zh-CN" altLang="en-US" sz="2800" dirty="0"/>
              <a:t>(int)(n * 0.4</a:t>
            </a:r>
            <a:r>
              <a:rPr lang="zh-CN" altLang="en-US" sz="2800" dirty="0">
                <a:solidFill>
                  <a:srgbClr val="F902FC"/>
                </a:solidFill>
              </a:rPr>
              <a:t>+0.5</a:t>
            </a:r>
            <a:r>
              <a:rPr lang="zh-CN" altLang="en-US" sz="2800" dirty="0"/>
              <a:t>); </a:t>
            </a:r>
            <a:r>
              <a:rPr lang="en-US" altLang="zh-CN" sz="2000" dirty="0">
                <a:solidFill>
                  <a:schemeClr val="tx1">
                    <a:lumMod val="75000"/>
                  </a:schemeClr>
                </a:solidFill>
              </a:rPr>
              <a:t>//</a:t>
            </a:r>
            <a:r>
              <a:rPr lang="zh-CN" altLang="en-US" sz="2000" dirty="0">
                <a:solidFill>
                  <a:schemeClr val="tx1">
                    <a:lumMod val="75000"/>
                  </a:schemeClr>
                </a:solidFill>
              </a:rPr>
              <a:t>短木条长度：四舍五入</a:t>
            </a:r>
            <a:endParaRPr lang="zh-CN" altLang="en-US" sz="2000" dirty="0">
              <a:solidFill>
                <a:schemeClr val="tx1">
                  <a:lumMod val="75000"/>
                </a:schemeClr>
              </a:solidFill>
            </a:endParaRPr>
          </a:p>
          <a:p>
            <a:pPr eaLnBrk="1" hangingPunct="1">
              <a:defRPr/>
            </a:pPr>
            <a:r>
              <a:rPr lang="zh-CN" altLang="en-US" sz="2800" dirty="0"/>
              <a:t>        </a:t>
            </a:r>
            <a:r>
              <a:rPr lang="en-US" altLang="zh-CN" sz="2800" dirty="0"/>
              <a:t>	</a:t>
            </a:r>
            <a:r>
              <a:rPr lang="zh-CN" altLang="en-US" sz="2800" dirty="0">
                <a:solidFill>
                  <a:srgbClr val="FFFF00"/>
                </a:solidFill>
              </a:rPr>
              <a:t>l2=</a:t>
            </a:r>
            <a:r>
              <a:rPr lang="zh-CN" altLang="en-US" sz="2800" dirty="0"/>
              <a:t>n-l1; </a:t>
            </a:r>
            <a:r>
              <a:rPr lang="en-US" altLang="zh-CN" sz="2800" dirty="0">
                <a:solidFill>
                  <a:schemeClr val="tx1">
                    <a:lumMod val="75000"/>
                  </a:schemeClr>
                </a:solidFill>
              </a:rPr>
              <a:t>//</a:t>
            </a:r>
            <a:r>
              <a:rPr lang="zh-CN" altLang="en-US" sz="2800" dirty="0">
                <a:solidFill>
                  <a:schemeClr val="tx1">
                    <a:lumMod val="75000"/>
                  </a:schemeClr>
                </a:solidFill>
              </a:rPr>
              <a:t>长木条长度</a:t>
            </a:r>
            <a:endParaRPr lang="zh-CN" altLang="en-US" sz="2800" dirty="0">
              <a:solidFill>
                <a:schemeClr val="tx1">
                  <a:lumMod val="75000"/>
                </a:schemeClr>
              </a:solidFill>
            </a:endParaRPr>
          </a:p>
          <a:p>
            <a:pPr eaLnBrk="1" hangingPunct="1">
              <a:defRPr/>
            </a:pPr>
            <a:r>
              <a:rPr lang="zh-CN" altLang="en-US" sz="2800" dirty="0"/>
              <a:t>        </a:t>
            </a:r>
            <a:r>
              <a:rPr lang="en-US" altLang="zh-CN" sz="2800" dirty="0"/>
              <a:t>	</a:t>
            </a:r>
            <a:r>
              <a:rPr lang="zh-CN" altLang="en-US" sz="2800" dirty="0"/>
              <a:t>return </a:t>
            </a:r>
            <a:r>
              <a:rPr lang="zh-CN" altLang="en-US" sz="2800" dirty="0">
                <a:solidFill>
                  <a:srgbClr val="FF0000"/>
                </a:solidFill>
              </a:rPr>
              <a:t>f(</a:t>
            </a:r>
            <a:r>
              <a:rPr lang="zh-CN" altLang="en-US" sz="2800" dirty="0">
                <a:solidFill>
                  <a:srgbClr val="FFC000"/>
                </a:solidFill>
              </a:rPr>
              <a:t>l1</a:t>
            </a:r>
            <a:r>
              <a:rPr lang="zh-CN" altLang="en-US" sz="2800" dirty="0"/>
              <a:t>, k</a:t>
            </a:r>
            <a:r>
              <a:rPr lang="zh-CN" altLang="en-US" sz="2800" dirty="0">
                <a:solidFill>
                  <a:srgbClr val="FF0000"/>
                </a:solidFill>
              </a:rPr>
              <a:t>)</a:t>
            </a:r>
            <a:r>
              <a:rPr lang="zh-CN" altLang="en-US" sz="2800" dirty="0"/>
              <a:t> + </a:t>
            </a:r>
            <a:r>
              <a:rPr lang="zh-CN" altLang="en-US" sz="2800" dirty="0">
                <a:solidFill>
                  <a:srgbClr val="FF0000"/>
                </a:solidFill>
              </a:rPr>
              <a:t>f(</a:t>
            </a:r>
            <a:r>
              <a:rPr lang="zh-CN" altLang="en-US" sz="2800" dirty="0">
                <a:solidFill>
                  <a:srgbClr val="FFC000"/>
                </a:solidFill>
              </a:rPr>
              <a:t>l2</a:t>
            </a:r>
            <a:r>
              <a:rPr lang="zh-CN" altLang="en-US" sz="2800" dirty="0"/>
              <a:t>, k </a:t>
            </a:r>
            <a:r>
              <a:rPr lang="zh-CN" altLang="en-US" sz="2800" dirty="0">
                <a:solidFill>
                  <a:srgbClr val="FF0000"/>
                </a:solidFill>
              </a:rPr>
              <a:t>)</a:t>
            </a:r>
            <a:r>
              <a:rPr lang="zh-CN" altLang="en-US" sz="2800" dirty="0"/>
              <a:t>;    </a:t>
            </a:r>
            <a:endParaRPr lang="zh-CN" altLang="en-US" sz="2800" dirty="0"/>
          </a:p>
          <a:p>
            <a:pPr eaLnBrk="1" hangingPunct="1">
              <a:defRPr/>
            </a:pPr>
            <a:r>
              <a:rPr lang="zh-CN" altLang="en-US" sz="2800" dirty="0">
                <a:solidFill>
                  <a:srgbClr val="F902FC"/>
                </a:solidFill>
              </a:rPr>
              <a:t>}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30724" name="矩形 5"/>
          <p:cNvSpPr>
            <a:spLocks noChangeArrowheads="1"/>
          </p:cNvSpPr>
          <p:nvPr/>
        </p:nvSpPr>
        <p:spPr bwMode="auto">
          <a:xfrm>
            <a:off x="0" y="2035175"/>
            <a:ext cx="69326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rgbClr val="FFC000"/>
                </a:solidFill>
                <a:latin typeface="Arial" panose="020B0604020202020204" pitchFamily="34" charset="0"/>
              </a:rPr>
              <a:t>【</a:t>
            </a:r>
            <a:r>
              <a:rPr lang="zh-CN" altLang="en-US" sz="2800">
                <a:solidFill>
                  <a:srgbClr val="FFC000"/>
                </a:solidFill>
                <a:latin typeface="Arial" panose="020B0604020202020204" pitchFamily="34" charset="0"/>
              </a:rPr>
              <a:t>参考程序</a:t>
            </a:r>
            <a:r>
              <a:rPr lang="en-US" altLang="zh-CN" sz="2800">
                <a:solidFill>
                  <a:srgbClr val="FFC000"/>
                </a:solidFill>
                <a:latin typeface="Arial" panose="020B0604020202020204" pitchFamily="34" charset="0"/>
              </a:rPr>
              <a:t>1】</a:t>
            </a:r>
            <a:r>
              <a:rPr lang="zh-CN" altLang="en-US" sz="2800">
                <a:solidFill>
                  <a:srgbClr val="FFC000"/>
                </a:solidFill>
                <a:latin typeface="Arial" panose="020B0604020202020204" pitchFamily="34" charset="0"/>
              </a:rPr>
              <a:t>用</a:t>
            </a:r>
            <a:r>
              <a:rPr lang="en-US" altLang="zh-CN" sz="2800">
                <a:solidFill>
                  <a:srgbClr val="FFC000"/>
                </a:solidFill>
                <a:latin typeface="Arial" panose="020B0604020202020204" pitchFamily="34" charset="0"/>
              </a:rPr>
              <a:t>return</a:t>
            </a:r>
            <a:r>
              <a:rPr lang="zh-CN" altLang="en-US" sz="2800">
                <a:solidFill>
                  <a:srgbClr val="FFC000"/>
                </a:solidFill>
                <a:latin typeface="Arial" panose="020B0604020202020204" pitchFamily="34" charset="0"/>
              </a:rPr>
              <a:t>语句带回计算结果</a:t>
            </a:r>
            <a:endParaRPr lang="en-US" altLang="zh-CN" sz="2800">
              <a:solidFill>
                <a:srgbClr val="FFC000"/>
              </a:solidFill>
              <a:latin typeface="Arial" panose="020B0604020202020204" pitchFamily="34" charset="0"/>
            </a:endParaRPr>
          </a:p>
        </p:txBody>
      </p:sp>
      <p:sp>
        <p:nvSpPr>
          <p:cNvPr id="30725" name="矩形 96"/>
          <p:cNvSpPr>
            <a:spLocks noChangeArrowheads="1"/>
          </p:cNvSpPr>
          <p:nvPr/>
        </p:nvSpPr>
        <p:spPr bwMode="auto">
          <a:xfrm>
            <a:off x="6099175" y="2609850"/>
            <a:ext cx="45434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例：</a:t>
            </a:r>
            <a:r>
              <a:rPr lang="en-US" altLang="zh-CN" sz="2400">
                <a:latin typeface="Arial" panose="020B0604020202020204" pitchFamily="34" charset="0"/>
              </a:rPr>
              <a:t>n=10,k=4</a:t>
            </a:r>
            <a:r>
              <a:rPr lang="zh-CN" altLang="en-US" sz="2400">
                <a:latin typeface="Arial" panose="020B0604020202020204" pitchFamily="34" charset="0"/>
              </a:rPr>
              <a:t>时，</a:t>
            </a:r>
            <a:r>
              <a:rPr lang="en-US" altLang="zh-CN" sz="2400">
                <a:solidFill>
                  <a:srgbClr val="F902FC"/>
                </a:solidFill>
                <a:latin typeface="Arial" panose="020B0604020202020204" pitchFamily="34" charset="0"/>
              </a:rPr>
              <a:t>f(</a:t>
            </a:r>
            <a:r>
              <a:rPr lang="en-US" altLang="zh-CN" sz="2400">
                <a:latin typeface="Arial" panose="020B0604020202020204" pitchFamily="34" charset="0"/>
              </a:rPr>
              <a:t>10,4</a:t>
            </a:r>
            <a:r>
              <a:rPr lang="en-US" altLang="zh-CN" sz="2400">
                <a:solidFill>
                  <a:srgbClr val="F902FC"/>
                </a:solidFill>
                <a:latin typeface="Arial" panose="020B0604020202020204" pitchFamily="34" charset="0"/>
              </a:rPr>
              <a:t>)</a:t>
            </a:r>
            <a:r>
              <a:rPr lang="en-US" altLang="zh-CN" sz="2400">
                <a:latin typeface="Arial" panose="020B0604020202020204" pitchFamily="34" charset="0"/>
              </a:rPr>
              <a:t>;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2255838" y="5257800"/>
            <a:ext cx="3124200" cy="4318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pic>
        <p:nvPicPr>
          <p:cNvPr id="30727" name="图片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9100" y="-14288"/>
            <a:ext cx="3914775" cy="256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对话气泡: 圆角矩形 7"/>
          <p:cNvSpPr/>
          <p:nvPr/>
        </p:nvSpPr>
        <p:spPr bwMode="auto">
          <a:xfrm>
            <a:off x="1508125" y="1003300"/>
            <a:ext cx="3597275" cy="728663"/>
          </a:xfrm>
          <a:prstGeom prst="wedgeRoundRectCallout">
            <a:avLst>
              <a:gd name="adj1" fmla="val 4351"/>
              <a:gd name="adj2" fmla="val 94714"/>
              <a:gd name="adj3" fmla="val 16667"/>
            </a:avLst>
          </a:prstGeom>
          <a:solidFill>
            <a:srgbClr val="00B0F0"/>
          </a:solidFill>
          <a:ln>
            <a:noFill/>
          </a:ln>
          <a:effectLst/>
        </p:spPr>
        <p:txBody>
          <a:bodyPr anchor="ctr"/>
          <a:lstStyle/>
          <a:p>
            <a:pPr eaLnBrk="1" hangingPunct="1">
              <a:defRPr/>
            </a:pP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有返回值的递归函数</a:t>
            </a:r>
            <a:endParaRPr lang="zh-CN" alt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6062FFE3-758A-4767-9D94-9A0F5C9602A5}" type="slidenum">
              <a:rPr lang="en-US" altLang="zh-CN" sz="1200" b="0"/>
            </a:fld>
            <a:endParaRPr lang="en-US" altLang="zh-CN" sz="1200" b="0"/>
          </a:p>
        </p:txBody>
      </p:sp>
      <p:sp>
        <p:nvSpPr>
          <p:cNvPr id="5" name="矩形 4"/>
          <p:cNvSpPr/>
          <p:nvPr/>
        </p:nvSpPr>
        <p:spPr>
          <a:xfrm>
            <a:off x="88900" y="200025"/>
            <a:ext cx="9701213" cy="6554470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800" dirty="0">
                <a:solidFill>
                  <a:srgbClr val="FFC000"/>
                </a:solidFill>
              </a:rPr>
              <a:t>【</a:t>
            </a:r>
            <a:r>
              <a:rPr lang="zh-CN" altLang="en-US" sz="2800" dirty="0">
                <a:solidFill>
                  <a:srgbClr val="FFC000"/>
                </a:solidFill>
              </a:rPr>
              <a:t>参考程序</a:t>
            </a:r>
            <a:r>
              <a:rPr lang="en-US" altLang="zh-CN" sz="2800" dirty="0">
                <a:solidFill>
                  <a:srgbClr val="FFC000"/>
                </a:solidFill>
              </a:rPr>
              <a:t>2】</a:t>
            </a:r>
            <a:r>
              <a:rPr lang="zh-CN" altLang="en-US" sz="2800" dirty="0">
                <a:solidFill>
                  <a:srgbClr val="FFC000"/>
                </a:solidFill>
              </a:rPr>
              <a:t>指针做参数</a:t>
            </a:r>
            <a:endParaRPr lang="en-US" altLang="zh-CN" sz="2800" dirty="0">
              <a:solidFill>
                <a:srgbClr val="FFC000"/>
              </a:solidFill>
            </a:endParaRPr>
          </a:p>
          <a:p>
            <a:pPr eaLnBrk="1" hangingPunct="1">
              <a:defRPr/>
            </a:pPr>
            <a:r>
              <a:rPr lang="zh-CN" altLang="en-US" sz="2800" dirty="0">
                <a:solidFill>
                  <a:srgbClr val="FFFF00"/>
                </a:solidFill>
              </a:rPr>
              <a:t>void</a:t>
            </a:r>
            <a:r>
              <a:rPr lang="zh-CN" altLang="en-US" sz="2800" dirty="0">
                <a:solidFill>
                  <a:srgbClr val="F902FC"/>
                </a:solidFill>
              </a:rPr>
              <a:t> f(</a:t>
            </a:r>
            <a:r>
              <a:rPr lang="zh-CN" altLang="en-US" sz="2800" dirty="0"/>
              <a:t>int n, int k , </a:t>
            </a:r>
            <a:r>
              <a:rPr lang="zh-CN" altLang="en-US" sz="2800" dirty="0">
                <a:solidFill>
                  <a:srgbClr val="FFFF00"/>
                </a:solidFill>
              </a:rPr>
              <a:t>int *</a:t>
            </a:r>
            <a:r>
              <a:rPr lang="en-US" altLang="zh-CN" sz="2800" dirty="0">
                <a:solidFill>
                  <a:srgbClr val="FFFF00"/>
                </a:solidFill>
              </a:rPr>
              <a:t>p</a:t>
            </a:r>
            <a:r>
              <a:rPr lang="zh-CN" altLang="en-US" sz="2800" dirty="0">
                <a:solidFill>
                  <a:srgbClr val="F902FC"/>
                </a:solidFill>
              </a:rPr>
              <a:t>)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eaLnBrk="1" hangingPunct="1">
              <a:defRPr/>
            </a:pPr>
            <a:r>
              <a:rPr lang="zh-CN" altLang="en-US" sz="2800" dirty="0">
                <a:solidFill>
                  <a:srgbClr val="F902FC"/>
                </a:solidFill>
              </a:rPr>
              <a:t>{</a:t>
            </a:r>
            <a:r>
              <a:rPr lang="zh-CN" altLang="en-US" sz="2800" dirty="0">
                <a:solidFill>
                  <a:srgbClr val="FFFF00"/>
                </a:solidFill>
              </a:rPr>
              <a:t>  </a:t>
            </a:r>
            <a:r>
              <a:rPr lang="en-US" altLang="zh-CN" sz="2800" dirty="0">
                <a:solidFill>
                  <a:srgbClr val="FFFF00"/>
                </a:solidFill>
              </a:rPr>
              <a:t>	</a:t>
            </a:r>
            <a:r>
              <a:rPr lang="zh-CN" altLang="en-US" sz="2800" dirty="0">
                <a:solidFill>
                  <a:srgbClr val="FFFF00"/>
                </a:solidFill>
              </a:rPr>
              <a:t>if (n &lt;= k)</a:t>
            </a:r>
            <a:endParaRPr lang="zh-CN" altLang="en-US" sz="2800" dirty="0">
              <a:solidFill>
                <a:srgbClr val="FFFF00"/>
              </a:solidFill>
            </a:endParaRPr>
          </a:p>
          <a:p>
            <a:pPr eaLnBrk="1" hangingPunct="1">
              <a:defRPr/>
            </a:pPr>
            <a:r>
              <a:rPr lang="zh-CN" altLang="en-US" sz="2800" dirty="0">
                <a:solidFill>
                  <a:srgbClr val="FFFF00"/>
                </a:solidFill>
              </a:rPr>
              <a:t>    </a:t>
            </a:r>
            <a:r>
              <a:rPr lang="en-US" altLang="zh-CN" sz="2800" dirty="0">
                <a:solidFill>
                  <a:srgbClr val="FFFF00"/>
                </a:solidFill>
              </a:rPr>
              <a:t>	</a:t>
            </a:r>
            <a:r>
              <a:rPr lang="zh-CN" altLang="en-US" sz="2800" dirty="0">
                <a:solidFill>
                  <a:srgbClr val="FFFF00"/>
                </a:solidFill>
              </a:rPr>
              <a:t>{</a:t>
            </a:r>
            <a:endParaRPr lang="zh-CN" altLang="en-US" sz="2800" dirty="0">
              <a:solidFill>
                <a:srgbClr val="FFFF00"/>
              </a:solidFill>
            </a:endParaRPr>
          </a:p>
          <a:p>
            <a:pPr eaLnBrk="1" hangingPunct="1">
              <a:defRPr/>
            </a:pPr>
            <a:r>
              <a:rPr lang="zh-CN" altLang="en-US" sz="2800" dirty="0">
                <a:solidFill>
                  <a:srgbClr val="FFFF00"/>
                </a:solidFill>
              </a:rPr>
              <a:t>        </a:t>
            </a:r>
            <a:r>
              <a:rPr lang="en-US" altLang="zh-CN" sz="2800" dirty="0">
                <a:solidFill>
                  <a:srgbClr val="FFFF00"/>
                </a:solidFill>
              </a:rPr>
              <a:t>		(</a:t>
            </a:r>
            <a:r>
              <a:rPr lang="zh-CN" altLang="en-US" sz="2800" dirty="0">
                <a:solidFill>
                  <a:srgbClr val="FFFF00"/>
                </a:solidFill>
              </a:rPr>
              <a:t>*</a:t>
            </a:r>
            <a:r>
              <a:rPr lang="en-US" altLang="zh-CN" sz="2800" dirty="0">
                <a:solidFill>
                  <a:srgbClr val="FFFF00"/>
                </a:solidFill>
              </a:rPr>
              <a:t>p)++;</a:t>
            </a:r>
            <a:endParaRPr lang="zh-CN" altLang="en-US" sz="2800" dirty="0">
              <a:solidFill>
                <a:srgbClr val="FFFF00"/>
              </a:solidFill>
            </a:endParaRPr>
          </a:p>
          <a:p>
            <a:pPr eaLnBrk="1" hangingPunct="1">
              <a:defRPr/>
            </a:pPr>
            <a:r>
              <a:rPr lang="zh-CN" altLang="en-US" sz="2800" dirty="0">
                <a:solidFill>
                  <a:srgbClr val="FFFF00"/>
                </a:solidFill>
              </a:rPr>
              <a:t>        </a:t>
            </a:r>
            <a:r>
              <a:rPr lang="en-US" altLang="zh-CN" sz="2800" dirty="0">
                <a:solidFill>
                  <a:srgbClr val="FFFF00"/>
                </a:solidFill>
              </a:rPr>
              <a:t>		</a:t>
            </a:r>
            <a:r>
              <a:rPr lang="zh-CN" altLang="en-US" sz="2800" dirty="0">
                <a:solidFill>
                  <a:srgbClr val="FFFF00"/>
                </a:solidFill>
              </a:rPr>
              <a:t>return;</a:t>
            </a:r>
            <a:endParaRPr lang="zh-CN" altLang="en-US" sz="2800" dirty="0">
              <a:solidFill>
                <a:srgbClr val="F902FC"/>
              </a:solidFill>
            </a:endParaRPr>
          </a:p>
          <a:p>
            <a:pPr eaLnBrk="1" hangingPunct="1">
              <a:defRPr/>
            </a:pPr>
            <a:r>
              <a:rPr lang="zh-CN" altLang="en-US" sz="2800" dirty="0">
                <a:solidFill>
                  <a:srgbClr val="FFFF00"/>
                </a:solidFill>
              </a:rPr>
              <a:t>    </a:t>
            </a:r>
            <a:r>
              <a:rPr lang="en-US" altLang="zh-CN" sz="2800" dirty="0">
                <a:solidFill>
                  <a:srgbClr val="FFFF00"/>
                </a:solidFill>
              </a:rPr>
              <a:t>	</a:t>
            </a:r>
            <a:r>
              <a:rPr lang="zh-CN" altLang="en-US" sz="2800" dirty="0">
                <a:solidFill>
                  <a:srgbClr val="FFFF00"/>
                </a:solidFill>
              </a:rPr>
              <a:t>}</a:t>
            </a:r>
            <a:endParaRPr lang="zh-CN" altLang="en-US" sz="2800" dirty="0">
              <a:solidFill>
                <a:srgbClr val="FFFF00"/>
              </a:solidFill>
            </a:endParaRPr>
          </a:p>
          <a:p>
            <a:pPr eaLnBrk="1" hangingPunct="1">
              <a:defRPr/>
            </a:pPr>
            <a:r>
              <a:rPr lang="zh-CN" altLang="en-US" sz="2800" dirty="0"/>
              <a:t>    </a:t>
            </a:r>
            <a:r>
              <a:rPr lang="en-US" altLang="zh-CN" sz="2800" dirty="0"/>
              <a:t>	</a:t>
            </a:r>
            <a:r>
              <a:rPr lang="zh-CN" altLang="en-US" sz="2800" dirty="0"/>
              <a:t>else</a:t>
            </a:r>
            <a:endParaRPr lang="zh-CN" altLang="en-US" sz="2800" dirty="0"/>
          </a:p>
          <a:p>
            <a:pPr eaLnBrk="1" hangingPunct="1">
              <a:defRPr/>
            </a:pPr>
            <a:r>
              <a:rPr lang="zh-CN" altLang="en-US" sz="2800" dirty="0"/>
              <a:t>    </a:t>
            </a:r>
            <a:r>
              <a:rPr lang="en-US" altLang="zh-CN" sz="2800" dirty="0"/>
              <a:t>	</a:t>
            </a:r>
            <a:r>
              <a:rPr lang="zh-CN" altLang="en-US" sz="2800" dirty="0"/>
              <a:t>{   </a:t>
            </a:r>
            <a:r>
              <a:rPr lang="en-US" altLang="zh-CN" sz="2800" dirty="0"/>
              <a:t>	</a:t>
            </a:r>
            <a:r>
              <a:rPr lang="zh-CN" altLang="en-US" sz="2800" dirty="0"/>
              <a:t>int l1,l2;</a:t>
            </a:r>
            <a:endParaRPr lang="zh-CN" altLang="en-US" sz="2800" dirty="0"/>
          </a:p>
          <a:p>
            <a:pPr eaLnBrk="1" hangingPunct="1">
              <a:defRPr/>
            </a:pPr>
            <a:r>
              <a:rPr lang="zh-CN" altLang="en-US" sz="2800" dirty="0"/>
              <a:t>        </a:t>
            </a:r>
            <a:r>
              <a:rPr lang="en-US" altLang="zh-CN" sz="2800" dirty="0"/>
              <a:t>		</a:t>
            </a:r>
            <a:r>
              <a:rPr lang="zh-CN" altLang="en-US" sz="2800" dirty="0"/>
              <a:t>l1=(int)(n * 0.4+0.5);</a:t>
            </a:r>
            <a:r>
              <a:rPr lang="en-US" altLang="zh-CN" sz="2800" dirty="0">
                <a:solidFill>
                  <a:srgbClr val="FF0000"/>
                </a:solidFill>
              </a:rPr>
              <a:t> </a:t>
            </a:r>
            <a:r>
              <a:rPr lang="en-US" altLang="zh-CN" sz="2800" dirty="0">
                <a:solidFill>
                  <a:schemeClr val="tx1">
                    <a:lumMod val="75000"/>
                  </a:schemeClr>
                </a:solidFill>
              </a:rPr>
              <a:t>//</a:t>
            </a:r>
            <a:r>
              <a:rPr lang="zh-CN" altLang="en-US" sz="2800" dirty="0">
                <a:solidFill>
                  <a:schemeClr val="tx1">
                    <a:lumMod val="75000"/>
                  </a:schemeClr>
                </a:solidFill>
              </a:rPr>
              <a:t>短木条</a:t>
            </a:r>
            <a:endParaRPr lang="zh-CN" altLang="en-US" sz="2800" dirty="0">
              <a:solidFill>
                <a:schemeClr val="tx1">
                  <a:lumMod val="75000"/>
                </a:schemeClr>
              </a:solidFill>
            </a:endParaRPr>
          </a:p>
          <a:p>
            <a:pPr eaLnBrk="1" hangingPunct="1">
              <a:defRPr/>
            </a:pPr>
            <a:r>
              <a:rPr lang="zh-CN" altLang="en-US" sz="2800" dirty="0"/>
              <a:t>        </a:t>
            </a:r>
            <a:r>
              <a:rPr lang="en-US" altLang="zh-CN" sz="2800" dirty="0"/>
              <a:t>		</a:t>
            </a:r>
            <a:r>
              <a:rPr lang="zh-CN" altLang="en-US" sz="2800" dirty="0"/>
              <a:t>l2=n-l1;</a:t>
            </a:r>
            <a:r>
              <a:rPr lang="en-US" altLang="zh-CN" sz="2800" dirty="0">
                <a:solidFill>
                  <a:srgbClr val="FF0000"/>
                </a:solidFill>
              </a:rPr>
              <a:t> </a:t>
            </a:r>
            <a:r>
              <a:rPr lang="en-US" altLang="zh-CN" sz="2800" dirty="0">
                <a:solidFill>
                  <a:schemeClr val="tx1">
                    <a:lumMod val="75000"/>
                  </a:schemeClr>
                </a:solidFill>
              </a:rPr>
              <a:t>//</a:t>
            </a:r>
            <a:r>
              <a:rPr lang="zh-CN" altLang="en-US" sz="2800" dirty="0">
                <a:solidFill>
                  <a:schemeClr val="tx1">
                    <a:lumMod val="75000"/>
                  </a:schemeClr>
                </a:solidFill>
              </a:rPr>
              <a:t>长木条</a:t>
            </a:r>
            <a:endParaRPr lang="zh-CN" altLang="en-US" sz="2800" dirty="0">
              <a:solidFill>
                <a:schemeClr val="tx1">
                  <a:lumMod val="75000"/>
                </a:schemeClr>
              </a:solidFill>
            </a:endParaRPr>
          </a:p>
          <a:p>
            <a:pPr eaLnBrk="1" hangingPunct="1">
              <a:defRPr/>
            </a:pPr>
            <a:r>
              <a:rPr lang="zh-CN" altLang="en-US" sz="2800" dirty="0"/>
              <a:t>        </a:t>
            </a:r>
            <a:r>
              <a:rPr lang="en-US" altLang="zh-CN" sz="2800" dirty="0"/>
              <a:t>		</a:t>
            </a:r>
            <a:r>
              <a:rPr lang="zh-CN" altLang="en-US" sz="2800" dirty="0">
                <a:solidFill>
                  <a:srgbClr val="F902FC"/>
                </a:solidFill>
              </a:rPr>
              <a:t>f(</a:t>
            </a:r>
            <a:r>
              <a:rPr lang="zh-CN" altLang="en-US" sz="2800" dirty="0"/>
              <a:t>l1, k, </a:t>
            </a:r>
            <a:r>
              <a:rPr lang="en-US" altLang="zh-CN" sz="2800" dirty="0">
                <a:solidFill>
                  <a:srgbClr val="FFFF00"/>
                </a:solidFill>
              </a:rPr>
              <a:t>p</a:t>
            </a:r>
            <a:r>
              <a:rPr lang="zh-CN" altLang="en-US" sz="2800" dirty="0">
                <a:solidFill>
                  <a:srgbClr val="F902FC"/>
                </a:solidFill>
              </a:rPr>
              <a:t>);</a:t>
            </a:r>
            <a:r>
              <a:rPr lang="zh-CN" altLang="en-US" sz="2800" dirty="0">
                <a:solidFill>
                  <a:srgbClr val="FF0000"/>
                </a:solidFill>
              </a:rPr>
              <a:t> </a:t>
            </a:r>
            <a:r>
              <a:rPr lang="en-US" altLang="zh-CN" sz="2800" dirty="0">
                <a:solidFill>
                  <a:schemeClr val="tx1">
                    <a:lumMod val="75000"/>
                  </a:schemeClr>
                </a:solidFill>
              </a:rPr>
              <a:t>//</a:t>
            </a:r>
            <a:r>
              <a:rPr lang="zh-CN" altLang="en-US" sz="2800" dirty="0">
                <a:solidFill>
                  <a:schemeClr val="tx1">
                    <a:lumMod val="75000"/>
                  </a:schemeClr>
                </a:solidFill>
              </a:rPr>
              <a:t>截断短木条</a:t>
            </a:r>
            <a:endParaRPr lang="zh-CN" altLang="en-US" sz="2800" dirty="0">
              <a:solidFill>
                <a:schemeClr val="tx1">
                  <a:lumMod val="75000"/>
                </a:schemeClr>
              </a:solidFill>
            </a:endParaRPr>
          </a:p>
          <a:p>
            <a:pPr eaLnBrk="1" hangingPunct="1">
              <a:defRPr/>
            </a:pPr>
            <a:r>
              <a:rPr lang="zh-CN" altLang="en-US" sz="2800" dirty="0">
                <a:solidFill>
                  <a:srgbClr val="FF0000"/>
                </a:solidFill>
              </a:rPr>
              <a:t>        </a:t>
            </a:r>
            <a:r>
              <a:rPr lang="en-US" altLang="zh-CN" sz="2800" dirty="0">
                <a:solidFill>
                  <a:srgbClr val="FF0000"/>
                </a:solidFill>
              </a:rPr>
              <a:t>		</a:t>
            </a:r>
            <a:r>
              <a:rPr lang="zh-CN" altLang="en-US" sz="2800" dirty="0">
                <a:solidFill>
                  <a:srgbClr val="F902FC"/>
                </a:solidFill>
              </a:rPr>
              <a:t>f(</a:t>
            </a:r>
            <a:r>
              <a:rPr lang="zh-CN" altLang="en-US" sz="2800" dirty="0"/>
              <a:t>l2, k, </a:t>
            </a:r>
            <a:r>
              <a:rPr lang="en-US" altLang="zh-CN" sz="2800" dirty="0">
                <a:solidFill>
                  <a:srgbClr val="FFFF00"/>
                </a:solidFill>
              </a:rPr>
              <a:t>p</a:t>
            </a:r>
            <a:r>
              <a:rPr lang="zh-CN" altLang="en-US" sz="2800" dirty="0">
                <a:solidFill>
                  <a:srgbClr val="F902FC"/>
                </a:solidFill>
              </a:rPr>
              <a:t>);</a:t>
            </a:r>
            <a:r>
              <a:rPr lang="en-US" altLang="zh-CN" sz="2800" dirty="0">
                <a:solidFill>
                  <a:srgbClr val="FF0000"/>
                </a:solidFill>
              </a:rPr>
              <a:t> </a:t>
            </a:r>
            <a:r>
              <a:rPr lang="en-US" altLang="zh-CN" sz="2800" dirty="0">
                <a:solidFill>
                  <a:schemeClr val="tx1">
                    <a:lumMod val="75000"/>
                  </a:schemeClr>
                </a:solidFill>
              </a:rPr>
              <a:t>//</a:t>
            </a:r>
            <a:r>
              <a:rPr lang="zh-CN" altLang="en-US" sz="2800" dirty="0">
                <a:solidFill>
                  <a:schemeClr val="tx1">
                    <a:lumMod val="75000"/>
                  </a:schemeClr>
                </a:solidFill>
              </a:rPr>
              <a:t>截断长木条</a:t>
            </a:r>
            <a:endParaRPr lang="zh-CN" altLang="en-US" sz="2800" dirty="0">
              <a:solidFill>
                <a:schemeClr val="tx1">
                  <a:lumMod val="75000"/>
                </a:schemeClr>
              </a:solidFill>
            </a:endParaRPr>
          </a:p>
          <a:p>
            <a:pPr eaLnBrk="1" hangingPunct="1">
              <a:defRPr/>
            </a:pPr>
            <a:r>
              <a:rPr lang="zh-CN" altLang="en-US" sz="2800" dirty="0"/>
              <a:t>    </a:t>
            </a:r>
            <a:r>
              <a:rPr lang="en-US" altLang="zh-CN" sz="2800" dirty="0"/>
              <a:t>	</a:t>
            </a:r>
            <a:r>
              <a:rPr lang="zh-CN" altLang="en-US" sz="2800" dirty="0"/>
              <a:t>}</a:t>
            </a:r>
            <a:endParaRPr lang="zh-CN" altLang="en-US" sz="2800" dirty="0"/>
          </a:p>
          <a:p>
            <a:pPr eaLnBrk="1" hangingPunct="1">
              <a:defRPr/>
            </a:pPr>
            <a:r>
              <a:rPr lang="zh-CN" altLang="en-US" sz="2800" dirty="0">
                <a:solidFill>
                  <a:srgbClr val="F902FC"/>
                </a:solidFill>
              </a:rPr>
              <a:t>}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31748" name="矩形 5"/>
          <p:cNvSpPr>
            <a:spLocks noChangeArrowheads="1"/>
          </p:cNvSpPr>
          <p:nvPr/>
        </p:nvSpPr>
        <p:spPr bwMode="auto">
          <a:xfrm>
            <a:off x="6264275" y="935038"/>
            <a:ext cx="5607050" cy="310769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/>
              <a:t>int main( ) {</a:t>
            </a:r>
            <a:endParaRPr lang="zh-CN" altLang="en-US" sz="280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>
                <a:solidFill>
                  <a:srgbClr val="FFFF00"/>
                </a:solidFill>
              </a:rPr>
              <a:t>    </a:t>
            </a:r>
            <a:r>
              <a:rPr lang="en-US" altLang="zh-CN" sz="2800">
                <a:solidFill>
                  <a:srgbClr val="FFFF00"/>
                </a:solidFill>
              </a:rPr>
              <a:t>	</a:t>
            </a:r>
            <a:r>
              <a:rPr lang="zh-CN" altLang="en-US" sz="2800">
                <a:solidFill>
                  <a:srgbClr val="FFFF00"/>
                </a:solidFill>
              </a:rPr>
              <a:t>int </a:t>
            </a:r>
            <a:r>
              <a:rPr lang="zh-CN" altLang="en-US" sz="2800"/>
              <a:t>n,k,</a:t>
            </a:r>
            <a:r>
              <a:rPr lang="zh-CN" altLang="en-US" sz="2800">
                <a:solidFill>
                  <a:srgbClr val="FFFF00"/>
                </a:solidFill>
              </a:rPr>
              <a:t>total</a:t>
            </a:r>
            <a:r>
              <a:rPr lang="en-US" altLang="zh-CN" sz="2800">
                <a:solidFill>
                  <a:srgbClr val="FFFF00"/>
                </a:solidFill>
              </a:rPr>
              <a:t>=0</a:t>
            </a:r>
            <a:r>
              <a:rPr lang="zh-CN" altLang="en-US" sz="2800"/>
              <a:t>;</a:t>
            </a:r>
            <a:endParaRPr lang="zh-CN" altLang="en-US" sz="280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/>
              <a:t>    </a:t>
            </a:r>
            <a:r>
              <a:rPr lang="en-US" altLang="zh-CN" sz="2800"/>
              <a:t>	</a:t>
            </a:r>
            <a:r>
              <a:rPr lang="zh-CN" altLang="en-US" sz="2800"/>
              <a:t>scanf("%d%d",&amp;n,&amp;k);</a:t>
            </a:r>
            <a:endParaRPr lang="zh-CN" altLang="en-US" sz="280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/>
              <a:t>    </a:t>
            </a:r>
            <a:r>
              <a:rPr lang="en-US" altLang="zh-CN" sz="2800"/>
              <a:t>	</a:t>
            </a:r>
            <a:r>
              <a:rPr lang="zh-CN" altLang="en-US" sz="2800" dirty="0">
                <a:solidFill>
                  <a:srgbClr val="F902FC"/>
                </a:solidFill>
              </a:rPr>
              <a:t>f(</a:t>
            </a:r>
            <a:r>
              <a:rPr lang="zh-CN" altLang="en-US" sz="2800"/>
              <a:t>n,k, </a:t>
            </a:r>
            <a:r>
              <a:rPr lang="zh-CN" altLang="en-US" sz="2800">
                <a:solidFill>
                  <a:srgbClr val="FFFF00"/>
                </a:solidFill>
              </a:rPr>
              <a:t>&amp;total </a:t>
            </a:r>
            <a:r>
              <a:rPr lang="zh-CN" altLang="en-US" sz="2800" dirty="0">
                <a:solidFill>
                  <a:srgbClr val="F902FC"/>
                </a:solidFill>
              </a:rPr>
              <a:t>);</a:t>
            </a:r>
            <a:endParaRPr lang="zh-CN" altLang="en-US" sz="2800" dirty="0">
              <a:solidFill>
                <a:srgbClr val="F902FC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/>
              <a:t>    </a:t>
            </a:r>
            <a:r>
              <a:rPr lang="en-US" altLang="zh-CN" sz="2800"/>
              <a:t>	</a:t>
            </a:r>
            <a:r>
              <a:rPr lang="zh-CN" altLang="en-US" sz="2800"/>
              <a:t>printf("%d",</a:t>
            </a:r>
            <a:r>
              <a:rPr lang="zh-CN" altLang="en-US" sz="2800">
                <a:solidFill>
                  <a:srgbClr val="FFFF00"/>
                </a:solidFill>
              </a:rPr>
              <a:t>total</a:t>
            </a:r>
            <a:r>
              <a:rPr lang="zh-CN" altLang="en-US" sz="2800"/>
              <a:t> );</a:t>
            </a:r>
            <a:endParaRPr lang="en-US" altLang="zh-CN" sz="280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/>
              <a:t>    	return 0;</a:t>
            </a:r>
            <a:endParaRPr lang="en-US" altLang="zh-CN" sz="280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/>
              <a:t>}</a:t>
            </a:r>
            <a:endParaRPr lang="zh-CN" altLang="en-US" sz="2800"/>
          </a:p>
        </p:txBody>
      </p:sp>
      <p:sp>
        <p:nvSpPr>
          <p:cNvPr id="8" name="对话气泡: 圆角矩形 7"/>
          <p:cNvSpPr/>
          <p:nvPr/>
        </p:nvSpPr>
        <p:spPr bwMode="auto">
          <a:xfrm>
            <a:off x="4114800" y="5922963"/>
            <a:ext cx="3155950" cy="936625"/>
          </a:xfrm>
          <a:prstGeom prst="wedgeRoundRectCallout">
            <a:avLst>
              <a:gd name="adj1" fmla="val -71611"/>
              <a:gd name="adj2" fmla="val -62020"/>
              <a:gd name="adj3" fmla="val 16667"/>
            </a:avLst>
          </a:prstGeom>
          <a:solidFill>
            <a:srgbClr val="00B0F0"/>
          </a:solidFill>
          <a:ln>
            <a:noFill/>
          </a:ln>
          <a:effectLst/>
        </p:spPr>
        <p:txBody>
          <a:bodyPr anchor="ctr"/>
          <a:lstStyle/>
          <a:p>
            <a:pPr eaLnBrk="1" hangingPunct="1">
              <a:defRPr/>
            </a:pP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无返回值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的递归函数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通过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指针参数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带回</a:t>
            </a:r>
            <a:endParaRPr lang="zh-CN" alt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3" name="直接箭头连接符 2"/>
          <p:cNvCxnSpPr/>
          <p:nvPr/>
        </p:nvCxnSpPr>
        <p:spPr bwMode="auto">
          <a:xfrm>
            <a:off x="4495800" y="1066800"/>
            <a:ext cx="3810000" cy="1331913"/>
          </a:xfrm>
          <a:prstGeom prst="straightConnector1">
            <a:avLst/>
          </a:prstGeom>
          <a:noFill/>
          <a:ln w="53975" algn="ctr">
            <a:solidFill>
              <a:srgbClr val="F902FC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对话气泡: 圆角矩形 10"/>
          <p:cNvSpPr/>
          <p:nvPr/>
        </p:nvSpPr>
        <p:spPr bwMode="auto">
          <a:xfrm>
            <a:off x="4962525" y="23813"/>
            <a:ext cx="3425825" cy="585787"/>
          </a:xfrm>
          <a:prstGeom prst="wedgeRoundRectCallout">
            <a:avLst>
              <a:gd name="adj1" fmla="val -65297"/>
              <a:gd name="adj2" fmla="val 78810"/>
              <a:gd name="adj3" fmla="val 16667"/>
            </a:avLst>
          </a:prstGeom>
          <a:solidFill>
            <a:schemeClr val="tx2">
              <a:lumMod val="75000"/>
            </a:schemeClr>
          </a:solidFill>
          <a:ln>
            <a:noFill/>
          </a:ln>
          <a:effectLst/>
        </p:spPr>
        <p:txBody>
          <a:bodyPr anchor="ctr"/>
          <a:lstStyle/>
          <a:p>
            <a:pPr eaLnBrk="1" hangingPunct="1">
              <a:defRPr/>
            </a:pPr>
            <a:r>
              <a:rPr lang="en-US" altLang="zh-CN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【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思考</a:t>
            </a:r>
            <a:r>
              <a:rPr lang="en-US" altLang="zh-CN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】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</a:t>
            </a:r>
            <a:r>
              <a:rPr lang="en-US" altLang="zh-CN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等价于？</a:t>
            </a:r>
            <a:endParaRPr lang="zh-CN" altLang="en-US" sz="2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1980883" y="1980883"/>
            <a:ext cx="1795462" cy="43497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9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76835"/>
            <a:ext cx="3841115" cy="638175"/>
          </a:xfrm>
        </p:spPr>
        <p:txBody>
          <a:bodyPr/>
          <a:p>
            <a:pPr algn="l"/>
            <a:r>
              <a:rPr lang="zh-CN" altLang="en-US" b="1"/>
              <a:t>【学生程序】</a:t>
            </a:r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76200" y="990600"/>
            <a:ext cx="9278620" cy="5262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800"/>
              <a:t>#include&lt;stdio.h&gt;</a:t>
            </a:r>
            <a:endParaRPr lang="en-US" altLang="zh-CN" sz="2800"/>
          </a:p>
          <a:p>
            <a:r>
              <a:rPr lang="en-US" altLang="zh-CN" sz="2800"/>
              <a:t>#include&lt;math.h&gt;</a:t>
            </a:r>
            <a:endParaRPr lang="en-US" altLang="zh-CN" sz="2800"/>
          </a:p>
          <a:p>
            <a:pPr algn="l">
              <a:buClrTx/>
              <a:buSzTx/>
              <a:buFontTx/>
            </a:pPr>
            <a:r>
              <a:rPr lang="en-US" altLang="zh-CN" sz="2800">
                <a:solidFill>
                  <a:srgbClr val="F902FC"/>
                </a:solidFill>
              </a:rPr>
              <a:t>int sum=1;</a:t>
            </a:r>
            <a:r>
              <a:rPr lang="en-US" altLang="zh-CN" sz="2000">
                <a:solidFill>
                  <a:schemeClr val="tx1">
                    <a:lumMod val="50000"/>
                  </a:schemeClr>
                </a:solidFill>
              </a:rPr>
              <a:t>//全局变量</a:t>
            </a:r>
            <a:endParaRPr lang="en-US" altLang="zh-CN" sz="200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altLang="zh-CN" sz="2800"/>
              <a:t>void </a:t>
            </a:r>
            <a:r>
              <a:rPr lang="en-US" altLang="zh-CN" sz="2800">
                <a:solidFill>
                  <a:schemeClr val="accent2">
                    <a:lumMod val="60000"/>
                    <a:lumOff val="40000"/>
                  </a:schemeClr>
                </a:solidFill>
              </a:rPr>
              <a:t>cut</a:t>
            </a:r>
            <a:r>
              <a:rPr lang="en-US" altLang="zh-CN" sz="2800"/>
              <a:t>(int n,int k){   </a:t>
            </a:r>
            <a:r>
              <a:rPr lang="en-US" altLang="zh-CN" sz="2000">
                <a:solidFill>
                  <a:schemeClr val="tx1">
                    <a:lumMod val="50000"/>
                  </a:schemeClr>
                </a:solidFill>
              </a:rPr>
              <a:t>//</a:t>
            </a:r>
            <a:r>
              <a:rPr lang="zh-CN" altLang="en-US" sz="2000">
                <a:solidFill>
                  <a:schemeClr val="tx1">
                    <a:lumMod val="50000"/>
                  </a:schemeClr>
                </a:solidFill>
              </a:rPr>
              <a:t>长度</a:t>
            </a:r>
            <a:r>
              <a:rPr lang="en-US" altLang="zh-CN" sz="2000">
                <a:solidFill>
                  <a:schemeClr val="tx1">
                    <a:lumMod val="50000"/>
                  </a:schemeClr>
                </a:solidFill>
              </a:rPr>
              <a:t>n,</a:t>
            </a:r>
            <a:r>
              <a:rPr lang="zh-CN" altLang="en-US" sz="2000">
                <a:solidFill>
                  <a:schemeClr val="tx1">
                    <a:lumMod val="50000"/>
                  </a:schemeClr>
                </a:solidFill>
              </a:rPr>
              <a:t>按标准</a:t>
            </a:r>
            <a:r>
              <a:rPr lang="en-US" altLang="zh-CN" sz="2000">
                <a:solidFill>
                  <a:schemeClr val="tx1">
                    <a:lumMod val="50000"/>
                  </a:schemeClr>
                </a:solidFill>
              </a:rPr>
              <a:t>k</a:t>
            </a:r>
            <a:r>
              <a:rPr lang="zh-CN" altLang="en-US" sz="2000">
                <a:solidFill>
                  <a:schemeClr val="tx1">
                    <a:lumMod val="50000"/>
                  </a:schemeClr>
                </a:solidFill>
              </a:rPr>
              <a:t>截断</a:t>
            </a:r>
            <a:endParaRPr lang="en-US" altLang="zh-CN" sz="2000">
              <a:solidFill>
                <a:schemeClr val="tx1">
                  <a:lumMod val="50000"/>
                </a:schemeClr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800"/>
              <a:t>   	if(n&gt;k)</a:t>
            </a:r>
            <a:r>
              <a:rPr lang="en-US" altLang="zh-CN" sz="2000">
                <a:solidFill>
                  <a:schemeClr val="tx1">
                    <a:lumMod val="50000"/>
                  </a:schemeClr>
                </a:solidFill>
              </a:rPr>
              <a:t>//对于3 20类似的情况，不能再截断，确定能截断时才+1</a:t>
            </a:r>
            <a:endParaRPr lang="en-US" altLang="zh-CN" sz="2000">
              <a:solidFill>
                <a:schemeClr val="tx1">
                  <a:lumMod val="50000"/>
                </a:schemeClr>
              </a:solidFill>
            </a:endParaRPr>
          </a:p>
          <a:p>
            <a:pPr lvl="1"/>
            <a:r>
              <a:rPr lang="en-US" altLang="zh-CN" sz="2800"/>
              <a:t>    	{ </a:t>
            </a:r>
            <a:r>
              <a:rPr lang="en-US" altLang="zh-CN" sz="2800">
                <a:solidFill>
                  <a:srgbClr val="FF0000"/>
                </a:solidFill>
              </a:rPr>
              <a:t> ​	</a:t>
            </a:r>
            <a:r>
              <a:rPr lang="en-US" altLang="zh-CN" sz="2800">
                <a:solidFill>
                  <a:srgbClr val="F902FC"/>
                </a:solidFill>
              </a:rPr>
              <a:t>sum++;</a:t>
            </a:r>
            <a:endParaRPr lang="en-US" altLang="zh-CN" sz="2800">
              <a:solidFill>
                <a:srgbClr val="F902FC"/>
              </a:solidFill>
            </a:endParaRPr>
          </a:p>
          <a:p>
            <a:pPr lvl="2"/>
            <a:r>
              <a:rPr lang="en-US" altLang="zh-CN" sz="2800"/>
              <a:t>    ​    int x1=round(n*2.0/5);</a:t>
            </a:r>
            <a:endParaRPr lang="en-US" altLang="zh-CN" sz="2800"/>
          </a:p>
          <a:p>
            <a:pPr lvl="2"/>
            <a:r>
              <a:rPr lang="en-US" altLang="zh-CN" sz="2800"/>
              <a:t>    ​    int x2=n-x1;</a:t>
            </a:r>
            <a:endParaRPr lang="en-US" altLang="zh-CN" sz="2800"/>
          </a:p>
          <a:p>
            <a:pPr lvl="2"/>
            <a:r>
              <a:rPr lang="en-US" altLang="zh-CN" sz="2800"/>
              <a:t>    ​    if(x1&gt;k)      </a:t>
            </a:r>
            <a:r>
              <a:rPr lang="en-US" altLang="zh-CN" sz="2800">
                <a:solidFill>
                  <a:schemeClr val="accent2">
                    <a:lumMod val="60000"/>
                    <a:lumOff val="40000"/>
                  </a:schemeClr>
                </a:solidFill>
              </a:rPr>
              <a:t>cut</a:t>
            </a:r>
            <a:r>
              <a:rPr lang="en-US" altLang="zh-CN" sz="2800"/>
              <a:t>(x1,k);</a:t>
            </a:r>
            <a:endParaRPr lang="en-US" altLang="zh-CN" sz="2800"/>
          </a:p>
          <a:p>
            <a:pPr lvl="2"/>
            <a:r>
              <a:rPr lang="en-US" altLang="zh-CN" sz="2800"/>
              <a:t>    ​    if(x2&gt;k)      </a:t>
            </a:r>
            <a:r>
              <a:rPr lang="en-US" altLang="zh-CN" sz="2800">
                <a:solidFill>
                  <a:schemeClr val="accent2">
                    <a:lumMod val="60000"/>
                    <a:lumOff val="40000"/>
                  </a:schemeClr>
                </a:solidFill>
              </a:rPr>
              <a:t>cut</a:t>
            </a:r>
            <a:r>
              <a:rPr lang="en-US" altLang="zh-CN" sz="2800"/>
              <a:t>(x2,k);</a:t>
            </a:r>
            <a:endParaRPr lang="en-US" altLang="zh-CN" sz="2800"/>
          </a:p>
          <a:p>
            <a:r>
              <a:rPr lang="en-US" altLang="zh-CN" sz="2800"/>
              <a:t>    ​	}</a:t>
            </a:r>
            <a:endParaRPr lang="en-US" altLang="zh-CN" sz="2800"/>
          </a:p>
          <a:p>
            <a:r>
              <a:rPr lang="en-US" altLang="zh-CN" sz="2800"/>
              <a:t>}</a:t>
            </a:r>
            <a:endParaRPr lang="en-US" altLang="zh-CN" sz="2800"/>
          </a:p>
        </p:txBody>
      </p:sp>
      <p:sp>
        <p:nvSpPr>
          <p:cNvPr id="5" name="文本框 4"/>
          <p:cNvSpPr txBox="1"/>
          <p:nvPr/>
        </p:nvSpPr>
        <p:spPr>
          <a:xfrm>
            <a:off x="7089140" y="3356610"/>
            <a:ext cx="5102860" cy="3538220"/>
          </a:xfrm>
          <a:prstGeom prst="rect">
            <a:avLst/>
          </a:prstGeom>
          <a:solidFill>
            <a:schemeClr val="accent1"/>
          </a:solidFill>
        </p:spPr>
        <p:txBody>
          <a:bodyPr wrap="square" rtlCol="0" anchor="t">
            <a:spAutoFit/>
          </a:bodyPr>
          <a:p>
            <a:r>
              <a:rPr lang="en-US" altLang="zh-CN" sz="2800">
                <a:sym typeface="+mn-ea"/>
              </a:rPr>
              <a:t>int main()</a:t>
            </a:r>
            <a:endParaRPr lang="en-US" altLang="zh-CN" sz="2800"/>
          </a:p>
          <a:p>
            <a:r>
              <a:rPr lang="en-US" altLang="zh-CN" sz="2800">
                <a:sym typeface="+mn-ea"/>
              </a:rPr>
              <a:t>{   </a:t>
            </a:r>
            <a:endParaRPr lang="en-US" altLang="zh-CN" sz="2800"/>
          </a:p>
          <a:p>
            <a:r>
              <a:rPr lang="en-US" altLang="zh-CN" sz="2800">
                <a:sym typeface="+mn-ea"/>
              </a:rPr>
              <a:t>    int n,k;</a:t>
            </a:r>
            <a:endParaRPr lang="en-US" altLang="zh-CN" sz="2800"/>
          </a:p>
          <a:p>
            <a:r>
              <a:rPr lang="en-US" altLang="zh-CN" sz="2800">
                <a:sym typeface="+mn-ea"/>
              </a:rPr>
              <a:t>    scanf("%d %d",&amp;n,&amp;k);</a:t>
            </a:r>
            <a:endParaRPr lang="en-US" altLang="zh-CN" sz="2800"/>
          </a:p>
          <a:p>
            <a:pPr algn="l">
              <a:buClrTx/>
              <a:buSzTx/>
              <a:buFontTx/>
            </a:pPr>
            <a:r>
              <a:rPr lang="en-US" altLang="zh-CN" sz="2800">
                <a:solidFill>
                  <a:schemeClr val="accent2">
                    <a:lumMod val="60000"/>
                    <a:lumOff val="40000"/>
                  </a:schemeClr>
                </a:solidFill>
                <a:sym typeface="+mn-ea"/>
              </a:rPr>
              <a:t>    cut(n,k);</a:t>
            </a:r>
            <a:endParaRPr lang="en-US" altLang="zh-CN" sz="280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r>
              <a:rPr lang="en-US" altLang="zh-CN" sz="2800">
                <a:sym typeface="+mn-ea"/>
              </a:rPr>
              <a:t>    printf("%d",</a:t>
            </a:r>
            <a:r>
              <a:rPr lang="en-US" altLang="zh-CN" sz="2800">
                <a:solidFill>
                  <a:srgbClr val="F902FC"/>
                </a:solidFill>
                <a:sym typeface="+mn-ea"/>
              </a:rPr>
              <a:t>sum</a:t>
            </a:r>
            <a:r>
              <a:rPr lang="en-US" altLang="zh-CN" sz="2800">
                <a:sym typeface="+mn-ea"/>
              </a:rPr>
              <a:t>);</a:t>
            </a:r>
            <a:endParaRPr lang="en-US" altLang="zh-CN" sz="2800"/>
          </a:p>
          <a:p>
            <a:r>
              <a:rPr lang="en-US" altLang="zh-CN" sz="2800">
                <a:sym typeface="+mn-ea"/>
              </a:rPr>
              <a:t>    return 0;</a:t>
            </a:r>
            <a:endParaRPr lang="en-US" altLang="zh-CN" sz="2800"/>
          </a:p>
          <a:p>
            <a:r>
              <a:rPr lang="en-US" altLang="zh-CN" sz="2800">
                <a:sym typeface="+mn-ea"/>
              </a:rPr>
              <a:t>}</a:t>
            </a:r>
            <a:endParaRPr lang="en-US" altLang="zh-CN" sz="2800"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2"/>
          <p:cNvSpPr>
            <a:spLocks noChangeArrowheads="1"/>
          </p:cNvSpPr>
          <p:nvPr/>
        </p:nvSpPr>
        <p:spPr bwMode="auto">
          <a:xfrm>
            <a:off x="-20638" y="2514600"/>
            <a:ext cx="8518526" cy="443103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600" dirty="0">
                <a:latin typeface="Arial" panose="020B0604020202020204" pitchFamily="34" charset="0"/>
              </a:rPr>
              <a:t>#include&lt;</a:t>
            </a:r>
            <a:r>
              <a:rPr lang="en-US" altLang="zh-CN" sz="1600" dirty="0" err="1">
                <a:latin typeface="Arial" panose="020B0604020202020204" pitchFamily="34" charset="0"/>
              </a:rPr>
              <a:t>stdio.h</a:t>
            </a:r>
            <a:r>
              <a:rPr lang="en-US" altLang="zh-CN" sz="1600" dirty="0">
                <a:latin typeface="Arial" panose="020B0604020202020204" pitchFamily="34" charset="0"/>
              </a:rPr>
              <a:t>&gt;</a:t>
            </a:r>
            <a:endParaRPr lang="en-US" altLang="zh-CN" sz="1600" dirty="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600" dirty="0">
                <a:latin typeface="Arial" panose="020B0604020202020204" pitchFamily="34" charset="0"/>
              </a:rPr>
              <a:t>int main()</a:t>
            </a:r>
            <a:endParaRPr lang="en-US" altLang="zh-CN" sz="1600" dirty="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600" dirty="0">
                <a:latin typeface="Arial" panose="020B0604020202020204" pitchFamily="34" charset="0"/>
              </a:rPr>
              <a:t>{</a:t>
            </a:r>
            <a:r>
              <a:rPr lang="en-US" altLang="zh-CN" sz="2600" dirty="0">
                <a:latin typeface="Arial" panose="020B0604020202020204" pitchFamily="34" charset="0"/>
              </a:rPr>
              <a:t>	int </a:t>
            </a:r>
            <a:r>
              <a:rPr lang="en-US" altLang="zh-CN" sz="2600" dirty="0" err="1">
                <a:solidFill>
                  <a:schemeClr val="tx1"/>
                </a:solidFill>
                <a:latin typeface="Arial" panose="020B0604020202020204" pitchFamily="34" charset="0"/>
              </a:rPr>
              <a:t>n</a:t>
            </a:r>
            <a:r>
              <a:rPr lang="en-US" altLang="zh-CN" sz="2600" dirty="0" err="1">
                <a:latin typeface="Arial" panose="020B0604020202020204" pitchFamily="34" charset="0"/>
              </a:rPr>
              <a:t>,i,</a:t>
            </a:r>
            <a:r>
              <a:rPr lang="en-US" altLang="zh-CN" sz="2600" dirty="0" err="1">
                <a:solidFill>
                  <a:srgbClr val="F902FC"/>
                </a:solidFill>
                <a:latin typeface="Arial" panose="020B0604020202020204" pitchFamily="34" charset="0"/>
              </a:rPr>
              <a:t>j</a:t>
            </a:r>
            <a:r>
              <a:rPr lang="en-US" altLang="zh-CN" sz="2600" dirty="0">
                <a:solidFill>
                  <a:srgbClr val="F902FC"/>
                </a:solidFill>
                <a:latin typeface="Arial" panose="020B0604020202020204" pitchFamily="34" charset="0"/>
              </a:rPr>
              <a:t>=</a:t>
            </a:r>
            <a:r>
              <a:rPr lang="en-US" altLang="zh-CN" sz="2600" dirty="0" err="1">
                <a:solidFill>
                  <a:srgbClr val="F902FC"/>
                </a:solidFill>
                <a:latin typeface="Arial" panose="020B0604020202020204" pitchFamily="34" charset="0"/>
              </a:rPr>
              <a:t>0</a:t>
            </a:r>
            <a:r>
              <a:rPr lang="en-US" altLang="zh-CN" sz="2600" dirty="0">
                <a:latin typeface="Arial" panose="020B0604020202020204" pitchFamily="34" charset="0"/>
              </a:rPr>
              <a:t>;int </a:t>
            </a:r>
            <a:r>
              <a:rPr lang="en-US" altLang="zh-CN" sz="2600" dirty="0">
                <a:solidFill>
                  <a:srgbClr val="FFFF00"/>
                </a:solidFill>
                <a:latin typeface="Arial" panose="020B0604020202020204" pitchFamily="34" charset="0"/>
              </a:rPr>
              <a:t>data</a:t>
            </a:r>
            <a:r>
              <a:rPr lang="en-US" altLang="zh-CN" sz="2600" dirty="0">
                <a:latin typeface="Arial" panose="020B0604020202020204" pitchFamily="34" charset="0"/>
              </a:rPr>
              <a:t>[100]={0};</a:t>
            </a:r>
            <a:endParaRPr lang="en-US" altLang="zh-CN" sz="2600" dirty="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600" dirty="0">
                <a:latin typeface="Arial" panose="020B0604020202020204" pitchFamily="34" charset="0"/>
              </a:rPr>
              <a:t>	</a:t>
            </a:r>
            <a:r>
              <a:rPr lang="en-US" altLang="zh-CN" sz="2600" dirty="0" err="1">
                <a:latin typeface="Arial" panose="020B0604020202020204" pitchFamily="34" charset="0"/>
              </a:rPr>
              <a:t>scanf</a:t>
            </a:r>
            <a:r>
              <a:rPr lang="en-US" altLang="zh-CN" sz="2600" dirty="0">
                <a:latin typeface="Arial" panose="020B0604020202020204" pitchFamily="34" charset="0"/>
              </a:rPr>
              <a:t>("%</a:t>
            </a:r>
            <a:r>
              <a:rPr lang="en-US" altLang="zh-CN" sz="2600" dirty="0" err="1">
                <a:latin typeface="Arial" panose="020B0604020202020204" pitchFamily="34" charset="0"/>
              </a:rPr>
              <a:t>d"</a:t>
            </a:r>
            <a:r>
              <a:rPr lang="en-US" altLang="zh-CN" sz="2600" dirty="0" err="1">
                <a:solidFill>
                  <a:schemeClr val="tx1"/>
                </a:solidFill>
                <a:latin typeface="Arial" panose="020B0604020202020204" pitchFamily="34" charset="0"/>
              </a:rPr>
              <a:t>,&amp;n</a:t>
            </a:r>
            <a:r>
              <a:rPr lang="en-US" altLang="zh-CN" sz="2600" dirty="0">
                <a:solidFill>
                  <a:schemeClr val="tx1"/>
                </a:solidFill>
                <a:latin typeface="Arial" panose="020B0604020202020204" pitchFamily="34" charset="0"/>
              </a:rPr>
              <a:t>);</a:t>
            </a:r>
            <a:r>
              <a:rPr lang="en-US" altLang="zh-CN" sz="2600" dirty="0">
                <a:latin typeface="Arial" panose="020B0604020202020204" pitchFamily="34" charset="0"/>
              </a:rPr>
              <a:t> </a:t>
            </a:r>
            <a:r>
              <a:rPr lang="en-US" altLang="zh-CN" sz="1600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sz="1600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输入一个十进制数</a:t>
            </a:r>
            <a:endParaRPr lang="zh-CN" altLang="en-US" sz="1600" dirty="0">
              <a:solidFill>
                <a:schemeClr val="tx1">
                  <a:lumMod val="65000"/>
                </a:schemeClr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600" dirty="0">
                <a:latin typeface="Arial" panose="020B0604020202020204" pitchFamily="34" charset="0"/>
              </a:rPr>
              <a:t>	</a:t>
            </a:r>
            <a:r>
              <a:rPr lang="en-US" altLang="zh-CN" sz="2600" dirty="0">
                <a:latin typeface="Arial" panose="020B0604020202020204" pitchFamily="34" charset="0"/>
              </a:rPr>
              <a:t>while(</a:t>
            </a:r>
            <a:r>
              <a:rPr lang="en-US" altLang="zh-CN" sz="26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n</a:t>
            </a:r>
            <a:r>
              <a:rPr lang="en-US" altLang="zh-CN" sz="2600" dirty="0">
                <a:latin typeface="Arial" panose="020B0604020202020204" pitchFamily="34" charset="0"/>
              </a:rPr>
              <a:t>!=0)</a:t>
            </a:r>
            <a:endParaRPr lang="zh-CN" altLang="en-US" sz="20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600" dirty="0">
                <a:latin typeface="Arial" panose="020B0604020202020204" pitchFamily="34" charset="0"/>
              </a:rPr>
              <a:t>	</a:t>
            </a:r>
            <a:r>
              <a:rPr lang="en-US" altLang="zh-CN" sz="2600" dirty="0">
                <a:latin typeface="Arial" panose="020B0604020202020204" pitchFamily="34" charset="0"/>
              </a:rPr>
              <a:t>{	</a:t>
            </a:r>
            <a:r>
              <a:rPr lang="en-US" altLang="zh-CN" sz="2600" dirty="0">
                <a:solidFill>
                  <a:srgbClr val="FFFF00"/>
                </a:solidFill>
                <a:latin typeface="Arial" panose="020B0604020202020204" pitchFamily="34" charset="0"/>
              </a:rPr>
              <a:t>data</a:t>
            </a:r>
            <a:r>
              <a:rPr lang="en-US" altLang="zh-CN" sz="2600" dirty="0">
                <a:latin typeface="Arial" panose="020B0604020202020204" pitchFamily="34" charset="0"/>
              </a:rPr>
              <a:t>[</a:t>
            </a:r>
            <a:r>
              <a:rPr lang="en-US" altLang="zh-CN" sz="2600" dirty="0" err="1">
                <a:solidFill>
                  <a:srgbClr val="F902FC"/>
                </a:solidFill>
                <a:latin typeface="Arial" panose="020B0604020202020204" pitchFamily="34" charset="0"/>
              </a:rPr>
              <a:t>j++</a:t>
            </a:r>
            <a:r>
              <a:rPr lang="en-US" altLang="zh-CN" sz="2600" dirty="0">
                <a:latin typeface="Arial" panose="020B0604020202020204" pitchFamily="34" charset="0"/>
              </a:rPr>
              <a:t>]=</a:t>
            </a:r>
            <a:r>
              <a:rPr lang="en-US" altLang="zh-CN" sz="26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n</a:t>
            </a:r>
            <a:r>
              <a:rPr lang="en-US" altLang="zh-CN" sz="2600" dirty="0">
                <a:latin typeface="Arial" panose="020B0604020202020204" pitchFamily="34" charset="0"/>
              </a:rPr>
              <a:t>%10;</a:t>
            </a:r>
            <a:endParaRPr lang="en-US" altLang="zh-CN" sz="2600" dirty="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600" dirty="0">
                <a:latin typeface="Arial" panose="020B0604020202020204" pitchFamily="34" charset="0"/>
              </a:rPr>
              <a:t>		</a:t>
            </a:r>
            <a:r>
              <a:rPr lang="en-US" altLang="zh-CN" sz="26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n</a:t>
            </a:r>
            <a:r>
              <a:rPr lang="en-US" altLang="zh-CN" sz="2600" dirty="0">
                <a:latin typeface="Arial" panose="020B0604020202020204" pitchFamily="34" charset="0"/>
              </a:rPr>
              <a:t>/=10;</a:t>
            </a:r>
            <a:r>
              <a:rPr lang="en-US" altLang="zh-CN" sz="3600" dirty="0">
                <a:latin typeface="Arial" panose="020B0604020202020204" pitchFamily="34" charset="0"/>
              </a:rPr>
              <a:t> </a:t>
            </a:r>
            <a:r>
              <a:rPr lang="en-US" altLang="zh-CN" sz="2000" dirty="0" err="1">
                <a:solidFill>
                  <a:srgbClr val="F902FC"/>
                </a:solidFill>
                <a:latin typeface="Arial" panose="020B0604020202020204" pitchFamily="34" charset="0"/>
              </a:rPr>
              <a:t>//%X和/X：将n转换为X进制，求数码</a:t>
            </a:r>
            <a:endParaRPr lang="en-US" altLang="zh-CN" sz="2000" dirty="0" err="1">
              <a:solidFill>
                <a:srgbClr val="F902FC"/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600" dirty="0">
                <a:latin typeface="Arial" panose="020B0604020202020204" pitchFamily="34" charset="0"/>
              </a:rPr>
              <a:t>	</a:t>
            </a:r>
            <a:r>
              <a:rPr lang="en-US" altLang="zh-CN" sz="2000" dirty="0">
                <a:latin typeface="Arial" panose="020B0604020202020204" pitchFamily="34" charset="0"/>
              </a:rPr>
              <a:t>}</a:t>
            </a:r>
            <a:endParaRPr lang="en-US" altLang="zh-CN" sz="2000" dirty="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600" dirty="0">
                <a:latin typeface="Arial" panose="020B0604020202020204" pitchFamily="34" charset="0"/>
              </a:rPr>
              <a:t>	for(</a:t>
            </a:r>
            <a:r>
              <a:rPr lang="en-US" altLang="zh-CN" sz="2600" dirty="0" err="1">
                <a:latin typeface="Arial" panose="020B0604020202020204" pitchFamily="34" charset="0"/>
              </a:rPr>
              <a:t>i</a:t>
            </a:r>
            <a:r>
              <a:rPr lang="en-US" altLang="zh-CN" sz="2600" dirty="0">
                <a:latin typeface="Arial" panose="020B0604020202020204" pitchFamily="34" charset="0"/>
              </a:rPr>
              <a:t>=j-1;i&gt;=0;i--)  </a:t>
            </a:r>
            <a:r>
              <a:rPr lang="en-US" altLang="zh-CN" sz="2600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sz="2600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反向输出</a:t>
            </a:r>
            <a:endParaRPr lang="zh-CN" altLang="en-US" sz="2600" dirty="0">
              <a:solidFill>
                <a:schemeClr val="tx1">
                  <a:lumMod val="65000"/>
                </a:schemeClr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600" dirty="0">
                <a:latin typeface="Arial" panose="020B0604020202020204" pitchFamily="34" charset="0"/>
              </a:rPr>
              <a:t>		</a:t>
            </a:r>
            <a:r>
              <a:rPr lang="en-US" altLang="zh-CN" sz="2600" dirty="0" err="1">
                <a:latin typeface="Arial" panose="020B0604020202020204" pitchFamily="34" charset="0"/>
              </a:rPr>
              <a:t>printf</a:t>
            </a:r>
            <a:r>
              <a:rPr lang="en-US" altLang="zh-CN" sz="2600" dirty="0">
                <a:latin typeface="Arial" panose="020B0604020202020204" pitchFamily="34" charset="0"/>
              </a:rPr>
              <a:t>("%d\</a:t>
            </a:r>
            <a:r>
              <a:rPr lang="en-US" altLang="zh-CN" sz="2600" dirty="0" err="1">
                <a:latin typeface="Arial" panose="020B0604020202020204" pitchFamily="34" charset="0"/>
              </a:rPr>
              <a:t>n",</a:t>
            </a:r>
            <a:r>
              <a:rPr lang="en-US" altLang="zh-CN" sz="2600" dirty="0" err="1">
                <a:solidFill>
                  <a:srgbClr val="FFFF00"/>
                </a:solidFill>
                <a:latin typeface="Arial" panose="020B0604020202020204" pitchFamily="34" charset="0"/>
              </a:rPr>
              <a:t>data</a:t>
            </a:r>
            <a:r>
              <a:rPr lang="en-US" altLang="zh-CN" sz="2600" dirty="0">
                <a:solidFill>
                  <a:srgbClr val="FFFF00"/>
                </a:solidFill>
                <a:latin typeface="Arial" panose="020B0604020202020204" pitchFamily="34" charset="0"/>
              </a:rPr>
              <a:t>[</a:t>
            </a:r>
            <a:r>
              <a:rPr lang="en-US" altLang="zh-CN" sz="2600" dirty="0" err="1">
                <a:solidFill>
                  <a:srgbClr val="FFFF00"/>
                </a:solidFill>
                <a:latin typeface="Arial" panose="020B0604020202020204" pitchFamily="34" charset="0"/>
              </a:rPr>
              <a:t>i</a:t>
            </a:r>
            <a:r>
              <a:rPr lang="en-US" altLang="zh-CN" sz="2600" dirty="0">
                <a:solidFill>
                  <a:srgbClr val="FFFF00"/>
                </a:solidFill>
                <a:latin typeface="Arial" panose="020B0604020202020204" pitchFamily="34" charset="0"/>
              </a:rPr>
              <a:t>]</a:t>
            </a:r>
            <a:r>
              <a:rPr lang="en-US" altLang="zh-CN" sz="2600" dirty="0">
                <a:latin typeface="Arial" panose="020B0604020202020204" pitchFamily="34" charset="0"/>
              </a:rPr>
              <a:t>);	</a:t>
            </a:r>
            <a:endParaRPr lang="en-US" altLang="zh-CN" sz="2600" dirty="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600" dirty="0">
                <a:latin typeface="Arial" panose="020B0604020202020204" pitchFamily="34" charset="0"/>
              </a:rPr>
              <a:t>	return 0;</a:t>
            </a:r>
            <a:endParaRPr lang="en-US" altLang="zh-CN" sz="1600" dirty="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600" dirty="0">
                <a:latin typeface="Arial" panose="020B0604020202020204" pitchFamily="34" charset="0"/>
              </a:rPr>
              <a:t>}</a:t>
            </a:r>
            <a:endParaRPr lang="zh-CN" altLang="en-US" sz="1600" dirty="0">
              <a:latin typeface="Arial" panose="020B060402020202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1582400" y="5802313"/>
            <a:ext cx="520700" cy="4572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5EC9E7D3-F6C7-485F-AA41-29E7FBB7E318}" type="slidenum">
              <a:rPr lang="en-US" altLang="zh-CN" sz="1200" b="0"/>
            </a:fld>
            <a:endParaRPr lang="en-US" altLang="zh-CN" sz="1200" b="0" dirty="0"/>
          </a:p>
        </p:txBody>
      </p:sp>
      <p:sp>
        <p:nvSpPr>
          <p:cNvPr id="61447" name="文本框 2"/>
          <p:cNvSpPr txBox="1">
            <a:spLocks noChangeArrowheads="1"/>
          </p:cNvSpPr>
          <p:nvPr/>
        </p:nvSpPr>
        <p:spPr bwMode="auto">
          <a:xfrm>
            <a:off x="9147175" y="0"/>
            <a:ext cx="3044825" cy="452437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FFF00"/>
                </a:solidFill>
                <a:latin typeface="Arial" panose="020B0604020202020204" pitchFamily="34" charset="0"/>
              </a:rPr>
              <a:t>计算过程：</a:t>
            </a:r>
            <a:r>
              <a:rPr lang="en-US" altLang="zh-CN" sz="2400">
                <a:solidFill>
                  <a:srgbClr val="FFFF00"/>
                </a:solidFill>
                <a:latin typeface="Arial" panose="020B0604020202020204" pitchFamily="34" charset="0"/>
              </a:rPr>
              <a:t>1337</a:t>
            </a:r>
            <a:endParaRPr lang="en-US" altLang="zh-CN" sz="2400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1337%10 </a:t>
            </a:r>
            <a:r>
              <a:rPr lang="en-US" altLang="zh-CN" sz="2400">
                <a:latin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altLang="zh-CN" sz="2400">
                <a:solidFill>
                  <a:srgbClr val="FF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7</a:t>
            </a:r>
            <a:endParaRPr lang="en-US" altLang="zh-CN" sz="2400">
              <a:solidFill>
                <a:srgbClr val="FF0000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  <a:sym typeface="Wingdings" panose="05000000000000000000" pitchFamily="2" charset="2"/>
              </a:rPr>
              <a:t>1337/10133</a:t>
            </a:r>
            <a:endParaRPr lang="en-US" altLang="zh-CN" sz="2400">
              <a:latin typeface="Arial" panose="020B0604020202020204" pitchFamily="34" charset="0"/>
              <a:sym typeface="Wingdings" panose="05000000000000000000" pitchFamily="2" charset="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>
              <a:latin typeface="Arial" panose="020B0604020202020204" pitchFamily="34" charset="0"/>
              <a:sym typeface="Wingdings" panose="05000000000000000000" pitchFamily="2" charset="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  <a:sym typeface="Wingdings" panose="05000000000000000000" pitchFamily="2" charset="2"/>
              </a:rPr>
              <a:t>133%10</a:t>
            </a:r>
            <a:r>
              <a:rPr lang="en-US" altLang="zh-CN" sz="2400">
                <a:solidFill>
                  <a:srgbClr val="FF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3</a:t>
            </a:r>
            <a:endParaRPr lang="en-US" altLang="zh-CN" sz="2400">
              <a:solidFill>
                <a:srgbClr val="FF0000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  <a:sym typeface="Wingdings" panose="05000000000000000000" pitchFamily="2" charset="2"/>
              </a:rPr>
              <a:t>133/1013</a:t>
            </a:r>
            <a:endParaRPr lang="en-US" altLang="zh-CN" sz="2400">
              <a:latin typeface="Arial" panose="020B0604020202020204" pitchFamily="34" charset="0"/>
              <a:sym typeface="Wingdings" panose="05000000000000000000" pitchFamily="2" charset="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>
              <a:latin typeface="Arial" panose="020B0604020202020204" pitchFamily="34" charset="0"/>
              <a:sym typeface="Wingdings" panose="05000000000000000000" pitchFamily="2" charset="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  <a:sym typeface="Wingdings" panose="05000000000000000000" pitchFamily="2" charset="2"/>
              </a:rPr>
              <a:t>13%10</a:t>
            </a:r>
            <a:r>
              <a:rPr lang="en-US" altLang="zh-CN" sz="2400">
                <a:solidFill>
                  <a:srgbClr val="FF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3</a:t>
            </a:r>
            <a:endParaRPr lang="en-US" altLang="zh-CN" sz="2400">
              <a:solidFill>
                <a:srgbClr val="FF0000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  <a:sym typeface="Wingdings" panose="05000000000000000000" pitchFamily="2" charset="2"/>
              </a:rPr>
              <a:t>13/101</a:t>
            </a:r>
            <a:endParaRPr lang="en-US" altLang="zh-CN" sz="2400">
              <a:latin typeface="Arial" panose="020B0604020202020204" pitchFamily="34" charset="0"/>
              <a:sym typeface="Wingdings" panose="05000000000000000000" pitchFamily="2" charset="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>
              <a:latin typeface="Arial" panose="020B0604020202020204" pitchFamily="34" charset="0"/>
              <a:sym typeface="Wingdings" panose="05000000000000000000" pitchFamily="2" charset="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  <a:sym typeface="Wingdings" panose="05000000000000000000" pitchFamily="2" charset="2"/>
              </a:rPr>
              <a:t>1%10</a:t>
            </a:r>
            <a:r>
              <a:rPr lang="en-US" altLang="zh-CN" sz="2400">
                <a:solidFill>
                  <a:srgbClr val="FF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1</a:t>
            </a:r>
            <a:endParaRPr lang="en-US" altLang="zh-CN" sz="2400">
              <a:solidFill>
                <a:srgbClr val="FF0000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  <a:sym typeface="Wingdings" panose="05000000000000000000" pitchFamily="2" charset="2"/>
              </a:rPr>
              <a:t>1/100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cxnSp>
        <p:nvCxnSpPr>
          <p:cNvPr id="61448" name="直接箭头连接符 7"/>
          <p:cNvCxnSpPr>
            <a:cxnSpLocks noChangeShapeType="1"/>
          </p:cNvCxnSpPr>
          <p:nvPr/>
        </p:nvCxnSpPr>
        <p:spPr bwMode="auto">
          <a:xfrm flipH="1">
            <a:off x="9601200" y="1055688"/>
            <a:ext cx="1331913" cy="550862"/>
          </a:xfrm>
          <a:prstGeom prst="straightConnector1">
            <a:avLst/>
          </a:prstGeom>
          <a:noFill/>
          <a:ln w="31750" algn="ctr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1449" name="直接箭头连接符 8"/>
          <p:cNvCxnSpPr/>
          <p:nvPr/>
        </p:nvCxnSpPr>
        <p:spPr bwMode="auto">
          <a:xfrm flipH="1">
            <a:off x="9601200" y="2209800"/>
            <a:ext cx="1066800" cy="452438"/>
          </a:xfrm>
          <a:prstGeom prst="straightConnector1">
            <a:avLst/>
          </a:prstGeom>
          <a:noFill/>
          <a:ln w="31750" algn="ctr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1450" name="直接箭头连接符 9"/>
          <p:cNvCxnSpPr/>
          <p:nvPr/>
        </p:nvCxnSpPr>
        <p:spPr bwMode="auto">
          <a:xfrm flipH="1">
            <a:off x="9420225" y="3265488"/>
            <a:ext cx="1074738" cy="501650"/>
          </a:xfrm>
          <a:prstGeom prst="straightConnector1">
            <a:avLst/>
          </a:prstGeom>
          <a:noFill/>
          <a:ln w="31750" algn="ctr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32776" name="图片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525"/>
            <a:ext cx="5791200" cy="251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文本框 15"/>
          <p:cNvSpPr txBox="1"/>
          <p:nvPr/>
        </p:nvSpPr>
        <p:spPr>
          <a:xfrm>
            <a:off x="8677275" y="6319838"/>
            <a:ext cx="2971800" cy="52228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8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参考程序</a:t>
            </a:r>
            <a:r>
              <a:rPr lang="en-US" altLang="zh-CN" sz="28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1</a:t>
            </a:r>
            <a:r>
              <a:rPr lang="zh-CN" altLang="en-US" sz="28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：循环</a:t>
            </a:r>
            <a:endParaRPr lang="zh-CN" altLang="en-US" sz="28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1793538" y="5889625"/>
            <a:ext cx="381000" cy="4572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38E724EF-3164-4743-900B-521BD5FF5571}" type="slidenum">
              <a:rPr lang="en-US" altLang="zh-CN" sz="1200" b="0"/>
            </a:fld>
            <a:endParaRPr lang="en-US" altLang="zh-CN" sz="1200" b="0" dirty="0"/>
          </a:p>
        </p:txBody>
      </p:sp>
      <p:sp>
        <p:nvSpPr>
          <p:cNvPr id="5" name="矩形 4"/>
          <p:cNvSpPr/>
          <p:nvPr/>
        </p:nvSpPr>
        <p:spPr>
          <a:xfrm>
            <a:off x="152400" y="536575"/>
            <a:ext cx="10668000" cy="544639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dirty="0"/>
              <a:t>#include&lt;stdio.h&gt;</a:t>
            </a:r>
            <a:endParaRPr lang="zh-CN" altLang="en-US" dirty="0"/>
          </a:p>
          <a:p>
            <a:pPr>
              <a:defRPr/>
            </a:pPr>
            <a:r>
              <a:rPr lang="en-US" altLang="zh-CN" sz="3000" dirty="0"/>
              <a:t>void f(int a){	</a:t>
            </a:r>
            <a:endParaRPr lang="en-US" altLang="zh-CN" sz="3000" dirty="0"/>
          </a:p>
          <a:p>
            <a:pPr>
              <a:defRPr/>
            </a:pPr>
            <a:r>
              <a:rPr lang="en-US" altLang="zh-CN" sz="3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	if(a&lt;=0) return; </a:t>
            </a:r>
            <a:r>
              <a:rPr lang="en-US" altLang="zh-CN" dirty="0">
                <a:solidFill>
                  <a:schemeClr val="tx1">
                    <a:lumMod val="75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tx1">
                    <a:lumMod val="75000"/>
                  </a:schemeClr>
                </a:solidFill>
              </a:rPr>
              <a:t>递归出口</a:t>
            </a:r>
            <a:endParaRPr lang="zh-CN" altLang="en-US" dirty="0">
              <a:solidFill>
                <a:schemeClr val="tx1">
                  <a:lumMod val="75000"/>
                </a:schemeClr>
              </a:solidFill>
            </a:endParaRPr>
          </a:p>
          <a:p>
            <a:pPr>
              <a:defRPr/>
            </a:pPr>
            <a:r>
              <a:rPr lang="zh-CN" altLang="en-US" sz="3000" dirty="0"/>
              <a:t>	</a:t>
            </a:r>
            <a:r>
              <a:rPr lang="en-US" altLang="zh-CN" sz="3000" dirty="0" err="1"/>
              <a:t>printf</a:t>
            </a:r>
            <a:r>
              <a:rPr lang="en-US" altLang="zh-CN" sz="3000" dirty="0"/>
              <a:t>("%d\n",a%10); </a:t>
            </a:r>
            <a:r>
              <a:rPr lang="en-US" altLang="zh-CN" dirty="0">
                <a:solidFill>
                  <a:schemeClr val="tx1">
                    <a:lumMod val="75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tx1">
                    <a:lumMod val="75000"/>
                  </a:schemeClr>
                </a:solidFill>
              </a:rPr>
              <a:t>输出当前数码，在递归调用之后</a:t>
            </a:r>
            <a:endParaRPr lang="en-US" altLang="zh-CN" dirty="0"/>
          </a:p>
          <a:p>
            <a:pPr>
              <a:defRPr/>
            </a:pPr>
            <a:r>
              <a:rPr lang="en-US" altLang="zh-CN" sz="3000" dirty="0"/>
              <a:t>   	f(a/10); </a:t>
            </a:r>
            <a:r>
              <a:rPr lang="en-US" altLang="zh-CN" dirty="0">
                <a:solidFill>
                  <a:schemeClr val="tx1">
                    <a:lumMod val="75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tx1">
                    <a:lumMod val="75000"/>
                  </a:schemeClr>
                </a:solidFill>
              </a:rPr>
              <a:t>递归调用</a:t>
            </a:r>
            <a:r>
              <a:rPr lang="en-US" altLang="zh-CN" dirty="0"/>
              <a:t>	</a:t>
            </a:r>
            <a:r>
              <a:rPr lang="zh-CN" altLang="en-US" dirty="0"/>
              <a:t>  </a:t>
            </a:r>
            <a:r>
              <a:rPr lang="en-US" altLang="zh-CN" sz="3000" dirty="0"/>
              <a:t>	</a:t>
            </a:r>
            <a:endParaRPr lang="en-US" altLang="zh-CN" sz="3000" dirty="0"/>
          </a:p>
          <a:p>
            <a:pPr>
              <a:defRPr/>
            </a:pPr>
            <a:r>
              <a:rPr lang="en-US" altLang="zh-CN" sz="3000" dirty="0"/>
              <a:t>}</a:t>
            </a:r>
            <a:endParaRPr lang="zh-CN" altLang="en-US" sz="3000" dirty="0"/>
          </a:p>
          <a:p>
            <a:pPr>
              <a:defRPr/>
            </a:pPr>
            <a:r>
              <a:rPr lang="zh-CN" altLang="en-US" sz="3000" dirty="0"/>
              <a:t>int main()</a:t>
            </a:r>
            <a:endParaRPr lang="zh-CN" altLang="en-US" sz="3000" dirty="0"/>
          </a:p>
          <a:p>
            <a:pPr>
              <a:defRPr/>
            </a:pPr>
            <a:r>
              <a:rPr lang="zh-CN" altLang="en-US" sz="3000" dirty="0"/>
              <a:t>{  </a:t>
            </a:r>
            <a:r>
              <a:rPr lang="en-US" altLang="zh-CN" sz="3000" dirty="0"/>
              <a:t>	</a:t>
            </a:r>
            <a:r>
              <a:rPr lang="zh-CN" altLang="en-US" sz="3000" dirty="0"/>
              <a:t>int </a:t>
            </a:r>
            <a:r>
              <a:rPr lang="en-US" altLang="zh-CN" sz="3000" dirty="0"/>
              <a:t>n</a:t>
            </a:r>
            <a:r>
              <a:rPr lang="zh-CN" altLang="en-US" sz="3000" dirty="0"/>
              <a:t>; </a:t>
            </a:r>
            <a:endParaRPr lang="en-US" altLang="zh-CN" sz="3000" dirty="0"/>
          </a:p>
          <a:p>
            <a:pPr>
              <a:defRPr/>
            </a:pPr>
            <a:r>
              <a:rPr lang="en-US" altLang="zh-CN" sz="3000" dirty="0"/>
              <a:t>	</a:t>
            </a:r>
            <a:r>
              <a:rPr lang="zh-CN" altLang="en-US" sz="3000" dirty="0"/>
              <a:t>scanf("%d",&amp;</a:t>
            </a:r>
            <a:r>
              <a:rPr lang="en-US" altLang="zh-CN" sz="3000" dirty="0"/>
              <a:t>n</a:t>
            </a:r>
            <a:r>
              <a:rPr lang="zh-CN" altLang="en-US" sz="3000" dirty="0"/>
              <a:t>);</a:t>
            </a:r>
            <a:endParaRPr lang="zh-CN" altLang="en-US" sz="3000" dirty="0"/>
          </a:p>
          <a:p>
            <a:pPr>
              <a:defRPr/>
            </a:pPr>
            <a:r>
              <a:rPr lang="zh-CN" altLang="en-US" sz="3000" dirty="0"/>
              <a:t>    </a:t>
            </a:r>
            <a:r>
              <a:rPr lang="en-US" altLang="zh-CN" sz="3000" dirty="0">
                <a:solidFill>
                  <a:srgbClr val="F902FC"/>
                </a:solidFill>
              </a:rPr>
              <a:t>	f</a:t>
            </a:r>
            <a:r>
              <a:rPr lang="zh-CN" altLang="en-US" sz="3000" dirty="0">
                <a:solidFill>
                  <a:srgbClr val="F902FC"/>
                </a:solidFill>
              </a:rPr>
              <a:t>(</a:t>
            </a:r>
            <a:r>
              <a:rPr lang="en-US" altLang="zh-CN" sz="3000" dirty="0"/>
              <a:t>n</a:t>
            </a:r>
            <a:r>
              <a:rPr lang="zh-CN" altLang="en-US" sz="3000" dirty="0">
                <a:solidFill>
                  <a:srgbClr val="F902FC"/>
                </a:solidFill>
              </a:rPr>
              <a:t>)</a:t>
            </a:r>
            <a:r>
              <a:rPr lang="zh-CN" altLang="en-US" sz="3000" dirty="0"/>
              <a:t>; </a:t>
            </a:r>
            <a:r>
              <a:rPr lang="zh-CN" altLang="en-US" dirty="0">
                <a:solidFill>
                  <a:schemeClr val="tx1">
                    <a:lumMod val="75000"/>
                  </a:schemeClr>
                </a:solidFill>
              </a:rPr>
              <a:t>//调用</a:t>
            </a:r>
            <a:endParaRPr lang="zh-CN" altLang="en-US" dirty="0">
              <a:solidFill>
                <a:schemeClr val="tx1">
                  <a:lumMod val="75000"/>
                </a:schemeClr>
              </a:solidFill>
            </a:endParaRPr>
          </a:p>
          <a:p>
            <a:pPr>
              <a:defRPr/>
            </a:pPr>
            <a:r>
              <a:rPr lang="zh-CN" altLang="en-US" sz="3000" dirty="0"/>
              <a:t>    </a:t>
            </a:r>
            <a:r>
              <a:rPr lang="en-US" altLang="zh-CN" sz="3000" dirty="0"/>
              <a:t>	</a:t>
            </a:r>
            <a:r>
              <a:rPr lang="zh-CN" altLang="en-US" sz="3000" dirty="0"/>
              <a:t>return 0;</a:t>
            </a:r>
            <a:endParaRPr lang="zh-CN" altLang="en-US" sz="3000" dirty="0"/>
          </a:p>
          <a:p>
            <a:pPr>
              <a:defRPr/>
            </a:pPr>
            <a:r>
              <a:rPr lang="zh-CN" altLang="en-US" sz="3000" dirty="0"/>
              <a:t>}</a:t>
            </a:r>
            <a:endParaRPr lang="zh-CN" altLang="en-US" sz="3000" dirty="0"/>
          </a:p>
        </p:txBody>
      </p:sp>
      <p:sp>
        <p:nvSpPr>
          <p:cNvPr id="33796" name="文本框 2"/>
          <p:cNvSpPr txBox="1">
            <a:spLocks noChangeArrowheads="1"/>
          </p:cNvSpPr>
          <p:nvPr/>
        </p:nvSpPr>
        <p:spPr bwMode="auto">
          <a:xfrm>
            <a:off x="9147175" y="-14288"/>
            <a:ext cx="3044825" cy="4524376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FFF00"/>
                </a:solidFill>
                <a:latin typeface="Arial" panose="020B0604020202020204" pitchFamily="34" charset="0"/>
              </a:rPr>
              <a:t>计算过程：</a:t>
            </a:r>
            <a:r>
              <a:rPr lang="en-US" altLang="zh-CN" sz="2400">
                <a:solidFill>
                  <a:srgbClr val="FFFF00"/>
                </a:solidFill>
                <a:latin typeface="Arial" panose="020B0604020202020204" pitchFamily="34" charset="0"/>
              </a:rPr>
              <a:t>1337</a:t>
            </a:r>
            <a:endParaRPr lang="en-US" altLang="zh-CN" sz="2400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1337%10 </a:t>
            </a:r>
            <a:r>
              <a:rPr lang="en-US" altLang="zh-CN" sz="2400">
                <a:latin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altLang="zh-CN" sz="2400">
                <a:solidFill>
                  <a:srgbClr val="FF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7</a:t>
            </a:r>
            <a:endParaRPr lang="en-US" altLang="zh-CN" sz="2400">
              <a:solidFill>
                <a:srgbClr val="FF0000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  <a:sym typeface="Wingdings" panose="05000000000000000000" pitchFamily="2" charset="2"/>
              </a:rPr>
              <a:t>1337/10133</a:t>
            </a:r>
            <a:endParaRPr lang="en-US" altLang="zh-CN" sz="2400">
              <a:latin typeface="Arial" panose="020B0604020202020204" pitchFamily="34" charset="0"/>
              <a:sym typeface="Wingdings" panose="05000000000000000000" pitchFamily="2" charset="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>
              <a:latin typeface="Arial" panose="020B0604020202020204" pitchFamily="34" charset="0"/>
              <a:sym typeface="Wingdings" panose="05000000000000000000" pitchFamily="2" charset="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  <a:sym typeface="Wingdings" panose="05000000000000000000" pitchFamily="2" charset="2"/>
              </a:rPr>
              <a:t>133%10</a:t>
            </a:r>
            <a:r>
              <a:rPr lang="en-US" altLang="zh-CN" sz="2400">
                <a:solidFill>
                  <a:srgbClr val="FF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3</a:t>
            </a:r>
            <a:endParaRPr lang="en-US" altLang="zh-CN" sz="2400">
              <a:solidFill>
                <a:srgbClr val="FF0000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  <a:sym typeface="Wingdings" panose="05000000000000000000" pitchFamily="2" charset="2"/>
              </a:rPr>
              <a:t>133/1013</a:t>
            </a:r>
            <a:endParaRPr lang="en-US" altLang="zh-CN" sz="2400">
              <a:latin typeface="Arial" panose="020B0604020202020204" pitchFamily="34" charset="0"/>
              <a:sym typeface="Wingdings" panose="05000000000000000000" pitchFamily="2" charset="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>
              <a:latin typeface="Arial" panose="020B0604020202020204" pitchFamily="34" charset="0"/>
              <a:sym typeface="Wingdings" panose="05000000000000000000" pitchFamily="2" charset="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  <a:sym typeface="Wingdings" panose="05000000000000000000" pitchFamily="2" charset="2"/>
              </a:rPr>
              <a:t>13%10</a:t>
            </a:r>
            <a:r>
              <a:rPr lang="en-US" altLang="zh-CN" sz="2400">
                <a:solidFill>
                  <a:srgbClr val="FF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3</a:t>
            </a:r>
            <a:endParaRPr lang="en-US" altLang="zh-CN" sz="2400">
              <a:solidFill>
                <a:srgbClr val="FF0000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  <a:sym typeface="Wingdings" panose="05000000000000000000" pitchFamily="2" charset="2"/>
              </a:rPr>
              <a:t>13/101</a:t>
            </a:r>
            <a:endParaRPr lang="en-US" altLang="zh-CN" sz="2400">
              <a:latin typeface="Arial" panose="020B0604020202020204" pitchFamily="34" charset="0"/>
              <a:sym typeface="Wingdings" panose="05000000000000000000" pitchFamily="2" charset="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>
              <a:latin typeface="Arial" panose="020B0604020202020204" pitchFamily="34" charset="0"/>
              <a:sym typeface="Wingdings" panose="05000000000000000000" pitchFamily="2" charset="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  <a:sym typeface="Wingdings" panose="05000000000000000000" pitchFamily="2" charset="2"/>
              </a:rPr>
              <a:t>1%10</a:t>
            </a:r>
            <a:r>
              <a:rPr lang="en-US" altLang="zh-CN" sz="2400">
                <a:solidFill>
                  <a:srgbClr val="FF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1</a:t>
            </a:r>
            <a:endParaRPr lang="en-US" altLang="zh-CN" sz="2400">
              <a:solidFill>
                <a:srgbClr val="FF0000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  <a:sym typeface="Wingdings" panose="05000000000000000000" pitchFamily="2" charset="2"/>
              </a:rPr>
              <a:t>1/100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cxnSp>
        <p:nvCxnSpPr>
          <p:cNvPr id="33797" name="直接箭头连接符 7"/>
          <p:cNvCxnSpPr>
            <a:cxnSpLocks noChangeShapeType="1"/>
          </p:cNvCxnSpPr>
          <p:nvPr/>
        </p:nvCxnSpPr>
        <p:spPr bwMode="auto">
          <a:xfrm flipH="1">
            <a:off x="9601200" y="1041400"/>
            <a:ext cx="1331913" cy="550863"/>
          </a:xfrm>
          <a:prstGeom prst="straightConnector1">
            <a:avLst/>
          </a:prstGeom>
          <a:noFill/>
          <a:ln w="31750" algn="ctr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798" name="直接箭头连接符 8"/>
          <p:cNvCxnSpPr/>
          <p:nvPr/>
        </p:nvCxnSpPr>
        <p:spPr bwMode="auto">
          <a:xfrm flipH="1">
            <a:off x="9601200" y="2195513"/>
            <a:ext cx="1066800" cy="452437"/>
          </a:xfrm>
          <a:prstGeom prst="straightConnector1">
            <a:avLst/>
          </a:prstGeom>
          <a:noFill/>
          <a:ln w="31750" algn="ctr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799" name="直接箭头连接符 9"/>
          <p:cNvCxnSpPr/>
          <p:nvPr/>
        </p:nvCxnSpPr>
        <p:spPr bwMode="auto">
          <a:xfrm flipH="1">
            <a:off x="9420225" y="3251200"/>
            <a:ext cx="1074738" cy="501650"/>
          </a:xfrm>
          <a:prstGeom prst="straightConnector1">
            <a:avLst/>
          </a:prstGeom>
          <a:noFill/>
          <a:ln w="31750" algn="ctr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3800" name="文本框 2"/>
          <p:cNvSpPr txBox="1">
            <a:spLocks noChangeArrowheads="1"/>
          </p:cNvSpPr>
          <p:nvPr/>
        </p:nvSpPr>
        <p:spPr bwMode="auto">
          <a:xfrm>
            <a:off x="39688" y="88900"/>
            <a:ext cx="355917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>
                <a:solidFill>
                  <a:srgbClr val="FFC000"/>
                </a:solidFill>
                <a:latin typeface="Arial" panose="020B0604020202020204" pitchFamily="34" charset="0"/>
              </a:rPr>
              <a:t>【</a:t>
            </a:r>
            <a:r>
              <a:rPr lang="zh-CN" altLang="en-US" sz="2600">
                <a:solidFill>
                  <a:srgbClr val="FFC000"/>
                </a:solidFill>
                <a:latin typeface="Arial" panose="020B0604020202020204" pitchFamily="34" charset="0"/>
              </a:rPr>
              <a:t>思考</a:t>
            </a:r>
            <a:r>
              <a:rPr lang="en-US" altLang="zh-CN" sz="2600">
                <a:solidFill>
                  <a:srgbClr val="FFC000"/>
                </a:solidFill>
                <a:latin typeface="Arial" panose="020B0604020202020204" pitchFamily="34" charset="0"/>
              </a:rPr>
              <a:t>1】</a:t>
            </a:r>
            <a:r>
              <a:rPr lang="zh-CN" altLang="en-US" sz="2600">
                <a:solidFill>
                  <a:srgbClr val="FFC000"/>
                </a:solidFill>
                <a:latin typeface="Arial" panose="020B0604020202020204" pitchFamily="34" charset="0"/>
              </a:rPr>
              <a:t>程序输出？</a:t>
            </a:r>
            <a:endParaRPr lang="zh-CN" altLang="en-US" sz="2600">
              <a:solidFill>
                <a:srgbClr val="FFC000"/>
              </a:solidFill>
              <a:latin typeface="Arial" panose="020B0604020202020204" pitchFamily="34" charset="0"/>
            </a:endParaRPr>
          </a:p>
        </p:txBody>
      </p:sp>
      <p:sp>
        <p:nvSpPr>
          <p:cNvPr id="12" name="文本框 2"/>
          <p:cNvSpPr txBox="1">
            <a:spLocks noChangeArrowheads="1"/>
          </p:cNvSpPr>
          <p:nvPr/>
        </p:nvSpPr>
        <p:spPr bwMode="auto">
          <a:xfrm>
            <a:off x="3160713" y="6332538"/>
            <a:ext cx="8632825" cy="891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>
                <a:solidFill>
                  <a:srgbClr val="FFC000"/>
                </a:solidFill>
                <a:latin typeface="Arial" panose="020B0604020202020204" pitchFamily="34" charset="0"/>
              </a:rPr>
              <a:t>【</a:t>
            </a:r>
            <a:r>
              <a:rPr lang="zh-CN" altLang="en-US" sz="2600">
                <a:solidFill>
                  <a:srgbClr val="FFC000"/>
                </a:solidFill>
                <a:latin typeface="Arial" panose="020B0604020202020204" pitchFamily="34" charset="0"/>
              </a:rPr>
              <a:t>思考</a:t>
            </a:r>
            <a:r>
              <a:rPr lang="en-US" altLang="zh-CN" sz="2600">
                <a:solidFill>
                  <a:srgbClr val="FFC000"/>
                </a:solidFill>
                <a:latin typeface="Arial" panose="020B0604020202020204" pitchFamily="34" charset="0"/>
              </a:rPr>
              <a:t>2】</a:t>
            </a:r>
            <a:r>
              <a:rPr lang="zh-CN" altLang="en-US" sz="2600">
                <a:solidFill>
                  <a:srgbClr val="FFC000"/>
                </a:solidFill>
                <a:latin typeface="Arial" panose="020B0604020202020204" pitchFamily="34" charset="0"/>
              </a:rPr>
              <a:t>如何修改该程序，使其实现从高位向低位输出？</a:t>
            </a:r>
            <a:endParaRPr lang="zh-CN" altLang="en-US" sz="2600">
              <a:solidFill>
                <a:srgbClr val="FFC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525000" y="6334125"/>
            <a:ext cx="2133600" cy="4572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A6363317-5751-43F7-BC83-E7EDA9FE5094}" type="slidenum">
              <a:rPr lang="en-US" altLang="zh-CN" sz="1200" b="0"/>
            </a:fld>
            <a:endParaRPr lang="en-US" altLang="zh-CN" sz="1200" b="0" dirty="0"/>
          </a:p>
        </p:txBody>
      </p:sp>
      <p:sp>
        <p:nvSpPr>
          <p:cNvPr id="36867" name="文本框 2"/>
          <p:cNvSpPr txBox="1">
            <a:spLocks noChangeArrowheads="1"/>
          </p:cNvSpPr>
          <p:nvPr/>
        </p:nvSpPr>
        <p:spPr bwMode="auto">
          <a:xfrm>
            <a:off x="228600" y="1371600"/>
            <a:ext cx="3489325" cy="354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F902FC"/>
                </a:solidFill>
                <a:latin typeface="Arial" panose="020B0604020202020204" pitchFamily="34" charset="0"/>
              </a:rPr>
              <a:t>样例</a:t>
            </a:r>
            <a:r>
              <a:rPr lang="en-US" altLang="zh-CN">
                <a:solidFill>
                  <a:srgbClr val="F902FC"/>
                </a:solidFill>
                <a:latin typeface="Arial" panose="020B0604020202020204" pitchFamily="34" charset="0"/>
              </a:rPr>
              <a:t>1</a:t>
            </a:r>
            <a:r>
              <a:rPr lang="zh-CN" altLang="en-US">
                <a:solidFill>
                  <a:srgbClr val="F902FC"/>
                </a:solidFill>
                <a:latin typeface="Arial" panose="020B0604020202020204" pitchFamily="34" charset="0"/>
              </a:rPr>
              <a:t>：</a:t>
            </a:r>
            <a:endParaRPr lang="en-US" altLang="zh-CN">
              <a:solidFill>
                <a:srgbClr val="F902FC"/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latin typeface="Arial" panose="020B0604020202020204" pitchFamily="34" charset="0"/>
              </a:rPr>
              <a:t>输入：</a:t>
            </a:r>
            <a:r>
              <a:rPr lang="en-US" altLang="zh-CN">
                <a:latin typeface="Arial" panose="020B0604020202020204" pitchFamily="34" charset="0"/>
              </a:rPr>
              <a:t>10</a:t>
            </a:r>
            <a:endParaRPr lang="en-US" altLang="zh-CN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latin typeface="Arial" panose="020B0604020202020204" pitchFamily="34" charset="0"/>
              </a:rPr>
              <a:t>输出：</a:t>
            </a:r>
            <a:r>
              <a:rPr lang="en-US" altLang="zh-CN">
                <a:solidFill>
                  <a:srgbClr val="F902FC"/>
                </a:solidFill>
                <a:latin typeface="Arial" panose="020B0604020202020204" pitchFamily="34" charset="0"/>
              </a:rPr>
              <a:t>1010</a:t>
            </a:r>
            <a:endParaRPr lang="en-US" altLang="zh-CN">
              <a:solidFill>
                <a:srgbClr val="F902FC"/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F902FC"/>
                </a:solidFill>
                <a:latin typeface="Arial" panose="020B0604020202020204" pitchFamily="34" charset="0"/>
              </a:rPr>
              <a:t>样例</a:t>
            </a:r>
            <a:r>
              <a:rPr lang="en-US" altLang="zh-CN">
                <a:solidFill>
                  <a:srgbClr val="F902FC"/>
                </a:solidFill>
                <a:latin typeface="Arial" panose="020B0604020202020204" pitchFamily="34" charset="0"/>
              </a:rPr>
              <a:t>2</a:t>
            </a:r>
            <a:r>
              <a:rPr lang="zh-CN" altLang="en-US">
                <a:solidFill>
                  <a:srgbClr val="F902FC"/>
                </a:solidFill>
                <a:latin typeface="Arial" panose="020B0604020202020204" pitchFamily="34" charset="0"/>
              </a:rPr>
              <a:t>：</a:t>
            </a:r>
            <a:endParaRPr lang="en-US" altLang="zh-CN">
              <a:solidFill>
                <a:srgbClr val="F902FC"/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latin typeface="Arial" panose="020B0604020202020204" pitchFamily="34" charset="0"/>
              </a:rPr>
              <a:t>输入：</a:t>
            </a:r>
            <a:r>
              <a:rPr lang="en-US" altLang="zh-CN">
                <a:latin typeface="Arial" panose="020B0604020202020204" pitchFamily="34" charset="0"/>
              </a:rPr>
              <a:t>64</a:t>
            </a:r>
            <a:endParaRPr lang="en-US" altLang="zh-CN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latin typeface="Arial" panose="020B0604020202020204" pitchFamily="34" charset="0"/>
              </a:rPr>
              <a:t>输出：</a:t>
            </a:r>
            <a:r>
              <a:rPr lang="en-US" altLang="zh-CN">
                <a:solidFill>
                  <a:srgbClr val="F902FC"/>
                </a:solidFill>
                <a:latin typeface="Arial" panose="020B0604020202020204" pitchFamily="34" charset="0"/>
              </a:rPr>
              <a:t>1000000</a:t>
            </a:r>
            <a:endParaRPr lang="en-US" altLang="zh-CN">
              <a:solidFill>
                <a:srgbClr val="F902FC"/>
              </a:solidFill>
              <a:latin typeface="Arial" panose="020B0604020202020204" pitchFamily="34" charset="0"/>
            </a:endParaRPr>
          </a:p>
        </p:txBody>
      </p:sp>
      <p:sp>
        <p:nvSpPr>
          <p:cNvPr id="64516" name="文本框 2"/>
          <p:cNvSpPr txBox="1">
            <a:spLocks noChangeArrowheads="1"/>
          </p:cNvSpPr>
          <p:nvPr/>
        </p:nvSpPr>
        <p:spPr bwMode="auto">
          <a:xfrm>
            <a:off x="5016500" y="735013"/>
            <a:ext cx="4030663" cy="600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100">
                <a:solidFill>
                  <a:srgbClr val="FFFF00"/>
                </a:solidFill>
                <a:latin typeface="Arial" panose="020B0604020202020204" pitchFamily="34" charset="0"/>
              </a:rPr>
              <a:t>样例</a:t>
            </a:r>
            <a:r>
              <a:rPr lang="en-US" altLang="zh-CN" sz="3100">
                <a:solidFill>
                  <a:srgbClr val="FFFF00"/>
                </a:solidFill>
                <a:latin typeface="Arial" panose="020B0604020202020204" pitchFamily="34" charset="0"/>
              </a:rPr>
              <a:t>1</a:t>
            </a:r>
            <a:r>
              <a:rPr lang="zh-CN" altLang="en-US" sz="3100">
                <a:solidFill>
                  <a:srgbClr val="FFFF00"/>
                </a:solidFill>
                <a:latin typeface="Arial" panose="020B0604020202020204" pitchFamily="34" charset="0"/>
              </a:rPr>
              <a:t>计算过程：</a:t>
            </a:r>
            <a:endParaRPr lang="en-US" altLang="zh-CN" sz="3100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100">
                <a:latin typeface="Arial" panose="020B0604020202020204" pitchFamily="34" charset="0"/>
              </a:rPr>
              <a:t>10%2 </a:t>
            </a:r>
            <a:r>
              <a:rPr lang="en-US" altLang="zh-CN" sz="3100">
                <a:latin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altLang="zh-CN" sz="3100">
                <a:solidFill>
                  <a:srgbClr val="F902FC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0</a:t>
            </a:r>
            <a:endParaRPr lang="en-US" altLang="zh-CN" sz="3100">
              <a:solidFill>
                <a:srgbClr val="FF0000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100">
                <a:latin typeface="Arial" panose="020B0604020202020204" pitchFamily="34" charset="0"/>
                <a:sym typeface="Wingdings" panose="05000000000000000000" pitchFamily="2" charset="2"/>
              </a:rPr>
              <a:t>10/25</a:t>
            </a:r>
            <a:endParaRPr lang="en-US" altLang="zh-CN" sz="3100">
              <a:latin typeface="Arial" panose="020B0604020202020204" pitchFamily="34" charset="0"/>
              <a:sym typeface="Wingdings" panose="05000000000000000000" pitchFamily="2" charset="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3100">
              <a:latin typeface="Arial" panose="020B0604020202020204" pitchFamily="34" charset="0"/>
              <a:sym typeface="Wingdings" panose="05000000000000000000" pitchFamily="2" charset="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100">
                <a:latin typeface="Arial" panose="020B0604020202020204" pitchFamily="34" charset="0"/>
                <a:sym typeface="Wingdings" panose="05000000000000000000" pitchFamily="2" charset="2"/>
              </a:rPr>
              <a:t>5%2</a:t>
            </a:r>
            <a:r>
              <a:rPr lang="en-US" altLang="zh-CN" sz="3100">
                <a:solidFill>
                  <a:srgbClr val="F902FC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1</a:t>
            </a:r>
            <a:endParaRPr lang="en-US" altLang="zh-CN" sz="3100">
              <a:solidFill>
                <a:srgbClr val="FF0000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100">
                <a:latin typeface="Arial" panose="020B0604020202020204" pitchFamily="34" charset="0"/>
                <a:sym typeface="Wingdings" panose="05000000000000000000" pitchFamily="2" charset="2"/>
              </a:rPr>
              <a:t>5/22</a:t>
            </a:r>
            <a:endParaRPr lang="en-US" altLang="zh-CN" sz="3100">
              <a:latin typeface="Arial" panose="020B0604020202020204" pitchFamily="34" charset="0"/>
              <a:sym typeface="Wingdings" panose="05000000000000000000" pitchFamily="2" charset="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3100">
              <a:latin typeface="Arial" panose="020B0604020202020204" pitchFamily="34" charset="0"/>
              <a:sym typeface="Wingdings" panose="05000000000000000000" pitchFamily="2" charset="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100">
                <a:latin typeface="Arial" panose="020B0604020202020204" pitchFamily="34" charset="0"/>
                <a:sym typeface="Wingdings" panose="05000000000000000000" pitchFamily="2" charset="2"/>
              </a:rPr>
              <a:t>2%2</a:t>
            </a:r>
            <a:r>
              <a:rPr lang="en-US" altLang="zh-CN" sz="3100">
                <a:solidFill>
                  <a:srgbClr val="F902FC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0</a:t>
            </a:r>
            <a:endParaRPr lang="en-US" altLang="zh-CN" sz="3100">
              <a:solidFill>
                <a:srgbClr val="FF0000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100">
                <a:latin typeface="Arial" panose="020B0604020202020204" pitchFamily="34" charset="0"/>
                <a:sym typeface="Wingdings" panose="05000000000000000000" pitchFamily="2" charset="2"/>
              </a:rPr>
              <a:t>2/21</a:t>
            </a:r>
            <a:endParaRPr lang="en-US" altLang="zh-CN" sz="3100">
              <a:latin typeface="Arial" panose="020B0604020202020204" pitchFamily="34" charset="0"/>
              <a:sym typeface="Wingdings" panose="05000000000000000000" pitchFamily="2" charset="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3100">
              <a:latin typeface="Arial" panose="020B0604020202020204" pitchFamily="34" charset="0"/>
              <a:sym typeface="Wingdings" panose="05000000000000000000" pitchFamily="2" charset="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100">
                <a:latin typeface="Arial" panose="020B0604020202020204" pitchFamily="34" charset="0"/>
                <a:sym typeface="Wingdings" panose="05000000000000000000" pitchFamily="2" charset="2"/>
              </a:rPr>
              <a:t>1%2</a:t>
            </a:r>
            <a:r>
              <a:rPr lang="en-US" altLang="zh-CN" sz="3100">
                <a:solidFill>
                  <a:srgbClr val="F902FC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1</a:t>
            </a:r>
            <a:endParaRPr lang="en-US" altLang="zh-CN" sz="3100">
              <a:solidFill>
                <a:srgbClr val="FF0000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100">
                <a:solidFill>
                  <a:srgbClr val="00B05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1/20</a:t>
            </a:r>
            <a:endParaRPr lang="en-US" altLang="zh-CN" sz="3100">
              <a:solidFill>
                <a:srgbClr val="00B050"/>
              </a:solidFill>
              <a:latin typeface="Arial" panose="020B0604020202020204" pitchFamily="34" charset="0"/>
            </a:endParaRPr>
          </a:p>
        </p:txBody>
      </p:sp>
      <p:cxnSp>
        <p:nvCxnSpPr>
          <p:cNvPr id="64517" name="直接箭头连接符 7"/>
          <p:cNvCxnSpPr>
            <a:cxnSpLocks noChangeShapeType="1"/>
          </p:cNvCxnSpPr>
          <p:nvPr/>
        </p:nvCxnSpPr>
        <p:spPr bwMode="auto">
          <a:xfrm flipH="1">
            <a:off x="5202238" y="2162175"/>
            <a:ext cx="1154112" cy="582613"/>
          </a:xfrm>
          <a:prstGeom prst="straightConnector1">
            <a:avLst/>
          </a:prstGeom>
          <a:noFill/>
          <a:ln w="31750" algn="ctr">
            <a:solidFill>
              <a:srgbClr val="F902FC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4518" name="直接箭头连接符 8"/>
          <p:cNvCxnSpPr/>
          <p:nvPr/>
        </p:nvCxnSpPr>
        <p:spPr bwMode="auto">
          <a:xfrm flipH="1">
            <a:off x="5202238" y="3522663"/>
            <a:ext cx="973137" cy="647700"/>
          </a:xfrm>
          <a:prstGeom prst="straightConnector1">
            <a:avLst/>
          </a:prstGeom>
          <a:noFill/>
          <a:ln w="31750" algn="ctr">
            <a:solidFill>
              <a:srgbClr val="F902FC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4519" name="直接箭头连接符 9"/>
          <p:cNvCxnSpPr/>
          <p:nvPr/>
        </p:nvCxnSpPr>
        <p:spPr bwMode="auto">
          <a:xfrm flipH="1">
            <a:off x="5202238" y="4948238"/>
            <a:ext cx="936625" cy="641350"/>
          </a:xfrm>
          <a:prstGeom prst="straightConnector1">
            <a:avLst/>
          </a:prstGeom>
          <a:noFill/>
          <a:ln w="31750" algn="ctr">
            <a:solidFill>
              <a:srgbClr val="F902FC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6872" name="文本框 2"/>
          <p:cNvSpPr txBox="1">
            <a:spLocks noChangeArrowheads="1"/>
          </p:cNvSpPr>
          <p:nvPr/>
        </p:nvSpPr>
        <p:spPr bwMode="auto">
          <a:xfrm>
            <a:off x="-203200" y="31750"/>
            <a:ext cx="104394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FFC000"/>
                </a:solidFill>
                <a:latin typeface="Arial" panose="020B0604020202020204" pitchFamily="34" charset="0"/>
              </a:rPr>
              <a:t>【</a:t>
            </a:r>
            <a:r>
              <a:rPr lang="zh-CN" altLang="en-US">
                <a:solidFill>
                  <a:srgbClr val="FFC000"/>
                </a:solidFill>
                <a:latin typeface="Arial" panose="020B0604020202020204" pitchFamily="34" charset="0"/>
              </a:rPr>
              <a:t>课后实践</a:t>
            </a:r>
            <a:r>
              <a:rPr lang="en-US" altLang="zh-CN">
                <a:solidFill>
                  <a:srgbClr val="FFC000"/>
                </a:solidFill>
                <a:latin typeface="Arial" panose="020B0604020202020204" pitchFamily="34" charset="0"/>
              </a:rPr>
              <a:t>】</a:t>
            </a:r>
            <a:r>
              <a:rPr lang="zh-CN" altLang="en-US">
                <a:solidFill>
                  <a:srgbClr val="FFC000"/>
                </a:solidFill>
                <a:latin typeface="Arial" panose="020B0604020202020204" pitchFamily="34" charset="0"/>
              </a:rPr>
              <a:t>编写递归函数，将十进制数转二进制数</a:t>
            </a:r>
            <a:endParaRPr lang="zh-CN" altLang="en-US">
              <a:solidFill>
                <a:srgbClr val="FFC000"/>
              </a:solidFill>
              <a:latin typeface="Arial" panose="020B0604020202020204" pitchFamily="34" charset="0"/>
            </a:endParaRPr>
          </a:p>
        </p:txBody>
      </p:sp>
      <p:sp>
        <p:nvSpPr>
          <p:cNvPr id="9" name="文本框 2"/>
          <p:cNvSpPr txBox="1">
            <a:spLocks noChangeArrowheads="1"/>
          </p:cNvSpPr>
          <p:nvPr/>
        </p:nvSpPr>
        <p:spPr bwMode="auto">
          <a:xfrm>
            <a:off x="7620000" y="5197475"/>
            <a:ext cx="4953000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FFC000"/>
                </a:solidFill>
                <a:latin typeface="Arial" panose="020B0604020202020204" pitchFamily="34" charset="0"/>
              </a:rPr>
              <a:t>【</a:t>
            </a:r>
            <a:r>
              <a:rPr lang="zh-CN" altLang="en-US">
                <a:solidFill>
                  <a:srgbClr val="FFC000"/>
                </a:solidFill>
                <a:latin typeface="Arial" panose="020B0604020202020204" pitchFamily="34" charset="0"/>
              </a:rPr>
              <a:t>思考</a:t>
            </a:r>
            <a:r>
              <a:rPr lang="en-US" altLang="zh-CN">
                <a:solidFill>
                  <a:srgbClr val="FFC000"/>
                </a:solidFill>
                <a:latin typeface="Arial" panose="020B0604020202020204" pitchFamily="34" charset="0"/>
              </a:rPr>
              <a:t>】</a:t>
            </a:r>
            <a:r>
              <a:rPr lang="zh-CN" altLang="en-US">
                <a:solidFill>
                  <a:srgbClr val="FFC000"/>
                </a:solidFill>
                <a:latin typeface="Arial" panose="020B0604020202020204" pitchFamily="34" charset="0"/>
              </a:rPr>
              <a:t>编写递归函数，</a:t>
            </a:r>
            <a:endParaRPr lang="en-US" altLang="zh-CN">
              <a:solidFill>
                <a:srgbClr val="FFC000"/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FFC000"/>
                </a:solidFill>
                <a:latin typeface="Arial" panose="020B0604020202020204" pitchFamily="34" charset="0"/>
              </a:rPr>
              <a:t>将十进制数转八</a:t>
            </a:r>
            <a:r>
              <a:rPr lang="zh-CN" altLang="en-US">
                <a:solidFill>
                  <a:srgbClr val="FFC000"/>
                </a:solidFill>
                <a:latin typeface="Arial" panose="020B0604020202020204" pitchFamily="34" charset="0"/>
              </a:rPr>
              <a:t>进制数</a:t>
            </a:r>
            <a:endParaRPr lang="zh-CN" altLang="en-US">
              <a:solidFill>
                <a:srgbClr val="FFC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0820400" y="6334125"/>
            <a:ext cx="730250" cy="457200"/>
          </a:xfrm>
        </p:spPr>
        <p:txBody>
          <a:bodyPr wrap="square" lIns="91440" tIns="45720" rIns="91440" bIns="45720" numCol="1" anchor="b" anchorCtr="0" compatLnSpc="1"/>
          <a:lstStyle>
            <a:lvl1pPr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9D75345-10FB-434E-AD87-452C4D3FEE4D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27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972040" cy="93662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【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例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10.5】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902F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P252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求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2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个数的最大公约数（递归实现）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42725" name="Rectangle 5"/>
          <p:cNvSpPr>
            <a:spLocks noChangeArrowheads="1"/>
          </p:cNvSpPr>
          <p:nvPr/>
        </p:nvSpPr>
        <p:spPr bwMode="auto">
          <a:xfrm>
            <a:off x="228283" y="838200"/>
            <a:ext cx="5751513" cy="352901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欧几里德辗转相除法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u  	         % 	v  	→  R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</a:t>
            </a:r>
            <a:endParaRPr kumimoji="0" lang="en-US" altLang="zh-CN" sz="2800" b="1" i="0" u="none" strike="noStrike" kern="1200" cap="none" spc="0" normalizeH="0" baseline="-2500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v  	         % 	R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	→  R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</a:t>
            </a:r>
            <a:endParaRPr kumimoji="0" lang="en-US" altLang="zh-CN" sz="2800" b="1" i="0" u="none" strike="noStrike" kern="1200" cap="none" spc="0" normalizeH="0" baseline="-2500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R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         % 	R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	→  R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3</a:t>
            </a:r>
            <a:endParaRPr kumimoji="0" lang="en-US" altLang="zh-CN" sz="2800" b="1" i="0" u="none" strike="noStrike" kern="1200" cap="none" spc="0" normalizeH="0" baseline="-2500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R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	% 	R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3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	→  R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4</a:t>
            </a:r>
            <a:endParaRPr kumimoji="0" lang="en-US" altLang="zh-CN" sz="2800" b="1" i="0" u="none" strike="noStrike" kern="1200" cap="none" spc="0" normalizeH="0" baseline="-2500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…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…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…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…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R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n-1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	% 	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902F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R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F902F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n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→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902F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0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R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n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为正整数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u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v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的最大公约数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2726" name="Text Box 6"/>
          <p:cNvSpPr txBox="1"/>
          <p:nvPr/>
        </p:nvSpPr>
        <p:spPr>
          <a:xfrm>
            <a:off x="685800" y="4572000"/>
            <a:ext cx="4543425" cy="1938338"/>
          </a:xfrm>
          <a:prstGeom prst="rect">
            <a:avLst/>
          </a:prstGeom>
          <a:noFill/>
          <a:ln w="25400" cap="flat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Arial" panose="020B0604020202020204" pitchFamily="34" charset="0"/>
              </a:rPr>
              <a:t>若</a:t>
            </a:r>
            <a:r>
              <a:rPr lang="en-US" altLang="zh-CN" sz="2400" b="1" dirty="0">
                <a:latin typeface="Arial" panose="020B0604020202020204" pitchFamily="34" charset="0"/>
              </a:rPr>
              <a:t>u</a:t>
            </a:r>
            <a:r>
              <a:rPr lang="zh-CN" altLang="en-US" sz="2400" b="1" dirty="0">
                <a:latin typeface="Arial" panose="020B0604020202020204" pitchFamily="34" charset="0"/>
              </a:rPr>
              <a:t>能被</a:t>
            </a:r>
            <a:r>
              <a:rPr lang="en-US" altLang="zh-CN" sz="2400" b="1" dirty="0">
                <a:latin typeface="Arial" panose="020B0604020202020204" pitchFamily="34" charset="0"/>
              </a:rPr>
              <a:t>v</a:t>
            </a:r>
            <a:r>
              <a:rPr lang="zh-CN" altLang="en-US" sz="2400" b="1" dirty="0">
                <a:latin typeface="Arial" panose="020B0604020202020204" pitchFamily="34" charset="0"/>
              </a:rPr>
              <a:t>整除，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	</a:t>
            </a:r>
            <a:r>
              <a:rPr lang="zh-CN" altLang="en-US" sz="2400" b="1" dirty="0">
                <a:latin typeface="Arial" panose="020B0604020202020204" pitchFamily="34" charset="0"/>
              </a:rPr>
              <a:t>则</a:t>
            </a:r>
            <a:r>
              <a:rPr lang="en-US" altLang="zh-CN" sz="2400" b="1" dirty="0">
                <a:solidFill>
                  <a:srgbClr val="F902FC"/>
                </a:solidFill>
                <a:latin typeface="Arial" panose="020B0604020202020204" pitchFamily="34" charset="0"/>
              </a:rPr>
              <a:t>v</a:t>
            </a:r>
            <a:r>
              <a:rPr lang="zh-CN" altLang="en-US" sz="2400" b="1" dirty="0">
                <a:latin typeface="Arial" panose="020B0604020202020204" pitchFamily="34" charset="0"/>
              </a:rPr>
              <a:t>为最大公约数；</a:t>
            </a:r>
            <a:endParaRPr lang="zh-CN" altLang="en-US" sz="24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Arial" panose="020B0604020202020204" pitchFamily="34" charset="0"/>
              </a:rPr>
              <a:t>否则，</a:t>
            </a:r>
            <a:r>
              <a:rPr lang="en-US" altLang="zh-CN" sz="2400" b="1" dirty="0">
                <a:latin typeface="Arial" panose="020B0604020202020204" pitchFamily="34" charset="0"/>
              </a:rPr>
              <a:t>u</a:t>
            </a:r>
            <a:r>
              <a:rPr lang="zh-CN" altLang="en-US" sz="2400" b="1" dirty="0">
                <a:latin typeface="Arial" panose="020B0604020202020204" pitchFamily="34" charset="0"/>
              </a:rPr>
              <a:t>、</a:t>
            </a:r>
            <a:r>
              <a:rPr lang="en-US" altLang="zh-CN" sz="2400" b="1" dirty="0">
                <a:latin typeface="Arial" panose="020B0604020202020204" pitchFamily="34" charset="0"/>
              </a:rPr>
              <a:t>v</a:t>
            </a:r>
            <a:r>
              <a:rPr lang="zh-CN" altLang="en-US" sz="2400" b="1" dirty="0">
                <a:latin typeface="Arial" panose="020B0604020202020204" pitchFamily="34" charset="0"/>
              </a:rPr>
              <a:t>的最大公约数就是</a:t>
            </a:r>
            <a:endParaRPr lang="zh-CN" altLang="en-US" sz="24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</a:rPr>
              <a:t>    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</a:rPr>
              <a:t>	</a:t>
            </a:r>
            <a:r>
              <a:rPr lang="en-US" altLang="zh-CN" sz="2400" b="1" dirty="0">
                <a:solidFill>
                  <a:srgbClr val="F902FC"/>
                </a:solidFill>
                <a:latin typeface="Arial" panose="020B0604020202020204" pitchFamily="34" charset="0"/>
              </a:rPr>
              <a:t>v</a:t>
            </a:r>
            <a:r>
              <a:rPr lang="en-US" altLang="zh-CN" sz="2400" b="1" dirty="0">
                <a:latin typeface="Arial" panose="020B0604020202020204" pitchFamily="34" charset="0"/>
              </a:rPr>
              <a:t> </a:t>
            </a:r>
            <a:r>
              <a:rPr lang="zh-CN" altLang="en-US" sz="2400" b="1" dirty="0">
                <a:latin typeface="Arial" panose="020B0604020202020204" pitchFamily="34" charset="0"/>
              </a:rPr>
              <a:t>和 </a:t>
            </a:r>
            <a:r>
              <a:rPr lang="en-US" altLang="zh-CN" sz="2400" b="1" dirty="0">
                <a:solidFill>
                  <a:srgbClr val="F902FC"/>
                </a:solidFill>
                <a:latin typeface="Arial" panose="020B0604020202020204" pitchFamily="34" charset="0"/>
              </a:rPr>
              <a:t>u%v</a:t>
            </a:r>
            <a:r>
              <a:rPr lang="en-US" altLang="zh-CN" sz="2400" b="1" dirty="0">
                <a:latin typeface="Arial" panose="020B0604020202020204" pitchFamily="34" charset="0"/>
              </a:rPr>
              <a:t>  </a:t>
            </a:r>
            <a:r>
              <a:rPr lang="zh-CN" altLang="en-US" sz="2400" b="1" dirty="0">
                <a:latin typeface="Arial" panose="020B0604020202020204" pitchFamily="34" charset="0"/>
              </a:rPr>
              <a:t>的最大公约数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545795" name="Rectangle 3"/>
          <p:cNvSpPr>
            <a:spLocks noGrp="1" noChangeArrowheads="1"/>
          </p:cNvSpPr>
          <p:nvPr>
            <p:ph idx="1"/>
          </p:nvPr>
        </p:nvSpPr>
        <p:spPr>
          <a:xfrm>
            <a:off x="5979795" y="1294130"/>
            <a:ext cx="6149340" cy="4827270"/>
          </a:xfrm>
          <a:ln w="28575" cmpd="sng">
            <a:solidFill>
              <a:schemeClr val="tx1"/>
            </a:solidFill>
            <a:prstDash val="sysDash"/>
          </a:ln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递归求最大公约数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600" b="1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gcd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 </a:t>
            </a:r>
            <a:r>
              <a:rPr kumimoji="0" lang="en-US" altLang="zh-CN" sz="36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6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x,int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y 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if(y==0)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return x;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else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return </a:t>
            </a:r>
            <a:r>
              <a:rPr lang="en-US" altLang="zh-CN" sz="3600" b="1" dirty="0">
                <a:solidFill>
                  <a:srgbClr val="FFFF00"/>
                </a:solidFill>
                <a:sym typeface="+mn-ea"/>
              </a:rPr>
              <a:t>gcd( </a:t>
            </a:r>
            <a:r>
              <a:rPr lang="en-US" altLang="zh-CN" sz="3600" b="1" dirty="0">
                <a:sym typeface="+mn-ea"/>
              </a:rPr>
              <a:t>y,x%y </a:t>
            </a:r>
            <a:r>
              <a:rPr lang="en-US" altLang="zh-CN" sz="3600" b="1" dirty="0">
                <a:solidFill>
                  <a:srgbClr val="FFFF00"/>
                </a:solidFill>
                <a:sym typeface="+mn-ea"/>
              </a:rPr>
              <a:t>)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79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4579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45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45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45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545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545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545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45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545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5795" grpId="1" animBg="1" build="p"/>
      <p:bldP spid="542725" grpId="0" animBg="1"/>
      <p:bldP spid="542726" grpId="0"/>
      <p:bldP spid="545795" grpId="2" animBg="1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FFC602FC-D3DB-4489-9642-4275DC53079B}" type="slidenum">
              <a:rPr lang="en-US" altLang="zh-CN" sz="1200" b="0"/>
            </a:fld>
            <a:endParaRPr lang="en-US" altLang="zh-CN" sz="1200" b="0" dirty="0"/>
          </a:p>
        </p:txBody>
      </p:sp>
      <p:sp>
        <p:nvSpPr>
          <p:cNvPr id="52736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600200" y="1218883"/>
            <a:ext cx="3074988" cy="3219450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zh-CN" altLang="en-US" b="1" dirty="0">
                <a:solidFill>
                  <a:srgbClr val="808080"/>
                </a:solidFill>
                <a:latin typeface="Verdana" panose="020B0604030504040204" pitchFamily="34" charset="0"/>
                <a:ea typeface="隶书" panose="02010509060101010101" pitchFamily="49" charset="-122"/>
              </a:rPr>
              <a:t>   </a:t>
            </a:r>
            <a:r>
              <a:rPr lang="zh-CN" altLang="en-US" b="1" dirty="0">
                <a:solidFill>
                  <a:schemeClr val="tx1">
                    <a:lumMod val="50000"/>
                  </a:schemeClr>
                </a:solidFill>
                <a:latin typeface="Verdana" panose="020B0604030504040204" pitchFamily="34" charset="0"/>
                <a:ea typeface="隶书" panose="02010509060101010101" pitchFamily="49" charset="-122"/>
              </a:rPr>
              <a:t>直接递归</a:t>
            </a:r>
            <a:endParaRPr lang="zh-CN" altLang="en-US" b="1" dirty="0">
              <a:solidFill>
                <a:schemeClr val="tx1">
                  <a:lumMod val="50000"/>
                </a:schemeClr>
              </a:solidFill>
              <a:latin typeface="Verdana" panose="020B0604030504040204" pitchFamily="34" charset="0"/>
              <a:ea typeface="隶书" panose="02010509060101010101" pitchFamily="49" charset="-122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b="1" dirty="0">
                <a:latin typeface="Verdana" panose="020B0604030504040204" pitchFamily="34" charset="0"/>
                <a:ea typeface="隶书" panose="02010509060101010101" pitchFamily="49" charset="-122"/>
              </a:rPr>
              <a:t>    </a:t>
            </a:r>
            <a:r>
              <a:rPr lang="en-US" altLang="zh-CN" b="1" dirty="0">
                <a:latin typeface="Verdana" panose="020B0604030504040204" pitchFamily="34" charset="0"/>
                <a:ea typeface="隶书" panose="02010509060101010101" pitchFamily="49" charset="-122"/>
              </a:rPr>
              <a:t>void </a:t>
            </a:r>
            <a:r>
              <a:rPr lang="en-US" altLang="zh-CN" b="1" dirty="0">
                <a:solidFill>
                  <a:srgbClr val="F902FC"/>
                </a:solidFill>
                <a:latin typeface="Verdana" panose="020B0604030504040204" pitchFamily="34" charset="0"/>
                <a:ea typeface="隶书" panose="02010509060101010101" pitchFamily="49" charset="-122"/>
              </a:rPr>
              <a:t>a</a:t>
            </a:r>
            <a:r>
              <a:rPr lang="en-US" altLang="zh-CN" b="1" dirty="0">
                <a:latin typeface="Verdana" panose="020B0604030504040204" pitchFamily="34" charset="0"/>
                <a:ea typeface="隶书" panose="02010509060101010101" pitchFamily="49" charset="-122"/>
              </a:rPr>
              <a:t>( ) </a:t>
            </a:r>
            <a:endParaRPr lang="en-US" altLang="zh-CN" b="1" dirty="0">
              <a:latin typeface="Verdana" panose="020B0604030504040204" pitchFamily="34" charset="0"/>
              <a:ea typeface="隶书" panose="02010509060101010101" pitchFamily="49" charset="-122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latin typeface="Verdana" panose="020B0604030504040204" pitchFamily="34" charset="0"/>
                <a:ea typeface="隶书" panose="02010509060101010101" pitchFamily="49" charset="-122"/>
              </a:rPr>
              <a:t>    {   … … </a:t>
            </a:r>
            <a:endParaRPr lang="en-US" altLang="zh-CN" b="1" dirty="0">
              <a:latin typeface="Verdana" panose="020B0604030504040204" pitchFamily="34" charset="0"/>
              <a:ea typeface="隶书" panose="02010509060101010101" pitchFamily="49" charset="-122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latin typeface="Verdana" panose="020B0604030504040204" pitchFamily="34" charset="0"/>
                <a:ea typeface="隶书" panose="02010509060101010101" pitchFamily="49" charset="-122"/>
              </a:rPr>
              <a:t>         </a:t>
            </a:r>
            <a:r>
              <a:rPr lang="en-US" altLang="zh-CN" b="1" dirty="0">
                <a:solidFill>
                  <a:srgbClr val="F902FC"/>
                </a:solidFill>
                <a:latin typeface="Verdana" panose="020B0604030504040204" pitchFamily="34" charset="0"/>
                <a:ea typeface="隶书" panose="02010509060101010101" pitchFamily="49" charset="-122"/>
              </a:rPr>
              <a:t>a</a:t>
            </a:r>
            <a:r>
              <a:rPr lang="en-US" altLang="zh-CN" b="1" dirty="0">
                <a:latin typeface="Verdana" panose="020B0604030504040204" pitchFamily="34" charset="0"/>
                <a:ea typeface="隶书" panose="02010509060101010101" pitchFamily="49" charset="-122"/>
              </a:rPr>
              <a:t>( );</a:t>
            </a:r>
            <a:endParaRPr lang="en-US" altLang="zh-CN" b="1" dirty="0">
              <a:latin typeface="Verdana" panose="020B0604030504040204" pitchFamily="34" charset="0"/>
              <a:ea typeface="隶书" panose="02010509060101010101" pitchFamily="49" charset="-122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latin typeface="Verdana" panose="020B0604030504040204" pitchFamily="34" charset="0"/>
                <a:ea typeface="隶书" panose="02010509060101010101" pitchFamily="49" charset="-122"/>
              </a:rPr>
              <a:t>         … … </a:t>
            </a:r>
            <a:endParaRPr lang="en-US" altLang="zh-CN" b="1" dirty="0">
              <a:latin typeface="Verdana" panose="020B0604030504040204" pitchFamily="34" charset="0"/>
              <a:ea typeface="隶书" panose="02010509060101010101" pitchFamily="49" charset="-122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latin typeface="Verdana" panose="020B0604030504040204" pitchFamily="34" charset="0"/>
                <a:ea typeface="隶书" panose="02010509060101010101" pitchFamily="49" charset="-122"/>
              </a:rPr>
              <a:t>    }</a:t>
            </a:r>
            <a:endParaRPr lang="en-US" altLang="zh-CN" b="1" dirty="0">
              <a:latin typeface="Verdana" panose="020B0604030504040204" pitchFamily="34" charset="0"/>
              <a:ea typeface="隶书" panose="02010509060101010101" pitchFamily="49" charset="-122"/>
            </a:endParaRPr>
          </a:p>
        </p:txBody>
      </p:sp>
      <p:sp>
        <p:nvSpPr>
          <p:cNvPr id="527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930400" y="76200"/>
            <a:ext cx="8229600" cy="558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b="1" dirty="0"/>
              <a:t>本章小结</a:t>
            </a:r>
            <a:endParaRPr lang="zh-CN" altLang="en-US" sz="4000" b="1" dirty="0"/>
          </a:p>
        </p:txBody>
      </p:sp>
      <p:sp>
        <p:nvSpPr>
          <p:cNvPr id="527364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6553200" y="1143000"/>
            <a:ext cx="4038600" cy="5087620"/>
          </a:xfrm>
        </p:spPr>
        <p:txBody>
          <a:bodyPr/>
          <a:lstStyle/>
          <a:p>
            <a:pPr algn="ctr" eaLnBrk="1" hangingPunct="1">
              <a:buFont typeface="Wingdings" panose="05000000000000000000" pitchFamily="2" charset="2"/>
              <a:buNone/>
              <a:defRPr/>
            </a:pPr>
            <a:r>
              <a:rPr lang="zh-CN" altLang="en-US" b="1" dirty="0">
                <a:solidFill>
                  <a:srgbClr val="808080"/>
                </a:solidFill>
                <a:latin typeface="Verdana" panose="020B0604030504040204" pitchFamily="34" charset="0"/>
                <a:ea typeface="隶书" panose="02010509060101010101" pitchFamily="49" charset="-122"/>
              </a:rPr>
              <a:t>间接递归</a:t>
            </a:r>
            <a:endParaRPr lang="zh-CN" altLang="en-US" b="1" dirty="0"/>
          </a:p>
          <a:p>
            <a:pPr algn="ctr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b="1" dirty="0">
                <a:latin typeface="Verdana" panose="020B0604030504040204" pitchFamily="34" charset="0"/>
                <a:ea typeface="隶书" panose="02010509060101010101" pitchFamily="49" charset="-122"/>
              </a:rPr>
              <a:t>void </a:t>
            </a:r>
            <a:r>
              <a:rPr lang="en-US" altLang="zh-CN" sz="2400" b="1" dirty="0">
                <a:solidFill>
                  <a:srgbClr val="F902FC"/>
                </a:solidFill>
                <a:latin typeface="Verdana" panose="020B0604030504040204" pitchFamily="34" charset="0"/>
                <a:ea typeface="隶书" panose="02010509060101010101" pitchFamily="49" charset="-122"/>
              </a:rPr>
              <a:t>a</a:t>
            </a:r>
            <a:r>
              <a:rPr lang="en-US" altLang="zh-CN" sz="2400" b="1" dirty="0">
                <a:latin typeface="Verdana" panose="020B0604030504040204" pitchFamily="34" charset="0"/>
                <a:ea typeface="隶书" panose="02010509060101010101" pitchFamily="49" charset="-122"/>
              </a:rPr>
              <a:t>( ){ </a:t>
            </a:r>
            <a:endParaRPr lang="en-US" altLang="zh-CN" sz="2400" b="1" dirty="0">
              <a:latin typeface="Verdana" panose="020B0604030504040204" pitchFamily="34" charset="0"/>
              <a:ea typeface="隶书" panose="02010509060101010101" pitchFamily="49" charset="-122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b="1" dirty="0">
                <a:latin typeface="Verdana" panose="020B0604030504040204" pitchFamily="34" charset="0"/>
                <a:ea typeface="隶书" panose="02010509060101010101" pitchFamily="49" charset="-122"/>
              </a:rPr>
              <a:t>            	… </a:t>
            </a:r>
            <a:endParaRPr lang="en-US" altLang="zh-CN" sz="2400" b="1" dirty="0">
              <a:latin typeface="Verdana" panose="020B0604030504040204" pitchFamily="34" charset="0"/>
              <a:ea typeface="隶书" panose="02010509060101010101" pitchFamily="49" charset="-122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b="1" dirty="0">
                <a:latin typeface="Verdana" panose="020B0604030504040204" pitchFamily="34" charset="0"/>
                <a:ea typeface="隶书" panose="02010509060101010101" pitchFamily="49" charset="-122"/>
              </a:rPr>
              <a:t>            	</a:t>
            </a:r>
            <a:r>
              <a:rPr lang="en-US" altLang="zh-CN" sz="2400" b="1" dirty="0">
                <a:solidFill>
                  <a:schemeClr val="hlink"/>
                </a:solidFill>
                <a:latin typeface="Verdana" panose="020B0604030504040204" pitchFamily="34" charset="0"/>
                <a:ea typeface="隶书" panose="02010509060101010101" pitchFamily="49" charset="-122"/>
              </a:rPr>
              <a:t>b</a:t>
            </a:r>
            <a:r>
              <a:rPr lang="en-US" altLang="zh-CN" sz="2400" b="1" dirty="0">
                <a:latin typeface="Verdana" panose="020B0604030504040204" pitchFamily="34" charset="0"/>
                <a:ea typeface="隶书" panose="02010509060101010101" pitchFamily="49" charset="-122"/>
              </a:rPr>
              <a:t>( );</a:t>
            </a:r>
            <a:endParaRPr lang="en-US" altLang="zh-CN" sz="2400" b="1" dirty="0">
              <a:latin typeface="Verdana" panose="020B0604030504040204" pitchFamily="34" charset="0"/>
              <a:ea typeface="隶书" panose="02010509060101010101" pitchFamily="49" charset="-122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b="1" dirty="0">
                <a:latin typeface="Verdana" panose="020B0604030504040204" pitchFamily="34" charset="0"/>
                <a:ea typeface="隶书" panose="02010509060101010101" pitchFamily="49" charset="-122"/>
              </a:rPr>
              <a:t>            	…       </a:t>
            </a:r>
            <a:endParaRPr lang="en-US" altLang="zh-CN" sz="2400" b="1" dirty="0">
              <a:latin typeface="Verdana" panose="020B0604030504040204" pitchFamily="34" charset="0"/>
              <a:ea typeface="隶书" panose="02010509060101010101" pitchFamily="49" charset="-122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b="1" dirty="0">
                <a:latin typeface="Verdana" panose="020B0604030504040204" pitchFamily="34" charset="0"/>
                <a:ea typeface="隶书" panose="02010509060101010101" pitchFamily="49" charset="-122"/>
              </a:rPr>
              <a:t>		  }</a:t>
            </a:r>
            <a:endParaRPr lang="en-US" altLang="zh-CN" sz="2400" b="1" dirty="0">
              <a:latin typeface="Verdana" panose="020B0604030504040204" pitchFamily="34" charset="0"/>
              <a:ea typeface="隶书" panose="02010509060101010101" pitchFamily="49" charset="-122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b="1" dirty="0">
                <a:latin typeface="Verdana" panose="020B0604030504040204" pitchFamily="34" charset="0"/>
                <a:ea typeface="隶书" panose="02010509060101010101" pitchFamily="49" charset="-122"/>
              </a:rPr>
              <a:t>       	  void </a:t>
            </a:r>
            <a:r>
              <a:rPr lang="en-US" altLang="zh-CN" sz="2400" b="1" dirty="0">
                <a:solidFill>
                  <a:schemeClr val="hlink"/>
                </a:solidFill>
                <a:latin typeface="Verdana" panose="020B0604030504040204" pitchFamily="34" charset="0"/>
                <a:ea typeface="隶书" panose="02010509060101010101" pitchFamily="49" charset="-122"/>
              </a:rPr>
              <a:t>b</a:t>
            </a:r>
            <a:r>
              <a:rPr lang="en-US" altLang="zh-CN" sz="2400" b="1" dirty="0">
                <a:latin typeface="Verdana" panose="020B0604030504040204" pitchFamily="34" charset="0"/>
                <a:ea typeface="隶书" panose="02010509060101010101" pitchFamily="49" charset="-122"/>
              </a:rPr>
              <a:t>( ){ </a:t>
            </a:r>
            <a:endParaRPr lang="en-US" altLang="zh-CN" sz="2400" b="1" dirty="0">
              <a:latin typeface="Verdana" panose="020B0604030504040204" pitchFamily="34" charset="0"/>
              <a:ea typeface="隶书" panose="02010509060101010101" pitchFamily="49" charset="-122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b="1" dirty="0">
                <a:latin typeface="Verdana" panose="020B0604030504040204" pitchFamily="34" charset="0"/>
                <a:ea typeface="隶书" panose="02010509060101010101" pitchFamily="49" charset="-122"/>
              </a:rPr>
              <a:t>            	… </a:t>
            </a:r>
            <a:endParaRPr lang="en-US" altLang="zh-CN" sz="2400" b="1" dirty="0">
              <a:latin typeface="Verdana" panose="020B0604030504040204" pitchFamily="34" charset="0"/>
              <a:ea typeface="隶书" panose="02010509060101010101" pitchFamily="49" charset="-122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b="1" dirty="0">
                <a:latin typeface="Verdana" panose="020B0604030504040204" pitchFamily="34" charset="0"/>
                <a:ea typeface="隶书" panose="02010509060101010101" pitchFamily="49" charset="-122"/>
              </a:rPr>
              <a:t>           	</a:t>
            </a:r>
            <a:r>
              <a:rPr lang="en-US" altLang="zh-CN" sz="2400" b="1" dirty="0">
                <a:solidFill>
                  <a:srgbClr val="F902FC"/>
                </a:solidFill>
                <a:latin typeface="Verdana" panose="020B0604030504040204" pitchFamily="34" charset="0"/>
                <a:ea typeface="隶书" panose="02010509060101010101" pitchFamily="49" charset="-122"/>
              </a:rPr>
              <a:t>a</a:t>
            </a:r>
            <a:r>
              <a:rPr lang="en-US" altLang="zh-CN" sz="2400" b="1" dirty="0">
                <a:latin typeface="Verdana" panose="020B0604030504040204" pitchFamily="34" charset="0"/>
                <a:ea typeface="隶书" panose="02010509060101010101" pitchFamily="49" charset="-122"/>
              </a:rPr>
              <a:t>( ); </a:t>
            </a:r>
            <a:endParaRPr lang="en-US" altLang="zh-CN" sz="2400" b="1" dirty="0">
              <a:latin typeface="Verdana" panose="020B0604030504040204" pitchFamily="34" charset="0"/>
              <a:ea typeface="隶书" panose="02010509060101010101" pitchFamily="49" charset="-122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b="1" dirty="0">
                <a:latin typeface="Verdana" panose="020B0604030504040204" pitchFamily="34" charset="0"/>
                <a:ea typeface="隶书" panose="02010509060101010101" pitchFamily="49" charset="-122"/>
              </a:rPr>
              <a:t>            	…       </a:t>
            </a:r>
            <a:endParaRPr lang="en-US" altLang="zh-CN" sz="2400" b="1" dirty="0">
              <a:latin typeface="Verdana" panose="020B0604030504040204" pitchFamily="34" charset="0"/>
              <a:ea typeface="隶书" panose="02010509060101010101" pitchFamily="49" charset="-122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b="1" dirty="0">
                <a:latin typeface="Verdana" panose="020B0604030504040204" pitchFamily="34" charset="0"/>
                <a:ea typeface="隶书" panose="02010509060101010101" pitchFamily="49" charset="-122"/>
              </a:rPr>
              <a:t>		  }</a:t>
            </a:r>
            <a:endParaRPr lang="en-US" altLang="zh-CN" sz="2400" b="1" dirty="0">
              <a:latin typeface="Verdana" panose="020B0604030504040204" pitchFamily="34" charset="0"/>
              <a:ea typeface="隶书" panose="020105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0" y="4570413"/>
            <a:ext cx="5791200" cy="23069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400" dirty="0">
                <a:solidFill>
                  <a:srgbClr val="FFFF00"/>
                </a:solidFill>
                <a:latin typeface="Verdana" panose="020B0604030504040204" pitchFamily="34" charset="0"/>
                <a:ea typeface="隶书" panose="02010509060101010101" pitchFamily="49" charset="-122"/>
              </a:rPr>
              <a:t>1</a:t>
            </a:r>
            <a:r>
              <a:rPr lang="zh-CN" altLang="en-US" sz="2400" dirty="0">
                <a:solidFill>
                  <a:srgbClr val="FFFF00"/>
                </a:solidFill>
                <a:latin typeface="Verdana" panose="020B0604030504040204" pitchFamily="34" charset="0"/>
                <a:ea typeface="隶书" panose="02010509060101010101" pitchFamily="49" charset="-122"/>
              </a:rPr>
              <a:t>）有计算结果：</a:t>
            </a:r>
            <a:endParaRPr lang="en-US" altLang="zh-CN" sz="2400" dirty="0">
              <a:solidFill>
                <a:srgbClr val="FFFF00"/>
              </a:solidFill>
              <a:latin typeface="Verdana" panose="020B0604030504040204" pitchFamily="34" charset="0"/>
              <a:ea typeface="隶书" panose="02010509060101010101" pitchFamily="49" charset="-122"/>
            </a:endParaRPr>
          </a:p>
          <a:p>
            <a:pPr lvl="1" eaLnBrk="1" hangingPunct="1">
              <a:buFont typeface="Wingdings" panose="05000000000000000000" pitchFamily="2" charset="2"/>
              <a:buChar char="ü"/>
              <a:defRPr/>
            </a:pPr>
            <a:r>
              <a:rPr lang="zh-CN" altLang="en-US" sz="2400" dirty="0">
                <a:latin typeface="Verdana" panose="020B0604030504040204" pitchFamily="34" charset="0"/>
                <a:ea typeface="隶书" panose="02010509060101010101" pitchFamily="49" charset="-122"/>
              </a:rPr>
              <a:t>通过返回值带回</a:t>
            </a:r>
            <a:endParaRPr lang="en-US" altLang="zh-CN" sz="2400" dirty="0">
              <a:latin typeface="Verdana" panose="020B0604030504040204" pitchFamily="34" charset="0"/>
              <a:ea typeface="隶书" panose="02010509060101010101" pitchFamily="49" charset="-122"/>
            </a:endParaRPr>
          </a:p>
          <a:p>
            <a:pPr lvl="1" eaLnBrk="1" hangingPunct="1">
              <a:buFont typeface="Wingdings" panose="05000000000000000000" pitchFamily="2" charset="2"/>
              <a:buChar char="ü"/>
              <a:defRPr/>
            </a:pPr>
            <a:r>
              <a:rPr lang="zh-CN" altLang="en-US" sz="2400" dirty="0">
                <a:latin typeface="Verdana" panose="020B0604030504040204" pitchFamily="34" charset="0"/>
                <a:ea typeface="隶书" panose="02010509060101010101" pitchFamily="49" charset="-122"/>
              </a:rPr>
              <a:t>无返回值，通过指针参数带回</a:t>
            </a:r>
            <a:endParaRPr lang="zh-CN" altLang="en-US" sz="2400" dirty="0">
              <a:latin typeface="Verdana" panose="020B0604030504040204" pitchFamily="34" charset="0"/>
              <a:ea typeface="隶书" panose="02010509060101010101" pitchFamily="49" charset="-122"/>
            </a:endParaRPr>
          </a:p>
          <a:p>
            <a:pPr lvl="1" eaLnBrk="1" hangingPunct="1">
              <a:buFont typeface="Wingdings" panose="05000000000000000000" pitchFamily="2" charset="2"/>
              <a:buChar char="ü"/>
              <a:defRPr/>
            </a:pPr>
            <a:r>
              <a:rPr lang="zh-CN" altLang="en-US" sz="2400" dirty="0">
                <a:latin typeface="Verdana" panose="020B0604030504040204" pitchFamily="34" charset="0"/>
                <a:ea typeface="隶书" panose="02010509060101010101" pitchFamily="49" charset="-122"/>
              </a:rPr>
              <a:t>全局变量</a:t>
            </a:r>
            <a:endParaRPr lang="en-US" altLang="zh-CN" sz="2400" dirty="0">
              <a:latin typeface="Verdana" panose="020B0604030504040204" pitchFamily="34" charset="0"/>
              <a:ea typeface="隶书" panose="02010509060101010101" pitchFamily="49" charset="-122"/>
            </a:endParaRPr>
          </a:p>
          <a:p>
            <a:pPr eaLnBrk="1" hangingPunct="1">
              <a:defRPr/>
            </a:pPr>
            <a:r>
              <a:rPr lang="en-US" altLang="zh-CN" sz="2400" dirty="0">
                <a:solidFill>
                  <a:srgbClr val="FFFF00"/>
                </a:solidFill>
                <a:latin typeface="Verdana" panose="020B0604030504040204" pitchFamily="34" charset="0"/>
                <a:ea typeface="隶书" panose="02010509060101010101" pitchFamily="49" charset="-122"/>
              </a:rPr>
              <a:t>2</a:t>
            </a:r>
            <a:r>
              <a:rPr lang="zh-CN" altLang="en-US" sz="2400" dirty="0">
                <a:solidFill>
                  <a:srgbClr val="FFFF00"/>
                </a:solidFill>
                <a:latin typeface="Verdana" panose="020B0604030504040204" pitchFamily="34" charset="0"/>
                <a:ea typeface="隶书" panose="02010509060101010101" pitchFamily="49" charset="-122"/>
              </a:rPr>
              <a:t>）无计算结果：</a:t>
            </a:r>
            <a:endParaRPr lang="en-US" altLang="zh-CN" sz="2400" dirty="0">
              <a:solidFill>
                <a:srgbClr val="FFFF00"/>
              </a:solidFill>
              <a:latin typeface="Verdana" panose="020B0604030504040204" pitchFamily="34" charset="0"/>
              <a:ea typeface="隶书" panose="02010509060101010101" pitchFamily="49" charset="-122"/>
            </a:endParaRPr>
          </a:p>
          <a:p>
            <a:pPr marL="914400" lvl="1" indent="-457200" eaLnBrk="1" hangingPunct="1">
              <a:buFont typeface="Wingdings" panose="05000000000000000000" pitchFamily="2" charset="2"/>
              <a:buChar char="ü"/>
              <a:defRPr/>
            </a:pPr>
            <a:r>
              <a:rPr lang="zh-CN" altLang="en-US" sz="2400" dirty="0">
                <a:latin typeface="Verdana" panose="020B0604030504040204" pitchFamily="34" charset="0"/>
                <a:ea typeface="隶书" panose="02010509060101010101" pitchFamily="49" charset="-122"/>
              </a:rPr>
              <a:t>无返回值</a:t>
            </a:r>
            <a:r>
              <a:rPr lang="en-US" altLang="zh-CN" sz="2400" dirty="0">
                <a:latin typeface="Verdana" panose="020B0604030504040204" pitchFamily="34" charset="0"/>
                <a:ea typeface="隶书" panose="02010509060101010101" pitchFamily="49" charset="-122"/>
              </a:rPr>
              <a:t>, </a:t>
            </a:r>
            <a:r>
              <a:rPr lang="zh-CN" altLang="en-US" sz="2400" dirty="0">
                <a:latin typeface="Verdana" panose="020B0604030504040204" pitchFamily="34" charset="0"/>
                <a:ea typeface="隶书" panose="02010509060101010101" pitchFamily="49" charset="-122"/>
              </a:rPr>
              <a:t>通过</a:t>
            </a:r>
            <a:r>
              <a:rPr lang="en-US" altLang="zh-CN" sz="2400">
                <a:solidFill>
                  <a:srgbClr val="F902FC"/>
                </a:solidFill>
                <a:latin typeface="Verdana" panose="020B0604030504040204" pitchFamily="34" charset="0"/>
                <a:ea typeface="隶书" panose="02010509060101010101" pitchFamily="49" charset="-122"/>
              </a:rPr>
              <a:t>return;</a:t>
            </a:r>
            <a:r>
              <a:rPr lang="zh-CN" altLang="en-US" sz="2400">
                <a:latin typeface="Verdana" panose="020B0604030504040204" pitchFamily="34" charset="0"/>
                <a:ea typeface="隶书" panose="02010509060101010101" pitchFamily="49" charset="-122"/>
              </a:rPr>
              <a:t>退出</a:t>
            </a:r>
            <a:r>
              <a:rPr lang="en-US" altLang="zh-CN" sz="2400" dirty="0">
                <a:latin typeface="Verdana" panose="020B0604030504040204" pitchFamily="34" charset="0"/>
                <a:ea typeface="隶书" panose="02010509060101010101" pitchFamily="49" charset="-122"/>
              </a:rPr>
              <a:t>                                  </a:t>
            </a:r>
            <a:endParaRPr lang="en-US" altLang="zh-CN" sz="2400" dirty="0">
              <a:latin typeface="Verdana" panose="020B0604030504040204" pitchFamily="34" charset="0"/>
              <a:ea typeface="隶书" panose="02010509060101010101" pitchFamily="49" charset="-122"/>
            </a:endParaRPr>
          </a:p>
        </p:txBody>
      </p:sp>
      <p:sp>
        <p:nvSpPr>
          <p:cNvPr id="40967" name="矩形 3"/>
          <p:cNvSpPr>
            <a:spLocks noChangeArrowheads="1"/>
          </p:cNvSpPr>
          <p:nvPr/>
        </p:nvSpPr>
        <p:spPr bwMode="auto">
          <a:xfrm>
            <a:off x="152400" y="635000"/>
            <a:ext cx="60547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F902FC"/>
                </a:solidFill>
                <a:latin typeface="Verdana" panose="020B0604030504040204" pitchFamily="34" charset="0"/>
                <a:ea typeface="隶书" panose="02010509060101010101" pitchFamily="49" charset="-122"/>
              </a:rPr>
              <a:t>递归</a:t>
            </a:r>
            <a:r>
              <a:rPr lang="zh-CN" altLang="en-US">
                <a:latin typeface="Verdana" panose="020B0604030504040204" pitchFamily="34" charset="0"/>
                <a:ea typeface="隶书" panose="02010509060101010101" pitchFamily="49" charset="-122"/>
              </a:rPr>
              <a:t>：在函数体中</a:t>
            </a:r>
            <a:r>
              <a:rPr lang="zh-CN" altLang="en-US">
                <a:solidFill>
                  <a:srgbClr val="F902FC"/>
                </a:solidFill>
                <a:latin typeface="Verdana" panose="020B0604030504040204" pitchFamily="34" charset="0"/>
                <a:ea typeface="隶书" panose="02010509060101010101" pitchFamily="49" charset="-122"/>
              </a:rPr>
              <a:t>调用</a:t>
            </a:r>
            <a:r>
              <a:rPr lang="zh-CN" altLang="en-US">
                <a:latin typeface="Verdana" panose="020B0604030504040204" pitchFamily="34" charset="0"/>
                <a:ea typeface="隶书" panose="02010509060101010101" pitchFamily="49" charset="-122"/>
              </a:rPr>
              <a:t>函数本身</a:t>
            </a:r>
            <a:endParaRPr lang="zh-CN" altLang="en-US">
              <a:latin typeface="Verdana" panose="020B0604030504040204" pitchFamily="34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</p:bldLst>
  </p:timing>
</p:sld>
</file>

<file path=ppt/theme/theme1.xml><?xml version="1.0" encoding="utf-8"?>
<a:theme xmlns:a="http://schemas.openxmlformats.org/drawingml/2006/main" name="1_Slit">
  <a:themeElements>
    <a:clrScheme name="Slit 6">
      <a:dk1>
        <a:srgbClr val="0000AC"/>
      </a:dk1>
      <a:lt1>
        <a:srgbClr val="FFFFFF"/>
      </a:lt1>
      <a:dk2>
        <a:srgbClr val="000086"/>
      </a:dk2>
      <a:lt2>
        <a:srgbClr val="CCFFFF"/>
      </a:lt2>
      <a:accent1>
        <a:srgbClr val="0099FF"/>
      </a:accent1>
      <a:accent2>
        <a:srgbClr val="00B000"/>
      </a:accent2>
      <a:accent3>
        <a:srgbClr val="AAAAC3"/>
      </a:accent3>
      <a:accent4>
        <a:srgbClr val="DADADA"/>
      </a:accent4>
      <a:accent5>
        <a:srgbClr val="AACAFF"/>
      </a:accent5>
      <a:accent6>
        <a:srgbClr val="009F00"/>
      </a:accent6>
      <a:hlink>
        <a:srgbClr val="FFE701"/>
      </a:hlink>
      <a:folHlink>
        <a:srgbClr val="FF9900"/>
      </a:folHlink>
    </a:clrScheme>
    <a:fontScheme name="Sli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</a:spPr>
      <a:bodyPr wrap="square" lIns="0" rIns="0">
        <a:noAutofit/>
      </a:bodyPr>
      <a:lstStyle>
        <a:defPPr eaLnBrk="1" hangingPunct="1">
          <a:buNone/>
          <a:defRPr sz="3200" dirty="0"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Slit 1">
        <a:dk1>
          <a:srgbClr val="8C0000"/>
        </a:dk1>
        <a:lt1>
          <a:srgbClr val="FFFFFF"/>
        </a:lt1>
        <a:dk2>
          <a:srgbClr val="720000"/>
        </a:dk2>
        <a:lt2>
          <a:srgbClr val="FFFFCC"/>
        </a:lt2>
        <a:accent1>
          <a:srgbClr val="FF3300"/>
        </a:accent1>
        <a:accent2>
          <a:srgbClr val="BE7960"/>
        </a:accent2>
        <a:accent3>
          <a:srgbClr val="BCAAAA"/>
        </a:accent3>
        <a:accent4>
          <a:srgbClr val="DADADA"/>
        </a:accent4>
        <a:accent5>
          <a:srgbClr val="FFADAA"/>
        </a:accent5>
        <a:accent6>
          <a:srgbClr val="AC6D56"/>
        </a:accent6>
        <a:hlink>
          <a:srgbClr val="FFCC66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2">
        <a:dk1>
          <a:srgbClr val="674E2F"/>
        </a:dk1>
        <a:lt1>
          <a:srgbClr val="FFFFFF"/>
        </a:lt1>
        <a:dk2>
          <a:srgbClr val="533F27"/>
        </a:dk2>
        <a:lt2>
          <a:srgbClr val="D8B274"/>
        </a:lt2>
        <a:accent1>
          <a:srgbClr val="CC990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E2CAAA"/>
        </a:accent5>
        <a:accent6>
          <a:srgbClr val="81552A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3">
        <a:dk1>
          <a:srgbClr val="646464"/>
        </a:dk1>
        <a:lt1>
          <a:srgbClr val="FFFFFF"/>
        </a:lt1>
        <a:dk2>
          <a:srgbClr val="545454"/>
        </a:dk2>
        <a:lt2>
          <a:srgbClr val="D4D4CE"/>
        </a:lt2>
        <a:accent1>
          <a:srgbClr val="49747D"/>
        </a:accent1>
        <a:accent2>
          <a:srgbClr val="8F9699"/>
        </a:accent2>
        <a:accent3>
          <a:srgbClr val="B3B3B3"/>
        </a:accent3>
        <a:accent4>
          <a:srgbClr val="DADADA"/>
        </a:accent4>
        <a:accent5>
          <a:srgbClr val="B1BCBF"/>
        </a:accent5>
        <a:accent6>
          <a:srgbClr val="81878A"/>
        </a:accent6>
        <a:hlink>
          <a:srgbClr val="8DC4D7"/>
        </a:hlink>
        <a:folHlink>
          <a:srgbClr val="7FB97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4">
        <a:dk1>
          <a:srgbClr val="3A7400"/>
        </a:dk1>
        <a:lt1>
          <a:srgbClr val="FFFFFF"/>
        </a:lt1>
        <a:dk2>
          <a:srgbClr val="2E5C00"/>
        </a:dk2>
        <a:lt2>
          <a:srgbClr val="FFFFFF"/>
        </a:lt2>
        <a:accent1>
          <a:srgbClr val="79CA02"/>
        </a:accent1>
        <a:accent2>
          <a:srgbClr val="008080"/>
        </a:accent2>
        <a:accent3>
          <a:srgbClr val="ADB5AA"/>
        </a:accent3>
        <a:accent4>
          <a:srgbClr val="DADADA"/>
        </a:accent4>
        <a:accent5>
          <a:srgbClr val="BEE1AA"/>
        </a:accent5>
        <a:accent6>
          <a:srgbClr val="007373"/>
        </a:accent6>
        <a:hlink>
          <a:srgbClr val="A8DE0E"/>
        </a:hlink>
        <a:folHlink>
          <a:srgbClr val="00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5">
        <a:dk1>
          <a:srgbClr val="008885"/>
        </a:dk1>
        <a:lt1>
          <a:srgbClr val="FFFFFF"/>
        </a:lt1>
        <a:dk2>
          <a:srgbClr val="007572"/>
        </a:dk2>
        <a:lt2>
          <a:srgbClr val="FFFF99"/>
        </a:lt2>
        <a:accent1>
          <a:srgbClr val="33CCCC"/>
        </a:accent1>
        <a:accent2>
          <a:srgbClr val="6D6FC7"/>
        </a:accent2>
        <a:accent3>
          <a:srgbClr val="AABDBC"/>
        </a:accent3>
        <a:accent4>
          <a:srgbClr val="DADADA"/>
        </a:accent4>
        <a:accent5>
          <a:srgbClr val="ADE2E2"/>
        </a:accent5>
        <a:accent6>
          <a:srgbClr val="6264B4"/>
        </a:accent6>
        <a:hlink>
          <a:srgbClr val="FFFFCC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6">
        <a:dk1>
          <a:srgbClr val="0000AC"/>
        </a:dk1>
        <a:lt1>
          <a:srgbClr val="FFFFFF"/>
        </a:lt1>
        <a:dk2>
          <a:srgbClr val="000086"/>
        </a:dk2>
        <a:lt2>
          <a:srgbClr val="CCFFFF"/>
        </a:lt2>
        <a:accent1>
          <a:srgbClr val="0099FF"/>
        </a:accent1>
        <a:accent2>
          <a:srgbClr val="00B000"/>
        </a:accent2>
        <a:accent3>
          <a:srgbClr val="AAAAC3"/>
        </a:accent3>
        <a:accent4>
          <a:srgbClr val="DADADA"/>
        </a:accent4>
        <a:accent5>
          <a:srgbClr val="AACAFF"/>
        </a:accent5>
        <a:accent6>
          <a:srgbClr val="009F00"/>
        </a:accent6>
        <a:hlink>
          <a:srgbClr val="FFE701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7">
        <a:dk1>
          <a:srgbClr val="7474A2"/>
        </a:dk1>
        <a:lt1>
          <a:srgbClr val="FFFFFF"/>
        </a:lt1>
        <a:dk2>
          <a:srgbClr val="5E5E8E"/>
        </a:dk2>
        <a:lt2>
          <a:srgbClr val="D1D1DF"/>
        </a:lt2>
        <a:accent1>
          <a:srgbClr val="CC66FF"/>
        </a:accent1>
        <a:accent2>
          <a:srgbClr val="6666FF"/>
        </a:accent2>
        <a:accent3>
          <a:srgbClr val="B6B6C6"/>
        </a:accent3>
        <a:accent4>
          <a:srgbClr val="DADADA"/>
        </a:accent4>
        <a:accent5>
          <a:srgbClr val="E2B8FF"/>
        </a:accent5>
        <a:accent6>
          <a:srgbClr val="5C5CE7"/>
        </a:accent6>
        <a:hlink>
          <a:srgbClr val="FFCC99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8">
        <a:dk1>
          <a:srgbClr val="000000"/>
        </a:dk1>
        <a:lt1>
          <a:srgbClr val="D0DAE2"/>
        </a:lt1>
        <a:dk2>
          <a:srgbClr val="000000"/>
        </a:dk2>
        <a:lt2>
          <a:srgbClr val="E7EDF1"/>
        </a:lt2>
        <a:accent1>
          <a:srgbClr val="33CCCC"/>
        </a:accent1>
        <a:accent2>
          <a:srgbClr val="0099CC"/>
        </a:accent2>
        <a:accent3>
          <a:srgbClr val="E4EAEE"/>
        </a:accent3>
        <a:accent4>
          <a:srgbClr val="000000"/>
        </a:accent4>
        <a:accent5>
          <a:srgbClr val="ADE2E2"/>
        </a:accent5>
        <a:accent6>
          <a:srgbClr val="008AB9"/>
        </a:accent6>
        <a:hlink>
          <a:srgbClr val="3333CC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t 9">
        <a:dk1>
          <a:srgbClr val="000000"/>
        </a:dk1>
        <a:lt1>
          <a:srgbClr val="FFFFFF"/>
        </a:lt1>
        <a:dk2>
          <a:srgbClr val="000000"/>
        </a:dk2>
        <a:lt2>
          <a:srgbClr val="E6E6E6"/>
        </a:lt2>
        <a:accent1>
          <a:srgbClr val="66CC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B8E2FF"/>
        </a:accent5>
        <a:accent6>
          <a:srgbClr val="8A8AE7"/>
        </a:accent6>
        <a:hlink>
          <a:srgbClr val="3333CC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7744</Words>
  <Application>WPS 演示</Application>
  <PresentationFormat>宽屏</PresentationFormat>
  <Paragraphs>723</Paragraphs>
  <Slides>29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4" baseType="lpstr">
      <vt:lpstr>Arial</vt:lpstr>
      <vt:lpstr>宋体</vt:lpstr>
      <vt:lpstr>Wingdings</vt:lpstr>
      <vt:lpstr>Tahoma</vt:lpstr>
      <vt:lpstr>等线</vt:lpstr>
      <vt:lpstr>Times New Roman</vt:lpstr>
      <vt:lpstr>黑体</vt:lpstr>
      <vt:lpstr>隶书</vt:lpstr>
      <vt:lpstr>Tahoma</vt:lpstr>
      <vt:lpstr>微软雅黑</vt:lpstr>
      <vt:lpstr>Arial Unicode MS</vt:lpstr>
      <vt:lpstr>Calibri</vt:lpstr>
      <vt:lpstr>Arial</vt:lpstr>
      <vt:lpstr>Verdana</vt:lpstr>
      <vt:lpstr>1_Slit</vt:lpstr>
      <vt:lpstr>PowerPoint 演示文稿</vt:lpstr>
      <vt:lpstr>【课后实践】折半检索</vt:lpstr>
      <vt:lpstr>【例10.3】汉诺（ Hanoi ）塔游戏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【对比实验】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【学生程序】</vt:lpstr>
      <vt:lpstr>PowerPoint 演示文稿</vt:lpstr>
      <vt:lpstr>PowerPoint 演示文稿</vt:lpstr>
      <vt:lpstr>PowerPoint 演示文稿</vt:lpstr>
      <vt:lpstr>【例10.5】 P252 求2个数的最大公约数（递归实现）</vt:lpstr>
      <vt:lpstr>本章小结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chunyan deng</dc:creator>
  <cp:lastModifiedBy>小鱼儿</cp:lastModifiedBy>
  <cp:revision>788</cp:revision>
  <dcterms:created xsi:type="dcterms:W3CDTF">2019-09-21T08:05:00Z</dcterms:created>
  <dcterms:modified xsi:type="dcterms:W3CDTF">2025-11-20T12:26:22Z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2052-12.1.0.23542</vt:lpwstr>
  </property>
  <property fmtid="{D5CDD505-2E9C-101B-9397-08002B2CF9AE}" pid="4" name="ICV">
    <vt:lpwstr>357817863AC54A468F3A44683BF042F1_12</vt:lpwstr>
  </property>
</Properties>
</file>