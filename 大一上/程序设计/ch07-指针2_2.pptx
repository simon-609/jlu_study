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30" r:id="rId3"/>
    <p:sldId id="731" r:id="rId5"/>
    <p:sldId id="732" r:id="rId6"/>
    <p:sldId id="733" r:id="rId7"/>
    <p:sldId id="734" r:id="rId8"/>
    <p:sldId id="735" r:id="rId9"/>
    <p:sldId id="736" r:id="rId10"/>
    <p:sldId id="737" r:id="rId11"/>
    <p:sldId id="738" r:id="rId12"/>
    <p:sldId id="739" r:id="rId13"/>
    <p:sldId id="740" r:id="rId14"/>
    <p:sldId id="741" r:id="rId15"/>
    <p:sldId id="557" r:id="rId16"/>
    <p:sldId id="561" r:id="rId17"/>
    <p:sldId id="562" r:id="rId18"/>
    <p:sldId id="564" r:id="rId19"/>
    <p:sldId id="599" r:id="rId20"/>
    <p:sldId id="602" r:id="rId21"/>
    <p:sldId id="666" r:id="rId22"/>
    <p:sldId id="669" r:id="rId23"/>
    <p:sldId id="667" r:id="rId24"/>
    <p:sldId id="700" r:id="rId25"/>
    <p:sldId id="668" r:id="rId26"/>
    <p:sldId id="591" r:id="rId27"/>
    <p:sldId id="597" r:id="rId28"/>
    <p:sldId id="588" r:id="rId29"/>
    <p:sldId id="589" r:id="rId30"/>
    <p:sldId id="594" r:id="rId31"/>
    <p:sldId id="742" r:id="rId32"/>
    <p:sldId id="637" r:id="rId33"/>
    <p:sldId id="638" r:id="rId34"/>
    <p:sldId id="587" r:id="rId35"/>
    <p:sldId id="586" r:id="rId36"/>
    <p:sldId id="595" r:id="rId37"/>
    <p:sldId id="585" r:id="rId38"/>
    <p:sldId id="581" r:id="rId39"/>
    <p:sldId id="580" r:id="rId40"/>
    <p:sldId id="333" r:id="rId41"/>
    <p:sldId id="335" r:id="rId42"/>
    <p:sldId id="544" r:id="rId43"/>
    <p:sldId id="598" r:id="rId44"/>
    <p:sldId id="516" r:id="rId45"/>
    <p:sldId id="576" r:id="rId46"/>
    <p:sldId id="577" r:id="rId47"/>
    <p:sldId id="578" r:id="rId48"/>
    <p:sldId id="344" r:id="rId49"/>
    <p:sldId id="345" r:id="rId50"/>
    <p:sldId id="346" r:id="rId51"/>
    <p:sldId id="347" r:id="rId52"/>
    <p:sldId id="354" r:id="rId53"/>
  </p:sldIdLst>
  <p:sldSz cx="12192000" cy="6858000"/>
  <p:notesSz cx="6858000" cy="9144000"/>
  <p:custDataLst>
    <p:tags r:id="rId57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402FC"/>
    <a:srgbClr val="00FFFF"/>
    <a:srgbClr val="FF0000"/>
    <a:srgbClr val="FFE705"/>
    <a:srgbClr val="FF0066"/>
    <a:srgbClr val="9C1489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6343"/>
  </p:normalViewPr>
  <p:slideViewPr>
    <p:cSldViewPr showGuides="1">
      <p:cViewPr varScale="1">
        <p:scale>
          <a:sx n="75" d="100"/>
          <a:sy n="75" d="100"/>
        </p:scale>
        <p:origin x="946" y="67"/>
      </p:cViewPr>
      <p:guideLst>
        <p:guide orient="horz" pos="2170"/>
        <p:guide pos="3894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430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gs" Target="tags/tag71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0" name="Rectangle 4"/>
          <p:cNvSpPr>
            <a:spLocks noRo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34AD93-69DC-4F01-B828-52CBE15D365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31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523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72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013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0342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0547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0752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二维数组的名字是一个行指针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二维数组的名字是一个行指针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/>
              <a:t>21</a:t>
            </a:r>
            <a:r>
              <a:rPr lang="zh-CN" altLang="en-US" dirty="0"/>
              <a:t>级依然觉得难，</a:t>
            </a:r>
            <a:r>
              <a:rPr lang="en-US" altLang="zh-CN" dirty="0"/>
              <a:t>22</a:t>
            </a:r>
            <a:r>
              <a:rPr lang="zh-CN" altLang="en-US" dirty="0"/>
              <a:t>级考虑加入示例</a:t>
            </a:r>
            <a:endParaRPr lang="zh-CN" altLang="en-US" dirty="0"/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37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294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704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89091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F73178-21CB-4907-8515-2FD6EF53BD5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49979D-1799-4347-A426-1075AA7AE4F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33248E-4759-4293-9D0A-24248ECA0E6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D63746-B6F6-40D6-BB36-114ECBF2F19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4436A9-4AA8-49D0-BF68-69FAD2FD9F7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71819C-B0DF-4773-97A5-AD3914364D9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A52BF5-2D8A-44BF-8F16-1859BB0145A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2DF71E-14A9-44EA-85C0-CAEBC1E2D94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56EA3C-FA6A-4DB2-8EEA-E59D778F1C8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AAB099-0FA3-46E6-8116-FE7FD3D2F6A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4A79DB2-54F0-4AB2-A623-2D36E37266E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009A17-5A11-4F5F-A872-F6E923D0DB3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45E949-86E4-4454-90C0-C4B0CD2DA91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75EC50-6B25-4D0F-8ACC-706BC158E4C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C2D923-778C-446F-A157-17085DA4282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FC0A6CE-2E7E-4B4D-8275-8350120E524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17D2DC-0E54-499D-A9D4-622C8341F20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BA1FA4-F7A9-460A-A4B9-A9E3E3D298E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AutoShape 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slide" Target="slide1.xml"/><Relationship Id="rId2" Type="http://schemas.openxmlformats.org/officeDocument/2006/relationships/slide" Target="slide28.xml"/><Relationship Id="rId1" Type="http://schemas.openxmlformats.org/officeDocument/2006/relationships/slide" Target="slide4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6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2"/>
          <p:cNvSpPr>
            <a:spLocks noGrp="1"/>
          </p:cNvSpPr>
          <p:nvPr>
            <p:ph type="title"/>
          </p:nvPr>
        </p:nvSpPr>
        <p:spPr>
          <a:xfrm>
            <a:off x="1919288" y="765175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effectLst/>
                <a:latin typeface="宋体" panose="02010600030101010101" pitchFamily="2" charset="-122"/>
              </a:rPr>
              <a:t>§7.5  </a:t>
            </a:r>
            <a:r>
              <a:rPr lang="zh-CN" altLang="en-US" b="1" dirty="0">
                <a:effectLst/>
              </a:rPr>
              <a:t>指针与数组</a:t>
            </a:r>
            <a:endParaRPr lang="zh-CN" altLang="en-US" b="1" dirty="0">
              <a:effectLst/>
            </a:endParaRPr>
          </a:p>
        </p:txBody>
      </p:sp>
      <p:sp>
        <p:nvSpPr>
          <p:cNvPr id="92163" name="Rectangle 3"/>
          <p:cNvSpPr>
            <a:spLocks noGrp="1"/>
          </p:cNvSpPr>
          <p:nvPr>
            <p:ph idx="1"/>
          </p:nvPr>
        </p:nvSpPr>
        <p:spPr>
          <a:xfrm>
            <a:off x="381000" y="2362200"/>
            <a:ext cx="5327650" cy="31686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spcAft>
                <a:spcPct val="20000"/>
              </a:spcAft>
              <a:buNone/>
            </a:pPr>
            <a:r>
              <a:rPr lang="en-US" altLang="zh-CN" sz="2800" b="1" dirty="0">
                <a:effectLst/>
                <a:latin typeface="宋体" panose="02010600030101010101" pitchFamily="2" charset="-122"/>
                <a:hlinkClick r:id="rId1" action="ppaction://hlinksldjump"/>
              </a:rPr>
              <a:t>§7.5.1 </a:t>
            </a:r>
            <a:r>
              <a:rPr lang="zh-CN" altLang="en-US" sz="2800" b="1" dirty="0">
                <a:effectLst/>
                <a:latin typeface="宋体" panose="02010600030101010101" pitchFamily="2" charset="-122"/>
                <a:hlinkClick r:id="rId1" action="ppaction://hlinksldjump"/>
              </a:rPr>
              <a:t>用指针标识数组</a:t>
            </a:r>
            <a:endParaRPr lang="zh-CN" altLang="en-US" sz="2800" b="1" dirty="0">
              <a:effectLst/>
              <a:latin typeface="宋体" panose="02010600030101010101" pitchFamily="2" charset="-122"/>
            </a:endParaRPr>
          </a:p>
          <a:p>
            <a:pPr eaLnBrk="1" hangingPunct="1">
              <a:spcAft>
                <a:spcPct val="20000"/>
              </a:spcAft>
              <a:buNone/>
            </a:pP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  <a:effectLst/>
                <a:latin typeface="宋体" panose="02010600030101010101" pitchFamily="2" charset="-122"/>
                <a:hlinkClick r:id="rId2" action="ppaction://hlinksldjump"/>
              </a:rPr>
              <a:t>§7.5.2 </a:t>
            </a:r>
            <a:r>
              <a:rPr lang="zh-CN" altLang="en-US" sz="2800" b="1" dirty="0">
                <a:solidFill>
                  <a:schemeClr val="tx1">
                    <a:lumMod val="75000"/>
                  </a:schemeClr>
                </a:solidFill>
                <a:effectLst/>
                <a:latin typeface="宋体" panose="02010600030101010101" pitchFamily="2" charset="-122"/>
                <a:hlinkClick r:id="rId2" action="ppaction://hlinksldjump"/>
              </a:rPr>
              <a:t>指针运算</a:t>
            </a:r>
            <a:r>
              <a:rPr lang="en-US" altLang="zh-CN" sz="2800" b="1" dirty="0">
                <a:solidFill>
                  <a:schemeClr val="tx1">
                    <a:lumMod val="75000"/>
                  </a:schemeClr>
                </a:solidFill>
                <a:effectLst/>
                <a:latin typeface="宋体" panose="02010600030101010101" pitchFamily="2" charset="-122"/>
                <a:hlinkClick r:id="rId2" action="ppaction://hlinksldjump"/>
              </a:rPr>
              <a:t>(</a:t>
            </a:r>
            <a:r>
              <a:rPr lang="zh-CN" altLang="en-US" sz="2800" b="1" dirty="0">
                <a:solidFill>
                  <a:schemeClr val="tx1">
                    <a:lumMod val="75000"/>
                  </a:schemeClr>
                </a:solidFill>
                <a:effectLst/>
                <a:latin typeface="宋体" panose="02010600030101010101" pitchFamily="2" charset="-122"/>
              </a:rPr>
              <a:t>已</a:t>
            </a:r>
            <a:r>
              <a:rPr lang="zh-CN" altLang="en-US" sz="2800" b="1" dirty="0">
                <a:solidFill>
                  <a:schemeClr val="tx1">
                    <a:lumMod val="75000"/>
                  </a:schemeClr>
                </a:solidFill>
                <a:effectLst/>
                <a:latin typeface="宋体" panose="02010600030101010101" pitchFamily="2" charset="-122"/>
              </a:rPr>
              <a:t>讲）</a:t>
            </a:r>
            <a:endParaRPr lang="zh-CN" altLang="en-US" sz="2800" b="1" dirty="0">
              <a:solidFill>
                <a:schemeClr val="tx1">
                  <a:lumMod val="75000"/>
                </a:schemeClr>
              </a:solidFill>
              <a:effectLst/>
              <a:latin typeface="宋体" panose="02010600030101010101" pitchFamily="2" charset="-122"/>
            </a:endParaRPr>
          </a:p>
          <a:p>
            <a:pPr eaLnBrk="1" hangingPunct="1">
              <a:spcAft>
                <a:spcPct val="20000"/>
              </a:spcAft>
              <a:buNone/>
            </a:pPr>
            <a:r>
              <a:rPr lang="en-US" altLang="zh-CN" sz="2800" b="1" dirty="0">
                <a:solidFill>
                  <a:schemeClr val="folHlink"/>
                </a:solidFill>
                <a:effectLst/>
                <a:latin typeface="宋体" panose="02010600030101010101" pitchFamily="2" charset="-122"/>
                <a:hlinkClick r:id="rId3" action="ppaction://hlinksldjump"/>
              </a:rPr>
              <a:t>§7.5.3 </a:t>
            </a:r>
            <a:r>
              <a:rPr lang="zh-CN" altLang="en-US" sz="2800" b="1" dirty="0">
                <a:solidFill>
                  <a:schemeClr val="folHlink"/>
                </a:solidFill>
                <a:effectLst/>
                <a:latin typeface="宋体" panose="02010600030101010101" pitchFamily="2" charset="-122"/>
                <a:hlinkClick r:id="rId3" action="ppaction://hlinksldjump"/>
              </a:rPr>
              <a:t>应注意的问题</a:t>
            </a:r>
            <a:endParaRPr lang="en-US" altLang="zh-CN" sz="2800" b="1" dirty="0">
              <a:solidFill>
                <a:schemeClr val="folHlink"/>
              </a:solidFill>
              <a:effectLst/>
              <a:latin typeface="宋体" panose="02010600030101010101" pitchFamily="2" charset="-122"/>
            </a:endParaRPr>
          </a:p>
          <a:p>
            <a:pPr eaLnBrk="1" hangingPunct="1">
              <a:spcAft>
                <a:spcPct val="20000"/>
              </a:spcAft>
              <a:buNone/>
            </a:pPr>
            <a:r>
              <a:rPr lang="en-US" altLang="zh-CN" sz="2800" b="1" dirty="0">
                <a:solidFill>
                  <a:schemeClr val="folHlink"/>
                </a:solidFill>
                <a:effectLst/>
                <a:latin typeface="宋体" panose="02010600030101010101" pitchFamily="2" charset="-122"/>
                <a:hlinkClick r:id="" action="ppaction://noaction"/>
              </a:rPr>
              <a:t>§7.5.4 </a:t>
            </a:r>
            <a:r>
              <a:rPr lang="zh-CN" altLang="en-US" sz="2800" b="1" dirty="0">
                <a:solidFill>
                  <a:schemeClr val="folHlink"/>
                </a:solidFill>
                <a:effectLst/>
                <a:latin typeface="宋体" panose="02010600030101010101" pitchFamily="2" charset="-122"/>
                <a:hlinkClick r:id="" action="ppaction://noaction"/>
              </a:rPr>
              <a:t>二维数组与指针</a:t>
            </a:r>
            <a:endParaRPr lang="en-US" altLang="zh-CN" sz="2800" b="1" dirty="0">
              <a:solidFill>
                <a:schemeClr val="folHlink"/>
              </a:solidFill>
              <a:effectLst/>
              <a:latin typeface="宋体" panose="02010600030101010101" pitchFamily="2" charset="-122"/>
            </a:endParaRPr>
          </a:p>
          <a:p>
            <a:pPr eaLnBrk="1" hangingPunct="1">
              <a:spcAft>
                <a:spcPct val="20000"/>
              </a:spcAft>
              <a:buNone/>
            </a:pPr>
            <a:r>
              <a:rPr lang="en-US" altLang="zh-CN" sz="2800" b="1" dirty="0">
                <a:solidFill>
                  <a:schemeClr val="folHlink"/>
                </a:solidFill>
                <a:effectLst/>
                <a:latin typeface="宋体" panose="02010600030101010101" pitchFamily="2" charset="-122"/>
                <a:hlinkClick r:id="" action="ppaction://noaction"/>
              </a:rPr>
              <a:t>§7.5.5 </a:t>
            </a:r>
            <a:r>
              <a:rPr lang="zh-CN" altLang="en-US" sz="2800" b="1" dirty="0">
                <a:solidFill>
                  <a:schemeClr val="folHlink"/>
                </a:solidFill>
                <a:effectLst/>
                <a:latin typeface="宋体" panose="02010600030101010101" pitchFamily="2" charset="-122"/>
                <a:hlinkClick r:id="" action="ppaction://noaction"/>
              </a:rPr>
              <a:t>指针数组</a:t>
            </a:r>
            <a:endParaRPr lang="zh-CN" altLang="en-US" sz="2800" b="1" dirty="0">
              <a:solidFill>
                <a:schemeClr val="folHlink"/>
              </a:solidFill>
              <a:effectLst/>
              <a:latin typeface="宋体" panose="02010600030101010101" pitchFamily="2" charset="-122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CA51942-EB7A-4D1A-87C2-317BED431E7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2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effectLst/>
                <a:latin typeface="宋体" panose="02010600030101010101" pitchFamily="2" charset="-122"/>
              </a:rPr>
              <a:t>§7.5  </a:t>
            </a:r>
            <a:r>
              <a:rPr lang="zh-CN" altLang="en-US" b="1" dirty="0">
                <a:effectLst/>
              </a:rPr>
              <a:t>指针与数组</a:t>
            </a:r>
            <a:endParaRPr lang="zh-CN" altLang="en-US" b="1" dirty="0">
              <a:effectLst/>
            </a:endParaRPr>
          </a:p>
        </p:txBody>
      </p:sp>
      <p:sp>
        <p:nvSpPr>
          <p:cNvPr id="74649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196975"/>
            <a:ext cx="6695440" cy="467423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*p,a[10];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密切的关系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数组名是指针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(</a:t>
            </a: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常量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)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 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//&amp;a[0]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指针可指向数组</a:t>
            </a:r>
            <a:r>
              <a:rPr lang="en-US" altLang="zh-CN" sz="3600" b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sz="3600" b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变量</a:t>
            </a:r>
            <a:r>
              <a:rPr lang="en-US" altLang="zh-CN" sz="3600" b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)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914400" marR="0" lvl="2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p=a;</a:t>
            </a: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ea"/>
              </a:rPr>
              <a:t>//p=&amp;a[0];</a:t>
            </a:r>
            <a:endParaRPr kumimoji="0" lang="en-US" altLang="zh-CN" sz="3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5AF9D2-2FF8-4239-83D2-2823AFE8906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2"/>
          <p:cNvSpPr>
            <a:spLocks noGrp="1"/>
          </p:cNvSpPr>
          <p:nvPr>
            <p:ph type="title"/>
          </p:nvPr>
        </p:nvSpPr>
        <p:spPr>
          <a:xfrm>
            <a:off x="1992313" y="0"/>
            <a:ext cx="8229600" cy="8366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§7.5.1  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用指针标识数组</a:t>
            </a:r>
            <a:endParaRPr lang="zh-CN" altLang="en-US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xfrm>
            <a:off x="0" y="765175"/>
            <a:ext cx="10148888" cy="5445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例如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 a[5];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*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p=a;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//int *p=&amp;a[0];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访问数组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的第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个元素，如下操作等价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a[i]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 *(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a+i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*(p+i)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p[i]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9A578B-16FE-4541-A213-520CF07A696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1196" name="Group 60"/>
          <p:cNvGraphicFramePr>
            <a:graphicFrameLocks noGrp="1"/>
          </p:cNvGraphicFramePr>
          <p:nvPr/>
        </p:nvGraphicFramePr>
        <p:xfrm>
          <a:off x="5664200" y="4005263"/>
          <a:ext cx="4537075" cy="2376488"/>
        </p:xfrm>
        <a:graphic>
          <a:graphicData uri="http://schemas.openxmlformats.org/drawingml/2006/table">
            <a:tbl>
              <a:tblPr/>
              <a:tblGrid>
                <a:gridCol w="900113"/>
                <a:gridCol w="750887"/>
                <a:gridCol w="703263"/>
                <a:gridCol w="728662"/>
                <a:gridCol w="728663"/>
                <a:gridCol w="725487"/>
              </a:tblGrid>
              <a:tr h="5937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p: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a: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a[3]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a[4]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1183" name="Line 47"/>
          <p:cNvSpPr/>
          <p:nvPr/>
        </p:nvSpPr>
        <p:spPr>
          <a:xfrm>
            <a:off x="6961188" y="4437063"/>
            <a:ext cx="0" cy="720725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96299" name="Rectangle 61"/>
          <p:cNvSpPr/>
          <p:nvPr/>
        </p:nvSpPr>
        <p:spPr>
          <a:xfrm>
            <a:off x="7467600" y="1509713"/>
            <a:ext cx="4198938" cy="1176337"/>
          </a:xfrm>
          <a:prstGeom prst="rect">
            <a:avLst/>
          </a:prstGeom>
          <a:noFill/>
          <a:ln w="25400" cap="flat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b="1" dirty="0">
                <a:solidFill>
                  <a:srgbClr val="F402FC"/>
                </a:solidFill>
              </a:rPr>
              <a:t>数组名是指针</a:t>
            </a:r>
            <a:r>
              <a:rPr lang="en-US" altLang="zh-CN" b="1" dirty="0">
                <a:solidFill>
                  <a:srgbClr val="F402FC"/>
                </a:solidFill>
              </a:rPr>
              <a:t>(</a:t>
            </a:r>
            <a:r>
              <a:rPr lang="zh-CN" altLang="en-US" b="1" dirty="0">
                <a:solidFill>
                  <a:srgbClr val="F402FC"/>
                </a:solidFill>
              </a:rPr>
              <a:t>常量</a:t>
            </a:r>
            <a:r>
              <a:rPr lang="en-US" altLang="zh-CN" b="1" dirty="0">
                <a:solidFill>
                  <a:srgbClr val="F402FC"/>
                </a:solidFill>
              </a:rPr>
              <a:t>)</a:t>
            </a:r>
            <a:endParaRPr lang="en-US" altLang="zh-CN" b="1" dirty="0">
              <a:solidFill>
                <a:srgbClr val="F402FC"/>
              </a:solidFill>
            </a:endParaRPr>
          </a:p>
          <a:p>
            <a:pPr marL="342900" lvl="0" indent="-342900" eaLnBrk="1" hangingPunct="1">
              <a:buNone/>
            </a:pPr>
            <a:r>
              <a:rPr lang="zh-CN" altLang="en-US" b="1" dirty="0">
                <a:solidFill>
                  <a:srgbClr val="F402FC"/>
                </a:solidFill>
              </a:rPr>
              <a:t>指针也是数组</a:t>
            </a:r>
            <a:endParaRPr lang="zh-CN" altLang="en-US" b="1" dirty="0">
              <a:solidFill>
                <a:srgbClr val="F402F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2"/>
          <p:cNvSpPr>
            <a:spLocks noGrp="1"/>
          </p:cNvSpPr>
          <p:nvPr>
            <p:ph type="title"/>
          </p:nvPr>
        </p:nvSpPr>
        <p:spPr>
          <a:xfrm>
            <a:off x="274638" y="115888"/>
            <a:ext cx="4932362" cy="404812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rgbClr val="FFC000"/>
                </a:solidFill>
                <a:effectLst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ffectLst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ffectLst/>
              </a:rPr>
              <a:t>7.5 】 </a:t>
            </a:r>
            <a:r>
              <a:rPr lang="zh-CN" altLang="en-US" sz="2800" b="1" dirty="0">
                <a:solidFill>
                  <a:srgbClr val="FFC000"/>
                </a:solidFill>
                <a:effectLst/>
              </a:rPr>
              <a:t>指针与数组的关系</a:t>
            </a:r>
            <a:endParaRPr lang="zh-CN" altLang="en-US" sz="2800" b="1" dirty="0">
              <a:solidFill>
                <a:srgbClr val="FFC000"/>
              </a:solidFill>
              <a:effectLst/>
            </a:endParaRPr>
          </a:p>
        </p:txBody>
      </p:sp>
      <p:sp>
        <p:nvSpPr>
          <p:cNvPr id="48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5E62B79-7F54-4F3C-8CB6-985937A645B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04800" y="520700"/>
            <a:ext cx="6929120" cy="6111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 ){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int  a[5],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, *p;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for(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=0;i&lt;5;i++ 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( "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%d",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&amp;a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for(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=0;i&lt;5;i++ )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//(1)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("%-2d",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a[i]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("\n");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for(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i=0;i&lt;5;i++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//(2)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("%-2d",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*(a+i)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printf("\n");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for(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p=a;p&lt;a+5;p++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//(3)p=&amp;a[0];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("%-2d",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("\n");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return 0;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5" name="Rectangle 5"/>
          <p:cNvSpPr/>
          <p:nvPr/>
        </p:nvSpPr>
        <p:spPr>
          <a:xfrm>
            <a:off x="8650288" y="3216275"/>
            <a:ext cx="332105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1800" b="1" dirty="0"/>
              <a:t>假设分别输入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 </a:t>
            </a:r>
            <a:endParaRPr lang="en-US" altLang="zh-CN" sz="1800" b="1" dirty="0"/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auto">
          <a:xfrm>
            <a:off x="8737600" y="4060825"/>
            <a:ext cx="3321050" cy="2797175"/>
          </a:xfrm>
          <a:prstGeom prst="rect">
            <a:avLst/>
          </a:prstGeom>
          <a:solidFill>
            <a:schemeClr val="accent4">
              <a:lumMod val="50000"/>
            </a:schemeClr>
          </a:solidFill>
          <a:ln w="25400">
            <a:solidFill>
              <a:schemeClr val="tx1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1  2  3  4  5 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1  2  3  4  5 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1  2  3  4  5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2294" name="Group 134"/>
          <p:cNvGrpSpPr/>
          <p:nvPr/>
        </p:nvGrpSpPr>
        <p:grpSpPr>
          <a:xfrm>
            <a:off x="8112125" y="1339850"/>
            <a:ext cx="433388" cy="603250"/>
            <a:chOff x="2699" y="3066"/>
            <a:chExt cx="273" cy="380"/>
          </a:xfrm>
        </p:grpSpPr>
        <p:sp>
          <p:nvSpPr>
            <p:cNvPr id="98349" name="Line 135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50" name="Text Box 136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297" name="Group 137"/>
          <p:cNvGrpSpPr/>
          <p:nvPr/>
        </p:nvGrpSpPr>
        <p:grpSpPr>
          <a:xfrm>
            <a:off x="9121775" y="1341438"/>
            <a:ext cx="433388" cy="603250"/>
            <a:chOff x="2699" y="3066"/>
            <a:chExt cx="273" cy="380"/>
          </a:xfrm>
        </p:grpSpPr>
        <p:sp>
          <p:nvSpPr>
            <p:cNvPr id="98347" name="Line 138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48" name="Text Box 139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300" name="Group 140"/>
          <p:cNvGrpSpPr/>
          <p:nvPr/>
        </p:nvGrpSpPr>
        <p:grpSpPr>
          <a:xfrm>
            <a:off x="8761413" y="1341438"/>
            <a:ext cx="433387" cy="603250"/>
            <a:chOff x="2699" y="3066"/>
            <a:chExt cx="273" cy="380"/>
          </a:xfrm>
        </p:grpSpPr>
        <p:sp>
          <p:nvSpPr>
            <p:cNvPr id="98345" name="Line 141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46" name="Text Box 142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303" name="Group 143"/>
          <p:cNvGrpSpPr/>
          <p:nvPr/>
        </p:nvGrpSpPr>
        <p:grpSpPr>
          <a:xfrm>
            <a:off x="9482138" y="1341438"/>
            <a:ext cx="433387" cy="603250"/>
            <a:chOff x="2699" y="3066"/>
            <a:chExt cx="273" cy="380"/>
          </a:xfrm>
        </p:grpSpPr>
        <p:sp>
          <p:nvSpPr>
            <p:cNvPr id="98343" name="Line 144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44" name="Text Box 145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306" name="Group 146"/>
          <p:cNvGrpSpPr/>
          <p:nvPr/>
        </p:nvGrpSpPr>
        <p:grpSpPr>
          <a:xfrm>
            <a:off x="8401050" y="1341438"/>
            <a:ext cx="433388" cy="603250"/>
            <a:chOff x="2699" y="3066"/>
            <a:chExt cx="273" cy="380"/>
          </a:xfrm>
        </p:grpSpPr>
        <p:sp>
          <p:nvSpPr>
            <p:cNvPr id="98341" name="Line 147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42" name="Text Box 148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309" name="Group 149"/>
          <p:cNvGrpSpPr/>
          <p:nvPr/>
        </p:nvGrpSpPr>
        <p:grpSpPr>
          <a:xfrm>
            <a:off x="9823450" y="1339850"/>
            <a:ext cx="433388" cy="603250"/>
            <a:chOff x="2699" y="3066"/>
            <a:chExt cx="273" cy="380"/>
          </a:xfrm>
        </p:grpSpPr>
        <p:sp>
          <p:nvSpPr>
            <p:cNvPr id="98339" name="Line 150"/>
            <p:cNvSpPr/>
            <p:nvPr/>
          </p:nvSpPr>
          <p:spPr>
            <a:xfrm flipV="1">
              <a:off x="2926" y="3066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8340" name="Text Box 151"/>
            <p:cNvSpPr txBox="1"/>
            <p:nvPr/>
          </p:nvSpPr>
          <p:spPr>
            <a:xfrm>
              <a:off x="2699" y="3158"/>
              <a:ext cx="2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8317" name="Group 152"/>
          <p:cNvGrpSpPr/>
          <p:nvPr/>
        </p:nvGrpSpPr>
        <p:grpSpPr>
          <a:xfrm>
            <a:off x="7319963" y="-65087"/>
            <a:ext cx="3709987" cy="1406525"/>
            <a:chOff x="2608" y="1320"/>
            <a:chExt cx="2337" cy="886"/>
          </a:xfrm>
        </p:grpSpPr>
        <p:sp>
          <p:nvSpPr>
            <p:cNvPr id="98319" name="Rectangle 153"/>
            <p:cNvSpPr/>
            <p:nvPr/>
          </p:nvSpPr>
          <p:spPr>
            <a:xfrm>
              <a:off x="3174" y="1843"/>
              <a:ext cx="1158" cy="36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None/>
              </a:pPr>
              <a:endParaRPr lang="zh-CN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98320" name="Line 154"/>
            <p:cNvSpPr/>
            <p:nvPr/>
          </p:nvSpPr>
          <p:spPr>
            <a:xfrm>
              <a:off x="3400" y="1843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21" name="Line 155"/>
            <p:cNvSpPr/>
            <p:nvPr/>
          </p:nvSpPr>
          <p:spPr>
            <a:xfrm>
              <a:off x="3627" y="1843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22" name="Line 156"/>
            <p:cNvSpPr/>
            <p:nvPr/>
          </p:nvSpPr>
          <p:spPr>
            <a:xfrm>
              <a:off x="3854" y="1843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23" name="Line 157"/>
            <p:cNvSpPr/>
            <p:nvPr/>
          </p:nvSpPr>
          <p:spPr>
            <a:xfrm>
              <a:off x="4081" y="1843"/>
              <a:ext cx="0" cy="36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8324" name="Text Box 158"/>
            <p:cNvSpPr txBox="1"/>
            <p:nvPr/>
          </p:nvSpPr>
          <p:spPr>
            <a:xfrm>
              <a:off x="2608" y="1600"/>
              <a:ext cx="59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下标：</a:t>
              </a:r>
              <a:endParaRPr lang="zh-CN" altLang="en-US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98325" name="Text Box 159"/>
            <p:cNvSpPr txBox="1"/>
            <p:nvPr/>
          </p:nvSpPr>
          <p:spPr>
            <a:xfrm>
              <a:off x="3128" y="1638"/>
              <a:ext cx="18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8326" name="Text Box 160"/>
            <p:cNvSpPr txBox="1"/>
            <p:nvPr/>
          </p:nvSpPr>
          <p:spPr>
            <a:xfrm>
              <a:off x="3401" y="1911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8327" name="Text Box 161"/>
            <p:cNvSpPr txBox="1"/>
            <p:nvPr/>
          </p:nvSpPr>
          <p:spPr>
            <a:xfrm>
              <a:off x="3379" y="1622"/>
              <a:ext cx="22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8328" name="Text Box 162"/>
            <p:cNvSpPr txBox="1"/>
            <p:nvPr/>
          </p:nvSpPr>
          <p:spPr>
            <a:xfrm>
              <a:off x="3627" y="1638"/>
              <a:ext cx="4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8329" name="Text Box 163"/>
            <p:cNvSpPr txBox="1"/>
            <p:nvPr/>
          </p:nvSpPr>
          <p:spPr>
            <a:xfrm>
              <a:off x="3855" y="1638"/>
              <a:ext cx="25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3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8330" name="Text Box 164"/>
            <p:cNvSpPr txBox="1"/>
            <p:nvPr/>
          </p:nvSpPr>
          <p:spPr>
            <a:xfrm>
              <a:off x="4081" y="1638"/>
              <a:ext cx="2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4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8331" name="Text Box 165"/>
            <p:cNvSpPr txBox="1"/>
            <p:nvPr/>
          </p:nvSpPr>
          <p:spPr>
            <a:xfrm>
              <a:off x="2936" y="1912"/>
              <a:ext cx="25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solidFill>
                    <a:srgbClr val="F402FC"/>
                  </a:solidFill>
                  <a:latin typeface="Arial" panose="020B0604020202020204" pitchFamily="34" charset="0"/>
                </a:rPr>
                <a:t>a</a:t>
              </a:r>
              <a:endParaRPr lang="en-US" altLang="zh-CN" sz="2400" b="1" dirty="0">
                <a:solidFill>
                  <a:srgbClr val="F402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332" name="Text Box 166"/>
            <p:cNvSpPr txBox="1"/>
            <p:nvPr/>
          </p:nvSpPr>
          <p:spPr>
            <a:xfrm>
              <a:off x="3174" y="1911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8333" name="Text Box 167"/>
            <p:cNvSpPr txBox="1"/>
            <p:nvPr/>
          </p:nvSpPr>
          <p:spPr>
            <a:xfrm>
              <a:off x="3627" y="1911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3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8334" name="Text Box 168"/>
            <p:cNvSpPr txBox="1"/>
            <p:nvPr/>
          </p:nvSpPr>
          <p:spPr>
            <a:xfrm>
              <a:off x="3854" y="1911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4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98335" name="Text Box 169"/>
            <p:cNvSpPr txBox="1"/>
            <p:nvPr/>
          </p:nvSpPr>
          <p:spPr>
            <a:xfrm>
              <a:off x="4105" y="1888"/>
              <a:ext cx="2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000" b="1" dirty="0">
                  <a:latin typeface="Arial" panose="020B0604020202020204" pitchFamily="34" charset="0"/>
                </a:rPr>
                <a:t>5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grpSp>
          <p:nvGrpSpPr>
            <p:cNvPr id="98336" name="Group 170"/>
            <p:cNvGrpSpPr/>
            <p:nvPr/>
          </p:nvGrpSpPr>
          <p:grpSpPr>
            <a:xfrm>
              <a:off x="4401" y="1320"/>
              <a:ext cx="544" cy="490"/>
              <a:chOff x="4401" y="1320"/>
              <a:chExt cx="544" cy="490"/>
            </a:xfrm>
          </p:grpSpPr>
          <p:sp>
            <p:nvSpPr>
              <p:cNvPr id="98337" name="Line 171"/>
              <p:cNvSpPr/>
              <p:nvPr/>
            </p:nvSpPr>
            <p:spPr>
              <a:xfrm>
                <a:off x="4401" y="1447"/>
                <a:ext cx="0" cy="363"/>
              </a:xfrm>
              <a:prstGeom prst="line">
                <a:avLst/>
              </a:prstGeom>
              <a:ln w="38100" cap="flat" cmpd="sng">
                <a:solidFill>
                  <a:srgbClr val="F402FC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8338" name="Text Box 172"/>
              <p:cNvSpPr txBox="1"/>
              <p:nvPr/>
            </p:nvSpPr>
            <p:spPr>
              <a:xfrm>
                <a:off x="4401" y="1320"/>
                <a:ext cx="5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2400" b="1" dirty="0">
                    <a:solidFill>
                      <a:srgbClr val="F402FC"/>
                    </a:solidFill>
                    <a:latin typeface="Arial" panose="020B0604020202020204" pitchFamily="34" charset="0"/>
                  </a:rPr>
                  <a:t>a+5</a:t>
                </a:r>
                <a:endParaRPr lang="en-US" altLang="zh-CN" sz="2400" b="1" dirty="0">
                  <a:solidFill>
                    <a:srgbClr val="F402FC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8624888" y="3641725"/>
            <a:ext cx="16954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运行界面：</a:t>
            </a:r>
            <a:endParaRPr kumimoji="0" lang="zh-CN" altLang="en-US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92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92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92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92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923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2"/>
          <p:cNvSpPr>
            <a:spLocks noGrp="1"/>
          </p:cNvSpPr>
          <p:nvPr>
            <p:ph type="title"/>
          </p:nvPr>
        </p:nvSpPr>
        <p:spPr>
          <a:xfrm>
            <a:off x="76200" y="811213"/>
            <a:ext cx="5867400" cy="6477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注意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en-US" sz="32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数组名是</a:t>
            </a:r>
            <a:r>
              <a:rPr lang="zh-CN" altLang="en-US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指针常量</a:t>
            </a:r>
            <a:endParaRPr lang="zh-CN" altLang="en-US" sz="32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xfrm>
            <a:off x="1570038" y="1531938"/>
            <a:ext cx="8747125" cy="51387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a[5],*p;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for(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p=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;p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&lt;a+5;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p++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)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("%2d",*p);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	 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for(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a=p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; a&lt;p+5;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a++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)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         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("%2d",*a);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1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B96966-AE17-418E-BF96-30011D47E98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3191" name="Group 7"/>
          <p:cNvGrpSpPr/>
          <p:nvPr/>
        </p:nvGrpSpPr>
        <p:grpSpPr>
          <a:xfrm>
            <a:off x="7391400" y="3733800"/>
            <a:ext cx="360363" cy="1008063"/>
            <a:chOff x="4105" y="3294"/>
            <a:chExt cx="1497" cy="726"/>
          </a:xfrm>
        </p:grpSpPr>
        <p:sp>
          <p:nvSpPr>
            <p:cNvPr id="100359" name="Line 5"/>
            <p:cNvSpPr/>
            <p:nvPr/>
          </p:nvSpPr>
          <p:spPr>
            <a:xfrm>
              <a:off x="4105" y="3294"/>
              <a:ext cx="1497" cy="726"/>
            </a:xfrm>
            <a:prstGeom prst="line">
              <a:avLst/>
            </a:prstGeom>
            <a:ln w="57150" cap="flat" cmpd="sng">
              <a:solidFill>
                <a:srgbClr val="F402F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0360" name="Line 6"/>
            <p:cNvSpPr/>
            <p:nvPr/>
          </p:nvSpPr>
          <p:spPr>
            <a:xfrm flipH="1">
              <a:off x="4105" y="3294"/>
              <a:ext cx="1497" cy="726"/>
            </a:xfrm>
            <a:prstGeom prst="line">
              <a:avLst/>
            </a:prstGeom>
            <a:ln w="57150" cap="flat" cmpd="sng">
              <a:solidFill>
                <a:srgbClr val="F402FC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0358" name="Rectangle 9"/>
          <p:cNvSpPr/>
          <p:nvPr/>
        </p:nvSpPr>
        <p:spPr>
          <a:xfrm>
            <a:off x="-92075" y="77788"/>
            <a:ext cx="6156325" cy="5492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4400" b="1" dirty="0">
                <a:solidFill>
                  <a:schemeClr val="folHlink"/>
                </a:solidFill>
                <a:latin typeface="宋体" panose="02010600030101010101" pitchFamily="2" charset="-122"/>
              </a:rPr>
              <a:t>§7.5.3  </a:t>
            </a:r>
            <a:r>
              <a:rPr lang="zh-CN" altLang="en-US" sz="4400" b="1" dirty="0">
                <a:solidFill>
                  <a:schemeClr val="folHlink"/>
                </a:solidFill>
              </a:rPr>
              <a:t>应注意的问题</a:t>
            </a:r>
            <a:endParaRPr lang="zh-CN" altLang="en-US" sz="4400" b="1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228600" y="322263"/>
            <a:ext cx="8229600" cy="908050"/>
          </a:xfrm>
        </p:spPr>
        <p:txBody>
          <a:bodyPr vert="horz" wrap="square" lIns="91440" tIns="45720" rIns="91440" bIns="45720" anchor="ctr" anchorCtr="0"/>
          <a:p>
            <a:pPr algn="l" eaLnBrk="1" hangingPunct="1">
              <a:buClrTx/>
              <a:buSzTx/>
              <a:buFontTx/>
            </a:pP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注意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en-US" sz="44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指针变量的</a:t>
            </a:r>
            <a:r>
              <a:rPr lang="zh-CN" altLang="en-US" sz="4400" b="1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当前值</a:t>
            </a:r>
            <a:endParaRPr lang="zh-CN" altLang="en-US" sz="4400" b="1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10368915" cy="478218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 a[10], *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p=a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;	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若访问数组</a:t>
            </a:r>
            <a:r>
              <a:rPr lang="en-US" altLang="zh-CN" sz="44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a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的第</a:t>
            </a:r>
            <a:r>
              <a:rPr kumimoji="0" lang="en-US" altLang="zh-CN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</a:t>
            </a: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个元素，如下写法等价</a:t>
            </a:r>
            <a:b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a[i]</a:t>
            </a:r>
            <a:b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*(</a:t>
            </a:r>
            <a:r>
              <a:rPr kumimoji="0" lang="en-US" altLang="zh-CN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a+i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b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p[i]</a:t>
            </a:r>
            <a:b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*(</a:t>
            </a:r>
            <a:r>
              <a:rPr kumimoji="0" lang="en-US" altLang="zh-CN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p+i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 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049000" y="6248400"/>
            <a:ext cx="5334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4B870-E52B-4A94-A725-B829BD2132D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4876800" y="4343400"/>
            <a:ext cx="5852795" cy="1602105"/>
          </a:xfrm>
          <a:prstGeom prst="wedgeRoundRectCallout">
            <a:avLst>
              <a:gd name="adj1" fmla="val -67098"/>
              <a:gd name="adj2" fmla="val -48652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4400" dirty="0">
                <a:latin typeface="Arial" panose="020B0604020202020204" pitchFamily="34" charset="0"/>
              </a:rPr>
              <a:t>【思考】上述写法</a:t>
            </a:r>
            <a:r>
              <a:rPr lang="zh-CN" altLang="en-US" sz="4400" dirty="0">
                <a:latin typeface="Arial" panose="020B0604020202020204" pitchFamily="34" charset="0"/>
                <a:sym typeface="+mn-ea"/>
              </a:rPr>
              <a:t>是否任何时候</a:t>
            </a:r>
            <a:r>
              <a:rPr lang="zh-CN" altLang="en-US" sz="4400" dirty="0">
                <a:latin typeface="Arial" panose="020B0604020202020204" pitchFamily="34" charset="0"/>
              </a:rPr>
              <a:t>都</a:t>
            </a:r>
            <a:r>
              <a:rPr lang="zh-CN" altLang="en-US" sz="4400" dirty="0">
                <a:latin typeface="Arial" panose="020B0604020202020204" pitchFamily="34" charset="0"/>
              </a:rPr>
              <a:t>等价？</a:t>
            </a:r>
            <a:endParaRPr lang="zh-CN" altLang="en-US" sz="4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9" name="Rectangle 3"/>
          <p:cNvSpPr>
            <a:spLocks noGrp="1"/>
          </p:cNvSpPr>
          <p:nvPr>
            <p:ph idx="1"/>
          </p:nvPr>
        </p:nvSpPr>
        <p:spPr>
          <a:xfrm>
            <a:off x="76200" y="991235"/>
            <a:ext cx="12087860" cy="491045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	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若有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p=&amp;a[2]; </a:t>
            </a:r>
            <a:endParaRPr lang="en-US" altLang="zh-CN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	</a:t>
            </a:r>
            <a:r>
              <a:rPr lang="zh-CN" altLang="en-US" b="1" dirty="0">
                <a:effectLst/>
                <a:latin typeface="Arial" panose="020B0604020202020204" pitchFamily="34" charset="0"/>
              </a:rPr>
              <a:t>考虑下面各值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(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假设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zh-CN" altLang="en-US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为</a:t>
            </a: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3):</a:t>
            </a:r>
            <a:endParaRPr lang="en-US" altLang="zh-CN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zh-CN" sz="3200" b="1" dirty="0">
                <a:effectLst/>
                <a:latin typeface="Arial" panose="020B0604020202020204" pitchFamily="34" charset="0"/>
              </a:rPr>
              <a:t>				a[i]</a:t>
            </a:r>
            <a:endParaRPr lang="en-US" altLang="zh-CN" sz="32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zh-CN" sz="3200" b="1" dirty="0">
                <a:effectLst/>
                <a:latin typeface="Arial" panose="020B0604020202020204" pitchFamily="34" charset="0"/>
              </a:rPr>
              <a:t>     			*(a+i)</a:t>
            </a:r>
            <a:br>
              <a:rPr lang="en-US" altLang="zh-CN" sz="3200" b="1" dirty="0">
                <a:effectLst/>
                <a:latin typeface="Arial" panose="020B0604020202020204" pitchFamily="34" charset="0"/>
              </a:rPr>
            </a:br>
            <a:r>
              <a:rPr lang="en-US" altLang="zh-CN" sz="3200" b="1" dirty="0">
                <a:effectLst/>
                <a:latin typeface="Arial" panose="020B0604020202020204" pitchFamily="34" charset="0"/>
              </a:rPr>
              <a:t> 			</a:t>
            </a: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*(p+i) </a:t>
            </a:r>
            <a:endParaRPr lang="en-US" altLang="zh-CN" sz="3200" b="1" dirty="0">
              <a:solidFill>
                <a:schemeClr val="hlink"/>
              </a:solidFill>
              <a:effectLst/>
              <a:latin typeface="Arial" panose="020B0604020202020204" pitchFamily="34" charset="0"/>
              <a:sym typeface="+mn-ea"/>
            </a:endParaRPr>
          </a:p>
          <a:p>
            <a:pPr marL="2171700" lvl="4" indent="457200"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sym typeface="+mn-ea"/>
              </a:rPr>
              <a:t>   </a:t>
            </a:r>
            <a: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cs typeface="+mn-cs"/>
              </a:rPr>
              <a:t>p[i]</a:t>
            </a:r>
            <a:br>
              <a:rPr lang="en-US" altLang="zh-CN" sz="3200" b="1" dirty="0">
                <a:solidFill>
                  <a:schemeClr val="hlink"/>
                </a:solidFill>
                <a:effectLst/>
                <a:latin typeface="Arial" panose="020B0604020202020204" pitchFamily="34" charset="0"/>
                <a:cs typeface="+mn-cs"/>
              </a:rPr>
            </a:br>
            <a:r>
              <a:rPr lang="en-US" altLang="zh-CN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				</a:t>
            </a:r>
            <a:endParaRPr lang="en-US" altLang="zh-CN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被执行后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上述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p[i]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、*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(p+i)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访问的是元素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a[2+i],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而不是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a[i],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它们与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a[i+2]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、*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(a+i+2)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等价</a:t>
            </a:r>
            <a:endParaRPr lang="zh-CN" altLang="en-US" sz="2400" b="1" dirty="0">
              <a:solidFill>
                <a:schemeClr val="tx1">
                  <a:lumMod val="65000"/>
                </a:schemeClr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  <a:buNone/>
            </a:pPr>
            <a:endParaRPr lang="zh-CN" altLang="en-US" sz="24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2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EC7A255-A9AA-4B72-96C6-791B31CB51A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6281" name="Group 25"/>
          <p:cNvGrpSpPr/>
          <p:nvPr/>
        </p:nvGrpSpPr>
        <p:grpSpPr>
          <a:xfrm>
            <a:off x="6240463" y="115888"/>
            <a:ext cx="4249737" cy="1474787"/>
            <a:chOff x="2200" y="73"/>
            <a:chExt cx="2677" cy="929"/>
          </a:xfrm>
        </p:grpSpPr>
        <p:sp>
          <p:nvSpPr>
            <p:cNvPr id="104453" name="Rectangle 4"/>
            <p:cNvSpPr/>
            <p:nvPr/>
          </p:nvSpPr>
          <p:spPr>
            <a:xfrm>
              <a:off x="2971" y="375"/>
              <a:ext cx="1905" cy="317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104454" name="Line 5"/>
            <p:cNvSpPr/>
            <p:nvPr/>
          </p:nvSpPr>
          <p:spPr>
            <a:xfrm>
              <a:off x="3198" y="375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455" name="Line 6"/>
            <p:cNvSpPr/>
            <p:nvPr/>
          </p:nvSpPr>
          <p:spPr>
            <a:xfrm>
              <a:off x="3424" y="375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456" name="Line 7"/>
            <p:cNvSpPr/>
            <p:nvPr/>
          </p:nvSpPr>
          <p:spPr>
            <a:xfrm>
              <a:off x="3651" y="375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457" name="Line 8"/>
            <p:cNvSpPr/>
            <p:nvPr/>
          </p:nvSpPr>
          <p:spPr>
            <a:xfrm>
              <a:off x="3878" y="375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458" name="Line 9"/>
            <p:cNvSpPr/>
            <p:nvPr/>
          </p:nvSpPr>
          <p:spPr>
            <a:xfrm>
              <a:off x="4105" y="375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459" name="Line 10"/>
            <p:cNvSpPr/>
            <p:nvPr/>
          </p:nvSpPr>
          <p:spPr>
            <a:xfrm>
              <a:off x="4332" y="375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460" name="Line 11"/>
            <p:cNvSpPr/>
            <p:nvPr/>
          </p:nvSpPr>
          <p:spPr>
            <a:xfrm>
              <a:off x="4604" y="375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4461" name="Text Box 12"/>
            <p:cNvSpPr txBox="1"/>
            <p:nvPr/>
          </p:nvSpPr>
          <p:spPr>
            <a:xfrm>
              <a:off x="2200" y="420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数组</a:t>
              </a:r>
              <a:r>
                <a:rPr lang="en-US" altLang="zh-CN" sz="2400" b="1" dirty="0">
                  <a:latin typeface="Arial" panose="020B0604020202020204" pitchFamily="34" charset="0"/>
                </a:rPr>
                <a:t>a: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04462" name="Line 13"/>
            <p:cNvSpPr/>
            <p:nvPr/>
          </p:nvSpPr>
          <p:spPr>
            <a:xfrm flipV="1">
              <a:off x="3560" y="692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4463" name="Text Box 14"/>
            <p:cNvSpPr txBox="1"/>
            <p:nvPr/>
          </p:nvSpPr>
          <p:spPr>
            <a:xfrm>
              <a:off x="3333" y="714"/>
              <a:ext cx="54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04464" name="Text Box 15"/>
            <p:cNvSpPr txBox="1"/>
            <p:nvPr/>
          </p:nvSpPr>
          <p:spPr>
            <a:xfrm>
              <a:off x="2245" y="103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下标</a:t>
              </a:r>
              <a:r>
                <a:rPr lang="en-US" altLang="zh-CN" sz="2400" b="1" dirty="0">
                  <a:latin typeface="Arial" panose="020B0604020202020204" pitchFamily="34" charset="0"/>
                </a:rPr>
                <a:t>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04465" name="Text Box 16"/>
            <p:cNvSpPr txBox="1"/>
            <p:nvPr/>
          </p:nvSpPr>
          <p:spPr>
            <a:xfrm>
              <a:off x="2971" y="73"/>
              <a:ext cx="19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0  1  </a:t>
              </a:r>
              <a:r>
                <a:rPr lang="en-US" altLang="zh-CN" sz="24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CN" sz="2400" b="1" dirty="0">
                  <a:latin typeface="Arial" panose="020B0604020202020204" pitchFamily="34" charset="0"/>
                </a:rPr>
                <a:t>  3  4   5   6   7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04466" name="Text Box 17"/>
            <p:cNvSpPr txBox="1"/>
            <p:nvPr/>
          </p:nvSpPr>
          <p:spPr>
            <a:xfrm>
              <a:off x="2970" y="451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11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04467" name="Text Box 18"/>
            <p:cNvSpPr txBox="1"/>
            <p:nvPr/>
          </p:nvSpPr>
          <p:spPr>
            <a:xfrm>
              <a:off x="3152" y="451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19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04468" name="Text Box 19"/>
            <p:cNvSpPr txBox="1"/>
            <p:nvPr/>
          </p:nvSpPr>
          <p:spPr>
            <a:xfrm>
              <a:off x="3378" y="451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solidFill>
                    <a:schemeClr val="hlink"/>
                  </a:solidFill>
                  <a:latin typeface="Arial" panose="020B0604020202020204" pitchFamily="34" charset="0"/>
                </a:rPr>
                <a:t>44</a:t>
              </a:r>
              <a:endParaRPr lang="en-US" altLang="zh-CN" sz="1600" b="1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469" name="Text Box 20"/>
            <p:cNvSpPr txBox="1"/>
            <p:nvPr/>
          </p:nvSpPr>
          <p:spPr>
            <a:xfrm>
              <a:off x="3606" y="451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89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04470" name="Text Box 21"/>
            <p:cNvSpPr txBox="1"/>
            <p:nvPr/>
          </p:nvSpPr>
          <p:spPr>
            <a:xfrm>
              <a:off x="3833" y="436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14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04471" name="Text Box 22"/>
            <p:cNvSpPr txBox="1"/>
            <p:nvPr/>
          </p:nvSpPr>
          <p:spPr>
            <a:xfrm>
              <a:off x="4059" y="436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91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04472" name="Text Box 23"/>
            <p:cNvSpPr txBox="1"/>
            <p:nvPr/>
          </p:nvSpPr>
          <p:spPr>
            <a:xfrm>
              <a:off x="4332" y="436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81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04473" name="Text Box 24"/>
            <p:cNvSpPr txBox="1"/>
            <p:nvPr/>
          </p:nvSpPr>
          <p:spPr>
            <a:xfrm>
              <a:off x="4604" y="451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77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圆角矩形标注 1"/>
          <p:cNvSpPr/>
          <p:nvPr/>
        </p:nvSpPr>
        <p:spPr>
          <a:xfrm>
            <a:off x="5389880" y="2362200"/>
            <a:ext cx="3154045" cy="1178560"/>
          </a:xfrm>
          <a:prstGeom prst="wedgeRoundRectCallout">
            <a:avLst>
              <a:gd name="adj1" fmla="val -77935"/>
              <a:gd name="adj2" fmla="val 54610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注意指针变量的</a:t>
            </a:r>
            <a:r>
              <a:rPr lang="zh-CN" altLang="en-US" sz="3200" dirty="0">
                <a:latin typeface="Arial" panose="020B0604020202020204" pitchFamily="34" charset="0"/>
              </a:rPr>
              <a:t>当前值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Rectangle 2"/>
          <p:cNvSpPr>
            <a:spLocks noGrp="1"/>
          </p:cNvSpPr>
          <p:nvPr>
            <p:ph type="title"/>
          </p:nvPr>
        </p:nvSpPr>
        <p:spPr>
          <a:xfrm>
            <a:off x="0" y="26988"/>
            <a:ext cx="11506200" cy="509587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solidFill>
                  <a:srgbClr val="FFC000"/>
                </a:solidFill>
                <a:effectLst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ffectLst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ffectLst/>
              </a:rPr>
              <a:t>7.7】</a:t>
            </a:r>
            <a:r>
              <a:rPr lang="zh-CN" altLang="en-US" sz="2800" b="1" dirty="0">
                <a:solidFill>
                  <a:srgbClr val="FFC000"/>
                </a:solidFill>
                <a:effectLst/>
              </a:rPr>
              <a:t>输入</a:t>
            </a:r>
            <a:r>
              <a:rPr lang="en-US" altLang="zh-CN" sz="2800" b="1" dirty="0">
                <a:solidFill>
                  <a:srgbClr val="FFC000"/>
                </a:solidFill>
                <a:effectLst/>
              </a:rPr>
              <a:t>10</a:t>
            </a:r>
            <a:r>
              <a:rPr lang="zh-CN" altLang="en-US" sz="2800" b="1" dirty="0">
                <a:solidFill>
                  <a:srgbClr val="FFC000"/>
                </a:solidFill>
                <a:effectLst/>
              </a:rPr>
              <a:t>个整数，再把它们打印出来</a:t>
            </a:r>
            <a:r>
              <a:rPr lang="zh-CN" altLang="en-US" sz="2800" b="1" dirty="0">
                <a:solidFill>
                  <a:schemeClr val="tx1"/>
                </a:solidFill>
                <a:effectLst/>
              </a:rPr>
              <a:t>（指针变量</a:t>
            </a:r>
            <a:r>
              <a:rPr lang="en-US" altLang="zh-CN" sz="2800" b="1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错误用例</a:t>
            </a:r>
            <a:r>
              <a:rPr lang="zh-CN" altLang="en-US" sz="2800" b="1" dirty="0">
                <a:solidFill>
                  <a:schemeClr val="tx1"/>
                </a:solidFill>
                <a:effectLst/>
              </a:rPr>
              <a:t>）</a:t>
            </a:r>
            <a:endParaRPr lang="zh-CN" altLang="en-US" sz="28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192088" y="860425"/>
            <a:ext cx="4859338" cy="5257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#include 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main(){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int  i, *p, a[10];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p=a;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for( i=0; i&lt;10; i++)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 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("%d",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p++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//(1)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for( i=0; i&lt;10; i++)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("%d ", *(p++));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return 0;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5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47F08D-0058-40CA-AED4-DAEE124064A3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5264" name="Group 32"/>
          <p:cNvGrpSpPr/>
          <p:nvPr/>
        </p:nvGrpSpPr>
        <p:grpSpPr>
          <a:xfrm>
            <a:off x="5953125" y="2466975"/>
            <a:ext cx="431800" cy="601663"/>
            <a:chOff x="3198" y="1525"/>
            <a:chExt cx="272" cy="379"/>
          </a:xfrm>
        </p:grpSpPr>
        <p:sp>
          <p:nvSpPr>
            <p:cNvPr id="106552" name="Line 17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6553" name="Text Box 18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5268" name="Group 36"/>
          <p:cNvGrpSpPr/>
          <p:nvPr/>
        </p:nvGrpSpPr>
        <p:grpSpPr>
          <a:xfrm>
            <a:off x="9264650" y="2492375"/>
            <a:ext cx="431800" cy="601663"/>
            <a:chOff x="3198" y="1525"/>
            <a:chExt cx="272" cy="379"/>
          </a:xfrm>
        </p:grpSpPr>
        <p:sp>
          <p:nvSpPr>
            <p:cNvPr id="106550" name="Line 37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6551" name="Text Box 38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5271" name="Group 39"/>
          <p:cNvGrpSpPr/>
          <p:nvPr/>
        </p:nvGrpSpPr>
        <p:grpSpPr>
          <a:xfrm>
            <a:off x="6745288" y="2466975"/>
            <a:ext cx="431800" cy="601663"/>
            <a:chOff x="3198" y="1525"/>
            <a:chExt cx="272" cy="379"/>
          </a:xfrm>
        </p:grpSpPr>
        <p:sp>
          <p:nvSpPr>
            <p:cNvPr id="106548" name="Line 40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6549" name="Text Box 41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5274" name="Group 42"/>
          <p:cNvGrpSpPr/>
          <p:nvPr/>
        </p:nvGrpSpPr>
        <p:grpSpPr>
          <a:xfrm>
            <a:off x="6384925" y="2466975"/>
            <a:ext cx="431800" cy="601663"/>
            <a:chOff x="3198" y="1525"/>
            <a:chExt cx="272" cy="379"/>
          </a:xfrm>
        </p:grpSpPr>
        <p:sp>
          <p:nvSpPr>
            <p:cNvPr id="106546" name="Line 43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6547" name="Text Box 44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95283" name="Text Box 51"/>
          <p:cNvSpPr txBox="1"/>
          <p:nvPr/>
        </p:nvSpPr>
        <p:spPr>
          <a:xfrm>
            <a:off x="7680325" y="2611438"/>
            <a:ext cx="1152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……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95284" name="Group 52"/>
          <p:cNvGrpSpPr/>
          <p:nvPr/>
        </p:nvGrpSpPr>
        <p:grpSpPr>
          <a:xfrm>
            <a:off x="8904288" y="2466975"/>
            <a:ext cx="431800" cy="601663"/>
            <a:chOff x="3198" y="1525"/>
            <a:chExt cx="272" cy="379"/>
          </a:xfrm>
        </p:grpSpPr>
        <p:sp>
          <p:nvSpPr>
            <p:cNvPr id="106544" name="Line 53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6545" name="Text Box 54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5287" name="Group 55"/>
          <p:cNvGrpSpPr/>
          <p:nvPr/>
        </p:nvGrpSpPr>
        <p:grpSpPr>
          <a:xfrm>
            <a:off x="9625013" y="2466975"/>
            <a:ext cx="431800" cy="601663"/>
            <a:chOff x="3198" y="1525"/>
            <a:chExt cx="272" cy="379"/>
          </a:xfrm>
        </p:grpSpPr>
        <p:sp>
          <p:nvSpPr>
            <p:cNvPr id="106542" name="Line 56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6543" name="Text Box 57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5303" name="Group 71"/>
          <p:cNvGrpSpPr/>
          <p:nvPr/>
        </p:nvGrpSpPr>
        <p:grpSpPr>
          <a:xfrm>
            <a:off x="5016500" y="1484313"/>
            <a:ext cx="4895850" cy="1008063"/>
            <a:chOff x="2200" y="935"/>
            <a:chExt cx="3084" cy="635"/>
          </a:xfrm>
        </p:grpSpPr>
        <p:sp>
          <p:nvSpPr>
            <p:cNvPr id="106519" name="Text Box 16"/>
            <p:cNvSpPr txBox="1"/>
            <p:nvPr/>
          </p:nvSpPr>
          <p:spPr>
            <a:xfrm>
              <a:off x="2200" y="1253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数组</a:t>
              </a:r>
              <a:r>
                <a:rPr lang="en-US" altLang="zh-CN" sz="2400" b="1" dirty="0">
                  <a:latin typeface="Arial" panose="020B0604020202020204" pitchFamily="34" charset="0"/>
                </a:rPr>
                <a:t>a: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06520" name="Rectangle 8"/>
            <p:cNvSpPr/>
            <p:nvPr/>
          </p:nvSpPr>
          <p:spPr>
            <a:xfrm>
              <a:off x="2971" y="1207"/>
              <a:ext cx="2313" cy="36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106521" name="Line 9"/>
            <p:cNvSpPr/>
            <p:nvPr/>
          </p:nvSpPr>
          <p:spPr>
            <a:xfrm>
              <a:off x="3198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22" name="Line 10"/>
            <p:cNvSpPr/>
            <p:nvPr/>
          </p:nvSpPr>
          <p:spPr>
            <a:xfrm>
              <a:off x="3424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23" name="Line 11"/>
            <p:cNvSpPr/>
            <p:nvPr/>
          </p:nvSpPr>
          <p:spPr>
            <a:xfrm>
              <a:off x="3651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24" name="Line 12"/>
            <p:cNvSpPr/>
            <p:nvPr/>
          </p:nvSpPr>
          <p:spPr>
            <a:xfrm>
              <a:off x="3878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25" name="Line 13"/>
            <p:cNvSpPr/>
            <p:nvPr/>
          </p:nvSpPr>
          <p:spPr>
            <a:xfrm>
              <a:off x="4105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26" name="Line 14"/>
            <p:cNvSpPr/>
            <p:nvPr/>
          </p:nvSpPr>
          <p:spPr>
            <a:xfrm>
              <a:off x="4332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27" name="Line 15"/>
            <p:cNvSpPr/>
            <p:nvPr/>
          </p:nvSpPr>
          <p:spPr>
            <a:xfrm>
              <a:off x="4604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28" name="Text Box 19"/>
            <p:cNvSpPr txBox="1"/>
            <p:nvPr/>
          </p:nvSpPr>
          <p:spPr>
            <a:xfrm>
              <a:off x="2245" y="965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下标</a:t>
              </a:r>
              <a:r>
                <a:rPr lang="en-US" altLang="zh-CN" sz="2400" b="1" dirty="0">
                  <a:latin typeface="Arial" panose="020B0604020202020204" pitchFamily="34" charset="0"/>
                </a:rPr>
                <a:t>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06529" name="Text Box 20"/>
            <p:cNvSpPr txBox="1"/>
            <p:nvPr/>
          </p:nvSpPr>
          <p:spPr>
            <a:xfrm>
              <a:off x="2970" y="935"/>
              <a:ext cx="23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0  1  2  3  4   5   6  7  8  9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06530" name="Line 31"/>
            <p:cNvSpPr/>
            <p:nvPr/>
          </p:nvSpPr>
          <p:spPr>
            <a:xfrm>
              <a:off x="4831" y="1253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1" name="Line 59"/>
            <p:cNvSpPr/>
            <p:nvPr/>
          </p:nvSpPr>
          <p:spPr>
            <a:xfrm>
              <a:off x="3198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2" name="Line 60"/>
            <p:cNvSpPr/>
            <p:nvPr/>
          </p:nvSpPr>
          <p:spPr>
            <a:xfrm>
              <a:off x="3424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3" name="Line 61"/>
            <p:cNvSpPr/>
            <p:nvPr/>
          </p:nvSpPr>
          <p:spPr>
            <a:xfrm>
              <a:off x="3651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4" name="Line 62"/>
            <p:cNvSpPr/>
            <p:nvPr/>
          </p:nvSpPr>
          <p:spPr>
            <a:xfrm>
              <a:off x="3878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5" name="Line 63"/>
            <p:cNvSpPr/>
            <p:nvPr/>
          </p:nvSpPr>
          <p:spPr>
            <a:xfrm>
              <a:off x="4105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6" name="Line 64"/>
            <p:cNvSpPr/>
            <p:nvPr/>
          </p:nvSpPr>
          <p:spPr>
            <a:xfrm>
              <a:off x="4332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37" name="Line 65"/>
            <p:cNvSpPr/>
            <p:nvPr/>
          </p:nvSpPr>
          <p:spPr>
            <a:xfrm>
              <a:off x="4604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40" name="Line 68"/>
            <p:cNvSpPr/>
            <p:nvPr/>
          </p:nvSpPr>
          <p:spPr>
            <a:xfrm>
              <a:off x="5057" y="1207"/>
              <a:ext cx="0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41" name="Line 69"/>
            <p:cNvSpPr/>
            <p:nvPr/>
          </p:nvSpPr>
          <p:spPr>
            <a:xfrm>
              <a:off x="4831" y="120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5302" name="Text Box 70"/>
          <p:cNvSpPr txBox="1"/>
          <p:nvPr/>
        </p:nvSpPr>
        <p:spPr>
          <a:xfrm>
            <a:off x="9551988" y="2060575"/>
            <a:ext cx="4333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57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5253" name="Text Box 21"/>
          <p:cNvSpPr txBox="1"/>
          <p:nvPr/>
        </p:nvSpPr>
        <p:spPr>
          <a:xfrm>
            <a:off x="6167438" y="2060575"/>
            <a:ext cx="4333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11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5254" name="Text Box 22"/>
          <p:cNvSpPr txBox="1"/>
          <p:nvPr/>
        </p:nvSpPr>
        <p:spPr>
          <a:xfrm>
            <a:off x="6527800" y="2060575"/>
            <a:ext cx="4333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19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5257" name="Text Box 25"/>
          <p:cNvSpPr txBox="1"/>
          <p:nvPr/>
        </p:nvSpPr>
        <p:spPr>
          <a:xfrm>
            <a:off x="6959600" y="2060575"/>
            <a:ext cx="4333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14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5256" name="Text Box 24"/>
          <p:cNvSpPr txBox="1"/>
          <p:nvPr/>
        </p:nvSpPr>
        <p:spPr>
          <a:xfrm>
            <a:off x="9120188" y="2060575"/>
            <a:ext cx="4333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89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24400" y="3143250"/>
            <a:ext cx="4721225" cy="1076325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【思考】</a:t>
            </a:r>
            <a:r>
              <a:rPr lang="zh-CN" altLang="en-US" b="1" dirty="0"/>
              <a:t>注释</a:t>
            </a:r>
            <a:r>
              <a:rPr lang="en-US" altLang="zh-CN" b="1" dirty="0"/>
              <a:t>(1)</a:t>
            </a:r>
            <a:r>
              <a:rPr lang="zh-CN" altLang="en-US" b="1" dirty="0"/>
              <a:t>处</a:t>
            </a:r>
            <a:r>
              <a:rPr lang="en-US" altLang="zh-CN" b="1" dirty="0"/>
              <a:t>p++</a:t>
            </a:r>
            <a:r>
              <a:rPr lang="zh-CN" altLang="en-US" b="1" dirty="0"/>
              <a:t>能否改成</a:t>
            </a:r>
            <a:r>
              <a:rPr lang="en-US" altLang="zh-CN" b="1" dirty="0"/>
              <a:t>++p?</a:t>
            </a:r>
            <a:endParaRPr lang="zh-CN" altLang="en-US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4370" y="4648200"/>
            <a:ext cx="4683760" cy="5295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4370" y="5177790"/>
            <a:ext cx="4683760" cy="5295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4370" y="5791200"/>
            <a:ext cx="4683760" cy="5295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6324600"/>
            <a:ext cx="8328660" cy="458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95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95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95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95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9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9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2" dur="500"/>
                                        <p:tgtEl>
                                          <p:spTgt spid="95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9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83" grpId="0"/>
      <p:bldP spid="95302" grpId="0"/>
      <p:bldP spid="95253" grpId="0"/>
      <p:bldP spid="95254" grpId="0"/>
      <p:bldP spid="95257" grpId="0"/>
      <p:bldP spid="95256" grpId="0"/>
      <p:bldP spid="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0175" y="-25400"/>
            <a:ext cx="2771775" cy="7651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修改方法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9523" name="Rectangle 3"/>
          <p:cNvSpPr>
            <a:spLocks noGrp="1" noChangeArrowheads="1"/>
          </p:cNvSpPr>
          <p:nvPr>
            <p:ph idx="1"/>
          </p:nvPr>
        </p:nvSpPr>
        <p:spPr>
          <a:xfrm>
            <a:off x="47625" y="739775"/>
            <a:ext cx="7524750" cy="6048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SIZE 10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int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*p, a[SIZE];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p=a;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&lt;SIZE;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("%d", p++);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scanf("%d",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p+i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4572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2800" b="1" noProof="0" dirty="0" err="1">
                <a:ln>
                  <a:noFill/>
                </a:ln>
                <a:solidFill>
                  <a:srgbClr val="FF0000"/>
                </a:solidFill>
                <a:uLnTx/>
                <a:uFillTx/>
                <a:sym typeface="+mn-ea"/>
              </a:rPr>
              <a:t> </a:t>
            </a:r>
            <a:r>
              <a:rPr lang="en-US" altLang="zh-CN" sz="2800" b="1" noProof="0" dirty="0" err="1">
                <a:ln>
                  <a:noFill/>
                </a:ln>
                <a:solidFill>
                  <a:schemeClr val="tx1"/>
                </a:solidFill>
                <a:uLnTx/>
                <a:uFillTx/>
                <a:sym typeface="+mn-ea"/>
              </a:rPr>
              <a:t>//scanf</a:t>
            </a:r>
            <a:r>
              <a:rPr lang="en-US" altLang="zh-CN" sz="2800" b="1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sym typeface="+mn-ea"/>
              </a:rPr>
              <a:t>("%d", &amp;a[</a:t>
            </a:r>
            <a:r>
              <a:rPr lang="en-US" altLang="zh-CN" sz="2800" b="1" noProof="0" dirty="0" err="1">
                <a:ln>
                  <a:noFill/>
                </a:ln>
                <a:solidFill>
                  <a:schemeClr val="tx1"/>
                </a:solidFill>
                <a:uLnTx/>
                <a:uFillTx/>
                <a:sym typeface="+mn-ea"/>
              </a:rPr>
              <a:t>i</a:t>
            </a:r>
            <a:r>
              <a:rPr lang="en-US" altLang="zh-CN" sz="2800" b="1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sym typeface="+mn-ea"/>
              </a:rPr>
              <a:t>]);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&lt;SIZE;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 ",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*(p++)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//(2)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4572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//printf("%d ",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*(p+i)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707813" y="5791200"/>
            <a:ext cx="419100" cy="457200"/>
          </a:xfrm>
        </p:spPr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C719AD-9E2B-457B-991D-B36B5BCC99A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线形标注 1 38"/>
          <p:cNvSpPr/>
          <p:nvPr/>
        </p:nvSpPr>
        <p:spPr bwMode="auto">
          <a:xfrm>
            <a:off x="5843270" y="2362200"/>
            <a:ext cx="3672205" cy="1798320"/>
          </a:xfrm>
          <a:prstGeom prst="borderCallout1">
            <a:avLst>
              <a:gd name="adj1" fmla="val 101165"/>
              <a:gd name="adj2" fmla="val -778"/>
              <a:gd name="adj3" fmla="val 147810"/>
              <a:gd name="adj4" fmla="val -32422"/>
            </a:avLst>
          </a:prstGeom>
          <a:noFill/>
          <a:ln w="34925">
            <a:solidFill>
              <a:srgbClr val="FFFF00"/>
            </a:solidFill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("%d ", *p);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p++;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或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("%d ",  *p++);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grpSp>
        <p:nvGrpSpPr>
          <p:cNvPr id="89" name="Group 32"/>
          <p:cNvGrpSpPr/>
          <p:nvPr/>
        </p:nvGrpSpPr>
        <p:grpSpPr>
          <a:xfrm>
            <a:off x="6456363" y="1146175"/>
            <a:ext cx="431800" cy="601663"/>
            <a:chOff x="3198" y="1525"/>
            <a:chExt cx="272" cy="379"/>
          </a:xfrm>
        </p:grpSpPr>
        <p:sp>
          <p:nvSpPr>
            <p:cNvPr id="108597" name="Line 17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8598" name="Text Box 18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" name="Group 36"/>
          <p:cNvGrpSpPr/>
          <p:nvPr/>
        </p:nvGrpSpPr>
        <p:grpSpPr>
          <a:xfrm>
            <a:off x="9767888" y="1171575"/>
            <a:ext cx="431800" cy="601663"/>
            <a:chOff x="3198" y="1525"/>
            <a:chExt cx="272" cy="379"/>
          </a:xfrm>
        </p:grpSpPr>
        <p:sp>
          <p:nvSpPr>
            <p:cNvPr id="108595" name="Line 37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8596" name="Text Box 38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5" name="Group 39"/>
          <p:cNvGrpSpPr/>
          <p:nvPr/>
        </p:nvGrpSpPr>
        <p:grpSpPr>
          <a:xfrm>
            <a:off x="7248525" y="1146175"/>
            <a:ext cx="431800" cy="601663"/>
            <a:chOff x="3198" y="1525"/>
            <a:chExt cx="272" cy="379"/>
          </a:xfrm>
        </p:grpSpPr>
        <p:sp>
          <p:nvSpPr>
            <p:cNvPr id="108593" name="Line 40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8594" name="Text Box 41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8" name="Group 42"/>
          <p:cNvGrpSpPr/>
          <p:nvPr/>
        </p:nvGrpSpPr>
        <p:grpSpPr>
          <a:xfrm>
            <a:off x="6888163" y="1146175"/>
            <a:ext cx="431800" cy="601663"/>
            <a:chOff x="3198" y="1525"/>
            <a:chExt cx="272" cy="379"/>
          </a:xfrm>
        </p:grpSpPr>
        <p:sp>
          <p:nvSpPr>
            <p:cNvPr id="108591" name="Line 43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8592" name="Text Box 44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01" name="Text Box 51"/>
          <p:cNvSpPr txBox="1"/>
          <p:nvPr/>
        </p:nvSpPr>
        <p:spPr>
          <a:xfrm>
            <a:off x="8183563" y="1290638"/>
            <a:ext cx="1152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……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grpSp>
        <p:nvGrpSpPr>
          <p:cNvPr id="102" name="Group 52"/>
          <p:cNvGrpSpPr/>
          <p:nvPr/>
        </p:nvGrpSpPr>
        <p:grpSpPr>
          <a:xfrm>
            <a:off x="9407525" y="1146175"/>
            <a:ext cx="431800" cy="601663"/>
            <a:chOff x="3198" y="1525"/>
            <a:chExt cx="272" cy="379"/>
          </a:xfrm>
        </p:grpSpPr>
        <p:sp>
          <p:nvSpPr>
            <p:cNvPr id="108589" name="Line 53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8590" name="Text Box 54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5" name="Group 55"/>
          <p:cNvGrpSpPr/>
          <p:nvPr/>
        </p:nvGrpSpPr>
        <p:grpSpPr>
          <a:xfrm>
            <a:off x="10128250" y="1146175"/>
            <a:ext cx="431800" cy="601663"/>
            <a:chOff x="3198" y="1525"/>
            <a:chExt cx="272" cy="379"/>
          </a:xfrm>
        </p:grpSpPr>
        <p:sp>
          <p:nvSpPr>
            <p:cNvPr id="108587" name="Line 56"/>
            <p:cNvSpPr/>
            <p:nvPr/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8588" name="Text Box 57"/>
            <p:cNvSpPr txBox="1"/>
            <p:nvPr/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8557" name="Group 71"/>
          <p:cNvGrpSpPr/>
          <p:nvPr/>
        </p:nvGrpSpPr>
        <p:grpSpPr>
          <a:xfrm>
            <a:off x="5519738" y="163513"/>
            <a:ext cx="4895850" cy="1008063"/>
            <a:chOff x="2200" y="935"/>
            <a:chExt cx="3084" cy="635"/>
          </a:xfrm>
        </p:grpSpPr>
        <p:sp>
          <p:nvSpPr>
            <p:cNvPr id="108564" name="Text Box 16"/>
            <p:cNvSpPr txBox="1"/>
            <p:nvPr/>
          </p:nvSpPr>
          <p:spPr>
            <a:xfrm>
              <a:off x="2200" y="1253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数组</a:t>
              </a:r>
              <a:r>
                <a:rPr lang="en-US" altLang="zh-CN" sz="2400" b="1" dirty="0">
                  <a:latin typeface="Arial" panose="020B0604020202020204" pitchFamily="34" charset="0"/>
                </a:rPr>
                <a:t>a: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08565" name="Rectangle 8"/>
            <p:cNvSpPr/>
            <p:nvPr/>
          </p:nvSpPr>
          <p:spPr>
            <a:xfrm>
              <a:off x="2971" y="1207"/>
              <a:ext cx="2313" cy="36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108566" name="Line 9"/>
            <p:cNvSpPr/>
            <p:nvPr/>
          </p:nvSpPr>
          <p:spPr>
            <a:xfrm>
              <a:off x="3198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67" name="Line 10"/>
            <p:cNvSpPr/>
            <p:nvPr/>
          </p:nvSpPr>
          <p:spPr>
            <a:xfrm>
              <a:off x="3424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68" name="Line 11"/>
            <p:cNvSpPr/>
            <p:nvPr/>
          </p:nvSpPr>
          <p:spPr>
            <a:xfrm>
              <a:off x="3651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69" name="Line 12"/>
            <p:cNvSpPr/>
            <p:nvPr/>
          </p:nvSpPr>
          <p:spPr>
            <a:xfrm>
              <a:off x="3878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0" name="Line 13"/>
            <p:cNvSpPr/>
            <p:nvPr/>
          </p:nvSpPr>
          <p:spPr>
            <a:xfrm>
              <a:off x="4105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1" name="Line 14"/>
            <p:cNvSpPr/>
            <p:nvPr/>
          </p:nvSpPr>
          <p:spPr>
            <a:xfrm>
              <a:off x="4332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2" name="Line 15"/>
            <p:cNvSpPr/>
            <p:nvPr/>
          </p:nvSpPr>
          <p:spPr>
            <a:xfrm>
              <a:off x="4604" y="123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3" name="Text Box 19"/>
            <p:cNvSpPr txBox="1"/>
            <p:nvPr/>
          </p:nvSpPr>
          <p:spPr>
            <a:xfrm>
              <a:off x="2245" y="965"/>
              <a:ext cx="6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zh-CN" altLang="en-US" sz="2400" b="1" dirty="0">
                  <a:latin typeface="Arial" panose="020B0604020202020204" pitchFamily="34" charset="0"/>
                </a:rPr>
                <a:t>下标</a:t>
              </a:r>
              <a:r>
                <a:rPr lang="en-US" altLang="zh-CN" sz="2400" b="1" dirty="0">
                  <a:latin typeface="Arial" panose="020B0604020202020204" pitchFamily="34" charset="0"/>
                </a:rPr>
                <a:t>: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08574" name="Text Box 20"/>
            <p:cNvSpPr txBox="1"/>
            <p:nvPr/>
          </p:nvSpPr>
          <p:spPr>
            <a:xfrm>
              <a:off x="2970" y="935"/>
              <a:ext cx="23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0  1  2  3  4   5   6  7  8  9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108575" name="Line 31"/>
            <p:cNvSpPr/>
            <p:nvPr/>
          </p:nvSpPr>
          <p:spPr>
            <a:xfrm>
              <a:off x="4831" y="1253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6" name="Line 59"/>
            <p:cNvSpPr/>
            <p:nvPr/>
          </p:nvSpPr>
          <p:spPr>
            <a:xfrm>
              <a:off x="3198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7" name="Line 60"/>
            <p:cNvSpPr/>
            <p:nvPr/>
          </p:nvSpPr>
          <p:spPr>
            <a:xfrm>
              <a:off x="3424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8" name="Line 61"/>
            <p:cNvSpPr/>
            <p:nvPr/>
          </p:nvSpPr>
          <p:spPr>
            <a:xfrm>
              <a:off x="3651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79" name="Line 62"/>
            <p:cNvSpPr/>
            <p:nvPr/>
          </p:nvSpPr>
          <p:spPr>
            <a:xfrm>
              <a:off x="3878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80" name="Line 63"/>
            <p:cNvSpPr/>
            <p:nvPr/>
          </p:nvSpPr>
          <p:spPr>
            <a:xfrm>
              <a:off x="4105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81" name="Line 64"/>
            <p:cNvSpPr/>
            <p:nvPr/>
          </p:nvSpPr>
          <p:spPr>
            <a:xfrm>
              <a:off x="4332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82" name="Line 65"/>
            <p:cNvSpPr/>
            <p:nvPr/>
          </p:nvSpPr>
          <p:spPr>
            <a:xfrm>
              <a:off x="4604" y="1222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85" name="Line 68"/>
            <p:cNvSpPr/>
            <p:nvPr/>
          </p:nvSpPr>
          <p:spPr>
            <a:xfrm>
              <a:off x="5057" y="1207"/>
              <a:ext cx="0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8586" name="Line 69"/>
            <p:cNvSpPr/>
            <p:nvPr/>
          </p:nvSpPr>
          <p:spPr>
            <a:xfrm>
              <a:off x="4831" y="1207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32" name="Text Box 70"/>
          <p:cNvSpPr txBox="1"/>
          <p:nvPr/>
        </p:nvSpPr>
        <p:spPr>
          <a:xfrm>
            <a:off x="10055225" y="739775"/>
            <a:ext cx="4333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57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133" name="Text Box 21"/>
          <p:cNvSpPr txBox="1"/>
          <p:nvPr/>
        </p:nvSpPr>
        <p:spPr>
          <a:xfrm>
            <a:off x="6670675" y="739775"/>
            <a:ext cx="4333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11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134" name="Text Box 22"/>
          <p:cNvSpPr txBox="1"/>
          <p:nvPr/>
        </p:nvSpPr>
        <p:spPr>
          <a:xfrm>
            <a:off x="7031038" y="739775"/>
            <a:ext cx="4333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19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135" name="Text Box 25"/>
          <p:cNvSpPr txBox="1"/>
          <p:nvPr/>
        </p:nvSpPr>
        <p:spPr>
          <a:xfrm>
            <a:off x="7462838" y="739775"/>
            <a:ext cx="433387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14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136" name="Text Box 24"/>
          <p:cNvSpPr txBox="1"/>
          <p:nvPr/>
        </p:nvSpPr>
        <p:spPr>
          <a:xfrm>
            <a:off x="9623425" y="739775"/>
            <a:ext cx="433388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89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33738" y="6215063"/>
            <a:ext cx="8459787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【思考】</a:t>
            </a:r>
            <a:r>
              <a:rPr lang="en-US" altLang="zh-CN" b="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注释</a:t>
            </a:r>
            <a:r>
              <a:rPr lang="en-US" altLang="zh-CN" b="1" dirty="0">
                <a:solidFill>
                  <a:schemeClr val="tx1"/>
                </a:solidFill>
                <a:sym typeface="Wingdings" panose="05000000000000000000" pitchFamily="2" charset="2"/>
              </a:rPr>
              <a:t>(2)</a:t>
            </a:r>
            <a:r>
              <a:rPr lang="zh-CN" altLang="en-US" b="1" dirty="0">
                <a:sym typeface="Wingdings" panose="05000000000000000000" pitchFamily="2" charset="2"/>
              </a:rPr>
              <a:t>处</a:t>
            </a:r>
            <a:r>
              <a:rPr lang="en-US" altLang="zh-CN" b="1" dirty="0">
                <a:sym typeface="Wingdings" panose="05000000000000000000" pitchFamily="2" charset="2"/>
              </a:rPr>
              <a:t>*(p++)</a:t>
            </a:r>
            <a:r>
              <a:rPr lang="zh-CN" altLang="en-US" b="1" dirty="0">
                <a:sym typeface="Wingdings" panose="05000000000000000000" pitchFamily="2" charset="2"/>
              </a:rPr>
              <a:t>能否改成</a:t>
            </a:r>
            <a:r>
              <a:rPr lang="en-US" altLang="zh-CN" b="1" dirty="0">
                <a:sym typeface="Wingdings" panose="05000000000000000000" pitchFamily="2" charset="2"/>
              </a:rPr>
              <a:t>*(++p)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19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24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charRg st="26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101" grpId="0"/>
      <p:bldP spid="132" grpId="0"/>
      <p:bldP spid="133" grpId="0"/>
      <p:bldP spid="134" grpId="0"/>
      <p:bldP spid="135" grpId="0"/>
      <p:bldP spid="136" grpId="0"/>
      <p:bldP spid="2" grpId="0" bldLvl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1570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" y="0"/>
            <a:ext cx="2771775" cy="457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修改方法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1571" name="Rectangle 3"/>
          <p:cNvSpPr>
            <a:spLocks noGrp="1" noChangeArrowheads="1"/>
          </p:cNvSpPr>
          <p:nvPr>
            <p:ph idx="1"/>
          </p:nvPr>
        </p:nvSpPr>
        <p:spPr>
          <a:xfrm>
            <a:off x="104775" y="457200"/>
            <a:ext cx="7907338" cy="6597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SIZE 10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main(){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int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*p, a[SIZE];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p=a;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&lt;SIZE;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("%d", p++);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p=a;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for(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=0;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&lt;SIZE;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++){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 ", *p++);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5DA040-5D6C-4A4A-BDA8-12B7F50E8130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21643" name="Group 75"/>
          <p:cNvGrpSpPr/>
          <p:nvPr>
            <p:custDataLst>
              <p:tags r:id="rId1"/>
            </p:custDataLst>
          </p:nvPr>
        </p:nvGrpSpPr>
        <p:grpSpPr bwMode="auto">
          <a:xfrm>
            <a:off x="5638800" y="3124200"/>
            <a:ext cx="5472113" cy="1727200"/>
            <a:chOff x="521" y="1752"/>
            <a:chExt cx="3447" cy="1088"/>
          </a:xfrm>
          <a:noFill/>
        </p:grpSpPr>
        <p:sp>
          <p:nvSpPr>
            <p:cNvPr id="66572" name="Rectangle 76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21" y="1752"/>
              <a:ext cx="3447" cy="108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6573" name="Group 77"/>
            <p:cNvGrpSpPr/>
            <p:nvPr/>
          </p:nvGrpSpPr>
          <p:grpSpPr bwMode="auto">
            <a:xfrm>
              <a:off x="566" y="1826"/>
              <a:ext cx="3084" cy="635"/>
              <a:chOff x="2200" y="935"/>
              <a:chExt cx="3084" cy="635"/>
            </a:xfrm>
            <a:grpFill/>
          </p:grpSpPr>
          <p:sp>
            <p:nvSpPr>
              <p:cNvPr id="66579" name="Text Box 78"/>
              <p:cNvSpPr txBox="1"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2200" y="1253"/>
                <a:ext cx="680" cy="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数组</a:t>
                </a: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a:</a:t>
                </a: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0" name="Rectangle 79"/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2971" y="1207"/>
                <a:ext cx="2313" cy="363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1" name="Line 80"/>
              <p:cNvSpPr>
                <a:spLocks noChangeShapeType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3198" y="1237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2" name="Line 81"/>
              <p:cNvSpPr>
                <a:spLocks noChangeShapeType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3424" y="1237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3" name="Line 82"/>
              <p:cNvSpPr>
                <a:spLocks noChangeShapeType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51" y="1237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4" name="Line 83"/>
              <p:cNvSpPr>
                <a:spLocks noChangeShapeType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878" y="1237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5" name="Line 84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105" y="1237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6" name="Line 85"/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4332" y="1237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7" name="Line 86"/>
              <p:cNvSpPr>
                <a:spLocks noChangeShapeType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4604" y="1237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8" name="Text Box 87"/>
              <p:cNvSpPr txBox="1"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245" y="965"/>
                <a:ext cx="680" cy="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下标</a:t>
                </a: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:</a:t>
                </a: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9" name="Text Box 88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970" y="935"/>
                <a:ext cx="2314" cy="2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0  1  2  3  4   5   6  7  8  9</a:t>
                </a:r>
                <a:endPara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90" name="Line 89"/>
              <p:cNvSpPr>
                <a:spLocks noChangeShapeType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831" y="1253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91" name="Line 90"/>
              <p:cNvSpPr>
                <a:spLocks noChangeShapeType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3198" y="1222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92" name="Line 91"/>
              <p:cNvSpPr>
                <a:spLocks noChangeShapeType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424" y="1222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93" name="Line 92"/>
              <p:cNvSpPr>
                <a:spLocks noChangeShapeType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3651" y="1222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94" name="Line 93"/>
              <p:cNvSpPr>
                <a:spLocks noChangeShapeType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3878" y="1222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95" name="Line 94"/>
              <p:cNvSpPr>
                <a:spLocks noChangeShapeType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105" y="1222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96" name="Line 95"/>
              <p:cNvSpPr>
                <a:spLocks noChangeShapeType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4332" y="1222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97" name="Line 96"/>
              <p:cNvSpPr>
                <a:spLocks noChangeShapeType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604" y="1222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600" name="Line 99"/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5057" y="1207"/>
                <a:ext cx="0" cy="363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601" name="Line 100"/>
              <p:cNvSpPr>
                <a:spLocks noChangeShapeType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4831" y="1207"/>
                <a:ext cx="0" cy="317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66574" name="Text Box 10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423" y="2189"/>
              <a:ext cx="273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57</a:t>
              </a:r>
              <a:endPara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75" name="Text Box 102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291" y="2189"/>
              <a:ext cx="273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11</a:t>
              </a:r>
              <a:endPara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76" name="Text Box 10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518" y="2189"/>
              <a:ext cx="273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19</a:t>
              </a:r>
              <a:endPara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77" name="Text Box 104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790" y="2189"/>
              <a:ext cx="273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14</a:t>
              </a:r>
              <a:endPara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578" name="Text Box 105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151" y="2189"/>
              <a:ext cx="273" cy="2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89</a:t>
              </a:r>
              <a:endPara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21674" name="Group 106"/>
          <p:cNvGrpSpPr/>
          <p:nvPr>
            <p:custDataLst>
              <p:tags r:id="rId29"/>
            </p:custDataLst>
          </p:nvPr>
        </p:nvGrpSpPr>
        <p:grpSpPr>
          <a:xfrm>
            <a:off x="10390188" y="4251325"/>
            <a:ext cx="431800" cy="601663"/>
            <a:chOff x="3198" y="1525"/>
            <a:chExt cx="272" cy="379"/>
          </a:xfrm>
        </p:grpSpPr>
        <p:sp>
          <p:nvSpPr>
            <p:cNvPr id="109579" name="Line 107"/>
            <p:cNvSpPr/>
            <p:nvPr>
              <p:custDataLst>
                <p:tags r:id="rId30"/>
              </p:custDataLst>
            </p:nvPr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9580" name="Text Box 108"/>
            <p:cNvSpPr txBox="1"/>
            <p:nvPr>
              <p:custDataLst>
                <p:tags r:id="rId31"/>
              </p:custDataLst>
            </p:nvPr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21640" name="Group 72"/>
          <p:cNvGrpSpPr/>
          <p:nvPr>
            <p:custDataLst>
              <p:tags r:id="rId32"/>
            </p:custDataLst>
          </p:nvPr>
        </p:nvGrpSpPr>
        <p:grpSpPr>
          <a:xfrm>
            <a:off x="6646863" y="4276725"/>
            <a:ext cx="431800" cy="601663"/>
            <a:chOff x="3198" y="1525"/>
            <a:chExt cx="272" cy="379"/>
          </a:xfrm>
        </p:grpSpPr>
        <p:sp>
          <p:nvSpPr>
            <p:cNvPr id="109577" name="Line 73"/>
            <p:cNvSpPr/>
            <p:nvPr>
              <p:custDataLst>
                <p:tags r:id="rId33"/>
              </p:custDataLst>
            </p:nvPr>
          </p:nvSpPr>
          <p:spPr>
            <a:xfrm flipV="1">
              <a:off x="3470" y="1525"/>
              <a:ext cx="0" cy="27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9578" name="Text Box 74"/>
            <p:cNvSpPr txBox="1"/>
            <p:nvPr>
              <p:custDataLst>
                <p:tags r:id="rId34"/>
              </p:custDataLst>
            </p:nvPr>
          </p:nvSpPr>
          <p:spPr>
            <a:xfrm>
              <a:off x="3198" y="1616"/>
              <a:ext cx="2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2400" b="1" dirty="0">
                  <a:solidFill>
                    <a:srgbClr val="F402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 b="1" dirty="0">
                <a:solidFill>
                  <a:srgbClr val="F402F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2" name="Rectangle 4"/>
          <p:cNvSpPr/>
          <p:nvPr/>
        </p:nvSpPr>
        <p:spPr>
          <a:xfrm>
            <a:off x="6501130" y="5155883"/>
            <a:ext cx="4105275" cy="4851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lvl="0" algn="l" eaLnBrk="1" hangingPunct="1">
              <a:lnSpc>
                <a:spcPct val="80000"/>
              </a:lnSpc>
              <a:buNone/>
              <a:defRPr/>
            </a:pPr>
            <a:r>
              <a:rPr lang="en-US" altLang="zh-CN" b="1" kern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</a:rPr>
              <a:t>注意：指针的当前值</a:t>
            </a:r>
            <a:endParaRPr lang="en-US" altLang="zh-CN" b="1" kern="0" noProof="0" dirty="0">
              <a:ln>
                <a:noFill/>
              </a:ln>
              <a:solidFill>
                <a:srgbClr val="F4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216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2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53988" y="0"/>
            <a:ext cx="2771775" cy="7651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修改方法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3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22595" name="Rectangle 3"/>
          <p:cNvSpPr>
            <a:spLocks noGrp="1" noChangeArrowheads="1"/>
          </p:cNvSpPr>
          <p:nvPr>
            <p:ph idx="1"/>
          </p:nvPr>
        </p:nvSpPr>
        <p:spPr>
          <a:xfrm>
            <a:off x="82550" y="609600"/>
            <a:ext cx="8404225" cy="64389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#define SIZE 10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main(){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int  i, *p, a[SIZE];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p=a;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for( i=0; i&lt;SIZE; i++)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scanf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("%d", p++);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for( i=0; i&lt;SIZE; i++){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p--;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("%d ", *p );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6B1E58-247E-4B44-B401-A5DDC8E1E55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10597" name="Group 4"/>
          <p:cNvGrpSpPr/>
          <p:nvPr/>
        </p:nvGrpSpPr>
        <p:grpSpPr>
          <a:xfrm>
            <a:off x="6805295" y="2346325"/>
            <a:ext cx="5316855" cy="1727200"/>
            <a:chOff x="567" y="845"/>
            <a:chExt cx="3447" cy="1088"/>
          </a:xfrm>
        </p:grpSpPr>
        <p:sp>
          <p:nvSpPr>
            <p:cNvPr id="110599" name="Rectangle 5"/>
            <p:cNvSpPr/>
            <p:nvPr/>
          </p:nvSpPr>
          <p:spPr>
            <a:xfrm>
              <a:off x="567" y="845"/>
              <a:ext cx="3447" cy="10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grpSp>
          <p:nvGrpSpPr>
            <p:cNvPr id="110600" name="Group 6"/>
            <p:cNvGrpSpPr/>
            <p:nvPr/>
          </p:nvGrpSpPr>
          <p:grpSpPr>
            <a:xfrm>
              <a:off x="612" y="919"/>
              <a:ext cx="3084" cy="635"/>
              <a:chOff x="2200" y="935"/>
              <a:chExt cx="3084" cy="635"/>
            </a:xfrm>
          </p:grpSpPr>
          <p:sp>
            <p:nvSpPr>
              <p:cNvPr id="110609" name="Text Box 7"/>
              <p:cNvSpPr txBox="1"/>
              <p:nvPr/>
            </p:nvSpPr>
            <p:spPr>
              <a:xfrm>
                <a:off x="2200" y="1253"/>
                <a:ext cx="68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None/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数组</a:t>
                </a:r>
                <a:r>
                  <a:rPr lang="en-US" altLang="zh-CN" sz="2400" b="1" dirty="0">
                    <a:latin typeface="Arial" panose="020B0604020202020204" pitchFamily="34" charset="0"/>
                  </a:rPr>
                  <a:t>a: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0610" name="Rectangle 8"/>
              <p:cNvSpPr/>
              <p:nvPr/>
            </p:nvSpPr>
            <p:spPr>
              <a:xfrm>
                <a:off x="2971" y="1207"/>
                <a:ext cx="2313" cy="36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/>
                <a:endParaRPr lang="zh-CN" altLang="en-US" b="1" dirty="0"/>
              </a:p>
            </p:txBody>
          </p:sp>
          <p:sp>
            <p:nvSpPr>
              <p:cNvPr id="110611" name="Line 9"/>
              <p:cNvSpPr/>
              <p:nvPr/>
            </p:nvSpPr>
            <p:spPr>
              <a:xfrm>
                <a:off x="3198" y="1237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12" name="Line 10"/>
              <p:cNvSpPr/>
              <p:nvPr/>
            </p:nvSpPr>
            <p:spPr>
              <a:xfrm>
                <a:off x="3424" y="1237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13" name="Line 11"/>
              <p:cNvSpPr/>
              <p:nvPr/>
            </p:nvSpPr>
            <p:spPr>
              <a:xfrm>
                <a:off x="3651" y="1237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14" name="Line 12"/>
              <p:cNvSpPr/>
              <p:nvPr/>
            </p:nvSpPr>
            <p:spPr>
              <a:xfrm>
                <a:off x="3878" y="1237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15" name="Line 13"/>
              <p:cNvSpPr/>
              <p:nvPr/>
            </p:nvSpPr>
            <p:spPr>
              <a:xfrm>
                <a:off x="4105" y="1237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16" name="Line 14"/>
              <p:cNvSpPr/>
              <p:nvPr/>
            </p:nvSpPr>
            <p:spPr>
              <a:xfrm>
                <a:off x="4332" y="1237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17" name="Line 15"/>
              <p:cNvSpPr/>
              <p:nvPr/>
            </p:nvSpPr>
            <p:spPr>
              <a:xfrm>
                <a:off x="4604" y="1237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18" name="Text Box 16"/>
              <p:cNvSpPr txBox="1"/>
              <p:nvPr/>
            </p:nvSpPr>
            <p:spPr>
              <a:xfrm>
                <a:off x="2245" y="965"/>
                <a:ext cx="68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None/>
                </a:pPr>
                <a:r>
                  <a:rPr lang="zh-CN" altLang="en-US" sz="2400" b="1" dirty="0">
                    <a:latin typeface="Arial" panose="020B0604020202020204" pitchFamily="34" charset="0"/>
                  </a:rPr>
                  <a:t>下标</a:t>
                </a:r>
                <a:r>
                  <a:rPr lang="en-US" altLang="zh-CN" sz="2400" b="1" dirty="0">
                    <a:latin typeface="Arial" panose="020B0604020202020204" pitchFamily="34" charset="0"/>
                  </a:rPr>
                  <a:t>: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0619" name="Text Box 17"/>
              <p:cNvSpPr txBox="1"/>
              <p:nvPr/>
            </p:nvSpPr>
            <p:spPr>
              <a:xfrm>
                <a:off x="2970" y="935"/>
                <a:ext cx="231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0  1  2  3  4   5   6  7  8  9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0620" name="Line 18"/>
              <p:cNvSpPr/>
              <p:nvPr/>
            </p:nvSpPr>
            <p:spPr>
              <a:xfrm>
                <a:off x="4831" y="1253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21" name="Line 19"/>
              <p:cNvSpPr/>
              <p:nvPr/>
            </p:nvSpPr>
            <p:spPr>
              <a:xfrm>
                <a:off x="3198" y="1222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22" name="Line 20"/>
              <p:cNvSpPr/>
              <p:nvPr/>
            </p:nvSpPr>
            <p:spPr>
              <a:xfrm>
                <a:off x="3424" y="1222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23" name="Line 21"/>
              <p:cNvSpPr/>
              <p:nvPr/>
            </p:nvSpPr>
            <p:spPr>
              <a:xfrm>
                <a:off x="3651" y="1222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24" name="Line 22"/>
              <p:cNvSpPr/>
              <p:nvPr/>
            </p:nvSpPr>
            <p:spPr>
              <a:xfrm>
                <a:off x="3878" y="1222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25" name="Line 23"/>
              <p:cNvSpPr/>
              <p:nvPr/>
            </p:nvSpPr>
            <p:spPr>
              <a:xfrm>
                <a:off x="4105" y="1222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26" name="Line 24"/>
              <p:cNvSpPr/>
              <p:nvPr/>
            </p:nvSpPr>
            <p:spPr>
              <a:xfrm>
                <a:off x="4332" y="1222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27" name="Line 25"/>
              <p:cNvSpPr/>
              <p:nvPr/>
            </p:nvSpPr>
            <p:spPr>
              <a:xfrm>
                <a:off x="4604" y="1222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30" name="Line 28"/>
              <p:cNvSpPr/>
              <p:nvPr/>
            </p:nvSpPr>
            <p:spPr>
              <a:xfrm>
                <a:off x="5057" y="1207"/>
                <a:ext cx="0" cy="3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31" name="Line 29"/>
              <p:cNvSpPr/>
              <p:nvPr/>
            </p:nvSpPr>
            <p:spPr>
              <a:xfrm>
                <a:off x="4831" y="1207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0601" name="Text Box 30"/>
            <p:cNvSpPr txBox="1"/>
            <p:nvPr/>
          </p:nvSpPr>
          <p:spPr>
            <a:xfrm>
              <a:off x="3469" y="1282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57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10602" name="Text Box 31"/>
            <p:cNvSpPr txBox="1"/>
            <p:nvPr/>
          </p:nvSpPr>
          <p:spPr>
            <a:xfrm>
              <a:off x="1337" y="1282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11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10603" name="Text Box 32"/>
            <p:cNvSpPr txBox="1"/>
            <p:nvPr/>
          </p:nvSpPr>
          <p:spPr>
            <a:xfrm>
              <a:off x="1564" y="1282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19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10604" name="Text Box 33"/>
            <p:cNvSpPr txBox="1"/>
            <p:nvPr/>
          </p:nvSpPr>
          <p:spPr>
            <a:xfrm>
              <a:off x="1836" y="1282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14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10605" name="Text Box 34"/>
            <p:cNvSpPr txBox="1"/>
            <p:nvPr/>
          </p:nvSpPr>
          <p:spPr>
            <a:xfrm>
              <a:off x="3197" y="1282"/>
              <a:ext cx="273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None/>
              </a:pPr>
              <a:r>
                <a:rPr lang="en-US" altLang="zh-CN" sz="1600" b="1" dirty="0">
                  <a:latin typeface="Arial" panose="020B0604020202020204" pitchFamily="34" charset="0"/>
                </a:rPr>
                <a:t>89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grpSp>
          <p:nvGrpSpPr>
            <p:cNvPr id="110606" name="Group 35"/>
            <p:cNvGrpSpPr/>
            <p:nvPr/>
          </p:nvGrpSpPr>
          <p:grpSpPr>
            <a:xfrm>
              <a:off x="3560" y="1525"/>
              <a:ext cx="272" cy="381"/>
              <a:chOff x="3198" y="1525"/>
              <a:chExt cx="272" cy="381"/>
            </a:xfrm>
          </p:grpSpPr>
          <p:sp>
            <p:nvSpPr>
              <p:cNvPr id="110607" name="Line 36"/>
              <p:cNvSpPr/>
              <p:nvPr/>
            </p:nvSpPr>
            <p:spPr>
              <a:xfrm flipV="1">
                <a:off x="3470" y="1525"/>
                <a:ext cx="0" cy="27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10608" name="Text Box 37"/>
              <p:cNvSpPr txBox="1"/>
              <p:nvPr/>
            </p:nvSpPr>
            <p:spPr>
              <a:xfrm>
                <a:off x="3198" y="1616"/>
                <a:ext cx="22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effectLst/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Tx/>
                  <a:buNone/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p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9" name="线形标注 1 38"/>
          <p:cNvSpPr/>
          <p:nvPr/>
        </p:nvSpPr>
        <p:spPr>
          <a:xfrm>
            <a:off x="4380865" y="5028883"/>
            <a:ext cx="3962400" cy="536575"/>
          </a:xfrm>
          <a:prstGeom prst="borderCallout1">
            <a:avLst>
              <a:gd name="adj1" fmla="val 36829"/>
              <a:gd name="adj2" fmla="val -1847"/>
              <a:gd name="adj3" fmla="val -45384"/>
              <a:gd name="adj4" fmla="val -17868"/>
            </a:avLst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None/>
            </a:pPr>
            <a:r>
              <a:rPr lang="en-US" altLang="zh-CN" b="1" dirty="0">
                <a:latin typeface="Arial" panose="020B0604020202020204" pitchFamily="34" charset="0"/>
              </a:rPr>
              <a:t>printf("%d ", </a:t>
            </a:r>
            <a:r>
              <a:rPr lang="en-US" altLang="zh-CN" b="1" dirty="0">
                <a:solidFill>
                  <a:srgbClr val="F402FC"/>
                </a:solidFill>
                <a:latin typeface="Arial" panose="020B0604020202020204" pitchFamily="34" charset="0"/>
              </a:rPr>
              <a:t>*(--p)</a:t>
            </a:r>
            <a:r>
              <a:rPr lang="en-US" altLang="zh-CN" b="1" dirty="0">
                <a:latin typeface="Arial" panose="020B0604020202020204" pitchFamily="34" charset="0"/>
              </a:rPr>
              <a:t>);</a:t>
            </a:r>
            <a:endParaRPr lang="zh-CN" altLang="en-US" b="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algn="ctr" eaLnBrk="1" hangingPunct="1">
              <a:buClrTx/>
              <a:buSzTx/>
              <a:buFontTx/>
            </a:pP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注意</a:t>
            </a:r>
            <a:r>
              <a:rPr lang="en-US" altLang="zh-CN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zh-CN" altLang="en-US" sz="44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数组</a:t>
            </a:r>
            <a:r>
              <a:rPr lang="zh-CN" altLang="en-US" sz="44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越界</a:t>
            </a:r>
            <a:endParaRPr lang="zh-CN" altLang="en-US" sz="44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0C6EA3-C02A-42F6-8BF4-72FE638130D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4400" y="1219200"/>
            <a:ext cx="9468485" cy="34131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kern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华文楷体" pitchFamily="2" charset="-122"/>
                <a:sym typeface="+mn-ea"/>
              </a:rPr>
              <a:t>C</a:t>
            </a:r>
            <a:r>
              <a:rPr lang="zh-CN" altLang="en-US" sz="3200" kern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华文楷体" pitchFamily="2" charset="-122"/>
                <a:ea typeface="华文楷体" pitchFamily="2" charset="-122"/>
                <a:sym typeface="+mn-ea"/>
              </a:rPr>
              <a:t>系统不检查数组越界</a:t>
            </a:r>
            <a:endParaRPr lang="zh-CN" altLang="en-US" sz="3200" kern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华文楷体" pitchFamily="2" charset="-122"/>
              <a:ea typeface="华文楷体" pitchFamily="2" charset="-122"/>
              <a:sym typeface="+mn-ea"/>
            </a:endParaRPr>
          </a:p>
          <a:p>
            <a:r>
              <a:rPr lang="en-US" altLang="zh-CN" sz="3200" dirty="0">
                <a:sym typeface="+mn-ea"/>
              </a:rPr>
              <a:t>int  a[10],*p, sum=0,i ;</a:t>
            </a:r>
            <a:endParaRPr lang="en-US" altLang="zh-CN" sz="3200" dirty="0">
              <a:sym typeface="+mn-ea"/>
            </a:endParaRPr>
          </a:p>
          <a:p>
            <a:r>
              <a:rPr lang="en-US" altLang="zh-CN" sz="3200" dirty="0">
                <a:solidFill>
                  <a:schemeClr val="tx1">
                    <a:lumMod val="65000"/>
                  </a:schemeClr>
                </a:solidFill>
                <a:sym typeface="+mn-ea"/>
              </a:rPr>
              <a:t>……//</a:t>
            </a:r>
            <a:r>
              <a:rPr lang="zh-CN" altLang="en-US" sz="3200" dirty="0">
                <a:solidFill>
                  <a:schemeClr val="tx1">
                    <a:lumMod val="65000"/>
                  </a:schemeClr>
                </a:solidFill>
                <a:sym typeface="+mn-ea"/>
              </a:rPr>
              <a:t>输入</a:t>
            </a:r>
            <a:endParaRPr lang="en-US" altLang="zh-CN" sz="3200" dirty="0">
              <a:solidFill>
                <a:schemeClr val="tx1">
                  <a:lumMod val="65000"/>
                </a:schemeClr>
              </a:solidFill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p = a+5;		</a:t>
            </a:r>
            <a:r>
              <a:rPr lang="en-US" altLang="zh-CN" sz="32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//</a:t>
            </a:r>
            <a:r>
              <a:rPr lang="zh-CN" altLang="en-US" sz="32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导致</a:t>
            </a:r>
            <a:r>
              <a:rPr lang="en-US" altLang="zh-CN" sz="32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i&gt;4</a:t>
            </a:r>
            <a:r>
              <a:rPr lang="zh-CN" altLang="en-US" sz="32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时，出现下标越界</a:t>
            </a:r>
            <a:endParaRPr lang="en-US" altLang="zh-CN" sz="3200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for(i=0;i&lt;9;i++)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457200" algn="l" defTabSz="914400" rtl="0" eaLnBrk="1" fontAlgn="base" latinLnBrk="0" hangingPunct="1">
              <a:lnSpc>
                <a:spcPct val="11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en-US" altLang="zh-CN" sz="32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sum+=*(</a:t>
            </a:r>
            <a:r>
              <a:rPr lang="en-US" altLang="zh-CN" sz="3200" kern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p+i</a:t>
            </a:r>
            <a:r>
              <a:rPr lang="en-US" altLang="zh-CN" sz="32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) ; </a:t>
            </a:r>
            <a:r>
              <a:rPr lang="en-US" altLang="zh-CN" sz="3200" kern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sym typeface="+mn-ea"/>
              </a:rPr>
              <a:t> </a:t>
            </a:r>
            <a:endParaRPr lang="zh-CN" altLang="en-US" sz="3200" kern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  <a:sym typeface="+mn-ea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38200" y="5071745"/>
            <a:ext cx="9708515" cy="1309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#define SIZE 257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char  a[SIZE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+50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]={0}; 	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初始化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090F62E-F859-4ECD-A882-CDC58FB6F32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type="title"/>
          </p:nvPr>
        </p:nvSpPr>
        <p:spPr>
          <a:xfrm>
            <a:off x="228600" y="457200"/>
            <a:ext cx="8229600" cy="836613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600" b="1" dirty="0">
                <a:solidFill>
                  <a:srgbClr val="FF9900"/>
                </a:solidFill>
                <a:effectLst/>
                <a:ea typeface="黑体" panose="02010609060101010101" pitchFamily="49" charset="-122"/>
              </a:rPr>
              <a:t>§7.5.4 </a:t>
            </a:r>
            <a:r>
              <a:rPr lang="zh-CN" altLang="en-US" sz="3600" b="1" dirty="0">
                <a:solidFill>
                  <a:srgbClr val="FF9900"/>
                </a:solidFill>
                <a:effectLst/>
                <a:ea typeface="黑体" panose="02010609060101010101" pitchFamily="49" charset="-122"/>
              </a:rPr>
              <a:t>二</a:t>
            </a:r>
            <a:r>
              <a:rPr lang="zh-CN" altLang="en-US" sz="3600" b="1" dirty="0">
                <a:solidFill>
                  <a:srgbClr val="FF9900"/>
                </a:solidFill>
                <a:effectLst/>
                <a:ea typeface="黑体" panose="02010609060101010101" pitchFamily="49" charset="-122"/>
              </a:rPr>
              <a:t>维数组与指针</a:t>
            </a:r>
            <a:endParaRPr lang="zh-CN" altLang="en-US" sz="3600" b="1" dirty="0">
              <a:solidFill>
                <a:srgbClr val="FF9900"/>
              </a:solidFill>
              <a:effectLst/>
              <a:ea typeface="黑体" panose="02010609060101010101" pitchFamily="49" charset="-122"/>
            </a:endParaRPr>
          </a:p>
        </p:txBody>
      </p:sp>
      <p:sp>
        <p:nvSpPr>
          <p:cNvPr id="55300" name="Rectangle 4"/>
          <p:cNvSpPr>
            <a:spLocks noGrp="1" noChangeArrowheads="1"/>
          </p:cNvSpPr>
          <p:nvPr>
            <p:ph idx="1"/>
          </p:nvPr>
        </p:nvSpPr>
        <p:spPr>
          <a:xfrm>
            <a:off x="446405" y="1987550"/>
            <a:ext cx="8676005" cy="288353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以 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int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类型二维数组为例，说明：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二维数组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指针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之间的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关系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如何用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指针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表示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二维数组及其元素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如何用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指针</a:t>
            </a:r>
            <a:r>
              <a:rPr lang="en-US" altLang="zh-CN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b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访问</a:t>
            </a:r>
            <a:r>
              <a:rPr lang="en-US" altLang="zh-CN" b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b="1" noProof="0" dirty="0">
                <a:ln>
                  <a:noFill/>
                </a:ln>
                <a:effectLst/>
                <a:uLnTx/>
                <a:uFillTx/>
                <a:ea typeface="黑体" panose="02010609060101010101" pitchFamily="49" charset="-122"/>
                <a:sym typeface="+mn-ea"/>
              </a:rPr>
              <a:t>二维数组及其元素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485" name="AutoShape 5">
            <a:hlinkClick r:id="" action="ppaction://noaction"/>
          </p:cNvPr>
          <p:cNvSpPr/>
          <p:nvPr/>
        </p:nvSpPr>
        <p:spPr>
          <a:xfrm>
            <a:off x="11734800" y="5888038"/>
            <a:ext cx="360363" cy="360362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2470" name="Rectangle 70"/>
          <p:cNvSpPr>
            <a:spLocks noGrp="1" noChangeArrowheads="1"/>
          </p:cNvSpPr>
          <p:nvPr>
            <p:ph type="body" sz="half" idx="1"/>
          </p:nvPr>
        </p:nvSpPr>
        <p:spPr>
          <a:xfrm>
            <a:off x="52388" y="5018088"/>
            <a:ext cx="11288713" cy="18399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例如，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a[2][1]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的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地址：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        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p+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402FC"/>
                </a:solidFill>
                <a:effectLst/>
                <a:latin typeface="+mn-lt"/>
                <a:cs typeface="+mn-cs"/>
              </a:rPr>
              <a:t>2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*4+</a:t>
            </a:r>
            <a:r>
              <a:rPr kumimoji="0" lang="en-US" altLang="zh-CN" sz="2800" b="1" i="0" u="none" strike="noStrike" kern="1200" cap="none" spc="0" normalizeH="0" baseline="0" dirty="0">
                <a:solidFill>
                  <a:srgbClr val="F402FC"/>
                </a:solidFill>
                <a:effectLst/>
                <a:latin typeface="+mn-lt"/>
                <a:cs typeface="+mn-cs"/>
              </a:rPr>
              <a:t>1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地址计算公式：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基点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+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行数 * 每行元素个数  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+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剩余行的零头元素个数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5" name="灯片编号占位符 6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1650663" y="5681663"/>
            <a:ext cx="477838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AB9A87-E301-47AE-AC04-FD737B2FD0F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742474" name="Group 74"/>
          <p:cNvGraphicFramePr>
            <a:graphicFrameLocks noGrp="1"/>
          </p:cNvGraphicFramePr>
          <p:nvPr>
            <p:ph sz="half" idx="1"/>
          </p:nvPr>
        </p:nvGraphicFramePr>
        <p:xfrm>
          <a:off x="6200775" y="209550"/>
          <a:ext cx="3495675" cy="5973763"/>
        </p:xfrm>
        <a:graphic>
          <a:graphicData uri="http://schemas.openxmlformats.org/drawingml/2006/table">
            <a:tbl>
              <a:tblPr/>
              <a:tblGrid>
                <a:gridCol w="1511391"/>
                <a:gridCol w="1047813"/>
                <a:gridCol w="936471"/>
              </a:tblGrid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成分</a:t>
                      </a:r>
                      <a:endParaRPr kumimoji="0" lang="zh-CN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内存</a:t>
                      </a:r>
                      <a:endParaRPr kumimoji="0" lang="zh-CN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a[2][3]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A02C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a[2][2]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A028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solidFill>
                            <a:srgbClr val="F402FC"/>
                          </a:solidFill>
                          <a:effectLst/>
                        </a:rPr>
                        <a:t>a[2][1]</a:t>
                      </a:r>
                      <a:endParaRPr kumimoji="0" lang="en-US" altLang="zh-CN" sz="2400" b="1" i="0" u="none" strike="noStrike" cap="none" normalizeH="0" baseline="0" dirty="0">
                        <a:solidFill>
                          <a:srgbClr val="F402FC"/>
                        </a:solidFill>
                        <a:effectLst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A024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a[2][0]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A020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a[1][3]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A01C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a[1][2]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A018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a[1][1]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A014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a[1][0]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A010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a[0][3]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A00C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a[0][2]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A008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a[0][1]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A004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a[0][0]</a:t>
                      </a:r>
                      <a:endParaRPr kumimoji="0" lang="en-US" altLang="zh-CN" sz="2200" b="1" i="0" u="none" strike="noStrike" cap="none" normalizeH="0" baseline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A000</a:t>
                      </a:r>
                      <a:endParaRPr kumimoji="0" lang="en-US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10" marB="45710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6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91446" marR="91446" marT="45711" marB="45711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90" name="AutoShape 71">
            <a:hlinkClick r:id="" action="ppaction://noaction"/>
          </p:cNvPr>
          <p:cNvSpPr/>
          <p:nvPr/>
        </p:nvSpPr>
        <p:spPr>
          <a:xfrm>
            <a:off x="11779250" y="6113463"/>
            <a:ext cx="360363" cy="360362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63551" name="Rectangle 72"/>
          <p:cNvSpPr/>
          <p:nvPr/>
        </p:nvSpPr>
        <p:spPr>
          <a:xfrm>
            <a:off x="761683" y="609600"/>
            <a:ext cx="4932362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若已有：</a:t>
            </a:r>
            <a:endParaRPr lang="en-US" altLang="zh-CN" sz="2800" b="1" dirty="0"/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int a[3][4];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tx1"/>
                </a:solidFill>
              </a:rPr>
              <a:t>int *p = &amp;a[0][0];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endParaRPr lang="en-US" altLang="zh-CN" sz="2800" b="1" dirty="0">
              <a:solidFill>
                <a:schemeClr val="hlink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则</a:t>
            </a:r>
            <a:r>
              <a:rPr lang="en-US" altLang="zh-CN" sz="2800" b="1" dirty="0">
                <a:solidFill>
                  <a:schemeClr val="tx1"/>
                </a:solidFill>
              </a:rPr>
              <a:t>a[i][j] </a:t>
            </a:r>
            <a:r>
              <a:rPr lang="zh-CN" altLang="en-US" sz="2800" b="1" dirty="0">
                <a:solidFill>
                  <a:schemeClr val="tx1"/>
                </a:solidFill>
              </a:rPr>
              <a:t>的地址是多少？</a:t>
            </a:r>
            <a:r>
              <a:rPr lang="en-US" altLang="zh-CN" sz="2800" b="1" dirty="0">
                <a:solidFill>
                  <a:schemeClr val="tx1"/>
                </a:solidFill>
              </a:rPr>
              <a:t>    </a:t>
            </a:r>
            <a:endParaRPr lang="en-US" altLang="zh-CN" sz="2800" b="1" dirty="0">
              <a:solidFill>
                <a:schemeClr val="hlink"/>
              </a:solidFill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chemeClr val="hlink"/>
                </a:solidFill>
              </a:rPr>
              <a:t>		 p+</a:t>
            </a:r>
            <a:r>
              <a:rPr lang="en-US" altLang="zh-CN" sz="2800" b="1" dirty="0">
                <a:solidFill>
                  <a:srgbClr val="F402FC"/>
                </a:solidFill>
              </a:rPr>
              <a:t>i</a:t>
            </a:r>
            <a:r>
              <a:rPr lang="en-US" altLang="zh-CN" sz="2800" b="1" dirty="0">
                <a:solidFill>
                  <a:schemeClr val="hlink"/>
                </a:solidFill>
              </a:rPr>
              <a:t>*N+</a:t>
            </a:r>
            <a:r>
              <a:rPr lang="en-US" altLang="zh-CN" sz="2800" b="1" dirty="0">
                <a:solidFill>
                  <a:srgbClr val="F402FC"/>
                </a:solidFill>
              </a:rPr>
              <a:t>j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22592" name="直接箭头连接符 2"/>
          <p:cNvCxnSpPr/>
          <p:nvPr/>
        </p:nvCxnSpPr>
        <p:spPr>
          <a:xfrm flipH="1">
            <a:off x="9713913" y="5653405"/>
            <a:ext cx="611187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2593" name="TextBox 4"/>
          <p:cNvSpPr txBox="1"/>
          <p:nvPr/>
        </p:nvSpPr>
        <p:spPr>
          <a:xfrm>
            <a:off x="10287000" y="5410200"/>
            <a:ext cx="502920" cy="5467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b="1" dirty="0">
                <a:solidFill>
                  <a:srgbClr val="F402FC"/>
                </a:solidFill>
              </a:rPr>
              <a:t>p</a:t>
            </a:r>
            <a:endParaRPr lang="en-US" altLang="zh-CN" b="1" dirty="0">
              <a:solidFill>
                <a:srgbClr val="F402F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70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2470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70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2470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70">
                                            <p:txEl>
                                              <p:charRg st="36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42470">
                                            <p:txEl>
                                              <p:charRg st="36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9973A6-C5EB-4ACC-9036-4F900BE4836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>
          <a:xfrm>
            <a:off x="281305" y="1122680"/>
            <a:ext cx="4775835" cy="207264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b="1" dirty="0">
                <a:effectLst/>
                <a:ea typeface="黑体" panose="02010609060101010101" pitchFamily="49" charset="-122"/>
              </a:rPr>
              <a:t>取出 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a[</a:t>
            </a:r>
            <a:r>
              <a:rPr lang="en-US" altLang="zh-CN" b="1" dirty="0">
                <a:solidFill>
                  <a:srgbClr val="F402FC"/>
                </a:solidFill>
                <a:effectLst/>
                <a:ea typeface="黑体" panose="02010609060101010101" pitchFamily="49" charset="-122"/>
              </a:rPr>
              <a:t>i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][</a:t>
            </a:r>
            <a:r>
              <a:rPr lang="en-US" altLang="zh-CN" b="1" dirty="0">
                <a:solidFill>
                  <a:srgbClr val="F402FC"/>
                </a:solidFill>
                <a:effectLst/>
                <a:ea typeface="黑体" panose="02010609060101010101" pitchFamily="49" charset="-122"/>
              </a:rPr>
              <a:t>j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] 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：	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		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 marL="457200" lvl="1" indent="457200" eaLnBrk="1" hangingPunct="1">
              <a:buNone/>
            </a:pPr>
            <a:r>
              <a:rPr lang="en-US" altLang="zh-CN" sz="2800" b="1" dirty="0">
                <a:effectLst/>
                <a:ea typeface="黑体" panose="02010609060101010101" pitchFamily="49" charset="-122"/>
              </a:rPr>
              <a:t>x = a[i][j];   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或 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	</a:t>
            </a:r>
            <a:endParaRPr lang="en-US" altLang="zh-CN" sz="2800" b="1" dirty="0">
              <a:effectLst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800" b="1" dirty="0">
                <a:effectLst/>
                <a:ea typeface="黑体" panose="02010609060101010101" pitchFamily="49" charset="-122"/>
              </a:rPr>
              <a:t>	 	x = </a:t>
            </a:r>
            <a:r>
              <a:rPr lang="en-US" altLang="zh-CN" sz="2800" b="1" dirty="0">
                <a:solidFill>
                  <a:schemeClr val="hlink"/>
                </a:solidFill>
                <a:effectLst/>
                <a:ea typeface="黑体" panose="02010609060101010101" pitchFamily="49" charset="-122"/>
              </a:rPr>
              <a:t>*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(p+</a:t>
            </a:r>
            <a:r>
              <a:rPr lang="en-US" altLang="zh-CN" sz="3200" b="1" dirty="0">
                <a:solidFill>
                  <a:srgbClr val="F402FC"/>
                </a:solidFill>
                <a:effectLst/>
                <a:ea typeface="黑体" panose="02010609060101010101" pitchFamily="49" charset="-122"/>
              </a:rPr>
              <a:t>i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*N+</a:t>
            </a:r>
            <a:r>
              <a:rPr lang="en-US" altLang="zh-CN" sz="3200" b="1" dirty="0">
                <a:solidFill>
                  <a:srgbClr val="F402FC"/>
                </a:solidFill>
                <a:effectLst/>
                <a:ea typeface="黑体" panose="02010609060101010101" pitchFamily="49" charset="-122"/>
              </a:rPr>
              <a:t>j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);</a:t>
            </a:r>
            <a:endParaRPr lang="en-US" altLang="zh-CN" sz="2800" b="1" dirty="0">
              <a:effectLst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			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</p:txBody>
      </p:sp>
      <p:sp>
        <p:nvSpPr>
          <p:cNvPr id="24580" name="AutoShape 5">
            <a:hlinkClick r:id="" action="ppaction://noaction"/>
          </p:cNvPr>
          <p:cNvSpPr/>
          <p:nvPr/>
        </p:nvSpPr>
        <p:spPr>
          <a:xfrm>
            <a:off x="11745913" y="6067425"/>
            <a:ext cx="360362" cy="360363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14325" y="3906838"/>
            <a:ext cx="5967413" cy="18288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存入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a[</a:t>
            </a:r>
            <a:r>
              <a:rPr kumimoji="0" lang="en-US" altLang="zh-CN" sz="3200" b="1" i="0" u="none" strike="noStrike" kern="0" cap="none" spc="0" normalizeH="0" baseline="0" dirty="0">
                <a:solidFill>
                  <a:srgbClr val="F402FC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][</a:t>
            </a:r>
            <a:r>
              <a:rPr kumimoji="0" lang="en-US" altLang="zh-CN" sz="3200" b="1" i="0" u="none" strike="noStrike" kern="0" cap="none" spc="0" normalizeH="0" baseline="0" dirty="0">
                <a:solidFill>
                  <a:srgbClr val="F402FC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j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]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：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a[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][j] = e; 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或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		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*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p+</a:t>
            </a:r>
            <a:r>
              <a:rPr kumimoji="0" lang="en-US" altLang="zh-CN" sz="3200" b="1" i="0" u="none" strike="noStrike" kern="0" cap="none" spc="0" normalizeH="0" baseline="0" dirty="0">
                <a:solidFill>
                  <a:srgbClr val="F402FC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*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n+</a:t>
            </a:r>
            <a:r>
              <a:rPr kumimoji="0" lang="en-US" altLang="zh-CN" sz="3200" b="1" i="0" u="none" strike="noStrike" kern="0" cap="none" spc="0" normalizeH="0" baseline="0" dirty="0">
                <a:solidFill>
                  <a:srgbClr val="F402FC"/>
                </a:solidFill>
                <a:effectLst/>
                <a:latin typeface="+mn-lt"/>
                <a:ea typeface="黑体" panose="02010609060101010101" pitchFamily="49" charset="-122"/>
                <a:cs typeface="+mn-cs"/>
              </a:rPr>
              <a:t>j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黑体" panose="02010609060101010101" pitchFamily="49" charset="-122"/>
                <a:cs typeface="+mn-cs"/>
              </a:rPr>
              <a:t>) = e;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582" name="矩形 1"/>
          <p:cNvSpPr/>
          <p:nvPr/>
        </p:nvSpPr>
        <p:spPr>
          <a:xfrm>
            <a:off x="265113" y="112713"/>
            <a:ext cx="6364287" cy="598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b="1" dirty="0"/>
              <a:t>前面已有：</a:t>
            </a:r>
            <a:r>
              <a:rPr lang="en-US" altLang="zh-CN" b="1" dirty="0">
                <a:solidFill>
                  <a:srgbClr val="FFFF00"/>
                </a:solidFill>
              </a:rPr>
              <a:t>int *p = &amp;a[0][0];</a:t>
            </a:r>
            <a:endParaRPr lang="en-US" altLang="zh-CN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9FDC42-6FBD-48A0-8708-8F4D56B3F76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type="title"/>
          </p:nvPr>
        </p:nvSpPr>
        <p:spPr>
          <a:xfrm>
            <a:off x="115888" y="22225"/>
            <a:ext cx="11466512" cy="81915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effectLst/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7.8】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编函数，求给定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float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型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m*n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个元素的数组各元素之乘积。</a:t>
            </a:r>
            <a:endParaRPr lang="zh-CN" altLang="en-US" sz="2800" b="1" dirty="0">
              <a:effectLst/>
              <a:ea typeface="黑体" panose="02010609060101010101" pitchFamily="49" charset="-122"/>
            </a:endParaRPr>
          </a:p>
        </p:txBody>
      </p:sp>
      <p:sp>
        <p:nvSpPr>
          <p:cNvPr id="744452" name="Rectangle 4"/>
          <p:cNvSpPr/>
          <p:nvPr/>
        </p:nvSpPr>
        <p:spPr>
          <a:xfrm>
            <a:off x="115888" y="1223963"/>
            <a:ext cx="6156325" cy="39077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3200" b="1" kern="0" dirty="0">
                <a:solidFill>
                  <a:srgbClr val="F402FC"/>
                </a:solidFill>
                <a:ea typeface="黑体" panose="02010609060101010101" pitchFamily="49" charset="-122"/>
              </a:rPr>
              <a:t>//方法1：</a:t>
            </a:r>
            <a:endParaRPr lang="en-US" altLang="zh-CN" sz="3200" b="1" kern="0" dirty="0">
              <a:solidFill>
                <a:srgbClr val="F402FC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float  arrmul1(int m , int n , </a:t>
            </a:r>
            <a:r>
              <a:rPr lang="en-US" altLang="zh-CN" sz="2400" b="1" dirty="0">
                <a:solidFill>
                  <a:srgbClr val="F402FC"/>
                </a:solidFill>
                <a:ea typeface="黑体" panose="02010609060101010101" pitchFamily="49" charset="-122"/>
              </a:rPr>
              <a:t>float </a:t>
            </a:r>
            <a:r>
              <a:rPr lang="zh-CN" altLang="en-US" sz="2400" b="1" dirty="0">
                <a:solidFill>
                  <a:srgbClr val="F402FC"/>
                </a:solidFill>
                <a:ea typeface="黑体" panose="02010609060101010101" pitchFamily="49" charset="-122"/>
              </a:rPr>
              <a:t>*</a:t>
            </a:r>
            <a:r>
              <a:rPr lang="en-US" altLang="zh-CN" sz="2400" b="1" dirty="0">
                <a:solidFill>
                  <a:srgbClr val="F402FC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ea typeface="黑体" panose="02010609060101010101" pitchFamily="49" charset="-122"/>
              </a:rPr>
              <a:t>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{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int  i, j;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float mul=1;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for( i=0; i&lt;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400" b="1" dirty="0">
                <a:ea typeface="黑体" panose="02010609060101010101" pitchFamily="49" charset="-122"/>
              </a:rPr>
              <a:t>; i++)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for( j=0; j&lt;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400" b="1" dirty="0">
                <a:ea typeface="黑体" panose="02010609060101010101" pitchFamily="49" charset="-122"/>
              </a:rPr>
              <a:t>; j++)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	 </a:t>
            </a:r>
            <a:r>
              <a:rPr lang="en-US" altLang="zh-CN" sz="2400" b="1" dirty="0"/>
              <a:t>mul = mul * (</a:t>
            </a:r>
            <a:r>
              <a:rPr lang="en-US" altLang="zh-CN" sz="2400" b="1" dirty="0">
                <a:solidFill>
                  <a:schemeClr val="hlink"/>
                </a:solidFill>
              </a:rPr>
              <a:t>*(p+</a:t>
            </a:r>
            <a:r>
              <a:rPr lang="en-US" altLang="zh-CN" sz="2400" b="1" dirty="0">
                <a:solidFill>
                  <a:srgbClr val="F402FC"/>
                </a:solidFill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</a:rPr>
              <a:t>*n+</a:t>
            </a:r>
            <a:r>
              <a:rPr lang="en-US" altLang="zh-CN" sz="2400" b="1" dirty="0">
                <a:solidFill>
                  <a:srgbClr val="F402FC"/>
                </a:solidFill>
              </a:rPr>
              <a:t>j</a:t>
            </a:r>
            <a:r>
              <a:rPr lang="en-US" altLang="zh-CN" sz="2400" b="1" dirty="0">
                <a:solidFill>
                  <a:schemeClr val="hlink"/>
                </a:solidFill>
              </a:rPr>
              <a:t>)</a:t>
            </a:r>
            <a:r>
              <a:rPr lang="en-US" altLang="zh-CN" sz="2400" b="1" dirty="0"/>
              <a:t>);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return  mul 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}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744453" name="Rectangle 5"/>
          <p:cNvSpPr>
            <a:spLocks noChangeArrowheads="1"/>
          </p:cNvSpPr>
          <p:nvPr/>
        </p:nvSpPr>
        <p:spPr bwMode="auto">
          <a:xfrm>
            <a:off x="7310438" y="828675"/>
            <a:ext cx="4881563" cy="52006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设有：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float a[10][15];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则函数调用形式：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arrmul1(10,15,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&amp;a[0][0]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arrmul1(10,15,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a[0]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arrmul1(10,15,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*a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以下表达式均表示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元素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][j]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的地址：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&amp;a[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][j]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a[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]+j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*(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a+i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)+j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44455" name="Rectangle 7"/>
          <p:cNvSpPr/>
          <p:nvPr/>
        </p:nvSpPr>
        <p:spPr>
          <a:xfrm>
            <a:off x="0" y="6184900"/>
            <a:ext cx="9183688" cy="485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ea typeface="黑体" panose="02010609060101010101" pitchFamily="49" charset="-122"/>
              </a:rPr>
              <a:t>本例把</a:t>
            </a:r>
            <a:r>
              <a:rPr lang="zh-CN" altLang="en-US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二维数组</a:t>
            </a:r>
            <a:r>
              <a:rPr lang="zh-CN" altLang="en-US" sz="2400" b="1" dirty="0">
                <a:ea typeface="黑体" panose="02010609060101010101" pitchFamily="49" charset="-122"/>
              </a:rPr>
              <a:t>作为</a:t>
            </a:r>
            <a:r>
              <a:rPr lang="zh-CN" altLang="en-US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一维数组</a:t>
            </a:r>
            <a:r>
              <a:rPr lang="zh-CN" altLang="en-US" sz="2400" b="1" dirty="0">
                <a:ea typeface="黑体" panose="02010609060101010101" pitchFamily="49" charset="-122"/>
              </a:rPr>
              <a:t>对待，地址计算采用一维方式进行 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26631" name="AutoShape 10">
            <a:hlinkClick r:id="" action="ppaction://noaction"/>
          </p:cNvPr>
          <p:cNvSpPr/>
          <p:nvPr/>
        </p:nvSpPr>
        <p:spPr>
          <a:xfrm>
            <a:off x="11758613" y="6005513"/>
            <a:ext cx="360362" cy="360362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358063" y="4870450"/>
            <a:ext cx="1633537" cy="1158875"/>
          </a:xfrm>
          <a:prstGeom prst="rect">
            <a:avLst/>
          </a:prstGeom>
          <a:noFill/>
          <a:ln w="31750" cap="flat" cmpd="sng">
            <a:solidFill>
              <a:srgbClr val="F402FC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7310438" y="2365375"/>
            <a:ext cx="3529012" cy="1092200"/>
          </a:xfrm>
          <a:prstGeom prst="rect">
            <a:avLst/>
          </a:prstGeom>
          <a:noFill/>
          <a:ln w="31750" cap="flat" cmpd="sng">
            <a:solidFill>
              <a:srgbClr val="F402FC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3" name="标注: 线形 2"/>
          <p:cNvSpPr/>
          <p:nvPr/>
        </p:nvSpPr>
        <p:spPr>
          <a:xfrm>
            <a:off x="10296525" y="941388"/>
            <a:ext cx="1666875" cy="654050"/>
          </a:xfrm>
          <a:prstGeom prst="borderCallout1">
            <a:avLst>
              <a:gd name="adj1" fmla="val 210625"/>
              <a:gd name="adj2" fmla="val 10449"/>
              <a:gd name="adj3" fmla="val 103954"/>
              <a:gd name="adj4" fmla="val 22324"/>
            </a:avLst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FontTx/>
              <a:buNone/>
            </a:pPr>
            <a:r>
              <a:rPr lang="zh-CN" altLang="en-US" sz="1800" b="1" dirty="0"/>
              <a:t>二维数组实参</a:t>
            </a:r>
            <a:endParaRPr lang="en-US" altLang="zh-CN" sz="1800" b="1" dirty="0"/>
          </a:p>
          <a:p>
            <a:pPr marL="0" lvl="0" indent="0" eaLnBrk="1" hangingPunct="1">
              <a:buFontTx/>
              <a:buNone/>
            </a:pPr>
            <a:r>
              <a:rPr lang="en-US" altLang="zh-CN" sz="2000" b="1" dirty="0">
                <a:solidFill>
                  <a:srgbClr val="F402FC"/>
                </a:solidFill>
              </a:rPr>
              <a:t>(高频错误点)</a:t>
            </a:r>
            <a:endParaRPr lang="en-US" altLang="zh-CN" sz="2000" b="1" dirty="0">
              <a:solidFill>
                <a:srgbClr val="F402FC"/>
              </a:solidFill>
            </a:endParaRPr>
          </a:p>
        </p:txBody>
      </p:sp>
      <p:cxnSp>
        <p:nvCxnSpPr>
          <p:cNvPr id="26635" name="直接箭头连接符 4"/>
          <p:cNvCxnSpPr/>
          <p:nvPr/>
        </p:nvCxnSpPr>
        <p:spPr>
          <a:xfrm flipH="1" flipV="1">
            <a:off x="5638800" y="1981200"/>
            <a:ext cx="1692275" cy="485775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2">
                                            <p:txEl>
                                              <p:charRg st="5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2">
                                            <p:txEl>
                                              <p:charRg st="6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2">
                                            <p:txEl>
                                              <p:charRg st="80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44452">
                                            <p:txEl>
                                              <p:charRg st="80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2">
                                            <p:txEl>
                                              <p:charRg st="103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44452">
                                            <p:txEl>
                                              <p:charRg st="103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2">
                                            <p:txEl>
                                              <p:charRg st="129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44452">
                                            <p:txEl>
                                              <p:charRg st="129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2">
                                            <p:txEl>
                                              <p:charRg st="157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44452">
                                            <p:txEl>
                                              <p:charRg st="157" end="1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44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4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3">
                                            <p:txEl>
                                              <p:charRg st="101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3">
                                            <p:txEl>
                                              <p:charRg st="110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3">
                                            <p:txEl>
                                              <p:charRg st="124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3">
                                            <p:txEl>
                                              <p:charRg st="133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3">
                                            <p:txEl>
                                              <p:charRg st="140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3">
                                            <p:txEl>
                                              <p:charRg st="57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3">
                                            <p:txEl>
                                              <p:charRg st="7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4455" grpId="0"/>
      <p:bldP spid="2" grpId="0" bldLvl="0" animBg="1"/>
      <p:bldP spid="10" grpId="0" bldLvl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667000" y="96838"/>
          <a:ext cx="8128000" cy="148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681">
                <a:tc>
                  <a:txBody>
                    <a:bodyPr/>
                    <a:lstStyle/>
                    <a:p>
                      <a:r>
                        <a:rPr lang="en-US" altLang="zh-CN" sz="1800" b="1"/>
                        <a:t>#400</a:t>
                      </a:r>
                      <a:endParaRPr lang="zh-CN" altLang="en-US" sz="1800" b="1" dirty="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/>
                        <a:t>#401</a:t>
                      </a:r>
                      <a:endParaRPr lang="zh-CN" altLang="en-US" sz="1800" b="1" dirty="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/>
                        <a:t>#402</a:t>
                      </a:r>
                      <a:endParaRPr lang="zh-CN" altLang="en-US" sz="1800" b="1" dirty="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/>
                        <a:t>#403</a:t>
                      </a:r>
                      <a:endParaRPr lang="zh-CN" altLang="en-US" sz="1800" b="1" dirty="0"/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/>
                        <a:t>#404</a:t>
                      </a:r>
                      <a:endParaRPr lang="zh-CN" altLang="en-US" sz="1800" b="1" dirty="0"/>
                    </a:p>
                  </a:txBody>
                  <a:tcPr marT="45700" marB="45700">
                    <a:noFill/>
                  </a:tcPr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#300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#301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#302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#303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#304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b="1">
                          <a:solidFill>
                            <a:schemeClr val="tx1"/>
                          </a:solidFill>
                        </a:rPr>
                        <a:t>#200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#201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#202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#203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#204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#100</a:t>
                      </a:r>
                      <a:endParaRPr lang="en-US" altLang="zh-C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#101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#102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#103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#104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T="45700" marB="45700">
                    <a:noFill/>
                  </a:tcPr>
                </a:tc>
              </a:tr>
            </a:tbl>
          </a:graphicData>
        </a:graphic>
      </p:graphicFrame>
      <p:sp>
        <p:nvSpPr>
          <p:cNvPr id="28706" name="文本框 4"/>
          <p:cNvSpPr txBox="1"/>
          <p:nvPr/>
        </p:nvSpPr>
        <p:spPr>
          <a:xfrm>
            <a:off x="1898650" y="17463"/>
            <a:ext cx="7620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4</a:t>
            </a:r>
            <a:r>
              <a:rPr lang="zh-CN" altLang="en-US" sz="2400" b="1" dirty="0">
                <a:solidFill>
                  <a:srgbClr val="FFFF00"/>
                </a:solidFill>
              </a:rPr>
              <a:t>楼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28707" name="文本框 5"/>
          <p:cNvSpPr txBox="1"/>
          <p:nvPr/>
        </p:nvSpPr>
        <p:spPr>
          <a:xfrm>
            <a:off x="1922463" y="412750"/>
            <a:ext cx="76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3</a:t>
            </a:r>
            <a:r>
              <a:rPr lang="zh-CN" altLang="en-US" sz="2400" b="1" dirty="0">
                <a:solidFill>
                  <a:srgbClr val="FFFF00"/>
                </a:solidFill>
              </a:rPr>
              <a:t>楼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28708" name="文本框 6"/>
          <p:cNvSpPr txBox="1"/>
          <p:nvPr/>
        </p:nvSpPr>
        <p:spPr>
          <a:xfrm>
            <a:off x="1917700" y="765175"/>
            <a:ext cx="76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2</a:t>
            </a:r>
            <a:r>
              <a:rPr lang="zh-CN" altLang="en-US" sz="2400" b="1" dirty="0">
                <a:solidFill>
                  <a:srgbClr val="FFFF00"/>
                </a:solidFill>
              </a:rPr>
              <a:t>楼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28709" name="文本框 7"/>
          <p:cNvSpPr txBox="1"/>
          <p:nvPr/>
        </p:nvSpPr>
        <p:spPr>
          <a:xfrm>
            <a:off x="1917700" y="1160463"/>
            <a:ext cx="7620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FF00"/>
                </a:solidFill>
              </a:rPr>
              <a:t>1</a:t>
            </a:r>
            <a:r>
              <a:rPr lang="zh-CN" altLang="en-US" sz="2400" b="1" dirty="0">
                <a:solidFill>
                  <a:srgbClr val="FFFF00"/>
                </a:solidFill>
              </a:rPr>
              <a:t>楼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9" name="对话气泡: 圆角矩形 8"/>
          <p:cNvSpPr>
            <a:spLocks noChangeArrowheads="1"/>
          </p:cNvSpPr>
          <p:nvPr/>
        </p:nvSpPr>
        <p:spPr bwMode="auto">
          <a:xfrm>
            <a:off x="10242550" y="146050"/>
            <a:ext cx="1524000" cy="533400"/>
          </a:xfrm>
          <a:prstGeom prst="wedgeRoundRectCallout">
            <a:avLst>
              <a:gd name="adj1" fmla="val -159245"/>
              <a:gd name="adj2" fmla="val 45822"/>
              <a:gd name="adj3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列地址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对话气泡: 圆角矩形 9"/>
          <p:cNvSpPr/>
          <p:nvPr/>
        </p:nvSpPr>
        <p:spPr>
          <a:xfrm>
            <a:off x="-20637" y="23813"/>
            <a:ext cx="1524000" cy="533400"/>
          </a:xfrm>
          <a:prstGeom prst="wedgeRoundRectCallout">
            <a:avLst>
              <a:gd name="adj1" fmla="val 71014"/>
              <a:gd name="adj2" fmla="val 43463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行地址</a:t>
            </a:r>
            <a:endParaRPr lang="zh-CN" altLang="en-US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513263" y="2243138"/>
          <a:ext cx="6064250" cy="147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8"/>
                <a:gridCol w="1157174"/>
                <a:gridCol w="1225242"/>
                <a:gridCol w="1225242"/>
                <a:gridCol w="1231294"/>
              </a:tblGrid>
              <a:tr h="365769"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/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435" marR="91435" marT="45706" marB="45706">
                    <a:noFill/>
                  </a:tcPr>
                </a:tc>
              </a:tr>
              <a:tr h="370731"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</a:tr>
              <a:tr h="370731"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</a:tr>
              <a:tr h="370731">
                <a:tc>
                  <a:txBody>
                    <a:bodyPr/>
                    <a:lstStyle/>
                    <a:p>
                      <a:endParaRPr lang="en-US" altLang="zh-C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-146050" y="2139950"/>
            <a:ext cx="3276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</a:rPr>
              <a:t>第</a:t>
            </a:r>
            <a:r>
              <a:rPr lang="en-US" altLang="zh-CN" sz="2400" b="1" dirty="0">
                <a:solidFill>
                  <a:srgbClr val="FFFF00"/>
                </a:solidFill>
              </a:rPr>
              <a:t>0</a:t>
            </a:r>
            <a:r>
              <a:rPr lang="zh-CN" altLang="en-US" sz="2400" b="1" dirty="0">
                <a:solidFill>
                  <a:srgbClr val="FFFF00"/>
                </a:solidFill>
              </a:rPr>
              <a:t>行地址</a:t>
            </a:r>
            <a:r>
              <a:rPr lang="en-US" altLang="zh-CN" sz="2400" b="1" dirty="0">
                <a:solidFill>
                  <a:srgbClr val="FFFF00"/>
                </a:solidFill>
              </a:rPr>
              <a:t>: &amp;a[0]</a:t>
            </a:r>
            <a:r>
              <a:rPr lang="zh-CN" altLang="en-US" sz="2400" b="1" dirty="0">
                <a:solidFill>
                  <a:srgbClr val="FFFF00"/>
                </a:solidFill>
              </a:rPr>
              <a:t>或</a:t>
            </a:r>
            <a:r>
              <a:rPr lang="en-US" altLang="zh-CN" sz="2400" b="1" dirty="0">
                <a:solidFill>
                  <a:srgbClr val="FFFF00"/>
                </a:solidFill>
              </a:rPr>
              <a:t>a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17" name="对话气泡: 圆角矩形 16"/>
          <p:cNvSpPr/>
          <p:nvPr/>
        </p:nvSpPr>
        <p:spPr>
          <a:xfrm>
            <a:off x="2901950" y="1671638"/>
            <a:ext cx="1524000" cy="533400"/>
          </a:xfrm>
          <a:prstGeom prst="wedgeRoundRectCallout">
            <a:avLst>
              <a:gd name="adj1" fmla="val 35319"/>
              <a:gd name="adj2" fmla="val 84486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行地址</a:t>
            </a:r>
            <a:endParaRPr lang="zh-CN" altLang="en-US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-146050" y="2520950"/>
            <a:ext cx="39624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</a:rPr>
              <a:t>第</a:t>
            </a:r>
            <a:r>
              <a:rPr lang="en-US" altLang="zh-CN" sz="2400" b="1" dirty="0">
                <a:solidFill>
                  <a:srgbClr val="FFFF00"/>
                </a:solidFill>
              </a:rPr>
              <a:t>1</a:t>
            </a:r>
            <a:r>
              <a:rPr lang="zh-CN" altLang="en-US" sz="2400" b="1" dirty="0">
                <a:solidFill>
                  <a:srgbClr val="FFFF00"/>
                </a:solidFill>
              </a:rPr>
              <a:t>行地址</a:t>
            </a:r>
            <a:r>
              <a:rPr lang="en-US" altLang="zh-CN" sz="2400" b="1" dirty="0">
                <a:solidFill>
                  <a:srgbClr val="FFFF00"/>
                </a:solidFill>
              </a:rPr>
              <a:t>: &amp;a[1]</a:t>
            </a:r>
            <a:r>
              <a:rPr lang="zh-CN" altLang="en-US" sz="2400" b="1" dirty="0">
                <a:solidFill>
                  <a:srgbClr val="FFFF00"/>
                </a:solidFill>
              </a:rPr>
              <a:t>或</a:t>
            </a:r>
            <a:r>
              <a:rPr lang="en-US" altLang="zh-CN" sz="2400" b="1" dirty="0">
                <a:solidFill>
                  <a:srgbClr val="FFFF00"/>
                </a:solidFill>
              </a:rPr>
              <a:t>a+1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-146050" y="2913063"/>
            <a:ext cx="38100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</a:rPr>
              <a:t>第</a:t>
            </a:r>
            <a:r>
              <a:rPr lang="en-US" altLang="zh-CN" sz="2400" b="1" dirty="0">
                <a:solidFill>
                  <a:srgbClr val="FFFF00"/>
                </a:solidFill>
              </a:rPr>
              <a:t>2</a:t>
            </a:r>
            <a:r>
              <a:rPr lang="zh-CN" altLang="en-US" sz="2400" b="1" dirty="0">
                <a:solidFill>
                  <a:srgbClr val="FFFF00"/>
                </a:solidFill>
              </a:rPr>
              <a:t>行地址</a:t>
            </a:r>
            <a:r>
              <a:rPr lang="en-US" altLang="zh-CN" sz="2400" b="1" dirty="0">
                <a:solidFill>
                  <a:srgbClr val="FFFF00"/>
                </a:solidFill>
              </a:rPr>
              <a:t>: &amp;a[2]</a:t>
            </a:r>
            <a:r>
              <a:rPr lang="zh-CN" altLang="en-US" sz="2400" b="1" dirty="0">
                <a:solidFill>
                  <a:srgbClr val="FFFF00"/>
                </a:solidFill>
              </a:rPr>
              <a:t>或</a:t>
            </a:r>
            <a:r>
              <a:rPr lang="en-US" altLang="zh-CN" sz="2400" b="1" dirty="0">
                <a:solidFill>
                  <a:srgbClr val="FFFF00"/>
                </a:solidFill>
              </a:rPr>
              <a:t>a+2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-146050" y="3311525"/>
            <a:ext cx="3886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</a:rPr>
              <a:t>第</a:t>
            </a:r>
            <a:r>
              <a:rPr lang="en-US" altLang="zh-CN" sz="2400" b="1" dirty="0">
                <a:solidFill>
                  <a:srgbClr val="FFFF00"/>
                </a:solidFill>
              </a:rPr>
              <a:t>3</a:t>
            </a:r>
            <a:r>
              <a:rPr lang="zh-CN" altLang="en-US" sz="2400" b="1" dirty="0">
                <a:solidFill>
                  <a:srgbClr val="FFFF00"/>
                </a:solidFill>
              </a:rPr>
              <a:t>行地址</a:t>
            </a:r>
            <a:r>
              <a:rPr lang="en-US" altLang="zh-CN" sz="2400" b="1" dirty="0">
                <a:solidFill>
                  <a:srgbClr val="FFFF00"/>
                </a:solidFill>
              </a:rPr>
              <a:t>: &amp;a[3]</a:t>
            </a:r>
            <a:r>
              <a:rPr lang="zh-CN" altLang="en-US" sz="2400" b="1" dirty="0">
                <a:solidFill>
                  <a:srgbClr val="FFFF00"/>
                </a:solidFill>
              </a:rPr>
              <a:t>或</a:t>
            </a:r>
            <a:r>
              <a:rPr lang="en-US" altLang="zh-CN" sz="2400" b="1" dirty="0">
                <a:solidFill>
                  <a:srgbClr val="FFFF00"/>
                </a:solidFill>
              </a:rPr>
              <a:t>a+3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-20637" y="4821238"/>
            <a:ext cx="12365038" cy="16605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则可定义指针变量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int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(*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pLine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[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];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行指针变量，可指向一个具有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个元素的一维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数组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pLine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&amp;a[0]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 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pLine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 </a:t>
            </a:r>
            <a:r>
              <a:rPr kumimoji="0" lang="en-US" altLang="zh-CN" sz="2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pLine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为行指针变量，当前指向第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行</a:t>
            </a:r>
            <a:endParaRPr kumimoji="0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pLine++;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6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指向下一行</a:t>
            </a:r>
            <a:endParaRPr kumimoji="0" lang="en-US" altLang="zh-CN" sz="2600" b="1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3413125" y="2355850"/>
            <a:ext cx="1089025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stealth" w="lg" len="lg"/>
          </a:ln>
        </p:spPr>
      </p:cxnSp>
      <p:cxnSp>
        <p:nvCxnSpPr>
          <p:cNvPr id="22" name="直接箭头连接符 21"/>
          <p:cNvCxnSpPr/>
          <p:nvPr/>
        </p:nvCxnSpPr>
        <p:spPr>
          <a:xfrm>
            <a:off x="3413125" y="2751138"/>
            <a:ext cx="1089025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stealth" w="lg" len="lg"/>
          </a:ln>
        </p:spPr>
      </p:cxnSp>
      <p:cxnSp>
        <p:nvCxnSpPr>
          <p:cNvPr id="25" name="直接箭头连接符 24"/>
          <p:cNvCxnSpPr/>
          <p:nvPr/>
        </p:nvCxnSpPr>
        <p:spPr>
          <a:xfrm>
            <a:off x="3402013" y="3143250"/>
            <a:ext cx="1089025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stealth" w="lg" len="lg"/>
          </a:ln>
        </p:spPr>
      </p:cxnSp>
      <p:cxnSp>
        <p:nvCxnSpPr>
          <p:cNvPr id="26" name="直接箭头连接符 25"/>
          <p:cNvCxnSpPr/>
          <p:nvPr/>
        </p:nvCxnSpPr>
        <p:spPr>
          <a:xfrm>
            <a:off x="3402013" y="3541713"/>
            <a:ext cx="1089025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stealth" w="lg" len="lg"/>
          </a:ln>
        </p:spPr>
      </p:cxnSp>
      <p:sp>
        <p:nvSpPr>
          <p:cNvPr id="5" name="对话气泡: 矩形 4"/>
          <p:cNvSpPr/>
          <p:nvPr/>
        </p:nvSpPr>
        <p:spPr>
          <a:xfrm>
            <a:off x="11113" y="4032250"/>
            <a:ext cx="10993438" cy="581025"/>
          </a:xfrm>
          <a:prstGeom prst="wedgeRectCallout">
            <a:avLst>
              <a:gd name="adj1" fmla="val -42998"/>
              <a:gd name="adj2" fmla="val -103148"/>
            </a:avLst>
          </a:prstGeom>
          <a:solidFill>
            <a:schemeClr val="accent1"/>
          </a:solidFill>
        </p:spPr>
        <p:txBody>
          <a:bodyPr lIns="0" r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小结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二维数组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a[4][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行的地址 可表示为：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&amp;a[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a+i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charRg st="9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charRg st="55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charRg st="106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7" grpId="0" animBg="1"/>
      <p:bldP spid="18" grpId="0"/>
      <p:bldP spid="19" grpId="0"/>
      <p:bldP spid="20" grpId="0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630738" y="1905000"/>
          <a:ext cx="6064250" cy="1477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8"/>
                <a:gridCol w="1157174"/>
                <a:gridCol w="1225242"/>
                <a:gridCol w="1225242"/>
                <a:gridCol w="1231294"/>
              </a:tblGrid>
              <a:tr h="365769"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/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/>
                    </a:p>
                  </a:txBody>
                  <a:tcPr marL="91435" marR="91435" marT="45706" marB="45706">
                    <a:noFill/>
                  </a:tcPr>
                </a:tc>
              </a:tr>
              <a:tr h="370731"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</a:tr>
              <a:tr h="370731"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</a:tr>
              <a:tr h="370731">
                <a:tc>
                  <a:txBody>
                    <a:bodyPr/>
                    <a:lstStyle/>
                    <a:p>
                      <a:endParaRPr lang="en-US" altLang="zh-C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06" marB="45706">
                    <a:noFill/>
                  </a:tcPr>
                </a:tc>
              </a:tr>
            </a:tbl>
          </a:graphicData>
        </a:graphic>
      </p:graphicFrame>
      <p:sp>
        <p:nvSpPr>
          <p:cNvPr id="29730" name="文本框 2"/>
          <p:cNvSpPr txBox="1"/>
          <p:nvPr>
            <p:custDataLst>
              <p:tags r:id="rId1"/>
            </p:custDataLst>
          </p:nvPr>
        </p:nvSpPr>
        <p:spPr>
          <a:xfrm>
            <a:off x="-30162" y="1801813"/>
            <a:ext cx="32766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</a:rPr>
              <a:t>第</a:t>
            </a:r>
            <a:r>
              <a:rPr lang="en-US" altLang="zh-CN" sz="2400" b="1" dirty="0">
                <a:solidFill>
                  <a:srgbClr val="FFFF00"/>
                </a:solidFill>
              </a:rPr>
              <a:t>0</a:t>
            </a:r>
            <a:r>
              <a:rPr lang="zh-CN" altLang="en-US" sz="2400" b="1" dirty="0">
                <a:solidFill>
                  <a:srgbClr val="FFFF00"/>
                </a:solidFill>
              </a:rPr>
              <a:t>行地址</a:t>
            </a:r>
            <a:r>
              <a:rPr lang="en-US" altLang="zh-CN" sz="2400" b="1" dirty="0">
                <a:solidFill>
                  <a:srgbClr val="FFFF00"/>
                </a:solidFill>
              </a:rPr>
              <a:t>: &amp;a[0]</a:t>
            </a:r>
            <a:r>
              <a:rPr lang="zh-CN" altLang="en-US" sz="2400" b="1" dirty="0">
                <a:solidFill>
                  <a:srgbClr val="FFFF00"/>
                </a:solidFill>
              </a:rPr>
              <a:t>或</a:t>
            </a:r>
            <a:r>
              <a:rPr lang="en-US" altLang="zh-CN" sz="2400" b="1" dirty="0">
                <a:solidFill>
                  <a:srgbClr val="FFFF00"/>
                </a:solidFill>
              </a:rPr>
              <a:t>a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29731" name="对话气泡: 圆角矩形 3"/>
          <p:cNvSpPr/>
          <p:nvPr/>
        </p:nvSpPr>
        <p:spPr>
          <a:xfrm>
            <a:off x="2414588" y="1300163"/>
            <a:ext cx="1524000" cy="533400"/>
          </a:xfrm>
          <a:prstGeom prst="wedgeRoundRectCallout">
            <a:avLst>
              <a:gd name="adj1" fmla="val 57630"/>
              <a:gd name="adj2" fmla="val 84486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FF00"/>
                </a:solidFill>
                <a:latin typeface="Arial" panose="020B0604020202020204" pitchFamily="34" charset="0"/>
              </a:rPr>
              <a:t>行地址</a:t>
            </a:r>
            <a:endParaRPr lang="zh-CN" altLang="en-US" b="1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29732" name="文本框 4"/>
          <p:cNvSpPr txBox="1"/>
          <p:nvPr>
            <p:custDataLst>
              <p:tags r:id="rId2"/>
            </p:custDataLst>
          </p:nvPr>
        </p:nvSpPr>
        <p:spPr>
          <a:xfrm>
            <a:off x="-30162" y="2182813"/>
            <a:ext cx="39624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</a:rPr>
              <a:t>第</a:t>
            </a:r>
            <a:r>
              <a:rPr lang="en-US" altLang="zh-CN" sz="2400" b="1" dirty="0">
                <a:solidFill>
                  <a:srgbClr val="FFFF00"/>
                </a:solidFill>
              </a:rPr>
              <a:t>1</a:t>
            </a:r>
            <a:r>
              <a:rPr lang="zh-CN" altLang="en-US" sz="2400" b="1" dirty="0">
                <a:solidFill>
                  <a:srgbClr val="FFFF00"/>
                </a:solidFill>
              </a:rPr>
              <a:t>行地址</a:t>
            </a:r>
            <a:r>
              <a:rPr lang="en-US" altLang="zh-CN" sz="2400" b="1" dirty="0">
                <a:solidFill>
                  <a:srgbClr val="FFFF00"/>
                </a:solidFill>
              </a:rPr>
              <a:t>: &amp;a[1]</a:t>
            </a:r>
            <a:r>
              <a:rPr lang="zh-CN" altLang="en-US" sz="2400" b="1" dirty="0">
                <a:solidFill>
                  <a:srgbClr val="FFFF00"/>
                </a:solidFill>
              </a:rPr>
              <a:t>或</a:t>
            </a:r>
            <a:r>
              <a:rPr lang="en-US" altLang="zh-CN" sz="2400" b="1" dirty="0">
                <a:solidFill>
                  <a:srgbClr val="FFFF00"/>
                </a:solidFill>
              </a:rPr>
              <a:t>a+1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29733" name="文本框 5"/>
          <p:cNvSpPr txBox="1"/>
          <p:nvPr>
            <p:custDataLst>
              <p:tags r:id="rId3"/>
            </p:custDataLst>
          </p:nvPr>
        </p:nvSpPr>
        <p:spPr>
          <a:xfrm>
            <a:off x="-30162" y="2574925"/>
            <a:ext cx="3810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</a:rPr>
              <a:t>第</a:t>
            </a:r>
            <a:r>
              <a:rPr lang="en-US" altLang="zh-CN" sz="2400" b="1" dirty="0">
                <a:solidFill>
                  <a:srgbClr val="FFFF00"/>
                </a:solidFill>
              </a:rPr>
              <a:t>2</a:t>
            </a:r>
            <a:r>
              <a:rPr lang="zh-CN" altLang="en-US" sz="2400" b="1" dirty="0">
                <a:solidFill>
                  <a:srgbClr val="FFFF00"/>
                </a:solidFill>
              </a:rPr>
              <a:t>行地址</a:t>
            </a:r>
            <a:r>
              <a:rPr lang="en-US" altLang="zh-CN" sz="2400" b="1" dirty="0">
                <a:solidFill>
                  <a:srgbClr val="FFFF00"/>
                </a:solidFill>
              </a:rPr>
              <a:t>: &amp;a[2]</a:t>
            </a:r>
            <a:r>
              <a:rPr lang="zh-CN" altLang="en-US" sz="2400" b="1" dirty="0">
                <a:solidFill>
                  <a:srgbClr val="FFFF00"/>
                </a:solidFill>
              </a:rPr>
              <a:t>或</a:t>
            </a:r>
            <a:r>
              <a:rPr lang="en-US" altLang="zh-CN" sz="2400" b="1" dirty="0">
                <a:solidFill>
                  <a:srgbClr val="FFFF00"/>
                </a:solidFill>
              </a:rPr>
              <a:t>a+2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sp>
        <p:nvSpPr>
          <p:cNvPr id="29734" name="文本框 6"/>
          <p:cNvSpPr txBox="1"/>
          <p:nvPr>
            <p:custDataLst>
              <p:tags r:id="rId4"/>
            </p:custDataLst>
          </p:nvPr>
        </p:nvSpPr>
        <p:spPr>
          <a:xfrm>
            <a:off x="-30162" y="2973388"/>
            <a:ext cx="3886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FFF00"/>
                </a:solidFill>
              </a:rPr>
              <a:t>第</a:t>
            </a:r>
            <a:r>
              <a:rPr lang="en-US" altLang="zh-CN" sz="2400" b="1" dirty="0">
                <a:solidFill>
                  <a:srgbClr val="FFFF00"/>
                </a:solidFill>
              </a:rPr>
              <a:t>3</a:t>
            </a:r>
            <a:r>
              <a:rPr lang="zh-CN" altLang="en-US" sz="2400" b="1" dirty="0">
                <a:solidFill>
                  <a:srgbClr val="FFFF00"/>
                </a:solidFill>
              </a:rPr>
              <a:t>行地址</a:t>
            </a:r>
            <a:r>
              <a:rPr lang="en-US" altLang="zh-CN" sz="2400" b="1" dirty="0">
                <a:solidFill>
                  <a:srgbClr val="FFFF00"/>
                </a:solidFill>
              </a:rPr>
              <a:t>: &amp;a[3]</a:t>
            </a:r>
            <a:r>
              <a:rPr lang="zh-CN" altLang="en-US" sz="2400" b="1" dirty="0">
                <a:solidFill>
                  <a:srgbClr val="FFFF00"/>
                </a:solidFill>
              </a:rPr>
              <a:t>或</a:t>
            </a:r>
            <a:r>
              <a:rPr lang="en-US" altLang="zh-CN" sz="2400" b="1" dirty="0">
                <a:solidFill>
                  <a:srgbClr val="FFFF00"/>
                </a:solidFill>
              </a:rPr>
              <a:t>a+3</a:t>
            </a:r>
            <a:endParaRPr lang="zh-CN" altLang="en-US" sz="2400" b="1" dirty="0">
              <a:solidFill>
                <a:srgbClr val="FFFF00"/>
              </a:solidFill>
            </a:endParaRPr>
          </a:p>
        </p:txBody>
      </p:sp>
      <p:cxnSp>
        <p:nvCxnSpPr>
          <p:cNvPr id="29735" name="直接箭头连接符 7"/>
          <p:cNvCxnSpPr/>
          <p:nvPr>
            <p:custDataLst>
              <p:tags r:id="rId5"/>
            </p:custDataLst>
          </p:nvPr>
        </p:nvCxnSpPr>
        <p:spPr>
          <a:xfrm>
            <a:off x="3530600" y="2016125"/>
            <a:ext cx="1089025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stealth" w="lg" len="lg"/>
          </a:ln>
        </p:spPr>
      </p:cxnSp>
      <p:cxnSp>
        <p:nvCxnSpPr>
          <p:cNvPr id="29736" name="直接箭头连接符 8"/>
          <p:cNvCxnSpPr/>
          <p:nvPr>
            <p:custDataLst>
              <p:tags r:id="rId6"/>
            </p:custDataLst>
          </p:nvPr>
        </p:nvCxnSpPr>
        <p:spPr>
          <a:xfrm>
            <a:off x="3530600" y="2413000"/>
            <a:ext cx="1089025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stealth" w="lg" len="lg"/>
          </a:ln>
        </p:spPr>
      </p:cxnSp>
      <p:cxnSp>
        <p:nvCxnSpPr>
          <p:cNvPr id="29737" name="直接箭头连接符 9"/>
          <p:cNvCxnSpPr/>
          <p:nvPr>
            <p:custDataLst>
              <p:tags r:id="rId7"/>
            </p:custDataLst>
          </p:nvPr>
        </p:nvCxnSpPr>
        <p:spPr>
          <a:xfrm>
            <a:off x="3519488" y="2805113"/>
            <a:ext cx="1087437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stealth" w="lg" len="lg"/>
          </a:ln>
        </p:spPr>
      </p:cxnSp>
      <p:cxnSp>
        <p:nvCxnSpPr>
          <p:cNvPr id="29738" name="直接箭头连接符 10"/>
          <p:cNvCxnSpPr/>
          <p:nvPr>
            <p:custDataLst>
              <p:tags r:id="rId8"/>
            </p:custDataLst>
          </p:nvPr>
        </p:nvCxnSpPr>
        <p:spPr>
          <a:xfrm>
            <a:off x="3519488" y="3203575"/>
            <a:ext cx="1087437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stealth" w="lg" len="lg"/>
          </a:ln>
        </p:spPr>
      </p:cxnSp>
      <p:sp>
        <p:nvSpPr>
          <p:cNvPr id="12" name="矩形 11"/>
          <p:cNvSpPr/>
          <p:nvPr/>
        </p:nvSpPr>
        <p:spPr>
          <a:xfrm>
            <a:off x="-17643" y="-36753"/>
            <a:ext cx="1142975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可以将“列指针”理解为“行指针”的具体元素，“行指针”理解为“列指针”的地址：</a:t>
            </a:r>
            <a:endParaRPr kumimoji="0" lang="zh-CN" altLang="en-US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*行指针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得到 列指针</a:t>
            </a:r>
            <a:endParaRPr kumimoji="0" lang="zh-CN" altLang="en-US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列指针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得到 行指针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对话气泡: 圆角矩形 12"/>
          <p:cNvSpPr>
            <a:spLocks noChangeArrowheads="1"/>
          </p:cNvSpPr>
          <p:nvPr/>
        </p:nvSpPr>
        <p:spPr bwMode="auto">
          <a:xfrm>
            <a:off x="5334000" y="415925"/>
            <a:ext cx="1524000" cy="533400"/>
          </a:xfrm>
          <a:prstGeom prst="wedgeRoundRectCallout">
            <a:avLst>
              <a:gd name="adj1" fmla="val -50832"/>
              <a:gd name="adj2" fmla="val 168003"/>
              <a:gd name="adj3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列地址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4" name="直接箭头连接符 13"/>
          <p:cNvCxnSpPr/>
          <p:nvPr/>
        </p:nvCxnSpPr>
        <p:spPr bwMode="auto">
          <a:xfrm>
            <a:off x="5276850" y="1268413"/>
            <a:ext cx="0" cy="609600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6" name="文本框 15"/>
          <p:cNvSpPr txBox="1"/>
          <p:nvPr/>
        </p:nvSpPr>
        <p:spPr>
          <a:xfrm>
            <a:off x="5594350" y="1066800"/>
            <a:ext cx="621665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24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4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行第</a:t>
            </a:r>
            <a:r>
              <a:rPr kumimoji="0" lang="en-US" altLang="zh-CN" sz="24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4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列的地址可表示为：</a:t>
            </a:r>
            <a:r>
              <a:rPr kumimoji="0" lang="en-US" altLang="zh-CN" sz="2400" kern="1200" cap="none" spc="0" normalizeH="0" baseline="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&amp;a[0][0]</a:t>
            </a:r>
            <a:endParaRPr kumimoji="0" lang="en-US" altLang="zh-CN" sz="2400" kern="1200" cap="none" spc="0" normalizeH="0" baseline="0" noProof="0" dirty="0">
              <a:solidFill>
                <a:schemeClr val="accent2">
                  <a:lumMod val="60000"/>
                  <a:lumOff val="4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也可表示为： </a:t>
            </a:r>
            <a:r>
              <a:rPr kumimoji="0" lang="en-US" altLang="zh-CN" sz="2400" kern="1200" cap="none" spc="0" normalizeH="0" baseline="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a[0]  </a:t>
            </a:r>
            <a:r>
              <a:rPr kumimoji="0" lang="zh-CN" altLang="en-US" sz="24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2400" kern="1200" cap="none" spc="0" normalizeH="0" baseline="0" noProof="0" dirty="0">
                <a:solidFill>
                  <a:schemeClr val="accent2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*a</a:t>
            </a:r>
            <a:endParaRPr kumimoji="0" lang="zh-CN" altLang="en-US" sz="2400" kern="1200" cap="none" spc="0" normalizeH="0" baseline="0" noProof="0" dirty="0">
              <a:solidFill>
                <a:schemeClr val="accent2">
                  <a:lumMod val="60000"/>
                  <a:lumOff val="4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-30162" y="5035550"/>
            <a:ext cx="12115800" cy="18148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可定义指针变量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列指针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：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int *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列指针变量，可指向具体的某个元素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	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&amp;a[0][0]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a[0]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*a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//p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当前指向数组元素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a[0][0]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p++; </a:t>
            </a:r>
            <a:r>
              <a:rPr kumimoji="0" lang="en-US" altLang="zh-CN" sz="28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指向下一列元素（下一个元素）</a:t>
            </a:r>
            <a:endParaRPr kumimoji="0" lang="en-US" altLang="zh-CN" sz="2800" b="1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对话气泡: 矩形 19"/>
          <p:cNvSpPr/>
          <p:nvPr/>
        </p:nvSpPr>
        <p:spPr>
          <a:xfrm>
            <a:off x="11113" y="3609975"/>
            <a:ext cx="4865688" cy="1382713"/>
          </a:xfrm>
          <a:prstGeom prst="wedgeRectCallout">
            <a:avLst>
              <a:gd name="adj1" fmla="val 56269"/>
              <a:gd name="adj2" fmla="val -103996"/>
            </a:avLst>
          </a:prstGeom>
          <a:solidFill>
            <a:schemeClr val="accent1"/>
          </a:solidFill>
        </p:spPr>
        <p:txBody>
          <a:bodyPr lIns="0" r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小结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二维数组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a[4][N]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元素的地址 可表示为：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&amp;a[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][0]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a+i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对话气泡: 矩形 20"/>
          <p:cNvSpPr/>
          <p:nvPr/>
        </p:nvSpPr>
        <p:spPr>
          <a:xfrm>
            <a:off x="5911850" y="3609975"/>
            <a:ext cx="5581650" cy="1382713"/>
          </a:xfrm>
          <a:prstGeom prst="wedgeRectCallout">
            <a:avLst>
              <a:gd name="adj1" fmla="val 1642"/>
              <a:gd name="adj2" fmla="val -115862"/>
            </a:avLst>
          </a:prstGeom>
          <a:solidFill>
            <a:schemeClr val="accent1"/>
          </a:solidFill>
        </p:spPr>
        <p:txBody>
          <a:bodyPr lIns="0" rIns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小结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】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二维数组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a[4][N]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中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j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列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元素的地址 可表示为：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&amp;a[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][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j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a[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]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+j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a+i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+j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402FC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23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/>
      <p:bldP spid="20" grpId="0" animBg="1"/>
      <p:bldP spid="21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9FDC42-6FBD-48A0-8708-8F4D56B3F76B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type="title"/>
          </p:nvPr>
        </p:nvSpPr>
        <p:spPr>
          <a:xfrm>
            <a:off x="115888" y="22225"/>
            <a:ext cx="11466512" cy="81915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2800" b="1" dirty="0">
                <a:effectLst/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7.8】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编函数，求给定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float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型</a:t>
            </a:r>
            <a:r>
              <a:rPr lang="en-US" altLang="zh-CN" sz="2800" b="1" dirty="0">
                <a:effectLst/>
                <a:ea typeface="黑体" panose="02010609060101010101" pitchFamily="49" charset="-122"/>
              </a:rPr>
              <a:t>m*n</a:t>
            </a:r>
            <a:r>
              <a:rPr lang="zh-CN" altLang="en-US" sz="2800" b="1" dirty="0">
                <a:effectLst/>
                <a:ea typeface="黑体" panose="02010609060101010101" pitchFamily="49" charset="-122"/>
              </a:rPr>
              <a:t>个元素的数组各元素之乘积。</a:t>
            </a:r>
            <a:endParaRPr lang="zh-CN" altLang="en-US" sz="2800" b="1" dirty="0">
              <a:effectLst/>
              <a:ea typeface="黑体" panose="02010609060101010101" pitchFamily="49" charset="-122"/>
            </a:endParaRPr>
          </a:p>
        </p:txBody>
      </p:sp>
      <p:sp>
        <p:nvSpPr>
          <p:cNvPr id="744452" name="Rectangle 4"/>
          <p:cNvSpPr/>
          <p:nvPr/>
        </p:nvSpPr>
        <p:spPr>
          <a:xfrm>
            <a:off x="75883" y="1218883"/>
            <a:ext cx="6156325" cy="39693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800" b="1" noProof="0" dirty="0">
                <a:ln>
                  <a:noFill/>
                </a:ln>
                <a:solidFill>
                  <a:srgbClr val="F402FC"/>
                </a:solidFill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sym typeface="+mn-ea"/>
              </a:rPr>
              <a:t>//方法1：</a:t>
            </a:r>
            <a:endParaRPr lang="zh-CN" altLang="en-US" sz="2800" b="1" noProof="0" dirty="0">
              <a:ln>
                <a:noFill/>
              </a:ln>
              <a:solidFill>
                <a:srgbClr val="F402FC"/>
              </a:solidFill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float  arrmul1(int m , int n ,</a:t>
            </a:r>
            <a:r>
              <a:rPr lang="en-US" altLang="zh-CN" b="1" dirty="0">
                <a:solidFill>
                  <a:srgbClr val="F402FC"/>
                </a:solidFill>
                <a:ea typeface="黑体" panose="02010609060101010101" pitchFamily="49" charset="-122"/>
              </a:rPr>
              <a:t> float </a:t>
            </a:r>
            <a:r>
              <a:rPr lang="zh-CN" altLang="en-US" b="1" dirty="0">
                <a:solidFill>
                  <a:srgbClr val="F402FC"/>
                </a:solidFill>
                <a:ea typeface="黑体" panose="02010609060101010101" pitchFamily="49" charset="-122"/>
              </a:rPr>
              <a:t>*</a:t>
            </a:r>
            <a:r>
              <a:rPr lang="en-US" altLang="zh-CN" b="1" dirty="0">
                <a:solidFill>
                  <a:srgbClr val="F402FC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400" b="1" dirty="0">
                <a:ea typeface="黑体" panose="02010609060101010101" pitchFamily="49" charset="-122"/>
              </a:rPr>
              <a:t>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{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int  i, j;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float mul=1;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for( i=0; i&lt;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400" b="1" dirty="0">
                <a:ea typeface="黑体" panose="02010609060101010101" pitchFamily="49" charset="-122"/>
              </a:rPr>
              <a:t>; i++)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    for( j=0; j&lt;</a:t>
            </a:r>
            <a:r>
              <a:rPr lang="en-US" altLang="zh-CN" sz="2400" b="1" dirty="0">
                <a:solidFill>
                  <a:schemeClr val="hlink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400" b="1" dirty="0">
                <a:ea typeface="黑体" panose="02010609060101010101" pitchFamily="49" charset="-122"/>
              </a:rPr>
              <a:t>; j++)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	 </a:t>
            </a:r>
            <a:r>
              <a:rPr lang="en-US" altLang="zh-CN" sz="2400" b="1" dirty="0"/>
              <a:t>mul = mul * (</a:t>
            </a:r>
            <a:r>
              <a:rPr lang="en-US" altLang="zh-CN" sz="2400" b="1" dirty="0">
                <a:solidFill>
                  <a:schemeClr val="hlink"/>
                </a:solidFill>
              </a:rPr>
              <a:t>*(p+</a:t>
            </a:r>
            <a:r>
              <a:rPr lang="en-US" altLang="zh-CN" sz="2400" b="1" dirty="0">
                <a:solidFill>
                  <a:srgbClr val="F402FC"/>
                </a:solidFill>
              </a:rPr>
              <a:t>i</a:t>
            </a:r>
            <a:r>
              <a:rPr lang="en-US" altLang="zh-CN" sz="2400" b="1" dirty="0">
                <a:solidFill>
                  <a:schemeClr val="hlink"/>
                </a:solidFill>
              </a:rPr>
              <a:t>*n+</a:t>
            </a:r>
            <a:r>
              <a:rPr lang="en-US" altLang="zh-CN" sz="2400" b="1" dirty="0">
                <a:solidFill>
                  <a:srgbClr val="F402FC"/>
                </a:solidFill>
              </a:rPr>
              <a:t>j</a:t>
            </a:r>
            <a:r>
              <a:rPr lang="en-US" altLang="zh-CN" sz="2400" b="1" dirty="0">
                <a:solidFill>
                  <a:schemeClr val="hlink"/>
                </a:solidFill>
              </a:rPr>
              <a:t>)</a:t>
            </a:r>
            <a:r>
              <a:rPr lang="en-US" altLang="zh-CN" sz="2400" b="1" dirty="0"/>
              <a:t>);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  return  mul ;</a:t>
            </a:r>
            <a:endParaRPr lang="en-US" altLang="zh-CN" sz="24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ea typeface="黑体" panose="02010609060101010101" pitchFamily="49" charset="-122"/>
              </a:rPr>
              <a:t>}</a:t>
            </a:r>
            <a:endParaRPr lang="en-US" altLang="zh-CN" sz="2400" b="1" dirty="0">
              <a:ea typeface="黑体" panose="02010609060101010101" pitchFamily="49" charset="-122"/>
            </a:endParaRPr>
          </a:p>
        </p:txBody>
      </p:sp>
      <p:sp>
        <p:nvSpPr>
          <p:cNvPr id="744453" name="Rectangle 5"/>
          <p:cNvSpPr>
            <a:spLocks noChangeArrowheads="1"/>
          </p:cNvSpPr>
          <p:nvPr/>
        </p:nvSpPr>
        <p:spPr bwMode="auto">
          <a:xfrm>
            <a:off x="6553200" y="762000"/>
            <a:ext cx="5382260" cy="4902835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设有：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float a[10][15];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则函数调用形式：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arrmul1(10,15, 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&amp;a[0][0]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);</a:t>
            </a:r>
            <a:endParaRPr kumimoji="0" lang="en-US" altLang="zh-CN" sz="3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arrmul1(10,15,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a[0]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);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arrmul1(10,15,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*a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 );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cs typeface="+mn-cs"/>
              </a:rPr>
              <a:t>错误调用：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arrmul1(10,15,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);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631" name="AutoShape 10">
            <a:hlinkClick r:id="" action="ppaction://noaction"/>
          </p:cNvPr>
          <p:cNvSpPr/>
          <p:nvPr/>
        </p:nvSpPr>
        <p:spPr>
          <a:xfrm>
            <a:off x="11758613" y="6005513"/>
            <a:ext cx="360362" cy="360362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6553200" y="2286000"/>
            <a:ext cx="5182235" cy="2051685"/>
          </a:xfrm>
          <a:prstGeom prst="rect">
            <a:avLst/>
          </a:prstGeom>
          <a:noFill/>
          <a:ln w="31750" cap="flat" cmpd="sng">
            <a:solidFill>
              <a:srgbClr val="F402FC"/>
            </a:solidFill>
            <a:prstDash val="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3" name="标注: 线形 2"/>
          <p:cNvSpPr/>
          <p:nvPr/>
        </p:nvSpPr>
        <p:spPr>
          <a:xfrm>
            <a:off x="9677400" y="6095683"/>
            <a:ext cx="1666875" cy="654050"/>
          </a:xfrm>
          <a:prstGeom prst="borderCallout1">
            <a:avLst>
              <a:gd name="adj1" fmla="val -70339"/>
              <a:gd name="adj2" fmla="val 17409"/>
              <a:gd name="adj3" fmla="val -9757"/>
              <a:gd name="adj4" fmla="val 23733"/>
            </a:avLst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FontTx/>
              <a:buNone/>
            </a:pPr>
            <a:r>
              <a:rPr lang="zh-CN" altLang="en-US" sz="1800" b="1" dirty="0"/>
              <a:t>二维数组</a:t>
            </a:r>
            <a:r>
              <a:rPr lang="zh-CN" altLang="en-US" sz="1800" b="1" dirty="0"/>
              <a:t>实参</a:t>
            </a:r>
            <a:endParaRPr lang="en-US" altLang="zh-CN" sz="1800" b="1" dirty="0"/>
          </a:p>
          <a:p>
            <a:pPr marL="0" lvl="0" indent="0" eaLnBrk="1" hangingPunct="1">
              <a:buFontTx/>
              <a:buNone/>
            </a:pPr>
            <a:r>
              <a:rPr lang="en-US" altLang="zh-CN" sz="1800" b="1" dirty="0">
                <a:solidFill>
                  <a:srgbClr val="F402FC"/>
                </a:solidFill>
              </a:rPr>
              <a:t>(</a:t>
            </a:r>
            <a:r>
              <a:rPr lang="zh-CN" altLang="en-US" sz="1800" b="1" dirty="0">
                <a:solidFill>
                  <a:srgbClr val="F402FC"/>
                </a:solidFill>
              </a:rPr>
              <a:t>高频错误点</a:t>
            </a:r>
            <a:r>
              <a:rPr lang="en-US" altLang="zh-CN" sz="1800" b="1" dirty="0">
                <a:solidFill>
                  <a:srgbClr val="F402FC"/>
                </a:solidFill>
              </a:rPr>
              <a:t>)</a:t>
            </a:r>
            <a:endParaRPr lang="en-US" altLang="zh-CN" sz="1800" b="1" dirty="0">
              <a:solidFill>
                <a:srgbClr val="F402FC"/>
              </a:solidFill>
            </a:endParaRPr>
          </a:p>
        </p:txBody>
      </p:sp>
      <p:cxnSp>
        <p:nvCxnSpPr>
          <p:cNvPr id="26635" name="直接箭头连接符 4"/>
          <p:cNvCxnSpPr/>
          <p:nvPr/>
        </p:nvCxnSpPr>
        <p:spPr>
          <a:xfrm flipH="1" flipV="1">
            <a:off x="5943600" y="2057400"/>
            <a:ext cx="609600" cy="762000"/>
          </a:xfrm>
          <a:prstGeom prst="straightConnector1">
            <a:avLst/>
          </a:prstGeom>
          <a:ln w="28575" cap="flat" cmpd="sng"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BC543-9B09-4D77-9B1C-40AE29A5BF56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44452" name="Rectangle 4"/>
          <p:cNvSpPr>
            <a:spLocks noChangeArrowheads="1"/>
          </p:cNvSpPr>
          <p:nvPr/>
        </p:nvSpPr>
        <p:spPr bwMode="auto">
          <a:xfrm>
            <a:off x="0" y="-6350"/>
            <a:ext cx="8077200" cy="492315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//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方法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：完整程序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402FC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#include&lt;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stdio.h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&gt;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float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arrmul2(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int m , int n 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float *p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{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  	 int i;   float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mul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= 1;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  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/* int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i,j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; 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	for(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=0;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&lt;m;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++)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      		for( j=0; j&lt;n;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j++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)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			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mul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 =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mul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 * (*(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p+i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n+j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));*/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   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for(i=0;i&lt;m*n;i++)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402FC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	 	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mul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=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mul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*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(*p++);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	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return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mul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 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cs typeface="+mn-cs"/>
                <a:sym typeface="+mn-ea"/>
              </a:rPr>
              <a:t>}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黑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30724" name="AutoShape 10">
            <a:hlinkClick r:id="" action="ppaction://noaction"/>
          </p:cNvPr>
          <p:cNvSpPr/>
          <p:nvPr/>
        </p:nvSpPr>
        <p:spPr>
          <a:xfrm>
            <a:off x="11807825" y="5930900"/>
            <a:ext cx="360363" cy="360363"/>
          </a:xfrm>
          <a:prstGeom prst="lef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30725" name="矩形 1"/>
          <p:cNvSpPr/>
          <p:nvPr/>
        </p:nvSpPr>
        <p:spPr>
          <a:xfrm>
            <a:off x="3770313" y="4452938"/>
            <a:ext cx="7924800" cy="236855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 int 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  <a:sym typeface="+mn-ea"/>
              </a:rPr>
              <a:t>main()</a:t>
            </a:r>
            <a:endParaRPr lang="en-US" altLang="zh-CN" sz="2800" b="1" dirty="0">
              <a:solidFill>
                <a:srgbClr val="FFFF00"/>
              </a:solidFill>
              <a:ea typeface="黑体" panose="02010609060101010101" pitchFamily="49" charset="-122"/>
              <a:sym typeface="+mn-ea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  <a:sym typeface="+mn-ea"/>
              </a:rPr>
              <a:t>{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	float a[2][3]={{1,2,3},{4,5,6}};</a:t>
            </a:r>
            <a:endParaRPr lang="en-US" altLang="zh-CN" sz="2800" b="1" dirty="0">
              <a:ea typeface="黑体" panose="02010609060101010101" pitchFamily="49" charset="-122"/>
              <a:sym typeface="+mn-ea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	float result=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  <a:sym typeface="+mn-ea"/>
              </a:rPr>
              <a:t>arrmul2(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2,3, </a:t>
            </a:r>
            <a:r>
              <a:rPr lang="en-US" altLang="zh-CN" sz="2800" b="1" noProof="0" dirty="0">
                <a:ln>
                  <a:noFill/>
                </a:ln>
                <a:solidFill>
                  <a:srgbClr val="F402FC"/>
                </a:solidFill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  <a:sym typeface="+mn-ea"/>
              </a:rPr>
              <a:t>&amp;a[0][0]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  <a:sym typeface="+mn-ea"/>
              </a:rPr>
              <a:t>)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;</a:t>
            </a:r>
            <a:endParaRPr lang="en-US" altLang="zh-CN" sz="2800" b="1" dirty="0">
              <a:ea typeface="黑体" panose="02010609060101010101" pitchFamily="49" charset="-122"/>
              <a:sym typeface="+mn-ea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	printf("%f\n",result);</a:t>
            </a:r>
            <a:endParaRPr lang="en-US" altLang="zh-CN" sz="2800" b="1" dirty="0">
              <a:ea typeface="黑体" panose="02010609060101010101" pitchFamily="49" charset="-122"/>
              <a:sym typeface="+mn-ea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ea typeface="黑体" panose="02010609060101010101" pitchFamily="49" charset="-122"/>
                <a:sym typeface="+mn-ea"/>
              </a:rPr>
              <a:t>	return 0;</a:t>
            </a:r>
            <a:endParaRPr lang="en-US" altLang="zh-CN" sz="1800" b="1" dirty="0">
              <a:ea typeface="黑体" panose="02010609060101010101" pitchFamily="49" charset="-122"/>
              <a:sym typeface="+mn-ea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FFF00"/>
                </a:solidFill>
                <a:ea typeface="黑体" panose="02010609060101010101" pitchFamily="49" charset="-122"/>
                <a:sym typeface="+mn-ea"/>
              </a:rPr>
              <a:t>}</a:t>
            </a:r>
            <a:endParaRPr lang="en-US" altLang="zh-CN" sz="1800" b="1" dirty="0">
              <a:solidFill>
                <a:srgbClr val="FFFF00"/>
              </a:solidFill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50800" y="85725"/>
            <a:ext cx="8434705" cy="77597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拓展内容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不要求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行指针访问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二维数组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026160"/>
            <a:ext cx="12055475" cy="59505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#include&lt;stdio.h&gt;</a:t>
            </a:r>
            <a:endParaRPr lang="en-US" altLang="zh-CN" sz="2800" b="1" noProof="0" dirty="0">
              <a:ln>
                <a:noFill/>
              </a:ln>
              <a:solidFill>
                <a:srgbClr val="F402FC"/>
              </a:solidFill>
              <a:uLnTx/>
              <a:uFillTx/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#define M 4</a:t>
            </a:r>
            <a:endParaRPr lang="en-US" altLang="zh-CN" sz="20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#define N 3</a:t>
            </a:r>
            <a:endParaRPr lang="en-US" altLang="zh-CN" sz="1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int main()</a:t>
            </a:r>
            <a:endParaRPr lang="en-US" altLang="zh-CN" sz="1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{  	int i;</a:t>
            </a:r>
            <a:endParaRPr lang="en-US" altLang="zh-CN" sz="20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</a:t>
            </a:r>
            <a:r>
              <a:rPr lang="en-US" altLang="zh-CN" sz="2400" b="1" dirty="0"/>
              <a:t>int data[M][N]=</a:t>
            </a:r>
            <a:r>
              <a:rPr lang="en-US" altLang="zh-CN" sz="2400" b="1" dirty="0">
                <a:solidFill>
                  <a:srgbClr val="FFFF00"/>
                </a:solidFill>
              </a:rPr>
              <a:t>{</a:t>
            </a:r>
            <a:r>
              <a:rPr lang="en-US" altLang="zh-CN" sz="2400" b="1" dirty="0"/>
              <a:t>{11,134,87},{457,31,90},{39,98,90},{91,99,89}</a:t>
            </a:r>
            <a:r>
              <a:rPr lang="en-US" altLang="zh-CN" sz="2400" b="1" dirty="0">
                <a:solidFill>
                  <a:srgbClr val="FFFF00"/>
                </a:solidFill>
              </a:rPr>
              <a:t>};</a:t>
            </a:r>
            <a:endParaRPr lang="en-US" altLang="zh-CN" sz="2400" b="1" dirty="0">
              <a:solidFill>
                <a:srgbClr val="FFFF00"/>
              </a:solidFill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800" b="1" dirty="0"/>
              <a:t>	int </a:t>
            </a:r>
            <a:r>
              <a:rPr lang="en-US" altLang="zh-CN" sz="2800" b="1" dirty="0">
                <a:solidFill>
                  <a:srgbClr val="FFFF00"/>
                </a:solidFill>
              </a:rPr>
              <a:t>(*pLine)</a:t>
            </a:r>
            <a:r>
              <a:rPr lang="en-US" altLang="zh-CN" sz="2800" b="1" dirty="0"/>
              <a:t>[N]; 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</a:rPr>
              <a:t>//行指针，指向一个具有N个元素的一维int数组</a:t>
            </a:r>
            <a:endParaRPr lang="en-US" altLang="zh-CN" sz="1800" b="1" dirty="0">
              <a:solidFill>
                <a:schemeClr val="tx1">
                  <a:lumMod val="65000"/>
                </a:schemeClr>
              </a:solidFill>
            </a:endParaRPr>
          </a:p>
          <a:p>
            <a:pPr marL="0" lvl="0" algn="l">
              <a:buClrTx/>
              <a:buSzTx/>
              <a:buFontTx/>
              <a:buNone/>
            </a:pPr>
            <a:r>
              <a:rPr lang="zh-CN" altLang="en-US" sz="2800" b="1" dirty="0"/>
              <a:t>	</a:t>
            </a:r>
            <a:r>
              <a:rPr lang="en-US" altLang="zh-CN" sz="2800" b="1" noProof="0" dirty="0">
                <a:ln>
                  <a:noFill/>
                </a:ln>
                <a:solidFill>
                  <a:srgbClr val="F402FC"/>
                </a:solidFill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rPr>
              <a:t>pLine=data;</a:t>
            </a:r>
            <a:r>
              <a:rPr lang="en-US" altLang="zh-CN" sz="2800" b="1" dirty="0">
                <a:solidFill>
                  <a:srgbClr val="FFFF00"/>
                </a:solidFill>
              </a:rPr>
              <a:t> 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</a:rPr>
              <a:t>//指向data的第0行,也可写成pLine=&amp;data[0];二维数组的名字是第0行的地址</a:t>
            </a:r>
            <a:endParaRPr lang="en-US" altLang="zh-CN" sz="1800" b="1" dirty="0">
              <a:solidFill>
                <a:schemeClr val="tx1">
                  <a:lumMod val="65000"/>
                </a:schemeClr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	</a:t>
            </a:r>
            <a:r>
              <a:rPr lang="en-US" altLang="zh-CN" sz="2800" b="1" dirty="0"/>
              <a:t>for(i=0;i&lt;M;i++)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{</a:t>
            </a:r>
            <a:endParaRPr lang="en-US" altLang="zh-CN" sz="2800" b="1" dirty="0"/>
          </a:p>
          <a:p>
            <a:pPr marL="0" lvl="0" algn="l">
              <a:buClrTx/>
              <a:buSzTx/>
              <a:buFontTx/>
              <a:buNone/>
            </a:pPr>
            <a:r>
              <a:rPr lang="en-US" altLang="zh-CN" sz="2800" b="1" dirty="0"/>
              <a:t>         	printf("%d\n",</a:t>
            </a:r>
            <a:r>
              <a:rPr lang="en-US" altLang="zh-CN" sz="2800" b="1" noProof="0" dirty="0">
                <a:ln>
                  <a:noFill/>
                </a:ln>
                <a:solidFill>
                  <a:srgbClr val="F402FC"/>
                </a:solidFill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rPr>
              <a:t>*(</a:t>
            </a:r>
            <a:r>
              <a:rPr lang="en-US" altLang="zh-CN" sz="2800" b="1" dirty="0">
                <a:solidFill>
                  <a:srgbClr val="FFFF00"/>
                </a:solidFill>
              </a:rPr>
              <a:t>(*pLine)</a:t>
            </a:r>
            <a:r>
              <a:rPr lang="en-US" altLang="zh-CN" sz="2800" b="1" dirty="0"/>
              <a:t>+2</a:t>
            </a:r>
            <a:r>
              <a:rPr lang="en-US" altLang="zh-CN" sz="2800" b="1" noProof="0" dirty="0">
                <a:ln>
                  <a:noFill/>
                </a:ln>
                <a:solidFill>
                  <a:srgbClr val="F402FC"/>
                </a:solidFill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rPr>
              <a:t>)</a:t>
            </a:r>
            <a:r>
              <a:rPr lang="en-US" altLang="zh-CN" sz="2800" b="1" dirty="0"/>
              <a:t> );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  <a:sym typeface="+mn-ea"/>
              </a:rPr>
              <a:t>//输出当前行第2列(下标</a:t>
            </a:r>
            <a:r>
              <a:rPr lang="en-US" altLang="zh-CN" sz="1800" b="1" dirty="0">
                <a:sym typeface="+mn-ea"/>
              </a:rPr>
              <a:t>)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  <a:sym typeface="+mn-ea"/>
              </a:rPr>
              <a:t>元素</a:t>
            </a:r>
            <a:endParaRPr lang="en-US" altLang="zh-CN" sz="1800" b="1" dirty="0">
              <a:solidFill>
                <a:schemeClr val="tx1">
                  <a:lumMod val="65000"/>
                </a:schemeClr>
              </a:solidFill>
            </a:endParaRPr>
          </a:p>
          <a:p>
            <a:pPr marL="1371600" lvl="3" indent="4572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tx1">
                    <a:lumMod val="65000"/>
                  </a:schemeClr>
                </a:solidFill>
              </a:rPr>
              <a:t>//printf(</a:t>
            </a:r>
            <a:r>
              <a:rPr lang="en-US" altLang="zh-CN" sz="2800" b="1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  <a:sym typeface="+mn-ea"/>
              </a:rPr>
              <a:t>"</a:t>
            </a:r>
            <a:r>
              <a:rPr lang="en-US" altLang="zh-CN" sz="2800" b="1" dirty="0">
                <a:solidFill>
                  <a:schemeClr val="tx1">
                    <a:lumMod val="65000"/>
                  </a:schemeClr>
                </a:solidFill>
              </a:rPr>
              <a:t>%d\n</a:t>
            </a:r>
            <a:r>
              <a:rPr lang="en-US" altLang="zh-CN" sz="2800" b="1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  <a:sym typeface="+mn-ea"/>
              </a:rPr>
              <a:t>"</a:t>
            </a:r>
            <a:r>
              <a:rPr lang="en-US" altLang="zh-CN" sz="2800" b="1" dirty="0">
                <a:solidFill>
                  <a:schemeClr val="tx1">
                    <a:lumMod val="65000"/>
                  </a:schemeClr>
                </a:solidFill>
              </a:rPr>
              <a:t>,</a:t>
            </a:r>
            <a:r>
              <a:rPr lang="en-US" altLang="zh-CN" sz="2800" b="1" dirty="0">
                <a:solidFill>
                  <a:srgbClr val="FFFF00"/>
                </a:solidFill>
              </a:rPr>
              <a:t>(</a:t>
            </a:r>
            <a:r>
              <a:rPr lang="en-US" altLang="zh-CN" sz="2800" b="1" dirty="0">
                <a:solidFill>
                  <a:schemeClr val="tx1">
                    <a:lumMod val="65000"/>
                  </a:schemeClr>
                </a:solidFill>
              </a:rPr>
              <a:t>*pLine</a:t>
            </a:r>
            <a:r>
              <a:rPr lang="en-US" altLang="zh-CN" sz="2800" b="1" dirty="0">
                <a:solidFill>
                  <a:srgbClr val="FFFF00"/>
                </a:solidFill>
              </a:rPr>
              <a:t>)</a:t>
            </a:r>
            <a:r>
              <a:rPr lang="en-US" altLang="zh-CN" sz="2800" b="1" dirty="0">
                <a:solidFill>
                  <a:schemeClr val="tx1">
                    <a:lumMod val="65000"/>
                  </a:schemeClr>
                </a:solidFill>
              </a:rPr>
              <a:t>[2]);</a:t>
            </a:r>
            <a:endParaRPr lang="zh-CN" altLang="en-US" sz="1600" b="1" dirty="0">
              <a:solidFill>
                <a:schemeClr val="tx1">
                  <a:lumMod val="65000"/>
                </a:schemeClr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/>
              <a:t>		</a:t>
            </a:r>
            <a:r>
              <a:rPr lang="en-US" altLang="zh-CN" sz="2800" b="1" noProof="0" dirty="0">
                <a:ln>
                  <a:noFill/>
                </a:ln>
                <a:solidFill>
                  <a:srgbClr val="F402FC"/>
                </a:solidFill>
                <a:uLnTx/>
                <a:uFillTx/>
                <a:latin typeface="Tahoma" panose="020B0604030504040204" pitchFamily="34" charset="0"/>
                <a:ea typeface="黑体" panose="02010609060101010101" pitchFamily="49" charset="-122"/>
              </a:rPr>
              <a:t>pLine++;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65000"/>
                  </a:schemeClr>
                </a:solidFill>
              </a:rPr>
              <a:t>向下移动一行</a:t>
            </a:r>
            <a:endParaRPr lang="zh-CN" altLang="en-US" sz="1800" b="1" dirty="0">
              <a:solidFill>
                <a:schemeClr val="tx1">
                  <a:lumMod val="65000"/>
                </a:schemeClr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/>
              <a:t>	</a:t>
            </a:r>
            <a:r>
              <a:rPr lang="en-US" altLang="zh-CN" sz="2000" b="1" dirty="0"/>
              <a:t>}</a:t>
            </a:r>
            <a:endParaRPr lang="en-US" altLang="zh-CN" sz="20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/>
              <a:t>}</a:t>
            </a:r>
            <a:endParaRPr lang="zh-CN" altLang="en-US" sz="2000" b="1" dirty="0"/>
          </a:p>
        </p:txBody>
      </p:sp>
      <p:grpSp>
        <p:nvGrpSpPr>
          <p:cNvPr id="48132" name="组合 5"/>
          <p:cNvGrpSpPr/>
          <p:nvPr/>
        </p:nvGrpSpPr>
        <p:grpSpPr>
          <a:xfrm>
            <a:off x="9220200" y="136525"/>
            <a:ext cx="2376488" cy="1077913"/>
            <a:chOff x="6941612" y="1435765"/>
            <a:chExt cx="2376023" cy="1078506"/>
          </a:xfrm>
        </p:grpSpPr>
        <p:cxnSp>
          <p:nvCxnSpPr>
            <p:cNvPr id="48167" name="直接箭头连接符 6"/>
            <p:cNvCxnSpPr/>
            <p:nvPr/>
          </p:nvCxnSpPr>
          <p:spPr>
            <a:xfrm>
              <a:off x="7524328" y="2154231"/>
              <a:ext cx="0" cy="360040"/>
            </a:xfrm>
            <a:prstGeom prst="straightConnector1">
              <a:avLst/>
            </a:prstGeom>
            <a:ln w="444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48168" name="文本框 7"/>
            <p:cNvSpPr txBox="1"/>
            <p:nvPr/>
          </p:nvSpPr>
          <p:spPr>
            <a:xfrm>
              <a:off x="6941612" y="1435765"/>
              <a:ext cx="2376023" cy="73866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FF00"/>
                  </a:solidFill>
                </a:rPr>
                <a:t>【</a:t>
              </a:r>
              <a:r>
                <a:rPr lang="zh-CN" altLang="en-US" sz="2400" b="1" dirty="0">
                  <a:solidFill>
                    <a:srgbClr val="FFFF00"/>
                  </a:solidFill>
                </a:rPr>
                <a:t>对比</a:t>
              </a:r>
              <a:r>
                <a:rPr lang="en-US" altLang="zh-CN" sz="2400" b="1" dirty="0">
                  <a:solidFill>
                    <a:srgbClr val="FFFF00"/>
                  </a:solidFill>
                </a:rPr>
                <a:t>】</a:t>
              </a:r>
              <a:r>
                <a:rPr lang="zh-CN" altLang="en-US" sz="2400" b="1" dirty="0">
                  <a:solidFill>
                    <a:srgbClr val="FFFF00"/>
                  </a:solidFill>
                </a:rPr>
                <a:t>列指针</a:t>
              </a:r>
              <a:r>
                <a:rPr lang="en-US" altLang="zh-CN" sz="1800" b="1" dirty="0">
                  <a:solidFill>
                    <a:srgbClr val="FFFF00"/>
                  </a:solidFill>
                </a:rPr>
                <a:t>int*p=&amp;a[0][0];</a:t>
              </a:r>
              <a:endParaRPr lang="zh-CN" altLang="en-US" sz="1800" b="1" dirty="0">
                <a:solidFill>
                  <a:srgbClr val="FFFF00"/>
                </a:solidFill>
              </a:endParaRPr>
            </a:p>
          </p:txBody>
        </p:sp>
      </p:grp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9509125" y="1219200"/>
          <a:ext cx="1583055" cy="1463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5"/>
                <a:gridCol w="527685"/>
                <a:gridCol w="527685"/>
              </a:tblGrid>
              <a:tr h="365919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.</a:t>
                      </a:r>
                      <a:endParaRPr lang="zh-CN" altLang="en-US" sz="1800" dirty="0"/>
                    </a:p>
                  </a:txBody>
                  <a:tcPr marL="91451" marR="91451" marT="45740" marB="4574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.</a:t>
                      </a:r>
                      <a:endParaRPr lang="zh-CN" altLang="en-US" sz="1800" dirty="0"/>
                    </a:p>
                  </a:txBody>
                  <a:tcPr marL="91451" marR="91451" marT="45740" marB="4574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87</a:t>
                      </a:r>
                      <a:endParaRPr lang="en-US" altLang="zh-CN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40" marB="45740"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40" marB="4574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40" marB="4574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40" marB="45740"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40" marB="4574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40" marB="4574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40" marB="45740"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40" marB="4574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40" marB="45740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89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51" marR="91451" marT="45740" marB="45740">
                    <a:noFill/>
                  </a:tcPr>
                </a:tc>
              </a:tr>
            </a:tbl>
          </a:graphicData>
        </a:graphic>
      </p:graphicFrame>
      <p:grpSp>
        <p:nvGrpSpPr>
          <p:cNvPr id="5" name="组合 14"/>
          <p:cNvGrpSpPr/>
          <p:nvPr>
            <p:custDataLst>
              <p:tags r:id="rId1"/>
            </p:custDataLst>
          </p:nvPr>
        </p:nvGrpSpPr>
        <p:grpSpPr>
          <a:xfrm>
            <a:off x="7065963" y="1144588"/>
            <a:ext cx="2460625" cy="461962"/>
            <a:chOff x="4198825" y="1274718"/>
            <a:chExt cx="2461410" cy="461665"/>
          </a:xfrm>
        </p:grpSpPr>
        <p:sp>
          <p:nvSpPr>
            <p:cNvPr id="48165" name="文本框 8"/>
            <p:cNvSpPr txBox="1"/>
            <p:nvPr>
              <p:custDataLst>
                <p:tags r:id="rId2"/>
              </p:custDataLst>
            </p:nvPr>
          </p:nvSpPr>
          <p:spPr>
            <a:xfrm>
              <a:off x="4198825" y="1274718"/>
              <a:ext cx="241473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402FC"/>
                  </a:solidFill>
                </a:rPr>
                <a:t>行指针</a:t>
              </a:r>
              <a:r>
                <a:rPr lang="en-US" altLang="zh-CN" sz="2400" b="1" dirty="0">
                  <a:solidFill>
                    <a:srgbClr val="F402FC"/>
                  </a:solidFill>
                </a:rPr>
                <a:t>pLine</a:t>
              </a:r>
              <a:endParaRPr lang="en-US" altLang="zh-CN" sz="2400" b="1" dirty="0">
                <a:solidFill>
                  <a:srgbClr val="F402FC"/>
                </a:solidFill>
              </a:endParaRPr>
            </a:p>
          </p:txBody>
        </p:sp>
        <p:cxnSp>
          <p:nvCxnSpPr>
            <p:cNvPr id="48166" name="直接箭头连接符 13"/>
            <p:cNvCxnSpPr/>
            <p:nvPr>
              <p:custDataLst>
                <p:tags r:id="rId3"/>
              </p:custDataLst>
            </p:nvPr>
          </p:nvCxnSpPr>
          <p:spPr>
            <a:xfrm>
              <a:off x="6084168" y="1586784"/>
              <a:ext cx="576067" cy="0"/>
            </a:xfrm>
            <a:prstGeom prst="straightConnector1">
              <a:avLst/>
            </a:prstGeom>
            <a:ln w="34925" cap="flat" cmpd="sng">
              <a:solidFill>
                <a:srgbClr val="F402FC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6" name="组合 17"/>
          <p:cNvGrpSpPr/>
          <p:nvPr>
            <p:custDataLst>
              <p:tags r:id="rId4"/>
            </p:custDataLst>
          </p:nvPr>
        </p:nvGrpSpPr>
        <p:grpSpPr>
          <a:xfrm>
            <a:off x="7059613" y="1484313"/>
            <a:ext cx="2462212" cy="461962"/>
            <a:chOff x="4198825" y="1274718"/>
            <a:chExt cx="2461410" cy="461665"/>
          </a:xfrm>
        </p:grpSpPr>
        <p:sp>
          <p:nvSpPr>
            <p:cNvPr id="48163" name="文本框 18"/>
            <p:cNvSpPr txBox="1"/>
            <p:nvPr>
              <p:custDataLst>
                <p:tags r:id="rId5"/>
              </p:custDataLst>
            </p:nvPr>
          </p:nvSpPr>
          <p:spPr>
            <a:xfrm>
              <a:off x="4198825" y="1274718"/>
              <a:ext cx="241473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402FC"/>
                  </a:solidFill>
                </a:rPr>
                <a:t>行指针</a:t>
              </a:r>
              <a:r>
                <a:rPr lang="en-US" altLang="zh-CN" sz="2400" b="1" dirty="0">
                  <a:solidFill>
                    <a:srgbClr val="F402FC"/>
                  </a:solidFill>
                </a:rPr>
                <a:t>pLine</a:t>
              </a:r>
              <a:endParaRPr lang="en-US" altLang="zh-CN" sz="2400" b="1" dirty="0">
                <a:solidFill>
                  <a:srgbClr val="F402FC"/>
                </a:solidFill>
              </a:endParaRPr>
            </a:p>
          </p:txBody>
        </p:sp>
        <p:cxnSp>
          <p:nvCxnSpPr>
            <p:cNvPr id="48164" name="直接箭头连接符 19"/>
            <p:cNvCxnSpPr/>
            <p:nvPr>
              <p:custDataLst>
                <p:tags r:id="rId6"/>
              </p:custDataLst>
            </p:nvPr>
          </p:nvCxnSpPr>
          <p:spPr>
            <a:xfrm>
              <a:off x="6084168" y="1586784"/>
              <a:ext cx="576067" cy="0"/>
            </a:xfrm>
            <a:prstGeom prst="straightConnector1">
              <a:avLst/>
            </a:prstGeom>
            <a:ln w="34925" cap="flat" cmpd="sng">
              <a:solidFill>
                <a:srgbClr val="F402FC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7" name="组合 20"/>
          <p:cNvGrpSpPr/>
          <p:nvPr>
            <p:custDataLst>
              <p:tags r:id="rId7"/>
            </p:custDataLst>
          </p:nvPr>
        </p:nvGrpSpPr>
        <p:grpSpPr>
          <a:xfrm>
            <a:off x="7062788" y="1824038"/>
            <a:ext cx="2462212" cy="461962"/>
            <a:chOff x="4198825" y="1274718"/>
            <a:chExt cx="2461410" cy="461665"/>
          </a:xfrm>
        </p:grpSpPr>
        <p:sp>
          <p:nvSpPr>
            <p:cNvPr id="48161" name="文本框 21"/>
            <p:cNvSpPr txBox="1"/>
            <p:nvPr>
              <p:custDataLst>
                <p:tags r:id="rId8"/>
              </p:custDataLst>
            </p:nvPr>
          </p:nvSpPr>
          <p:spPr>
            <a:xfrm>
              <a:off x="4198825" y="1274718"/>
              <a:ext cx="241473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402FC"/>
                  </a:solidFill>
                </a:rPr>
                <a:t>行指针</a:t>
              </a:r>
              <a:r>
                <a:rPr lang="en-US" altLang="zh-CN" sz="2400" b="1" dirty="0">
                  <a:solidFill>
                    <a:srgbClr val="F402FC"/>
                  </a:solidFill>
                </a:rPr>
                <a:t>pLine</a:t>
              </a:r>
              <a:endParaRPr lang="en-US" altLang="zh-CN" sz="2400" b="1" dirty="0">
                <a:solidFill>
                  <a:srgbClr val="F402FC"/>
                </a:solidFill>
              </a:endParaRPr>
            </a:p>
          </p:txBody>
        </p:sp>
        <p:cxnSp>
          <p:nvCxnSpPr>
            <p:cNvPr id="48162" name="直接箭头连接符 22"/>
            <p:cNvCxnSpPr/>
            <p:nvPr>
              <p:custDataLst>
                <p:tags r:id="rId9"/>
              </p:custDataLst>
            </p:nvPr>
          </p:nvCxnSpPr>
          <p:spPr>
            <a:xfrm>
              <a:off x="6084168" y="1586784"/>
              <a:ext cx="576067" cy="0"/>
            </a:xfrm>
            <a:prstGeom prst="straightConnector1">
              <a:avLst/>
            </a:prstGeom>
            <a:ln w="34925" cap="flat" cmpd="sng">
              <a:solidFill>
                <a:srgbClr val="F402FC"/>
              </a:solidFill>
              <a:prstDash val="solid"/>
              <a:headEnd type="none" w="med" len="med"/>
              <a:tailEnd type="triangle" w="med" len="med"/>
            </a:ln>
          </p:spPr>
        </p:cxnSp>
      </p:grpSp>
      <p:grpSp>
        <p:nvGrpSpPr>
          <p:cNvPr id="8" name="组合 23"/>
          <p:cNvGrpSpPr/>
          <p:nvPr>
            <p:custDataLst>
              <p:tags r:id="rId10"/>
            </p:custDataLst>
          </p:nvPr>
        </p:nvGrpSpPr>
        <p:grpSpPr>
          <a:xfrm>
            <a:off x="7046913" y="2214563"/>
            <a:ext cx="2462212" cy="461962"/>
            <a:chOff x="4198825" y="1274718"/>
            <a:chExt cx="2461410" cy="461665"/>
          </a:xfrm>
        </p:grpSpPr>
        <p:sp>
          <p:nvSpPr>
            <p:cNvPr id="48159" name="文本框 24"/>
            <p:cNvSpPr txBox="1"/>
            <p:nvPr>
              <p:custDataLst>
                <p:tags r:id="rId11"/>
              </p:custDataLst>
            </p:nvPr>
          </p:nvSpPr>
          <p:spPr>
            <a:xfrm>
              <a:off x="4198825" y="1274718"/>
              <a:ext cx="2414738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402FC"/>
                  </a:solidFill>
                </a:rPr>
                <a:t>行指针</a:t>
              </a:r>
              <a:r>
                <a:rPr lang="en-US" altLang="zh-CN" sz="2400" b="1" dirty="0">
                  <a:solidFill>
                    <a:srgbClr val="F402FC"/>
                  </a:solidFill>
                </a:rPr>
                <a:t>pLine</a:t>
              </a:r>
              <a:endParaRPr lang="en-US" altLang="zh-CN" sz="2400" b="1" dirty="0">
                <a:solidFill>
                  <a:srgbClr val="F402FC"/>
                </a:solidFill>
              </a:endParaRPr>
            </a:p>
          </p:txBody>
        </p:sp>
        <p:cxnSp>
          <p:nvCxnSpPr>
            <p:cNvPr id="48160" name="直接箭头连接符 25"/>
            <p:cNvCxnSpPr/>
            <p:nvPr>
              <p:custDataLst>
                <p:tags r:id="rId12"/>
              </p:custDataLst>
            </p:nvPr>
          </p:nvCxnSpPr>
          <p:spPr>
            <a:xfrm>
              <a:off x="6084168" y="1586784"/>
              <a:ext cx="576067" cy="0"/>
            </a:xfrm>
            <a:prstGeom prst="straightConnector1">
              <a:avLst/>
            </a:prstGeom>
            <a:ln w="34925" cap="flat" cmpd="sng">
              <a:solidFill>
                <a:srgbClr val="F402FC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9" name="文本框 8"/>
          <p:cNvSpPr txBox="1"/>
          <p:nvPr/>
        </p:nvSpPr>
        <p:spPr>
          <a:xfrm>
            <a:off x="4392295" y="76904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748520" cy="783590"/>
          </a:xfrm>
        </p:spPr>
        <p:txBody>
          <a:bodyPr/>
          <a:p>
            <a:pPr algn="l">
              <a:buClrTx/>
              <a:buSzTx/>
              <a:buFontTx/>
            </a:pPr>
            <a:r>
              <a:rPr lang="en-US" altLang="zh-CN" sz="3600" b="1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sym typeface="+mn-ea"/>
              </a:rPr>
              <a:t>【</a:t>
            </a:r>
            <a:r>
              <a:rPr lang="zh-CN" altLang="en-US" sz="3600" b="1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sym typeface="+mn-ea"/>
              </a:rPr>
              <a:t>拓展内容</a:t>
            </a:r>
            <a:r>
              <a:rPr lang="en-US" altLang="zh-CN" sz="3600" b="1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sym typeface="+mn-ea"/>
              </a:rPr>
              <a:t>-</a:t>
            </a:r>
            <a:r>
              <a:rPr lang="zh-CN" altLang="en-US" sz="3600" b="1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sym typeface="+mn-ea"/>
              </a:rPr>
              <a:t>不要求</a:t>
            </a:r>
            <a:r>
              <a:rPr lang="en-US" altLang="zh-CN" sz="3600" b="1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  <a:sym typeface="+mn-ea"/>
              </a:rPr>
              <a:t>】</a:t>
            </a:r>
            <a:r>
              <a:rPr lang="zh-CN" altLang="en-US" sz="3600" b="1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</a:rPr>
              <a:t>行指针访问</a:t>
            </a:r>
            <a:r>
              <a:rPr lang="en-US" altLang="zh-CN" sz="3600" b="1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</a:rPr>
              <a:t>char</a:t>
            </a:r>
            <a:r>
              <a:rPr lang="zh-CN" altLang="en-US" sz="3600" b="1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uLnTx/>
                <a:uFillTx/>
              </a:rPr>
              <a:t>二维数组</a:t>
            </a:r>
            <a:endParaRPr lang="zh-CN" altLang="en-US" sz="3600" b="1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uLnTx/>
              <a:uFillTx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762000"/>
            <a:ext cx="9225280" cy="5511165"/>
          </a:xfrm>
        </p:spPr>
        <p:txBody>
          <a:bodyPr/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#include&lt;stdio.h&gt;</a:t>
            </a:r>
            <a:endParaRPr lang="zh-CN" altLang="en-US" sz="1800" b="1"/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char s[5][100];</a:t>
            </a:r>
            <a:endParaRPr lang="zh-CN" altLang="en-US" sz="1800" b="1"/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int main()</a:t>
            </a:r>
            <a:endParaRPr lang="zh-CN" altLang="en-US" sz="1800" b="1"/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{</a:t>
            </a:r>
            <a:endParaRPr lang="zh-CN" altLang="en-US" sz="1800" b="1"/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    int i;</a:t>
            </a:r>
            <a:endParaRPr lang="zh-CN" altLang="en-US" sz="1800" b="1"/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    char (*p)[100]=&amp;s[0];</a:t>
            </a:r>
            <a:r>
              <a:rPr lang="zh-CN" altLang="en-US" sz="1800" b="1">
                <a:solidFill>
                  <a:schemeClr val="tx1">
                    <a:lumMod val="65000"/>
                  </a:schemeClr>
                </a:solidFill>
              </a:rPr>
              <a:t>//char (*p)[100]=s;//指向第0行</a:t>
            </a:r>
            <a:endParaRPr lang="zh-CN" altLang="en-US" sz="1800" b="1">
              <a:solidFill>
                <a:schemeClr val="tx1">
                  <a:lumMod val="65000"/>
                </a:schemeClr>
              </a:solidFill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solidFill>
                  <a:schemeClr val="tx1">
                    <a:lumMod val="65000"/>
                  </a:schemeClr>
                </a:solidFill>
              </a:rPr>
              <a:t>    /*for(int i=0;i&lt;5;i++)</a:t>
            </a:r>
            <a:endParaRPr lang="zh-CN" altLang="en-US" sz="1800" b="1">
              <a:solidFill>
                <a:schemeClr val="tx1">
                  <a:lumMod val="65000"/>
                </a:schemeClr>
              </a:solidFill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solidFill>
                  <a:schemeClr val="tx1">
                    <a:lumMod val="65000"/>
                  </a:schemeClr>
                </a:solidFill>
              </a:rPr>
              <a:t>    {</a:t>
            </a:r>
            <a:endParaRPr lang="zh-CN" altLang="en-US" sz="1800" b="1">
              <a:solidFill>
                <a:schemeClr val="tx1">
                  <a:lumMod val="65000"/>
                </a:schemeClr>
              </a:solidFill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solidFill>
                  <a:schemeClr val="tx1">
                    <a:lumMod val="65000"/>
                  </a:schemeClr>
                </a:solidFill>
              </a:rPr>
              <a:t>         scanf("%s",*(p+i));//scanf("%s",*(p+i)+0);//或 scanf("%s",&amp;s[i][0]);</a:t>
            </a:r>
            <a:endParaRPr lang="zh-CN" altLang="en-US" sz="1800" b="1">
              <a:solidFill>
                <a:schemeClr val="tx1">
                  <a:lumMod val="65000"/>
                </a:schemeClr>
              </a:solidFill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solidFill>
                  <a:schemeClr val="tx1">
                    <a:lumMod val="65000"/>
                  </a:schemeClr>
                </a:solidFill>
              </a:rPr>
              <a:t>         printf("%s\n",*(p+i));//printf("%s\n",*(p+i)+0);</a:t>
            </a:r>
            <a:endParaRPr lang="zh-CN" altLang="en-US" sz="1800" b="1">
              <a:solidFill>
                <a:schemeClr val="tx1">
                  <a:lumMod val="65000"/>
                </a:schemeClr>
              </a:solidFill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solidFill>
                  <a:schemeClr val="tx1">
                    <a:lumMod val="65000"/>
                  </a:schemeClr>
                </a:solidFill>
              </a:rPr>
              <a:t>    }</a:t>
            </a:r>
            <a:endParaRPr lang="zh-CN" altLang="en-US" sz="1800" b="1">
              <a:solidFill>
                <a:schemeClr val="tx1">
                  <a:lumMod val="65000"/>
                </a:schemeClr>
              </a:solidFill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>
                <a:solidFill>
                  <a:schemeClr val="tx1">
                    <a:lumMod val="65000"/>
                  </a:schemeClr>
                </a:solidFill>
              </a:rPr>
              <a:t>    */</a:t>
            </a:r>
            <a:endParaRPr lang="zh-CN" altLang="en-US" sz="1800" b="1">
              <a:solidFill>
                <a:schemeClr val="tx1">
                  <a:lumMod val="65000"/>
                </a:schemeClr>
              </a:solidFill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    for(i=0;i&lt;5;i++,p++)//行指针移动</a:t>
            </a:r>
            <a:endParaRPr lang="zh-CN" altLang="en-US" sz="1800" b="1"/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         scanf("%s",*p);</a:t>
            </a:r>
            <a:r>
              <a:rPr lang="zh-CN" altLang="en-US" sz="1800" b="1">
                <a:solidFill>
                  <a:schemeClr val="tx1">
                    <a:lumMod val="65000"/>
                  </a:schemeClr>
                </a:solidFill>
              </a:rPr>
              <a:t>//scanf("%s",*(p+0)+0);</a:t>
            </a:r>
            <a:endParaRPr lang="zh-CN" altLang="en-US" sz="1800" b="1">
              <a:solidFill>
                <a:schemeClr val="tx1">
                  <a:lumMod val="65000"/>
                </a:schemeClr>
              </a:solidFill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endParaRPr lang="zh-CN" altLang="en-US" sz="1800" b="1"/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    for(</a:t>
            </a:r>
            <a:r>
              <a:rPr lang="zh-CN" altLang="en-US" sz="1800" b="1">
                <a:solidFill>
                  <a:srgbClr val="F402FC"/>
                </a:solidFill>
              </a:rPr>
              <a:t>p=s</a:t>
            </a:r>
            <a:r>
              <a:rPr lang="zh-CN" altLang="en-US" sz="1800" b="1"/>
              <a:t>,i=0;i&lt;5;i++,p++)//行指针移动</a:t>
            </a:r>
            <a:endParaRPr lang="zh-CN" altLang="en-US" sz="1800" b="1"/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        printf("%s\n",*p);</a:t>
            </a:r>
            <a:endParaRPr lang="zh-CN" altLang="en-US" sz="1800" b="1"/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    return 0;</a:t>
            </a:r>
            <a:endParaRPr lang="zh-CN" altLang="en-US" sz="1800" b="1"/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b="1"/>
              <a:t>}</a:t>
            </a:r>
            <a:endParaRPr lang="zh-CN" altLang="en-US" sz="1800" b="1"/>
          </a:p>
        </p:txBody>
      </p:sp>
      <p:sp>
        <p:nvSpPr>
          <p:cNvPr id="4" name="文本框 3"/>
          <p:cNvSpPr txBox="1"/>
          <p:nvPr/>
        </p:nvSpPr>
        <p:spPr>
          <a:xfrm>
            <a:off x="5791200" y="5043170"/>
            <a:ext cx="6383020" cy="181483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>
                <a:solidFill>
                  <a:srgbClr val="FFFF00"/>
                </a:solidFill>
                <a:sym typeface="+mn-ea"/>
              </a:rPr>
              <a:t>可以将列指针理解为行指针的具体元素</a:t>
            </a:r>
            <a:endParaRPr lang="zh-CN" altLang="en-US" sz="2800">
              <a:solidFill>
                <a:srgbClr val="FFFF00"/>
              </a:solidFill>
              <a:sym typeface="+mn-ea"/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>
                <a:solidFill>
                  <a:srgbClr val="FFFF00"/>
                </a:solidFill>
                <a:sym typeface="+mn-ea"/>
              </a:rPr>
              <a:t>行指针理解为列指针的地址：</a:t>
            </a:r>
            <a:endParaRPr lang="zh-CN" altLang="en-US" sz="2800" b="1">
              <a:solidFill>
                <a:srgbClr val="FFFF00"/>
              </a:solidFill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>
                <a:solidFill>
                  <a:srgbClr val="FF0000"/>
                </a:solidFill>
                <a:sym typeface="+mn-ea"/>
              </a:rPr>
              <a:t>*行指针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列指针</a:t>
            </a:r>
            <a:endParaRPr lang="zh-CN" altLang="en-US" sz="2800" b="1">
              <a:solidFill>
                <a:srgbClr val="FF0000"/>
              </a:solidFill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800">
                <a:solidFill>
                  <a:srgbClr val="FF0000"/>
                </a:solidFill>
                <a:sym typeface="+mn-ea"/>
              </a:rPr>
              <a:t>&amp;列指针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zh-CN" altLang="en-US" sz="2800">
                <a:solidFill>
                  <a:srgbClr val="FF0000"/>
                </a:solidFill>
                <a:sym typeface="+mn-ea"/>
              </a:rPr>
              <a:t>行指针</a:t>
            </a:r>
            <a:endParaRPr lang="zh-CN" altLang="en-US" sz="28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85942" y="1066862"/>
            <a:ext cx="11201265" cy="48926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假定已有定义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a[4][3];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二维数组的名字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代表的含义是什么？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a 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&amp;a[0] ,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行的地址，是一个行指针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如果要定义一个指针，使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p1=&amp;a[0][0]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则指针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的类型是什么？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int * p1;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 【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拓展内容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】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如果要定义一个指针，使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p2=a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则指针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kumimoji="0" lang="zh-CN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的类型应该是什么？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int (*p2)[3];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课后实践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】ch07-02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指针作参数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行指针不要求）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rgbClr val="F402FC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提示：</a:t>
            </a:r>
            <a:endParaRPr kumimoji="0" lang="en-US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可以将“列指针”理解为“行指针”的具体元素，“行指针”理解为“列指针”的地址：</a:t>
            </a:r>
            <a:endParaRPr kumimoji="0" lang="zh-CN" altLang="en-US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*行指针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得到 列指针</a:t>
            </a:r>
            <a:endParaRPr kumimoji="0" lang="zh-CN" altLang="en-US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列指针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得到 行指针</a:t>
            </a:r>
            <a:endParaRPr kumimoji="0" lang="zh-CN" altLang="zh-CN" sz="2400" b="1" i="0" u="none" strike="noStrike" kern="1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2462213" cy="5302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【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思考</a:t>
            </a:r>
            <a:r>
              <a:rPr kumimoji="0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】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978025" y="55563"/>
            <a:ext cx="8229600" cy="4413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指针作形参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79375" y="3868738"/>
            <a:ext cx="11426825" cy="2846070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>
            <a:defPPr>
              <a:defRPr lang="zh-CN"/>
            </a:defPPr>
          </a:lstStyle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函数原型：</a:t>
            </a:r>
            <a:endParaRPr kumimoji="0" lang="en-US" altLang="zh-CN" sz="31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sort(</a:t>
            </a:r>
            <a:r>
              <a:rPr kumimoji="0" lang="en-US" altLang="zh-CN" sz="3100" kern="1200" cap="none" spc="0" normalizeH="0" baseline="0" noProof="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</a:t>
            </a:r>
            <a:r>
              <a:rPr kumimoji="0" lang="zh-CN" altLang="en-US" sz="3100" kern="1200" cap="none" spc="0" normalizeH="0" baseline="0" noProof="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3100" kern="1200" cap="none" spc="0" normalizeH="0" baseline="0" noProof="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int m, float n); 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对二维数组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zh-CN" altLang="en-US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做排序</a:t>
            </a:r>
            <a:endParaRPr kumimoji="0" lang="en-US" altLang="zh-CN" sz="3100" kern="1200" cap="none" spc="0" normalizeH="0" baseline="0" noProof="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sz="31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假定已在主调函数中定义</a:t>
            </a: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data[M][N];</a:t>
            </a: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则</a:t>
            </a:r>
            <a:endParaRPr kumimoji="0" lang="en-US" altLang="zh-CN" sz="2400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调用形式：</a:t>
            </a:r>
            <a:endParaRPr kumimoji="0" lang="en-US" altLang="zh-CN" sz="31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sort(</a:t>
            </a:r>
            <a:r>
              <a:rPr kumimoji="0" lang="en-US" altLang="zh-CN" sz="3100" kern="1200" cap="none" spc="0" normalizeH="0" baseline="0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&amp;data[0][0]</a:t>
            </a: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,3,4);  </a:t>
            </a:r>
            <a:r>
              <a:rPr kumimoji="0" lang="en-US" altLang="zh-CN" sz="20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en-US" altLang="zh-CN" sz="2000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100" kern="1200" cap="none" spc="0" normalizeH="0" baseline="0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不能写成</a:t>
            </a:r>
            <a:r>
              <a:rPr kumimoji="0" lang="en-US" altLang="zh-CN" sz="28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sort(</a:t>
            </a:r>
            <a:r>
              <a:rPr kumimoji="0" lang="en-US" altLang="zh-CN" sz="3100" kern="1200" cap="none" spc="0" normalizeH="0" baseline="0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en-US" altLang="zh-CN" sz="28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,3,4); </a:t>
            </a:r>
            <a:endParaRPr kumimoji="0" lang="zh-CN" altLang="en-US" sz="2800" kern="1200" cap="none" spc="0" normalizeH="0" baseline="0" noProof="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76200" y="685800"/>
            <a:ext cx="11426825" cy="2846070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函数原型：</a:t>
            </a:r>
            <a:endParaRPr kumimoji="0" lang="en-US" altLang="zh-CN" sz="31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sort(</a:t>
            </a:r>
            <a:r>
              <a:rPr kumimoji="0" lang="en-US" altLang="zh-CN" sz="3100" kern="1200" cap="none" spc="0" normalizeH="0" baseline="0" noProof="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</a:t>
            </a:r>
            <a:r>
              <a:rPr kumimoji="0" lang="zh-CN" altLang="en-US" sz="3100" kern="1200" cap="none" spc="0" normalizeH="0" baseline="0" noProof="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3100" kern="1200" cap="none" spc="0" normalizeH="0" baseline="0" noProof="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int m);  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对一维数组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zh-CN" altLang="en-US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做排序</a:t>
            </a:r>
            <a:endParaRPr kumimoji="0" lang="en-US" altLang="zh-CN" sz="3100" kern="1200" cap="none" spc="0" normalizeH="0" baseline="0" noProof="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sz="31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假定已在主调函数中定义了</a:t>
            </a: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data[M];</a:t>
            </a: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则</a:t>
            </a:r>
            <a:endParaRPr kumimoji="0" lang="en-US" altLang="zh-CN" sz="2400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调用形式为：</a:t>
            </a:r>
            <a:endParaRPr kumimoji="0" lang="en-US" altLang="zh-CN" sz="31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sort(</a:t>
            </a:r>
            <a:r>
              <a:rPr kumimoji="0" lang="en-US" altLang="zh-CN" sz="3100" kern="1200" cap="none" spc="0" normalizeH="0" baseline="0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&amp;data[0]</a:t>
            </a:r>
            <a:r>
              <a:rPr kumimoji="0" lang="en-US" altLang="zh-CN" sz="3100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,4); 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或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sort(</a:t>
            </a:r>
            <a:r>
              <a:rPr kumimoji="0" lang="en-US" altLang="zh-CN" sz="3100" kern="1200" cap="none" spc="0" normalizeH="0" baseline="0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,4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);   </a:t>
            </a:r>
            <a:endParaRPr kumimoji="0" lang="zh-CN" altLang="en-US" sz="3100" kern="1200" cap="none" spc="0" normalizeH="0" baseline="0" noProof="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对话气泡: 圆角矩形 1"/>
          <p:cNvSpPr/>
          <p:nvPr>
            <p:custDataLst>
              <p:tags r:id="rId3"/>
            </p:custDataLst>
          </p:nvPr>
        </p:nvSpPr>
        <p:spPr>
          <a:xfrm>
            <a:off x="8915400" y="4946650"/>
            <a:ext cx="2438400" cy="836613"/>
          </a:xfrm>
          <a:prstGeom prst="wedgeRoundRectCallout">
            <a:avLst>
              <a:gd name="adj1" fmla="val -41014"/>
              <a:gd name="adj2" fmla="val 115278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二维数组的名字是第</a:t>
            </a:r>
            <a:r>
              <a:rPr lang="en-US" altLang="zh-CN" sz="2400" b="1" dirty="0"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</a:rPr>
              <a:t>行的地址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8" name="对话气泡: 圆角矩形 7"/>
          <p:cNvSpPr/>
          <p:nvPr>
            <p:custDataLst>
              <p:tags r:id="rId4"/>
            </p:custDataLst>
          </p:nvPr>
        </p:nvSpPr>
        <p:spPr>
          <a:xfrm>
            <a:off x="6781800" y="1905000"/>
            <a:ext cx="2438400" cy="838200"/>
          </a:xfrm>
          <a:prstGeom prst="wedgeRoundRectCallout">
            <a:avLst>
              <a:gd name="adj1" fmla="val -63602"/>
              <a:gd name="adj2" fmla="val 96681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一维数组的名字是第</a:t>
            </a:r>
            <a:r>
              <a:rPr lang="en-US" altLang="zh-CN" sz="2400" b="1" dirty="0">
                <a:latin typeface="Arial" panose="020B0604020202020204" pitchFamily="34" charset="0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</a:rPr>
              <a:t>列的地址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9" name="对话气泡: 圆角矩形 8"/>
          <p:cNvSpPr/>
          <p:nvPr>
            <p:custDataLst>
              <p:tags r:id="rId5"/>
            </p:custDataLst>
          </p:nvPr>
        </p:nvSpPr>
        <p:spPr>
          <a:xfrm>
            <a:off x="2209800" y="703580"/>
            <a:ext cx="6546215" cy="371475"/>
          </a:xfrm>
          <a:prstGeom prst="wedgeRoundRectCallout">
            <a:avLst>
              <a:gd name="adj1" fmla="val -41014"/>
              <a:gd name="adj2" fmla="val 115278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此处形参是列指针，对应的实参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</a:rPr>
              <a:t>应为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</a:rPr>
              <a:t>列地址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0" name="对话气泡: 圆角矩形 9"/>
          <p:cNvSpPr/>
          <p:nvPr>
            <p:custDataLst>
              <p:tags r:id="rId6"/>
            </p:custDataLst>
          </p:nvPr>
        </p:nvSpPr>
        <p:spPr>
          <a:xfrm>
            <a:off x="2362200" y="3869055"/>
            <a:ext cx="6520815" cy="371475"/>
          </a:xfrm>
          <a:prstGeom prst="wedgeRoundRectCallout">
            <a:avLst>
              <a:gd name="adj1" fmla="val -41014"/>
              <a:gd name="adj2" fmla="val 115278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此处形参是列指针，对应的实参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</a:rPr>
              <a:t>应为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</a:rPr>
              <a:t>列地址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" grpId="0" animBg="1"/>
      <p:bldP spid="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981200" y="80963"/>
            <a:ext cx="8229600" cy="4413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数组作形参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8600" y="627063"/>
            <a:ext cx="11201400" cy="2738120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函数原型：</a:t>
            </a:r>
            <a:endParaRPr kumimoji="0" lang="en-US" altLang="zh-CN" sz="31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sort(</a:t>
            </a:r>
            <a:r>
              <a:rPr kumimoji="0" lang="en-US" altLang="zh-CN" sz="3100" kern="1200" cap="none" spc="0" normalizeH="0" baseline="0" noProof="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a[] </a:t>
            </a: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int m);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对一维数组</a:t>
            </a: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做排序</a:t>
            </a:r>
            <a:endParaRPr kumimoji="0" lang="en-US" altLang="zh-CN" sz="24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sz="2400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假定已在主调函数中定义了</a:t>
            </a: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data[M];</a:t>
            </a: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则</a:t>
            </a:r>
            <a:endParaRPr kumimoji="0" lang="en-US" altLang="zh-CN" sz="2400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调用形式为：</a:t>
            </a:r>
            <a:endParaRPr kumimoji="0" lang="en-US" altLang="zh-CN" sz="31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sort(</a:t>
            </a:r>
            <a:r>
              <a:rPr kumimoji="0" lang="en-US" altLang="zh-CN" sz="3100" kern="1200" cap="none" spc="0" normalizeH="0" baseline="0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,4);   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//sort( </a:t>
            </a:r>
            <a:r>
              <a:rPr kumimoji="0" lang="en-US" altLang="zh-CN" sz="3100" kern="1200" cap="none" spc="0" normalizeH="0" baseline="0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&amp;data[0]</a:t>
            </a:r>
            <a:r>
              <a:rPr kumimoji="0" lang="en-US" altLang="zh-CN" sz="3100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,4);</a:t>
            </a:r>
            <a:endParaRPr kumimoji="0" lang="zh-CN" altLang="en-US" sz="3100" kern="1200" cap="none" spc="0" normalizeH="0" baseline="0" noProof="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8600" y="3492500"/>
            <a:ext cx="11201400" cy="2738120"/>
          </a:xfrm>
          <a:prstGeom prst="rect">
            <a:avLst/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>
            <a:spAutoFit/>
          </a:bodyPr>
          <a:lstStyle>
            <a:defPPr>
              <a:defRPr lang="zh-CN"/>
            </a:defPPr>
          </a:lstStyle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函数原型：</a:t>
            </a:r>
            <a:endParaRPr kumimoji="0" lang="en-US" altLang="zh-CN" sz="31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void sort(</a:t>
            </a:r>
            <a:r>
              <a:rPr kumimoji="0" lang="en-US" altLang="zh-CN" sz="3100" kern="1200" cap="none" spc="0" normalizeH="0" baseline="0" noProof="0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a[ ][N] </a:t>
            </a: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 int m, float n);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对二维数组</a:t>
            </a: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做排序</a:t>
            </a:r>
            <a:endParaRPr kumimoji="0" lang="en-US" altLang="zh-CN" sz="24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endParaRPr kumimoji="0" lang="en-US" altLang="zh-CN" sz="2400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假定已在主调函数中定义</a:t>
            </a:r>
            <a:r>
              <a:rPr kumimoji="0" lang="en-US" altLang="zh-CN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int data[M][N];</a:t>
            </a:r>
            <a:r>
              <a:rPr kumimoji="0" lang="zh-CN" altLang="en-US" sz="2400" kern="1200" cap="none" spc="0" normalizeH="0" baseline="0" noProof="0" dirty="0">
                <a:solidFill>
                  <a:schemeClr val="tx1">
                    <a:lumMod val="65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则</a:t>
            </a:r>
            <a:endParaRPr kumimoji="0" lang="en-US" altLang="zh-CN" sz="2400" kern="1200" cap="none" spc="0" normalizeH="0" baseline="0" noProof="0" dirty="0">
              <a:solidFill>
                <a:schemeClr val="tx1">
                  <a:lumMod val="65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调用形式：</a:t>
            </a:r>
            <a:endParaRPr kumimoji="0" lang="en-US" altLang="zh-CN" sz="3100" kern="1200" cap="none" spc="0" normalizeH="0" baseline="0" noProof="0" dirty="0"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sort(</a:t>
            </a:r>
            <a:r>
              <a:rPr kumimoji="0" lang="en-US" altLang="zh-CN" sz="3100" kern="1200" cap="none" spc="0" normalizeH="0" baseline="0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data</a:t>
            </a:r>
            <a:r>
              <a:rPr kumimoji="0" lang="en-US" altLang="zh-CN" sz="3100" kern="1200" cap="none" spc="0" normalizeH="0" baseline="0" noProof="0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,3,4);   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//sort( </a:t>
            </a:r>
            <a:r>
              <a:rPr kumimoji="0" lang="en-US" altLang="zh-CN" sz="3100" kern="1200" cap="none" spc="0" normalizeH="0" baseline="0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&amp;data[0]</a:t>
            </a:r>
            <a:r>
              <a:rPr kumimoji="0" lang="en-US" altLang="zh-CN" sz="3100" kern="1200" cap="none" spc="0" normalizeH="0" baseline="0" noProof="0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100" kern="1200" cap="none" spc="0" normalizeH="0" baseline="0" noProof="0" dirty="0">
                <a:solidFill>
                  <a:schemeClr val="tx1">
                    <a:lumMod val="50000"/>
                  </a:schemeClr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,3,4); </a:t>
            </a:r>
            <a:endParaRPr kumimoji="0" lang="zh-CN" altLang="en-US" sz="3100" kern="1200" cap="none" spc="0" normalizeH="0" baseline="0" noProof="0" dirty="0">
              <a:solidFill>
                <a:schemeClr val="tx1">
                  <a:lumMod val="50000"/>
                </a:schemeClr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1" name="文本框 1"/>
          <p:cNvSpPr txBox="1"/>
          <p:nvPr/>
        </p:nvSpPr>
        <p:spPr>
          <a:xfrm>
            <a:off x="8610600" y="0"/>
            <a:ext cx="3581400" cy="954088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</a:rPr>
              <a:t>课后实践</a:t>
            </a:r>
            <a:r>
              <a:rPr lang="en-US" altLang="zh-CN" sz="2800" b="1" dirty="0">
                <a:solidFill>
                  <a:srgbClr val="FF0000"/>
                </a:solidFill>
              </a:rPr>
              <a:t>】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ch07-01</a:t>
            </a:r>
            <a:r>
              <a:rPr lang="zh-CN" altLang="en-US" sz="2800" b="1" dirty="0">
                <a:solidFill>
                  <a:srgbClr val="FF0000"/>
                </a:solidFill>
              </a:rPr>
              <a:t>数组作形参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对话气泡: 圆角矩形 5"/>
          <p:cNvSpPr/>
          <p:nvPr/>
        </p:nvSpPr>
        <p:spPr>
          <a:xfrm>
            <a:off x="2743200" y="627063"/>
            <a:ext cx="4648200" cy="371475"/>
          </a:xfrm>
          <a:prstGeom prst="wedgeRoundRectCallout">
            <a:avLst>
              <a:gd name="adj1" fmla="val -41231"/>
              <a:gd name="adj2" fmla="val 112542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此处形参是列指针，相当于</a:t>
            </a:r>
            <a:r>
              <a:rPr lang="en-US" altLang="zh-CN" sz="2400" b="1" dirty="0">
                <a:latin typeface="Arial" panose="020B0604020202020204" pitchFamily="34" charset="0"/>
              </a:rPr>
              <a:t>int *a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7" name="对话气泡: 圆角矩形 6"/>
          <p:cNvSpPr/>
          <p:nvPr/>
        </p:nvSpPr>
        <p:spPr>
          <a:xfrm>
            <a:off x="3048000" y="3455988"/>
            <a:ext cx="5943600" cy="371475"/>
          </a:xfrm>
          <a:prstGeom prst="wedgeRoundRectCallout">
            <a:avLst>
              <a:gd name="adj1" fmla="val -41014"/>
              <a:gd name="adj2" fmla="val 115278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此处形参是行指针，相当于</a:t>
            </a:r>
            <a:r>
              <a:rPr lang="en-US" altLang="zh-CN" sz="2400" b="1" dirty="0">
                <a:latin typeface="Arial" panose="020B0604020202020204" pitchFamily="34" charset="0"/>
              </a:rPr>
              <a:t>int (*a)[N]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5751513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BB82867-B557-4B37-8C70-EA97E9C701D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矩形 2"/>
          <p:cNvSpPr/>
          <p:nvPr/>
        </p:nvSpPr>
        <p:spPr>
          <a:xfrm>
            <a:off x="0" y="476250"/>
            <a:ext cx="12192000" cy="1520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</a:rPr>
              <a:t>7.1】</a:t>
            </a:r>
            <a:r>
              <a:rPr lang="zh-CN" altLang="en-US" sz="2800" b="1" dirty="0">
                <a:solidFill>
                  <a:srgbClr val="FFC000"/>
                </a:solidFill>
              </a:rPr>
              <a:t>编写程序，对任意给定的</a:t>
            </a:r>
            <a:r>
              <a:rPr lang="en-US" altLang="zh-CN" sz="2800" b="1" dirty="0">
                <a:solidFill>
                  <a:srgbClr val="FFC000"/>
                </a:solidFill>
              </a:rPr>
              <a:t>MxN</a:t>
            </a:r>
            <a:r>
              <a:rPr lang="zh-CN" altLang="en-US" sz="2800" b="1" dirty="0">
                <a:solidFill>
                  <a:srgbClr val="FFC000"/>
                </a:solidFill>
              </a:rPr>
              <a:t>阶整数矩阵</a:t>
            </a:r>
            <a:r>
              <a:rPr lang="en-US" altLang="zh-CN" sz="2800" b="1" dirty="0">
                <a:solidFill>
                  <a:srgbClr val="FFC000"/>
                </a:solidFill>
              </a:rPr>
              <a:t>a </a:t>
            </a:r>
            <a:r>
              <a:rPr lang="zh-CN" altLang="en-US" sz="2800" b="1" dirty="0">
                <a:solidFill>
                  <a:srgbClr val="FFC000"/>
                </a:solidFill>
              </a:rPr>
              <a:t>按行递增排序，使</a:t>
            </a:r>
            <a:endParaRPr lang="zh-CN" altLang="en-US" sz="2800" b="1" dirty="0">
              <a:solidFill>
                <a:srgbClr val="FFC000"/>
              </a:solidFill>
            </a:endParaRPr>
          </a:p>
          <a:p>
            <a:pPr marL="0" lvl="0" indent="0" algn="ctr" eaLnBrk="1" hangingPunct="1">
              <a:buNone/>
            </a:pPr>
            <a:r>
              <a:rPr lang="en-US" altLang="zh-CN" sz="1800" b="1" dirty="0">
                <a:solidFill>
                  <a:srgbClr val="FFC000"/>
                </a:solidFill>
              </a:rPr>
              <a:t>a[0][0] &lt; a[0][1] &lt; ……&lt; a[0][N-1] &lt;</a:t>
            </a:r>
            <a:endParaRPr lang="en-US" altLang="zh-CN" sz="1800" b="1" dirty="0">
              <a:solidFill>
                <a:srgbClr val="FFC000"/>
              </a:solidFill>
            </a:endParaRPr>
          </a:p>
          <a:p>
            <a:pPr marL="0" lvl="0" indent="0" algn="ctr" eaLnBrk="1" hangingPunct="1">
              <a:buNone/>
            </a:pPr>
            <a:r>
              <a:rPr lang="en-US" altLang="zh-CN" sz="1800" b="1" dirty="0">
                <a:solidFill>
                  <a:srgbClr val="FFC000"/>
                </a:solidFill>
              </a:rPr>
              <a:t>a[1][0] &lt; a[1][1] &lt; ……&lt; a[1][N-1] &lt;</a:t>
            </a:r>
            <a:endParaRPr lang="en-US" altLang="zh-CN" sz="1800" b="1" dirty="0">
              <a:solidFill>
                <a:srgbClr val="FFC000"/>
              </a:solidFill>
            </a:endParaRPr>
          </a:p>
          <a:p>
            <a:pPr marL="0" lvl="0" indent="0" algn="ctr" eaLnBrk="1" hangingPunct="1">
              <a:buNone/>
            </a:pPr>
            <a:r>
              <a:rPr lang="en-US" altLang="zh-CN" sz="1800" b="1" dirty="0">
                <a:solidFill>
                  <a:srgbClr val="FFC000"/>
                </a:solidFill>
              </a:rPr>
              <a:t>a[M-1][0] &lt; a[M-1][1] ... &lt; a[M-1][N-1] </a:t>
            </a:r>
            <a:endParaRPr lang="zh-CN" altLang="en-US" sz="1800" b="1" dirty="0">
              <a:solidFill>
                <a:srgbClr val="FFC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516188" y="2438400"/>
          <a:ext cx="7159625" cy="3440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144"/>
                <a:gridCol w="1687144"/>
                <a:gridCol w="1687144"/>
                <a:gridCol w="2098193"/>
              </a:tblGrid>
              <a:tr h="860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a[0][0]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a[0][1]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……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a[0][N-1] </a:t>
                      </a:r>
                      <a:endParaRPr lang="zh-CN" altLang="en-US" sz="24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</a:tr>
              <a:tr h="860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a[1][0]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a[1][1]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……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a[1][N-1]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</a:tr>
              <a:tr h="860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……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……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……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……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</a:tr>
              <a:tr h="86002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a[M-1][0]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a[M-1][1]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……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tx1"/>
                          </a:solidFill>
                        </a:rPr>
                        <a:t>a[M-1][N-1] </a:t>
                      </a:r>
                      <a:endParaRPr lang="zh-CN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9" marB="45729" anchor="ctr">
                    <a:noFill/>
                  </a:tcPr>
                </a:tc>
              </a:tr>
            </a:tbl>
          </a:graphicData>
        </a:graphic>
      </p:graphicFrame>
      <p:sp>
        <p:nvSpPr>
          <p:cNvPr id="36895" name="矩形 1"/>
          <p:cNvSpPr/>
          <p:nvPr/>
        </p:nvSpPr>
        <p:spPr>
          <a:xfrm>
            <a:off x="76200" y="6350"/>
            <a:ext cx="206057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zh-CN" altLang="en-US" b="1" dirty="0">
                <a:solidFill>
                  <a:srgbClr val="FFFFFF"/>
                </a:solidFill>
              </a:rPr>
              <a:t>教材</a:t>
            </a:r>
            <a:r>
              <a:rPr lang="en-US" altLang="zh-CN" b="1" dirty="0">
                <a:solidFill>
                  <a:srgbClr val="FFFFFF"/>
                </a:solidFill>
              </a:rPr>
              <a:t>P188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8040688" y="6400800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B0AF0B-4B09-465F-862F-7608BBC2FFD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28638" y="517525"/>
          <a:ext cx="4857750" cy="224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4714"/>
                <a:gridCol w="1144714"/>
                <a:gridCol w="1144714"/>
                <a:gridCol w="1423607"/>
              </a:tblGrid>
              <a:tr h="7493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a[0][0]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a[0][1]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a[0][2]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a[0][3] </a:t>
                      </a:r>
                      <a:endParaRPr lang="zh-CN" altLang="en-US" sz="2000" b="1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a[1][0]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a[1][1]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a[1][2]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a[1][3]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a[2][0]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a[2][1]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a[2][2]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a[2][3] </a:t>
                      </a:r>
                      <a:endParaRPr lang="zh-CN" alt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5" marR="91445" marT="45724" marB="45724" anchor="ctr">
                    <a:noFill/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42900" y="3089275"/>
            <a:ext cx="5105400" cy="37230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100" b="1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设置指针变量p，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若指针</a:t>
            </a:r>
            <a:r>
              <a:rPr lang="en-US" altLang="zh-CN" sz="2800" b="1" dirty="0"/>
              <a:t>p</a:t>
            </a:r>
            <a:r>
              <a:rPr lang="zh-CN" altLang="en-US" sz="2800" b="1" dirty="0"/>
              <a:t>当前指向某个元素，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则其值为：</a:t>
            </a:r>
            <a:r>
              <a:rPr lang="en-US" altLang="zh-CN" sz="3100" b="1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*p</a:t>
            </a:r>
            <a:endParaRPr lang="en-US" altLang="zh-CN" sz="3100" b="1" noProof="0" dirty="0">
              <a:solidFill>
                <a:srgbClr val="F402FC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而下一个元素的地址为</a:t>
            </a:r>
            <a:r>
              <a:rPr lang="en-US" altLang="zh-CN" sz="2800" b="1" dirty="0"/>
              <a:t>: p+1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下一个元素值为：</a:t>
            </a:r>
            <a:r>
              <a:rPr lang="en-US" altLang="zh-CN" sz="3100" b="1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*(p+1)</a:t>
            </a:r>
            <a:endParaRPr lang="en-US" altLang="zh-CN" sz="3100" b="1" noProof="0" dirty="0">
              <a:solidFill>
                <a:srgbClr val="F402FC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移动指针：</a:t>
            </a:r>
            <a:r>
              <a:rPr lang="en-US" altLang="zh-CN" sz="3100" b="1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p++</a:t>
            </a:r>
            <a:endParaRPr lang="en-US" altLang="zh-CN" sz="3100" b="1" noProof="0" dirty="0">
              <a:solidFill>
                <a:srgbClr val="F402FC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7914" name="TextBox 4"/>
          <p:cNvSpPr txBox="1"/>
          <p:nvPr/>
        </p:nvSpPr>
        <p:spPr>
          <a:xfrm>
            <a:off x="423863" y="-66675"/>
            <a:ext cx="4103687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r>
              <a:rPr lang="zh-CN" altLang="en-US" b="1" dirty="0"/>
              <a:t>以</a:t>
            </a:r>
            <a:r>
              <a:rPr lang="en-US" altLang="zh-CN" b="1" dirty="0"/>
              <a:t>M=3,</a:t>
            </a:r>
            <a:r>
              <a:rPr lang="en-US" altLang="zh-CN" sz="3100" b="1" noProof="0" dirty="0">
                <a:solidFill>
                  <a:srgbClr val="F402FC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N=4</a:t>
            </a:r>
            <a:r>
              <a:rPr lang="zh-CN" altLang="en-US" b="1" dirty="0"/>
              <a:t>为例</a:t>
            </a:r>
            <a:endParaRPr lang="zh-CN" altLang="en-US" b="1" dirty="0"/>
          </a:p>
        </p:txBody>
      </p:sp>
      <p:graphicFrame>
        <p:nvGraphicFramePr>
          <p:cNvPr id="7" name="Group 70"/>
          <p:cNvGraphicFramePr/>
          <p:nvPr/>
        </p:nvGraphicFramePr>
        <p:xfrm>
          <a:off x="6515100" y="111125"/>
          <a:ext cx="3529013" cy="6858006"/>
        </p:xfrm>
        <a:graphic>
          <a:graphicData uri="http://schemas.openxmlformats.org/drawingml/2006/table">
            <a:tbl>
              <a:tblPr/>
              <a:tblGrid>
                <a:gridCol w="924265"/>
                <a:gridCol w="1809746"/>
                <a:gridCol w="795002"/>
              </a:tblGrid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成分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内存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0X0018FF50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a[1][2]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0X0018FF40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0X0018FF38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431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0X0018FF34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0X0018FF30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67" marR="91467"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973" name="TextBox 22"/>
          <p:cNvSpPr txBox="1"/>
          <p:nvPr/>
        </p:nvSpPr>
        <p:spPr>
          <a:xfrm>
            <a:off x="9906000" y="6400800"/>
            <a:ext cx="1116013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zh-CN" altLang="en-US" sz="1400" b="1" dirty="0">
                <a:solidFill>
                  <a:srgbClr val="F402FC"/>
                </a:solidFill>
              </a:rPr>
              <a:t>指针变量</a:t>
            </a:r>
            <a:r>
              <a:rPr lang="en-US" altLang="zh-CN" sz="1400" b="1" dirty="0">
                <a:solidFill>
                  <a:srgbClr val="F402FC"/>
                </a:solidFill>
              </a:rPr>
              <a:t>p</a:t>
            </a:r>
            <a:endParaRPr lang="en-US" altLang="zh-CN" sz="1400" b="1" dirty="0">
              <a:solidFill>
                <a:srgbClr val="F402FC"/>
              </a:solidFill>
            </a:endParaRPr>
          </a:p>
        </p:txBody>
      </p:sp>
      <p:cxnSp>
        <p:nvCxnSpPr>
          <p:cNvPr id="37974" name="直接箭头连接符 9"/>
          <p:cNvCxnSpPr/>
          <p:nvPr/>
        </p:nvCxnSpPr>
        <p:spPr>
          <a:xfrm flipH="1">
            <a:off x="10056813" y="6237288"/>
            <a:ext cx="576262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9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32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8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64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88900" y="-26987"/>
            <a:ext cx="8674100" cy="6742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7.1】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方法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p++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移动指针）：排序部分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r,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bool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flag= true;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while ( flag ) 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flag = false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用指针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来标识数组中元素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	for(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p=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&amp;a[0][0]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p&lt;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&amp;a[0][0]+M*N-1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p++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 	if (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 &gt; *(p+1)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r=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 =*(p+1);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*(p+1) =r; // 交换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402FC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    		flag=true;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         		}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}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6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427788"/>
            <a:ext cx="21336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9FEF5A0-AA7A-4F2A-A600-392A66206E8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Group 70"/>
          <p:cNvGraphicFramePr/>
          <p:nvPr/>
        </p:nvGraphicFramePr>
        <p:xfrm>
          <a:off x="9132888" y="44450"/>
          <a:ext cx="923925" cy="6369050"/>
        </p:xfrm>
        <a:graphic>
          <a:graphicData uri="http://schemas.openxmlformats.org/drawingml/2006/table">
            <a:tbl>
              <a:tblPr/>
              <a:tblGrid>
                <a:gridCol w="923925"/>
              </a:tblGrid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成分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a[1][0]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a[0][3]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a[0][2]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435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a[0][1]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955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C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a[0][0]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C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marL="91433" marR="91433" marT="45719" marB="4571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930" name="TextBox 22"/>
          <p:cNvSpPr txBox="1"/>
          <p:nvPr/>
        </p:nvSpPr>
        <p:spPr>
          <a:xfrm>
            <a:off x="9977438" y="6311900"/>
            <a:ext cx="1016000" cy="307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buNone/>
            </a:pPr>
            <a:r>
              <a:rPr lang="zh-CN" altLang="en-US" sz="1400" b="1" dirty="0">
                <a:solidFill>
                  <a:srgbClr val="F402FC"/>
                </a:solidFill>
              </a:rPr>
              <a:t>指针变量</a:t>
            </a:r>
            <a:r>
              <a:rPr lang="en-US" altLang="zh-CN" sz="1400" b="1" dirty="0">
                <a:solidFill>
                  <a:srgbClr val="F402FC"/>
                </a:solidFill>
              </a:rPr>
              <a:t>p</a:t>
            </a:r>
            <a:endParaRPr lang="en-US" altLang="zh-CN" sz="1400" b="1" dirty="0">
              <a:solidFill>
                <a:srgbClr val="F402FC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10056813" y="6237288"/>
            <a:ext cx="576262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8" name="直接箭头连接符 7"/>
          <p:cNvCxnSpPr/>
          <p:nvPr/>
        </p:nvCxnSpPr>
        <p:spPr>
          <a:xfrm flipH="1">
            <a:off x="10071100" y="5732463"/>
            <a:ext cx="576263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7" name="直接箭头连接符 16"/>
          <p:cNvCxnSpPr/>
          <p:nvPr/>
        </p:nvCxnSpPr>
        <p:spPr>
          <a:xfrm flipH="1">
            <a:off x="10047288" y="1341438"/>
            <a:ext cx="577850" cy="0"/>
          </a:xfrm>
          <a:prstGeom prst="straightConnector1">
            <a:avLst/>
          </a:prstGeom>
          <a:ln w="34925" cap="flat" cmpd="sng">
            <a:solidFill>
              <a:srgbClr val="F402FC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" name="文本框 2"/>
          <p:cNvSpPr txBox="1"/>
          <p:nvPr/>
        </p:nvSpPr>
        <p:spPr>
          <a:xfrm>
            <a:off x="10058400" y="3352800"/>
            <a:ext cx="6731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F402FC"/>
                </a:solidFill>
              </a:rPr>
              <a:t>……</a:t>
            </a:r>
            <a:endParaRPr lang="en-US" altLang="zh-CN" sz="1800" b="1" dirty="0">
              <a:solidFill>
                <a:srgbClr val="F402FC"/>
              </a:solidFill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3457575" y="903605"/>
            <a:ext cx="5361305" cy="1489075"/>
          </a:xfrm>
          <a:prstGeom prst="wedgeRoundRectCallout">
            <a:avLst>
              <a:gd name="adj1" fmla="val 16347"/>
              <a:gd name="adj2" fmla="val 62828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marL="0" lvl="0" indent="0">
              <a:spcBef>
                <a:spcPct val="0"/>
              </a:spcBef>
              <a:buClrTx/>
              <a:buSzTx/>
              <a:buFont typeface="Wingdings 3" pitchFamily="18" charset="2"/>
              <a:buNone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每执行一次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p++,</a:t>
            </a:r>
            <a:endParaRPr lang="en-US" altLang="zh-CN" sz="2800" dirty="0">
              <a:solidFill>
                <a:schemeClr val="tx1"/>
              </a:solidFill>
              <a:sym typeface="+mn-ea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Wingdings 3" pitchFamily="18" charset="2"/>
              <a:buNone/>
            </a:pP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p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向后移动了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个元素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成分</a:t>
            </a: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,</a:t>
            </a:r>
            <a:endParaRPr lang="en-US" altLang="zh-CN" sz="2800" dirty="0">
              <a:solidFill>
                <a:schemeClr val="tx1"/>
              </a:solidFill>
              <a:sym typeface="+mn-ea"/>
            </a:endParaRPr>
          </a:p>
          <a:p>
            <a:pPr marL="0" lvl="0" indent="0">
              <a:spcBef>
                <a:spcPct val="0"/>
              </a:spcBef>
              <a:buClrTx/>
              <a:buSzTx/>
              <a:buFont typeface="Wingdings 3" pitchFamily="18" charset="2"/>
              <a:buNone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实际移动的字节数为</a:t>
            </a:r>
            <a:r>
              <a:rPr lang="en-US" altLang="zh-CN" sz="2000" dirty="0">
                <a:solidFill>
                  <a:schemeClr val="tx1"/>
                </a:solidFill>
                <a:sym typeface="+mn-ea"/>
              </a:rPr>
              <a:t>sizeof(a[0][0])</a:t>
            </a:r>
            <a:endParaRPr lang="zh-CN" altLang="en-US" sz="2800" b="1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endParaRPr lang="zh-CN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ldLvl="0" animBg="1"/>
      <p:bldP spid="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4010025" cy="768985"/>
          </a:xfrm>
        </p:spPr>
        <p:txBody>
          <a:bodyPr/>
          <a:p>
            <a:pPr algn="l"/>
            <a:r>
              <a:rPr lang="zh-CN" altLang="en-US" b="1"/>
              <a:t>【程序找错】</a:t>
            </a:r>
            <a:endParaRPr lang="zh-CN" altLang="en-US" b="1"/>
          </a:p>
        </p:txBody>
      </p:sp>
      <p:pic>
        <p:nvPicPr>
          <p:cNvPr id="6" name="图片 5"/>
          <p:cNvPicPr/>
          <p:nvPr/>
        </p:nvPicPr>
        <p:blipFill>
          <a:blip r:embed="rId1"/>
          <a:srcRect t="17456" r="37537" b="32966"/>
          <a:stretch>
            <a:fillRect/>
          </a:stretch>
        </p:blipFill>
        <p:spPr>
          <a:xfrm>
            <a:off x="1828800" y="685800"/>
            <a:ext cx="7068185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标题 1"/>
          <p:cNvSpPr>
            <a:spLocks noGrp="1"/>
          </p:cNvSpPr>
          <p:nvPr>
            <p:ph type="title"/>
          </p:nvPr>
        </p:nvSpPr>
        <p:spPr>
          <a:xfrm>
            <a:off x="228600" y="846138"/>
            <a:ext cx="4495800" cy="92233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指针数组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和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数组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的关系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8851" name="内容占位符 2"/>
          <p:cNvSpPr>
            <a:spLocks noGrp="1"/>
          </p:cNvSpPr>
          <p:nvPr>
            <p:ph idx="1"/>
          </p:nvPr>
        </p:nvSpPr>
        <p:spPr>
          <a:xfrm>
            <a:off x="228600" y="1828800"/>
            <a:ext cx="6322695" cy="385826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*p[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pl-PL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int 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], b[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en-US" altLang="pl-PL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[4]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u=5, v=6;</a:t>
            </a:r>
            <a:endParaRPr kumimoji="0" lang="pl-PL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p[0] 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=a;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等价于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p[0]=&amp;a[0];</a:t>
            </a:r>
            <a:endParaRPr kumimoji="0" lang="pl-PL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p[1]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&amp;u;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p[2] 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=&amp;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pl-PL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p[3]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=&amp;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b[0][0]</a:t>
            </a:r>
            <a:r>
              <a:rPr kumimoji="0" lang="pl-PL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pl-PL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8854" name="灯片编号占位符 5"/>
          <p:cNvSpPr txBox="1">
            <a:spLocks noGrp="1" noChangeArrowheads="1"/>
          </p:cNvSpPr>
          <p:nvPr>
            <p:ph type="sldNum" sz="quarter" idx="4"/>
          </p:nvPr>
        </p:nvSpPr>
        <p:spPr bwMode="auto">
          <a:xfrm>
            <a:off x="11298238" y="6376988"/>
            <a:ext cx="392113" cy="457200"/>
          </a:xfrm>
        </p:spPr>
        <p:txBody>
          <a:bodyPr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b="0" dirty="0">
                <a:solidFill>
                  <a:schemeClr val="tx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2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720013" y="1981200"/>
          <a:ext cx="687388" cy="3140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387"/>
              </a:tblGrid>
              <a:tr h="52334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516" marR="91516" marT="45730" marB="45730">
                    <a:noFill/>
                  </a:tcPr>
                </a:tc>
              </a:tr>
              <a:tr h="523346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516" marR="91516" marT="45730" marB="45730">
                    <a:noFill/>
                  </a:tcPr>
                </a:tc>
              </a:tr>
              <a:tr h="523346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516" marR="91516" marT="45730" marB="45730">
                    <a:noFill/>
                  </a:tcPr>
                </a:tc>
              </a:tr>
              <a:tr h="523346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516" marR="91516" marT="45730" marB="45730">
                    <a:noFill/>
                  </a:tcPr>
                </a:tc>
              </a:tr>
              <a:tr h="523346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516" marR="91516" marT="45730" marB="45730">
                    <a:noFill/>
                  </a:tcPr>
                </a:tc>
              </a:tr>
              <a:tr h="523346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……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516" marR="91516" marT="45730" marB="45730"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880600" y="1966913"/>
          <a:ext cx="700088" cy="196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88"/>
              </a:tblGrid>
              <a:tr h="49212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51" marR="91351" marT="45699" marB="45699">
                    <a:noFill/>
                  </a:tcPr>
                </a:tc>
              </a:tr>
              <a:tr h="492125">
                <a:tc>
                  <a:txBody>
                    <a:bodyPr/>
                    <a:lstStyle/>
                    <a:p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351" marR="91351" marT="45699" marB="45699">
                    <a:noFill/>
                  </a:tcPr>
                </a:tc>
              </a:tr>
              <a:tr h="492125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351" marR="91351" marT="45699" marB="45699">
                    <a:noFill/>
                  </a:tcPr>
                </a:tc>
              </a:tr>
              <a:tr h="49212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351" marR="91351" marT="45699" marB="45699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890000" y="3184525"/>
          <a:ext cx="700088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088"/>
              </a:tblGrid>
              <a:tr h="3667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 marL="91351" marR="91351" marT="45839" marB="45839"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890000" y="2547938"/>
          <a:ext cx="687388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388"/>
              </a:tblGrid>
              <a:tr h="3667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 marL="91516" marR="91516" marT="45839" marB="45839">
                    <a:noFill/>
                  </a:tcPr>
                </a:tc>
              </a:tr>
            </a:tbl>
          </a:graphicData>
        </a:graphic>
      </p:graphicFrame>
      <p:sp>
        <p:nvSpPr>
          <p:cNvPr id="31789" name="文本框 6"/>
          <p:cNvSpPr txBox="1"/>
          <p:nvPr>
            <p:custDataLst>
              <p:tags r:id="rId1"/>
            </p:custDataLst>
          </p:nvPr>
        </p:nvSpPr>
        <p:spPr>
          <a:xfrm>
            <a:off x="6836093" y="1448753"/>
            <a:ext cx="19573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solidFill>
                  <a:srgbClr val="F402FC"/>
                </a:solidFill>
                <a:latin typeface="Tahoma" panose="020B0604030504040204" pitchFamily="34" charset="0"/>
              </a:rPr>
              <a:t>int *p[6]</a:t>
            </a:r>
            <a:endParaRPr lang="en-US" altLang="zh-CN" sz="2800" dirty="0">
              <a:solidFill>
                <a:srgbClr val="F402FC"/>
              </a:solidFill>
              <a:latin typeface="Tahoma" panose="020B0604030504040204" pitchFamily="34" charset="0"/>
            </a:endParaRPr>
          </a:p>
        </p:txBody>
      </p:sp>
      <p:sp>
        <p:nvSpPr>
          <p:cNvPr id="31790" name="文本框 12"/>
          <p:cNvSpPr txBox="1"/>
          <p:nvPr>
            <p:custDataLst>
              <p:tags r:id="rId2"/>
            </p:custDataLst>
          </p:nvPr>
        </p:nvSpPr>
        <p:spPr>
          <a:xfrm>
            <a:off x="9174480" y="1447800"/>
            <a:ext cx="16002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solidFill>
                  <a:srgbClr val="F402FC"/>
                </a:solidFill>
                <a:latin typeface="Tahoma" panose="020B0604030504040204" pitchFamily="34" charset="0"/>
              </a:rPr>
              <a:t>int a[4]</a:t>
            </a:r>
            <a:endParaRPr lang="en-US" altLang="zh-CN" sz="2800" dirty="0">
              <a:solidFill>
                <a:srgbClr val="F402FC"/>
              </a:solidFill>
              <a:latin typeface="Tahoma" panose="020B0604030504040204" pitchFamily="34" charset="0"/>
            </a:endParaRPr>
          </a:p>
        </p:txBody>
      </p:sp>
      <p:sp>
        <p:nvSpPr>
          <p:cNvPr id="31791" name="文本框 13"/>
          <p:cNvSpPr txBox="1"/>
          <p:nvPr/>
        </p:nvSpPr>
        <p:spPr>
          <a:xfrm>
            <a:off x="8762683" y="6354128"/>
            <a:ext cx="2300287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solidFill>
                  <a:srgbClr val="F402FC"/>
                </a:solidFill>
                <a:latin typeface="Tahoma" panose="020B0604030504040204" pitchFamily="34" charset="0"/>
              </a:rPr>
              <a:t>int b[3][4]</a:t>
            </a:r>
            <a:endParaRPr lang="en-US" altLang="zh-CN" sz="2800" dirty="0">
              <a:solidFill>
                <a:srgbClr val="F402FC"/>
              </a:solidFill>
              <a:latin typeface="Tahoma" panose="020B0604030504040204" pitchFamily="34" charset="0"/>
            </a:endParaRPr>
          </a:p>
        </p:txBody>
      </p:sp>
      <p:cxnSp>
        <p:nvCxnSpPr>
          <p:cNvPr id="9" name="直接箭头连接符 8"/>
          <p:cNvCxnSpPr/>
          <p:nvPr>
            <p:custDataLst>
              <p:tags r:id="rId3"/>
            </p:custDataLst>
          </p:nvPr>
        </p:nvCxnSpPr>
        <p:spPr>
          <a:xfrm>
            <a:off x="8407400" y="2209800"/>
            <a:ext cx="1473200" cy="0"/>
          </a:xfrm>
          <a:prstGeom prst="straightConnector1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9" name="直接箭头连接符 18"/>
          <p:cNvCxnSpPr/>
          <p:nvPr>
            <p:custDataLst>
              <p:tags r:id="rId4"/>
            </p:custDataLst>
          </p:nvPr>
        </p:nvCxnSpPr>
        <p:spPr>
          <a:xfrm>
            <a:off x="8410575" y="2754313"/>
            <a:ext cx="496888" cy="0"/>
          </a:xfrm>
          <a:prstGeom prst="straightConnector1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1" name="直接箭头连接符 20"/>
          <p:cNvCxnSpPr/>
          <p:nvPr>
            <p:custDataLst>
              <p:tags r:id="rId5"/>
            </p:custDataLst>
          </p:nvPr>
        </p:nvCxnSpPr>
        <p:spPr>
          <a:xfrm>
            <a:off x="8407400" y="3276600"/>
            <a:ext cx="496888" cy="0"/>
          </a:xfrm>
          <a:prstGeom prst="straightConnector1">
            <a:avLst/>
          </a:prstGeom>
          <a:ln w="508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8793163" y="5068888"/>
          <a:ext cx="2957513" cy="1246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378"/>
                <a:gridCol w="739378"/>
                <a:gridCol w="739378"/>
                <a:gridCol w="739378"/>
              </a:tblGrid>
              <a:tr h="41539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5" marR="91455" marT="45688" marB="45688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5" marR="91455" marT="45688" marB="45688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5" marR="91455" marT="45688" marB="45688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5" marR="91455" marT="45688" marB="45688">
                    <a:noFill/>
                  </a:tcPr>
                </a:tc>
              </a:tr>
              <a:tr h="415396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5" marR="91455" marT="45688" marB="45688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5" marR="91455" marT="45688" marB="45688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5" marR="91455" marT="45688" marB="45688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5" marR="91455" marT="45688" marB="45688">
                    <a:noFill/>
                  </a:tcPr>
                </a:tc>
              </a:tr>
              <a:tr h="415396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5" marR="91455" marT="45688" marB="45688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5" marR="91455" marT="45688" marB="45688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5" marR="91455" marT="45688" marB="45688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5" marR="91455" marT="45688" marB="45688">
                    <a:noFill/>
                  </a:tcPr>
                </a:tc>
              </a:tr>
            </a:tbl>
          </a:graphicData>
        </a:graphic>
      </p:graphicFrame>
      <p:grpSp>
        <p:nvGrpSpPr>
          <p:cNvPr id="2" name="组合 33"/>
          <p:cNvGrpSpPr/>
          <p:nvPr/>
        </p:nvGrpSpPr>
        <p:grpSpPr>
          <a:xfrm>
            <a:off x="8437563" y="3851275"/>
            <a:ext cx="736600" cy="1214438"/>
            <a:chOff x="8407446" y="4343376"/>
            <a:chExt cx="736516" cy="1214243"/>
          </a:xfrm>
        </p:grpSpPr>
        <p:cxnSp>
          <p:nvCxnSpPr>
            <p:cNvPr id="31818" name="直接箭头连接符 22"/>
            <p:cNvCxnSpPr/>
            <p:nvPr/>
          </p:nvCxnSpPr>
          <p:spPr>
            <a:xfrm>
              <a:off x="9143962" y="4364715"/>
              <a:ext cx="0" cy="1192904"/>
            </a:xfrm>
            <a:prstGeom prst="straightConnector1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31819" name="直接箭头连接符 27"/>
            <p:cNvCxnSpPr/>
            <p:nvPr/>
          </p:nvCxnSpPr>
          <p:spPr>
            <a:xfrm>
              <a:off x="8407446" y="4343376"/>
              <a:ext cx="736516" cy="0"/>
            </a:xfrm>
            <a:prstGeom prst="straightConnector1">
              <a:avLst/>
            </a:prstGeom>
            <a:ln w="508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39939" name="Rectangle 78"/>
          <p:cNvSpPr/>
          <p:nvPr/>
        </p:nvSpPr>
        <p:spPr>
          <a:xfrm>
            <a:off x="4843780" y="57468"/>
            <a:ext cx="2447925" cy="579437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b="1" dirty="0"/>
              <a:t>	</a:t>
            </a:r>
            <a:r>
              <a:rPr lang="en-US" altLang="zh-CN" b="1" dirty="0">
                <a:solidFill>
                  <a:schemeClr val="hlink"/>
                </a:solidFill>
              </a:rPr>
              <a:t>T  *</a:t>
            </a:r>
            <a:r>
              <a:rPr lang="en-US" altLang="zh-CN" b="1" dirty="0"/>
              <a:t>p[N]</a:t>
            </a:r>
            <a:r>
              <a:rPr lang="zh-CN" altLang="en-US" b="1" dirty="0"/>
              <a:t>；</a:t>
            </a:r>
            <a:endParaRPr lang="en-US" altLang="zh-CN" b="1" dirty="0"/>
          </a:p>
        </p:txBody>
      </p:sp>
      <p:sp>
        <p:nvSpPr>
          <p:cNvPr id="39940" name="Rectangle 2"/>
          <p:cNvSpPr>
            <a:spLocks noGrp="1"/>
          </p:cNvSpPr>
          <p:nvPr/>
        </p:nvSpPr>
        <p:spPr>
          <a:xfrm>
            <a:off x="0" y="0"/>
            <a:ext cx="4843463" cy="636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§7.5.5 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指针数组</a:t>
            </a:r>
            <a:endParaRPr lang="zh-CN" altLang="en-US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8639175" y="2267585"/>
            <a:ext cx="35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402FC"/>
                </a:solidFill>
              </a:rPr>
              <a:t>u</a:t>
            </a:r>
            <a:endParaRPr lang="en-US" altLang="zh-CN" sz="2400">
              <a:solidFill>
                <a:srgbClr val="F402FC"/>
              </a:solidFill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8639175" y="2847975"/>
            <a:ext cx="402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rgbClr val="F402FC"/>
                </a:solidFill>
              </a:rPr>
              <a:t>v</a:t>
            </a:r>
            <a:endParaRPr lang="en-US" altLang="zh-CN" sz="2400">
              <a:solidFill>
                <a:srgbClr val="F402F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1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b="0" dirty="0">
                <a:effectLst>
                  <a:outerShdw blurRad="38100" dist="38100" dir="2700000">
                    <a:srgbClr val="000000"/>
                  </a:outerShdw>
                </a:effectLst>
              </a:rPr>
            </a:fld>
            <a:endParaRPr lang="en-US" altLang="zh-CN" sz="1200" b="0" dirty="0"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133124" name="Rectangle 4"/>
          <p:cNvSpPr>
            <a:spLocks noGrp="1" noChangeArrowheads="1"/>
          </p:cNvSpPr>
          <p:nvPr>
            <p:ph idx="1"/>
          </p:nvPr>
        </p:nvSpPr>
        <p:spPr>
          <a:xfrm>
            <a:off x="530225" y="750888"/>
            <a:ext cx="5829300" cy="5300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main( ){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	int a[5]={23,24,25,26,27};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  *p[5]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 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	for( i=0; i&lt;5; i++)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p[i]=&amp;a[i];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	for( i=0; i&lt;5; i++) 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      	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printf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%4d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"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*p[i]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；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}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程序输出：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23   24  25  26  27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772" name="Rectangle 12"/>
          <p:cNvSpPr/>
          <p:nvPr/>
        </p:nvSpPr>
        <p:spPr>
          <a:xfrm>
            <a:off x="6141720" y="4765675"/>
            <a:ext cx="925513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73" name="Rectangle 13"/>
          <p:cNvSpPr/>
          <p:nvPr/>
        </p:nvSpPr>
        <p:spPr>
          <a:xfrm>
            <a:off x="6024563" y="5561013"/>
            <a:ext cx="622300" cy="461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74" name="Rectangle 18"/>
          <p:cNvSpPr/>
          <p:nvPr/>
        </p:nvSpPr>
        <p:spPr>
          <a:xfrm>
            <a:off x="6141720" y="4305300"/>
            <a:ext cx="925513" cy="4603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75" name="Rectangle 19"/>
          <p:cNvSpPr/>
          <p:nvPr/>
        </p:nvSpPr>
        <p:spPr>
          <a:xfrm>
            <a:off x="6706870" y="5921375"/>
            <a:ext cx="622300" cy="4603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76" name="Rectangle 25"/>
          <p:cNvSpPr/>
          <p:nvPr/>
        </p:nvSpPr>
        <p:spPr>
          <a:xfrm>
            <a:off x="6351270" y="5013325"/>
            <a:ext cx="622300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77" name="Rectangle 30"/>
          <p:cNvSpPr/>
          <p:nvPr/>
        </p:nvSpPr>
        <p:spPr>
          <a:xfrm>
            <a:off x="6141720" y="3381375"/>
            <a:ext cx="925513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78" name="Rectangle 31"/>
          <p:cNvSpPr/>
          <p:nvPr/>
        </p:nvSpPr>
        <p:spPr>
          <a:xfrm>
            <a:off x="6351270" y="4551363"/>
            <a:ext cx="622300" cy="461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79" name="Rectangle 43"/>
          <p:cNvSpPr/>
          <p:nvPr/>
        </p:nvSpPr>
        <p:spPr>
          <a:xfrm>
            <a:off x="6351270" y="3587750"/>
            <a:ext cx="622300" cy="5032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80" name="Line 45"/>
          <p:cNvSpPr/>
          <p:nvPr/>
        </p:nvSpPr>
        <p:spPr>
          <a:xfrm>
            <a:off x="6024563" y="6022975"/>
            <a:ext cx="1978025" cy="0"/>
          </a:xfrm>
          <a:prstGeom prst="line">
            <a:avLst/>
          </a:prstGeom>
          <a:ln w="9525">
            <a:noFill/>
          </a:ln>
        </p:spPr>
      </p:sp>
      <p:sp>
        <p:nvSpPr>
          <p:cNvPr id="32781" name="Line 46"/>
          <p:cNvSpPr/>
          <p:nvPr/>
        </p:nvSpPr>
        <p:spPr>
          <a:xfrm>
            <a:off x="6024563" y="3213100"/>
            <a:ext cx="0" cy="2809875"/>
          </a:xfrm>
          <a:prstGeom prst="line">
            <a:avLst/>
          </a:prstGeom>
          <a:ln w="9525">
            <a:noFill/>
          </a:ln>
        </p:spPr>
      </p:sp>
      <p:sp>
        <p:nvSpPr>
          <p:cNvPr id="32782" name="Text Box 100"/>
          <p:cNvSpPr txBox="1"/>
          <p:nvPr/>
        </p:nvSpPr>
        <p:spPr>
          <a:xfrm>
            <a:off x="-30162" y="134938"/>
            <a:ext cx="667226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课堂练习</a:t>
            </a: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】 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指针数组指向一维</a:t>
            </a: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int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数组</a:t>
            </a:r>
            <a:endParaRPr lang="zh-CN" altLang="en-US" sz="2800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32783" name="Rectangle 104"/>
          <p:cNvSpPr/>
          <p:nvPr/>
        </p:nvSpPr>
        <p:spPr>
          <a:xfrm>
            <a:off x="6176645" y="4838700"/>
            <a:ext cx="925513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84" name="Rectangle 105"/>
          <p:cNvSpPr/>
          <p:nvPr/>
        </p:nvSpPr>
        <p:spPr>
          <a:xfrm>
            <a:off x="6059488" y="5634038"/>
            <a:ext cx="622300" cy="461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85" name="Rectangle 113"/>
          <p:cNvSpPr/>
          <p:nvPr/>
        </p:nvSpPr>
        <p:spPr>
          <a:xfrm>
            <a:off x="6386195" y="5086350"/>
            <a:ext cx="622300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86" name="Rectangle 117"/>
          <p:cNvSpPr/>
          <p:nvPr/>
        </p:nvSpPr>
        <p:spPr>
          <a:xfrm>
            <a:off x="6386195" y="4624388"/>
            <a:ext cx="622300" cy="461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87" name="Line 122"/>
          <p:cNvSpPr/>
          <p:nvPr/>
        </p:nvSpPr>
        <p:spPr>
          <a:xfrm>
            <a:off x="6059488" y="6096000"/>
            <a:ext cx="1978025" cy="0"/>
          </a:xfrm>
          <a:prstGeom prst="line">
            <a:avLst/>
          </a:prstGeom>
          <a:ln w="9525">
            <a:noFill/>
          </a:ln>
        </p:spPr>
      </p:sp>
      <p:sp>
        <p:nvSpPr>
          <p:cNvPr id="32788" name="Line 123"/>
          <p:cNvSpPr/>
          <p:nvPr/>
        </p:nvSpPr>
        <p:spPr>
          <a:xfrm>
            <a:off x="6059488" y="3286125"/>
            <a:ext cx="0" cy="2809875"/>
          </a:xfrm>
          <a:prstGeom prst="line">
            <a:avLst/>
          </a:prstGeom>
          <a:ln w="9525">
            <a:noFill/>
          </a:ln>
        </p:spPr>
      </p:sp>
      <p:sp>
        <p:nvSpPr>
          <p:cNvPr id="133293" name="Rectangle 173"/>
          <p:cNvSpPr/>
          <p:nvPr/>
        </p:nvSpPr>
        <p:spPr>
          <a:xfrm>
            <a:off x="6476683" y="1987550"/>
            <a:ext cx="4500562" cy="36718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</a:pPr>
            <a:endParaRPr lang="zh-CN" altLang="en-US" sz="3200" dirty="0">
              <a:latin typeface="Tahoma" panose="020B0604030504040204" pitchFamily="34" charset="0"/>
            </a:endParaRPr>
          </a:p>
        </p:txBody>
      </p:sp>
      <p:sp>
        <p:nvSpPr>
          <p:cNvPr id="32790" name="Rectangle 174"/>
          <p:cNvSpPr/>
          <p:nvPr/>
        </p:nvSpPr>
        <p:spPr>
          <a:xfrm>
            <a:off x="8673783" y="4838700"/>
            <a:ext cx="319087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91" name="Rectangle 175"/>
          <p:cNvSpPr/>
          <p:nvPr/>
        </p:nvSpPr>
        <p:spPr>
          <a:xfrm>
            <a:off x="6959283" y="4838700"/>
            <a:ext cx="430212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92" name="Rectangle 176"/>
          <p:cNvSpPr/>
          <p:nvPr/>
        </p:nvSpPr>
        <p:spPr>
          <a:xfrm>
            <a:off x="6033770" y="4838700"/>
            <a:ext cx="925513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93" name="Rectangle 177"/>
          <p:cNvSpPr/>
          <p:nvPr/>
        </p:nvSpPr>
        <p:spPr>
          <a:xfrm>
            <a:off x="5916613" y="5634038"/>
            <a:ext cx="622300" cy="461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94" name="Rectangle 178"/>
          <p:cNvSpPr/>
          <p:nvPr/>
        </p:nvSpPr>
        <p:spPr>
          <a:xfrm>
            <a:off x="8673783" y="4378325"/>
            <a:ext cx="319087" cy="4603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95" name="Rectangle 179"/>
          <p:cNvSpPr/>
          <p:nvPr/>
        </p:nvSpPr>
        <p:spPr>
          <a:xfrm>
            <a:off x="6959283" y="4378325"/>
            <a:ext cx="430212" cy="4603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96" name="Rectangle 180"/>
          <p:cNvSpPr/>
          <p:nvPr/>
        </p:nvSpPr>
        <p:spPr>
          <a:xfrm>
            <a:off x="6033770" y="4378325"/>
            <a:ext cx="925513" cy="4603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97" name="Rectangle 181"/>
          <p:cNvSpPr/>
          <p:nvPr/>
        </p:nvSpPr>
        <p:spPr>
          <a:xfrm>
            <a:off x="6598920" y="5994400"/>
            <a:ext cx="622300" cy="4603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98" name="Rectangle 182"/>
          <p:cNvSpPr/>
          <p:nvPr/>
        </p:nvSpPr>
        <p:spPr>
          <a:xfrm>
            <a:off x="8673783" y="3916363"/>
            <a:ext cx="319087" cy="461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799" name="Rectangle 183"/>
          <p:cNvSpPr/>
          <p:nvPr/>
        </p:nvSpPr>
        <p:spPr>
          <a:xfrm>
            <a:off x="6959283" y="3916363"/>
            <a:ext cx="430212" cy="461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800" name="Rectangle 184"/>
          <p:cNvSpPr/>
          <p:nvPr/>
        </p:nvSpPr>
        <p:spPr>
          <a:xfrm>
            <a:off x="6033770" y="3916363"/>
            <a:ext cx="925513" cy="461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801" name="Rectangle 185"/>
          <p:cNvSpPr/>
          <p:nvPr/>
        </p:nvSpPr>
        <p:spPr>
          <a:xfrm>
            <a:off x="6243320" y="5086350"/>
            <a:ext cx="622300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802" name="Rectangle 186"/>
          <p:cNvSpPr/>
          <p:nvPr/>
        </p:nvSpPr>
        <p:spPr>
          <a:xfrm>
            <a:off x="8673783" y="3454400"/>
            <a:ext cx="319087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803" name="Rectangle 187"/>
          <p:cNvSpPr/>
          <p:nvPr/>
        </p:nvSpPr>
        <p:spPr>
          <a:xfrm>
            <a:off x="6959283" y="3454400"/>
            <a:ext cx="430212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804" name="Rectangle 188"/>
          <p:cNvSpPr/>
          <p:nvPr/>
        </p:nvSpPr>
        <p:spPr>
          <a:xfrm>
            <a:off x="6033770" y="3454400"/>
            <a:ext cx="925513" cy="461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805" name="Rectangle 189"/>
          <p:cNvSpPr/>
          <p:nvPr/>
        </p:nvSpPr>
        <p:spPr>
          <a:xfrm>
            <a:off x="6243320" y="4624388"/>
            <a:ext cx="622300" cy="461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806" name="Rectangle 190"/>
          <p:cNvSpPr/>
          <p:nvPr/>
        </p:nvSpPr>
        <p:spPr>
          <a:xfrm>
            <a:off x="8673783" y="2994025"/>
            <a:ext cx="319087" cy="4603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807" name="Rectangle 191"/>
          <p:cNvSpPr/>
          <p:nvPr/>
        </p:nvSpPr>
        <p:spPr>
          <a:xfrm>
            <a:off x="6959283" y="2994025"/>
            <a:ext cx="430212" cy="4603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808" name="Rectangle 192"/>
          <p:cNvSpPr/>
          <p:nvPr/>
        </p:nvSpPr>
        <p:spPr>
          <a:xfrm>
            <a:off x="8673783" y="2490788"/>
            <a:ext cx="319087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</a:pPr>
            <a:endParaRPr lang="zh-CN" altLang="zh-CN" sz="2400" dirty="0">
              <a:latin typeface="Arial" panose="020B0604020202020204" pitchFamily="34" charset="0"/>
            </a:endParaRPr>
          </a:p>
        </p:txBody>
      </p:sp>
      <p:sp>
        <p:nvSpPr>
          <p:cNvPr id="32809" name="Line 194"/>
          <p:cNvSpPr/>
          <p:nvPr/>
        </p:nvSpPr>
        <p:spPr>
          <a:xfrm>
            <a:off x="5916613" y="6096000"/>
            <a:ext cx="1978025" cy="0"/>
          </a:xfrm>
          <a:prstGeom prst="line">
            <a:avLst/>
          </a:prstGeom>
          <a:ln w="9525">
            <a:noFill/>
          </a:ln>
        </p:spPr>
      </p:sp>
      <p:sp>
        <p:nvSpPr>
          <p:cNvPr id="32810" name="Line 195"/>
          <p:cNvSpPr/>
          <p:nvPr/>
        </p:nvSpPr>
        <p:spPr>
          <a:xfrm>
            <a:off x="5916613" y="3286125"/>
            <a:ext cx="0" cy="2809875"/>
          </a:xfrm>
          <a:prstGeom prst="line">
            <a:avLst/>
          </a:prstGeom>
          <a:ln w="9525">
            <a:noFill/>
          </a:ln>
        </p:spPr>
      </p:sp>
      <p:sp>
        <p:nvSpPr>
          <p:cNvPr id="32811" name="Line 196"/>
          <p:cNvSpPr/>
          <p:nvPr/>
        </p:nvSpPr>
        <p:spPr>
          <a:xfrm>
            <a:off x="9767570" y="2490788"/>
            <a:ext cx="0" cy="503237"/>
          </a:xfrm>
          <a:prstGeom prst="line">
            <a:avLst/>
          </a:prstGeom>
          <a:ln w="9525">
            <a:noFill/>
          </a:ln>
        </p:spPr>
      </p:sp>
      <p:sp>
        <p:nvSpPr>
          <p:cNvPr id="32812" name="Line 204"/>
          <p:cNvSpPr/>
          <p:nvPr/>
        </p:nvSpPr>
        <p:spPr>
          <a:xfrm>
            <a:off x="8673783" y="5300663"/>
            <a:ext cx="319087" cy="0"/>
          </a:xfrm>
          <a:prstGeom prst="line">
            <a:avLst/>
          </a:prstGeom>
          <a:ln w="9525">
            <a:noFill/>
          </a:ln>
        </p:spPr>
      </p:sp>
      <p:grpSp>
        <p:nvGrpSpPr>
          <p:cNvPr id="2" name="Group 205"/>
          <p:cNvGrpSpPr/>
          <p:nvPr/>
        </p:nvGrpSpPr>
        <p:grpSpPr bwMode="auto">
          <a:xfrm>
            <a:off x="7389887" y="2990659"/>
            <a:ext cx="1284287" cy="2306637"/>
            <a:chOff x="2901" y="2341"/>
            <a:chExt cx="809" cy="1453"/>
          </a:xfrm>
          <a:noFill/>
        </p:grpSpPr>
        <p:sp>
          <p:nvSpPr>
            <p:cNvPr id="87125" name="Rectangle 206"/>
            <p:cNvSpPr>
              <a:spLocks noChangeArrowheads="1"/>
            </p:cNvSpPr>
            <p:nvPr/>
          </p:nvSpPr>
          <p:spPr bwMode="auto">
            <a:xfrm>
              <a:off x="2901" y="3503"/>
              <a:ext cx="809" cy="291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&amp;a[4]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26" name="Rectangle 207"/>
            <p:cNvSpPr>
              <a:spLocks noChangeArrowheads="1"/>
            </p:cNvSpPr>
            <p:nvPr/>
          </p:nvSpPr>
          <p:spPr bwMode="auto">
            <a:xfrm>
              <a:off x="2901" y="3213"/>
              <a:ext cx="809" cy="290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&amp;a[3]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27" name="Rectangle 208"/>
            <p:cNvSpPr>
              <a:spLocks noChangeArrowheads="1"/>
            </p:cNvSpPr>
            <p:nvPr/>
          </p:nvSpPr>
          <p:spPr bwMode="auto">
            <a:xfrm>
              <a:off x="2901" y="2922"/>
              <a:ext cx="809" cy="291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&amp;a[2]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28" name="Rectangle 209"/>
            <p:cNvSpPr>
              <a:spLocks noChangeArrowheads="1"/>
            </p:cNvSpPr>
            <p:nvPr/>
          </p:nvSpPr>
          <p:spPr bwMode="auto">
            <a:xfrm>
              <a:off x="2901" y="2631"/>
              <a:ext cx="809" cy="291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&amp;a[1]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29" name="Rectangle 210"/>
            <p:cNvSpPr>
              <a:spLocks noChangeArrowheads="1"/>
            </p:cNvSpPr>
            <p:nvPr/>
          </p:nvSpPr>
          <p:spPr bwMode="auto">
            <a:xfrm>
              <a:off x="2901" y="2341"/>
              <a:ext cx="809" cy="290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&amp;a[0]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244"/>
          <p:cNvGrpSpPr/>
          <p:nvPr/>
        </p:nvGrpSpPr>
        <p:grpSpPr bwMode="auto">
          <a:xfrm>
            <a:off x="7102550" y="2490597"/>
            <a:ext cx="1571625" cy="2808288"/>
            <a:chOff x="3832" y="2070"/>
            <a:chExt cx="990" cy="1769"/>
          </a:xfrm>
          <a:noFill/>
        </p:grpSpPr>
        <p:sp>
          <p:nvSpPr>
            <p:cNvPr id="87115" name="Rectangle 211"/>
            <p:cNvSpPr>
              <a:spLocks noChangeArrowheads="1"/>
            </p:cNvSpPr>
            <p:nvPr/>
          </p:nvSpPr>
          <p:spPr bwMode="auto">
            <a:xfrm>
              <a:off x="3832" y="2070"/>
              <a:ext cx="809" cy="31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p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" name="Group 212"/>
            <p:cNvGrpSpPr/>
            <p:nvPr/>
          </p:nvGrpSpPr>
          <p:grpSpPr bwMode="auto">
            <a:xfrm>
              <a:off x="4013" y="2386"/>
              <a:ext cx="809" cy="1453"/>
              <a:chOff x="2901" y="2341"/>
              <a:chExt cx="809" cy="1453"/>
            </a:xfrm>
            <a:grpFill/>
          </p:grpSpPr>
          <p:sp>
            <p:nvSpPr>
              <p:cNvPr id="87117" name="Line 213"/>
              <p:cNvSpPr>
                <a:spLocks noChangeShapeType="1"/>
              </p:cNvSpPr>
              <p:nvPr/>
            </p:nvSpPr>
            <p:spPr bwMode="auto">
              <a:xfrm>
                <a:off x="2901" y="2341"/>
                <a:ext cx="809" cy="0"/>
              </a:xfrm>
              <a:prstGeom prst="line">
                <a:avLst/>
              </a:prstGeom>
              <a:grpFill/>
              <a:ln w="12700" cap="sq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118" name="Line 214"/>
              <p:cNvSpPr>
                <a:spLocks noChangeShapeType="1"/>
              </p:cNvSpPr>
              <p:nvPr/>
            </p:nvSpPr>
            <p:spPr bwMode="auto">
              <a:xfrm>
                <a:off x="2901" y="2631"/>
                <a:ext cx="809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119" name="Line 215"/>
              <p:cNvSpPr>
                <a:spLocks noChangeShapeType="1"/>
              </p:cNvSpPr>
              <p:nvPr/>
            </p:nvSpPr>
            <p:spPr bwMode="auto">
              <a:xfrm>
                <a:off x="2901" y="2922"/>
                <a:ext cx="809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120" name="Line 216"/>
              <p:cNvSpPr>
                <a:spLocks noChangeShapeType="1"/>
              </p:cNvSpPr>
              <p:nvPr/>
            </p:nvSpPr>
            <p:spPr bwMode="auto">
              <a:xfrm>
                <a:off x="2901" y="3213"/>
                <a:ext cx="809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121" name="Line 217"/>
              <p:cNvSpPr>
                <a:spLocks noChangeShapeType="1"/>
              </p:cNvSpPr>
              <p:nvPr/>
            </p:nvSpPr>
            <p:spPr bwMode="auto">
              <a:xfrm>
                <a:off x="2901" y="3503"/>
                <a:ext cx="809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122" name="Line 218"/>
              <p:cNvSpPr>
                <a:spLocks noChangeShapeType="1"/>
              </p:cNvSpPr>
              <p:nvPr/>
            </p:nvSpPr>
            <p:spPr bwMode="auto">
              <a:xfrm>
                <a:off x="2901" y="2341"/>
                <a:ext cx="0" cy="1453"/>
              </a:xfrm>
              <a:prstGeom prst="line">
                <a:avLst/>
              </a:prstGeom>
              <a:grpFill/>
              <a:ln w="12700" cap="sq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123" name="Line 219"/>
              <p:cNvSpPr>
                <a:spLocks noChangeShapeType="1"/>
              </p:cNvSpPr>
              <p:nvPr/>
            </p:nvSpPr>
            <p:spPr bwMode="auto">
              <a:xfrm>
                <a:off x="3710" y="2341"/>
                <a:ext cx="0" cy="1453"/>
              </a:xfrm>
              <a:prstGeom prst="line">
                <a:avLst/>
              </a:prstGeom>
              <a:grpFill/>
              <a:ln w="12700" cap="sq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7124" name="Line 220"/>
              <p:cNvSpPr>
                <a:spLocks noChangeShapeType="1"/>
              </p:cNvSpPr>
              <p:nvPr/>
            </p:nvSpPr>
            <p:spPr bwMode="auto">
              <a:xfrm>
                <a:off x="2901" y="3794"/>
                <a:ext cx="809" cy="0"/>
              </a:xfrm>
              <a:prstGeom prst="line">
                <a:avLst/>
              </a:prstGeom>
              <a:grpFill/>
              <a:ln w="12700" cap="sq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5" name="Group 221"/>
          <p:cNvGrpSpPr/>
          <p:nvPr/>
        </p:nvGrpSpPr>
        <p:grpSpPr bwMode="auto">
          <a:xfrm>
            <a:off x="8755137" y="2504884"/>
            <a:ext cx="1012825" cy="2794000"/>
            <a:chOff x="3761" y="2034"/>
            <a:chExt cx="638" cy="1760"/>
          </a:xfrm>
          <a:noFill/>
        </p:grpSpPr>
        <p:sp>
          <p:nvSpPr>
            <p:cNvPr id="87101" name="Rectangle 222"/>
            <p:cNvSpPr>
              <a:spLocks noChangeArrowheads="1"/>
            </p:cNvSpPr>
            <p:nvPr/>
          </p:nvSpPr>
          <p:spPr bwMode="auto">
            <a:xfrm>
              <a:off x="3911" y="3503"/>
              <a:ext cx="488" cy="291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27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02" name="Rectangle 223"/>
            <p:cNvSpPr>
              <a:spLocks noChangeArrowheads="1"/>
            </p:cNvSpPr>
            <p:nvPr/>
          </p:nvSpPr>
          <p:spPr bwMode="auto">
            <a:xfrm>
              <a:off x="3911" y="3213"/>
              <a:ext cx="488" cy="290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26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03" name="Rectangle 224"/>
            <p:cNvSpPr>
              <a:spLocks noChangeArrowheads="1"/>
            </p:cNvSpPr>
            <p:nvPr/>
          </p:nvSpPr>
          <p:spPr bwMode="auto">
            <a:xfrm>
              <a:off x="3911" y="2922"/>
              <a:ext cx="488" cy="291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25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04" name="Rectangle 225"/>
            <p:cNvSpPr>
              <a:spLocks noChangeArrowheads="1"/>
            </p:cNvSpPr>
            <p:nvPr/>
          </p:nvSpPr>
          <p:spPr bwMode="auto">
            <a:xfrm>
              <a:off x="3911" y="2631"/>
              <a:ext cx="488" cy="291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24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05" name="Rectangle 226"/>
            <p:cNvSpPr>
              <a:spLocks noChangeArrowheads="1"/>
            </p:cNvSpPr>
            <p:nvPr/>
          </p:nvSpPr>
          <p:spPr bwMode="auto">
            <a:xfrm>
              <a:off x="3911" y="2341"/>
              <a:ext cx="488" cy="290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23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06" name="Rectangle 227"/>
            <p:cNvSpPr>
              <a:spLocks noChangeArrowheads="1"/>
            </p:cNvSpPr>
            <p:nvPr/>
          </p:nvSpPr>
          <p:spPr bwMode="auto">
            <a:xfrm>
              <a:off x="3761" y="2034"/>
              <a:ext cx="488" cy="317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07" name="Line 228"/>
            <p:cNvSpPr>
              <a:spLocks noChangeShapeType="1"/>
            </p:cNvSpPr>
            <p:nvPr/>
          </p:nvSpPr>
          <p:spPr bwMode="auto">
            <a:xfrm>
              <a:off x="3911" y="2341"/>
              <a:ext cx="488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08" name="Line 229"/>
            <p:cNvSpPr>
              <a:spLocks noChangeShapeType="1"/>
            </p:cNvSpPr>
            <p:nvPr/>
          </p:nvSpPr>
          <p:spPr bwMode="auto">
            <a:xfrm>
              <a:off x="3911" y="2631"/>
              <a:ext cx="48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09" name="Line 230"/>
            <p:cNvSpPr>
              <a:spLocks noChangeShapeType="1"/>
            </p:cNvSpPr>
            <p:nvPr/>
          </p:nvSpPr>
          <p:spPr bwMode="auto">
            <a:xfrm>
              <a:off x="3911" y="2922"/>
              <a:ext cx="48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10" name="Line 231"/>
            <p:cNvSpPr>
              <a:spLocks noChangeShapeType="1"/>
            </p:cNvSpPr>
            <p:nvPr/>
          </p:nvSpPr>
          <p:spPr bwMode="auto">
            <a:xfrm>
              <a:off x="3911" y="3213"/>
              <a:ext cx="48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11" name="Line 232"/>
            <p:cNvSpPr>
              <a:spLocks noChangeShapeType="1"/>
            </p:cNvSpPr>
            <p:nvPr/>
          </p:nvSpPr>
          <p:spPr bwMode="auto">
            <a:xfrm>
              <a:off x="3911" y="3503"/>
              <a:ext cx="48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12" name="Line 233"/>
            <p:cNvSpPr>
              <a:spLocks noChangeShapeType="1"/>
            </p:cNvSpPr>
            <p:nvPr/>
          </p:nvSpPr>
          <p:spPr bwMode="auto">
            <a:xfrm>
              <a:off x="3911" y="2341"/>
              <a:ext cx="0" cy="1453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13" name="Line 234"/>
            <p:cNvSpPr>
              <a:spLocks noChangeShapeType="1"/>
            </p:cNvSpPr>
            <p:nvPr/>
          </p:nvSpPr>
          <p:spPr bwMode="auto">
            <a:xfrm>
              <a:off x="4399" y="2341"/>
              <a:ext cx="0" cy="1453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14" name="Line 235"/>
            <p:cNvSpPr>
              <a:spLocks noChangeShapeType="1"/>
            </p:cNvSpPr>
            <p:nvPr/>
          </p:nvSpPr>
          <p:spPr bwMode="auto">
            <a:xfrm>
              <a:off x="3911" y="3794"/>
              <a:ext cx="488" cy="0"/>
            </a:xfrm>
            <a:prstGeom prst="line">
              <a:avLst/>
            </a:prstGeom>
            <a:grpFill/>
            <a:ln w="12700" cap="sq">
              <a:solidFill>
                <a:schemeClr val="tx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Group 236"/>
          <p:cNvGrpSpPr/>
          <p:nvPr/>
        </p:nvGrpSpPr>
        <p:grpSpPr bwMode="auto">
          <a:xfrm>
            <a:off x="8415412" y="3246246"/>
            <a:ext cx="595312" cy="1908175"/>
            <a:chOff x="3547" y="2500"/>
            <a:chExt cx="375" cy="1202"/>
          </a:xfrm>
          <a:noFill/>
        </p:grpSpPr>
        <p:sp>
          <p:nvSpPr>
            <p:cNvPr id="87096" name="Line 237"/>
            <p:cNvSpPr>
              <a:spLocks noChangeShapeType="1"/>
            </p:cNvSpPr>
            <p:nvPr/>
          </p:nvSpPr>
          <p:spPr bwMode="auto">
            <a:xfrm>
              <a:off x="3547" y="2500"/>
              <a:ext cx="355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tailEnd type="arrow" w="lg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97" name="Line 238"/>
            <p:cNvSpPr>
              <a:spLocks noChangeShapeType="1"/>
            </p:cNvSpPr>
            <p:nvPr/>
          </p:nvSpPr>
          <p:spPr bwMode="auto">
            <a:xfrm>
              <a:off x="3568" y="2806"/>
              <a:ext cx="354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tailEnd type="arrow" w="lg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98" name="Line 239"/>
            <p:cNvSpPr>
              <a:spLocks noChangeShapeType="1"/>
            </p:cNvSpPr>
            <p:nvPr/>
          </p:nvSpPr>
          <p:spPr bwMode="auto">
            <a:xfrm>
              <a:off x="3568" y="3112"/>
              <a:ext cx="354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tailEnd type="arrow" w="lg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099" name="Line 240"/>
            <p:cNvSpPr>
              <a:spLocks noChangeShapeType="1"/>
            </p:cNvSpPr>
            <p:nvPr/>
          </p:nvSpPr>
          <p:spPr bwMode="auto">
            <a:xfrm>
              <a:off x="3558" y="3396"/>
              <a:ext cx="355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tailEnd type="arrow" w="lg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100" name="Line 241"/>
            <p:cNvSpPr>
              <a:spLocks noChangeShapeType="1"/>
            </p:cNvSpPr>
            <p:nvPr/>
          </p:nvSpPr>
          <p:spPr bwMode="auto">
            <a:xfrm>
              <a:off x="3568" y="3702"/>
              <a:ext cx="354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tailEnd type="arrow" w="lg" len="lg"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3363" name="Rectangle 243"/>
          <p:cNvSpPr>
            <a:spLocks noChangeArrowheads="1"/>
          </p:cNvSpPr>
          <p:nvPr/>
        </p:nvSpPr>
        <p:spPr bwMode="auto">
          <a:xfrm>
            <a:off x="6089333" y="5313363"/>
            <a:ext cx="4500563" cy="5746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指针数组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与  数组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的关系图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Rectangle 211"/>
          <p:cNvSpPr/>
          <p:nvPr/>
        </p:nvSpPr>
        <p:spPr>
          <a:xfrm>
            <a:off x="6367145" y="2955925"/>
            <a:ext cx="1284288" cy="5032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ctr" eaLnBrk="1" hangingPunct="1">
              <a:buClr>
                <a:schemeClr val="hlink"/>
              </a:buClr>
              <a:buSzPct val="80000"/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p[0]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85" name="Rectangle 211"/>
          <p:cNvSpPr/>
          <p:nvPr/>
        </p:nvSpPr>
        <p:spPr>
          <a:xfrm>
            <a:off x="6351270" y="3425825"/>
            <a:ext cx="1284288" cy="5032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ctr" eaLnBrk="1" hangingPunct="1">
              <a:buClr>
                <a:schemeClr val="hlink"/>
              </a:buClr>
              <a:buSzPct val="80000"/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p[1]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87" name="Rectangle 211"/>
          <p:cNvSpPr/>
          <p:nvPr/>
        </p:nvSpPr>
        <p:spPr>
          <a:xfrm>
            <a:off x="6367145" y="3894138"/>
            <a:ext cx="1284288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ctr" eaLnBrk="1" hangingPunct="1">
              <a:buClr>
                <a:schemeClr val="hlink"/>
              </a:buClr>
              <a:buSzPct val="80000"/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p[2]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88" name="Rectangle 211"/>
          <p:cNvSpPr/>
          <p:nvPr/>
        </p:nvSpPr>
        <p:spPr>
          <a:xfrm>
            <a:off x="6371908" y="4367213"/>
            <a:ext cx="1284287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ctr" eaLnBrk="1" hangingPunct="1">
              <a:buClr>
                <a:schemeClr val="hlink"/>
              </a:buClr>
              <a:buSzPct val="80000"/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p[3]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89" name="Rectangle 211"/>
          <p:cNvSpPr/>
          <p:nvPr/>
        </p:nvSpPr>
        <p:spPr>
          <a:xfrm>
            <a:off x="6383020" y="4846638"/>
            <a:ext cx="1282700" cy="5032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ctr" eaLnBrk="1" hangingPunct="1">
              <a:buClr>
                <a:schemeClr val="hlink"/>
              </a:buClr>
              <a:buSzPct val="80000"/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p[4]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5918835" y="523240"/>
            <a:ext cx="5558790" cy="1580515"/>
          </a:xfrm>
          <a:prstGeom prst="wedgeRoundRectCallout">
            <a:avLst>
              <a:gd name="adj1" fmla="val -30797"/>
              <a:gd name="adj2" fmla="val 101988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solidFill>
                  <a:schemeClr val="tx1"/>
                </a:solidFill>
                <a:sym typeface="+mn-ea"/>
              </a:rPr>
              <a:t>指针数组也是数组，</a:t>
            </a:r>
            <a:endParaRPr lang="zh-CN" altLang="en-US" sz="3200" dirty="0">
              <a:solidFill>
                <a:schemeClr val="tx1"/>
              </a:solidFill>
              <a:sym typeface="+mn-ea"/>
            </a:endParaRPr>
          </a:p>
          <a:p>
            <a:pPr eaLnBrk="1" hangingPunct="1">
              <a:buNone/>
            </a:pPr>
            <a:r>
              <a:rPr lang="zh-CN" altLang="en-US" sz="3200" dirty="0">
                <a:solidFill>
                  <a:schemeClr val="tx1"/>
                </a:solidFill>
                <a:sym typeface="+mn-ea"/>
              </a:rPr>
              <a:t>特殊之处在于每个成分</a:t>
            </a:r>
            <a:r>
              <a:rPr lang="en-US" altLang="zh-CN" sz="3200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3200" dirty="0">
                <a:solidFill>
                  <a:schemeClr val="tx1"/>
                </a:solidFill>
                <a:sym typeface="+mn-ea"/>
              </a:rPr>
              <a:t>元素</a:t>
            </a:r>
            <a:endParaRPr lang="zh-CN" altLang="en-US" sz="3200" dirty="0">
              <a:solidFill>
                <a:schemeClr val="tx1"/>
              </a:solidFill>
              <a:sym typeface="+mn-ea"/>
            </a:endParaRPr>
          </a:p>
          <a:p>
            <a:pPr eaLnBrk="1" hangingPunct="1">
              <a:buNone/>
            </a:pPr>
            <a:r>
              <a:rPr lang="zh-CN" altLang="en-US" sz="3200" dirty="0">
                <a:solidFill>
                  <a:schemeClr val="tx1"/>
                </a:solidFill>
                <a:sym typeface="+mn-ea"/>
              </a:rPr>
              <a:t>都是一个指针变量</a:t>
            </a:r>
            <a:endParaRPr lang="en-US" altLang="zh-CN" sz="3200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buNone/>
            </a:pPr>
            <a:endParaRPr lang="en-US" altLang="zh-CN" sz="32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charRg st="185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3124">
                                            <p:txEl>
                                              <p:charRg st="185" end="1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charRg st="196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3124">
                                            <p:txEl>
                                              <p:charRg st="196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33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3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/>
      <p:bldP spid="87" grpId="0"/>
      <p:bldP spid="88" grpId="0"/>
      <p:bldP spid="89" grpId="0"/>
      <p:bldP spid="7" grpId="0" animBg="1"/>
      <p:bldP spid="7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矩形 1"/>
          <p:cNvSpPr/>
          <p:nvPr/>
        </p:nvSpPr>
        <p:spPr>
          <a:xfrm>
            <a:off x="3943350" y="1844675"/>
            <a:ext cx="4305300" cy="2800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FFC000"/>
                </a:solidFill>
                <a:ea typeface="黑体" panose="02010609060101010101" pitchFamily="49" charset="-122"/>
              </a:rPr>
              <a:t>          小  结</a:t>
            </a:r>
            <a:endParaRPr lang="en-US" altLang="zh-CN" sz="4000" b="1" dirty="0">
              <a:solidFill>
                <a:srgbClr val="FFC000"/>
              </a:solidFill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4000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ea typeface="黑体" panose="02010609060101010101" pitchFamily="49" charset="-122"/>
              </a:rPr>
              <a:t>一、指针访问一个变量</a:t>
            </a:r>
            <a:endParaRPr lang="en-US" altLang="zh-CN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ea typeface="黑体" panose="02010609060101010101" pitchFamily="49" charset="-122"/>
              </a:rPr>
              <a:t>二、指针访问一维数组</a:t>
            </a:r>
            <a:endParaRPr lang="en-US" altLang="zh-CN" b="1" dirty="0">
              <a:ea typeface="黑体" panose="02010609060101010101" pitchFamily="49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ea typeface="黑体" panose="02010609060101010101" pitchFamily="49" charset="-122"/>
              </a:rPr>
              <a:t>三、指针访问二维数组</a:t>
            </a:r>
            <a:endParaRPr lang="zh-CN" altLang="en-US" b="1" dirty="0"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矩形 1"/>
          <p:cNvSpPr/>
          <p:nvPr/>
        </p:nvSpPr>
        <p:spPr>
          <a:xfrm>
            <a:off x="628650" y="838200"/>
            <a:ext cx="4303713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ea typeface="黑体" panose="02010609060101010101" pitchFamily="49" charset="-122"/>
              </a:rPr>
              <a:t>一、指针访问一个变量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200" y="1837055"/>
            <a:ext cx="9982200" cy="44018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float *p,a;</a:t>
            </a:r>
            <a:endParaRPr lang="en-US" altLang="zh-CN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p=&amp;a;</a:t>
            </a:r>
            <a:endParaRPr lang="en-US" altLang="zh-CN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>
              <a:solidFill>
                <a:srgbClr val="F402FC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直接访问：</a:t>
            </a:r>
            <a:r>
              <a:rPr lang="en-US" altLang="zh-CN" b="1" dirty="0"/>
              <a:t>a</a:t>
            </a:r>
            <a:endParaRPr lang="en-US" altLang="zh-CN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间接访问：</a:t>
            </a:r>
            <a:r>
              <a:rPr lang="en-US" altLang="zh-CN" b="1" dirty="0"/>
              <a:t>*p</a:t>
            </a:r>
            <a:endParaRPr lang="en-US" altLang="zh-CN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输入：</a:t>
            </a:r>
            <a:r>
              <a:rPr lang="en-US" altLang="zh-CN" b="1" dirty="0"/>
              <a:t>scanf(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"</a:t>
            </a:r>
            <a:r>
              <a:rPr lang="en-US" altLang="zh-CN" b="1" dirty="0"/>
              <a:t>%f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"</a:t>
            </a:r>
            <a:r>
              <a:rPr lang="en-US" altLang="zh-CN" b="1" dirty="0"/>
              <a:t>,</a:t>
            </a:r>
            <a:r>
              <a:rPr lang="en-US" altLang="zh-CN" b="1" dirty="0">
                <a:solidFill>
                  <a:srgbClr val="F402FC"/>
                </a:solidFill>
              </a:rPr>
              <a:t>&amp;a</a:t>
            </a:r>
            <a:r>
              <a:rPr lang="en-US" altLang="zh-CN" b="1" dirty="0"/>
              <a:t>);//</a:t>
            </a:r>
            <a:r>
              <a:rPr lang="zh-CN" altLang="en-US" b="1" dirty="0"/>
              <a:t>或 </a:t>
            </a:r>
            <a:r>
              <a:rPr lang="en-US" altLang="zh-CN" b="1" dirty="0"/>
              <a:t>scanf(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"</a:t>
            </a:r>
            <a:r>
              <a:rPr lang="en-US" altLang="zh-CN" b="1" dirty="0"/>
              <a:t>%f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"</a:t>
            </a:r>
            <a:r>
              <a:rPr lang="en-US" altLang="zh-CN" b="1" dirty="0"/>
              <a:t>,</a:t>
            </a:r>
            <a:r>
              <a:rPr lang="en-US" altLang="zh-CN" b="1" dirty="0">
                <a:solidFill>
                  <a:srgbClr val="F402FC"/>
                </a:solidFill>
              </a:rPr>
              <a:t>p</a:t>
            </a:r>
            <a:r>
              <a:rPr lang="en-US" altLang="zh-CN" b="1" dirty="0"/>
              <a:t>);</a:t>
            </a:r>
            <a:endParaRPr lang="en-US" altLang="zh-CN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/>
              <a:t>输出：</a:t>
            </a:r>
            <a:r>
              <a:rPr lang="en-US" altLang="zh-CN" b="1" dirty="0"/>
              <a:t>printf(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"</a:t>
            </a:r>
            <a:r>
              <a:rPr lang="en-US" altLang="zh-CN" b="1" dirty="0"/>
              <a:t>%f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"</a:t>
            </a:r>
            <a:r>
              <a:rPr lang="en-US" altLang="zh-CN" b="1" dirty="0"/>
              <a:t>,</a:t>
            </a:r>
            <a:r>
              <a:rPr lang="en-US" altLang="zh-CN" b="1" dirty="0">
                <a:solidFill>
                  <a:srgbClr val="F402FC"/>
                </a:solidFill>
              </a:rPr>
              <a:t>a</a:t>
            </a:r>
            <a:r>
              <a:rPr lang="en-US" altLang="zh-CN" b="1" dirty="0"/>
              <a:t>);  //</a:t>
            </a:r>
            <a:r>
              <a:rPr lang="zh-CN" altLang="en-US" b="1" dirty="0"/>
              <a:t>或</a:t>
            </a:r>
            <a:r>
              <a:rPr lang="en-US" altLang="zh-CN" b="1" dirty="0"/>
              <a:t>printf(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"</a:t>
            </a:r>
            <a:r>
              <a:rPr lang="en-US" altLang="zh-CN" b="1" dirty="0"/>
              <a:t>%f</a:t>
            </a:r>
            <a:r>
              <a:rPr lang="en-US" altLang="zh-CN" b="1" dirty="0">
                <a:ea typeface="黑体" panose="02010609060101010101" pitchFamily="49" charset="-122"/>
                <a:sym typeface="+mn-ea"/>
              </a:rPr>
              <a:t>"</a:t>
            </a:r>
            <a:r>
              <a:rPr lang="en-US" altLang="zh-CN" b="1" dirty="0"/>
              <a:t>,</a:t>
            </a:r>
            <a:r>
              <a:rPr lang="en-US" altLang="zh-CN" b="1" dirty="0">
                <a:solidFill>
                  <a:srgbClr val="F402FC"/>
                </a:solidFill>
              </a:rPr>
              <a:t>*p</a:t>
            </a:r>
            <a:r>
              <a:rPr lang="en-US" altLang="zh-CN" b="1" dirty="0"/>
              <a:t>);</a:t>
            </a:r>
            <a:endParaRPr lang="en-US" altLang="zh-CN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b="1" dirty="0"/>
          </a:p>
        </p:txBody>
      </p:sp>
      <p:cxnSp>
        <p:nvCxnSpPr>
          <p:cNvPr id="43012" name="直接箭头连接符 3"/>
          <p:cNvCxnSpPr/>
          <p:nvPr/>
        </p:nvCxnSpPr>
        <p:spPr>
          <a:xfrm>
            <a:off x="8035925" y="2481263"/>
            <a:ext cx="0" cy="360362"/>
          </a:xfrm>
          <a:prstGeom prst="straightConnector1">
            <a:avLst/>
          </a:prstGeom>
          <a:ln w="44450" cap="flat" cmpd="sng">
            <a:solidFill>
              <a:srgbClr val="F402FC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3013" name="文本框 4"/>
          <p:cNvSpPr txBox="1"/>
          <p:nvPr/>
        </p:nvSpPr>
        <p:spPr>
          <a:xfrm>
            <a:off x="7464425" y="2032000"/>
            <a:ext cx="1397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402FC"/>
                </a:solidFill>
              </a:rPr>
              <a:t>指针</a:t>
            </a:r>
            <a:r>
              <a:rPr lang="en-US" altLang="zh-CN" sz="2400" b="1" dirty="0">
                <a:solidFill>
                  <a:srgbClr val="F402FC"/>
                </a:solidFill>
              </a:rPr>
              <a:t>p</a:t>
            </a:r>
            <a:endParaRPr lang="en-US" altLang="zh-CN" sz="2400" b="1" dirty="0">
              <a:solidFill>
                <a:srgbClr val="F402FC"/>
              </a:solidFill>
            </a:endParaRPr>
          </a:p>
        </p:txBody>
      </p:sp>
      <p:sp>
        <p:nvSpPr>
          <p:cNvPr id="43014" name="文本框 5"/>
          <p:cNvSpPr txBox="1"/>
          <p:nvPr/>
        </p:nvSpPr>
        <p:spPr>
          <a:xfrm>
            <a:off x="6511925" y="2841625"/>
            <a:ext cx="1397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F402FC"/>
                </a:solidFill>
              </a:rPr>
              <a:t>变量</a:t>
            </a:r>
            <a:r>
              <a:rPr lang="en-US" altLang="zh-CN" sz="2400" b="1" dirty="0">
                <a:solidFill>
                  <a:srgbClr val="F402FC"/>
                </a:solidFill>
              </a:rPr>
              <a:t>a</a:t>
            </a:r>
            <a:endParaRPr lang="en-US" altLang="zh-CN" sz="2400" b="1" dirty="0">
              <a:solidFill>
                <a:srgbClr val="F402FC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464425" y="2841625"/>
            <a:ext cx="1079500" cy="41116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9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6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5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矩形 1"/>
          <p:cNvSpPr/>
          <p:nvPr/>
        </p:nvSpPr>
        <p:spPr>
          <a:xfrm>
            <a:off x="309563" y="36513"/>
            <a:ext cx="431482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ea typeface="黑体" panose="02010609060101010101" pitchFamily="49" charset="-122"/>
              </a:rPr>
              <a:t>二、指针访问一维数组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8600" y="1071563"/>
            <a:ext cx="9140825" cy="538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/>
              <a:t>float *p, a[10];</a:t>
            </a:r>
            <a:endParaRPr lang="en-US" altLang="zh-CN" sz="25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solidFill>
                  <a:srgbClr val="F402FC"/>
                </a:solidFill>
              </a:rPr>
              <a:t>p=a;</a:t>
            </a:r>
            <a:r>
              <a:rPr lang="en-US" altLang="zh-CN" sz="2500" b="1" dirty="0"/>
              <a:t>   //</a:t>
            </a:r>
            <a:r>
              <a:rPr lang="zh-CN" altLang="en-US" sz="2500" b="1" dirty="0"/>
              <a:t>或</a:t>
            </a:r>
            <a:r>
              <a:rPr lang="en-US" altLang="zh-CN" sz="2500" b="1" dirty="0"/>
              <a:t>p=&amp;a[0];</a:t>
            </a:r>
            <a:endParaRPr lang="en-US" altLang="zh-CN" sz="25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500" b="1" dirty="0">
                <a:solidFill>
                  <a:srgbClr val="FFFF00"/>
                </a:solidFill>
              </a:rPr>
              <a:t>访问数组：</a:t>
            </a:r>
            <a:endParaRPr lang="en-US" altLang="zh-CN" sz="25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700" b="1" dirty="0"/>
              <a:t>for(i=0;i&lt;10;i++)</a:t>
            </a:r>
            <a:endParaRPr lang="en-US" altLang="zh-CN" sz="27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700" b="1" dirty="0"/>
              <a:t>	scanf("%f",</a:t>
            </a:r>
            <a:r>
              <a:rPr lang="en-US" altLang="zh-CN" sz="2700" b="1" dirty="0">
                <a:solidFill>
                  <a:srgbClr val="F402FC"/>
                </a:solidFill>
              </a:rPr>
              <a:t>&amp;a[i]</a:t>
            </a:r>
            <a:r>
              <a:rPr lang="en-US" altLang="zh-CN" sz="2700" b="1" dirty="0"/>
              <a:t>); //</a:t>
            </a:r>
            <a:r>
              <a:rPr lang="zh-CN" altLang="en-US" sz="2700" b="1" dirty="0"/>
              <a:t>或</a:t>
            </a:r>
            <a:r>
              <a:rPr lang="en-US" altLang="zh-CN" sz="2700" b="1" dirty="0"/>
              <a:t>scanf("%f",</a:t>
            </a:r>
            <a:r>
              <a:rPr lang="en-US" altLang="zh-CN" sz="2700" b="1" dirty="0">
                <a:solidFill>
                  <a:srgbClr val="F402FC"/>
                </a:solidFill>
              </a:rPr>
              <a:t>p+i</a:t>
            </a:r>
            <a:r>
              <a:rPr lang="en-US" altLang="zh-CN" sz="2700" b="1" dirty="0"/>
              <a:t>); </a:t>
            </a:r>
            <a:endParaRPr lang="en-US" altLang="zh-CN" sz="27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700" b="1" dirty="0"/>
              <a:t>for(i=0;i&lt;10;i++)</a:t>
            </a:r>
            <a:endParaRPr lang="en-US" altLang="zh-CN" sz="27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700" b="1" dirty="0"/>
              <a:t>	printf("%f",</a:t>
            </a:r>
            <a:r>
              <a:rPr lang="en-US" altLang="zh-CN" sz="2700" b="1" dirty="0">
                <a:solidFill>
                  <a:srgbClr val="F402FC"/>
                </a:solidFill>
              </a:rPr>
              <a:t>a[i]</a:t>
            </a:r>
            <a:r>
              <a:rPr lang="en-US" altLang="zh-CN" sz="2700" b="1" dirty="0"/>
              <a:t>); //</a:t>
            </a:r>
            <a:r>
              <a:rPr lang="zh-CN" altLang="en-US" sz="2700" b="1" dirty="0"/>
              <a:t>或</a:t>
            </a:r>
            <a:r>
              <a:rPr lang="en-US" altLang="zh-CN" sz="2700" b="1" dirty="0"/>
              <a:t>printf("%f",</a:t>
            </a:r>
            <a:r>
              <a:rPr lang="en-US" altLang="zh-CN" sz="2700" b="1" dirty="0">
                <a:solidFill>
                  <a:srgbClr val="F402FC"/>
                </a:solidFill>
              </a:rPr>
              <a:t>*(p+i)</a:t>
            </a:r>
            <a:r>
              <a:rPr lang="en-US" altLang="zh-CN" sz="2700" b="1" dirty="0"/>
              <a:t>); </a:t>
            </a:r>
            <a:endParaRPr lang="en-US" altLang="zh-CN" sz="27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500" b="1" dirty="0">
                <a:solidFill>
                  <a:srgbClr val="FFFF00"/>
                </a:solidFill>
              </a:rPr>
              <a:t>------------------------------------------------------------</a:t>
            </a:r>
            <a:endParaRPr lang="en-US" altLang="zh-CN" sz="25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for(p=a;</a:t>
            </a:r>
            <a:r>
              <a:rPr lang="en-US" altLang="zh-CN" sz="2800" b="1" dirty="0">
                <a:solidFill>
                  <a:srgbClr val="FFFF00"/>
                </a:solidFill>
              </a:rPr>
              <a:t>p&lt;a+10</a:t>
            </a:r>
            <a:r>
              <a:rPr lang="en-US" altLang="zh-CN" sz="2800" b="1" dirty="0"/>
              <a:t>;</a:t>
            </a:r>
            <a:r>
              <a:rPr lang="en-US" altLang="zh-CN" sz="2800" b="1" dirty="0">
                <a:solidFill>
                  <a:srgbClr val="FFFF00"/>
                </a:solidFill>
              </a:rPr>
              <a:t>p++</a:t>
            </a:r>
            <a:r>
              <a:rPr lang="en-US" altLang="zh-CN" sz="2800" b="1" dirty="0"/>
              <a:t>)</a:t>
            </a:r>
            <a:r>
              <a:rPr lang="en-US" altLang="zh-CN" sz="2800" b="1" dirty="0">
                <a:solidFill>
                  <a:srgbClr val="FFFF00"/>
                </a:solidFill>
              </a:rPr>
              <a:t> </a:t>
            </a:r>
            <a:r>
              <a:rPr lang="en-US" altLang="zh-CN" sz="2800" b="1" dirty="0"/>
              <a:t>//</a:t>
            </a:r>
            <a:r>
              <a:rPr lang="zh-CN" altLang="en-US" sz="2800" b="1" dirty="0"/>
              <a:t>移动指针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scanf("%f",</a:t>
            </a:r>
            <a:r>
              <a:rPr lang="en-US" altLang="zh-CN" sz="2700" b="1" dirty="0">
                <a:solidFill>
                  <a:srgbClr val="F402FC"/>
                </a:solidFill>
              </a:rPr>
              <a:t>p</a:t>
            </a:r>
            <a:r>
              <a:rPr lang="en-US" altLang="zh-CN" sz="2800" b="1" dirty="0"/>
              <a:t>); 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for(p=a;</a:t>
            </a:r>
            <a:r>
              <a:rPr lang="en-US" altLang="zh-CN" sz="2800" b="1" dirty="0">
                <a:solidFill>
                  <a:srgbClr val="FFFF00"/>
                </a:solidFill>
              </a:rPr>
              <a:t>p&lt;a+10</a:t>
            </a:r>
            <a:r>
              <a:rPr lang="en-US" altLang="zh-CN" sz="2800" b="1" dirty="0"/>
              <a:t>;</a:t>
            </a:r>
            <a:r>
              <a:rPr lang="en-US" altLang="zh-CN" sz="2800" b="1" dirty="0">
                <a:solidFill>
                  <a:srgbClr val="FFFF00"/>
                </a:solidFill>
              </a:rPr>
              <a:t>p++</a:t>
            </a:r>
            <a:r>
              <a:rPr lang="en-US" altLang="zh-CN" sz="2800" b="1" dirty="0"/>
              <a:t>)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/>
              <a:t>	printf("%f", </a:t>
            </a:r>
            <a:r>
              <a:rPr lang="en-US" altLang="zh-CN" sz="2700" b="1" dirty="0">
                <a:solidFill>
                  <a:srgbClr val="F402FC"/>
                </a:solidFill>
              </a:rPr>
              <a:t>*p</a:t>
            </a:r>
            <a:r>
              <a:rPr lang="en-US" altLang="zh-CN" sz="2800" b="1" dirty="0"/>
              <a:t>); </a:t>
            </a:r>
            <a:endParaRPr lang="en-US" altLang="zh-CN" sz="28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/>
          </a:p>
        </p:txBody>
      </p:sp>
      <p:grpSp>
        <p:nvGrpSpPr>
          <p:cNvPr id="44036" name="组合 8"/>
          <p:cNvGrpSpPr/>
          <p:nvPr/>
        </p:nvGrpSpPr>
        <p:grpSpPr>
          <a:xfrm>
            <a:off x="6362700" y="50800"/>
            <a:ext cx="1395413" cy="811213"/>
            <a:chOff x="5940152" y="2031231"/>
            <a:chExt cx="1396831" cy="810595"/>
          </a:xfrm>
        </p:grpSpPr>
        <p:cxnSp>
          <p:nvCxnSpPr>
            <p:cNvPr id="44062" name="直接箭头连接符 3"/>
            <p:cNvCxnSpPr/>
            <p:nvPr/>
          </p:nvCxnSpPr>
          <p:spPr>
            <a:xfrm>
              <a:off x="6511640" y="2481786"/>
              <a:ext cx="0" cy="360040"/>
            </a:xfrm>
            <a:prstGeom prst="straightConnector1">
              <a:avLst/>
            </a:prstGeom>
            <a:ln w="44450" cap="flat" cmpd="sng">
              <a:solidFill>
                <a:srgbClr val="F402FC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44063" name="文本框 4"/>
            <p:cNvSpPr txBox="1"/>
            <p:nvPr/>
          </p:nvSpPr>
          <p:spPr>
            <a:xfrm>
              <a:off x="5940152" y="2031231"/>
              <a:ext cx="1396831" cy="5063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700" b="1" dirty="0">
                  <a:solidFill>
                    <a:srgbClr val="F402FC"/>
                  </a:solidFill>
                </a:rPr>
                <a:t>指针p</a:t>
              </a:r>
              <a:endParaRPr lang="en-US" altLang="zh-CN" sz="2700" b="1" dirty="0">
                <a:solidFill>
                  <a:srgbClr val="F402FC"/>
                </a:solidFill>
              </a:endParaRPr>
            </a:p>
          </p:txBody>
        </p:sp>
      </p:grpSp>
      <p:sp>
        <p:nvSpPr>
          <p:cNvPr id="44037" name="文本框 5"/>
          <p:cNvSpPr txBox="1"/>
          <p:nvPr/>
        </p:nvSpPr>
        <p:spPr>
          <a:xfrm>
            <a:off x="5886450" y="682625"/>
            <a:ext cx="9509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402FC"/>
                </a:solidFill>
              </a:rPr>
              <a:t>一维</a:t>
            </a:r>
            <a:endParaRPr lang="en-US" altLang="zh-CN" sz="1800" b="1" dirty="0">
              <a:solidFill>
                <a:srgbClr val="F402FC"/>
              </a:solidFill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402FC"/>
                </a:solidFill>
              </a:rPr>
              <a:t>数组</a:t>
            </a:r>
            <a:r>
              <a:rPr lang="en-US" altLang="zh-CN" sz="1800" b="1" dirty="0">
                <a:solidFill>
                  <a:srgbClr val="F402FC"/>
                </a:solidFill>
              </a:rPr>
              <a:t>a</a:t>
            </a:r>
            <a:endParaRPr lang="en-US" altLang="zh-CN" sz="1800" b="1" dirty="0">
              <a:solidFill>
                <a:srgbClr val="F402FC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781800" y="862013"/>
          <a:ext cx="477679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679"/>
                <a:gridCol w="477679"/>
                <a:gridCol w="477679"/>
                <a:gridCol w="477679"/>
                <a:gridCol w="477679"/>
                <a:gridCol w="477679"/>
                <a:gridCol w="477679"/>
                <a:gridCol w="477679"/>
                <a:gridCol w="477679"/>
                <a:gridCol w="477679"/>
              </a:tblGrid>
              <a:tr h="371475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1" marR="91451" marT="45798" marB="45798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1" marR="91451" marT="45798" marB="45798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1" marR="91451" marT="45798" marB="45798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1" marR="91451" marT="45798" marB="45798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1" marR="91451" marT="45798" marB="45798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1" marR="91451" marT="45798" marB="45798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1" marR="91451" marT="45798" marB="45798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1" marR="91451" marT="45798" marB="45798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51" marR="91451" marT="45798" marB="45798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1" marR="91451" marT="45798" marB="45798"/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1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9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64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25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52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69" end="2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9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4"/>
          <p:cNvSpPr/>
          <p:nvPr/>
        </p:nvSpPr>
        <p:spPr>
          <a:xfrm>
            <a:off x="34925" y="1065213"/>
            <a:ext cx="8120063" cy="31076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solidFill>
                  <a:srgbClr val="F402FC"/>
                </a:solidFill>
                <a:ea typeface="黑体" panose="02010609060101010101" pitchFamily="49" charset="-122"/>
              </a:rPr>
              <a:t>//</a:t>
            </a:r>
            <a:r>
              <a:rPr lang="zh-CN" altLang="en-US" sz="2800" b="1" dirty="0">
                <a:solidFill>
                  <a:srgbClr val="F402FC"/>
                </a:solidFill>
                <a:ea typeface="黑体" panose="02010609060101010101" pitchFamily="49" charset="-122"/>
              </a:rPr>
              <a:t>方法</a:t>
            </a:r>
            <a:r>
              <a:rPr lang="en-US" altLang="zh-CN" sz="2800" b="1" dirty="0">
                <a:solidFill>
                  <a:srgbClr val="F402FC"/>
                </a:solidFill>
                <a:ea typeface="黑体" panose="02010609060101010101" pitchFamily="49" charset="-122"/>
              </a:rPr>
              <a:t>1:</a:t>
            </a:r>
            <a:r>
              <a:rPr lang="zh-CN" altLang="en-US" sz="2800" b="1" dirty="0">
                <a:solidFill>
                  <a:srgbClr val="F402FC"/>
                </a:solidFill>
                <a:ea typeface="黑体" panose="02010609060101010101" pitchFamily="49" charset="-122"/>
              </a:rPr>
              <a:t>偏移量</a:t>
            </a:r>
            <a:endParaRPr lang="en-US" altLang="zh-CN" sz="2800" b="1" dirty="0">
              <a:solidFill>
                <a:srgbClr val="F402FC"/>
              </a:solidFill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float  arrmul(int m , int n , 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float </a:t>
            </a:r>
            <a:r>
              <a:rPr lang="zh-CN" altLang="en-US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*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p</a:t>
            </a:r>
            <a:r>
              <a:rPr lang="en-US" altLang="zh-CN" sz="2800" b="1" dirty="0">
                <a:ea typeface="黑体" panose="02010609060101010101" pitchFamily="49" charset="-122"/>
              </a:rPr>
              <a:t>)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{  	int  u, v; float mul=1;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	for( u=0; u&lt;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m</a:t>
            </a:r>
            <a:r>
              <a:rPr lang="en-US" altLang="zh-CN" sz="2800" b="1" dirty="0">
                <a:ea typeface="黑体" panose="02010609060101010101" pitchFamily="49" charset="-122"/>
              </a:rPr>
              <a:t>; u++)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     		for( v=0; v&lt;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</a:rPr>
              <a:t>n</a:t>
            </a:r>
            <a:r>
              <a:rPr lang="en-US" altLang="zh-CN" sz="2800" b="1" dirty="0">
                <a:ea typeface="黑体" panose="02010609060101010101" pitchFamily="49" charset="-122"/>
              </a:rPr>
              <a:t>; v++)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	 		</a:t>
            </a:r>
            <a:r>
              <a:rPr lang="en-US" altLang="zh-CN" sz="2800" b="1" dirty="0"/>
              <a:t>mul = mul * (</a:t>
            </a:r>
            <a:r>
              <a:rPr lang="en-US" altLang="zh-CN" sz="2800" b="1" dirty="0">
                <a:solidFill>
                  <a:schemeClr val="hlink"/>
                </a:solidFill>
              </a:rPr>
              <a:t>*</a:t>
            </a:r>
            <a:r>
              <a:rPr lang="en-US" altLang="zh-CN" sz="2800" b="1" dirty="0">
                <a:solidFill>
                  <a:srgbClr val="FFFF00"/>
                </a:solidFill>
              </a:rPr>
              <a:t>(p+u*n+v)</a:t>
            </a:r>
            <a:r>
              <a:rPr lang="en-US" altLang="zh-CN" sz="2800" b="1" dirty="0"/>
              <a:t>);</a:t>
            </a:r>
            <a:endParaRPr lang="en-US" altLang="zh-CN" sz="2800" b="1" dirty="0"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ea typeface="黑体" panose="02010609060101010101" pitchFamily="49" charset="-122"/>
              </a:rPr>
              <a:t> 	return  mul ; 	}</a:t>
            </a:r>
            <a:endParaRPr lang="en-US" altLang="zh-CN" sz="2800" b="1" dirty="0"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425" y="628650"/>
            <a:ext cx="8589963" cy="5238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  <a:sym typeface="+mn-ea"/>
              </a:rPr>
              <a:t>函数调用：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float result=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  <a:sym typeface="+mn-ea"/>
              </a:rPr>
              <a:t>arrmul(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2,3, </a:t>
            </a: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&amp;a[0][0]</a:t>
            </a:r>
            <a:r>
              <a:rPr lang="en-US" altLang="zh-CN" sz="2800" b="1" dirty="0">
                <a:solidFill>
                  <a:srgbClr val="FFFF00"/>
                </a:solidFill>
                <a:ea typeface="黑体" panose="02010609060101010101" pitchFamily="49" charset="-122"/>
                <a:sym typeface="+mn-ea"/>
              </a:rPr>
              <a:t>)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;</a:t>
            </a:r>
            <a:endParaRPr lang="zh-CN" altLang="en-US" sz="2800" b="1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8688388" y="2439988"/>
          <a:ext cx="1952625" cy="731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875"/>
                <a:gridCol w="650875"/>
                <a:gridCol w="650875"/>
              </a:tblGrid>
              <a:tr h="365919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4" marR="91444" marT="45681" marB="45681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4" marR="91444" marT="45681" marB="45681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44" marR="91444" marT="45681" marB="45681">
                    <a:noFill/>
                  </a:tcPr>
                </a:tc>
              </a:tr>
              <a:tr h="365919"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44" marR="91444" marT="45681" marB="45681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4" marR="91444" marT="45681" marB="45681"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4" marR="91444" marT="45681" marB="45681">
                    <a:noFill/>
                  </a:tcPr>
                </a:tc>
              </a:tr>
            </a:tbl>
          </a:graphicData>
        </a:graphic>
      </p:graphicFrame>
      <p:grpSp>
        <p:nvGrpSpPr>
          <p:cNvPr id="2" name="组合 13"/>
          <p:cNvGrpSpPr/>
          <p:nvPr/>
        </p:nvGrpSpPr>
        <p:grpSpPr>
          <a:xfrm>
            <a:off x="8543925" y="1628775"/>
            <a:ext cx="1397000" cy="811213"/>
            <a:chOff x="7020272" y="1628800"/>
            <a:chExt cx="1396831" cy="810595"/>
          </a:xfrm>
        </p:grpSpPr>
        <p:cxnSp>
          <p:nvCxnSpPr>
            <p:cNvPr id="45078" name="直接箭头连接符 8"/>
            <p:cNvCxnSpPr/>
            <p:nvPr/>
          </p:nvCxnSpPr>
          <p:spPr>
            <a:xfrm>
              <a:off x="7524328" y="2079355"/>
              <a:ext cx="0" cy="360040"/>
            </a:xfrm>
            <a:prstGeom prst="straightConnector1">
              <a:avLst/>
            </a:prstGeom>
            <a:ln w="44450" cap="flat" cmpd="sng">
              <a:solidFill>
                <a:srgbClr val="F402FC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45079" name="文本框 10"/>
            <p:cNvSpPr txBox="1"/>
            <p:nvPr/>
          </p:nvSpPr>
          <p:spPr>
            <a:xfrm>
              <a:off x="7020272" y="1628800"/>
              <a:ext cx="1396831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402FC"/>
                  </a:solidFill>
                </a:rPr>
                <a:t>指针</a:t>
              </a:r>
              <a:r>
                <a:rPr lang="en-US" altLang="zh-CN" sz="2400" b="1" dirty="0">
                  <a:solidFill>
                    <a:srgbClr val="F402FC"/>
                  </a:solidFill>
                </a:rPr>
                <a:t>p</a:t>
              </a:r>
              <a:endParaRPr lang="en-US" altLang="zh-CN" sz="2400" b="1" dirty="0">
                <a:solidFill>
                  <a:srgbClr val="F402FC"/>
                </a:solidFill>
              </a:endParaRPr>
            </a:p>
          </p:txBody>
        </p:sp>
      </p:grpSp>
      <p:sp>
        <p:nvSpPr>
          <p:cNvPr id="45075" name="文本框 11"/>
          <p:cNvSpPr txBox="1"/>
          <p:nvPr/>
        </p:nvSpPr>
        <p:spPr>
          <a:xfrm>
            <a:off x="7715250" y="2389188"/>
            <a:ext cx="1397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402FC"/>
                </a:solidFill>
                <a:ea typeface="黑体" panose="02010609060101010101" pitchFamily="49" charset="-122"/>
              </a:rPr>
              <a:t>数组a</a:t>
            </a:r>
            <a:endParaRPr lang="en-US" altLang="zh-CN" sz="2400" b="1" dirty="0">
              <a:solidFill>
                <a:srgbClr val="F402FC"/>
              </a:solidFill>
              <a:ea typeface="黑体" panose="02010609060101010101" pitchFamily="49" charset="-122"/>
            </a:endParaRPr>
          </a:p>
        </p:txBody>
      </p:sp>
      <p:sp>
        <p:nvSpPr>
          <p:cNvPr id="45076" name="矩形 12"/>
          <p:cNvSpPr/>
          <p:nvPr/>
        </p:nvSpPr>
        <p:spPr>
          <a:xfrm>
            <a:off x="228600" y="7938"/>
            <a:ext cx="4305300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FFC000"/>
                </a:solidFill>
                <a:ea typeface="黑体" panose="02010609060101010101" pitchFamily="49" charset="-122"/>
              </a:rPr>
              <a:t>三、指针访问二维数组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4187825"/>
            <a:ext cx="8328025" cy="2762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402FC"/>
                </a:solidFill>
                <a:sym typeface="+mn-ea"/>
              </a:rPr>
              <a:t>//</a:t>
            </a:r>
            <a:r>
              <a:rPr lang="en-US" altLang="zh-CN" sz="2800" b="1" dirty="0">
                <a:solidFill>
                  <a:srgbClr val="F402FC"/>
                </a:solidFill>
              </a:rPr>
              <a:t>方法2:移动指针</a:t>
            </a:r>
            <a:endParaRPr lang="en-US" altLang="zh-CN" sz="2800" b="1" dirty="0">
              <a:solidFill>
                <a:srgbClr val="F402FC"/>
              </a:solidFill>
              <a:sym typeface="+mn-ea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float  arrmul(int m , int n , </a:t>
            </a:r>
            <a:r>
              <a:rPr lang="en-US" altLang="zh-CN" sz="2800" b="1" dirty="0">
                <a:solidFill>
                  <a:srgbClr val="F402FC"/>
                </a:solidFill>
                <a:ea typeface="黑体" panose="02010609060101010101" pitchFamily="49" charset="-122"/>
                <a:sym typeface="+mn-ea"/>
              </a:rPr>
              <a:t>float *p</a:t>
            </a:r>
            <a:r>
              <a:rPr lang="en-US" altLang="zh-CN" sz="2800" b="1" dirty="0">
                <a:solidFill>
                  <a:schemeClr val="tx1"/>
                </a:solidFill>
                <a:ea typeface="黑体" panose="02010609060101010101" pitchFamily="49" charset="-122"/>
                <a:sym typeface="+mn-ea"/>
              </a:rPr>
              <a:t>)</a:t>
            </a:r>
            <a:endParaRPr lang="en-US" altLang="zh-CN" sz="2800" b="1" dirty="0">
              <a:solidFill>
                <a:schemeClr val="tx1"/>
              </a:solidFill>
              <a:ea typeface="黑体" panose="02010609060101010101" pitchFamily="49" charset="-122"/>
              <a:sym typeface="+mn-ea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{   	int i;   float mul;   mul = 1;</a:t>
            </a:r>
            <a:endParaRPr lang="en-US" altLang="zh-CN" sz="2800" b="1" dirty="0">
              <a:ea typeface="黑体" panose="02010609060101010101" pitchFamily="49" charset="-122"/>
              <a:sym typeface="+mn-ea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	</a:t>
            </a:r>
            <a:r>
              <a:rPr lang="en-US" altLang="zh-CN" sz="2800" b="1" dirty="0">
                <a:solidFill>
                  <a:srgbClr val="F402FC"/>
                </a:solidFill>
                <a:ea typeface="黑体" panose="02010609060101010101" pitchFamily="49" charset="-122"/>
                <a:sym typeface="+mn-ea"/>
              </a:rPr>
              <a:t>for(i=0;i&lt;m*n;i++)</a:t>
            </a:r>
            <a:endParaRPr lang="en-US" altLang="zh-CN" sz="2800" b="1" dirty="0">
              <a:solidFill>
                <a:srgbClr val="F402FC"/>
              </a:solidFill>
              <a:ea typeface="黑体" panose="02010609060101010101" pitchFamily="49" charset="-122"/>
              <a:sym typeface="+mn-ea"/>
            </a:endParaRPr>
          </a:p>
          <a:p>
            <a:pPr marL="0" lvl="0" algn="l" eaLnBrk="1" hangingPunct="1"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a typeface="黑体" panose="02010609060101010101" pitchFamily="49" charset="-122"/>
                <a:sym typeface="+mn-ea"/>
              </a:rPr>
              <a:t>		 </a:t>
            </a: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mul=mul*</a:t>
            </a:r>
            <a:r>
              <a:rPr lang="en-US" altLang="zh-CN" sz="2800" b="1" dirty="0">
                <a:solidFill>
                  <a:srgbClr val="F402FC"/>
                </a:solidFill>
                <a:ea typeface="黑体" panose="02010609060101010101" pitchFamily="49" charset="-122"/>
                <a:sym typeface="+mn-ea"/>
              </a:rPr>
              <a:t>(*p++); </a:t>
            </a:r>
            <a:endParaRPr lang="en-US" altLang="zh-CN" sz="2800" b="1" dirty="0">
              <a:solidFill>
                <a:srgbClr val="F402FC"/>
              </a:solidFill>
              <a:ea typeface="黑体" panose="02010609060101010101" pitchFamily="49" charset="-122"/>
              <a:sym typeface="+mn-ea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ea typeface="黑体" panose="02010609060101010101" pitchFamily="49" charset="-122"/>
                <a:sym typeface="+mn-ea"/>
              </a:rPr>
              <a:t>	return  mul ;	}</a:t>
            </a:r>
            <a:endParaRPr lang="en-US" altLang="zh-CN" sz="2800" b="1" dirty="0"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矩形 2"/>
          <p:cNvSpPr/>
          <p:nvPr/>
        </p:nvSpPr>
        <p:spPr>
          <a:xfrm>
            <a:off x="152400" y="557213"/>
            <a:ext cx="10696575" cy="5386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rgbClr val="FFE701"/>
              </a:buClr>
              <a:buNone/>
            </a:pPr>
            <a:r>
              <a:rPr lang="en-US" altLang="zh-CN" sz="3600" b="1" dirty="0"/>
              <a:t>#include&lt;stdio.h&gt;</a:t>
            </a:r>
            <a:endParaRPr lang="en-US" altLang="zh-CN" sz="3600" b="1" dirty="0"/>
          </a:p>
          <a:p>
            <a:pPr marL="0" lvl="0" indent="0" eaLnBrk="1" hangingPunct="1">
              <a:spcBef>
                <a:spcPct val="0"/>
              </a:spcBef>
              <a:buClr>
                <a:srgbClr val="FFE701"/>
              </a:buClr>
              <a:buNone/>
            </a:pPr>
            <a:r>
              <a:rPr lang="en-US" altLang="zh-CN" sz="3600" b="1" dirty="0">
                <a:solidFill>
                  <a:srgbClr val="FFFF00"/>
                </a:solidFill>
              </a:rPr>
              <a:t>int main()</a:t>
            </a:r>
            <a:endParaRPr lang="en-US" altLang="zh-CN" sz="3600" b="1" dirty="0">
              <a:solidFill>
                <a:srgbClr val="FFFF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E701"/>
              </a:buClr>
              <a:buNone/>
            </a:pPr>
            <a:r>
              <a:rPr lang="en-US" altLang="zh-CN" sz="3600" b="1" dirty="0">
                <a:solidFill>
                  <a:srgbClr val="FFFF00"/>
                </a:solidFill>
              </a:rPr>
              <a:t>{</a:t>
            </a:r>
            <a:endParaRPr lang="en-US" altLang="zh-CN" sz="3600" b="1" dirty="0">
              <a:solidFill>
                <a:srgbClr val="FFFF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E701"/>
              </a:buClr>
              <a:buNone/>
            </a:pPr>
            <a:r>
              <a:rPr lang="en-US" altLang="zh-CN" sz="2800" b="1" dirty="0">
                <a:solidFill>
                  <a:srgbClr val="F402FC"/>
                </a:solidFill>
              </a:rPr>
              <a:t>int a[ ][4]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FFFFFF"/>
                </a:solidFill>
              </a:rPr>
              <a:t>=</a:t>
            </a:r>
            <a:endParaRPr lang="en-US" altLang="zh-CN" sz="28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E701"/>
              </a:buClr>
              <a:buNone/>
            </a:pPr>
            <a:r>
              <a:rPr lang="en-US" altLang="zh-CN" sz="2000" b="1" dirty="0">
                <a:solidFill>
                  <a:srgbClr val="FFFF00"/>
                </a:solidFill>
              </a:rPr>
              <a:t>{</a:t>
            </a:r>
            <a:r>
              <a:rPr lang="en-US" altLang="zh-CN" sz="2000" b="1" dirty="0">
                <a:solidFill>
                  <a:srgbClr val="FFFFFF"/>
                </a:solidFill>
              </a:rPr>
              <a:t>{1,2,3,4},</a:t>
            </a:r>
            <a:endParaRPr lang="en-US" altLang="zh-CN" sz="20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E701"/>
              </a:buClr>
              <a:buNone/>
            </a:pPr>
            <a:r>
              <a:rPr lang="en-US" altLang="zh-CN" sz="2000" b="1" dirty="0">
                <a:solidFill>
                  <a:srgbClr val="FFFFFF"/>
                </a:solidFill>
              </a:rPr>
              <a:t>{11,12,13,14}, </a:t>
            </a:r>
            <a:endParaRPr lang="en-US" altLang="zh-CN" sz="20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E701"/>
              </a:buClr>
              <a:buNone/>
            </a:pPr>
            <a:r>
              <a:rPr lang="en-US" altLang="zh-CN" sz="2000" b="1" dirty="0">
                <a:solidFill>
                  <a:srgbClr val="FFFFFF"/>
                </a:solidFill>
              </a:rPr>
              <a:t>{21,22,23,24},</a:t>
            </a:r>
            <a:endParaRPr lang="en-US" altLang="zh-CN" sz="20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E701"/>
              </a:buClr>
              <a:buNone/>
            </a:pPr>
            <a:r>
              <a:rPr lang="en-US" altLang="zh-CN" sz="2000" b="1" dirty="0">
                <a:solidFill>
                  <a:srgbClr val="FFFFFF"/>
                </a:solidFill>
              </a:rPr>
              <a:t>{31,32,33,34},</a:t>
            </a:r>
            <a:endParaRPr lang="en-US" altLang="zh-CN" sz="20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>
                <a:srgbClr val="FFE701"/>
              </a:buClr>
              <a:buNone/>
            </a:pPr>
            <a:r>
              <a:rPr lang="en-US" altLang="zh-CN" sz="2000" b="1" dirty="0">
                <a:solidFill>
                  <a:srgbClr val="FFFFFF"/>
                </a:solidFill>
              </a:rPr>
              <a:t>{41,42,43,44} </a:t>
            </a:r>
            <a:r>
              <a:rPr lang="en-US" altLang="zh-CN" sz="2000" b="1" dirty="0">
                <a:solidFill>
                  <a:srgbClr val="FFFF00"/>
                </a:solidFill>
              </a:rPr>
              <a:t>}</a:t>
            </a:r>
            <a:r>
              <a:rPr lang="en-US" altLang="zh-CN" sz="2000" b="1" dirty="0">
                <a:solidFill>
                  <a:srgbClr val="FFFFFF"/>
                </a:solidFill>
              </a:rPr>
              <a:t>;</a:t>
            </a:r>
            <a:endParaRPr lang="en-US" altLang="zh-CN" sz="2000" b="1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F402FC"/>
                </a:solidFill>
              </a:rPr>
              <a:t>int  *pa[5]=</a:t>
            </a:r>
            <a:r>
              <a:rPr lang="en-US" altLang="zh-CN" sz="3600" b="1" dirty="0"/>
              <a:t>{a[0],a[1],a[2],a[3],a[4]};</a:t>
            </a:r>
            <a:endParaRPr lang="en-US" altLang="zh-CN" sz="36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3600" b="1" dirty="0">
                <a:solidFill>
                  <a:srgbClr val="F402FC"/>
                </a:solidFill>
              </a:rPr>
              <a:t>int  *p</a:t>
            </a:r>
            <a:r>
              <a:rPr lang="en-US" altLang="zh-CN" sz="3600" b="1" dirty="0"/>
              <a:t>=a[0], i;</a:t>
            </a:r>
            <a:endParaRPr lang="en-US" altLang="zh-CN" sz="3600" b="1" dirty="0"/>
          </a:p>
          <a:p>
            <a:pPr marL="0" lvl="0" indent="0" eaLnBrk="1" hangingPunct="1">
              <a:spcBef>
                <a:spcPct val="0"/>
              </a:spcBef>
              <a:buClr>
                <a:srgbClr val="FFE701"/>
              </a:buClr>
              <a:buNone/>
            </a:pPr>
            <a:endParaRPr lang="en-US" altLang="zh-CN" sz="3600" b="1" dirty="0">
              <a:solidFill>
                <a:srgbClr val="FFFFFF"/>
              </a:solidFill>
            </a:endParaRPr>
          </a:p>
        </p:txBody>
      </p:sp>
      <p:sp>
        <p:nvSpPr>
          <p:cNvPr id="7987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14E38F-5526-47DE-8620-9749B71EF51D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4" name="Rectangle 4"/>
          <p:cNvSpPr/>
          <p:nvPr/>
        </p:nvSpPr>
        <p:spPr>
          <a:xfrm>
            <a:off x="-23812" y="39688"/>
            <a:ext cx="90582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</a:rPr>
              <a:t>7.9】</a:t>
            </a:r>
            <a:r>
              <a:rPr lang="zh-CN" altLang="en-US" sz="2800" b="1" dirty="0">
                <a:solidFill>
                  <a:srgbClr val="FFC000"/>
                </a:solidFill>
              </a:rPr>
              <a:t>指针数组指向二维数组</a:t>
            </a:r>
            <a:endParaRPr lang="en-US" altLang="zh-CN" sz="2800" b="1" dirty="0">
              <a:solidFill>
                <a:srgbClr val="FFC000"/>
              </a:solidFill>
            </a:endParaRPr>
          </a:p>
        </p:txBody>
      </p:sp>
      <p:graphicFrame>
        <p:nvGraphicFramePr>
          <p:cNvPr id="15" name="Group 241"/>
          <p:cNvGraphicFramePr>
            <a:graphicFrameLocks noGrp="1"/>
          </p:cNvGraphicFramePr>
          <p:nvPr/>
        </p:nvGraphicFramePr>
        <p:xfrm>
          <a:off x="5292725" y="865188"/>
          <a:ext cx="5195889" cy="2852740"/>
        </p:xfrm>
        <a:graphic>
          <a:graphicData uri="http://schemas.openxmlformats.org/drawingml/2006/table">
            <a:tbl>
              <a:tblPr/>
              <a:tblGrid>
                <a:gridCol w="208354"/>
                <a:gridCol w="1530229"/>
                <a:gridCol w="598440"/>
                <a:gridCol w="769878"/>
                <a:gridCol w="274616"/>
                <a:gridCol w="374621"/>
                <a:gridCol w="439704"/>
                <a:gridCol w="279378"/>
                <a:gridCol w="720669"/>
              </a:tblGrid>
              <a:tr h="346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7FF37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&amp;a[0][0]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37FF37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37FF37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22275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0481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&amp;a[0][0]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&amp;a[1][0]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&amp;a[2][0]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5138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&amp;a[3][0]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&amp;a[4][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0]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46146" name="Group 164"/>
          <p:cNvGrpSpPr/>
          <p:nvPr/>
        </p:nvGrpSpPr>
        <p:grpSpPr>
          <a:xfrm>
            <a:off x="6743700" y="1212850"/>
            <a:ext cx="1152525" cy="2287588"/>
            <a:chOff x="3819" y="304"/>
            <a:chExt cx="749" cy="1702"/>
          </a:xfrm>
        </p:grpSpPr>
        <p:grpSp>
          <p:nvGrpSpPr>
            <p:cNvPr id="46156" name="Group 95"/>
            <p:cNvGrpSpPr/>
            <p:nvPr/>
          </p:nvGrpSpPr>
          <p:grpSpPr>
            <a:xfrm>
              <a:off x="3819" y="304"/>
              <a:ext cx="749" cy="1380"/>
              <a:chOff x="1985" y="2481"/>
              <a:chExt cx="1495" cy="1380"/>
            </a:xfrm>
          </p:grpSpPr>
          <p:sp>
            <p:nvSpPr>
              <p:cNvPr id="46158" name="Line 83"/>
              <p:cNvSpPr/>
              <p:nvPr/>
            </p:nvSpPr>
            <p:spPr>
              <a:xfrm>
                <a:off x="1985" y="2951"/>
                <a:ext cx="1210" cy="0"/>
              </a:xfrm>
              <a:prstGeom prst="line">
                <a:avLst/>
              </a:prstGeom>
              <a:ln w="28575" cap="flat" cmpd="sng">
                <a:solidFill>
                  <a:srgbClr val="00B0F0"/>
                </a:solidFill>
                <a:prstDash val="solid"/>
                <a:headEnd type="none" w="med" len="med"/>
                <a:tailEnd type="arrow" w="lg" len="lg"/>
              </a:ln>
            </p:spPr>
          </p:sp>
          <p:sp>
            <p:nvSpPr>
              <p:cNvPr id="46159" name="Line 84"/>
              <p:cNvSpPr/>
              <p:nvPr/>
            </p:nvSpPr>
            <p:spPr>
              <a:xfrm flipV="1">
                <a:off x="2006" y="3274"/>
                <a:ext cx="1189" cy="2"/>
              </a:xfrm>
              <a:prstGeom prst="line">
                <a:avLst/>
              </a:prstGeom>
              <a:ln w="28575" cap="flat" cmpd="sng">
                <a:solidFill>
                  <a:srgbClr val="00B0F0"/>
                </a:solidFill>
                <a:prstDash val="solid"/>
                <a:headEnd type="none" w="med" len="med"/>
                <a:tailEnd type="arrow" w="lg" len="lg"/>
              </a:ln>
            </p:spPr>
          </p:sp>
          <p:sp>
            <p:nvSpPr>
              <p:cNvPr id="46160" name="Line 85"/>
              <p:cNvSpPr/>
              <p:nvPr/>
            </p:nvSpPr>
            <p:spPr>
              <a:xfrm>
                <a:off x="2029" y="3540"/>
                <a:ext cx="1166" cy="0"/>
              </a:xfrm>
              <a:prstGeom prst="line">
                <a:avLst/>
              </a:prstGeom>
              <a:ln w="28575" cap="flat" cmpd="sng">
                <a:solidFill>
                  <a:srgbClr val="00B0F0"/>
                </a:solidFill>
                <a:prstDash val="solid"/>
                <a:headEnd type="none" w="med" len="med"/>
                <a:tailEnd type="arrow" w="lg" len="lg"/>
              </a:ln>
            </p:spPr>
          </p:sp>
          <p:sp>
            <p:nvSpPr>
              <p:cNvPr id="46161" name="Line 86"/>
              <p:cNvSpPr/>
              <p:nvPr/>
            </p:nvSpPr>
            <p:spPr>
              <a:xfrm>
                <a:off x="2050" y="3861"/>
                <a:ext cx="1145" cy="0"/>
              </a:xfrm>
              <a:prstGeom prst="line">
                <a:avLst/>
              </a:prstGeom>
              <a:ln w="28575" cap="flat" cmpd="sng">
                <a:solidFill>
                  <a:srgbClr val="00B0F0"/>
                </a:solidFill>
                <a:prstDash val="solid"/>
                <a:headEnd type="none" w="med" len="med"/>
                <a:tailEnd type="arrow" w="lg" len="lg"/>
              </a:ln>
            </p:spPr>
          </p:sp>
          <p:sp>
            <p:nvSpPr>
              <p:cNvPr id="46162" name="Line 94"/>
              <p:cNvSpPr/>
              <p:nvPr/>
            </p:nvSpPr>
            <p:spPr>
              <a:xfrm>
                <a:off x="3480" y="2481"/>
                <a:ext cx="0" cy="309"/>
              </a:xfrm>
              <a:prstGeom prst="line">
                <a:avLst/>
              </a:prstGeom>
              <a:ln w="28575" cap="flat" cmpd="sng">
                <a:solidFill>
                  <a:srgbClr val="00B0F0"/>
                </a:solidFill>
                <a:prstDash val="solid"/>
                <a:headEnd type="none" w="med" len="med"/>
                <a:tailEnd type="arrow" w="lg" len="lg"/>
              </a:ln>
            </p:spPr>
          </p:sp>
        </p:grpSp>
        <p:sp>
          <p:nvSpPr>
            <p:cNvPr id="46157" name="Line 163"/>
            <p:cNvSpPr/>
            <p:nvPr/>
          </p:nvSpPr>
          <p:spPr>
            <a:xfrm>
              <a:off x="3844" y="2006"/>
              <a:ext cx="581" cy="0"/>
            </a:xfrm>
            <a:prstGeom prst="line">
              <a:avLst/>
            </a:prstGeom>
            <a:ln w="28575" cap="flat" cmpd="sng">
              <a:solidFill>
                <a:srgbClr val="00B0F0"/>
              </a:solidFill>
              <a:prstDash val="solid"/>
              <a:headEnd type="none" w="med" len="med"/>
              <a:tailEnd type="arrow" w="med" len="lg"/>
            </a:ln>
          </p:spPr>
        </p:sp>
      </p:grpSp>
      <p:sp>
        <p:nvSpPr>
          <p:cNvPr id="46147" name="矩形 23"/>
          <p:cNvSpPr/>
          <p:nvPr/>
        </p:nvSpPr>
        <p:spPr>
          <a:xfrm>
            <a:off x="3734435" y="1218883"/>
            <a:ext cx="1908175" cy="3476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402FC"/>
                </a:solidFill>
              </a:rPr>
              <a:t>int *pa[5];</a:t>
            </a:r>
            <a:endParaRPr lang="en-US" altLang="zh-CN" sz="2400" b="1" dirty="0">
              <a:solidFill>
                <a:srgbClr val="F402FC"/>
              </a:solidFill>
              <a:ea typeface="Times New Roman" panose="02020603050405020304" pitchFamily="18" charset="0"/>
            </a:endParaRPr>
          </a:p>
        </p:txBody>
      </p:sp>
      <p:sp>
        <p:nvSpPr>
          <p:cNvPr id="46148" name="TextBox 24"/>
          <p:cNvSpPr txBox="1"/>
          <p:nvPr/>
        </p:nvSpPr>
        <p:spPr>
          <a:xfrm>
            <a:off x="7677150" y="452438"/>
            <a:ext cx="11176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000" b="1" dirty="0">
                <a:solidFill>
                  <a:srgbClr val="F402FC"/>
                </a:solidFill>
              </a:rPr>
              <a:t>int *p;</a:t>
            </a:r>
            <a:endParaRPr lang="en-US" altLang="zh-CN" sz="2000" b="1" dirty="0">
              <a:solidFill>
                <a:srgbClr val="F402FC"/>
              </a:solidFill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5691188" y="4854575"/>
            <a:ext cx="3429000" cy="1393825"/>
          </a:xfrm>
          <a:prstGeom prst="wedgeRoundRectCallout">
            <a:avLst>
              <a:gd name="adj1" fmla="val -55991"/>
              <a:gd name="adj2" fmla="val -54588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/>
              <a:t>二维数组元素</a:t>
            </a:r>
            <a:r>
              <a:rPr lang="en-US" altLang="zh-CN" sz="2000" b="1" dirty="0"/>
              <a:t>a[i][j]</a:t>
            </a:r>
            <a:r>
              <a:rPr lang="zh-CN" altLang="en-US" sz="2000" b="1" dirty="0"/>
              <a:t>的地址：</a:t>
            </a:r>
            <a:r>
              <a:rPr lang="en-US" altLang="zh-CN" sz="2000" b="1" dirty="0"/>
              <a:t> </a:t>
            </a:r>
            <a:endParaRPr lang="en-US" altLang="zh-CN" sz="20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&amp;a[i][j] 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a[i]+j  </a:t>
            </a:r>
            <a:r>
              <a:rPr lang="zh-CN" altLang="en-US" sz="2000" b="1" dirty="0">
                <a:solidFill>
                  <a:srgbClr val="FF0000"/>
                </a:solidFill>
              </a:rPr>
              <a:t>  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*</a:t>
            </a:r>
            <a:r>
              <a:rPr lang="en-US" altLang="zh-CN" sz="2000" b="1" dirty="0">
                <a:solidFill>
                  <a:srgbClr val="FF0000"/>
                </a:solidFill>
              </a:rPr>
              <a:t>(a+i)+j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grpSp>
        <p:nvGrpSpPr>
          <p:cNvPr id="46150" name="组合 2"/>
          <p:cNvGrpSpPr/>
          <p:nvPr/>
        </p:nvGrpSpPr>
        <p:grpSpPr>
          <a:xfrm>
            <a:off x="4224338" y="1557338"/>
            <a:ext cx="1314450" cy="2232025"/>
            <a:chOff x="2699792" y="1557610"/>
            <a:chExt cx="1314985" cy="2231430"/>
          </a:xfrm>
        </p:grpSpPr>
        <p:sp>
          <p:nvSpPr>
            <p:cNvPr id="46151" name="Rectangle 211"/>
            <p:cNvSpPr/>
            <p:nvPr/>
          </p:nvSpPr>
          <p:spPr>
            <a:xfrm>
              <a:off x="2715407" y="1557610"/>
              <a:ext cx="1284287" cy="503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pa[0]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6152" name="Rectangle 211"/>
            <p:cNvSpPr/>
            <p:nvPr/>
          </p:nvSpPr>
          <p:spPr>
            <a:xfrm>
              <a:off x="2699792" y="1989658"/>
              <a:ext cx="1284287" cy="503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pa[1]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6153" name="Rectangle 211"/>
            <p:cNvSpPr/>
            <p:nvPr/>
          </p:nvSpPr>
          <p:spPr>
            <a:xfrm>
              <a:off x="2715407" y="2421706"/>
              <a:ext cx="1284287" cy="503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pa[2]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6154" name="Rectangle 211"/>
            <p:cNvSpPr/>
            <p:nvPr/>
          </p:nvSpPr>
          <p:spPr>
            <a:xfrm>
              <a:off x="2719378" y="2853754"/>
              <a:ext cx="1284287" cy="503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pa[3]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6155" name="Rectangle 211"/>
            <p:cNvSpPr/>
            <p:nvPr/>
          </p:nvSpPr>
          <p:spPr>
            <a:xfrm>
              <a:off x="2730490" y="3285802"/>
              <a:ext cx="1284287" cy="503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pa[4]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charRg st="120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charRg st="160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9" name="Rectangle 4"/>
          <p:cNvSpPr>
            <a:spLocks noChangeArrowheads="1"/>
          </p:cNvSpPr>
          <p:nvPr/>
        </p:nvSpPr>
        <p:spPr bwMode="auto">
          <a:xfrm>
            <a:off x="28575" y="296863"/>
            <a:ext cx="8783638" cy="353822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for( i=0; i&lt;3; i++)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("%d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\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t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%d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\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t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%d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\n",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a[i][2+i], *(a[i]), *(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p+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*4+i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("\n");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for( i=0; i&lt;4; i++)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      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printf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("%d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\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t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%d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\n",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*(pa[i]), p[i]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);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   return 0;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}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5463" y="3824288"/>
            <a:ext cx="2376488" cy="15081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程序运行结果： 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3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1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14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11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12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31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21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23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38163" y="5214938"/>
            <a:ext cx="1457325" cy="15081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1       1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11       2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21       3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31       4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graphicFrame>
        <p:nvGraphicFramePr>
          <p:cNvPr id="17" name="Group 241"/>
          <p:cNvGraphicFramePr>
            <a:graphicFrameLocks noGrp="1"/>
          </p:cNvGraphicFramePr>
          <p:nvPr/>
        </p:nvGraphicFramePr>
        <p:xfrm>
          <a:off x="5232400" y="3884613"/>
          <a:ext cx="5195889" cy="2852740"/>
        </p:xfrm>
        <a:graphic>
          <a:graphicData uri="http://schemas.openxmlformats.org/drawingml/2006/table">
            <a:tbl>
              <a:tblPr/>
              <a:tblGrid>
                <a:gridCol w="208354"/>
                <a:gridCol w="1530229"/>
                <a:gridCol w="598440"/>
                <a:gridCol w="769878"/>
                <a:gridCol w="274616"/>
                <a:gridCol w="374621"/>
                <a:gridCol w="439704"/>
                <a:gridCol w="279378"/>
                <a:gridCol w="720669"/>
              </a:tblGrid>
              <a:tr h="346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&amp;a[0][0]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37FF37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22275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0481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&amp;a[0][0]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&amp;a[1][0]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&amp;a[2][0]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5138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&amp;a[3][0]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&amp;a[4][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A6A6A6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0]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A6A6A6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1477" marR="91477" marT="45704" marB="45704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47170" name="Group 164"/>
          <p:cNvGrpSpPr/>
          <p:nvPr/>
        </p:nvGrpSpPr>
        <p:grpSpPr>
          <a:xfrm>
            <a:off x="6683375" y="4232275"/>
            <a:ext cx="1152525" cy="2287588"/>
            <a:chOff x="3819" y="304"/>
            <a:chExt cx="749" cy="1702"/>
          </a:xfrm>
        </p:grpSpPr>
        <p:grpSp>
          <p:nvGrpSpPr>
            <p:cNvPr id="47196" name="Group 95"/>
            <p:cNvGrpSpPr/>
            <p:nvPr/>
          </p:nvGrpSpPr>
          <p:grpSpPr>
            <a:xfrm>
              <a:off x="3819" y="304"/>
              <a:ext cx="749" cy="1380"/>
              <a:chOff x="1985" y="2481"/>
              <a:chExt cx="1495" cy="1380"/>
            </a:xfrm>
          </p:grpSpPr>
          <p:sp>
            <p:nvSpPr>
              <p:cNvPr id="47198" name="Line 83"/>
              <p:cNvSpPr/>
              <p:nvPr/>
            </p:nvSpPr>
            <p:spPr>
              <a:xfrm>
                <a:off x="1985" y="2951"/>
                <a:ext cx="121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arrow" w="lg" len="lg"/>
              </a:ln>
            </p:spPr>
          </p:sp>
          <p:sp>
            <p:nvSpPr>
              <p:cNvPr id="47199" name="Line 84"/>
              <p:cNvSpPr/>
              <p:nvPr/>
            </p:nvSpPr>
            <p:spPr>
              <a:xfrm flipV="1">
                <a:off x="2006" y="3274"/>
                <a:ext cx="1189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arrow" w="lg" len="lg"/>
              </a:ln>
            </p:spPr>
          </p:sp>
          <p:sp>
            <p:nvSpPr>
              <p:cNvPr id="47200" name="Line 85"/>
              <p:cNvSpPr/>
              <p:nvPr/>
            </p:nvSpPr>
            <p:spPr>
              <a:xfrm>
                <a:off x="2029" y="3540"/>
                <a:ext cx="116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arrow" w="lg" len="lg"/>
              </a:ln>
            </p:spPr>
          </p:sp>
          <p:sp>
            <p:nvSpPr>
              <p:cNvPr id="47201" name="Line 86"/>
              <p:cNvSpPr/>
              <p:nvPr/>
            </p:nvSpPr>
            <p:spPr>
              <a:xfrm>
                <a:off x="2050" y="3861"/>
                <a:ext cx="1145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arrow" w="lg" len="lg"/>
              </a:ln>
            </p:spPr>
          </p:sp>
          <p:sp>
            <p:nvSpPr>
              <p:cNvPr id="47202" name="Line 94"/>
              <p:cNvSpPr/>
              <p:nvPr/>
            </p:nvSpPr>
            <p:spPr>
              <a:xfrm>
                <a:off x="3480" y="2481"/>
                <a:ext cx="0" cy="30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arrow" w="lg" len="lg"/>
              </a:ln>
            </p:spPr>
          </p:sp>
        </p:grpSp>
        <p:sp>
          <p:nvSpPr>
            <p:cNvPr id="47197" name="Line 163"/>
            <p:cNvSpPr/>
            <p:nvPr/>
          </p:nvSpPr>
          <p:spPr>
            <a:xfrm>
              <a:off x="3844" y="2006"/>
              <a:ext cx="5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arrow" w="med" len="lg"/>
            </a:ln>
          </p:spPr>
        </p:sp>
      </p:grpSp>
      <p:sp>
        <p:nvSpPr>
          <p:cNvPr id="47171" name="矩形 28"/>
          <p:cNvSpPr/>
          <p:nvPr/>
        </p:nvSpPr>
        <p:spPr>
          <a:xfrm>
            <a:off x="5172075" y="4273550"/>
            <a:ext cx="1908175" cy="349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402FC"/>
                </a:solidFill>
              </a:rPr>
              <a:t>int *pa[5];</a:t>
            </a:r>
            <a:endParaRPr lang="en-US" altLang="zh-CN" sz="2400" b="1" dirty="0">
              <a:solidFill>
                <a:srgbClr val="F402FC"/>
              </a:solidFill>
              <a:ea typeface="Times New Roman" panose="02020603050405020304" pitchFamily="18" charset="0"/>
            </a:endParaRPr>
          </a:p>
        </p:txBody>
      </p:sp>
      <p:sp>
        <p:nvSpPr>
          <p:cNvPr id="47172" name="TextBox 29"/>
          <p:cNvSpPr txBox="1"/>
          <p:nvPr/>
        </p:nvSpPr>
        <p:spPr>
          <a:xfrm>
            <a:off x="7429500" y="3503613"/>
            <a:ext cx="11176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buNone/>
            </a:pPr>
            <a:r>
              <a:rPr lang="en-US" altLang="zh-CN" sz="2000" b="1" dirty="0">
                <a:solidFill>
                  <a:srgbClr val="F402FC"/>
                </a:solidFill>
              </a:rPr>
              <a:t>int *p;</a:t>
            </a:r>
            <a:endParaRPr lang="en-US" altLang="zh-CN" sz="2000" b="1" dirty="0">
              <a:solidFill>
                <a:srgbClr val="F402FC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048750" y="4632325"/>
            <a:ext cx="576263" cy="446088"/>
          </a:xfrm>
          <a:prstGeom prst="rect">
            <a:avLst/>
          </a:prstGeom>
          <a:noFill/>
          <a:ln w="38100" cap="flat" cmpd="sng">
            <a:solidFill>
              <a:srgbClr val="F402F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31" name="矩形 30"/>
          <p:cNvSpPr/>
          <p:nvPr/>
        </p:nvSpPr>
        <p:spPr>
          <a:xfrm>
            <a:off x="9777413" y="5078413"/>
            <a:ext cx="574675" cy="349250"/>
          </a:xfrm>
          <a:prstGeom prst="rect">
            <a:avLst/>
          </a:prstGeom>
          <a:noFill/>
          <a:ln w="38100" cap="flat" cmpd="sng">
            <a:solidFill>
              <a:srgbClr val="F402F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32" name="矩形 31"/>
          <p:cNvSpPr/>
          <p:nvPr/>
        </p:nvSpPr>
        <p:spPr>
          <a:xfrm>
            <a:off x="7616825" y="5895975"/>
            <a:ext cx="574675" cy="336550"/>
          </a:xfrm>
          <a:prstGeom prst="rect">
            <a:avLst/>
          </a:prstGeom>
          <a:noFill/>
          <a:ln w="38100" cap="flat" cmpd="sng">
            <a:solidFill>
              <a:srgbClr val="F402F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33" name="矩形 32"/>
          <p:cNvSpPr/>
          <p:nvPr/>
        </p:nvSpPr>
        <p:spPr bwMode="auto">
          <a:xfrm>
            <a:off x="7616825" y="4673600"/>
            <a:ext cx="576263" cy="338138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7600950" y="5084763"/>
            <a:ext cx="576263" cy="338138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7616825" y="5499100"/>
            <a:ext cx="574675" cy="338138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599363" y="4689475"/>
            <a:ext cx="576262" cy="349250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38" name="矩形 37"/>
          <p:cNvSpPr/>
          <p:nvPr/>
        </p:nvSpPr>
        <p:spPr>
          <a:xfrm>
            <a:off x="8399463" y="5083175"/>
            <a:ext cx="576262" cy="347663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39" name="矩形 38"/>
          <p:cNvSpPr/>
          <p:nvPr/>
        </p:nvSpPr>
        <p:spPr>
          <a:xfrm>
            <a:off x="9048750" y="5481638"/>
            <a:ext cx="576263" cy="347662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40" name="矩形 39"/>
          <p:cNvSpPr/>
          <p:nvPr/>
        </p:nvSpPr>
        <p:spPr>
          <a:xfrm>
            <a:off x="1981200" y="1141413"/>
            <a:ext cx="1600200" cy="549275"/>
          </a:xfrm>
          <a:prstGeom prst="rect">
            <a:avLst/>
          </a:prstGeom>
          <a:noFill/>
          <a:ln w="38100" cap="flat" cmpd="sng">
            <a:solidFill>
              <a:srgbClr val="F402FC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41" name="矩形 40"/>
          <p:cNvSpPr/>
          <p:nvPr/>
        </p:nvSpPr>
        <p:spPr bwMode="auto">
          <a:xfrm>
            <a:off x="3810000" y="1135063"/>
            <a:ext cx="1219200" cy="555625"/>
          </a:xfrm>
          <a:prstGeom prst="rect">
            <a:avLst/>
          </a:prstGeom>
          <a:noFill/>
          <a:ln w="38100">
            <a:solidFill>
              <a:schemeClr val="accent6">
                <a:lumMod val="60000"/>
                <a:lumOff val="40000"/>
              </a:schemeClr>
            </a:solidFill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207000" y="1144588"/>
            <a:ext cx="2157413" cy="555625"/>
          </a:xfrm>
          <a:prstGeom prst="rect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43" name="矩形 42"/>
          <p:cNvSpPr/>
          <p:nvPr/>
        </p:nvSpPr>
        <p:spPr>
          <a:xfrm>
            <a:off x="7391400" y="4522788"/>
            <a:ext cx="1008063" cy="1858962"/>
          </a:xfrm>
          <a:prstGeom prst="rect">
            <a:avLst/>
          </a:prstGeom>
          <a:noFill/>
          <a:ln w="38100" cap="flat" cmpd="sng">
            <a:solidFill>
              <a:srgbClr val="CC00FF"/>
            </a:solidFill>
            <a:prstDash val="sys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44" name="矩形 43"/>
          <p:cNvSpPr/>
          <p:nvPr/>
        </p:nvSpPr>
        <p:spPr>
          <a:xfrm>
            <a:off x="7383463" y="4502150"/>
            <a:ext cx="3105150" cy="582613"/>
          </a:xfrm>
          <a:prstGeom prst="rect">
            <a:avLst/>
          </a:prstGeom>
          <a:noFill/>
          <a:ln w="38100" cap="flat" cmpd="sng">
            <a:solidFill>
              <a:srgbClr val="CC00FF"/>
            </a:solidFill>
            <a:prstDash val="sys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45" name="矩形 44"/>
          <p:cNvSpPr/>
          <p:nvPr/>
        </p:nvSpPr>
        <p:spPr>
          <a:xfrm>
            <a:off x="4767263" y="2411413"/>
            <a:ext cx="1404937" cy="511175"/>
          </a:xfrm>
          <a:prstGeom prst="rect">
            <a:avLst/>
          </a:prstGeom>
          <a:noFill/>
          <a:ln w="38100" cap="flat" cmpd="sng">
            <a:solidFill>
              <a:srgbClr val="CC00FF"/>
            </a:solidFill>
            <a:prstDash val="sys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46" name="矩形 45"/>
          <p:cNvSpPr/>
          <p:nvPr/>
        </p:nvSpPr>
        <p:spPr>
          <a:xfrm>
            <a:off x="6330950" y="2401888"/>
            <a:ext cx="749300" cy="590550"/>
          </a:xfrm>
          <a:prstGeom prst="rect">
            <a:avLst/>
          </a:prstGeom>
          <a:noFill/>
          <a:ln w="38100" cap="flat" cmpd="sng">
            <a:solidFill>
              <a:srgbClr val="CC00FF"/>
            </a:solidFill>
            <a:prstDash val="sysDash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grpSp>
        <p:nvGrpSpPr>
          <p:cNvPr id="47189" name="组合 36"/>
          <p:cNvGrpSpPr/>
          <p:nvPr/>
        </p:nvGrpSpPr>
        <p:grpSpPr>
          <a:xfrm>
            <a:off x="4125913" y="4548188"/>
            <a:ext cx="1314450" cy="2232025"/>
            <a:chOff x="2699792" y="1557610"/>
            <a:chExt cx="1314985" cy="2231430"/>
          </a:xfrm>
        </p:grpSpPr>
        <p:sp>
          <p:nvSpPr>
            <p:cNvPr id="47191" name="Rectangle 211"/>
            <p:cNvSpPr/>
            <p:nvPr/>
          </p:nvSpPr>
          <p:spPr>
            <a:xfrm>
              <a:off x="2715407" y="1557610"/>
              <a:ext cx="1284287" cy="503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pa[0]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7192" name="Rectangle 211"/>
            <p:cNvSpPr/>
            <p:nvPr/>
          </p:nvSpPr>
          <p:spPr>
            <a:xfrm>
              <a:off x="2699792" y="1989658"/>
              <a:ext cx="1284287" cy="503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pa[1]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7193" name="Rectangle 211"/>
            <p:cNvSpPr/>
            <p:nvPr/>
          </p:nvSpPr>
          <p:spPr>
            <a:xfrm>
              <a:off x="2715407" y="2421706"/>
              <a:ext cx="1284287" cy="503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pa[2]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7194" name="Rectangle 211"/>
            <p:cNvSpPr/>
            <p:nvPr/>
          </p:nvSpPr>
          <p:spPr>
            <a:xfrm>
              <a:off x="2719378" y="2853754"/>
              <a:ext cx="1284287" cy="503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pa[3]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47195" name="Rectangle 211"/>
            <p:cNvSpPr/>
            <p:nvPr/>
          </p:nvSpPr>
          <p:spPr>
            <a:xfrm>
              <a:off x="2730490" y="3285802"/>
              <a:ext cx="1284287" cy="50323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algn="ctr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latin typeface="Arial" panose="020B0604020202020204" pitchFamily="34" charset="0"/>
                </a:rPr>
                <a:t>pa[4]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47" name="圆角矩形标注 1"/>
          <p:cNvSpPr/>
          <p:nvPr/>
        </p:nvSpPr>
        <p:spPr>
          <a:xfrm>
            <a:off x="7619365" y="82550"/>
            <a:ext cx="2966085" cy="1333500"/>
          </a:xfrm>
          <a:prstGeom prst="wedgeRoundRectCallout">
            <a:avLst>
              <a:gd name="adj1" fmla="val -137197"/>
              <a:gd name="adj2" fmla="val 30666"/>
              <a:gd name="adj3" fmla="val 16667"/>
            </a:avLst>
          </a:prstGeom>
          <a:solidFill>
            <a:schemeClr val="tx2">
              <a:lumMod val="75000"/>
            </a:schemeClr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&amp;a[i][j]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a[i]+j  </a:t>
            </a:r>
            <a:r>
              <a:rPr lang="zh-CN" altLang="en-US" sz="2400" b="1" dirty="0">
                <a:solidFill>
                  <a:srgbClr val="FF0000"/>
                </a:solidFill>
              </a:rPr>
              <a:t> 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</a:rPr>
              <a:t>(a+i)+j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1" grpId="0" bldLvl="0" animBg="1"/>
      <p:bldP spid="32" grpId="0" bldLvl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bldLvl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1992313" y="0"/>
            <a:ext cx="8229600" cy="69215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b="1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§7.6 </a:t>
            </a:r>
            <a:r>
              <a:rPr lang="zh-CN" altLang="en-US" sz="4000" b="1" dirty="0">
                <a:solidFill>
                  <a:schemeClr val="tx1"/>
                </a:solidFill>
                <a:effectLst/>
              </a:rPr>
              <a:t>指针与字符串</a:t>
            </a:r>
            <a:endParaRPr lang="zh-CN" altLang="en-US" sz="4000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114300" y="709930"/>
            <a:ext cx="7636510" cy="484886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字符串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字符串常量   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printf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</a:t>
            </a:r>
            <a:r>
              <a:rPr lang="en-US" altLang="zh-CN" sz="3200" b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+mn-ea"/>
                <a:sym typeface="+mn-ea"/>
              </a:rPr>
              <a:t>"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Hello world</a:t>
            </a:r>
            <a:r>
              <a:rPr lang="en-US" altLang="zh-CN" sz="3200" b="1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cs typeface="+mn-ea"/>
                <a:sym typeface="+mn-ea"/>
              </a:rPr>
              <a:t>"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);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–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字符串变量   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</a:rPr>
              <a:t>char 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</a:rPr>
              <a:t>str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</a:rPr>
              <a:t>[10]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;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</a:rPr>
              <a:t>strcpy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</a:rPr>
              <a:t>(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str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,</a:t>
            </a:r>
            <a:r>
              <a:rPr lang="en-US" altLang="zh-CN" sz="3200" b="1" noProof="0" dirty="0" err="1">
                <a:ln>
                  <a:noFill/>
                </a:ln>
                <a:effectLst/>
                <a:uLnTx/>
                <a:uFillTx/>
                <a:cs typeface="+mn-ea"/>
                <a:sym typeface="+mn-ea"/>
              </a:rPr>
              <a:t>"</a:t>
            </a:r>
            <a:r>
              <a:rPr kumimoji="0" lang="en-US" altLang="zh-CN" sz="3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hello</a:t>
            </a:r>
            <a:r>
              <a:rPr lang="en-US" altLang="zh-CN" sz="3200" b="1" noProof="0" dirty="0" err="1">
                <a:ln>
                  <a:noFill/>
                </a:ln>
                <a:effectLst/>
                <a:uLnTx/>
                <a:uFillTx/>
                <a:cs typeface="+mn-ea"/>
                <a:sym typeface="+mn-ea"/>
              </a:rPr>
              <a:t>"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</a:rPr>
              <a:t>)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;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char *p=str;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</a:rPr>
              <a:t>//&amp;str[0]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4CD0976-72E9-4DC6-BEF9-F97495DC10A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6177915" y="2743200"/>
            <a:ext cx="4725670" cy="685800"/>
          </a:xfrm>
          <a:prstGeom prst="wedgeRoundRectCallout">
            <a:avLst>
              <a:gd name="adj1" fmla="val -97807"/>
              <a:gd name="adj2" fmla="val 89907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用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字符数组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保存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字符串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3733800" y="5181600"/>
            <a:ext cx="4846955" cy="685800"/>
          </a:xfrm>
          <a:prstGeom prst="wedgeRoundRectCallout">
            <a:avLst>
              <a:gd name="adj1" fmla="val -68594"/>
              <a:gd name="adj2" fmla="val -116481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用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字符指针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指向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</a:rPr>
              <a:t>字符串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9795" name="Group 291"/>
          <p:cNvGraphicFramePr>
            <a:graphicFrameLocks noGrp="1"/>
          </p:cNvGraphicFramePr>
          <p:nvPr/>
        </p:nvGraphicFramePr>
        <p:xfrm>
          <a:off x="546100" y="80963"/>
          <a:ext cx="4178301" cy="6732596"/>
        </p:xfrm>
        <a:graphic>
          <a:graphicData uri="http://schemas.openxmlformats.org/drawingml/2006/table">
            <a:tbl>
              <a:tblPr/>
              <a:tblGrid>
                <a:gridCol w="700352"/>
                <a:gridCol w="612729"/>
                <a:gridCol w="1044496"/>
                <a:gridCol w="684160"/>
                <a:gridCol w="1136564"/>
              </a:tblGrid>
              <a:tr h="365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变量区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常量区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en-US" sz="1200" kern="0" noProof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uLnTx/>
                          <a:uFillTx/>
                          <a:sym typeface="+mn-ea"/>
                        </a:rPr>
                        <a:t>'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\0</a:t>
                      </a:r>
                      <a:r>
                        <a:rPr lang="en-US" altLang="en-US" sz="1200" kern="0" noProof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uLnTx/>
                          <a:uFillTx/>
                          <a:sym typeface="+mn-ea"/>
                        </a:rPr>
                        <a:t>'</a:t>
                      </a:r>
                      <a:endParaRPr kumimoji="0" lang="en-US" altLang="en-US" sz="12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A014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A013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A012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A011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A010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A00F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AA0F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A00E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AA0E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36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A00D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AA0D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A00C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AA0C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en-US" sz="1200" kern="0" noProof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uLnTx/>
                          <a:uFillTx/>
                          <a:sym typeface="+mn-ea"/>
                        </a:rPr>
                        <a:t>'</a:t>
                      </a:r>
                      <a:r>
                        <a:rPr lang="en-US" altLang="zh-CN" sz="1200" b="1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\0</a:t>
                      </a:r>
                      <a:r>
                        <a:rPr lang="en-US" altLang="en-US" sz="1200" kern="0" noProof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uLnTx/>
                          <a:uFillTx/>
                          <a:sym typeface="+mn-ea"/>
                        </a:rPr>
                        <a:t>'</a:t>
                      </a:r>
                      <a:endParaRPr kumimoji="0" lang="en-US" altLang="en-US" sz="1200" b="1" i="0" u="none" strike="noStrike" kern="0" cap="none" normalizeH="0" baseline="0" noProof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A00B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AA0B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A00A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AA0A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A009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AA09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A008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AA08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无值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AA07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5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AA06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AA05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2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A004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AA04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常量区地址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AA00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AA03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AA02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AA01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12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A000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AA00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en-US" altLang="zh-CN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716" marB="4571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1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896600" y="6248400"/>
            <a:ext cx="685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CE128C-1772-491F-8555-0F7564C5D9B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47" name="Line 178"/>
          <p:cNvSpPr/>
          <p:nvPr/>
        </p:nvSpPr>
        <p:spPr>
          <a:xfrm>
            <a:off x="2814638" y="6669088"/>
            <a:ext cx="719137" cy="0"/>
          </a:xfrm>
          <a:prstGeom prst="line">
            <a:avLst/>
          </a:prstGeom>
          <a:ln w="38100" cap="flat" cmpd="sng">
            <a:solidFill>
              <a:srgbClr val="F402FC"/>
            </a:solidFill>
            <a:prstDash val="solid"/>
            <a:headEnd type="none" w="med" len="med"/>
            <a:tailEnd type="arrow" w="lg" len="lg"/>
          </a:ln>
        </p:spPr>
      </p:sp>
      <p:sp>
        <p:nvSpPr>
          <p:cNvPr id="149510" name="Rectangle 6"/>
          <p:cNvSpPr/>
          <p:nvPr/>
        </p:nvSpPr>
        <p:spPr>
          <a:xfrm>
            <a:off x="4668838" y="4056063"/>
            <a:ext cx="7191375" cy="395287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	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54438" name="Rectangle 10"/>
          <p:cNvSpPr/>
          <p:nvPr/>
        </p:nvSpPr>
        <p:spPr>
          <a:xfrm>
            <a:off x="3230563" y="-2841625"/>
            <a:ext cx="430212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54439" name="Line 11"/>
          <p:cNvSpPr/>
          <p:nvPr/>
        </p:nvSpPr>
        <p:spPr>
          <a:xfrm flipV="1">
            <a:off x="7848600" y="7961313"/>
            <a:ext cx="415925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149684" name="Freeform 180"/>
          <p:cNvSpPr/>
          <p:nvPr/>
        </p:nvSpPr>
        <p:spPr>
          <a:xfrm>
            <a:off x="2883535" y="4451350"/>
            <a:ext cx="285750" cy="2146300"/>
          </a:xfrm>
          <a:custGeom>
            <a:avLst/>
            <a:gdLst>
              <a:gd name="txL" fmla="*/ 0 w 236"/>
              <a:gd name="txT" fmla="*/ 0 h 1401"/>
              <a:gd name="txR" fmla="*/ 236 w 236"/>
              <a:gd name="txB" fmla="*/ 1401 h 140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</a:cxnLst>
            <a:rect l="txL" t="txT" r="txR" b="txB"/>
            <a:pathLst>
              <a:path w="236" h="1401">
                <a:moveTo>
                  <a:pt x="6" y="1401"/>
                </a:moveTo>
                <a:lnTo>
                  <a:pt x="236" y="1401"/>
                </a:lnTo>
                <a:lnTo>
                  <a:pt x="236" y="0"/>
                </a:lnTo>
                <a:lnTo>
                  <a:pt x="0" y="2"/>
                </a:lnTo>
              </a:path>
            </a:pathLst>
          </a:custGeom>
          <a:noFill/>
          <a:ln w="38100" cap="flat" cmpd="sng">
            <a:solidFill>
              <a:srgbClr val="F402FC">
                <a:alpha val="100000"/>
              </a:srgbClr>
            </a:solidFill>
            <a:prstDash val="solid"/>
            <a:round/>
            <a:headEnd type="none" w="med" len="med"/>
            <a:tailEnd type="arrow" w="med" len="lg"/>
          </a:ln>
        </p:spPr>
        <p:txBody>
          <a:bodyPr/>
          <a:p>
            <a:endParaRPr lang="zh-CN" altLang="en-US"/>
          </a:p>
        </p:txBody>
      </p:sp>
      <p:sp>
        <p:nvSpPr>
          <p:cNvPr id="149685" name="Freeform 181"/>
          <p:cNvSpPr/>
          <p:nvPr/>
        </p:nvSpPr>
        <p:spPr>
          <a:xfrm>
            <a:off x="2851150" y="5592763"/>
            <a:ext cx="682625" cy="1076325"/>
          </a:xfrm>
          <a:custGeom>
            <a:avLst/>
            <a:gdLst>
              <a:gd name="txL" fmla="*/ 0 w 430"/>
              <a:gd name="txT" fmla="*/ 0 h 702"/>
              <a:gd name="txR" fmla="*/ 430 w 430"/>
              <a:gd name="txB" fmla="*/ 702 h 702"/>
            </a:gdLst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30" h="702">
                <a:moveTo>
                  <a:pt x="0" y="0"/>
                </a:moveTo>
                <a:lnTo>
                  <a:pt x="238" y="0"/>
                </a:lnTo>
                <a:lnTo>
                  <a:pt x="242" y="696"/>
                </a:lnTo>
                <a:lnTo>
                  <a:pt x="430" y="702"/>
                </a:lnTo>
              </a:path>
            </a:pathLst>
          </a:custGeom>
          <a:noFill/>
          <a:ln w="38100" cap="flat" cmpd="sng">
            <a:solidFill>
              <a:schemeClr val="hlink">
                <a:alpha val="100000"/>
              </a:schemeClr>
            </a:solidFill>
            <a:prstDash val="solid"/>
            <a:round/>
            <a:headEnd type="none" w="med" len="med"/>
            <a:tailEnd type="arrow" w="med" len="lg"/>
          </a:ln>
        </p:spPr>
        <p:txBody>
          <a:bodyPr/>
          <a:p>
            <a:endParaRPr lang="zh-CN" altLang="en-US"/>
          </a:p>
        </p:txBody>
      </p:sp>
      <p:sp>
        <p:nvSpPr>
          <p:cNvPr id="149789" name="Text Box 285"/>
          <p:cNvSpPr txBox="1"/>
          <p:nvPr/>
        </p:nvSpPr>
        <p:spPr>
          <a:xfrm>
            <a:off x="1881188" y="4840288"/>
            <a:ext cx="1009650" cy="3683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AA00</a:t>
            </a:r>
            <a:endParaRPr lang="en-US" altLang="zh-CN" sz="1800" b="1" dirty="0">
              <a:latin typeface="Arial" panose="020B0604020202020204" pitchFamily="34" charset="0"/>
            </a:endParaRPr>
          </a:p>
        </p:txBody>
      </p:sp>
      <p:sp>
        <p:nvSpPr>
          <p:cNvPr id="149790" name="Text Box 286"/>
          <p:cNvSpPr txBox="1"/>
          <p:nvPr/>
        </p:nvSpPr>
        <p:spPr>
          <a:xfrm>
            <a:off x="1881188" y="6094413"/>
            <a:ext cx="1009650" cy="36988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A008</a:t>
            </a:r>
            <a:endParaRPr lang="en-US" altLang="zh-CN" sz="1800" dirty="0">
              <a:latin typeface="Arial" panose="020B0604020202020204" pitchFamily="34" charset="0"/>
            </a:endParaRPr>
          </a:p>
        </p:txBody>
      </p:sp>
      <p:sp>
        <p:nvSpPr>
          <p:cNvPr id="57517" name="Rectangle 287"/>
          <p:cNvSpPr>
            <a:spLocks noChangeArrowheads="1"/>
          </p:cNvSpPr>
          <p:nvPr/>
        </p:nvSpPr>
        <p:spPr bwMode="auto">
          <a:xfrm>
            <a:off x="4798695" y="1676400"/>
            <a:ext cx="7297420" cy="451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 *</a:t>
            </a: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</a:t>
            </a:r>
            <a:r>
              <a:rPr lang="en-US" altLang="zh-CN" sz="3600" dirty="0">
                <a:sym typeface="+mn-ea"/>
              </a:rPr>
              <a:t>"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 love china</a:t>
            </a:r>
            <a:r>
              <a:rPr lang="en-US" altLang="zh-CN" sz="3600" dirty="0">
                <a:sym typeface="+mn-ea"/>
              </a:rPr>
              <a:t>"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，*</a:t>
            </a: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sv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char  string[ ]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= </a:t>
            </a:r>
            <a:r>
              <a:rPr lang="en-US" altLang="zh-CN" sz="3600" dirty="0">
                <a:sym typeface="+mn-ea"/>
              </a:rPr>
              <a:t>"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 am a student</a:t>
            </a:r>
            <a:r>
              <a:rPr lang="en-US" altLang="zh-CN" sz="3600" dirty="0">
                <a:sym typeface="+mn-ea"/>
              </a:rPr>
              <a:t>"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sv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= string</a:t>
            </a:r>
            <a:r>
              <a:rPr lang="en-US" altLang="zh-CN" sz="36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;</a:t>
            </a:r>
            <a:r>
              <a:rPr lang="en-US" altLang="zh-CN" sz="180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//&amp;string[0]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lang="en-US" altLang="zh-CN" sz="3600" dirty="0">
                <a:solidFill>
                  <a:schemeClr val="tx1"/>
                </a:solidFill>
                <a:sym typeface="+mn-ea"/>
              </a:rPr>
              <a:t>"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%s</a:t>
            </a:r>
            <a:r>
              <a:rPr lang="en-US" altLang="zh-CN" sz="3600" dirty="0">
                <a:solidFill>
                  <a:schemeClr val="tx1"/>
                </a:solidFill>
                <a:sym typeface="+mn-ea"/>
              </a:rPr>
              <a:t>"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0" lang="en-US" altLang="zh-CN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打印出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 am a student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algn="l" defTabSz="914400" rtl="0" eaLnBrk="1" fontAlgn="base" latinLnBrk="0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360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printf</a:t>
            </a:r>
            <a:r>
              <a:rPr lang="en-US" altLang="zh-CN" sz="36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(</a:t>
            </a:r>
            <a:r>
              <a:rPr lang="en-US" altLang="zh-CN" sz="3600" dirty="0">
                <a:sym typeface="+mn-ea"/>
              </a:rPr>
              <a:t>"</a:t>
            </a:r>
            <a:r>
              <a:rPr lang="en-US" altLang="zh-CN" sz="36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%c</a:t>
            </a:r>
            <a:r>
              <a:rPr lang="en-US" altLang="zh-CN" sz="3600" dirty="0">
                <a:sym typeface="+mn-ea"/>
              </a:rPr>
              <a:t>"</a:t>
            </a:r>
            <a:r>
              <a:rPr lang="en-US" altLang="zh-CN" sz="36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,</a:t>
            </a:r>
            <a:r>
              <a:rPr lang="en-US" altLang="zh-CN" sz="360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*(sp+3)</a:t>
            </a:r>
            <a:r>
              <a:rPr lang="en-US" altLang="zh-CN" sz="360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sym typeface="+mn-ea"/>
              </a:rPr>
              <a:t>);</a:t>
            </a:r>
            <a:r>
              <a:rPr lang="en-US" altLang="zh-CN" sz="360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180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//sp[3],string[3],</a:t>
            </a:r>
            <a:r>
              <a:rPr lang="zh-CN" altLang="en-US" sz="180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都是</a:t>
            </a:r>
            <a:r>
              <a:rPr lang="en-US" altLang="zh-CN" sz="180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'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</a:t>
            </a:r>
            <a:r>
              <a:rPr lang="en-US" altLang="zh-CN" sz="180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+mn-ea"/>
              </a:rPr>
              <a:t>'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446" name="文本框 2"/>
          <p:cNvSpPr txBox="1"/>
          <p:nvPr/>
        </p:nvSpPr>
        <p:spPr>
          <a:xfrm>
            <a:off x="596900" y="6278563"/>
            <a:ext cx="84613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noProof="0" dirty="0" err="1">
                <a:ln>
                  <a:noFill/>
                </a:ln>
                <a:solidFill>
                  <a:srgbClr val="F402FC"/>
                </a:solidFill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sp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54447" name="文本框 16"/>
          <p:cNvSpPr txBox="1"/>
          <p:nvPr/>
        </p:nvSpPr>
        <p:spPr>
          <a:xfrm>
            <a:off x="0" y="4114800"/>
            <a:ext cx="147637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string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54448" name="文本框 17"/>
          <p:cNvSpPr txBox="1"/>
          <p:nvPr/>
        </p:nvSpPr>
        <p:spPr>
          <a:xfrm>
            <a:off x="628650" y="4879975"/>
            <a:ext cx="8477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FFFF00"/>
                </a:solidFill>
              </a:rPr>
              <a:t>sv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  <p:sp>
        <p:nvSpPr>
          <p:cNvPr id="2" name="圆角矩形标注 1"/>
          <p:cNvSpPr/>
          <p:nvPr/>
        </p:nvSpPr>
        <p:spPr>
          <a:xfrm>
            <a:off x="7162800" y="76200"/>
            <a:ext cx="2625090" cy="1066800"/>
          </a:xfrm>
          <a:prstGeom prst="wedgeRoundRectCallout">
            <a:avLst>
              <a:gd name="adj1" fmla="val -55200"/>
              <a:gd name="adj2" fmla="val 105833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marL="0" lvl="0" indent="0" eaLnBrk="1" hangingPunct="1">
              <a:buNone/>
            </a:pPr>
            <a:r>
              <a:rPr lang="zh-CN" altLang="en-US" sz="3200" dirty="0">
                <a:sym typeface="+mn-ea"/>
              </a:rPr>
              <a:t>指针可以指向</a:t>
            </a:r>
            <a:endParaRPr lang="zh-CN" altLang="en-US" sz="3200" dirty="0">
              <a:sym typeface="+mn-ea"/>
            </a:endParaRPr>
          </a:p>
          <a:p>
            <a:pPr marL="0" lvl="0" indent="0" eaLnBrk="1" hangingPunct="1">
              <a:buNone/>
            </a:pPr>
            <a:r>
              <a:rPr lang="zh-CN" altLang="en-US" sz="3200" dirty="0">
                <a:sym typeface="+mn-ea"/>
              </a:rPr>
              <a:t>字符串常量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9067800" y="2819400"/>
            <a:ext cx="2251710" cy="1066800"/>
          </a:xfrm>
          <a:prstGeom prst="wedgeRoundRectCallout">
            <a:avLst>
              <a:gd name="adj1" fmla="val -131669"/>
              <a:gd name="adj2" fmla="val 37797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marL="0" lvl="0" indent="0" eaLnBrk="1" hangingPunct="1">
              <a:buNone/>
            </a:pPr>
            <a:r>
              <a:rPr lang="zh-CN" altLang="en-US" sz="3200" dirty="0">
                <a:sym typeface="+mn-ea"/>
              </a:rPr>
              <a:t>也可以指向</a:t>
            </a:r>
            <a:endParaRPr lang="zh-CN" altLang="en-US" sz="3200" dirty="0">
              <a:sym typeface="+mn-ea"/>
            </a:endParaRPr>
          </a:p>
          <a:p>
            <a:pPr marL="0" lvl="0" indent="0" eaLnBrk="1" hangingPunct="1">
              <a:buNone/>
            </a:pPr>
            <a:r>
              <a:rPr lang="zh-CN" altLang="en-US" sz="3200" dirty="0">
                <a:sym typeface="+mn-ea"/>
              </a:rPr>
              <a:t>字符串变量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17">
                                            <p:txEl>
                                              <p:charRg st="68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9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17">
                                            <p:txEl>
                                              <p:charRg st="79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9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9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17">
                                            <p:txEl>
                                              <p:charRg st="92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789" grpId="0" animBg="1"/>
      <p:bldP spid="2" grpId="0" bldLvl="0" animBg="1"/>
      <p:bldP spid="2" grpId="1" animBg="1"/>
      <p:bldP spid="3" grpId="0" bldLvl="0" animBg="1"/>
      <p:bldP spid="3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4"/>
          <p:cNvSpPr txBox="1"/>
          <p:nvPr/>
        </p:nvSpPr>
        <p:spPr>
          <a:xfrm>
            <a:off x="140335" y="573405"/>
            <a:ext cx="8258810" cy="6200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1800" b="1" dirty="0"/>
              <a:t>#include&lt;stdio.h&gt;</a:t>
            </a:r>
            <a:endParaRPr lang="en-US" altLang="zh-CN" sz="1800" b="1" dirty="0"/>
          </a:p>
          <a:p>
            <a:pPr marL="342900" lvl="0" indent="-342900" eaLnBrk="1" hangingPunct="1">
              <a:buNone/>
            </a:pPr>
            <a:r>
              <a:rPr lang="en-US" altLang="zh-CN" sz="1800" b="1" dirty="0"/>
              <a:t>int main()</a:t>
            </a:r>
            <a:endParaRPr lang="en-US" altLang="zh-CN" sz="1800" b="1" dirty="0"/>
          </a:p>
          <a:p>
            <a:pPr marL="342900" lvl="0" indent="-342900" eaLnBrk="1" hangingPunct="1">
              <a:buNone/>
            </a:pPr>
            <a:r>
              <a:rPr lang="en-US" altLang="zh-CN" sz="2400" b="1" dirty="0"/>
              <a:t>{		</a:t>
            </a:r>
            <a:r>
              <a:rPr lang="en-US" altLang="zh-CN" b="1" dirty="0">
                <a:solidFill>
                  <a:schemeClr val="tx1"/>
                </a:solidFill>
              </a:rPr>
              <a:t>char str1[10],str2[10]; char *p,*q;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342900" lvl="0" indent="-342900" eaLnBrk="1" hangingPunct="1">
              <a:buNone/>
            </a:pPr>
            <a:r>
              <a:rPr lang="en-US" altLang="zh-CN" sz="2400" b="1" dirty="0"/>
              <a:t>		printf("Please input str1:\n");</a:t>
            </a:r>
            <a:endParaRPr lang="en-US" altLang="zh-CN" sz="2400" b="1" dirty="0"/>
          </a:p>
          <a:p>
            <a:pPr marL="342900" lvl="0" indent="-342900" eaLnBrk="1" hangingPunct="1">
              <a:buNone/>
            </a:pPr>
            <a:r>
              <a:rPr lang="en-US" altLang="zh-CN" sz="2400" b="1" dirty="0"/>
              <a:t>		scanf("%s",str1); 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</a:rPr>
              <a:t>输入字符串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</a:rPr>
              <a:t>str1</a:t>
            </a:r>
            <a:endParaRPr lang="en-US" altLang="zh-CN" sz="2400" b="1" dirty="0">
              <a:solidFill>
                <a:schemeClr val="tx1">
                  <a:lumMod val="65000"/>
                </a:schemeClr>
              </a:solidFill>
            </a:endParaRPr>
          </a:p>
          <a:p>
            <a:pPr marL="342900" lvl="0" indent="-342900" eaLnBrk="1" hangingPunct="1">
              <a:buNone/>
            </a:pPr>
            <a:r>
              <a:rPr lang="en-US" altLang="zh-CN" sz="2400" b="1" dirty="0"/>
              <a:t>		</a:t>
            </a:r>
            <a:r>
              <a:rPr lang="en-US" altLang="zh-CN" b="1" dirty="0">
                <a:solidFill>
                  <a:schemeClr val="hlink"/>
                </a:solidFill>
              </a:rPr>
              <a:t>p=str1-1;q=str2-1;</a:t>
            </a:r>
            <a:endParaRPr lang="en-US" altLang="zh-CN" b="1" dirty="0">
              <a:solidFill>
                <a:schemeClr val="hlink"/>
              </a:solidFill>
            </a:endParaRPr>
          </a:p>
          <a:p>
            <a:pPr marL="342900" lvl="0" indent="-342900" eaLnBrk="1" hangingPunct="1">
              <a:buNone/>
            </a:pP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F402FC"/>
                </a:solidFill>
              </a:rPr>
              <a:t>	do{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chemeClr val="hlink"/>
                </a:solidFill>
              </a:rPr>
              <a:t>p++;q++;</a:t>
            </a:r>
            <a:endParaRPr lang="en-US" altLang="zh-CN" b="1" dirty="0">
              <a:solidFill>
                <a:schemeClr val="hlink"/>
              </a:solidFill>
            </a:endParaRPr>
          </a:p>
          <a:p>
            <a:pPr marL="342900" lvl="0" indent="-342900" eaLnBrk="1" hangingPunct="1">
              <a:buNone/>
            </a:pPr>
            <a:r>
              <a:rPr lang="en-US" altLang="zh-CN" b="1" dirty="0">
                <a:solidFill>
                  <a:schemeClr val="hlink"/>
                </a:solidFill>
              </a:rPr>
              <a:t>			*q=*p; </a:t>
            </a:r>
            <a:endParaRPr lang="en-US" altLang="zh-CN" b="1" dirty="0">
              <a:solidFill>
                <a:schemeClr val="hlink"/>
              </a:solidFill>
            </a:endParaRPr>
          </a:p>
          <a:p>
            <a:pPr marL="342900" lvl="0" indent="-342900" eaLnBrk="1" hangingPunct="1">
              <a:buNone/>
            </a:pPr>
            <a:r>
              <a:rPr lang="en-US" altLang="zh-CN" b="1" dirty="0"/>
              <a:t>		</a:t>
            </a:r>
            <a:r>
              <a:rPr lang="en-US" altLang="zh-CN" b="1" dirty="0">
                <a:solidFill>
                  <a:srgbClr val="F402FC"/>
                </a:solidFill>
              </a:rPr>
              <a:t>}while(*p!=0);</a:t>
            </a:r>
            <a:r>
              <a:rPr lang="en-US" altLang="zh-CN" b="1" dirty="0"/>
              <a:t> 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65000"/>
                  </a:schemeClr>
                </a:solidFill>
              </a:rPr>
              <a:t>将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</a:rPr>
              <a:t>str1</a:t>
            </a:r>
            <a:r>
              <a:rPr lang="zh-CN" altLang="en-US" sz="1800" b="1" dirty="0">
                <a:solidFill>
                  <a:schemeClr val="tx1">
                    <a:lumMod val="65000"/>
                  </a:schemeClr>
                </a:solidFill>
              </a:rPr>
              <a:t>拷贝到</a:t>
            </a:r>
            <a:r>
              <a:rPr lang="en-US" altLang="zh-CN" sz="1800" b="1" dirty="0">
                <a:solidFill>
                  <a:schemeClr val="tx1">
                    <a:lumMod val="65000"/>
                  </a:schemeClr>
                </a:solidFill>
              </a:rPr>
              <a:t>str2</a:t>
            </a:r>
            <a:endParaRPr lang="en-US" altLang="zh-CN" sz="1800" b="1" dirty="0">
              <a:solidFill>
                <a:schemeClr val="tx1">
                  <a:lumMod val="65000"/>
                </a:schemeClr>
              </a:solidFill>
            </a:endParaRPr>
          </a:p>
          <a:p>
            <a:pPr marL="342900" lvl="0" indent="-342900" eaLnBrk="1" hangingPunct="1">
              <a:buNone/>
            </a:pPr>
            <a:r>
              <a:rPr lang="en-US" altLang="zh-CN" sz="2400" b="1" dirty="0"/>
              <a:t>		printf("str1:%s\n",str1); </a:t>
            </a:r>
            <a:r>
              <a:rPr lang="en-US" altLang="zh-CN" sz="2400" b="1" dirty="0">
                <a:solidFill>
                  <a:schemeClr val="tx1">
                    <a:lumMod val="65000"/>
                  </a:schemeClr>
                </a:solidFill>
              </a:rPr>
              <a:t>//</a:t>
            </a:r>
            <a:r>
              <a:rPr lang="zh-CN" altLang="en-US" sz="2400" b="1" dirty="0">
                <a:solidFill>
                  <a:schemeClr val="tx1">
                    <a:lumMod val="65000"/>
                  </a:schemeClr>
                </a:solidFill>
              </a:rPr>
              <a:t>输出</a:t>
            </a:r>
            <a:endParaRPr lang="zh-CN" altLang="en-US" sz="2400" b="1" dirty="0">
              <a:solidFill>
                <a:schemeClr val="tx1">
                  <a:lumMod val="65000"/>
                </a:schemeClr>
              </a:solidFill>
            </a:endParaRPr>
          </a:p>
          <a:p>
            <a:pPr marL="342900" lvl="0" indent="-342900" eaLnBrk="1" hangingPunct="1">
              <a:buNone/>
            </a:pPr>
            <a:r>
              <a:rPr lang="zh-CN" altLang="en-US" sz="2400" b="1" dirty="0"/>
              <a:t>	</a:t>
            </a:r>
            <a:r>
              <a:rPr lang="en-US" altLang="zh-CN" sz="2400" b="1" dirty="0"/>
              <a:t>	printf("str2:%s\n",str2);</a:t>
            </a:r>
            <a:endParaRPr lang="en-US" altLang="zh-CN" sz="2400" b="1" dirty="0"/>
          </a:p>
          <a:p>
            <a:pPr marL="342900" lvl="0" indent="457200" eaLnBrk="1" hangingPunct="1">
              <a:buNone/>
            </a:pPr>
            <a:r>
              <a:rPr lang="en-US" altLang="zh-CN" sz="2400" b="1" dirty="0"/>
              <a:t> </a:t>
            </a:r>
            <a:r>
              <a:rPr lang="en-US" altLang="zh-CN" sz="1800" b="1" dirty="0"/>
              <a:t>return 0;</a:t>
            </a:r>
            <a:endParaRPr lang="en-US" altLang="zh-CN" sz="1800" b="1" dirty="0"/>
          </a:p>
          <a:p>
            <a:pPr marL="342900" lvl="0" indent="-342900" eaLnBrk="1" hangingPunct="1">
              <a:buNone/>
            </a:pPr>
            <a:r>
              <a:rPr lang="en-US" altLang="zh-CN" sz="1800" b="1" dirty="0"/>
              <a:t>}</a:t>
            </a:r>
            <a:endParaRPr lang="en-US" altLang="zh-CN" sz="1800" b="1" dirty="0"/>
          </a:p>
        </p:txBody>
      </p:sp>
      <p:sp>
        <p:nvSpPr>
          <p:cNvPr id="56323" name="矩形 1"/>
          <p:cNvSpPr/>
          <p:nvPr/>
        </p:nvSpPr>
        <p:spPr>
          <a:xfrm>
            <a:off x="1066800" y="2760345"/>
            <a:ext cx="5664835" cy="2305050"/>
          </a:xfrm>
          <a:prstGeom prst="rect">
            <a:avLst/>
          </a:prstGeom>
          <a:noFill/>
          <a:ln w="38100" cap="flat" cmpd="sng">
            <a:solidFill>
              <a:srgbClr val="F402FC"/>
            </a:solidFill>
            <a:prstDash val="dash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/>
            <a:endParaRPr lang="zh-CN" altLang="en-US" b="1" dirty="0"/>
          </a:p>
        </p:txBody>
      </p:sp>
      <p:sp>
        <p:nvSpPr>
          <p:cNvPr id="56324" name="Rectangle 2"/>
          <p:cNvSpPr>
            <a:spLocks noGrp="1"/>
          </p:cNvSpPr>
          <p:nvPr>
            <p:ph idx="1"/>
          </p:nvPr>
        </p:nvSpPr>
        <p:spPr>
          <a:xfrm>
            <a:off x="228600" y="11430"/>
            <a:ext cx="12003405" cy="5619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sz="2800" b="1" dirty="0">
                <a:solidFill>
                  <a:srgbClr val="FFC000"/>
                </a:solidFill>
                <a:effectLst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ffectLst/>
              </a:rPr>
              <a:t>课堂练习</a:t>
            </a:r>
            <a:r>
              <a:rPr lang="en-US" altLang="zh-CN" sz="2800" b="1" dirty="0">
                <a:solidFill>
                  <a:srgbClr val="FFC000"/>
                </a:solidFill>
                <a:effectLst/>
              </a:rPr>
              <a:t>1】</a:t>
            </a:r>
            <a:r>
              <a:rPr lang="zh-CN" altLang="en-US" sz="2800" b="1" dirty="0">
                <a:solidFill>
                  <a:srgbClr val="FFC000"/>
                </a:solidFill>
                <a:effectLst/>
              </a:rPr>
              <a:t>编程序，把给定字符串复制到另一个字符串</a:t>
            </a:r>
            <a:r>
              <a:rPr lang="en-US" altLang="zh-CN" sz="2800" b="1" dirty="0">
                <a:solidFill>
                  <a:srgbClr val="FFC000"/>
                </a:solidFill>
                <a:effectLst/>
              </a:rPr>
              <a:t>(</a:t>
            </a:r>
            <a:r>
              <a:rPr lang="zh-CN" altLang="en-US" sz="2400" b="1" dirty="0">
                <a:solidFill>
                  <a:srgbClr val="FFC000"/>
                </a:solidFill>
                <a:effectLst/>
              </a:rPr>
              <a:t>库函数</a:t>
            </a:r>
            <a:r>
              <a:rPr lang="en-US" altLang="zh-CN" sz="2400" b="1" dirty="0">
                <a:solidFill>
                  <a:srgbClr val="FFC000"/>
                </a:solidFill>
                <a:effectLst/>
              </a:rPr>
              <a:t>strcpy</a:t>
            </a:r>
            <a:r>
              <a:rPr lang="en-US" sz="2400" b="1" dirty="0">
                <a:solidFill>
                  <a:srgbClr val="FFC000"/>
                </a:solidFill>
                <a:effectLst/>
              </a:rPr>
              <a:t>)</a:t>
            </a:r>
            <a:endParaRPr lang="en-US" sz="2400" b="1" dirty="0">
              <a:solidFill>
                <a:srgbClr val="FFC000"/>
              </a:solidFill>
              <a:effectLst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920730" y="6248400"/>
            <a:ext cx="66167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310C30-1860-44D8-90C7-A969808E3C1E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7"/>
          <p:cNvSpPr/>
          <p:nvPr/>
        </p:nvSpPr>
        <p:spPr>
          <a:xfrm>
            <a:off x="8039100" y="4554220"/>
            <a:ext cx="3889375" cy="6477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15" name="Line 8"/>
          <p:cNvSpPr/>
          <p:nvPr/>
        </p:nvSpPr>
        <p:spPr>
          <a:xfrm>
            <a:off x="8470900" y="4554220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Line 9"/>
          <p:cNvSpPr/>
          <p:nvPr/>
        </p:nvSpPr>
        <p:spPr>
          <a:xfrm>
            <a:off x="8902700" y="4554220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" name="Line 10"/>
          <p:cNvSpPr/>
          <p:nvPr/>
        </p:nvSpPr>
        <p:spPr>
          <a:xfrm>
            <a:off x="9336088" y="4554220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" name="Line 11"/>
          <p:cNvSpPr/>
          <p:nvPr/>
        </p:nvSpPr>
        <p:spPr>
          <a:xfrm>
            <a:off x="9767888" y="4554220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Line 12"/>
          <p:cNvSpPr/>
          <p:nvPr/>
        </p:nvSpPr>
        <p:spPr>
          <a:xfrm>
            <a:off x="10199688" y="4554220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" name="Line 13"/>
          <p:cNvSpPr/>
          <p:nvPr/>
        </p:nvSpPr>
        <p:spPr>
          <a:xfrm>
            <a:off x="11063288" y="4554220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Line 14"/>
          <p:cNvSpPr/>
          <p:nvPr/>
        </p:nvSpPr>
        <p:spPr>
          <a:xfrm>
            <a:off x="11495088" y="4554220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" name="Text Box 15"/>
          <p:cNvSpPr txBox="1"/>
          <p:nvPr/>
        </p:nvSpPr>
        <p:spPr>
          <a:xfrm>
            <a:off x="10271125" y="4698683"/>
            <a:ext cx="64928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……</a:t>
            </a:r>
            <a:endParaRPr lang="en-US" altLang="zh-CN" sz="1800" b="1" dirty="0"/>
          </a:p>
        </p:txBody>
      </p:sp>
      <p:sp>
        <p:nvSpPr>
          <p:cNvPr id="23" name="Text Box 16"/>
          <p:cNvSpPr txBox="1"/>
          <p:nvPr/>
        </p:nvSpPr>
        <p:spPr>
          <a:xfrm>
            <a:off x="7967663" y="4260533"/>
            <a:ext cx="6477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b="1" dirty="0"/>
              <a:t>str2</a:t>
            </a:r>
            <a:endParaRPr lang="en-US" altLang="zh-CN" sz="1800" b="1" dirty="0"/>
          </a:p>
        </p:txBody>
      </p:sp>
      <p:grpSp>
        <p:nvGrpSpPr>
          <p:cNvPr id="24" name="Group 17"/>
          <p:cNvGrpSpPr/>
          <p:nvPr/>
        </p:nvGrpSpPr>
        <p:grpSpPr>
          <a:xfrm>
            <a:off x="8039100" y="3185795"/>
            <a:ext cx="3889375" cy="647700"/>
            <a:chOff x="3152" y="436"/>
            <a:chExt cx="2450" cy="408"/>
          </a:xfrm>
        </p:grpSpPr>
        <p:sp>
          <p:nvSpPr>
            <p:cNvPr id="25" name="Rectangle 18"/>
            <p:cNvSpPr/>
            <p:nvPr/>
          </p:nvSpPr>
          <p:spPr>
            <a:xfrm>
              <a:off x="3152" y="436"/>
              <a:ext cx="2450" cy="40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26" name="Line 19"/>
            <p:cNvSpPr/>
            <p:nvPr/>
          </p:nvSpPr>
          <p:spPr>
            <a:xfrm>
              <a:off x="3424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" name="Line 20"/>
            <p:cNvSpPr/>
            <p:nvPr/>
          </p:nvSpPr>
          <p:spPr>
            <a:xfrm>
              <a:off x="3696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" name="Line 21"/>
            <p:cNvSpPr/>
            <p:nvPr/>
          </p:nvSpPr>
          <p:spPr>
            <a:xfrm>
              <a:off x="3969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" name="Line 22"/>
            <p:cNvSpPr/>
            <p:nvPr/>
          </p:nvSpPr>
          <p:spPr>
            <a:xfrm>
              <a:off x="4241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" name="Line 23"/>
            <p:cNvSpPr/>
            <p:nvPr/>
          </p:nvSpPr>
          <p:spPr>
            <a:xfrm>
              <a:off x="4513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" name="Line 24"/>
            <p:cNvSpPr/>
            <p:nvPr/>
          </p:nvSpPr>
          <p:spPr>
            <a:xfrm>
              <a:off x="5057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" name="Line 25"/>
            <p:cNvSpPr/>
            <p:nvPr/>
          </p:nvSpPr>
          <p:spPr>
            <a:xfrm>
              <a:off x="5329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" name="Text Box 26"/>
            <p:cNvSpPr txBox="1"/>
            <p:nvPr/>
          </p:nvSpPr>
          <p:spPr>
            <a:xfrm>
              <a:off x="4558" y="527"/>
              <a:ext cx="409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……</a:t>
              </a:r>
              <a:endParaRPr lang="en-US" altLang="zh-CN" sz="1800" b="1" dirty="0"/>
            </a:p>
          </p:txBody>
        </p:sp>
        <p:sp>
          <p:nvSpPr>
            <p:cNvPr id="34" name="Text Box 27"/>
            <p:cNvSpPr txBox="1"/>
            <p:nvPr/>
          </p:nvSpPr>
          <p:spPr>
            <a:xfrm>
              <a:off x="3243" y="527"/>
              <a:ext cx="1043" cy="23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/>
                <a:t>A   b    c   </a:t>
              </a:r>
              <a:r>
                <a:rPr lang="en-US" altLang="en-US" sz="1200" b="1" kern="0" noProof="0" dirty="0">
                  <a:ln>
                    <a:noFill/>
                  </a:ln>
                  <a:uLnTx/>
                  <a:uFillTx/>
                  <a:sym typeface="+mn-ea"/>
                </a:rPr>
                <a:t>'\0'</a:t>
              </a:r>
              <a:endParaRPr lang="en-US" altLang="zh-CN" sz="1200" b="1" dirty="0"/>
            </a:p>
          </p:txBody>
        </p:sp>
      </p:grpSp>
      <p:grpSp>
        <p:nvGrpSpPr>
          <p:cNvPr id="35" name="Group 28"/>
          <p:cNvGrpSpPr/>
          <p:nvPr/>
        </p:nvGrpSpPr>
        <p:grpSpPr>
          <a:xfrm>
            <a:off x="7391400" y="3835083"/>
            <a:ext cx="576263" cy="504825"/>
            <a:chOff x="2744" y="845"/>
            <a:chExt cx="363" cy="318"/>
          </a:xfrm>
        </p:grpSpPr>
        <p:sp>
          <p:nvSpPr>
            <p:cNvPr id="36" name="Line 29"/>
            <p:cNvSpPr/>
            <p:nvPr/>
          </p:nvSpPr>
          <p:spPr>
            <a:xfrm flipH="1" flipV="1">
              <a:off x="2971" y="845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" name="Text Box 30"/>
            <p:cNvSpPr txBox="1"/>
            <p:nvPr/>
          </p:nvSpPr>
          <p:spPr>
            <a:xfrm>
              <a:off x="2744" y="890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38" name="Group 31"/>
          <p:cNvGrpSpPr/>
          <p:nvPr/>
        </p:nvGrpSpPr>
        <p:grpSpPr>
          <a:xfrm>
            <a:off x="7462838" y="5201920"/>
            <a:ext cx="360362" cy="504825"/>
            <a:chOff x="2789" y="1752"/>
            <a:chExt cx="228" cy="318"/>
          </a:xfrm>
        </p:grpSpPr>
        <p:sp>
          <p:nvSpPr>
            <p:cNvPr id="39" name="Line 32"/>
            <p:cNvSpPr/>
            <p:nvPr/>
          </p:nvSpPr>
          <p:spPr>
            <a:xfrm flipH="1" flipV="1">
              <a:off x="3016" y="1752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0" name="Text Box 33"/>
            <p:cNvSpPr txBox="1"/>
            <p:nvPr/>
          </p:nvSpPr>
          <p:spPr>
            <a:xfrm>
              <a:off x="2789" y="1797"/>
              <a:ext cx="1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q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41" name="Group 34"/>
          <p:cNvGrpSpPr/>
          <p:nvPr/>
        </p:nvGrpSpPr>
        <p:grpSpPr>
          <a:xfrm>
            <a:off x="7894638" y="3833495"/>
            <a:ext cx="576262" cy="504825"/>
            <a:chOff x="2744" y="845"/>
            <a:chExt cx="363" cy="318"/>
          </a:xfrm>
        </p:grpSpPr>
        <p:sp>
          <p:nvSpPr>
            <p:cNvPr id="42" name="Line 35"/>
            <p:cNvSpPr/>
            <p:nvPr/>
          </p:nvSpPr>
          <p:spPr>
            <a:xfrm flipH="1" flipV="1">
              <a:off x="2971" y="845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" name="Text Box 36"/>
            <p:cNvSpPr txBox="1"/>
            <p:nvPr/>
          </p:nvSpPr>
          <p:spPr>
            <a:xfrm>
              <a:off x="2744" y="890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44" name="Group 37"/>
          <p:cNvGrpSpPr/>
          <p:nvPr/>
        </p:nvGrpSpPr>
        <p:grpSpPr>
          <a:xfrm>
            <a:off x="8399463" y="3835083"/>
            <a:ext cx="576262" cy="504825"/>
            <a:chOff x="2744" y="845"/>
            <a:chExt cx="363" cy="318"/>
          </a:xfrm>
        </p:grpSpPr>
        <p:sp>
          <p:nvSpPr>
            <p:cNvPr id="45" name="Line 38"/>
            <p:cNvSpPr/>
            <p:nvPr/>
          </p:nvSpPr>
          <p:spPr>
            <a:xfrm flipH="1" flipV="1">
              <a:off x="2971" y="845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6" name="Text Box 39"/>
            <p:cNvSpPr txBox="1"/>
            <p:nvPr/>
          </p:nvSpPr>
          <p:spPr>
            <a:xfrm>
              <a:off x="2744" y="890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47" name="Group 40"/>
          <p:cNvGrpSpPr/>
          <p:nvPr/>
        </p:nvGrpSpPr>
        <p:grpSpPr>
          <a:xfrm>
            <a:off x="8831263" y="3835083"/>
            <a:ext cx="576262" cy="504825"/>
            <a:chOff x="2744" y="845"/>
            <a:chExt cx="363" cy="318"/>
          </a:xfrm>
        </p:grpSpPr>
        <p:sp>
          <p:nvSpPr>
            <p:cNvPr id="48" name="Line 41"/>
            <p:cNvSpPr/>
            <p:nvPr/>
          </p:nvSpPr>
          <p:spPr>
            <a:xfrm flipH="1" flipV="1">
              <a:off x="2971" y="845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9" name="Text Box 42"/>
            <p:cNvSpPr txBox="1"/>
            <p:nvPr/>
          </p:nvSpPr>
          <p:spPr>
            <a:xfrm>
              <a:off x="2744" y="890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50" name="Group 43"/>
          <p:cNvGrpSpPr/>
          <p:nvPr/>
        </p:nvGrpSpPr>
        <p:grpSpPr>
          <a:xfrm>
            <a:off x="9191625" y="3833495"/>
            <a:ext cx="576263" cy="504825"/>
            <a:chOff x="2744" y="845"/>
            <a:chExt cx="363" cy="318"/>
          </a:xfrm>
        </p:grpSpPr>
        <p:sp>
          <p:nvSpPr>
            <p:cNvPr id="51" name="Line 44"/>
            <p:cNvSpPr/>
            <p:nvPr/>
          </p:nvSpPr>
          <p:spPr>
            <a:xfrm flipH="1" flipV="1">
              <a:off x="2971" y="845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" name="Text Box 45"/>
            <p:cNvSpPr txBox="1"/>
            <p:nvPr/>
          </p:nvSpPr>
          <p:spPr>
            <a:xfrm>
              <a:off x="2744" y="890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53" name="Group 46"/>
          <p:cNvGrpSpPr/>
          <p:nvPr/>
        </p:nvGrpSpPr>
        <p:grpSpPr>
          <a:xfrm>
            <a:off x="7894638" y="5201920"/>
            <a:ext cx="360362" cy="504825"/>
            <a:chOff x="2789" y="1752"/>
            <a:chExt cx="228" cy="318"/>
          </a:xfrm>
        </p:grpSpPr>
        <p:sp>
          <p:nvSpPr>
            <p:cNvPr id="54" name="Line 47"/>
            <p:cNvSpPr/>
            <p:nvPr/>
          </p:nvSpPr>
          <p:spPr>
            <a:xfrm flipH="1" flipV="1">
              <a:off x="3016" y="1752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" name="Text Box 48"/>
            <p:cNvSpPr txBox="1"/>
            <p:nvPr/>
          </p:nvSpPr>
          <p:spPr>
            <a:xfrm>
              <a:off x="2789" y="1797"/>
              <a:ext cx="1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q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56" name="Group 49"/>
          <p:cNvGrpSpPr/>
          <p:nvPr/>
        </p:nvGrpSpPr>
        <p:grpSpPr>
          <a:xfrm>
            <a:off x="8328025" y="5201920"/>
            <a:ext cx="360363" cy="504825"/>
            <a:chOff x="2789" y="1752"/>
            <a:chExt cx="228" cy="318"/>
          </a:xfrm>
        </p:grpSpPr>
        <p:sp>
          <p:nvSpPr>
            <p:cNvPr id="57" name="Line 50"/>
            <p:cNvSpPr/>
            <p:nvPr/>
          </p:nvSpPr>
          <p:spPr>
            <a:xfrm flipH="1" flipV="1">
              <a:off x="3016" y="1752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8" name="Text Box 51"/>
            <p:cNvSpPr txBox="1"/>
            <p:nvPr/>
          </p:nvSpPr>
          <p:spPr>
            <a:xfrm>
              <a:off x="2789" y="1797"/>
              <a:ext cx="1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q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59" name="Group 52"/>
          <p:cNvGrpSpPr/>
          <p:nvPr/>
        </p:nvGrpSpPr>
        <p:grpSpPr>
          <a:xfrm>
            <a:off x="8759825" y="5201920"/>
            <a:ext cx="360363" cy="504825"/>
            <a:chOff x="2789" y="1752"/>
            <a:chExt cx="228" cy="318"/>
          </a:xfrm>
        </p:grpSpPr>
        <p:sp>
          <p:nvSpPr>
            <p:cNvPr id="60" name="Line 53"/>
            <p:cNvSpPr/>
            <p:nvPr/>
          </p:nvSpPr>
          <p:spPr>
            <a:xfrm flipH="1" flipV="1">
              <a:off x="3016" y="1752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1" name="Text Box 54"/>
            <p:cNvSpPr txBox="1"/>
            <p:nvPr/>
          </p:nvSpPr>
          <p:spPr>
            <a:xfrm>
              <a:off x="2789" y="1797"/>
              <a:ext cx="1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q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62" name="Group 55"/>
          <p:cNvGrpSpPr/>
          <p:nvPr/>
        </p:nvGrpSpPr>
        <p:grpSpPr>
          <a:xfrm>
            <a:off x="9191625" y="5201920"/>
            <a:ext cx="360363" cy="504825"/>
            <a:chOff x="2789" y="1752"/>
            <a:chExt cx="228" cy="318"/>
          </a:xfrm>
        </p:grpSpPr>
        <p:sp>
          <p:nvSpPr>
            <p:cNvPr id="63" name="Line 56"/>
            <p:cNvSpPr/>
            <p:nvPr/>
          </p:nvSpPr>
          <p:spPr>
            <a:xfrm flipH="1" flipV="1">
              <a:off x="3016" y="1752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4" name="Text Box 57"/>
            <p:cNvSpPr txBox="1"/>
            <p:nvPr/>
          </p:nvSpPr>
          <p:spPr>
            <a:xfrm>
              <a:off x="2789" y="1797"/>
              <a:ext cx="1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q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sp>
        <p:nvSpPr>
          <p:cNvPr id="65" name="Text Box 58"/>
          <p:cNvSpPr txBox="1"/>
          <p:nvPr/>
        </p:nvSpPr>
        <p:spPr>
          <a:xfrm>
            <a:off x="8039100" y="4698683"/>
            <a:ext cx="431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600" b="1" dirty="0"/>
              <a:t>A</a:t>
            </a:r>
            <a:endParaRPr lang="en-US" altLang="zh-CN" sz="1600" b="1" dirty="0"/>
          </a:p>
        </p:txBody>
      </p:sp>
      <p:sp>
        <p:nvSpPr>
          <p:cNvPr id="66" name="Text Box 59"/>
          <p:cNvSpPr txBox="1"/>
          <p:nvPr/>
        </p:nvSpPr>
        <p:spPr>
          <a:xfrm>
            <a:off x="8470900" y="4698683"/>
            <a:ext cx="431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600" b="1" dirty="0"/>
              <a:t>b</a:t>
            </a:r>
            <a:endParaRPr lang="en-US" altLang="zh-CN" sz="1600" b="1" dirty="0"/>
          </a:p>
        </p:txBody>
      </p:sp>
      <p:sp>
        <p:nvSpPr>
          <p:cNvPr id="67" name="Text Box 60"/>
          <p:cNvSpPr txBox="1"/>
          <p:nvPr/>
        </p:nvSpPr>
        <p:spPr>
          <a:xfrm>
            <a:off x="8902700" y="4698683"/>
            <a:ext cx="431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600" b="1" dirty="0"/>
              <a:t>c</a:t>
            </a:r>
            <a:endParaRPr lang="en-US" altLang="zh-CN" sz="1600" b="1" dirty="0"/>
          </a:p>
        </p:txBody>
      </p:sp>
      <p:sp>
        <p:nvSpPr>
          <p:cNvPr id="68" name="Text Box 61"/>
          <p:cNvSpPr txBox="1"/>
          <p:nvPr/>
        </p:nvSpPr>
        <p:spPr>
          <a:xfrm>
            <a:off x="9247188" y="4716145"/>
            <a:ext cx="538162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en-US" sz="1200" b="1" kern="0" noProof="0" dirty="0">
                <a:ln>
                  <a:noFill/>
                </a:ln>
                <a:uLnTx/>
                <a:uFillTx/>
                <a:sym typeface="+mn-ea"/>
              </a:rPr>
              <a:t>'\0'</a:t>
            </a:r>
            <a:endParaRPr lang="en-US" altLang="zh-CN" sz="1200" b="1" dirty="0"/>
          </a:p>
        </p:txBody>
      </p:sp>
      <p:sp>
        <p:nvSpPr>
          <p:cNvPr id="69" name="Text Box 62"/>
          <p:cNvSpPr txBox="1"/>
          <p:nvPr/>
        </p:nvSpPr>
        <p:spPr>
          <a:xfrm>
            <a:off x="7894638" y="2892108"/>
            <a:ext cx="6477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b="1" dirty="0"/>
              <a:t>str1</a:t>
            </a:r>
            <a:endParaRPr lang="en-US" altLang="zh-CN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66" grpId="0"/>
      <p:bldP spid="67" grpId="0"/>
      <p:bldP spid="6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Rectangle 2"/>
          <p:cNvSpPr txBox="1">
            <a:spLocks noChangeArrowheads="1"/>
          </p:cNvSpPr>
          <p:nvPr/>
        </p:nvSpPr>
        <p:spPr>
          <a:xfrm>
            <a:off x="6350" y="168275"/>
            <a:ext cx="11801475" cy="4060825"/>
          </a:xfrm>
          <a:prstGeom prst="rect">
            <a:avLst/>
          </a:prstGeom>
        </p:spPr>
        <p:txBody>
          <a:bodyPr l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课堂练习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2】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编函数，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把给定字符串复制到另一个字符串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类似练习：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A6A6A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P213 7.9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A6A6A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str_copy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,char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*p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复制函数</a:t>
            </a:r>
            <a:endParaRPr kumimoji="0" lang="en-US" altLang="en-US" sz="2800" b="1" i="0" u="none" strike="noStrike" kern="0" cap="none" spc="0" normalizeH="0" baseline="0" noProof="0" dirty="0" err="1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	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; *p!=0; </a:t>
            </a: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p++,q++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			</a:t>
            </a:r>
            <a:endParaRPr kumimoji="0" lang="en-US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*q=*p; </a:t>
            </a:r>
            <a:endParaRPr kumimoji="0" lang="en-US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*q=</a:t>
            </a:r>
            <a:r>
              <a:rPr lang="en-US" altLang="en-US" sz="3200" kern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sym typeface="+mn-ea"/>
              </a:rPr>
              <a:t>0</a:t>
            </a: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402F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很重要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，也可以写成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*q=</a:t>
            </a:r>
            <a:r>
              <a:rPr lang="zh-CN" altLang="en-US" sz="20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sym typeface="+mn-ea"/>
              </a:rPr>
              <a:t>'\0'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en-US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418" name="Rectangle 7"/>
          <p:cNvSpPr/>
          <p:nvPr/>
        </p:nvSpPr>
        <p:spPr>
          <a:xfrm>
            <a:off x="7239000" y="4867275"/>
            <a:ext cx="3889375" cy="647700"/>
          </a:xfrm>
          <a:prstGeom prst="rect">
            <a:avLst/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/>
            <a:endParaRPr lang="zh-CN" altLang="en-US" b="1" dirty="0"/>
          </a:p>
        </p:txBody>
      </p:sp>
      <p:sp>
        <p:nvSpPr>
          <p:cNvPr id="60419" name="Line 8"/>
          <p:cNvSpPr/>
          <p:nvPr/>
        </p:nvSpPr>
        <p:spPr>
          <a:xfrm>
            <a:off x="7670800" y="4867275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20" name="Line 9"/>
          <p:cNvSpPr/>
          <p:nvPr/>
        </p:nvSpPr>
        <p:spPr>
          <a:xfrm>
            <a:off x="8102600" y="4867275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21" name="Line 10"/>
          <p:cNvSpPr/>
          <p:nvPr/>
        </p:nvSpPr>
        <p:spPr>
          <a:xfrm>
            <a:off x="8535988" y="4867275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22" name="Line 11"/>
          <p:cNvSpPr/>
          <p:nvPr/>
        </p:nvSpPr>
        <p:spPr>
          <a:xfrm>
            <a:off x="8967788" y="4867275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23" name="Line 12"/>
          <p:cNvSpPr/>
          <p:nvPr/>
        </p:nvSpPr>
        <p:spPr>
          <a:xfrm>
            <a:off x="9399588" y="4867275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24" name="Line 13"/>
          <p:cNvSpPr/>
          <p:nvPr/>
        </p:nvSpPr>
        <p:spPr>
          <a:xfrm>
            <a:off x="10263188" y="4867275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25" name="Line 14"/>
          <p:cNvSpPr/>
          <p:nvPr/>
        </p:nvSpPr>
        <p:spPr>
          <a:xfrm>
            <a:off x="10694988" y="4867275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0426" name="Text Box 15"/>
          <p:cNvSpPr txBox="1"/>
          <p:nvPr/>
        </p:nvSpPr>
        <p:spPr>
          <a:xfrm>
            <a:off x="9471025" y="5011738"/>
            <a:ext cx="64928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latin typeface="Arial" panose="020B0604020202020204" pitchFamily="34" charset="0"/>
              </a:rPr>
              <a:t>……</a:t>
            </a:r>
            <a:endParaRPr lang="en-US" altLang="zh-CN" sz="1800" b="1" dirty="0"/>
          </a:p>
        </p:txBody>
      </p:sp>
      <p:sp>
        <p:nvSpPr>
          <p:cNvPr id="60427" name="Text Box 16"/>
          <p:cNvSpPr txBox="1"/>
          <p:nvPr/>
        </p:nvSpPr>
        <p:spPr>
          <a:xfrm>
            <a:off x="7167563" y="4573588"/>
            <a:ext cx="6477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b="1" dirty="0"/>
              <a:t>str2</a:t>
            </a:r>
            <a:endParaRPr lang="en-US" altLang="zh-CN" sz="1800" b="1" dirty="0"/>
          </a:p>
        </p:txBody>
      </p:sp>
      <p:grpSp>
        <p:nvGrpSpPr>
          <p:cNvPr id="60428" name="Group 17"/>
          <p:cNvGrpSpPr/>
          <p:nvPr/>
        </p:nvGrpSpPr>
        <p:grpSpPr>
          <a:xfrm>
            <a:off x="7239000" y="3105150"/>
            <a:ext cx="3889375" cy="647700"/>
            <a:chOff x="3152" y="436"/>
            <a:chExt cx="2450" cy="408"/>
          </a:xfrm>
        </p:grpSpPr>
        <p:sp>
          <p:nvSpPr>
            <p:cNvPr id="60460" name="Rectangle 18"/>
            <p:cNvSpPr/>
            <p:nvPr/>
          </p:nvSpPr>
          <p:spPr>
            <a:xfrm>
              <a:off x="3152" y="436"/>
              <a:ext cx="2450" cy="408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0" lvl="0" indent="0" eaLnBrk="1" hangingPunct="1"/>
              <a:endParaRPr lang="zh-CN" altLang="en-US" b="1" dirty="0"/>
            </a:p>
          </p:txBody>
        </p:sp>
        <p:sp>
          <p:nvSpPr>
            <p:cNvPr id="60461" name="Line 19"/>
            <p:cNvSpPr/>
            <p:nvPr/>
          </p:nvSpPr>
          <p:spPr>
            <a:xfrm>
              <a:off x="3424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2" name="Line 20"/>
            <p:cNvSpPr/>
            <p:nvPr/>
          </p:nvSpPr>
          <p:spPr>
            <a:xfrm>
              <a:off x="3696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3" name="Line 21"/>
            <p:cNvSpPr/>
            <p:nvPr/>
          </p:nvSpPr>
          <p:spPr>
            <a:xfrm>
              <a:off x="3969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4" name="Line 22"/>
            <p:cNvSpPr/>
            <p:nvPr/>
          </p:nvSpPr>
          <p:spPr>
            <a:xfrm>
              <a:off x="4241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5" name="Line 23"/>
            <p:cNvSpPr/>
            <p:nvPr/>
          </p:nvSpPr>
          <p:spPr>
            <a:xfrm>
              <a:off x="4513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6" name="Line 24"/>
            <p:cNvSpPr/>
            <p:nvPr/>
          </p:nvSpPr>
          <p:spPr>
            <a:xfrm>
              <a:off x="5057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7" name="Line 25"/>
            <p:cNvSpPr/>
            <p:nvPr/>
          </p:nvSpPr>
          <p:spPr>
            <a:xfrm>
              <a:off x="5329" y="436"/>
              <a:ext cx="0" cy="40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0468" name="Text Box 26"/>
            <p:cNvSpPr txBox="1"/>
            <p:nvPr/>
          </p:nvSpPr>
          <p:spPr>
            <a:xfrm>
              <a:off x="4558" y="527"/>
              <a:ext cx="409" cy="231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latin typeface="Arial" panose="020B0604020202020204" pitchFamily="34" charset="0"/>
                </a:rPr>
                <a:t>……</a:t>
              </a:r>
              <a:endParaRPr lang="en-US" altLang="zh-CN" sz="1800" b="1" dirty="0"/>
            </a:p>
          </p:txBody>
        </p:sp>
        <p:sp>
          <p:nvSpPr>
            <p:cNvPr id="60469" name="Text Box 27"/>
            <p:cNvSpPr txBox="1"/>
            <p:nvPr/>
          </p:nvSpPr>
          <p:spPr>
            <a:xfrm>
              <a:off x="3243" y="527"/>
              <a:ext cx="1043" cy="232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/>
                <a:t>A   b    c   </a:t>
              </a:r>
              <a:r>
                <a:rPr lang="en-US" altLang="en-US" sz="1200" b="1" kern="0" noProof="0" dirty="0">
                  <a:ln>
                    <a:noFill/>
                  </a:ln>
                  <a:uLnTx/>
                  <a:uFillTx/>
                  <a:sym typeface="+mn-ea"/>
                </a:rPr>
                <a:t>'\0'</a:t>
              </a:r>
              <a:endParaRPr lang="en-US" altLang="zh-CN" sz="1200" b="1" dirty="0"/>
            </a:p>
          </p:txBody>
        </p:sp>
      </p:grpSp>
      <p:grpSp>
        <p:nvGrpSpPr>
          <p:cNvPr id="3" name="Group 34"/>
          <p:cNvGrpSpPr/>
          <p:nvPr/>
        </p:nvGrpSpPr>
        <p:grpSpPr>
          <a:xfrm>
            <a:off x="7094538" y="3752850"/>
            <a:ext cx="576262" cy="504825"/>
            <a:chOff x="2745" y="845"/>
            <a:chExt cx="363" cy="318"/>
          </a:xfrm>
        </p:grpSpPr>
        <p:sp>
          <p:nvSpPr>
            <p:cNvPr id="60458" name="Line 35"/>
            <p:cNvSpPr/>
            <p:nvPr/>
          </p:nvSpPr>
          <p:spPr>
            <a:xfrm flipH="1" flipV="1">
              <a:off x="2971" y="845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59" name="Text Box 36"/>
            <p:cNvSpPr txBox="1"/>
            <p:nvPr/>
          </p:nvSpPr>
          <p:spPr>
            <a:xfrm>
              <a:off x="2744" y="890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4" name="Group 37"/>
          <p:cNvGrpSpPr/>
          <p:nvPr/>
        </p:nvGrpSpPr>
        <p:grpSpPr>
          <a:xfrm>
            <a:off x="7599363" y="3754438"/>
            <a:ext cx="576262" cy="504825"/>
            <a:chOff x="2744" y="845"/>
            <a:chExt cx="363" cy="318"/>
          </a:xfrm>
        </p:grpSpPr>
        <p:sp>
          <p:nvSpPr>
            <p:cNvPr id="60456" name="Line 38"/>
            <p:cNvSpPr/>
            <p:nvPr/>
          </p:nvSpPr>
          <p:spPr>
            <a:xfrm flipH="1" flipV="1">
              <a:off x="2971" y="845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57" name="Text Box 39"/>
            <p:cNvSpPr txBox="1"/>
            <p:nvPr/>
          </p:nvSpPr>
          <p:spPr>
            <a:xfrm>
              <a:off x="2744" y="890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5" name="Group 40"/>
          <p:cNvGrpSpPr/>
          <p:nvPr/>
        </p:nvGrpSpPr>
        <p:grpSpPr>
          <a:xfrm>
            <a:off x="8031163" y="3754438"/>
            <a:ext cx="576262" cy="504825"/>
            <a:chOff x="2744" y="845"/>
            <a:chExt cx="363" cy="318"/>
          </a:xfrm>
        </p:grpSpPr>
        <p:sp>
          <p:nvSpPr>
            <p:cNvPr id="60454" name="Line 41"/>
            <p:cNvSpPr/>
            <p:nvPr/>
          </p:nvSpPr>
          <p:spPr>
            <a:xfrm flipH="1" flipV="1">
              <a:off x="2971" y="845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55" name="Text Box 42"/>
            <p:cNvSpPr txBox="1"/>
            <p:nvPr/>
          </p:nvSpPr>
          <p:spPr>
            <a:xfrm>
              <a:off x="2744" y="890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6" name="Group 43"/>
          <p:cNvGrpSpPr/>
          <p:nvPr/>
        </p:nvGrpSpPr>
        <p:grpSpPr>
          <a:xfrm>
            <a:off x="8391525" y="3752850"/>
            <a:ext cx="576263" cy="504825"/>
            <a:chOff x="2744" y="845"/>
            <a:chExt cx="363" cy="318"/>
          </a:xfrm>
        </p:grpSpPr>
        <p:sp>
          <p:nvSpPr>
            <p:cNvPr id="60452" name="Line 44"/>
            <p:cNvSpPr/>
            <p:nvPr/>
          </p:nvSpPr>
          <p:spPr>
            <a:xfrm flipH="1" flipV="1">
              <a:off x="2971" y="845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53" name="Text Box 45"/>
            <p:cNvSpPr txBox="1"/>
            <p:nvPr/>
          </p:nvSpPr>
          <p:spPr>
            <a:xfrm>
              <a:off x="2744" y="890"/>
              <a:ext cx="3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p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7" name="Group 46"/>
          <p:cNvGrpSpPr/>
          <p:nvPr/>
        </p:nvGrpSpPr>
        <p:grpSpPr>
          <a:xfrm>
            <a:off x="7094538" y="5514975"/>
            <a:ext cx="360362" cy="504825"/>
            <a:chOff x="2789" y="1752"/>
            <a:chExt cx="228" cy="318"/>
          </a:xfrm>
        </p:grpSpPr>
        <p:sp>
          <p:nvSpPr>
            <p:cNvPr id="60450" name="Line 47"/>
            <p:cNvSpPr/>
            <p:nvPr/>
          </p:nvSpPr>
          <p:spPr>
            <a:xfrm flipH="1" flipV="1">
              <a:off x="3016" y="1752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51" name="Text Box 48"/>
            <p:cNvSpPr txBox="1"/>
            <p:nvPr/>
          </p:nvSpPr>
          <p:spPr>
            <a:xfrm>
              <a:off x="2789" y="1797"/>
              <a:ext cx="1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q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8" name="Group 49"/>
          <p:cNvGrpSpPr/>
          <p:nvPr/>
        </p:nvGrpSpPr>
        <p:grpSpPr>
          <a:xfrm>
            <a:off x="7527925" y="5514975"/>
            <a:ext cx="360363" cy="504825"/>
            <a:chOff x="2789" y="1752"/>
            <a:chExt cx="228" cy="318"/>
          </a:xfrm>
        </p:grpSpPr>
        <p:sp>
          <p:nvSpPr>
            <p:cNvPr id="60448" name="Line 50"/>
            <p:cNvSpPr/>
            <p:nvPr/>
          </p:nvSpPr>
          <p:spPr>
            <a:xfrm flipH="1" flipV="1">
              <a:off x="3016" y="1752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49" name="Text Box 51"/>
            <p:cNvSpPr txBox="1"/>
            <p:nvPr/>
          </p:nvSpPr>
          <p:spPr>
            <a:xfrm>
              <a:off x="2789" y="1797"/>
              <a:ext cx="1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q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9" name="Group 52"/>
          <p:cNvGrpSpPr/>
          <p:nvPr/>
        </p:nvGrpSpPr>
        <p:grpSpPr>
          <a:xfrm>
            <a:off x="7959725" y="5514975"/>
            <a:ext cx="360363" cy="504825"/>
            <a:chOff x="2789" y="1752"/>
            <a:chExt cx="228" cy="318"/>
          </a:xfrm>
        </p:grpSpPr>
        <p:sp>
          <p:nvSpPr>
            <p:cNvPr id="60446" name="Line 53"/>
            <p:cNvSpPr/>
            <p:nvPr/>
          </p:nvSpPr>
          <p:spPr>
            <a:xfrm flipH="1" flipV="1">
              <a:off x="3016" y="1752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47" name="Text Box 54"/>
            <p:cNvSpPr txBox="1"/>
            <p:nvPr/>
          </p:nvSpPr>
          <p:spPr>
            <a:xfrm>
              <a:off x="2789" y="1797"/>
              <a:ext cx="1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q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grpSp>
        <p:nvGrpSpPr>
          <p:cNvPr id="10" name="Group 55"/>
          <p:cNvGrpSpPr/>
          <p:nvPr/>
        </p:nvGrpSpPr>
        <p:grpSpPr>
          <a:xfrm>
            <a:off x="8391525" y="5514975"/>
            <a:ext cx="360363" cy="504825"/>
            <a:chOff x="2789" y="1752"/>
            <a:chExt cx="228" cy="318"/>
          </a:xfrm>
        </p:grpSpPr>
        <p:sp>
          <p:nvSpPr>
            <p:cNvPr id="60444" name="Line 56"/>
            <p:cNvSpPr/>
            <p:nvPr/>
          </p:nvSpPr>
          <p:spPr>
            <a:xfrm flipH="1" flipV="1">
              <a:off x="3016" y="1752"/>
              <a:ext cx="1" cy="3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0445" name="Text Box 57"/>
            <p:cNvSpPr txBox="1"/>
            <p:nvPr/>
          </p:nvSpPr>
          <p:spPr>
            <a:xfrm>
              <a:off x="2789" y="1797"/>
              <a:ext cx="1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effectLst/>
                  <a:latin typeface="+mn-lt"/>
                  <a:ea typeface="+mn-ea"/>
                </a:defRPr>
              </a:lvl5pPr>
            </a:lstStyle>
            <a:p>
              <a:pPr marL="342900" lvl="0" indent="-342900" eaLnBrk="1" hangingPunct="1">
                <a:spcBef>
                  <a:spcPct val="50000"/>
                </a:spcBef>
                <a:buNone/>
              </a:pPr>
              <a:r>
                <a:rPr lang="en-US" altLang="zh-CN" sz="1800" b="1" dirty="0">
                  <a:solidFill>
                    <a:schemeClr val="hlink"/>
                  </a:solidFill>
                </a:rPr>
                <a:t>q</a:t>
              </a:r>
              <a:endParaRPr lang="en-US" altLang="zh-CN" sz="1800" b="1" dirty="0">
                <a:solidFill>
                  <a:schemeClr val="hlink"/>
                </a:solidFill>
              </a:endParaRPr>
            </a:p>
          </p:txBody>
        </p:sp>
      </p:grpSp>
      <p:sp>
        <p:nvSpPr>
          <p:cNvPr id="53" name="Text Box 58"/>
          <p:cNvSpPr txBox="1"/>
          <p:nvPr/>
        </p:nvSpPr>
        <p:spPr>
          <a:xfrm>
            <a:off x="7239000" y="5011738"/>
            <a:ext cx="431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600" b="1" dirty="0"/>
              <a:t>A</a:t>
            </a:r>
            <a:endParaRPr lang="en-US" altLang="zh-CN" sz="1600" b="1" dirty="0"/>
          </a:p>
        </p:txBody>
      </p:sp>
      <p:sp>
        <p:nvSpPr>
          <p:cNvPr id="54" name="Text Box 59"/>
          <p:cNvSpPr txBox="1"/>
          <p:nvPr/>
        </p:nvSpPr>
        <p:spPr>
          <a:xfrm>
            <a:off x="7670800" y="5011738"/>
            <a:ext cx="431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600" b="1" dirty="0"/>
              <a:t>b</a:t>
            </a:r>
            <a:endParaRPr lang="en-US" altLang="zh-CN" sz="1600" b="1" dirty="0"/>
          </a:p>
        </p:txBody>
      </p:sp>
      <p:sp>
        <p:nvSpPr>
          <p:cNvPr id="55" name="Text Box 60"/>
          <p:cNvSpPr txBox="1"/>
          <p:nvPr/>
        </p:nvSpPr>
        <p:spPr>
          <a:xfrm>
            <a:off x="8102600" y="5011738"/>
            <a:ext cx="431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600" b="1" dirty="0"/>
              <a:t>c</a:t>
            </a:r>
            <a:endParaRPr lang="en-US" altLang="zh-CN" sz="1600" b="1" dirty="0"/>
          </a:p>
        </p:txBody>
      </p:sp>
      <p:sp>
        <p:nvSpPr>
          <p:cNvPr id="56" name="Text Box 61"/>
          <p:cNvSpPr txBox="1"/>
          <p:nvPr/>
        </p:nvSpPr>
        <p:spPr>
          <a:xfrm>
            <a:off x="8447088" y="5029200"/>
            <a:ext cx="538162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en-US" sz="1200" b="1" kern="0" noProof="0" dirty="0">
                <a:ln>
                  <a:noFill/>
                </a:ln>
                <a:solidFill>
                  <a:srgbClr val="F402FC"/>
                </a:solidFill>
                <a:uLnTx/>
                <a:uFillTx/>
                <a:sym typeface="+mn-ea"/>
              </a:rPr>
              <a:t>'</a:t>
            </a:r>
            <a:r>
              <a:rPr lang="en-US" altLang="zh-CN" sz="1200" b="1" dirty="0">
                <a:solidFill>
                  <a:srgbClr val="F402FC"/>
                </a:solidFill>
              </a:rPr>
              <a:t>\0</a:t>
            </a:r>
            <a:r>
              <a:rPr lang="en-US" altLang="en-US" sz="1200" b="1" kern="0" noProof="0" dirty="0">
                <a:ln>
                  <a:noFill/>
                </a:ln>
                <a:solidFill>
                  <a:srgbClr val="F402FC"/>
                </a:solidFill>
                <a:uLnTx/>
                <a:uFillTx/>
                <a:sym typeface="+mn-ea"/>
              </a:rPr>
              <a:t>'</a:t>
            </a:r>
            <a:endParaRPr lang="en-US" altLang="en-US" sz="1200" b="1" kern="0" noProof="0" dirty="0">
              <a:ln>
                <a:noFill/>
              </a:ln>
              <a:solidFill>
                <a:srgbClr val="F402FC"/>
              </a:solidFill>
              <a:uLnTx/>
              <a:uFillTx/>
              <a:sym typeface="+mn-ea"/>
            </a:endParaRPr>
          </a:p>
        </p:txBody>
      </p:sp>
      <p:sp>
        <p:nvSpPr>
          <p:cNvPr id="60441" name="Text Box 62"/>
          <p:cNvSpPr txBox="1"/>
          <p:nvPr/>
        </p:nvSpPr>
        <p:spPr>
          <a:xfrm>
            <a:off x="7094538" y="2811463"/>
            <a:ext cx="6477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50000"/>
              </a:spcBef>
              <a:buNone/>
            </a:pPr>
            <a:r>
              <a:rPr lang="en-US" altLang="zh-CN" sz="1800" b="1" dirty="0"/>
              <a:t>str1</a:t>
            </a:r>
            <a:endParaRPr lang="en-US" altLang="zh-CN" sz="1800" b="1" dirty="0"/>
          </a:p>
        </p:txBody>
      </p:sp>
      <p:sp>
        <p:nvSpPr>
          <p:cNvPr id="60443" name="AutoShape 10"/>
          <p:cNvSpPr/>
          <p:nvPr/>
        </p:nvSpPr>
        <p:spPr>
          <a:xfrm>
            <a:off x="7112000" y="1370013"/>
            <a:ext cx="5073650" cy="936625"/>
          </a:xfrm>
          <a:prstGeom prst="wedgeRoundRectCallout">
            <a:avLst>
              <a:gd name="adj1" fmla="val -68417"/>
              <a:gd name="adj2" fmla="val -76083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zh-CN" altLang="en-US" sz="2400" b="1" dirty="0"/>
              <a:t>函数调用：</a:t>
            </a:r>
            <a:endParaRPr lang="en-US" altLang="zh-CN" sz="2400" b="1" dirty="0"/>
          </a:p>
          <a:p>
            <a:pPr marL="342900" lvl="0" indent="-342900" eaLnBrk="1" hangingPunct="1">
              <a:buNone/>
            </a:pPr>
            <a:r>
              <a:rPr lang="en-US" altLang="zh-CN" sz="2400" b="1" dirty="0"/>
              <a:t>str_copy(</a:t>
            </a:r>
            <a:r>
              <a:rPr lang="en-US" altLang="zh-CN" sz="2400" b="1" dirty="0">
                <a:solidFill>
                  <a:srgbClr val="F402FC"/>
                </a:solidFill>
              </a:rPr>
              <a:t>&amp;str2[0],&amp;str1[0]</a:t>
            </a:r>
            <a:r>
              <a:rPr lang="en-US" altLang="zh-CN" sz="2400" b="1" dirty="0"/>
              <a:t>)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  <p:bldP spid="56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6386" name="Rectangle 2"/>
          <p:cNvSpPr>
            <a:spLocks noGrp="1" noChangeArrowheads="1"/>
          </p:cNvSpPr>
          <p:nvPr>
            <p:ph idx="1"/>
          </p:nvPr>
        </p:nvSpPr>
        <p:spPr>
          <a:xfrm>
            <a:off x="92710" y="-10795"/>
            <a:ext cx="11095990" cy="3791585"/>
          </a:xfrm>
        </p:spPr>
        <p:txBody>
          <a:bodyPr vert="horz" wrap="square" lIns="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#include&lt;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en-US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str_copy</a:t>
            </a: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altLang="zh-CN" b="1" i="0" u="none" strike="noStrike" kern="1200" cap="none" spc="0" normalizeH="0" baseline="0" dirty="0">
                <a:solidFill>
                  <a:srgbClr val="F402FC"/>
                </a:solidFill>
                <a:effectLst/>
                <a:latin typeface="+mn-lt"/>
                <a:ea typeface="+mn-ea"/>
                <a:cs typeface="+mn-cs"/>
              </a:rPr>
              <a:t>char q[],char p[]</a:t>
            </a: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en-US" altLang="en-US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复制函数</a:t>
            </a:r>
            <a:endParaRPr kumimoji="0" lang="en-US" altLang="en-US" sz="2800" b="1" i="0" u="none" strike="noStrike" kern="0" cap="none" spc="0" normalizeH="0" baseline="0" noProof="0" dirty="0" err="1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{		for(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; *p!=0; </a:t>
            </a: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</a:rPr>
              <a:t>p++,q++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) 			</a:t>
            </a:r>
            <a:endParaRPr kumimoji="0" lang="en-US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600200" marR="0" lvl="3" indent="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</a:rPr>
              <a:t>*q=*p;</a:t>
            </a:r>
            <a:endParaRPr kumimoji="0" lang="en-US" altLang="en-US" sz="3200" b="1" i="0" u="none" strike="noStrike" kern="0" cap="none" spc="0" normalizeH="0" baseline="0" noProof="0" dirty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228600" marR="0" lvl="0" indent="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1" i="0" u="none" strike="noStrike" kern="1200" cap="none" spc="0" normalizeH="0" baseline="0" dirty="0">
                <a:solidFill>
                  <a:srgbClr val="F402FC"/>
                </a:solidFill>
                <a:effectLst/>
                <a:latin typeface="+mn-lt"/>
                <a:ea typeface="+mn-ea"/>
              </a:rPr>
              <a:t> *q=0;</a:t>
            </a:r>
            <a:r>
              <a:rPr kumimoji="0" lang="en-US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</a:rPr>
              <a:t>//</a:t>
            </a:r>
            <a:r>
              <a:rPr kumimoji="0" lang="en-US" altLang="en-US" sz="20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</a:rPr>
              <a:t>很重要</a:t>
            </a:r>
            <a:endParaRPr kumimoji="0" lang="en-US" altLang="en-US" sz="2000" b="1" i="0" u="none" strike="noStrike" kern="0" cap="none" spc="0" normalizeH="0" baseline="0" noProof="0" dirty="0" err="1">
              <a:ln>
                <a:noFill/>
              </a:ln>
              <a:solidFill>
                <a:schemeClr val="tx1">
                  <a:lumMod val="65000"/>
                </a:schemeClr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}</a:t>
            </a:r>
            <a:endParaRPr kumimoji="0" lang="en-US" altLang="en-US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0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12AA80-18F7-4DBA-AF89-9BA00BF3A0C2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5638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4288" y="2263775"/>
            <a:ext cx="3948112" cy="1282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6392" name="AutoShape 8"/>
          <p:cNvSpPr/>
          <p:nvPr/>
        </p:nvSpPr>
        <p:spPr>
          <a:xfrm>
            <a:off x="5492750" y="393700"/>
            <a:ext cx="5327650" cy="503238"/>
          </a:xfrm>
          <a:prstGeom prst="wedgeRoundRectCallout">
            <a:avLst>
              <a:gd name="adj1" fmla="val -47764"/>
              <a:gd name="adj2" fmla="val 70505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buNone/>
            </a:pPr>
            <a:r>
              <a:rPr lang="en-US" altLang="zh-CN" sz="2400" b="1" dirty="0"/>
              <a:t>void str_copy(</a:t>
            </a:r>
            <a:r>
              <a:rPr lang="en-US" altLang="zh-CN" sz="2400" b="1" dirty="0">
                <a:solidFill>
                  <a:srgbClr val="F402FC"/>
                </a:solidFill>
              </a:rPr>
              <a:t>char *q,char *p</a:t>
            </a:r>
            <a:r>
              <a:rPr lang="en-US" altLang="zh-CN" sz="2400" b="1" dirty="0"/>
              <a:t>)</a:t>
            </a:r>
            <a:endParaRPr lang="en-US" altLang="zh-CN" sz="2400" b="1" dirty="0"/>
          </a:p>
        </p:txBody>
      </p:sp>
      <p:sp>
        <p:nvSpPr>
          <p:cNvPr id="656393" name="AutoShape 9"/>
          <p:cNvSpPr/>
          <p:nvPr/>
        </p:nvSpPr>
        <p:spPr>
          <a:xfrm>
            <a:off x="7924800" y="4195763"/>
            <a:ext cx="4267200" cy="985837"/>
          </a:xfrm>
          <a:prstGeom prst="wedgeRoundRectCallout">
            <a:avLst>
              <a:gd name="adj1" fmla="val -78616"/>
              <a:gd name="adj2" fmla="val 32351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None/>
            </a:pPr>
            <a:r>
              <a:rPr lang="en-US" altLang="zh-CN" sz="2400" b="1" dirty="0"/>
              <a:t>char *p1=str1,*p2=str2;</a:t>
            </a:r>
            <a:endParaRPr lang="en-US" altLang="zh-CN" sz="2400" b="1" dirty="0"/>
          </a:p>
          <a:p>
            <a:pPr marL="342900" lvl="0" indent="-342900" eaLnBrk="1" hangingPunct="1">
              <a:buNone/>
            </a:pPr>
            <a:r>
              <a:rPr lang="en-US" altLang="zh-CN" sz="2400" b="1" dirty="0"/>
              <a:t>str_copy(</a:t>
            </a:r>
            <a:r>
              <a:rPr lang="en-US" altLang="zh-CN" sz="2400" b="1" dirty="0">
                <a:solidFill>
                  <a:srgbClr val="F402FC"/>
                </a:solidFill>
              </a:rPr>
              <a:t>p2,p1</a:t>
            </a:r>
            <a:r>
              <a:rPr lang="en-US" altLang="zh-CN" sz="2400" b="1" dirty="0"/>
              <a:t>)</a:t>
            </a:r>
            <a:endParaRPr lang="en-US" altLang="zh-CN" sz="2400" b="1" dirty="0"/>
          </a:p>
        </p:txBody>
      </p:sp>
      <p:sp>
        <p:nvSpPr>
          <p:cNvPr id="656394" name="AutoShape 10"/>
          <p:cNvSpPr/>
          <p:nvPr/>
        </p:nvSpPr>
        <p:spPr>
          <a:xfrm>
            <a:off x="7467600" y="6065838"/>
            <a:ext cx="4552950" cy="639762"/>
          </a:xfrm>
          <a:prstGeom prst="wedgeRoundRectCallout">
            <a:avLst>
              <a:gd name="adj1" fmla="val -67350"/>
              <a:gd name="adj2" fmla="val -164193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algn="ctr" eaLnBrk="1" hangingPunct="1">
              <a:buNone/>
            </a:pPr>
            <a:r>
              <a:rPr lang="en-US" altLang="zh-CN" sz="2400" b="1" dirty="0"/>
              <a:t>str_copy(</a:t>
            </a:r>
            <a:r>
              <a:rPr lang="en-US" altLang="zh-CN" sz="2400" b="1" dirty="0">
                <a:solidFill>
                  <a:srgbClr val="F402FC"/>
                </a:solidFill>
              </a:rPr>
              <a:t>&amp;str2[0],&amp;str1[0]</a:t>
            </a:r>
            <a:r>
              <a:rPr lang="en-US" altLang="zh-CN" sz="2400" b="1" dirty="0"/>
              <a:t>)</a:t>
            </a:r>
            <a:endParaRPr lang="en-US" altLang="zh-CN" sz="2400" b="1" dirty="0"/>
          </a:p>
        </p:txBody>
      </p:sp>
      <p:sp>
        <p:nvSpPr>
          <p:cNvPr id="61448" name="Rectangle 9"/>
          <p:cNvSpPr/>
          <p:nvPr/>
        </p:nvSpPr>
        <p:spPr>
          <a:xfrm>
            <a:off x="12206288" y="2322513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914400" lvl="2" indent="0">
              <a:buNone/>
            </a:pPr>
            <a:endParaRPr lang="en-US" altLang="en-US" b="1" dirty="0"/>
          </a:p>
        </p:txBody>
      </p:sp>
      <p:sp>
        <p:nvSpPr>
          <p:cNvPr id="61449" name="矩形 1"/>
          <p:cNvSpPr/>
          <p:nvPr/>
        </p:nvSpPr>
        <p:spPr>
          <a:xfrm>
            <a:off x="1828800" y="3201035"/>
            <a:ext cx="5559425" cy="3599815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2" indent="0" eaLnBrk="1" hangingPunct="1">
              <a:spcBef>
                <a:spcPct val="0"/>
              </a:spcBef>
              <a:buClrTx/>
              <a:buNone/>
            </a:pPr>
            <a:r>
              <a:rPr lang="en-US" altLang="en-US" sz="2800" b="1" dirty="0"/>
              <a:t> int main()</a:t>
            </a:r>
            <a:endParaRPr lang="en-US" altLang="en-US" sz="2800" b="1" dirty="0"/>
          </a:p>
          <a:p>
            <a:pPr marL="0" lvl="2" indent="0" eaLnBrk="1" hangingPunct="1">
              <a:spcBef>
                <a:spcPct val="0"/>
              </a:spcBef>
              <a:buClrTx/>
              <a:buNone/>
            </a:pPr>
            <a:r>
              <a:rPr lang="en-US" altLang="en-US" sz="2800" b="1" dirty="0"/>
              <a:t> {</a:t>
            </a:r>
            <a:r>
              <a:rPr lang="en-US" altLang="en-US" sz="2000" b="1" dirty="0"/>
              <a:t>	char str1[10],str2[10];</a:t>
            </a:r>
            <a:endParaRPr lang="en-US" altLang="en-US" sz="2000" b="1" dirty="0"/>
          </a:p>
          <a:p>
            <a:pPr marL="0" lvl="2" indent="0" eaLnBrk="1" hangingPunct="1">
              <a:spcBef>
                <a:spcPct val="0"/>
              </a:spcBef>
              <a:buClrTx/>
              <a:buNone/>
            </a:pPr>
            <a:r>
              <a:rPr lang="en-US" altLang="en-US" sz="2000" b="1" dirty="0"/>
              <a:t>	printf("Please input str1:\n");</a:t>
            </a:r>
            <a:endParaRPr lang="en-US" altLang="en-US" sz="2000" b="1" dirty="0"/>
          </a:p>
          <a:p>
            <a:pPr marL="0" lvl="2" indent="0" eaLnBrk="1" hangingPunct="1">
              <a:spcBef>
                <a:spcPct val="0"/>
              </a:spcBef>
              <a:buClrTx/>
              <a:buNone/>
            </a:pPr>
            <a:r>
              <a:rPr lang="en-US" altLang="en-US" sz="2000" b="1" dirty="0"/>
              <a:t>	</a:t>
            </a:r>
            <a:r>
              <a:rPr lang="en-US" altLang="en-US" sz="3200" b="1" dirty="0">
                <a:solidFill>
                  <a:srgbClr val="FFE705"/>
                </a:solidFill>
              </a:rPr>
              <a:t>scanf("%s",str1);</a:t>
            </a:r>
            <a:endParaRPr lang="en-US" altLang="en-US" sz="3200" b="1" dirty="0">
              <a:solidFill>
                <a:srgbClr val="FFE705"/>
              </a:solidFill>
            </a:endParaRPr>
          </a:p>
          <a:p>
            <a:pPr marL="0" lvl="2" indent="0" eaLnBrk="1" hangingPunct="1">
              <a:spcBef>
                <a:spcPct val="0"/>
              </a:spcBef>
              <a:buClrTx/>
              <a:buNone/>
            </a:pPr>
            <a:r>
              <a:rPr lang="en-US" altLang="en-US" sz="3200" b="1" dirty="0">
                <a:solidFill>
                  <a:schemeClr val="hlink"/>
                </a:solidFill>
              </a:rPr>
              <a:t>	str_copy(str2,str1);</a:t>
            </a:r>
            <a:endParaRPr lang="en-US" altLang="en-US" sz="3200" b="1" dirty="0">
              <a:solidFill>
                <a:schemeClr val="hlink"/>
              </a:solidFill>
            </a:endParaRPr>
          </a:p>
          <a:p>
            <a:pPr marL="0" lvl="2" indent="0" eaLnBrk="1" hangingPunct="1">
              <a:spcBef>
                <a:spcPct val="0"/>
              </a:spcBef>
              <a:buClrTx/>
              <a:buNone/>
            </a:pPr>
            <a:r>
              <a:rPr lang="en-US" altLang="en-US" sz="2000" b="1" dirty="0"/>
              <a:t>	printf("str1:%s\n",str1);</a:t>
            </a:r>
            <a:endParaRPr lang="en-US" altLang="en-US" sz="2000" b="1" dirty="0"/>
          </a:p>
          <a:p>
            <a:pPr marL="0" lvl="2" indent="0" eaLnBrk="1" hangingPunct="1">
              <a:spcBef>
                <a:spcPct val="0"/>
              </a:spcBef>
              <a:buClrTx/>
              <a:buNone/>
            </a:pPr>
            <a:r>
              <a:rPr lang="en-US" altLang="en-US" sz="2000" b="1" dirty="0"/>
              <a:t>	printf("str2:%s",str2);</a:t>
            </a:r>
            <a:endParaRPr lang="en-US" altLang="en-US" sz="2000" b="1" dirty="0"/>
          </a:p>
          <a:p>
            <a:pPr marL="457200" lvl="3" indent="457200" eaLnBrk="1" hangingPunct="1">
              <a:spcBef>
                <a:spcPct val="0"/>
              </a:spcBef>
              <a:buClrTx/>
              <a:buNone/>
            </a:pPr>
            <a:r>
              <a:rPr lang="en-US" altLang="zh-CN" sz="2000" b="1" dirty="0"/>
              <a:t>return 0;</a:t>
            </a:r>
            <a:endParaRPr lang="en-US" altLang="zh-CN" sz="2000" b="1" dirty="0"/>
          </a:p>
          <a:p>
            <a:pPr marL="0" lvl="2" indent="0" eaLnBrk="1" hangingPunct="1">
              <a:spcBef>
                <a:spcPct val="0"/>
              </a:spcBef>
              <a:buClrTx/>
              <a:buNone/>
            </a:pPr>
            <a:r>
              <a:rPr lang="en-US" altLang="en-US" sz="2800" b="1" dirty="0"/>
              <a:t> }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92" grpId="0" bldLvl="0" animBg="1"/>
      <p:bldP spid="656393" grpId="0" bldLvl="0" animBg="1"/>
      <p:bldP spid="656394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FA70196-552D-41AE-A755-8375FC1BB1BF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>
          <a:xfrm>
            <a:off x="0" y="44450"/>
            <a:ext cx="10363200" cy="11430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en-US" altLang="zh-CN" sz="3200" b="1" dirty="0">
                <a:solidFill>
                  <a:srgbClr val="FFC000"/>
                </a:solidFill>
                <a:effectLst/>
              </a:rPr>
              <a:t>【</a:t>
            </a:r>
            <a:r>
              <a:rPr lang="zh-CN" altLang="en-US" sz="3200" b="1" dirty="0">
                <a:solidFill>
                  <a:srgbClr val="FFC000"/>
                </a:solidFill>
                <a:effectLst/>
              </a:rPr>
              <a:t>例</a:t>
            </a:r>
            <a:r>
              <a:rPr lang="en-US" altLang="zh-CN" sz="3200" b="1" dirty="0">
                <a:solidFill>
                  <a:srgbClr val="FFC000"/>
                </a:solidFill>
                <a:effectLst/>
              </a:rPr>
              <a:t>7.10】 </a:t>
            </a:r>
            <a:r>
              <a:rPr lang="zh-CN" altLang="en-US" sz="3200" b="1" dirty="0">
                <a:solidFill>
                  <a:srgbClr val="FFC000"/>
                </a:solidFill>
                <a:effectLst/>
              </a:rPr>
              <a:t>把若干给定的字符串按字母顺序排序并输出</a:t>
            </a:r>
            <a:endParaRPr lang="zh-CN" altLang="en-US" sz="3200" b="1" dirty="0">
              <a:solidFill>
                <a:srgbClr val="FFC000"/>
              </a:solidFill>
              <a:effectLst/>
            </a:endParaRPr>
          </a:p>
        </p:txBody>
      </p:sp>
      <p:sp>
        <p:nvSpPr>
          <p:cNvPr id="65540" name="Rectangle 3"/>
          <p:cNvSpPr>
            <a:spLocks noGrp="1"/>
          </p:cNvSpPr>
          <p:nvPr>
            <p:ph idx="1"/>
          </p:nvPr>
        </p:nvSpPr>
        <p:spPr>
          <a:xfrm>
            <a:off x="0" y="1187450"/>
            <a:ext cx="12039600" cy="594995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#include&lt;stdio.h&gt;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#include&lt;string.h&gt;</a:t>
            </a:r>
            <a:endParaRPr lang="en-US" altLang="zh-CN" sz="28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char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*name[ ]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sz="2400" b="1" dirty="0">
                <a:effectLst/>
                <a:latin typeface="Arial" panose="020B0604020202020204" pitchFamily="34" charset="0"/>
              </a:rPr>
              <a:t>={"basic","programming","great wall","language","computer"};</a:t>
            </a:r>
            <a:endParaRPr lang="en-US" altLang="zh-CN" sz="24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void sort_string(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char *arr_str[ ],int n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);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void out_string( 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char *arr_str[ ],int n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);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 main(){</a:t>
            </a:r>
            <a:endParaRPr lang="en-US" altLang="zh-CN" sz="28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	     sort_string(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name,5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);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	     out_string(</a:t>
            </a:r>
            <a:r>
              <a:rPr lang="en-US" altLang="zh-CN" sz="28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name,5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);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		return 0;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</a:t>
            </a:r>
            <a:endParaRPr lang="en-US" altLang="zh-CN" sz="28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9" name="灯片编号占位符 4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579CD6-CD0A-4C80-B3FB-7861B62BE01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6329" name="Group 137"/>
          <p:cNvGraphicFramePr>
            <a:graphicFrameLocks noGrp="1"/>
          </p:cNvGraphicFramePr>
          <p:nvPr>
            <p:ph idx="1"/>
          </p:nvPr>
        </p:nvGraphicFramePr>
        <p:xfrm>
          <a:off x="1524000" y="4076700"/>
          <a:ext cx="8686800" cy="2297113"/>
        </p:xfrm>
        <a:graphic>
          <a:graphicData uri="http://schemas.openxmlformats.org/drawingml/2006/table">
            <a:tbl>
              <a:tblPr/>
              <a:tblGrid>
                <a:gridCol w="1084263"/>
                <a:gridCol w="1084262"/>
                <a:gridCol w="1084263"/>
                <a:gridCol w="407987"/>
                <a:gridCol w="409575"/>
                <a:gridCol w="482600"/>
                <a:gridCol w="409575"/>
                <a:gridCol w="407988"/>
                <a:gridCol w="485775"/>
                <a:gridCol w="484187"/>
                <a:gridCol w="484188"/>
                <a:gridCol w="484187"/>
                <a:gridCol w="407988"/>
                <a:gridCol w="485775"/>
                <a:gridCol w="484187"/>
              </a:tblGrid>
              <a:tr h="417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name: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\0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138"/>
          <p:cNvGrpSpPr/>
          <p:nvPr/>
        </p:nvGrpSpPr>
        <p:grpSpPr>
          <a:xfrm>
            <a:off x="3621088" y="4294188"/>
            <a:ext cx="1149350" cy="1784350"/>
            <a:chOff x="2742" y="1405"/>
            <a:chExt cx="497" cy="1307"/>
          </a:xfrm>
        </p:grpSpPr>
        <p:sp>
          <p:nvSpPr>
            <p:cNvPr id="67702" name="Line 139"/>
            <p:cNvSpPr/>
            <p:nvPr/>
          </p:nvSpPr>
          <p:spPr>
            <a:xfrm>
              <a:off x="2759" y="1405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67703" name="Line 140"/>
            <p:cNvSpPr/>
            <p:nvPr/>
          </p:nvSpPr>
          <p:spPr>
            <a:xfrm>
              <a:off x="2746" y="1740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67704" name="Line 141"/>
            <p:cNvSpPr/>
            <p:nvPr/>
          </p:nvSpPr>
          <p:spPr>
            <a:xfrm>
              <a:off x="2742" y="2065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67705" name="Line 142"/>
            <p:cNvSpPr/>
            <p:nvPr/>
          </p:nvSpPr>
          <p:spPr>
            <a:xfrm>
              <a:off x="2743" y="2380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67706" name="Line 143"/>
            <p:cNvSpPr/>
            <p:nvPr/>
          </p:nvSpPr>
          <p:spPr>
            <a:xfrm>
              <a:off x="2748" y="2712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</p:grpSp>
      <p:grpSp>
        <p:nvGrpSpPr>
          <p:cNvPr id="3" name="Group 144"/>
          <p:cNvGrpSpPr/>
          <p:nvPr/>
        </p:nvGrpSpPr>
        <p:grpSpPr>
          <a:xfrm>
            <a:off x="3551238" y="4279900"/>
            <a:ext cx="1222375" cy="1800225"/>
            <a:chOff x="3094" y="12025"/>
            <a:chExt cx="1244" cy="993"/>
          </a:xfrm>
        </p:grpSpPr>
        <p:sp>
          <p:nvSpPr>
            <p:cNvPr id="67697" name="Line 145"/>
            <p:cNvSpPr/>
            <p:nvPr/>
          </p:nvSpPr>
          <p:spPr>
            <a:xfrm>
              <a:off x="3104" y="12025"/>
              <a:ext cx="12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67698" name="Freeform 146"/>
            <p:cNvSpPr/>
            <p:nvPr/>
          </p:nvSpPr>
          <p:spPr>
            <a:xfrm>
              <a:off x="3124" y="12308"/>
              <a:ext cx="1214" cy="705"/>
            </a:xfrm>
            <a:custGeom>
              <a:avLst/>
              <a:gdLst>
                <a:gd name="txL" fmla="*/ 0 w 1214"/>
                <a:gd name="txT" fmla="*/ 0 h 960"/>
                <a:gd name="txR" fmla="*/ 1214 w 1214"/>
                <a:gd name="txB" fmla="*/ 960 h 960"/>
              </a:gdLst>
              <a:ahLst/>
              <a:cxnLst>
                <a:cxn ang="0">
                  <a:pos x="0" y="0"/>
                </a:cxn>
                <a:cxn ang="0">
                  <a:pos x="480" y="0"/>
                </a:cxn>
                <a:cxn ang="0">
                  <a:pos x="990" y="1"/>
                </a:cxn>
                <a:cxn ang="0">
                  <a:pos x="1214" y="1"/>
                </a:cxn>
              </a:cxnLst>
              <a:rect l="txL" t="txT" r="txR" b="txB"/>
              <a:pathLst>
                <a:path w="1214" h="960">
                  <a:moveTo>
                    <a:pt x="0" y="0"/>
                  </a:moveTo>
                  <a:lnTo>
                    <a:pt x="480" y="0"/>
                  </a:lnTo>
                  <a:lnTo>
                    <a:pt x="990" y="960"/>
                  </a:lnTo>
                  <a:lnTo>
                    <a:pt x="1214" y="96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7699" name="Line 147"/>
            <p:cNvSpPr/>
            <p:nvPr/>
          </p:nvSpPr>
          <p:spPr>
            <a:xfrm>
              <a:off x="3098" y="12520"/>
              <a:ext cx="12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67700" name="Line 148"/>
            <p:cNvSpPr/>
            <p:nvPr/>
          </p:nvSpPr>
          <p:spPr>
            <a:xfrm>
              <a:off x="3098" y="12748"/>
              <a:ext cx="120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arrow" w="lg" len="lg"/>
            </a:ln>
          </p:spPr>
        </p:sp>
        <p:sp>
          <p:nvSpPr>
            <p:cNvPr id="67701" name="Freeform 149"/>
            <p:cNvSpPr/>
            <p:nvPr/>
          </p:nvSpPr>
          <p:spPr>
            <a:xfrm flipV="1">
              <a:off x="3094" y="12284"/>
              <a:ext cx="1214" cy="734"/>
            </a:xfrm>
            <a:custGeom>
              <a:avLst/>
              <a:gdLst>
                <a:gd name="txL" fmla="*/ 0 w 1214"/>
                <a:gd name="txT" fmla="*/ 0 h 960"/>
                <a:gd name="txR" fmla="*/ 1214 w 1214"/>
                <a:gd name="txB" fmla="*/ 960 h 960"/>
              </a:gdLst>
              <a:ahLst/>
              <a:cxnLst>
                <a:cxn ang="0">
                  <a:pos x="0" y="0"/>
                </a:cxn>
                <a:cxn ang="0">
                  <a:pos x="480" y="0"/>
                </a:cxn>
                <a:cxn ang="0">
                  <a:pos x="990" y="2"/>
                </a:cxn>
                <a:cxn ang="0">
                  <a:pos x="1214" y="2"/>
                </a:cxn>
              </a:cxnLst>
              <a:rect l="txL" t="txT" r="txR" b="txB"/>
              <a:pathLst>
                <a:path w="1214" h="960">
                  <a:moveTo>
                    <a:pt x="0" y="0"/>
                  </a:moveTo>
                  <a:lnTo>
                    <a:pt x="480" y="0"/>
                  </a:lnTo>
                  <a:lnTo>
                    <a:pt x="990" y="960"/>
                  </a:lnTo>
                  <a:lnTo>
                    <a:pt x="1214" y="96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36343" name="Text Box 151"/>
          <p:cNvSpPr txBox="1"/>
          <p:nvPr/>
        </p:nvSpPr>
        <p:spPr>
          <a:xfrm>
            <a:off x="-685800" y="3559175"/>
            <a:ext cx="69357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ts val="60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        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经过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sort_string</a:t>
            </a: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排序后数据结构如下</a:t>
            </a:r>
            <a:r>
              <a:rPr lang="en-US" altLang="zh-CN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:</a:t>
            </a:r>
            <a:endParaRPr lang="en-US" altLang="zh-CN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136345" name="Text Box 153"/>
          <p:cNvSpPr txBox="1"/>
          <p:nvPr/>
        </p:nvSpPr>
        <p:spPr>
          <a:xfrm>
            <a:off x="4800600" y="6400800"/>
            <a:ext cx="50403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常量字符串</a:t>
            </a:r>
            <a:r>
              <a:rPr lang="zh-CN" altLang="en-US" sz="2400" b="1" dirty="0">
                <a:latin typeface="Arial" panose="020B0604020202020204" pitchFamily="34" charset="0"/>
              </a:rPr>
              <a:t>保存在内存的常量区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67694" name="Rectangle 154"/>
          <p:cNvSpPr/>
          <p:nvPr/>
        </p:nvSpPr>
        <p:spPr>
          <a:xfrm>
            <a:off x="0" y="11113"/>
            <a:ext cx="8839200" cy="29654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char *name[ ]={"basic","programming</a:t>
            </a:r>
            <a:r>
              <a:rPr lang="en-US" altLang="zh-CN" sz="1800" b="1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1800" b="1" dirty="0">
                <a:solidFill>
                  <a:schemeClr val="hlink"/>
                </a:solidFill>
                <a:latin typeface="Arial" panose="020B0604020202020204" pitchFamily="34" charset="0"/>
              </a:rPr>
              <a:t>,"great wall","language","computer"};</a:t>
            </a:r>
            <a:endParaRPr lang="en-US" altLang="zh-CN" sz="1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void sort_string( 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char *arr_str[ ],int n</a:t>
            </a:r>
            <a:r>
              <a:rPr lang="en-US" altLang="zh-CN" sz="2400" b="1" dirty="0">
                <a:latin typeface="Arial" panose="020B0604020202020204" pitchFamily="34" charset="0"/>
              </a:rPr>
              <a:t> 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void out_string( 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char *arr_str[ ],int n</a:t>
            </a:r>
            <a:r>
              <a:rPr lang="en-US" altLang="zh-CN" sz="2400" b="1" dirty="0">
                <a:latin typeface="Arial" panose="020B0604020202020204" pitchFamily="34" charset="0"/>
              </a:rPr>
              <a:t> 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int main(){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     sort_string(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name,5</a:t>
            </a:r>
            <a:r>
              <a:rPr lang="en-US" altLang="zh-CN" sz="2400" b="1" dirty="0">
                <a:latin typeface="Arial" panose="020B0604020202020204" pitchFamily="34" charset="0"/>
              </a:rPr>
              <a:t>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     out_string(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name,5</a:t>
            </a:r>
            <a:r>
              <a:rPr lang="en-US" altLang="zh-CN" sz="2400" b="1" dirty="0">
                <a:latin typeface="Arial" panose="020B0604020202020204" pitchFamily="34" charset="0"/>
              </a:rPr>
              <a:t>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     return  0;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42900" lvl="0" indent="-34290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}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36347" name="Text Box 155"/>
          <p:cNvSpPr txBox="1"/>
          <p:nvPr/>
        </p:nvSpPr>
        <p:spPr>
          <a:xfrm>
            <a:off x="8839200" y="11113"/>
            <a:ext cx="3167063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运行产生如下输出：</a:t>
            </a:r>
            <a:endParaRPr lang="zh-CN" altLang="en-US" sz="28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basic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computer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great wall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language</a:t>
            </a:r>
            <a:endParaRPr lang="en-US" altLang="zh-CN" sz="28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800" b="1" dirty="0">
                <a:latin typeface="Arial" panose="020B0604020202020204" pitchFamily="34" charset="0"/>
              </a:rPr>
              <a:t>programming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136348" name="Text Box 156"/>
          <p:cNvSpPr txBox="1"/>
          <p:nvPr/>
        </p:nvSpPr>
        <p:spPr>
          <a:xfrm>
            <a:off x="84138" y="3051175"/>
            <a:ext cx="70929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ts val="600"/>
              </a:spcBef>
              <a:buClrTx/>
              <a:buSzTx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Arial" panose="020B0604020202020204" pitchFamily="34" charset="0"/>
              </a:rPr>
              <a:t>程序声明部分产生如下图的数据结构：</a:t>
            </a:r>
            <a:endParaRPr lang="zh-CN" altLang="en-US" sz="2800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" dur="500"/>
                                        <p:tgtEl>
                                          <p:spTgt spid="136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6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343" grpId="0"/>
      <p:bldP spid="136345" grpId="0"/>
      <p:bldP spid="136347" grpId="0"/>
      <p:bldP spid="13634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灯片编号占位符 5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0896600" y="6248400"/>
            <a:ext cx="685800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3C8533-AEED-4480-B6E8-0BFFB1159EC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5" name="Rectangle 4"/>
          <p:cNvSpPr/>
          <p:nvPr/>
        </p:nvSpPr>
        <p:spPr>
          <a:xfrm>
            <a:off x="381000" y="55880"/>
            <a:ext cx="8522335" cy="4769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void sort_string( 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char *arr_str[ ],int n</a:t>
            </a:r>
            <a:r>
              <a:rPr lang="en-US" altLang="zh-CN" sz="2400" b="1" dirty="0">
                <a:latin typeface="Arial" panose="020B0604020202020204" pitchFamily="34" charset="0"/>
              </a:rPr>
              <a:t> ){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</a:t>
            </a:r>
            <a:r>
              <a:rPr lang="en-US" altLang="zh-CN" sz="2400" b="1" dirty="0">
                <a:solidFill>
                  <a:srgbClr val="F402FC"/>
                </a:solidFill>
                <a:latin typeface="Arial" panose="020B0604020202020204" pitchFamily="34" charset="0"/>
              </a:rPr>
              <a:t>char  *temp;</a:t>
            </a:r>
            <a:endParaRPr lang="en-US" altLang="zh-CN" sz="2400" b="1" dirty="0">
              <a:solidFill>
                <a:srgbClr val="F402FC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int i,j,k;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for ( i=0; i&lt;n-1; i++){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	 k = i;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	 for ( j=i+1; j&lt;n; j++)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	     	if ( </a:t>
            </a:r>
            <a:r>
              <a:rPr lang="en-US" altLang="zh-CN" sz="2400" b="1" dirty="0">
                <a:solidFill>
                  <a:schemeClr val="folHlink"/>
                </a:solidFill>
                <a:latin typeface="Arial" panose="020B0604020202020204" pitchFamily="34" charset="0"/>
              </a:rPr>
              <a:t>strcmp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(arr_str[k] , arr_str[j] ) &gt; 0</a:t>
            </a:r>
            <a:r>
              <a:rPr lang="en-US" altLang="zh-CN" sz="2400" b="1" dirty="0">
                <a:latin typeface="Arial" panose="020B0604020202020204" pitchFamily="34" charset="0"/>
              </a:rPr>
              <a:t> )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			k=j;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	 </a:t>
            </a:r>
            <a:r>
              <a:rPr lang="en-US" altLang="zh-CN" sz="2400" b="1" dirty="0">
                <a:solidFill>
                  <a:srgbClr val="F402FC"/>
                </a:solidFill>
                <a:latin typeface="Arial" panose="020B0604020202020204" pitchFamily="34" charset="0"/>
              </a:rPr>
              <a:t>temp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= arr_str[i];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		 arr_str[i]= arr_str[k];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		 arr_str[k]=</a:t>
            </a:r>
            <a:r>
              <a:rPr lang="en-US" altLang="zh-CN" sz="2400" b="1" dirty="0">
                <a:solidFill>
                  <a:srgbClr val="F402FC"/>
                </a:solidFill>
                <a:latin typeface="Arial" panose="020B0604020202020204" pitchFamily="34" charset="0"/>
              </a:rPr>
              <a:t>temp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;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</a:t>
            </a:r>
            <a:r>
              <a:rPr lang="en-US" altLang="zh-CN" sz="1600" b="1" dirty="0">
                <a:latin typeface="Arial" panose="020B0604020202020204" pitchFamily="34" charset="0"/>
              </a:rPr>
              <a:t>}</a:t>
            </a:r>
            <a:endParaRPr lang="en-US" altLang="zh-CN" sz="2400" b="1" dirty="0">
              <a:solidFill>
                <a:srgbClr val="F402FC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600" b="1" dirty="0">
                <a:latin typeface="Arial" panose="020B0604020202020204" pitchFamily="34" charset="0"/>
              </a:rPr>
              <a:t>}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69636" name="Rectangle 5"/>
          <p:cNvSpPr/>
          <p:nvPr/>
        </p:nvSpPr>
        <p:spPr>
          <a:xfrm>
            <a:off x="363538" y="4695825"/>
            <a:ext cx="9144000" cy="193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void out_string( 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char *arr_str[ ],int n</a:t>
            </a:r>
            <a:r>
              <a:rPr lang="en-US" altLang="zh-CN" sz="2400" b="1" dirty="0">
                <a:latin typeface="Arial" panose="020B0604020202020204" pitchFamily="34" charset="0"/>
              </a:rPr>
              <a:t> ){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int j;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for ( j=0;j&lt;n;j++) 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		printf( 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%s</a:t>
            </a:r>
            <a:r>
              <a:rPr lang="en-US" altLang="zh-CN" sz="2400" b="1" dirty="0">
                <a:latin typeface="Arial" panose="020B0604020202020204" pitchFamily="34" charset="0"/>
              </a:rPr>
              <a:t>\n</a:t>
            </a:r>
            <a:r>
              <a:rPr lang="en-US" altLang="zh-CN" sz="2400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400" b="1" dirty="0">
                <a:latin typeface="Arial" panose="020B0604020202020204" pitchFamily="34" charset="0"/>
              </a:rPr>
              <a:t> , </a:t>
            </a: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</a:rPr>
              <a:t>arr_str[j]</a:t>
            </a:r>
            <a:r>
              <a:rPr lang="en-US" altLang="zh-CN" sz="2400" b="1" dirty="0">
                <a:latin typeface="Arial" panose="020B0604020202020204" pitchFamily="34" charset="0"/>
              </a:rPr>
              <a:t> );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} </a:t>
            </a:r>
            <a:endParaRPr lang="en-US" altLang="zh-CN" sz="2400" b="1" dirty="0">
              <a:latin typeface="Arial" panose="020B0604020202020204" pitchFamily="34" charset="0"/>
            </a:endParaRPr>
          </a:p>
        </p:txBody>
      </p:sp>
      <p:sp>
        <p:nvSpPr>
          <p:cNvPr id="138246" name="Rectangle 6"/>
          <p:cNvSpPr/>
          <p:nvPr/>
        </p:nvSpPr>
        <p:spPr>
          <a:xfrm>
            <a:off x="6838950" y="3611563"/>
            <a:ext cx="4225925" cy="263683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342900" lvl="0" indent="-342900" algn="l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char str[10]=</a:t>
            </a:r>
            <a:r>
              <a:rPr lang="en-US" altLang="zh-CN" sz="2800" b="1" dirty="0">
                <a:solidFill>
                  <a:srgbClr val="FFC000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b="1" dirty="0">
                <a:solidFill>
                  <a:srgbClr val="FFC000"/>
                </a:solidFill>
              </a:rPr>
              <a:t>hello</a:t>
            </a:r>
            <a:r>
              <a:rPr lang="en-US" altLang="zh-CN" sz="2800" b="1" dirty="0">
                <a:solidFill>
                  <a:srgbClr val="FFC000"/>
                </a:solidFill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b="1" dirty="0">
                <a:solidFill>
                  <a:srgbClr val="FFC000"/>
                </a:solidFill>
              </a:rPr>
              <a:t>;</a:t>
            </a:r>
            <a:endParaRPr lang="en-US" altLang="zh-CN" sz="2800" b="1" dirty="0">
              <a:solidFill>
                <a:srgbClr val="FFC000"/>
              </a:solidFill>
            </a:endParaRPr>
          </a:p>
          <a:p>
            <a:pPr marL="342900" lvl="0" indent="-342900" algn="l" eaLnBrk="1" hangingPunct="1">
              <a:spcBef>
                <a:spcPct val="0"/>
              </a:spcBef>
              <a:buNone/>
            </a:pPr>
            <a:r>
              <a:rPr lang="en-US" altLang="zh-CN" sz="2800" b="1" dirty="0">
                <a:solidFill>
                  <a:srgbClr val="FFC000"/>
                </a:solidFill>
              </a:rPr>
              <a:t>char *p=str; </a:t>
            </a:r>
            <a:endParaRPr lang="en-US" altLang="zh-CN" sz="2800" b="1" dirty="0">
              <a:solidFill>
                <a:srgbClr val="FFC000"/>
              </a:solidFill>
            </a:endParaRPr>
          </a:p>
          <a:p>
            <a:pPr marL="342900" lvl="0" indent="-342900" algn="l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FFC000"/>
                </a:solidFill>
              </a:rPr>
              <a:t>输出字符串：</a:t>
            </a:r>
            <a:endParaRPr lang="en-US" altLang="zh-CN" sz="2800" b="1" dirty="0">
              <a:solidFill>
                <a:srgbClr val="FFC000"/>
              </a:solidFill>
            </a:endParaRPr>
          </a:p>
          <a:p>
            <a:pPr marL="342900" lvl="0" indent="-342900" algn="l" eaLnBrk="1" hangingPunct="1">
              <a:spcBef>
                <a:spcPct val="0"/>
              </a:spcBef>
              <a:buNone/>
            </a:pPr>
            <a:r>
              <a:rPr lang="en-US" altLang="zh-CN" sz="2800" b="1" dirty="0"/>
              <a:t>    printf(</a:t>
            </a:r>
            <a:r>
              <a:rPr lang="en-US" altLang="zh-CN" sz="2800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b="1" dirty="0"/>
              <a:t>%s</a:t>
            </a:r>
            <a:r>
              <a:rPr lang="en-US" altLang="zh-CN" sz="2800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olidFill>
                  <a:srgbClr val="FF0000"/>
                </a:solidFill>
              </a:rPr>
              <a:t>str</a:t>
            </a:r>
            <a:r>
              <a:rPr lang="en-US" altLang="zh-CN" sz="2800" b="1" dirty="0"/>
              <a:t>); </a:t>
            </a:r>
            <a:endParaRPr lang="en-US" altLang="zh-CN" sz="2800" b="1" dirty="0"/>
          </a:p>
          <a:p>
            <a:pPr marL="342900" lvl="0" indent="-342900" algn="l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或</a:t>
            </a:r>
            <a:r>
              <a:rPr lang="en-US" altLang="zh-CN" sz="2800" b="1" dirty="0"/>
              <a:t>printf(</a:t>
            </a:r>
            <a:r>
              <a:rPr lang="en-US" altLang="zh-CN" sz="2800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b="1" dirty="0"/>
              <a:t>%s</a:t>
            </a:r>
            <a:r>
              <a:rPr lang="en-US" altLang="zh-CN" sz="2800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b="1" dirty="0"/>
              <a:t>,</a:t>
            </a:r>
            <a:r>
              <a:rPr lang="en-US" altLang="zh-CN" sz="2800" b="1" dirty="0">
                <a:solidFill>
                  <a:srgbClr val="FF0000"/>
                </a:solidFill>
              </a:rPr>
              <a:t>&amp;str[0]</a:t>
            </a:r>
            <a:r>
              <a:rPr lang="en-US" altLang="zh-CN" sz="2800" b="1" dirty="0"/>
              <a:t>);</a:t>
            </a:r>
            <a:endParaRPr lang="en-US" altLang="zh-CN" sz="2800" b="1" dirty="0"/>
          </a:p>
          <a:p>
            <a:pPr marL="342900" lvl="0" indent="-342900" algn="l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或 </a:t>
            </a:r>
            <a:r>
              <a:rPr lang="en-US" altLang="zh-CN" sz="2800" b="1" dirty="0"/>
              <a:t>printf(</a:t>
            </a:r>
            <a:r>
              <a:rPr lang="en-US" altLang="zh-CN" sz="2800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b="1" dirty="0"/>
              <a:t>%s</a:t>
            </a:r>
            <a:r>
              <a:rPr lang="en-US" altLang="zh-CN" sz="2800" b="1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b="1" dirty="0"/>
              <a:t>,</a:t>
            </a:r>
            <a:r>
              <a:rPr lang="en-US" altLang="zh-CN" sz="2800" b="1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/>
              <a:t>);</a:t>
            </a:r>
            <a:endParaRPr lang="en-US" altLang="zh-CN" sz="2800" b="1" dirty="0"/>
          </a:p>
        </p:txBody>
      </p:sp>
      <p:sp>
        <p:nvSpPr>
          <p:cNvPr id="6" name="矩形 5"/>
          <p:cNvSpPr/>
          <p:nvPr/>
        </p:nvSpPr>
        <p:spPr>
          <a:xfrm>
            <a:off x="7696200" y="98425"/>
            <a:ext cx="4225925" cy="9531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cap="none" spc="0" normalizeH="0" baseline="0" dirty="0">
                <a:solidFill>
                  <a:srgbClr val="F402FC"/>
                </a:solidFill>
                <a:effectLst/>
                <a:latin typeface="+mn-lt"/>
                <a:ea typeface="+mn-ea"/>
              </a:rPr>
              <a:t>【课后实践】</a:t>
            </a:r>
            <a:endParaRPr kumimoji="0" lang="en-US" altLang="zh-CN" sz="2800" b="1" i="0" u="none" strike="noStrike" cap="none" spc="0" normalizeH="0" baseline="0" dirty="0">
              <a:solidFill>
                <a:srgbClr val="F402FC"/>
              </a:solidFill>
              <a:effectLst/>
              <a:latin typeface="+mn-lt"/>
              <a:ea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cap="none" spc="0" normalizeH="0" baseline="0" dirty="0">
                <a:solidFill>
                  <a:srgbClr val="F402FC"/>
                </a:solidFill>
                <a:effectLst/>
                <a:latin typeface="+mn-lt"/>
                <a:ea typeface="+mn-ea"/>
              </a:rPr>
              <a:t>ch07-03数组和指针数组</a:t>
            </a:r>
            <a:endParaRPr kumimoji="0" lang="en-US" altLang="zh-CN" sz="2800" b="1" i="0" u="none" strike="noStrike" cap="none" spc="0" normalizeH="0" baseline="0" dirty="0">
              <a:solidFill>
                <a:srgbClr val="F402FC"/>
              </a:solidFill>
              <a:effectLst/>
              <a:latin typeface="+mn-lt"/>
              <a:ea typeface="+mn-ea"/>
            </a:endParaRPr>
          </a:p>
        </p:txBody>
      </p:sp>
      <p:sp>
        <p:nvSpPr>
          <p:cNvPr id="2" name="对话气泡: 圆角矩形 1"/>
          <p:cNvSpPr/>
          <p:nvPr/>
        </p:nvSpPr>
        <p:spPr>
          <a:xfrm>
            <a:off x="5105400" y="6400165"/>
            <a:ext cx="5617210" cy="406400"/>
          </a:xfrm>
          <a:prstGeom prst="wedgeRoundRectCallout">
            <a:avLst>
              <a:gd name="adj1" fmla="val -50440"/>
              <a:gd name="adj2" fmla="val -103648"/>
              <a:gd name="adj3" fmla="val 16667"/>
            </a:avLst>
          </a:prstGeom>
          <a:solidFill>
            <a:schemeClr val="accent1"/>
          </a:solidFill>
          <a:ln w="9525">
            <a:noFill/>
          </a:ln>
        </p:spPr>
        <p:txBody>
          <a:bodyPr lIns="0" r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Arial" panose="020B0604020202020204" pitchFamily="34" charset="0"/>
              </a:rPr>
              <a:t>实参二维数组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</a:rPr>
              <a:t>i</a:t>
            </a:r>
            <a:r>
              <a:rPr lang="zh-CN" sz="2400" b="1" dirty="0">
                <a:latin typeface="Arial" panose="020B0604020202020204" pitchFamily="34" charset="0"/>
              </a:rPr>
              <a:t>个字符串首元素</a:t>
            </a:r>
            <a:r>
              <a:rPr lang="en-US" altLang="zh-CN" sz="2400" b="1" dirty="0">
                <a:latin typeface="Arial" panose="020B0604020202020204" pitchFamily="34" charset="0"/>
              </a:rPr>
              <a:t> </a:t>
            </a:r>
            <a:r>
              <a:rPr lang="zh-CN" sz="2400" b="1" dirty="0">
                <a:latin typeface="Arial" panose="020B0604020202020204" pitchFamily="34" charset="0"/>
              </a:rPr>
              <a:t>的地址</a:t>
            </a:r>
            <a:endParaRPr lang="zh-CN" sz="2400" b="1" dirty="0">
              <a:latin typeface="Arial" panose="020B0604020202020204" pitchFamily="34" charset="0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5715635" y="1551940"/>
            <a:ext cx="3853180" cy="634365"/>
          </a:xfrm>
          <a:prstGeom prst="wedgeRoundRectCallout">
            <a:avLst>
              <a:gd name="adj1" fmla="val -77422"/>
              <a:gd name="adj2" fmla="val 73823"/>
              <a:gd name="adj3" fmla="val 1666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3200" dirty="0">
                <a:effectLst/>
                <a:latin typeface="Arial" panose="020B0604020202020204" pitchFamily="34" charset="0"/>
                <a:sym typeface="+mn-ea"/>
              </a:rPr>
              <a:t>#include&lt;string.h&gt;</a:t>
            </a:r>
            <a:endParaRPr lang="en-US" altLang="zh-CN" sz="3200" b="1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6" grpId="0" bldLvl="0" animBg="1"/>
      <p:bldP spid="2" grpId="0" bldLvl="0" animBg="1"/>
      <p:bldP spid="3" grpId="0" animBg="1"/>
      <p:bldP spid="3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8874" name="Group 154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81635" y="152400"/>
          <a:ext cx="11414125" cy="6289040"/>
        </p:xfrm>
        <a:graphic>
          <a:graphicData uri="http://schemas.openxmlformats.org/drawingml/2006/table">
            <a:tbl>
              <a:tblPr/>
              <a:tblGrid>
                <a:gridCol w="1060450"/>
                <a:gridCol w="5054600"/>
                <a:gridCol w="5299075"/>
              </a:tblGrid>
              <a:tr h="51816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教材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208)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7.1 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字符数组 与 字符指针的对比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46" marR="91446" marT="45725" marB="45725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46" marR="91446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char数组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char* 变量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存储空间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46" marR="91446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分配</a:t>
                      </a:r>
                      <a:r>
                        <a:rPr kumimoji="0" lang="zh-CN" altLang="en-US" sz="1800" b="1" i="1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数组空间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例：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 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[10]: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分配</a:t>
                      </a:r>
                      <a:r>
                        <a:rPr kumimoji="0" lang="en-US" altLang="zh-CN" sz="2800" b="1" i="1" u="sng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sizeof</a:t>
                      </a:r>
                      <a:r>
                        <a:rPr kumimoji="0" lang="en-US" altLang="zh-CN" sz="2800" b="1" i="1" u="sng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(char)×10</a:t>
                      </a:r>
                      <a:r>
                        <a:rPr kumimoji="0" lang="zh-CN" altLang="en-US" sz="2800" b="1" i="1" u="sng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个字节</a:t>
                      </a:r>
                      <a:endParaRPr kumimoji="0" lang="zh-CN" altLang="en-US" sz="2800" b="1" i="1" u="sng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分配</a:t>
                      </a:r>
                      <a:r>
                        <a:rPr kumimoji="0" lang="zh-CN" altLang="en-US" sz="1800" b="1" i="1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指针空间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，例：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 *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pStr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="me";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分配</a:t>
                      </a:r>
                      <a:r>
                        <a:rPr kumimoji="0" lang="en-US" altLang="zh-CN" sz="2800" b="1" i="1" u="sng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zh-CN" altLang="en-US" sz="2800" b="1" i="1" u="sng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个字节</a:t>
                      </a:r>
                      <a:endParaRPr kumimoji="0" lang="zh-CN" altLang="en-US" sz="2800" b="1" i="1" u="sng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46" marR="91446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1676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初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始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化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可以用字符串初始化。如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  a[ ]="string";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1" i="1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1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数组变量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有七个元素，把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string\0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这七个字符顺次分别放入数组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各个元素中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25" marB="45725" anchor="ctr" anchorCt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可以用字符串初始化。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  *p="string"</a:t>
                      </a:r>
                      <a:r>
                        <a:rPr lang="en-US" altLang="zh-CN" sz="2800" b="1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;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"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lang="en-US" altLang="zh-CN" sz="18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"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zh-CN" altLang="en-US" sz="18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常量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指向该常量首地址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46" marR="91446" marT="45725" marB="45725" anchor="ctr" anchorCt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7772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赋值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1446" marR="91446" marT="45725" marB="45725" anchor="ctr" anchorCt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为下标为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的数组元素赋值：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a[2]=</a:t>
                      </a:r>
                      <a:r>
                        <a:rPr lang="en-US" altLang="zh-CN" sz="2800" b="1" noProof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宋体" panose="02010600030101010101" pitchFamily="2" charset="-122"/>
                          <a:sym typeface="+mn-ea"/>
                        </a:rPr>
                        <a:t>'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CN" sz="2800" b="1" noProof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宋体" panose="02010600030101010101" pitchFamily="2" charset="-122"/>
                          <a:sym typeface="+mn-ea"/>
                        </a:rPr>
                        <a:t>'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为数组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赋值：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strcpy(a, "hello")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不允许：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a=p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因为数组名是指针常量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25" marB="45725" anchor="ctr" anchorCt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可以让指针变量指向任意字符串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 a[10]="me";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 *p;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p=a; 或p=&amp;a[0];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p="Hello";  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1446" marR="91446" marT="45725" marB="45725" anchor="ctr" anchorCt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3" name="灯片编号占位符 4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9048750" y="6345238"/>
            <a:ext cx="1114425" cy="457200"/>
          </a:xfrm>
        </p:spPr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739C91-72B6-426C-8C26-BF47A00F1C80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9898" name="Group 110"/>
          <p:cNvGrpSpPr/>
          <p:nvPr/>
        </p:nvGrpSpPr>
        <p:grpSpPr>
          <a:xfrm>
            <a:off x="3657600" y="5562600"/>
            <a:ext cx="464185" cy="214630"/>
            <a:chOff x="4105" y="3294"/>
            <a:chExt cx="1497" cy="726"/>
          </a:xfrm>
        </p:grpSpPr>
        <p:sp>
          <p:nvSpPr>
            <p:cNvPr id="79899" name="Line 111"/>
            <p:cNvSpPr/>
            <p:nvPr/>
          </p:nvSpPr>
          <p:spPr>
            <a:xfrm>
              <a:off x="4105" y="3294"/>
              <a:ext cx="1497" cy="726"/>
            </a:xfrm>
            <a:prstGeom prst="line">
              <a:avLst/>
            </a:prstGeom>
            <a:ln w="57150" cap="flat" cmpd="sng">
              <a:solidFill>
                <a:srgbClr val="F402FC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9900" name="Line 112"/>
            <p:cNvSpPr/>
            <p:nvPr/>
          </p:nvSpPr>
          <p:spPr>
            <a:xfrm flipH="1">
              <a:off x="4105" y="3294"/>
              <a:ext cx="1497" cy="726"/>
            </a:xfrm>
            <a:prstGeom prst="line">
              <a:avLst/>
            </a:prstGeom>
            <a:ln w="57150" cap="flat" cmpd="sng">
              <a:solidFill>
                <a:srgbClr val="F402FC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60870" name="Group 102"/>
          <p:cNvGraphicFramePr>
            <a:graphicFrameLocks noGrp="1"/>
          </p:cNvGraphicFramePr>
          <p:nvPr>
            <p:ph sz="half" idx="1"/>
            <p:custDataLst>
              <p:tags r:id="rId1"/>
            </p:custDataLst>
          </p:nvPr>
        </p:nvGraphicFramePr>
        <p:xfrm>
          <a:off x="34925" y="875030"/>
          <a:ext cx="11547475" cy="5883910"/>
        </p:xfrm>
        <a:graphic>
          <a:graphicData uri="http://schemas.openxmlformats.org/drawingml/2006/table">
            <a:tbl>
              <a:tblPr/>
              <a:tblGrid>
                <a:gridCol w="971550"/>
                <a:gridCol w="4646295"/>
                <a:gridCol w="5929630"/>
              </a:tblGrid>
              <a:tr h="137287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址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值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数组名是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指针常量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总是指向数组首地址。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指针变量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可以指向任意字符串。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09495">
                <a:tc>
                  <a:txBody>
                    <a:bodyPr/>
                    <a:lstStyle/>
                    <a:p>
                      <a:pPr marL="0" marR="0" lvl="0" algn="ctr" defTabSz="914400" rtl="0" eaLnBrk="1" fontAlgn="b" latinLnBrk="0" hangingPunct="1">
                        <a:lnSpc>
                          <a:spcPct val="100000"/>
                        </a:lnSpc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algn="ctr" defTabSz="914400" rtl="0" eaLnBrk="1" fontAlgn="b" latinLnBrk="0" hangingPunct="1">
                        <a:lnSpc>
                          <a:spcPct val="100000"/>
                        </a:lnSpc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变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algn="ctr" defTabSz="914400" rtl="0" eaLnBrk="1" fontAlgn="b" latinLnBrk="0" hangingPunct="1">
                        <a:lnSpc>
                          <a:spcPct val="100000"/>
                        </a:lnSpc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性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数组名是指针常量，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值不可变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常用如下形式访问分量：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a[v]    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下标变量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a+v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 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基址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位移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指针变量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值可变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可以通过各种运算改变值。例如：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p=&amp;a[0];        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赋值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p=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p+i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;             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运算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p++;p-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;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79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关系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 *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变量   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可以指向  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char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数组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9" marB="456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1682750">
                <a:tc>
                  <a:txBody>
                    <a:bodyPr/>
                    <a:lstStyle/>
                    <a:p>
                      <a:pPr marL="0" marR="0" lvl="0" algn="ctr" defTabSz="914400" rtl="0" eaLnBrk="1" fontAlgn="b" latinLnBrk="0" hangingPunct="1">
                        <a:lnSpc>
                          <a:spcPct val="100000"/>
                        </a:lnSpc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函数参数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如果形参是数组，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实参可以是数组名，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可以是指针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如果形参是指针，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实参可以是数组名，可以是指针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649" marB="456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0859" name="Group 91"/>
          <p:cNvGraphicFramePr>
            <a:graphicFrameLocks noGrp="1"/>
          </p:cNvGraphicFramePr>
          <p:nvPr>
            <p:ph sz="half" idx="1"/>
          </p:nvPr>
        </p:nvGraphicFramePr>
        <p:xfrm>
          <a:off x="34925" y="182880"/>
          <a:ext cx="11547475" cy="692150"/>
        </p:xfrm>
        <a:graphic>
          <a:graphicData uri="http://schemas.openxmlformats.org/drawingml/2006/table">
            <a:tbl>
              <a:tblPr/>
              <a:tblGrid>
                <a:gridCol w="960755"/>
                <a:gridCol w="4666430"/>
                <a:gridCol w="5920290"/>
              </a:tblGrid>
              <a:tr h="69215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数组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char*</a:t>
                      </a: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402FC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变量</a:t>
                      </a: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402FC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CD0D15-24FF-4EBE-A57E-7F2E88A0B547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2"/>
          <p:cNvSpPr>
            <a:spLocks noGrp="1"/>
          </p:cNvSpPr>
          <p:nvPr>
            <p:ph type="title"/>
          </p:nvPr>
        </p:nvSpPr>
        <p:spPr>
          <a:xfrm>
            <a:off x="533400" y="74613"/>
            <a:ext cx="109728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>
                <a:solidFill>
                  <a:schemeClr val="tx1"/>
                </a:solidFill>
                <a:effectLst/>
                <a:latin typeface="宋体" panose="02010600030101010101" pitchFamily="2" charset="-122"/>
              </a:rPr>
              <a:t>§7.4  </a:t>
            </a:r>
            <a:r>
              <a:rPr lang="zh-CN" altLang="en-US" b="1" dirty="0">
                <a:solidFill>
                  <a:schemeClr val="tx1"/>
                </a:solidFill>
                <a:effectLst/>
              </a:rPr>
              <a:t>指向指针的指针</a:t>
            </a:r>
            <a:endParaRPr lang="zh-CN" altLang="en-US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95400"/>
            <a:ext cx="12192000" cy="1136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	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如果一个指针变量指向的变量仍然是一个指针变量，就构成指向指针变量的指针变量，简称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指向指针的指针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7" name="灯片编号占位符 6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ED46CAA-B9AB-4748-8694-D2B23ECC58B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65941" name="Group 5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53210" y="5434965"/>
          <a:ext cx="7816850" cy="963930"/>
        </p:xfrm>
        <a:graphic>
          <a:graphicData uri="http://schemas.openxmlformats.org/drawingml/2006/table">
            <a:tbl>
              <a:tblPr/>
              <a:tblGrid>
                <a:gridCol w="1471295"/>
                <a:gridCol w="1666875"/>
                <a:gridCol w="407035"/>
                <a:gridCol w="1685290"/>
                <a:gridCol w="380365"/>
                <a:gridCol w="2205990"/>
              </a:tblGrid>
              <a:tr h="5064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二级指针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指针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变量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p: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043" name="Rectangle 4"/>
          <p:cNvSpPr/>
          <p:nvPr/>
        </p:nvSpPr>
        <p:spPr>
          <a:xfrm>
            <a:off x="487045" y="2682875"/>
            <a:ext cx="4321175" cy="21704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914400" lvl="2" indent="0" eaLnBrk="1" hangingPunct="1">
              <a:spcBef>
                <a:spcPct val="0"/>
              </a:spcBef>
              <a:buClrTx/>
              <a:buNone/>
            </a:pPr>
            <a:r>
              <a:rPr lang="en-US" altLang="zh-CN" sz="3600" b="1" dirty="0">
                <a:solidFill>
                  <a:srgbClr val="FFFF00"/>
                </a:solidFill>
                <a:latin typeface="Arial" panose="020B0604020202020204" pitchFamily="34" charset="0"/>
              </a:rPr>
              <a:t>int   **p , *s , v ;</a:t>
            </a:r>
            <a:endParaRPr lang="en-US" altLang="zh-CN" sz="3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marL="914400" lvl="2" indent="0" eaLnBrk="1" hangingPunct="1">
              <a:spcBef>
                <a:spcPct val="0"/>
              </a:spcBef>
              <a:buClrTx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s = &amp;v ; </a:t>
            </a:r>
            <a:endParaRPr lang="en-US" altLang="zh-CN" sz="3600" b="1" dirty="0">
              <a:latin typeface="Arial" panose="020B0604020202020204" pitchFamily="34" charset="0"/>
            </a:endParaRPr>
          </a:p>
          <a:p>
            <a:pPr marL="914400" lvl="2" indent="0" eaLnBrk="1" hangingPunct="1">
              <a:spcBef>
                <a:spcPct val="0"/>
              </a:spcBef>
              <a:buClrTx/>
              <a:buNone/>
            </a:pPr>
            <a:r>
              <a:rPr lang="en-US" altLang="zh-CN" sz="3600" b="1" dirty="0">
                <a:latin typeface="Arial" panose="020B0604020202020204" pitchFamily="34" charset="0"/>
              </a:rPr>
              <a:t>p = &amp;s ;</a:t>
            </a:r>
            <a:endParaRPr lang="zh-CN" altLang="en-US" sz="3600" b="1" dirty="0"/>
          </a:p>
        </p:txBody>
      </p:sp>
      <p:sp>
        <p:nvSpPr>
          <p:cNvPr id="165895" name="Rectangle 7"/>
          <p:cNvSpPr/>
          <p:nvPr/>
        </p:nvSpPr>
        <p:spPr>
          <a:xfrm>
            <a:off x="6705600" y="2895442"/>
            <a:ext cx="4368800" cy="2122805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zh-CN" altLang="en-US" sz="3600" b="1" dirty="0">
                <a:latin typeface="Arial" panose="020B0604020202020204" pitchFamily="34" charset="0"/>
              </a:rPr>
              <a:t>给 </a:t>
            </a:r>
            <a:r>
              <a:rPr lang="en-US" altLang="zh-CN" sz="3600" b="1" dirty="0">
                <a:latin typeface="Arial" panose="020B0604020202020204" pitchFamily="34" charset="0"/>
              </a:rPr>
              <a:t>v </a:t>
            </a:r>
            <a:r>
              <a:rPr lang="zh-CN" altLang="en-US" sz="3600" b="1" dirty="0">
                <a:latin typeface="Arial" panose="020B0604020202020204" pitchFamily="34" charset="0"/>
              </a:rPr>
              <a:t>赋值：</a:t>
            </a:r>
            <a:endParaRPr lang="zh-CN" altLang="en-US" sz="3600" b="1" dirty="0"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 v   = 300;</a:t>
            </a:r>
            <a:endParaRPr lang="en-US" altLang="zh-CN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*s  = 300;</a:t>
            </a:r>
            <a:endParaRPr lang="en-US" altLang="zh-CN" b="1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chemeClr val="hlink"/>
                </a:solidFill>
                <a:latin typeface="Arial" panose="020B0604020202020204" pitchFamily="34" charset="0"/>
              </a:rPr>
              <a:t>**p = 300; </a:t>
            </a:r>
            <a:endParaRPr lang="en-US" altLang="zh-CN" b="1" dirty="0">
              <a:solidFill>
                <a:schemeClr val="hlink"/>
              </a:solidFill>
              <a:latin typeface="Arial" panose="020B0604020202020204" pitchFamily="34" charset="0"/>
            </a:endParaRPr>
          </a:p>
        </p:txBody>
      </p:sp>
      <p:sp>
        <p:nvSpPr>
          <p:cNvPr id="86050" name="Line 48"/>
          <p:cNvSpPr/>
          <p:nvPr/>
        </p:nvSpPr>
        <p:spPr>
          <a:xfrm flipV="1">
            <a:off x="3886835" y="6159500"/>
            <a:ext cx="12319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86051" name="Line 49"/>
          <p:cNvSpPr/>
          <p:nvPr/>
        </p:nvSpPr>
        <p:spPr>
          <a:xfrm flipV="1">
            <a:off x="6182360" y="6162040"/>
            <a:ext cx="101473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</p:sp>
      <p:sp>
        <p:nvSpPr>
          <p:cNvPr id="5" name="文本框 4"/>
          <p:cNvSpPr txBox="1"/>
          <p:nvPr/>
        </p:nvSpPr>
        <p:spPr>
          <a:xfrm>
            <a:off x="8185785" y="5977255"/>
            <a:ext cx="11080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300</a:t>
            </a:r>
            <a:endParaRPr lang="en-US" altLang="zh-CN" sz="24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86043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灯片编号占位符 4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4B2C52C-10F8-47C4-BD4B-F07EAC2DBEC4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10200" y="1066800"/>
            <a:ext cx="426529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void</a:t>
            </a:r>
            <a:r>
              <a:rPr lang="en-US" altLang="zh-CN" sz="3600" b="1" dirty="0">
                <a:solidFill>
                  <a:srgbClr val="FFFF00"/>
                </a:solidFill>
              </a:rPr>
              <a:t> f1</a:t>
            </a:r>
            <a:r>
              <a:rPr lang="en-US" altLang="zh-CN" sz="3600" b="1" dirty="0"/>
              <a:t>( int *p1)</a:t>
            </a:r>
            <a:endParaRPr lang="en-US" altLang="zh-CN" sz="36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{</a:t>
            </a:r>
            <a:endParaRPr lang="en-US" altLang="zh-CN" sz="36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     p1=b;</a:t>
            </a:r>
            <a:endParaRPr lang="en-US" altLang="zh-CN" sz="36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}</a:t>
            </a:r>
            <a:endParaRPr lang="zh-CN" altLang="en-US" sz="36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228600" y="1295400"/>
            <a:ext cx="4960620" cy="5077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int main()</a:t>
            </a:r>
            <a:endParaRPr lang="en-US" altLang="zh-CN" sz="36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{ 	</a:t>
            </a:r>
            <a:endParaRPr lang="en-US" altLang="zh-CN" sz="3600" b="1" dirty="0"/>
          </a:p>
          <a:p>
            <a:pPr marL="457200" lvl="1" indent="4572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ym typeface="+mn-ea"/>
              </a:rPr>
              <a:t>int a[10],b[10];</a:t>
            </a:r>
            <a:endParaRPr lang="en-US" altLang="zh-CN" sz="3600" b="1" dirty="0"/>
          </a:p>
          <a:p>
            <a:pPr marL="457200" lvl="1" indent="4572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//……</a:t>
            </a:r>
            <a:endParaRPr lang="en-US" altLang="zh-CN" sz="3600" b="1" dirty="0"/>
          </a:p>
          <a:p>
            <a:pPr marL="457200" lvl="1" indent="4572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int *p=a;</a:t>
            </a:r>
            <a:endParaRPr lang="en-US" altLang="zh-CN" sz="36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</a:rPr>
              <a:t>	//f1(p);</a:t>
            </a:r>
            <a:endParaRPr lang="en-US" altLang="zh-CN" sz="3600" b="1" dirty="0">
              <a:solidFill>
                <a:srgbClr val="FFFF00"/>
              </a:solidFill>
            </a:endParaRPr>
          </a:p>
          <a:p>
            <a:pPr marL="457200" lvl="1" indent="45720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>
                <a:solidFill>
                  <a:srgbClr val="FFFF00"/>
                </a:solidFill>
              </a:rPr>
              <a:t>//f2(&amp;p);</a:t>
            </a:r>
            <a:endParaRPr lang="en-US" altLang="zh-CN" sz="3600" b="1" dirty="0">
              <a:solidFill>
                <a:srgbClr val="FFFF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       //</a:t>
            </a:r>
            <a:r>
              <a:rPr lang="zh-CN" altLang="en-US" sz="3600" b="1" dirty="0"/>
              <a:t>输出</a:t>
            </a:r>
            <a:r>
              <a:rPr lang="en-US" altLang="zh-CN" sz="3600" b="1" dirty="0"/>
              <a:t>*p</a:t>
            </a:r>
            <a:endParaRPr lang="en-US" altLang="zh-CN" sz="36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}</a:t>
            </a:r>
            <a:endParaRPr lang="zh-CN" altLang="en-US" sz="36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5410200" y="3733800"/>
            <a:ext cx="482663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 b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/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/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/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void </a:t>
            </a:r>
            <a:r>
              <a:rPr lang="en-US" altLang="zh-CN" sz="3600" b="1" dirty="0">
                <a:solidFill>
                  <a:srgbClr val="FFFF00"/>
                </a:solidFill>
              </a:rPr>
              <a:t>f2</a:t>
            </a:r>
            <a:r>
              <a:rPr lang="en-US" altLang="zh-CN" sz="3600" b="1" dirty="0"/>
              <a:t>( int **p2)</a:t>
            </a:r>
            <a:endParaRPr lang="en-US" altLang="zh-CN" sz="36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{</a:t>
            </a:r>
            <a:endParaRPr lang="en-US" altLang="zh-CN" sz="36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    *p2=b</a:t>
            </a:r>
            <a:r>
              <a:rPr lang="en-US" altLang="zh-CN" sz="3600" b="1" dirty="0">
                <a:sym typeface="+mn-ea"/>
              </a:rPr>
              <a:t>;</a:t>
            </a:r>
            <a:r>
              <a:rPr lang="en-US" altLang="zh-CN" sz="3600" b="1" dirty="0"/>
              <a:t>	</a:t>
            </a:r>
            <a:endParaRPr lang="en-US" altLang="zh-CN" sz="3600" b="1" dirty="0"/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b="1" dirty="0"/>
              <a:t>}</a:t>
            </a:r>
            <a:endParaRPr lang="zh-CN" altLang="en-US" sz="36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52400" y="152400"/>
            <a:ext cx="56089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【思考】【课后实践】</a:t>
            </a:r>
            <a:endParaRPr lang="zh-CN" altLang="en-US" sz="40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3" grpId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>
                <a:solidFill>
                  <a:schemeClr val="tx1"/>
                </a:solidFill>
                <a:effectLst/>
              </a:rPr>
              <a:t>本章小结</a:t>
            </a:r>
            <a:endParaRPr lang="zh-CN" altLang="en-US" b="1" dirty="0">
              <a:solidFill>
                <a:schemeClr val="tx1"/>
              </a:solidFill>
              <a:effectLst/>
            </a:endParaRP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828800"/>
            <a:ext cx="10115550" cy="38401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本章主要介绍指针的概念与操作，并对指针与数组关系进行详细介绍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重点掌握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指针变量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与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指针所指变量 之间的关系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</a:rPr>
              <a:t>指针 与 数组 之间的关系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难点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一维数组作参数（形参、实参）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二维数组作参数（形参、实参）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指针做参数（形参、实参）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4"/>
          </p:nvPr>
        </p:nvSpPr>
        <p:spPr bwMode="auto"/>
        <p:txBody>
          <a:bodyPr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80732D9-5575-4264-BF4A-F2FE1CEC5A1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3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4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5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6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7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8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9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10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11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12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13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14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15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16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17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18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19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0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1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2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3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4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5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6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7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8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29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30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31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32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33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34.xml><?xml version="1.0" encoding="utf-8"?>
<p:tagLst xmlns:p="http://schemas.openxmlformats.org/presentationml/2006/main">
  <p:tag name="KSO_WM_DIAGRAM_VIRTUALLY_FRAME" val="{&quot;height&quot;:138.12503937007872,&quot;left&quot;:444,&quot;top&quot;:246,&quot;width&quot;:430.87503937007875}"/>
</p:tagLst>
</file>

<file path=ppt/tags/tag35.xml><?xml version="1.0" encoding="utf-8"?>
<p:tagLst xmlns:p="http://schemas.openxmlformats.org/presentationml/2006/main">
  <p:tag name="KSO_WM_DIAGRAM_VIRTUALLY_FRAME" val="{&quot;height&quot;:128.62496062992128,&quot;left&quot;:-2.37496062992126,&quot;top&quot;:141.87503937007872,&quot;width&quot;:366.12496062992125}"/>
</p:tagLst>
</file>

<file path=ppt/tags/tag36.xml><?xml version="1.0" encoding="utf-8"?>
<p:tagLst xmlns:p="http://schemas.openxmlformats.org/presentationml/2006/main">
  <p:tag name="KSO_WM_DIAGRAM_VIRTUALLY_FRAME" val="{&quot;height&quot;:128.62496062992128,&quot;left&quot;:-2.37496062992126,&quot;top&quot;:141.87503937007872,&quot;width&quot;:366.12496062992125}"/>
</p:tagLst>
</file>

<file path=ppt/tags/tag37.xml><?xml version="1.0" encoding="utf-8"?>
<p:tagLst xmlns:p="http://schemas.openxmlformats.org/presentationml/2006/main">
  <p:tag name="KSO_WM_DIAGRAM_VIRTUALLY_FRAME" val="{&quot;height&quot;:128.62496062992128,&quot;left&quot;:-2.37496062992126,&quot;top&quot;:141.87503937007872,&quot;width&quot;:366.12496062992125}"/>
</p:tagLst>
</file>

<file path=ppt/tags/tag38.xml><?xml version="1.0" encoding="utf-8"?>
<p:tagLst xmlns:p="http://schemas.openxmlformats.org/presentationml/2006/main">
  <p:tag name="KSO_WM_DIAGRAM_VIRTUALLY_FRAME" val="{&quot;height&quot;:128.62496062992128,&quot;left&quot;:-2.37496062992126,&quot;top&quot;:141.87503937007872,&quot;width&quot;:366.12496062992125}"/>
</p:tagLst>
</file>

<file path=ppt/tags/tag39.xml><?xml version="1.0" encoding="utf-8"?>
<p:tagLst xmlns:p="http://schemas.openxmlformats.org/presentationml/2006/main">
  <p:tag name="KSO_WM_DIAGRAM_VIRTUALLY_FRAME" val="{&quot;height&quot;:128.62496062992128,&quot;left&quot;:-2.37496062992126,&quot;top&quot;:141.87503937007872,&quot;width&quot;:366.12496062992125}"/>
</p:tagLst>
</file>

<file path=ppt/tags/tag40.xml><?xml version="1.0" encoding="utf-8"?>
<p:tagLst xmlns:p="http://schemas.openxmlformats.org/presentationml/2006/main">
  <p:tag name="KSO_WM_DIAGRAM_VIRTUALLY_FRAME" val="{&quot;height&quot;:128.62496062992128,&quot;left&quot;:-2.37496062992126,&quot;top&quot;:141.87503937007872,&quot;width&quot;:366.12496062992125}"/>
</p:tagLst>
</file>

<file path=ppt/tags/tag41.xml><?xml version="1.0" encoding="utf-8"?>
<p:tagLst xmlns:p="http://schemas.openxmlformats.org/presentationml/2006/main">
  <p:tag name="KSO_WM_DIAGRAM_VIRTUALLY_FRAME" val="{&quot;height&quot;:128.62496062992128,&quot;left&quot;:-2.37496062992126,&quot;top&quot;:141.87503937007872,&quot;width&quot;:366.12496062992125}"/>
</p:tagLst>
</file>

<file path=ppt/tags/tag42.xml><?xml version="1.0" encoding="utf-8"?>
<p:tagLst xmlns:p="http://schemas.openxmlformats.org/presentationml/2006/main">
  <p:tag name="KSO_WM_DIAGRAM_VIRTUALLY_FRAME" val="{&quot;height&quot;:128.62496062992128,&quot;left&quot;:-2.37496062992126,&quot;top&quot;:141.87503937007872,&quot;width&quot;:366.12496062992125}"/>
</p:tagLst>
</file>

<file path=ppt/tags/tag43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44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45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46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47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48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49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50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51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52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53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54.xml><?xml version="1.0" encoding="utf-8"?>
<p:tagLst xmlns:p="http://schemas.openxmlformats.org/presentationml/2006/main">
  <p:tag name="KSO_WM_DIAGRAM_VIRTUALLY_FRAME" val="{&quot;height&quot;:120.62496062992128,&quot;left&quot;:554.8750393700788,&quot;top&quot;:90.12503937007874,&quot;width&quot;:195.25}"/>
</p:tagLst>
</file>

<file path=ppt/tags/tag55.xml><?xml version="1.0" encoding="utf-8"?>
<p:tagLst xmlns:p="http://schemas.openxmlformats.org/presentationml/2006/main">
  <p:tag name="KSO_WM_DIAGRAM_VIRTUALLY_FRAME" val="{&quot;height&quot;:474.75007874015745,&quot;left&quot;:6,&quot;top&quot;:54,&quot;width&quot;:900}"/>
</p:tagLst>
</file>

<file path=ppt/tags/tag56.xml><?xml version="1.0" encoding="utf-8"?>
<p:tagLst xmlns:p="http://schemas.openxmlformats.org/presentationml/2006/main">
  <p:tag name="KSO_WM_DIAGRAM_VIRTUALLY_FRAME" val="{&quot;height&quot;:474.75007874015745,&quot;left&quot;:6,&quot;top&quot;:54,&quot;width&quot;:900}"/>
</p:tagLst>
</file>

<file path=ppt/tags/tag57.xml><?xml version="1.0" encoding="utf-8"?>
<p:tagLst xmlns:p="http://schemas.openxmlformats.org/presentationml/2006/main">
  <p:tag name="KSO_WM_DIAGRAM_VIRTUALLY_FRAME" val="{&quot;height&quot;:474.75007874015745,&quot;left&quot;:6,&quot;top&quot;:54,&quot;width&quot;:900}"/>
</p:tagLst>
</file>

<file path=ppt/tags/tag58.xml><?xml version="1.0" encoding="utf-8"?>
<p:tagLst xmlns:p="http://schemas.openxmlformats.org/presentationml/2006/main">
  <p:tag name="KSO_WM_DIAGRAM_VIRTUALLY_FRAME" val="{&quot;height&quot;:474.75007874015745,&quot;left&quot;:6,&quot;top&quot;:54,&quot;width&quot;:900}"/>
</p:tagLst>
</file>

<file path=ppt/tags/tag59.xml><?xml version="1.0" encoding="utf-8"?>
<p:tagLst xmlns:p="http://schemas.openxmlformats.org/presentationml/2006/main">
  <p:tag name="KSO_WM_DIAGRAM_VIRTUALLY_FRAME" val="{&quot;height&quot;:474.75007874015745,&quot;left&quot;:6,&quot;top&quot;:54,&quot;width&quot;:900}"/>
</p:tagLst>
</file>

<file path=ppt/tags/tag60.xml><?xml version="1.0" encoding="utf-8"?>
<p:tagLst xmlns:p="http://schemas.openxmlformats.org/presentationml/2006/main">
  <p:tag name="KSO_WM_DIAGRAM_VIRTUALLY_FRAME" val="{&quot;height&quot;:474.75007874015745,&quot;left&quot;:6,&quot;top&quot;:54,&quot;width&quot;:900}"/>
</p:tagLst>
</file>

<file path=ppt/tags/tag61.xml><?xml version="1.0" encoding="utf-8"?>
<p:tagLst xmlns:p="http://schemas.openxmlformats.org/presentationml/2006/main">
  <p:tag name="KSO_WM_DIAGRAM_VIRTUALLY_FRAME" val="{&quot;height&quot;:146.5,&quot;left&quot;:538.2750393700787,&quot;top&quot;:114,&quot;width&quot;:310.12496062992125}"/>
</p:tagLst>
</file>

<file path=ppt/tags/tag62.xml><?xml version="1.0" encoding="utf-8"?>
<p:tagLst xmlns:p="http://schemas.openxmlformats.org/presentationml/2006/main">
  <p:tag name="KSO_WM_DIAGRAM_VIRTUALLY_FRAME" val="{&quot;height&quot;:146.5,&quot;left&quot;:538.2750393700787,&quot;top&quot;:114,&quot;width&quot;:310.12496062992125}"/>
</p:tagLst>
</file>

<file path=ppt/tags/tag63.xml><?xml version="1.0" encoding="utf-8"?>
<p:tagLst xmlns:p="http://schemas.openxmlformats.org/presentationml/2006/main">
  <p:tag name="KSO_WM_DIAGRAM_VIRTUALLY_FRAME" val="{&quot;height&quot;:146.5,&quot;left&quot;:538.2750393700787,&quot;top&quot;:114,&quot;width&quot;:310.12496062992125}"/>
</p:tagLst>
</file>

<file path=ppt/tags/tag64.xml><?xml version="1.0" encoding="utf-8"?>
<p:tagLst xmlns:p="http://schemas.openxmlformats.org/presentationml/2006/main">
  <p:tag name="KSO_WM_DIAGRAM_VIRTUALLY_FRAME" val="{&quot;height&quot;:146.5,&quot;left&quot;:538.2750393700787,&quot;top&quot;:114,&quot;width&quot;:310.12496062992125}"/>
</p:tagLst>
</file>

<file path=ppt/tags/tag65.xml><?xml version="1.0" encoding="utf-8"?>
<p:tagLst xmlns:p="http://schemas.openxmlformats.org/presentationml/2006/main">
  <p:tag name="KSO_WM_DIAGRAM_VIRTUALLY_FRAME" val="{&quot;height&quot;:146.5,&quot;left&quot;:538.2750393700787,&quot;top&quot;:114,&quot;width&quot;:310.12496062992125}"/>
</p:tagLst>
</file>

<file path=ppt/tags/tag66.xml><?xml version="1.0" encoding="utf-8"?>
<p:tagLst xmlns:p="http://schemas.openxmlformats.org/presentationml/2006/main">
  <p:tag name="KSO_WM_DIAGRAM_VIRTUALLY_FRAME" val="{&quot;height&quot;:146.5,&quot;left&quot;:538.2750393700787,&quot;top&quot;:114,&quot;width&quot;:310.12496062992125}"/>
</p:tagLst>
</file>

<file path=ppt/tags/tag67.xml><?xml version="1.0" encoding="utf-8"?>
<p:tagLst xmlns:p="http://schemas.openxmlformats.org/presentationml/2006/main">
  <p:tag name="KSO_WM_DIAGRAM_VIRTUALLY_FRAME" val="{&quot;height&quot;:146.5,&quot;left&quot;:538.2750393700787,&quot;top&quot;:114,&quot;width&quot;:310.12496062992125}"/>
</p:tagLst>
</file>

<file path=ppt/tags/tag68.xml><?xml version="1.0" encoding="utf-8"?>
<p:tagLst xmlns:p="http://schemas.openxmlformats.org/presentationml/2006/main">
  <p:tag name="TABLE_ENDDRAG_ORIGIN_RECT" val="898*493"/>
  <p:tag name="TABLE_ENDDRAG_RECT" val="3*0*898*493"/>
</p:tagLst>
</file>

<file path=ppt/tags/tag69.xml><?xml version="1.0" encoding="utf-8"?>
<p:tagLst xmlns:p="http://schemas.openxmlformats.org/presentationml/2006/main">
  <p:tag name="TABLE_ENDDRAG_ORIGIN_RECT" val="909*463"/>
  <p:tag name="TABLE_ENDDRAG_RECT" val="2*57*909*463"/>
</p:tagLst>
</file>

<file path=ppt/tags/tag70.xml><?xml version="1.0" encoding="utf-8"?>
<p:tagLst xmlns:p="http://schemas.openxmlformats.org/presentationml/2006/main">
  <p:tag name="TABLE_ENDDRAG_ORIGIN_RECT" val="615*75"/>
  <p:tag name="TABLE_ENDDRAG_RECT" val="116*427*615*75"/>
</p:tagLst>
</file>

<file path=ppt/tags/tag71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13878</Words>
  <Application>WPS 演示</Application>
  <PresentationFormat>宽屏</PresentationFormat>
  <Paragraphs>2040</Paragraphs>
  <Slides>50</Slides>
  <Notes>28</Notes>
  <HiddenSlides>8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3" baseType="lpstr">
      <vt:lpstr>Arial</vt:lpstr>
      <vt:lpstr>宋体</vt:lpstr>
      <vt:lpstr>Wingdings</vt:lpstr>
      <vt:lpstr>Tahoma</vt:lpstr>
      <vt:lpstr>Times New Roman</vt:lpstr>
      <vt:lpstr>微软雅黑</vt:lpstr>
      <vt:lpstr>Arial Unicode MS</vt:lpstr>
      <vt:lpstr>华文楷体</vt:lpstr>
      <vt:lpstr>黑体</vt:lpstr>
      <vt:lpstr>等线</vt:lpstr>
      <vt:lpstr>Wingdings 3</vt:lpstr>
      <vt:lpstr>Symbol</vt:lpstr>
      <vt:lpstr>1_Slit</vt:lpstr>
      <vt:lpstr>§7.5  指针与数组</vt:lpstr>
      <vt:lpstr>§7.5  指针与数组</vt:lpstr>
      <vt:lpstr>§7.5.1  用指针标识数组</vt:lpstr>
      <vt:lpstr>【例7.5 】 指针与数组的关系</vt:lpstr>
      <vt:lpstr>注意1：数组名是指针常量</vt:lpstr>
      <vt:lpstr>注意2：指针变量的当前值</vt:lpstr>
      <vt:lpstr>PowerPoint 演示文稿</vt:lpstr>
      <vt:lpstr>【例7.7】输入10个整数，再把它们打印出来（指针变量错误用例）</vt:lpstr>
      <vt:lpstr>修改方法1：</vt:lpstr>
      <vt:lpstr>修改方法2：</vt:lpstr>
      <vt:lpstr>修改方法3：</vt:lpstr>
      <vt:lpstr>注意3：数组越界</vt:lpstr>
      <vt:lpstr>§7.5.4 二维数组与指针</vt:lpstr>
      <vt:lpstr>PowerPoint 演示文稿</vt:lpstr>
      <vt:lpstr>PowerPoint 演示文稿</vt:lpstr>
      <vt:lpstr>【例7.8】编函数，求给定float型m*n个元素的数组各元素之乘积。</vt:lpstr>
      <vt:lpstr>PowerPoint 演示文稿</vt:lpstr>
      <vt:lpstr>PowerPoint 演示文稿</vt:lpstr>
      <vt:lpstr>【例7.8】编函数，求给定float型m*n个元素的数组各元素之乘积。</vt:lpstr>
      <vt:lpstr>PowerPoint 演示文稿</vt:lpstr>
      <vt:lpstr>【拓展内容-不要求】行指针访问int二维数组</vt:lpstr>
      <vt:lpstr>【拓展内容-不要求】行指针访问char二维数组</vt:lpstr>
      <vt:lpstr>【思考】</vt:lpstr>
      <vt:lpstr>指针作形参</vt:lpstr>
      <vt:lpstr>数组作形参</vt:lpstr>
      <vt:lpstr>PowerPoint 演示文稿</vt:lpstr>
      <vt:lpstr>PowerPoint 演示文稿</vt:lpstr>
      <vt:lpstr>PowerPoint 演示文稿</vt:lpstr>
      <vt:lpstr>【程序找错】</vt:lpstr>
      <vt:lpstr>指针数组和数组的关系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§7.6 指针与字符串</vt:lpstr>
      <vt:lpstr>PowerPoint 演示文稿</vt:lpstr>
      <vt:lpstr>PowerPoint 演示文稿</vt:lpstr>
      <vt:lpstr>PowerPoint 演示文稿</vt:lpstr>
      <vt:lpstr>PowerPoint 演示文稿</vt:lpstr>
      <vt:lpstr>【例7.10】 把若干给定的字符串按字母顺序排序并输出</vt:lpstr>
      <vt:lpstr>PowerPoint 演示文稿</vt:lpstr>
      <vt:lpstr>PowerPoint 演示文稿</vt:lpstr>
      <vt:lpstr>PowerPoint 演示文稿</vt:lpstr>
      <vt:lpstr>PowerPoint 演示文稿</vt:lpstr>
      <vt:lpstr>§7.4  指向指针的指针</vt:lpstr>
      <vt:lpstr>PowerPoint 演示文稿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784</cp:revision>
  <dcterms:created xsi:type="dcterms:W3CDTF">2019-09-21T08:05:00Z</dcterms:created>
  <dcterms:modified xsi:type="dcterms:W3CDTF">2025-10-28T07:05:50Z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43DE947EFF644CC79B0541B2A1CE0E22_12</vt:lpwstr>
  </property>
</Properties>
</file>