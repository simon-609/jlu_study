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78" r:id="rId5"/>
    <p:sldId id="335" r:id="rId6"/>
    <p:sldId id="606" r:id="rId7"/>
    <p:sldId id="622" r:id="rId8"/>
    <p:sldId id="609" r:id="rId9"/>
    <p:sldId id="612" r:id="rId10"/>
    <p:sldId id="625" r:id="rId11"/>
    <p:sldId id="613" r:id="rId12"/>
    <p:sldId id="614" r:id="rId13"/>
    <p:sldId id="615" r:id="rId14"/>
    <p:sldId id="616" r:id="rId15"/>
    <p:sldId id="617" r:id="rId16"/>
    <p:sldId id="623" r:id="rId17"/>
    <p:sldId id="618" r:id="rId18"/>
    <p:sldId id="619" r:id="rId19"/>
    <p:sldId id="620" r:id="rId20"/>
    <p:sldId id="624" r:id="rId21"/>
    <p:sldId id="462" r:id="rId22"/>
    <p:sldId id="460" r:id="rId23"/>
    <p:sldId id="450" r:id="rId24"/>
    <p:sldId id="341" r:id="rId25"/>
    <p:sldId id="465" r:id="rId26"/>
    <p:sldId id="464" r:id="rId27"/>
    <p:sldId id="346" r:id="rId28"/>
    <p:sldId id="603" r:id="rId29"/>
    <p:sldId id="453" r:id="rId30"/>
    <p:sldId id="454" r:id="rId31"/>
    <p:sldId id="458" r:id="rId32"/>
    <p:sldId id="456" r:id="rId33"/>
    <p:sldId id="457" r:id="rId34"/>
    <p:sldId id="604" r:id="rId35"/>
    <p:sldId id="459" r:id="rId36"/>
  </p:sldIdLst>
  <p:sldSz cx="12192000" cy="6858000"/>
  <p:notesSz cx="6858000" cy="9144000"/>
  <p:custDataLst>
    <p:tags r:id="rId4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36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A06F8"/>
    <a:srgbClr val="FFFFFF"/>
    <a:srgbClr val="E005F9"/>
    <a:srgbClr val="041436"/>
    <a:srgbClr val="05264F"/>
    <a:srgbClr val="062855"/>
    <a:srgbClr val="05254E"/>
    <a:srgbClr val="052A57"/>
    <a:srgbClr val="053D6C"/>
    <a:srgbClr val="051E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946" y="67"/>
      </p:cViewPr>
      <p:guideLst>
        <p:guide orient="horz" pos="2248"/>
        <p:guide pos="3672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A1EC87-7163-4F87-A0F1-9A55DC0AA2C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>
              <a:spcBef>
                <a:spcPct val="0"/>
              </a:spcBef>
              <a:buFont typeface="Wingdings" panose="05000000000000000000" pitchFamily="2" charset="2"/>
              <a:buChar char="•"/>
            </a:pPr>
            <a:r>
              <a:rPr lang="zh-CN" altLang="en-US" sz="2000" dirty="0">
                <a:solidFill>
                  <a:schemeClr val="bg1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8.1</a:t>
            </a:r>
            <a:r>
              <a:rPr lang="zh-CN" altLang="en-US" sz="2000" dirty="0">
                <a:solidFill>
                  <a:schemeClr val="bg1"/>
                </a:solidFill>
                <a:ea typeface="黑体" panose="02010609060101010101" pitchFamily="49" charset="-122"/>
              </a:rPr>
              <a:t>显然比例</a:t>
            </a:r>
            <a:r>
              <a:rPr lang="en-US" altLang="zh-CN" sz="2000" dirty="0">
                <a:solidFill>
                  <a:schemeClr val="bg1"/>
                </a:solidFill>
                <a:ea typeface="黑体" panose="02010609060101010101" pitchFamily="49" charset="-122"/>
              </a:rPr>
              <a:t>6.12</a:t>
            </a:r>
            <a:r>
              <a:rPr lang="zh-CN" altLang="en-US" sz="2000" dirty="0">
                <a:solidFill>
                  <a:schemeClr val="bg1"/>
                </a:solidFill>
                <a:ea typeface="黑体" panose="02010609060101010101" pitchFamily="49" charset="-122"/>
              </a:rPr>
              <a:t>干净利索得多</a:t>
            </a:r>
            <a:endParaRPr lang="zh-CN" altLang="en-US" sz="2000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/>
                </a:solidFill>
                <a:ea typeface="黑体" panose="02010609060101010101" pitchFamily="49" charset="-122"/>
              </a:rPr>
              <a:t> 使用结构体把一个学生的信息表示成一个数据</a:t>
            </a:r>
            <a:endParaRPr lang="zh-CN" altLang="en-US" sz="2000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/>
                </a:solidFill>
                <a:ea typeface="黑体" panose="02010609060101010101" pitchFamily="49" charset="-122"/>
              </a:rPr>
              <a:t> 一个学生的信息作为一个整体处理</a:t>
            </a:r>
            <a:endParaRPr lang="zh-CN" altLang="en-US" sz="2000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lvl="1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bg1"/>
                </a:solidFill>
                <a:ea typeface="黑体" panose="02010609060101010101" pitchFamily="49" charset="-122"/>
              </a:rPr>
              <a:t> 交换两个学生的信息，只使用一组交换语句，便完成了</a:t>
            </a:r>
            <a:endParaRPr lang="zh-CN" altLang="en-US" sz="2000" dirty="0">
              <a:solidFill>
                <a:schemeClr val="bg1"/>
              </a:solidFill>
              <a:ea typeface="黑体" panose="02010609060101010101" pitchFamily="49" charset="-122"/>
            </a:endParaRPr>
          </a:p>
          <a:p>
            <a:pPr lvl="0" eaLnBrk="1" hangingPunct="1">
              <a:buChar char="•"/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29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60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80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01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21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EB1C9B-FFF9-4616-91B9-19A8B770668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B0FF16-E89C-485A-852C-164D989C4EA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ECBA00-73C8-4AE7-AF0D-78F5D46ACA8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66E2D-948E-4347-8B1B-73B6AD7E380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5772ED-13C4-4FAF-AC7F-12A304D5BD8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1202CF-285E-4994-A7DD-F28256230AF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6DED20-B75A-4A04-9E0F-1DEEB5859FB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242F48-8293-4028-A7D2-AA2075F15B6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F04A78-271B-44EF-89DA-6CA44FDD85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BA9308-AF14-4716-AD2F-09EE34DA8AA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12950D-59DC-428E-9295-C3459B87C54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DA5013-B903-4035-9561-A0160BEED55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63ED05-BD8B-4C4F-B822-2DF235128F7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7178C6-C3C0-42D2-BC3E-E93416FBF6F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533025-C38A-4A6D-88DC-A6A569C5F77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33D176-6606-4C47-AC52-F448B7362F2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D52D01-B40A-487F-89BE-8951E3401D5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694C82-77F9-402C-AB9E-49CFAD2F7A3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2.png"/><Relationship Id="rId3" Type="http://schemas.openxmlformats.org/officeDocument/2006/relationships/slide" Target="slide27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87E5B1-9B54-4B5C-B89C-167681D2B50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Rectangle 4"/>
          <p:cNvSpPr>
            <a:spLocks noGrp="1"/>
          </p:cNvSpPr>
          <p:nvPr>
            <p:ph type="title"/>
          </p:nvPr>
        </p:nvSpPr>
        <p:spPr>
          <a:xfrm>
            <a:off x="1992313" y="6350"/>
            <a:ext cx="8135937" cy="6858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effectLst/>
                <a:ea typeface="黑体" panose="02010609060101010101" pitchFamily="49" charset="-122"/>
              </a:rPr>
              <a:t>第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8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章 表单数据组织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—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结构体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</p:txBody>
      </p:sp>
      <p:sp>
        <p:nvSpPr>
          <p:cNvPr id="20484" name="Rectangle 5"/>
          <p:cNvSpPr>
            <a:spLocks noGrp="1"/>
          </p:cNvSpPr>
          <p:nvPr>
            <p:ph type="body" orient="vert" idx="1"/>
          </p:nvPr>
        </p:nvSpPr>
        <p:spPr>
          <a:xfrm>
            <a:off x="0" y="765175"/>
            <a:ext cx="9120188" cy="60928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effectLst/>
                <a:ea typeface="黑体" panose="02010609060101010101" pitchFamily="49" charset="-122"/>
                <a:hlinkClick r:id="rId1" action="ppaction://hlinksldjump"/>
              </a:rPr>
              <a:t>8.1</a:t>
            </a:r>
            <a:r>
              <a:rPr lang="zh-CN" altLang="en-US" sz="2800" b="1" dirty="0">
                <a:effectLst/>
                <a:ea typeface="黑体" panose="02010609060101010101" pitchFamily="49" charset="-122"/>
                <a:hlinkClick r:id="rId1" action="ppaction://hlinksldjump"/>
              </a:rPr>
              <a:t>成绩单管理</a:t>
            </a:r>
            <a:endParaRPr lang="en-US" altLang="zh-CN" sz="2800" b="1" dirty="0">
              <a:effectLst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endParaRPr lang="zh-CN" altLang="en-US" sz="2800" b="1" dirty="0">
              <a:effectLst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sz="2800" b="1" dirty="0">
                <a:effectLst/>
                <a:ea typeface="黑体" panose="02010609060101010101" pitchFamily="49" charset="-122"/>
              </a:rPr>
              <a:t>8.2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保存成绩单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结构体</a:t>
            </a:r>
            <a:endParaRPr lang="zh-CN" altLang="en-US" sz="2800" b="1" dirty="0">
              <a:effectLst/>
              <a:ea typeface="黑体" panose="02010609060101010101" pitchFamily="49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effectLst/>
                <a:ea typeface="黑体" panose="02010609060101010101" pitchFamily="49" charset="-122"/>
                <a:hlinkClick r:id="rId2" action="ppaction://hlinksldjump"/>
              </a:rPr>
              <a:t>8.2.1 </a:t>
            </a:r>
            <a:r>
              <a:rPr lang="zh-CN" altLang="en-US" b="1" dirty="0">
                <a:effectLst/>
                <a:ea typeface="黑体" panose="02010609060101010101" pitchFamily="49" charset="-122"/>
                <a:hlinkClick r:id="rId2" action="ppaction://hlinksldjump"/>
              </a:rPr>
              <a:t>结构体类型的定义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effectLst/>
                <a:ea typeface="黑体" panose="02010609060101010101" pitchFamily="49" charset="-122"/>
                <a:hlinkClick r:id="rId2" action="ppaction://hlinksldjump"/>
              </a:rPr>
              <a:t>8.2.2 </a:t>
            </a:r>
            <a:r>
              <a:rPr lang="zh-CN" altLang="en-US" b="1" dirty="0">
                <a:effectLst/>
                <a:ea typeface="黑体" panose="02010609060101010101" pitchFamily="49" charset="-122"/>
                <a:hlinkClick r:id="rId2" action="ppaction://hlinksldjump"/>
              </a:rPr>
              <a:t>结构体类型别名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lvl="1" eaLnBrk="1" hangingPunct="1">
              <a:spcBef>
                <a:spcPct val="0"/>
              </a:spcBef>
            </a:pP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effectLst/>
                <a:ea typeface="黑体" panose="02010609060101010101" pitchFamily="49" charset="-122"/>
                <a:hlinkClick r:id="rId2" action="ppaction://hlinksldjump"/>
              </a:rPr>
              <a:t>8.2.3 </a:t>
            </a:r>
            <a:r>
              <a:rPr lang="zh-CN" altLang="en-US" b="1" dirty="0">
                <a:effectLst/>
                <a:ea typeface="黑体" panose="02010609060101010101" pitchFamily="49" charset="-122"/>
                <a:hlinkClick r:id="rId2" action="ppaction://hlinksldjump"/>
              </a:rPr>
              <a:t>结构体变量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effectLst/>
                <a:ea typeface="黑体" panose="02010609060101010101" pitchFamily="49" charset="-122"/>
                <a:hlinkClick r:id="rId2" action="ppaction://hlinksldjump"/>
              </a:rPr>
              <a:t>8.2.4 </a:t>
            </a:r>
            <a:r>
              <a:rPr lang="zh-CN" altLang="en-US" b="1" dirty="0">
                <a:effectLst/>
                <a:ea typeface="黑体" panose="02010609060101010101" pitchFamily="49" charset="-122"/>
                <a:hlinkClick r:id="rId2" action="ppaction://hlinksldjump"/>
              </a:rPr>
              <a:t>指向结构体变量的指针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lvl="1" eaLnBrk="1" hangingPunct="1">
              <a:spcBef>
                <a:spcPct val="0"/>
              </a:spcBef>
            </a:pP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effectLst/>
                <a:ea typeface="黑体" panose="02010609060101010101" pitchFamily="49" charset="-122"/>
                <a:hlinkClick r:id="rId2" action="ppaction://hlinksldjump"/>
              </a:rPr>
              <a:t>8.2.5 </a:t>
            </a:r>
            <a:r>
              <a:rPr lang="zh-CN" altLang="en-US" b="1" dirty="0">
                <a:effectLst/>
                <a:ea typeface="黑体" panose="02010609060101010101" pitchFamily="49" charset="-122"/>
                <a:hlinkClick r:id="rId2" action="ppaction://hlinksldjump"/>
              </a:rPr>
              <a:t>访问结构体变量的成分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b="1" dirty="0">
                <a:effectLst/>
                <a:ea typeface="黑体" panose="02010609060101010101" pitchFamily="49" charset="-122"/>
                <a:hlinkClick r:id="rId2" action="ppaction://hlinksldjump"/>
              </a:rPr>
              <a:t>8.2.6 </a:t>
            </a:r>
            <a:r>
              <a:rPr lang="zh-CN" altLang="en-US" b="1" dirty="0">
                <a:effectLst/>
                <a:ea typeface="黑体" panose="02010609060101010101" pitchFamily="49" charset="-122"/>
                <a:hlinkClick r:id="rId2" action="ppaction://hlinksldjump"/>
              </a:rPr>
              <a:t>对结构体变量的操作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lvl="1" eaLnBrk="1" hangingPunct="1">
              <a:spcBef>
                <a:spcPct val="0"/>
              </a:spcBef>
            </a:pPr>
            <a:endParaRPr lang="zh-CN" altLang="en-US" sz="2400" b="1" dirty="0">
              <a:effectLst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800" b="1" dirty="0">
                <a:effectLst/>
                <a:ea typeface="黑体" panose="02010609060101010101" pitchFamily="49" charset="-122"/>
                <a:hlinkClick r:id="rId3" action="ppaction://hlinksldjump"/>
              </a:rPr>
              <a:t>程序设计实例</a:t>
            </a:r>
            <a:endParaRPr lang="zh-CN" altLang="en-US" sz="2800" b="1" dirty="0">
              <a:effectLst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en-US" altLang="zh-CN" sz="2800" b="1" dirty="0">
              <a:effectLst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090" y="1089660"/>
            <a:ext cx="7282815" cy="58045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177EF-C814-4E00-B735-F8E6C4D806F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194" name="Rectangle 2"/>
          <p:cNvSpPr>
            <a:spLocks noGrp="1" noChangeArrowheads="1"/>
          </p:cNvSpPr>
          <p:nvPr>
            <p:ph idx="1"/>
          </p:nvPr>
        </p:nvSpPr>
        <p:spPr>
          <a:xfrm>
            <a:off x="0" y="1196975"/>
            <a:ext cx="11582400" cy="4365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学习使用要回答的三个问题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AutoNum type="circleNumDbPlai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基础类型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是什么？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以什么类型为基点构造出新类型的。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AutoNum type="circleNumDbPlain" startAt="2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构造的方法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是什么？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不同的构造方法形成了不同的构造型数据类型。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AutoNum type="circleNumDbPlain" startAt="3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一个成分的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存取方式和使用方法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不同的构造类型使用不同形式。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2400" y="457200"/>
            <a:ext cx="61912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构造型的数据类型：结构体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000105" y="6248400"/>
            <a:ext cx="582295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6C787F-FF54-46A6-AAB4-37A127EEE98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6131" name="Rectangle 3"/>
          <p:cNvSpPr>
            <a:spLocks noChangeArrowheads="1"/>
          </p:cNvSpPr>
          <p:nvPr/>
        </p:nvSpPr>
        <p:spPr bwMode="auto">
          <a:xfrm>
            <a:off x="0" y="0"/>
            <a:ext cx="978027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【例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6.12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成绩排序】一个学生的信息包括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学号、姓名、成绩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三个子数据，各子数据的类型不同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6237" name="Rectangle 109"/>
          <p:cNvSpPr>
            <a:spLocks noChangeArrowheads="1"/>
          </p:cNvSpPr>
          <p:nvPr/>
        </p:nvSpPr>
        <p:spPr bwMode="auto">
          <a:xfrm>
            <a:off x="76200" y="457200"/>
            <a:ext cx="11391265" cy="93599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noAutofit/>
          </a:bodyPr>
          <a:lstStyle>
            <a:lvl1pPr indent="3333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R="0" lvl="0" indent="36195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u[2][50]={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{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1,2,3,4,5,6,7,8,9,10,11,12,13,14,15,16,17,18,19,20,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……},{ }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R="0" lvl="0" indent="36195" algn="l" defTabSz="9144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char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name[50][20]=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{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lang="en-US" altLang="zh-CN" sz="20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”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zhangchanghai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”,”liming”,”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wangli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”,”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liuli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”,”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zhaolei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”,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……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10435590" y="0"/>
            <a:ext cx="175641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>
                <a:tab pos="533400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§8.2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结构体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5029200"/>
            <a:ext cx="9077325" cy="13538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个学生的信息：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lang="en-US" altLang="zh-CN" sz="310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struct achievement</a:t>
            </a:r>
            <a:r>
              <a:rPr lang="en-US" altLang="zh-CN" sz="3100" noProof="0" dirty="0"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 </a:t>
            </a:r>
            <a:r>
              <a:rPr lang="en-US" altLang="zh-CN" sz="310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stu0</a:t>
            </a:r>
            <a:r>
              <a:rPr lang="en-US" altLang="zh-CN" sz="3100" noProof="0" dirty="0"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;</a:t>
            </a:r>
            <a:endParaRPr kumimoji="0" lang="en-US" altLang="zh-CN" sz="31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50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个学生的信息：</a:t>
            </a:r>
            <a:r>
              <a:rPr lang="en-US" altLang="zh-CN" sz="310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struct achievement</a:t>
            </a:r>
            <a:r>
              <a:rPr lang="en-US" altLang="zh-CN" sz="3100" noProof="0" dirty="0"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 </a:t>
            </a:r>
            <a:r>
              <a:rPr lang="en-US" altLang="zh-CN" sz="310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stu</a:t>
            </a:r>
            <a:r>
              <a:rPr lang="en-US" altLang="zh-CN" sz="310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[50]</a:t>
            </a:r>
            <a:r>
              <a:rPr lang="en-US" altLang="zh-CN" sz="3100" noProof="0" dirty="0"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;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Group 21"/>
          <p:cNvGraphicFramePr>
            <a:graphicFrameLocks noGrp="1"/>
          </p:cNvGraphicFramePr>
          <p:nvPr/>
        </p:nvGraphicFramePr>
        <p:xfrm>
          <a:off x="6172200" y="2971800"/>
          <a:ext cx="5832475" cy="1554163"/>
        </p:xfrm>
        <a:graphic>
          <a:graphicData uri="http://schemas.openxmlformats.org/drawingml/2006/table">
            <a:tbl>
              <a:tblPr/>
              <a:tblGrid>
                <a:gridCol w="2016125"/>
                <a:gridCol w="3816350"/>
              </a:tblGrid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学号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 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int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姓名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char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数组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成绩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int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4803" name="Rectangle 19"/>
          <p:cNvSpPr>
            <a:spLocks noChangeArrowheads="1"/>
          </p:cNvSpPr>
          <p:nvPr/>
        </p:nvSpPr>
        <p:spPr bwMode="auto">
          <a:xfrm>
            <a:off x="990283" y="2516347"/>
            <a:ext cx="4053840" cy="25895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cs typeface="+mn-cs"/>
              </a:rPr>
              <a:t>struct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achievement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D0903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number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char   name[L];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achieve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cs typeface="+mn-cs"/>
              </a:rPr>
              <a:t>};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cs typeface="+mn-cs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3352800" y="1676400"/>
            <a:ext cx="2197100" cy="622935"/>
          </a:xfrm>
          <a:prstGeom prst="wedgeRectCallout">
            <a:avLst>
              <a:gd name="adj1" fmla="val -42791"/>
              <a:gd name="adj2" fmla="val 95871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100" dirty="0">
                <a:latin typeface="Arial" panose="020B0604020202020204" pitchFamily="34" charset="0"/>
              </a:rPr>
              <a:t>结构体类型</a:t>
            </a: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404491" name="Text Box 11"/>
          <p:cNvSpPr txBox="1">
            <a:spLocks noChangeArrowheads="1"/>
          </p:cNvSpPr>
          <p:nvPr/>
        </p:nvSpPr>
        <p:spPr bwMode="auto">
          <a:xfrm>
            <a:off x="3429000" y="6171248"/>
            <a:ext cx="4537075" cy="5219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和  </a:t>
            </a:r>
            <a:r>
              <a:rPr kumimoji="0" lang="en-US" altLang="zh-CN" sz="2800" kern="1200" cap="none" spc="0" normalizeH="0" baseline="0" noProof="0" dirty="0" err="1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lang="en-US" altLang="zh-CN" sz="280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;  </a:t>
            </a:r>
            <a:r>
              <a:rPr lang="en-US" altLang="zh-CN" sz="2800" noProof="0" dirty="0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 </a:t>
            </a:r>
            <a:r>
              <a:rPr kumimoji="0" lang="en-US" altLang="zh-CN" sz="2800" kern="1200" cap="none" spc="0" normalizeH="0" baseline="0" noProof="0" dirty="0" err="1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a[50];</a:t>
            </a:r>
            <a:r>
              <a:rPr kumimoji="0" lang="zh-CN" altLang="en-US" sz="2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类比</a:t>
            </a:r>
            <a:endParaRPr kumimoji="0" lang="zh-CN" altLang="en-US" sz="28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09965" y="4526280"/>
            <a:ext cx="31121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eaLnBrk="1" hangingPunct="1">
              <a:buNone/>
            </a:pPr>
            <a:r>
              <a:rPr lang="zh-CN" altLang="en-US" sz="1800" dirty="0">
                <a:latin typeface="Arial" panose="020B0604020202020204" pitchFamily="34" charset="0"/>
                <a:sym typeface="+mn-ea"/>
              </a:rPr>
              <a:t>一个数据项包含多个子数据</a:t>
            </a:r>
            <a:endParaRPr lang="zh-CN" altLang="en-US" sz="1800" dirty="0">
              <a:latin typeface="Arial" panose="020B0604020202020204" pitchFamily="34" charset="0"/>
              <a:sym typeface="+mn-ea"/>
            </a:endParaRPr>
          </a:p>
          <a:p>
            <a:pPr algn="ctr" eaLnBrk="1" hangingPunct="1">
              <a:buNone/>
            </a:pPr>
            <a:r>
              <a:rPr lang="zh-CN" altLang="en-US" sz="1800" dirty="0">
                <a:latin typeface="Arial" panose="020B0604020202020204" pitchFamily="34" charset="0"/>
                <a:sym typeface="+mn-ea"/>
              </a:rPr>
              <a:t>子数据的类型可能不同</a:t>
            </a:r>
            <a:endParaRPr lang="zh-CN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7" grpId="0" bldLvl="0" animBg="1"/>
      <p:bldP spid="374803" grpId="0" bldLvl="0" animBg="1"/>
      <p:bldP spid="404491" grpId="0" bldLvl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5D9E3D-6383-41A5-B8C7-B4B73EBCFBE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74805" name="Group 21"/>
          <p:cNvGraphicFramePr>
            <a:graphicFrameLocks noGrp="1"/>
          </p:cNvGraphicFramePr>
          <p:nvPr/>
        </p:nvGraphicFramePr>
        <p:xfrm>
          <a:off x="5638800" y="2879725"/>
          <a:ext cx="5832475" cy="1554163"/>
        </p:xfrm>
        <a:graphic>
          <a:graphicData uri="http://schemas.openxmlformats.org/drawingml/2006/table">
            <a:tbl>
              <a:tblPr/>
              <a:tblGrid>
                <a:gridCol w="2016125"/>
                <a:gridCol w="3816350"/>
              </a:tblGrid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学号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int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姓名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char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数组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成绩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int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4803" name="Rectangle 19"/>
          <p:cNvSpPr>
            <a:spLocks noChangeArrowheads="1"/>
          </p:cNvSpPr>
          <p:nvPr/>
        </p:nvSpPr>
        <p:spPr bwMode="auto">
          <a:xfrm>
            <a:off x="990283" y="2516347"/>
            <a:ext cx="4053840" cy="25895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cs typeface="+mn-cs"/>
              </a:rPr>
              <a:t>struct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D0903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number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char   name[L];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achieve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cs typeface="+mn-cs"/>
              </a:rPr>
              <a:t>};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cs typeface="+mn-cs"/>
            </a:endParaRPr>
          </a:p>
        </p:txBody>
      </p:sp>
      <p:sp>
        <p:nvSpPr>
          <p:cNvPr id="374804" name="Rectangle 20"/>
          <p:cNvSpPr>
            <a:spLocks noChangeArrowheads="1"/>
          </p:cNvSpPr>
          <p:nvPr/>
        </p:nvSpPr>
        <p:spPr bwMode="auto">
          <a:xfrm>
            <a:off x="6067425" y="2319338"/>
            <a:ext cx="4572000" cy="3698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包含三个成分，结构如下：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1283970" y="1262380"/>
            <a:ext cx="2124710" cy="735330"/>
          </a:xfrm>
          <a:prstGeom prst="wedgeRoundRectCallout">
            <a:avLst>
              <a:gd name="adj1" fmla="val -37746"/>
              <a:gd name="adj2" fmla="val 124956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0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保留字</a:t>
            </a: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，引导一个</a:t>
            </a:r>
            <a:endParaRPr lang="zh-CN" altLang="en-US" sz="2000" dirty="0">
              <a:ea typeface="黑体" panose="02010609060101010101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结构体类型定义</a:t>
            </a:r>
            <a:endParaRPr lang="zh-CN" altLang="en-US" sz="2000" dirty="0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3733800" y="1524635"/>
            <a:ext cx="2218690" cy="795020"/>
          </a:xfrm>
          <a:prstGeom prst="wedgeRoundRectCallout">
            <a:avLst>
              <a:gd name="adj1" fmla="val -43836"/>
              <a:gd name="adj2" fmla="val 90575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0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结构体标签，</a:t>
            </a:r>
            <a:endParaRPr lang="zh-CN" altLang="en-US" sz="2000" dirty="0">
              <a:solidFill>
                <a:srgbClr val="FF0000"/>
              </a:solidFill>
              <a:ea typeface="黑体" panose="02010609060101010101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000" dirty="0">
                <a:ea typeface="黑体" panose="02010609060101010101" pitchFamily="49" charset="-122"/>
                <a:sym typeface="+mn-ea"/>
              </a:rPr>
              <a:t>标记该结构体类型</a:t>
            </a:r>
            <a:endParaRPr lang="zh-CN" altLang="en-US" sz="2000" dirty="0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/>
        </p:nvSpPr>
        <p:spPr>
          <a:xfrm>
            <a:off x="0" y="0"/>
            <a:ext cx="5519420" cy="8369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§8.2.1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结构体类型的定义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2895600" y="5029200"/>
            <a:ext cx="2976880" cy="1059815"/>
          </a:xfrm>
          <a:prstGeom prst="wedgeRoundRectCallout">
            <a:avLst>
              <a:gd name="adj1" fmla="val -48425"/>
              <a:gd name="adj2" fmla="val -116214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000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结构体的分量，</a:t>
            </a:r>
            <a:endParaRPr lang="zh-CN" altLang="en-US" sz="2000" dirty="0">
              <a:solidFill>
                <a:srgbClr val="FF0000"/>
              </a:solidFill>
              <a:ea typeface="黑体" panose="02010609060101010101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也称成员、成分、域</a:t>
            </a:r>
            <a:endParaRPr lang="zh-CN" altLang="en-US" sz="2000" dirty="0">
              <a:solidFill>
                <a:schemeClr val="tx1"/>
              </a:solidFill>
              <a:ea typeface="黑体" panose="02010609060101010101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结构体类型是分量的集合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bldLvl="0" animBg="1"/>
      <p:bldP spid="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9"/>
          <p:cNvSpPr>
            <a:spLocks noChangeArrowheads="1"/>
          </p:cNvSpPr>
          <p:nvPr/>
        </p:nvSpPr>
        <p:spPr bwMode="auto">
          <a:xfrm>
            <a:off x="990283" y="2516347"/>
            <a:ext cx="4053840" cy="25895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cs typeface="+mn-cs"/>
              </a:rPr>
              <a:t>struct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D0903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number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char   name[L];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achieve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cs typeface="+mn-cs"/>
              </a:rPr>
              <a:t>};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cs typeface="+mn-cs"/>
            </a:endParaRPr>
          </a:p>
        </p:txBody>
      </p:sp>
      <p:sp>
        <p:nvSpPr>
          <p:cNvPr id="22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5D9E3D-6383-41A5-B8C7-B4B73EBCFBE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/>
        </p:nvSpPr>
        <p:spPr>
          <a:xfrm>
            <a:off x="0" y="0"/>
            <a:ext cx="5519420" cy="8369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§8.2.1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结构体类型的定义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2133600" y="1676400"/>
            <a:ext cx="2328545" cy="427355"/>
          </a:xfrm>
          <a:prstGeom prst="wedgeRoundRectCallout">
            <a:avLst>
              <a:gd name="adj1" fmla="val -45064"/>
              <a:gd name="adj2" fmla="val 220579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000" dirty="0">
                <a:solidFill>
                  <a:schemeClr val="tx1"/>
                </a:solidFill>
                <a:latin typeface="Calibri" panose="020F0502020204030204" charset="0"/>
                <a:ea typeface="黑体" panose="02010609060101010101" pitchFamily="49" charset="-122"/>
                <a:sym typeface="+mn-ea"/>
              </a:rPr>
              <a:t>②</a:t>
            </a:r>
            <a:r>
              <a:rPr lang="zh-CN" altLang="en-US" sz="2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结构体类型引用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11860" y="2590800"/>
            <a:ext cx="3695700" cy="512445"/>
          </a:xfrm>
          <a:prstGeom prst="rect">
            <a:avLst/>
          </a:prstGeom>
          <a:noFill/>
          <a:ln w="28575" cmpd="sng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38200" y="2516505"/>
            <a:ext cx="5108575" cy="2673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8" name="圆角矩形标注 17"/>
          <p:cNvSpPr/>
          <p:nvPr/>
        </p:nvSpPr>
        <p:spPr>
          <a:xfrm>
            <a:off x="5867400" y="1905000"/>
            <a:ext cx="2089785" cy="427355"/>
          </a:xfrm>
          <a:prstGeom prst="wedgeRoundRectCallout">
            <a:avLst>
              <a:gd name="adj1" fmla="val -60574"/>
              <a:gd name="adj2" fmla="val 92942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000" dirty="0">
                <a:solidFill>
                  <a:schemeClr val="tx1"/>
                </a:solidFill>
                <a:latin typeface="Calibri" panose="020F0502020204030204" charset="0"/>
                <a:ea typeface="黑体" panose="02010609060101010101" pitchFamily="49" charset="-122"/>
                <a:sym typeface="+mn-ea"/>
              </a:rPr>
              <a:t>①</a:t>
            </a:r>
            <a:r>
              <a:rPr lang="zh-CN" altLang="en-US" sz="2000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结构体类型定义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5943600" y="2663190"/>
            <a:ext cx="6148070" cy="2526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indent="-342900" defTabSz="9144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kern="0" cap="none" spc="0" normalizeH="0" baseline="0" noProof="0" dirty="0">
                <a:latin typeface="Calibri" panose="020F0502020204030204" charset="0"/>
                <a:ea typeface="黑体" panose="02010609060101010101" pitchFamily="49" charset="-122"/>
                <a:cs typeface="+mn-cs"/>
              </a:rPr>
              <a:t>①②</a:t>
            </a:r>
            <a:r>
              <a:rPr kumimoji="0" lang="zh-CN" altLang="en-US" sz="2800" kern="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统称</a:t>
            </a:r>
            <a:r>
              <a:rPr kumimoji="0" lang="en-US" altLang="zh-CN" sz="2800" kern="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800" kern="0" cap="none" spc="0" normalizeH="0" baseline="0" noProof="0" dirty="0">
                <a:solidFill>
                  <a:srgbClr val="FFFF00"/>
                </a:solidFill>
                <a:latin typeface="+mn-lt"/>
                <a:ea typeface="黑体" panose="02010609060101010101" pitchFamily="49" charset="-122"/>
                <a:cs typeface="+mn-cs"/>
              </a:rPr>
              <a:t>结构体类型说明符</a:t>
            </a:r>
            <a:r>
              <a:rPr kumimoji="0" lang="zh-CN" altLang="en-US" sz="2800" kern="0" cap="none" spc="0" normalizeH="0" baseline="0" noProof="0" dirty="0">
                <a:latin typeface="+mn-lt"/>
                <a:ea typeface="黑体" panose="02010609060101010101" pitchFamily="49" charset="-122"/>
                <a:cs typeface="+mn-cs"/>
              </a:rPr>
              <a:t>，用于：</a:t>
            </a:r>
            <a:endParaRPr kumimoji="0" lang="zh-CN" altLang="en-US" sz="2800" kern="0" cap="none" spc="0" normalizeH="0" baseline="0" noProof="0" dirty="0"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indent="-342900" defTabSz="9144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定义结构体类型</a:t>
            </a:r>
            <a:r>
              <a:rPr kumimoji="0" lang="en-US" altLang="zh-CN" sz="2800" b="1" i="0" u="none" strike="noStrike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cs"/>
              </a:rPr>
              <a:t>别名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8.2.2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节）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indent="-342900" defTabSz="9144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定义结构体类型</a:t>
            </a:r>
            <a:r>
              <a:rPr kumimoji="0" lang="en-US" altLang="zh-CN" sz="2800" b="1" i="0" u="none" strike="noStrike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cs"/>
              </a:rPr>
              <a:t>变量/</a:t>
            </a:r>
            <a:r>
              <a:rPr kumimoji="0" lang="zh-CN" altLang="en-US" sz="2800" b="1" i="0" u="none" strike="noStrike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cs"/>
              </a:rPr>
              <a:t>数组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8.2.3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节）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indent="-342900" defTabSz="9144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定义结构体类型</a:t>
            </a:r>
            <a:r>
              <a:rPr kumimoji="0" lang="en-US" altLang="zh-CN" sz="2800" b="1" i="0" u="none" strike="noStrike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cs"/>
              </a:rPr>
              <a:t>指针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8.2.4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节）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 animBg="1"/>
      <p:bldP spid="16" grpId="0" bldLvl="0" animBg="1"/>
      <p:bldP spid="15" grpId="0" animBg="1"/>
      <p:bldP spid="16" grpId="1" animBg="1"/>
      <p:bldP spid="15" grpId="1" animBg="1"/>
      <p:bldP spid="1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FE902A-434C-4D87-940E-67865912CA5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5235575" cy="46609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§8.2.2 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结构体类型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别名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533400"/>
            <a:ext cx="8611870" cy="56578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定义形式：</a:t>
            </a:r>
            <a:r>
              <a:rPr kumimoji="0" lang="en-US" altLang="zh-CN" sz="2800" b="1" i="0" u="none" strike="noStrike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typedef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结构体类型说明符   </a:t>
            </a:r>
            <a:r>
              <a:rPr kumimoji="0" lang="en-US" altLang="zh-CN" sz="2800" b="1" i="0" u="none" strike="noStrike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标识符;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166495"/>
            <a:ext cx="44361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黑体" panose="02010609060101010101" pitchFamily="49" charset="-122"/>
                <a:sym typeface="+mn-ea"/>
              </a:rPr>
              <a:t>①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使用完整的结构体类型定义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2400" y="1638300"/>
            <a:ext cx="4860290" cy="223266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typedef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struct 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achievement 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{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    </a:t>
            </a:r>
            <a:r>
              <a:rPr lang="en-US" altLang="zh-CN" sz="24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int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number ; 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char   name[L];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int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achieve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}</a:t>
            </a:r>
            <a:r>
              <a:rPr lang="en-US" altLang="zh-CN" sz="24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typeAchieve</a:t>
            </a: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; </a:t>
            </a:r>
            <a:endParaRPr lang="en-US" altLang="zh-CN" sz="240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10200" y="1099185"/>
            <a:ext cx="5715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黑体" panose="02010609060101010101" pitchFamily="49" charset="-122"/>
                <a:sym typeface="+mn-ea"/>
              </a:rPr>
              <a:t>②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使用不带结构体标签的结构体类型定义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86400" y="1588770"/>
            <a:ext cx="5467985" cy="223266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typedef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struct {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    </a:t>
            </a:r>
            <a:r>
              <a:rPr lang="en-US" altLang="zh-CN" sz="2400" noProof="0" dirty="0" err="1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int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number ; 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char   name[L];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 err="1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int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achieve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}</a:t>
            </a:r>
            <a:r>
              <a:rPr lang="en-US" altLang="zh-CN" sz="24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typeAchieve</a:t>
            </a: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; </a:t>
            </a:r>
            <a:endParaRPr lang="en-US" altLang="zh-CN" sz="240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00" y="4267200"/>
            <a:ext cx="33432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黑体" panose="02010609060101010101" pitchFamily="49" charset="-122"/>
                <a:sym typeface="+mn-ea"/>
              </a:rPr>
              <a:t>③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使用结构体类型引用</a:t>
            </a:r>
            <a:endParaRPr lang="zh-CN" altLang="en-US" sz="240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00" y="4724400"/>
            <a:ext cx="6604000" cy="178943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struct 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achievement 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{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……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};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typedef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struct 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achievement </a:t>
            </a:r>
            <a:r>
              <a:rPr lang="en-US" altLang="zh-CN" sz="24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typeAchieve</a:t>
            </a: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; </a:t>
            </a:r>
            <a:endParaRPr lang="en-US" altLang="zh-CN" sz="240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</p:txBody>
      </p:sp>
      <p:sp>
        <p:nvSpPr>
          <p:cNvPr id="59396" name="Rectangle 6"/>
          <p:cNvSpPr/>
          <p:nvPr/>
        </p:nvSpPr>
        <p:spPr>
          <a:xfrm>
            <a:off x="6781800" y="4190365"/>
            <a:ext cx="5393055" cy="2651760"/>
          </a:xfrm>
          <a:prstGeom prst="rect">
            <a:avLst/>
          </a:prstGeom>
          <a:solidFill>
            <a:schemeClr val="accent1"/>
          </a:solidFill>
          <a:ln w="57150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814705" lvl="0" indent="-457200" algn="l" eaLnBrk="1" hangingPunct="1">
              <a:lnSpc>
                <a:spcPct val="125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类型 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类型别名</a:t>
            </a:r>
            <a:endParaRPr lang="zh-CN" altLang="en-US" sz="2800" b="1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marL="814705" lvl="1" indent="0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2450" b="1" dirty="0">
                <a:ea typeface="黑体" panose="02010609060101010101" pitchFamily="49" charset="-122"/>
              </a:rPr>
              <a:t>不分配存储空间</a:t>
            </a:r>
            <a:endParaRPr lang="zh-CN" altLang="en-US" sz="2450" b="1" dirty="0">
              <a:ea typeface="黑体" panose="02010609060101010101" pitchFamily="49" charset="-122"/>
            </a:endParaRPr>
          </a:p>
          <a:p>
            <a:pPr marL="814705" lvl="1" indent="0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2450" b="1" dirty="0">
                <a:ea typeface="黑体" panose="02010609060101010101" pitchFamily="49" charset="-122"/>
              </a:rPr>
              <a:t>只说明一个数据类型的框架结构</a:t>
            </a:r>
            <a:endParaRPr lang="zh-CN" altLang="en-US" sz="2450" b="1" dirty="0">
              <a:ea typeface="黑体" panose="02010609060101010101" pitchFamily="49" charset="-122"/>
            </a:endParaRPr>
          </a:p>
          <a:p>
            <a:pPr marL="814705" lvl="0" indent="-457200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n"/>
            </a:pPr>
            <a:r>
              <a:rPr lang="zh-CN" altLang="en-US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变量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数组</a:t>
            </a:r>
            <a:endParaRPr lang="zh-CN" altLang="en-US" sz="2800" b="1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marL="814705" lvl="1" indent="0" algn="l" eaLnBrk="1" hangingPunct="1">
              <a:lnSpc>
                <a:spcPct val="125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450" b="1" dirty="0">
                <a:ea typeface="黑体" panose="02010609060101010101" pitchFamily="49" charset="-122"/>
              </a:rPr>
              <a:t>具有实体，能保存数据</a:t>
            </a:r>
            <a:endParaRPr lang="zh-CN" altLang="en-US" sz="245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3" name="Rectangle 2"/>
          <p:cNvSpPr>
            <a:spLocks noGrp="1"/>
          </p:cNvSpPr>
          <p:nvPr>
            <p:ph idx="1"/>
          </p:nvPr>
        </p:nvSpPr>
        <p:spPr>
          <a:xfrm>
            <a:off x="381000" y="1735455"/>
            <a:ext cx="5922645" cy="661670"/>
          </a:xfrm>
        </p:spPr>
        <p:txBody>
          <a:bodyPr vert="horz" wrap="square" lIns="91440" tIns="45720" rIns="91440" bIns="45720" anchor="t" anchorCtr="0"/>
          <a:lstStyle/>
          <a:p>
            <a:pPr marL="357505" indent="-357505"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chemeClr val="tx1"/>
                </a:solidFill>
                <a:effectLst/>
                <a:ea typeface="黑体" panose="02010609060101010101" pitchFamily="49" charset="-122"/>
              </a:rPr>
              <a:t>struct  achievement </a:t>
            </a:r>
            <a:r>
              <a:rPr lang="en-US" altLang="zh-CN" sz="2800" b="1" dirty="0">
                <a:solidFill>
                  <a:schemeClr val="hlink"/>
                </a:solidFill>
                <a:effectLst/>
                <a:ea typeface="黑体" panose="02010609060101010101" pitchFamily="49" charset="-122"/>
              </a:rPr>
              <a:t> </a:t>
            </a:r>
            <a:r>
              <a:rPr lang="en-US" altLang="zh-CN" sz="2800" b="1" kern="1200" noProof="0" dirty="0" err="1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rPr>
              <a:t>r, arr[50]</a:t>
            </a:r>
            <a:r>
              <a:rPr lang="en-US" altLang="zh-CN" sz="2800" b="1" dirty="0">
                <a:solidFill>
                  <a:schemeClr val="hlink"/>
                </a:solidFill>
                <a:effectLst/>
                <a:ea typeface="黑体" panose="02010609060101010101" pitchFamily="49" charset="-122"/>
              </a:rPr>
              <a:t>;</a:t>
            </a:r>
            <a:endParaRPr lang="zh-CN" altLang="en-US" sz="2800" b="1" dirty="0">
              <a:effectLst/>
              <a:ea typeface="黑体" panose="02010609060101010101" pitchFamily="49" charset="-122"/>
            </a:endParaRPr>
          </a:p>
        </p:txBody>
      </p:sp>
      <p:sp>
        <p:nvSpPr>
          <p:cNvPr id="61455" name="Rectangle 3"/>
          <p:cNvSpPr/>
          <p:nvPr/>
        </p:nvSpPr>
        <p:spPr>
          <a:xfrm>
            <a:off x="76200" y="2788920"/>
            <a:ext cx="4800600" cy="2244725"/>
          </a:xfrm>
          <a:prstGeom prst="rect">
            <a:avLst/>
          </a:prstGeom>
          <a:noFill/>
          <a:ln w="571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69875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struct  achievement  { 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0" lvl="0" indent="269875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       char  name[20];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0" lvl="0" indent="269875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       int number ;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0" lvl="0" indent="269875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       int achieve ;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0" lvl="0" indent="269875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}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rPr>
              <a:t>r, </a:t>
            </a:r>
            <a:r>
              <a:rPr lang="en-US" altLang="zh-CN" sz="2800" b="1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sym typeface="+mn-ea"/>
              </a:rPr>
              <a:t>arr[50]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;</a:t>
            </a:r>
            <a:endParaRPr lang="en-US" altLang="zh-CN" sz="2800" b="1" dirty="0">
              <a:solidFill>
                <a:schemeClr val="hlink"/>
              </a:solidFill>
              <a:ea typeface="黑体" panose="02010609060101010101" pitchFamily="49" charset="-122"/>
            </a:endParaRPr>
          </a:p>
        </p:txBody>
      </p:sp>
      <p:sp>
        <p:nvSpPr>
          <p:cNvPr id="349190" name="Rectangle 6"/>
          <p:cNvSpPr>
            <a:spLocks noChangeArrowheads="1"/>
          </p:cNvSpPr>
          <p:nvPr/>
        </p:nvSpPr>
        <p:spPr bwMode="auto">
          <a:xfrm>
            <a:off x="380683" y="1365568"/>
            <a:ext cx="2111375" cy="369888"/>
          </a:xfrm>
          <a:prstGeom prst="rect">
            <a:avLst/>
          </a:prstGeom>
          <a:noFill/>
          <a:ln w="25400" algn="ctr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①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结构体类型引用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1692" name="Rectangle 4"/>
          <p:cNvSpPr>
            <a:spLocks noChangeArrowheads="1"/>
          </p:cNvSpPr>
          <p:nvPr/>
        </p:nvSpPr>
        <p:spPr bwMode="auto">
          <a:xfrm>
            <a:off x="5894705" y="2844483"/>
            <a:ext cx="4488180" cy="224536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 indent="2698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struct{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char  name[20];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int number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int achieve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r</a:t>
            </a:r>
            <a:r>
              <a:rPr lang="en-US" altLang="zh-CN" sz="2800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, </a:t>
            </a:r>
            <a:r>
              <a:rPr lang="en-US" altLang="zh-CN" sz="2800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arr[50]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380683" y="5665153"/>
            <a:ext cx="9144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typedef  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truct  achievement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type_achievement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188913" y="2458720"/>
            <a:ext cx="11353800" cy="30163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23" name="直接连接符 22"/>
          <p:cNvCxnSpPr/>
          <p:nvPr/>
        </p:nvCxnSpPr>
        <p:spPr>
          <a:xfrm flipV="1">
            <a:off x="122238" y="5178743"/>
            <a:ext cx="11353800" cy="28575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6" name="矩形 5"/>
          <p:cNvSpPr/>
          <p:nvPr/>
        </p:nvSpPr>
        <p:spPr>
          <a:xfrm>
            <a:off x="-44450" y="637540"/>
            <a:ext cx="7146290" cy="6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505" marR="0" lvl="0" indent="-35750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定义结构体变量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数组，可以采取如下形式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: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1452" name="矩形 6"/>
          <p:cNvSpPr/>
          <p:nvPr/>
        </p:nvSpPr>
        <p:spPr>
          <a:xfrm>
            <a:off x="6933883" y="826453"/>
            <a:ext cx="2976562" cy="1631950"/>
          </a:xfrm>
          <a:prstGeom prst="rect">
            <a:avLst/>
          </a:prstGeom>
          <a:solidFill>
            <a:srgbClr val="00B0F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struct  achievement  {     char  name[20];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       int number ;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       int achieve ;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}  ;</a:t>
            </a:r>
            <a:endParaRPr lang="en-US" altLang="zh-CN" sz="2000" b="1" dirty="0"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02625" y="6095365"/>
            <a:ext cx="3889375" cy="755650"/>
          </a:xfrm>
          <a:prstGeom prst="rect">
            <a:avLst/>
          </a:prstGeom>
          <a:solidFill>
            <a:schemeClr val="accent1"/>
          </a:solidFill>
        </p:spPr>
        <p:txBody>
          <a:bodyPr>
            <a:noAutofit/>
          </a:bodyPr>
          <a:p>
            <a:pPr marL="0" algn="l">
              <a:buClrTx/>
              <a:buSzTx/>
              <a:buFontTx/>
            </a:pPr>
            <a:r>
              <a:rPr lang="zh-CN" altLang="en-US" sz="2400" i="0">
                <a:solidFill>
                  <a:schemeClr val="tx1"/>
                </a:solidFill>
                <a:latin typeface="Open Sans"/>
                <a:ea typeface="Open Sans"/>
              </a:rPr>
              <a:t>内存分配</a:t>
            </a:r>
            <a:r>
              <a:rPr lang="en-US" altLang="zh-CN" sz="2400" i="0">
                <a:solidFill>
                  <a:schemeClr val="tx1"/>
                </a:solidFill>
                <a:latin typeface="Open Sans"/>
                <a:ea typeface="Open Sans"/>
              </a:rPr>
              <a:t>:</a:t>
            </a:r>
            <a:endParaRPr lang="en-US" altLang="zh-CN" sz="2400" i="0">
              <a:solidFill>
                <a:schemeClr val="tx1"/>
              </a:solidFill>
              <a:latin typeface="Open Sans"/>
              <a:ea typeface="Open Sans"/>
            </a:endParaRPr>
          </a:p>
          <a:p>
            <a:pPr marL="0" algn="l">
              <a:buClrTx/>
              <a:buSzTx/>
              <a:buFontTx/>
            </a:pPr>
            <a:r>
              <a:rPr lang="zh-CN" altLang="en-US" sz="2400" i="0">
                <a:solidFill>
                  <a:schemeClr val="tx1"/>
                </a:solidFill>
                <a:latin typeface="Open Sans"/>
                <a:ea typeface="Open Sans"/>
              </a:rPr>
              <a:t>所有成员变量所需内存之和</a:t>
            </a:r>
            <a:endParaRPr lang="zh-CN" altLang="en-US" sz="2400" i="0">
              <a:solidFill>
                <a:schemeClr val="tx1"/>
              </a:solidFill>
              <a:latin typeface="Open Sans"/>
              <a:ea typeface="Open San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1000" y="5297170"/>
            <a:ext cx="21069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③</a:t>
            </a:r>
            <a:r>
              <a:rPr lang="zh-CN" altLang="en-US" sz="18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  <a:sym typeface="+mn-ea"/>
              </a:rPr>
              <a:t>结构体类型别名</a:t>
            </a:r>
            <a:endParaRPr lang="zh-CN" altLang="en-US" sz="180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45" y="619950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  <a:sym typeface="+mn-ea"/>
              </a:rPr>
              <a:t>type_achievement</a:t>
            </a:r>
            <a:r>
              <a:rPr lang="en-US" altLang="zh-CN" sz="28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800" noProof="0" dirty="0" err="1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r</a:t>
            </a:r>
            <a:r>
              <a:rPr lang="en-US" altLang="zh-CN" sz="2800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, arr[50]</a:t>
            </a:r>
            <a:r>
              <a:rPr lang="en-US" altLang="zh-CN" sz="28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  <a:sym typeface="+mn-ea"/>
              </a:rPr>
              <a:t> ;</a:t>
            </a:r>
            <a:endParaRPr lang="en-US" altLang="zh-CN" sz="280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09245" y="2473325"/>
            <a:ext cx="4343400" cy="369888"/>
          </a:xfrm>
          <a:prstGeom prst="rect">
            <a:avLst/>
          </a:prstGeom>
          <a:noFill/>
          <a:ln w="254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②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结构体类型定义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带结构体标签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131391" y="2515201"/>
            <a:ext cx="3879850" cy="369888"/>
          </a:xfrm>
          <a:prstGeom prst="rect">
            <a:avLst/>
          </a:prstGeom>
          <a:noFill/>
          <a:ln w="25400" algn="ctr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②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结构体类型定义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不带结构体标签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4491" name="Text Box 11"/>
          <p:cNvSpPr txBox="1">
            <a:spLocks noChangeArrowheads="1"/>
          </p:cNvSpPr>
          <p:nvPr/>
        </p:nvSpPr>
        <p:spPr bwMode="auto">
          <a:xfrm>
            <a:off x="2513965" y="1354455"/>
            <a:ext cx="3357880" cy="5219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类比：</a:t>
            </a:r>
            <a:r>
              <a:rPr kumimoji="0" lang="en-US" altLang="zh-CN" sz="2800" kern="1200" cap="none" spc="0" normalizeH="0" baseline="0" noProof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kern="1200" cap="none" spc="0" normalizeH="0" baseline="0" noProof="0" dirty="0" err="1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i, </a:t>
            </a:r>
            <a:r>
              <a:rPr kumimoji="0" lang="en-US" altLang="zh-CN" sz="2800" kern="1200" cap="none" spc="0" normalizeH="0" baseline="0" noProof="0" dirty="0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a[50]</a:t>
            </a:r>
            <a:r>
              <a:rPr kumimoji="0" lang="en-US" altLang="zh-CN" sz="28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zh-CN" altLang="en-US" sz="28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515225" cy="6477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§8.2.3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结构体变量、结构体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数组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5" grpId="0"/>
      <p:bldP spid="71692" grpId="0" bldLvl="0" animBg="1"/>
      <p:bldP spid="19" grpId="0"/>
      <p:bldP spid="7" grpId="0" animBg="1"/>
      <p:bldP spid="9" grpId="0"/>
      <p:bldP spid="404491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区分类型名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</a:t>
            </a:r>
            <a:r>
              <a:rPr lang="zh-CN" altLang="en-US"/>
              <a:t>变量名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2400" y="1638300"/>
            <a:ext cx="4860290" cy="2232660"/>
          </a:xfrm>
          <a:prstGeom prst="rect">
            <a:avLst/>
          </a:prstGeom>
          <a:noFill/>
          <a:ln w="28575" cmpd="sng">
            <a:noFill/>
            <a:prstDash val="sysDash"/>
          </a:ln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typedef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struct 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achievement 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{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    </a:t>
            </a:r>
            <a:r>
              <a:rPr lang="en-US" altLang="zh-CN" sz="24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int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number ; 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char   name[L];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int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achieve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}</a:t>
            </a:r>
            <a:r>
              <a:rPr lang="en-US" altLang="zh-CN" sz="24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typeAchieve</a:t>
            </a: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; </a:t>
            </a:r>
            <a:endParaRPr lang="en-US" altLang="zh-CN" sz="240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53200" y="1638300"/>
            <a:ext cx="4860290" cy="2232660"/>
          </a:xfrm>
          <a:prstGeom prst="rect">
            <a:avLst/>
          </a:prstGeom>
          <a:noFill/>
          <a:ln w="28575" cmpd="sng">
            <a:noFill/>
            <a:prstDash val="sysDash"/>
          </a:ln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struct 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achievement 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{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    </a:t>
            </a:r>
            <a:r>
              <a:rPr lang="en-US" altLang="zh-CN" sz="24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int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number ; 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char   name[L];</a:t>
            </a:r>
            <a:endParaRPr lang="en-US" altLang="zh-CN" sz="2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int</a:t>
            </a: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achieve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}</a:t>
            </a:r>
            <a:r>
              <a:rPr lang="en-US" altLang="zh-CN" sz="240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stu0</a:t>
            </a: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; </a:t>
            </a:r>
            <a:endParaRPr lang="en-US" altLang="zh-CN" sz="240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2FE8E9-3765-44E0-B237-8EDF84B2E13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65088"/>
            <a:ext cx="8229600" cy="8509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§8.2.4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结构体指针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7588" name="Rectangle 3"/>
          <p:cNvSpPr>
            <a:spLocks noGrp="1"/>
          </p:cNvSpPr>
          <p:nvPr>
            <p:ph idx="1"/>
          </p:nvPr>
        </p:nvSpPr>
        <p:spPr>
          <a:xfrm>
            <a:off x="0" y="1295400"/>
            <a:ext cx="11734800" cy="9588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</a:pPr>
            <a:r>
              <a:rPr lang="zh-CN" altLang="en-US" sz="2400" b="1" dirty="0">
                <a:effectLst/>
                <a:ea typeface="黑体" panose="02010609060101010101" pitchFamily="49" charset="-122"/>
              </a:rPr>
              <a:t>任何类型都伴随一个指向相应类型的指针类型，并可以声明相应指针类型的变量，结构体类型当然不例外</a:t>
            </a:r>
            <a:endParaRPr lang="zh-CN" altLang="en-US" sz="2400" b="1" dirty="0">
              <a:effectLst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800" b="1" dirty="0">
              <a:effectLst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5800" y="2362200"/>
            <a:ext cx="4893945" cy="3769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3300" dirty="0">
                <a:solidFill>
                  <a:schemeClr val="tx1"/>
                </a:solidFill>
                <a:sym typeface="+mn-ea"/>
              </a:rPr>
              <a:t>struct achievement {</a:t>
            </a:r>
            <a:endParaRPr lang="en-US" altLang="zh-CN" sz="3300" b="1" dirty="0">
              <a:solidFill>
                <a:schemeClr val="tx1"/>
              </a:solidFill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3300" dirty="0">
                <a:solidFill>
                  <a:schemeClr val="tx1"/>
                </a:solidFill>
                <a:sym typeface="+mn-ea"/>
              </a:rPr>
              <a:t>	char   name[20];</a:t>
            </a:r>
            <a:endParaRPr lang="en-US" altLang="zh-CN" sz="3300" b="1" dirty="0">
              <a:solidFill>
                <a:schemeClr val="tx1"/>
              </a:solidFill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3300" dirty="0">
                <a:solidFill>
                  <a:schemeClr val="tx1"/>
                </a:solidFill>
                <a:sym typeface="+mn-ea"/>
              </a:rPr>
              <a:t>	int number ;</a:t>
            </a:r>
            <a:endParaRPr lang="en-US" altLang="zh-CN" sz="3300" b="1" dirty="0">
              <a:solidFill>
                <a:schemeClr val="tx1"/>
              </a:solidFill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3300" dirty="0">
                <a:solidFill>
                  <a:schemeClr val="tx1"/>
                </a:solidFill>
                <a:sym typeface="+mn-ea"/>
              </a:rPr>
              <a:t>	int achieve ;</a:t>
            </a:r>
            <a:endParaRPr lang="en-US" altLang="zh-CN" sz="3300" b="1" dirty="0">
              <a:solidFill>
                <a:schemeClr val="tx1"/>
              </a:solidFill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3300" dirty="0">
                <a:solidFill>
                  <a:schemeClr val="tx1"/>
                </a:solidFill>
                <a:sym typeface="+mn-ea"/>
              </a:rPr>
              <a:t>} </a:t>
            </a:r>
            <a:r>
              <a:rPr lang="en-US" altLang="zh-CN" sz="3300" dirty="0">
                <a:solidFill>
                  <a:srgbClr val="FFFF00"/>
                </a:solidFill>
                <a:sym typeface="+mn-ea"/>
              </a:rPr>
              <a:t>stu0,*</a:t>
            </a:r>
            <a:r>
              <a:rPr lang="zh-CN" altLang="en-US" sz="3300" dirty="0">
                <a:solidFill>
                  <a:srgbClr val="FFFF00"/>
                </a:solidFill>
                <a:ea typeface="黑体" panose="02010609060101010101" pitchFamily="49" charset="-122"/>
                <a:sym typeface="+mn-ea"/>
              </a:rPr>
              <a:t>p</a:t>
            </a:r>
            <a:r>
              <a:rPr lang="en-US" altLang="zh-CN" sz="3300" dirty="0">
                <a:solidFill>
                  <a:srgbClr val="FFFF00"/>
                </a:solidFill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3300" dirty="0">
                <a:solidFill>
                  <a:srgbClr val="FFFF00"/>
                </a:solidFill>
                <a:sym typeface="+mn-ea"/>
              </a:rPr>
              <a:t> ;</a:t>
            </a:r>
            <a:endParaRPr lang="en-US" altLang="zh-CN" sz="3300" dirty="0">
              <a:solidFill>
                <a:srgbClr val="FFFF00"/>
              </a:solidFill>
              <a:sym typeface="+mn-ea"/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endParaRPr lang="en-US" altLang="zh-CN" sz="3300" dirty="0">
              <a:solidFill>
                <a:schemeClr val="accent2">
                  <a:lumMod val="40000"/>
                  <a:lumOff val="60000"/>
                </a:schemeClr>
              </a:solidFill>
              <a:sym typeface="+mn-ea"/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3300" dirty="0">
                <a:solidFill>
                  <a:srgbClr val="FFFF00"/>
                </a:solidFill>
                <a:sym typeface="+mn-ea"/>
              </a:rPr>
              <a:t>p1=&amp;stu0;</a:t>
            </a:r>
            <a:endParaRPr lang="en-US" altLang="zh-CN" sz="3300" dirty="0">
              <a:solidFill>
                <a:srgbClr val="FFFF00"/>
              </a:solidFill>
              <a:sym typeface="+mn-ea"/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endParaRPr lang="en-US" altLang="zh-CN" sz="3300" dirty="0">
              <a:sym typeface="+mn-ea"/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endParaRPr lang="en-US" altLang="zh-CN" sz="3300" dirty="0">
              <a:sym typeface="+mn-ea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4293870" y="4419600"/>
            <a:ext cx="3757295" cy="1214120"/>
          </a:xfrm>
          <a:prstGeom prst="wedgeRectCallout">
            <a:avLst>
              <a:gd name="adj1" fmla="val -84544"/>
              <a:gd name="adj2" fmla="val 58786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300" dirty="0">
                <a:latin typeface="Arial" panose="020B0604020202020204" pitchFamily="34" charset="0"/>
              </a:rPr>
              <a:t>int m,*p2;</a:t>
            </a:r>
            <a:endParaRPr lang="en-US" altLang="zh-CN" sz="33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300" dirty="0">
                <a:latin typeface="Arial" panose="020B0604020202020204" pitchFamily="34" charset="0"/>
              </a:rPr>
              <a:t>p2=&amp;m;</a:t>
            </a:r>
            <a:endParaRPr lang="en-US" altLang="zh-CN" sz="3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3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8737600" y="6701790"/>
            <a:ext cx="2844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5D0AA4-3ECB-4F21-B345-220D5989B3D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Rectangle 2"/>
          <p:cNvSpPr/>
          <p:nvPr/>
        </p:nvSpPr>
        <p:spPr>
          <a:xfrm>
            <a:off x="76835" y="4568190"/>
            <a:ext cx="24974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1" indent="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</a:rPr>
              <a:t>3)</a:t>
            </a: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</a:rPr>
              <a:t>使用类型别名</a:t>
            </a:r>
            <a:endParaRPr lang="zh-CN" altLang="en-US" sz="24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53284" name="Rectangle 4"/>
          <p:cNvSpPr/>
          <p:nvPr/>
        </p:nvSpPr>
        <p:spPr>
          <a:xfrm>
            <a:off x="304800" y="5185410"/>
            <a:ext cx="11824335" cy="1191895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69875" eaLnBrk="1" hangingPunct="1">
              <a:buClr>
                <a:schemeClr val="tx1"/>
              </a:buClr>
              <a:buSzTx/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typeAchieve  *</a:t>
            </a:r>
            <a:r>
              <a:rPr lang="en-US" altLang="zh-CN" sz="2800" b="1" dirty="0">
                <a:solidFill>
                  <a:srgbClr val="FA06F8"/>
                </a:solidFill>
                <a:ea typeface="黑体" panose="02010609060101010101" pitchFamily="49" charset="-122"/>
              </a:rPr>
              <a:t>p4</a:t>
            </a: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;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0" lvl="0" indent="269875" eaLnBrk="1" hangingPunct="1">
              <a:buClr>
                <a:schemeClr val="tx1"/>
              </a:buClr>
              <a:buSzTx/>
              <a:buNone/>
            </a:pPr>
            <a:r>
              <a:rPr lang="en-US" altLang="zh-CN" sz="2800" b="1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sym typeface="+mn-ea"/>
              </a:rPr>
              <a:t>pType </a:t>
            </a:r>
            <a:r>
              <a:rPr lang="en-US" altLang="zh-CN" sz="2800" b="1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sym typeface="+mn-ea"/>
              </a:rPr>
              <a:t>p5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; </a:t>
            </a:r>
            <a:endParaRPr lang="en-US" altLang="zh-CN" sz="2800" b="1" dirty="0">
              <a:ea typeface="黑体" panose="02010609060101010101" pitchFamily="49" charset="-122"/>
              <a:sym typeface="+mn-ea"/>
            </a:endParaRPr>
          </a:p>
          <a:p>
            <a:pPr marL="0" lvl="0" indent="269875" eaLnBrk="1" hangingPunct="1">
              <a:buClr>
                <a:schemeClr val="tx1"/>
              </a:buClr>
              <a:buSzTx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53285" name="Rectangle 5"/>
          <p:cNvSpPr/>
          <p:nvPr/>
        </p:nvSpPr>
        <p:spPr>
          <a:xfrm>
            <a:off x="609600" y="3806190"/>
            <a:ext cx="4953000" cy="52197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struct achievement </a:t>
            </a:r>
            <a:r>
              <a:rPr lang="en-US" altLang="zh-CN" sz="2800" b="1" dirty="0">
                <a:solidFill>
                  <a:srgbClr val="FA06F8"/>
                </a:solidFill>
                <a:ea typeface="黑体" panose="02010609060101010101" pitchFamily="49" charset="-122"/>
              </a:rPr>
              <a:t>*p3</a:t>
            </a: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</a:rPr>
              <a:t>;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53286" name="Rectangle 6"/>
          <p:cNvSpPr/>
          <p:nvPr/>
        </p:nvSpPr>
        <p:spPr>
          <a:xfrm>
            <a:off x="4190365" y="457200"/>
            <a:ext cx="3886200" cy="268795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zh-CN" altLang="en-US" sz="2000" b="1" dirty="0">
                <a:solidFill>
                  <a:schemeClr val="tx1">
                    <a:lumMod val="85000"/>
                  </a:schemeClr>
                </a:solidFill>
                <a:ea typeface="黑体" panose="02010609060101010101" pitchFamily="49" charset="-122"/>
              </a:rPr>
              <a:t>带标签</a:t>
            </a:r>
            <a:r>
              <a:rPr lang="en-US" altLang="zh-CN" sz="2000" b="1" dirty="0">
                <a:solidFill>
                  <a:schemeClr val="tx1">
                    <a:lumMod val="85000"/>
                  </a:schemeClr>
                </a:solidFill>
                <a:ea typeface="黑体" panose="02010609060101010101" pitchFamily="49" charset="-122"/>
              </a:rPr>
              <a:t>:</a:t>
            </a:r>
            <a:endParaRPr lang="en-US" altLang="zh-CN" sz="2000" b="1" dirty="0">
              <a:solidFill>
                <a:schemeClr val="tx1">
                  <a:lumMod val="85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struct achievement {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	char   name[20];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	int number 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	int achieve 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} </a:t>
            </a:r>
            <a:r>
              <a:rPr lang="en-US" altLang="zh-CN" sz="2400" b="1" dirty="0">
                <a:solidFill>
                  <a:srgbClr val="FA06F8"/>
                </a:solidFill>
              </a:rPr>
              <a:t>*</a:t>
            </a:r>
            <a:r>
              <a:rPr lang="en-US" altLang="zh-CN" sz="2800" b="1" dirty="0">
                <a:solidFill>
                  <a:srgbClr val="FA06F8"/>
                </a:solidFill>
                <a:ea typeface="黑体" panose="02010609060101010101" pitchFamily="49" charset="-122"/>
              </a:rPr>
              <a:t>p1</a:t>
            </a:r>
            <a:r>
              <a:rPr lang="en-US" altLang="zh-CN" sz="2400" b="1" dirty="0">
                <a:solidFill>
                  <a:schemeClr val="tx1"/>
                </a:solidFill>
              </a:rPr>
              <a:t>;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353287" name="Rectangle 7"/>
          <p:cNvSpPr/>
          <p:nvPr/>
        </p:nvSpPr>
        <p:spPr>
          <a:xfrm>
            <a:off x="8076565" y="456883"/>
            <a:ext cx="4038600" cy="2687955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None/>
            </a:pPr>
            <a:r>
              <a:rPr lang="zh-CN" altLang="en-US" sz="2000" b="1" dirty="0">
                <a:solidFill>
                  <a:schemeClr val="tx1">
                    <a:lumMod val="85000"/>
                  </a:schemeClr>
                </a:solidFill>
                <a:ea typeface="黑体" panose="02010609060101010101" pitchFamily="49" charset="-122"/>
              </a:rPr>
              <a:t>不带标签</a:t>
            </a:r>
            <a:r>
              <a:rPr lang="en-US" altLang="zh-CN" sz="2000" b="1" dirty="0">
                <a:solidFill>
                  <a:schemeClr val="tx1">
                    <a:lumMod val="85000"/>
                  </a:schemeClr>
                </a:solidFill>
                <a:ea typeface="黑体" panose="02010609060101010101" pitchFamily="49" charset="-122"/>
              </a:rPr>
              <a:t>:</a:t>
            </a:r>
            <a:endParaRPr lang="en-US" altLang="zh-CN" sz="2000" b="1" dirty="0">
              <a:solidFill>
                <a:schemeClr val="tx1">
                  <a:lumMod val="85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struct {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0" lvl="0" indent="0" eaLnBrk="1" hangingPunct="1">
              <a:buClr>
                <a:schemeClr val="tx1"/>
              </a:buClr>
              <a:buSzTx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	 char   name[20];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     int number 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     int achieve ;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457200" lvl="1" algn="l"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}</a:t>
            </a:r>
            <a:r>
              <a:rPr lang="en-US" altLang="zh-CN" sz="2400" b="1" dirty="0">
                <a:solidFill>
                  <a:srgbClr val="FA06F8"/>
                </a:solidFill>
              </a:rPr>
              <a:t>*</a:t>
            </a:r>
            <a:r>
              <a:rPr lang="en-US" altLang="zh-CN" sz="2800" b="1" dirty="0">
                <a:solidFill>
                  <a:srgbClr val="FA06F8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solidFill>
                  <a:srgbClr val="FA06F8"/>
                </a:solidFill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</a:rPr>
              <a:t>;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69640" name="矩形 1"/>
          <p:cNvSpPr/>
          <p:nvPr/>
        </p:nvSpPr>
        <p:spPr>
          <a:xfrm>
            <a:off x="72708" y="0"/>
            <a:ext cx="404177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tx1"/>
              </a:buClr>
              <a:buSzTx/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定义结构体</a:t>
            </a:r>
            <a:r>
              <a:rPr lang="zh-CN" altLang="en-US" b="1" dirty="0">
                <a:solidFill>
                  <a:srgbClr val="FA06F8"/>
                </a:solidFill>
                <a:ea typeface="黑体" panose="02010609060101010101" pitchFamily="49" charset="-122"/>
              </a:rPr>
              <a:t>指针变量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:</a:t>
            </a:r>
            <a:endParaRPr lang="en-US" altLang="zh-CN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3035" y="762000"/>
            <a:ext cx="33388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1)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使用结构体类型定义</a:t>
            </a:r>
            <a:endParaRPr lang="zh-CN" altLang="en-US" sz="2400" dirty="0"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835" y="3272790"/>
            <a:ext cx="3444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 algn="l" eaLnBrk="1" hangingPunct="1">
              <a:buSzTx/>
              <a:buFont typeface="Wingdings" panose="05000000000000000000" pitchFamily="2" charset="2"/>
            </a:pP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2)</a:t>
            </a: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使用结构体类型引用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5" name="矩形标注 4"/>
          <p:cNvSpPr/>
          <p:nvPr/>
        </p:nvSpPr>
        <p:spPr>
          <a:xfrm>
            <a:off x="4114800" y="4568190"/>
            <a:ext cx="6464935" cy="457200"/>
          </a:xfrm>
          <a:prstGeom prst="wedgeRectCallout">
            <a:avLst>
              <a:gd name="adj1" fmla="val -54939"/>
              <a:gd name="adj2" fmla="val 120555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24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ea typeface="黑体" panose="02010609060101010101" pitchFamily="49" charset="-122"/>
                <a:sym typeface="+mn-ea"/>
              </a:rPr>
              <a:t> typedef 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struct achievement</a:t>
            </a:r>
            <a:r>
              <a:rPr lang="en-US" altLang="zh-CN" sz="240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 typeAchieve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;</a:t>
            </a:r>
            <a:endParaRPr lang="en-US" altLang="zh-CN" sz="2400" b="1" dirty="0">
              <a:ea typeface="黑体" panose="02010609060101010101" pitchFamily="49" charset="-122"/>
              <a:sym typeface="+mn-ea"/>
            </a:endParaRPr>
          </a:p>
          <a:p>
            <a:pPr eaLnBrk="1" hangingPunct="1">
              <a:buNone/>
            </a:pP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标注 5"/>
          <p:cNvSpPr/>
          <p:nvPr/>
        </p:nvSpPr>
        <p:spPr>
          <a:xfrm>
            <a:off x="3850640" y="5862955"/>
            <a:ext cx="6044565" cy="838835"/>
          </a:xfrm>
          <a:prstGeom prst="wedgeRectCallout">
            <a:avLst>
              <a:gd name="adj1" fmla="val -65647"/>
              <a:gd name="adj2" fmla="val -42230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24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ea typeface="黑体" panose="02010609060101010101" pitchFamily="49" charset="-122"/>
                <a:sym typeface="+mn-ea"/>
              </a:rPr>
              <a:t>    typedef 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struct achievement</a:t>
            </a:r>
            <a:r>
              <a:rPr lang="en-US" altLang="zh-CN" sz="240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*</a:t>
            </a:r>
            <a:r>
              <a:rPr lang="en-US" altLang="zh-CN" sz="240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 pType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 ;</a:t>
            </a:r>
            <a:endParaRPr lang="en-US" altLang="zh-CN" sz="2400" dirty="0">
              <a:ea typeface="黑体" panose="02010609060101010101" pitchFamily="49" charset="-122"/>
              <a:sym typeface="+mn-ea"/>
            </a:endParaRPr>
          </a:p>
          <a:p>
            <a:pPr eaLnBrk="1" hangingPunct="1">
              <a:buNone/>
            </a:pPr>
            <a:r>
              <a:rPr lang="zh-CN" altLang="en-US" sz="2400" dirty="0">
                <a:ea typeface="黑体" panose="02010609060101010101" pitchFamily="49" charset="-122"/>
                <a:sym typeface="+mn-ea"/>
              </a:rPr>
              <a:t>或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4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ea typeface="黑体" panose="02010609060101010101" pitchFamily="49" charset="-122"/>
                <a:sym typeface="+mn-ea"/>
              </a:rPr>
              <a:t>typedef </a:t>
            </a:r>
            <a:r>
              <a:rPr lang="en-US" altLang="zh-CN" sz="2400" noProof="0" dirty="0" err="1">
                <a:ln>
                  <a:noFill/>
                </a:ln>
                <a:solidFill>
                  <a:srgbClr val="FFFF00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typeAchieve* pType</a:t>
            </a:r>
            <a:r>
              <a:rPr lang="en-US" altLang="zh-CN" sz="2400" dirty="0">
                <a:ea typeface="黑体" panose="02010609060101010101" pitchFamily="49" charset="-122"/>
                <a:sym typeface="+mn-ea"/>
              </a:rPr>
              <a:t> ;</a:t>
            </a:r>
            <a:endParaRPr lang="en-US" altLang="zh-CN" sz="2400" dirty="0">
              <a:ea typeface="黑体" panose="02010609060101010101" pitchFamily="49" charset="-122"/>
              <a:sym typeface="+mn-ea"/>
            </a:endParaRPr>
          </a:p>
          <a:p>
            <a:pPr eaLnBrk="1" hangingPunct="1">
              <a:buNone/>
            </a:pPr>
            <a:endParaRPr lang="en-US" altLang="zh-CN" sz="2400" b="1" dirty="0">
              <a:ea typeface="黑体" panose="02010609060101010101" pitchFamily="49" charset="-122"/>
              <a:sym typeface="+mn-ea"/>
            </a:endParaRPr>
          </a:p>
          <a:p>
            <a:pPr eaLnBrk="1" hangingPunct="1">
              <a:buNone/>
            </a:pP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6" grpId="0" animBg="1"/>
      <p:bldP spid="353287" grpId="0" animBg="1"/>
      <p:bldP spid="353286" grpId="1" animBg="1"/>
      <p:bldP spid="353287" grpId="1" animBg="1"/>
      <p:bldP spid="353285" grpId="0"/>
      <p:bldP spid="353285" grpId="1"/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C37D7E-9B6A-4E35-ABE0-697415F1F02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>
          <a:xfrm>
            <a:off x="1828800" y="1195388"/>
            <a:ext cx="8229600" cy="8509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b="1" dirty="0">
                <a:effectLst/>
                <a:ea typeface="黑体" panose="02010609060101010101" pitchFamily="49" charset="-122"/>
              </a:rPr>
              <a:t>§8.2.5 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访问结构体变量的成分</a:t>
            </a:r>
            <a:endParaRPr lang="zh-CN" altLang="en-US" sz="3200" b="1" dirty="0">
              <a:effectLst/>
              <a:ea typeface="黑体" panose="02010609060101010101" pitchFamily="49" charset="-122"/>
            </a:endParaRPr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>
          <a:xfrm>
            <a:off x="228600" y="2732088"/>
            <a:ext cx="10972800" cy="19812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5000"/>
              </a:lnSpc>
              <a:buNone/>
            </a:pPr>
            <a:r>
              <a:rPr lang="en-US" altLang="zh-CN" sz="2800" b="1" dirty="0">
                <a:effectLst/>
                <a:ea typeface="黑体" panose="02010609060101010101" pitchFamily="49" charset="-122"/>
              </a:rPr>
              <a:t>           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访问结构体变量的一个成分，使用成员选择表达式。包括：</a:t>
            </a:r>
            <a:endParaRPr lang="zh-CN" altLang="en-US" sz="2800" b="1" dirty="0">
              <a:effectLst/>
              <a:ea typeface="黑体" panose="02010609060101010101" pitchFamily="49" charset="-122"/>
            </a:endParaRPr>
          </a:p>
          <a:p>
            <a:pPr lvl="2" eaLnBrk="1" hangingPunct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effectLst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hlink"/>
                </a:solidFill>
                <a:effectLst/>
                <a:ea typeface="黑体" panose="02010609060101010101" pitchFamily="49" charset="-122"/>
              </a:rPr>
              <a:t>直接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成员选择表达式</a:t>
            </a:r>
            <a:endParaRPr lang="zh-CN" altLang="en-US" sz="2800" b="1" dirty="0">
              <a:effectLst/>
              <a:ea typeface="黑体" panose="02010609060101010101" pitchFamily="49" charset="-122"/>
            </a:endParaRPr>
          </a:p>
          <a:p>
            <a:pPr lvl="2" eaLnBrk="1" hangingPunct="1">
              <a:lnSpc>
                <a:spcPct val="135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effectLst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hlink"/>
                </a:solidFill>
                <a:effectLst/>
                <a:ea typeface="黑体" panose="02010609060101010101" pitchFamily="49" charset="-122"/>
              </a:rPr>
              <a:t>间接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成员选择表达式</a:t>
            </a:r>
            <a:endParaRPr lang="zh-CN" altLang="en-US" sz="2800" b="1" dirty="0">
              <a:effectLst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57E8CA-D9FA-462F-B1DB-0B05E815BBC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0" y="76200"/>
            <a:ext cx="5506085" cy="488124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300" b="1" i="0" u="none" strike="noStrike" kern="1200" cap="none" spc="0" normalizeH="0" baseline="0" dirty="0">
                <a:solidFill>
                  <a:srgbClr val="FA06F8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直接成员选择</a:t>
            </a:r>
            <a:r>
              <a:rPr kumimoji="0" lang="zh-CN" altLang="en-US" sz="3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表达式</a:t>
            </a:r>
            <a:endParaRPr kumimoji="0" lang="zh-CN" altLang="en-US" sz="3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 stu0.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number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stu0.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name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stu0.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achieve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使用：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scanf(</a:t>
            </a: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%d”,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&amp;</a:t>
            </a:r>
            <a:r>
              <a:rPr lang="en-US" altLang="zh-CN" sz="24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stu0</a:t>
            </a:r>
            <a:r>
              <a:rPr lang="en-US" altLang="zh-CN" sz="24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.</a:t>
            </a: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number);</a:t>
            </a:r>
            <a:endParaRPr lang="en-US" altLang="zh-CN" sz="2400" b="1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printf(</a:t>
            </a: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”</a:t>
            </a: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%s”,</a:t>
            </a:r>
            <a:r>
              <a:rPr lang="en-US" altLang="zh-CN" sz="24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stu0</a:t>
            </a:r>
            <a:r>
              <a:rPr lang="en-US" altLang="zh-CN" sz="24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.</a:t>
            </a: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name);</a:t>
            </a:r>
            <a:endParaRPr lang="en-US" altLang="zh-CN" sz="2400" b="1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4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stu0</a:t>
            </a:r>
            <a:r>
              <a:rPr lang="en-US" altLang="zh-CN" sz="2400" b="1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.</a:t>
            </a: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achieve=81;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943850" y="635"/>
            <a:ext cx="4248150" cy="25895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struct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achievement{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number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char name[L];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achieve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stu0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D090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5638165"/>
            <a:ext cx="10553065" cy="1197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直接成员选择表达式针对一般的结构体变量。形式是：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r . w 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 r  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是结构体变量；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w  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是 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r 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所属结构体类型中的一个成员名字</a:t>
            </a:r>
            <a:endParaRPr lang="zh-CN" altLang="en-US" sz="1800" kern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34925"/>
            <a:ext cx="5440045" cy="215392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300" b="1" i="0" u="none" strike="noStrike" kern="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间接成员选择</a:t>
            </a:r>
            <a:r>
              <a:rPr kumimoji="0" lang="zh-CN" altLang="en-US" sz="3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表达式</a:t>
            </a:r>
            <a:endParaRPr kumimoji="0" lang="zh-CN" altLang="en-US" sz="3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p-&gt;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number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p-&gt;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name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p-&gt;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</a:rPr>
              <a:t>achieve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160655" y="4572000"/>
            <a:ext cx="6216650" cy="21583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也可写成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直接成员选择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表达式：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914400" marR="0" lvl="2" indent="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(*p).number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914400" marR="0" lvl="2" indent="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(*p).name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914400" marR="0" lvl="2" indent="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(*p).achieve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077200" y="953"/>
            <a:ext cx="4114800" cy="31064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struct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achievement{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number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char name[L];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achieve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*p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, stu0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D0903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=&amp;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stu0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24600" y="5825490"/>
            <a:ext cx="5847715" cy="1032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针对指向结构体变量的指针变量，形式是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p-&gt;w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，其中：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p 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一个指向结构体变量的指针变量</a:t>
            </a:r>
            <a:endParaRPr lang="zh-CN" altLang="en-US" sz="1800" kern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黑体" panose="02010609060101010101" pitchFamily="49" charset="-122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w 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是 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p 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所指结构体变量所属类型中的一个成员名字</a:t>
            </a:r>
            <a:endParaRPr lang="zh-CN" altLang="en-US" sz="1800" kern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6200" y="2188845"/>
            <a:ext cx="7475855" cy="2235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zh-CN" altLang="en-US" sz="2400" kern="0" noProof="0" dirty="0">
                <a:ln>
                  <a:noFill/>
                </a:ln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使用：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200150" marR="0" lvl="2" indent="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800" kern="0" noProof="0" dirty="0">
                <a:ln>
                  <a:noFill/>
                </a:ln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scanf(</a:t>
            </a:r>
            <a:r>
              <a:rPr lang="en-US" altLang="zh-CN" sz="2800" kern="0" noProof="0" dirty="0">
                <a:ln>
                  <a:noFill/>
                </a:ln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”</a:t>
            </a:r>
            <a:r>
              <a:rPr lang="en-US" altLang="zh-CN" sz="2800" kern="0" noProof="0" dirty="0">
                <a:ln>
                  <a:noFill/>
                </a:ln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%d”,</a:t>
            </a:r>
            <a:r>
              <a:rPr lang="en-US" altLang="zh-CN" sz="2800" kern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ea"/>
                <a:sym typeface="+mn-ea"/>
              </a:rPr>
              <a:t>&amp;</a:t>
            </a:r>
            <a:r>
              <a:rPr lang="en-US" altLang="zh-CN" sz="2800" kern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ea"/>
                <a:sym typeface="+mn-ea"/>
              </a:rPr>
              <a:t>p-&gt;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number);</a:t>
            </a:r>
            <a:endParaRPr lang="en-US" altLang="zh-CN" sz="2800" b="1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1200150" marR="0" lvl="2" indent="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printf(</a:t>
            </a:r>
            <a:r>
              <a:rPr lang="en-US" altLang="zh-CN" sz="2800" kern="0" noProof="0" dirty="0">
                <a:ln>
                  <a:noFill/>
                </a:ln>
                <a:effectLst/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”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%s”,</a:t>
            </a:r>
            <a:r>
              <a:rPr lang="en-US" altLang="zh-CN" sz="28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p-&gt;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name);</a:t>
            </a:r>
            <a:endParaRPr lang="en-US" altLang="zh-CN" sz="2800" b="1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sym typeface="+mn-ea"/>
            </a:endParaRPr>
          </a:p>
          <a:p>
            <a:pPr marL="1200150" marR="0" lvl="2" indent="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p-&gt;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achieve=81;</a:t>
            </a:r>
            <a:endParaRPr lang="en-US" altLang="zh-CN" sz="2800" noProof="0" dirty="0">
              <a:ln>
                <a:noFill/>
              </a:ln>
              <a:effectLst/>
              <a:uLnTx/>
              <a:uFillTx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ldLvl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851775" cy="8921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100" b="1" i="0" u="sng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嵌套定义：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一个人的自然情况表数据类型</a:t>
            </a:r>
            <a:r>
              <a:rPr lang="en-US" altLang="zh-CN" sz="1800" b="1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LnTx/>
                <a:uFillTx/>
                <a:ea typeface="黑体" panose="02010609060101010101" pitchFamily="49" charset="-122"/>
                <a:sym typeface="+mn-ea"/>
              </a:rPr>
              <a:t>【</a:t>
            </a:r>
            <a:r>
              <a:rPr lang="zh-CN" altLang="en-US" sz="1800" b="1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LnTx/>
                <a:uFillTx/>
                <a:ea typeface="黑体" panose="02010609060101010101" pitchFamily="49" charset="-122"/>
                <a:sym typeface="+mn-ea"/>
              </a:rPr>
              <a:t>例</a:t>
            </a:r>
            <a:r>
              <a:rPr lang="en-US" altLang="zh-CN" sz="1800" b="1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LnTx/>
                <a:uFillTx/>
                <a:ea typeface="黑体" panose="02010609060101010101" pitchFamily="49" charset="-122"/>
                <a:sym typeface="+mn-ea"/>
              </a:rPr>
              <a:t>8.2】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  <a:sym typeface="+mn-ea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sz="half" idx="1"/>
          </p:nvPr>
        </p:nvSpPr>
        <p:spPr>
          <a:xfrm>
            <a:off x="76200" y="1143000"/>
            <a:ext cx="5495925" cy="426466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kern="12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  </a:t>
            </a:r>
            <a:r>
              <a:rPr lang="en-US" altLang="zh-CN" b="1" kern="12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date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lang="en-US" altLang="zh-CN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{</a:t>
            </a:r>
            <a:endParaRPr lang="en-US" altLang="zh-CN" b="1" dirty="0"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      int year,month</a:t>
            </a:r>
            <a:r>
              <a:rPr lang="en-US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,</a:t>
            </a:r>
            <a:r>
              <a:rPr lang="en-US" altLang="zh-CN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day;</a:t>
            </a:r>
            <a:endParaRPr lang="en-US" altLang="zh-CN" b="1" dirty="0"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};</a:t>
            </a:r>
            <a:endParaRPr lang="en-US" altLang="zh-CN" b="1" dirty="0"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kern="1200" noProof="0" dirty="0">
                <a:ln>
                  <a:noFill/>
                </a:ln>
                <a:solidFill>
                  <a:srgbClr val="FA06F8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</a:t>
            </a:r>
            <a:r>
              <a:rPr lang="en-US" altLang="zh-CN" b="1" dirty="0">
                <a:solidFill>
                  <a:srgbClr val="FA06F8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  </a:t>
            </a:r>
            <a:r>
              <a:rPr lang="en-US" altLang="zh-CN" b="1" kern="1200" noProof="0" dirty="0">
                <a:ln>
                  <a:noFill/>
                </a:ln>
                <a:solidFill>
                  <a:srgbClr val="FA06F8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person</a:t>
            </a:r>
            <a:r>
              <a:rPr lang="en-US" altLang="zh-CN" b="1" dirty="0">
                <a:solidFill>
                  <a:srgbClr val="FA06F8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 {</a:t>
            </a:r>
            <a:endParaRPr lang="en-US" altLang="zh-CN" b="1" dirty="0">
              <a:solidFill>
                <a:srgbClr val="FA06F8"/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       char  name[10] ;</a:t>
            </a:r>
            <a:endParaRPr lang="en-US" altLang="zh-CN" b="1" dirty="0"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       int gender;</a:t>
            </a:r>
            <a:endParaRPr lang="en-US" altLang="zh-CN" b="1" dirty="0"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       </a:t>
            </a:r>
            <a:r>
              <a:rPr lang="en-US" altLang="zh-CN" b="1" kern="12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 date</a:t>
            </a:r>
            <a:r>
              <a:rPr lang="en-US" altLang="zh-CN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  birthdate ;</a:t>
            </a:r>
            <a:endParaRPr lang="en-US" altLang="zh-CN" b="1" dirty="0"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eaLnBrk="1" hangingPunct="1"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A06F8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};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     </a:t>
            </a:r>
            <a:r>
              <a:rPr lang="en-US" altLang="zh-CN" b="1" dirty="0">
                <a:effectLst/>
                <a:latin typeface="+mn-lt"/>
                <a:ea typeface="黑体" panose="02010609060101010101" pitchFamily="49" charset="-122"/>
                <a:cs typeface="+mn-cs"/>
              </a:rPr>
              <a:t>     </a:t>
            </a:r>
            <a:endParaRPr lang="en-US" altLang="zh-CN" b="1" dirty="0">
              <a:effectLst/>
              <a:latin typeface="+mn-lt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5" name="Group 66"/>
          <p:cNvGraphicFramePr>
            <a:graphicFrameLocks noGrp="1"/>
          </p:cNvGraphicFramePr>
          <p:nvPr/>
        </p:nvGraphicFramePr>
        <p:xfrm>
          <a:off x="7199313" y="3193733"/>
          <a:ext cx="4537076" cy="3108325"/>
        </p:xfrm>
        <a:graphic>
          <a:graphicData uri="http://schemas.openxmlformats.org/drawingml/2006/table">
            <a:tbl>
              <a:tblPr/>
              <a:tblGrid>
                <a:gridCol w="2038351"/>
                <a:gridCol w="1273175"/>
                <a:gridCol w="1225550"/>
              </a:tblGrid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name: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字符数组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69" marB="4566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gender: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int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year: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69" marB="4566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birthdate: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month: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69" marB="4566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day: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669" marB="4566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669" marB="4566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 bwMode="auto">
          <a:xfrm>
            <a:off x="9241790" y="4267200"/>
            <a:ext cx="2494915" cy="1479550"/>
          </a:xfrm>
          <a:prstGeom prst="rect">
            <a:avLst/>
          </a:prstGeom>
          <a:solidFill>
            <a:srgbClr val="05305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date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类型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Group 61"/>
          <p:cNvGraphicFramePr>
            <a:graphicFrameLocks noGrp="1"/>
          </p:cNvGraphicFramePr>
          <p:nvPr/>
        </p:nvGraphicFramePr>
        <p:xfrm>
          <a:off x="7607300" y="1144270"/>
          <a:ext cx="4176713" cy="1584326"/>
        </p:xfrm>
        <a:graphic>
          <a:graphicData uri="http://schemas.openxmlformats.org/drawingml/2006/table">
            <a:tbl>
              <a:tblPr/>
              <a:tblGrid>
                <a:gridCol w="1620838"/>
                <a:gridCol w="2555875"/>
              </a:tblGrid>
              <a:tr h="51826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year: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int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29" marB="4572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6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month: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int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29" marB="4572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779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day: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T="45729" marB="45729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int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类型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T="45729" marB="45729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924165" y="5942965"/>
            <a:ext cx="4197985" cy="568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100">
                <a:solidFill>
                  <a:srgbClr val="FFFF00"/>
                </a:solidFill>
              </a:rPr>
              <a:t>内存分配</a:t>
            </a:r>
            <a:r>
              <a:rPr lang="en-US" altLang="zh-CN" sz="3100">
                <a:solidFill>
                  <a:srgbClr val="FFFF00"/>
                </a:solidFill>
              </a:rPr>
              <a:t>(</a:t>
            </a:r>
            <a:r>
              <a:rPr lang="zh-CN" altLang="en-US" sz="3100">
                <a:solidFill>
                  <a:srgbClr val="FFFF00"/>
                </a:solidFill>
              </a:rPr>
              <a:t>变量</a:t>
            </a:r>
            <a:r>
              <a:rPr lang="en-US" altLang="zh-CN" sz="3100">
                <a:solidFill>
                  <a:srgbClr val="FFFF00"/>
                </a:solidFill>
                <a:sym typeface="+mn-ea"/>
              </a:rPr>
              <a:t>zhang</a:t>
            </a:r>
            <a:r>
              <a:rPr lang="en-US" altLang="zh-CN" sz="3100">
                <a:solidFill>
                  <a:srgbClr val="FFFF00"/>
                </a:solidFill>
              </a:rPr>
              <a:t>)</a:t>
            </a:r>
            <a:endParaRPr lang="en-US" altLang="zh-CN" sz="3100">
              <a:solidFill>
                <a:srgbClr val="FFFF00"/>
              </a:solidFill>
            </a:endParaRPr>
          </a:p>
        </p:txBody>
      </p:sp>
      <p:sp>
        <p:nvSpPr>
          <p:cNvPr id="4" name="矩形标注 3"/>
          <p:cNvSpPr/>
          <p:nvPr/>
        </p:nvSpPr>
        <p:spPr>
          <a:xfrm>
            <a:off x="6232525" y="2590800"/>
            <a:ext cx="2162810" cy="791845"/>
          </a:xfrm>
          <a:prstGeom prst="wedgeRectCallout">
            <a:avLst>
              <a:gd name="adj1" fmla="val 79125"/>
              <a:gd name="adj2" fmla="val 12469"/>
            </a:avLst>
          </a:prstGeom>
          <a:solidFill>
            <a:schemeClr val="tx1"/>
          </a:solidFill>
        </p:spPr>
        <p:txBody>
          <a:bodyPr wrap="square" lIns="0" rIns="0">
            <a:noAutofit/>
          </a:bodyPr>
          <a:p>
            <a:pPr algn="ctr" eaLnBrk="1" hangingPunct="1">
              <a:buNone/>
            </a:pP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struct person</a:t>
            </a:r>
            <a:endParaRPr lang="en-US" altLang="zh-CN" sz="240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  <a:p>
            <a:pPr algn="ctr" eaLnBrk="1" hangingPunct="1">
              <a:buNone/>
            </a:pPr>
            <a:r>
              <a:rPr lang="en-US" altLang="zh-CN" sz="240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类型</a:t>
            </a:r>
            <a:endParaRPr lang="en-US" altLang="zh-CN" sz="2400" b="1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ctr" eaLnBrk="1" hangingPunct="1"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6308725" y="838200"/>
            <a:ext cx="1883410" cy="762000"/>
          </a:xfrm>
          <a:prstGeom prst="wedgeRectCallout">
            <a:avLst>
              <a:gd name="adj1" fmla="val 105394"/>
              <a:gd name="adj2" fmla="val -6083"/>
            </a:avLst>
          </a:prstGeom>
          <a:solidFill>
            <a:schemeClr val="tx1"/>
          </a:solidFill>
        </p:spPr>
        <p:txBody>
          <a:bodyPr wrap="square" lIns="0" rIns="0">
            <a:noAutofit/>
          </a:bodyPr>
          <a:p>
            <a:pPr algn="ctr" eaLnBrk="1" hangingPunct="1">
              <a:buNone/>
            </a:pPr>
            <a:r>
              <a:rPr lang="en-US" altLang="zh-CN" sz="24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struct date</a:t>
            </a:r>
            <a:endParaRPr lang="en-US" altLang="zh-CN" sz="240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sym typeface="+mn-ea"/>
            </a:endParaRPr>
          </a:p>
          <a:p>
            <a:pPr algn="ctr" eaLnBrk="1" hangingPunct="1">
              <a:buNone/>
            </a:pPr>
            <a:r>
              <a:rPr lang="en-US" altLang="zh-CN" sz="240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类型</a:t>
            </a:r>
            <a:endParaRPr lang="en-US" altLang="zh-CN" sz="2400" b="1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ctr" eaLnBrk="1" hangingPunct="1">
              <a:buNone/>
            </a:pPr>
            <a:endParaRPr lang="en-US" altLang="zh-CN" sz="2400" b="1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00" y="5425440"/>
            <a:ext cx="4721225" cy="568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100"/>
              <a:t>struct person </a:t>
            </a:r>
            <a:r>
              <a:rPr lang="en-US" altLang="zh-CN" sz="3100">
                <a:solidFill>
                  <a:srgbClr val="FFFF00"/>
                </a:solidFill>
              </a:rPr>
              <a:t>zhang</a:t>
            </a:r>
            <a:r>
              <a:rPr lang="en-US" altLang="zh-CN" sz="3100"/>
              <a:t>;</a:t>
            </a:r>
            <a:endParaRPr lang="en-US" altLang="zh-CN" sz="3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nimBg="1" uiExpand="1" build="p"/>
      <p:bldP spid="14339" grpId="1" animBg="1" build="p"/>
      <p:bldP spid="3" grpId="0" bldLvl="0" animBg="1"/>
      <p:bldP spid="9" grpId="0" bldLvl="0" animBg="1"/>
      <p:bldP spid="10" grpId="0" bldLvl="0" animBg="1"/>
      <p:bldP spid="4" grpId="0" bldLvl="0" animBg="1"/>
      <p:bldP spid="9" grpId="1" bldLvl="0" animBg="1"/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ABAC9E-3AF9-4A09-B073-72F9410E651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4308" name="Rectangle 4"/>
          <p:cNvSpPr>
            <a:spLocks noChangeArrowheads="1"/>
          </p:cNvSpPr>
          <p:nvPr/>
        </p:nvSpPr>
        <p:spPr bwMode="auto">
          <a:xfrm>
            <a:off x="533400" y="368141"/>
            <a:ext cx="7145338" cy="2676525"/>
          </a:xfrm>
          <a:prstGeom prst="rect">
            <a:avLst/>
          </a:prstGeom>
          <a:noFill/>
          <a:ln w="31750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 date { int year,month,day ; 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 person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	char  name[10]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	int gender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struct  date  birthdate ;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日期类型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zhang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,*p=&amp;zhang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4" name="矩形 1"/>
          <p:cNvSpPr/>
          <p:nvPr/>
        </p:nvSpPr>
        <p:spPr>
          <a:xfrm>
            <a:off x="685800" y="3505200"/>
            <a:ext cx="654621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/>
              <a:t>对</a:t>
            </a:r>
            <a:r>
              <a:rPr lang="en-US" altLang="zh-CN" sz="2800" b="1" dirty="0"/>
              <a:t>zhang</a:t>
            </a:r>
            <a:r>
              <a:rPr lang="zh-CN" altLang="en-US" sz="2800" b="1" dirty="0"/>
              <a:t>同学的</a:t>
            </a:r>
            <a:r>
              <a:rPr lang="zh-CN" altLang="en-US" sz="2800" b="1" dirty="0">
                <a:solidFill>
                  <a:srgbClr val="FA06F8"/>
                </a:solidFill>
              </a:rPr>
              <a:t>出生年份</a:t>
            </a:r>
            <a:r>
              <a:rPr lang="zh-CN" altLang="en-US" sz="2800" b="1" dirty="0"/>
              <a:t>进行赋值：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/>
              <a:t>      </a:t>
            </a:r>
            <a:r>
              <a:rPr lang="zh-CN" altLang="en-US" sz="2800" b="1" dirty="0">
                <a:solidFill>
                  <a:schemeClr val="hlink"/>
                </a:solidFill>
              </a:rPr>
              <a:t> </a:t>
            </a:r>
            <a:r>
              <a:rPr lang="en-US" altLang="zh-CN" sz="2800" b="1" dirty="0">
                <a:solidFill>
                  <a:schemeClr val="hlink"/>
                </a:solidFill>
              </a:rPr>
              <a:t>zhang.birthdate.</a:t>
            </a:r>
            <a:r>
              <a:rPr lang="en-US" altLang="zh-CN" sz="2800" b="1" dirty="0"/>
              <a:t>year=2001</a:t>
            </a:r>
            <a:endParaRPr lang="en-US" altLang="zh-CN" sz="28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/>
              <a:t>或    </a:t>
            </a:r>
            <a:r>
              <a:rPr lang="en-US" altLang="zh-CN" sz="2800" b="1" dirty="0">
                <a:solidFill>
                  <a:schemeClr val="hlink"/>
                </a:solidFill>
              </a:rPr>
              <a:t>p-&gt;birthdate.</a:t>
            </a:r>
            <a:r>
              <a:rPr lang="en-US" altLang="zh-CN" sz="2800" b="1" dirty="0"/>
              <a:t>year</a:t>
            </a:r>
            <a:r>
              <a:rPr lang="en-US" altLang="zh-CN" sz="2800" b="1" dirty="0">
                <a:ea typeface="黑体" panose="02010609060101010101" pitchFamily="49" charset="-122"/>
              </a:rPr>
              <a:t>=2001    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或    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(*p).birthdate.</a:t>
            </a:r>
            <a:r>
              <a:rPr lang="en-US" altLang="zh-CN" sz="2800" b="1" dirty="0">
                <a:ea typeface="黑体" panose="02010609060101010101" pitchFamily="49" charset="-122"/>
              </a:rPr>
              <a:t>year=2001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76805" name="矩形 2"/>
          <p:cNvSpPr/>
          <p:nvPr/>
        </p:nvSpPr>
        <p:spPr>
          <a:xfrm>
            <a:off x="9267825" y="228600"/>
            <a:ext cx="2314575" cy="584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D0903"/>
                </a:solidFill>
              </a:rPr>
              <a:t>嵌套结构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23B476-800D-4A22-BE6A-9CA4BABDF1B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152400" y="650240"/>
            <a:ext cx="1999615" cy="6426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>
            <a:no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1.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初始化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7828" name="矩形 1"/>
          <p:cNvSpPr/>
          <p:nvPr/>
        </p:nvSpPr>
        <p:spPr>
          <a:xfrm>
            <a:off x="-76200" y="0"/>
            <a:ext cx="597535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66700" algn="ctr" eaLnBrk="1" hangingPunct="1">
              <a:buClr>
                <a:schemeClr val="tx1"/>
              </a:buClr>
              <a:buSzTx/>
              <a:buFontTx/>
              <a:buNone/>
            </a:pPr>
            <a:r>
              <a:rPr lang="en-US" altLang="zh-CN" b="1" dirty="0">
                <a:solidFill>
                  <a:srgbClr val="FFC000"/>
                </a:solidFill>
                <a:ea typeface="黑体" panose="02010609060101010101" pitchFamily="49" charset="-122"/>
              </a:rPr>
              <a:t>§ 8.2.6  </a:t>
            </a:r>
            <a:r>
              <a:rPr lang="zh-CN" altLang="en-US" b="1" dirty="0">
                <a:solidFill>
                  <a:srgbClr val="FFC000"/>
                </a:solidFill>
                <a:ea typeface="黑体" panose="02010609060101010101" pitchFamily="49" charset="-122"/>
              </a:rPr>
              <a:t>对结构体变量的操作</a:t>
            </a:r>
            <a:endParaRPr lang="zh-CN" altLang="en-US" b="1" dirty="0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354308" name="Rectangle 4"/>
          <p:cNvSpPr>
            <a:spLocks noChangeArrowheads="1"/>
          </p:cNvSpPr>
          <p:nvPr/>
        </p:nvSpPr>
        <p:spPr bwMode="auto">
          <a:xfrm>
            <a:off x="6781800" y="0"/>
            <a:ext cx="5397500" cy="3538220"/>
          </a:xfrm>
          <a:prstGeom prst="rect">
            <a:avLst/>
          </a:prstGeom>
          <a:solidFill>
            <a:schemeClr val="accent1"/>
          </a:solidFill>
          <a:ln w="31750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 date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year, month,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day 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 person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	char  name[10]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	int gender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 date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birthdate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4800" y="1447800"/>
            <a:ext cx="557339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   struct person </a:t>
            </a:r>
            <a:r>
              <a:rPr lang="en-US" altLang="zh-CN" sz="2800">
                <a:solidFill>
                  <a:srgbClr val="FFFF00"/>
                </a:solidFill>
              </a:rPr>
              <a:t>zhang</a:t>
            </a:r>
            <a:r>
              <a:rPr lang="en-US" altLang="zh-CN" sz="2800"/>
              <a:t> = {</a:t>
            </a:r>
            <a:endParaRPr lang="en-US" altLang="zh-CN" sz="2800"/>
          </a:p>
          <a:p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"zhangsan", </a:t>
            </a:r>
            <a:r>
              <a:rPr lang="en-US" altLang="zh-CN" sz="280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</a:rPr>
              <a:t>// name</a:t>
            </a:r>
            <a:endParaRPr lang="en-US" altLang="zh-CN" sz="1800">
              <a:solidFill>
                <a:schemeClr val="tx1">
                  <a:lumMod val="65000"/>
                </a:schemeClr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1,              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</a:rPr>
              <a:t>// gender</a:t>
            </a:r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	{2000, 11, 11} 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</a:rPr>
              <a:t>// birthdate</a:t>
            </a:r>
            <a:endParaRPr lang="en-US" altLang="zh-CN" sz="1800">
              <a:solidFill>
                <a:schemeClr val="tx1">
                  <a:lumMod val="65000"/>
                </a:schemeClr>
              </a:solidFill>
            </a:endParaRPr>
          </a:p>
          <a:p>
            <a:r>
              <a:rPr lang="en-US" altLang="zh-CN" sz="2800"/>
              <a:t>    };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152400" y="4267200"/>
            <a:ext cx="618998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    struct person zhang = {</a:t>
            </a:r>
            <a:endParaRPr lang="en-US" altLang="zh-CN" sz="2800"/>
          </a:p>
          <a:p>
            <a:r>
              <a:rPr lang="en-US" altLang="zh-CN" sz="2800"/>
              <a:t>  </a:t>
            </a:r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	.name="zhangsan",              	.birthdate={2000, 11, 11} </a:t>
            </a:r>
            <a:endParaRPr lang="en-US" altLang="zh-CN" sz="280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altLang="zh-CN" sz="2800"/>
              <a:t>    };</a:t>
            </a:r>
            <a:endParaRPr lang="en-US" altLang="zh-CN" sz="2800"/>
          </a:p>
          <a:p>
            <a:pPr algn="l">
              <a:buClrTx/>
              <a:buSzTx/>
              <a:buFontTx/>
            </a:pPr>
            <a:r>
              <a:rPr lang="en-US" altLang="zh-CN" sz="2800"/>
              <a:t>    </a:t>
            </a:r>
            <a:r>
              <a:rPr lang="en-US" altLang="zh-CN" sz="2800">
                <a:solidFill>
                  <a:srgbClr val="FFFF00"/>
                </a:solidFill>
              </a:rPr>
              <a:t>zhang</a:t>
            </a:r>
            <a:r>
              <a:rPr lang="en-US" altLang="zh-CN" sz="2800">
                <a:solidFill>
                  <a:schemeClr val="accent2">
                    <a:lumMod val="60000"/>
                    <a:lumOff val="40000"/>
                  </a:schemeClr>
                </a:solidFill>
              </a:rPr>
              <a:t>.gender</a:t>
            </a:r>
            <a:r>
              <a:rPr lang="en-US" altLang="zh-CN" sz="2800">
                <a:solidFill>
                  <a:srgbClr val="FFFF00"/>
                </a:solidFill>
              </a:rPr>
              <a:t>=1;</a:t>
            </a:r>
            <a:r>
              <a:rPr lang="en-US" altLang="zh-CN" sz="1800">
                <a:solidFill>
                  <a:schemeClr val="tx1">
                    <a:lumMod val="65000"/>
                  </a:schemeClr>
                </a:solidFill>
              </a:rPr>
              <a:t>//对成分赋值</a:t>
            </a:r>
            <a:endParaRPr lang="en-US" altLang="zh-CN" sz="1800">
              <a:solidFill>
                <a:schemeClr val="tx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063478-5FC1-4BF4-8AC2-555D2197881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1" name="Rectangle 3"/>
          <p:cNvSpPr/>
          <p:nvPr/>
        </p:nvSpPr>
        <p:spPr>
          <a:xfrm>
            <a:off x="0" y="466249"/>
            <a:ext cx="12192000" cy="207264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66700" eaLnBrk="1" hangingPunct="1">
              <a:buClr>
                <a:schemeClr val="tx1"/>
              </a:buClr>
              <a:buSzTx/>
              <a:buFontTx/>
              <a:buNone/>
            </a:pPr>
            <a:r>
              <a:rPr lang="en-US" altLang="zh-CN" sz="2800" b="1" u="sng" dirty="0">
                <a:solidFill>
                  <a:schemeClr val="hlink"/>
                </a:solidFill>
                <a:ea typeface="黑体" panose="02010609060101010101" pitchFamily="49" charset="-122"/>
              </a:rPr>
              <a:t>2.</a:t>
            </a:r>
            <a:r>
              <a:rPr lang="zh-CN" altLang="en-US" sz="2800" b="1" u="sng" dirty="0">
                <a:solidFill>
                  <a:schemeClr val="hlink"/>
                </a:solidFill>
                <a:ea typeface="黑体" panose="02010609060101010101" pitchFamily="49" charset="-122"/>
              </a:rPr>
              <a:t>赋值运算</a:t>
            </a:r>
            <a:endParaRPr lang="zh-CN" altLang="en-US" sz="2800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indent="266700" eaLnBrk="1" hangingPunct="1"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  </a:t>
            </a:r>
            <a:r>
              <a:rPr lang="en-US" altLang="zh-CN" sz="2800" b="1" dirty="0"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ea typeface="黑体" panose="02010609060101010101" pitchFamily="49" charset="-122"/>
              </a:rPr>
              <a:t>允许对结构体变量整体赋值，例如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0" lvl="0" indent="266700" eaLnBrk="1" hangingPunct="1"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			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r = r0;</a:t>
            </a:r>
            <a:endParaRPr lang="zh-CN" altLang="en-US" sz="2800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indent="266700" eaLnBrk="1" hangingPunct="1"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	</a:t>
            </a:r>
            <a:r>
              <a:rPr lang="zh-CN" altLang="en-US" sz="2800" b="1" dirty="0">
                <a:ea typeface="黑体" panose="02010609060101010101" pitchFamily="49" charset="-122"/>
              </a:rPr>
              <a:t>是合法的，它把变量 </a:t>
            </a:r>
            <a:r>
              <a:rPr lang="en-US" altLang="zh-CN" sz="2800" b="1" dirty="0">
                <a:ea typeface="黑体" panose="02010609060101010101" pitchFamily="49" charset="-122"/>
              </a:rPr>
              <a:t>r0 </a:t>
            </a:r>
            <a:r>
              <a:rPr lang="zh-CN" altLang="en-US" sz="2800" b="1" dirty="0">
                <a:ea typeface="黑体" panose="02010609060101010101" pitchFamily="49" charset="-122"/>
              </a:rPr>
              <a:t>的值</a:t>
            </a:r>
            <a:r>
              <a:rPr lang="en-US" altLang="zh-CN" sz="2800" b="1" dirty="0">
                <a:ea typeface="黑体" panose="02010609060101010101" pitchFamily="49" charset="-122"/>
              </a:rPr>
              <a:t>{ 1.5 , 3.2 }</a:t>
            </a:r>
            <a:r>
              <a:rPr lang="zh-CN" altLang="en-US" sz="2800" b="1" dirty="0">
                <a:ea typeface="黑体" panose="02010609060101010101" pitchFamily="49" charset="-122"/>
              </a:rPr>
              <a:t>送到变量 </a:t>
            </a:r>
            <a:r>
              <a:rPr lang="en-US" altLang="zh-CN" sz="2800" b="1" dirty="0">
                <a:ea typeface="黑体" panose="02010609060101010101" pitchFamily="49" charset="-122"/>
              </a:rPr>
              <a:t>r </a:t>
            </a:r>
            <a:r>
              <a:rPr lang="zh-CN" altLang="en-US" sz="2800" b="1" dirty="0">
                <a:ea typeface="黑体" panose="02010609060101010101" pitchFamily="49" charset="-122"/>
              </a:rPr>
              <a:t>之中。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78852" name="Rectangle 4"/>
          <p:cNvSpPr/>
          <p:nvPr/>
        </p:nvSpPr>
        <p:spPr>
          <a:xfrm>
            <a:off x="0" y="3168651"/>
            <a:ext cx="12115800" cy="3365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266700" eaLnBrk="1" hangingPunct="1">
              <a:lnSpc>
                <a:spcPct val="125000"/>
              </a:lnSpc>
              <a:buClr>
                <a:schemeClr val="tx1"/>
              </a:buClr>
              <a:buSzTx/>
              <a:buFontTx/>
              <a:buNone/>
            </a:pPr>
            <a:r>
              <a:rPr lang="en-US" altLang="zh-CN" sz="2800" b="1" u="sng" dirty="0">
                <a:solidFill>
                  <a:schemeClr val="hlink"/>
                </a:solidFill>
                <a:ea typeface="黑体" panose="02010609060101010101" pitchFamily="49" charset="-122"/>
              </a:rPr>
              <a:t>3.</a:t>
            </a:r>
            <a:r>
              <a:rPr lang="zh-CN" altLang="en-US" sz="2800" b="1" u="sng" dirty="0">
                <a:solidFill>
                  <a:schemeClr val="hlink"/>
                </a:solidFill>
                <a:ea typeface="黑体" panose="02010609060101010101" pitchFamily="49" charset="-122"/>
              </a:rPr>
              <a:t>其它操作</a:t>
            </a:r>
            <a:endParaRPr lang="en-US" altLang="zh-CN" sz="2800" b="1" u="sng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indent="26670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ea typeface="黑体" panose="02010609060101010101" pitchFamily="49" charset="-122"/>
              </a:rPr>
              <a:t>不允许对结构体变量进行其它操作，像各种整体运算，整体输入输出等。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26670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下述操作都是错误的。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0" lvl="0" indent="266700" eaLnBrk="1" hangingPunct="1">
              <a:lnSpc>
                <a:spcPct val="125000"/>
              </a:lnSpc>
              <a:buClr>
                <a:schemeClr val="tx1"/>
              </a:buClr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  </a:t>
            </a:r>
            <a:r>
              <a:rPr lang="en-US" altLang="zh-CN" sz="2800" b="1" dirty="0">
                <a:ea typeface="黑体" panose="02010609060101010101" pitchFamily="49" charset="-122"/>
              </a:rPr>
              <a:t>r0 + r1</a:t>
            </a:r>
            <a:endParaRPr lang="en-US" altLang="zh-CN" sz="2800" b="1" noProof="0" dirty="0">
              <a:ln>
                <a:noFill/>
              </a:ln>
              <a:solidFill>
                <a:srgbClr val="FA06F8"/>
              </a:solidFill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266700" eaLnBrk="1" hangingPunct="1">
              <a:lnSpc>
                <a:spcPct val="125000"/>
              </a:lnSpc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scanf(</a:t>
            </a:r>
            <a:r>
              <a:rPr lang="en-US" altLang="zh-CN" sz="2800" b="1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"</a:t>
            </a:r>
            <a:r>
              <a:rPr lang="en-US" altLang="zh-CN" sz="2800" b="1" dirty="0">
                <a:ea typeface="黑体" panose="02010609060101010101" pitchFamily="49" charset="-122"/>
              </a:rPr>
              <a:t>%f</a:t>
            </a:r>
            <a:r>
              <a:rPr lang="en-US" altLang="zh-CN" sz="2800" b="1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"</a:t>
            </a:r>
            <a:r>
              <a:rPr lang="en-US" altLang="zh-CN" sz="2800" b="1" dirty="0">
                <a:ea typeface="黑体" panose="02010609060101010101" pitchFamily="49" charset="-122"/>
              </a:rPr>
              <a:t>,&amp;r1);  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266700" eaLnBrk="1" hangingPunct="1">
              <a:lnSpc>
                <a:spcPct val="125000"/>
              </a:lnSpc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printf(</a:t>
            </a:r>
            <a:r>
              <a:rPr lang="en-US" altLang="zh-CN" sz="2800" b="1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"</a:t>
            </a:r>
            <a:r>
              <a:rPr lang="en-US" altLang="zh-CN" sz="2800" b="1" dirty="0">
                <a:ea typeface="黑体" panose="02010609060101010101" pitchFamily="49" charset="-122"/>
              </a:rPr>
              <a:t>%f</a:t>
            </a:r>
            <a:r>
              <a:rPr lang="en-US" altLang="zh-CN" sz="2800" b="1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"</a:t>
            </a:r>
            <a:r>
              <a:rPr lang="en-US" altLang="zh-CN" sz="2800" b="1" dirty="0">
                <a:ea typeface="黑体" panose="02010609060101010101" pitchFamily="49" charset="-122"/>
              </a:rPr>
              <a:t>,r0); 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grpSp>
        <p:nvGrpSpPr>
          <p:cNvPr id="78853" name="Group 14"/>
          <p:cNvGrpSpPr/>
          <p:nvPr/>
        </p:nvGrpSpPr>
        <p:grpSpPr>
          <a:xfrm>
            <a:off x="4170363" y="4878388"/>
            <a:ext cx="396875" cy="1809750"/>
            <a:chOff x="4105" y="3294"/>
            <a:chExt cx="1497" cy="726"/>
          </a:xfrm>
        </p:grpSpPr>
        <p:sp>
          <p:nvSpPr>
            <p:cNvPr id="78854" name="Line 15"/>
            <p:cNvSpPr/>
            <p:nvPr/>
          </p:nvSpPr>
          <p:spPr>
            <a:xfrm>
              <a:off x="4105" y="3294"/>
              <a:ext cx="1497" cy="726"/>
            </a:xfrm>
            <a:prstGeom prst="line">
              <a:avLst/>
            </a:prstGeom>
            <a:ln w="57150" cap="flat" cmpd="sng">
              <a:solidFill>
                <a:srgbClr val="FA06F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55" name="Line 16"/>
            <p:cNvSpPr/>
            <p:nvPr/>
          </p:nvSpPr>
          <p:spPr>
            <a:xfrm flipH="1">
              <a:off x="4105" y="3294"/>
              <a:ext cx="1497" cy="726"/>
            </a:xfrm>
            <a:prstGeom prst="line">
              <a:avLst/>
            </a:prstGeom>
            <a:ln w="57150" cap="flat" cmpd="sng">
              <a:solidFill>
                <a:srgbClr val="FA06F8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09800" y="0"/>
            <a:ext cx="4486275" cy="3837940"/>
          </a:xfrm>
          <a:prstGeom prst="rect">
            <a:avLst/>
          </a:prstGeom>
          <a:noFill/>
          <a:ln w="28575" cmpd="sng">
            <a:noFill/>
            <a:prstDash val="sysDash"/>
          </a:ln>
        </p:spPr>
        <p:txBody>
          <a:bodyPr wrap="square" rtlCol="0" anchor="t">
            <a:noAutofit/>
          </a:bodyPr>
          <a:p>
            <a:r>
              <a:rPr lang="en-US" altLang="zh-CN" sz="2400"/>
              <a:t>#include &lt;stdio.h&gt;</a:t>
            </a:r>
            <a:endParaRPr lang="en-US" altLang="zh-CN" sz="2400"/>
          </a:p>
          <a:p>
            <a:r>
              <a:rPr lang="en-US" altLang="zh-CN" sz="1800"/>
              <a:t>//</a:t>
            </a:r>
            <a:r>
              <a:rPr lang="zh-CN" altLang="en-US" sz="1800"/>
              <a:t>全局作用域</a:t>
            </a:r>
            <a:endParaRPr lang="zh-CN" altLang="en-US" sz="1800"/>
          </a:p>
          <a:p>
            <a:r>
              <a:rPr lang="en-US" altLang="zh-CN" sz="2400">
                <a:solidFill>
                  <a:srgbClr val="FA06F8"/>
                </a:solidFill>
              </a:rPr>
              <a:t>struct date {</a:t>
            </a:r>
            <a:endParaRPr lang="en-US" altLang="zh-CN" sz="2400">
              <a:solidFill>
                <a:srgbClr val="FFFF00"/>
              </a:solidFill>
            </a:endParaRPr>
          </a:p>
          <a:p>
            <a:r>
              <a:rPr lang="en-US" altLang="zh-CN" sz="2400"/>
              <a:t>    int year, month, day;</a:t>
            </a:r>
            <a:endParaRPr lang="en-US" altLang="zh-CN" sz="2400"/>
          </a:p>
          <a:p>
            <a:r>
              <a:rPr lang="en-US" altLang="zh-CN" sz="2400">
                <a:solidFill>
                  <a:srgbClr val="FA06F8"/>
                </a:solidFill>
              </a:rPr>
              <a:t>};</a:t>
            </a:r>
            <a:endParaRPr lang="en-US" altLang="zh-CN" sz="2400">
              <a:solidFill>
                <a:srgbClr val="FA06F8"/>
              </a:solidFill>
            </a:endParaRPr>
          </a:p>
          <a:p>
            <a:r>
              <a:rPr lang="en-US" altLang="zh-CN" sz="2400">
                <a:solidFill>
                  <a:srgbClr val="FFFF00"/>
                </a:solidFill>
              </a:rPr>
              <a:t>struct person {</a:t>
            </a:r>
            <a:endParaRPr lang="en-US" altLang="zh-CN" sz="2400">
              <a:solidFill>
                <a:srgbClr val="FFFF00"/>
              </a:solidFill>
            </a:endParaRPr>
          </a:p>
          <a:p>
            <a:r>
              <a:rPr lang="en-US" altLang="zh-CN" sz="2400"/>
              <a:t>    char name[10];</a:t>
            </a:r>
            <a:endParaRPr lang="en-US" altLang="zh-CN" sz="2400"/>
          </a:p>
          <a:p>
            <a:r>
              <a:rPr lang="en-US" altLang="zh-CN" sz="2400"/>
              <a:t>    int gender;</a:t>
            </a:r>
            <a:endParaRPr lang="en-US" altLang="zh-CN" sz="2400"/>
          </a:p>
          <a:p>
            <a:r>
              <a:rPr lang="en-US" altLang="zh-CN" sz="2400"/>
              <a:t>    </a:t>
            </a:r>
            <a:r>
              <a:rPr lang="en-US" altLang="zh-CN" sz="2400">
                <a:solidFill>
                  <a:srgbClr val="FA06F8"/>
                </a:solidFill>
              </a:rPr>
              <a:t>struct date</a:t>
            </a:r>
            <a:r>
              <a:rPr lang="en-US" altLang="zh-CN" sz="2400"/>
              <a:t> birthdate; </a:t>
            </a:r>
            <a:endParaRPr lang="en-US" altLang="zh-CN" sz="2400"/>
          </a:p>
          <a:p>
            <a:r>
              <a:rPr lang="en-US" altLang="zh-CN" sz="2400">
                <a:solidFill>
                  <a:srgbClr val="FFFF00"/>
                </a:solidFill>
              </a:rPr>
              <a:t>};</a:t>
            </a:r>
            <a:endParaRPr lang="en-US" altLang="zh-CN" sz="2400">
              <a:solidFill>
                <a:srgbClr val="FFFF00"/>
              </a:solidFill>
            </a:endParaRPr>
          </a:p>
          <a:p>
            <a:endParaRPr lang="en-US" altLang="zh-CN" sz="2400">
              <a:solidFill>
                <a:srgbClr val="FFFF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20320"/>
            <a:ext cx="2179320" cy="4603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p>
            <a:r>
              <a:rPr lang="zh-CN" altLang="en-US" sz="2400"/>
              <a:t>【课后实践】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2133600" y="3810000"/>
            <a:ext cx="6604000" cy="27539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int main(){   </a:t>
            </a:r>
            <a:endParaRPr lang="en-US" altLang="zh-CN" sz="2800">
              <a:sym typeface="+mn-ea"/>
            </a:endParaRPr>
          </a:p>
          <a:p>
            <a:pPr indent="457200"/>
            <a:r>
              <a:rPr lang="en-US" altLang="zh-CN" sz="2800">
                <a:sym typeface="+mn-ea"/>
              </a:rPr>
              <a:t>//</a:t>
            </a:r>
            <a:r>
              <a:rPr lang="zh-CN" altLang="en-US" sz="2800">
                <a:sym typeface="+mn-ea"/>
              </a:rPr>
              <a:t>定义</a:t>
            </a:r>
            <a:r>
              <a:rPr lang="en-US" altLang="zh-CN" sz="2800">
                <a:solidFill>
                  <a:srgbClr val="FFFF00"/>
                </a:solidFill>
                <a:sym typeface="+mn-ea"/>
              </a:rPr>
              <a:t>struct person</a:t>
            </a:r>
            <a:r>
              <a:rPr lang="zh-CN" altLang="en-US" sz="2800">
                <a:sym typeface="+mn-ea"/>
              </a:rPr>
              <a:t>变量</a:t>
            </a:r>
            <a:endParaRPr lang="zh-CN" altLang="en-US" sz="2800">
              <a:sym typeface="+mn-ea"/>
            </a:endParaRPr>
          </a:p>
          <a:p>
            <a:pPr indent="457200"/>
            <a:r>
              <a:rPr lang="en-US" altLang="zh-CN" sz="2800">
                <a:sym typeface="+mn-ea"/>
              </a:rPr>
              <a:t>//</a:t>
            </a:r>
            <a:r>
              <a:rPr lang="zh-CN" altLang="en-US" sz="2800">
                <a:sym typeface="+mn-ea"/>
              </a:rPr>
              <a:t>初始化</a:t>
            </a:r>
            <a:r>
              <a:rPr lang="en-US" altLang="zh-CN" sz="2800">
                <a:sym typeface="+mn-ea"/>
              </a:rPr>
              <a:t> </a:t>
            </a:r>
            <a:r>
              <a:rPr lang="zh-CN" altLang="en-US" sz="2800">
                <a:sym typeface="+mn-ea"/>
              </a:rPr>
              <a:t>或</a:t>
            </a:r>
            <a:r>
              <a:rPr lang="en-US" altLang="zh-CN" sz="2800">
                <a:sym typeface="+mn-ea"/>
              </a:rPr>
              <a:t> </a:t>
            </a:r>
            <a:r>
              <a:rPr lang="zh-CN" altLang="en-US" sz="2800">
                <a:sym typeface="+mn-ea"/>
              </a:rPr>
              <a:t>输入</a:t>
            </a:r>
            <a:r>
              <a:rPr lang="en-US" altLang="zh-CN" sz="2800">
                <a:sym typeface="+mn-ea"/>
              </a:rPr>
              <a:t> </a:t>
            </a:r>
            <a:r>
              <a:rPr lang="zh-CN" altLang="en-US" sz="2800">
                <a:sym typeface="+mn-ea"/>
              </a:rPr>
              <a:t>该同学的个人信息</a:t>
            </a:r>
            <a:endParaRPr lang="zh-CN" altLang="en-US" sz="2800">
              <a:sym typeface="+mn-ea"/>
            </a:endParaRPr>
          </a:p>
          <a:p>
            <a:pPr indent="457200"/>
            <a:r>
              <a:rPr lang="en-US" altLang="zh-CN" sz="2800">
                <a:sym typeface="+mn-ea"/>
              </a:rPr>
              <a:t>//</a:t>
            </a:r>
            <a:r>
              <a:rPr lang="zh-CN" altLang="en-US" sz="2800">
                <a:sym typeface="+mn-ea"/>
              </a:rPr>
              <a:t>通过赋值语句修改其中一项数据</a:t>
            </a:r>
            <a:endParaRPr lang="zh-CN" altLang="en-US" sz="2800">
              <a:sym typeface="+mn-ea"/>
            </a:endParaRPr>
          </a:p>
          <a:p>
            <a:pPr indent="457200"/>
            <a:r>
              <a:rPr lang="en-US" altLang="zh-CN" sz="2800">
                <a:sym typeface="+mn-ea"/>
              </a:rPr>
              <a:t>//</a:t>
            </a:r>
            <a:r>
              <a:rPr lang="zh-CN" altLang="en-US" sz="2800">
                <a:sym typeface="+mn-ea"/>
              </a:rPr>
              <a:t>输出该同学的所有个人信息</a:t>
            </a:r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}</a:t>
            </a:r>
            <a:endParaRPr lang="en-US" altLang="zh-CN" sz="2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38614"/>
          <a:stretch>
            <a:fillRect/>
          </a:stretch>
        </p:blipFill>
        <p:spPr>
          <a:xfrm>
            <a:off x="8000365" y="20320"/>
            <a:ext cx="4131945" cy="157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30B1-AA50-4116-B2B6-D44FA6BE59C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81400" y="228600"/>
            <a:ext cx="4406265" cy="4762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§8.1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成绩单管理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04483" name="Rectangle 3"/>
          <p:cNvSpPr>
            <a:spLocks noChangeArrowheads="1"/>
          </p:cNvSpPr>
          <p:nvPr/>
        </p:nvSpPr>
        <p:spPr bwMode="auto">
          <a:xfrm>
            <a:off x="633730" y="4981575"/>
            <a:ext cx="9927590" cy="13538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一个学生的成绩单：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lang="en-US" altLang="zh-CN" sz="310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struct achievement</a:t>
            </a:r>
            <a:r>
              <a:rPr lang="en-US" altLang="zh-CN" sz="3100" noProof="0" dirty="0"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 </a:t>
            </a:r>
            <a:r>
              <a:rPr lang="en-US" altLang="zh-CN" sz="310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stu0</a:t>
            </a:r>
            <a:r>
              <a:rPr lang="en-US" altLang="zh-CN" sz="3100" noProof="0" dirty="0"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;</a:t>
            </a:r>
            <a:endParaRPr kumimoji="0" lang="en-US" altLang="zh-CN" sz="31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50</a:t>
            </a:r>
            <a:r>
              <a:rPr kumimoji="0" lang="zh-CN" altLang="en-US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个学生的成绩单：</a:t>
            </a:r>
            <a:r>
              <a:rPr lang="en-US" altLang="zh-CN" sz="310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struct achievement</a:t>
            </a:r>
            <a:r>
              <a:rPr lang="en-US" altLang="zh-CN" sz="3100" noProof="0" dirty="0"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 </a:t>
            </a:r>
            <a:r>
              <a:rPr lang="en-US" altLang="zh-CN" sz="310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stu</a:t>
            </a:r>
            <a:r>
              <a:rPr lang="en-US" altLang="zh-CN" sz="310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[50]</a:t>
            </a:r>
            <a:r>
              <a:rPr lang="en-US" altLang="zh-CN" sz="3100" noProof="0" dirty="0">
                <a:effectLst>
                  <a:outerShdw blurRad="38100" dist="38100" dir="2700000" algn="tl">
                    <a:srgbClr val="000000"/>
                  </a:outerShdw>
                </a:effectLst>
                <a:sym typeface="+mn-ea"/>
              </a:rPr>
              <a:t>;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4484" name="Rectangle 4"/>
          <p:cNvSpPr>
            <a:spLocks noChangeArrowheads="1"/>
          </p:cNvSpPr>
          <p:nvPr/>
        </p:nvSpPr>
        <p:spPr bwMode="auto">
          <a:xfrm>
            <a:off x="685800" y="1828800"/>
            <a:ext cx="204978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类型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定义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: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4485" name="Rectangle 5"/>
          <p:cNvSpPr>
            <a:spLocks noChangeArrowheads="1"/>
          </p:cNvSpPr>
          <p:nvPr/>
        </p:nvSpPr>
        <p:spPr bwMode="auto">
          <a:xfrm>
            <a:off x="2895600" y="2402840"/>
            <a:ext cx="4065905" cy="2578735"/>
          </a:xfrm>
          <a:prstGeom prst="rect">
            <a:avLst/>
          </a:prstGeom>
          <a:noFill/>
          <a:ln w="25400" algn="ctr">
            <a:solidFill>
              <a:schemeClr val="tx1"/>
            </a:solidFill>
            <a:miter lim="800000"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struct achievement{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E005F9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number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char   name[L];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achieve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E005F9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6200" y="790575"/>
            <a:ext cx="121158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eaLnBrk="1" hangingPunct="1">
              <a:buClr>
                <a:schemeClr val="tx1"/>
              </a:buClr>
              <a:buSzTx/>
              <a:buFontTx/>
              <a:buNone/>
            </a:pPr>
            <a:r>
              <a:rPr lang="en-US" altLang="zh-CN" sz="2800" dirty="0">
                <a:ea typeface="黑体" panose="02010609060101010101" pitchFamily="49" charset="-122"/>
                <a:sym typeface="+mn-ea"/>
              </a:rPr>
              <a:t>【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例</a:t>
            </a:r>
            <a:r>
              <a:rPr lang="pt-BR" altLang="zh-CN" sz="2800" dirty="0">
                <a:ea typeface="黑体" panose="02010609060101010101" pitchFamily="49" charset="-122"/>
                <a:sym typeface="+mn-ea"/>
              </a:rPr>
              <a:t>8.1】</a:t>
            </a:r>
            <a:r>
              <a:rPr lang="zh-CN" altLang="pt-BR" sz="2800" dirty="0">
                <a:ea typeface="黑体" panose="02010609060101010101" pitchFamily="49" charset="-122"/>
                <a:sym typeface="+mn-ea"/>
              </a:rPr>
              <a:t>重编例</a:t>
            </a:r>
            <a:r>
              <a:rPr lang="en-US" altLang="zh-CN" sz="2800" dirty="0">
                <a:ea typeface="黑体" panose="02010609060101010101" pitchFamily="49" charset="-122"/>
                <a:sym typeface="+mn-ea"/>
              </a:rPr>
              <a:t>6.12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程序。</a:t>
            </a:r>
            <a:r>
              <a:rPr lang="en-US" altLang="zh-CN" sz="2800" noProof="0" dirty="0">
                <a:ln>
                  <a:noFill/>
                </a:ln>
                <a:solidFill>
                  <a:srgbClr val="E005F9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输入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一个班</a:t>
            </a:r>
            <a:r>
              <a:rPr lang="pt-BR" altLang="zh-CN" sz="2800" dirty="0">
                <a:ea typeface="黑体" panose="02010609060101010101" pitchFamily="49" charset="-122"/>
                <a:sym typeface="+mn-ea"/>
              </a:rPr>
              <a:t>50</a:t>
            </a:r>
            <a:r>
              <a:rPr lang="zh-CN" altLang="pt-BR" sz="2800" dirty="0">
                <a:ea typeface="黑体" panose="02010609060101010101" pitchFamily="49" charset="-122"/>
                <a:sym typeface="+mn-ea"/>
              </a:rPr>
              <a:t>名学生的程序设计课程</a:t>
            </a:r>
            <a:r>
              <a:rPr lang="en-US" altLang="zh-CN" sz="2800" noProof="0" dirty="0">
                <a:ln>
                  <a:noFill/>
                </a:ln>
                <a:solidFill>
                  <a:srgbClr val="E005F9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成绩</a:t>
            </a:r>
            <a:r>
              <a:rPr lang="zh-CN" altLang="pt-BR" sz="2800" dirty="0">
                <a:ea typeface="黑体" panose="02010609060101010101" pitchFamily="49" charset="-122"/>
                <a:sym typeface="+mn-ea"/>
              </a:rPr>
              <a:t>，按成绩</a:t>
            </a:r>
            <a:r>
              <a:rPr lang="en-US" altLang="zh-CN" sz="2800" noProof="0" dirty="0">
                <a:ln>
                  <a:noFill/>
                </a:ln>
                <a:solidFill>
                  <a:srgbClr val="E005F9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由低到高</a:t>
            </a:r>
            <a:r>
              <a:rPr lang="zh-CN" altLang="pt-BR" sz="2800" dirty="0">
                <a:ea typeface="黑体" panose="02010609060101010101" pitchFamily="49" charset="-122"/>
                <a:sym typeface="+mn-ea"/>
              </a:rPr>
              <a:t>的顺序</a:t>
            </a:r>
            <a:r>
              <a:rPr lang="en-US" altLang="zh-CN" sz="2800" noProof="0" dirty="0">
                <a:ln>
                  <a:noFill/>
                </a:ln>
                <a:solidFill>
                  <a:srgbClr val="E005F9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输出</a:t>
            </a:r>
            <a:r>
              <a:rPr lang="zh-CN" altLang="pt-BR" sz="2800" dirty="0">
                <a:ea typeface="黑体" panose="02010609060101010101" pitchFamily="49" charset="-122"/>
                <a:sym typeface="+mn-ea"/>
              </a:rPr>
              <a:t>每名学生的</a:t>
            </a:r>
            <a:r>
              <a:rPr lang="en-US" altLang="zh-CN" sz="2800" noProof="0" dirty="0">
                <a:ln>
                  <a:noFill/>
                </a:ln>
                <a:solidFill>
                  <a:srgbClr val="E005F9"/>
                </a:solidFill>
                <a:uLnTx/>
                <a:uFillTx/>
                <a:ea typeface="黑体" panose="02010609060101010101" pitchFamily="49" charset="-122"/>
                <a:sym typeface="+mn-ea"/>
              </a:rPr>
              <a:t>学号、姓名、成绩</a:t>
            </a:r>
            <a:r>
              <a:rPr lang="zh-CN" altLang="pt-BR" sz="2800" dirty="0">
                <a:ea typeface="黑体" panose="02010609060101010101" pitchFamily="49" charset="-122"/>
                <a:sym typeface="+mn-ea"/>
              </a:rPr>
              <a:t>。</a:t>
            </a:r>
            <a:endParaRPr lang="zh-CN" altLang="pt-BR" sz="2800" dirty="0"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98ED9B-B88F-45A6-9D4B-D01DB1E6288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1412" name="Rectangle 4"/>
          <p:cNvSpPr>
            <a:spLocks noChangeArrowheads="1"/>
          </p:cNvSpPr>
          <p:nvPr/>
        </p:nvSpPr>
        <p:spPr bwMode="auto">
          <a:xfrm>
            <a:off x="0" y="457200"/>
            <a:ext cx="11860530" cy="596138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stdbool.h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#define N 50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#define L 20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struct 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成绩单结构体类型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number ;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学号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char   name[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];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姓名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achieve ;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成绩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E005F9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struct 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struct 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achievement2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sort_tab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struct 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1413" name="Text Box 5"/>
          <p:cNvSpPr txBox="1">
            <a:spLocks noChangeArrowheads="1"/>
          </p:cNvSpPr>
          <p:nvPr/>
        </p:nvSpPr>
        <p:spPr bwMode="auto">
          <a:xfrm>
            <a:off x="76200" y="76200"/>
            <a:ext cx="19812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完整程序如下：</a:t>
            </a:r>
            <a:endParaRPr kumimoji="0" lang="zh-CN" altLang="en-US" kern="1200" cap="none" spc="0" normalizeH="0" baseline="0" noProof="0" dirty="0"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639D7-E393-460F-AD8C-699286EFB0E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2771" name="Picture 6"/>
          <p:cNvPicPr>
            <a:picLocks noChangeAspect="1"/>
          </p:cNvPicPr>
          <p:nvPr/>
        </p:nvPicPr>
        <p:blipFill>
          <a:blip r:embed="rId1"/>
          <a:srcRect b="4042"/>
          <a:stretch>
            <a:fillRect/>
          </a:stretch>
        </p:blipFill>
        <p:spPr>
          <a:xfrm>
            <a:off x="7308850" y="0"/>
            <a:ext cx="4859338" cy="2441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6055" name="Rectangle 7"/>
          <p:cNvSpPr>
            <a:spLocks noChangeArrowheads="1"/>
          </p:cNvSpPr>
          <p:nvPr/>
        </p:nvSpPr>
        <p:spPr bwMode="auto">
          <a:xfrm>
            <a:off x="152400" y="1752600"/>
            <a:ext cx="10363200" cy="521081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主函数 *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main(){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i 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tab_achievement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[N]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for ( i=0;i&lt;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N;i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++ )	 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[i]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,i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sort_tab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排序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排序后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:\n");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//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 ( i=0;i&lt;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N;i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++)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[i]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return 0;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	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6056" name="Text Box 8"/>
          <p:cNvSpPr txBox="1">
            <a:spLocks noChangeArrowheads="1"/>
          </p:cNvSpPr>
          <p:nvPr/>
        </p:nvSpPr>
        <p:spPr bwMode="auto">
          <a:xfrm>
            <a:off x="4630738" y="92075"/>
            <a:ext cx="2930525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ts val="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为简化输入，演示程序</a:t>
            </a:r>
            <a:endParaRPr kumimoji="0" lang="en-US" altLang="zh-CN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ts val="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假定学生人数</a:t>
            </a:r>
            <a:r>
              <a:rPr kumimoji="0" lang="en-US" altLang="zh-CN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为</a:t>
            </a:r>
            <a:r>
              <a:rPr kumimoji="0" lang="en-US" altLang="zh-CN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>
                                            <p:txEl>
                                              <p:charRg st="74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6055">
                                            <p:txEl>
                                              <p:charRg st="74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>
                                            <p:txEl>
                                              <p:charRg st="106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6055">
                                            <p:txEl>
                                              <p:charRg st="106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>
                                            <p:txEl>
                                              <p:charRg st="15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86055">
                                            <p:txEl>
                                              <p:charRg st="157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>
                                            <p:txEl>
                                              <p:charRg st="194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86055">
                                            <p:txEl>
                                              <p:charRg st="194" end="2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>
                                            <p:txEl>
                                              <p:charRg st="224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86055">
                                            <p:txEl>
                                              <p:charRg st="224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>
                                            <p:txEl>
                                              <p:charRg st="247" end="2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86055">
                                            <p:txEl>
                                              <p:charRg st="247" end="2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35B23-7DC2-47D6-9DF2-BDB74BB5A32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2519" name="Rectangle 7"/>
          <p:cNvSpPr>
            <a:spLocks noChangeArrowheads="1"/>
          </p:cNvSpPr>
          <p:nvPr/>
        </p:nvSpPr>
        <p:spPr bwMode="auto">
          <a:xfrm>
            <a:off x="88900" y="128588"/>
            <a:ext cx="9753600" cy="27381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输入函数 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input_achievement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E005F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 *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int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E005F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-&gt;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number =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 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学号赋值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请输入学号为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的同学的姓名和成绩：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",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s%d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",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-&gt;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name,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-&gt;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2521" name="Rectangle 9"/>
          <p:cNvSpPr>
            <a:spLocks noChangeArrowheads="1"/>
          </p:cNvSpPr>
          <p:nvPr/>
        </p:nvSpPr>
        <p:spPr bwMode="auto">
          <a:xfrm>
            <a:off x="152400" y="4697413"/>
            <a:ext cx="11353800" cy="22526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main()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……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 (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=0;i&lt;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N;i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++ )//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(&amp;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	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2520" name="Rectangle 8"/>
          <p:cNvSpPr>
            <a:spLocks noChangeArrowheads="1"/>
          </p:cNvSpPr>
          <p:nvPr/>
        </p:nvSpPr>
        <p:spPr bwMode="auto">
          <a:xfrm>
            <a:off x="5370513" y="2590800"/>
            <a:ext cx="6732588" cy="19573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achievement{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成绩单结构体类型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number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char   name[L];	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int achieve 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D0903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[N];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>
                                            <p:txEl>
                                              <p:charRg st="70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9">
                                            <p:txEl>
                                              <p:charRg st="70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>
                                            <p:txEl>
                                              <p:charRg st="98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2519">
                                            <p:txEl>
                                              <p:charRg st="98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>
                                            <p:txEl>
                                              <p:charRg st="134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2519">
                                            <p:txEl>
                                              <p:charRg st="134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4C7A09-A26E-4FC0-AECC-9A251761BD9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8578" name="Rectangle 2"/>
          <p:cNvSpPr>
            <a:spLocks noChangeArrowheads="1"/>
          </p:cNvSpPr>
          <p:nvPr/>
        </p:nvSpPr>
        <p:spPr bwMode="auto">
          <a:xfrm>
            <a:off x="304800" y="52388"/>
            <a:ext cx="11582400" cy="302323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/*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输出函数 *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achievement2)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%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\t %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\n",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achievement2.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number,    	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achievement2.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name,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achievement2.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8580" name="Rectangle 4"/>
          <p:cNvSpPr>
            <a:spLocks noChangeArrowheads="1"/>
          </p:cNvSpPr>
          <p:nvPr/>
        </p:nvSpPr>
        <p:spPr bwMode="auto">
          <a:xfrm>
            <a:off x="0" y="4419600"/>
            <a:ext cx="10058400" cy="2419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函数调用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main()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	for (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=0;i&lt;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N;i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++)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output_achievement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8581" name="Rectangle 5"/>
          <p:cNvSpPr>
            <a:spLocks noChangeArrowheads="1"/>
          </p:cNvSpPr>
          <p:nvPr/>
        </p:nvSpPr>
        <p:spPr bwMode="auto">
          <a:xfrm>
            <a:off x="5459413" y="2667000"/>
            <a:ext cx="6732588" cy="23415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成绩单结构体类型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number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char   name[L];	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int achieve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D0903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[N];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>
                                            <p:txEl>
                                              <p:charRg st="7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8578">
                                            <p:txEl>
                                              <p:charRg st="7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>
                                            <p:txEl>
                                              <p:charRg st="101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8578">
                                            <p:txEl>
                                              <p:charRg st="101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>
                                            <p:txEl>
                                              <p:charRg st="129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8578">
                                            <p:txEl>
                                              <p:charRg st="129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>
                                            <p:txEl>
                                              <p:charRg st="15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8578">
                                            <p:txEl>
                                              <p:charRg st="150" end="1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68F7DA-F208-4FEF-9791-4EF26496DD8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7554" name="Rectangle 2"/>
          <p:cNvSpPr>
            <a:spLocks noChangeArrowheads="1"/>
          </p:cNvSpPr>
          <p:nvPr/>
        </p:nvSpPr>
        <p:spPr bwMode="auto">
          <a:xfrm>
            <a:off x="0" y="581025"/>
            <a:ext cx="12115800" cy="61239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输入函数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 *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int 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-&gt;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number = i ; //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学号赋值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请输入学号为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的同学的姓名和成绩：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",i);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s%d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",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-&gt;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name,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-&gt;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achieve));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输出函数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output_achievement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achievement2)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("%4d %s\t %4d\n",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achievement2.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number,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achievement2.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name,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achievement2.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4" name="Rectangle 3"/>
          <p:cNvSpPr/>
          <p:nvPr/>
        </p:nvSpPr>
        <p:spPr>
          <a:xfrm>
            <a:off x="8267700" y="4630738"/>
            <a:ext cx="3924300" cy="22272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rgbClr val="FD0903"/>
                </a:solidFill>
              </a:rPr>
              <a:t>struct achievement{</a:t>
            </a:r>
            <a:endParaRPr lang="en-US" altLang="zh-CN" sz="2800" b="1" dirty="0">
              <a:solidFill>
                <a:srgbClr val="FD0903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/>
              <a:t>	int number ;		char   name[L];	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/>
              <a:t>	int achieve ;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Clr>
                <a:schemeClr val="tx1"/>
              </a:buClr>
              <a:buSzTx/>
              <a:buFontTx/>
              <a:buNone/>
            </a:pPr>
            <a:r>
              <a:rPr lang="en-US" altLang="zh-CN" sz="2800" b="1" dirty="0">
                <a:solidFill>
                  <a:srgbClr val="FD0903"/>
                </a:solidFill>
              </a:rPr>
              <a:t>};</a:t>
            </a:r>
            <a:endParaRPr lang="en-US" altLang="zh-CN" sz="2800" b="1" dirty="0">
              <a:solidFill>
                <a:srgbClr val="FD0903"/>
              </a:solidFill>
            </a:endParaRPr>
          </a:p>
        </p:txBody>
      </p:sp>
      <p:sp>
        <p:nvSpPr>
          <p:cNvPr id="407556" name="Text Box 4"/>
          <p:cNvSpPr txBox="1">
            <a:spLocks noChangeArrowheads="1"/>
          </p:cNvSpPr>
          <p:nvPr/>
        </p:nvSpPr>
        <p:spPr bwMode="auto">
          <a:xfrm>
            <a:off x="0" y="12700"/>
            <a:ext cx="4418330" cy="4603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ts val="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FD09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对比：</a:t>
            </a: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直接选择</a:t>
            </a:r>
            <a:r>
              <a:rPr kumimoji="0" lang="en-US" altLang="zh-CN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2.</a:t>
            </a:r>
            <a:r>
              <a:rPr kumimoji="0" lang="zh-CN" altLang="en-US" sz="24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间接选择</a:t>
            </a:r>
            <a:endParaRPr kumimoji="0" lang="zh-CN" altLang="en-US" sz="2400" kern="120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1752600" y="1447800"/>
            <a:ext cx="1831340" cy="352425"/>
          </a:xfrm>
          <a:prstGeom prst="wedgeRoundRectCallout">
            <a:avLst>
              <a:gd name="adj1" fmla="val -63500"/>
              <a:gd name="adj2" fmla="val 108333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间接选择运算符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3505200" y="6324600"/>
            <a:ext cx="1831340" cy="352425"/>
          </a:xfrm>
          <a:prstGeom prst="wedgeRoundRectCallout">
            <a:avLst>
              <a:gd name="adj1" fmla="val -44660"/>
              <a:gd name="adj2" fmla="val -106036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直接选择运算符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1785FE-2978-42FB-9244-4CBC1139EB2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29"/>
          <p:cNvSpPr>
            <a:spLocks noChangeArrowheads="1"/>
          </p:cNvSpPr>
          <p:nvPr/>
        </p:nvSpPr>
        <p:spPr bwMode="auto">
          <a:xfrm>
            <a:off x="-304800" y="761365"/>
            <a:ext cx="12192000" cy="551307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sort_tab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 *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p){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冒泡排序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i ;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bool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flag = true ;	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r; 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结构体变量，作交换中间变量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while ( flag ) {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flag = false 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for ( i=0 ; i&lt;N-1 ; i++ )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if (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p[i].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 &gt;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p[i+1].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 ){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  	flag=true;	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 	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=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p[i] ;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交换，结构体可以整体赋值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  	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p[i] = p[i+1] 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  	p[i+1] =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r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}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}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A06F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7664" name="Rectangle 32"/>
          <p:cNvSpPr>
            <a:spLocks noChangeArrowheads="1"/>
          </p:cNvSpPr>
          <p:nvPr/>
        </p:nvSpPr>
        <p:spPr bwMode="auto">
          <a:xfrm>
            <a:off x="3875088" y="5111750"/>
            <a:ext cx="8316913" cy="1753235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函数调用，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已有：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[N];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调用形式：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sort_tab(&amp;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[0]);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FD090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D09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 sort_tab(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tab_achievement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D090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标注 2"/>
          <p:cNvSpPr/>
          <p:nvPr/>
        </p:nvSpPr>
        <p:spPr bwMode="auto">
          <a:xfrm>
            <a:off x="7002463" y="79375"/>
            <a:ext cx="5189538" cy="503238"/>
          </a:xfrm>
          <a:prstGeom prst="wedgeRectCallout">
            <a:avLst>
              <a:gd name="adj1" fmla="val -57199"/>
              <a:gd name="adj2" fmla="val 104002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sort_tab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achievement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tab[N])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对话气泡: 圆角矩形 1"/>
          <p:cNvSpPr/>
          <p:nvPr/>
        </p:nvSpPr>
        <p:spPr>
          <a:xfrm>
            <a:off x="7543800" y="3962400"/>
            <a:ext cx="4495800" cy="914400"/>
          </a:xfrm>
          <a:prstGeom prst="wedgeRoundRectCallout">
            <a:avLst>
              <a:gd name="adj1" fmla="val -120139"/>
              <a:gd name="adj2" fmla="val 45833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【</a:t>
            </a:r>
            <a:r>
              <a:rPr lang="zh-CN" altLang="en-US" b="1" dirty="0">
                <a:latin typeface="Arial" panose="020B0604020202020204" pitchFamily="34" charset="0"/>
              </a:rPr>
              <a:t>思考</a:t>
            </a:r>
            <a:r>
              <a:rPr lang="en-US" altLang="zh-CN" b="1" dirty="0">
                <a:latin typeface="Arial" panose="020B0604020202020204" pitchFamily="34" charset="0"/>
              </a:rPr>
              <a:t>】r</a:t>
            </a:r>
            <a:r>
              <a:rPr lang="zh-CN" altLang="en-US" b="1" dirty="0">
                <a:latin typeface="Arial" panose="020B0604020202020204" pitchFamily="34" charset="0"/>
              </a:rPr>
              <a:t>的数据类型？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4191000" y="2058035"/>
            <a:ext cx="7890510" cy="636905"/>
          </a:xfrm>
          <a:prstGeom prst="wedgeRoundRectCallout">
            <a:avLst>
              <a:gd name="adj1" fmla="val -37043"/>
              <a:gd name="adj2" fmla="val 122981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en-US" sz="2800" noProof="0" dirty="0">
                <a:ln>
                  <a:noFill/>
                </a:ln>
                <a:effectLst/>
                <a:uLnTx/>
                <a:uFillTx/>
                <a:sym typeface="+mn-ea"/>
              </a:rPr>
              <a:t>if (</a:t>
            </a:r>
            <a:r>
              <a:rPr lang="en-US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(*(p</a:t>
            </a:r>
            <a:r>
              <a:rPr lang="en-US" altLang="en-US" sz="28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sym typeface="+mn-ea"/>
              </a:rPr>
              <a:t>+i</a:t>
            </a:r>
            <a:r>
              <a:rPr lang="en-US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)).</a:t>
            </a:r>
            <a:r>
              <a:rPr lang="en-US" altLang="en-US" sz="2800" noProof="0" dirty="0">
                <a:ln>
                  <a:noFill/>
                </a:ln>
                <a:effectLst/>
                <a:uLnTx/>
                <a:uFillTx/>
                <a:sym typeface="+mn-ea"/>
              </a:rPr>
              <a:t>achieve &gt; </a:t>
            </a:r>
            <a:r>
              <a:rPr lang="en-US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(*</a:t>
            </a:r>
            <a:r>
              <a:rPr lang="en-US" altLang="zh-CN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(</a:t>
            </a:r>
            <a:r>
              <a:rPr lang="en-US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p+</a:t>
            </a:r>
            <a:r>
              <a:rPr lang="en-US" altLang="en-US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sym typeface="+mn-ea"/>
              </a:rPr>
              <a:t>i+1</a:t>
            </a:r>
            <a:r>
              <a:rPr lang="en-US" altLang="zh-CN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))</a:t>
            </a:r>
            <a:r>
              <a:rPr lang="en-US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.</a:t>
            </a:r>
            <a:r>
              <a:rPr lang="en-US" altLang="en-US" sz="2800" noProof="0" dirty="0">
                <a:ln>
                  <a:noFill/>
                </a:ln>
                <a:effectLst/>
                <a:uLnTx/>
                <a:uFillTx/>
                <a:sym typeface="+mn-ea"/>
              </a:rPr>
              <a:t>achieve )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4">
                                            <p:txEl>
                                              <p:charRg st="85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47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25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47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72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208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259" end="2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291" end="3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337" end="3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373" end="4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406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421" end="4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8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896600" y="6248400"/>
            <a:ext cx="685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31CFBB-C1D2-4022-8386-6F6F3DE4021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1412" name="Rectangle 4"/>
          <p:cNvSpPr>
            <a:spLocks noChangeArrowheads="1"/>
          </p:cNvSpPr>
          <p:nvPr/>
        </p:nvSpPr>
        <p:spPr bwMode="auto">
          <a:xfrm>
            <a:off x="-152400" y="1480027"/>
            <a:ext cx="11984038" cy="229933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31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input_achievement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*p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int </a:t>
            </a:r>
            <a:r>
              <a:rPr kumimoji="0" lang="en-US" altLang="zh-CN" sz="3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31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output_achievement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achievement2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2698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31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sort_tab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achievement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*p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3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6" name="对话气泡: 圆角矩形 5"/>
          <p:cNvSpPr/>
          <p:nvPr/>
        </p:nvSpPr>
        <p:spPr>
          <a:xfrm>
            <a:off x="5273675" y="827088"/>
            <a:ext cx="6918325" cy="990600"/>
          </a:xfrm>
          <a:prstGeom prst="wedgeRoundRectCallout">
            <a:avLst>
              <a:gd name="adj1" fmla="val 5870"/>
              <a:gd name="adj2" fmla="val 83231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b="1" dirty="0">
                <a:solidFill>
                  <a:srgbClr val="FFC000"/>
                </a:solidFill>
                <a:latin typeface="Arial" panose="020B0604020202020204" pitchFamily="34" charset="0"/>
              </a:rPr>
              <a:t>思考</a:t>
            </a:r>
            <a:r>
              <a:rPr lang="en-US" altLang="zh-CN" b="1" dirty="0">
                <a:solidFill>
                  <a:srgbClr val="FFC000"/>
                </a:solidFill>
                <a:latin typeface="Arial" panose="020B0604020202020204" pitchFamily="34" charset="0"/>
              </a:rPr>
              <a:t>】</a:t>
            </a:r>
            <a:r>
              <a:rPr lang="zh-CN" altLang="en-US" b="1" dirty="0">
                <a:latin typeface="Arial" panose="020B0604020202020204" pitchFamily="34" charset="0"/>
              </a:rPr>
              <a:t>这三个函数的第一个参数，有的是指针，有的不是指针，原因？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39E11B-0F81-45A7-8375-381129C40F1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8.5】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设计表示复数的结构体类型，给出复数加法和乘法函数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9123" name="Rectangle 3"/>
          <p:cNvSpPr>
            <a:spLocks noGrp="1" noChangeArrowheads="1"/>
          </p:cNvSpPr>
          <p:nvPr>
            <p:ph idx="1"/>
          </p:nvPr>
        </p:nvSpPr>
        <p:spPr>
          <a:xfrm>
            <a:off x="152083" y="929958"/>
            <a:ext cx="8229600" cy="2879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完整程序：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类型定义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typedef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struct  complex 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float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real_part,imaginary_part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}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complex_type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9124" name="Rectangle 4"/>
          <p:cNvSpPr>
            <a:spLocks noChangeArrowheads="1"/>
          </p:cNvSpPr>
          <p:nvPr/>
        </p:nvSpPr>
        <p:spPr bwMode="auto">
          <a:xfrm>
            <a:off x="0" y="4492625"/>
            <a:ext cx="8281988" cy="2355215"/>
          </a:xfrm>
          <a:prstGeom prst="rect">
            <a:avLst/>
          </a:prstGeom>
          <a:noFill/>
          <a:ln w="25400">
            <a:solidFill>
              <a:schemeClr val="tx1"/>
            </a:solidFill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  complex {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float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real_part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imaginary_part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};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typedef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struct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complex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3015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063" y="2560638"/>
            <a:ext cx="3311525" cy="9699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8737600" y="1843088"/>
            <a:ext cx="3071813" cy="70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2000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给定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个复数：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2+4i,1+3i,</a:t>
            </a:r>
            <a:endParaRPr kumimoji="0" lang="en-US" altLang="zh-CN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2000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计算加法和乘法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3886200" y="3810000"/>
            <a:ext cx="936625" cy="1397000"/>
          </a:xfrm>
          <a:prstGeom prst="straightConnector1">
            <a:avLst/>
          </a:prstGeom>
          <a:ln w="47625" cap="flat" cmpd="sng">
            <a:solidFill>
              <a:srgbClr val="FA06F8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891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8912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>
                                            <p:txEl>
                                              <p:charRg st="1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124">
                                            <p:txEl>
                                              <p:charRg st="18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>
                                            <p:txEl>
                                              <p:charRg st="54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89124">
                                            <p:txEl>
                                              <p:charRg st="54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>
                                            <p:txEl>
                                              <p:charRg st="59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9124">
                                            <p:txEl>
                                              <p:charRg st="59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charRg st="33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89123">
                                            <p:txEl>
                                              <p:charRg st="33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charRg st="63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9123">
                                            <p:txEl>
                                              <p:charRg st="63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charRg st="106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9123">
                                            <p:txEl>
                                              <p:charRg st="106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4" grpId="0" uiExpand="1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C1EB17-6343-4CCF-AD34-0B061982023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1170" name="Rectangle 2"/>
          <p:cNvSpPr>
            <a:spLocks noChangeArrowheads="1"/>
          </p:cNvSpPr>
          <p:nvPr/>
        </p:nvSpPr>
        <p:spPr bwMode="auto">
          <a:xfrm>
            <a:off x="0" y="609600"/>
            <a:ext cx="12115800" cy="1717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complex_add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复数加法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complex_mul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复数乘法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输出一个复数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2971800"/>
            <a:ext cx="9448800" cy="3451225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kern="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 main()</a:t>
            </a:r>
            <a:endParaRPr kumimoji="0" lang="en-US" altLang="zh-CN" sz="2800" kern="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{		</a:t>
            </a:r>
            <a:r>
              <a:rPr kumimoji="0" lang="en-US" altLang="zh-CN" sz="2800" kern="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complex_type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 m,n,r1,r2;</a:t>
            </a:r>
            <a:endParaRPr kumimoji="0" lang="en-US" altLang="zh-CN" sz="2800" kern="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kern="0" cap="none" spc="0" normalizeH="0" baseline="0" noProof="0" dirty="0" err="1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m.real_part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=2;	</a:t>
            </a:r>
            <a:r>
              <a:rPr kumimoji="0" lang="en-US" altLang="zh-CN" sz="2800" kern="0" cap="none" spc="0" normalizeH="0" baseline="0" noProof="0" dirty="0" err="1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m.imaginary_part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=4;</a:t>
            </a:r>
            <a:endParaRPr kumimoji="0" lang="en-US" altLang="zh-CN" sz="2800" kern="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kern="0" cap="none" spc="0" normalizeH="0" baseline="0" noProof="0" dirty="0" err="1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n.</a:t>
            </a:r>
            <a:r>
              <a:rPr kumimoji="0" lang="en-US" altLang="zh-CN" sz="2800" kern="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real_part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=1;		</a:t>
            </a:r>
            <a:r>
              <a:rPr kumimoji="0" lang="en-US" altLang="zh-CN" sz="2800" kern="0" cap="none" spc="0" normalizeH="0" baseline="0" noProof="0" dirty="0" err="1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n.</a:t>
            </a:r>
            <a:r>
              <a:rPr kumimoji="0" lang="en-US" altLang="zh-CN" sz="2800" kern="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imaginary_part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=3;</a:t>
            </a:r>
            <a:endParaRPr kumimoji="0" lang="en-US" altLang="zh-CN" sz="2800" kern="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kern="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r1=</a:t>
            </a:r>
            <a:r>
              <a:rPr kumimoji="0" lang="en-US" altLang="zh-CN" sz="2800" kern="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complex_add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kern="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);		out(</a:t>
            </a:r>
            <a:r>
              <a:rPr kumimoji="0" lang="en-US" altLang="zh-CN" sz="2800" kern="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r1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);</a:t>
            </a:r>
            <a:endParaRPr kumimoji="0" lang="en-US" altLang="zh-CN" sz="2800" kern="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kern="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r2=</a:t>
            </a:r>
            <a:r>
              <a:rPr kumimoji="0" lang="en-US" altLang="zh-CN" sz="2800" kern="0" cap="none" spc="0" normalizeH="0" baseline="0" noProof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complex_mul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kern="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m,n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);		out(</a:t>
            </a:r>
            <a:r>
              <a:rPr kumimoji="0" lang="en-US" altLang="zh-CN" sz="2800" kern="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r2</a:t>
            </a: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);	</a:t>
            </a:r>
            <a:endParaRPr kumimoji="0" lang="en-US" altLang="zh-CN" sz="2800" kern="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return 0;</a:t>
            </a:r>
            <a:endParaRPr kumimoji="0" lang="en-US" altLang="zh-CN" kern="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cs"/>
            </a:endParaRPr>
          </a:p>
          <a:p>
            <a:pPr marL="342900" marR="0" indent="-342900" defTabSz="9144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kern="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}</a:t>
            </a:r>
            <a:endParaRPr kumimoji="0" lang="en-US" altLang="zh-CN" sz="3200" kern="0" cap="none" spc="0" normalizeH="0" baseline="0" noProof="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BCB3C5-4D0C-4E8D-B535-B2AC33F07C9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8338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219200"/>
            <a:ext cx="12039600" cy="27892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函数定义：输出函数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out(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complex_type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b="1" noProof="0" dirty="0">
                <a:ln>
                  <a:noFill/>
                </a:ln>
                <a:uLnTx/>
                <a:uFillTx/>
                <a:sym typeface="+mn-ea"/>
              </a:rPr>
              <a:t>"</a:t>
            </a:r>
            <a:r>
              <a:rPr kumimoji="0" lang="en-US" altLang="zh-CN" b="1" i="0" u="none" strike="noStrike" kern="0" cap="none" spc="0" normalizeH="0" baseline="0" noProof="0" dirty="0" err="1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%.2f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0" lang="en-US" altLang="zh-CN" b="1" i="0" u="none" strike="noStrike" kern="0" cap="none" spc="0" normalizeH="0" baseline="0" noProof="0" dirty="0" err="1"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rPr>
              <a:t>%.2f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i\n",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r.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real_part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r.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A06F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imaginary_part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8339" name="Rectangle 3"/>
          <p:cNvSpPr>
            <a:spLocks noChangeArrowheads="1"/>
          </p:cNvSpPr>
          <p:nvPr/>
        </p:nvSpPr>
        <p:spPr bwMode="auto">
          <a:xfrm>
            <a:off x="2362200" y="4008438"/>
            <a:ext cx="2879725" cy="17986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函数调用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out(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r1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out(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r2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charRg st="4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3A700D-24E9-4919-9B3A-A420689A83B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0" y="404813"/>
            <a:ext cx="12192000" cy="398589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函数定义：复数加法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complex_add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add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add.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x.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+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y.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add.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imaginary_part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x.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imaginary_part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+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y.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imaginary_part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return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add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4243" name="Rectangle 3"/>
          <p:cNvSpPr>
            <a:spLocks noChangeArrowheads="1"/>
          </p:cNvSpPr>
          <p:nvPr/>
        </p:nvSpPr>
        <p:spPr bwMode="auto">
          <a:xfrm>
            <a:off x="6286500" y="5776913"/>
            <a:ext cx="5905500" cy="10810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函数调用：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r1=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complex_add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m,n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72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215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98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149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DDE998-7744-452B-951E-E0A90E01FEC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2"/>
          <p:cNvSpPr>
            <a:spLocks noChangeArrowheads="1"/>
          </p:cNvSpPr>
          <p:nvPr/>
        </p:nvSpPr>
        <p:spPr bwMode="auto">
          <a:xfrm>
            <a:off x="-100012" y="703263"/>
            <a:ext cx="12268200" cy="5316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函数定义：复数乘法 *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complex_mul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                                 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{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product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product.real_part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x.real_part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*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y.real_part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-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x.imaginary_part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*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y.imaginary_part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product.imaginary_part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x.real_part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*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y.imaginary_part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+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x.imaginary_part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*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y.real_part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return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product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6292" name="Rectangle 4"/>
          <p:cNvSpPr>
            <a:spLocks noChangeArrowheads="1"/>
          </p:cNvSpPr>
          <p:nvPr/>
        </p:nvSpPr>
        <p:spPr bwMode="auto">
          <a:xfrm>
            <a:off x="6599238" y="5776913"/>
            <a:ext cx="5592763" cy="10810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函数调用：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r2=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complex_mul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m,n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143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367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168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197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266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299" end="3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36CE3B-B4E5-4CF1-BD75-919FE176B42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194" name="Rectangle 2"/>
          <p:cNvSpPr>
            <a:spLocks noGrp="1" noChangeArrowheads="1"/>
          </p:cNvSpPr>
          <p:nvPr>
            <p:ph idx="1"/>
          </p:nvPr>
        </p:nvSpPr>
        <p:spPr>
          <a:xfrm>
            <a:off x="0" y="706438"/>
            <a:ext cx="11582400" cy="61515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学习使用要回答的三个问题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AutoNum type="circleNumDbPlai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它的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基础类型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是什么？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	所有简单类型、指针、数组、结构体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……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AutoNum type="circleNumDbPlain" startAt="2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构造的方法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是什么？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	所有成分之和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AutoNum type="circleNumDbPlain" startAt="3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一个成分的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存取方式和使用方法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371600" marR="0" lvl="2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隶书" pitchFamily="2" charset="-122"/>
              </a:rPr>
              <a:t>	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200" y="122238"/>
            <a:ext cx="61912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构造型的数据类型：结构体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1450" y="4314825"/>
            <a:ext cx="8972550" cy="243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marR="0" lvl="2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直接成员选择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m.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=2;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间接成员选择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complex_type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*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p=&amp;m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A06F8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p-&gt;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real_part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=2;	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B835-491D-4D70-8EB9-73F42BC67E2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Rectangle 3"/>
          <p:cNvSpPr>
            <a:spLocks noGrp="1"/>
          </p:cNvSpPr>
          <p:nvPr>
            <p:ph idx="1"/>
          </p:nvPr>
        </p:nvSpPr>
        <p:spPr>
          <a:xfrm>
            <a:off x="1600200" y="1447800"/>
            <a:ext cx="7538720" cy="489775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effectLst/>
              </a:rPr>
              <a:t>构造数据类型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——</a:t>
            </a:r>
            <a:r>
              <a:rPr lang="zh-CN" altLang="en-US" b="1" dirty="0">
                <a:effectLst/>
              </a:rPr>
              <a:t>结构体类型</a:t>
            </a:r>
            <a:endParaRPr lang="zh-CN" altLang="en-US" b="1" dirty="0">
              <a:effectLst/>
            </a:endParaRPr>
          </a:p>
          <a:p>
            <a:pPr lvl="1" eaLnBrk="1" hangingPunct="1"/>
            <a:r>
              <a:rPr lang="zh-CN" altLang="en-US" sz="3200" b="1" dirty="0">
                <a:effectLst/>
              </a:rPr>
              <a:t>如何</a:t>
            </a:r>
            <a:r>
              <a:rPr lang="en-US" altLang="zh-CN" sz="3200" b="1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cs typeface="+mn-cs"/>
              </a:rPr>
              <a:t>定义</a:t>
            </a:r>
            <a:r>
              <a:rPr lang="zh-CN" altLang="en-US" sz="3200" b="1" dirty="0">
                <a:effectLst/>
              </a:rPr>
              <a:t>结构体</a:t>
            </a:r>
            <a:r>
              <a:rPr lang="en-US" altLang="zh-CN" sz="3200" b="1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cs typeface="+mn-cs"/>
              </a:rPr>
              <a:t>类型</a:t>
            </a:r>
            <a:endParaRPr lang="zh-CN" altLang="en-US" sz="3200" b="1" dirty="0">
              <a:solidFill>
                <a:srgbClr val="FF0066"/>
              </a:solidFill>
              <a:effectLst/>
            </a:endParaRPr>
          </a:p>
          <a:p>
            <a:pPr lvl="1" eaLnBrk="1" hangingPunct="1"/>
            <a:r>
              <a:rPr lang="zh-CN" altLang="en-US" sz="3200" b="1" dirty="0">
                <a:effectLst/>
              </a:rPr>
              <a:t>如何</a:t>
            </a:r>
            <a:r>
              <a:rPr lang="en-US" altLang="zh-CN" sz="3200" b="1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cs typeface="+mn-cs"/>
              </a:rPr>
              <a:t>声明</a:t>
            </a:r>
            <a:r>
              <a:rPr lang="zh-CN" altLang="en-US" sz="3200" b="1" dirty="0">
                <a:effectLst/>
              </a:rPr>
              <a:t>结构体类型的</a:t>
            </a:r>
            <a:r>
              <a:rPr lang="en-US" altLang="zh-CN" sz="3200" b="1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cs typeface="+mn-cs"/>
              </a:rPr>
              <a:t>变量、指针</a:t>
            </a:r>
            <a:endParaRPr lang="zh-CN" altLang="en-US" sz="3200" b="1" dirty="0">
              <a:solidFill>
                <a:srgbClr val="FF0066"/>
              </a:solidFill>
              <a:effectLst/>
            </a:endParaRPr>
          </a:p>
          <a:p>
            <a:pPr lvl="1" eaLnBrk="1" hangingPunct="1"/>
            <a:r>
              <a:rPr lang="zh-CN" altLang="en-US" sz="3200" b="1" dirty="0">
                <a:effectLst/>
              </a:rPr>
              <a:t>如何</a:t>
            </a:r>
            <a:r>
              <a:rPr lang="en-US" altLang="zh-CN" sz="3200" b="1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cs typeface="+mn-cs"/>
              </a:rPr>
              <a:t>访问</a:t>
            </a:r>
            <a:r>
              <a:rPr lang="zh-CN" altLang="en-US" sz="3200" b="1" dirty="0">
                <a:effectLst/>
              </a:rPr>
              <a:t>结构体变量的各个</a:t>
            </a:r>
            <a:r>
              <a:rPr lang="en-US" altLang="zh-CN" sz="3200" b="1" noProof="0" dirty="0" err="1">
                <a:ln>
                  <a:noFill/>
                </a:ln>
                <a:solidFill>
                  <a:srgbClr val="FA06F8"/>
                </a:solidFill>
                <a:uLnTx/>
                <a:uFillTx/>
                <a:cs typeface="+mn-cs"/>
              </a:rPr>
              <a:t>成分</a:t>
            </a:r>
            <a:endParaRPr lang="en-US" altLang="zh-CN" sz="3200" b="1" dirty="0">
              <a:solidFill>
                <a:srgbClr val="FF0066"/>
              </a:solidFill>
              <a:effectLst/>
            </a:endParaRPr>
          </a:p>
          <a:p>
            <a:pPr eaLnBrk="1" hangingPunct="1"/>
            <a:r>
              <a:rPr lang="zh-CN" altLang="en-US" sz="3600" b="1" dirty="0">
                <a:effectLst/>
              </a:rPr>
              <a:t>函数中的结构体</a:t>
            </a:r>
            <a:endParaRPr lang="en-US" altLang="zh-CN" sz="3600" b="1" dirty="0">
              <a:effectLst/>
            </a:endParaRPr>
          </a:p>
          <a:p>
            <a:pPr lvl="1" eaLnBrk="1" hangingPunct="1"/>
            <a:r>
              <a:rPr lang="zh-CN" altLang="en-US" sz="3200" b="1" dirty="0">
                <a:effectLst/>
              </a:rPr>
              <a:t>结构体变量作参数、作返回值</a:t>
            </a:r>
            <a:endParaRPr lang="en-US" altLang="zh-CN" sz="3200" b="1" dirty="0">
              <a:effectLst/>
            </a:endParaRPr>
          </a:p>
          <a:p>
            <a:pPr lvl="1" eaLnBrk="1" hangingPunct="1"/>
            <a:r>
              <a:rPr lang="zh-CN" altLang="en-US" sz="3200" b="1" dirty="0">
                <a:effectLst/>
              </a:rPr>
              <a:t>结构体指针作参数、作返回值</a:t>
            </a:r>
            <a:endParaRPr lang="zh-CN" altLang="en-US" sz="3200" b="1" dirty="0">
              <a:effectLst/>
            </a:endParaRPr>
          </a:p>
          <a:p>
            <a:pPr lvl="1" eaLnBrk="1" hangingPunct="1"/>
            <a:r>
              <a:rPr lang="zh-CN" altLang="en-US" sz="3200" b="1" dirty="0">
                <a:effectLst/>
                <a:sym typeface="+mn-ea"/>
              </a:rPr>
              <a:t>结构体</a:t>
            </a:r>
            <a:r>
              <a:rPr lang="zh-CN" altLang="en-US" sz="3200" b="1" dirty="0">
                <a:effectLst/>
                <a:sym typeface="+mn-ea"/>
              </a:rPr>
              <a:t>数组作参数</a:t>
            </a:r>
            <a:endParaRPr lang="zh-CN" altLang="en-US" sz="3200" b="1" dirty="0">
              <a:effectLst/>
            </a:endParaRPr>
          </a:p>
        </p:txBody>
      </p:sp>
      <p:sp>
        <p:nvSpPr>
          <p:cNvPr id="399365" name="Text Box 5"/>
          <p:cNvSpPr txBox="1">
            <a:spLocks noChangeArrowheads="1"/>
          </p:cNvSpPr>
          <p:nvPr/>
        </p:nvSpPr>
        <p:spPr bwMode="auto">
          <a:xfrm>
            <a:off x="4495800" y="152400"/>
            <a:ext cx="3419475" cy="8239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4800" kern="1200" cap="none" spc="0" normalizeH="0" baseline="0" noProof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本章总结</a:t>
            </a:r>
            <a:endParaRPr kumimoji="0" lang="zh-CN" altLang="en-US" sz="4800" kern="1200" cap="none" spc="0" normalizeH="0" baseline="0" noProof="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9249</Words>
  <Application>WPS 演示</Application>
  <PresentationFormat>宽屏</PresentationFormat>
  <Paragraphs>737</Paragraphs>
  <Slides>33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Arial</vt:lpstr>
      <vt:lpstr>宋体</vt:lpstr>
      <vt:lpstr>Wingdings</vt:lpstr>
      <vt:lpstr>Tahoma</vt:lpstr>
      <vt:lpstr>黑体</vt:lpstr>
      <vt:lpstr>Times New Roman</vt:lpstr>
      <vt:lpstr>Calibri</vt:lpstr>
      <vt:lpstr>Wingdings</vt:lpstr>
      <vt:lpstr>Open Sans</vt:lpstr>
      <vt:lpstr>Segoe Print</vt:lpstr>
      <vt:lpstr>微软雅黑</vt:lpstr>
      <vt:lpstr>Arial Unicode MS</vt:lpstr>
      <vt:lpstr>华文隶书</vt:lpstr>
      <vt:lpstr>1_Slit</vt:lpstr>
      <vt:lpstr>第8章 表单数据组织—结构体</vt:lpstr>
      <vt:lpstr>PowerPoint 演示文稿</vt:lpstr>
      <vt:lpstr>PowerPoint 演示文稿</vt:lpstr>
      <vt:lpstr>PowerPoint 演示文稿</vt:lpstr>
      <vt:lpstr>PowerPoint 演示文稿</vt:lpstr>
      <vt:lpstr>§8.2.2  结构体类型别名</vt:lpstr>
      <vt:lpstr>§8.2.3  结构体变量、结构体数组</vt:lpstr>
      <vt:lpstr>PowerPoint 演示文稿</vt:lpstr>
      <vt:lpstr>§8.2.4  结构体指针</vt:lpstr>
      <vt:lpstr>PowerPoint 演示文稿</vt:lpstr>
      <vt:lpstr>§8.2.5  访问结构体变量的成分</vt:lpstr>
      <vt:lpstr>PowerPoint 演示文稿</vt:lpstr>
      <vt:lpstr>PowerPoint 演示文稿</vt:lpstr>
      <vt:lpstr>嵌套定义：一个人的自然情况表数据类型【例8.2】</vt:lpstr>
      <vt:lpstr>PowerPoint 演示文稿</vt:lpstr>
      <vt:lpstr>PowerPoint 演示文稿</vt:lpstr>
      <vt:lpstr>PowerPoint 演示文稿</vt:lpstr>
      <vt:lpstr>PowerPoint 演示文稿</vt:lpstr>
      <vt:lpstr>§8.1  成绩单管理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【例8.5】 设计表示复数的结构体类型，给出复数加法和乘法函数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771</cp:revision>
  <dcterms:created xsi:type="dcterms:W3CDTF">2019-09-21T08:05:00Z</dcterms:created>
  <dcterms:modified xsi:type="dcterms:W3CDTF">2025-11-03T11:08:05Z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D963DF64BE30423D9641ADCC01160D57_13</vt:lpwstr>
  </property>
</Properties>
</file>